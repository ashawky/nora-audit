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69"/>
  </p:notesMasterIdLst>
  <p:handoutMasterIdLst>
    <p:handoutMasterId r:id="rId70"/>
  </p:handoutMasterIdLst>
  <p:sldIdLst>
    <p:sldId id="450" r:id="rId2"/>
    <p:sldId id="576" r:id="rId3"/>
    <p:sldId id="577" r:id="rId4"/>
    <p:sldId id="578" r:id="rId5"/>
    <p:sldId id="449" r:id="rId6"/>
    <p:sldId id="482" r:id="rId7"/>
    <p:sldId id="486" r:id="rId8"/>
    <p:sldId id="677" r:id="rId9"/>
    <p:sldId id="681" r:id="rId10"/>
    <p:sldId id="5190" r:id="rId11"/>
    <p:sldId id="5192" r:id="rId12"/>
    <p:sldId id="5193" r:id="rId13"/>
    <p:sldId id="675" r:id="rId14"/>
    <p:sldId id="487" r:id="rId15"/>
    <p:sldId id="509" r:id="rId16"/>
    <p:sldId id="510" r:id="rId17"/>
    <p:sldId id="511" r:id="rId18"/>
    <p:sldId id="512" r:id="rId19"/>
    <p:sldId id="513" r:id="rId20"/>
    <p:sldId id="514" r:id="rId21"/>
    <p:sldId id="515" r:id="rId22"/>
    <p:sldId id="516" r:id="rId23"/>
    <p:sldId id="517" r:id="rId24"/>
    <p:sldId id="518" r:id="rId25"/>
    <p:sldId id="519" r:id="rId26"/>
    <p:sldId id="520" r:id="rId27"/>
    <p:sldId id="521" r:id="rId28"/>
    <p:sldId id="522" r:id="rId29"/>
    <p:sldId id="523" r:id="rId30"/>
    <p:sldId id="524" r:id="rId31"/>
    <p:sldId id="525" r:id="rId32"/>
    <p:sldId id="526" r:id="rId33"/>
    <p:sldId id="527" r:id="rId34"/>
    <p:sldId id="528" r:id="rId35"/>
    <p:sldId id="529" r:id="rId36"/>
    <p:sldId id="627" r:id="rId37"/>
    <p:sldId id="488" r:id="rId38"/>
    <p:sldId id="639" r:id="rId39"/>
    <p:sldId id="640" r:id="rId40"/>
    <p:sldId id="641" r:id="rId41"/>
    <p:sldId id="642" r:id="rId42"/>
    <p:sldId id="643" r:id="rId43"/>
    <p:sldId id="644" r:id="rId44"/>
    <p:sldId id="645" r:id="rId45"/>
    <p:sldId id="646" r:id="rId46"/>
    <p:sldId id="647" r:id="rId47"/>
    <p:sldId id="648" r:id="rId48"/>
    <p:sldId id="649" r:id="rId49"/>
    <p:sldId id="650" r:id="rId50"/>
    <p:sldId id="651" r:id="rId51"/>
    <p:sldId id="652" r:id="rId52"/>
    <p:sldId id="653" r:id="rId53"/>
    <p:sldId id="655" r:id="rId54"/>
    <p:sldId id="656" r:id="rId55"/>
    <p:sldId id="657" r:id="rId56"/>
    <p:sldId id="658" r:id="rId57"/>
    <p:sldId id="494" r:id="rId58"/>
    <p:sldId id="5205" r:id="rId59"/>
    <p:sldId id="5197" r:id="rId60"/>
    <p:sldId id="5199" r:id="rId61"/>
    <p:sldId id="5196" r:id="rId62"/>
    <p:sldId id="5201" r:id="rId63"/>
    <p:sldId id="5202" r:id="rId64"/>
    <p:sldId id="5203" r:id="rId65"/>
    <p:sldId id="5204" r:id="rId66"/>
    <p:sldId id="5206" r:id="rId67"/>
    <p:sldId id="498" r:id="rId68"/>
  </p:sldIdLst>
  <p:sldSz cx="12192000" cy="6858000"/>
  <p:notesSz cx="6858000" cy="9144000"/>
  <p:embeddedFontLst>
    <p:embeddedFont>
      <p:font typeface="Aptos Narrow" panose="020B0604020202020204" charset="0"/>
      <p:regular r:id="rId71"/>
      <p:bold r:id="rId72"/>
      <p:italic r:id="rId73"/>
      <p:boldItalic r:id="rId74"/>
    </p:embeddedFont>
    <p:embeddedFont>
      <p:font typeface="Calibri" panose="020F0502020204030204" pitchFamily="34" charset="0"/>
      <p:regular r:id="rId75"/>
      <p:bold r:id="rId76"/>
      <p:italic r:id="rId77"/>
      <p:boldItalic r:id="rId78"/>
    </p:embeddedFont>
    <p:embeddedFont>
      <p:font typeface="Sakkal Majalla" panose="02000000000000000000" pitchFamily="2" charset="-78"/>
      <p:regular r:id="rId79"/>
      <p:bold r:id="rId80"/>
    </p:embeddedFont>
    <p:embeddedFont>
      <p:font typeface="Tajawal" panose="020B0604020202020204" charset="-78"/>
      <p:regular r:id="rId81"/>
      <p:bold r:id="rId8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علومات الوثيقة" id="{D35D0540-2600-4C4D-B1F8-8576BAA76C0E}">
          <p14:sldIdLst>
            <p14:sldId id="450"/>
            <p14:sldId id="576"/>
            <p14:sldId id="577"/>
            <p14:sldId id="578"/>
          </p14:sldIdLst>
        </p14:section>
        <p14:section name="01. الغرض من الوثيقة" id="{7FDA5897-8CCF-4624-A9DE-9CA4AF56637F}">
          <p14:sldIdLst>
            <p14:sldId id="449"/>
            <p14:sldId id="482"/>
          </p14:sldIdLst>
        </p14:section>
        <p14:section name="02. ملخص الوضع الحالي" id="{77D5300B-6102-754C-92C5-44036F847229}">
          <p14:sldIdLst>
            <p14:sldId id="486"/>
            <p14:sldId id="677"/>
          </p14:sldIdLst>
        </p14:section>
        <p14:section name="03. الرؤية المستقبلية لبنية البيانات" id="{98087717-BC89-754B-919E-65C27EE637F5}">
          <p14:sldIdLst>
            <p14:sldId id="681"/>
            <p14:sldId id="5190"/>
            <p14:sldId id="5192"/>
            <p14:sldId id="5193"/>
          </p14:sldIdLst>
        </p14:section>
        <p14:section name="04. الوضع المستقبلي لخزائن البيانات" id="{60C2F6DE-90A2-47D0-A1FF-9531C2A073B6}">
          <p14:sldIdLst>
            <p14:sldId id="675"/>
            <p14:sldId id="487"/>
            <p14:sldId id="509"/>
            <p14:sldId id="510"/>
            <p14:sldId id="511"/>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627"/>
          </p14:sldIdLst>
        </p14:section>
        <p14:section name="05. الوضع المستقبلي لكيانات البيانات" id="{73680A26-15AB-43B7-9105-36507FBCF9AF}">
          <p14:sldIdLst>
            <p14:sldId id="488"/>
            <p14:sldId id="639"/>
            <p14:sldId id="640"/>
            <p14:sldId id="641"/>
            <p14:sldId id="642"/>
            <p14:sldId id="643"/>
            <p14:sldId id="644"/>
            <p14:sldId id="645"/>
            <p14:sldId id="646"/>
            <p14:sldId id="647"/>
            <p14:sldId id="648"/>
            <p14:sldId id="649"/>
            <p14:sldId id="650"/>
            <p14:sldId id="651"/>
            <p14:sldId id="652"/>
            <p14:sldId id="653"/>
            <p14:sldId id="655"/>
            <p14:sldId id="656"/>
            <p14:sldId id="657"/>
            <p14:sldId id="658"/>
          </p14:sldIdLst>
        </p14:section>
        <p14:section name="الوضع الحالي للبيانات" id="{EC40FFA0-EF54-444A-8C1E-9D1B22B0F193}">
          <p14:sldIdLst>
            <p14:sldId id="494"/>
            <p14:sldId id="5205"/>
            <p14:sldId id="5197"/>
            <p14:sldId id="5199"/>
            <p14:sldId id="5196"/>
            <p14:sldId id="5201"/>
            <p14:sldId id="5202"/>
            <p14:sldId id="5203"/>
            <p14:sldId id="5204"/>
            <p14:sldId id="5206"/>
          </p14:sldIdLst>
        </p14:section>
        <p14:section name="شكرا" id="{F9DA2629-404B-4764-9F5C-81A0B660B491}">
          <p14:sldIdLst>
            <p14:sldId id="4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0" clrIdx="0">
    <p:extLst>
      <p:ext uri="{19B8F6BF-5375-455C-9EA6-DF929625EA0E}">
        <p15:presenceInfo xmlns:p15="http://schemas.microsoft.com/office/powerpoint/2012/main" userId="S-1-5-21-2411063874-488449627-3027057399-11734" providerId="AD"/>
      </p:ext>
    </p:extLst>
  </p:cmAuthor>
  <p:cmAuthor id="2" name="Ahmed Shawky" initials="A" lastIdx="2" clrIdx="1">
    <p:extLst>
      <p:ext uri="{19B8F6BF-5375-455C-9EA6-DF929625EA0E}">
        <p15:presenceInfo xmlns:p15="http://schemas.microsoft.com/office/powerpoint/2012/main" userId="Ahmed Shawky" providerId="None"/>
      </p:ext>
    </p:extLst>
  </p:cmAuthor>
  <p:cmAuthor id="3" name="Ahmed Shawky" initials="AS" lastIdx="18" clrIdx="2">
    <p:extLst>
      <p:ext uri="{19B8F6BF-5375-455C-9EA6-DF929625EA0E}">
        <p15:presenceInfo xmlns:p15="http://schemas.microsoft.com/office/powerpoint/2012/main" userId="S::a.shawky@rmg-sa.com::e8ca3da9-d268-4851-a55d-39b83f2b78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9FDC"/>
    <a:srgbClr val="5979BB"/>
    <a:srgbClr val="4B3C8E"/>
    <a:srgbClr val="49B7C6"/>
    <a:srgbClr val="41AB52"/>
    <a:srgbClr val="4AB27A"/>
    <a:srgbClr val="51B4C2"/>
    <a:srgbClr val="3FA0D9"/>
    <a:srgbClr val="4C3C8D"/>
    <a:srgbClr val="F5A0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088" autoAdjust="0"/>
    <p:restoredTop sz="77562" autoAdjust="0"/>
  </p:normalViewPr>
  <p:slideViewPr>
    <p:cSldViewPr snapToGrid="0">
      <p:cViewPr varScale="1">
        <p:scale>
          <a:sx n="88" d="100"/>
          <a:sy n="88" d="100"/>
        </p:scale>
        <p:origin x="1536" y="90"/>
      </p:cViewPr>
      <p:guideLst/>
    </p:cSldViewPr>
  </p:slideViewPr>
  <p:outlineViewPr>
    <p:cViewPr>
      <p:scale>
        <a:sx n="33" d="100"/>
        <a:sy n="33" d="100"/>
      </p:scale>
      <p:origin x="0" y="-2107"/>
    </p:cViewPr>
  </p:outlin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openxmlformats.org/officeDocument/2006/relationships/font" Target="fonts/font5.fntdata"/><Relationship Id="rId83" Type="http://schemas.openxmlformats.org/officeDocument/2006/relationships/commentAuthors" Target="commentAuthors.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a  Alghadhban" userId="3d4182d2-9ffd-465f-9c22-e5c7ddf2e688" providerId="ADAL" clId="{1C8FAA19-285C-4140-AFAB-9A1DB895318C}"/>
    <pc:docChg chg="modSld">
      <pc:chgData name="Dana  Alghadhban" userId="3d4182d2-9ffd-465f-9c22-e5c7ddf2e688" providerId="ADAL" clId="{1C8FAA19-285C-4140-AFAB-9A1DB895318C}" dt="2025-05-07T12:54:19.324" v="10" actId="20577"/>
      <pc:docMkLst>
        <pc:docMk/>
      </pc:docMkLst>
      <pc:sldChg chg="modSp mod">
        <pc:chgData name="Dana  Alghadhban" userId="3d4182d2-9ffd-465f-9c22-e5c7ddf2e688" providerId="ADAL" clId="{1C8FAA19-285C-4140-AFAB-9A1DB895318C}" dt="2025-05-07T12:53:32.753" v="3" actId="20577"/>
        <pc:sldMkLst>
          <pc:docMk/>
          <pc:sldMk cId="3118238519" sldId="5203"/>
        </pc:sldMkLst>
        <pc:graphicFrameChg chg="modGraphic">
          <ac:chgData name="Dana  Alghadhban" userId="3d4182d2-9ffd-465f-9c22-e5c7ddf2e688" providerId="ADAL" clId="{1C8FAA19-285C-4140-AFAB-9A1DB895318C}" dt="2025-05-07T12:53:32.753" v="3" actId="20577"/>
          <ac:graphicFrameMkLst>
            <pc:docMk/>
            <pc:sldMk cId="3118238519" sldId="5203"/>
            <ac:graphicFrameMk id="4" creationId="{9053816E-3867-F18A-2608-E2481BB01590}"/>
          </ac:graphicFrameMkLst>
        </pc:graphicFrameChg>
      </pc:sldChg>
      <pc:sldChg chg="modSp mod">
        <pc:chgData name="Dana  Alghadhban" userId="3d4182d2-9ffd-465f-9c22-e5c7ddf2e688" providerId="ADAL" clId="{1C8FAA19-285C-4140-AFAB-9A1DB895318C}" dt="2025-05-07T12:54:11.524" v="9" actId="20577"/>
        <pc:sldMkLst>
          <pc:docMk/>
          <pc:sldMk cId="2377495474" sldId="5204"/>
        </pc:sldMkLst>
        <pc:graphicFrameChg chg="modGraphic">
          <ac:chgData name="Dana  Alghadhban" userId="3d4182d2-9ffd-465f-9c22-e5c7ddf2e688" providerId="ADAL" clId="{1C8FAA19-285C-4140-AFAB-9A1DB895318C}" dt="2025-05-07T12:54:11.524" v="9" actId="20577"/>
          <ac:graphicFrameMkLst>
            <pc:docMk/>
            <pc:sldMk cId="2377495474" sldId="5204"/>
            <ac:graphicFrameMk id="4" creationId="{ED314E2A-C45A-6FEF-E1B6-5478312171DA}"/>
          </ac:graphicFrameMkLst>
        </pc:graphicFrameChg>
      </pc:sldChg>
      <pc:sldChg chg="modSp mod">
        <pc:chgData name="Dana  Alghadhban" userId="3d4182d2-9ffd-465f-9c22-e5c7ddf2e688" providerId="ADAL" clId="{1C8FAA19-285C-4140-AFAB-9A1DB895318C}" dt="2025-05-07T12:54:19.324" v="10" actId="20577"/>
        <pc:sldMkLst>
          <pc:docMk/>
          <pc:sldMk cId="1903464976" sldId="5206"/>
        </pc:sldMkLst>
        <pc:graphicFrameChg chg="modGraphic">
          <ac:chgData name="Dana  Alghadhban" userId="3d4182d2-9ffd-465f-9c22-e5c7ddf2e688" providerId="ADAL" clId="{1C8FAA19-285C-4140-AFAB-9A1DB895318C}" dt="2025-05-07T12:54:19.324" v="10" actId="20577"/>
          <ac:graphicFrameMkLst>
            <pc:docMk/>
            <pc:sldMk cId="1903464976" sldId="5206"/>
            <ac:graphicFrameMk id="4" creationId="{EBBF2A54-E5EC-D493-AE08-B49864A67B19}"/>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5/7/2025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5/7/2025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10</a:t>
            </a:fld>
            <a:endParaRPr lang="en-US"/>
          </a:p>
        </p:txBody>
      </p:sp>
    </p:spTree>
    <p:extLst>
      <p:ext uri="{BB962C8B-B14F-4D97-AF65-F5344CB8AC3E}">
        <p14:creationId xmlns:p14="http://schemas.microsoft.com/office/powerpoint/2010/main" val="2520236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12</a:t>
            </a:fld>
            <a:endParaRPr lang="en-US"/>
          </a:p>
        </p:txBody>
      </p:sp>
    </p:spTree>
    <p:extLst>
      <p:ext uri="{BB962C8B-B14F-4D97-AF65-F5344CB8AC3E}">
        <p14:creationId xmlns:p14="http://schemas.microsoft.com/office/powerpoint/2010/main" val="2112184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53</a:t>
            </a:fld>
            <a:endParaRPr lang="en-US"/>
          </a:p>
        </p:txBody>
      </p:sp>
    </p:spTree>
    <p:extLst>
      <p:ext uri="{BB962C8B-B14F-4D97-AF65-F5344CB8AC3E}">
        <p14:creationId xmlns:p14="http://schemas.microsoft.com/office/powerpoint/2010/main" val="990990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54</a:t>
            </a:fld>
            <a:endParaRPr lang="en-US"/>
          </a:p>
        </p:txBody>
      </p:sp>
    </p:spTree>
    <p:extLst>
      <p:ext uri="{BB962C8B-B14F-4D97-AF65-F5344CB8AC3E}">
        <p14:creationId xmlns:p14="http://schemas.microsoft.com/office/powerpoint/2010/main" val="8983187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5/7/2025</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5/7/2025</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5/7/2025</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DIN Next LT Arabic" panose="020B0503020203050203" pitchFamily="34" charset="-78"/>
                <a:cs typeface="DIN Next LT Arabic" panose="020B0503020203050203" pitchFamily="34"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5/7/2025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5/7/2025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5/7/2025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5/7/2025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65779" y="3827235"/>
            <a:ext cx="5486269" cy="1204833"/>
          </a:xfrm>
        </p:spPr>
        <p:txBody>
          <a:bodyPr/>
          <a:lstStyle/>
          <a:p>
            <a:r>
              <a:rPr lang="ar-SA" dirty="0"/>
              <a:t>وثيقة الوضع المستقبلي لبنية البيانات</a:t>
            </a:r>
            <a:endParaRPr lang="en-US" dirty="0"/>
          </a:p>
        </p:txBody>
      </p:sp>
      <p:sp>
        <p:nvSpPr>
          <p:cNvPr id="3" name="Subtitle 2"/>
          <p:cNvSpPr>
            <a:spLocks noGrp="1"/>
          </p:cNvSpPr>
          <p:nvPr>
            <p:ph type="subTitle" idx="1"/>
          </p:nvPr>
        </p:nvSpPr>
        <p:spPr>
          <a:xfrm>
            <a:off x="7469280" y="5107823"/>
            <a:ext cx="3855873" cy="369332"/>
          </a:xfrm>
        </p:spPr>
        <p:txBody>
          <a:bodyPr/>
          <a:lstStyle/>
          <a:p>
            <a:r>
              <a:rPr lang="ar-SA" dirty="0"/>
              <a:t>نسخة </a:t>
            </a:r>
            <a:r>
              <a:rPr lang="en-US"/>
              <a:t>V3.0</a:t>
            </a:r>
            <a:endParaRPr lang="ar-EG" dirty="0"/>
          </a:p>
        </p:txBody>
      </p:sp>
    </p:spTree>
    <p:extLst>
      <p:ext uri="{BB962C8B-B14F-4D97-AF65-F5344CB8AC3E}">
        <p14:creationId xmlns:p14="http://schemas.microsoft.com/office/powerpoint/2010/main" val="25449787"/>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شروط استخدام الوثيقة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a:bodyPr>
          <a:lstStyle/>
          <a:p>
            <a:pPr algn="r" rtl="1">
              <a:lnSpc>
                <a:spcPct val="150000"/>
              </a:lnSpc>
              <a:spcAft>
                <a:spcPts val="1200"/>
              </a:spcAft>
            </a:pPr>
            <a:r>
              <a:rPr lang="ar-EG" sz="24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الإصدارات والمراجعات</a:t>
            </a:r>
            <a:endParaRPr lang="en-US" dirty="0"/>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4280578096"/>
              </p:ext>
            </p:extLst>
          </p:nvPr>
        </p:nvGraphicFramePr>
        <p:xfrm>
          <a:off x="986170" y="1325748"/>
          <a:ext cx="10219659" cy="3162519"/>
        </p:xfrm>
        <a:graphic>
          <a:graphicData uri="http://schemas.openxmlformats.org/drawingml/2006/table">
            <a:tbl>
              <a:tblPr rtl="1" firstRow="1" bandRow="1">
                <a:tableStyleId>{2D5ABB26-0587-4C30-8999-92F81FD0307C}</a:tableStyleId>
              </a:tblPr>
              <a:tblGrid>
                <a:gridCol w="1507647">
                  <a:extLst>
                    <a:ext uri="{9D8B030D-6E8A-4147-A177-3AD203B41FA5}">
                      <a16:colId xmlns:a16="http://schemas.microsoft.com/office/drawing/2014/main" val="3246697180"/>
                    </a:ext>
                  </a:extLst>
                </a:gridCol>
                <a:gridCol w="951747">
                  <a:extLst>
                    <a:ext uri="{9D8B030D-6E8A-4147-A177-3AD203B41FA5}">
                      <a16:colId xmlns:a16="http://schemas.microsoft.com/office/drawing/2014/main" val="1695347223"/>
                    </a:ext>
                  </a:extLst>
                </a:gridCol>
                <a:gridCol w="2298966">
                  <a:extLst>
                    <a:ext uri="{9D8B030D-6E8A-4147-A177-3AD203B41FA5}">
                      <a16:colId xmlns:a16="http://schemas.microsoft.com/office/drawing/2014/main" val="2017486071"/>
                    </a:ext>
                  </a:extLst>
                </a:gridCol>
                <a:gridCol w="2877997">
                  <a:extLst>
                    <a:ext uri="{9D8B030D-6E8A-4147-A177-3AD203B41FA5}">
                      <a16:colId xmlns:a16="http://schemas.microsoft.com/office/drawing/2014/main" val="2702421411"/>
                    </a:ext>
                  </a:extLst>
                </a:gridCol>
                <a:gridCol w="2583302">
                  <a:extLst>
                    <a:ext uri="{9D8B030D-6E8A-4147-A177-3AD203B41FA5}">
                      <a16:colId xmlns:a16="http://schemas.microsoft.com/office/drawing/2014/main" val="3621974949"/>
                    </a:ext>
                  </a:extLst>
                </a:gridCol>
              </a:tblGrid>
              <a:tr h="433711">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إصدار الوثيقة</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الوصف</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0">
                <a:tc>
                  <a:txBody>
                    <a:bodyPr/>
                    <a:lstStyle/>
                    <a:p>
                      <a:pPr algn="ctr" rtl="1">
                        <a:lnSpc>
                          <a:spcPct val="115000"/>
                        </a:lnSpc>
                        <a:spcAft>
                          <a:spcPts val="0"/>
                        </a:spcAft>
                      </a:pPr>
                      <a:r>
                        <a:rPr lang="en-US" sz="1400" kern="1200" dirty="0">
                          <a:solidFill>
                            <a:schemeClr val="tx1"/>
                          </a:solidFill>
                          <a:effectLst/>
                          <a:latin typeface="+mn-lt"/>
                          <a:ea typeface="+mn-ea"/>
                          <a:cs typeface="+mn-cs"/>
                        </a:rPr>
                        <a:t>0.1</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400" kern="1200" dirty="0">
                          <a:solidFill>
                            <a:schemeClr val="tx1"/>
                          </a:solidFill>
                          <a:effectLst/>
                          <a:latin typeface="+mn-lt"/>
                          <a:ea typeface="+mn-ea"/>
                          <a:cs typeface="+mn-cs"/>
                        </a:rPr>
                        <a:t>-</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algn="ctr" rtl="1">
                        <a:spcBef>
                          <a:spcPts val="600"/>
                        </a:spcBef>
                        <a:spcAft>
                          <a:spcPts val="600"/>
                        </a:spcAft>
                      </a:pPr>
                      <a:r>
                        <a:rPr lang="ar-SA" sz="1400" kern="1200" dirty="0">
                          <a:solidFill>
                            <a:schemeClr val="tx1"/>
                          </a:solidFill>
                          <a:effectLst/>
                          <a:latin typeface="+mn-lt"/>
                          <a:ea typeface="+mn-ea"/>
                          <a:cs typeface="+mn-cs"/>
                        </a:rPr>
                        <a:t>فريق البنية المؤسسية</a:t>
                      </a:r>
                      <a:endParaRPr lang="en-US" sz="1400" kern="1200" dirty="0">
                        <a:solidFill>
                          <a:schemeClr val="tx1"/>
                        </a:solidFill>
                        <a:effectLst/>
                        <a:latin typeface="+mn-lt"/>
                        <a:ea typeface="+mn-ea"/>
                        <a:cs typeface="+mn-cs"/>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algn="ctr" rtl="1">
                        <a:spcBef>
                          <a:spcPts val="600"/>
                        </a:spcBef>
                        <a:spcAft>
                          <a:spcPts val="600"/>
                        </a:spcAft>
                      </a:pPr>
                      <a:r>
                        <a:rPr lang="ar-SA" sz="1400" kern="1200" dirty="0">
                          <a:solidFill>
                            <a:schemeClr val="tx1"/>
                          </a:solidFill>
                          <a:effectLst/>
                          <a:latin typeface="+mn-lt"/>
                          <a:ea typeface="+mn-ea"/>
                          <a:cs typeface="+mn-cs"/>
                        </a:rPr>
                        <a:t>-</a:t>
                      </a:r>
                      <a:endParaRPr lang="en-US" sz="1400" kern="1200" dirty="0">
                        <a:solidFill>
                          <a:schemeClr val="tx1"/>
                        </a:solidFill>
                        <a:effectLst/>
                        <a:latin typeface="+mn-lt"/>
                        <a:ea typeface="+mn-ea"/>
                        <a:cs typeface="+mn-cs"/>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600"/>
                        </a:spcBef>
                        <a:spcAft>
                          <a:spcPts val="600"/>
                        </a:spcAft>
                        <a:buClrTx/>
                        <a:buSzTx/>
                        <a:buFontTx/>
                        <a:buNone/>
                        <a:tabLst/>
                        <a:defRPr/>
                      </a:pPr>
                      <a:r>
                        <a:rPr lang="ar-SA" sz="1400" kern="1200" dirty="0">
                          <a:solidFill>
                            <a:schemeClr val="tx1"/>
                          </a:solidFill>
                          <a:effectLst/>
                          <a:latin typeface="+mn-lt"/>
                          <a:ea typeface="+mn-ea"/>
                          <a:cs typeface="+mn-cs"/>
                        </a:rPr>
                        <a:t>الإصدار الأولى للوثيقة </a:t>
                      </a:r>
                      <a:endParaRPr lang="en-US" sz="1400" kern="1200" dirty="0">
                        <a:solidFill>
                          <a:schemeClr val="tx1"/>
                        </a:solidFill>
                        <a:effectLst/>
                        <a:latin typeface="+mn-lt"/>
                        <a:ea typeface="+mn-ea"/>
                        <a:cs typeface="+mn-cs"/>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0">
                <a:tc>
                  <a:txBody>
                    <a:bodyPr/>
                    <a:lstStyle/>
                    <a:p>
                      <a:pPr algn="ctr" rtl="1">
                        <a:lnSpc>
                          <a:spcPct val="115000"/>
                        </a:lnSpc>
                        <a:spcAft>
                          <a:spcPts val="0"/>
                        </a:spcAft>
                      </a:pPr>
                      <a:r>
                        <a:rPr lang="en-US" sz="1400" kern="1200" dirty="0">
                          <a:solidFill>
                            <a:schemeClr val="tx1"/>
                          </a:solidFill>
                          <a:effectLst/>
                          <a:latin typeface="+mn-lt"/>
                          <a:ea typeface="+mn-ea"/>
                          <a:cs typeface="+mn-cs"/>
                        </a:rPr>
                        <a:t>0.2</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400" kern="1200" dirty="0">
                          <a:solidFill>
                            <a:schemeClr val="tx1"/>
                          </a:solidFill>
                          <a:effectLst/>
                          <a:latin typeface="+mn-lt"/>
                          <a:ea typeface="+mn-ea"/>
                          <a:cs typeface="+mn-cs"/>
                        </a:rPr>
                        <a:t>-</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algn="ctr" rtl="1">
                        <a:spcBef>
                          <a:spcPts val="600"/>
                        </a:spcBef>
                        <a:spcAft>
                          <a:spcPts val="600"/>
                        </a:spcAft>
                      </a:pPr>
                      <a:r>
                        <a:rPr lang="ar-SA" sz="1400" kern="1200" dirty="0">
                          <a:solidFill>
                            <a:schemeClr val="tx1"/>
                          </a:solidFill>
                          <a:effectLst/>
                          <a:latin typeface="+mn-lt"/>
                          <a:ea typeface="+mn-ea"/>
                          <a:cs typeface="+mn-cs"/>
                        </a:rPr>
                        <a:t>فريق البنية المؤسسية</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algn="ctr" rtl="1">
                        <a:spcBef>
                          <a:spcPts val="600"/>
                        </a:spcBef>
                        <a:spcAft>
                          <a:spcPts val="600"/>
                        </a:spcAft>
                      </a:pPr>
                      <a:r>
                        <a:rPr lang="ar-SA" sz="1400" kern="1200" dirty="0">
                          <a:solidFill>
                            <a:schemeClr val="tx1"/>
                          </a:solidFill>
                          <a:effectLst/>
                          <a:latin typeface="+mn-lt"/>
                          <a:ea typeface="+mn-ea"/>
                          <a:cs typeface="+mn-cs"/>
                        </a:rPr>
                        <a:t>-</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600"/>
                        </a:spcBef>
                        <a:spcAft>
                          <a:spcPts val="600"/>
                        </a:spcAft>
                        <a:buClrTx/>
                        <a:buSzTx/>
                        <a:buFontTx/>
                        <a:buNone/>
                        <a:tabLst/>
                        <a:defRPr/>
                      </a:pPr>
                      <a:r>
                        <a:rPr lang="ar-SA" sz="1400" kern="1200" dirty="0">
                          <a:solidFill>
                            <a:schemeClr val="tx1"/>
                          </a:solidFill>
                          <a:effectLst/>
                          <a:latin typeface="+mn-lt"/>
                          <a:ea typeface="+mn-ea"/>
                          <a:cs typeface="+mn-cs"/>
                        </a:rPr>
                        <a:t>تم مراجعة وتحديث الوثيقة</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0">
                <a:tc>
                  <a:txBody>
                    <a:bodyPr/>
                    <a:lstStyle/>
                    <a:p>
                      <a:pPr marL="0" algn="ctr" defTabSz="914400" rtl="0" eaLnBrk="1" latinLnBrk="0" hangingPunct="1">
                        <a:lnSpc>
                          <a:spcPct val="115000"/>
                        </a:lnSpc>
                        <a:spcAft>
                          <a:spcPts val="0"/>
                        </a:spcAft>
                      </a:pPr>
                      <a:r>
                        <a:rPr lang="en-US" sz="1400" kern="1200" dirty="0">
                          <a:solidFill>
                            <a:schemeClr val="tx1"/>
                          </a:solidFill>
                          <a:effectLst/>
                          <a:latin typeface="+mn-lt"/>
                          <a:ea typeface="+mn-ea"/>
                          <a:cs typeface="+mn-cs"/>
                        </a:rPr>
                        <a:t>0.8</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400" kern="1200" dirty="0">
                          <a:solidFill>
                            <a:schemeClr val="tx1"/>
                          </a:solidFill>
                          <a:effectLst/>
                          <a:latin typeface="+mn-lt"/>
                          <a:ea typeface="+mn-ea"/>
                          <a:cs typeface="+mn-cs"/>
                        </a:rPr>
                        <a:t>1-Mar-2025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algn="ctr" rtl="1">
                        <a:spcBef>
                          <a:spcPts val="600"/>
                        </a:spcBef>
                        <a:spcAft>
                          <a:spcPts val="600"/>
                        </a:spcAft>
                      </a:pPr>
                      <a:r>
                        <a:rPr lang="ar-SA" sz="1400" kern="1200" dirty="0">
                          <a:solidFill>
                            <a:schemeClr val="tx1"/>
                          </a:solidFill>
                          <a:effectLst/>
                          <a:latin typeface="+mn-lt"/>
                          <a:ea typeface="+mn-ea"/>
                          <a:cs typeface="+mn-cs"/>
                        </a:rPr>
                        <a:t>فريق البنية المؤسسية</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algn="ctr" rtl="1">
                        <a:spcBef>
                          <a:spcPts val="600"/>
                        </a:spcBef>
                        <a:spcAft>
                          <a:spcPts val="600"/>
                        </a:spcAft>
                      </a:pPr>
                      <a:r>
                        <a:rPr lang="ar-SA" sz="1400" kern="1200" dirty="0">
                          <a:solidFill>
                            <a:schemeClr val="tx1"/>
                          </a:solidFill>
                          <a:effectLst/>
                          <a:latin typeface="+mn-lt"/>
                          <a:ea typeface="+mn-ea"/>
                          <a:cs typeface="+mn-cs"/>
                        </a:rPr>
                        <a:t>-</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600"/>
                        </a:spcBef>
                        <a:spcAft>
                          <a:spcPts val="600"/>
                        </a:spcAft>
                        <a:buClrTx/>
                        <a:buSzTx/>
                        <a:buFontTx/>
                        <a:buNone/>
                        <a:tabLst/>
                        <a:defRPr/>
                      </a:pPr>
                      <a:r>
                        <a:rPr lang="ar-SA" sz="1400" kern="1200" dirty="0">
                          <a:solidFill>
                            <a:schemeClr val="tx1"/>
                          </a:solidFill>
                          <a:effectLst/>
                          <a:latin typeface="+mn-lt"/>
                          <a:ea typeface="+mn-ea"/>
                          <a:cs typeface="+mn-cs"/>
                        </a:rPr>
                        <a:t>تم مراجعة وتحديث الوثيقة</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0">
                <a:tc>
                  <a:txBody>
                    <a:bodyPr/>
                    <a:lstStyle/>
                    <a:p>
                      <a:pPr marL="0" algn="ctr" defTabSz="914400" rtl="0" eaLnBrk="1" latinLnBrk="0" hangingPunct="1">
                        <a:lnSpc>
                          <a:spcPct val="115000"/>
                        </a:lnSpc>
                        <a:spcAft>
                          <a:spcPts val="0"/>
                        </a:spcAft>
                      </a:pPr>
                      <a:r>
                        <a:rPr lang="en-US" sz="1400" kern="1200" dirty="0">
                          <a:solidFill>
                            <a:schemeClr val="tx1"/>
                          </a:solidFill>
                          <a:effectLst/>
                          <a:latin typeface="+mn-lt"/>
                          <a:ea typeface="+mn-ea"/>
                          <a:cs typeface="+mn-cs"/>
                        </a:rPr>
                        <a:t>1.0</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400" kern="1200" dirty="0">
                          <a:solidFill>
                            <a:schemeClr val="tx1"/>
                          </a:solidFill>
                          <a:effectLst/>
                          <a:latin typeface="+mn-lt"/>
                          <a:ea typeface="+mn-ea"/>
                          <a:cs typeface="+mn-cs"/>
                        </a:rPr>
                        <a:t>16-Mar-2025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algn="ctr" defTabSz="914400" rtl="0" eaLnBrk="1" latinLnBrk="0" hangingPunct="1">
                        <a:lnSpc>
                          <a:spcPct val="115000"/>
                        </a:lnSpc>
                        <a:spcAft>
                          <a:spcPts val="0"/>
                        </a:spcAft>
                      </a:pPr>
                      <a:r>
                        <a:rPr lang="ar-SA" sz="1400" kern="1200" dirty="0">
                          <a:solidFill>
                            <a:schemeClr val="tx1"/>
                          </a:solidFill>
                          <a:effectLst/>
                          <a:latin typeface="+mn-lt"/>
                          <a:ea typeface="+mn-ea"/>
                          <a:cs typeface="+mn-cs"/>
                        </a:rPr>
                        <a:t>سامي أحمد القاضي</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400" kern="1200" dirty="0">
                          <a:solidFill>
                            <a:schemeClr val="tx1"/>
                          </a:solidFill>
                          <a:effectLst/>
                          <a:latin typeface="+mn-lt"/>
                          <a:ea typeface="+mn-ea"/>
                          <a:cs typeface="+mn-cs"/>
                        </a:rPr>
                        <a:t>استشاري بنية مؤسسية</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lvl="0" indent="-1905" algn="ctr" defTabSz="914400" rtl="0" eaLnBrk="1" fontAlgn="auto" latinLnBrk="0" hangingPunct="1">
                        <a:lnSpc>
                          <a:spcPct val="115000"/>
                        </a:lnSpc>
                        <a:spcBef>
                          <a:spcPts val="500"/>
                        </a:spcBef>
                        <a:spcAft>
                          <a:spcPts val="0"/>
                        </a:spcAft>
                        <a:buClrTx/>
                        <a:buSzTx/>
                        <a:buFontTx/>
                        <a:buNone/>
                        <a:tabLst/>
                        <a:defRPr/>
                      </a:pPr>
                      <a:r>
                        <a:rPr lang="ar-SA" sz="1400" kern="1200" dirty="0">
                          <a:solidFill>
                            <a:schemeClr val="tx1"/>
                          </a:solidFill>
                          <a:effectLst/>
                          <a:latin typeface="+mn-lt"/>
                          <a:ea typeface="+mn-ea"/>
                          <a:cs typeface="+mn-cs"/>
                        </a:rPr>
                        <a:t>تم مراجعة وتحديث الوثيقة</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0">
                <a:tc>
                  <a:txBody>
                    <a:bodyPr/>
                    <a:lstStyle/>
                    <a:p>
                      <a:pPr marL="0" algn="ctr" defTabSz="914400" rtl="0" eaLnBrk="1" latinLnBrk="0" hangingPunct="1">
                        <a:lnSpc>
                          <a:spcPct val="115000"/>
                        </a:lnSpc>
                        <a:spcAft>
                          <a:spcPts val="0"/>
                        </a:spcAft>
                      </a:pPr>
                      <a:r>
                        <a:rPr lang="en-US" sz="1400" kern="1200" dirty="0">
                          <a:solidFill>
                            <a:schemeClr val="tx1"/>
                          </a:solidFill>
                          <a:effectLst/>
                          <a:latin typeface="+mn-lt"/>
                          <a:ea typeface="+mn-ea"/>
                          <a:cs typeface="+mn-cs"/>
                        </a:rPr>
                        <a:t>2.0</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400" kern="1200" dirty="0">
                          <a:solidFill>
                            <a:schemeClr val="tx1"/>
                          </a:solidFill>
                          <a:effectLst/>
                          <a:latin typeface="+mn-lt"/>
                          <a:ea typeface="+mn-ea"/>
                          <a:cs typeface="+mn-cs"/>
                        </a:rPr>
                        <a:t>16-Apr-2025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algn="ctr" defTabSz="914400" rtl="0" eaLnBrk="1" latinLnBrk="0" hangingPunct="1">
                        <a:lnSpc>
                          <a:spcPct val="115000"/>
                        </a:lnSpc>
                        <a:spcAft>
                          <a:spcPts val="0"/>
                        </a:spcAft>
                      </a:pPr>
                      <a:r>
                        <a:rPr lang="ar-SA" sz="1400" kern="1200" dirty="0">
                          <a:solidFill>
                            <a:schemeClr val="tx1"/>
                          </a:solidFill>
                          <a:effectLst/>
                          <a:latin typeface="+mn-lt"/>
                          <a:ea typeface="+mn-ea"/>
                          <a:cs typeface="+mn-cs"/>
                        </a:rPr>
                        <a:t>سامي أحمد القاضي</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400" kern="1200" dirty="0">
                          <a:solidFill>
                            <a:schemeClr val="tx1"/>
                          </a:solidFill>
                          <a:effectLst/>
                          <a:latin typeface="+mn-lt"/>
                          <a:ea typeface="+mn-ea"/>
                          <a:cs typeface="+mn-cs"/>
                        </a:rPr>
                        <a:t>استشاري بنية مؤسسية</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lvl="0" indent="-1905" algn="ctr" defTabSz="914400" rtl="1" eaLnBrk="1" fontAlgn="auto" latinLnBrk="0" hangingPunct="1">
                        <a:lnSpc>
                          <a:spcPct val="115000"/>
                        </a:lnSpc>
                        <a:spcBef>
                          <a:spcPts val="500"/>
                        </a:spcBef>
                        <a:spcAft>
                          <a:spcPts val="0"/>
                        </a:spcAft>
                        <a:buClrTx/>
                        <a:buSzTx/>
                        <a:buFontTx/>
                        <a:buNone/>
                        <a:tabLst/>
                        <a:defRPr/>
                      </a:pPr>
                      <a:r>
                        <a:rPr lang="ar-SA" sz="1400" kern="1200" dirty="0">
                          <a:solidFill>
                            <a:schemeClr val="tx1"/>
                          </a:solidFill>
                          <a:effectLst/>
                          <a:latin typeface="+mn-lt"/>
                          <a:ea typeface="+mn-ea"/>
                          <a:cs typeface="+mn-cs"/>
                        </a:rPr>
                        <a:t>اضافة تصنيف لفجوات بنية البيانات</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r h="0">
                <a:tc>
                  <a:txBody>
                    <a:bodyPr/>
                    <a:lstStyle/>
                    <a:p>
                      <a:pPr marL="0" algn="ctr" defTabSz="914400" rtl="0" eaLnBrk="1" latinLnBrk="0" hangingPunct="1">
                        <a:lnSpc>
                          <a:spcPct val="115000"/>
                        </a:lnSpc>
                        <a:spcAft>
                          <a:spcPts val="0"/>
                        </a:spcAft>
                      </a:pPr>
                      <a:r>
                        <a:rPr lang="en-US" sz="1400" kern="1200" dirty="0">
                          <a:solidFill>
                            <a:schemeClr val="tx1"/>
                          </a:solidFill>
                          <a:effectLst/>
                          <a:latin typeface="+mn-lt"/>
                          <a:ea typeface="+mn-ea"/>
                          <a:cs typeface="+mn-cs"/>
                        </a:rPr>
                        <a:t>3.0</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400" kern="1200" dirty="0">
                          <a:solidFill>
                            <a:schemeClr val="tx1"/>
                          </a:solidFill>
                          <a:effectLst/>
                          <a:latin typeface="+mn-lt"/>
                          <a:ea typeface="+mn-ea"/>
                          <a:cs typeface="+mn-cs"/>
                        </a:rPr>
                        <a:t>29-Apr-2025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algn="ctr" defTabSz="914400" rtl="0" eaLnBrk="1" latinLnBrk="0" hangingPunct="1">
                        <a:lnSpc>
                          <a:spcPct val="115000"/>
                        </a:lnSpc>
                        <a:spcAft>
                          <a:spcPts val="0"/>
                        </a:spcAft>
                      </a:pPr>
                      <a:r>
                        <a:rPr lang="ar-SA" sz="1400" kern="1200" dirty="0">
                          <a:solidFill>
                            <a:schemeClr val="tx1"/>
                          </a:solidFill>
                          <a:effectLst/>
                          <a:latin typeface="+mn-lt"/>
                          <a:ea typeface="+mn-ea"/>
                          <a:cs typeface="+mn-cs"/>
                        </a:rPr>
                        <a:t>سامي أحمد القاضي</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400" kern="1200" dirty="0">
                          <a:solidFill>
                            <a:schemeClr val="tx1"/>
                          </a:solidFill>
                          <a:effectLst/>
                          <a:latin typeface="+mn-lt"/>
                          <a:ea typeface="+mn-ea"/>
                          <a:cs typeface="+mn-cs"/>
                        </a:rPr>
                        <a:t>استشاري بنية مؤسسية</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lvl="0" indent="-1905" algn="ctr" defTabSz="914400" rtl="1" eaLnBrk="1" fontAlgn="auto" latinLnBrk="0" hangingPunct="1">
                        <a:lnSpc>
                          <a:spcPct val="115000"/>
                        </a:lnSpc>
                        <a:spcBef>
                          <a:spcPts val="500"/>
                        </a:spcBef>
                        <a:spcAft>
                          <a:spcPts val="0"/>
                        </a:spcAft>
                        <a:buClrTx/>
                        <a:buSzTx/>
                        <a:buFontTx/>
                        <a:buNone/>
                        <a:tabLst/>
                        <a:defRPr/>
                      </a:pPr>
                      <a:r>
                        <a:rPr lang="ar-SA" sz="1400" kern="1200" dirty="0">
                          <a:solidFill>
                            <a:schemeClr val="tx1"/>
                          </a:solidFill>
                          <a:effectLst/>
                          <a:latin typeface="+mn-lt"/>
                          <a:ea typeface="+mn-ea"/>
                          <a:cs typeface="+mn-cs"/>
                        </a:rPr>
                        <a:t>تعديل تحليل الفجوات </a:t>
                      </a: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847551586"/>
                  </a:ext>
                </a:extLst>
              </a:tr>
              <a:tr h="472858">
                <a:tc>
                  <a:txBody>
                    <a:bodyPr/>
                    <a:lstStyle/>
                    <a:p>
                      <a:pPr marL="0" algn="ctr" defTabSz="914400" rtl="0" eaLnBrk="1" latinLnBrk="0" hangingPunct="1">
                        <a:lnSpc>
                          <a:spcPct val="115000"/>
                        </a:lnSpc>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algn="ctr" defTabSz="914400" rtl="0" eaLnBrk="1" latinLnBrk="0" hangingPunct="1">
                        <a:lnSpc>
                          <a:spcPct val="115000"/>
                        </a:lnSpc>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algn="ctr" defTabSz="914400" rtl="0" eaLnBrk="1" latinLnBrk="0" hangingPunct="1">
                        <a:lnSpc>
                          <a:spcPct val="115000"/>
                        </a:lnSpc>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0" eaLnBrk="1" latinLnBrk="0" hangingPunct="1">
                        <a:lnSpc>
                          <a:spcPct val="115000"/>
                        </a:lnSpc>
                        <a:spcBef>
                          <a:spcPts val="500"/>
                        </a:spcBef>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28240718"/>
                  </a:ext>
                </a:extLst>
              </a:tr>
              <a:tr h="310908">
                <a:tc>
                  <a:txBody>
                    <a:bodyPr/>
                    <a:lstStyle/>
                    <a:p>
                      <a:pPr marL="0" algn="ctr" defTabSz="914400" rtl="0" eaLnBrk="1" latinLnBrk="0" hangingPunct="1">
                        <a:lnSpc>
                          <a:spcPct val="115000"/>
                        </a:lnSpc>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algn="ctr" defTabSz="914400" rtl="0" eaLnBrk="1" latinLnBrk="0" hangingPunct="1">
                        <a:lnSpc>
                          <a:spcPct val="115000"/>
                        </a:lnSpc>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algn="ctr" defTabSz="914400" rtl="0" eaLnBrk="1" latinLnBrk="0" hangingPunct="1">
                        <a:lnSpc>
                          <a:spcPct val="115000"/>
                        </a:lnSpc>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0" eaLnBrk="1" latinLnBrk="0" hangingPunct="1">
                        <a:lnSpc>
                          <a:spcPct val="115000"/>
                        </a:lnSpc>
                        <a:spcBef>
                          <a:spcPts val="500"/>
                        </a:spcBef>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503754671"/>
                  </a:ext>
                </a:extLst>
              </a:tr>
              <a:tr h="472858">
                <a:tc>
                  <a:txBody>
                    <a:bodyPr/>
                    <a:lstStyle/>
                    <a:p>
                      <a:pPr marL="0" algn="ctr" defTabSz="914400" rtl="0" eaLnBrk="1" latinLnBrk="0" hangingPunct="1">
                        <a:lnSpc>
                          <a:spcPct val="115000"/>
                        </a:lnSpc>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algn="ctr" defTabSz="914400" rtl="0" eaLnBrk="1" latinLnBrk="0" hangingPunct="1">
                        <a:lnSpc>
                          <a:spcPct val="115000"/>
                        </a:lnSpc>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algn="ctr" defTabSz="914400" rtl="0" eaLnBrk="1" latinLnBrk="0" hangingPunct="1">
                        <a:lnSpc>
                          <a:spcPct val="115000"/>
                        </a:lnSpc>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0" eaLnBrk="1" latinLnBrk="0" hangingPunct="1">
                        <a:lnSpc>
                          <a:spcPct val="115000"/>
                        </a:lnSpc>
                        <a:spcBef>
                          <a:spcPts val="500"/>
                        </a:spcBef>
                        <a:spcAft>
                          <a:spcPts val="0"/>
                        </a:spcAft>
                      </a:pPr>
                      <a:endParaRPr lang="en-US" sz="1400" kern="1200" dirty="0">
                        <a:solidFill>
                          <a:schemeClr val="tx1"/>
                        </a:solidFill>
                        <a:effectLst/>
                        <a:latin typeface="+mn-lt"/>
                        <a:ea typeface="+mn-ea"/>
                        <a:cs typeface="+mn-cs"/>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759509455"/>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824075892"/>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الاسم</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lvl="0" algn="ctr" defTabSz="914400">
                        <a:lnSpc>
                          <a:spcPct val="114999"/>
                        </a:lnSpc>
                        <a:spcAft>
                          <a:spcPts val="0"/>
                        </a:spcAft>
                        <a:buNone/>
                      </a:pPr>
                      <a:endParaRPr lang="en-US" sz="1800" kern="1200" dirty="0">
                        <a:solidFill>
                          <a:schemeClr val="tx1"/>
                        </a:solidFill>
                        <a:effectLst/>
                        <a:latin typeface="Sakkal Majalla"/>
                        <a:ea typeface="+mn-ea"/>
                        <a:cs typeface="Sakkal Majalla"/>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lvl="0" algn="ctr" defTabSz="914400">
                        <a:lnSpc>
                          <a:spcPct val="114999"/>
                        </a:lnSpc>
                        <a:spcAft>
                          <a:spcPts val="0"/>
                        </a:spcAft>
                        <a:buNone/>
                      </a:pPr>
                      <a:endParaRPr lang="en-US" sz="1800" kern="1200" dirty="0">
                        <a:solidFill>
                          <a:schemeClr val="tx1"/>
                        </a:solidFill>
                        <a:effectLst/>
                        <a:latin typeface="Sakkal Majalla"/>
                        <a:ea typeface="+mn-ea"/>
                        <a:cs typeface="Sakkal Majalla"/>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الغرض من الوثيقة</a:t>
            </a:r>
            <a:endParaRPr lang="en-US" dirty="0"/>
          </a:p>
        </p:txBody>
      </p:sp>
      <p:sp>
        <p:nvSpPr>
          <p:cNvPr id="4" name="Text Placeholder 3"/>
          <p:cNvSpPr>
            <a:spLocks noGrp="1"/>
          </p:cNvSpPr>
          <p:nvPr>
            <p:ph type="body" sz="quarter" idx="12"/>
          </p:nvPr>
        </p:nvSpPr>
        <p:spPr/>
        <p:txBody>
          <a:bodyPr/>
          <a:lstStyle/>
          <a:p>
            <a:r>
              <a:rPr lang="ar-EG" dirty="0"/>
              <a:t>01</a:t>
            </a:r>
            <a:endParaRPr lang="en-US" dirty="0"/>
          </a:p>
        </p:txBody>
      </p:sp>
      <p:sp>
        <p:nvSpPr>
          <p:cNvPr id="2" name="Text Placeholder 1">
            <a:extLst>
              <a:ext uri="{FF2B5EF4-FFF2-40B4-BE49-F238E27FC236}">
                <a16:creationId xmlns:a16="http://schemas.microsoft.com/office/drawing/2014/main" id="{256E742C-FD54-E193-BF94-1A1446226560}"/>
              </a:ext>
            </a:extLst>
          </p:cNvPr>
          <p:cNvSpPr>
            <a:spLocks noGrp="1"/>
          </p:cNvSpPr>
          <p:nvPr>
            <p:ph type="body" sz="quarter" idx="14"/>
          </p:nvPr>
        </p:nvSpPr>
        <p:spPr/>
        <p:txBody>
          <a:bodyPr/>
          <a:lstStyle/>
          <a:p>
            <a:r>
              <a:rPr lang="ar-SA" dirty="0"/>
              <a:t>01</a:t>
            </a:r>
            <a:endParaRPr lang="en-US" dirty="0"/>
          </a:p>
        </p:txBody>
      </p:sp>
    </p:spTree>
    <p:extLst>
      <p:ext uri="{BB962C8B-B14F-4D97-AF65-F5344CB8AC3E}">
        <p14:creationId xmlns:p14="http://schemas.microsoft.com/office/powerpoint/2010/main" val="2354394731"/>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dirty="0"/>
              <a:t>الغرض من الوثيقة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6</a:t>
            </a:fld>
            <a:endParaRPr lang="en-US"/>
          </a:p>
        </p:txBody>
      </p:sp>
      <p:graphicFrame>
        <p:nvGraphicFramePr>
          <p:cNvPr id="47" name="Table 46">
            <a:extLst>
              <a:ext uri="{FF2B5EF4-FFF2-40B4-BE49-F238E27FC236}">
                <a16:creationId xmlns:a16="http://schemas.microsoft.com/office/drawing/2014/main" id="{202D2779-33DF-A507-248A-2EA14EE737F2}"/>
              </a:ext>
            </a:extLst>
          </p:cNvPr>
          <p:cNvGraphicFramePr>
            <a:graphicFrameLocks noGrp="1"/>
          </p:cNvGraphicFramePr>
          <p:nvPr>
            <p:extLst>
              <p:ext uri="{D42A27DB-BD31-4B8C-83A1-F6EECF244321}">
                <p14:modId xmlns:p14="http://schemas.microsoft.com/office/powerpoint/2010/main" val="2421581341"/>
              </p:ext>
            </p:extLst>
          </p:nvPr>
        </p:nvGraphicFramePr>
        <p:xfrm>
          <a:off x="1548108" y="1556427"/>
          <a:ext cx="9766570" cy="3313189"/>
        </p:xfrm>
        <a:graphic>
          <a:graphicData uri="http://schemas.openxmlformats.org/drawingml/2006/table">
            <a:tbl>
              <a:tblPr rtl="1" firstRow="1" firstCol="1" bandRow="1"/>
              <a:tblGrid>
                <a:gridCol w="584565">
                  <a:extLst>
                    <a:ext uri="{9D8B030D-6E8A-4147-A177-3AD203B41FA5}">
                      <a16:colId xmlns:a16="http://schemas.microsoft.com/office/drawing/2014/main" val="2063207980"/>
                    </a:ext>
                  </a:extLst>
                </a:gridCol>
                <a:gridCol w="584565">
                  <a:extLst>
                    <a:ext uri="{9D8B030D-6E8A-4147-A177-3AD203B41FA5}">
                      <a16:colId xmlns:a16="http://schemas.microsoft.com/office/drawing/2014/main" val="876155795"/>
                    </a:ext>
                  </a:extLst>
                </a:gridCol>
                <a:gridCol w="8597440">
                  <a:extLst>
                    <a:ext uri="{9D8B030D-6E8A-4147-A177-3AD203B41FA5}">
                      <a16:colId xmlns:a16="http://schemas.microsoft.com/office/drawing/2014/main" val="4048775093"/>
                    </a:ext>
                  </a:extLst>
                </a:gridCol>
              </a:tblGrid>
              <a:tr h="1103847">
                <a:tc>
                  <a:txBody>
                    <a:bodyPr/>
                    <a:lstStyle/>
                    <a:p>
                      <a:pPr marL="0" marR="0" algn="r" rtl="1">
                        <a:lnSpc>
                          <a:spcPct val="115000"/>
                        </a:lnSpc>
                        <a:spcBef>
                          <a:spcPts val="0"/>
                        </a:spcBef>
                        <a:spcAft>
                          <a:spcPts val="0"/>
                        </a:spcAft>
                      </a:pPr>
                      <a:r>
                        <a:rPr lang="en-US" sz="1600" dirty="0">
                          <a:effectLst/>
                          <a:latin typeface="Sakkal Majalla" panose="02000000000000000000" pitchFamily="2" charset="-78"/>
                          <a:ea typeface="Times New Roman" panose="02020603050405020304" pitchFamily="18" charset="0"/>
                          <a:cs typeface="Sakkal Majalla" panose="02000000000000000000" pitchFamily="2" charset="-78"/>
                        </a:rPr>
                        <a:t> </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0" marR="0" marT="0" marB="0" anchor="ctr">
                    <a:lnL w="1905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a:noFill/>
                    </a:lnT>
                    <a:lnB>
                      <a:noFill/>
                    </a:lnB>
                  </a:tcPr>
                </a:tc>
                <a:tc>
                  <a:txBody>
                    <a:bodyPr/>
                    <a:lstStyle/>
                    <a:p>
                      <a:pPr marL="0" marR="0" algn="r" rtl="1">
                        <a:lnSpc>
                          <a:spcPct val="115000"/>
                        </a:lnSpc>
                        <a:spcBef>
                          <a:spcPts val="0"/>
                        </a:spcBef>
                        <a:spcAft>
                          <a:spcPts val="0"/>
                        </a:spcAft>
                      </a:pPr>
                      <a:r>
                        <a:rPr lang="en-US" sz="1600" dirty="0">
                          <a:effectLst/>
                          <a:latin typeface="Sakkal Majalla" panose="02000000000000000000" pitchFamily="2" charset="-78"/>
                          <a:ea typeface="Times New Roman" panose="02020603050405020304" pitchFamily="18" charset="0"/>
                          <a:cs typeface="Sakkal Majalla" panose="02000000000000000000" pitchFamily="2" charset="-78"/>
                        </a:rPr>
                        <a:t> </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0" marR="0" marT="0" marB="0" anchor="ctr">
                    <a:lnL w="19050" cap="flat" cmpd="sng" algn="ctr">
                      <a:solidFill>
                        <a:srgbClr val="BFBFBF"/>
                      </a:solidFill>
                      <a:prstDash val="solid"/>
                      <a:round/>
                      <a:headEnd type="none" w="med" len="med"/>
                      <a:tailEnd type="none" w="med" len="med"/>
                    </a:lnL>
                    <a:lnR>
                      <a:noFill/>
                    </a:lnR>
                    <a:lnT w="19050" cap="flat" cmpd="sng" algn="ctr">
                      <a:solidFill>
                        <a:srgbClr val="BFBFBF"/>
                      </a:solidFill>
                      <a:prstDash val="solid"/>
                      <a:round/>
                      <a:headEnd type="none" w="med" len="med"/>
                      <a:tailEnd type="none" w="med" len="med"/>
                    </a:lnT>
                    <a:lnB>
                      <a:noFill/>
                    </a:lnB>
                  </a:tcPr>
                </a:tc>
                <a:tc rowSpan="3">
                  <a:txBody>
                    <a:bodyPr/>
                    <a:lstStyle/>
                    <a:p>
                      <a:pPr algn="r" rtl="1"/>
                      <a:r>
                        <a:rPr lang="ar-AE" sz="2400" kern="1200" dirty="0">
                          <a:solidFill>
                            <a:schemeClr val="tx1"/>
                          </a:solidFill>
                          <a:effectLst/>
                          <a:latin typeface="Sakkal Majalla" panose="02000000000000000000" pitchFamily="2" charset="-78"/>
                          <a:cs typeface="Sakkal Majalla" panose="02000000000000000000" pitchFamily="2" charset="-78"/>
                        </a:rPr>
                        <a:t>تهدف هذه الوثيقة إلى رسم خارطة طريق للتحول المنهجي في إدارة بيانات الهيئة بما يضمن:</a:t>
                      </a:r>
                    </a:p>
                    <a:p>
                      <a:pPr marL="342900" indent="-342900" algn="r" rtl="1">
                        <a:buFont typeface="Arial" panose="020B0604020202020204" pitchFamily="34" charset="0"/>
                        <a:buChar char="•"/>
                      </a:pPr>
                      <a:r>
                        <a:rPr lang="ar-AE" sz="2400" kern="1200" dirty="0">
                          <a:solidFill>
                            <a:schemeClr val="tx1"/>
                          </a:solidFill>
                          <a:effectLst/>
                          <a:latin typeface="Sakkal Majalla" panose="02000000000000000000" pitchFamily="2" charset="-78"/>
                          <a:cs typeface="Sakkal Majalla" panose="02000000000000000000" pitchFamily="2" charset="-78"/>
                        </a:rPr>
                        <a:t>معالجة جوانب القصور الحالية (مثل غياب دليل بيانات موحّد، وعدم وجود خطط تعافٍ من الكوارث لعدد من الخزائن، ونقص آليات مراقبة الأمان السيبراني).</a:t>
                      </a:r>
                      <a:endParaRPr lang="en-US" sz="2400" kern="1200" dirty="0">
                        <a:solidFill>
                          <a:schemeClr val="tx1"/>
                        </a:solidFill>
                        <a:effectLst/>
                        <a:latin typeface="Sakkal Majalla" panose="02000000000000000000" pitchFamily="2" charset="-78"/>
                        <a:cs typeface="Sakkal Majalla" panose="02000000000000000000" pitchFamily="2" charset="-78"/>
                      </a:endParaRPr>
                    </a:p>
                    <a:p>
                      <a:pPr marL="342900" indent="-342900" algn="r" rtl="1">
                        <a:buFont typeface="Arial" panose="020B0604020202020204" pitchFamily="34" charset="0"/>
                        <a:buChar char="•"/>
                      </a:pPr>
                      <a:r>
                        <a:rPr lang="ar-AE" sz="2400" kern="1200" dirty="0">
                          <a:solidFill>
                            <a:schemeClr val="tx1"/>
                          </a:solidFill>
                          <a:effectLst/>
                          <a:latin typeface="Sakkal Majalla" panose="02000000000000000000" pitchFamily="2" charset="-78"/>
                          <a:cs typeface="Sakkal Majalla" panose="02000000000000000000" pitchFamily="2" charset="-78"/>
                        </a:rPr>
                        <a:t>الارتقاء ببنية البيانات لتلبية الاحتياجات الاستراتيجية والتشغيلية.</a:t>
                      </a:r>
                    </a:p>
                    <a:p>
                      <a:pPr marL="342900" indent="-342900" algn="r" rtl="1">
                        <a:buFont typeface="Arial" panose="020B0604020202020204" pitchFamily="34" charset="0"/>
                        <a:buChar char="•"/>
                      </a:pPr>
                      <a:r>
                        <a:rPr lang="ar-AE" sz="2400" kern="1200" dirty="0">
                          <a:solidFill>
                            <a:schemeClr val="tx1"/>
                          </a:solidFill>
                          <a:effectLst/>
                          <a:latin typeface="Sakkal Majalla" panose="02000000000000000000" pitchFamily="2" charset="-78"/>
                          <a:cs typeface="Sakkal Majalla" panose="02000000000000000000" pitchFamily="2" charset="-78"/>
                        </a:rPr>
                        <a:t>تمكين التحليل المتقدم والحوكمة الفعّالة وضمان جودة البيانات واستمراريتها.</a:t>
                      </a:r>
                    </a:p>
                  </a:txBody>
                  <a:tcPr marL="137160" marR="137160" marT="91440" marB="91440" anchor="ctr">
                    <a:lnL>
                      <a:noFill/>
                    </a:lnL>
                    <a:lnR w="190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926399223"/>
                  </a:ext>
                </a:extLst>
              </a:tr>
              <a:tr h="1104671">
                <a:tc gridSpan="2">
                  <a:txBody>
                    <a:bodyPr/>
                    <a:lstStyle/>
                    <a:p>
                      <a:pPr marL="0" marR="0" algn="r" rtl="1">
                        <a:lnSpc>
                          <a:spcPct val="115000"/>
                        </a:lnSpc>
                        <a:spcBef>
                          <a:spcPts val="0"/>
                        </a:spcBef>
                        <a:spcAft>
                          <a:spcPts val="0"/>
                        </a:spcAft>
                      </a:pPr>
                      <a:endParaRPr lang="en-US" sz="1600">
                        <a:effectLst/>
                        <a:latin typeface="Sakkal Majalla" panose="02000000000000000000" pitchFamily="2" charset="-78"/>
                        <a:ea typeface="Times New Roman" panose="02020603050405020304" pitchFamily="18" charset="0"/>
                        <a:cs typeface="Sakkal Majalla" panose="02000000000000000000" pitchFamily="2" charset="-78"/>
                      </a:endParaRPr>
                    </a:p>
                  </a:txBody>
                  <a:tcPr marL="0" marR="0" marT="0" marB="0" anchor="ctr">
                    <a:lnL>
                      <a:noFill/>
                    </a:lnL>
                    <a:lnR>
                      <a:noFill/>
                    </a:lnR>
                    <a:lnT>
                      <a:noFill/>
                    </a:lnT>
                    <a:lnB>
                      <a:noFill/>
                    </a:lnB>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675460323"/>
                  </a:ext>
                </a:extLst>
              </a:tr>
              <a:tr h="1104671">
                <a:tc>
                  <a:txBody>
                    <a:bodyPr/>
                    <a:lstStyle/>
                    <a:p>
                      <a:pPr marL="0" marR="0" algn="r" rtl="1">
                        <a:lnSpc>
                          <a:spcPct val="115000"/>
                        </a:lnSpc>
                        <a:spcBef>
                          <a:spcPts val="0"/>
                        </a:spcBef>
                        <a:spcAft>
                          <a:spcPts val="0"/>
                        </a:spcAft>
                      </a:pPr>
                      <a:r>
                        <a:rPr lang="en-US" sz="1600">
                          <a:effectLst/>
                          <a:latin typeface="Sakkal Majalla" panose="02000000000000000000" pitchFamily="2" charset="-78"/>
                          <a:ea typeface="Times New Roman" panose="02020603050405020304" pitchFamily="18" charset="0"/>
                          <a:cs typeface="Sakkal Majalla" panose="02000000000000000000" pitchFamily="2" charset="-78"/>
                        </a:rPr>
                        <a:t> </a:t>
                      </a:r>
                      <a:endParaRPr lang="en-US" sz="160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0" marR="0" marT="0" marB="0" anchor="ctr">
                    <a:lnL w="1905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a:noFill/>
                    </a:lnT>
                    <a:lnB>
                      <a:noFill/>
                    </a:lnB>
                  </a:tcPr>
                </a:tc>
                <a:tc>
                  <a:txBody>
                    <a:bodyPr/>
                    <a:lstStyle/>
                    <a:p>
                      <a:pPr marL="0" marR="0" algn="r" rtl="1">
                        <a:lnSpc>
                          <a:spcPct val="115000"/>
                        </a:lnSpc>
                        <a:spcBef>
                          <a:spcPts val="0"/>
                        </a:spcBef>
                        <a:spcAft>
                          <a:spcPts val="0"/>
                        </a:spcAft>
                      </a:pPr>
                      <a:r>
                        <a:rPr lang="en-US" sz="1600" dirty="0">
                          <a:effectLst/>
                          <a:latin typeface="Sakkal Majalla" panose="02000000000000000000" pitchFamily="2" charset="-78"/>
                          <a:ea typeface="Times New Roman" panose="02020603050405020304" pitchFamily="18" charset="0"/>
                          <a:cs typeface="Sakkal Majalla" panose="02000000000000000000" pitchFamily="2" charset="-78"/>
                        </a:rPr>
                        <a:t> </a:t>
                      </a:r>
                      <a:endParaRPr lang="en-US" sz="1600" dirty="0">
                        <a:effectLst/>
                        <a:latin typeface="Sakkal Majalla" panose="02000000000000000000" pitchFamily="2" charset="-78"/>
                        <a:ea typeface="Sakkal Majalla" panose="02000000000000000000" pitchFamily="2" charset="-78"/>
                        <a:cs typeface="Sakkal Majalla" panose="02000000000000000000" pitchFamily="2" charset="-78"/>
                      </a:endParaRPr>
                    </a:p>
                  </a:txBody>
                  <a:tcPr marL="0" marR="0" marT="0" marB="0" anchor="ctr">
                    <a:lnL w="19050" cap="flat" cmpd="sng" algn="ctr">
                      <a:solidFill>
                        <a:srgbClr val="BFBFBF"/>
                      </a:solidFill>
                      <a:prstDash val="solid"/>
                      <a:round/>
                      <a:headEnd type="none" w="med" len="med"/>
                      <a:tailEnd type="none" w="med" len="med"/>
                    </a:lnL>
                    <a:lnR>
                      <a:noFill/>
                    </a:lnR>
                    <a:lnT>
                      <a:noFill/>
                    </a:lnT>
                    <a:lnB w="19050" cap="flat" cmpd="sng" algn="ctr">
                      <a:solidFill>
                        <a:srgbClr val="BFBFBF"/>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940229321"/>
                  </a:ext>
                </a:extLst>
              </a:tr>
            </a:tbl>
          </a:graphicData>
        </a:graphic>
      </p:graphicFrame>
      <p:grpSp>
        <p:nvGrpSpPr>
          <p:cNvPr id="48" name="Group 47">
            <a:extLst>
              <a:ext uri="{FF2B5EF4-FFF2-40B4-BE49-F238E27FC236}">
                <a16:creationId xmlns:a16="http://schemas.microsoft.com/office/drawing/2014/main" id="{46ADA674-A710-1D83-1D12-FDC52C4FA712}"/>
              </a:ext>
            </a:extLst>
          </p:cNvPr>
          <p:cNvGrpSpPr/>
          <p:nvPr/>
        </p:nvGrpSpPr>
        <p:grpSpPr>
          <a:xfrm>
            <a:off x="10617151" y="2818143"/>
            <a:ext cx="720000" cy="720000"/>
            <a:chOff x="0" y="0"/>
            <a:chExt cx="666029" cy="666074"/>
          </a:xfrm>
        </p:grpSpPr>
        <p:sp>
          <p:nvSpPr>
            <p:cNvPr id="49" name="Oval 48">
              <a:extLst>
                <a:ext uri="{FF2B5EF4-FFF2-40B4-BE49-F238E27FC236}">
                  <a16:creationId xmlns:a16="http://schemas.microsoft.com/office/drawing/2014/main" id="{D2B958F9-0121-76EE-C48F-04020AF25EC7}"/>
                </a:ext>
              </a:extLst>
            </p:cNvPr>
            <p:cNvSpPr/>
            <p:nvPr/>
          </p:nvSpPr>
          <p:spPr>
            <a:xfrm>
              <a:off x="0" y="0"/>
              <a:ext cx="666029" cy="666074"/>
            </a:xfrm>
            <a:prstGeom prst="ellipse">
              <a:avLst/>
            </a:prstGeom>
            <a:solidFill>
              <a:schemeClr val="bg1">
                <a:lumMod val="95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US"/>
            </a:p>
          </p:txBody>
        </p:sp>
        <p:grpSp>
          <p:nvGrpSpPr>
            <p:cNvPr id="50" name="Group 49">
              <a:extLst>
                <a:ext uri="{FF2B5EF4-FFF2-40B4-BE49-F238E27FC236}">
                  <a16:creationId xmlns:a16="http://schemas.microsoft.com/office/drawing/2014/main" id="{66CC8697-7A55-9FD6-9F19-E73F118CA5A8}"/>
                </a:ext>
              </a:extLst>
            </p:cNvPr>
            <p:cNvGrpSpPr>
              <a:grpSpLocks noChangeAspect="1"/>
            </p:cNvGrpSpPr>
            <p:nvPr/>
          </p:nvGrpSpPr>
          <p:grpSpPr>
            <a:xfrm>
              <a:off x="161925" y="104775"/>
              <a:ext cx="343078" cy="457200"/>
              <a:chOff x="161475" y="104437"/>
              <a:chExt cx="1237761" cy="1649497"/>
            </a:xfrm>
            <a:solidFill>
              <a:schemeClr val="accent1"/>
            </a:solidFill>
          </p:grpSpPr>
          <p:sp>
            <p:nvSpPr>
              <p:cNvPr id="51" name="Freeform 28">
                <a:extLst>
                  <a:ext uri="{FF2B5EF4-FFF2-40B4-BE49-F238E27FC236}">
                    <a16:creationId xmlns:a16="http://schemas.microsoft.com/office/drawing/2014/main" id="{28BB8C93-5C07-444B-6071-F85B25B96F5C}"/>
                  </a:ext>
                </a:extLst>
              </p:cNvPr>
              <p:cNvSpPr>
                <a:spLocks noEditPoints="1"/>
              </p:cNvSpPr>
              <p:nvPr/>
            </p:nvSpPr>
            <p:spPr bwMode="auto">
              <a:xfrm>
                <a:off x="161475" y="104437"/>
                <a:ext cx="1237761" cy="1442862"/>
              </a:xfrm>
              <a:custGeom>
                <a:avLst/>
                <a:gdLst>
                  <a:gd name="T0" fmla="*/ 35 w 6532"/>
                  <a:gd name="T1" fmla="*/ 163 h 7618"/>
                  <a:gd name="T2" fmla="*/ 0 w 6532"/>
                  <a:gd name="T3" fmla="*/ 1789 h 7618"/>
                  <a:gd name="T4" fmla="*/ 120 w 6532"/>
                  <a:gd name="T5" fmla="*/ 7549 h 7618"/>
                  <a:gd name="T6" fmla="*/ 446 w 6532"/>
                  <a:gd name="T7" fmla="*/ 7611 h 7618"/>
                  <a:gd name="T8" fmla="*/ 780 w 6532"/>
                  <a:gd name="T9" fmla="*/ 7272 h 7618"/>
                  <a:gd name="T10" fmla="*/ 626 w 6532"/>
                  <a:gd name="T11" fmla="*/ 6555 h 7618"/>
                  <a:gd name="T12" fmla="*/ 678 w 6532"/>
                  <a:gd name="T13" fmla="*/ 5827 h 7618"/>
                  <a:gd name="T14" fmla="*/ 900 w 6532"/>
                  <a:gd name="T15" fmla="*/ 5191 h 7618"/>
                  <a:gd name="T16" fmla="*/ 1291 w 6532"/>
                  <a:gd name="T17" fmla="*/ 4613 h 7618"/>
                  <a:gd name="T18" fmla="*/ 1724 w 6532"/>
                  <a:gd name="T19" fmla="*/ 4220 h 7618"/>
                  <a:gd name="T20" fmla="*/ 2400 w 6532"/>
                  <a:gd name="T21" fmla="*/ 3871 h 7618"/>
                  <a:gd name="T22" fmla="*/ 2866 w 6532"/>
                  <a:gd name="T23" fmla="*/ 3758 h 7618"/>
                  <a:gd name="T24" fmla="*/ 3572 w 6532"/>
                  <a:gd name="T25" fmla="*/ 3750 h 7618"/>
                  <a:gd name="T26" fmla="*/ 4102 w 6532"/>
                  <a:gd name="T27" fmla="*/ 3866 h 7618"/>
                  <a:gd name="T28" fmla="*/ 4599 w 6532"/>
                  <a:gd name="T29" fmla="*/ 4094 h 7618"/>
                  <a:gd name="T30" fmla="*/ 5022 w 6532"/>
                  <a:gd name="T31" fmla="*/ 4400 h 7618"/>
                  <a:gd name="T32" fmla="*/ 5134 w 6532"/>
                  <a:gd name="T33" fmla="*/ 3890 h 7618"/>
                  <a:gd name="T34" fmla="*/ 5239 w 6532"/>
                  <a:gd name="T35" fmla="*/ 3740 h 7618"/>
                  <a:gd name="T36" fmla="*/ 5412 w 6532"/>
                  <a:gd name="T37" fmla="*/ 3796 h 7618"/>
                  <a:gd name="T38" fmla="*/ 5572 w 6532"/>
                  <a:gd name="T39" fmla="*/ 3853 h 7618"/>
                  <a:gd name="T40" fmla="*/ 5749 w 6532"/>
                  <a:gd name="T41" fmla="*/ 3733 h 7618"/>
                  <a:gd name="T42" fmla="*/ 5892 w 6532"/>
                  <a:gd name="T43" fmla="*/ 3825 h 7618"/>
                  <a:gd name="T44" fmla="*/ 5885 w 6532"/>
                  <a:gd name="T45" fmla="*/ 3950 h 7618"/>
                  <a:gd name="T46" fmla="*/ 5734 w 6532"/>
                  <a:gd name="T47" fmla="*/ 4200 h 7618"/>
                  <a:gd name="T48" fmla="*/ 5899 w 6532"/>
                  <a:gd name="T49" fmla="*/ 4300 h 7618"/>
                  <a:gd name="T50" fmla="*/ 5899 w 6532"/>
                  <a:gd name="T51" fmla="*/ 4400 h 7618"/>
                  <a:gd name="T52" fmla="*/ 5803 w 6532"/>
                  <a:gd name="T53" fmla="*/ 4488 h 7618"/>
                  <a:gd name="T54" fmla="*/ 5300 w 6532"/>
                  <a:gd name="T55" fmla="*/ 4556 h 7618"/>
                  <a:gd name="T56" fmla="*/ 5658 w 6532"/>
                  <a:gd name="T57" fmla="*/ 5259 h 7618"/>
                  <a:gd name="T58" fmla="*/ 5828 w 6532"/>
                  <a:gd name="T59" fmla="*/ 5720 h 7618"/>
                  <a:gd name="T60" fmla="*/ 5907 w 6532"/>
                  <a:gd name="T61" fmla="*/ 6335 h 7618"/>
                  <a:gd name="T62" fmla="*/ 5843 w 6532"/>
                  <a:gd name="T63" fmla="*/ 6950 h 7618"/>
                  <a:gd name="T64" fmla="*/ 5664 w 6532"/>
                  <a:gd name="T65" fmla="*/ 7480 h 7618"/>
                  <a:gd name="T66" fmla="*/ 6321 w 6532"/>
                  <a:gd name="T67" fmla="*/ 7598 h 7618"/>
                  <a:gd name="T68" fmla="*/ 6484 w 6532"/>
                  <a:gd name="T69" fmla="*/ 7470 h 7618"/>
                  <a:gd name="T70" fmla="*/ 6109 w 6532"/>
                  <a:gd name="T71" fmla="*/ 1082 h 7618"/>
                  <a:gd name="T72" fmla="*/ 5779 w 6532"/>
                  <a:gd name="T73" fmla="*/ 1009 h 7618"/>
                  <a:gd name="T74" fmla="*/ 5528 w 6532"/>
                  <a:gd name="T75" fmla="*/ 772 h 7618"/>
                  <a:gd name="T76" fmla="*/ 5452 w 6532"/>
                  <a:gd name="T77" fmla="*/ 504 h 7618"/>
                  <a:gd name="T78" fmla="*/ 1335 w 6532"/>
                  <a:gd name="T79" fmla="*/ 1 h 7618"/>
                  <a:gd name="T80" fmla="*/ 4764 w 6532"/>
                  <a:gd name="T81" fmla="*/ 1126 h 7618"/>
                  <a:gd name="T82" fmla="*/ 4812 w 6532"/>
                  <a:gd name="T83" fmla="*/ 1283 h 7618"/>
                  <a:gd name="T84" fmla="*/ 4692 w 6532"/>
                  <a:gd name="T85" fmla="*/ 1386 h 7618"/>
                  <a:gd name="T86" fmla="*/ 883 w 6532"/>
                  <a:gd name="T87" fmla="*/ 1386 h 7618"/>
                  <a:gd name="T88" fmla="*/ 663 w 6532"/>
                  <a:gd name="T89" fmla="*/ 1339 h 7618"/>
                  <a:gd name="T90" fmla="*/ 639 w 6532"/>
                  <a:gd name="T91" fmla="*/ 1168 h 7618"/>
                  <a:gd name="T92" fmla="*/ 789 w 6532"/>
                  <a:gd name="T93" fmla="*/ 1100 h 7618"/>
                  <a:gd name="T94" fmla="*/ 4712 w 6532"/>
                  <a:gd name="T95" fmla="*/ 1083 h 7618"/>
                  <a:gd name="T96" fmla="*/ 5907 w 6532"/>
                  <a:gd name="T97" fmla="*/ 1995 h 7618"/>
                  <a:gd name="T98" fmla="*/ 5871 w 6532"/>
                  <a:gd name="T99" fmla="*/ 2122 h 7618"/>
                  <a:gd name="T100" fmla="*/ 5110 w 6532"/>
                  <a:gd name="T101" fmla="*/ 2165 h 7618"/>
                  <a:gd name="T102" fmla="*/ 659 w 6532"/>
                  <a:gd name="T103" fmla="*/ 2115 h 7618"/>
                  <a:gd name="T104" fmla="*/ 628 w 6532"/>
                  <a:gd name="T105" fmla="*/ 1971 h 7618"/>
                  <a:gd name="T106" fmla="*/ 3262 w 6532"/>
                  <a:gd name="T107" fmla="*/ 1866 h 7618"/>
                  <a:gd name="T108" fmla="*/ 5842 w 6532"/>
                  <a:gd name="T109" fmla="*/ 1891 h 7618"/>
                  <a:gd name="T110" fmla="*/ 5906 w 6532"/>
                  <a:gd name="T111" fmla="*/ 2792 h 7618"/>
                  <a:gd name="T112" fmla="*/ 5832 w 6532"/>
                  <a:gd name="T113" fmla="*/ 2925 h 7618"/>
                  <a:gd name="T114" fmla="*/ 2317 w 6532"/>
                  <a:gd name="T115" fmla="*/ 2952 h 7618"/>
                  <a:gd name="T116" fmla="*/ 678 w 6532"/>
                  <a:gd name="T117" fmla="*/ 2913 h 7618"/>
                  <a:gd name="T118" fmla="*/ 646 w 6532"/>
                  <a:gd name="T119" fmla="*/ 2718 h 7618"/>
                  <a:gd name="T120" fmla="*/ 2271 w 6532"/>
                  <a:gd name="T121" fmla="*/ 2637 h 7618"/>
                  <a:gd name="T122" fmla="*/ 5815 w 6532"/>
                  <a:gd name="T123" fmla="*/ 2659 h 7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32" h="7618">
                    <a:moveTo>
                      <a:pt x="174" y="28"/>
                    </a:moveTo>
                    <a:lnTo>
                      <a:pt x="145" y="43"/>
                    </a:lnTo>
                    <a:lnTo>
                      <a:pt x="99" y="77"/>
                    </a:lnTo>
                    <a:lnTo>
                      <a:pt x="63" y="117"/>
                    </a:lnTo>
                    <a:lnTo>
                      <a:pt x="35" y="163"/>
                    </a:lnTo>
                    <a:lnTo>
                      <a:pt x="24" y="190"/>
                    </a:lnTo>
                    <a:lnTo>
                      <a:pt x="19" y="204"/>
                    </a:lnTo>
                    <a:lnTo>
                      <a:pt x="13" y="272"/>
                    </a:lnTo>
                    <a:lnTo>
                      <a:pt x="5" y="508"/>
                    </a:lnTo>
                    <a:lnTo>
                      <a:pt x="0" y="1789"/>
                    </a:lnTo>
                    <a:lnTo>
                      <a:pt x="2" y="3835"/>
                    </a:lnTo>
                    <a:lnTo>
                      <a:pt x="7" y="7410"/>
                    </a:lnTo>
                    <a:lnTo>
                      <a:pt x="47" y="7470"/>
                    </a:lnTo>
                    <a:lnTo>
                      <a:pt x="66" y="7495"/>
                    </a:lnTo>
                    <a:lnTo>
                      <a:pt x="120" y="7549"/>
                    </a:lnTo>
                    <a:lnTo>
                      <a:pt x="145" y="7568"/>
                    </a:lnTo>
                    <a:lnTo>
                      <a:pt x="165" y="7581"/>
                    </a:lnTo>
                    <a:lnTo>
                      <a:pt x="209" y="7598"/>
                    </a:lnTo>
                    <a:lnTo>
                      <a:pt x="291" y="7607"/>
                    </a:lnTo>
                    <a:lnTo>
                      <a:pt x="446" y="7611"/>
                    </a:lnTo>
                    <a:lnTo>
                      <a:pt x="567" y="7613"/>
                    </a:lnTo>
                    <a:lnTo>
                      <a:pt x="930" y="7618"/>
                    </a:lnTo>
                    <a:lnTo>
                      <a:pt x="867" y="7480"/>
                    </a:lnTo>
                    <a:lnTo>
                      <a:pt x="836" y="7411"/>
                    </a:lnTo>
                    <a:lnTo>
                      <a:pt x="780" y="7272"/>
                    </a:lnTo>
                    <a:lnTo>
                      <a:pt x="733" y="7131"/>
                    </a:lnTo>
                    <a:lnTo>
                      <a:pt x="694" y="6989"/>
                    </a:lnTo>
                    <a:lnTo>
                      <a:pt x="663" y="6845"/>
                    </a:lnTo>
                    <a:lnTo>
                      <a:pt x="641" y="6700"/>
                    </a:lnTo>
                    <a:lnTo>
                      <a:pt x="626" y="6555"/>
                    </a:lnTo>
                    <a:lnTo>
                      <a:pt x="620" y="6409"/>
                    </a:lnTo>
                    <a:lnTo>
                      <a:pt x="622" y="6263"/>
                    </a:lnTo>
                    <a:lnTo>
                      <a:pt x="633" y="6117"/>
                    </a:lnTo>
                    <a:lnTo>
                      <a:pt x="651" y="5972"/>
                    </a:lnTo>
                    <a:lnTo>
                      <a:pt x="678" y="5827"/>
                    </a:lnTo>
                    <a:lnTo>
                      <a:pt x="713" y="5683"/>
                    </a:lnTo>
                    <a:lnTo>
                      <a:pt x="756" y="5540"/>
                    </a:lnTo>
                    <a:lnTo>
                      <a:pt x="808" y="5399"/>
                    </a:lnTo>
                    <a:lnTo>
                      <a:pt x="867" y="5260"/>
                    </a:lnTo>
                    <a:lnTo>
                      <a:pt x="900" y="5191"/>
                    </a:lnTo>
                    <a:lnTo>
                      <a:pt x="935" y="5123"/>
                    </a:lnTo>
                    <a:lnTo>
                      <a:pt x="1012" y="4989"/>
                    </a:lnTo>
                    <a:lnTo>
                      <a:pt x="1097" y="4859"/>
                    </a:lnTo>
                    <a:lnTo>
                      <a:pt x="1190" y="4734"/>
                    </a:lnTo>
                    <a:lnTo>
                      <a:pt x="1291" y="4613"/>
                    </a:lnTo>
                    <a:lnTo>
                      <a:pt x="1398" y="4499"/>
                    </a:lnTo>
                    <a:lnTo>
                      <a:pt x="1511" y="4391"/>
                    </a:lnTo>
                    <a:lnTo>
                      <a:pt x="1629" y="4291"/>
                    </a:lnTo>
                    <a:lnTo>
                      <a:pt x="1690" y="4245"/>
                    </a:lnTo>
                    <a:lnTo>
                      <a:pt x="1724" y="4220"/>
                    </a:lnTo>
                    <a:lnTo>
                      <a:pt x="1805" y="4167"/>
                    </a:lnTo>
                    <a:lnTo>
                      <a:pt x="1949" y="4083"/>
                    </a:lnTo>
                    <a:lnTo>
                      <a:pt x="2160" y="3974"/>
                    </a:lnTo>
                    <a:lnTo>
                      <a:pt x="2311" y="3906"/>
                    </a:lnTo>
                    <a:lnTo>
                      <a:pt x="2400" y="3871"/>
                    </a:lnTo>
                    <a:lnTo>
                      <a:pt x="2439" y="3858"/>
                    </a:lnTo>
                    <a:lnTo>
                      <a:pt x="2547" y="3824"/>
                    </a:lnTo>
                    <a:lnTo>
                      <a:pt x="2687" y="3788"/>
                    </a:lnTo>
                    <a:lnTo>
                      <a:pt x="2776" y="3770"/>
                    </a:lnTo>
                    <a:lnTo>
                      <a:pt x="2866" y="3758"/>
                    </a:lnTo>
                    <a:lnTo>
                      <a:pt x="2963" y="3749"/>
                    </a:lnTo>
                    <a:lnTo>
                      <a:pt x="3128" y="3743"/>
                    </a:lnTo>
                    <a:lnTo>
                      <a:pt x="3265" y="3743"/>
                    </a:lnTo>
                    <a:lnTo>
                      <a:pt x="3405" y="3744"/>
                    </a:lnTo>
                    <a:lnTo>
                      <a:pt x="3572" y="3750"/>
                    </a:lnTo>
                    <a:lnTo>
                      <a:pt x="3669" y="3759"/>
                    </a:lnTo>
                    <a:lnTo>
                      <a:pt x="3760" y="3772"/>
                    </a:lnTo>
                    <a:lnTo>
                      <a:pt x="3849" y="3791"/>
                    </a:lnTo>
                    <a:lnTo>
                      <a:pt x="3991" y="3830"/>
                    </a:lnTo>
                    <a:lnTo>
                      <a:pt x="4102" y="3866"/>
                    </a:lnTo>
                    <a:lnTo>
                      <a:pt x="4157" y="3885"/>
                    </a:lnTo>
                    <a:lnTo>
                      <a:pt x="4268" y="3929"/>
                    </a:lnTo>
                    <a:lnTo>
                      <a:pt x="4380" y="3979"/>
                    </a:lnTo>
                    <a:lnTo>
                      <a:pt x="4490" y="4034"/>
                    </a:lnTo>
                    <a:lnTo>
                      <a:pt x="4599" y="4094"/>
                    </a:lnTo>
                    <a:lnTo>
                      <a:pt x="4704" y="4158"/>
                    </a:lnTo>
                    <a:lnTo>
                      <a:pt x="4803" y="4225"/>
                    </a:lnTo>
                    <a:lnTo>
                      <a:pt x="4897" y="4294"/>
                    </a:lnTo>
                    <a:lnTo>
                      <a:pt x="4940" y="4330"/>
                    </a:lnTo>
                    <a:lnTo>
                      <a:pt x="5022" y="4400"/>
                    </a:lnTo>
                    <a:lnTo>
                      <a:pt x="5077" y="4346"/>
                    </a:lnTo>
                    <a:lnTo>
                      <a:pt x="5132" y="4293"/>
                    </a:lnTo>
                    <a:lnTo>
                      <a:pt x="5132" y="4065"/>
                    </a:lnTo>
                    <a:lnTo>
                      <a:pt x="5132" y="3988"/>
                    </a:lnTo>
                    <a:lnTo>
                      <a:pt x="5134" y="3890"/>
                    </a:lnTo>
                    <a:lnTo>
                      <a:pt x="5143" y="3836"/>
                    </a:lnTo>
                    <a:lnTo>
                      <a:pt x="5161" y="3802"/>
                    </a:lnTo>
                    <a:lnTo>
                      <a:pt x="5175" y="3785"/>
                    </a:lnTo>
                    <a:lnTo>
                      <a:pt x="5194" y="3765"/>
                    </a:lnTo>
                    <a:lnTo>
                      <a:pt x="5239" y="3740"/>
                    </a:lnTo>
                    <a:lnTo>
                      <a:pt x="5289" y="3730"/>
                    </a:lnTo>
                    <a:lnTo>
                      <a:pt x="5342" y="3738"/>
                    </a:lnTo>
                    <a:lnTo>
                      <a:pt x="5367" y="3750"/>
                    </a:lnTo>
                    <a:lnTo>
                      <a:pt x="5383" y="3760"/>
                    </a:lnTo>
                    <a:lnTo>
                      <a:pt x="5412" y="3796"/>
                    </a:lnTo>
                    <a:lnTo>
                      <a:pt x="5435" y="3842"/>
                    </a:lnTo>
                    <a:lnTo>
                      <a:pt x="5447" y="3893"/>
                    </a:lnTo>
                    <a:lnTo>
                      <a:pt x="5449" y="3918"/>
                    </a:lnTo>
                    <a:lnTo>
                      <a:pt x="5449" y="3971"/>
                    </a:lnTo>
                    <a:lnTo>
                      <a:pt x="5572" y="3853"/>
                    </a:lnTo>
                    <a:lnTo>
                      <a:pt x="5607" y="3819"/>
                    </a:lnTo>
                    <a:lnTo>
                      <a:pt x="5661" y="3771"/>
                    </a:lnTo>
                    <a:lnTo>
                      <a:pt x="5700" y="3744"/>
                    </a:lnTo>
                    <a:lnTo>
                      <a:pt x="5733" y="3734"/>
                    </a:lnTo>
                    <a:lnTo>
                      <a:pt x="5749" y="3733"/>
                    </a:lnTo>
                    <a:lnTo>
                      <a:pt x="5775" y="3734"/>
                    </a:lnTo>
                    <a:lnTo>
                      <a:pt x="5819" y="3744"/>
                    </a:lnTo>
                    <a:lnTo>
                      <a:pt x="5854" y="3767"/>
                    </a:lnTo>
                    <a:lnTo>
                      <a:pt x="5881" y="3801"/>
                    </a:lnTo>
                    <a:lnTo>
                      <a:pt x="5892" y="3825"/>
                    </a:lnTo>
                    <a:lnTo>
                      <a:pt x="5898" y="3839"/>
                    </a:lnTo>
                    <a:lnTo>
                      <a:pt x="5905" y="3867"/>
                    </a:lnTo>
                    <a:lnTo>
                      <a:pt x="5905" y="3894"/>
                    </a:lnTo>
                    <a:lnTo>
                      <a:pt x="5899" y="3921"/>
                    </a:lnTo>
                    <a:lnTo>
                      <a:pt x="5885" y="3950"/>
                    </a:lnTo>
                    <a:lnTo>
                      <a:pt x="5863" y="3982"/>
                    </a:lnTo>
                    <a:lnTo>
                      <a:pt x="5815" y="4039"/>
                    </a:lnTo>
                    <a:lnTo>
                      <a:pt x="5769" y="4086"/>
                    </a:lnTo>
                    <a:lnTo>
                      <a:pt x="5659" y="4200"/>
                    </a:lnTo>
                    <a:lnTo>
                      <a:pt x="5734" y="4200"/>
                    </a:lnTo>
                    <a:lnTo>
                      <a:pt x="5765" y="4201"/>
                    </a:lnTo>
                    <a:lnTo>
                      <a:pt x="5817" y="4212"/>
                    </a:lnTo>
                    <a:lnTo>
                      <a:pt x="5857" y="4236"/>
                    </a:lnTo>
                    <a:lnTo>
                      <a:pt x="5887" y="4274"/>
                    </a:lnTo>
                    <a:lnTo>
                      <a:pt x="5899" y="4300"/>
                    </a:lnTo>
                    <a:lnTo>
                      <a:pt x="5904" y="4314"/>
                    </a:lnTo>
                    <a:lnTo>
                      <a:pt x="5911" y="4338"/>
                    </a:lnTo>
                    <a:lnTo>
                      <a:pt x="5911" y="4361"/>
                    </a:lnTo>
                    <a:lnTo>
                      <a:pt x="5904" y="4385"/>
                    </a:lnTo>
                    <a:lnTo>
                      <a:pt x="5899" y="4400"/>
                    </a:lnTo>
                    <a:lnTo>
                      <a:pt x="5892" y="4416"/>
                    </a:lnTo>
                    <a:lnTo>
                      <a:pt x="5877" y="4443"/>
                    </a:lnTo>
                    <a:lnTo>
                      <a:pt x="5859" y="4463"/>
                    </a:lnTo>
                    <a:lnTo>
                      <a:pt x="5835" y="4478"/>
                    </a:lnTo>
                    <a:lnTo>
                      <a:pt x="5803" y="4488"/>
                    </a:lnTo>
                    <a:lnTo>
                      <a:pt x="5759" y="4495"/>
                    </a:lnTo>
                    <a:lnTo>
                      <a:pt x="5668" y="4499"/>
                    </a:lnTo>
                    <a:lnTo>
                      <a:pt x="5582" y="4500"/>
                    </a:lnTo>
                    <a:lnTo>
                      <a:pt x="5355" y="4500"/>
                    </a:lnTo>
                    <a:lnTo>
                      <a:pt x="5300" y="4556"/>
                    </a:lnTo>
                    <a:lnTo>
                      <a:pt x="5245" y="4613"/>
                    </a:lnTo>
                    <a:lnTo>
                      <a:pt x="5380" y="4795"/>
                    </a:lnTo>
                    <a:lnTo>
                      <a:pt x="5437" y="4872"/>
                    </a:lnTo>
                    <a:lnTo>
                      <a:pt x="5552" y="5058"/>
                    </a:lnTo>
                    <a:lnTo>
                      <a:pt x="5658" y="5259"/>
                    </a:lnTo>
                    <a:lnTo>
                      <a:pt x="5725" y="5406"/>
                    </a:lnTo>
                    <a:lnTo>
                      <a:pt x="5761" y="5497"/>
                    </a:lnTo>
                    <a:lnTo>
                      <a:pt x="5775" y="5540"/>
                    </a:lnTo>
                    <a:lnTo>
                      <a:pt x="5794" y="5599"/>
                    </a:lnTo>
                    <a:lnTo>
                      <a:pt x="5828" y="5720"/>
                    </a:lnTo>
                    <a:lnTo>
                      <a:pt x="5855" y="5842"/>
                    </a:lnTo>
                    <a:lnTo>
                      <a:pt x="5877" y="5964"/>
                    </a:lnTo>
                    <a:lnTo>
                      <a:pt x="5893" y="6088"/>
                    </a:lnTo>
                    <a:lnTo>
                      <a:pt x="5903" y="6211"/>
                    </a:lnTo>
                    <a:lnTo>
                      <a:pt x="5907" y="6335"/>
                    </a:lnTo>
                    <a:lnTo>
                      <a:pt x="5906" y="6459"/>
                    </a:lnTo>
                    <a:lnTo>
                      <a:pt x="5899" y="6583"/>
                    </a:lnTo>
                    <a:lnTo>
                      <a:pt x="5886" y="6706"/>
                    </a:lnTo>
                    <a:lnTo>
                      <a:pt x="5867" y="6828"/>
                    </a:lnTo>
                    <a:lnTo>
                      <a:pt x="5843" y="6950"/>
                    </a:lnTo>
                    <a:lnTo>
                      <a:pt x="5813" y="7070"/>
                    </a:lnTo>
                    <a:lnTo>
                      <a:pt x="5778" y="7189"/>
                    </a:lnTo>
                    <a:lnTo>
                      <a:pt x="5736" y="7307"/>
                    </a:lnTo>
                    <a:lnTo>
                      <a:pt x="5689" y="7423"/>
                    </a:lnTo>
                    <a:lnTo>
                      <a:pt x="5664" y="7480"/>
                    </a:lnTo>
                    <a:lnTo>
                      <a:pt x="5600" y="7618"/>
                    </a:lnTo>
                    <a:lnTo>
                      <a:pt x="5964" y="7613"/>
                    </a:lnTo>
                    <a:lnTo>
                      <a:pt x="6085" y="7611"/>
                    </a:lnTo>
                    <a:lnTo>
                      <a:pt x="6240" y="7607"/>
                    </a:lnTo>
                    <a:lnTo>
                      <a:pt x="6321" y="7598"/>
                    </a:lnTo>
                    <a:lnTo>
                      <a:pt x="6365" y="7581"/>
                    </a:lnTo>
                    <a:lnTo>
                      <a:pt x="6385" y="7568"/>
                    </a:lnTo>
                    <a:lnTo>
                      <a:pt x="6411" y="7549"/>
                    </a:lnTo>
                    <a:lnTo>
                      <a:pt x="6464" y="7495"/>
                    </a:lnTo>
                    <a:lnTo>
                      <a:pt x="6484" y="7470"/>
                    </a:lnTo>
                    <a:lnTo>
                      <a:pt x="6524" y="7410"/>
                    </a:lnTo>
                    <a:lnTo>
                      <a:pt x="6529" y="4246"/>
                    </a:lnTo>
                    <a:lnTo>
                      <a:pt x="6532" y="1083"/>
                    </a:lnTo>
                    <a:lnTo>
                      <a:pt x="6259" y="1083"/>
                    </a:lnTo>
                    <a:lnTo>
                      <a:pt x="6109" y="1082"/>
                    </a:lnTo>
                    <a:lnTo>
                      <a:pt x="5978" y="1073"/>
                    </a:lnTo>
                    <a:lnTo>
                      <a:pt x="5912" y="1060"/>
                    </a:lnTo>
                    <a:lnTo>
                      <a:pt x="5880" y="1050"/>
                    </a:lnTo>
                    <a:lnTo>
                      <a:pt x="5845" y="1038"/>
                    </a:lnTo>
                    <a:lnTo>
                      <a:pt x="5779" y="1009"/>
                    </a:lnTo>
                    <a:lnTo>
                      <a:pt x="5718" y="973"/>
                    </a:lnTo>
                    <a:lnTo>
                      <a:pt x="5662" y="932"/>
                    </a:lnTo>
                    <a:lnTo>
                      <a:pt x="5611" y="884"/>
                    </a:lnTo>
                    <a:lnTo>
                      <a:pt x="5567" y="830"/>
                    </a:lnTo>
                    <a:lnTo>
                      <a:pt x="5528" y="772"/>
                    </a:lnTo>
                    <a:lnTo>
                      <a:pt x="5496" y="707"/>
                    </a:lnTo>
                    <a:lnTo>
                      <a:pt x="5482" y="673"/>
                    </a:lnTo>
                    <a:lnTo>
                      <a:pt x="5472" y="644"/>
                    </a:lnTo>
                    <a:lnTo>
                      <a:pt x="5459" y="585"/>
                    </a:lnTo>
                    <a:lnTo>
                      <a:pt x="5452" y="504"/>
                    </a:lnTo>
                    <a:lnTo>
                      <a:pt x="5449" y="379"/>
                    </a:lnTo>
                    <a:lnTo>
                      <a:pt x="5449" y="291"/>
                    </a:lnTo>
                    <a:lnTo>
                      <a:pt x="5449" y="0"/>
                    </a:lnTo>
                    <a:lnTo>
                      <a:pt x="2837" y="0"/>
                    </a:lnTo>
                    <a:lnTo>
                      <a:pt x="1335" y="1"/>
                    </a:lnTo>
                    <a:lnTo>
                      <a:pt x="402" y="8"/>
                    </a:lnTo>
                    <a:lnTo>
                      <a:pt x="233" y="16"/>
                    </a:lnTo>
                    <a:lnTo>
                      <a:pt x="184" y="23"/>
                    </a:lnTo>
                    <a:lnTo>
                      <a:pt x="174" y="28"/>
                    </a:lnTo>
                    <a:close/>
                    <a:moveTo>
                      <a:pt x="4764" y="1126"/>
                    </a:moveTo>
                    <a:lnTo>
                      <a:pt x="4779" y="1141"/>
                    </a:lnTo>
                    <a:lnTo>
                      <a:pt x="4802" y="1173"/>
                    </a:lnTo>
                    <a:lnTo>
                      <a:pt x="4815" y="1209"/>
                    </a:lnTo>
                    <a:lnTo>
                      <a:pt x="4818" y="1246"/>
                    </a:lnTo>
                    <a:lnTo>
                      <a:pt x="4812" y="1283"/>
                    </a:lnTo>
                    <a:lnTo>
                      <a:pt x="4797" y="1317"/>
                    </a:lnTo>
                    <a:lnTo>
                      <a:pt x="4772" y="1348"/>
                    </a:lnTo>
                    <a:lnTo>
                      <a:pt x="4740" y="1372"/>
                    </a:lnTo>
                    <a:lnTo>
                      <a:pt x="4720" y="1381"/>
                    </a:lnTo>
                    <a:lnTo>
                      <a:pt x="4692" y="1386"/>
                    </a:lnTo>
                    <a:lnTo>
                      <a:pt x="4461" y="1393"/>
                    </a:lnTo>
                    <a:lnTo>
                      <a:pt x="3677" y="1398"/>
                    </a:lnTo>
                    <a:lnTo>
                      <a:pt x="2697" y="1396"/>
                    </a:lnTo>
                    <a:lnTo>
                      <a:pt x="1474" y="1393"/>
                    </a:lnTo>
                    <a:lnTo>
                      <a:pt x="883" y="1386"/>
                    </a:lnTo>
                    <a:lnTo>
                      <a:pt x="770" y="1381"/>
                    </a:lnTo>
                    <a:lnTo>
                      <a:pt x="713" y="1374"/>
                    </a:lnTo>
                    <a:lnTo>
                      <a:pt x="689" y="1364"/>
                    </a:lnTo>
                    <a:lnTo>
                      <a:pt x="682" y="1358"/>
                    </a:lnTo>
                    <a:lnTo>
                      <a:pt x="663" y="1339"/>
                    </a:lnTo>
                    <a:lnTo>
                      <a:pt x="636" y="1300"/>
                    </a:lnTo>
                    <a:lnTo>
                      <a:pt x="624" y="1258"/>
                    </a:lnTo>
                    <a:lnTo>
                      <a:pt x="627" y="1213"/>
                    </a:lnTo>
                    <a:lnTo>
                      <a:pt x="634" y="1188"/>
                    </a:lnTo>
                    <a:lnTo>
                      <a:pt x="639" y="1168"/>
                    </a:lnTo>
                    <a:lnTo>
                      <a:pt x="647" y="1144"/>
                    </a:lnTo>
                    <a:lnTo>
                      <a:pt x="658" y="1131"/>
                    </a:lnTo>
                    <a:lnTo>
                      <a:pt x="678" y="1120"/>
                    </a:lnTo>
                    <a:lnTo>
                      <a:pt x="711" y="1111"/>
                    </a:lnTo>
                    <a:lnTo>
                      <a:pt x="789" y="1100"/>
                    </a:lnTo>
                    <a:lnTo>
                      <a:pt x="973" y="1091"/>
                    </a:lnTo>
                    <a:lnTo>
                      <a:pt x="1272" y="1086"/>
                    </a:lnTo>
                    <a:lnTo>
                      <a:pt x="1978" y="1083"/>
                    </a:lnTo>
                    <a:lnTo>
                      <a:pt x="2727" y="1083"/>
                    </a:lnTo>
                    <a:lnTo>
                      <a:pt x="4712" y="1083"/>
                    </a:lnTo>
                    <a:lnTo>
                      <a:pt x="4764" y="1126"/>
                    </a:lnTo>
                    <a:close/>
                    <a:moveTo>
                      <a:pt x="5842" y="1891"/>
                    </a:moveTo>
                    <a:lnTo>
                      <a:pt x="5862" y="1907"/>
                    </a:lnTo>
                    <a:lnTo>
                      <a:pt x="5892" y="1947"/>
                    </a:lnTo>
                    <a:lnTo>
                      <a:pt x="5907" y="1995"/>
                    </a:lnTo>
                    <a:lnTo>
                      <a:pt x="5906" y="2043"/>
                    </a:lnTo>
                    <a:lnTo>
                      <a:pt x="5899" y="2066"/>
                    </a:lnTo>
                    <a:lnTo>
                      <a:pt x="5892" y="2086"/>
                    </a:lnTo>
                    <a:lnTo>
                      <a:pt x="5884" y="2109"/>
                    </a:lnTo>
                    <a:lnTo>
                      <a:pt x="5871" y="2122"/>
                    </a:lnTo>
                    <a:lnTo>
                      <a:pt x="5848" y="2133"/>
                    </a:lnTo>
                    <a:lnTo>
                      <a:pt x="5809" y="2142"/>
                    </a:lnTo>
                    <a:lnTo>
                      <a:pt x="5714" y="2152"/>
                    </a:lnTo>
                    <a:lnTo>
                      <a:pt x="5486" y="2161"/>
                    </a:lnTo>
                    <a:lnTo>
                      <a:pt x="5110" y="2165"/>
                    </a:lnTo>
                    <a:lnTo>
                      <a:pt x="4216" y="2167"/>
                    </a:lnTo>
                    <a:lnTo>
                      <a:pt x="3262" y="2166"/>
                    </a:lnTo>
                    <a:lnTo>
                      <a:pt x="717" y="2166"/>
                    </a:lnTo>
                    <a:lnTo>
                      <a:pt x="670" y="2126"/>
                    </a:lnTo>
                    <a:lnTo>
                      <a:pt x="659" y="2115"/>
                    </a:lnTo>
                    <a:lnTo>
                      <a:pt x="640" y="2090"/>
                    </a:lnTo>
                    <a:lnTo>
                      <a:pt x="628" y="2062"/>
                    </a:lnTo>
                    <a:lnTo>
                      <a:pt x="622" y="2032"/>
                    </a:lnTo>
                    <a:lnTo>
                      <a:pt x="622" y="2001"/>
                    </a:lnTo>
                    <a:lnTo>
                      <a:pt x="628" y="1971"/>
                    </a:lnTo>
                    <a:lnTo>
                      <a:pt x="640" y="1943"/>
                    </a:lnTo>
                    <a:lnTo>
                      <a:pt x="659" y="1917"/>
                    </a:lnTo>
                    <a:lnTo>
                      <a:pt x="670" y="1906"/>
                    </a:lnTo>
                    <a:lnTo>
                      <a:pt x="717" y="1866"/>
                    </a:lnTo>
                    <a:lnTo>
                      <a:pt x="3262" y="1866"/>
                    </a:lnTo>
                    <a:lnTo>
                      <a:pt x="4683" y="1867"/>
                    </a:lnTo>
                    <a:lnTo>
                      <a:pt x="5608" y="1874"/>
                    </a:lnTo>
                    <a:lnTo>
                      <a:pt x="5784" y="1881"/>
                    </a:lnTo>
                    <a:lnTo>
                      <a:pt x="5834" y="1887"/>
                    </a:lnTo>
                    <a:lnTo>
                      <a:pt x="5842" y="1891"/>
                    </a:lnTo>
                    <a:close/>
                    <a:moveTo>
                      <a:pt x="5849" y="2675"/>
                    </a:moveTo>
                    <a:lnTo>
                      <a:pt x="5864" y="2689"/>
                    </a:lnTo>
                    <a:lnTo>
                      <a:pt x="5886" y="2721"/>
                    </a:lnTo>
                    <a:lnTo>
                      <a:pt x="5901" y="2756"/>
                    </a:lnTo>
                    <a:lnTo>
                      <a:pt x="5906" y="2792"/>
                    </a:lnTo>
                    <a:lnTo>
                      <a:pt x="5904" y="2828"/>
                    </a:lnTo>
                    <a:lnTo>
                      <a:pt x="5894" y="2861"/>
                    </a:lnTo>
                    <a:lnTo>
                      <a:pt x="5875" y="2891"/>
                    </a:lnTo>
                    <a:lnTo>
                      <a:pt x="5849" y="2915"/>
                    </a:lnTo>
                    <a:lnTo>
                      <a:pt x="5832" y="2925"/>
                    </a:lnTo>
                    <a:lnTo>
                      <a:pt x="5816" y="2928"/>
                    </a:lnTo>
                    <a:lnTo>
                      <a:pt x="5694" y="2934"/>
                    </a:lnTo>
                    <a:lnTo>
                      <a:pt x="5349" y="2942"/>
                    </a:lnTo>
                    <a:lnTo>
                      <a:pt x="4214" y="2952"/>
                    </a:lnTo>
                    <a:lnTo>
                      <a:pt x="2317" y="2952"/>
                    </a:lnTo>
                    <a:lnTo>
                      <a:pt x="1181" y="2942"/>
                    </a:lnTo>
                    <a:lnTo>
                      <a:pt x="837" y="2934"/>
                    </a:lnTo>
                    <a:lnTo>
                      <a:pt x="715" y="2928"/>
                    </a:lnTo>
                    <a:lnTo>
                      <a:pt x="699" y="2925"/>
                    </a:lnTo>
                    <a:lnTo>
                      <a:pt x="678" y="2913"/>
                    </a:lnTo>
                    <a:lnTo>
                      <a:pt x="648" y="2881"/>
                    </a:lnTo>
                    <a:lnTo>
                      <a:pt x="631" y="2843"/>
                    </a:lnTo>
                    <a:lnTo>
                      <a:pt x="624" y="2802"/>
                    </a:lnTo>
                    <a:lnTo>
                      <a:pt x="629" y="2759"/>
                    </a:lnTo>
                    <a:lnTo>
                      <a:pt x="646" y="2718"/>
                    </a:lnTo>
                    <a:lnTo>
                      <a:pt x="672" y="2683"/>
                    </a:lnTo>
                    <a:lnTo>
                      <a:pt x="709" y="2654"/>
                    </a:lnTo>
                    <a:lnTo>
                      <a:pt x="732" y="2645"/>
                    </a:lnTo>
                    <a:lnTo>
                      <a:pt x="884" y="2641"/>
                    </a:lnTo>
                    <a:lnTo>
                      <a:pt x="2271" y="2637"/>
                    </a:lnTo>
                    <a:lnTo>
                      <a:pt x="3284" y="2638"/>
                    </a:lnTo>
                    <a:lnTo>
                      <a:pt x="4851" y="2640"/>
                    </a:lnTo>
                    <a:lnTo>
                      <a:pt x="5603" y="2647"/>
                    </a:lnTo>
                    <a:lnTo>
                      <a:pt x="5745" y="2652"/>
                    </a:lnTo>
                    <a:lnTo>
                      <a:pt x="5815" y="2659"/>
                    </a:lnTo>
                    <a:lnTo>
                      <a:pt x="5842" y="2669"/>
                    </a:lnTo>
                    <a:lnTo>
                      <a:pt x="5849" y="26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algn="r" defTabSz="914400" rtl="1" eaLnBrk="1" latinLnBrk="0" hangingPunct="1"/>
                <a:endParaRPr lang="en-US"/>
              </a:p>
            </p:txBody>
          </p:sp>
          <p:sp>
            <p:nvSpPr>
              <p:cNvPr id="52" name="Freeform 29">
                <a:extLst>
                  <a:ext uri="{FF2B5EF4-FFF2-40B4-BE49-F238E27FC236}">
                    <a16:creationId xmlns:a16="http://schemas.microsoft.com/office/drawing/2014/main" id="{1E49BDB2-49AF-B301-3A6B-C1BADB11B27B}"/>
                  </a:ext>
                </a:extLst>
              </p:cNvPr>
              <p:cNvSpPr>
                <a:spLocks/>
              </p:cNvSpPr>
              <p:nvPr/>
            </p:nvSpPr>
            <p:spPr bwMode="auto">
              <a:xfrm>
                <a:off x="1249887" y="143820"/>
                <a:ext cx="105363" cy="105363"/>
              </a:xfrm>
              <a:custGeom>
                <a:avLst/>
                <a:gdLst>
                  <a:gd name="T0" fmla="*/ 7 w 554"/>
                  <a:gd name="T1" fmla="*/ 167 h 556"/>
                  <a:gd name="T2" fmla="*/ 9 w 554"/>
                  <a:gd name="T3" fmla="*/ 218 h 556"/>
                  <a:gd name="T4" fmla="*/ 15 w 554"/>
                  <a:gd name="T5" fmla="*/ 292 h 556"/>
                  <a:gd name="T6" fmla="*/ 26 w 554"/>
                  <a:gd name="T7" fmla="*/ 344 h 556"/>
                  <a:gd name="T8" fmla="*/ 45 w 554"/>
                  <a:gd name="T9" fmla="*/ 388 h 556"/>
                  <a:gd name="T10" fmla="*/ 59 w 554"/>
                  <a:gd name="T11" fmla="*/ 412 h 556"/>
                  <a:gd name="T12" fmla="*/ 71 w 554"/>
                  <a:gd name="T13" fmla="*/ 433 h 556"/>
                  <a:gd name="T14" fmla="*/ 98 w 554"/>
                  <a:gd name="T15" fmla="*/ 468 h 556"/>
                  <a:gd name="T16" fmla="*/ 128 w 554"/>
                  <a:gd name="T17" fmla="*/ 497 h 556"/>
                  <a:gd name="T18" fmla="*/ 163 w 554"/>
                  <a:gd name="T19" fmla="*/ 520 h 556"/>
                  <a:gd name="T20" fmla="*/ 203 w 554"/>
                  <a:gd name="T21" fmla="*/ 537 h 556"/>
                  <a:gd name="T22" fmla="*/ 249 w 554"/>
                  <a:gd name="T23" fmla="*/ 548 h 556"/>
                  <a:gd name="T24" fmla="*/ 332 w 554"/>
                  <a:gd name="T25" fmla="*/ 556 h 556"/>
                  <a:gd name="T26" fmla="*/ 402 w 554"/>
                  <a:gd name="T27" fmla="*/ 555 h 556"/>
                  <a:gd name="T28" fmla="*/ 554 w 554"/>
                  <a:gd name="T29" fmla="*/ 550 h 556"/>
                  <a:gd name="T30" fmla="*/ 277 w 554"/>
                  <a:gd name="T31" fmla="*/ 275 h 556"/>
                  <a:gd name="T32" fmla="*/ 0 w 554"/>
                  <a:gd name="T33" fmla="*/ 0 h 556"/>
                  <a:gd name="T34" fmla="*/ 7 w 554"/>
                  <a:gd name="T35" fmla="*/ 167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4" h="556">
                    <a:moveTo>
                      <a:pt x="7" y="167"/>
                    </a:moveTo>
                    <a:lnTo>
                      <a:pt x="9" y="218"/>
                    </a:lnTo>
                    <a:lnTo>
                      <a:pt x="15" y="292"/>
                    </a:lnTo>
                    <a:lnTo>
                      <a:pt x="26" y="344"/>
                    </a:lnTo>
                    <a:lnTo>
                      <a:pt x="45" y="388"/>
                    </a:lnTo>
                    <a:lnTo>
                      <a:pt x="59" y="412"/>
                    </a:lnTo>
                    <a:lnTo>
                      <a:pt x="71" y="433"/>
                    </a:lnTo>
                    <a:lnTo>
                      <a:pt x="98" y="468"/>
                    </a:lnTo>
                    <a:lnTo>
                      <a:pt x="128" y="497"/>
                    </a:lnTo>
                    <a:lnTo>
                      <a:pt x="163" y="520"/>
                    </a:lnTo>
                    <a:lnTo>
                      <a:pt x="203" y="537"/>
                    </a:lnTo>
                    <a:lnTo>
                      <a:pt x="249" y="548"/>
                    </a:lnTo>
                    <a:lnTo>
                      <a:pt x="332" y="556"/>
                    </a:lnTo>
                    <a:lnTo>
                      <a:pt x="402" y="555"/>
                    </a:lnTo>
                    <a:lnTo>
                      <a:pt x="554" y="550"/>
                    </a:lnTo>
                    <a:lnTo>
                      <a:pt x="277" y="275"/>
                    </a:lnTo>
                    <a:lnTo>
                      <a:pt x="0" y="0"/>
                    </a:lnTo>
                    <a:lnTo>
                      <a:pt x="7" y="1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0">
                <a:extLst>
                  <a:ext uri="{FF2B5EF4-FFF2-40B4-BE49-F238E27FC236}">
                    <a16:creationId xmlns:a16="http://schemas.microsoft.com/office/drawing/2014/main" id="{9C155F44-3513-D91D-4A61-DBAA80EB4882}"/>
                  </a:ext>
                </a:extLst>
              </p:cNvPr>
              <p:cNvSpPr>
                <a:spLocks/>
              </p:cNvSpPr>
              <p:nvPr/>
            </p:nvSpPr>
            <p:spPr bwMode="auto">
              <a:xfrm>
                <a:off x="335887" y="869599"/>
                <a:ext cx="884846" cy="884335"/>
              </a:xfrm>
              <a:custGeom>
                <a:avLst/>
                <a:gdLst>
                  <a:gd name="T0" fmla="*/ 1657 w 4667"/>
                  <a:gd name="T1" fmla="*/ 104 h 4670"/>
                  <a:gd name="T2" fmla="*/ 1218 w 4667"/>
                  <a:gd name="T3" fmla="*/ 285 h 4670"/>
                  <a:gd name="T4" fmla="*/ 762 w 4667"/>
                  <a:gd name="T5" fmla="*/ 607 h 4670"/>
                  <a:gd name="T6" fmla="*/ 401 w 4667"/>
                  <a:gd name="T7" fmla="*/ 1025 h 4670"/>
                  <a:gd name="T8" fmla="*/ 144 w 4667"/>
                  <a:gd name="T9" fmla="*/ 1527 h 4670"/>
                  <a:gd name="T10" fmla="*/ 31 w 4667"/>
                  <a:gd name="T11" fmla="*/ 1923 h 4670"/>
                  <a:gd name="T12" fmla="*/ 0 w 4667"/>
                  <a:gd name="T13" fmla="*/ 2384 h 4670"/>
                  <a:gd name="T14" fmla="*/ 33 w 4667"/>
                  <a:gd name="T15" fmla="*/ 2769 h 4670"/>
                  <a:gd name="T16" fmla="*/ 216 w 4667"/>
                  <a:gd name="T17" fmla="*/ 3333 h 4670"/>
                  <a:gd name="T18" fmla="*/ 584 w 4667"/>
                  <a:gd name="T19" fmla="*/ 3886 h 4670"/>
                  <a:gd name="T20" fmla="*/ 1027 w 4667"/>
                  <a:gd name="T21" fmla="*/ 4280 h 4670"/>
                  <a:gd name="T22" fmla="*/ 1510 w 4667"/>
                  <a:gd name="T23" fmla="*/ 4528 h 4670"/>
                  <a:gd name="T24" fmla="*/ 1918 w 4667"/>
                  <a:gd name="T25" fmla="*/ 4645 h 4670"/>
                  <a:gd name="T26" fmla="*/ 2652 w 4667"/>
                  <a:gd name="T27" fmla="*/ 4658 h 4670"/>
                  <a:gd name="T28" fmla="*/ 2978 w 4667"/>
                  <a:gd name="T29" fmla="*/ 4590 h 4670"/>
                  <a:gd name="T30" fmla="*/ 3449 w 4667"/>
                  <a:gd name="T31" fmla="*/ 4396 h 4670"/>
                  <a:gd name="T32" fmla="*/ 3745 w 4667"/>
                  <a:gd name="T33" fmla="*/ 4208 h 4670"/>
                  <a:gd name="T34" fmla="*/ 4196 w 4667"/>
                  <a:gd name="T35" fmla="*/ 3757 h 4670"/>
                  <a:gd name="T36" fmla="*/ 4368 w 4667"/>
                  <a:gd name="T37" fmla="*/ 3498 h 4670"/>
                  <a:gd name="T38" fmla="*/ 4561 w 4667"/>
                  <a:gd name="T39" fmla="*/ 3059 h 4670"/>
                  <a:gd name="T40" fmla="*/ 4646 w 4667"/>
                  <a:gd name="T41" fmla="*/ 2726 h 4670"/>
                  <a:gd name="T42" fmla="*/ 4657 w 4667"/>
                  <a:gd name="T43" fmla="*/ 2044 h 4670"/>
                  <a:gd name="T44" fmla="*/ 4575 w 4667"/>
                  <a:gd name="T45" fmla="*/ 1671 h 4670"/>
                  <a:gd name="T46" fmla="*/ 4394 w 4667"/>
                  <a:gd name="T47" fmla="*/ 1232 h 4670"/>
                  <a:gd name="T48" fmla="*/ 4127 w 4667"/>
                  <a:gd name="T49" fmla="*/ 836 h 4670"/>
                  <a:gd name="T50" fmla="*/ 4068 w 4667"/>
                  <a:gd name="T51" fmla="*/ 831 h 4670"/>
                  <a:gd name="T52" fmla="*/ 3978 w 4667"/>
                  <a:gd name="T53" fmla="*/ 1151 h 4670"/>
                  <a:gd name="T54" fmla="*/ 4182 w 4667"/>
                  <a:gd name="T55" fmla="*/ 1503 h 4670"/>
                  <a:gd name="T56" fmla="*/ 4325 w 4667"/>
                  <a:gd name="T57" fmla="*/ 1952 h 4670"/>
                  <a:gd name="T58" fmla="*/ 4358 w 4667"/>
                  <a:gd name="T59" fmla="*/ 2264 h 4670"/>
                  <a:gd name="T60" fmla="*/ 4332 w 4667"/>
                  <a:gd name="T61" fmla="*/ 2694 h 4670"/>
                  <a:gd name="T62" fmla="*/ 4241 w 4667"/>
                  <a:gd name="T63" fmla="*/ 3033 h 4670"/>
                  <a:gd name="T64" fmla="*/ 3989 w 4667"/>
                  <a:gd name="T65" fmla="*/ 3514 h 4670"/>
                  <a:gd name="T66" fmla="*/ 3624 w 4667"/>
                  <a:gd name="T67" fmla="*/ 3904 h 4670"/>
                  <a:gd name="T68" fmla="*/ 3161 w 4667"/>
                  <a:gd name="T69" fmla="*/ 4189 h 4670"/>
                  <a:gd name="T70" fmla="*/ 2777 w 4667"/>
                  <a:gd name="T71" fmla="*/ 4321 h 4670"/>
                  <a:gd name="T72" fmla="*/ 2343 w 4667"/>
                  <a:gd name="T73" fmla="*/ 4351 h 4670"/>
                  <a:gd name="T74" fmla="*/ 1891 w 4667"/>
                  <a:gd name="T75" fmla="*/ 4320 h 4670"/>
                  <a:gd name="T76" fmla="*/ 1532 w 4667"/>
                  <a:gd name="T77" fmla="*/ 4198 h 4670"/>
                  <a:gd name="T78" fmla="*/ 1149 w 4667"/>
                  <a:gd name="T79" fmla="*/ 3982 h 4670"/>
                  <a:gd name="T80" fmla="*/ 631 w 4667"/>
                  <a:gd name="T81" fmla="*/ 3433 h 4670"/>
                  <a:gd name="T82" fmla="*/ 352 w 4667"/>
                  <a:gd name="T83" fmla="*/ 2737 h 4670"/>
                  <a:gd name="T84" fmla="*/ 337 w 4667"/>
                  <a:gd name="T85" fmla="*/ 2020 h 4670"/>
                  <a:gd name="T86" fmla="*/ 420 w 4667"/>
                  <a:gd name="T87" fmla="*/ 1681 h 4670"/>
                  <a:gd name="T88" fmla="*/ 579 w 4667"/>
                  <a:gd name="T89" fmla="*/ 1330 h 4670"/>
                  <a:gd name="T90" fmla="*/ 845 w 4667"/>
                  <a:gd name="T91" fmla="*/ 971 h 4670"/>
                  <a:gd name="T92" fmla="*/ 1184 w 4667"/>
                  <a:gd name="T93" fmla="*/ 674 h 4670"/>
                  <a:gd name="T94" fmla="*/ 1578 w 4667"/>
                  <a:gd name="T95" fmla="*/ 458 h 4670"/>
                  <a:gd name="T96" fmla="*/ 2036 w 4667"/>
                  <a:gd name="T97" fmla="*/ 334 h 4670"/>
                  <a:gd name="T98" fmla="*/ 2593 w 4667"/>
                  <a:gd name="T99" fmla="*/ 328 h 4670"/>
                  <a:gd name="T100" fmla="*/ 2869 w 4667"/>
                  <a:gd name="T101" fmla="*/ 384 h 4670"/>
                  <a:gd name="T102" fmla="*/ 3313 w 4667"/>
                  <a:gd name="T103" fmla="*/ 564 h 4670"/>
                  <a:gd name="T104" fmla="*/ 3663 w 4667"/>
                  <a:gd name="T105" fmla="*/ 799 h 4670"/>
                  <a:gd name="T106" fmla="*/ 3782 w 4667"/>
                  <a:gd name="T107" fmla="*/ 501 h 4670"/>
                  <a:gd name="T108" fmla="*/ 3428 w 4667"/>
                  <a:gd name="T109" fmla="*/ 274 h 4670"/>
                  <a:gd name="T110" fmla="*/ 3068 w 4667"/>
                  <a:gd name="T111" fmla="*/ 119 h 4670"/>
                  <a:gd name="T112" fmla="*/ 2650 w 4667"/>
                  <a:gd name="T113" fmla="*/ 24 h 4670"/>
                  <a:gd name="T114" fmla="*/ 2150 w 4667"/>
                  <a:gd name="T115" fmla="*/ 5 h 4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67" h="4670">
                    <a:moveTo>
                      <a:pt x="2093" y="11"/>
                    </a:moveTo>
                    <a:lnTo>
                      <a:pt x="2016" y="21"/>
                    </a:lnTo>
                    <a:lnTo>
                      <a:pt x="1841" y="55"/>
                    </a:lnTo>
                    <a:lnTo>
                      <a:pt x="1657" y="104"/>
                    </a:lnTo>
                    <a:lnTo>
                      <a:pt x="1485" y="161"/>
                    </a:lnTo>
                    <a:lnTo>
                      <a:pt x="1412" y="191"/>
                    </a:lnTo>
                    <a:lnTo>
                      <a:pt x="1346" y="220"/>
                    </a:lnTo>
                    <a:lnTo>
                      <a:pt x="1218" y="285"/>
                    </a:lnTo>
                    <a:lnTo>
                      <a:pt x="1095" y="356"/>
                    </a:lnTo>
                    <a:lnTo>
                      <a:pt x="978" y="433"/>
                    </a:lnTo>
                    <a:lnTo>
                      <a:pt x="867" y="517"/>
                    </a:lnTo>
                    <a:lnTo>
                      <a:pt x="762" y="607"/>
                    </a:lnTo>
                    <a:lnTo>
                      <a:pt x="662" y="703"/>
                    </a:lnTo>
                    <a:lnTo>
                      <a:pt x="569" y="805"/>
                    </a:lnTo>
                    <a:lnTo>
                      <a:pt x="482" y="912"/>
                    </a:lnTo>
                    <a:lnTo>
                      <a:pt x="401" y="1025"/>
                    </a:lnTo>
                    <a:lnTo>
                      <a:pt x="326" y="1143"/>
                    </a:lnTo>
                    <a:lnTo>
                      <a:pt x="259" y="1266"/>
                    </a:lnTo>
                    <a:lnTo>
                      <a:pt x="198" y="1394"/>
                    </a:lnTo>
                    <a:lnTo>
                      <a:pt x="144" y="1527"/>
                    </a:lnTo>
                    <a:lnTo>
                      <a:pt x="97" y="1664"/>
                    </a:lnTo>
                    <a:lnTo>
                      <a:pt x="57" y="1806"/>
                    </a:lnTo>
                    <a:lnTo>
                      <a:pt x="40" y="1879"/>
                    </a:lnTo>
                    <a:lnTo>
                      <a:pt x="31" y="1923"/>
                    </a:lnTo>
                    <a:lnTo>
                      <a:pt x="17" y="2025"/>
                    </a:lnTo>
                    <a:lnTo>
                      <a:pt x="7" y="2139"/>
                    </a:lnTo>
                    <a:lnTo>
                      <a:pt x="1" y="2260"/>
                    </a:lnTo>
                    <a:lnTo>
                      <a:pt x="0" y="2384"/>
                    </a:lnTo>
                    <a:lnTo>
                      <a:pt x="4" y="2506"/>
                    </a:lnTo>
                    <a:lnTo>
                      <a:pt x="12" y="2621"/>
                    </a:lnTo>
                    <a:lnTo>
                      <a:pt x="25" y="2724"/>
                    </a:lnTo>
                    <a:lnTo>
                      <a:pt x="33" y="2769"/>
                    </a:lnTo>
                    <a:lnTo>
                      <a:pt x="51" y="2855"/>
                    </a:lnTo>
                    <a:lnTo>
                      <a:pt x="96" y="3021"/>
                    </a:lnTo>
                    <a:lnTo>
                      <a:pt x="151" y="3180"/>
                    </a:lnTo>
                    <a:lnTo>
                      <a:pt x="216" y="3333"/>
                    </a:lnTo>
                    <a:lnTo>
                      <a:pt x="291" y="3480"/>
                    </a:lnTo>
                    <a:lnTo>
                      <a:pt x="378" y="3621"/>
                    </a:lnTo>
                    <a:lnTo>
                      <a:pt x="476" y="3756"/>
                    </a:lnTo>
                    <a:lnTo>
                      <a:pt x="584" y="3886"/>
                    </a:lnTo>
                    <a:lnTo>
                      <a:pt x="643" y="3949"/>
                    </a:lnTo>
                    <a:lnTo>
                      <a:pt x="720" y="4027"/>
                    </a:lnTo>
                    <a:lnTo>
                      <a:pt x="871" y="4164"/>
                    </a:lnTo>
                    <a:lnTo>
                      <a:pt x="1027" y="4280"/>
                    </a:lnTo>
                    <a:lnTo>
                      <a:pt x="1194" y="4381"/>
                    </a:lnTo>
                    <a:lnTo>
                      <a:pt x="1285" y="4427"/>
                    </a:lnTo>
                    <a:lnTo>
                      <a:pt x="1364" y="4466"/>
                    </a:lnTo>
                    <a:lnTo>
                      <a:pt x="1510" y="4528"/>
                    </a:lnTo>
                    <a:lnTo>
                      <a:pt x="1650" y="4578"/>
                    </a:lnTo>
                    <a:lnTo>
                      <a:pt x="1797" y="4619"/>
                    </a:lnTo>
                    <a:lnTo>
                      <a:pt x="1878" y="4637"/>
                    </a:lnTo>
                    <a:lnTo>
                      <a:pt x="1918" y="4645"/>
                    </a:lnTo>
                    <a:lnTo>
                      <a:pt x="2019" y="4658"/>
                    </a:lnTo>
                    <a:lnTo>
                      <a:pt x="2201" y="4670"/>
                    </a:lnTo>
                    <a:lnTo>
                      <a:pt x="2469" y="4670"/>
                    </a:lnTo>
                    <a:lnTo>
                      <a:pt x="2652" y="4658"/>
                    </a:lnTo>
                    <a:lnTo>
                      <a:pt x="2753" y="4645"/>
                    </a:lnTo>
                    <a:lnTo>
                      <a:pt x="2793" y="4637"/>
                    </a:lnTo>
                    <a:lnTo>
                      <a:pt x="2855" y="4623"/>
                    </a:lnTo>
                    <a:lnTo>
                      <a:pt x="2978" y="4590"/>
                    </a:lnTo>
                    <a:lnTo>
                      <a:pt x="3100" y="4550"/>
                    </a:lnTo>
                    <a:lnTo>
                      <a:pt x="3219" y="4504"/>
                    </a:lnTo>
                    <a:lnTo>
                      <a:pt x="3336" y="4453"/>
                    </a:lnTo>
                    <a:lnTo>
                      <a:pt x="3449" y="4396"/>
                    </a:lnTo>
                    <a:lnTo>
                      <a:pt x="3558" y="4334"/>
                    </a:lnTo>
                    <a:lnTo>
                      <a:pt x="3662" y="4268"/>
                    </a:lnTo>
                    <a:lnTo>
                      <a:pt x="3712" y="4232"/>
                    </a:lnTo>
                    <a:lnTo>
                      <a:pt x="3745" y="4208"/>
                    </a:lnTo>
                    <a:lnTo>
                      <a:pt x="3817" y="4148"/>
                    </a:lnTo>
                    <a:lnTo>
                      <a:pt x="3935" y="4041"/>
                    </a:lnTo>
                    <a:lnTo>
                      <a:pt x="4093" y="3877"/>
                    </a:lnTo>
                    <a:lnTo>
                      <a:pt x="4196" y="3757"/>
                    </a:lnTo>
                    <a:lnTo>
                      <a:pt x="4252" y="3683"/>
                    </a:lnTo>
                    <a:lnTo>
                      <a:pt x="4275" y="3651"/>
                    </a:lnTo>
                    <a:lnTo>
                      <a:pt x="4307" y="3601"/>
                    </a:lnTo>
                    <a:lnTo>
                      <a:pt x="4368" y="3498"/>
                    </a:lnTo>
                    <a:lnTo>
                      <a:pt x="4424" y="3393"/>
                    </a:lnTo>
                    <a:lnTo>
                      <a:pt x="4475" y="3284"/>
                    </a:lnTo>
                    <a:lnTo>
                      <a:pt x="4521" y="3172"/>
                    </a:lnTo>
                    <a:lnTo>
                      <a:pt x="4561" y="3059"/>
                    </a:lnTo>
                    <a:lnTo>
                      <a:pt x="4597" y="2943"/>
                    </a:lnTo>
                    <a:lnTo>
                      <a:pt x="4626" y="2826"/>
                    </a:lnTo>
                    <a:lnTo>
                      <a:pt x="4638" y="2767"/>
                    </a:lnTo>
                    <a:lnTo>
                      <a:pt x="4646" y="2726"/>
                    </a:lnTo>
                    <a:lnTo>
                      <a:pt x="4657" y="2628"/>
                    </a:lnTo>
                    <a:lnTo>
                      <a:pt x="4667" y="2457"/>
                    </a:lnTo>
                    <a:lnTo>
                      <a:pt x="4667" y="2211"/>
                    </a:lnTo>
                    <a:lnTo>
                      <a:pt x="4657" y="2044"/>
                    </a:lnTo>
                    <a:lnTo>
                      <a:pt x="4646" y="1949"/>
                    </a:lnTo>
                    <a:lnTo>
                      <a:pt x="4638" y="1911"/>
                    </a:lnTo>
                    <a:lnTo>
                      <a:pt x="4621" y="1834"/>
                    </a:lnTo>
                    <a:lnTo>
                      <a:pt x="4575" y="1671"/>
                    </a:lnTo>
                    <a:lnTo>
                      <a:pt x="4518" y="1506"/>
                    </a:lnTo>
                    <a:lnTo>
                      <a:pt x="4456" y="1355"/>
                    </a:lnTo>
                    <a:lnTo>
                      <a:pt x="4425" y="1291"/>
                    </a:lnTo>
                    <a:lnTo>
                      <a:pt x="4394" y="1232"/>
                    </a:lnTo>
                    <a:lnTo>
                      <a:pt x="4313" y="1095"/>
                    </a:lnTo>
                    <a:lnTo>
                      <a:pt x="4225" y="962"/>
                    </a:lnTo>
                    <a:lnTo>
                      <a:pt x="4151" y="861"/>
                    </a:lnTo>
                    <a:lnTo>
                      <a:pt x="4127" y="836"/>
                    </a:lnTo>
                    <a:lnTo>
                      <a:pt x="4115" y="825"/>
                    </a:lnTo>
                    <a:lnTo>
                      <a:pt x="4100" y="818"/>
                    </a:lnTo>
                    <a:lnTo>
                      <a:pt x="4089" y="819"/>
                    </a:lnTo>
                    <a:lnTo>
                      <a:pt x="4068" y="831"/>
                    </a:lnTo>
                    <a:lnTo>
                      <a:pt x="4022" y="873"/>
                    </a:lnTo>
                    <a:lnTo>
                      <a:pt x="3987" y="909"/>
                    </a:lnTo>
                    <a:lnTo>
                      <a:pt x="3880" y="1014"/>
                    </a:lnTo>
                    <a:lnTo>
                      <a:pt x="3978" y="1151"/>
                    </a:lnTo>
                    <a:lnTo>
                      <a:pt x="4012" y="1198"/>
                    </a:lnTo>
                    <a:lnTo>
                      <a:pt x="4075" y="1296"/>
                    </a:lnTo>
                    <a:lnTo>
                      <a:pt x="4131" y="1398"/>
                    </a:lnTo>
                    <a:lnTo>
                      <a:pt x="4182" y="1503"/>
                    </a:lnTo>
                    <a:lnTo>
                      <a:pt x="4227" y="1612"/>
                    </a:lnTo>
                    <a:lnTo>
                      <a:pt x="4266" y="1723"/>
                    </a:lnTo>
                    <a:lnTo>
                      <a:pt x="4299" y="1837"/>
                    </a:lnTo>
                    <a:lnTo>
                      <a:pt x="4325" y="1952"/>
                    </a:lnTo>
                    <a:lnTo>
                      <a:pt x="4335" y="2011"/>
                    </a:lnTo>
                    <a:lnTo>
                      <a:pt x="4342" y="2057"/>
                    </a:lnTo>
                    <a:lnTo>
                      <a:pt x="4353" y="2157"/>
                    </a:lnTo>
                    <a:lnTo>
                      <a:pt x="4358" y="2264"/>
                    </a:lnTo>
                    <a:lnTo>
                      <a:pt x="4359" y="2373"/>
                    </a:lnTo>
                    <a:lnTo>
                      <a:pt x="4355" y="2483"/>
                    </a:lnTo>
                    <a:lnTo>
                      <a:pt x="4346" y="2591"/>
                    </a:lnTo>
                    <a:lnTo>
                      <a:pt x="4332" y="2694"/>
                    </a:lnTo>
                    <a:lnTo>
                      <a:pt x="4314" y="2789"/>
                    </a:lnTo>
                    <a:lnTo>
                      <a:pt x="4303" y="2832"/>
                    </a:lnTo>
                    <a:lnTo>
                      <a:pt x="4285" y="2901"/>
                    </a:lnTo>
                    <a:lnTo>
                      <a:pt x="4241" y="3033"/>
                    </a:lnTo>
                    <a:lnTo>
                      <a:pt x="4189" y="3161"/>
                    </a:lnTo>
                    <a:lnTo>
                      <a:pt x="4130" y="3284"/>
                    </a:lnTo>
                    <a:lnTo>
                      <a:pt x="4063" y="3402"/>
                    </a:lnTo>
                    <a:lnTo>
                      <a:pt x="3989" y="3514"/>
                    </a:lnTo>
                    <a:lnTo>
                      <a:pt x="3908" y="3621"/>
                    </a:lnTo>
                    <a:lnTo>
                      <a:pt x="3819" y="3721"/>
                    </a:lnTo>
                    <a:lnTo>
                      <a:pt x="3725" y="3816"/>
                    </a:lnTo>
                    <a:lnTo>
                      <a:pt x="3624" y="3904"/>
                    </a:lnTo>
                    <a:lnTo>
                      <a:pt x="3517" y="3986"/>
                    </a:lnTo>
                    <a:lnTo>
                      <a:pt x="3404" y="4061"/>
                    </a:lnTo>
                    <a:lnTo>
                      <a:pt x="3285" y="4129"/>
                    </a:lnTo>
                    <a:lnTo>
                      <a:pt x="3161" y="4189"/>
                    </a:lnTo>
                    <a:lnTo>
                      <a:pt x="3032" y="4242"/>
                    </a:lnTo>
                    <a:lnTo>
                      <a:pt x="2897" y="4288"/>
                    </a:lnTo>
                    <a:lnTo>
                      <a:pt x="2828" y="4307"/>
                    </a:lnTo>
                    <a:lnTo>
                      <a:pt x="2777" y="4321"/>
                    </a:lnTo>
                    <a:lnTo>
                      <a:pt x="2689" y="4338"/>
                    </a:lnTo>
                    <a:lnTo>
                      <a:pt x="2590" y="4347"/>
                    </a:lnTo>
                    <a:lnTo>
                      <a:pt x="2446" y="4351"/>
                    </a:lnTo>
                    <a:lnTo>
                      <a:pt x="2343" y="4351"/>
                    </a:lnTo>
                    <a:lnTo>
                      <a:pt x="2215" y="4351"/>
                    </a:lnTo>
                    <a:lnTo>
                      <a:pt x="2063" y="4344"/>
                    </a:lnTo>
                    <a:lnTo>
                      <a:pt x="1974" y="4334"/>
                    </a:lnTo>
                    <a:lnTo>
                      <a:pt x="1891" y="4320"/>
                    </a:lnTo>
                    <a:lnTo>
                      <a:pt x="1809" y="4300"/>
                    </a:lnTo>
                    <a:lnTo>
                      <a:pt x="1680" y="4257"/>
                    </a:lnTo>
                    <a:lnTo>
                      <a:pt x="1578" y="4217"/>
                    </a:lnTo>
                    <a:lnTo>
                      <a:pt x="1532" y="4198"/>
                    </a:lnTo>
                    <a:lnTo>
                      <a:pt x="1442" y="4157"/>
                    </a:lnTo>
                    <a:lnTo>
                      <a:pt x="1354" y="4111"/>
                    </a:lnTo>
                    <a:lnTo>
                      <a:pt x="1270" y="4062"/>
                    </a:lnTo>
                    <a:lnTo>
                      <a:pt x="1149" y="3982"/>
                    </a:lnTo>
                    <a:lnTo>
                      <a:pt x="999" y="3862"/>
                    </a:lnTo>
                    <a:lnTo>
                      <a:pt x="862" y="3730"/>
                    </a:lnTo>
                    <a:lnTo>
                      <a:pt x="739" y="3587"/>
                    </a:lnTo>
                    <a:lnTo>
                      <a:pt x="631" y="3433"/>
                    </a:lnTo>
                    <a:lnTo>
                      <a:pt x="538" y="3270"/>
                    </a:lnTo>
                    <a:lnTo>
                      <a:pt x="460" y="3099"/>
                    </a:lnTo>
                    <a:lnTo>
                      <a:pt x="397" y="2921"/>
                    </a:lnTo>
                    <a:lnTo>
                      <a:pt x="352" y="2737"/>
                    </a:lnTo>
                    <a:lnTo>
                      <a:pt x="323" y="2549"/>
                    </a:lnTo>
                    <a:lnTo>
                      <a:pt x="312" y="2358"/>
                    </a:lnTo>
                    <a:lnTo>
                      <a:pt x="319" y="2165"/>
                    </a:lnTo>
                    <a:lnTo>
                      <a:pt x="337" y="2020"/>
                    </a:lnTo>
                    <a:lnTo>
                      <a:pt x="355" y="1922"/>
                    </a:lnTo>
                    <a:lnTo>
                      <a:pt x="377" y="1826"/>
                    </a:lnTo>
                    <a:lnTo>
                      <a:pt x="404" y="1729"/>
                    </a:lnTo>
                    <a:lnTo>
                      <a:pt x="420" y="1681"/>
                    </a:lnTo>
                    <a:lnTo>
                      <a:pt x="438" y="1629"/>
                    </a:lnTo>
                    <a:lnTo>
                      <a:pt x="479" y="1527"/>
                    </a:lnTo>
                    <a:lnTo>
                      <a:pt x="526" y="1427"/>
                    </a:lnTo>
                    <a:lnTo>
                      <a:pt x="579" y="1330"/>
                    </a:lnTo>
                    <a:lnTo>
                      <a:pt x="638" y="1235"/>
                    </a:lnTo>
                    <a:lnTo>
                      <a:pt x="702" y="1144"/>
                    </a:lnTo>
                    <a:lnTo>
                      <a:pt x="771" y="1055"/>
                    </a:lnTo>
                    <a:lnTo>
                      <a:pt x="845" y="971"/>
                    </a:lnTo>
                    <a:lnTo>
                      <a:pt x="924" y="890"/>
                    </a:lnTo>
                    <a:lnTo>
                      <a:pt x="1007" y="814"/>
                    </a:lnTo>
                    <a:lnTo>
                      <a:pt x="1094" y="742"/>
                    </a:lnTo>
                    <a:lnTo>
                      <a:pt x="1184" y="674"/>
                    </a:lnTo>
                    <a:lnTo>
                      <a:pt x="1278" y="612"/>
                    </a:lnTo>
                    <a:lnTo>
                      <a:pt x="1375" y="555"/>
                    </a:lnTo>
                    <a:lnTo>
                      <a:pt x="1475" y="503"/>
                    </a:lnTo>
                    <a:lnTo>
                      <a:pt x="1578" y="458"/>
                    </a:lnTo>
                    <a:lnTo>
                      <a:pt x="1630" y="437"/>
                    </a:lnTo>
                    <a:lnTo>
                      <a:pt x="1716" y="407"/>
                    </a:lnTo>
                    <a:lnTo>
                      <a:pt x="1875" y="362"/>
                    </a:lnTo>
                    <a:lnTo>
                      <a:pt x="2036" y="334"/>
                    </a:lnTo>
                    <a:lnTo>
                      <a:pt x="2215" y="322"/>
                    </a:lnTo>
                    <a:lnTo>
                      <a:pt x="2318" y="321"/>
                    </a:lnTo>
                    <a:lnTo>
                      <a:pt x="2440" y="321"/>
                    </a:lnTo>
                    <a:lnTo>
                      <a:pt x="2593" y="328"/>
                    </a:lnTo>
                    <a:lnTo>
                      <a:pt x="2672" y="337"/>
                    </a:lnTo>
                    <a:lnTo>
                      <a:pt x="2702" y="342"/>
                    </a:lnTo>
                    <a:lnTo>
                      <a:pt x="2757" y="354"/>
                    </a:lnTo>
                    <a:lnTo>
                      <a:pt x="2869" y="384"/>
                    </a:lnTo>
                    <a:lnTo>
                      <a:pt x="2983" y="420"/>
                    </a:lnTo>
                    <a:lnTo>
                      <a:pt x="3096" y="463"/>
                    </a:lnTo>
                    <a:lnTo>
                      <a:pt x="3207" y="511"/>
                    </a:lnTo>
                    <a:lnTo>
                      <a:pt x="3313" y="564"/>
                    </a:lnTo>
                    <a:lnTo>
                      <a:pt x="3414" y="621"/>
                    </a:lnTo>
                    <a:lnTo>
                      <a:pt x="3506" y="681"/>
                    </a:lnTo>
                    <a:lnTo>
                      <a:pt x="3548" y="712"/>
                    </a:lnTo>
                    <a:lnTo>
                      <a:pt x="3663" y="799"/>
                    </a:lnTo>
                    <a:lnTo>
                      <a:pt x="3770" y="692"/>
                    </a:lnTo>
                    <a:lnTo>
                      <a:pt x="3878" y="586"/>
                    </a:lnTo>
                    <a:lnTo>
                      <a:pt x="3815" y="529"/>
                    </a:lnTo>
                    <a:lnTo>
                      <a:pt x="3782" y="501"/>
                    </a:lnTo>
                    <a:lnTo>
                      <a:pt x="3707" y="443"/>
                    </a:lnTo>
                    <a:lnTo>
                      <a:pt x="3621" y="385"/>
                    </a:lnTo>
                    <a:lnTo>
                      <a:pt x="3527" y="328"/>
                    </a:lnTo>
                    <a:lnTo>
                      <a:pt x="3428" y="274"/>
                    </a:lnTo>
                    <a:lnTo>
                      <a:pt x="3325" y="223"/>
                    </a:lnTo>
                    <a:lnTo>
                      <a:pt x="3221" y="177"/>
                    </a:lnTo>
                    <a:lnTo>
                      <a:pt x="3118" y="136"/>
                    </a:lnTo>
                    <a:lnTo>
                      <a:pt x="3068" y="119"/>
                    </a:lnTo>
                    <a:lnTo>
                      <a:pt x="3014" y="101"/>
                    </a:lnTo>
                    <a:lnTo>
                      <a:pt x="2898" y="70"/>
                    </a:lnTo>
                    <a:lnTo>
                      <a:pt x="2777" y="44"/>
                    </a:lnTo>
                    <a:lnTo>
                      <a:pt x="2650" y="24"/>
                    </a:lnTo>
                    <a:lnTo>
                      <a:pt x="2522" y="10"/>
                    </a:lnTo>
                    <a:lnTo>
                      <a:pt x="2395" y="2"/>
                    </a:lnTo>
                    <a:lnTo>
                      <a:pt x="2270" y="0"/>
                    </a:lnTo>
                    <a:lnTo>
                      <a:pt x="2150" y="5"/>
                    </a:lnTo>
                    <a:lnTo>
                      <a:pt x="2093"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algn="r" defTabSz="914400" rtl="1" eaLnBrk="1" latinLnBrk="0" hangingPunct="1"/>
                <a:endParaRPr lang="en-US"/>
              </a:p>
            </p:txBody>
          </p:sp>
          <p:sp>
            <p:nvSpPr>
              <p:cNvPr id="54" name="Freeform 31">
                <a:extLst>
                  <a:ext uri="{FF2B5EF4-FFF2-40B4-BE49-F238E27FC236}">
                    <a16:creationId xmlns:a16="http://schemas.microsoft.com/office/drawing/2014/main" id="{E6972A97-873F-1711-D322-F4AC6AAC61F0}"/>
                  </a:ext>
                </a:extLst>
              </p:cNvPr>
              <p:cNvSpPr>
                <a:spLocks/>
              </p:cNvSpPr>
              <p:nvPr/>
            </p:nvSpPr>
            <p:spPr bwMode="auto">
              <a:xfrm>
                <a:off x="456594" y="988772"/>
                <a:ext cx="647012" cy="647012"/>
              </a:xfrm>
              <a:custGeom>
                <a:avLst/>
                <a:gdLst>
                  <a:gd name="T0" fmla="*/ 1115 w 3416"/>
                  <a:gd name="T1" fmla="*/ 101 h 3418"/>
                  <a:gd name="T2" fmla="*/ 825 w 3416"/>
                  <a:gd name="T3" fmla="*/ 238 h 3418"/>
                  <a:gd name="T4" fmla="*/ 527 w 3416"/>
                  <a:gd name="T5" fmla="*/ 467 h 3418"/>
                  <a:gd name="T6" fmla="*/ 286 w 3416"/>
                  <a:gd name="T7" fmla="*/ 752 h 3418"/>
                  <a:gd name="T8" fmla="*/ 110 w 3416"/>
                  <a:gd name="T9" fmla="*/ 1086 h 3418"/>
                  <a:gd name="T10" fmla="*/ 28 w 3416"/>
                  <a:gd name="T11" fmla="*/ 1354 h 3418"/>
                  <a:gd name="T12" fmla="*/ 0 w 3416"/>
                  <a:gd name="T13" fmla="*/ 1761 h 3418"/>
                  <a:gd name="T14" fmla="*/ 37 w 3416"/>
                  <a:gd name="T15" fmla="*/ 2098 h 3418"/>
                  <a:gd name="T16" fmla="*/ 166 w 3416"/>
                  <a:gd name="T17" fmla="*/ 2453 h 3418"/>
                  <a:gd name="T18" fmla="*/ 389 w 3416"/>
                  <a:gd name="T19" fmla="*/ 2798 h 3418"/>
                  <a:gd name="T20" fmla="*/ 678 w 3416"/>
                  <a:gd name="T21" fmla="*/ 3073 h 3418"/>
                  <a:gd name="T22" fmla="*/ 1017 w 3416"/>
                  <a:gd name="T23" fmla="*/ 3272 h 3418"/>
                  <a:gd name="T24" fmla="*/ 1391 w 3416"/>
                  <a:gd name="T25" fmla="*/ 3388 h 3418"/>
                  <a:gd name="T26" fmla="*/ 1786 w 3416"/>
                  <a:gd name="T27" fmla="*/ 3416 h 3418"/>
                  <a:gd name="T28" fmla="*/ 2185 w 3416"/>
                  <a:gd name="T29" fmla="*/ 3350 h 3418"/>
                  <a:gd name="T30" fmla="*/ 2575 w 3416"/>
                  <a:gd name="T31" fmla="*/ 3182 h 3418"/>
                  <a:gd name="T32" fmla="*/ 2821 w 3416"/>
                  <a:gd name="T33" fmla="*/ 2999 h 3418"/>
                  <a:gd name="T34" fmla="*/ 3125 w 3416"/>
                  <a:gd name="T35" fmla="*/ 2667 h 3418"/>
                  <a:gd name="T36" fmla="*/ 3302 w 3416"/>
                  <a:gd name="T37" fmla="*/ 2325 h 3418"/>
                  <a:gd name="T38" fmla="*/ 3405 w 3416"/>
                  <a:gd name="T39" fmla="*/ 1902 h 3418"/>
                  <a:gd name="T40" fmla="*/ 3401 w 3416"/>
                  <a:gd name="T41" fmla="*/ 1468 h 3418"/>
                  <a:gd name="T42" fmla="*/ 3287 w 3416"/>
                  <a:gd name="T43" fmla="*/ 1048 h 3418"/>
                  <a:gd name="T44" fmla="*/ 3094 w 3416"/>
                  <a:gd name="T45" fmla="*/ 703 h 3418"/>
                  <a:gd name="T46" fmla="*/ 3015 w 3416"/>
                  <a:gd name="T47" fmla="*/ 621 h 3418"/>
                  <a:gd name="T48" fmla="*/ 2858 w 3416"/>
                  <a:gd name="T49" fmla="*/ 907 h 3418"/>
                  <a:gd name="T50" fmla="*/ 3052 w 3416"/>
                  <a:gd name="T51" fmla="*/ 1313 h 3418"/>
                  <a:gd name="T52" fmla="*/ 3105 w 3416"/>
                  <a:gd name="T53" fmla="*/ 1609 h 3418"/>
                  <a:gd name="T54" fmla="*/ 3072 w 3416"/>
                  <a:gd name="T55" fmla="*/ 2004 h 3418"/>
                  <a:gd name="T56" fmla="*/ 2932 w 3416"/>
                  <a:gd name="T57" fmla="*/ 2377 h 3418"/>
                  <a:gd name="T58" fmla="*/ 2697 w 3416"/>
                  <a:gd name="T59" fmla="*/ 2698 h 3418"/>
                  <a:gd name="T60" fmla="*/ 2405 w 3416"/>
                  <a:gd name="T61" fmla="*/ 2919 h 3418"/>
                  <a:gd name="T62" fmla="*/ 2015 w 3416"/>
                  <a:gd name="T63" fmla="*/ 3075 h 3418"/>
                  <a:gd name="T64" fmla="*/ 1493 w 3416"/>
                  <a:gd name="T65" fmla="*/ 3095 h 3418"/>
                  <a:gd name="T66" fmla="*/ 1249 w 3416"/>
                  <a:gd name="T67" fmla="*/ 3033 h 3418"/>
                  <a:gd name="T68" fmla="*/ 918 w 3416"/>
                  <a:gd name="T69" fmla="*/ 2866 h 3418"/>
                  <a:gd name="T70" fmla="*/ 648 w 3416"/>
                  <a:gd name="T71" fmla="*/ 2628 h 3418"/>
                  <a:gd name="T72" fmla="*/ 446 w 3416"/>
                  <a:gd name="T73" fmla="*/ 2325 h 3418"/>
                  <a:gd name="T74" fmla="*/ 348 w 3416"/>
                  <a:gd name="T75" fmla="*/ 2072 h 3418"/>
                  <a:gd name="T76" fmla="*/ 308 w 3416"/>
                  <a:gd name="T77" fmla="*/ 1711 h 3418"/>
                  <a:gd name="T78" fmla="*/ 340 w 3416"/>
                  <a:gd name="T79" fmla="*/ 1393 h 3418"/>
                  <a:gd name="T80" fmla="*/ 455 w 3416"/>
                  <a:gd name="T81" fmla="*/ 1075 h 3418"/>
                  <a:gd name="T82" fmla="*/ 669 w 3416"/>
                  <a:gd name="T83" fmla="*/ 764 h 3418"/>
                  <a:gd name="T84" fmla="*/ 961 w 3416"/>
                  <a:gd name="T85" fmla="*/ 522 h 3418"/>
                  <a:gd name="T86" fmla="*/ 1318 w 3416"/>
                  <a:gd name="T87" fmla="*/ 360 h 3418"/>
                  <a:gd name="T88" fmla="*/ 1601 w 3416"/>
                  <a:gd name="T89" fmla="*/ 313 h 3418"/>
                  <a:gd name="T90" fmla="*/ 2013 w 3416"/>
                  <a:gd name="T91" fmla="*/ 338 h 3418"/>
                  <a:gd name="T92" fmla="*/ 2430 w 3416"/>
                  <a:gd name="T93" fmla="*/ 507 h 3418"/>
                  <a:gd name="T94" fmla="*/ 2798 w 3416"/>
                  <a:gd name="T95" fmla="*/ 400 h 3418"/>
                  <a:gd name="T96" fmla="*/ 2519 w 3416"/>
                  <a:gd name="T97" fmla="*/ 201 h 3418"/>
                  <a:gd name="T98" fmla="*/ 2104 w 3416"/>
                  <a:gd name="T99" fmla="*/ 41 h 3418"/>
                  <a:gd name="T100" fmla="*/ 1615 w 3416"/>
                  <a:gd name="T101" fmla="*/ 2 h 3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416" h="3418">
                    <a:moveTo>
                      <a:pt x="1415" y="17"/>
                    </a:moveTo>
                    <a:lnTo>
                      <a:pt x="1366" y="26"/>
                    </a:lnTo>
                    <a:lnTo>
                      <a:pt x="1244" y="58"/>
                    </a:lnTo>
                    <a:lnTo>
                      <a:pt x="1115" y="101"/>
                    </a:lnTo>
                    <a:lnTo>
                      <a:pt x="997" y="147"/>
                    </a:lnTo>
                    <a:lnTo>
                      <a:pt x="950" y="168"/>
                    </a:lnTo>
                    <a:lnTo>
                      <a:pt x="907" y="190"/>
                    </a:lnTo>
                    <a:lnTo>
                      <a:pt x="825" y="238"/>
                    </a:lnTo>
                    <a:lnTo>
                      <a:pt x="745" y="289"/>
                    </a:lnTo>
                    <a:lnTo>
                      <a:pt x="669" y="344"/>
                    </a:lnTo>
                    <a:lnTo>
                      <a:pt x="596" y="404"/>
                    </a:lnTo>
                    <a:lnTo>
                      <a:pt x="527" y="467"/>
                    </a:lnTo>
                    <a:lnTo>
                      <a:pt x="461" y="533"/>
                    </a:lnTo>
                    <a:lnTo>
                      <a:pt x="399" y="603"/>
                    </a:lnTo>
                    <a:lnTo>
                      <a:pt x="341" y="676"/>
                    </a:lnTo>
                    <a:lnTo>
                      <a:pt x="286" y="752"/>
                    </a:lnTo>
                    <a:lnTo>
                      <a:pt x="236" y="832"/>
                    </a:lnTo>
                    <a:lnTo>
                      <a:pt x="190" y="914"/>
                    </a:lnTo>
                    <a:lnTo>
                      <a:pt x="148" y="998"/>
                    </a:lnTo>
                    <a:lnTo>
                      <a:pt x="110" y="1086"/>
                    </a:lnTo>
                    <a:lnTo>
                      <a:pt x="77" y="1176"/>
                    </a:lnTo>
                    <a:lnTo>
                      <a:pt x="49" y="1268"/>
                    </a:lnTo>
                    <a:lnTo>
                      <a:pt x="37" y="1315"/>
                    </a:lnTo>
                    <a:lnTo>
                      <a:pt x="28" y="1354"/>
                    </a:lnTo>
                    <a:lnTo>
                      <a:pt x="14" y="1444"/>
                    </a:lnTo>
                    <a:lnTo>
                      <a:pt x="4" y="1545"/>
                    </a:lnTo>
                    <a:lnTo>
                      <a:pt x="0" y="1652"/>
                    </a:lnTo>
                    <a:lnTo>
                      <a:pt x="0" y="1761"/>
                    </a:lnTo>
                    <a:lnTo>
                      <a:pt x="4" y="1868"/>
                    </a:lnTo>
                    <a:lnTo>
                      <a:pt x="14" y="1969"/>
                    </a:lnTo>
                    <a:lnTo>
                      <a:pt x="28" y="2059"/>
                    </a:lnTo>
                    <a:lnTo>
                      <a:pt x="37" y="2098"/>
                    </a:lnTo>
                    <a:lnTo>
                      <a:pt x="51" y="2152"/>
                    </a:lnTo>
                    <a:lnTo>
                      <a:pt x="84" y="2256"/>
                    </a:lnTo>
                    <a:lnTo>
                      <a:pt x="122" y="2356"/>
                    </a:lnTo>
                    <a:lnTo>
                      <a:pt x="166" y="2453"/>
                    </a:lnTo>
                    <a:lnTo>
                      <a:pt x="215" y="2545"/>
                    </a:lnTo>
                    <a:lnTo>
                      <a:pt x="268" y="2634"/>
                    </a:lnTo>
                    <a:lnTo>
                      <a:pt x="327" y="2718"/>
                    </a:lnTo>
                    <a:lnTo>
                      <a:pt x="389" y="2798"/>
                    </a:lnTo>
                    <a:lnTo>
                      <a:pt x="456" y="2873"/>
                    </a:lnTo>
                    <a:lnTo>
                      <a:pt x="526" y="2945"/>
                    </a:lnTo>
                    <a:lnTo>
                      <a:pt x="600" y="3011"/>
                    </a:lnTo>
                    <a:lnTo>
                      <a:pt x="678" y="3073"/>
                    </a:lnTo>
                    <a:lnTo>
                      <a:pt x="758" y="3130"/>
                    </a:lnTo>
                    <a:lnTo>
                      <a:pt x="842" y="3182"/>
                    </a:lnTo>
                    <a:lnTo>
                      <a:pt x="928" y="3230"/>
                    </a:lnTo>
                    <a:lnTo>
                      <a:pt x="1017" y="3272"/>
                    </a:lnTo>
                    <a:lnTo>
                      <a:pt x="1108" y="3309"/>
                    </a:lnTo>
                    <a:lnTo>
                      <a:pt x="1201" y="3341"/>
                    </a:lnTo>
                    <a:lnTo>
                      <a:pt x="1295" y="3367"/>
                    </a:lnTo>
                    <a:lnTo>
                      <a:pt x="1391" y="3388"/>
                    </a:lnTo>
                    <a:lnTo>
                      <a:pt x="1489" y="3404"/>
                    </a:lnTo>
                    <a:lnTo>
                      <a:pt x="1587" y="3414"/>
                    </a:lnTo>
                    <a:lnTo>
                      <a:pt x="1686" y="3418"/>
                    </a:lnTo>
                    <a:lnTo>
                      <a:pt x="1786" y="3416"/>
                    </a:lnTo>
                    <a:lnTo>
                      <a:pt x="1886" y="3409"/>
                    </a:lnTo>
                    <a:lnTo>
                      <a:pt x="1986" y="3395"/>
                    </a:lnTo>
                    <a:lnTo>
                      <a:pt x="2086" y="3376"/>
                    </a:lnTo>
                    <a:lnTo>
                      <a:pt x="2185" y="3350"/>
                    </a:lnTo>
                    <a:lnTo>
                      <a:pt x="2284" y="3317"/>
                    </a:lnTo>
                    <a:lnTo>
                      <a:pt x="2382" y="3279"/>
                    </a:lnTo>
                    <a:lnTo>
                      <a:pt x="2479" y="3234"/>
                    </a:lnTo>
                    <a:lnTo>
                      <a:pt x="2575" y="3182"/>
                    </a:lnTo>
                    <a:lnTo>
                      <a:pt x="2622" y="3153"/>
                    </a:lnTo>
                    <a:lnTo>
                      <a:pt x="2651" y="3135"/>
                    </a:lnTo>
                    <a:lnTo>
                      <a:pt x="2716" y="3087"/>
                    </a:lnTo>
                    <a:lnTo>
                      <a:pt x="2821" y="2999"/>
                    </a:lnTo>
                    <a:lnTo>
                      <a:pt x="2962" y="2862"/>
                    </a:lnTo>
                    <a:lnTo>
                      <a:pt x="3054" y="2759"/>
                    </a:lnTo>
                    <a:lnTo>
                      <a:pt x="3105" y="2696"/>
                    </a:lnTo>
                    <a:lnTo>
                      <a:pt x="3125" y="2667"/>
                    </a:lnTo>
                    <a:lnTo>
                      <a:pt x="3155" y="2620"/>
                    </a:lnTo>
                    <a:lnTo>
                      <a:pt x="3211" y="2525"/>
                    </a:lnTo>
                    <a:lnTo>
                      <a:pt x="3260" y="2426"/>
                    </a:lnTo>
                    <a:lnTo>
                      <a:pt x="3302" y="2325"/>
                    </a:lnTo>
                    <a:lnTo>
                      <a:pt x="3338" y="2221"/>
                    </a:lnTo>
                    <a:lnTo>
                      <a:pt x="3367" y="2116"/>
                    </a:lnTo>
                    <a:lnTo>
                      <a:pt x="3389" y="2009"/>
                    </a:lnTo>
                    <a:lnTo>
                      <a:pt x="3405" y="1902"/>
                    </a:lnTo>
                    <a:lnTo>
                      <a:pt x="3414" y="1793"/>
                    </a:lnTo>
                    <a:lnTo>
                      <a:pt x="3416" y="1685"/>
                    </a:lnTo>
                    <a:lnTo>
                      <a:pt x="3412" y="1576"/>
                    </a:lnTo>
                    <a:lnTo>
                      <a:pt x="3401" y="1468"/>
                    </a:lnTo>
                    <a:lnTo>
                      <a:pt x="3383" y="1361"/>
                    </a:lnTo>
                    <a:lnTo>
                      <a:pt x="3358" y="1255"/>
                    </a:lnTo>
                    <a:lnTo>
                      <a:pt x="3326" y="1151"/>
                    </a:lnTo>
                    <a:lnTo>
                      <a:pt x="3287" y="1048"/>
                    </a:lnTo>
                    <a:lnTo>
                      <a:pt x="3265" y="998"/>
                    </a:lnTo>
                    <a:lnTo>
                      <a:pt x="3241" y="949"/>
                    </a:lnTo>
                    <a:lnTo>
                      <a:pt x="3170" y="825"/>
                    </a:lnTo>
                    <a:lnTo>
                      <a:pt x="3094" y="703"/>
                    </a:lnTo>
                    <a:lnTo>
                      <a:pt x="3049" y="640"/>
                    </a:lnTo>
                    <a:lnTo>
                      <a:pt x="3030" y="617"/>
                    </a:lnTo>
                    <a:lnTo>
                      <a:pt x="3025" y="615"/>
                    </a:lnTo>
                    <a:lnTo>
                      <a:pt x="3015" y="621"/>
                    </a:lnTo>
                    <a:lnTo>
                      <a:pt x="2953" y="679"/>
                    </a:lnTo>
                    <a:lnTo>
                      <a:pt x="2910" y="722"/>
                    </a:lnTo>
                    <a:lnTo>
                      <a:pt x="2805" y="828"/>
                    </a:lnTo>
                    <a:lnTo>
                      <a:pt x="2858" y="907"/>
                    </a:lnTo>
                    <a:lnTo>
                      <a:pt x="2887" y="950"/>
                    </a:lnTo>
                    <a:lnTo>
                      <a:pt x="2947" y="1064"/>
                    </a:lnTo>
                    <a:lnTo>
                      <a:pt x="3005" y="1191"/>
                    </a:lnTo>
                    <a:lnTo>
                      <a:pt x="3052" y="1313"/>
                    </a:lnTo>
                    <a:lnTo>
                      <a:pt x="3067" y="1365"/>
                    </a:lnTo>
                    <a:lnTo>
                      <a:pt x="3078" y="1413"/>
                    </a:lnTo>
                    <a:lnTo>
                      <a:pt x="3095" y="1510"/>
                    </a:lnTo>
                    <a:lnTo>
                      <a:pt x="3105" y="1609"/>
                    </a:lnTo>
                    <a:lnTo>
                      <a:pt x="3107" y="1708"/>
                    </a:lnTo>
                    <a:lnTo>
                      <a:pt x="3102" y="1807"/>
                    </a:lnTo>
                    <a:lnTo>
                      <a:pt x="3090" y="1906"/>
                    </a:lnTo>
                    <a:lnTo>
                      <a:pt x="3072" y="2004"/>
                    </a:lnTo>
                    <a:lnTo>
                      <a:pt x="3046" y="2100"/>
                    </a:lnTo>
                    <a:lnTo>
                      <a:pt x="3015" y="2195"/>
                    </a:lnTo>
                    <a:lnTo>
                      <a:pt x="2977" y="2288"/>
                    </a:lnTo>
                    <a:lnTo>
                      <a:pt x="2932" y="2377"/>
                    </a:lnTo>
                    <a:lnTo>
                      <a:pt x="2882" y="2464"/>
                    </a:lnTo>
                    <a:lnTo>
                      <a:pt x="2826" y="2546"/>
                    </a:lnTo>
                    <a:lnTo>
                      <a:pt x="2764" y="2625"/>
                    </a:lnTo>
                    <a:lnTo>
                      <a:pt x="2697" y="2698"/>
                    </a:lnTo>
                    <a:lnTo>
                      <a:pt x="2625" y="2767"/>
                    </a:lnTo>
                    <a:lnTo>
                      <a:pt x="2587" y="2798"/>
                    </a:lnTo>
                    <a:lnTo>
                      <a:pt x="2534" y="2839"/>
                    </a:lnTo>
                    <a:lnTo>
                      <a:pt x="2405" y="2919"/>
                    </a:lnTo>
                    <a:lnTo>
                      <a:pt x="2261" y="2991"/>
                    </a:lnTo>
                    <a:lnTo>
                      <a:pt x="2116" y="3048"/>
                    </a:lnTo>
                    <a:lnTo>
                      <a:pt x="2050" y="3067"/>
                    </a:lnTo>
                    <a:lnTo>
                      <a:pt x="2015" y="3075"/>
                    </a:lnTo>
                    <a:lnTo>
                      <a:pt x="1937" y="3089"/>
                    </a:lnTo>
                    <a:lnTo>
                      <a:pt x="1806" y="3103"/>
                    </a:lnTo>
                    <a:lnTo>
                      <a:pt x="1621" y="3105"/>
                    </a:lnTo>
                    <a:lnTo>
                      <a:pt x="1493" y="3095"/>
                    </a:lnTo>
                    <a:lnTo>
                      <a:pt x="1419" y="3083"/>
                    </a:lnTo>
                    <a:lnTo>
                      <a:pt x="1387" y="3075"/>
                    </a:lnTo>
                    <a:lnTo>
                      <a:pt x="1340" y="3062"/>
                    </a:lnTo>
                    <a:lnTo>
                      <a:pt x="1249" y="3033"/>
                    </a:lnTo>
                    <a:lnTo>
                      <a:pt x="1161" y="2998"/>
                    </a:lnTo>
                    <a:lnTo>
                      <a:pt x="1076" y="2958"/>
                    </a:lnTo>
                    <a:lnTo>
                      <a:pt x="995" y="2914"/>
                    </a:lnTo>
                    <a:lnTo>
                      <a:pt x="918" y="2866"/>
                    </a:lnTo>
                    <a:lnTo>
                      <a:pt x="845" y="2813"/>
                    </a:lnTo>
                    <a:lnTo>
                      <a:pt x="775" y="2755"/>
                    </a:lnTo>
                    <a:lnTo>
                      <a:pt x="709" y="2693"/>
                    </a:lnTo>
                    <a:lnTo>
                      <a:pt x="648" y="2628"/>
                    </a:lnTo>
                    <a:lnTo>
                      <a:pt x="591" y="2558"/>
                    </a:lnTo>
                    <a:lnTo>
                      <a:pt x="538" y="2484"/>
                    </a:lnTo>
                    <a:lnTo>
                      <a:pt x="490" y="2406"/>
                    </a:lnTo>
                    <a:lnTo>
                      <a:pt x="446" y="2325"/>
                    </a:lnTo>
                    <a:lnTo>
                      <a:pt x="407" y="2240"/>
                    </a:lnTo>
                    <a:lnTo>
                      <a:pt x="373" y="2152"/>
                    </a:lnTo>
                    <a:lnTo>
                      <a:pt x="358" y="2107"/>
                    </a:lnTo>
                    <a:lnTo>
                      <a:pt x="348" y="2072"/>
                    </a:lnTo>
                    <a:lnTo>
                      <a:pt x="331" y="1992"/>
                    </a:lnTo>
                    <a:lnTo>
                      <a:pt x="318" y="1903"/>
                    </a:lnTo>
                    <a:lnTo>
                      <a:pt x="311" y="1809"/>
                    </a:lnTo>
                    <a:lnTo>
                      <a:pt x="308" y="1711"/>
                    </a:lnTo>
                    <a:lnTo>
                      <a:pt x="311" y="1614"/>
                    </a:lnTo>
                    <a:lnTo>
                      <a:pt x="319" y="1520"/>
                    </a:lnTo>
                    <a:lnTo>
                      <a:pt x="331" y="1433"/>
                    </a:lnTo>
                    <a:lnTo>
                      <a:pt x="340" y="1393"/>
                    </a:lnTo>
                    <a:lnTo>
                      <a:pt x="352" y="1345"/>
                    </a:lnTo>
                    <a:lnTo>
                      <a:pt x="380" y="1252"/>
                    </a:lnTo>
                    <a:lnTo>
                      <a:pt x="414" y="1162"/>
                    </a:lnTo>
                    <a:lnTo>
                      <a:pt x="455" y="1075"/>
                    </a:lnTo>
                    <a:lnTo>
                      <a:pt x="500" y="991"/>
                    </a:lnTo>
                    <a:lnTo>
                      <a:pt x="552" y="912"/>
                    </a:lnTo>
                    <a:lnTo>
                      <a:pt x="608" y="836"/>
                    </a:lnTo>
                    <a:lnTo>
                      <a:pt x="669" y="764"/>
                    </a:lnTo>
                    <a:lnTo>
                      <a:pt x="736" y="697"/>
                    </a:lnTo>
                    <a:lnTo>
                      <a:pt x="806" y="634"/>
                    </a:lnTo>
                    <a:lnTo>
                      <a:pt x="882" y="575"/>
                    </a:lnTo>
                    <a:lnTo>
                      <a:pt x="961" y="522"/>
                    </a:lnTo>
                    <a:lnTo>
                      <a:pt x="1045" y="473"/>
                    </a:lnTo>
                    <a:lnTo>
                      <a:pt x="1132" y="430"/>
                    </a:lnTo>
                    <a:lnTo>
                      <a:pt x="1223" y="392"/>
                    </a:lnTo>
                    <a:lnTo>
                      <a:pt x="1318" y="360"/>
                    </a:lnTo>
                    <a:lnTo>
                      <a:pt x="1367" y="347"/>
                    </a:lnTo>
                    <a:lnTo>
                      <a:pt x="1400" y="339"/>
                    </a:lnTo>
                    <a:lnTo>
                      <a:pt x="1475" y="325"/>
                    </a:lnTo>
                    <a:lnTo>
                      <a:pt x="1601" y="313"/>
                    </a:lnTo>
                    <a:lnTo>
                      <a:pt x="1780" y="310"/>
                    </a:lnTo>
                    <a:lnTo>
                      <a:pt x="1906" y="320"/>
                    </a:lnTo>
                    <a:lnTo>
                      <a:pt x="1981" y="331"/>
                    </a:lnTo>
                    <a:lnTo>
                      <a:pt x="2013" y="338"/>
                    </a:lnTo>
                    <a:lnTo>
                      <a:pt x="2074" y="354"/>
                    </a:lnTo>
                    <a:lnTo>
                      <a:pt x="2198" y="396"/>
                    </a:lnTo>
                    <a:lnTo>
                      <a:pt x="2319" y="447"/>
                    </a:lnTo>
                    <a:lnTo>
                      <a:pt x="2430" y="507"/>
                    </a:lnTo>
                    <a:lnTo>
                      <a:pt x="2480" y="538"/>
                    </a:lnTo>
                    <a:lnTo>
                      <a:pt x="2588" y="612"/>
                    </a:lnTo>
                    <a:lnTo>
                      <a:pt x="2693" y="505"/>
                    </a:lnTo>
                    <a:lnTo>
                      <a:pt x="2798" y="400"/>
                    </a:lnTo>
                    <a:lnTo>
                      <a:pt x="2765" y="363"/>
                    </a:lnTo>
                    <a:lnTo>
                      <a:pt x="2740" y="339"/>
                    </a:lnTo>
                    <a:lnTo>
                      <a:pt x="2645" y="273"/>
                    </a:lnTo>
                    <a:lnTo>
                      <a:pt x="2519" y="201"/>
                    </a:lnTo>
                    <a:lnTo>
                      <a:pt x="2390" y="137"/>
                    </a:lnTo>
                    <a:lnTo>
                      <a:pt x="2333" y="113"/>
                    </a:lnTo>
                    <a:lnTo>
                      <a:pt x="2257" y="85"/>
                    </a:lnTo>
                    <a:lnTo>
                      <a:pt x="2104" y="41"/>
                    </a:lnTo>
                    <a:lnTo>
                      <a:pt x="1948" y="13"/>
                    </a:lnTo>
                    <a:lnTo>
                      <a:pt x="1786" y="1"/>
                    </a:lnTo>
                    <a:lnTo>
                      <a:pt x="1700" y="0"/>
                    </a:lnTo>
                    <a:lnTo>
                      <a:pt x="1615" y="2"/>
                    </a:lnTo>
                    <a:lnTo>
                      <a:pt x="1460" y="11"/>
                    </a:lnTo>
                    <a:lnTo>
                      <a:pt x="1415"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algn="r" defTabSz="914400" rtl="1" eaLnBrk="1" latinLnBrk="0" hangingPunct="1"/>
                <a:endParaRPr lang="en-US"/>
              </a:p>
            </p:txBody>
          </p:sp>
          <p:sp>
            <p:nvSpPr>
              <p:cNvPr id="55" name="Freeform 2487">
                <a:extLst>
                  <a:ext uri="{FF2B5EF4-FFF2-40B4-BE49-F238E27FC236}">
                    <a16:creationId xmlns:a16="http://schemas.microsoft.com/office/drawing/2014/main" id="{7E8AB0D6-2CEC-4EAC-15DA-606F29BD60AD}"/>
                  </a:ext>
                </a:extLst>
              </p:cNvPr>
              <p:cNvSpPr>
                <a:spLocks/>
              </p:cNvSpPr>
              <p:nvPr/>
            </p:nvSpPr>
            <p:spPr bwMode="auto">
              <a:xfrm>
                <a:off x="573721" y="1105387"/>
                <a:ext cx="411735" cy="412758"/>
              </a:xfrm>
              <a:custGeom>
                <a:avLst/>
                <a:gdLst>
                  <a:gd name="T0" fmla="*/ 652 w 2171"/>
                  <a:gd name="T1" fmla="*/ 88 h 2179"/>
                  <a:gd name="T2" fmla="*/ 305 w 2171"/>
                  <a:gd name="T3" fmla="*/ 324 h 2179"/>
                  <a:gd name="T4" fmla="*/ 71 w 2171"/>
                  <a:gd name="T5" fmla="*/ 684 h 2179"/>
                  <a:gd name="T6" fmla="*/ 12 w 2171"/>
                  <a:gd name="T7" fmla="*/ 866 h 2179"/>
                  <a:gd name="T8" fmla="*/ 0 w 2171"/>
                  <a:gd name="T9" fmla="*/ 1089 h 2179"/>
                  <a:gd name="T10" fmla="*/ 13 w 2171"/>
                  <a:gd name="T11" fmla="*/ 1312 h 2179"/>
                  <a:gd name="T12" fmla="*/ 58 w 2171"/>
                  <a:gd name="T13" fmla="*/ 1468 h 2179"/>
                  <a:gd name="T14" fmla="*/ 184 w 2171"/>
                  <a:gd name="T15" fmla="*/ 1708 h 2179"/>
                  <a:gd name="T16" fmla="*/ 359 w 2171"/>
                  <a:gd name="T17" fmla="*/ 1906 h 2179"/>
                  <a:gd name="T18" fmla="*/ 575 w 2171"/>
                  <a:gd name="T19" fmla="*/ 2055 h 2179"/>
                  <a:gd name="T20" fmla="*/ 822 w 2171"/>
                  <a:gd name="T21" fmla="*/ 2148 h 2179"/>
                  <a:gd name="T22" fmla="*/ 1091 w 2171"/>
                  <a:gd name="T23" fmla="*/ 2179 h 2179"/>
                  <a:gd name="T24" fmla="*/ 1340 w 2171"/>
                  <a:gd name="T25" fmla="*/ 2148 h 2179"/>
                  <a:gd name="T26" fmla="*/ 1704 w 2171"/>
                  <a:gd name="T27" fmla="*/ 1988 h 2179"/>
                  <a:gd name="T28" fmla="*/ 1984 w 2171"/>
                  <a:gd name="T29" fmla="*/ 1708 h 2179"/>
                  <a:gd name="T30" fmla="*/ 2110 w 2171"/>
                  <a:gd name="T31" fmla="*/ 1469 h 2179"/>
                  <a:gd name="T32" fmla="*/ 2168 w 2171"/>
                  <a:gd name="T33" fmla="*/ 1142 h 2179"/>
                  <a:gd name="T34" fmla="*/ 2157 w 2171"/>
                  <a:gd name="T35" fmla="*/ 893 h 2179"/>
                  <a:gd name="T36" fmla="*/ 2060 w 2171"/>
                  <a:gd name="T37" fmla="*/ 602 h 2179"/>
                  <a:gd name="T38" fmla="*/ 1978 w 2171"/>
                  <a:gd name="T39" fmla="*/ 464 h 2179"/>
                  <a:gd name="T40" fmla="*/ 1890 w 2171"/>
                  <a:gd name="T41" fmla="*/ 505 h 2179"/>
                  <a:gd name="T42" fmla="*/ 1788 w 2171"/>
                  <a:gd name="T43" fmla="*/ 755 h 2179"/>
                  <a:gd name="T44" fmla="*/ 1851 w 2171"/>
                  <a:gd name="T45" fmla="*/ 940 h 2179"/>
                  <a:gd name="T46" fmla="*/ 1861 w 2171"/>
                  <a:gd name="T47" fmla="*/ 1166 h 2179"/>
                  <a:gd name="T48" fmla="*/ 1806 w 2171"/>
                  <a:gd name="T49" fmla="*/ 1382 h 2179"/>
                  <a:gd name="T50" fmla="*/ 1690 w 2171"/>
                  <a:gd name="T51" fmla="*/ 1575 h 2179"/>
                  <a:gd name="T52" fmla="*/ 1519 w 2171"/>
                  <a:gd name="T53" fmla="*/ 1731 h 2179"/>
                  <a:gd name="T54" fmla="*/ 1369 w 2171"/>
                  <a:gd name="T55" fmla="*/ 1811 h 2179"/>
                  <a:gd name="T56" fmla="*/ 1084 w 2171"/>
                  <a:gd name="T57" fmla="*/ 1865 h 2179"/>
                  <a:gd name="T58" fmla="*/ 802 w 2171"/>
                  <a:gd name="T59" fmla="*/ 1813 h 2179"/>
                  <a:gd name="T60" fmla="*/ 636 w 2171"/>
                  <a:gd name="T61" fmla="*/ 1721 h 2179"/>
                  <a:gd name="T62" fmla="*/ 449 w 2171"/>
                  <a:gd name="T63" fmla="*/ 1532 h 2179"/>
                  <a:gd name="T64" fmla="*/ 339 w 2171"/>
                  <a:gd name="T65" fmla="*/ 1305 h 2179"/>
                  <a:gd name="T66" fmla="*/ 308 w 2171"/>
                  <a:gd name="T67" fmla="*/ 1059 h 2179"/>
                  <a:gd name="T68" fmla="*/ 360 w 2171"/>
                  <a:gd name="T69" fmla="*/ 813 h 2179"/>
                  <a:gd name="T70" fmla="*/ 495 w 2171"/>
                  <a:gd name="T71" fmla="*/ 586 h 2179"/>
                  <a:gd name="T72" fmla="*/ 615 w 2171"/>
                  <a:gd name="T73" fmla="*/ 471 h 2179"/>
                  <a:gd name="T74" fmla="*/ 814 w 2171"/>
                  <a:gd name="T75" fmla="*/ 359 h 2179"/>
                  <a:gd name="T76" fmla="*/ 1045 w 2171"/>
                  <a:gd name="T77" fmla="*/ 314 h 2179"/>
                  <a:gd name="T78" fmla="*/ 1226 w 2171"/>
                  <a:gd name="T79" fmla="*/ 322 h 2179"/>
                  <a:gd name="T80" fmla="*/ 1437 w 2171"/>
                  <a:gd name="T81" fmla="*/ 392 h 2179"/>
                  <a:gd name="T82" fmla="*/ 1740 w 2171"/>
                  <a:gd name="T83" fmla="*/ 222 h 2179"/>
                  <a:gd name="T84" fmla="*/ 1582 w 2171"/>
                  <a:gd name="T85" fmla="*/ 119 h 2179"/>
                  <a:gd name="T86" fmla="*/ 1313 w 2171"/>
                  <a:gd name="T87" fmla="*/ 22 h 2179"/>
                  <a:gd name="T88" fmla="*/ 1027 w 2171"/>
                  <a:gd name="T89" fmla="*/ 0 h 2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71" h="2179">
                    <a:moveTo>
                      <a:pt x="863" y="22"/>
                    </a:moveTo>
                    <a:lnTo>
                      <a:pt x="790" y="40"/>
                    </a:lnTo>
                    <a:lnTo>
                      <a:pt x="652" y="88"/>
                    </a:lnTo>
                    <a:lnTo>
                      <a:pt x="525" y="152"/>
                    </a:lnTo>
                    <a:lnTo>
                      <a:pt x="409" y="231"/>
                    </a:lnTo>
                    <a:lnTo>
                      <a:pt x="305" y="324"/>
                    </a:lnTo>
                    <a:lnTo>
                      <a:pt x="214" y="431"/>
                    </a:lnTo>
                    <a:lnTo>
                      <a:pt x="136" y="551"/>
                    </a:lnTo>
                    <a:lnTo>
                      <a:pt x="71" y="684"/>
                    </a:lnTo>
                    <a:lnTo>
                      <a:pt x="45" y="755"/>
                    </a:lnTo>
                    <a:lnTo>
                      <a:pt x="31" y="797"/>
                    </a:lnTo>
                    <a:lnTo>
                      <a:pt x="12" y="866"/>
                    </a:lnTo>
                    <a:lnTo>
                      <a:pt x="3" y="936"/>
                    </a:lnTo>
                    <a:lnTo>
                      <a:pt x="0" y="1027"/>
                    </a:lnTo>
                    <a:lnTo>
                      <a:pt x="0" y="1089"/>
                    </a:lnTo>
                    <a:lnTo>
                      <a:pt x="0" y="1149"/>
                    </a:lnTo>
                    <a:lnTo>
                      <a:pt x="4" y="1241"/>
                    </a:lnTo>
                    <a:lnTo>
                      <a:pt x="13" y="1312"/>
                    </a:lnTo>
                    <a:lnTo>
                      <a:pt x="31" y="1383"/>
                    </a:lnTo>
                    <a:lnTo>
                      <a:pt x="43" y="1424"/>
                    </a:lnTo>
                    <a:lnTo>
                      <a:pt x="58" y="1468"/>
                    </a:lnTo>
                    <a:lnTo>
                      <a:pt x="94" y="1552"/>
                    </a:lnTo>
                    <a:lnTo>
                      <a:pt x="136" y="1632"/>
                    </a:lnTo>
                    <a:lnTo>
                      <a:pt x="184" y="1708"/>
                    </a:lnTo>
                    <a:lnTo>
                      <a:pt x="237" y="1779"/>
                    </a:lnTo>
                    <a:lnTo>
                      <a:pt x="296" y="1845"/>
                    </a:lnTo>
                    <a:lnTo>
                      <a:pt x="359" y="1906"/>
                    </a:lnTo>
                    <a:lnTo>
                      <a:pt x="427" y="1961"/>
                    </a:lnTo>
                    <a:lnTo>
                      <a:pt x="500" y="2011"/>
                    </a:lnTo>
                    <a:lnTo>
                      <a:pt x="575" y="2055"/>
                    </a:lnTo>
                    <a:lnTo>
                      <a:pt x="655" y="2092"/>
                    </a:lnTo>
                    <a:lnTo>
                      <a:pt x="737" y="2123"/>
                    </a:lnTo>
                    <a:lnTo>
                      <a:pt x="822" y="2148"/>
                    </a:lnTo>
                    <a:lnTo>
                      <a:pt x="910" y="2165"/>
                    </a:lnTo>
                    <a:lnTo>
                      <a:pt x="999" y="2176"/>
                    </a:lnTo>
                    <a:lnTo>
                      <a:pt x="1091" y="2179"/>
                    </a:lnTo>
                    <a:lnTo>
                      <a:pt x="1137" y="2177"/>
                    </a:lnTo>
                    <a:lnTo>
                      <a:pt x="1206" y="2172"/>
                    </a:lnTo>
                    <a:lnTo>
                      <a:pt x="1340" y="2148"/>
                    </a:lnTo>
                    <a:lnTo>
                      <a:pt x="1469" y="2109"/>
                    </a:lnTo>
                    <a:lnTo>
                      <a:pt x="1591" y="2056"/>
                    </a:lnTo>
                    <a:lnTo>
                      <a:pt x="1704" y="1988"/>
                    </a:lnTo>
                    <a:lnTo>
                      <a:pt x="1809" y="1907"/>
                    </a:lnTo>
                    <a:lnTo>
                      <a:pt x="1903" y="1813"/>
                    </a:lnTo>
                    <a:lnTo>
                      <a:pt x="1984" y="1708"/>
                    </a:lnTo>
                    <a:lnTo>
                      <a:pt x="2020" y="1650"/>
                    </a:lnTo>
                    <a:lnTo>
                      <a:pt x="2056" y="1587"/>
                    </a:lnTo>
                    <a:lnTo>
                      <a:pt x="2110" y="1469"/>
                    </a:lnTo>
                    <a:lnTo>
                      <a:pt x="2144" y="1350"/>
                    </a:lnTo>
                    <a:lnTo>
                      <a:pt x="2164" y="1218"/>
                    </a:lnTo>
                    <a:lnTo>
                      <a:pt x="2168" y="1142"/>
                    </a:lnTo>
                    <a:lnTo>
                      <a:pt x="2171" y="1064"/>
                    </a:lnTo>
                    <a:lnTo>
                      <a:pt x="2166" y="959"/>
                    </a:lnTo>
                    <a:lnTo>
                      <a:pt x="2157" y="893"/>
                    </a:lnTo>
                    <a:lnTo>
                      <a:pt x="2137" y="797"/>
                    </a:lnTo>
                    <a:lnTo>
                      <a:pt x="2091" y="669"/>
                    </a:lnTo>
                    <a:lnTo>
                      <a:pt x="2060" y="602"/>
                    </a:lnTo>
                    <a:lnTo>
                      <a:pt x="2030" y="540"/>
                    </a:lnTo>
                    <a:lnTo>
                      <a:pt x="1997" y="484"/>
                    </a:lnTo>
                    <a:lnTo>
                      <a:pt x="1978" y="464"/>
                    </a:lnTo>
                    <a:lnTo>
                      <a:pt x="1957" y="459"/>
                    </a:lnTo>
                    <a:lnTo>
                      <a:pt x="1934" y="468"/>
                    </a:lnTo>
                    <a:lnTo>
                      <a:pt x="1890" y="505"/>
                    </a:lnTo>
                    <a:lnTo>
                      <a:pt x="1847" y="549"/>
                    </a:lnTo>
                    <a:lnTo>
                      <a:pt x="1740" y="655"/>
                    </a:lnTo>
                    <a:lnTo>
                      <a:pt x="1788" y="755"/>
                    </a:lnTo>
                    <a:lnTo>
                      <a:pt x="1805" y="792"/>
                    </a:lnTo>
                    <a:lnTo>
                      <a:pt x="1832" y="865"/>
                    </a:lnTo>
                    <a:lnTo>
                      <a:pt x="1851" y="940"/>
                    </a:lnTo>
                    <a:lnTo>
                      <a:pt x="1862" y="1016"/>
                    </a:lnTo>
                    <a:lnTo>
                      <a:pt x="1865" y="1091"/>
                    </a:lnTo>
                    <a:lnTo>
                      <a:pt x="1861" y="1166"/>
                    </a:lnTo>
                    <a:lnTo>
                      <a:pt x="1850" y="1240"/>
                    </a:lnTo>
                    <a:lnTo>
                      <a:pt x="1831" y="1312"/>
                    </a:lnTo>
                    <a:lnTo>
                      <a:pt x="1806" y="1382"/>
                    </a:lnTo>
                    <a:lnTo>
                      <a:pt x="1774" y="1450"/>
                    </a:lnTo>
                    <a:lnTo>
                      <a:pt x="1735" y="1514"/>
                    </a:lnTo>
                    <a:lnTo>
                      <a:pt x="1690" y="1575"/>
                    </a:lnTo>
                    <a:lnTo>
                      <a:pt x="1639" y="1632"/>
                    </a:lnTo>
                    <a:lnTo>
                      <a:pt x="1582" y="1684"/>
                    </a:lnTo>
                    <a:lnTo>
                      <a:pt x="1519" y="1731"/>
                    </a:lnTo>
                    <a:lnTo>
                      <a:pt x="1450" y="1772"/>
                    </a:lnTo>
                    <a:lnTo>
                      <a:pt x="1413" y="1790"/>
                    </a:lnTo>
                    <a:lnTo>
                      <a:pt x="1369" y="1811"/>
                    </a:lnTo>
                    <a:lnTo>
                      <a:pt x="1276" y="1841"/>
                    </a:lnTo>
                    <a:lnTo>
                      <a:pt x="1181" y="1859"/>
                    </a:lnTo>
                    <a:lnTo>
                      <a:pt x="1084" y="1865"/>
                    </a:lnTo>
                    <a:lnTo>
                      <a:pt x="988" y="1859"/>
                    </a:lnTo>
                    <a:lnTo>
                      <a:pt x="893" y="1842"/>
                    </a:lnTo>
                    <a:lnTo>
                      <a:pt x="802" y="1813"/>
                    </a:lnTo>
                    <a:lnTo>
                      <a:pt x="716" y="1772"/>
                    </a:lnTo>
                    <a:lnTo>
                      <a:pt x="675" y="1747"/>
                    </a:lnTo>
                    <a:lnTo>
                      <a:pt x="636" y="1721"/>
                    </a:lnTo>
                    <a:lnTo>
                      <a:pt x="565" y="1663"/>
                    </a:lnTo>
                    <a:lnTo>
                      <a:pt x="503" y="1600"/>
                    </a:lnTo>
                    <a:lnTo>
                      <a:pt x="449" y="1532"/>
                    </a:lnTo>
                    <a:lnTo>
                      <a:pt x="404" y="1460"/>
                    </a:lnTo>
                    <a:lnTo>
                      <a:pt x="367" y="1384"/>
                    </a:lnTo>
                    <a:lnTo>
                      <a:pt x="339" y="1305"/>
                    </a:lnTo>
                    <a:lnTo>
                      <a:pt x="320" y="1224"/>
                    </a:lnTo>
                    <a:lnTo>
                      <a:pt x="310" y="1142"/>
                    </a:lnTo>
                    <a:lnTo>
                      <a:pt x="308" y="1059"/>
                    </a:lnTo>
                    <a:lnTo>
                      <a:pt x="316" y="976"/>
                    </a:lnTo>
                    <a:lnTo>
                      <a:pt x="333" y="894"/>
                    </a:lnTo>
                    <a:lnTo>
                      <a:pt x="360" y="813"/>
                    </a:lnTo>
                    <a:lnTo>
                      <a:pt x="395" y="735"/>
                    </a:lnTo>
                    <a:lnTo>
                      <a:pt x="441" y="659"/>
                    </a:lnTo>
                    <a:lnTo>
                      <a:pt x="495" y="586"/>
                    </a:lnTo>
                    <a:lnTo>
                      <a:pt x="527" y="552"/>
                    </a:lnTo>
                    <a:lnTo>
                      <a:pt x="555" y="523"/>
                    </a:lnTo>
                    <a:lnTo>
                      <a:pt x="615" y="471"/>
                    </a:lnTo>
                    <a:lnTo>
                      <a:pt x="678" y="426"/>
                    </a:lnTo>
                    <a:lnTo>
                      <a:pt x="744" y="389"/>
                    </a:lnTo>
                    <a:lnTo>
                      <a:pt x="814" y="359"/>
                    </a:lnTo>
                    <a:lnTo>
                      <a:pt x="888" y="337"/>
                    </a:lnTo>
                    <a:lnTo>
                      <a:pt x="965" y="322"/>
                    </a:lnTo>
                    <a:lnTo>
                      <a:pt x="1045" y="314"/>
                    </a:lnTo>
                    <a:lnTo>
                      <a:pt x="1087" y="314"/>
                    </a:lnTo>
                    <a:lnTo>
                      <a:pt x="1138" y="314"/>
                    </a:lnTo>
                    <a:lnTo>
                      <a:pt x="1226" y="322"/>
                    </a:lnTo>
                    <a:lnTo>
                      <a:pt x="1306" y="340"/>
                    </a:lnTo>
                    <a:lnTo>
                      <a:pt x="1390" y="371"/>
                    </a:lnTo>
                    <a:lnTo>
                      <a:pt x="1437" y="392"/>
                    </a:lnTo>
                    <a:lnTo>
                      <a:pt x="1525" y="434"/>
                    </a:lnTo>
                    <a:lnTo>
                      <a:pt x="1632" y="329"/>
                    </a:lnTo>
                    <a:lnTo>
                      <a:pt x="1740" y="222"/>
                    </a:lnTo>
                    <a:lnTo>
                      <a:pt x="1702" y="190"/>
                    </a:lnTo>
                    <a:lnTo>
                      <a:pt x="1672" y="169"/>
                    </a:lnTo>
                    <a:lnTo>
                      <a:pt x="1582" y="119"/>
                    </a:lnTo>
                    <a:lnTo>
                      <a:pt x="1471" y="71"/>
                    </a:lnTo>
                    <a:lnTo>
                      <a:pt x="1361" y="33"/>
                    </a:lnTo>
                    <a:lnTo>
                      <a:pt x="1313" y="22"/>
                    </a:lnTo>
                    <a:lnTo>
                      <a:pt x="1259" y="12"/>
                    </a:lnTo>
                    <a:lnTo>
                      <a:pt x="1144" y="0"/>
                    </a:lnTo>
                    <a:lnTo>
                      <a:pt x="1027" y="0"/>
                    </a:lnTo>
                    <a:lnTo>
                      <a:pt x="915" y="12"/>
                    </a:lnTo>
                    <a:lnTo>
                      <a:pt x="863"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algn="r" defTabSz="914400" rtl="1" eaLnBrk="1" latinLnBrk="0" hangingPunct="1"/>
                <a:endParaRPr lang="en-US"/>
              </a:p>
            </p:txBody>
          </p:sp>
          <p:sp>
            <p:nvSpPr>
              <p:cNvPr id="56" name="Freeform 2488">
                <a:extLst>
                  <a:ext uri="{FF2B5EF4-FFF2-40B4-BE49-F238E27FC236}">
                    <a16:creationId xmlns:a16="http://schemas.microsoft.com/office/drawing/2014/main" id="{3CEA43EB-2824-E504-1481-290C981CF6AD}"/>
                  </a:ext>
                </a:extLst>
              </p:cNvPr>
              <p:cNvSpPr>
                <a:spLocks/>
              </p:cNvSpPr>
              <p:nvPr/>
            </p:nvSpPr>
            <p:spPr bwMode="auto">
              <a:xfrm>
                <a:off x="691871" y="1223537"/>
                <a:ext cx="176458" cy="174923"/>
              </a:xfrm>
              <a:custGeom>
                <a:avLst/>
                <a:gdLst>
                  <a:gd name="T0" fmla="*/ 308 w 932"/>
                  <a:gd name="T1" fmla="*/ 27 h 925"/>
                  <a:gd name="T2" fmla="*/ 174 w 932"/>
                  <a:gd name="T3" fmla="*/ 102 h 925"/>
                  <a:gd name="T4" fmla="*/ 73 w 932"/>
                  <a:gd name="T5" fmla="*/ 214 h 925"/>
                  <a:gd name="T6" fmla="*/ 13 w 932"/>
                  <a:gd name="T7" fmla="*/ 353 h 925"/>
                  <a:gd name="T8" fmla="*/ 0 w 932"/>
                  <a:gd name="T9" fmla="*/ 470 h 925"/>
                  <a:gd name="T10" fmla="*/ 5 w 932"/>
                  <a:gd name="T11" fmla="*/ 532 h 925"/>
                  <a:gd name="T12" fmla="*/ 57 w 932"/>
                  <a:gd name="T13" fmla="*/ 681 h 925"/>
                  <a:gd name="T14" fmla="*/ 136 w 932"/>
                  <a:gd name="T15" fmla="*/ 787 h 925"/>
                  <a:gd name="T16" fmla="*/ 249 w 932"/>
                  <a:gd name="T17" fmla="*/ 874 h 925"/>
                  <a:gd name="T18" fmla="*/ 351 w 932"/>
                  <a:gd name="T19" fmla="*/ 913 h 925"/>
                  <a:gd name="T20" fmla="*/ 466 w 932"/>
                  <a:gd name="T21" fmla="*/ 925 h 925"/>
                  <a:gd name="T22" fmla="*/ 550 w 932"/>
                  <a:gd name="T23" fmla="*/ 918 h 925"/>
                  <a:gd name="T24" fmla="*/ 654 w 932"/>
                  <a:gd name="T25" fmla="*/ 886 h 925"/>
                  <a:gd name="T26" fmla="*/ 745 w 932"/>
                  <a:gd name="T27" fmla="*/ 833 h 925"/>
                  <a:gd name="T28" fmla="*/ 821 w 932"/>
                  <a:gd name="T29" fmla="*/ 762 h 925"/>
                  <a:gd name="T30" fmla="*/ 879 w 932"/>
                  <a:gd name="T31" fmla="*/ 676 h 925"/>
                  <a:gd name="T32" fmla="*/ 917 w 932"/>
                  <a:gd name="T33" fmla="*/ 579 h 925"/>
                  <a:gd name="T34" fmla="*/ 932 w 932"/>
                  <a:gd name="T35" fmla="*/ 474 h 925"/>
                  <a:gd name="T36" fmla="*/ 922 w 932"/>
                  <a:gd name="T37" fmla="*/ 364 h 925"/>
                  <a:gd name="T38" fmla="*/ 908 w 932"/>
                  <a:gd name="T39" fmla="*/ 312 h 925"/>
                  <a:gd name="T40" fmla="*/ 886 w 932"/>
                  <a:gd name="T41" fmla="*/ 275 h 925"/>
                  <a:gd name="T42" fmla="*/ 785 w 932"/>
                  <a:gd name="T43" fmla="*/ 366 h 925"/>
                  <a:gd name="T44" fmla="*/ 662 w 932"/>
                  <a:gd name="T45" fmla="*/ 489 h 925"/>
                  <a:gd name="T46" fmla="*/ 550 w 932"/>
                  <a:gd name="T47" fmla="*/ 584 h 925"/>
                  <a:gd name="T48" fmla="*/ 484 w 932"/>
                  <a:gd name="T49" fmla="*/ 613 h 925"/>
                  <a:gd name="T50" fmla="*/ 425 w 932"/>
                  <a:gd name="T51" fmla="*/ 608 h 925"/>
                  <a:gd name="T52" fmla="*/ 386 w 932"/>
                  <a:gd name="T53" fmla="*/ 591 h 925"/>
                  <a:gd name="T54" fmla="*/ 328 w 932"/>
                  <a:gd name="T55" fmla="*/ 528 h 925"/>
                  <a:gd name="T56" fmla="*/ 316 w 932"/>
                  <a:gd name="T57" fmla="*/ 457 h 925"/>
                  <a:gd name="T58" fmla="*/ 332 w 932"/>
                  <a:gd name="T59" fmla="*/ 404 h 925"/>
                  <a:gd name="T60" fmla="*/ 442 w 932"/>
                  <a:gd name="T61" fmla="*/ 277 h 925"/>
                  <a:gd name="T62" fmla="*/ 555 w 932"/>
                  <a:gd name="T63" fmla="*/ 161 h 925"/>
                  <a:gd name="T64" fmla="*/ 649 w 932"/>
                  <a:gd name="T65" fmla="*/ 55 h 925"/>
                  <a:gd name="T66" fmla="*/ 643 w 932"/>
                  <a:gd name="T67" fmla="*/ 32 h 925"/>
                  <a:gd name="T68" fmla="*/ 598 w 932"/>
                  <a:gd name="T69" fmla="*/ 16 h 925"/>
                  <a:gd name="T70" fmla="*/ 450 w 932"/>
                  <a:gd name="T71" fmla="*/ 0 h 925"/>
                  <a:gd name="T72" fmla="*/ 346 w 932"/>
                  <a:gd name="T73" fmla="*/ 15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32" h="925">
                    <a:moveTo>
                      <a:pt x="346" y="15"/>
                    </a:moveTo>
                    <a:lnTo>
                      <a:pt x="308" y="27"/>
                    </a:lnTo>
                    <a:lnTo>
                      <a:pt x="237" y="59"/>
                    </a:lnTo>
                    <a:lnTo>
                      <a:pt x="174" y="102"/>
                    </a:lnTo>
                    <a:lnTo>
                      <a:pt x="119" y="154"/>
                    </a:lnTo>
                    <a:lnTo>
                      <a:pt x="73" y="214"/>
                    </a:lnTo>
                    <a:lnTo>
                      <a:pt x="38" y="281"/>
                    </a:lnTo>
                    <a:lnTo>
                      <a:pt x="13" y="353"/>
                    </a:lnTo>
                    <a:lnTo>
                      <a:pt x="1" y="430"/>
                    </a:lnTo>
                    <a:lnTo>
                      <a:pt x="0" y="470"/>
                    </a:lnTo>
                    <a:lnTo>
                      <a:pt x="0" y="490"/>
                    </a:lnTo>
                    <a:lnTo>
                      <a:pt x="5" y="532"/>
                    </a:lnTo>
                    <a:lnTo>
                      <a:pt x="21" y="596"/>
                    </a:lnTo>
                    <a:lnTo>
                      <a:pt x="57" y="681"/>
                    </a:lnTo>
                    <a:lnTo>
                      <a:pt x="107" y="756"/>
                    </a:lnTo>
                    <a:lnTo>
                      <a:pt x="136" y="787"/>
                    </a:lnTo>
                    <a:lnTo>
                      <a:pt x="174" y="821"/>
                    </a:lnTo>
                    <a:lnTo>
                      <a:pt x="249" y="874"/>
                    </a:lnTo>
                    <a:lnTo>
                      <a:pt x="309" y="900"/>
                    </a:lnTo>
                    <a:lnTo>
                      <a:pt x="351" y="913"/>
                    </a:lnTo>
                    <a:lnTo>
                      <a:pt x="417" y="924"/>
                    </a:lnTo>
                    <a:lnTo>
                      <a:pt x="466" y="925"/>
                    </a:lnTo>
                    <a:lnTo>
                      <a:pt x="495" y="924"/>
                    </a:lnTo>
                    <a:lnTo>
                      <a:pt x="550" y="918"/>
                    </a:lnTo>
                    <a:lnTo>
                      <a:pt x="603" y="905"/>
                    </a:lnTo>
                    <a:lnTo>
                      <a:pt x="654" y="886"/>
                    </a:lnTo>
                    <a:lnTo>
                      <a:pt x="701" y="862"/>
                    </a:lnTo>
                    <a:lnTo>
                      <a:pt x="745" y="833"/>
                    </a:lnTo>
                    <a:lnTo>
                      <a:pt x="785" y="799"/>
                    </a:lnTo>
                    <a:lnTo>
                      <a:pt x="821" y="762"/>
                    </a:lnTo>
                    <a:lnTo>
                      <a:pt x="852" y="721"/>
                    </a:lnTo>
                    <a:lnTo>
                      <a:pt x="879" y="676"/>
                    </a:lnTo>
                    <a:lnTo>
                      <a:pt x="901" y="629"/>
                    </a:lnTo>
                    <a:lnTo>
                      <a:pt x="917" y="579"/>
                    </a:lnTo>
                    <a:lnTo>
                      <a:pt x="928" y="527"/>
                    </a:lnTo>
                    <a:lnTo>
                      <a:pt x="932" y="474"/>
                    </a:lnTo>
                    <a:lnTo>
                      <a:pt x="930" y="419"/>
                    </a:lnTo>
                    <a:lnTo>
                      <a:pt x="922" y="364"/>
                    </a:lnTo>
                    <a:lnTo>
                      <a:pt x="915" y="337"/>
                    </a:lnTo>
                    <a:lnTo>
                      <a:pt x="908" y="312"/>
                    </a:lnTo>
                    <a:lnTo>
                      <a:pt x="892" y="279"/>
                    </a:lnTo>
                    <a:lnTo>
                      <a:pt x="886" y="275"/>
                    </a:lnTo>
                    <a:lnTo>
                      <a:pt x="873" y="284"/>
                    </a:lnTo>
                    <a:lnTo>
                      <a:pt x="785" y="366"/>
                    </a:lnTo>
                    <a:lnTo>
                      <a:pt x="725" y="427"/>
                    </a:lnTo>
                    <a:lnTo>
                      <a:pt x="662" y="489"/>
                    </a:lnTo>
                    <a:lnTo>
                      <a:pt x="590" y="555"/>
                    </a:lnTo>
                    <a:lnTo>
                      <a:pt x="550" y="584"/>
                    </a:lnTo>
                    <a:lnTo>
                      <a:pt x="515" y="604"/>
                    </a:lnTo>
                    <a:lnTo>
                      <a:pt x="484" y="613"/>
                    </a:lnTo>
                    <a:lnTo>
                      <a:pt x="455" y="614"/>
                    </a:lnTo>
                    <a:lnTo>
                      <a:pt x="425" y="608"/>
                    </a:lnTo>
                    <a:lnTo>
                      <a:pt x="410" y="602"/>
                    </a:lnTo>
                    <a:lnTo>
                      <a:pt x="386" y="591"/>
                    </a:lnTo>
                    <a:lnTo>
                      <a:pt x="350" y="563"/>
                    </a:lnTo>
                    <a:lnTo>
                      <a:pt x="328" y="528"/>
                    </a:lnTo>
                    <a:lnTo>
                      <a:pt x="317" y="484"/>
                    </a:lnTo>
                    <a:lnTo>
                      <a:pt x="316" y="457"/>
                    </a:lnTo>
                    <a:lnTo>
                      <a:pt x="317" y="440"/>
                    </a:lnTo>
                    <a:lnTo>
                      <a:pt x="332" y="404"/>
                    </a:lnTo>
                    <a:lnTo>
                      <a:pt x="370" y="354"/>
                    </a:lnTo>
                    <a:lnTo>
                      <a:pt x="442" y="277"/>
                    </a:lnTo>
                    <a:lnTo>
                      <a:pt x="495" y="223"/>
                    </a:lnTo>
                    <a:lnTo>
                      <a:pt x="555" y="161"/>
                    </a:lnTo>
                    <a:lnTo>
                      <a:pt x="627" y="85"/>
                    </a:lnTo>
                    <a:lnTo>
                      <a:pt x="649" y="55"/>
                    </a:lnTo>
                    <a:lnTo>
                      <a:pt x="652" y="43"/>
                    </a:lnTo>
                    <a:lnTo>
                      <a:pt x="643" y="32"/>
                    </a:lnTo>
                    <a:lnTo>
                      <a:pt x="628" y="27"/>
                    </a:lnTo>
                    <a:lnTo>
                      <a:pt x="598" y="16"/>
                    </a:lnTo>
                    <a:lnTo>
                      <a:pt x="526" y="3"/>
                    </a:lnTo>
                    <a:lnTo>
                      <a:pt x="450" y="0"/>
                    </a:lnTo>
                    <a:lnTo>
                      <a:pt x="378" y="7"/>
                    </a:lnTo>
                    <a:lnTo>
                      <a:pt x="34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algn="r" defTabSz="914400" rtl="1" eaLnBrk="1" latinLnBrk="0" hangingPunct="1"/>
                <a:endParaRPr lang="en-US"/>
              </a:p>
            </p:txBody>
          </p:sp>
        </p:grpSp>
      </p:grpSp>
    </p:spTree>
    <p:extLst>
      <p:ext uri="{BB962C8B-B14F-4D97-AF65-F5344CB8AC3E}">
        <p14:creationId xmlns:p14="http://schemas.microsoft.com/office/powerpoint/2010/main" val="11740835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SA" dirty="0"/>
              <a:t>ملخص الوضع الحالي</a:t>
            </a:r>
            <a:endParaRPr lang="en-US" dirty="0"/>
          </a:p>
        </p:txBody>
      </p:sp>
      <p:sp>
        <p:nvSpPr>
          <p:cNvPr id="4" name="Text Placeholder 3"/>
          <p:cNvSpPr>
            <a:spLocks noGrp="1"/>
          </p:cNvSpPr>
          <p:nvPr>
            <p:ph type="body" sz="quarter" idx="12"/>
          </p:nvPr>
        </p:nvSpPr>
        <p:spPr/>
        <p:txBody>
          <a:bodyPr/>
          <a:lstStyle/>
          <a:p>
            <a:r>
              <a:rPr lang="ar-EG" dirty="0"/>
              <a:t>01</a:t>
            </a:r>
            <a:endParaRPr lang="en-US" dirty="0"/>
          </a:p>
        </p:txBody>
      </p:sp>
      <p:sp>
        <p:nvSpPr>
          <p:cNvPr id="2" name="Text Placeholder 1">
            <a:extLst>
              <a:ext uri="{FF2B5EF4-FFF2-40B4-BE49-F238E27FC236}">
                <a16:creationId xmlns:a16="http://schemas.microsoft.com/office/drawing/2014/main" id="{256E742C-FD54-E193-BF94-1A1446226560}"/>
              </a:ext>
            </a:extLst>
          </p:cNvPr>
          <p:cNvSpPr>
            <a:spLocks noGrp="1"/>
          </p:cNvSpPr>
          <p:nvPr>
            <p:ph type="body" sz="quarter" idx="14"/>
          </p:nvPr>
        </p:nvSpPr>
        <p:spPr/>
        <p:txBody>
          <a:bodyPr/>
          <a:lstStyle/>
          <a:p>
            <a:r>
              <a:rPr lang="ar-SA" dirty="0"/>
              <a:t>02</a:t>
            </a:r>
            <a:endParaRPr lang="en-US" dirty="0"/>
          </a:p>
        </p:txBody>
      </p:sp>
    </p:spTree>
    <p:extLst>
      <p:ext uri="{BB962C8B-B14F-4D97-AF65-F5344CB8AC3E}">
        <p14:creationId xmlns:p14="http://schemas.microsoft.com/office/powerpoint/2010/main" val="390222306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D6BF-8047-3848-CE23-202BBF803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E4EAC-0129-4CD5-22A5-93D6EC0D7647}"/>
              </a:ext>
            </a:extLst>
          </p:cNvPr>
          <p:cNvSpPr>
            <a:spLocks noGrp="1"/>
          </p:cNvSpPr>
          <p:nvPr>
            <p:ph type="title"/>
          </p:nvPr>
        </p:nvSpPr>
        <p:spPr/>
        <p:txBody>
          <a:bodyPr/>
          <a:lstStyle/>
          <a:p>
            <a:r>
              <a:rPr lang="ar-SA" dirty="0">
                <a:latin typeface="+mn-lt"/>
              </a:rPr>
              <a:t>ملخص الوضع الحالي</a:t>
            </a:r>
            <a:endParaRPr lang="en-AE" dirty="0">
              <a:latin typeface="+mn-lt"/>
            </a:endParaRPr>
          </a:p>
        </p:txBody>
      </p:sp>
      <p:sp>
        <p:nvSpPr>
          <p:cNvPr id="45" name="Slide Number Placeholder 44">
            <a:extLst>
              <a:ext uri="{FF2B5EF4-FFF2-40B4-BE49-F238E27FC236}">
                <a16:creationId xmlns:a16="http://schemas.microsoft.com/office/drawing/2014/main" id="{48EA987A-A617-B1D8-2585-5736BBF1A066}"/>
              </a:ext>
            </a:extLst>
          </p:cNvPr>
          <p:cNvSpPr>
            <a:spLocks noGrp="1"/>
          </p:cNvSpPr>
          <p:nvPr>
            <p:ph type="sldNum" sz="quarter" idx="12"/>
          </p:nvPr>
        </p:nvSpPr>
        <p:spPr/>
        <p:txBody>
          <a:bodyPr/>
          <a:lstStyle/>
          <a:p>
            <a:pPr algn="r" rtl="1"/>
            <a:r>
              <a:rPr lang="en-US"/>
              <a:t>#</a:t>
            </a:r>
            <a:endParaRPr lang="en-US" dirty="0"/>
          </a:p>
        </p:txBody>
      </p:sp>
      <p:grpSp>
        <p:nvGrpSpPr>
          <p:cNvPr id="202" name="Group 201">
            <a:extLst>
              <a:ext uri="{FF2B5EF4-FFF2-40B4-BE49-F238E27FC236}">
                <a16:creationId xmlns:a16="http://schemas.microsoft.com/office/drawing/2014/main" id="{F0F64E4A-8AE5-DED0-9F80-D5A90EC969FA}"/>
              </a:ext>
            </a:extLst>
          </p:cNvPr>
          <p:cNvGrpSpPr/>
          <p:nvPr/>
        </p:nvGrpSpPr>
        <p:grpSpPr>
          <a:xfrm>
            <a:off x="910897" y="1167757"/>
            <a:ext cx="10553082" cy="543355"/>
            <a:chOff x="910897" y="1167757"/>
            <a:chExt cx="10553082" cy="543355"/>
          </a:xfrm>
        </p:grpSpPr>
        <p:grpSp>
          <p:nvGrpSpPr>
            <p:cNvPr id="65" name="Group 64">
              <a:extLst>
                <a:ext uri="{FF2B5EF4-FFF2-40B4-BE49-F238E27FC236}">
                  <a16:creationId xmlns:a16="http://schemas.microsoft.com/office/drawing/2014/main" id="{439D6D53-D03A-5797-F6DB-79947094D901}"/>
                </a:ext>
              </a:extLst>
            </p:cNvPr>
            <p:cNvGrpSpPr/>
            <p:nvPr/>
          </p:nvGrpSpPr>
          <p:grpSpPr>
            <a:xfrm>
              <a:off x="11154974" y="1327628"/>
              <a:ext cx="309005" cy="216000"/>
              <a:chOff x="4833908" y="763778"/>
              <a:chExt cx="6643795" cy="4323758"/>
            </a:xfrm>
          </p:grpSpPr>
          <p:grpSp>
            <p:nvGrpSpPr>
              <p:cNvPr id="66" name="Group 65">
                <a:extLst>
                  <a:ext uri="{FF2B5EF4-FFF2-40B4-BE49-F238E27FC236}">
                    <a16:creationId xmlns:a16="http://schemas.microsoft.com/office/drawing/2014/main" id="{4EDAE5B4-EFAF-AAD8-0E15-5FA34CFA719A}"/>
                  </a:ext>
                </a:extLst>
              </p:cNvPr>
              <p:cNvGrpSpPr/>
              <p:nvPr/>
            </p:nvGrpSpPr>
            <p:grpSpPr>
              <a:xfrm>
                <a:off x="9359901" y="1409068"/>
                <a:ext cx="2117802" cy="3633120"/>
                <a:chOff x="9359901" y="1409068"/>
                <a:chExt cx="2117802" cy="3633120"/>
              </a:xfrm>
            </p:grpSpPr>
            <p:sp>
              <p:nvSpPr>
                <p:cNvPr id="79" name="Decision 78">
                  <a:extLst>
                    <a:ext uri="{FF2B5EF4-FFF2-40B4-BE49-F238E27FC236}">
                      <a16:creationId xmlns:a16="http://schemas.microsoft.com/office/drawing/2014/main" id="{F436B021-2FC9-602F-CE96-FA8F9A679AD8}"/>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80" name="Decision 79">
                  <a:extLst>
                    <a:ext uri="{FF2B5EF4-FFF2-40B4-BE49-F238E27FC236}">
                      <a16:creationId xmlns:a16="http://schemas.microsoft.com/office/drawing/2014/main" id="{C80445E6-919A-9FF7-D399-FC61953EE931}"/>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81" name="Decision 80">
                  <a:extLst>
                    <a:ext uri="{FF2B5EF4-FFF2-40B4-BE49-F238E27FC236}">
                      <a16:creationId xmlns:a16="http://schemas.microsoft.com/office/drawing/2014/main" id="{9B0C57A1-7A6A-3724-37E0-F5AF7DB08D15}"/>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67" name="Decision 66">
                <a:extLst>
                  <a:ext uri="{FF2B5EF4-FFF2-40B4-BE49-F238E27FC236}">
                    <a16:creationId xmlns:a16="http://schemas.microsoft.com/office/drawing/2014/main" id="{9E36CB62-B45C-1D46-FB68-4E91098D06DE}"/>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68" name="Group 67">
                <a:extLst>
                  <a:ext uri="{FF2B5EF4-FFF2-40B4-BE49-F238E27FC236}">
                    <a16:creationId xmlns:a16="http://schemas.microsoft.com/office/drawing/2014/main" id="{7E612214-B68F-C355-69BE-D41BCD49EBB1}"/>
                  </a:ext>
                </a:extLst>
              </p:cNvPr>
              <p:cNvGrpSpPr/>
              <p:nvPr/>
            </p:nvGrpSpPr>
            <p:grpSpPr>
              <a:xfrm>
                <a:off x="8200175" y="763778"/>
                <a:ext cx="1032935" cy="3229447"/>
                <a:chOff x="8200175" y="763778"/>
                <a:chExt cx="1032935" cy="3229447"/>
              </a:xfrm>
            </p:grpSpPr>
            <p:sp>
              <p:nvSpPr>
                <p:cNvPr id="77" name="Decision 76">
                  <a:extLst>
                    <a:ext uri="{FF2B5EF4-FFF2-40B4-BE49-F238E27FC236}">
                      <a16:creationId xmlns:a16="http://schemas.microsoft.com/office/drawing/2014/main" id="{28078E48-90F3-BEDD-D99B-EC267B4179A9}"/>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78" name="Decision 77">
                  <a:extLst>
                    <a:ext uri="{FF2B5EF4-FFF2-40B4-BE49-F238E27FC236}">
                      <a16:creationId xmlns:a16="http://schemas.microsoft.com/office/drawing/2014/main" id="{C30387BC-8306-21E0-3BE7-9BEA78F8C12B}"/>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69" name="Group 68">
                <a:extLst>
                  <a:ext uri="{FF2B5EF4-FFF2-40B4-BE49-F238E27FC236}">
                    <a16:creationId xmlns:a16="http://schemas.microsoft.com/office/drawing/2014/main" id="{DAFA1E9E-E4CE-D45E-DC1C-F3BC2CFE19DD}"/>
                  </a:ext>
                </a:extLst>
              </p:cNvPr>
              <p:cNvGrpSpPr/>
              <p:nvPr/>
            </p:nvGrpSpPr>
            <p:grpSpPr>
              <a:xfrm>
                <a:off x="7068934" y="763778"/>
                <a:ext cx="1057892" cy="3229449"/>
                <a:chOff x="7068934" y="763778"/>
                <a:chExt cx="1057892" cy="3229449"/>
              </a:xfrm>
            </p:grpSpPr>
            <p:sp>
              <p:nvSpPr>
                <p:cNvPr id="75" name="Decision 74">
                  <a:extLst>
                    <a:ext uri="{FF2B5EF4-FFF2-40B4-BE49-F238E27FC236}">
                      <a16:creationId xmlns:a16="http://schemas.microsoft.com/office/drawing/2014/main" id="{1D941250-9353-4CE2-745A-2B72B7285257}"/>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76" name="Decision 75">
                  <a:extLst>
                    <a:ext uri="{FF2B5EF4-FFF2-40B4-BE49-F238E27FC236}">
                      <a16:creationId xmlns:a16="http://schemas.microsoft.com/office/drawing/2014/main" id="{7CF3A687-1D6E-612D-8070-976729DDBD23}"/>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70" name="Group 69">
                <a:extLst>
                  <a:ext uri="{FF2B5EF4-FFF2-40B4-BE49-F238E27FC236}">
                    <a16:creationId xmlns:a16="http://schemas.microsoft.com/office/drawing/2014/main" id="{0875FE82-8F27-B34C-1C98-415603476906}"/>
                  </a:ext>
                </a:extLst>
              </p:cNvPr>
              <p:cNvGrpSpPr/>
              <p:nvPr/>
            </p:nvGrpSpPr>
            <p:grpSpPr>
              <a:xfrm>
                <a:off x="4833908" y="1454416"/>
                <a:ext cx="2117803" cy="3633120"/>
                <a:chOff x="4833908" y="1454416"/>
                <a:chExt cx="2117803" cy="3633120"/>
              </a:xfrm>
            </p:grpSpPr>
            <p:sp>
              <p:nvSpPr>
                <p:cNvPr id="72" name="Decision 71">
                  <a:extLst>
                    <a:ext uri="{FF2B5EF4-FFF2-40B4-BE49-F238E27FC236}">
                      <a16:creationId xmlns:a16="http://schemas.microsoft.com/office/drawing/2014/main" id="{082090BE-9A1B-C365-B10C-4CDF1F6046F9}"/>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73" name="Decision 72">
                  <a:extLst>
                    <a:ext uri="{FF2B5EF4-FFF2-40B4-BE49-F238E27FC236}">
                      <a16:creationId xmlns:a16="http://schemas.microsoft.com/office/drawing/2014/main" id="{1AB7FF2F-4747-14FE-24FE-542FE1B7FBE2}"/>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74" name="Decision 73">
                  <a:extLst>
                    <a:ext uri="{FF2B5EF4-FFF2-40B4-BE49-F238E27FC236}">
                      <a16:creationId xmlns:a16="http://schemas.microsoft.com/office/drawing/2014/main" id="{438FCC3E-7E1E-8FE4-0A77-6E3FD941DAC2}"/>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71" name="Decision 70">
                <a:extLst>
                  <a:ext uri="{FF2B5EF4-FFF2-40B4-BE49-F238E27FC236}">
                    <a16:creationId xmlns:a16="http://schemas.microsoft.com/office/drawing/2014/main" id="{26D9DFA8-B952-47DF-0041-80B127B9669B}"/>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9" name="Freeform 8">
              <a:extLst>
                <a:ext uri="{FF2B5EF4-FFF2-40B4-BE49-F238E27FC236}">
                  <a16:creationId xmlns:a16="http://schemas.microsoft.com/office/drawing/2014/main" id="{0B545225-B9CA-A02F-01A5-4C7B909F37D7}"/>
                </a:ext>
              </a:extLst>
            </p:cNvPr>
            <p:cNvSpPr/>
            <p:nvPr/>
          </p:nvSpPr>
          <p:spPr>
            <a:xfrm>
              <a:off x="910897" y="1167757"/>
              <a:ext cx="10218668" cy="541868"/>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12" name="TextBox 11">
              <a:extLst>
                <a:ext uri="{FF2B5EF4-FFF2-40B4-BE49-F238E27FC236}">
                  <a16:creationId xmlns:a16="http://schemas.microsoft.com/office/drawing/2014/main" id="{DAA519C9-C4B5-0CA1-47F7-8FC0AF2AF5D2}"/>
                </a:ext>
              </a:extLst>
            </p:cNvPr>
            <p:cNvSpPr txBox="1"/>
            <p:nvPr/>
          </p:nvSpPr>
          <p:spPr>
            <a:xfrm>
              <a:off x="1058827" y="1298990"/>
              <a:ext cx="8031354" cy="307777"/>
            </a:xfrm>
            <a:prstGeom prst="rect">
              <a:avLst/>
            </a:prstGeom>
            <a:noFill/>
          </p:spPr>
          <p:txBody>
            <a:bodyPr wrap="square">
              <a:spAutoFit/>
            </a:bodyPr>
            <a:lstStyle/>
            <a:p>
              <a:pPr marL="0" algn="r" defTabSz="914400" rtl="1" eaLnBrk="1" latinLnBrk="0" hangingPunct="1"/>
              <a:r>
                <a:rPr lang="ar-AE" sz="1400" dirty="0"/>
                <a:t>توجد قواعد بيانات علائقية </a:t>
              </a:r>
              <a:r>
                <a:rPr lang="ar-SA" sz="1400" dirty="0"/>
                <a:t>و</a:t>
              </a:r>
              <a:r>
                <a:rPr lang="ar-AE" sz="1400" dirty="0"/>
                <a:t>غير علائقية وعدد كبير من النُسخ والإصدارات المختلفة.</a:t>
              </a:r>
              <a:endParaRPr lang="en-AE" sz="1400" dirty="0"/>
            </a:p>
          </p:txBody>
        </p:sp>
        <p:sp>
          <p:nvSpPr>
            <p:cNvPr id="16" name="Freeform 15">
              <a:extLst>
                <a:ext uri="{FF2B5EF4-FFF2-40B4-BE49-F238E27FC236}">
                  <a16:creationId xmlns:a16="http://schemas.microsoft.com/office/drawing/2014/main" id="{7A4B3E2B-8ECF-20B6-AFAD-3A702A7AB252}"/>
                </a:ext>
              </a:extLst>
            </p:cNvPr>
            <p:cNvSpPr/>
            <p:nvPr/>
          </p:nvSpPr>
          <p:spPr>
            <a:xfrm>
              <a:off x="9122487" y="1169244"/>
              <a:ext cx="2039320" cy="541868"/>
            </a:xfrm>
            <a:custGeom>
              <a:avLst/>
              <a:gdLst>
                <a:gd name="connsiteX0" fmla="*/ 0 w 1464277"/>
                <a:gd name="connsiteY0" fmla="*/ 0 h 541868"/>
                <a:gd name="connsiteX1" fmla="*/ 1258884 w 1464277"/>
                <a:gd name="connsiteY1" fmla="*/ 0 h 541868"/>
                <a:gd name="connsiteX2" fmla="*/ 1453901 w 1464277"/>
                <a:gd name="connsiteY2" fmla="*/ 79355 h 541868"/>
                <a:gd name="connsiteX3" fmla="*/ 1464277 w 1464277"/>
                <a:gd name="connsiteY3" fmla="*/ 94473 h 541868"/>
                <a:gd name="connsiteX4" fmla="*/ 1438001 w 1464277"/>
                <a:gd name="connsiteY4" fmla="*/ 141265 h 541868"/>
                <a:gd name="connsiteX5" fmla="*/ 1410916 w 1464277"/>
                <a:gd name="connsiteY5" fmla="*/ 270934 h 541868"/>
                <a:gd name="connsiteX6" fmla="*/ 1438001 w 1464277"/>
                <a:gd name="connsiteY6" fmla="*/ 400604 h 541868"/>
                <a:gd name="connsiteX7" fmla="*/ 1464277 w 1464277"/>
                <a:gd name="connsiteY7" fmla="*/ 447395 h 541868"/>
                <a:gd name="connsiteX8" fmla="*/ 1453900 w 1464277"/>
                <a:gd name="connsiteY8" fmla="*/ 462513 h 541868"/>
                <a:gd name="connsiteX9" fmla="*/ 1258883 w 1464277"/>
                <a:gd name="connsiteY9" fmla="*/ 541868 h 541868"/>
                <a:gd name="connsiteX10" fmla="*/ 0 w 1464277"/>
                <a:gd name="connsiteY10" fmla="*/ 541868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4277" h="541868">
                  <a:moveTo>
                    <a:pt x="0" y="0"/>
                  </a:moveTo>
                  <a:lnTo>
                    <a:pt x="1258884" y="0"/>
                  </a:lnTo>
                  <a:cubicBezTo>
                    <a:pt x="1335043" y="0"/>
                    <a:pt x="1403992" y="30325"/>
                    <a:pt x="1453901" y="79355"/>
                  </a:cubicBezTo>
                  <a:lnTo>
                    <a:pt x="1464277" y="94473"/>
                  </a:lnTo>
                  <a:lnTo>
                    <a:pt x="1438001" y="141265"/>
                  </a:lnTo>
                  <a:cubicBezTo>
                    <a:pt x="1420560" y="181120"/>
                    <a:pt x="1410916" y="224938"/>
                    <a:pt x="1410916" y="270934"/>
                  </a:cubicBezTo>
                  <a:cubicBezTo>
                    <a:pt x="1410916" y="316930"/>
                    <a:pt x="1420560" y="360748"/>
                    <a:pt x="1438001" y="400604"/>
                  </a:cubicBezTo>
                  <a:lnTo>
                    <a:pt x="1464277" y="447395"/>
                  </a:lnTo>
                  <a:lnTo>
                    <a:pt x="1453900" y="462513"/>
                  </a:lnTo>
                  <a:cubicBezTo>
                    <a:pt x="1403991" y="511543"/>
                    <a:pt x="1335041" y="541868"/>
                    <a:pt x="1258883" y="541868"/>
                  </a:cubicBezTo>
                  <a:lnTo>
                    <a:pt x="0" y="541868"/>
                  </a:lnTo>
                  <a:close/>
                </a:path>
              </a:pathLst>
            </a:cu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Ins="180000" rtlCol="0" anchor="ctr">
              <a:noAutofit/>
            </a:bodyPr>
            <a:lstStyle/>
            <a:p>
              <a:pPr algn="r" rtl="1"/>
              <a:r>
                <a:rPr lang="ar-AE" sz="1600" b="1" dirty="0"/>
                <a:t>تنوّع قواعد البيانات</a:t>
              </a:r>
              <a:r>
                <a:rPr lang="ar-AE" sz="1600" dirty="0"/>
                <a:t>:</a:t>
              </a:r>
            </a:p>
          </p:txBody>
        </p:sp>
      </p:grpSp>
      <p:grpSp>
        <p:nvGrpSpPr>
          <p:cNvPr id="203" name="Group 202">
            <a:extLst>
              <a:ext uri="{FF2B5EF4-FFF2-40B4-BE49-F238E27FC236}">
                <a16:creationId xmlns:a16="http://schemas.microsoft.com/office/drawing/2014/main" id="{9099BA04-D5B6-DCD3-A47C-65DEFFA18C30}"/>
              </a:ext>
            </a:extLst>
          </p:cNvPr>
          <p:cNvGrpSpPr/>
          <p:nvPr/>
        </p:nvGrpSpPr>
        <p:grpSpPr>
          <a:xfrm>
            <a:off x="910897" y="1783352"/>
            <a:ext cx="10553082" cy="543355"/>
            <a:chOff x="910897" y="1780179"/>
            <a:chExt cx="10553082" cy="543355"/>
          </a:xfrm>
        </p:grpSpPr>
        <p:grpSp>
          <p:nvGrpSpPr>
            <p:cNvPr id="19" name="Group 18">
              <a:extLst>
                <a:ext uri="{FF2B5EF4-FFF2-40B4-BE49-F238E27FC236}">
                  <a16:creationId xmlns:a16="http://schemas.microsoft.com/office/drawing/2014/main" id="{CD79E681-7335-E536-8FCC-6562C1674217}"/>
                </a:ext>
              </a:extLst>
            </p:cNvPr>
            <p:cNvGrpSpPr/>
            <p:nvPr/>
          </p:nvGrpSpPr>
          <p:grpSpPr>
            <a:xfrm>
              <a:off x="11154974" y="1940050"/>
              <a:ext cx="309005" cy="216000"/>
              <a:chOff x="4833908" y="763778"/>
              <a:chExt cx="6643795" cy="4323758"/>
            </a:xfrm>
          </p:grpSpPr>
          <p:grpSp>
            <p:nvGrpSpPr>
              <p:cNvPr id="23" name="Group 22">
                <a:extLst>
                  <a:ext uri="{FF2B5EF4-FFF2-40B4-BE49-F238E27FC236}">
                    <a16:creationId xmlns:a16="http://schemas.microsoft.com/office/drawing/2014/main" id="{74D84B78-F483-D274-33EF-96465C60422F}"/>
                  </a:ext>
                </a:extLst>
              </p:cNvPr>
              <p:cNvGrpSpPr/>
              <p:nvPr/>
            </p:nvGrpSpPr>
            <p:grpSpPr>
              <a:xfrm>
                <a:off x="9359901" y="1409068"/>
                <a:ext cx="2117802" cy="3633120"/>
                <a:chOff x="9359901" y="1409068"/>
                <a:chExt cx="2117802" cy="3633120"/>
              </a:xfrm>
            </p:grpSpPr>
            <p:sp>
              <p:nvSpPr>
                <p:cNvPr id="36" name="Decision 35">
                  <a:extLst>
                    <a:ext uri="{FF2B5EF4-FFF2-40B4-BE49-F238E27FC236}">
                      <a16:creationId xmlns:a16="http://schemas.microsoft.com/office/drawing/2014/main" id="{E7B5BD0D-E040-1519-A3EE-4C38F258A033}"/>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7" name="Decision 36">
                  <a:extLst>
                    <a:ext uri="{FF2B5EF4-FFF2-40B4-BE49-F238E27FC236}">
                      <a16:creationId xmlns:a16="http://schemas.microsoft.com/office/drawing/2014/main" id="{B99B259E-7217-5747-F7F6-D1F3D68009FE}"/>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8" name="Decision 37">
                  <a:extLst>
                    <a:ext uri="{FF2B5EF4-FFF2-40B4-BE49-F238E27FC236}">
                      <a16:creationId xmlns:a16="http://schemas.microsoft.com/office/drawing/2014/main" id="{BEC1A01A-9E31-DEF9-EE6B-5B1DD22D6E93}"/>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4" name="Decision 23">
                <a:extLst>
                  <a:ext uri="{FF2B5EF4-FFF2-40B4-BE49-F238E27FC236}">
                    <a16:creationId xmlns:a16="http://schemas.microsoft.com/office/drawing/2014/main" id="{3D4014A9-BD8C-3C1E-4B37-7736CF525090}"/>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25" name="Group 24">
                <a:extLst>
                  <a:ext uri="{FF2B5EF4-FFF2-40B4-BE49-F238E27FC236}">
                    <a16:creationId xmlns:a16="http://schemas.microsoft.com/office/drawing/2014/main" id="{9AA79C11-ADF0-454B-2AFA-E6B62EFF776B}"/>
                  </a:ext>
                </a:extLst>
              </p:cNvPr>
              <p:cNvGrpSpPr/>
              <p:nvPr/>
            </p:nvGrpSpPr>
            <p:grpSpPr>
              <a:xfrm>
                <a:off x="8200175" y="763778"/>
                <a:ext cx="1032935" cy="3229447"/>
                <a:chOff x="8200175" y="763778"/>
                <a:chExt cx="1032935" cy="3229447"/>
              </a:xfrm>
            </p:grpSpPr>
            <p:sp>
              <p:nvSpPr>
                <p:cNvPr id="34" name="Decision 33">
                  <a:extLst>
                    <a:ext uri="{FF2B5EF4-FFF2-40B4-BE49-F238E27FC236}">
                      <a16:creationId xmlns:a16="http://schemas.microsoft.com/office/drawing/2014/main" id="{47CE898B-DB54-2F84-E9FB-16EC79562868}"/>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5" name="Decision 34">
                  <a:extLst>
                    <a:ext uri="{FF2B5EF4-FFF2-40B4-BE49-F238E27FC236}">
                      <a16:creationId xmlns:a16="http://schemas.microsoft.com/office/drawing/2014/main" id="{4A2BB8FC-B7F2-2291-9145-102CADB3AB3F}"/>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26" name="Group 25">
                <a:extLst>
                  <a:ext uri="{FF2B5EF4-FFF2-40B4-BE49-F238E27FC236}">
                    <a16:creationId xmlns:a16="http://schemas.microsoft.com/office/drawing/2014/main" id="{F7DAADDF-1028-5400-4E74-93002FED4D63}"/>
                  </a:ext>
                </a:extLst>
              </p:cNvPr>
              <p:cNvGrpSpPr/>
              <p:nvPr/>
            </p:nvGrpSpPr>
            <p:grpSpPr>
              <a:xfrm>
                <a:off x="7068934" y="763778"/>
                <a:ext cx="1057892" cy="3229449"/>
                <a:chOff x="7068934" y="763778"/>
                <a:chExt cx="1057892" cy="3229449"/>
              </a:xfrm>
            </p:grpSpPr>
            <p:sp>
              <p:nvSpPr>
                <p:cNvPr id="32" name="Decision 31">
                  <a:extLst>
                    <a:ext uri="{FF2B5EF4-FFF2-40B4-BE49-F238E27FC236}">
                      <a16:creationId xmlns:a16="http://schemas.microsoft.com/office/drawing/2014/main" id="{F61C2B94-C662-0C32-162D-50FA30BE9BE5}"/>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3" name="Decision 32">
                  <a:extLst>
                    <a:ext uri="{FF2B5EF4-FFF2-40B4-BE49-F238E27FC236}">
                      <a16:creationId xmlns:a16="http://schemas.microsoft.com/office/drawing/2014/main" id="{7B0E6107-5086-383D-70FA-F3822A761F62}"/>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27" name="Group 26">
                <a:extLst>
                  <a:ext uri="{FF2B5EF4-FFF2-40B4-BE49-F238E27FC236}">
                    <a16:creationId xmlns:a16="http://schemas.microsoft.com/office/drawing/2014/main" id="{3506D68E-722F-0ABD-45C0-93CED5B9E553}"/>
                  </a:ext>
                </a:extLst>
              </p:cNvPr>
              <p:cNvGrpSpPr/>
              <p:nvPr/>
            </p:nvGrpSpPr>
            <p:grpSpPr>
              <a:xfrm>
                <a:off x="4833908" y="1454416"/>
                <a:ext cx="2117803" cy="3633120"/>
                <a:chOff x="4833908" y="1454416"/>
                <a:chExt cx="2117803" cy="3633120"/>
              </a:xfrm>
            </p:grpSpPr>
            <p:sp>
              <p:nvSpPr>
                <p:cNvPr id="29" name="Decision 28">
                  <a:extLst>
                    <a:ext uri="{FF2B5EF4-FFF2-40B4-BE49-F238E27FC236}">
                      <a16:creationId xmlns:a16="http://schemas.microsoft.com/office/drawing/2014/main" id="{20FD9B7C-8F7C-3415-BB02-A79DA13A5EB3}"/>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0" name="Decision 29">
                  <a:extLst>
                    <a:ext uri="{FF2B5EF4-FFF2-40B4-BE49-F238E27FC236}">
                      <a16:creationId xmlns:a16="http://schemas.microsoft.com/office/drawing/2014/main" id="{481F27F2-ECC3-7726-4608-46D03BAE1002}"/>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1" name="Decision 30">
                  <a:extLst>
                    <a:ext uri="{FF2B5EF4-FFF2-40B4-BE49-F238E27FC236}">
                      <a16:creationId xmlns:a16="http://schemas.microsoft.com/office/drawing/2014/main" id="{5A0FCCB9-5099-A957-A48B-1AC2F8546865}"/>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8" name="Decision 27">
                <a:extLst>
                  <a:ext uri="{FF2B5EF4-FFF2-40B4-BE49-F238E27FC236}">
                    <a16:creationId xmlns:a16="http://schemas.microsoft.com/office/drawing/2014/main" id="{BCAF4F32-9D6F-F7B6-F779-15C43CC9C9CB}"/>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0" name="Freeform 19">
              <a:extLst>
                <a:ext uri="{FF2B5EF4-FFF2-40B4-BE49-F238E27FC236}">
                  <a16:creationId xmlns:a16="http://schemas.microsoft.com/office/drawing/2014/main" id="{74B5AC8A-7CCA-8999-441B-898B32E061A4}"/>
                </a:ext>
              </a:extLst>
            </p:cNvPr>
            <p:cNvSpPr/>
            <p:nvPr/>
          </p:nvSpPr>
          <p:spPr>
            <a:xfrm>
              <a:off x="910897" y="1780179"/>
              <a:ext cx="10218668" cy="541868"/>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21" name="TextBox 20">
              <a:extLst>
                <a:ext uri="{FF2B5EF4-FFF2-40B4-BE49-F238E27FC236}">
                  <a16:creationId xmlns:a16="http://schemas.microsoft.com/office/drawing/2014/main" id="{A00E0CFF-291B-787E-904C-7CA7408DEF9D}"/>
                </a:ext>
              </a:extLst>
            </p:cNvPr>
            <p:cNvSpPr txBox="1"/>
            <p:nvPr/>
          </p:nvSpPr>
          <p:spPr>
            <a:xfrm>
              <a:off x="1058827" y="1911412"/>
              <a:ext cx="8031354" cy="307777"/>
            </a:xfrm>
            <a:prstGeom prst="rect">
              <a:avLst/>
            </a:prstGeom>
            <a:noFill/>
          </p:spPr>
          <p:txBody>
            <a:bodyPr wrap="square">
              <a:spAutoFit/>
            </a:bodyPr>
            <a:lstStyle/>
            <a:p>
              <a:pPr algn="r" rtl="1">
                <a:buNone/>
              </a:pPr>
              <a:r>
                <a:rPr lang="ar-AE" sz="1400" dirty="0"/>
                <a:t>كثير من الخزائن لا تملك خطط تعافٍ محدثة، ما يشكل خطرًا على استمرارية الأعمال.</a:t>
              </a:r>
            </a:p>
          </p:txBody>
        </p:sp>
        <p:sp>
          <p:nvSpPr>
            <p:cNvPr id="22" name="Freeform 21">
              <a:extLst>
                <a:ext uri="{FF2B5EF4-FFF2-40B4-BE49-F238E27FC236}">
                  <a16:creationId xmlns:a16="http://schemas.microsoft.com/office/drawing/2014/main" id="{96299F1C-95B6-385D-0DA6-041293B07771}"/>
                </a:ext>
              </a:extLst>
            </p:cNvPr>
            <p:cNvSpPr/>
            <p:nvPr/>
          </p:nvSpPr>
          <p:spPr>
            <a:xfrm>
              <a:off x="9122487" y="1781666"/>
              <a:ext cx="2039320" cy="541868"/>
            </a:xfrm>
            <a:custGeom>
              <a:avLst/>
              <a:gdLst>
                <a:gd name="connsiteX0" fmla="*/ 0 w 1464277"/>
                <a:gd name="connsiteY0" fmla="*/ 0 h 541868"/>
                <a:gd name="connsiteX1" fmla="*/ 1258884 w 1464277"/>
                <a:gd name="connsiteY1" fmla="*/ 0 h 541868"/>
                <a:gd name="connsiteX2" fmla="*/ 1453901 w 1464277"/>
                <a:gd name="connsiteY2" fmla="*/ 79355 h 541868"/>
                <a:gd name="connsiteX3" fmla="*/ 1464277 w 1464277"/>
                <a:gd name="connsiteY3" fmla="*/ 94473 h 541868"/>
                <a:gd name="connsiteX4" fmla="*/ 1438001 w 1464277"/>
                <a:gd name="connsiteY4" fmla="*/ 141265 h 541868"/>
                <a:gd name="connsiteX5" fmla="*/ 1410916 w 1464277"/>
                <a:gd name="connsiteY5" fmla="*/ 270934 h 541868"/>
                <a:gd name="connsiteX6" fmla="*/ 1438001 w 1464277"/>
                <a:gd name="connsiteY6" fmla="*/ 400604 h 541868"/>
                <a:gd name="connsiteX7" fmla="*/ 1464277 w 1464277"/>
                <a:gd name="connsiteY7" fmla="*/ 447395 h 541868"/>
                <a:gd name="connsiteX8" fmla="*/ 1453900 w 1464277"/>
                <a:gd name="connsiteY8" fmla="*/ 462513 h 541868"/>
                <a:gd name="connsiteX9" fmla="*/ 1258883 w 1464277"/>
                <a:gd name="connsiteY9" fmla="*/ 541868 h 541868"/>
                <a:gd name="connsiteX10" fmla="*/ 0 w 1464277"/>
                <a:gd name="connsiteY10" fmla="*/ 541868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4277" h="541868">
                  <a:moveTo>
                    <a:pt x="0" y="0"/>
                  </a:moveTo>
                  <a:lnTo>
                    <a:pt x="1258884" y="0"/>
                  </a:lnTo>
                  <a:cubicBezTo>
                    <a:pt x="1335043" y="0"/>
                    <a:pt x="1403992" y="30325"/>
                    <a:pt x="1453901" y="79355"/>
                  </a:cubicBezTo>
                  <a:lnTo>
                    <a:pt x="1464277" y="94473"/>
                  </a:lnTo>
                  <a:lnTo>
                    <a:pt x="1438001" y="141265"/>
                  </a:lnTo>
                  <a:cubicBezTo>
                    <a:pt x="1420560" y="181120"/>
                    <a:pt x="1410916" y="224938"/>
                    <a:pt x="1410916" y="270934"/>
                  </a:cubicBezTo>
                  <a:cubicBezTo>
                    <a:pt x="1410916" y="316930"/>
                    <a:pt x="1420560" y="360748"/>
                    <a:pt x="1438001" y="400604"/>
                  </a:cubicBezTo>
                  <a:lnTo>
                    <a:pt x="1464277" y="447395"/>
                  </a:lnTo>
                  <a:lnTo>
                    <a:pt x="1453900" y="462513"/>
                  </a:lnTo>
                  <a:cubicBezTo>
                    <a:pt x="1403991" y="511543"/>
                    <a:pt x="1335041" y="541868"/>
                    <a:pt x="1258883" y="541868"/>
                  </a:cubicBezTo>
                  <a:lnTo>
                    <a:pt x="0" y="541868"/>
                  </a:lnTo>
                  <a:close/>
                </a:path>
              </a:pathLst>
            </a:cu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Ins="180000" rtlCol="0" anchor="ctr">
              <a:noAutofit/>
            </a:bodyPr>
            <a:lstStyle/>
            <a:p>
              <a:pPr algn="r" rtl="1"/>
              <a:r>
                <a:rPr lang="ar-AE" sz="1600" b="1" dirty="0"/>
                <a:t>عدم اكتمال خطط التعافي من الكوارث:</a:t>
              </a:r>
              <a:endParaRPr lang="ar-AE" sz="1600" dirty="0"/>
            </a:p>
          </p:txBody>
        </p:sp>
      </p:grpSp>
      <p:grpSp>
        <p:nvGrpSpPr>
          <p:cNvPr id="204" name="Group 203">
            <a:extLst>
              <a:ext uri="{FF2B5EF4-FFF2-40B4-BE49-F238E27FC236}">
                <a16:creationId xmlns:a16="http://schemas.microsoft.com/office/drawing/2014/main" id="{3A908802-4C06-A577-9DA2-9BC9F8174D49}"/>
              </a:ext>
            </a:extLst>
          </p:cNvPr>
          <p:cNvGrpSpPr/>
          <p:nvPr/>
        </p:nvGrpSpPr>
        <p:grpSpPr>
          <a:xfrm>
            <a:off x="910897" y="2398947"/>
            <a:ext cx="10553082" cy="543355"/>
            <a:chOff x="910897" y="2392601"/>
            <a:chExt cx="10553082" cy="543355"/>
          </a:xfrm>
        </p:grpSpPr>
        <p:grpSp>
          <p:nvGrpSpPr>
            <p:cNvPr id="40" name="Group 39">
              <a:extLst>
                <a:ext uri="{FF2B5EF4-FFF2-40B4-BE49-F238E27FC236}">
                  <a16:creationId xmlns:a16="http://schemas.microsoft.com/office/drawing/2014/main" id="{5092511B-880E-5170-8AB9-8A2B176817E8}"/>
                </a:ext>
              </a:extLst>
            </p:cNvPr>
            <p:cNvGrpSpPr/>
            <p:nvPr/>
          </p:nvGrpSpPr>
          <p:grpSpPr>
            <a:xfrm>
              <a:off x="11154974" y="2552472"/>
              <a:ext cx="309005" cy="216000"/>
              <a:chOff x="4833908" y="763778"/>
              <a:chExt cx="6643795" cy="4323758"/>
            </a:xfrm>
          </p:grpSpPr>
          <p:grpSp>
            <p:nvGrpSpPr>
              <p:cNvPr id="44" name="Group 43">
                <a:extLst>
                  <a:ext uri="{FF2B5EF4-FFF2-40B4-BE49-F238E27FC236}">
                    <a16:creationId xmlns:a16="http://schemas.microsoft.com/office/drawing/2014/main" id="{D1541820-BE2D-24EA-29CE-8CFD5DD238EF}"/>
                  </a:ext>
                </a:extLst>
              </p:cNvPr>
              <p:cNvGrpSpPr/>
              <p:nvPr/>
            </p:nvGrpSpPr>
            <p:grpSpPr>
              <a:xfrm>
                <a:off x="9359901" y="1409068"/>
                <a:ext cx="2117802" cy="3633120"/>
                <a:chOff x="9359901" y="1409068"/>
                <a:chExt cx="2117802" cy="3633120"/>
              </a:xfrm>
            </p:grpSpPr>
            <p:sp>
              <p:nvSpPr>
                <p:cNvPr id="92" name="Decision 91">
                  <a:extLst>
                    <a:ext uri="{FF2B5EF4-FFF2-40B4-BE49-F238E27FC236}">
                      <a16:creationId xmlns:a16="http://schemas.microsoft.com/office/drawing/2014/main" id="{68C72DBF-439E-3575-C1DF-B2667D6345EC}"/>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93" name="Decision 92">
                  <a:extLst>
                    <a:ext uri="{FF2B5EF4-FFF2-40B4-BE49-F238E27FC236}">
                      <a16:creationId xmlns:a16="http://schemas.microsoft.com/office/drawing/2014/main" id="{DBC809A3-71FC-8AC4-31F7-5CEDDB8B0A28}"/>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94" name="Decision 93">
                  <a:extLst>
                    <a:ext uri="{FF2B5EF4-FFF2-40B4-BE49-F238E27FC236}">
                      <a16:creationId xmlns:a16="http://schemas.microsoft.com/office/drawing/2014/main" id="{48C42E51-2B56-BE02-3843-9EEDF11DBA0E}"/>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46" name="Decision 45">
                <a:extLst>
                  <a:ext uri="{FF2B5EF4-FFF2-40B4-BE49-F238E27FC236}">
                    <a16:creationId xmlns:a16="http://schemas.microsoft.com/office/drawing/2014/main" id="{E01C8872-B309-F322-836C-D12ADE4CECC5}"/>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59" name="Group 58">
                <a:extLst>
                  <a:ext uri="{FF2B5EF4-FFF2-40B4-BE49-F238E27FC236}">
                    <a16:creationId xmlns:a16="http://schemas.microsoft.com/office/drawing/2014/main" id="{3791B5DA-0985-5B44-0591-CC8658361ADF}"/>
                  </a:ext>
                </a:extLst>
              </p:cNvPr>
              <p:cNvGrpSpPr/>
              <p:nvPr/>
            </p:nvGrpSpPr>
            <p:grpSpPr>
              <a:xfrm>
                <a:off x="8200175" y="763778"/>
                <a:ext cx="1032935" cy="3229447"/>
                <a:chOff x="8200175" y="763778"/>
                <a:chExt cx="1032935" cy="3229447"/>
              </a:xfrm>
            </p:grpSpPr>
            <p:sp>
              <p:nvSpPr>
                <p:cNvPr id="90" name="Decision 89">
                  <a:extLst>
                    <a:ext uri="{FF2B5EF4-FFF2-40B4-BE49-F238E27FC236}">
                      <a16:creationId xmlns:a16="http://schemas.microsoft.com/office/drawing/2014/main" id="{3D9761F5-44D2-9C77-6BB3-A20456BFAE75}"/>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91" name="Decision 90">
                  <a:extLst>
                    <a:ext uri="{FF2B5EF4-FFF2-40B4-BE49-F238E27FC236}">
                      <a16:creationId xmlns:a16="http://schemas.microsoft.com/office/drawing/2014/main" id="{6BC2A8FE-6EC5-6E9A-F9D5-32BD884DC5C8}"/>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82" name="Group 81">
                <a:extLst>
                  <a:ext uri="{FF2B5EF4-FFF2-40B4-BE49-F238E27FC236}">
                    <a16:creationId xmlns:a16="http://schemas.microsoft.com/office/drawing/2014/main" id="{5BB0FF6B-996D-DF05-C06A-03D2F16D5DE5}"/>
                  </a:ext>
                </a:extLst>
              </p:cNvPr>
              <p:cNvGrpSpPr/>
              <p:nvPr/>
            </p:nvGrpSpPr>
            <p:grpSpPr>
              <a:xfrm>
                <a:off x="7068934" y="763778"/>
                <a:ext cx="1057892" cy="3229449"/>
                <a:chOff x="7068934" y="763778"/>
                <a:chExt cx="1057892" cy="3229449"/>
              </a:xfrm>
            </p:grpSpPr>
            <p:sp>
              <p:nvSpPr>
                <p:cNvPr id="88" name="Decision 87">
                  <a:extLst>
                    <a:ext uri="{FF2B5EF4-FFF2-40B4-BE49-F238E27FC236}">
                      <a16:creationId xmlns:a16="http://schemas.microsoft.com/office/drawing/2014/main" id="{E5A2FE69-2CF5-514C-33CC-696C4B2A4DF9}"/>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89" name="Decision 88">
                  <a:extLst>
                    <a:ext uri="{FF2B5EF4-FFF2-40B4-BE49-F238E27FC236}">
                      <a16:creationId xmlns:a16="http://schemas.microsoft.com/office/drawing/2014/main" id="{CF67FBE8-37E0-ABAD-0160-350A30CD5BC6}"/>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83" name="Group 82">
                <a:extLst>
                  <a:ext uri="{FF2B5EF4-FFF2-40B4-BE49-F238E27FC236}">
                    <a16:creationId xmlns:a16="http://schemas.microsoft.com/office/drawing/2014/main" id="{2D2774E4-FDB8-523C-581A-6CFAF85E32C4}"/>
                  </a:ext>
                </a:extLst>
              </p:cNvPr>
              <p:cNvGrpSpPr/>
              <p:nvPr/>
            </p:nvGrpSpPr>
            <p:grpSpPr>
              <a:xfrm>
                <a:off x="4833908" y="1454416"/>
                <a:ext cx="2117803" cy="3633120"/>
                <a:chOff x="4833908" y="1454416"/>
                <a:chExt cx="2117803" cy="3633120"/>
              </a:xfrm>
            </p:grpSpPr>
            <p:sp>
              <p:nvSpPr>
                <p:cNvPr id="85" name="Decision 84">
                  <a:extLst>
                    <a:ext uri="{FF2B5EF4-FFF2-40B4-BE49-F238E27FC236}">
                      <a16:creationId xmlns:a16="http://schemas.microsoft.com/office/drawing/2014/main" id="{3E08F15C-950A-B875-1183-6FD8B2772AC3}"/>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86" name="Decision 85">
                  <a:extLst>
                    <a:ext uri="{FF2B5EF4-FFF2-40B4-BE49-F238E27FC236}">
                      <a16:creationId xmlns:a16="http://schemas.microsoft.com/office/drawing/2014/main" id="{64419CDE-2ED2-FA95-AFA8-4C3870175E24}"/>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87" name="Decision 86">
                  <a:extLst>
                    <a:ext uri="{FF2B5EF4-FFF2-40B4-BE49-F238E27FC236}">
                      <a16:creationId xmlns:a16="http://schemas.microsoft.com/office/drawing/2014/main" id="{93BBA891-9F7A-081E-30A1-A23AF400FCF2}"/>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84" name="Decision 83">
                <a:extLst>
                  <a:ext uri="{FF2B5EF4-FFF2-40B4-BE49-F238E27FC236}">
                    <a16:creationId xmlns:a16="http://schemas.microsoft.com/office/drawing/2014/main" id="{577ED133-86D5-47DF-9F08-1014D6841978}"/>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41" name="Freeform 40">
              <a:extLst>
                <a:ext uri="{FF2B5EF4-FFF2-40B4-BE49-F238E27FC236}">
                  <a16:creationId xmlns:a16="http://schemas.microsoft.com/office/drawing/2014/main" id="{F02E49BD-241B-7B8B-E578-0EC02552CEAC}"/>
                </a:ext>
              </a:extLst>
            </p:cNvPr>
            <p:cNvSpPr/>
            <p:nvPr/>
          </p:nvSpPr>
          <p:spPr>
            <a:xfrm>
              <a:off x="910897" y="2392601"/>
              <a:ext cx="10218668" cy="541868"/>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42" name="TextBox 41">
              <a:extLst>
                <a:ext uri="{FF2B5EF4-FFF2-40B4-BE49-F238E27FC236}">
                  <a16:creationId xmlns:a16="http://schemas.microsoft.com/office/drawing/2014/main" id="{055B18F9-2269-D885-B71D-5932B45E1A88}"/>
                </a:ext>
              </a:extLst>
            </p:cNvPr>
            <p:cNvSpPr txBox="1"/>
            <p:nvPr/>
          </p:nvSpPr>
          <p:spPr>
            <a:xfrm>
              <a:off x="1058827" y="2523834"/>
              <a:ext cx="8031354" cy="307777"/>
            </a:xfrm>
            <a:prstGeom prst="rect">
              <a:avLst/>
            </a:prstGeom>
            <a:noFill/>
          </p:spPr>
          <p:txBody>
            <a:bodyPr wrap="square">
              <a:spAutoFit/>
            </a:bodyPr>
            <a:lstStyle/>
            <a:p>
              <a:pPr algn="r" rtl="1">
                <a:buNone/>
              </a:pPr>
              <a:r>
                <a:rPr lang="ar-AE" sz="1400" dirty="0"/>
                <a:t>:لا يوجد دليل شامل وموثّق يعرّف كل الكيانات والعلاقات ومواقع التخزين.</a:t>
              </a:r>
            </a:p>
          </p:txBody>
        </p:sp>
        <p:sp>
          <p:nvSpPr>
            <p:cNvPr id="43" name="Freeform 42">
              <a:extLst>
                <a:ext uri="{FF2B5EF4-FFF2-40B4-BE49-F238E27FC236}">
                  <a16:creationId xmlns:a16="http://schemas.microsoft.com/office/drawing/2014/main" id="{62B45845-B8D4-258A-7329-020E8E0BA8D5}"/>
                </a:ext>
              </a:extLst>
            </p:cNvPr>
            <p:cNvSpPr/>
            <p:nvPr/>
          </p:nvSpPr>
          <p:spPr>
            <a:xfrm>
              <a:off x="9122487" y="2394088"/>
              <a:ext cx="2039320" cy="541868"/>
            </a:xfrm>
            <a:custGeom>
              <a:avLst/>
              <a:gdLst>
                <a:gd name="connsiteX0" fmla="*/ 0 w 1464277"/>
                <a:gd name="connsiteY0" fmla="*/ 0 h 541868"/>
                <a:gd name="connsiteX1" fmla="*/ 1258884 w 1464277"/>
                <a:gd name="connsiteY1" fmla="*/ 0 h 541868"/>
                <a:gd name="connsiteX2" fmla="*/ 1453901 w 1464277"/>
                <a:gd name="connsiteY2" fmla="*/ 79355 h 541868"/>
                <a:gd name="connsiteX3" fmla="*/ 1464277 w 1464277"/>
                <a:gd name="connsiteY3" fmla="*/ 94473 h 541868"/>
                <a:gd name="connsiteX4" fmla="*/ 1438001 w 1464277"/>
                <a:gd name="connsiteY4" fmla="*/ 141265 h 541868"/>
                <a:gd name="connsiteX5" fmla="*/ 1410916 w 1464277"/>
                <a:gd name="connsiteY5" fmla="*/ 270934 h 541868"/>
                <a:gd name="connsiteX6" fmla="*/ 1438001 w 1464277"/>
                <a:gd name="connsiteY6" fmla="*/ 400604 h 541868"/>
                <a:gd name="connsiteX7" fmla="*/ 1464277 w 1464277"/>
                <a:gd name="connsiteY7" fmla="*/ 447395 h 541868"/>
                <a:gd name="connsiteX8" fmla="*/ 1453900 w 1464277"/>
                <a:gd name="connsiteY8" fmla="*/ 462513 h 541868"/>
                <a:gd name="connsiteX9" fmla="*/ 1258883 w 1464277"/>
                <a:gd name="connsiteY9" fmla="*/ 541868 h 541868"/>
                <a:gd name="connsiteX10" fmla="*/ 0 w 1464277"/>
                <a:gd name="connsiteY10" fmla="*/ 541868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4277" h="541868">
                  <a:moveTo>
                    <a:pt x="0" y="0"/>
                  </a:moveTo>
                  <a:lnTo>
                    <a:pt x="1258884" y="0"/>
                  </a:lnTo>
                  <a:cubicBezTo>
                    <a:pt x="1335043" y="0"/>
                    <a:pt x="1403992" y="30325"/>
                    <a:pt x="1453901" y="79355"/>
                  </a:cubicBezTo>
                  <a:lnTo>
                    <a:pt x="1464277" y="94473"/>
                  </a:lnTo>
                  <a:lnTo>
                    <a:pt x="1438001" y="141265"/>
                  </a:lnTo>
                  <a:cubicBezTo>
                    <a:pt x="1420560" y="181120"/>
                    <a:pt x="1410916" y="224938"/>
                    <a:pt x="1410916" y="270934"/>
                  </a:cubicBezTo>
                  <a:cubicBezTo>
                    <a:pt x="1410916" y="316930"/>
                    <a:pt x="1420560" y="360748"/>
                    <a:pt x="1438001" y="400604"/>
                  </a:cubicBezTo>
                  <a:lnTo>
                    <a:pt x="1464277" y="447395"/>
                  </a:lnTo>
                  <a:lnTo>
                    <a:pt x="1453900" y="462513"/>
                  </a:lnTo>
                  <a:cubicBezTo>
                    <a:pt x="1403991" y="511543"/>
                    <a:pt x="1335041" y="541868"/>
                    <a:pt x="1258883" y="541868"/>
                  </a:cubicBezTo>
                  <a:lnTo>
                    <a:pt x="0" y="541868"/>
                  </a:lnTo>
                  <a:close/>
                </a:path>
              </a:pathLst>
            </a:cu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Ins="180000" rtlCol="0" anchor="ctr">
              <a:noAutofit/>
            </a:bodyPr>
            <a:lstStyle/>
            <a:p>
              <a:pPr algn="r" rtl="1"/>
              <a:r>
                <a:rPr lang="ar-AE" sz="1600" b="1" dirty="0"/>
                <a:t>غياب دليل موحّد للبيانات:</a:t>
              </a:r>
              <a:endParaRPr lang="ar-AE" sz="1600" dirty="0"/>
            </a:p>
          </p:txBody>
        </p:sp>
      </p:grpSp>
      <p:grpSp>
        <p:nvGrpSpPr>
          <p:cNvPr id="205" name="Group 204">
            <a:extLst>
              <a:ext uri="{FF2B5EF4-FFF2-40B4-BE49-F238E27FC236}">
                <a16:creationId xmlns:a16="http://schemas.microsoft.com/office/drawing/2014/main" id="{E7349D7D-5608-CE38-3C1F-513253FD49B6}"/>
              </a:ext>
            </a:extLst>
          </p:cNvPr>
          <p:cNvGrpSpPr/>
          <p:nvPr/>
        </p:nvGrpSpPr>
        <p:grpSpPr>
          <a:xfrm>
            <a:off x="910897" y="3014542"/>
            <a:ext cx="10553082" cy="543355"/>
            <a:chOff x="910897" y="3005023"/>
            <a:chExt cx="10553082" cy="543355"/>
          </a:xfrm>
        </p:grpSpPr>
        <p:grpSp>
          <p:nvGrpSpPr>
            <p:cNvPr id="96" name="Group 95">
              <a:extLst>
                <a:ext uri="{FF2B5EF4-FFF2-40B4-BE49-F238E27FC236}">
                  <a16:creationId xmlns:a16="http://schemas.microsoft.com/office/drawing/2014/main" id="{4043A702-67A1-413B-F05A-1B8A056E86AD}"/>
                </a:ext>
              </a:extLst>
            </p:cNvPr>
            <p:cNvGrpSpPr/>
            <p:nvPr/>
          </p:nvGrpSpPr>
          <p:grpSpPr>
            <a:xfrm>
              <a:off x="11154974" y="3164894"/>
              <a:ext cx="309005" cy="216000"/>
              <a:chOff x="4833908" y="763778"/>
              <a:chExt cx="6643795" cy="4323758"/>
            </a:xfrm>
          </p:grpSpPr>
          <p:grpSp>
            <p:nvGrpSpPr>
              <p:cNvPr id="100" name="Group 99">
                <a:extLst>
                  <a:ext uri="{FF2B5EF4-FFF2-40B4-BE49-F238E27FC236}">
                    <a16:creationId xmlns:a16="http://schemas.microsoft.com/office/drawing/2014/main" id="{74B14647-D9AA-6BF4-1D40-911F0E55108A}"/>
                  </a:ext>
                </a:extLst>
              </p:cNvPr>
              <p:cNvGrpSpPr/>
              <p:nvPr/>
            </p:nvGrpSpPr>
            <p:grpSpPr>
              <a:xfrm>
                <a:off x="9359901" y="1409068"/>
                <a:ext cx="2117802" cy="3633120"/>
                <a:chOff x="9359901" y="1409068"/>
                <a:chExt cx="2117802" cy="3633120"/>
              </a:xfrm>
            </p:grpSpPr>
            <p:sp>
              <p:nvSpPr>
                <p:cNvPr id="113" name="Decision 112">
                  <a:extLst>
                    <a:ext uri="{FF2B5EF4-FFF2-40B4-BE49-F238E27FC236}">
                      <a16:creationId xmlns:a16="http://schemas.microsoft.com/office/drawing/2014/main" id="{9AB5FDD3-863F-6D02-0F6D-846C0F4CB032}"/>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4" name="Decision 113">
                  <a:extLst>
                    <a:ext uri="{FF2B5EF4-FFF2-40B4-BE49-F238E27FC236}">
                      <a16:creationId xmlns:a16="http://schemas.microsoft.com/office/drawing/2014/main" id="{A0AFB003-5F45-413B-4AE1-41762442E6BD}"/>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5" name="Decision 114">
                  <a:extLst>
                    <a:ext uri="{FF2B5EF4-FFF2-40B4-BE49-F238E27FC236}">
                      <a16:creationId xmlns:a16="http://schemas.microsoft.com/office/drawing/2014/main" id="{39FDC0A8-A1CE-E6DD-3866-1FAF88404CDB}"/>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01" name="Decision 100">
                <a:extLst>
                  <a:ext uri="{FF2B5EF4-FFF2-40B4-BE49-F238E27FC236}">
                    <a16:creationId xmlns:a16="http://schemas.microsoft.com/office/drawing/2014/main" id="{D327E7D8-1E9D-748C-90A6-914CE3F57807}"/>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02" name="Group 101">
                <a:extLst>
                  <a:ext uri="{FF2B5EF4-FFF2-40B4-BE49-F238E27FC236}">
                    <a16:creationId xmlns:a16="http://schemas.microsoft.com/office/drawing/2014/main" id="{2367314B-D8C7-FE26-AF93-477E59D2103F}"/>
                  </a:ext>
                </a:extLst>
              </p:cNvPr>
              <p:cNvGrpSpPr/>
              <p:nvPr/>
            </p:nvGrpSpPr>
            <p:grpSpPr>
              <a:xfrm>
                <a:off x="8200175" y="763778"/>
                <a:ext cx="1032935" cy="3229447"/>
                <a:chOff x="8200175" y="763778"/>
                <a:chExt cx="1032935" cy="3229447"/>
              </a:xfrm>
            </p:grpSpPr>
            <p:sp>
              <p:nvSpPr>
                <p:cNvPr id="111" name="Decision 110">
                  <a:extLst>
                    <a:ext uri="{FF2B5EF4-FFF2-40B4-BE49-F238E27FC236}">
                      <a16:creationId xmlns:a16="http://schemas.microsoft.com/office/drawing/2014/main" id="{4124300E-C4D8-DF29-910E-23A495445070}"/>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2" name="Decision 111">
                  <a:extLst>
                    <a:ext uri="{FF2B5EF4-FFF2-40B4-BE49-F238E27FC236}">
                      <a16:creationId xmlns:a16="http://schemas.microsoft.com/office/drawing/2014/main" id="{F2883F83-9F51-8498-37D6-ACC2C326B13D}"/>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03" name="Group 102">
                <a:extLst>
                  <a:ext uri="{FF2B5EF4-FFF2-40B4-BE49-F238E27FC236}">
                    <a16:creationId xmlns:a16="http://schemas.microsoft.com/office/drawing/2014/main" id="{70013F3E-64FA-1781-4613-9F26B5E92C4F}"/>
                  </a:ext>
                </a:extLst>
              </p:cNvPr>
              <p:cNvGrpSpPr/>
              <p:nvPr/>
            </p:nvGrpSpPr>
            <p:grpSpPr>
              <a:xfrm>
                <a:off x="7068934" y="763778"/>
                <a:ext cx="1057892" cy="3229449"/>
                <a:chOff x="7068934" y="763778"/>
                <a:chExt cx="1057892" cy="3229449"/>
              </a:xfrm>
            </p:grpSpPr>
            <p:sp>
              <p:nvSpPr>
                <p:cNvPr id="109" name="Decision 108">
                  <a:extLst>
                    <a:ext uri="{FF2B5EF4-FFF2-40B4-BE49-F238E27FC236}">
                      <a16:creationId xmlns:a16="http://schemas.microsoft.com/office/drawing/2014/main" id="{AC9605CB-F2A0-4CB0-68B7-C296A8C89844}"/>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0" name="Decision 109">
                  <a:extLst>
                    <a:ext uri="{FF2B5EF4-FFF2-40B4-BE49-F238E27FC236}">
                      <a16:creationId xmlns:a16="http://schemas.microsoft.com/office/drawing/2014/main" id="{9752E9CC-8249-8173-F255-2124FD04FAB3}"/>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04" name="Group 103">
                <a:extLst>
                  <a:ext uri="{FF2B5EF4-FFF2-40B4-BE49-F238E27FC236}">
                    <a16:creationId xmlns:a16="http://schemas.microsoft.com/office/drawing/2014/main" id="{263A9A6F-E65E-3135-F169-6B10161DA1DD}"/>
                  </a:ext>
                </a:extLst>
              </p:cNvPr>
              <p:cNvGrpSpPr/>
              <p:nvPr/>
            </p:nvGrpSpPr>
            <p:grpSpPr>
              <a:xfrm>
                <a:off x="4833908" y="1454416"/>
                <a:ext cx="2117803" cy="3633120"/>
                <a:chOff x="4833908" y="1454416"/>
                <a:chExt cx="2117803" cy="3633120"/>
              </a:xfrm>
            </p:grpSpPr>
            <p:sp>
              <p:nvSpPr>
                <p:cNvPr id="106" name="Decision 105">
                  <a:extLst>
                    <a:ext uri="{FF2B5EF4-FFF2-40B4-BE49-F238E27FC236}">
                      <a16:creationId xmlns:a16="http://schemas.microsoft.com/office/drawing/2014/main" id="{7E3EE27B-8386-459F-8B38-0AB52730A0E3}"/>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07" name="Decision 106">
                  <a:extLst>
                    <a:ext uri="{FF2B5EF4-FFF2-40B4-BE49-F238E27FC236}">
                      <a16:creationId xmlns:a16="http://schemas.microsoft.com/office/drawing/2014/main" id="{82A92088-78B3-7FD2-9DA1-FB1DA958C88F}"/>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08" name="Decision 107">
                  <a:extLst>
                    <a:ext uri="{FF2B5EF4-FFF2-40B4-BE49-F238E27FC236}">
                      <a16:creationId xmlns:a16="http://schemas.microsoft.com/office/drawing/2014/main" id="{3B8A13B4-24A2-1D26-1DEB-6641084D923D}"/>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05" name="Decision 104">
                <a:extLst>
                  <a:ext uri="{FF2B5EF4-FFF2-40B4-BE49-F238E27FC236}">
                    <a16:creationId xmlns:a16="http://schemas.microsoft.com/office/drawing/2014/main" id="{CD552977-0A08-1D02-30A2-934474C7A70A}"/>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97" name="Freeform 96">
              <a:extLst>
                <a:ext uri="{FF2B5EF4-FFF2-40B4-BE49-F238E27FC236}">
                  <a16:creationId xmlns:a16="http://schemas.microsoft.com/office/drawing/2014/main" id="{AE81EC10-C98A-D761-11A8-F7703D593377}"/>
                </a:ext>
              </a:extLst>
            </p:cNvPr>
            <p:cNvSpPr/>
            <p:nvPr/>
          </p:nvSpPr>
          <p:spPr>
            <a:xfrm>
              <a:off x="910897" y="3005023"/>
              <a:ext cx="10218668" cy="541868"/>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98" name="TextBox 97">
              <a:extLst>
                <a:ext uri="{FF2B5EF4-FFF2-40B4-BE49-F238E27FC236}">
                  <a16:creationId xmlns:a16="http://schemas.microsoft.com/office/drawing/2014/main" id="{16FB824E-C3A7-A834-4E04-79B2E2445933}"/>
                </a:ext>
              </a:extLst>
            </p:cNvPr>
            <p:cNvSpPr txBox="1"/>
            <p:nvPr/>
          </p:nvSpPr>
          <p:spPr>
            <a:xfrm>
              <a:off x="1058827" y="3136256"/>
              <a:ext cx="8031354" cy="307777"/>
            </a:xfrm>
            <a:prstGeom prst="rect">
              <a:avLst/>
            </a:prstGeom>
            <a:noFill/>
          </p:spPr>
          <p:txBody>
            <a:bodyPr wrap="square">
              <a:spAutoFit/>
            </a:bodyPr>
            <a:lstStyle/>
            <a:p>
              <a:pPr algn="r" rtl="1">
                <a:buNone/>
              </a:pPr>
              <a:r>
                <a:rPr lang="ar-AE" sz="1400" dirty="0"/>
                <a:t>تتم الإشارة إلى وجود تصنيف (سري للغاية، سري، مقيد، عام)، لكن دون وجود آلية مؤسسية متكاملة أو واضحة لتطبيق هذا التصنيف على كل الكيانات.</a:t>
              </a:r>
            </a:p>
          </p:txBody>
        </p:sp>
        <p:sp>
          <p:nvSpPr>
            <p:cNvPr id="99" name="Freeform 98">
              <a:extLst>
                <a:ext uri="{FF2B5EF4-FFF2-40B4-BE49-F238E27FC236}">
                  <a16:creationId xmlns:a16="http://schemas.microsoft.com/office/drawing/2014/main" id="{E67CCB5F-45F9-BA71-0ACE-3DC8652D475E}"/>
                </a:ext>
              </a:extLst>
            </p:cNvPr>
            <p:cNvSpPr/>
            <p:nvPr/>
          </p:nvSpPr>
          <p:spPr>
            <a:xfrm>
              <a:off x="9122487" y="3006510"/>
              <a:ext cx="2039320" cy="541868"/>
            </a:xfrm>
            <a:custGeom>
              <a:avLst/>
              <a:gdLst>
                <a:gd name="connsiteX0" fmla="*/ 0 w 1464277"/>
                <a:gd name="connsiteY0" fmla="*/ 0 h 541868"/>
                <a:gd name="connsiteX1" fmla="*/ 1258884 w 1464277"/>
                <a:gd name="connsiteY1" fmla="*/ 0 h 541868"/>
                <a:gd name="connsiteX2" fmla="*/ 1453901 w 1464277"/>
                <a:gd name="connsiteY2" fmla="*/ 79355 h 541868"/>
                <a:gd name="connsiteX3" fmla="*/ 1464277 w 1464277"/>
                <a:gd name="connsiteY3" fmla="*/ 94473 h 541868"/>
                <a:gd name="connsiteX4" fmla="*/ 1438001 w 1464277"/>
                <a:gd name="connsiteY4" fmla="*/ 141265 h 541868"/>
                <a:gd name="connsiteX5" fmla="*/ 1410916 w 1464277"/>
                <a:gd name="connsiteY5" fmla="*/ 270934 h 541868"/>
                <a:gd name="connsiteX6" fmla="*/ 1438001 w 1464277"/>
                <a:gd name="connsiteY6" fmla="*/ 400604 h 541868"/>
                <a:gd name="connsiteX7" fmla="*/ 1464277 w 1464277"/>
                <a:gd name="connsiteY7" fmla="*/ 447395 h 541868"/>
                <a:gd name="connsiteX8" fmla="*/ 1453900 w 1464277"/>
                <a:gd name="connsiteY8" fmla="*/ 462513 h 541868"/>
                <a:gd name="connsiteX9" fmla="*/ 1258883 w 1464277"/>
                <a:gd name="connsiteY9" fmla="*/ 541868 h 541868"/>
                <a:gd name="connsiteX10" fmla="*/ 0 w 1464277"/>
                <a:gd name="connsiteY10" fmla="*/ 541868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4277" h="541868">
                  <a:moveTo>
                    <a:pt x="0" y="0"/>
                  </a:moveTo>
                  <a:lnTo>
                    <a:pt x="1258884" y="0"/>
                  </a:lnTo>
                  <a:cubicBezTo>
                    <a:pt x="1335043" y="0"/>
                    <a:pt x="1403992" y="30325"/>
                    <a:pt x="1453901" y="79355"/>
                  </a:cubicBezTo>
                  <a:lnTo>
                    <a:pt x="1464277" y="94473"/>
                  </a:lnTo>
                  <a:lnTo>
                    <a:pt x="1438001" y="141265"/>
                  </a:lnTo>
                  <a:cubicBezTo>
                    <a:pt x="1420560" y="181120"/>
                    <a:pt x="1410916" y="224938"/>
                    <a:pt x="1410916" y="270934"/>
                  </a:cubicBezTo>
                  <a:cubicBezTo>
                    <a:pt x="1410916" y="316930"/>
                    <a:pt x="1420560" y="360748"/>
                    <a:pt x="1438001" y="400604"/>
                  </a:cubicBezTo>
                  <a:lnTo>
                    <a:pt x="1464277" y="447395"/>
                  </a:lnTo>
                  <a:lnTo>
                    <a:pt x="1453900" y="462513"/>
                  </a:lnTo>
                  <a:cubicBezTo>
                    <a:pt x="1403991" y="511543"/>
                    <a:pt x="1335041" y="541868"/>
                    <a:pt x="1258883" y="541868"/>
                  </a:cubicBezTo>
                  <a:lnTo>
                    <a:pt x="0" y="541868"/>
                  </a:lnTo>
                  <a:close/>
                </a:path>
              </a:pathLst>
            </a:cu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Ins="180000" rtlCol="0" anchor="ctr">
              <a:noAutofit/>
            </a:bodyPr>
            <a:lstStyle/>
            <a:p>
              <a:pPr algn="r" rtl="1"/>
              <a:r>
                <a:rPr lang="ar-AE" sz="1600" b="1" dirty="0"/>
                <a:t>تصنيف البيانات</a:t>
              </a:r>
              <a:r>
                <a:rPr lang="ar-AE" sz="1600" dirty="0"/>
                <a:t>:</a:t>
              </a:r>
            </a:p>
          </p:txBody>
        </p:sp>
      </p:grpSp>
      <p:grpSp>
        <p:nvGrpSpPr>
          <p:cNvPr id="206" name="Group 205">
            <a:extLst>
              <a:ext uri="{FF2B5EF4-FFF2-40B4-BE49-F238E27FC236}">
                <a16:creationId xmlns:a16="http://schemas.microsoft.com/office/drawing/2014/main" id="{345E22AF-B816-34CB-72CE-4A39C1AED3E1}"/>
              </a:ext>
            </a:extLst>
          </p:cNvPr>
          <p:cNvGrpSpPr/>
          <p:nvPr/>
        </p:nvGrpSpPr>
        <p:grpSpPr>
          <a:xfrm>
            <a:off x="910897" y="3630137"/>
            <a:ext cx="10553082" cy="543355"/>
            <a:chOff x="910897" y="3626348"/>
            <a:chExt cx="10553082" cy="543355"/>
          </a:xfrm>
        </p:grpSpPr>
        <p:grpSp>
          <p:nvGrpSpPr>
            <p:cNvPr id="117" name="Group 116">
              <a:extLst>
                <a:ext uri="{FF2B5EF4-FFF2-40B4-BE49-F238E27FC236}">
                  <a16:creationId xmlns:a16="http://schemas.microsoft.com/office/drawing/2014/main" id="{58377156-F22F-09B9-EA1C-1F4FDBB696A6}"/>
                </a:ext>
              </a:extLst>
            </p:cNvPr>
            <p:cNvGrpSpPr/>
            <p:nvPr/>
          </p:nvGrpSpPr>
          <p:grpSpPr>
            <a:xfrm>
              <a:off x="11154974" y="3786219"/>
              <a:ext cx="309005" cy="216000"/>
              <a:chOff x="4833908" y="763778"/>
              <a:chExt cx="6643795" cy="4323758"/>
            </a:xfrm>
          </p:grpSpPr>
          <p:grpSp>
            <p:nvGrpSpPr>
              <p:cNvPr id="121" name="Group 120">
                <a:extLst>
                  <a:ext uri="{FF2B5EF4-FFF2-40B4-BE49-F238E27FC236}">
                    <a16:creationId xmlns:a16="http://schemas.microsoft.com/office/drawing/2014/main" id="{ABE6B82C-E8D9-47A0-F072-EFDBBB9508EC}"/>
                  </a:ext>
                </a:extLst>
              </p:cNvPr>
              <p:cNvGrpSpPr/>
              <p:nvPr/>
            </p:nvGrpSpPr>
            <p:grpSpPr>
              <a:xfrm>
                <a:off x="9359901" y="1409068"/>
                <a:ext cx="2117802" cy="3633120"/>
                <a:chOff x="9359901" y="1409068"/>
                <a:chExt cx="2117802" cy="3633120"/>
              </a:xfrm>
            </p:grpSpPr>
            <p:sp>
              <p:nvSpPr>
                <p:cNvPr id="134" name="Decision 133">
                  <a:extLst>
                    <a:ext uri="{FF2B5EF4-FFF2-40B4-BE49-F238E27FC236}">
                      <a16:creationId xmlns:a16="http://schemas.microsoft.com/office/drawing/2014/main" id="{4025C9F8-B1AD-CC18-C3D3-749F92977CC5}"/>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5" name="Decision 134">
                  <a:extLst>
                    <a:ext uri="{FF2B5EF4-FFF2-40B4-BE49-F238E27FC236}">
                      <a16:creationId xmlns:a16="http://schemas.microsoft.com/office/drawing/2014/main" id="{ED9D4837-DF6A-76B9-7F2B-D728C36053CB}"/>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6" name="Decision 135">
                  <a:extLst>
                    <a:ext uri="{FF2B5EF4-FFF2-40B4-BE49-F238E27FC236}">
                      <a16:creationId xmlns:a16="http://schemas.microsoft.com/office/drawing/2014/main" id="{C3D85EAF-79FF-E658-3AE0-C28EB122C656}"/>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22" name="Decision 121">
                <a:extLst>
                  <a:ext uri="{FF2B5EF4-FFF2-40B4-BE49-F238E27FC236}">
                    <a16:creationId xmlns:a16="http://schemas.microsoft.com/office/drawing/2014/main" id="{01893E37-7CD1-B7DF-154B-1323AFD312F4}"/>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23" name="Group 122">
                <a:extLst>
                  <a:ext uri="{FF2B5EF4-FFF2-40B4-BE49-F238E27FC236}">
                    <a16:creationId xmlns:a16="http://schemas.microsoft.com/office/drawing/2014/main" id="{9DD15B4F-B7E3-CA74-1410-D8FEC0AD9616}"/>
                  </a:ext>
                </a:extLst>
              </p:cNvPr>
              <p:cNvGrpSpPr/>
              <p:nvPr/>
            </p:nvGrpSpPr>
            <p:grpSpPr>
              <a:xfrm>
                <a:off x="8200175" y="763778"/>
                <a:ext cx="1032935" cy="3229447"/>
                <a:chOff x="8200175" y="763778"/>
                <a:chExt cx="1032935" cy="3229447"/>
              </a:xfrm>
            </p:grpSpPr>
            <p:sp>
              <p:nvSpPr>
                <p:cNvPr id="132" name="Decision 131">
                  <a:extLst>
                    <a:ext uri="{FF2B5EF4-FFF2-40B4-BE49-F238E27FC236}">
                      <a16:creationId xmlns:a16="http://schemas.microsoft.com/office/drawing/2014/main" id="{A69701FD-4E09-201F-4D4B-F9CFB2F04806}"/>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3" name="Decision 132">
                  <a:extLst>
                    <a:ext uri="{FF2B5EF4-FFF2-40B4-BE49-F238E27FC236}">
                      <a16:creationId xmlns:a16="http://schemas.microsoft.com/office/drawing/2014/main" id="{D50622E2-F62F-1AA3-7ACD-BD62A40CE16E}"/>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24" name="Group 123">
                <a:extLst>
                  <a:ext uri="{FF2B5EF4-FFF2-40B4-BE49-F238E27FC236}">
                    <a16:creationId xmlns:a16="http://schemas.microsoft.com/office/drawing/2014/main" id="{0C7B6783-C231-7A6B-B2D0-BD5513A94A20}"/>
                  </a:ext>
                </a:extLst>
              </p:cNvPr>
              <p:cNvGrpSpPr/>
              <p:nvPr/>
            </p:nvGrpSpPr>
            <p:grpSpPr>
              <a:xfrm>
                <a:off x="7068934" y="763778"/>
                <a:ext cx="1057892" cy="3229449"/>
                <a:chOff x="7068934" y="763778"/>
                <a:chExt cx="1057892" cy="3229449"/>
              </a:xfrm>
            </p:grpSpPr>
            <p:sp>
              <p:nvSpPr>
                <p:cNvPr id="130" name="Decision 129">
                  <a:extLst>
                    <a:ext uri="{FF2B5EF4-FFF2-40B4-BE49-F238E27FC236}">
                      <a16:creationId xmlns:a16="http://schemas.microsoft.com/office/drawing/2014/main" id="{F86711FD-08DE-89D4-E146-84817C7213E0}"/>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1" name="Decision 130">
                  <a:extLst>
                    <a:ext uri="{FF2B5EF4-FFF2-40B4-BE49-F238E27FC236}">
                      <a16:creationId xmlns:a16="http://schemas.microsoft.com/office/drawing/2014/main" id="{28A5884D-04C9-AE62-2CFE-04054AA40F21}"/>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25" name="Group 124">
                <a:extLst>
                  <a:ext uri="{FF2B5EF4-FFF2-40B4-BE49-F238E27FC236}">
                    <a16:creationId xmlns:a16="http://schemas.microsoft.com/office/drawing/2014/main" id="{2536251F-C199-BC8D-D61F-A7BC667E8AE3}"/>
                  </a:ext>
                </a:extLst>
              </p:cNvPr>
              <p:cNvGrpSpPr/>
              <p:nvPr/>
            </p:nvGrpSpPr>
            <p:grpSpPr>
              <a:xfrm>
                <a:off x="4833908" y="1454416"/>
                <a:ext cx="2117803" cy="3633120"/>
                <a:chOff x="4833908" y="1454416"/>
                <a:chExt cx="2117803" cy="3633120"/>
              </a:xfrm>
            </p:grpSpPr>
            <p:sp>
              <p:nvSpPr>
                <p:cNvPr id="127" name="Decision 126">
                  <a:extLst>
                    <a:ext uri="{FF2B5EF4-FFF2-40B4-BE49-F238E27FC236}">
                      <a16:creationId xmlns:a16="http://schemas.microsoft.com/office/drawing/2014/main" id="{78D46BC9-4A16-E7B9-8B19-4AA42D0814C4}"/>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28" name="Decision 127">
                  <a:extLst>
                    <a:ext uri="{FF2B5EF4-FFF2-40B4-BE49-F238E27FC236}">
                      <a16:creationId xmlns:a16="http://schemas.microsoft.com/office/drawing/2014/main" id="{17F37032-FDFC-8675-8493-23EAE8557806}"/>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29" name="Decision 128">
                  <a:extLst>
                    <a:ext uri="{FF2B5EF4-FFF2-40B4-BE49-F238E27FC236}">
                      <a16:creationId xmlns:a16="http://schemas.microsoft.com/office/drawing/2014/main" id="{3BF3B322-941A-DDDD-A37A-36F53E1C6A9F}"/>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26" name="Decision 125">
                <a:extLst>
                  <a:ext uri="{FF2B5EF4-FFF2-40B4-BE49-F238E27FC236}">
                    <a16:creationId xmlns:a16="http://schemas.microsoft.com/office/drawing/2014/main" id="{243A1C84-B4AA-15C9-0E6E-8C94C3DC2C4C}"/>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18" name="Freeform 117">
              <a:extLst>
                <a:ext uri="{FF2B5EF4-FFF2-40B4-BE49-F238E27FC236}">
                  <a16:creationId xmlns:a16="http://schemas.microsoft.com/office/drawing/2014/main" id="{F48BA5D9-DB3B-2DDC-C944-54055DCB83B3}"/>
                </a:ext>
              </a:extLst>
            </p:cNvPr>
            <p:cNvSpPr/>
            <p:nvPr/>
          </p:nvSpPr>
          <p:spPr>
            <a:xfrm>
              <a:off x="910897" y="3626348"/>
              <a:ext cx="10218668" cy="541868"/>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119" name="TextBox 118">
              <a:extLst>
                <a:ext uri="{FF2B5EF4-FFF2-40B4-BE49-F238E27FC236}">
                  <a16:creationId xmlns:a16="http://schemas.microsoft.com/office/drawing/2014/main" id="{8755C122-DC81-7BD4-8CE2-07C4C8C146B8}"/>
                </a:ext>
              </a:extLst>
            </p:cNvPr>
            <p:cNvSpPr txBox="1"/>
            <p:nvPr/>
          </p:nvSpPr>
          <p:spPr>
            <a:xfrm>
              <a:off x="1058827" y="3757581"/>
              <a:ext cx="8031354" cy="307777"/>
            </a:xfrm>
            <a:prstGeom prst="rect">
              <a:avLst/>
            </a:prstGeom>
            <a:noFill/>
          </p:spPr>
          <p:txBody>
            <a:bodyPr wrap="square">
              <a:spAutoFit/>
            </a:bodyPr>
            <a:lstStyle/>
            <a:p>
              <a:pPr algn="r" rtl="1">
                <a:buNone/>
              </a:pPr>
              <a:r>
                <a:rPr lang="ar-AE" sz="1400" dirty="0"/>
                <a:t>هناك مؤشرات جزئية لسياسات الحوكمة (مثل حوكمة جزئية للأمن السيبراني وجودة البيانات)، لكنها غير مكتملة أو موحّدة.</a:t>
              </a:r>
            </a:p>
          </p:txBody>
        </p:sp>
        <p:sp>
          <p:nvSpPr>
            <p:cNvPr id="120" name="Freeform 119">
              <a:extLst>
                <a:ext uri="{FF2B5EF4-FFF2-40B4-BE49-F238E27FC236}">
                  <a16:creationId xmlns:a16="http://schemas.microsoft.com/office/drawing/2014/main" id="{C0230038-C378-24F9-E2E9-B7B3C785C95C}"/>
                </a:ext>
              </a:extLst>
            </p:cNvPr>
            <p:cNvSpPr/>
            <p:nvPr/>
          </p:nvSpPr>
          <p:spPr>
            <a:xfrm>
              <a:off x="9122487" y="3627835"/>
              <a:ext cx="2039320" cy="541868"/>
            </a:xfrm>
            <a:custGeom>
              <a:avLst/>
              <a:gdLst>
                <a:gd name="connsiteX0" fmla="*/ 0 w 1464277"/>
                <a:gd name="connsiteY0" fmla="*/ 0 h 541868"/>
                <a:gd name="connsiteX1" fmla="*/ 1258884 w 1464277"/>
                <a:gd name="connsiteY1" fmla="*/ 0 h 541868"/>
                <a:gd name="connsiteX2" fmla="*/ 1453901 w 1464277"/>
                <a:gd name="connsiteY2" fmla="*/ 79355 h 541868"/>
                <a:gd name="connsiteX3" fmla="*/ 1464277 w 1464277"/>
                <a:gd name="connsiteY3" fmla="*/ 94473 h 541868"/>
                <a:gd name="connsiteX4" fmla="*/ 1438001 w 1464277"/>
                <a:gd name="connsiteY4" fmla="*/ 141265 h 541868"/>
                <a:gd name="connsiteX5" fmla="*/ 1410916 w 1464277"/>
                <a:gd name="connsiteY5" fmla="*/ 270934 h 541868"/>
                <a:gd name="connsiteX6" fmla="*/ 1438001 w 1464277"/>
                <a:gd name="connsiteY6" fmla="*/ 400604 h 541868"/>
                <a:gd name="connsiteX7" fmla="*/ 1464277 w 1464277"/>
                <a:gd name="connsiteY7" fmla="*/ 447395 h 541868"/>
                <a:gd name="connsiteX8" fmla="*/ 1453900 w 1464277"/>
                <a:gd name="connsiteY8" fmla="*/ 462513 h 541868"/>
                <a:gd name="connsiteX9" fmla="*/ 1258883 w 1464277"/>
                <a:gd name="connsiteY9" fmla="*/ 541868 h 541868"/>
                <a:gd name="connsiteX10" fmla="*/ 0 w 1464277"/>
                <a:gd name="connsiteY10" fmla="*/ 541868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4277" h="541868">
                  <a:moveTo>
                    <a:pt x="0" y="0"/>
                  </a:moveTo>
                  <a:lnTo>
                    <a:pt x="1258884" y="0"/>
                  </a:lnTo>
                  <a:cubicBezTo>
                    <a:pt x="1335043" y="0"/>
                    <a:pt x="1403992" y="30325"/>
                    <a:pt x="1453901" y="79355"/>
                  </a:cubicBezTo>
                  <a:lnTo>
                    <a:pt x="1464277" y="94473"/>
                  </a:lnTo>
                  <a:lnTo>
                    <a:pt x="1438001" y="141265"/>
                  </a:lnTo>
                  <a:cubicBezTo>
                    <a:pt x="1420560" y="181120"/>
                    <a:pt x="1410916" y="224938"/>
                    <a:pt x="1410916" y="270934"/>
                  </a:cubicBezTo>
                  <a:cubicBezTo>
                    <a:pt x="1410916" y="316930"/>
                    <a:pt x="1420560" y="360748"/>
                    <a:pt x="1438001" y="400604"/>
                  </a:cubicBezTo>
                  <a:lnTo>
                    <a:pt x="1464277" y="447395"/>
                  </a:lnTo>
                  <a:lnTo>
                    <a:pt x="1453900" y="462513"/>
                  </a:lnTo>
                  <a:cubicBezTo>
                    <a:pt x="1403991" y="511543"/>
                    <a:pt x="1335041" y="541868"/>
                    <a:pt x="1258883" y="541868"/>
                  </a:cubicBezTo>
                  <a:lnTo>
                    <a:pt x="0" y="541868"/>
                  </a:lnTo>
                  <a:close/>
                </a:path>
              </a:pathLst>
            </a:cu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Ins="180000" rtlCol="0" anchor="ctr">
              <a:noAutofit/>
            </a:bodyPr>
            <a:lstStyle/>
            <a:p>
              <a:pPr algn="r" rtl="1"/>
              <a:r>
                <a:rPr lang="ar-AE" sz="1600" b="1" dirty="0"/>
                <a:t>غياب سياسات حوكمة بيانات شاملة</a:t>
              </a:r>
              <a:r>
                <a:rPr lang="ar-AE" sz="1600" dirty="0"/>
                <a:t>:</a:t>
              </a:r>
            </a:p>
          </p:txBody>
        </p:sp>
      </p:grpSp>
      <p:grpSp>
        <p:nvGrpSpPr>
          <p:cNvPr id="207" name="Group 206">
            <a:extLst>
              <a:ext uri="{FF2B5EF4-FFF2-40B4-BE49-F238E27FC236}">
                <a16:creationId xmlns:a16="http://schemas.microsoft.com/office/drawing/2014/main" id="{C59AD389-FD3D-B6A3-BDB3-D62E8394DE6F}"/>
              </a:ext>
            </a:extLst>
          </p:cNvPr>
          <p:cNvGrpSpPr/>
          <p:nvPr/>
        </p:nvGrpSpPr>
        <p:grpSpPr>
          <a:xfrm>
            <a:off x="910897" y="4245732"/>
            <a:ext cx="10553082" cy="543355"/>
            <a:chOff x="910897" y="4246950"/>
            <a:chExt cx="10553082" cy="543355"/>
          </a:xfrm>
        </p:grpSpPr>
        <p:grpSp>
          <p:nvGrpSpPr>
            <p:cNvPr id="138" name="Group 137">
              <a:extLst>
                <a:ext uri="{FF2B5EF4-FFF2-40B4-BE49-F238E27FC236}">
                  <a16:creationId xmlns:a16="http://schemas.microsoft.com/office/drawing/2014/main" id="{5012D984-C39D-3655-3920-53654681F182}"/>
                </a:ext>
              </a:extLst>
            </p:cNvPr>
            <p:cNvGrpSpPr/>
            <p:nvPr/>
          </p:nvGrpSpPr>
          <p:grpSpPr>
            <a:xfrm>
              <a:off x="11154974" y="4406821"/>
              <a:ext cx="309005" cy="216000"/>
              <a:chOff x="4833908" y="763778"/>
              <a:chExt cx="6643795" cy="4323758"/>
            </a:xfrm>
          </p:grpSpPr>
          <p:grpSp>
            <p:nvGrpSpPr>
              <p:cNvPr id="142" name="Group 141">
                <a:extLst>
                  <a:ext uri="{FF2B5EF4-FFF2-40B4-BE49-F238E27FC236}">
                    <a16:creationId xmlns:a16="http://schemas.microsoft.com/office/drawing/2014/main" id="{A1C36050-5256-BD56-0ADD-75F58099914A}"/>
                  </a:ext>
                </a:extLst>
              </p:cNvPr>
              <p:cNvGrpSpPr/>
              <p:nvPr/>
            </p:nvGrpSpPr>
            <p:grpSpPr>
              <a:xfrm>
                <a:off x="9359901" y="1409068"/>
                <a:ext cx="2117802" cy="3633120"/>
                <a:chOff x="9359901" y="1409068"/>
                <a:chExt cx="2117802" cy="3633120"/>
              </a:xfrm>
            </p:grpSpPr>
            <p:sp>
              <p:nvSpPr>
                <p:cNvPr id="155" name="Decision 154">
                  <a:extLst>
                    <a:ext uri="{FF2B5EF4-FFF2-40B4-BE49-F238E27FC236}">
                      <a16:creationId xmlns:a16="http://schemas.microsoft.com/office/drawing/2014/main" id="{9BBF5E3F-98EF-ED39-C8CE-23B207D681B0}"/>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56" name="Decision 155">
                  <a:extLst>
                    <a:ext uri="{FF2B5EF4-FFF2-40B4-BE49-F238E27FC236}">
                      <a16:creationId xmlns:a16="http://schemas.microsoft.com/office/drawing/2014/main" id="{6317E2DA-871D-7BCE-B363-CB75AEB7C942}"/>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57" name="Decision 156">
                  <a:extLst>
                    <a:ext uri="{FF2B5EF4-FFF2-40B4-BE49-F238E27FC236}">
                      <a16:creationId xmlns:a16="http://schemas.microsoft.com/office/drawing/2014/main" id="{84BDE854-CCD7-3F33-8A67-8C00280ACC13}"/>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43" name="Decision 142">
                <a:extLst>
                  <a:ext uri="{FF2B5EF4-FFF2-40B4-BE49-F238E27FC236}">
                    <a16:creationId xmlns:a16="http://schemas.microsoft.com/office/drawing/2014/main" id="{C8674292-AFF4-243E-9D69-B29F7FC29367}"/>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44" name="Group 143">
                <a:extLst>
                  <a:ext uri="{FF2B5EF4-FFF2-40B4-BE49-F238E27FC236}">
                    <a16:creationId xmlns:a16="http://schemas.microsoft.com/office/drawing/2014/main" id="{279928EB-6842-E810-046A-AC512A813F18}"/>
                  </a:ext>
                </a:extLst>
              </p:cNvPr>
              <p:cNvGrpSpPr/>
              <p:nvPr/>
            </p:nvGrpSpPr>
            <p:grpSpPr>
              <a:xfrm>
                <a:off x="8200175" y="763778"/>
                <a:ext cx="1032935" cy="3229447"/>
                <a:chOff x="8200175" y="763778"/>
                <a:chExt cx="1032935" cy="3229447"/>
              </a:xfrm>
            </p:grpSpPr>
            <p:sp>
              <p:nvSpPr>
                <p:cNvPr id="153" name="Decision 152">
                  <a:extLst>
                    <a:ext uri="{FF2B5EF4-FFF2-40B4-BE49-F238E27FC236}">
                      <a16:creationId xmlns:a16="http://schemas.microsoft.com/office/drawing/2014/main" id="{432D3C5E-5CC8-2467-B987-F2EA43869910}"/>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54" name="Decision 153">
                  <a:extLst>
                    <a:ext uri="{FF2B5EF4-FFF2-40B4-BE49-F238E27FC236}">
                      <a16:creationId xmlns:a16="http://schemas.microsoft.com/office/drawing/2014/main" id="{028A3443-A4E9-6EE3-E76E-88A85D1A8178}"/>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45" name="Group 144">
                <a:extLst>
                  <a:ext uri="{FF2B5EF4-FFF2-40B4-BE49-F238E27FC236}">
                    <a16:creationId xmlns:a16="http://schemas.microsoft.com/office/drawing/2014/main" id="{3C348BD1-BE05-4E52-76B2-E6A4C28C3054}"/>
                  </a:ext>
                </a:extLst>
              </p:cNvPr>
              <p:cNvGrpSpPr/>
              <p:nvPr/>
            </p:nvGrpSpPr>
            <p:grpSpPr>
              <a:xfrm>
                <a:off x="7068934" y="763778"/>
                <a:ext cx="1057892" cy="3229449"/>
                <a:chOff x="7068934" y="763778"/>
                <a:chExt cx="1057892" cy="3229449"/>
              </a:xfrm>
            </p:grpSpPr>
            <p:sp>
              <p:nvSpPr>
                <p:cNvPr id="151" name="Decision 150">
                  <a:extLst>
                    <a:ext uri="{FF2B5EF4-FFF2-40B4-BE49-F238E27FC236}">
                      <a16:creationId xmlns:a16="http://schemas.microsoft.com/office/drawing/2014/main" id="{27F5689A-B595-793B-2E94-854BA03EDC7B}"/>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52" name="Decision 151">
                  <a:extLst>
                    <a:ext uri="{FF2B5EF4-FFF2-40B4-BE49-F238E27FC236}">
                      <a16:creationId xmlns:a16="http://schemas.microsoft.com/office/drawing/2014/main" id="{6592E92F-F8B0-C4DC-2920-79351FE33676}"/>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46" name="Group 145">
                <a:extLst>
                  <a:ext uri="{FF2B5EF4-FFF2-40B4-BE49-F238E27FC236}">
                    <a16:creationId xmlns:a16="http://schemas.microsoft.com/office/drawing/2014/main" id="{53F05EAA-A128-6C94-5369-E1BD68C4F2AD}"/>
                  </a:ext>
                </a:extLst>
              </p:cNvPr>
              <p:cNvGrpSpPr/>
              <p:nvPr/>
            </p:nvGrpSpPr>
            <p:grpSpPr>
              <a:xfrm>
                <a:off x="4833908" y="1454416"/>
                <a:ext cx="2117803" cy="3633120"/>
                <a:chOff x="4833908" y="1454416"/>
                <a:chExt cx="2117803" cy="3633120"/>
              </a:xfrm>
            </p:grpSpPr>
            <p:sp>
              <p:nvSpPr>
                <p:cNvPr id="148" name="Decision 147">
                  <a:extLst>
                    <a:ext uri="{FF2B5EF4-FFF2-40B4-BE49-F238E27FC236}">
                      <a16:creationId xmlns:a16="http://schemas.microsoft.com/office/drawing/2014/main" id="{138A9F70-776E-61C1-3E4E-1694B3D1014C}"/>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49" name="Decision 148">
                  <a:extLst>
                    <a:ext uri="{FF2B5EF4-FFF2-40B4-BE49-F238E27FC236}">
                      <a16:creationId xmlns:a16="http://schemas.microsoft.com/office/drawing/2014/main" id="{68492380-235D-4958-781B-DF0726D3E5EC}"/>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50" name="Decision 149">
                  <a:extLst>
                    <a:ext uri="{FF2B5EF4-FFF2-40B4-BE49-F238E27FC236}">
                      <a16:creationId xmlns:a16="http://schemas.microsoft.com/office/drawing/2014/main" id="{90A5C718-E88D-486B-3A21-930D0D2244C8}"/>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47" name="Decision 146">
                <a:extLst>
                  <a:ext uri="{FF2B5EF4-FFF2-40B4-BE49-F238E27FC236}">
                    <a16:creationId xmlns:a16="http://schemas.microsoft.com/office/drawing/2014/main" id="{416BA9FB-C882-5555-8A1E-C8C40D2C9709}"/>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39" name="Freeform 138">
              <a:extLst>
                <a:ext uri="{FF2B5EF4-FFF2-40B4-BE49-F238E27FC236}">
                  <a16:creationId xmlns:a16="http://schemas.microsoft.com/office/drawing/2014/main" id="{F664A197-352C-69DB-35B4-F819AB824CA1}"/>
                </a:ext>
              </a:extLst>
            </p:cNvPr>
            <p:cNvSpPr/>
            <p:nvPr/>
          </p:nvSpPr>
          <p:spPr>
            <a:xfrm>
              <a:off x="910897" y="4246950"/>
              <a:ext cx="10218668" cy="541868"/>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140" name="TextBox 139">
              <a:extLst>
                <a:ext uri="{FF2B5EF4-FFF2-40B4-BE49-F238E27FC236}">
                  <a16:creationId xmlns:a16="http://schemas.microsoft.com/office/drawing/2014/main" id="{3F2971CF-71AE-AE31-3EA1-72783E0C4049}"/>
                </a:ext>
              </a:extLst>
            </p:cNvPr>
            <p:cNvSpPr txBox="1"/>
            <p:nvPr/>
          </p:nvSpPr>
          <p:spPr>
            <a:xfrm>
              <a:off x="1058827" y="4378183"/>
              <a:ext cx="8031354" cy="307777"/>
            </a:xfrm>
            <a:prstGeom prst="rect">
              <a:avLst/>
            </a:prstGeom>
            <a:noFill/>
          </p:spPr>
          <p:txBody>
            <a:bodyPr wrap="square">
              <a:spAutoFit/>
            </a:bodyPr>
            <a:lstStyle/>
            <a:p>
              <a:pPr algn="r" rtl="1">
                <a:buNone/>
              </a:pPr>
              <a:r>
                <a:rPr lang="ar-AE" sz="1400" dirty="0"/>
                <a:t>لا يوجد فريق مخصص أو واضح المعالم لجودة البيانات، أو مسؤولية مركزية عن إدارة دليل البيانات.</a:t>
              </a:r>
            </a:p>
          </p:txBody>
        </p:sp>
        <p:sp>
          <p:nvSpPr>
            <p:cNvPr id="141" name="Freeform 140">
              <a:extLst>
                <a:ext uri="{FF2B5EF4-FFF2-40B4-BE49-F238E27FC236}">
                  <a16:creationId xmlns:a16="http://schemas.microsoft.com/office/drawing/2014/main" id="{94F0252C-048D-EF1A-4957-B5F3C4531976}"/>
                </a:ext>
              </a:extLst>
            </p:cNvPr>
            <p:cNvSpPr/>
            <p:nvPr/>
          </p:nvSpPr>
          <p:spPr>
            <a:xfrm>
              <a:off x="9122487" y="4248437"/>
              <a:ext cx="2039320" cy="541868"/>
            </a:xfrm>
            <a:custGeom>
              <a:avLst/>
              <a:gdLst>
                <a:gd name="connsiteX0" fmla="*/ 0 w 1464277"/>
                <a:gd name="connsiteY0" fmla="*/ 0 h 541868"/>
                <a:gd name="connsiteX1" fmla="*/ 1258884 w 1464277"/>
                <a:gd name="connsiteY1" fmla="*/ 0 h 541868"/>
                <a:gd name="connsiteX2" fmla="*/ 1453901 w 1464277"/>
                <a:gd name="connsiteY2" fmla="*/ 79355 h 541868"/>
                <a:gd name="connsiteX3" fmla="*/ 1464277 w 1464277"/>
                <a:gd name="connsiteY3" fmla="*/ 94473 h 541868"/>
                <a:gd name="connsiteX4" fmla="*/ 1438001 w 1464277"/>
                <a:gd name="connsiteY4" fmla="*/ 141265 h 541868"/>
                <a:gd name="connsiteX5" fmla="*/ 1410916 w 1464277"/>
                <a:gd name="connsiteY5" fmla="*/ 270934 h 541868"/>
                <a:gd name="connsiteX6" fmla="*/ 1438001 w 1464277"/>
                <a:gd name="connsiteY6" fmla="*/ 400604 h 541868"/>
                <a:gd name="connsiteX7" fmla="*/ 1464277 w 1464277"/>
                <a:gd name="connsiteY7" fmla="*/ 447395 h 541868"/>
                <a:gd name="connsiteX8" fmla="*/ 1453900 w 1464277"/>
                <a:gd name="connsiteY8" fmla="*/ 462513 h 541868"/>
                <a:gd name="connsiteX9" fmla="*/ 1258883 w 1464277"/>
                <a:gd name="connsiteY9" fmla="*/ 541868 h 541868"/>
                <a:gd name="connsiteX10" fmla="*/ 0 w 1464277"/>
                <a:gd name="connsiteY10" fmla="*/ 541868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4277" h="541868">
                  <a:moveTo>
                    <a:pt x="0" y="0"/>
                  </a:moveTo>
                  <a:lnTo>
                    <a:pt x="1258884" y="0"/>
                  </a:lnTo>
                  <a:cubicBezTo>
                    <a:pt x="1335043" y="0"/>
                    <a:pt x="1403992" y="30325"/>
                    <a:pt x="1453901" y="79355"/>
                  </a:cubicBezTo>
                  <a:lnTo>
                    <a:pt x="1464277" y="94473"/>
                  </a:lnTo>
                  <a:lnTo>
                    <a:pt x="1438001" y="141265"/>
                  </a:lnTo>
                  <a:cubicBezTo>
                    <a:pt x="1420560" y="181120"/>
                    <a:pt x="1410916" y="224938"/>
                    <a:pt x="1410916" y="270934"/>
                  </a:cubicBezTo>
                  <a:cubicBezTo>
                    <a:pt x="1410916" y="316930"/>
                    <a:pt x="1420560" y="360748"/>
                    <a:pt x="1438001" y="400604"/>
                  </a:cubicBezTo>
                  <a:lnTo>
                    <a:pt x="1464277" y="447395"/>
                  </a:lnTo>
                  <a:lnTo>
                    <a:pt x="1453900" y="462513"/>
                  </a:lnTo>
                  <a:cubicBezTo>
                    <a:pt x="1403991" y="511543"/>
                    <a:pt x="1335041" y="541868"/>
                    <a:pt x="1258883" y="541868"/>
                  </a:cubicBezTo>
                  <a:lnTo>
                    <a:pt x="0" y="541868"/>
                  </a:lnTo>
                  <a:close/>
                </a:path>
              </a:pathLst>
            </a:cu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Ins="180000" rtlCol="0" anchor="ctr">
              <a:noAutofit/>
            </a:bodyPr>
            <a:lstStyle/>
            <a:p>
              <a:pPr algn="r" rtl="1"/>
              <a:r>
                <a:rPr lang="ar-AE" sz="1600" b="1" dirty="0"/>
                <a:t>نقص الموارد البشرية المتخصصة</a:t>
              </a:r>
              <a:r>
                <a:rPr lang="ar-AE" sz="1600" dirty="0"/>
                <a:t>:</a:t>
              </a:r>
            </a:p>
          </p:txBody>
        </p:sp>
      </p:grpSp>
      <p:grpSp>
        <p:nvGrpSpPr>
          <p:cNvPr id="208" name="Group 207">
            <a:extLst>
              <a:ext uri="{FF2B5EF4-FFF2-40B4-BE49-F238E27FC236}">
                <a16:creationId xmlns:a16="http://schemas.microsoft.com/office/drawing/2014/main" id="{29B0BEAA-C08E-364F-CDD6-61BE34315770}"/>
              </a:ext>
            </a:extLst>
          </p:cNvPr>
          <p:cNvGrpSpPr/>
          <p:nvPr/>
        </p:nvGrpSpPr>
        <p:grpSpPr>
          <a:xfrm>
            <a:off x="910897" y="4861327"/>
            <a:ext cx="10553082" cy="543355"/>
            <a:chOff x="910897" y="4875349"/>
            <a:chExt cx="10553082" cy="543355"/>
          </a:xfrm>
        </p:grpSpPr>
        <p:grpSp>
          <p:nvGrpSpPr>
            <p:cNvPr id="159" name="Group 158">
              <a:extLst>
                <a:ext uri="{FF2B5EF4-FFF2-40B4-BE49-F238E27FC236}">
                  <a16:creationId xmlns:a16="http://schemas.microsoft.com/office/drawing/2014/main" id="{6EC13D44-29DF-9BCF-A53A-C365BA842E09}"/>
                </a:ext>
              </a:extLst>
            </p:cNvPr>
            <p:cNvGrpSpPr/>
            <p:nvPr/>
          </p:nvGrpSpPr>
          <p:grpSpPr>
            <a:xfrm>
              <a:off x="11154974" y="5035220"/>
              <a:ext cx="309005" cy="216000"/>
              <a:chOff x="4833908" y="763778"/>
              <a:chExt cx="6643795" cy="4323758"/>
            </a:xfrm>
          </p:grpSpPr>
          <p:grpSp>
            <p:nvGrpSpPr>
              <p:cNvPr id="163" name="Group 162">
                <a:extLst>
                  <a:ext uri="{FF2B5EF4-FFF2-40B4-BE49-F238E27FC236}">
                    <a16:creationId xmlns:a16="http://schemas.microsoft.com/office/drawing/2014/main" id="{30C21FA5-E054-2665-7D57-D0D76BEF2498}"/>
                  </a:ext>
                </a:extLst>
              </p:cNvPr>
              <p:cNvGrpSpPr/>
              <p:nvPr/>
            </p:nvGrpSpPr>
            <p:grpSpPr>
              <a:xfrm>
                <a:off x="9359901" y="1409068"/>
                <a:ext cx="2117802" cy="3633120"/>
                <a:chOff x="9359901" y="1409068"/>
                <a:chExt cx="2117802" cy="3633120"/>
              </a:xfrm>
            </p:grpSpPr>
            <p:sp>
              <p:nvSpPr>
                <p:cNvPr id="176" name="Decision 175">
                  <a:extLst>
                    <a:ext uri="{FF2B5EF4-FFF2-40B4-BE49-F238E27FC236}">
                      <a16:creationId xmlns:a16="http://schemas.microsoft.com/office/drawing/2014/main" id="{C44195FE-6085-4D96-DDDD-4C163A2806F4}"/>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77" name="Decision 176">
                  <a:extLst>
                    <a:ext uri="{FF2B5EF4-FFF2-40B4-BE49-F238E27FC236}">
                      <a16:creationId xmlns:a16="http://schemas.microsoft.com/office/drawing/2014/main" id="{67C54CF5-86F0-A560-A3A8-DE73A3C9D244}"/>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78" name="Decision 177">
                  <a:extLst>
                    <a:ext uri="{FF2B5EF4-FFF2-40B4-BE49-F238E27FC236}">
                      <a16:creationId xmlns:a16="http://schemas.microsoft.com/office/drawing/2014/main" id="{1C97DA21-2733-7796-3AA6-1B14350D9A8B}"/>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64" name="Decision 163">
                <a:extLst>
                  <a:ext uri="{FF2B5EF4-FFF2-40B4-BE49-F238E27FC236}">
                    <a16:creationId xmlns:a16="http://schemas.microsoft.com/office/drawing/2014/main" id="{B16CA51C-6778-4FC2-ED75-C35B2185DD41}"/>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65" name="Group 164">
                <a:extLst>
                  <a:ext uri="{FF2B5EF4-FFF2-40B4-BE49-F238E27FC236}">
                    <a16:creationId xmlns:a16="http://schemas.microsoft.com/office/drawing/2014/main" id="{10639E54-DE7C-C8E0-264D-70808B1F7A1B}"/>
                  </a:ext>
                </a:extLst>
              </p:cNvPr>
              <p:cNvGrpSpPr/>
              <p:nvPr/>
            </p:nvGrpSpPr>
            <p:grpSpPr>
              <a:xfrm>
                <a:off x="8200175" y="763778"/>
                <a:ext cx="1032935" cy="3229447"/>
                <a:chOff x="8200175" y="763778"/>
                <a:chExt cx="1032935" cy="3229447"/>
              </a:xfrm>
            </p:grpSpPr>
            <p:sp>
              <p:nvSpPr>
                <p:cNvPr id="174" name="Decision 173">
                  <a:extLst>
                    <a:ext uri="{FF2B5EF4-FFF2-40B4-BE49-F238E27FC236}">
                      <a16:creationId xmlns:a16="http://schemas.microsoft.com/office/drawing/2014/main" id="{BFF8B215-84E7-DF0E-AF78-2A20B0873D65}"/>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75" name="Decision 174">
                  <a:extLst>
                    <a:ext uri="{FF2B5EF4-FFF2-40B4-BE49-F238E27FC236}">
                      <a16:creationId xmlns:a16="http://schemas.microsoft.com/office/drawing/2014/main" id="{5114B1DF-6087-06D3-28CB-08DF8A1CDB73}"/>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66" name="Group 165">
                <a:extLst>
                  <a:ext uri="{FF2B5EF4-FFF2-40B4-BE49-F238E27FC236}">
                    <a16:creationId xmlns:a16="http://schemas.microsoft.com/office/drawing/2014/main" id="{F5DD7D0F-CDAD-B26C-BF25-62000DC8282A}"/>
                  </a:ext>
                </a:extLst>
              </p:cNvPr>
              <p:cNvGrpSpPr/>
              <p:nvPr/>
            </p:nvGrpSpPr>
            <p:grpSpPr>
              <a:xfrm>
                <a:off x="7068934" y="763778"/>
                <a:ext cx="1057892" cy="3229449"/>
                <a:chOff x="7068934" y="763778"/>
                <a:chExt cx="1057892" cy="3229449"/>
              </a:xfrm>
            </p:grpSpPr>
            <p:sp>
              <p:nvSpPr>
                <p:cNvPr id="172" name="Decision 171">
                  <a:extLst>
                    <a:ext uri="{FF2B5EF4-FFF2-40B4-BE49-F238E27FC236}">
                      <a16:creationId xmlns:a16="http://schemas.microsoft.com/office/drawing/2014/main" id="{39EA5C4B-2710-6E1A-13D7-1C78DF111B70}"/>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73" name="Decision 172">
                  <a:extLst>
                    <a:ext uri="{FF2B5EF4-FFF2-40B4-BE49-F238E27FC236}">
                      <a16:creationId xmlns:a16="http://schemas.microsoft.com/office/drawing/2014/main" id="{1B6B6E22-B1EC-FFEF-880F-D489AAC7931C}"/>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67" name="Group 166">
                <a:extLst>
                  <a:ext uri="{FF2B5EF4-FFF2-40B4-BE49-F238E27FC236}">
                    <a16:creationId xmlns:a16="http://schemas.microsoft.com/office/drawing/2014/main" id="{F2B60B4B-D26B-A376-417D-59F2989409F2}"/>
                  </a:ext>
                </a:extLst>
              </p:cNvPr>
              <p:cNvGrpSpPr/>
              <p:nvPr/>
            </p:nvGrpSpPr>
            <p:grpSpPr>
              <a:xfrm>
                <a:off x="4833908" y="1454416"/>
                <a:ext cx="2117803" cy="3633120"/>
                <a:chOff x="4833908" y="1454416"/>
                <a:chExt cx="2117803" cy="3633120"/>
              </a:xfrm>
            </p:grpSpPr>
            <p:sp>
              <p:nvSpPr>
                <p:cNvPr id="169" name="Decision 168">
                  <a:extLst>
                    <a:ext uri="{FF2B5EF4-FFF2-40B4-BE49-F238E27FC236}">
                      <a16:creationId xmlns:a16="http://schemas.microsoft.com/office/drawing/2014/main" id="{3D5149DB-61A8-7889-8003-E30E223B4DDF}"/>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70" name="Decision 169">
                  <a:extLst>
                    <a:ext uri="{FF2B5EF4-FFF2-40B4-BE49-F238E27FC236}">
                      <a16:creationId xmlns:a16="http://schemas.microsoft.com/office/drawing/2014/main" id="{6E02B605-180D-DB54-4E2A-9C1B7CCB7D2B}"/>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71" name="Decision 170">
                  <a:extLst>
                    <a:ext uri="{FF2B5EF4-FFF2-40B4-BE49-F238E27FC236}">
                      <a16:creationId xmlns:a16="http://schemas.microsoft.com/office/drawing/2014/main" id="{5198D849-68BE-DCBD-4AC2-3778F09A7470}"/>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68" name="Decision 167">
                <a:extLst>
                  <a:ext uri="{FF2B5EF4-FFF2-40B4-BE49-F238E27FC236}">
                    <a16:creationId xmlns:a16="http://schemas.microsoft.com/office/drawing/2014/main" id="{3A226A05-EDBD-BE73-7CFC-03A26B775BC7}"/>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60" name="Freeform 159">
              <a:extLst>
                <a:ext uri="{FF2B5EF4-FFF2-40B4-BE49-F238E27FC236}">
                  <a16:creationId xmlns:a16="http://schemas.microsoft.com/office/drawing/2014/main" id="{090B4633-A994-AAA4-1FCF-31F755B03ACF}"/>
                </a:ext>
              </a:extLst>
            </p:cNvPr>
            <p:cNvSpPr/>
            <p:nvPr/>
          </p:nvSpPr>
          <p:spPr>
            <a:xfrm>
              <a:off x="910897" y="4875349"/>
              <a:ext cx="10218668" cy="541868"/>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161" name="TextBox 160">
              <a:extLst>
                <a:ext uri="{FF2B5EF4-FFF2-40B4-BE49-F238E27FC236}">
                  <a16:creationId xmlns:a16="http://schemas.microsoft.com/office/drawing/2014/main" id="{55AD0D8F-94B9-6A37-DA8D-978D1F4DAA6E}"/>
                </a:ext>
              </a:extLst>
            </p:cNvPr>
            <p:cNvSpPr txBox="1"/>
            <p:nvPr/>
          </p:nvSpPr>
          <p:spPr>
            <a:xfrm>
              <a:off x="1058827" y="5006582"/>
              <a:ext cx="8031354" cy="307777"/>
            </a:xfrm>
            <a:prstGeom prst="rect">
              <a:avLst/>
            </a:prstGeom>
            <a:noFill/>
          </p:spPr>
          <p:txBody>
            <a:bodyPr wrap="square">
              <a:spAutoFit/>
            </a:bodyPr>
            <a:lstStyle/>
            <a:p>
              <a:pPr algn="r" rtl="1">
                <a:buNone/>
              </a:pPr>
              <a:r>
                <a:rPr lang="ar-AE" sz="1400" dirty="0"/>
                <a:t>توجد خدمات متعددة تتعامل مع كيانات بيانات كثيرة، لكن الربط بينها ما يزال جزئيًا.</a:t>
              </a:r>
            </a:p>
          </p:txBody>
        </p:sp>
        <p:sp>
          <p:nvSpPr>
            <p:cNvPr id="162" name="Freeform 161">
              <a:extLst>
                <a:ext uri="{FF2B5EF4-FFF2-40B4-BE49-F238E27FC236}">
                  <a16:creationId xmlns:a16="http://schemas.microsoft.com/office/drawing/2014/main" id="{7348BCD3-D35A-0BF5-657A-083A6D1B10E6}"/>
                </a:ext>
              </a:extLst>
            </p:cNvPr>
            <p:cNvSpPr/>
            <p:nvPr/>
          </p:nvSpPr>
          <p:spPr>
            <a:xfrm>
              <a:off x="9122487" y="4876836"/>
              <a:ext cx="2039320" cy="541868"/>
            </a:xfrm>
            <a:custGeom>
              <a:avLst/>
              <a:gdLst>
                <a:gd name="connsiteX0" fmla="*/ 0 w 1464277"/>
                <a:gd name="connsiteY0" fmla="*/ 0 h 541868"/>
                <a:gd name="connsiteX1" fmla="*/ 1258884 w 1464277"/>
                <a:gd name="connsiteY1" fmla="*/ 0 h 541868"/>
                <a:gd name="connsiteX2" fmla="*/ 1453901 w 1464277"/>
                <a:gd name="connsiteY2" fmla="*/ 79355 h 541868"/>
                <a:gd name="connsiteX3" fmla="*/ 1464277 w 1464277"/>
                <a:gd name="connsiteY3" fmla="*/ 94473 h 541868"/>
                <a:gd name="connsiteX4" fmla="*/ 1438001 w 1464277"/>
                <a:gd name="connsiteY4" fmla="*/ 141265 h 541868"/>
                <a:gd name="connsiteX5" fmla="*/ 1410916 w 1464277"/>
                <a:gd name="connsiteY5" fmla="*/ 270934 h 541868"/>
                <a:gd name="connsiteX6" fmla="*/ 1438001 w 1464277"/>
                <a:gd name="connsiteY6" fmla="*/ 400604 h 541868"/>
                <a:gd name="connsiteX7" fmla="*/ 1464277 w 1464277"/>
                <a:gd name="connsiteY7" fmla="*/ 447395 h 541868"/>
                <a:gd name="connsiteX8" fmla="*/ 1453900 w 1464277"/>
                <a:gd name="connsiteY8" fmla="*/ 462513 h 541868"/>
                <a:gd name="connsiteX9" fmla="*/ 1258883 w 1464277"/>
                <a:gd name="connsiteY9" fmla="*/ 541868 h 541868"/>
                <a:gd name="connsiteX10" fmla="*/ 0 w 1464277"/>
                <a:gd name="connsiteY10" fmla="*/ 541868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4277" h="541868">
                  <a:moveTo>
                    <a:pt x="0" y="0"/>
                  </a:moveTo>
                  <a:lnTo>
                    <a:pt x="1258884" y="0"/>
                  </a:lnTo>
                  <a:cubicBezTo>
                    <a:pt x="1335043" y="0"/>
                    <a:pt x="1403992" y="30325"/>
                    <a:pt x="1453901" y="79355"/>
                  </a:cubicBezTo>
                  <a:lnTo>
                    <a:pt x="1464277" y="94473"/>
                  </a:lnTo>
                  <a:lnTo>
                    <a:pt x="1438001" y="141265"/>
                  </a:lnTo>
                  <a:cubicBezTo>
                    <a:pt x="1420560" y="181120"/>
                    <a:pt x="1410916" y="224938"/>
                    <a:pt x="1410916" y="270934"/>
                  </a:cubicBezTo>
                  <a:cubicBezTo>
                    <a:pt x="1410916" y="316930"/>
                    <a:pt x="1420560" y="360748"/>
                    <a:pt x="1438001" y="400604"/>
                  </a:cubicBezTo>
                  <a:lnTo>
                    <a:pt x="1464277" y="447395"/>
                  </a:lnTo>
                  <a:lnTo>
                    <a:pt x="1453900" y="462513"/>
                  </a:lnTo>
                  <a:cubicBezTo>
                    <a:pt x="1403991" y="511543"/>
                    <a:pt x="1335041" y="541868"/>
                    <a:pt x="1258883" y="541868"/>
                  </a:cubicBezTo>
                  <a:lnTo>
                    <a:pt x="0" y="541868"/>
                  </a:lnTo>
                  <a:close/>
                </a:path>
              </a:pathLst>
            </a:cu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Ins="180000" rtlCol="0" anchor="ctr">
              <a:noAutofit/>
            </a:bodyPr>
            <a:lstStyle/>
            <a:p>
              <a:pPr algn="r" rtl="1"/>
              <a:r>
                <a:rPr lang="ar-AE" sz="1600" b="1" dirty="0"/>
                <a:t>تعددية ومستوى نضج متفاوت للتطبيقات</a:t>
              </a:r>
              <a:r>
                <a:rPr lang="ar-AE" sz="1600" dirty="0"/>
                <a:t>:</a:t>
              </a:r>
            </a:p>
          </p:txBody>
        </p:sp>
      </p:grpSp>
      <p:grpSp>
        <p:nvGrpSpPr>
          <p:cNvPr id="209" name="Group 208">
            <a:extLst>
              <a:ext uri="{FF2B5EF4-FFF2-40B4-BE49-F238E27FC236}">
                <a16:creationId xmlns:a16="http://schemas.microsoft.com/office/drawing/2014/main" id="{84ED3614-9D31-8954-30B4-415337E0221E}"/>
              </a:ext>
            </a:extLst>
          </p:cNvPr>
          <p:cNvGrpSpPr/>
          <p:nvPr/>
        </p:nvGrpSpPr>
        <p:grpSpPr>
          <a:xfrm>
            <a:off x="910897" y="5476919"/>
            <a:ext cx="10553082" cy="543355"/>
            <a:chOff x="910897" y="5476919"/>
            <a:chExt cx="10553082" cy="543355"/>
          </a:xfrm>
        </p:grpSpPr>
        <p:grpSp>
          <p:nvGrpSpPr>
            <p:cNvPr id="182" name="Group 181">
              <a:extLst>
                <a:ext uri="{FF2B5EF4-FFF2-40B4-BE49-F238E27FC236}">
                  <a16:creationId xmlns:a16="http://schemas.microsoft.com/office/drawing/2014/main" id="{C0BD6A97-556A-B9E7-EAF2-1C44EE1C6CB2}"/>
                </a:ext>
              </a:extLst>
            </p:cNvPr>
            <p:cNvGrpSpPr/>
            <p:nvPr/>
          </p:nvGrpSpPr>
          <p:grpSpPr>
            <a:xfrm>
              <a:off x="11154974" y="5636790"/>
              <a:ext cx="309005" cy="216000"/>
              <a:chOff x="4833908" y="763778"/>
              <a:chExt cx="6643795" cy="4323758"/>
            </a:xfrm>
          </p:grpSpPr>
          <p:grpSp>
            <p:nvGrpSpPr>
              <p:cNvPr id="186" name="Group 185">
                <a:extLst>
                  <a:ext uri="{FF2B5EF4-FFF2-40B4-BE49-F238E27FC236}">
                    <a16:creationId xmlns:a16="http://schemas.microsoft.com/office/drawing/2014/main" id="{A63EED8B-9C5E-654C-FCC7-5FD04A65DDD5}"/>
                  </a:ext>
                </a:extLst>
              </p:cNvPr>
              <p:cNvGrpSpPr/>
              <p:nvPr/>
            </p:nvGrpSpPr>
            <p:grpSpPr>
              <a:xfrm>
                <a:off x="9359901" y="1409068"/>
                <a:ext cx="2117802" cy="3633120"/>
                <a:chOff x="9359901" y="1409068"/>
                <a:chExt cx="2117802" cy="3633120"/>
              </a:xfrm>
            </p:grpSpPr>
            <p:sp>
              <p:nvSpPr>
                <p:cNvPr id="199" name="Decision 198">
                  <a:extLst>
                    <a:ext uri="{FF2B5EF4-FFF2-40B4-BE49-F238E27FC236}">
                      <a16:creationId xmlns:a16="http://schemas.microsoft.com/office/drawing/2014/main" id="{2A2D568B-F973-3E8A-1BDF-784E20FC541B}"/>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00" name="Decision 199">
                  <a:extLst>
                    <a:ext uri="{FF2B5EF4-FFF2-40B4-BE49-F238E27FC236}">
                      <a16:creationId xmlns:a16="http://schemas.microsoft.com/office/drawing/2014/main" id="{6EA65826-BFC4-0099-7C60-C4D2C0C23AC1}"/>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01" name="Decision 200">
                  <a:extLst>
                    <a:ext uri="{FF2B5EF4-FFF2-40B4-BE49-F238E27FC236}">
                      <a16:creationId xmlns:a16="http://schemas.microsoft.com/office/drawing/2014/main" id="{3F06D2A3-BBDD-DFE5-682E-867ECC886EC3}"/>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87" name="Decision 186">
                <a:extLst>
                  <a:ext uri="{FF2B5EF4-FFF2-40B4-BE49-F238E27FC236}">
                    <a16:creationId xmlns:a16="http://schemas.microsoft.com/office/drawing/2014/main" id="{B26A1880-381D-E64C-1F36-F7F0E90F922D}"/>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88" name="Group 187">
                <a:extLst>
                  <a:ext uri="{FF2B5EF4-FFF2-40B4-BE49-F238E27FC236}">
                    <a16:creationId xmlns:a16="http://schemas.microsoft.com/office/drawing/2014/main" id="{06603400-8522-B3D0-0DC8-C886FDA6AF2C}"/>
                  </a:ext>
                </a:extLst>
              </p:cNvPr>
              <p:cNvGrpSpPr/>
              <p:nvPr/>
            </p:nvGrpSpPr>
            <p:grpSpPr>
              <a:xfrm>
                <a:off x="8200175" y="763778"/>
                <a:ext cx="1032935" cy="3229447"/>
                <a:chOff x="8200175" y="763778"/>
                <a:chExt cx="1032935" cy="3229447"/>
              </a:xfrm>
            </p:grpSpPr>
            <p:sp>
              <p:nvSpPr>
                <p:cNvPr id="197" name="Decision 196">
                  <a:extLst>
                    <a:ext uri="{FF2B5EF4-FFF2-40B4-BE49-F238E27FC236}">
                      <a16:creationId xmlns:a16="http://schemas.microsoft.com/office/drawing/2014/main" id="{6AEEDBBA-0AE1-5C9B-4558-6FDD07ACC3EE}"/>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98" name="Decision 197">
                  <a:extLst>
                    <a:ext uri="{FF2B5EF4-FFF2-40B4-BE49-F238E27FC236}">
                      <a16:creationId xmlns:a16="http://schemas.microsoft.com/office/drawing/2014/main" id="{3FCDEEBF-B3C1-9143-DDCE-AAE6D11C1A24}"/>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89" name="Group 188">
                <a:extLst>
                  <a:ext uri="{FF2B5EF4-FFF2-40B4-BE49-F238E27FC236}">
                    <a16:creationId xmlns:a16="http://schemas.microsoft.com/office/drawing/2014/main" id="{17E2D5F4-44EF-FFA9-5F54-6EB4264AEEDF}"/>
                  </a:ext>
                </a:extLst>
              </p:cNvPr>
              <p:cNvGrpSpPr/>
              <p:nvPr/>
            </p:nvGrpSpPr>
            <p:grpSpPr>
              <a:xfrm>
                <a:off x="7068934" y="763778"/>
                <a:ext cx="1057892" cy="3229449"/>
                <a:chOff x="7068934" y="763778"/>
                <a:chExt cx="1057892" cy="3229449"/>
              </a:xfrm>
            </p:grpSpPr>
            <p:sp>
              <p:nvSpPr>
                <p:cNvPr id="195" name="Decision 194">
                  <a:extLst>
                    <a:ext uri="{FF2B5EF4-FFF2-40B4-BE49-F238E27FC236}">
                      <a16:creationId xmlns:a16="http://schemas.microsoft.com/office/drawing/2014/main" id="{514B51AA-48F1-E2C8-6EDA-F1873F0B563F}"/>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96" name="Decision 195">
                  <a:extLst>
                    <a:ext uri="{FF2B5EF4-FFF2-40B4-BE49-F238E27FC236}">
                      <a16:creationId xmlns:a16="http://schemas.microsoft.com/office/drawing/2014/main" id="{78E27513-A75D-1719-FFCA-A1819CFA0067}"/>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90" name="Group 189">
                <a:extLst>
                  <a:ext uri="{FF2B5EF4-FFF2-40B4-BE49-F238E27FC236}">
                    <a16:creationId xmlns:a16="http://schemas.microsoft.com/office/drawing/2014/main" id="{59490D6A-727C-6307-8A4F-A60597DCE041}"/>
                  </a:ext>
                </a:extLst>
              </p:cNvPr>
              <p:cNvGrpSpPr/>
              <p:nvPr/>
            </p:nvGrpSpPr>
            <p:grpSpPr>
              <a:xfrm>
                <a:off x="4833908" y="1454416"/>
                <a:ext cx="2117803" cy="3633120"/>
                <a:chOff x="4833908" y="1454416"/>
                <a:chExt cx="2117803" cy="3633120"/>
              </a:xfrm>
            </p:grpSpPr>
            <p:sp>
              <p:nvSpPr>
                <p:cNvPr id="192" name="Decision 191">
                  <a:extLst>
                    <a:ext uri="{FF2B5EF4-FFF2-40B4-BE49-F238E27FC236}">
                      <a16:creationId xmlns:a16="http://schemas.microsoft.com/office/drawing/2014/main" id="{8D68BDED-0223-68B7-591B-51E0AD38582F}"/>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93" name="Decision 192">
                  <a:extLst>
                    <a:ext uri="{FF2B5EF4-FFF2-40B4-BE49-F238E27FC236}">
                      <a16:creationId xmlns:a16="http://schemas.microsoft.com/office/drawing/2014/main" id="{C2753570-C1D5-A990-ACC4-04973F8B9D9C}"/>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94" name="Decision 193">
                  <a:extLst>
                    <a:ext uri="{FF2B5EF4-FFF2-40B4-BE49-F238E27FC236}">
                      <a16:creationId xmlns:a16="http://schemas.microsoft.com/office/drawing/2014/main" id="{1C6AFDD2-87F7-DEF5-5BAE-76AED024D307}"/>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91" name="Decision 190">
                <a:extLst>
                  <a:ext uri="{FF2B5EF4-FFF2-40B4-BE49-F238E27FC236}">
                    <a16:creationId xmlns:a16="http://schemas.microsoft.com/office/drawing/2014/main" id="{9922193C-B228-173B-FD23-45364C908085}"/>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83" name="Freeform 182">
              <a:extLst>
                <a:ext uri="{FF2B5EF4-FFF2-40B4-BE49-F238E27FC236}">
                  <a16:creationId xmlns:a16="http://schemas.microsoft.com/office/drawing/2014/main" id="{AEE0F7AC-9BCD-75FC-B605-A534DC995756}"/>
                </a:ext>
              </a:extLst>
            </p:cNvPr>
            <p:cNvSpPr/>
            <p:nvPr/>
          </p:nvSpPr>
          <p:spPr>
            <a:xfrm>
              <a:off x="910897" y="5476919"/>
              <a:ext cx="10218668" cy="541868"/>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184" name="TextBox 183">
              <a:extLst>
                <a:ext uri="{FF2B5EF4-FFF2-40B4-BE49-F238E27FC236}">
                  <a16:creationId xmlns:a16="http://schemas.microsoft.com/office/drawing/2014/main" id="{3040C118-3393-4D67-170F-F93B4C568999}"/>
                </a:ext>
              </a:extLst>
            </p:cNvPr>
            <p:cNvSpPr txBox="1"/>
            <p:nvPr/>
          </p:nvSpPr>
          <p:spPr>
            <a:xfrm>
              <a:off x="1058827" y="5608152"/>
              <a:ext cx="8031354" cy="307777"/>
            </a:xfrm>
            <a:prstGeom prst="rect">
              <a:avLst/>
            </a:prstGeom>
            <a:noFill/>
          </p:spPr>
          <p:txBody>
            <a:bodyPr wrap="square">
              <a:spAutoFit/>
            </a:bodyPr>
            <a:lstStyle/>
            <a:p>
              <a:pPr algn="r" rtl="1">
                <a:buNone/>
              </a:pPr>
              <a:r>
                <a:rPr lang="ar-AE" sz="1400" dirty="0"/>
                <a:t>لا يتوفر توظيف واضح لتقنيات الذكاء الاصطناعي أو التحليلات التنبؤية لدعم اتخاذ القرار.</a:t>
              </a:r>
            </a:p>
          </p:txBody>
        </p:sp>
        <p:sp>
          <p:nvSpPr>
            <p:cNvPr id="185" name="Freeform 184">
              <a:extLst>
                <a:ext uri="{FF2B5EF4-FFF2-40B4-BE49-F238E27FC236}">
                  <a16:creationId xmlns:a16="http://schemas.microsoft.com/office/drawing/2014/main" id="{034DAB7C-5584-EAEF-B07E-EBB2741C1F04}"/>
                </a:ext>
              </a:extLst>
            </p:cNvPr>
            <p:cNvSpPr/>
            <p:nvPr/>
          </p:nvSpPr>
          <p:spPr>
            <a:xfrm>
              <a:off x="9122487" y="5478406"/>
              <a:ext cx="2039320" cy="541868"/>
            </a:xfrm>
            <a:custGeom>
              <a:avLst/>
              <a:gdLst>
                <a:gd name="connsiteX0" fmla="*/ 0 w 1464277"/>
                <a:gd name="connsiteY0" fmla="*/ 0 h 541868"/>
                <a:gd name="connsiteX1" fmla="*/ 1258884 w 1464277"/>
                <a:gd name="connsiteY1" fmla="*/ 0 h 541868"/>
                <a:gd name="connsiteX2" fmla="*/ 1453901 w 1464277"/>
                <a:gd name="connsiteY2" fmla="*/ 79355 h 541868"/>
                <a:gd name="connsiteX3" fmla="*/ 1464277 w 1464277"/>
                <a:gd name="connsiteY3" fmla="*/ 94473 h 541868"/>
                <a:gd name="connsiteX4" fmla="*/ 1438001 w 1464277"/>
                <a:gd name="connsiteY4" fmla="*/ 141265 h 541868"/>
                <a:gd name="connsiteX5" fmla="*/ 1410916 w 1464277"/>
                <a:gd name="connsiteY5" fmla="*/ 270934 h 541868"/>
                <a:gd name="connsiteX6" fmla="*/ 1438001 w 1464277"/>
                <a:gd name="connsiteY6" fmla="*/ 400604 h 541868"/>
                <a:gd name="connsiteX7" fmla="*/ 1464277 w 1464277"/>
                <a:gd name="connsiteY7" fmla="*/ 447395 h 541868"/>
                <a:gd name="connsiteX8" fmla="*/ 1453900 w 1464277"/>
                <a:gd name="connsiteY8" fmla="*/ 462513 h 541868"/>
                <a:gd name="connsiteX9" fmla="*/ 1258883 w 1464277"/>
                <a:gd name="connsiteY9" fmla="*/ 541868 h 541868"/>
                <a:gd name="connsiteX10" fmla="*/ 0 w 1464277"/>
                <a:gd name="connsiteY10" fmla="*/ 541868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4277" h="541868">
                  <a:moveTo>
                    <a:pt x="0" y="0"/>
                  </a:moveTo>
                  <a:lnTo>
                    <a:pt x="1258884" y="0"/>
                  </a:lnTo>
                  <a:cubicBezTo>
                    <a:pt x="1335043" y="0"/>
                    <a:pt x="1403992" y="30325"/>
                    <a:pt x="1453901" y="79355"/>
                  </a:cubicBezTo>
                  <a:lnTo>
                    <a:pt x="1464277" y="94473"/>
                  </a:lnTo>
                  <a:lnTo>
                    <a:pt x="1438001" y="141265"/>
                  </a:lnTo>
                  <a:cubicBezTo>
                    <a:pt x="1420560" y="181120"/>
                    <a:pt x="1410916" y="224938"/>
                    <a:pt x="1410916" y="270934"/>
                  </a:cubicBezTo>
                  <a:cubicBezTo>
                    <a:pt x="1410916" y="316930"/>
                    <a:pt x="1420560" y="360748"/>
                    <a:pt x="1438001" y="400604"/>
                  </a:cubicBezTo>
                  <a:lnTo>
                    <a:pt x="1464277" y="447395"/>
                  </a:lnTo>
                  <a:lnTo>
                    <a:pt x="1453900" y="462513"/>
                  </a:lnTo>
                  <a:cubicBezTo>
                    <a:pt x="1403991" y="511543"/>
                    <a:pt x="1335041" y="541868"/>
                    <a:pt x="1258883" y="541868"/>
                  </a:cubicBezTo>
                  <a:lnTo>
                    <a:pt x="0" y="541868"/>
                  </a:lnTo>
                  <a:close/>
                </a:path>
              </a:pathLst>
            </a:cu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Ins="180000" rtlCol="0" anchor="ctr">
              <a:noAutofit/>
            </a:bodyPr>
            <a:lstStyle/>
            <a:p>
              <a:pPr algn="r" rtl="1"/>
              <a:r>
                <a:rPr lang="ar-AE" sz="1600" b="1" dirty="0"/>
                <a:t>الحاجة لمنصة تحليل متقدمة</a:t>
              </a:r>
              <a:r>
                <a:rPr lang="ar-AE" sz="1600" dirty="0"/>
                <a:t>:</a:t>
              </a:r>
            </a:p>
          </p:txBody>
        </p:sp>
      </p:grpSp>
    </p:spTree>
    <p:extLst>
      <p:ext uri="{BB962C8B-B14F-4D97-AF65-F5344CB8AC3E}">
        <p14:creationId xmlns:p14="http://schemas.microsoft.com/office/powerpoint/2010/main" val="4189992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6FB6-9EC0-59CC-BF12-EA945FA33B8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E9761AF-910F-8154-8E14-D76FDAB54665}"/>
              </a:ext>
            </a:extLst>
          </p:cNvPr>
          <p:cNvSpPr>
            <a:spLocks noGrp="1"/>
          </p:cNvSpPr>
          <p:nvPr>
            <p:ph type="title"/>
          </p:nvPr>
        </p:nvSpPr>
        <p:spPr/>
        <p:txBody>
          <a:bodyPr/>
          <a:lstStyle/>
          <a:p>
            <a:r>
              <a:rPr lang="ar-AE" b="1" dirty="0"/>
              <a:t>الرؤية المستقبلية لبنية البيانات</a:t>
            </a:r>
            <a:endParaRPr lang="en-US" dirty="0"/>
          </a:p>
        </p:txBody>
      </p:sp>
      <p:sp>
        <p:nvSpPr>
          <p:cNvPr id="4" name="Text Placeholder 3">
            <a:extLst>
              <a:ext uri="{FF2B5EF4-FFF2-40B4-BE49-F238E27FC236}">
                <a16:creationId xmlns:a16="http://schemas.microsoft.com/office/drawing/2014/main" id="{BBC1A73C-5AB0-23CA-A978-51986149ED95}"/>
              </a:ext>
            </a:extLst>
          </p:cNvPr>
          <p:cNvSpPr>
            <a:spLocks noGrp="1"/>
          </p:cNvSpPr>
          <p:nvPr>
            <p:ph type="body" sz="quarter" idx="12"/>
          </p:nvPr>
        </p:nvSpPr>
        <p:spPr/>
        <p:txBody>
          <a:bodyPr/>
          <a:lstStyle/>
          <a:p>
            <a:r>
              <a:rPr lang="ar-EG" dirty="0"/>
              <a:t>01</a:t>
            </a:r>
            <a:endParaRPr lang="en-US" dirty="0"/>
          </a:p>
        </p:txBody>
      </p:sp>
      <p:sp>
        <p:nvSpPr>
          <p:cNvPr id="2" name="Text Placeholder 1">
            <a:extLst>
              <a:ext uri="{FF2B5EF4-FFF2-40B4-BE49-F238E27FC236}">
                <a16:creationId xmlns:a16="http://schemas.microsoft.com/office/drawing/2014/main" id="{9C334199-377E-8154-E8FC-375DC7B34221}"/>
              </a:ext>
            </a:extLst>
          </p:cNvPr>
          <p:cNvSpPr>
            <a:spLocks noGrp="1"/>
          </p:cNvSpPr>
          <p:nvPr>
            <p:ph type="body" sz="quarter" idx="14"/>
          </p:nvPr>
        </p:nvSpPr>
        <p:spPr/>
        <p:txBody>
          <a:bodyPr/>
          <a:lstStyle/>
          <a:p>
            <a:r>
              <a:rPr lang="ar-SA" dirty="0"/>
              <a:t>02</a:t>
            </a:r>
            <a:endParaRPr lang="en-US" dirty="0"/>
          </a:p>
        </p:txBody>
      </p:sp>
    </p:spTree>
    <p:extLst>
      <p:ext uri="{BB962C8B-B14F-4D97-AF65-F5344CB8AC3E}">
        <p14:creationId xmlns:p14="http://schemas.microsoft.com/office/powerpoint/2010/main" val="249676321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pPr/>
              <a:t>10</a:t>
            </a:fld>
            <a:endParaRPr lang="en-US"/>
          </a:p>
        </p:txBody>
      </p:sp>
      <p:sp>
        <p:nvSpPr>
          <p:cNvPr id="10" name="Title 1">
            <a:extLst>
              <a:ext uri="{FF2B5EF4-FFF2-40B4-BE49-F238E27FC236}">
                <a16:creationId xmlns:a16="http://schemas.microsoft.com/office/drawing/2014/main" id="{670DA7FD-8107-C57D-6D52-0AA036AF1B60}"/>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الأهداف الاستراتيجية للبنية المؤسسية</a:t>
            </a:r>
          </a:p>
        </p:txBody>
      </p:sp>
      <p:sp>
        <p:nvSpPr>
          <p:cNvPr id="4" name="Rounded Rectangle 3">
            <a:extLst>
              <a:ext uri="{FF2B5EF4-FFF2-40B4-BE49-F238E27FC236}">
                <a16:creationId xmlns:a16="http://schemas.microsoft.com/office/drawing/2014/main" id="{04696BDF-364B-23B6-0A21-EF87AA447BC4}"/>
              </a:ext>
            </a:extLst>
          </p:cNvPr>
          <p:cNvSpPr/>
          <p:nvPr/>
        </p:nvSpPr>
        <p:spPr>
          <a:xfrm>
            <a:off x="4048152" y="2149420"/>
            <a:ext cx="4395950" cy="365760"/>
          </a:xfrm>
          <a:prstGeom prst="roundRect">
            <a:avLst/>
          </a:prstGeom>
          <a:gradFill>
            <a:gsLst>
              <a:gs pos="53000">
                <a:schemeClr val="accent1"/>
              </a:gs>
              <a:gs pos="100000">
                <a:schemeClr val="accent2"/>
              </a:gs>
            </a:gsLst>
            <a:lin ang="6600000" scaled="0"/>
          </a:gra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EG" sz="2400" b="1" dirty="0">
                <a:solidFill>
                  <a:schemeClr val="bg1"/>
                </a:solidFill>
                <a:latin typeface="Sakkal Majalla" panose="02000000000000000000" pitchFamily="2" charset="-78"/>
                <a:cs typeface="Sakkal Majalla" panose="02000000000000000000" pitchFamily="2" charset="-78"/>
              </a:rPr>
              <a:t>خمس أهداف استراتيجية</a:t>
            </a:r>
          </a:p>
        </p:txBody>
      </p:sp>
      <p:grpSp>
        <p:nvGrpSpPr>
          <p:cNvPr id="5" name="Group 4">
            <a:extLst>
              <a:ext uri="{FF2B5EF4-FFF2-40B4-BE49-F238E27FC236}">
                <a16:creationId xmlns:a16="http://schemas.microsoft.com/office/drawing/2014/main" id="{BA8C1B03-F0AF-6ACD-6CB7-3A4DA1356955}"/>
              </a:ext>
            </a:extLst>
          </p:cNvPr>
          <p:cNvGrpSpPr/>
          <p:nvPr/>
        </p:nvGrpSpPr>
        <p:grpSpPr>
          <a:xfrm>
            <a:off x="8444102" y="2326687"/>
            <a:ext cx="3248933" cy="103909"/>
            <a:chOff x="9019309" y="3325091"/>
            <a:chExt cx="2560317" cy="103909"/>
          </a:xfrm>
        </p:grpSpPr>
        <p:cxnSp>
          <p:nvCxnSpPr>
            <p:cNvPr id="62" name="Straight Connector 61">
              <a:extLst>
                <a:ext uri="{FF2B5EF4-FFF2-40B4-BE49-F238E27FC236}">
                  <a16:creationId xmlns:a16="http://schemas.microsoft.com/office/drawing/2014/main" id="{0AA0B59E-0A56-29B6-5E6F-C1F2823BC994}"/>
                </a:ext>
              </a:extLst>
            </p:cNvPr>
            <p:cNvCxnSpPr/>
            <p:nvPr/>
          </p:nvCxnSpPr>
          <p:spPr>
            <a:xfrm>
              <a:off x="10681855" y="3429000"/>
              <a:ext cx="897771" cy="0"/>
            </a:xfrm>
            <a:prstGeom prst="line">
              <a:avLst/>
            </a:prstGeom>
            <a:ln>
              <a:headEnd type="none"/>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D2AAE1A-98F1-BA5A-EB84-AB28E181456A}"/>
                </a:ext>
              </a:extLst>
            </p:cNvPr>
            <p:cNvCxnSpPr/>
            <p:nvPr/>
          </p:nvCxnSpPr>
          <p:spPr>
            <a:xfrm flipH="1" flipV="1">
              <a:off x="10584873" y="3325091"/>
              <a:ext cx="96982" cy="103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8184030-36B6-74ED-FBB8-78BF12139D9D}"/>
                </a:ext>
              </a:extLst>
            </p:cNvPr>
            <p:cNvCxnSpPr/>
            <p:nvPr/>
          </p:nvCxnSpPr>
          <p:spPr>
            <a:xfrm flipH="1">
              <a:off x="9019309" y="3325091"/>
              <a:ext cx="156556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224C16EA-8810-3707-AFD6-D36C643E568C}"/>
              </a:ext>
            </a:extLst>
          </p:cNvPr>
          <p:cNvGrpSpPr/>
          <p:nvPr/>
        </p:nvGrpSpPr>
        <p:grpSpPr>
          <a:xfrm flipH="1">
            <a:off x="799219" y="2326687"/>
            <a:ext cx="3248933" cy="103909"/>
            <a:chOff x="9019309" y="3325091"/>
            <a:chExt cx="2560317" cy="103909"/>
          </a:xfrm>
        </p:grpSpPr>
        <p:cxnSp>
          <p:nvCxnSpPr>
            <p:cNvPr id="59" name="Straight Connector 58">
              <a:extLst>
                <a:ext uri="{FF2B5EF4-FFF2-40B4-BE49-F238E27FC236}">
                  <a16:creationId xmlns:a16="http://schemas.microsoft.com/office/drawing/2014/main" id="{57E63FA2-9551-DA9A-8E17-07C029B604F7}"/>
                </a:ext>
              </a:extLst>
            </p:cNvPr>
            <p:cNvCxnSpPr/>
            <p:nvPr/>
          </p:nvCxnSpPr>
          <p:spPr>
            <a:xfrm>
              <a:off x="10681855" y="3429000"/>
              <a:ext cx="897771" cy="0"/>
            </a:xfrm>
            <a:prstGeom prst="line">
              <a:avLst/>
            </a:prstGeom>
            <a:ln>
              <a:headEnd type="none"/>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4AE459B-721D-45A1-C77D-F5EB03DA5F4A}"/>
                </a:ext>
              </a:extLst>
            </p:cNvPr>
            <p:cNvCxnSpPr/>
            <p:nvPr/>
          </p:nvCxnSpPr>
          <p:spPr>
            <a:xfrm flipH="1" flipV="1">
              <a:off x="10584873" y="3325091"/>
              <a:ext cx="96982" cy="103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D0C5603-D4A1-13AF-F843-DAE59D912888}"/>
                </a:ext>
              </a:extLst>
            </p:cNvPr>
            <p:cNvCxnSpPr/>
            <p:nvPr/>
          </p:nvCxnSpPr>
          <p:spPr>
            <a:xfrm flipH="1">
              <a:off x="9019309" y="3325091"/>
              <a:ext cx="1565564"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1CC41917-4C35-8D10-5F15-5466FCB748E8}"/>
              </a:ext>
            </a:extLst>
          </p:cNvPr>
          <p:cNvSpPr/>
          <p:nvPr/>
        </p:nvSpPr>
        <p:spPr>
          <a:xfrm>
            <a:off x="4081824" y="2515180"/>
            <a:ext cx="4318811" cy="36933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b="1" dirty="0">
              <a:solidFill>
                <a:srgbClr val="FF0000"/>
              </a:solidFill>
              <a:latin typeface="Sakkal Majalla" panose="02000000000000000000" pitchFamily="2" charset="-78"/>
              <a:cs typeface="Sakkal Majalla" panose="02000000000000000000" pitchFamily="2" charset="-78"/>
            </a:endParaRPr>
          </a:p>
        </p:txBody>
      </p:sp>
      <p:sp>
        <p:nvSpPr>
          <p:cNvPr id="11" name="Rounded Rectangle 36">
            <a:extLst>
              <a:ext uri="{FF2B5EF4-FFF2-40B4-BE49-F238E27FC236}">
                <a16:creationId xmlns:a16="http://schemas.microsoft.com/office/drawing/2014/main" id="{0E55C4DF-ACFA-3805-D717-DB6F5766C635}"/>
              </a:ext>
            </a:extLst>
          </p:cNvPr>
          <p:cNvSpPr/>
          <p:nvPr/>
        </p:nvSpPr>
        <p:spPr>
          <a:xfrm>
            <a:off x="3050605" y="3344812"/>
            <a:ext cx="164592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3" name="Rectangle 12">
            <a:extLst>
              <a:ext uri="{FF2B5EF4-FFF2-40B4-BE49-F238E27FC236}">
                <a16:creationId xmlns:a16="http://schemas.microsoft.com/office/drawing/2014/main" id="{184C27AE-8033-DD2A-0810-760621E7E595}"/>
              </a:ext>
            </a:extLst>
          </p:cNvPr>
          <p:cNvSpPr/>
          <p:nvPr/>
        </p:nvSpPr>
        <p:spPr>
          <a:xfrm>
            <a:off x="2878142" y="4625949"/>
            <a:ext cx="1990846"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تعزيز الحوكمة المؤسسية</a:t>
            </a:r>
          </a:p>
        </p:txBody>
      </p:sp>
      <p:sp>
        <p:nvSpPr>
          <p:cNvPr id="14" name="Rounded Rectangle 33">
            <a:extLst>
              <a:ext uri="{FF2B5EF4-FFF2-40B4-BE49-F238E27FC236}">
                <a16:creationId xmlns:a16="http://schemas.microsoft.com/office/drawing/2014/main" id="{72D153E2-8F11-08B7-1187-C9BB337809FE}"/>
              </a:ext>
            </a:extLst>
          </p:cNvPr>
          <p:cNvSpPr/>
          <p:nvPr/>
        </p:nvSpPr>
        <p:spPr>
          <a:xfrm>
            <a:off x="2878143" y="3006179"/>
            <a:ext cx="1990845" cy="2476983"/>
          </a:xfrm>
          <a:prstGeom prst="round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5" name="TextBox 14">
            <a:extLst>
              <a:ext uri="{FF2B5EF4-FFF2-40B4-BE49-F238E27FC236}">
                <a16:creationId xmlns:a16="http://schemas.microsoft.com/office/drawing/2014/main" id="{A580F296-DF86-B498-F876-2ECE4654F902}"/>
              </a:ext>
            </a:extLst>
          </p:cNvPr>
          <p:cNvSpPr txBox="1"/>
          <p:nvPr/>
        </p:nvSpPr>
        <p:spPr>
          <a:xfrm>
            <a:off x="2878142" y="3072074"/>
            <a:ext cx="1990846"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04</a:t>
            </a:r>
          </a:p>
        </p:txBody>
      </p:sp>
      <p:sp>
        <p:nvSpPr>
          <p:cNvPr id="16" name="Rounded Rectangle 51">
            <a:extLst>
              <a:ext uri="{FF2B5EF4-FFF2-40B4-BE49-F238E27FC236}">
                <a16:creationId xmlns:a16="http://schemas.microsoft.com/office/drawing/2014/main" id="{D8CB03DB-8DFA-CC0D-A052-B2C921C5364B}"/>
              </a:ext>
            </a:extLst>
          </p:cNvPr>
          <p:cNvSpPr/>
          <p:nvPr/>
        </p:nvSpPr>
        <p:spPr>
          <a:xfrm>
            <a:off x="5293607" y="3344812"/>
            <a:ext cx="164592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7" name="Rectangle 16">
            <a:extLst>
              <a:ext uri="{FF2B5EF4-FFF2-40B4-BE49-F238E27FC236}">
                <a16:creationId xmlns:a16="http://schemas.microsoft.com/office/drawing/2014/main" id="{653F4465-7E07-645D-CC8E-1E39BE1AA09D}"/>
              </a:ext>
            </a:extLst>
          </p:cNvPr>
          <p:cNvSpPr/>
          <p:nvPr/>
        </p:nvSpPr>
        <p:spPr>
          <a:xfrm>
            <a:off x="5121144" y="4625949"/>
            <a:ext cx="1990843"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تحقيق الكفاءة التشغيلية وتقليل التكاليف</a:t>
            </a:r>
          </a:p>
        </p:txBody>
      </p:sp>
      <p:sp>
        <p:nvSpPr>
          <p:cNvPr id="18" name="Rounded Rectangle 54">
            <a:extLst>
              <a:ext uri="{FF2B5EF4-FFF2-40B4-BE49-F238E27FC236}">
                <a16:creationId xmlns:a16="http://schemas.microsoft.com/office/drawing/2014/main" id="{5D072520-053C-5F60-8E81-55FFC0E12AF9}"/>
              </a:ext>
            </a:extLst>
          </p:cNvPr>
          <p:cNvSpPr/>
          <p:nvPr/>
        </p:nvSpPr>
        <p:spPr>
          <a:xfrm>
            <a:off x="5121145" y="3006179"/>
            <a:ext cx="1990845" cy="2476983"/>
          </a:xfrm>
          <a:prstGeom prst="round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9" name="TextBox 18">
            <a:extLst>
              <a:ext uri="{FF2B5EF4-FFF2-40B4-BE49-F238E27FC236}">
                <a16:creationId xmlns:a16="http://schemas.microsoft.com/office/drawing/2014/main" id="{6F4B440B-7FA4-0C8C-3DBF-6F61BDD0138C}"/>
              </a:ext>
            </a:extLst>
          </p:cNvPr>
          <p:cNvSpPr txBox="1"/>
          <p:nvPr/>
        </p:nvSpPr>
        <p:spPr>
          <a:xfrm>
            <a:off x="5121144" y="3072074"/>
            <a:ext cx="1990846"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03</a:t>
            </a:r>
          </a:p>
        </p:txBody>
      </p:sp>
      <p:sp>
        <p:nvSpPr>
          <p:cNvPr id="20" name="Rounded Rectangle 65">
            <a:extLst>
              <a:ext uri="{FF2B5EF4-FFF2-40B4-BE49-F238E27FC236}">
                <a16:creationId xmlns:a16="http://schemas.microsoft.com/office/drawing/2014/main" id="{E99A50DD-C06B-308B-A45F-65E07F7C9AF7}"/>
              </a:ext>
            </a:extLst>
          </p:cNvPr>
          <p:cNvSpPr/>
          <p:nvPr/>
        </p:nvSpPr>
        <p:spPr>
          <a:xfrm>
            <a:off x="7536609" y="3344812"/>
            <a:ext cx="164592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1" name="Rectangle 20">
            <a:extLst>
              <a:ext uri="{FF2B5EF4-FFF2-40B4-BE49-F238E27FC236}">
                <a16:creationId xmlns:a16="http://schemas.microsoft.com/office/drawing/2014/main" id="{5A25910E-8B04-E0FC-A3CC-AA840485D51B}"/>
              </a:ext>
            </a:extLst>
          </p:cNvPr>
          <p:cNvSpPr/>
          <p:nvPr/>
        </p:nvSpPr>
        <p:spPr>
          <a:xfrm>
            <a:off x="7364146" y="4625949"/>
            <a:ext cx="1990845" cy="707886"/>
          </a:xfrm>
          <a:prstGeom prst="rect">
            <a:avLst/>
          </a:prstGeom>
        </p:spPr>
        <p:txBody>
          <a:bodyPr wrap="square" anchor="t" anchorCtr="0">
            <a:noAutofit/>
          </a:bodyPr>
          <a:lstStyle/>
          <a:p>
            <a:pPr marL="0" lvl="1" algn="ctr" rtl="1"/>
            <a:r>
              <a:rPr lang="ar-SA" b="1" dirty="0">
                <a:solidFill>
                  <a:schemeClr val="accent1"/>
                </a:solidFill>
                <a:latin typeface="Sakkal Majalla" panose="02000000000000000000" pitchFamily="2" charset="-78"/>
                <a:cs typeface="Sakkal Majalla" panose="02000000000000000000" pitchFamily="2" charset="-78"/>
              </a:rPr>
              <a:t>تمكين التحول الرقمي ودعم الابتكار</a:t>
            </a:r>
          </a:p>
        </p:txBody>
      </p:sp>
      <p:sp>
        <p:nvSpPr>
          <p:cNvPr id="22" name="Rounded Rectangle 68">
            <a:extLst>
              <a:ext uri="{FF2B5EF4-FFF2-40B4-BE49-F238E27FC236}">
                <a16:creationId xmlns:a16="http://schemas.microsoft.com/office/drawing/2014/main" id="{9C3EE62B-F71A-85E2-2575-4ECADB19C74F}"/>
              </a:ext>
            </a:extLst>
          </p:cNvPr>
          <p:cNvSpPr/>
          <p:nvPr/>
        </p:nvSpPr>
        <p:spPr>
          <a:xfrm>
            <a:off x="7364147" y="3006179"/>
            <a:ext cx="1990845" cy="2476983"/>
          </a:xfrm>
          <a:prstGeom prst="round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3" name="TextBox 22">
            <a:extLst>
              <a:ext uri="{FF2B5EF4-FFF2-40B4-BE49-F238E27FC236}">
                <a16:creationId xmlns:a16="http://schemas.microsoft.com/office/drawing/2014/main" id="{7B8F04E1-9E97-1426-6D1D-281F8CA5FDA0}"/>
              </a:ext>
            </a:extLst>
          </p:cNvPr>
          <p:cNvSpPr txBox="1"/>
          <p:nvPr/>
        </p:nvSpPr>
        <p:spPr>
          <a:xfrm>
            <a:off x="7364146" y="3072074"/>
            <a:ext cx="1990846"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02</a:t>
            </a:r>
          </a:p>
        </p:txBody>
      </p:sp>
      <p:sp>
        <p:nvSpPr>
          <p:cNvPr id="24" name="Rounded Rectangle 79">
            <a:extLst>
              <a:ext uri="{FF2B5EF4-FFF2-40B4-BE49-F238E27FC236}">
                <a16:creationId xmlns:a16="http://schemas.microsoft.com/office/drawing/2014/main" id="{4C5FE5AE-7745-21C6-7B04-5263713AF5DA}"/>
              </a:ext>
            </a:extLst>
          </p:cNvPr>
          <p:cNvSpPr/>
          <p:nvPr/>
        </p:nvSpPr>
        <p:spPr>
          <a:xfrm>
            <a:off x="9779613" y="3344812"/>
            <a:ext cx="164592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5" name="Rectangle 24">
            <a:extLst>
              <a:ext uri="{FF2B5EF4-FFF2-40B4-BE49-F238E27FC236}">
                <a16:creationId xmlns:a16="http://schemas.microsoft.com/office/drawing/2014/main" id="{9B4149F2-460A-E4D0-390A-B5A36EE563DC}"/>
              </a:ext>
            </a:extLst>
          </p:cNvPr>
          <p:cNvSpPr/>
          <p:nvPr/>
        </p:nvSpPr>
        <p:spPr>
          <a:xfrm>
            <a:off x="9607150" y="4625949"/>
            <a:ext cx="1990846"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تحسين جودة البيانات ودعم القرارات</a:t>
            </a:r>
          </a:p>
        </p:txBody>
      </p:sp>
      <p:sp>
        <p:nvSpPr>
          <p:cNvPr id="26" name="Rounded Rectangle 82">
            <a:extLst>
              <a:ext uri="{FF2B5EF4-FFF2-40B4-BE49-F238E27FC236}">
                <a16:creationId xmlns:a16="http://schemas.microsoft.com/office/drawing/2014/main" id="{9DCA34F0-8473-C55C-E7E8-622E8DCCF2CF}"/>
              </a:ext>
            </a:extLst>
          </p:cNvPr>
          <p:cNvSpPr/>
          <p:nvPr/>
        </p:nvSpPr>
        <p:spPr>
          <a:xfrm>
            <a:off x="9607151" y="3006179"/>
            <a:ext cx="1990845" cy="2476983"/>
          </a:xfrm>
          <a:prstGeom prst="round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27" name="TextBox 26">
            <a:extLst>
              <a:ext uri="{FF2B5EF4-FFF2-40B4-BE49-F238E27FC236}">
                <a16:creationId xmlns:a16="http://schemas.microsoft.com/office/drawing/2014/main" id="{EE9B949B-15AE-84B8-D943-93009640C7DF}"/>
              </a:ext>
            </a:extLst>
          </p:cNvPr>
          <p:cNvSpPr txBox="1"/>
          <p:nvPr/>
        </p:nvSpPr>
        <p:spPr>
          <a:xfrm>
            <a:off x="9607150" y="3072074"/>
            <a:ext cx="1990846"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01</a:t>
            </a:r>
          </a:p>
        </p:txBody>
      </p:sp>
      <p:sp>
        <p:nvSpPr>
          <p:cNvPr id="65" name="Rounded Rectangle 36">
            <a:extLst>
              <a:ext uri="{FF2B5EF4-FFF2-40B4-BE49-F238E27FC236}">
                <a16:creationId xmlns:a16="http://schemas.microsoft.com/office/drawing/2014/main" id="{0ED41A32-1175-68C7-F39C-694F48970D1D}"/>
              </a:ext>
            </a:extLst>
          </p:cNvPr>
          <p:cNvSpPr/>
          <p:nvPr/>
        </p:nvSpPr>
        <p:spPr>
          <a:xfrm>
            <a:off x="826707" y="3344812"/>
            <a:ext cx="1645920" cy="27432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75" name="Rectangle 74">
            <a:extLst>
              <a:ext uri="{FF2B5EF4-FFF2-40B4-BE49-F238E27FC236}">
                <a16:creationId xmlns:a16="http://schemas.microsoft.com/office/drawing/2014/main" id="{0A38A3FE-05F6-2E65-AB2F-6DE1F7D9A5D3}"/>
              </a:ext>
            </a:extLst>
          </p:cNvPr>
          <p:cNvSpPr/>
          <p:nvPr/>
        </p:nvSpPr>
        <p:spPr>
          <a:xfrm>
            <a:off x="654244" y="4625949"/>
            <a:ext cx="1990846"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تحسين تجربة المستفيد</a:t>
            </a:r>
          </a:p>
        </p:txBody>
      </p:sp>
      <p:sp>
        <p:nvSpPr>
          <p:cNvPr id="76" name="Rounded Rectangle 33">
            <a:extLst>
              <a:ext uri="{FF2B5EF4-FFF2-40B4-BE49-F238E27FC236}">
                <a16:creationId xmlns:a16="http://schemas.microsoft.com/office/drawing/2014/main" id="{9A7A97D7-58BE-771C-1A1E-CE4F77DE0489}"/>
              </a:ext>
            </a:extLst>
          </p:cNvPr>
          <p:cNvSpPr/>
          <p:nvPr/>
        </p:nvSpPr>
        <p:spPr>
          <a:xfrm>
            <a:off x="654245" y="3006179"/>
            <a:ext cx="1990845" cy="2476983"/>
          </a:xfrm>
          <a:prstGeom prst="round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77" name="TextBox 76">
            <a:extLst>
              <a:ext uri="{FF2B5EF4-FFF2-40B4-BE49-F238E27FC236}">
                <a16:creationId xmlns:a16="http://schemas.microsoft.com/office/drawing/2014/main" id="{E6F05FF7-BED4-069D-0E9C-3E15E653800B}"/>
              </a:ext>
            </a:extLst>
          </p:cNvPr>
          <p:cNvSpPr txBox="1"/>
          <p:nvPr/>
        </p:nvSpPr>
        <p:spPr>
          <a:xfrm>
            <a:off x="654244" y="3072074"/>
            <a:ext cx="1990846" cy="769441"/>
          </a:xfrm>
          <a:prstGeom prst="rect">
            <a:avLst/>
          </a:prstGeom>
          <a:noFill/>
        </p:spPr>
        <p:txBody>
          <a:bodyPr wrap="square" rtlCol="0">
            <a:spAutoFit/>
          </a:bodyPr>
          <a:lstStyle/>
          <a:p>
            <a:pPr algn="ctr"/>
            <a:r>
              <a:rPr lang="en-US" sz="4400" dirty="0">
                <a:solidFill>
                  <a:schemeClr val="accent1"/>
                </a:solidFill>
                <a:latin typeface="Sakkal Majalla" panose="02000000000000000000" pitchFamily="2" charset="-78"/>
                <a:cs typeface="Sakkal Majalla" panose="02000000000000000000" pitchFamily="2" charset="-78"/>
              </a:rPr>
              <a:t>05</a:t>
            </a:r>
          </a:p>
        </p:txBody>
      </p:sp>
      <p:grpSp>
        <p:nvGrpSpPr>
          <p:cNvPr id="81" name="Group 80">
            <a:extLst>
              <a:ext uri="{FF2B5EF4-FFF2-40B4-BE49-F238E27FC236}">
                <a16:creationId xmlns:a16="http://schemas.microsoft.com/office/drawing/2014/main" id="{EB49FAFB-47C8-7F0A-7E49-3396F2803D79}"/>
              </a:ext>
            </a:extLst>
          </p:cNvPr>
          <p:cNvGrpSpPr>
            <a:grpSpLocks noChangeAspect="1"/>
          </p:cNvGrpSpPr>
          <p:nvPr/>
        </p:nvGrpSpPr>
        <p:grpSpPr>
          <a:xfrm>
            <a:off x="10279614" y="3899941"/>
            <a:ext cx="661192" cy="651215"/>
            <a:chOff x="9999829" y="1879040"/>
            <a:chExt cx="291438" cy="292720"/>
          </a:xfrm>
          <a:solidFill>
            <a:srgbClr val="3FA0D9"/>
          </a:solidFill>
        </p:grpSpPr>
        <p:sp>
          <p:nvSpPr>
            <p:cNvPr id="82" name="Freeform 94">
              <a:extLst>
                <a:ext uri="{FF2B5EF4-FFF2-40B4-BE49-F238E27FC236}">
                  <a16:creationId xmlns:a16="http://schemas.microsoft.com/office/drawing/2014/main" id="{03765536-B127-BB52-06B8-B07865C94A8A}"/>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83" name="Oval 82">
              <a:extLst>
                <a:ext uri="{FF2B5EF4-FFF2-40B4-BE49-F238E27FC236}">
                  <a16:creationId xmlns:a16="http://schemas.microsoft.com/office/drawing/2014/main" id="{D0D35C04-F27D-C3A2-7CE4-FB2CC0CD5F5D}"/>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nvGrpSpPr>
          <p:cNvPr id="87" name="Group 86">
            <a:extLst>
              <a:ext uri="{FF2B5EF4-FFF2-40B4-BE49-F238E27FC236}">
                <a16:creationId xmlns:a16="http://schemas.microsoft.com/office/drawing/2014/main" id="{2CD6F75E-028D-0654-8622-557B29DF6D13}"/>
              </a:ext>
            </a:extLst>
          </p:cNvPr>
          <p:cNvGrpSpPr>
            <a:grpSpLocks noChangeAspect="1"/>
          </p:cNvGrpSpPr>
          <p:nvPr/>
        </p:nvGrpSpPr>
        <p:grpSpPr>
          <a:xfrm>
            <a:off x="8035086" y="3881629"/>
            <a:ext cx="661192" cy="651215"/>
            <a:chOff x="9999829" y="1879040"/>
            <a:chExt cx="291438" cy="292720"/>
          </a:xfrm>
          <a:solidFill>
            <a:srgbClr val="3FA0D9"/>
          </a:solidFill>
        </p:grpSpPr>
        <p:sp>
          <p:nvSpPr>
            <p:cNvPr id="88" name="Freeform 94">
              <a:extLst>
                <a:ext uri="{FF2B5EF4-FFF2-40B4-BE49-F238E27FC236}">
                  <a16:creationId xmlns:a16="http://schemas.microsoft.com/office/drawing/2014/main" id="{66FC99F2-EC5A-0E9B-028E-5650AF8A60DD}"/>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89" name="Oval 88">
              <a:extLst>
                <a:ext uri="{FF2B5EF4-FFF2-40B4-BE49-F238E27FC236}">
                  <a16:creationId xmlns:a16="http://schemas.microsoft.com/office/drawing/2014/main" id="{166FCABD-8C9D-5D44-692E-CF6C794827FD}"/>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nvGrpSpPr>
          <p:cNvPr id="93" name="Group 92">
            <a:extLst>
              <a:ext uri="{FF2B5EF4-FFF2-40B4-BE49-F238E27FC236}">
                <a16:creationId xmlns:a16="http://schemas.microsoft.com/office/drawing/2014/main" id="{76B8ACB4-D7FE-4B18-CC3D-480A6BDE798D}"/>
              </a:ext>
            </a:extLst>
          </p:cNvPr>
          <p:cNvGrpSpPr>
            <a:grpSpLocks noChangeAspect="1"/>
          </p:cNvGrpSpPr>
          <p:nvPr/>
        </p:nvGrpSpPr>
        <p:grpSpPr>
          <a:xfrm>
            <a:off x="5796533" y="3846046"/>
            <a:ext cx="661192" cy="651215"/>
            <a:chOff x="9999829" y="1879040"/>
            <a:chExt cx="291438" cy="292720"/>
          </a:xfrm>
          <a:solidFill>
            <a:srgbClr val="3FA0D9"/>
          </a:solidFill>
        </p:grpSpPr>
        <p:sp>
          <p:nvSpPr>
            <p:cNvPr id="94" name="Freeform 94">
              <a:extLst>
                <a:ext uri="{FF2B5EF4-FFF2-40B4-BE49-F238E27FC236}">
                  <a16:creationId xmlns:a16="http://schemas.microsoft.com/office/drawing/2014/main" id="{49148A01-5CCF-5119-0B30-409A477275A1}"/>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95" name="Oval 94">
              <a:extLst>
                <a:ext uri="{FF2B5EF4-FFF2-40B4-BE49-F238E27FC236}">
                  <a16:creationId xmlns:a16="http://schemas.microsoft.com/office/drawing/2014/main" id="{C8306984-7D03-B02D-A48D-D78853E9DE8D}"/>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nvGrpSpPr>
          <p:cNvPr id="99" name="Group 98">
            <a:extLst>
              <a:ext uri="{FF2B5EF4-FFF2-40B4-BE49-F238E27FC236}">
                <a16:creationId xmlns:a16="http://schemas.microsoft.com/office/drawing/2014/main" id="{50F113CD-6379-7A9D-BAC4-A33840ED6716}"/>
              </a:ext>
            </a:extLst>
          </p:cNvPr>
          <p:cNvGrpSpPr>
            <a:grpSpLocks noChangeAspect="1"/>
          </p:cNvGrpSpPr>
          <p:nvPr/>
        </p:nvGrpSpPr>
        <p:grpSpPr>
          <a:xfrm>
            <a:off x="3542969" y="3868282"/>
            <a:ext cx="661192" cy="651215"/>
            <a:chOff x="9999829" y="1879040"/>
            <a:chExt cx="291438" cy="292720"/>
          </a:xfrm>
          <a:solidFill>
            <a:srgbClr val="3FA0D9"/>
          </a:solidFill>
        </p:grpSpPr>
        <p:sp>
          <p:nvSpPr>
            <p:cNvPr id="100" name="Freeform 94">
              <a:extLst>
                <a:ext uri="{FF2B5EF4-FFF2-40B4-BE49-F238E27FC236}">
                  <a16:creationId xmlns:a16="http://schemas.microsoft.com/office/drawing/2014/main" id="{29FDCAC1-FD0D-5844-CD70-3B6F1507E391}"/>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101" name="Oval 100">
              <a:extLst>
                <a:ext uri="{FF2B5EF4-FFF2-40B4-BE49-F238E27FC236}">
                  <a16:creationId xmlns:a16="http://schemas.microsoft.com/office/drawing/2014/main" id="{9D79219F-2B98-E195-9823-F4D3D574B319}"/>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nvGrpSpPr>
          <p:cNvPr id="105" name="Group 104">
            <a:extLst>
              <a:ext uri="{FF2B5EF4-FFF2-40B4-BE49-F238E27FC236}">
                <a16:creationId xmlns:a16="http://schemas.microsoft.com/office/drawing/2014/main" id="{EFCDAD28-9B42-6844-6265-A6AAA537B0BD}"/>
              </a:ext>
            </a:extLst>
          </p:cNvPr>
          <p:cNvGrpSpPr>
            <a:grpSpLocks noChangeAspect="1"/>
          </p:cNvGrpSpPr>
          <p:nvPr/>
        </p:nvGrpSpPr>
        <p:grpSpPr>
          <a:xfrm>
            <a:off x="1338793" y="3859344"/>
            <a:ext cx="661192" cy="651215"/>
            <a:chOff x="9999829" y="1879040"/>
            <a:chExt cx="291438" cy="292720"/>
          </a:xfrm>
          <a:solidFill>
            <a:srgbClr val="3FA0D9"/>
          </a:solidFill>
        </p:grpSpPr>
        <p:sp>
          <p:nvSpPr>
            <p:cNvPr id="106" name="Freeform 94">
              <a:extLst>
                <a:ext uri="{FF2B5EF4-FFF2-40B4-BE49-F238E27FC236}">
                  <a16:creationId xmlns:a16="http://schemas.microsoft.com/office/drawing/2014/main" id="{63214300-1198-7661-830A-F591F26CBE5B}"/>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107" name="Oval 106">
              <a:extLst>
                <a:ext uri="{FF2B5EF4-FFF2-40B4-BE49-F238E27FC236}">
                  <a16:creationId xmlns:a16="http://schemas.microsoft.com/office/drawing/2014/main" id="{89EE9972-9867-BE13-C165-E93F4E13956F}"/>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sp>
        <p:nvSpPr>
          <p:cNvPr id="2" name="TextBox 1">
            <a:extLst>
              <a:ext uri="{FF2B5EF4-FFF2-40B4-BE49-F238E27FC236}">
                <a16:creationId xmlns:a16="http://schemas.microsoft.com/office/drawing/2014/main" id="{9E3D6527-BEB9-15EC-2D04-9C587B078F4F}"/>
              </a:ext>
            </a:extLst>
          </p:cNvPr>
          <p:cNvSpPr txBox="1"/>
          <p:nvPr/>
        </p:nvSpPr>
        <p:spPr>
          <a:xfrm>
            <a:off x="622170" y="1107454"/>
            <a:ext cx="10957456" cy="954107"/>
          </a:xfrm>
          <a:prstGeom prst="rect">
            <a:avLst/>
          </a:prstGeom>
          <a:noFill/>
        </p:spPr>
        <p:txBody>
          <a:bodyPr wrap="square" rtlCol="0">
            <a:spAutoFit/>
          </a:bodyPr>
          <a:lstStyle/>
          <a:p>
            <a:pPr algn="r" rtl="1">
              <a:lnSpc>
                <a:spcPct val="140000"/>
              </a:lnSpc>
              <a:spcAft>
                <a:spcPts val="1200"/>
              </a:spcAft>
            </a:pPr>
            <a:r>
              <a:rPr lang="ar-EG" sz="2000" dirty="0">
                <a:latin typeface="Sakkal Majalla" panose="02000000000000000000" pitchFamily="2" charset="-78"/>
                <a:cs typeface="Sakkal Majalla" panose="02000000000000000000" pitchFamily="2" charset="-78"/>
              </a:rPr>
              <a:t>تم تحديد الأهداف الاستراتيجية للبنية المؤسسية بشكل منبثق من التحليل الرباعي خلال تحليل الوضع الحالي، بالإضافة الى طبيعة متطلبات البنية المؤسسية التي تم جمعها من مختلف أصحاب المصلحة، وبالمواءمة مع كل من استراتيجية الأعمال واستراتيجية التحول الرقمي للهيئة.</a:t>
            </a:r>
            <a:endParaRPr lang="en-US" sz="20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9231182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F17E-C479-EC58-A559-0711BB977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573E1-EACC-D2E8-8A0E-3E7E768A1B04}"/>
              </a:ext>
            </a:extLst>
          </p:cNvPr>
          <p:cNvSpPr>
            <a:spLocks noGrp="1"/>
          </p:cNvSpPr>
          <p:nvPr>
            <p:ph type="title"/>
          </p:nvPr>
        </p:nvSpPr>
        <p:spPr/>
        <p:txBody>
          <a:bodyPr/>
          <a:lstStyle/>
          <a:p>
            <a:r>
              <a:rPr lang="ar-AE" b="1" dirty="0"/>
              <a:t>الرؤية المستقبلية لبنية البيانات</a:t>
            </a:r>
            <a:endParaRPr lang="en-AE" dirty="0"/>
          </a:p>
        </p:txBody>
      </p:sp>
      <p:sp>
        <p:nvSpPr>
          <p:cNvPr id="3" name="Slide Number Placeholder 2">
            <a:extLst>
              <a:ext uri="{FF2B5EF4-FFF2-40B4-BE49-F238E27FC236}">
                <a16:creationId xmlns:a16="http://schemas.microsoft.com/office/drawing/2014/main" id="{480072E6-EC79-B0F0-8C36-C5E2D45E6DE6}"/>
              </a:ext>
            </a:extLst>
          </p:cNvPr>
          <p:cNvSpPr>
            <a:spLocks noGrp="1"/>
          </p:cNvSpPr>
          <p:nvPr>
            <p:ph type="sldNum" sz="quarter" idx="12"/>
          </p:nvPr>
        </p:nvSpPr>
        <p:spPr/>
        <p:txBody>
          <a:bodyPr/>
          <a:lstStyle/>
          <a:p>
            <a:fld id="{0BE4EC83-A869-464E-AE9F-881796FB085E}" type="slidenum">
              <a:rPr lang="en-US" smtClean="0"/>
              <a:t>11</a:t>
            </a:fld>
            <a:endParaRPr lang="en-US"/>
          </a:p>
        </p:txBody>
      </p:sp>
      <p:sp>
        <p:nvSpPr>
          <p:cNvPr id="9" name="TextBox 8">
            <a:extLst>
              <a:ext uri="{FF2B5EF4-FFF2-40B4-BE49-F238E27FC236}">
                <a16:creationId xmlns:a16="http://schemas.microsoft.com/office/drawing/2014/main" id="{DA1967A5-9FB3-438B-6F99-CDC997B76C3C}"/>
              </a:ext>
            </a:extLst>
          </p:cNvPr>
          <p:cNvSpPr txBox="1"/>
          <p:nvPr/>
        </p:nvSpPr>
        <p:spPr>
          <a:xfrm>
            <a:off x="621452" y="1187542"/>
            <a:ext cx="10960947" cy="307777"/>
          </a:xfrm>
          <a:prstGeom prst="rect">
            <a:avLst/>
          </a:prstGeom>
          <a:noFill/>
        </p:spPr>
        <p:txBody>
          <a:bodyPr wrap="square">
            <a:spAutoFit/>
          </a:bodyPr>
          <a:lstStyle/>
          <a:p>
            <a:pPr algn="r" rtl="1">
              <a:buNone/>
            </a:pPr>
            <a:r>
              <a:rPr lang="ar-AE" sz="1400" b="1" dirty="0"/>
              <a:t>الرؤية المستقبلية لبنية البيانات</a:t>
            </a:r>
            <a:r>
              <a:rPr lang="ar-AE" sz="1400" dirty="0"/>
              <a:t> في ضوء الأهداف الاستراتيجية الخمسة يمكن تلخيصها كالتالي:</a:t>
            </a:r>
          </a:p>
        </p:txBody>
      </p:sp>
      <p:grpSp>
        <p:nvGrpSpPr>
          <p:cNvPr id="271" name="Group 270">
            <a:extLst>
              <a:ext uri="{FF2B5EF4-FFF2-40B4-BE49-F238E27FC236}">
                <a16:creationId xmlns:a16="http://schemas.microsoft.com/office/drawing/2014/main" id="{12B21F7C-17A8-88E4-62C6-37EB755B2337}"/>
              </a:ext>
            </a:extLst>
          </p:cNvPr>
          <p:cNvGrpSpPr/>
          <p:nvPr/>
        </p:nvGrpSpPr>
        <p:grpSpPr>
          <a:xfrm>
            <a:off x="924448" y="2485434"/>
            <a:ext cx="8007298" cy="431507"/>
            <a:chOff x="924448" y="2485434"/>
            <a:chExt cx="8007298" cy="431507"/>
          </a:xfrm>
        </p:grpSpPr>
        <p:grpSp>
          <p:nvGrpSpPr>
            <p:cNvPr id="5" name="Group 4">
              <a:extLst>
                <a:ext uri="{FF2B5EF4-FFF2-40B4-BE49-F238E27FC236}">
                  <a16:creationId xmlns:a16="http://schemas.microsoft.com/office/drawing/2014/main" id="{E833C959-98FE-7E7B-D6B0-0ED9F2ADB8DE}"/>
                </a:ext>
              </a:extLst>
            </p:cNvPr>
            <p:cNvGrpSpPr/>
            <p:nvPr/>
          </p:nvGrpSpPr>
          <p:grpSpPr>
            <a:xfrm>
              <a:off x="8700500" y="2612744"/>
              <a:ext cx="231246" cy="172008"/>
              <a:chOff x="4833908" y="763778"/>
              <a:chExt cx="6643795" cy="4323758"/>
            </a:xfrm>
          </p:grpSpPr>
          <p:grpSp>
            <p:nvGrpSpPr>
              <p:cNvPr id="10" name="Group 9">
                <a:extLst>
                  <a:ext uri="{FF2B5EF4-FFF2-40B4-BE49-F238E27FC236}">
                    <a16:creationId xmlns:a16="http://schemas.microsoft.com/office/drawing/2014/main" id="{7B2E3FA3-74EF-FA1B-E299-95EDA927F204}"/>
                  </a:ext>
                </a:extLst>
              </p:cNvPr>
              <p:cNvGrpSpPr/>
              <p:nvPr/>
            </p:nvGrpSpPr>
            <p:grpSpPr>
              <a:xfrm>
                <a:off x="9359901" y="1409068"/>
                <a:ext cx="2117802" cy="3633120"/>
                <a:chOff x="9359901" y="1409068"/>
                <a:chExt cx="2117802" cy="3633120"/>
              </a:xfrm>
            </p:grpSpPr>
            <p:sp>
              <p:nvSpPr>
                <p:cNvPr id="23" name="Decision 22">
                  <a:extLst>
                    <a:ext uri="{FF2B5EF4-FFF2-40B4-BE49-F238E27FC236}">
                      <a16:creationId xmlns:a16="http://schemas.microsoft.com/office/drawing/2014/main" id="{70C28952-43D7-41BB-6171-8A9D6966F32E}"/>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4" name="Decision 23">
                  <a:extLst>
                    <a:ext uri="{FF2B5EF4-FFF2-40B4-BE49-F238E27FC236}">
                      <a16:creationId xmlns:a16="http://schemas.microsoft.com/office/drawing/2014/main" id="{4B70B927-4791-D31A-DCC1-C78B0AA37465}"/>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5" name="Decision 24">
                  <a:extLst>
                    <a:ext uri="{FF2B5EF4-FFF2-40B4-BE49-F238E27FC236}">
                      <a16:creationId xmlns:a16="http://schemas.microsoft.com/office/drawing/2014/main" id="{9F25A194-68C2-CA27-37A0-9E2C735AC35B}"/>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1" name="Decision 10">
                <a:extLst>
                  <a:ext uri="{FF2B5EF4-FFF2-40B4-BE49-F238E27FC236}">
                    <a16:creationId xmlns:a16="http://schemas.microsoft.com/office/drawing/2014/main" id="{62750524-E90C-31D0-B685-149DF8C1692A}"/>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2" name="Group 11">
                <a:extLst>
                  <a:ext uri="{FF2B5EF4-FFF2-40B4-BE49-F238E27FC236}">
                    <a16:creationId xmlns:a16="http://schemas.microsoft.com/office/drawing/2014/main" id="{1BEA908D-43D9-B043-CBCE-0D430DDBADFB}"/>
                  </a:ext>
                </a:extLst>
              </p:cNvPr>
              <p:cNvGrpSpPr/>
              <p:nvPr/>
            </p:nvGrpSpPr>
            <p:grpSpPr>
              <a:xfrm>
                <a:off x="8200175" y="763778"/>
                <a:ext cx="1032935" cy="3229447"/>
                <a:chOff x="8200175" y="763778"/>
                <a:chExt cx="1032935" cy="3229447"/>
              </a:xfrm>
            </p:grpSpPr>
            <p:sp>
              <p:nvSpPr>
                <p:cNvPr id="21" name="Decision 20">
                  <a:extLst>
                    <a:ext uri="{FF2B5EF4-FFF2-40B4-BE49-F238E27FC236}">
                      <a16:creationId xmlns:a16="http://schemas.microsoft.com/office/drawing/2014/main" id="{105A0528-2CB7-B5B9-E735-61F492F2F04E}"/>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2" name="Decision 21">
                  <a:extLst>
                    <a:ext uri="{FF2B5EF4-FFF2-40B4-BE49-F238E27FC236}">
                      <a16:creationId xmlns:a16="http://schemas.microsoft.com/office/drawing/2014/main" id="{714ADC8C-0429-E1D0-0DB7-137A9353E871}"/>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3" name="Group 12">
                <a:extLst>
                  <a:ext uri="{FF2B5EF4-FFF2-40B4-BE49-F238E27FC236}">
                    <a16:creationId xmlns:a16="http://schemas.microsoft.com/office/drawing/2014/main" id="{5CDD252A-2DA3-1649-BB8F-81655359A4C3}"/>
                  </a:ext>
                </a:extLst>
              </p:cNvPr>
              <p:cNvGrpSpPr/>
              <p:nvPr/>
            </p:nvGrpSpPr>
            <p:grpSpPr>
              <a:xfrm>
                <a:off x="7068934" y="763778"/>
                <a:ext cx="1057892" cy="3229449"/>
                <a:chOff x="7068934" y="763778"/>
                <a:chExt cx="1057892" cy="3229449"/>
              </a:xfrm>
            </p:grpSpPr>
            <p:sp>
              <p:nvSpPr>
                <p:cNvPr id="19" name="Decision 18">
                  <a:extLst>
                    <a:ext uri="{FF2B5EF4-FFF2-40B4-BE49-F238E27FC236}">
                      <a16:creationId xmlns:a16="http://schemas.microsoft.com/office/drawing/2014/main" id="{7E6D9A89-638B-A624-5BBE-7BFE65EBEA39}"/>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0" name="Decision 19">
                  <a:extLst>
                    <a:ext uri="{FF2B5EF4-FFF2-40B4-BE49-F238E27FC236}">
                      <a16:creationId xmlns:a16="http://schemas.microsoft.com/office/drawing/2014/main" id="{A9E905AB-401E-CAEB-4B11-2B9320AE4A0B}"/>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4" name="Group 13">
                <a:extLst>
                  <a:ext uri="{FF2B5EF4-FFF2-40B4-BE49-F238E27FC236}">
                    <a16:creationId xmlns:a16="http://schemas.microsoft.com/office/drawing/2014/main" id="{2C629CE8-3EC1-C564-8295-ABB22C1A6B62}"/>
                  </a:ext>
                </a:extLst>
              </p:cNvPr>
              <p:cNvGrpSpPr/>
              <p:nvPr/>
            </p:nvGrpSpPr>
            <p:grpSpPr>
              <a:xfrm>
                <a:off x="4833908" y="1454416"/>
                <a:ext cx="2117803" cy="3633120"/>
                <a:chOff x="4833908" y="1454416"/>
                <a:chExt cx="2117803" cy="3633120"/>
              </a:xfrm>
            </p:grpSpPr>
            <p:sp>
              <p:nvSpPr>
                <p:cNvPr id="16" name="Decision 15">
                  <a:extLst>
                    <a:ext uri="{FF2B5EF4-FFF2-40B4-BE49-F238E27FC236}">
                      <a16:creationId xmlns:a16="http://schemas.microsoft.com/office/drawing/2014/main" id="{C02173B4-8BA9-35D9-6AE2-CE20B5F4B887}"/>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7" name="Decision 16">
                  <a:extLst>
                    <a:ext uri="{FF2B5EF4-FFF2-40B4-BE49-F238E27FC236}">
                      <a16:creationId xmlns:a16="http://schemas.microsoft.com/office/drawing/2014/main" id="{446A0B9A-F427-72B1-7BC3-4E6D1D030129}"/>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8" name="Decision 17">
                  <a:extLst>
                    <a:ext uri="{FF2B5EF4-FFF2-40B4-BE49-F238E27FC236}">
                      <a16:creationId xmlns:a16="http://schemas.microsoft.com/office/drawing/2014/main" id="{EBADFB28-481A-67A2-8CEB-B97B856F8357}"/>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5" name="Decision 14">
                <a:extLst>
                  <a:ext uri="{FF2B5EF4-FFF2-40B4-BE49-F238E27FC236}">
                    <a16:creationId xmlns:a16="http://schemas.microsoft.com/office/drawing/2014/main" id="{4DDA01B4-568A-E00C-4C3D-9E7702E065AA}"/>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6" name="Freeform 5">
              <a:extLst>
                <a:ext uri="{FF2B5EF4-FFF2-40B4-BE49-F238E27FC236}">
                  <a16:creationId xmlns:a16="http://schemas.microsoft.com/office/drawing/2014/main" id="{E395B9D6-039E-E55A-D9BF-B4A419BB572A}"/>
                </a:ext>
              </a:extLst>
            </p:cNvPr>
            <p:cNvSpPr/>
            <p:nvPr/>
          </p:nvSpPr>
          <p:spPr>
            <a:xfrm>
              <a:off x="924448" y="2485434"/>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7" name="TextBox 6">
              <a:extLst>
                <a:ext uri="{FF2B5EF4-FFF2-40B4-BE49-F238E27FC236}">
                  <a16:creationId xmlns:a16="http://schemas.microsoft.com/office/drawing/2014/main" id="{CC782EB0-DDC3-EDDB-EB05-01C5EF608055}"/>
                </a:ext>
              </a:extLst>
            </p:cNvPr>
            <p:cNvSpPr txBox="1"/>
            <p:nvPr/>
          </p:nvSpPr>
          <p:spPr>
            <a:xfrm>
              <a:off x="1164493" y="2586956"/>
              <a:ext cx="7272020" cy="245093"/>
            </a:xfrm>
            <a:prstGeom prst="rect">
              <a:avLst/>
            </a:prstGeom>
            <a:noFill/>
          </p:spPr>
          <p:txBody>
            <a:bodyPr wrap="square" anchor="ctr">
              <a:spAutoFit/>
            </a:bodyPr>
            <a:lstStyle/>
            <a:p>
              <a:pPr algn="r" rtl="1"/>
              <a:r>
                <a:rPr lang="ar-AE" sz="1400" dirty="0"/>
                <a:t>تطبيق أدوات ذكاء الأعمال لتقديم لوحات مؤشرات وتقارير تنبؤية تساعد في الرصد والتقييم المستمر.</a:t>
              </a:r>
            </a:p>
          </p:txBody>
        </p:sp>
      </p:grpSp>
      <p:grpSp>
        <p:nvGrpSpPr>
          <p:cNvPr id="270" name="Group 269">
            <a:extLst>
              <a:ext uri="{FF2B5EF4-FFF2-40B4-BE49-F238E27FC236}">
                <a16:creationId xmlns:a16="http://schemas.microsoft.com/office/drawing/2014/main" id="{BBB411D1-ED51-B8D6-6B1F-4B83DFBBF4F5}"/>
              </a:ext>
            </a:extLst>
          </p:cNvPr>
          <p:cNvGrpSpPr/>
          <p:nvPr/>
        </p:nvGrpSpPr>
        <p:grpSpPr>
          <a:xfrm>
            <a:off x="924448" y="1929449"/>
            <a:ext cx="8007298" cy="431507"/>
            <a:chOff x="924448" y="1635161"/>
            <a:chExt cx="8007298" cy="431507"/>
          </a:xfrm>
        </p:grpSpPr>
        <p:grpSp>
          <p:nvGrpSpPr>
            <p:cNvPr id="28" name="Group 27">
              <a:extLst>
                <a:ext uri="{FF2B5EF4-FFF2-40B4-BE49-F238E27FC236}">
                  <a16:creationId xmlns:a16="http://schemas.microsoft.com/office/drawing/2014/main" id="{5593C8E5-CAD4-ABA3-387F-9487E1773BCA}"/>
                </a:ext>
              </a:extLst>
            </p:cNvPr>
            <p:cNvGrpSpPr/>
            <p:nvPr/>
          </p:nvGrpSpPr>
          <p:grpSpPr>
            <a:xfrm>
              <a:off x="8700500" y="1762471"/>
              <a:ext cx="231246" cy="172008"/>
              <a:chOff x="4833908" y="763778"/>
              <a:chExt cx="6643795" cy="4323758"/>
            </a:xfrm>
          </p:grpSpPr>
          <p:grpSp>
            <p:nvGrpSpPr>
              <p:cNvPr id="31" name="Group 30">
                <a:extLst>
                  <a:ext uri="{FF2B5EF4-FFF2-40B4-BE49-F238E27FC236}">
                    <a16:creationId xmlns:a16="http://schemas.microsoft.com/office/drawing/2014/main" id="{28812D12-1FC9-0F46-5A6F-3BB2F4AE5705}"/>
                  </a:ext>
                </a:extLst>
              </p:cNvPr>
              <p:cNvGrpSpPr/>
              <p:nvPr/>
            </p:nvGrpSpPr>
            <p:grpSpPr>
              <a:xfrm>
                <a:off x="9359901" y="1409068"/>
                <a:ext cx="2117802" cy="3633120"/>
                <a:chOff x="9359901" y="1409068"/>
                <a:chExt cx="2117802" cy="3633120"/>
              </a:xfrm>
            </p:grpSpPr>
            <p:sp>
              <p:nvSpPr>
                <p:cNvPr id="44" name="Decision 43">
                  <a:extLst>
                    <a:ext uri="{FF2B5EF4-FFF2-40B4-BE49-F238E27FC236}">
                      <a16:creationId xmlns:a16="http://schemas.microsoft.com/office/drawing/2014/main" id="{A21F9632-098E-F59B-7539-1BCF40A58FA5}"/>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45" name="Decision 44">
                  <a:extLst>
                    <a:ext uri="{FF2B5EF4-FFF2-40B4-BE49-F238E27FC236}">
                      <a16:creationId xmlns:a16="http://schemas.microsoft.com/office/drawing/2014/main" id="{6E686070-8CE0-E515-CEE7-44C945FB24A8}"/>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46" name="Decision 45">
                  <a:extLst>
                    <a:ext uri="{FF2B5EF4-FFF2-40B4-BE49-F238E27FC236}">
                      <a16:creationId xmlns:a16="http://schemas.microsoft.com/office/drawing/2014/main" id="{E1E243E3-B623-25AF-0F4C-4BC42331ABFC}"/>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32" name="Decision 31">
                <a:extLst>
                  <a:ext uri="{FF2B5EF4-FFF2-40B4-BE49-F238E27FC236}">
                    <a16:creationId xmlns:a16="http://schemas.microsoft.com/office/drawing/2014/main" id="{21C645D9-AF5C-3E0B-45DF-B7A19D0F3C52}"/>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33" name="Group 32">
                <a:extLst>
                  <a:ext uri="{FF2B5EF4-FFF2-40B4-BE49-F238E27FC236}">
                    <a16:creationId xmlns:a16="http://schemas.microsoft.com/office/drawing/2014/main" id="{000D2912-ADC7-B300-4DAF-27BE250AD16F}"/>
                  </a:ext>
                </a:extLst>
              </p:cNvPr>
              <p:cNvGrpSpPr/>
              <p:nvPr/>
            </p:nvGrpSpPr>
            <p:grpSpPr>
              <a:xfrm>
                <a:off x="8200175" y="763778"/>
                <a:ext cx="1032935" cy="3229447"/>
                <a:chOff x="8200175" y="763778"/>
                <a:chExt cx="1032935" cy="3229447"/>
              </a:xfrm>
            </p:grpSpPr>
            <p:sp>
              <p:nvSpPr>
                <p:cNvPr id="42" name="Decision 41">
                  <a:extLst>
                    <a:ext uri="{FF2B5EF4-FFF2-40B4-BE49-F238E27FC236}">
                      <a16:creationId xmlns:a16="http://schemas.microsoft.com/office/drawing/2014/main" id="{59D63446-B259-1E0F-A65E-1A9BD24A40AB}"/>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43" name="Decision 42">
                  <a:extLst>
                    <a:ext uri="{FF2B5EF4-FFF2-40B4-BE49-F238E27FC236}">
                      <a16:creationId xmlns:a16="http://schemas.microsoft.com/office/drawing/2014/main" id="{57B3C0FF-1639-B438-8168-FF905F962E41}"/>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34" name="Group 33">
                <a:extLst>
                  <a:ext uri="{FF2B5EF4-FFF2-40B4-BE49-F238E27FC236}">
                    <a16:creationId xmlns:a16="http://schemas.microsoft.com/office/drawing/2014/main" id="{5D6B8F0E-7282-1A8F-A3F4-BA31380443EC}"/>
                  </a:ext>
                </a:extLst>
              </p:cNvPr>
              <p:cNvGrpSpPr/>
              <p:nvPr/>
            </p:nvGrpSpPr>
            <p:grpSpPr>
              <a:xfrm>
                <a:off x="7068934" y="763778"/>
                <a:ext cx="1057892" cy="3229449"/>
                <a:chOff x="7068934" y="763778"/>
                <a:chExt cx="1057892" cy="3229449"/>
              </a:xfrm>
            </p:grpSpPr>
            <p:sp>
              <p:nvSpPr>
                <p:cNvPr id="40" name="Decision 39">
                  <a:extLst>
                    <a:ext uri="{FF2B5EF4-FFF2-40B4-BE49-F238E27FC236}">
                      <a16:creationId xmlns:a16="http://schemas.microsoft.com/office/drawing/2014/main" id="{924227B9-C719-DB7D-2A06-51EAE977555A}"/>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41" name="Decision 40">
                  <a:extLst>
                    <a:ext uri="{FF2B5EF4-FFF2-40B4-BE49-F238E27FC236}">
                      <a16:creationId xmlns:a16="http://schemas.microsoft.com/office/drawing/2014/main" id="{7B36E2C7-4513-8D25-C706-3396D9AA43DE}"/>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35" name="Group 34">
                <a:extLst>
                  <a:ext uri="{FF2B5EF4-FFF2-40B4-BE49-F238E27FC236}">
                    <a16:creationId xmlns:a16="http://schemas.microsoft.com/office/drawing/2014/main" id="{D105CAF0-07AF-DDD5-2DDD-B644C655E9DC}"/>
                  </a:ext>
                </a:extLst>
              </p:cNvPr>
              <p:cNvGrpSpPr/>
              <p:nvPr/>
            </p:nvGrpSpPr>
            <p:grpSpPr>
              <a:xfrm>
                <a:off x="4833908" y="1454416"/>
                <a:ext cx="2117803" cy="3633120"/>
                <a:chOff x="4833908" y="1454416"/>
                <a:chExt cx="2117803" cy="3633120"/>
              </a:xfrm>
            </p:grpSpPr>
            <p:sp>
              <p:nvSpPr>
                <p:cNvPr id="37" name="Decision 36">
                  <a:extLst>
                    <a:ext uri="{FF2B5EF4-FFF2-40B4-BE49-F238E27FC236}">
                      <a16:creationId xmlns:a16="http://schemas.microsoft.com/office/drawing/2014/main" id="{7EA2F14A-3100-AFFE-15DC-4A6248D30950}"/>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8" name="Decision 37">
                  <a:extLst>
                    <a:ext uri="{FF2B5EF4-FFF2-40B4-BE49-F238E27FC236}">
                      <a16:creationId xmlns:a16="http://schemas.microsoft.com/office/drawing/2014/main" id="{8EB3A691-0879-A04E-32A2-498D7699A202}"/>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9" name="Decision 38">
                  <a:extLst>
                    <a:ext uri="{FF2B5EF4-FFF2-40B4-BE49-F238E27FC236}">
                      <a16:creationId xmlns:a16="http://schemas.microsoft.com/office/drawing/2014/main" id="{76E48DEE-D221-CE72-6E21-DE1333EB60B9}"/>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36" name="Decision 35">
                <a:extLst>
                  <a:ext uri="{FF2B5EF4-FFF2-40B4-BE49-F238E27FC236}">
                    <a16:creationId xmlns:a16="http://schemas.microsoft.com/office/drawing/2014/main" id="{02B05E45-1BE5-3A29-0120-780076AC6CC0}"/>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9" name="Freeform 28">
              <a:extLst>
                <a:ext uri="{FF2B5EF4-FFF2-40B4-BE49-F238E27FC236}">
                  <a16:creationId xmlns:a16="http://schemas.microsoft.com/office/drawing/2014/main" id="{D7EBB98F-5021-7E79-93B9-1EF8B63E09C9}"/>
                </a:ext>
              </a:extLst>
            </p:cNvPr>
            <p:cNvSpPr/>
            <p:nvPr/>
          </p:nvSpPr>
          <p:spPr>
            <a:xfrm>
              <a:off x="924448" y="1635161"/>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30" name="TextBox 29">
              <a:extLst>
                <a:ext uri="{FF2B5EF4-FFF2-40B4-BE49-F238E27FC236}">
                  <a16:creationId xmlns:a16="http://schemas.microsoft.com/office/drawing/2014/main" id="{33B1AF6A-A01E-1A02-E850-F3B9D906CA8E}"/>
                </a:ext>
              </a:extLst>
            </p:cNvPr>
            <p:cNvSpPr txBox="1"/>
            <p:nvPr/>
          </p:nvSpPr>
          <p:spPr>
            <a:xfrm>
              <a:off x="1164493" y="1736683"/>
              <a:ext cx="7272020" cy="245093"/>
            </a:xfrm>
            <a:prstGeom prst="rect">
              <a:avLst/>
            </a:prstGeom>
            <a:noFill/>
          </p:spPr>
          <p:txBody>
            <a:bodyPr wrap="square" anchor="ctr">
              <a:spAutoFit/>
            </a:bodyPr>
            <a:lstStyle/>
            <a:p>
              <a:pPr algn="r" rtl="1"/>
              <a:r>
                <a:rPr lang="ar-AE" sz="1400" dirty="0"/>
                <a:t>توحيد معايير البيانات وحوكمتها لتوفير قاعدة موثوقة وشاملة تدعم التحليلات المتقدمة وتمكّن الإدارة العليا من اتخاذ قرارات دقيقة.</a:t>
              </a:r>
            </a:p>
          </p:txBody>
        </p:sp>
      </p:grpSp>
      <p:grpSp>
        <p:nvGrpSpPr>
          <p:cNvPr id="273" name="Group 272">
            <a:extLst>
              <a:ext uri="{FF2B5EF4-FFF2-40B4-BE49-F238E27FC236}">
                <a16:creationId xmlns:a16="http://schemas.microsoft.com/office/drawing/2014/main" id="{139208CD-C51C-64C0-8133-FF532DCE48C3}"/>
              </a:ext>
            </a:extLst>
          </p:cNvPr>
          <p:cNvGrpSpPr/>
          <p:nvPr/>
        </p:nvGrpSpPr>
        <p:grpSpPr>
          <a:xfrm>
            <a:off x="924448" y="4007310"/>
            <a:ext cx="8007298" cy="431507"/>
            <a:chOff x="924448" y="4185981"/>
            <a:chExt cx="8007298" cy="431507"/>
          </a:xfrm>
        </p:grpSpPr>
        <p:grpSp>
          <p:nvGrpSpPr>
            <p:cNvPr id="102" name="Group 101">
              <a:extLst>
                <a:ext uri="{FF2B5EF4-FFF2-40B4-BE49-F238E27FC236}">
                  <a16:creationId xmlns:a16="http://schemas.microsoft.com/office/drawing/2014/main" id="{A484D6A2-1133-7A68-95CB-F286791CD6BA}"/>
                </a:ext>
              </a:extLst>
            </p:cNvPr>
            <p:cNvGrpSpPr/>
            <p:nvPr/>
          </p:nvGrpSpPr>
          <p:grpSpPr>
            <a:xfrm>
              <a:off x="8700500" y="4313291"/>
              <a:ext cx="231246" cy="172008"/>
              <a:chOff x="4833908" y="763778"/>
              <a:chExt cx="6643795" cy="4323758"/>
            </a:xfrm>
          </p:grpSpPr>
          <p:grpSp>
            <p:nvGrpSpPr>
              <p:cNvPr id="105" name="Group 104">
                <a:extLst>
                  <a:ext uri="{FF2B5EF4-FFF2-40B4-BE49-F238E27FC236}">
                    <a16:creationId xmlns:a16="http://schemas.microsoft.com/office/drawing/2014/main" id="{416682A0-608D-0B8C-AC2B-41D0A705C005}"/>
                  </a:ext>
                </a:extLst>
              </p:cNvPr>
              <p:cNvGrpSpPr/>
              <p:nvPr/>
            </p:nvGrpSpPr>
            <p:grpSpPr>
              <a:xfrm>
                <a:off x="9359901" y="1409068"/>
                <a:ext cx="2117802" cy="3633120"/>
                <a:chOff x="9359901" y="1409068"/>
                <a:chExt cx="2117802" cy="3633120"/>
              </a:xfrm>
            </p:grpSpPr>
            <p:sp>
              <p:nvSpPr>
                <p:cNvPr id="118" name="Decision 117">
                  <a:extLst>
                    <a:ext uri="{FF2B5EF4-FFF2-40B4-BE49-F238E27FC236}">
                      <a16:creationId xmlns:a16="http://schemas.microsoft.com/office/drawing/2014/main" id="{6C074AE6-0A3A-9141-90BF-012C055A2558}"/>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9" name="Decision 118">
                  <a:extLst>
                    <a:ext uri="{FF2B5EF4-FFF2-40B4-BE49-F238E27FC236}">
                      <a16:creationId xmlns:a16="http://schemas.microsoft.com/office/drawing/2014/main" id="{85367331-9619-66F5-439C-390D3D7C8421}"/>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20" name="Decision 119">
                  <a:extLst>
                    <a:ext uri="{FF2B5EF4-FFF2-40B4-BE49-F238E27FC236}">
                      <a16:creationId xmlns:a16="http://schemas.microsoft.com/office/drawing/2014/main" id="{70D304E7-BE03-B939-461A-5AB11DAAF77E}"/>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06" name="Decision 105">
                <a:extLst>
                  <a:ext uri="{FF2B5EF4-FFF2-40B4-BE49-F238E27FC236}">
                    <a16:creationId xmlns:a16="http://schemas.microsoft.com/office/drawing/2014/main" id="{3D0FFFFE-8DDB-4DF2-8394-15B9ACBC1FAE}"/>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07" name="Group 106">
                <a:extLst>
                  <a:ext uri="{FF2B5EF4-FFF2-40B4-BE49-F238E27FC236}">
                    <a16:creationId xmlns:a16="http://schemas.microsoft.com/office/drawing/2014/main" id="{674EBCEC-6241-56B7-2F45-DE10CA97EF8B}"/>
                  </a:ext>
                </a:extLst>
              </p:cNvPr>
              <p:cNvGrpSpPr/>
              <p:nvPr/>
            </p:nvGrpSpPr>
            <p:grpSpPr>
              <a:xfrm>
                <a:off x="8200175" y="763778"/>
                <a:ext cx="1032935" cy="3229447"/>
                <a:chOff x="8200175" y="763778"/>
                <a:chExt cx="1032935" cy="3229447"/>
              </a:xfrm>
            </p:grpSpPr>
            <p:sp>
              <p:nvSpPr>
                <p:cNvPr id="116" name="Decision 115">
                  <a:extLst>
                    <a:ext uri="{FF2B5EF4-FFF2-40B4-BE49-F238E27FC236}">
                      <a16:creationId xmlns:a16="http://schemas.microsoft.com/office/drawing/2014/main" id="{03335619-FB60-BABC-D2B3-F6D23DE1DD4B}"/>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7" name="Decision 116">
                  <a:extLst>
                    <a:ext uri="{FF2B5EF4-FFF2-40B4-BE49-F238E27FC236}">
                      <a16:creationId xmlns:a16="http://schemas.microsoft.com/office/drawing/2014/main" id="{9A257294-13D6-563A-DAB0-96E4EE8A32F6}"/>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08" name="Group 107">
                <a:extLst>
                  <a:ext uri="{FF2B5EF4-FFF2-40B4-BE49-F238E27FC236}">
                    <a16:creationId xmlns:a16="http://schemas.microsoft.com/office/drawing/2014/main" id="{1D809AB0-4633-789E-E2F3-24B9F24F3CAD}"/>
                  </a:ext>
                </a:extLst>
              </p:cNvPr>
              <p:cNvGrpSpPr/>
              <p:nvPr/>
            </p:nvGrpSpPr>
            <p:grpSpPr>
              <a:xfrm>
                <a:off x="7068934" y="763778"/>
                <a:ext cx="1057892" cy="3229449"/>
                <a:chOff x="7068934" y="763778"/>
                <a:chExt cx="1057892" cy="3229449"/>
              </a:xfrm>
            </p:grpSpPr>
            <p:sp>
              <p:nvSpPr>
                <p:cNvPr id="114" name="Decision 113">
                  <a:extLst>
                    <a:ext uri="{FF2B5EF4-FFF2-40B4-BE49-F238E27FC236}">
                      <a16:creationId xmlns:a16="http://schemas.microsoft.com/office/drawing/2014/main" id="{1838B18D-56D0-A478-22E6-74E4A086E248}"/>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5" name="Decision 114">
                  <a:extLst>
                    <a:ext uri="{FF2B5EF4-FFF2-40B4-BE49-F238E27FC236}">
                      <a16:creationId xmlns:a16="http://schemas.microsoft.com/office/drawing/2014/main" id="{1AF3B0D7-596E-B166-0E96-B00D7C994292}"/>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09" name="Group 108">
                <a:extLst>
                  <a:ext uri="{FF2B5EF4-FFF2-40B4-BE49-F238E27FC236}">
                    <a16:creationId xmlns:a16="http://schemas.microsoft.com/office/drawing/2014/main" id="{28849B71-0CA5-AC27-E188-C06A55B6B852}"/>
                  </a:ext>
                </a:extLst>
              </p:cNvPr>
              <p:cNvGrpSpPr/>
              <p:nvPr/>
            </p:nvGrpSpPr>
            <p:grpSpPr>
              <a:xfrm>
                <a:off x="4833908" y="1454416"/>
                <a:ext cx="2117803" cy="3633120"/>
                <a:chOff x="4833908" y="1454416"/>
                <a:chExt cx="2117803" cy="3633120"/>
              </a:xfrm>
            </p:grpSpPr>
            <p:sp>
              <p:nvSpPr>
                <p:cNvPr id="111" name="Decision 110">
                  <a:extLst>
                    <a:ext uri="{FF2B5EF4-FFF2-40B4-BE49-F238E27FC236}">
                      <a16:creationId xmlns:a16="http://schemas.microsoft.com/office/drawing/2014/main" id="{C9F91040-286C-DFC3-D4EB-A855CC6FDC70}"/>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2" name="Decision 111">
                  <a:extLst>
                    <a:ext uri="{FF2B5EF4-FFF2-40B4-BE49-F238E27FC236}">
                      <a16:creationId xmlns:a16="http://schemas.microsoft.com/office/drawing/2014/main" id="{724C3E83-E665-D88F-18B8-0CE370641EEF}"/>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3" name="Decision 112">
                  <a:extLst>
                    <a:ext uri="{FF2B5EF4-FFF2-40B4-BE49-F238E27FC236}">
                      <a16:creationId xmlns:a16="http://schemas.microsoft.com/office/drawing/2014/main" id="{36B9B125-ACAF-34AA-43FF-6C002F37601E}"/>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10" name="Decision 109">
                <a:extLst>
                  <a:ext uri="{FF2B5EF4-FFF2-40B4-BE49-F238E27FC236}">
                    <a16:creationId xmlns:a16="http://schemas.microsoft.com/office/drawing/2014/main" id="{3D29DF56-90FA-54C0-6E60-0E47A6B92C0E}"/>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03" name="Freeform 102">
              <a:extLst>
                <a:ext uri="{FF2B5EF4-FFF2-40B4-BE49-F238E27FC236}">
                  <a16:creationId xmlns:a16="http://schemas.microsoft.com/office/drawing/2014/main" id="{881D6590-0AAA-8265-66BD-42A37F8D6D93}"/>
                </a:ext>
              </a:extLst>
            </p:cNvPr>
            <p:cNvSpPr/>
            <p:nvPr/>
          </p:nvSpPr>
          <p:spPr>
            <a:xfrm>
              <a:off x="924448" y="4185981"/>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104" name="TextBox 103">
              <a:extLst>
                <a:ext uri="{FF2B5EF4-FFF2-40B4-BE49-F238E27FC236}">
                  <a16:creationId xmlns:a16="http://schemas.microsoft.com/office/drawing/2014/main" id="{84ED241F-C0DF-1995-7CDA-1B8D592DA63A}"/>
                </a:ext>
              </a:extLst>
            </p:cNvPr>
            <p:cNvSpPr txBox="1"/>
            <p:nvPr/>
          </p:nvSpPr>
          <p:spPr>
            <a:xfrm>
              <a:off x="1164493" y="4287503"/>
              <a:ext cx="7272020" cy="245093"/>
            </a:xfrm>
            <a:prstGeom prst="rect">
              <a:avLst/>
            </a:prstGeom>
            <a:noFill/>
          </p:spPr>
          <p:txBody>
            <a:bodyPr wrap="square" anchor="ctr">
              <a:spAutoFit/>
            </a:bodyPr>
            <a:lstStyle/>
            <a:p>
              <a:pPr algn="r" rtl="1"/>
              <a:r>
                <a:rPr lang="ar-AE" sz="1400" dirty="0"/>
                <a:t>تشجيع الابتكار بتوفير واجهات برمجية</a:t>
              </a:r>
              <a:r>
                <a:rPr lang="en-US" sz="1400" dirty="0"/>
                <a:t> </a:t>
              </a:r>
              <a:r>
                <a:rPr lang="ar-SA" sz="1400" dirty="0"/>
                <a:t>(</a:t>
              </a:r>
              <a:r>
                <a:rPr lang="en-US" sz="1400" dirty="0"/>
                <a:t>APIs</a:t>
              </a:r>
              <a:r>
                <a:rPr lang="ar-SA" sz="1400" dirty="0"/>
                <a:t>)</a:t>
              </a:r>
              <a:r>
                <a:rPr lang="en-US" sz="1400" dirty="0"/>
                <a:t> </a:t>
              </a:r>
              <a:r>
                <a:rPr lang="ar-AE" sz="1400" dirty="0"/>
                <a:t>وبيانات مفتوحة تدعم بناء خدمات رقمية جديدة.</a:t>
              </a:r>
            </a:p>
          </p:txBody>
        </p:sp>
      </p:grpSp>
      <p:grpSp>
        <p:nvGrpSpPr>
          <p:cNvPr id="272" name="Group 271">
            <a:extLst>
              <a:ext uri="{FF2B5EF4-FFF2-40B4-BE49-F238E27FC236}">
                <a16:creationId xmlns:a16="http://schemas.microsoft.com/office/drawing/2014/main" id="{527A67D5-B2E7-2D0D-1BB8-3FEFE3835B06}"/>
              </a:ext>
            </a:extLst>
          </p:cNvPr>
          <p:cNvGrpSpPr/>
          <p:nvPr/>
        </p:nvGrpSpPr>
        <p:grpSpPr>
          <a:xfrm>
            <a:off x="924448" y="3482850"/>
            <a:ext cx="8007298" cy="431507"/>
            <a:chOff x="924448" y="3335707"/>
            <a:chExt cx="8007298" cy="431507"/>
          </a:xfrm>
        </p:grpSpPr>
        <p:grpSp>
          <p:nvGrpSpPr>
            <p:cNvPr id="122" name="Group 121">
              <a:extLst>
                <a:ext uri="{FF2B5EF4-FFF2-40B4-BE49-F238E27FC236}">
                  <a16:creationId xmlns:a16="http://schemas.microsoft.com/office/drawing/2014/main" id="{4EC4EF00-CD4F-7BCF-E869-FF35711F1929}"/>
                </a:ext>
              </a:extLst>
            </p:cNvPr>
            <p:cNvGrpSpPr/>
            <p:nvPr/>
          </p:nvGrpSpPr>
          <p:grpSpPr>
            <a:xfrm>
              <a:off x="8700500" y="3463017"/>
              <a:ext cx="231246" cy="172008"/>
              <a:chOff x="4833908" y="763778"/>
              <a:chExt cx="6643795" cy="4323758"/>
            </a:xfrm>
          </p:grpSpPr>
          <p:grpSp>
            <p:nvGrpSpPr>
              <p:cNvPr id="125" name="Group 124">
                <a:extLst>
                  <a:ext uri="{FF2B5EF4-FFF2-40B4-BE49-F238E27FC236}">
                    <a16:creationId xmlns:a16="http://schemas.microsoft.com/office/drawing/2014/main" id="{265A9BF5-974E-2ECC-70E2-75EA9F1B6BFF}"/>
                  </a:ext>
                </a:extLst>
              </p:cNvPr>
              <p:cNvGrpSpPr/>
              <p:nvPr/>
            </p:nvGrpSpPr>
            <p:grpSpPr>
              <a:xfrm>
                <a:off x="9359901" y="1409068"/>
                <a:ext cx="2117802" cy="3633120"/>
                <a:chOff x="9359901" y="1409068"/>
                <a:chExt cx="2117802" cy="3633120"/>
              </a:xfrm>
            </p:grpSpPr>
            <p:sp>
              <p:nvSpPr>
                <p:cNvPr id="138" name="Decision 137">
                  <a:extLst>
                    <a:ext uri="{FF2B5EF4-FFF2-40B4-BE49-F238E27FC236}">
                      <a16:creationId xmlns:a16="http://schemas.microsoft.com/office/drawing/2014/main" id="{C4798A4B-37F5-915C-FA08-8685E4FE6686}"/>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9" name="Decision 138">
                  <a:extLst>
                    <a:ext uri="{FF2B5EF4-FFF2-40B4-BE49-F238E27FC236}">
                      <a16:creationId xmlns:a16="http://schemas.microsoft.com/office/drawing/2014/main" id="{216D467A-6667-EA64-0FC8-B12462BD3FC6}"/>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40" name="Decision 139">
                  <a:extLst>
                    <a:ext uri="{FF2B5EF4-FFF2-40B4-BE49-F238E27FC236}">
                      <a16:creationId xmlns:a16="http://schemas.microsoft.com/office/drawing/2014/main" id="{0F8559D7-4A1F-129C-43B9-1A8E33D78307}"/>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26" name="Decision 125">
                <a:extLst>
                  <a:ext uri="{FF2B5EF4-FFF2-40B4-BE49-F238E27FC236}">
                    <a16:creationId xmlns:a16="http://schemas.microsoft.com/office/drawing/2014/main" id="{A3138382-932F-0A80-5E0D-3FEB2ECE34D0}"/>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27" name="Group 126">
                <a:extLst>
                  <a:ext uri="{FF2B5EF4-FFF2-40B4-BE49-F238E27FC236}">
                    <a16:creationId xmlns:a16="http://schemas.microsoft.com/office/drawing/2014/main" id="{5FFB0289-FBBF-2908-7E6D-99601B8D9DDE}"/>
                  </a:ext>
                </a:extLst>
              </p:cNvPr>
              <p:cNvGrpSpPr/>
              <p:nvPr/>
            </p:nvGrpSpPr>
            <p:grpSpPr>
              <a:xfrm>
                <a:off x="8200175" y="763778"/>
                <a:ext cx="1032935" cy="3229447"/>
                <a:chOff x="8200175" y="763778"/>
                <a:chExt cx="1032935" cy="3229447"/>
              </a:xfrm>
            </p:grpSpPr>
            <p:sp>
              <p:nvSpPr>
                <p:cNvPr id="136" name="Decision 135">
                  <a:extLst>
                    <a:ext uri="{FF2B5EF4-FFF2-40B4-BE49-F238E27FC236}">
                      <a16:creationId xmlns:a16="http://schemas.microsoft.com/office/drawing/2014/main" id="{0B2900BB-04F2-D7BC-C23F-6EE0022F1139}"/>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7" name="Decision 136">
                  <a:extLst>
                    <a:ext uri="{FF2B5EF4-FFF2-40B4-BE49-F238E27FC236}">
                      <a16:creationId xmlns:a16="http://schemas.microsoft.com/office/drawing/2014/main" id="{E1E225A9-CE7B-A95B-6C28-6C27D46AA0A0}"/>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28" name="Group 127">
                <a:extLst>
                  <a:ext uri="{FF2B5EF4-FFF2-40B4-BE49-F238E27FC236}">
                    <a16:creationId xmlns:a16="http://schemas.microsoft.com/office/drawing/2014/main" id="{667CCFA4-8B2C-7A6F-EE12-0C9F1A1AC8B4}"/>
                  </a:ext>
                </a:extLst>
              </p:cNvPr>
              <p:cNvGrpSpPr/>
              <p:nvPr/>
            </p:nvGrpSpPr>
            <p:grpSpPr>
              <a:xfrm>
                <a:off x="7068934" y="763778"/>
                <a:ext cx="1057892" cy="3229449"/>
                <a:chOff x="7068934" y="763778"/>
                <a:chExt cx="1057892" cy="3229449"/>
              </a:xfrm>
            </p:grpSpPr>
            <p:sp>
              <p:nvSpPr>
                <p:cNvPr id="134" name="Decision 133">
                  <a:extLst>
                    <a:ext uri="{FF2B5EF4-FFF2-40B4-BE49-F238E27FC236}">
                      <a16:creationId xmlns:a16="http://schemas.microsoft.com/office/drawing/2014/main" id="{66B73D68-86CB-3F01-5266-D4D233B7CCBA}"/>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5" name="Decision 134">
                  <a:extLst>
                    <a:ext uri="{FF2B5EF4-FFF2-40B4-BE49-F238E27FC236}">
                      <a16:creationId xmlns:a16="http://schemas.microsoft.com/office/drawing/2014/main" id="{3EC6D2F2-8B27-30C2-0B70-17572594B7ED}"/>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29" name="Group 128">
                <a:extLst>
                  <a:ext uri="{FF2B5EF4-FFF2-40B4-BE49-F238E27FC236}">
                    <a16:creationId xmlns:a16="http://schemas.microsoft.com/office/drawing/2014/main" id="{6B7664A3-3961-F317-B395-B0D48FA0CCB7}"/>
                  </a:ext>
                </a:extLst>
              </p:cNvPr>
              <p:cNvGrpSpPr/>
              <p:nvPr/>
            </p:nvGrpSpPr>
            <p:grpSpPr>
              <a:xfrm>
                <a:off x="4833908" y="1454416"/>
                <a:ext cx="2117803" cy="3633120"/>
                <a:chOff x="4833908" y="1454416"/>
                <a:chExt cx="2117803" cy="3633120"/>
              </a:xfrm>
            </p:grpSpPr>
            <p:sp>
              <p:nvSpPr>
                <p:cNvPr id="131" name="Decision 130">
                  <a:extLst>
                    <a:ext uri="{FF2B5EF4-FFF2-40B4-BE49-F238E27FC236}">
                      <a16:creationId xmlns:a16="http://schemas.microsoft.com/office/drawing/2014/main" id="{547FF58B-FDAD-1C50-E2BD-0CA4E07CCEF2}"/>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2" name="Decision 131">
                  <a:extLst>
                    <a:ext uri="{FF2B5EF4-FFF2-40B4-BE49-F238E27FC236}">
                      <a16:creationId xmlns:a16="http://schemas.microsoft.com/office/drawing/2014/main" id="{B54E2A96-00CE-5B81-C7CE-4B533329ECAA}"/>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3" name="Decision 132">
                  <a:extLst>
                    <a:ext uri="{FF2B5EF4-FFF2-40B4-BE49-F238E27FC236}">
                      <a16:creationId xmlns:a16="http://schemas.microsoft.com/office/drawing/2014/main" id="{33F435E1-BF77-AA4C-C73D-51D1C903B4F1}"/>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30" name="Decision 129">
                <a:extLst>
                  <a:ext uri="{FF2B5EF4-FFF2-40B4-BE49-F238E27FC236}">
                    <a16:creationId xmlns:a16="http://schemas.microsoft.com/office/drawing/2014/main" id="{5641A22A-3EAD-7B5D-EA40-9C259F7D8EA3}"/>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23" name="Freeform 122">
              <a:extLst>
                <a:ext uri="{FF2B5EF4-FFF2-40B4-BE49-F238E27FC236}">
                  <a16:creationId xmlns:a16="http://schemas.microsoft.com/office/drawing/2014/main" id="{A19C07B9-DA95-A391-8391-558712B0575B}"/>
                </a:ext>
              </a:extLst>
            </p:cNvPr>
            <p:cNvSpPr/>
            <p:nvPr/>
          </p:nvSpPr>
          <p:spPr>
            <a:xfrm>
              <a:off x="924448" y="3335707"/>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124" name="TextBox 123">
              <a:extLst>
                <a:ext uri="{FF2B5EF4-FFF2-40B4-BE49-F238E27FC236}">
                  <a16:creationId xmlns:a16="http://schemas.microsoft.com/office/drawing/2014/main" id="{8A3052D7-B7EF-E30E-25F3-5FB209D4A3BB}"/>
                </a:ext>
              </a:extLst>
            </p:cNvPr>
            <p:cNvSpPr txBox="1"/>
            <p:nvPr/>
          </p:nvSpPr>
          <p:spPr>
            <a:xfrm>
              <a:off x="1164493" y="3437229"/>
              <a:ext cx="7272020" cy="245093"/>
            </a:xfrm>
            <a:prstGeom prst="rect">
              <a:avLst/>
            </a:prstGeom>
            <a:noFill/>
          </p:spPr>
          <p:txBody>
            <a:bodyPr wrap="square" anchor="ctr">
              <a:spAutoFit/>
            </a:bodyPr>
            <a:lstStyle/>
            <a:p>
              <a:pPr algn="r" rtl="1"/>
              <a:r>
                <a:rPr lang="ar-AE" sz="1400" dirty="0"/>
                <a:t>تطوير منصة بيانات مركزية تسمح بالتكامل السلس بين الأنظمة المختلفة، وتفتح المجال لإتاحة البيانات بأمان وبشكل فعّال.</a:t>
              </a:r>
            </a:p>
          </p:txBody>
        </p:sp>
      </p:grpSp>
      <p:grpSp>
        <p:nvGrpSpPr>
          <p:cNvPr id="252" name="Group 251">
            <a:extLst>
              <a:ext uri="{FF2B5EF4-FFF2-40B4-BE49-F238E27FC236}">
                <a16:creationId xmlns:a16="http://schemas.microsoft.com/office/drawing/2014/main" id="{E919940E-9B5D-C089-5D59-17AD60EBBB8A}"/>
              </a:ext>
            </a:extLst>
          </p:cNvPr>
          <p:cNvGrpSpPr/>
          <p:nvPr/>
        </p:nvGrpSpPr>
        <p:grpSpPr>
          <a:xfrm>
            <a:off x="9522019" y="3063288"/>
            <a:ext cx="1990846" cy="1465553"/>
            <a:chOff x="2833499" y="1773513"/>
            <a:chExt cx="1990846" cy="1465553"/>
          </a:xfrm>
        </p:grpSpPr>
        <p:sp>
          <p:nvSpPr>
            <p:cNvPr id="253" name="Rectangle 252">
              <a:extLst>
                <a:ext uri="{FF2B5EF4-FFF2-40B4-BE49-F238E27FC236}">
                  <a16:creationId xmlns:a16="http://schemas.microsoft.com/office/drawing/2014/main" id="{0EBB771C-0245-9DD8-AFD0-5C7391527798}"/>
                </a:ext>
              </a:extLst>
            </p:cNvPr>
            <p:cNvSpPr/>
            <p:nvPr/>
          </p:nvSpPr>
          <p:spPr>
            <a:xfrm>
              <a:off x="2833499" y="2531180"/>
              <a:ext cx="1990846" cy="707886"/>
            </a:xfrm>
            <a:prstGeom prst="rect">
              <a:avLst/>
            </a:prstGeom>
          </p:spPr>
          <p:txBody>
            <a:bodyPr wrap="square" anchor="t" anchorCtr="0">
              <a:noAutofit/>
            </a:bodyPr>
            <a:lstStyle/>
            <a:p>
              <a:pPr marL="0" lvl="1" algn="ctr" rtl="1"/>
              <a:r>
                <a:rPr lang="ar-SA" b="1" dirty="0">
                  <a:solidFill>
                    <a:schemeClr val="accent1"/>
                  </a:solidFill>
                  <a:latin typeface="Sakkal Majalla" panose="02000000000000000000" pitchFamily="2" charset="-78"/>
                  <a:cs typeface="Sakkal Majalla" panose="02000000000000000000" pitchFamily="2" charset="-78"/>
                </a:rPr>
                <a:t>تمكين التحول الرقمي ودعم الابتكار</a:t>
              </a:r>
            </a:p>
          </p:txBody>
        </p:sp>
        <p:sp>
          <p:nvSpPr>
            <p:cNvPr id="254" name="Freeform 253">
              <a:extLst>
                <a:ext uri="{FF2B5EF4-FFF2-40B4-BE49-F238E27FC236}">
                  <a16:creationId xmlns:a16="http://schemas.microsoft.com/office/drawing/2014/main" id="{F3174463-B889-3C1B-9BCE-39368126FE7E}"/>
                </a:ext>
              </a:extLst>
            </p:cNvPr>
            <p:cNvSpPr/>
            <p:nvPr/>
          </p:nvSpPr>
          <p:spPr>
            <a:xfrm>
              <a:off x="2833500" y="2090518"/>
              <a:ext cx="1990845" cy="1127032"/>
            </a:xfrm>
            <a:custGeom>
              <a:avLst/>
              <a:gdLst>
                <a:gd name="connsiteX0" fmla="*/ 187842 w 1990845"/>
                <a:gd name="connsiteY0" fmla="*/ 0 h 1127032"/>
                <a:gd name="connsiteX1" fmla="*/ 763058 w 1990845"/>
                <a:gd name="connsiteY1" fmla="*/ 0 h 1127032"/>
                <a:gd name="connsiteX2" fmla="*/ 759553 w 1990845"/>
                <a:gd name="connsiteY2" fmla="*/ 17360 h 1127032"/>
                <a:gd name="connsiteX3" fmla="*/ 993553 w 1990845"/>
                <a:gd name="connsiteY3" fmla="*/ 251360 h 1127032"/>
                <a:gd name="connsiteX4" fmla="*/ 1227553 w 1990845"/>
                <a:gd name="connsiteY4" fmla="*/ 17360 h 1127032"/>
                <a:gd name="connsiteX5" fmla="*/ 1224048 w 1990845"/>
                <a:gd name="connsiteY5" fmla="*/ 0 h 1127032"/>
                <a:gd name="connsiteX6" fmla="*/ 1803003 w 1990845"/>
                <a:gd name="connsiteY6" fmla="*/ 0 h 1127032"/>
                <a:gd name="connsiteX7" fmla="*/ 1990845 w 1990845"/>
                <a:gd name="connsiteY7" fmla="*/ 187842 h 1127032"/>
                <a:gd name="connsiteX8" fmla="*/ 1990845 w 1990845"/>
                <a:gd name="connsiteY8" fmla="*/ 939190 h 1127032"/>
                <a:gd name="connsiteX9" fmla="*/ 1803003 w 1990845"/>
                <a:gd name="connsiteY9" fmla="*/ 1127032 h 1127032"/>
                <a:gd name="connsiteX10" fmla="*/ 187842 w 1990845"/>
                <a:gd name="connsiteY10" fmla="*/ 1127032 h 1127032"/>
                <a:gd name="connsiteX11" fmla="*/ 0 w 1990845"/>
                <a:gd name="connsiteY11" fmla="*/ 939190 h 1127032"/>
                <a:gd name="connsiteX12" fmla="*/ 0 w 1990845"/>
                <a:gd name="connsiteY12" fmla="*/ 187842 h 1127032"/>
                <a:gd name="connsiteX13" fmla="*/ 187842 w 1990845"/>
                <a:gd name="connsiteY13" fmla="*/ 0 h 112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0845" h="1127032">
                  <a:moveTo>
                    <a:pt x="187842" y="0"/>
                  </a:moveTo>
                  <a:lnTo>
                    <a:pt x="763058" y="0"/>
                  </a:lnTo>
                  <a:lnTo>
                    <a:pt x="759553" y="17360"/>
                  </a:lnTo>
                  <a:cubicBezTo>
                    <a:pt x="759553" y="146595"/>
                    <a:pt x="864318" y="251360"/>
                    <a:pt x="993553" y="251360"/>
                  </a:cubicBezTo>
                  <a:cubicBezTo>
                    <a:pt x="1122788" y="251360"/>
                    <a:pt x="1227553" y="146595"/>
                    <a:pt x="1227553" y="17360"/>
                  </a:cubicBezTo>
                  <a:lnTo>
                    <a:pt x="1224048" y="0"/>
                  </a:lnTo>
                  <a:lnTo>
                    <a:pt x="1803003" y="0"/>
                  </a:lnTo>
                  <a:cubicBezTo>
                    <a:pt x="1906745" y="0"/>
                    <a:pt x="1990845" y="84100"/>
                    <a:pt x="1990845" y="187842"/>
                  </a:cubicBezTo>
                  <a:lnTo>
                    <a:pt x="1990845" y="939190"/>
                  </a:lnTo>
                  <a:cubicBezTo>
                    <a:pt x="1990845" y="1042932"/>
                    <a:pt x="1906745" y="1127032"/>
                    <a:pt x="1803003" y="1127032"/>
                  </a:cubicBezTo>
                  <a:lnTo>
                    <a:pt x="187842" y="1127032"/>
                  </a:lnTo>
                  <a:cubicBezTo>
                    <a:pt x="84100" y="1127032"/>
                    <a:pt x="0" y="1042932"/>
                    <a:pt x="0" y="939190"/>
                  </a:cubicBezTo>
                  <a:lnTo>
                    <a:pt x="0" y="187842"/>
                  </a:lnTo>
                  <a:cubicBezTo>
                    <a:pt x="0" y="84100"/>
                    <a:pt x="84100" y="0"/>
                    <a:pt x="187842" y="0"/>
                  </a:cubicBezTo>
                  <a:close/>
                </a:path>
              </a:pathLst>
            </a:cu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kkal Majalla" panose="02000000000000000000" pitchFamily="2" charset="-78"/>
                <a:cs typeface="Sakkal Majalla" panose="02000000000000000000" pitchFamily="2" charset="-78"/>
              </a:endParaRPr>
            </a:p>
          </p:txBody>
        </p:sp>
        <p:grpSp>
          <p:nvGrpSpPr>
            <p:cNvPr id="255" name="Group 254">
              <a:extLst>
                <a:ext uri="{FF2B5EF4-FFF2-40B4-BE49-F238E27FC236}">
                  <a16:creationId xmlns:a16="http://schemas.microsoft.com/office/drawing/2014/main" id="{6838FBDC-3C11-10B0-588A-38A85B97AC0C}"/>
                </a:ext>
              </a:extLst>
            </p:cNvPr>
            <p:cNvGrpSpPr>
              <a:grpSpLocks noChangeAspect="1"/>
            </p:cNvGrpSpPr>
            <p:nvPr/>
          </p:nvGrpSpPr>
          <p:grpSpPr>
            <a:xfrm>
              <a:off x="3498326" y="1773513"/>
              <a:ext cx="661192" cy="651215"/>
              <a:chOff x="9999829" y="1879040"/>
              <a:chExt cx="291438" cy="292720"/>
            </a:xfrm>
            <a:solidFill>
              <a:srgbClr val="3FA0D9"/>
            </a:solidFill>
          </p:grpSpPr>
          <p:sp>
            <p:nvSpPr>
              <p:cNvPr id="256" name="Freeform 94">
                <a:extLst>
                  <a:ext uri="{FF2B5EF4-FFF2-40B4-BE49-F238E27FC236}">
                    <a16:creationId xmlns:a16="http://schemas.microsoft.com/office/drawing/2014/main" id="{0ED5A639-CE51-0B92-F8E3-0A71216D8999}"/>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257" name="Oval 256">
                <a:extLst>
                  <a:ext uri="{FF2B5EF4-FFF2-40B4-BE49-F238E27FC236}">
                    <a16:creationId xmlns:a16="http://schemas.microsoft.com/office/drawing/2014/main" id="{0607DD95-AEE1-7399-ED70-3E265FF6759F}"/>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grpSp>
        <p:nvGrpSpPr>
          <p:cNvPr id="258" name="Group 257">
            <a:extLst>
              <a:ext uri="{FF2B5EF4-FFF2-40B4-BE49-F238E27FC236}">
                <a16:creationId xmlns:a16="http://schemas.microsoft.com/office/drawing/2014/main" id="{9E388143-0B1A-C414-F0CB-5034B0856D1E}"/>
              </a:ext>
            </a:extLst>
          </p:cNvPr>
          <p:cNvGrpSpPr/>
          <p:nvPr/>
        </p:nvGrpSpPr>
        <p:grpSpPr>
          <a:xfrm>
            <a:off x="9519969" y="1556874"/>
            <a:ext cx="1990846" cy="1465553"/>
            <a:chOff x="2833499" y="1773513"/>
            <a:chExt cx="1990846" cy="1465553"/>
          </a:xfrm>
        </p:grpSpPr>
        <p:sp>
          <p:nvSpPr>
            <p:cNvPr id="259" name="Rectangle 258">
              <a:extLst>
                <a:ext uri="{FF2B5EF4-FFF2-40B4-BE49-F238E27FC236}">
                  <a16:creationId xmlns:a16="http://schemas.microsoft.com/office/drawing/2014/main" id="{856614D4-909D-6BC1-1608-65124ECB976E}"/>
                </a:ext>
              </a:extLst>
            </p:cNvPr>
            <p:cNvSpPr/>
            <p:nvPr/>
          </p:nvSpPr>
          <p:spPr>
            <a:xfrm>
              <a:off x="2833499" y="2531180"/>
              <a:ext cx="1990846"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تحسين جودة البيانات ودعم القرارات</a:t>
              </a:r>
            </a:p>
          </p:txBody>
        </p:sp>
        <p:sp>
          <p:nvSpPr>
            <p:cNvPr id="260" name="Freeform 259">
              <a:extLst>
                <a:ext uri="{FF2B5EF4-FFF2-40B4-BE49-F238E27FC236}">
                  <a16:creationId xmlns:a16="http://schemas.microsoft.com/office/drawing/2014/main" id="{8B30701F-9DDE-0E2E-9F28-F6B9F87E6A47}"/>
                </a:ext>
              </a:extLst>
            </p:cNvPr>
            <p:cNvSpPr/>
            <p:nvPr/>
          </p:nvSpPr>
          <p:spPr>
            <a:xfrm>
              <a:off x="2833500" y="2090518"/>
              <a:ext cx="1990845" cy="1127032"/>
            </a:xfrm>
            <a:custGeom>
              <a:avLst/>
              <a:gdLst>
                <a:gd name="connsiteX0" fmla="*/ 187842 w 1990845"/>
                <a:gd name="connsiteY0" fmla="*/ 0 h 1127032"/>
                <a:gd name="connsiteX1" fmla="*/ 763058 w 1990845"/>
                <a:gd name="connsiteY1" fmla="*/ 0 h 1127032"/>
                <a:gd name="connsiteX2" fmla="*/ 759553 w 1990845"/>
                <a:gd name="connsiteY2" fmla="*/ 17360 h 1127032"/>
                <a:gd name="connsiteX3" fmla="*/ 993553 w 1990845"/>
                <a:gd name="connsiteY3" fmla="*/ 251360 h 1127032"/>
                <a:gd name="connsiteX4" fmla="*/ 1227553 w 1990845"/>
                <a:gd name="connsiteY4" fmla="*/ 17360 h 1127032"/>
                <a:gd name="connsiteX5" fmla="*/ 1224048 w 1990845"/>
                <a:gd name="connsiteY5" fmla="*/ 0 h 1127032"/>
                <a:gd name="connsiteX6" fmla="*/ 1803003 w 1990845"/>
                <a:gd name="connsiteY6" fmla="*/ 0 h 1127032"/>
                <a:gd name="connsiteX7" fmla="*/ 1990845 w 1990845"/>
                <a:gd name="connsiteY7" fmla="*/ 187842 h 1127032"/>
                <a:gd name="connsiteX8" fmla="*/ 1990845 w 1990845"/>
                <a:gd name="connsiteY8" fmla="*/ 939190 h 1127032"/>
                <a:gd name="connsiteX9" fmla="*/ 1803003 w 1990845"/>
                <a:gd name="connsiteY9" fmla="*/ 1127032 h 1127032"/>
                <a:gd name="connsiteX10" fmla="*/ 187842 w 1990845"/>
                <a:gd name="connsiteY10" fmla="*/ 1127032 h 1127032"/>
                <a:gd name="connsiteX11" fmla="*/ 0 w 1990845"/>
                <a:gd name="connsiteY11" fmla="*/ 939190 h 1127032"/>
                <a:gd name="connsiteX12" fmla="*/ 0 w 1990845"/>
                <a:gd name="connsiteY12" fmla="*/ 187842 h 1127032"/>
                <a:gd name="connsiteX13" fmla="*/ 187842 w 1990845"/>
                <a:gd name="connsiteY13" fmla="*/ 0 h 112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0845" h="1127032">
                  <a:moveTo>
                    <a:pt x="187842" y="0"/>
                  </a:moveTo>
                  <a:lnTo>
                    <a:pt x="763058" y="0"/>
                  </a:lnTo>
                  <a:lnTo>
                    <a:pt x="759553" y="17360"/>
                  </a:lnTo>
                  <a:cubicBezTo>
                    <a:pt x="759553" y="146595"/>
                    <a:pt x="864318" y="251360"/>
                    <a:pt x="993553" y="251360"/>
                  </a:cubicBezTo>
                  <a:cubicBezTo>
                    <a:pt x="1122788" y="251360"/>
                    <a:pt x="1227553" y="146595"/>
                    <a:pt x="1227553" y="17360"/>
                  </a:cubicBezTo>
                  <a:lnTo>
                    <a:pt x="1224048" y="0"/>
                  </a:lnTo>
                  <a:lnTo>
                    <a:pt x="1803003" y="0"/>
                  </a:lnTo>
                  <a:cubicBezTo>
                    <a:pt x="1906745" y="0"/>
                    <a:pt x="1990845" y="84100"/>
                    <a:pt x="1990845" y="187842"/>
                  </a:cubicBezTo>
                  <a:lnTo>
                    <a:pt x="1990845" y="939190"/>
                  </a:lnTo>
                  <a:cubicBezTo>
                    <a:pt x="1990845" y="1042932"/>
                    <a:pt x="1906745" y="1127032"/>
                    <a:pt x="1803003" y="1127032"/>
                  </a:cubicBezTo>
                  <a:lnTo>
                    <a:pt x="187842" y="1127032"/>
                  </a:lnTo>
                  <a:cubicBezTo>
                    <a:pt x="84100" y="1127032"/>
                    <a:pt x="0" y="1042932"/>
                    <a:pt x="0" y="939190"/>
                  </a:cubicBezTo>
                  <a:lnTo>
                    <a:pt x="0" y="187842"/>
                  </a:lnTo>
                  <a:cubicBezTo>
                    <a:pt x="0" y="84100"/>
                    <a:pt x="84100" y="0"/>
                    <a:pt x="187842" y="0"/>
                  </a:cubicBezTo>
                  <a:close/>
                </a:path>
              </a:pathLst>
            </a:cu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kkal Majalla" panose="02000000000000000000" pitchFamily="2" charset="-78"/>
                <a:cs typeface="Sakkal Majalla" panose="02000000000000000000" pitchFamily="2" charset="-78"/>
              </a:endParaRPr>
            </a:p>
          </p:txBody>
        </p:sp>
        <p:grpSp>
          <p:nvGrpSpPr>
            <p:cNvPr id="261" name="Group 260">
              <a:extLst>
                <a:ext uri="{FF2B5EF4-FFF2-40B4-BE49-F238E27FC236}">
                  <a16:creationId xmlns:a16="http://schemas.microsoft.com/office/drawing/2014/main" id="{1A22B43E-46FE-1701-01A6-04BACDA39D86}"/>
                </a:ext>
              </a:extLst>
            </p:cNvPr>
            <p:cNvGrpSpPr>
              <a:grpSpLocks noChangeAspect="1"/>
            </p:cNvGrpSpPr>
            <p:nvPr/>
          </p:nvGrpSpPr>
          <p:grpSpPr>
            <a:xfrm>
              <a:off x="3498326" y="1773513"/>
              <a:ext cx="661192" cy="651215"/>
              <a:chOff x="9999829" y="1879040"/>
              <a:chExt cx="291438" cy="292720"/>
            </a:xfrm>
            <a:solidFill>
              <a:srgbClr val="3FA0D9"/>
            </a:solidFill>
          </p:grpSpPr>
          <p:sp>
            <p:nvSpPr>
              <p:cNvPr id="262" name="Freeform 94">
                <a:extLst>
                  <a:ext uri="{FF2B5EF4-FFF2-40B4-BE49-F238E27FC236}">
                    <a16:creationId xmlns:a16="http://schemas.microsoft.com/office/drawing/2014/main" id="{E1CF2EC1-39BF-0F1F-D01C-48BF6BEDC853}"/>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263" name="Oval 262">
                <a:extLst>
                  <a:ext uri="{FF2B5EF4-FFF2-40B4-BE49-F238E27FC236}">
                    <a16:creationId xmlns:a16="http://schemas.microsoft.com/office/drawing/2014/main" id="{2E592CFA-9158-DF01-5C47-E5A12BFEBF22}"/>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grpSp>
        <p:nvGrpSpPr>
          <p:cNvPr id="264" name="Group 263">
            <a:extLst>
              <a:ext uri="{FF2B5EF4-FFF2-40B4-BE49-F238E27FC236}">
                <a16:creationId xmlns:a16="http://schemas.microsoft.com/office/drawing/2014/main" id="{7C2A7A87-0DA7-32D4-28D9-283C1CFF6E07}"/>
              </a:ext>
            </a:extLst>
          </p:cNvPr>
          <p:cNvGrpSpPr/>
          <p:nvPr/>
        </p:nvGrpSpPr>
        <p:grpSpPr>
          <a:xfrm>
            <a:off x="9529698" y="4569702"/>
            <a:ext cx="1990846" cy="1465553"/>
            <a:chOff x="2833499" y="1773513"/>
            <a:chExt cx="1990846" cy="1465553"/>
          </a:xfrm>
        </p:grpSpPr>
        <p:sp>
          <p:nvSpPr>
            <p:cNvPr id="265" name="Rectangle 264">
              <a:extLst>
                <a:ext uri="{FF2B5EF4-FFF2-40B4-BE49-F238E27FC236}">
                  <a16:creationId xmlns:a16="http://schemas.microsoft.com/office/drawing/2014/main" id="{71F1AF88-86E5-C325-BFAF-F80561CCB758}"/>
                </a:ext>
              </a:extLst>
            </p:cNvPr>
            <p:cNvSpPr/>
            <p:nvPr/>
          </p:nvSpPr>
          <p:spPr>
            <a:xfrm>
              <a:off x="2833499" y="2531180"/>
              <a:ext cx="1990846"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تحقيق الكفاءة التشغيلية وتقليل التكاليف</a:t>
              </a:r>
            </a:p>
          </p:txBody>
        </p:sp>
        <p:sp>
          <p:nvSpPr>
            <p:cNvPr id="266" name="Freeform 265">
              <a:extLst>
                <a:ext uri="{FF2B5EF4-FFF2-40B4-BE49-F238E27FC236}">
                  <a16:creationId xmlns:a16="http://schemas.microsoft.com/office/drawing/2014/main" id="{D2C8EB3B-D52C-C2D1-BD6E-2A5DA65455FF}"/>
                </a:ext>
              </a:extLst>
            </p:cNvPr>
            <p:cNvSpPr/>
            <p:nvPr/>
          </p:nvSpPr>
          <p:spPr>
            <a:xfrm>
              <a:off x="2833500" y="2090518"/>
              <a:ext cx="1990845" cy="1127032"/>
            </a:xfrm>
            <a:custGeom>
              <a:avLst/>
              <a:gdLst>
                <a:gd name="connsiteX0" fmla="*/ 187842 w 1990845"/>
                <a:gd name="connsiteY0" fmla="*/ 0 h 1127032"/>
                <a:gd name="connsiteX1" fmla="*/ 763058 w 1990845"/>
                <a:gd name="connsiteY1" fmla="*/ 0 h 1127032"/>
                <a:gd name="connsiteX2" fmla="*/ 759553 w 1990845"/>
                <a:gd name="connsiteY2" fmla="*/ 17360 h 1127032"/>
                <a:gd name="connsiteX3" fmla="*/ 993553 w 1990845"/>
                <a:gd name="connsiteY3" fmla="*/ 251360 h 1127032"/>
                <a:gd name="connsiteX4" fmla="*/ 1227553 w 1990845"/>
                <a:gd name="connsiteY4" fmla="*/ 17360 h 1127032"/>
                <a:gd name="connsiteX5" fmla="*/ 1224048 w 1990845"/>
                <a:gd name="connsiteY5" fmla="*/ 0 h 1127032"/>
                <a:gd name="connsiteX6" fmla="*/ 1803003 w 1990845"/>
                <a:gd name="connsiteY6" fmla="*/ 0 h 1127032"/>
                <a:gd name="connsiteX7" fmla="*/ 1990845 w 1990845"/>
                <a:gd name="connsiteY7" fmla="*/ 187842 h 1127032"/>
                <a:gd name="connsiteX8" fmla="*/ 1990845 w 1990845"/>
                <a:gd name="connsiteY8" fmla="*/ 939190 h 1127032"/>
                <a:gd name="connsiteX9" fmla="*/ 1803003 w 1990845"/>
                <a:gd name="connsiteY9" fmla="*/ 1127032 h 1127032"/>
                <a:gd name="connsiteX10" fmla="*/ 187842 w 1990845"/>
                <a:gd name="connsiteY10" fmla="*/ 1127032 h 1127032"/>
                <a:gd name="connsiteX11" fmla="*/ 0 w 1990845"/>
                <a:gd name="connsiteY11" fmla="*/ 939190 h 1127032"/>
                <a:gd name="connsiteX12" fmla="*/ 0 w 1990845"/>
                <a:gd name="connsiteY12" fmla="*/ 187842 h 1127032"/>
                <a:gd name="connsiteX13" fmla="*/ 187842 w 1990845"/>
                <a:gd name="connsiteY13" fmla="*/ 0 h 112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0845" h="1127032">
                  <a:moveTo>
                    <a:pt x="187842" y="0"/>
                  </a:moveTo>
                  <a:lnTo>
                    <a:pt x="763058" y="0"/>
                  </a:lnTo>
                  <a:lnTo>
                    <a:pt x="759553" y="17360"/>
                  </a:lnTo>
                  <a:cubicBezTo>
                    <a:pt x="759553" y="146595"/>
                    <a:pt x="864318" y="251360"/>
                    <a:pt x="993553" y="251360"/>
                  </a:cubicBezTo>
                  <a:cubicBezTo>
                    <a:pt x="1122788" y="251360"/>
                    <a:pt x="1227553" y="146595"/>
                    <a:pt x="1227553" y="17360"/>
                  </a:cubicBezTo>
                  <a:lnTo>
                    <a:pt x="1224048" y="0"/>
                  </a:lnTo>
                  <a:lnTo>
                    <a:pt x="1803003" y="0"/>
                  </a:lnTo>
                  <a:cubicBezTo>
                    <a:pt x="1906745" y="0"/>
                    <a:pt x="1990845" y="84100"/>
                    <a:pt x="1990845" y="187842"/>
                  </a:cubicBezTo>
                  <a:lnTo>
                    <a:pt x="1990845" y="939190"/>
                  </a:lnTo>
                  <a:cubicBezTo>
                    <a:pt x="1990845" y="1042932"/>
                    <a:pt x="1906745" y="1127032"/>
                    <a:pt x="1803003" y="1127032"/>
                  </a:cubicBezTo>
                  <a:lnTo>
                    <a:pt x="187842" y="1127032"/>
                  </a:lnTo>
                  <a:cubicBezTo>
                    <a:pt x="84100" y="1127032"/>
                    <a:pt x="0" y="1042932"/>
                    <a:pt x="0" y="939190"/>
                  </a:cubicBezTo>
                  <a:lnTo>
                    <a:pt x="0" y="187842"/>
                  </a:lnTo>
                  <a:cubicBezTo>
                    <a:pt x="0" y="84100"/>
                    <a:pt x="84100" y="0"/>
                    <a:pt x="187842" y="0"/>
                  </a:cubicBezTo>
                  <a:close/>
                </a:path>
              </a:pathLst>
            </a:cu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kkal Majalla" panose="02000000000000000000" pitchFamily="2" charset="-78"/>
                <a:cs typeface="Sakkal Majalla" panose="02000000000000000000" pitchFamily="2" charset="-78"/>
              </a:endParaRPr>
            </a:p>
          </p:txBody>
        </p:sp>
        <p:grpSp>
          <p:nvGrpSpPr>
            <p:cNvPr id="267" name="Group 266">
              <a:extLst>
                <a:ext uri="{FF2B5EF4-FFF2-40B4-BE49-F238E27FC236}">
                  <a16:creationId xmlns:a16="http://schemas.microsoft.com/office/drawing/2014/main" id="{A957CFA3-5725-EFFF-9A99-9401A58F396E}"/>
                </a:ext>
              </a:extLst>
            </p:cNvPr>
            <p:cNvGrpSpPr>
              <a:grpSpLocks noChangeAspect="1"/>
            </p:cNvGrpSpPr>
            <p:nvPr/>
          </p:nvGrpSpPr>
          <p:grpSpPr>
            <a:xfrm>
              <a:off x="3498326" y="1773513"/>
              <a:ext cx="661192" cy="651215"/>
              <a:chOff x="9999829" y="1879040"/>
              <a:chExt cx="291438" cy="292720"/>
            </a:xfrm>
            <a:solidFill>
              <a:srgbClr val="3FA0D9"/>
            </a:solidFill>
          </p:grpSpPr>
          <p:sp>
            <p:nvSpPr>
              <p:cNvPr id="268" name="Freeform 94">
                <a:extLst>
                  <a:ext uri="{FF2B5EF4-FFF2-40B4-BE49-F238E27FC236}">
                    <a16:creationId xmlns:a16="http://schemas.microsoft.com/office/drawing/2014/main" id="{B6A51FD0-AA38-1C04-43E9-ABFD58B164AC}"/>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269" name="Oval 268">
                <a:extLst>
                  <a:ext uri="{FF2B5EF4-FFF2-40B4-BE49-F238E27FC236}">
                    <a16:creationId xmlns:a16="http://schemas.microsoft.com/office/drawing/2014/main" id="{5C2720CA-C0DA-C06F-663C-D2811283CCDE}"/>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grpSp>
        <p:nvGrpSpPr>
          <p:cNvPr id="274" name="Group 273">
            <a:extLst>
              <a:ext uri="{FF2B5EF4-FFF2-40B4-BE49-F238E27FC236}">
                <a16:creationId xmlns:a16="http://schemas.microsoft.com/office/drawing/2014/main" id="{574E3CC9-02BE-AB33-79E0-EA8084E91813}"/>
              </a:ext>
            </a:extLst>
          </p:cNvPr>
          <p:cNvGrpSpPr/>
          <p:nvPr/>
        </p:nvGrpSpPr>
        <p:grpSpPr>
          <a:xfrm>
            <a:off x="925932" y="5453632"/>
            <a:ext cx="8007298" cy="431507"/>
            <a:chOff x="924448" y="4185981"/>
            <a:chExt cx="8007298" cy="431507"/>
          </a:xfrm>
        </p:grpSpPr>
        <p:grpSp>
          <p:nvGrpSpPr>
            <p:cNvPr id="275" name="Group 274">
              <a:extLst>
                <a:ext uri="{FF2B5EF4-FFF2-40B4-BE49-F238E27FC236}">
                  <a16:creationId xmlns:a16="http://schemas.microsoft.com/office/drawing/2014/main" id="{8E44035F-CCEB-67FD-7270-003344DFB788}"/>
                </a:ext>
              </a:extLst>
            </p:cNvPr>
            <p:cNvGrpSpPr/>
            <p:nvPr/>
          </p:nvGrpSpPr>
          <p:grpSpPr>
            <a:xfrm>
              <a:off x="8700500" y="4313291"/>
              <a:ext cx="231246" cy="172008"/>
              <a:chOff x="4833908" y="763778"/>
              <a:chExt cx="6643795" cy="4323758"/>
            </a:xfrm>
          </p:grpSpPr>
          <p:grpSp>
            <p:nvGrpSpPr>
              <p:cNvPr id="278" name="Group 277">
                <a:extLst>
                  <a:ext uri="{FF2B5EF4-FFF2-40B4-BE49-F238E27FC236}">
                    <a16:creationId xmlns:a16="http://schemas.microsoft.com/office/drawing/2014/main" id="{D01AD579-C72F-2B7E-AE84-FF6561005C92}"/>
                  </a:ext>
                </a:extLst>
              </p:cNvPr>
              <p:cNvGrpSpPr/>
              <p:nvPr/>
            </p:nvGrpSpPr>
            <p:grpSpPr>
              <a:xfrm>
                <a:off x="9359901" y="1409068"/>
                <a:ext cx="2117802" cy="3633120"/>
                <a:chOff x="9359901" y="1409068"/>
                <a:chExt cx="2117802" cy="3633120"/>
              </a:xfrm>
            </p:grpSpPr>
            <p:sp>
              <p:nvSpPr>
                <p:cNvPr id="291" name="Decision 290">
                  <a:extLst>
                    <a:ext uri="{FF2B5EF4-FFF2-40B4-BE49-F238E27FC236}">
                      <a16:creationId xmlns:a16="http://schemas.microsoft.com/office/drawing/2014/main" id="{71A7D799-498F-C0B2-05C7-2A5FCBBC2F7D}"/>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92" name="Decision 291">
                  <a:extLst>
                    <a:ext uri="{FF2B5EF4-FFF2-40B4-BE49-F238E27FC236}">
                      <a16:creationId xmlns:a16="http://schemas.microsoft.com/office/drawing/2014/main" id="{65011314-BEE0-2CC2-C0A0-F5D1B9A07C32}"/>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93" name="Decision 292">
                  <a:extLst>
                    <a:ext uri="{FF2B5EF4-FFF2-40B4-BE49-F238E27FC236}">
                      <a16:creationId xmlns:a16="http://schemas.microsoft.com/office/drawing/2014/main" id="{25D458D3-32D5-F3BF-1CE6-9D5C247926F6}"/>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79" name="Decision 278">
                <a:extLst>
                  <a:ext uri="{FF2B5EF4-FFF2-40B4-BE49-F238E27FC236}">
                    <a16:creationId xmlns:a16="http://schemas.microsoft.com/office/drawing/2014/main" id="{B81AC474-C9B3-2DCE-E92E-A78BB009104F}"/>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280" name="Group 279">
                <a:extLst>
                  <a:ext uri="{FF2B5EF4-FFF2-40B4-BE49-F238E27FC236}">
                    <a16:creationId xmlns:a16="http://schemas.microsoft.com/office/drawing/2014/main" id="{49C281BB-994E-382D-351A-CE02F9B71C13}"/>
                  </a:ext>
                </a:extLst>
              </p:cNvPr>
              <p:cNvGrpSpPr/>
              <p:nvPr/>
            </p:nvGrpSpPr>
            <p:grpSpPr>
              <a:xfrm>
                <a:off x="8200175" y="763778"/>
                <a:ext cx="1032935" cy="3229447"/>
                <a:chOff x="8200175" y="763778"/>
                <a:chExt cx="1032935" cy="3229447"/>
              </a:xfrm>
            </p:grpSpPr>
            <p:sp>
              <p:nvSpPr>
                <p:cNvPr id="289" name="Decision 288">
                  <a:extLst>
                    <a:ext uri="{FF2B5EF4-FFF2-40B4-BE49-F238E27FC236}">
                      <a16:creationId xmlns:a16="http://schemas.microsoft.com/office/drawing/2014/main" id="{081E0C1A-2316-43DB-D952-32AA0B34C448}"/>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90" name="Decision 289">
                  <a:extLst>
                    <a:ext uri="{FF2B5EF4-FFF2-40B4-BE49-F238E27FC236}">
                      <a16:creationId xmlns:a16="http://schemas.microsoft.com/office/drawing/2014/main" id="{4291D8E4-4FAE-363F-D492-F71258F16509}"/>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281" name="Group 280">
                <a:extLst>
                  <a:ext uri="{FF2B5EF4-FFF2-40B4-BE49-F238E27FC236}">
                    <a16:creationId xmlns:a16="http://schemas.microsoft.com/office/drawing/2014/main" id="{79B7FB7D-6279-5A30-6EBF-594765740205}"/>
                  </a:ext>
                </a:extLst>
              </p:cNvPr>
              <p:cNvGrpSpPr/>
              <p:nvPr/>
            </p:nvGrpSpPr>
            <p:grpSpPr>
              <a:xfrm>
                <a:off x="7068934" y="763778"/>
                <a:ext cx="1057892" cy="3229449"/>
                <a:chOff x="7068934" y="763778"/>
                <a:chExt cx="1057892" cy="3229449"/>
              </a:xfrm>
            </p:grpSpPr>
            <p:sp>
              <p:nvSpPr>
                <p:cNvPr id="287" name="Decision 286">
                  <a:extLst>
                    <a:ext uri="{FF2B5EF4-FFF2-40B4-BE49-F238E27FC236}">
                      <a16:creationId xmlns:a16="http://schemas.microsoft.com/office/drawing/2014/main" id="{D0D1A0F0-6B93-7181-AC16-A8E5B964732E}"/>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88" name="Decision 287">
                  <a:extLst>
                    <a:ext uri="{FF2B5EF4-FFF2-40B4-BE49-F238E27FC236}">
                      <a16:creationId xmlns:a16="http://schemas.microsoft.com/office/drawing/2014/main" id="{88C39EDC-E9D9-93ED-47C9-8E93ADA8ED71}"/>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282" name="Group 281">
                <a:extLst>
                  <a:ext uri="{FF2B5EF4-FFF2-40B4-BE49-F238E27FC236}">
                    <a16:creationId xmlns:a16="http://schemas.microsoft.com/office/drawing/2014/main" id="{A30FAD2D-A041-0EFA-DD21-DE20755B216E}"/>
                  </a:ext>
                </a:extLst>
              </p:cNvPr>
              <p:cNvGrpSpPr/>
              <p:nvPr/>
            </p:nvGrpSpPr>
            <p:grpSpPr>
              <a:xfrm>
                <a:off x="4833908" y="1454416"/>
                <a:ext cx="2117803" cy="3633120"/>
                <a:chOff x="4833908" y="1454416"/>
                <a:chExt cx="2117803" cy="3633120"/>
              </a:xfrm>
            </p:grpSpPr>
            <p:sp>
              <p:nvSpPr>
                <p:cNvPr id="284" name="Decision 283">
                  <a:extLst>
                    <a:ext uri="{FF2B5EF4-FFF2-40B4-BE49-F238E27FC236}">
                      <a16:creationId xmlns:a16="http://schemas.microsoft.com/office/drawing/2014/main" id="{C57C61BC-6BD3-E5B7-A52B-D7365EB63806}"/>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85" name="Decision 284">
                  <a:extLst>
                    <a:ext uri="{FF2B5EF4-FFF2-40B4-BE49-F238E27FC236}">
                      <a16:creationId xmlns:a16="http://schemas.microsoft.com/office/drawing/2014/main" id="{16C44729-59B3-E205-FBA1-C7B71F68ED3F}"/>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86" name="Decision 285">
                  <a:extLst>
                    <a:ext uri="{FF2B5EF4-FFF2-40B4-BE49-F238E27FC236}">
                      <a16:creationId xmlns:a16="http://schemas.microsoft.com/office/drawing/2014/main" id="{C3067D6D-723E-EB74-9ED6-C2D68B296907}"/>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83" name="Decision 282">
                <a:extLst>
                  <a:ext uri="{FF2B5EF4-FFF2-40B4-BE49-F238E27FC236}">
                    <a16:creationId xmlns:a16="http://schemas.microsoft.com/office/drawing/2014/main" id="{6D8D0573-9204-23D2-AC7D-33D3C3D249B3}"/>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76" name="Freeform 275">
              <a:extLst>
                <a:ext uri="{FF2B5EF4-FFF2-40B4-BE49-F238E27FC236}">
                  <a16:creationId xmlns:a16="http://schemas.microsoft.com/office/drawing/2014/main" id="{9562C3B7-BE60-2308-CCFC-296E5CC3609A}"/>
                </a:ext>
              </a:extLst>
            </p:cNvPr>
            <p:cNvSpPr/>
            <p:nvPr/>
          </p:nvSpPr>
          <p:spPr>
            <a:xfrm>
              <a:off x="924448" y="4185981"/>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277" name="TextBox 276">
              <a:extLst>
                <a:ext uri="{FF2B5EF4-FFF2-40B4-BE49-F238E27FC236}">
                  <a16:creationId xmlns:a16="http://schemas.microsoft.com/office/drawing/2014/main" id="{905ADD08-F4DB-DF34-EA2E-AF3B9C41D533}"/>
                </a:ext>
              </a:extLst>
            </p:cNvPr>
            <p:cNvSpPr txBox="1"/>
            <p:nvPr/>
          </p:nvSpPr>
          <p:spPr>
            <a:xfrm>
              <a:off x="1164493" y="4256161"/>
              <a:ext cx="7272020" cy="307777"/>
            </a:xfrm>
            <a:prstGeom prst="rect">
              <a:avLst/>
            </a:prstGeom>
            <a:noFill/>
          </p:spPr>
          <p:txBody>
            <a:bodyPr wrap="square" anchor="ctr">
              <a:spAutoFit/>
            </a:bodyPr>
            <a:lstStyle/>
            <a:p>
              <a:pPr algn="r" rtl="1"/>
              <a:r>
                <a:rPr lang="ar-AE" sz="1400" dirty="0"/>
                <a:t>أتمتة دورة حياة البيانات (جمعها وتنظيفها وتحليلها)، ما يقلل الهدر ويرفع سرعة الإنجاز.</a:t>
              </a:r>
            </a:p>
          </p:txBody>
        </p:sp>
      </p:grpSp>
      <p:grpSp>
        <p:nvGrpSpPr>
          <p:cNvPr id="294" name="Group 293">
            <a:extLst>
              <a:ext uri="{FF2B5EF4-FFF2-40B4-BE49-F238E27FC236}">
                <a16:creationId xmlns:a16="http://schemas.microsoft.com/office/drawing/2014/main" id="{65670E6D-8044-E4B8-7EC7-CFFEAE6FA13B}"/>
              </a:ext>
            </a:extLst>
          </p:cNvPr>
          <p:cNvGrpSpPr/>
          <p:nvPr/>
        </p:nvGrpSpPr>
        <p:grpSpPr>
          <a:xfrm>
            <a:off x="925932" y="4929172"/>
            <a:ext cx="8007298" cy="431507"/>
            <a:chOff x="924448" y="3335707"/>
            <a:chExt cx="8007298" cy="431507"/>
          </a:xfrm>
        </p:grpSpPr>
        <p:grpSp>
          <p:nvGrpSpPr>
            <p:cNvPr id="295" name="Group 294">
              <a:extLst>
                <a:ext uri="{FF2B5EF4-FFF2-40B4-BE49-F238E27FC236}">
                  <a16:creationId xmlns:a16="http://schemas.microsoft.com/office/drawing/2014/main" id="{7DDFA8DA-C0C7-A0A0-C0BF-B39C235E7389}"/>
                </a:ext>
              </a:extLst>
            </p:cNvPr>
            <p:cNvGrpSpPr/>
            <p:nvPr/>
          </p:nvGrpSpPr>
          <p:grpSpPr>
            <a:xfrm>
              <a:off x="8700500" y="3463017"/>
              <a:ext cx="231246" cy="172008"/>
              <a:chOff x="4833908" y="763778"/>
              <a:chExt cx="6643795" cy="4323758"/>
            </a:xfrm>
          </p:grpSpPr>
          <p:grpSp>
            <p:nvGrpSpPr>
              <p:cNvPr id="298" name="Group 297">
                <a:extLst>
                  <a:ext uri="{FF2B5EF4-FFF2-40B4-BE49-F238E27FC236}">
                    <a16:creationId xmlns:a16="http://schemas.microsoft.com/office/drawing/2014/main" id="{03085566-B6C9-8FC6-8C54-322242F70289}"/>
                  </a:ext>
                </a:extLst>
              </p:cNvPr>
              <p:cNvGrpSpPr/>
              <p:nvPr/>
            </p:nvGrpSpPr>
            <p:grpSpPr>
              <a:xfrm>
                <a:off x="9359901" y="1409068"/>
                <a:ext cx="2117802" cy="3633120"/>
                <a:chOff x="9359901" y="1409068"/>
                <a:chExt cx="2117802" cy="3633120"/>
              </a:xfrm>
            </p:grpSpPr>
            <p:sp>
              <p:nvSpPr>
                <p:cNvPr id="311" name="Decision 310">
                  <a:extLst>
                    <a:ext uri="{FF2B5EF4-FFF2-40B4-BE49-F238E27FC236}">
                      <a16:creationId xmlns:a16="http://schemas.microsoft.com/office/drawing/2014/main" id="{7564450E-F9D7-4CB6-8B1B-A9FCE5F8720E}"/>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12" name="Decision 311">
                  <a:extLst>
                    <a:ext uri="{FF2B5EF4-FFF2-40B4-BE49-F238E27FC236}">
                      <a16:creationId xmlns:a16="http://schemas.microsoft.com/office/drawing/2014/main" id="{943D5561-B363-EE07-8C73-E55900B1A56C}"/>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13" name="Decision 312">
                  <a:extLst>
                    <a:ext uri="{FF2B5EF4-FFF2-40B4-BE49-F238E27FC236}">
                      <a16:creationId xmlns:a16="http://schemas.microsoft.com/office/drawing/2014/main" id="{7E4640D9-7680-8E7D-84D9-37A79F9F4A90}"/>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99" name="Decision 298">
                <a:extLst>
                  <a:ext uri="{FF2B5EF4-FFF2-40B4-BE49-F238E27FC236}">
                    <a16:creationId xmlns:a16="http://schemas.microsoft.com/office/drawing/2014/main" id="{A22085A8-65AA-4D3E-1383-6F3AE5DF0253}"/>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300" name="Group 299">
                <a:extLst>
                  <a:ext uri="{FF2B5EF4-FFF2-40B4-BE49-F238E27FC236}">
                    <a16:creationId xmlns:a16="http://schemas.microsoft.com/office/drawing/2014/main" id="{627D834B-ECD8-A233-A47E-335BA2194F15}"/>
                  </a:ext>
                </a:extLst>
              </p:cNvPr>
              <p:cNvGrpSpPr/>
              <p:nvPr/>
            </p:nvGrpSpPr>
            <p:grpSpPr>
              <a:xfrm>
                <a:off x="8200175" y="763778"/>
                <a:ext cx="1032935" cy="3229447"/>
                <a:chOff x="8200175" y="763778"/>
                <a:chExt cx="1032935" cy="3229447"/>
              </a:xfrm>
            </p:grpSpPr>
            <p:sp>
              <p:nvSpPr>
                <p:cNvPr id="309" name="Decision 308">
                  <a:extLst>
                    <a:ext uri="{FF2B5EF4-FFF2-40B4-BE49-F238E27FC236}">
                      <a16:creationId xmlns:a16="http://schemas.microsoft.com/office/drawing/2014/main" id="{DCA0ADFB-9763-0D89-6FD6-E42127096E2A}"/>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10" name="Decision 309">
                  <a:extLst>
                    <a:ext uri="{FF2B5EF4-FFF2-40B4-BE49-F238E27FC236}">
                      <a16:creationId xmlns:a16="http://schemas.microsoft.com/office/drawing/2014/main" id="{0727CD80-BC0F-5AE7-2F6B-38CB4145A7B5}"/>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301" name="Group 300">
                <a:extLst>
                  <a:ext uri="{FF2B5EF4-FFF2-40B4-BE49-F238E27FC236}">
                    <a16:creationId xmlns:a16="http://schemas.microsoft.com/office/drawing/2014/main" id="{A5B17B09-44AB-AF14-5FA3-E568625AA19C}"/>
                  </a:ext>
                </a:extLst>
              </p:cNvPr>
              <p:cNvGrpSpPr/>
              <p:nvPr/>
            </p:nvGrpSpPr>
            <p:grpSpPr>
              <a:xfrm>
                <a:off x="7068934" y="763778"/>
                <a:ext cx="1057892" cy="3229449"/>
                <a:chOff x="7068934" y="763778"/>
                <a:chExt cx="1057892" cy="3229449"/>
              </a:xfrm>
            </p:grpSpPr>
            <p:sp>
              <p:nvSpPr>
                <p:cNvPr id="307" name="Decision 306">
                  <a:extLst>
                    <a:ext uri="{FF2B5EF4-FFF2-40B4-BE49-F238E27FC236}">
                      <a16:creationId xmlns:a16="http://schemas.microsoft.com/office/drawing/2014/main" id="{195910F6-E765-4907-5A6A-31A65448185E}"/>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08" name="Decision 307">
                  <a:extLst>
                    <a:ext uri="{FF2B5EF4-FFF2-40B4-BE49-F238E27FC236}">
                      <a16:creationId xmlns:a16="http://schemas.microsoft.com/office/drawing/2014/main" id="{468B2FD9-4560-F970-32AF-54EBBD5A3395}"/>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302" name="Group 301">
                <a:extLst>
                  <a:ext uri="{FF2B5EF4-FFF2-40B4-BE49-F238E27FC236}">
                    <a16:creationId xmlns:a16="http://schemas.microsoft.com/office/drawing/2014/main" id="{2A59948D-D9F7-C2A4-3807-EDEBA8E9F7E1}"/>
                  </a:ext>
                </a:extLst>
              </p:cNvPr>
              <p:cNvGrpSpPr/>
              <p:nvPr/>
            </p:nvGrpSpPr>
            <p:grpSpPr>
              <a:xfrm>
                <a:off x="4833908" y="1454416"/>
                <a:ext cx="2117803" cy="3633120"/>
                <a:chOff x="4833908" y="1454416"/>
                <a:chExt cx="2117803" cy="3633120"/>
              </a:xfrm>
            </p:grpSpPr>
            <p:sp>
              <p:nvSpPr>
                <p:cNvPr id="304" name="Decision 303">
                  <a:extLst>
                    <a:ext uri="{FF2B5EF4-FFF2-40B4-BE49-F238E27FC236}">
                      <a16:creationId xmlns:a16="http://schemas.microsoft.com/office/drawing/2014/main" id="{16E6B836-A0B3-3F9D-F27B-9D47879CC063}"/>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05" name="Decision 304">
                  <a:extLst>
                    <a:ext uri="{FF2B5EF4-FFF2-40B4-BE49-F238E27FC236}">
                      <a16:creationId xmlns:a16="http://schemas.microsoft.com/office/drawing/2014/main" id="{1550725D-69EF-5D0E-E439-F267D4273B1B}"/>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06" name="Decision 305">
                  <a:extLst>
                    <a:ext uri="{FF2B5EF4-FFF2-40B4-BE49-F238E27FC236}">
                      <a16:creationId xmlns:a16="http://schemas.microsoft.com/office/drawing/2014/main" id="{42A17B42-DAEF-29E7-CD21-4BCF856A7BF1}"/>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303" name="Decision 302">
                <a:extLst>
                  <a:ext uri="{FF2B5EF4-FFF2-40B4-BE49-F238E27FC236}">
                    <a16:creationId xmlns:a16="http://schemas.microsoft.com/office/drawing/2014/main" id="{55D38A7A-068F-D5E0-8A85-C55FD6A2C6FB}"/>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96" name="Freeform 295">
              <a:extLst>
                <a:ext uri="{FF2B5EF4-FFF2-40B4-BE49-F238E27FC236}">
                  <a16:creationId xmlns:a16="http://schemas.microsoft.com/office/drawing/2014/main" id="{E1D2AF38-2E45-B0DD-3279-EF0723E4D2EB}"/>
                </a:ext>
              </a:extLst>
            </p:cNvPr>
            <p:cNvSpPr/>
            <p:nvPr/>
          </p:nvSpPr>
          <p:spPr>
            <a:xfrm>
              <a:off x="924448" y="3335707"/>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297" name="TextBox 296">
              <a:extLst>
                <a:ext uri="{FF2B5EF4-FFF2-40B4-BE49-F238E27FC236}">
                  <a16:creationId xmlns:a16="http://schemas.microsoft.com/office/drawing/2014/main" id="{6A86AEE1-860E-4E40-0861-5E871B592741}"/>
                </a:ext>
              </a:extLst>
            </p:cNvPr>
            <p:cNvSpPr txBox="1"/>
            <p:nvPr/>
          </p:nvSpPr>
          <p:spPr>
            <a:xfrm>
              <a:off x="1164493" y="3405887"/>
              <a:ext cx="7272020" cy="307777"/>
            </a:xfrm>
            <a:prstGeom prst="rect">
              <a:avLst/>
            </a:prstGeom>
            <a:noFill/>
          </p:spPr>
          <p:txBody>
            <a:bodyPr wrap="square" anchor="ctr">
              <a:spAutoFit/>
            </a:bodyPr>
            <a:lstStyle/>
            <a:p>
              <a:pPr algn="r" rtl="1"/>
              <a:r>
                <a:rPr lang="ar-AE" sz="1400" dirty="0"/>
                <a:t>إزالة الازدواجية عبر دمج الخزائن المتشابهة في مستودع بيانات موحّد، وتطبيق سياسات إدارة البيانات لضبط الجودة وتقليل التكرار.</a:t>
              </a:r>
            </a:p>
          </p:txBody>
        </p:sp>
      </p:grpSp>
    </p:spTree>
    <p:extLst>
      <p:ext uri="{BB962C8B-B14F-4D97-AF65-F5344CB8AC3E}">
        <p14:creationId xmlns:p14="http://schemas.microsoft.com/office/powerpoint/2010/main" val="177756871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CC937-D0D7-6514-40CE-C09FBAF96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96DB7-CA74-1785-6977-87755D8B9B03}"/>
              </a:ext>
            </a:extLst>
          </p:cNvPr>
          <p:cNvSpPr>
            <a:spLocks noGrp="1"/>
          </p:cNvSpPr>
          <p:nvPr>
            <p:ph type="title"/>
          </p:nvPr>
        </p:nvSpPr>
        <p:spPr/>
        <p:txBody>
          <a:bodyPr/>
          <a:lstStyle/>
          <a:p>
            <a:r>
              <a:rPr lang="ar-AE" b="1" dirty="0"/>
              <a:t>الرؤية المستقبلية لبنية البيانات</a:t>
            </a:r>
            <a:endParaRPr lang="en-AE" dirty="0"/>
          </a:p>
        </p:txBody>
      </p:sp>
      <p:sp>
        <p:nvSpPr>
          <p:cNvPr id="3" name="Slide Number Placeholder 2">
            <a:extLst>
              <a:ext uri="{FF2B5EF4-FFF2-40B4-BE49-F238E27FC236}">
                <a16:creationId xmlns:a16="http://schemas.microsoft.com/office/drawing/2014/main" id="{A5B67FFE-8382-12E7-3B06-DEEE5123CE52}"/>
              </a:ext>
            </a:extLst>
          </p:cNvPr>
          <p:cNvSpPr>
            <a:spLocks noGrp="1"/>
          </p:cNvSpPr>
          <p:nvPr>
            <p:ph type="sldNum" sz="quarter" idx="12"/>
          </p:nvPr>
        </p:nvSpPr>
        <p:spPr/>
        <p:txBody>
          <a:bodyPr/>
          <a:lstStyle/>
          <a:p>
            <a:fld id="{0BE4EC83-A869-464E-AE9F-881796FB085E}" type="slidenum">
              <a:rPr lang="en-US" smtClean="0"/>
              <a:t>12</a:t>
            </a:fld>
            <a:endParaRPr lang="en-US"/>
          </a:p>
        </p:txBody>
      </p:sp>
      <p:sp>
        <p:nvSpPr>
          <p:cNvPr id="9" name="TextBox 8">
            <a:extLst>
              <a:ext uri="{FF2B5EF4-FFF2-40B4-BE49-F238E27FC236}">
                <a16:creationId xmlns:a16="http://schemas.microsoft.com/office/drawing/2014/main" id="{9ED2DB7D-1310-DA5F-A166-30B1446F60C5}"/>
              </a:ext>
            </a:extLst>
          </p:cNvPr>
          <p:cNvSpPr txBox="1"/>
          <p:nvPr/>
        </p:nvSpPr>
        <p:spPr>
          <a:xfrm>
            <a:off x="621452" y="1187542"/>
            <a:ext cx="10960947" cy="307777"/>
          </a:xfrm>
          <a:prstGeom prst="rect">
            <a:avLst/>
          </a:prstGeom>
          <a:noFill/>
        </p:spPr>
        <p:txBody>
          <a:bodyPr wrap="square">
            <a:spAutoFit/>
          </a:bodyPr>
          <a:lstStyle/>
          <a:p>
            <a:pPr algn="r" rtl="1">
              <a:buNone/>
            </a:pPr>
            <a:r>
              <a:rPr lang="ar-AE" sz="1400" b="1" dirty="0"/>
              <a:t>الرؤية المستقبلية لبنية البيانات</a:t>
            </a:r>
            <a:r>
              <a:rPr lang="ar-AE" sz="1400" dirty="0"/>
              <a:t> في ضوء الأهداف الاستراتيجية الخمسة يمكن تلخيصها كالتالي:</a:t>
            </a:r>
          </a:p>
        </p:txBody>
      </p:sp>
      <p:grpSp>
        <p:nvGrpSpPr>
          <p:cNvPr id="271" name="Group 270">
            <a:extLst>
              <a:ext uri="{FF2B5EF4-FFF2-40B4-BE49-F238E27FC236}">
                <a16:creationId xmlns:a16="http://schemas.microsoft.com/office/drawing/2014/main" id="{42A0A674-DFC8-8CBD-D124-D76D8371A535}"/>
              </a:ext>
            </a:extLst>
          </p:cNvPr>
          <p:cNvGrpSpPr/>
          <p:nvPr/>
        </p:nvGrpSpPr>
        <p:grpSpPr>
          <a:xfrm>
            <a:off x="924448" y="2485434"/>
            <a:ext cx="8007298" cy="431507"/>
            <a:chOff x="924448" y="2485434"/>
            <a:chExt cx="8007298" cy="431507"/>
          </a:xfrm>
        </p:grpSpPr>
        <p:grpSp>
          <p:nvGrpSpPr>
            <p:cNvPr id="5" name="Group 4">
              <a:extLst>
                <a:ext uri="{FF2B5EF4-FFF2-40B4-BE49-F238E27FC236}">
                  <a16:creationId xmlns:a16="http://schemas.microsoft.com/office/drawing/2014/main" id="{9D99ECAC-759C-170B-D32F-EC7954249621}"/>
                </a:ext>
              </a:extLst>
            </p:cNvPr>
            <p:cNvGrpSpPr/>
            <p:nvPr/>
          </p:nvGrpSpPr>
          <p:grpSpPr>
            <a:xfrm>
              <a:off x="8700500" y="2612744"/>
              <a:ext cx="231246" cy="172008"/>
              <a:chOff x="4833908" y="763778"/>
              <a:chExt cx="6643795" cy="4323758"/>
            </a:xfrm>
          </p:grpSpPr>
          <p:grpSp>
            <p:nvGrpSpPr>
              <p:cNvPr id="10" name="Group 9">
                <a:extLst>
                  <a:ext uri="{FF2B5EF4-FFF2-40B4-BE49-F238E27FC236}">
                    <a16:creationId xmlns:a16="http://schemas.microsoft.com/office/drawing/2014/main" id="{BD8F4810-7E5C-A227-70C4-A1D5D96954A8}"/>
                  </a:ext>
                </a:extLst>
              </p:cNvPr>
              <p:cNvGrpSpPr/>
              <p:nvPr/>
            </p:nvGrpSpPr>
            <p:grpSpPr>
              <a:xfrm>
                <a:off x="9359901" y="1409068"/>
                <a:ext cx="2117802" cy="3633120"/>
                <a:chOff x="9359901" y="1409068"/>
                <a:chExt cx="2117802" cy="3633120"/>
              </a:xfrm>
            </p:grpSpPr>
            <p:sp>
              <p:nvSpPr>
                <p:cNvPr id="23" name="Decision 22">
                  <a:extLst>
                    <a:ext uri="{FF2B5EF4-FFF2-40B4-BE49-F238E27FC236}">
                      <a16:creationId xmlns:a16="http://schemas.microsoft.com/office/drawing/2014/main" id="{7BD64694-9B6A-D447-5402-6F595CCE1D0E}"/>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4" name="Decision 23">
                  <a:extLst>
                    <a:ext uri="{FF2B5EF4-FFF2-40B4-BE49-F238E27FC236}">
                      <a16:creationId xmlns:a16="http://schemas.microsoft.com/office/drawing/2014/main" id="{0659C0BC-4CE4-6D74-E81F-03B31D6F1EF7}"/>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5" name="Decision 24">
                  <a:extLst>
                    <a:ext uri="{FF2B5EF4-FFF2-40B4-BE49-F238E27FC236}">
                      <a16:creationId xmlns:a16="http://schemas.microsoft.com/office/drawing/2014/main" id="{1A8E633F-A79F-A56A-6B4C-880B3E0A7B83}"/>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1" name="Decision 10">
                <a:extLst>
                  <a:ext uri="{FF2B5EF4-FFF2-40B4-BE49-F238E27FC236}">
                    <a16:creationId xmlns:a16="http://schemas.microsoft.com/office/drawing/2014/main" id="{4FBFC31C-A27D-C835-31C5-13C3F640D6FB}"/>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2" name="Group 11">
                <a:extLst>
                  <a:ext uri="{FF2B5EF4-FFF2-40B4-BE49-F238E27FC236}">
                    <a16:creationId xmlns:a16="http://schemas.microsoft.com/office/drawing/2014/main" id="{D88B5F77-85B8-EAF8-A3F0-B8BD0114A493}"/>
                  </a:ext>
                </a:extLst>
              </p:cNvPr>
              <p:cNvGrpSpPr/>
              <p:nvPr/>
            </p:nvGrpSpPr>
            <p:grpSpPr>
              <a:xfrm>
                <a:off x="8200175" y="763778"/>
                <a:ext cx="1032935" cy="3229447"/>
                <a:chOff x="8200175" y="763778"/>
                <a:chExt cx="1032935" cy="3229447"/>
              </a:xfrm>
            </p:grpSpPr>
            <p:sp>
              <p:nvSpPr>
                <p:cNvPr id="21" name="Decision 20">
                  <a:extLst>
                    <a:ext uri="{FF2B5EF4-FFF2-40B4-BE49-F238E27FC236}">
                      <a16:creationId xmlns:a16="http://schemas.microsoft.com/office/drawing/2014/main" id="{DD50333E-6F7A-8114-2901-36A2C8D5F921}"/>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2" name="Decision 21">
                  <a:extLst>
                    <a:ext uri="{FF2B5EF4-FFF2-40B4-BE49-F238E27FC236}">
                      <a16:creationId xmlns:a16="http://schemas.microsoft.com/office/drawing/2014/main" id="{3B677B24-8B6E-87FD-84ED-9B25D151BC17}"/>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3" name="Group 12">
                <a:extLst>
                  <a:ext uri="{FF2B5EF4-FFF2-40B4-BE49-F238E27FC236}">
                    <a16:creationId xmlns:a16="http://schemas.microsoft.com/office/drawing/2014/main" id="{8E84CAFC-6032-FEBF-02D0-1CD437F2A810}"/>
                  </a:ext>
                </a:extLst>
              </p:cNvPr>
              <p:cNvGrpSpPr/>
              <p:nvPr/>
            </p:nvGrpSpPr>
            <p:grpSpPr>
              <a:xfrm>
                <a:off x="7068934" y="763778"/>
                <a:ext cx="1057892" cy="3229449"/>
                <a:chOff x="7068934" y="763778"/>
                <a:chExt cx="1057892" cy="3229449"/>
              </a:xfrm>
            </p:grpSpPr>
            <p:sp>
              <p:nvSpPr>
                <p:cNvPr id="19" name="Decision 18">
                  <a:extLst>
                    <a:ext uri="{FF2B5EF4-FFF2-40B4-BE49-F238E27FC236}">
                      <a16:creationId xmlns:a16="http://schemas.microsoft.com/office/drawing/2014/main" id="{75B72AED-FDE7-8A23-782A-5ABC0B33B324}"/>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20" name="Decision 19">
                  <a:extLst>
                    <a:ext uri="{FF2B5EF4-FFF2-40B4-BE49-F238E27FC236}">
                      <a16:creationId xmlns:a16="http://schemas.microsoft.com/office/drawing/2014/main" id="{4A6E96DB-0F93-A1DB-0F60-0FD11204468C}"/>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4" name="Group 13">
                <a:extLst>
                  <a:ext uri="{FF2B5EF4-FFF2-40B4-BE49-F238E27FC236}">
                    <a16:creationId xmlns:a16="http://schemas.microsoft.com/office/drawing/2014/main" id="{D2404B1D-EA0C-F531-3B50-5C223C828418}"/>
                  </a:ext>
                </a:extLst>
              </p:cNvPr>
              <p:cNvGrpSpPr/>
              <p:nvPr/>
            </p:nvGrpSpPr>
            <p:grpSpPr>
              <a:xfrm>
                <a:off x="4833908" y="1454416"/>
                <a:ext cx="2117803" cy="3633120"/>
                <a:chOff x="4833908" y="1454416"/>
                <a:chExt cx="2117803" cy="3633120"/>
              </a:xfrm>
            </p:grpSpPr>
            <p:sp>
              <p:nvSpPr>
                <p:cNvPr id="16" name="Decision 15">
                  <a:extLst>
                    <a:ext uri="{FF2B5EF4-FFF2-40B4-BE49-F238E27FC236}">
                      <a16:creationId xmlns:a16="http://schemas.microsoft.com/office/drawing/2014/main" id="{F7381A24-93E9-0DA6-994B-851F177F2324}"/>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7" name="Decision 16">
                  <a:extLst>
                    <a:ext uri="{FF2B5EF4-FFF2-40B4-BE49-F238E27FC236}">
                      <a16:creationId xmlns:a16="http://schemas.microsoft.com/office/drawing/2014/main" id="{7773C1D2-80DB-B8BF-8FD4-F273551CEEAA}"/>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8" name="Decision 17">
                  <a:extLst>
                    <a:ext uri="{FF2B5EF4-FFF2-40B4-BE49-F238E27FC236}">
                      <a16:creationId xmlns:a16="http://schemas.microsoft.com/office/drawing/2014/main" id="{6917999E-00ED-217B-7719-89CF2083AC85}"/>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5" name="Decision 14">
                <a:extLst>
                  <a:ext uri="{FF2B5EF4-FFF2-40B4-BE49-F238E27FC236}">
                    <a16:creationId xmlns:a16="http://schemas.microsoft.com/office/drawing/2014/main" id="{9F1581AE-C3F1-5773-5F19-3253BD3398FA}"/>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6" name="Freeform 5">
              <a:extLst>
                <a:ext uri="{FF2B5EF4-FFF2-40B4-BE49-F238E27FC236}">
                  <a16:creationId xmlns:a16="http://schemas.microsoft.com/office/drawing/2014/main" id="{00E5F5DA-1A96-9F90-E7C2-2CC5AF6EE681}"/>
                </a:ext>
              </a:extLst>
            </p:cNvPr>
            <p:cNvSpPr/>
            <p:nvPr/>
          </p:nvSpPr>
          <p:spPr>
            <a:xfrm>
              <a:off x="924448" y="2485434"/>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7" name="TextBox 6">
              <a:extLst>
                <a:ext uri="{FF2B5EF4-FFF2-40B4-BE49-F238E27FC236}">
                  <a16:creationId xmlns:a16="http://schemas.microsoft.com/office/drawing/2014/main" id="{1118D8BC-C5E6-805A-39F8-524F50C6ABD9}"/>
                </a:ext>
              </a:extLst>
            </p:cNvPr>
            <p:cNvSpPr txBox="1"/>
            <p:nvPr/>
          </p:nvSpPr>
          <p:spPr>
            <a:xfrm>
              <a:off x="1164493" y="2555614"/>
              <a:ext cx="7272020" cy="307777"/>
            </a:xfrm>
            <a:prstGeom prst="rect">
              <a:avLst/>
            </a:prstGeom>
            <a:noFill/>
          </p:spPr>
          <p:txBody>
            <a:bodyPr wrap="square" anchor="ctr">
              <a:spAutoFit/>
            </a:bodyPr>
            <a:lstStyle/>
            <a:p>
              <a:pPr algn="r" rtl="1"/>
              <a:r>
                <a:rPr lang="ar-AE" sz="1400" dirty="0"/>
                <a:t>إدارة المخاطر والاستمرارية بترسيخ خطط التعافي من الكوارث وإجراءات الأمن السيبراني، مع ربطها بأهداف العمل.</a:t>
              </a:r>
            </a:p>
          </p:txBody>
        </p:sp>
      </p:grpSp>
      <p:grpSp>
        <p:nvGrpSpPr>
          <p:cNvPr id="270" name="Group 269">
            <a:extLst>
              <a:ext uri="{FF2B5EF4-FFF2-40B4-BE49-F238E27FC236}">
                <a16:creationId xmlns:a16="http://schemas.microsoft.com/office/drawing/2014/main" id="{CA7F02A4-061B-57D4-8140-319E1953B390}"/>
              </a:ext>
            </a:extLst>
          </p:cNvPr>
          <p:cNvGrpSpPr/>
          <p:nvPr/>
        </p:nvGrpSpPr>
        <p:grpSpPr>
          <a:xfrm>
            <a:off x="924448" y="1929449"/>
            <a:ext cx="8007298" cy="431507"/>
            <a:chOff x="924448" y="1635161"/>
            <a:chExt cx="8007298" cy="431507"/>
          </a:xfrm>
        </p:grpSpPr>
        <p:grpSp>
          <p:nvGrpSpPr>
            <p:cNvPr id="28" name="Group 27">
              <a:extLst>
                <a:ext uri="{FF2B5EF4-FFF2-40B4-BE49-F238E27FC236}">
                  <a16:creationId xmlns:a16="http://schemas.microsoft.com/office/drawing/2014/main" id="{1A4832D4-A7EC-8EA3-8826-4868AF56B28B}"/>
                </a:ext>
              </a:extLst>
            </p:cNvPr>
            <p:cNvGrpSpPr/>
            <p:nvPr/>
          </p:nvGrpSpPr>
          <p:grpSpPr>
            <a:xfrm>
              <a:off x="8700500" y="1762471"/>
              <a:ext cx="231246" cy="172008"/>
              <a:chOff x="4833908" y="763778"/>
              <a:chExt cx="6643795" cy="4323758"/>
            </a:xfrm>
          </p:grpSpPr>
          <p:grpSp>
            <p:nvGrpSpPr>
              <p:cNvPr id="31" name="Group 30">
                <a:extLst>
                  <a:ext uri="{FF2B5EF4-FFF2-40B4-BE49-F238E27FC236}">
                    <a16:creationId xmlns:a16="http://schemas.microsoft.com/office/drawing/2014/main" id="{600D3013-51CF-D3D8-DC30-05B26C121DEC}"/>
                  </a:ext>
                </a:extLst>
              </p:cNvPr>
              <p:cNvGrpSpPr/>
              <p:nvPr/>
            </p:nvGrpSpPr>
            <p:grpSpPr>
              <a:xfrm>
                <a:off x="9359901" y="1409068"/>
                <a:ext cx="2117802" cy="3633120"/>
                <a:chOff x="9359901" y="1409068"/>
                <a:chExt cx="2117802" cy="3633120"/>
              </a:xfrm>
            </p:grpSpPr>
            <p:sp>
              <p:nvSpPr>
                <p:cNvPr id="44" name="Decision 43">
                  <a:extLst>
                    <a:ext uri="{FF2B5EF4-FFF2-40B4-BE49-F238E27FC236}">
                      <a16:creationId xmlns:a16="http://schemas.microsoft.com/office/drawing/2014/main" id="{D03B146C-AED7-73B0-E00E-496D47B5414C}"/>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45" name="Decision 44">
                  <a:extLst>
                    <a:ext uri="{FF2B5EF4-FFF2-40B4-BE49-F238E27FC236}">
                      <a16:creationId xmlns:a16="http://schemas.microsoft.com/office/drawing/2014/main" id="{67BE53B0-8569-626A-49A1-033369527A8B}"/>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46" name="Decision 45">
                  <a:extLst>
                    <a:ext uri="{FF2B5EF4-FFF2-40B4-BE49-F238E27FC236}">
                      <a16:creationId xmlns:a16="http://schemas.microsoft.com/office/drawing/2014/main" id="{FA674DA6-3766-3EF4-BE59-233AA2E61971}"/>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32" name="Decision 31">
                <a:extLst>
                  <a:ext uri="{FF2B5EF4-FFF2-40B4-BE49-F238E27FC236}">
                    <a16:creationId xmlns:a16="http://schemas.microsoft.com/office/drawing/2014/main" id="{68ED42BC-8EB4-7927-B23B-72718722D55A}"/>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33" name="Group 32">
                <a:extLst>
                  <a:ext uri="{FF2B5EF4-FFF2-40B4-BE49-F238E27FC236}">
                    <a16:creationId xmlns:a16="http://schemas.microsoft.com/office/drawing/2014/main" id="{E8DBF9EB-1BCC-8F90-6F89-9B444696B016}"/>
                  </a:ext>
                </a:extLst>
              </p:cNvPr>
              <p:cNvGrpSpPr/>
              <p:nvPr/>
            </p:nvGrpSpPr>
            <p:grpSpPr>
              <a:xfrm>
                <a:off x="8200175" y="763778"/>
                <a:ext cx="1032935" cy="3229447"/>
                <a:chOff x="8200175" y="763778"/>
                <a:chExt cx="1032935" cy="3229447"/>
              </a:xfrm>
            </p:grpSpPr>
            <p:sp>
              <p:nvSpPr>
                <p:cNvPr id="42" name="Decision 41">
                  <a:extLst>
                    <a:ext uri="{FF2B5EF4-FFF2-40B4-BE49-F238E27FC236}">
                      <a16:creationId xmlns:a16="http://schemas.microsoft.com/office/drawing/2014/main" id="{3CBB74D8-0D98-C9AF-6DF9-85F1C6D1A40A}"/>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43" name="Decision 42">
                  <a:extLst>
                    <a:ext uri="{FF2B5EF4-FFF2-40B4-BE49-F238E27FC236}">
                      <a16:creationId xmlns:a16="http://schemas.microsoft.com/office/drawing/2014/main" id="{3FD013A9-71ED-CAEE-E308-D582C91B53AD}"/>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34" name="Group 33">
                <a:extLst>
                  <a:ext uri="{FF2B5EF4-FFF2-40B4-BE49-F238E27FC236}">
                    <a16:creationId xmlns:a16="http://schemas.microsoft.com/office/drawing/2014/main" id="{F4CB0A15-3566-8E2A-0B00-7871533BBC66}"/>
                  </a:ext>
                </a:extLst>
              </p:cNvPr>
              <p:cNvGrpSpPr/>
              <p:nvPr/>
            </p:nvGrpSpPr>
            <p:grpSpPr>
              <a:xfrm>
                <a:off x="7068934" y="763778"/>
                <a:ext cx="1057892" cy="3229449"/>
                <a:chOff x="7068934" y="763778"/>
                <a:chExt cx="1057892" cy="3229449"/>
              </a:xfrm>
            </p:grpSpPr>
            <p:sp>
              <p:nvSpPr>
                <p:cNvPr id="40" name="Decision 39">
                  <a:extLst>
                    <a:ext uri="{FF2B5EF4-FFF2-40B4-BE49-F238E27FC236}">
                      <a16:creationId xmlns:a16="http://schemas.microsoft.com/office/drawing/2014/main" id="{5CEDDA4D-3FE1-E09E-39AC-694942D6E778}"/>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41" name="Decision 40">
                  <a:extLst>
                    <a:ext uri="{FF2B5EF4-FFF2-40B4-BE49-F238E27FC236}">
                      <a16:creationId xmlns:a16="http://schemas.microsoft.com/office/drawing/2014/main" id="{0410E102-82AD-36A3-55EF-EBAE4850B1DB}"/>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35" name="Group 34">
                <a:extLst>
                  <a:ext uri="{FF2B5EF4-FFF2-40B4-BE49-F238E27FC236}">
                    <a16:creationId xmlns:a16="http://schemas.microsoft.com/office/drawing/2014/main" id="{989E6142-EBB8-934E-1AAE-FEDF2A24E4E7}"/>
                  </a:ext>
                </a:extLst>
              </p:cNvPr>
              <p:cNvGrpSpPr/>
              <p:nvPr/>
            </p:nvGrpSpPr>
            <p:grpSpPr>
              <a:xfrm>
                <a:off x="4833908" y="1454416"/>
                <a:ext cx="2117803" cy="3633120"/>
                <a:chOff x="4833908" y="1454416"/>
                <a:chExt cx="2117803" cy="3633120"/>
              </a:xfrm>
            </p:grpSpPr>
            <p:sp>
              <p:nvSpPr>
                <p:cNvPr id="37" name="Decision 36">
                  <a:extLst>
                    <a:ext uri="{FF2B5EF4-FFF2-40B4-BE49-F238E27FC236}">
                      <a16:creationId xmlns:a16="http://schemas.microsoft.com/office/drawing/2014/main" id="{02975BCB-7A69-EAEB-1EC2-820782CE89CA}"/>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8" name="Decision 37">
                  <a:extLst>
                    <a:ext uri="{FF2B5EF4-FFF2-40B4-BE49-F238E27FC236}">
                      <a16:creationId xmlns:a16="http://schemas.microsoft.com/office/drawing/2014/main" id="{F0C507A5-EC71-EBF0-2125-A10BA4824CD3}"/>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39" name="Decision 38">
                  <a:extLst>
                    <a:ext uri="{FF2B5EF4-FFF2-40B4-BE49-F238E27FC236}">
                      <a16:creationId xmlns:a16="http://schemas.microsoft.com/office/drawing/2014/main" id="{E4E9B3CE-BAE5-0AE4-C538-A3B97706C521}"/>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36" name="Decision 35">
                <a:extLst>
                  <a:ext uri="{FF2B5EF4-FFF2-40B4-BE49-F238E27FC236}">
                    <a16:creationId xmlns:a16="http://schemas.microsoft.com/office/drawing/2014/main" id="{12B7ED5C-ED4B-B258-26AD-3BB69316352C}"/>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9" name="Freeform 28">
              <a:extLst>
                <a:ext uri="{FF2B5EF4-FFF2-40B4-BE49-F238E27FC236}">
                  <a16:creationId xmlns:a16="http://schemas.microsoft.com/office/drawing/2014/main" id="{38DD4F20-F5B9-8589-56A7-142DCF878663}"/>
                </a:ext>
              </a:extLst>
            </p:cNvPr>
            <p:cNvSpPr/>
            <p:nvPr/>
          </p:nvSpPr>
          <p:spPr>
            <a:xfrm>
              <a:off x="924448" y="1635161"/>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30" name="TextBox 29">
              <a:extLst>
                <a:ext uri="{FF2B5EF4-FFF2-40B4-BE49-F238E27FC236}">
                  <a16:creationId xmlns:a16="http://schemas.microsoft.com/office/drawing/2014/main" id="{0D728CC6-D5AE-2277-8DDE-44235923B806}"/>
                </a:ext>
              </a:extLst>
            </p:cNvPr>
            <p:cNvSpPr txBox="1"/>
            <p:nvPr/>
          </p:nvSpPr>
          <p:spPr>
            <a:xfrm>
              <a:off x="1164493" y="1705341"/>
              <a:ext cx="7272020" cy="307777"/>
            </a:xfrm>
            <a:prstGeom prst="rect">
              <a:avLst/>
            </a:prstGeom>
            <a:noFill/>
          </p:spPr>
          <p:txBody>
            <a:bodyPr wrap="square" anchor="ctr">
              <a:spAutoFit/>
            </a:bodyPr>
            <a:lstStyle/>
            <a:p>
              <a:pPr algn="r" rtl="1"/>
              <a:r>
                <a:rPr lang="ar-AE" sz="1400" dirty="0"/>
                <a:t>إنشاء نموذج حوكمة شامل يوضّح الأدوار والمسؤوليات، ويشمل سياسات التصنيف والأمن وخصوصية البيانات.</a:t>
              </a:r>
            </a:p>
          </p:txBody>
        </p:sp>
      </p:grpSp>
      <p:grpSp>
        <p:nvGrpSpPr>
          <p:cNvPr id="273" name="Group 272">
            <a:extLst>
              <a:ext uri="{FF2B5EF4-FFF2-40B4-BE49-F238E27FC236}">
                <a16:creationId xmlns:a16="http://schemas.microsoft.com/office/drawing/2014/main" id="{6E224633-6A0A-7C56-F6B4-EE4C6CCC4F91}"/>
              </a:ext>
            </a:extLst>
          </p:cNvPr>
          <p:cNvGrpSpPr/>
          <p:nvPr/>
        </p:nvGrpSpPr>
        <p:grpSpPr>
          <a:xfrm>
            <a:off x="924448" y="4522463"/>
            <a:ext cx="8007298" cy="431507"/>
            <a:chOff x="924448" y="4185981"/>
            <a:chExt cx="8007298" cy="431507"/>
          </a:xfrm>
        </p:grpSpPr>
        <p:grpSp>
          <p:nvGrpSpPr>
            <p:cNvPr id="102" name="Group 101">
              <a:extLst>
                <a:ext uri="{FF2B5EF4-FFF2-40B4-BE49-F238E27FC236}">
                  <a16:creationId xmlns:a16="http://schemas.microsoft.com/office/drawing/2014/main" id="{8A16638A-1DC8-DE2A-CC6C-E06A0B83D027}"/>
                </a:ext>
              </a:extLst>
            </p:cNvPr>
            <p:cNvGrpSpPr/>
            <p:nvPr/>
          </p:nvGrpSpPr>
          <p:grpSpPr>
            <a:xfrm>
              <a:off x="8700500" y="4313291"/>
              <a:ext cx="231246" cy="172008"/>
              <a:chOff x="4833908" y="763778"/>
              <a:chExt cx="6643795" cy="4323758"/>
            </a:xfrm>
          </p:grpSpPr>
          <p:grpSp>
            <p:nvGrpSpPr>
              <p:cNvPr id="105" name="Group 104">
                <a:extLst>
                  <a:ext uri="{FF2B5EF4-FFF2-40B4-BE49-F238E27FC236}">
                    <a16:creationId xmlns:a16="http://schemas.microsoft.com/office/drawing/2014/main" id="{E74FA349-D271-2114-5664-F98859B3A979}"/>
                  </a:ext>
                </a:extLst>
              </p:cNvPr>
              <p:cNvGrpSpPr/>
              <p:nvPr/>
            </p:nvGrpSpPr>
            <p:grpSpPr>
              <a:xfrm>
                <a:off x="9359901" y="1409068"/>
                <a:ext cx="2117802" cy="3633120"/>
                <a:chOff x="9359901" y="1409068"/>
                <a:chExt cx="2117802" cy="3633120"/>
              </a:xfrm>
            </p:grpSpPr>
            <p:sp>
              <p:nvSpPr>
                <p:cNvPr id="118" name="Decision 117">
                  <a:extLst>
                    <a:ext uri="{FF2B5EF4-FFF2-40B4-BE49-F238E27FC236}">
                      <a16:creationId xmlns:a16="http://schemas.microsoft.com/office/drawing/2014/main" id="{96200198-7E09-AB8C-9AE0-29A5A4F24348}"/>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9" name="Decision 118">
                  <a:extLst>
                    <a:ext uri="{FF2B5EF4-FFF2-40B4-BE49-F238E27FC236}">
                      <a16:creationId xmlns:a16="http://schemas.microsoft.com/office/drawing/2014/main" id="{0544FF14-5D8E-9801-5350-6B780BFA7AD4}"/>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20" name="Decision 119">
                  <a:extLst>
                    <a:ext uri="{FF2B5EF4-FFF2-40B4-BE49-F238E27FC236}">
                      <a16:creationId xmlns:a16="http://schemas.microsoft.com/office/drawing/2014/main" id="{E7C641C0-B04C-A7E5-4E6C-2212479BCD0F}"/>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06" name="Decision 105">
                <a:extLst>
                  <a:ext uri="{FF2B5EF4-FFF2-40B4-BE49-F238E27FC236}">
                    <a16:creationId xmlns:a16="http://schemas.microsoft.com/office/drawing/2014/main" id="{78286A91-BBA7-C448-18BF-411EA033D89C}"/>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07" name="Group 106">
                <a:extLst>
                  <a:ext uri="{FF2B5EF4-FFF2-40B4-BE49-F238E27FC236}">
                    <a16:creationId xmlns:a16="http://schemas.microsoft.com/office/drawing/2014/main" id="{4792AF55-2992-676D-0418-6F35C2E97B7A}"/>
                  </a:ext>
                </a:extLst>
              </p:cNvPr>
              <p:cNvGrpSpPr/>
              <p:nvPr/>
            </p:nvGrpSpPr>
            <p:grpSpPr>
              <a:xfrm>
                <a:off x="8200175" y="763778"/>
                <a:ext cx="1032935" cy="3229447"/>
                <a:chOff x="8200175" y="763778"/>
                <a:chExt cx="1032935" cy="3229447"/>
              </a:xfrm>
            </p:grpSpPr>
            <p:sp>
              <p:nvSpPr>
                <p:cNvPr id="116" name="Decision 115">
                  <a:extLst>
                    <a:ext uri="{FF2B5EF4-FFF2-40B4-BE49-F238E27FC236}">
                      <a16:creationId xmlns:a16="http://schemas.microsoft.com/office/drawing/2014/main" id="{F69F9C35-1E75-48B2-525A-E093E861B140}"/>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7" name="Decision 116">
                  <a:extLst>
                    <a:ext uri="{FF2B5EF4-FFF2-40B4-BE49-F238E27FC236}">
                      <a16:creationId xmlns:a16="http://schemas.microsoft.com/office/drawing/2014/main" id="{578405C0-7D17-D6D1-B340-E364DE2DD837}"/>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08" name="Group 107">
                <a:extLst>
                  <a:ext uri="{FF2B5EF4-FFF2-40B4-BE49-F238E27FC236}">
                    <a16:creationId xmlns:a16="http://schemas.microsoft.com/office/drawing/2014/main" id="{A70965B8-0F06-68A5-5B78-BC72C60DD5FC}"/>
                  </a:ext>
                </a:extLst>
              </p:cNvPr>
              <p:cNvGrpSpPr/>
              <p:nvPr/>
            </p:nvGrpSpPr>
            <p:grpSpPr>
              <a:xfrm>
                <a:off x="7068934" y="763778"/>
                <a:ext cx="1057892" cy="3229449"/>
                <a:chOff x="7068934" y="763778"/>
                <a:chExt cx="1057892" cy="3229449"/>
              </a:xfrm>
            </p:grpSpPr>
            <p:sp>
              <p:nvSpPr>
                <p:cNvPr id="114" name="Decision 113">
                  <a:extLst>
                    <a:ext uri="{FF2B5EF4-FFF2-40B4-BE49-F238E27FC236}">
                      <a16:creationId xmlns:a16="http://schemas.microsoft.com/office/drawing/2014/main" id="{7839B42A-D3FF-FEA6-2C48-8CBEC8246C5B}"/>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5" name="Decision 114">
                  <a:extLst>
                    <a:ext uri="{FF2B5EF4-FFF2-40B4-BE49-F238E27FC236}">
                      <a16:creationId xmlns:a16="http://schemas.microsoft.com/office/drawing/2014/main" id="{EB87E052-F714-41E2-82CD-99AE292AE7A9}"/>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09" name="Group 108">
                <a:extLst>
                  <a:ext uri="{FF2B5EF4-FFF2-40B4-BE49-F238E27FC236}">
                    <a16:creationId xmlns:a16="http://schemas.microsoft.com/office/drawing/2014/main" id="{671C1999-9F0A-623F-6C30-635A987C6915}"/>
                  </a:ext>
                </a:extLst>
              </p:cNvPr>
              <p:cNvGrpSpPr/>
              <p:nvPr/>
            </p:nvGrpSpPr>
            <p:grpSpPr>
              <a:xfrm>
                <a:off x="4833908" y="1454416"/>
                <a:ext cx="2117803" cy="3633120"/>
                <a:chOff x="4833908" y="1454416"/>
                <a:chExt cx="2117803" cy="3633120"/>
              </a:xfrm>
            </p:grpSpPr>
            <p:sp>
              <p:nvSpPr>
                <p:cNvPr id="111" name="Decision 110">
                  <a:extLst>
                    <a:ext uri="{FF2B5EF4-FFF2-40B4-BE49-F238E27FC236}">
                      <a16:creationId xmlns:a16="http://schemas.microsoft.com/office/drawing/2014/main" id="{6FC1095F-6FDE-B99F-BE9A-81A40FF4FE8B}"/>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2" name="Decision 111">
                  <a:extLst>
                    <a:ext uri="{FF2B5EF4-FFF2-40B4-BE49-F238E27FC236}">
                      <a16:creationId xmlns:a16="http://schemas.microsoft.com/office/drawing/2014/main" id="{D687ECFA-FD7C-62C6-F20B-E68E20368667}"/>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13" name="Decision 112">
                  <a:extLst>
                    <a:ext uri="{FF2B5EF4-FFF2-40B4-BE49-F238E27FC236}">
                      <a16:creationId xmlns:a16="http://schemas.microsoft.com/office/drawing/2014/main" id="{C0CAE13B-6EF2-E4B0-D495-7C2E36DB86E3}"/>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10" name="Decision 109">
                <a:extLst>
                  <a:ext uri="{FF2B5EF4-FFF2-40B4-BE49-F238E27FC236}">
                    <a16:creationId xmlns:a16="http://schemas.microsoft.com/office/drawing/2014/main" id="{A74DC5FA-1C1D-80FB-C537-24C75E7F2FD3}"/>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03" name="Freeform 102">
              <a:extLst>
                <a:ext uri="{FF2B5EF4-FFF2-40B4-BE49-F238E27FC236}">
                  <a16:creationId xmlns:a16="http://schemas.microsoft.com/office/drawing/2014/main" id="{67151F66-1508-D306-8AE8-DE383BB4BA7E}"/>
                </a:ext>
              </a:extLst>
            </p:cNvPr>
            <p:cNvSpPr/>
            <p:nvPr/>
          </p:nvSpPr>
          <p:spPr>
            <a:xfrm>
              <a:off x="924448" y="4185981"/>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104" name="TextBox 103">
              <a:extLst>
                <a:ext uri="{FF2B5EF4-FFF2-40B4-BE49-F238E27FC236}">
                  <a16:creationId xmlns:a16="http://schemas.microsoft.com/office/drawing/2014/main" id="{AA333AB9-62CB-7BB6-F61D-E538E9E719C3}"/>
                </a:ext>
              </a:extLst>
            </p:cNvPr>
            <p:cNvSpPr txBox="1"/>
            <p:nvPr/>
          </p:nvSpPr>
          <p:spPr>
            <a:xfrm>
              <a:off x="1164493" y="4256161"/>
              <a:ext cx="7272020" cy="307777"/>
            </a:xfrm>
            <a:prstGeom prst="rect">
              <a:avLst/>
            </a:prstGeom>
            <a:noFill/>
          </p:spPr>
          <p:txBody>
            <a:bodyPr wrap="square" anchor="ctr">
              <a:spAutoFit/>
            </a:bodyPr>
            <a:lstStyle/>
            <a:p>
              <a:pPr algn="r" rtl="1"/>
              <a:r>
                <a:rPr lang="ar-AE" sz="1400" dirty="0"/>
                <a:t>ابتكار خدمات مبنية على البيانات تمنح المستفيد تجربة سلسة وشخصية، وتعزز من رضاهم وثقتهم.</a:t>
              </a:r>
            </a:p>
          </p:txBody>
        </p:sp>
      </p:grpSp>
      <p:grpSp>
        <p:nvGrpSpPr>
          <p:cNvPr id="272" name="Group 271">
            <a:extLst>
              <a:ext uri="{FF2B5EF4-FFF2-40B4-BE49-F238E27FC236}">
                <a16:creationId xmlns:a16="http://schemas.microsoft.com/office/drawing/2014/main" id="{C34C772A-4B82-3092-DEE1-B974C2FD3422}"/>
              </a:ext>
            </a:extLst>
          </p:cNvPr>
          <p:cNvGrpSpPr/>
          <p:nvPr/>
        </p:nvGrpSpPr>
        <p:grpSpPr>
          <a:xfrm>
            <a:off x="924448" y="3998003"/>
            <a:ext cx="8007298" cy="431507"/>
            <a:chOff x="924448" y="3335707"/>
            <a:chExt cx="8007298" cy="431507"/>
          </a:xfrm>
        </p:grpSpPr>
        <p:grpSp>
          <p:nvGrpSpPr>
            <p:cNvPr id="122" name="Group 121">
              <a:extLst>
                <a:ext uri="{FF2B5EF4-FFF2-40B4-BE49-F238E27FC236}">
                  <a16:creationId xmlns:a16="http://schemas.microsoft.com/office/drawing/2014/main" id="{2D0B0A09-A343-51DA-7D05-1CA1DCA6103F}"/>
                </a:ext>
              </a:extLst>
            </p:cNvPr>
            <p:cNvGrpSpPr/>
            <p:nvPr/>
          </p:nvGrpSpPr>
          <p:grpSpPr>
            <a:xfrm>
              <a:off x="8700500" y="3463017"/>
              <a:ext cx="231246" cy="172008"/>
              <a:chOff x="4833908" y="763778"/>
              <a:chExt cx="6643795" cy="4323758"/>
            </a:xfrm>
          </p:grpSpPr>
          <p:grpSp>
            <p:nvGrpSpPr>
              <p:cNvPr id="125" name="Group 124">
                <a:extLst>
                  <a:ext uri="{FF2B5EF4-FFF2-40B4-BE49-F238E27FC236}">
                    <a16:creationId xmlns:a16="http://schemas.microsoft.com/office/drawing/2014/main" id="{FFD674F9-B5E4-FD42-0172-C742BB14C587}"/>
                  </a:ext>
                </a:extLst>
              </p:cNvPr>
              <p:cNvGrpSpPr/>
              <p:nvPr/>
            </p:nvGrpSpPr>
            <p:grpSpPr>
              <a:xfrm>
                <a:off x="9359901" y="1409068"/>
                <a:ext cx="2117802" cy="3633120"/>
                <a:chOff x="9359901" y="1409068"/>
                <a:chExt cx="2117802" cy="3633120"/>
              </a:xfrm>
            </p:grpSpPr>
            <p:sp>
              <p:nvSpPr>
                <p:cNvPr id="138" name="Decision 137">
                  <a:extLst>
                    <a:ext uri="{FF2B5EF4-FFF2-40B4-BE49-F238E27FC236}">
                      <a16:creationId xmlns:a16="http://schemas.microsoft.com/office/drawing/2014/main" id="{15E864FD-46E2-F410-3800-0CC6A9134373}"/>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9" name="Decision 138">
                  <a:extLst>
                    <a:ext uri="{FF2B5EF4-FFF2-40B4-BE49-F238E27FC236}">
                      <a16:creationId xmlns:a16="http://schemas.microsoft.com/office/drawing/2014/main" id="{80E8BB7C-AE90-D7CE-EF34-F04014C651B1}"/>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40" name="Decision 139">
                  <a:extLst>
                    <a:ext uri="{FF2B5EF4-FFF2-40B4-BE49-F238E27FC236}">
                      <a16:creationId xmlns:a16="http://schemas.microsoft.com/office/drawing/2014/main" id="{7C609B0B-016B-F10D-B7E5-3788B914D07C}"/>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26" name="Decision 125">
                <a:extLst>
                  <a:ext uri="{FF2B5EF4-FFF2-40B4-BE49-F238E27FC236}">
                    <a16:creationId xmlns:a16="http://schemas.microsoft.com/office/drawing/2014/main" id="{E9E4EB5B-3B55-469B-CC15-D22C2E29C16D}"/>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127" name="Group 126">
                <a:extLst>
                  <a:ext uri="{FF2B5EF4-FFF2-40B4-BE49-F238E27FC236}">
                    <a16:creationId xmlns:a16="http://schemas.microsoft.com/office/drawing/2014/main" id="{4C65527C-0E06-6BD0-76C7-A687CD3B8EFA}"/>
                  </a:ext>
                </a:extLst>
              </p:cNvPr>
              <p:cNvGrpSpPr/>
              <p:nvPr/>
            </p:nvGrpSpPr>
            <p:grpSpPr>
              <a:xfrm>
                <a:off x="8200175" y="763778"/>
                <a:ext cx="1032935" cy="3229447"/>
                <a:chOff x="8200175" y="763778"/>
                <a:chExt cx="1032935" cy="3229447"/>
              </a:xfrm>
            </p:grpSpPr>
            <p:sp>
              <p:nvSpPr>
                <p:cNvPr id="136" name="Decision 135">
                  <a:extLst>
                    <a:ext uri="{FF2B5EF4-FFF2-40B4-BE49-F238E27FC236}">
                      <a16:creationId xmlns:a16="http://schemas.microsoft.com/office/drawing/2014/main" id="{5D46F83B-9E5B-7A9D-418C-7A45108C7D06}"/>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7" name="Decision 136">
                  <a:extLst>
                    <a:ext uri="{FF2B5EF4-FFF2-40B4-BE49-F238E27FC236}">
                      <a16:creationId xmlns:a16="http://schemas.microsoft.com/office/drawing/2014/main" id="{72235839-ECF1-FD7C-36A4-B057D9B72689}"/>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28" name="Group 127">
                <a:extLst>
                  <a:ext uri="{FF2B5EF4-FFF2-40B4-BE49-F238E27FC236}">
                    <a16:creationId xmlns:a16="http://schemas.microsoft.com/office/drawing/2014/main" id="{5EA38C18-E7C7-D69A-B032-209624186869}"/>
                  </a:ext>
                </a:extLst>
              </p:cNvPr>
              <p:cNvGrpSpPr/>
              <p:nvPr/>
            </p:nvGrpSpPr>
            <p:grpSpPr>
              <a:xfrm>
                <a:off x="7068934" y="763778"/>
                <a:ext cx="1057892" cy="3229449"/>
                <a:chOff x="7068934" y="763778"/>
                <a:chExt cx="1057892" cy="3229449"/>
              </a:xfrm>
            </p:grpSpPr>
            <p:sp>
              <p:nvSpPr>
                <p:cNvPr id="134" name="Decision 133">
                  <a:extLst>
                    <a:ext uri="{FF2B5EF4-FFF2-40B4-BE49-F238E27FC236}">
                      <a16:creationId xmlns:a16="http://schemas.microsoft.com/office/drawing/2014/main" id="{DA96EDBD-94D7-914D-6459-A8C875FFBBC4}"/>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5" name="Decision 134">
                  <a:extLst>
                    <a:ext uri="{FF2B5EF4-FFF2-40B4-BE49-F238E27FC236}">
                      <a16:creationId xmlns:a16="http://schemas.microsoft.com/office/drawing/2014/main" id="{4C575398-1487-7898-1D99-B8585EF1E797}"/>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129" name="Group 128">
                <a:extLst>
                  <a:ext uri="{FF2B5EF4-FFF2-40B4-BE49-F238E27FC236}">
                    <a16:creationId xmlns:a16="http://schemas.microsoft.com/office/drawing/2014/main" id="{E71B2E63-E877-5D6E-C417-9ABCD411B989}"/>
                  </a:ext>
                </a:extLst>
              </p:cNvPr>
              <p:cNvGrpSpPr/>
              <p:nvPr/>
            </p:nvGrpSpPr>
            <p:grpSpPr>
              <a:xfrm>
                <a:off x="4833908" y="1454416"/>
                <a:ext cx="2117803" cy="3633120"/>
                <a:chOff x="4833908" y="1454416"/>
                <a:chExt cx="2117803" cy="3633120"/>
              </a:xfrm>
            </p:grpSpPr>
            <p:sp>
              <p:nvSpPr>
                <p:cNvPr id="131" name="Decision 130">
                  <a:extLst>
                    <a:ext uri="{FF2B5EF4-FFF2-40B4-BE49-F238E27FC236}">
                      <a16:creationId xmlns:a16="http://schemas.microsoft.com/office/drawing/2014/main" id="{999329F2-3FA9-0AA1-9C09-FDF10E727A1D}"/>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2" name="Decision 131">
                  <a:extLst>
                    <a:ext uri="{FF2B5EF4-FFF2-40B4-BE49-F238E27FC236}">
                      <a16:creationId xmlns:a16="http://schemas.microsoft.com/office/drawing/2014/main" id="{B9B4FEA0-A631-5E76-040D-E7C4B1BFDE2D}"/>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133" name="Decision 132">
                  <a:extLst>
                    <a:ext uri="{FF2B5EF4-FFF2-40B4-BE49-F238E27FC236}">
                      <a16:creationId xmlns:a16="http://schemas.microsoft.com/office/drawing/2014/main" id="{0F298D78-AF61-890E-5234-DF8F239789E4}"/>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30" name="Decision 129">
                <a:extLst>
                  <a:ext uri="{FF2B5EF4-FFF2-40B4-BE49-F238E27FC236}">
                    <a16:creationId xmlns:a16="http://schemas.microsoft.com/office/drawing/2014/main" id="{10713E63-D34B-B778-BA5C-7CB2BE92BE40}"/>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123" name="Freeform 122">
              <a:extLst>
                <a:ext uri="{FF2B5EF4-FFF2-40B4-BE49-F238E27FC236}">
                  <a16:creationId xmlns:a16="http://schemas.microsoft.com/office/drawing/2014/main" id="{9B51249B-AC5B-1240-D8F5-319E020EE59A}"/>
                </a:ext>
              </a:extLst>
            </p:cNvPr>
            <p:cNvSpPr/>
            <p:nvPr/>
          </p:nvSpPr>
          <p:spPr>
            <a:xfrm>
              <a:off x="924448" y="3335707"/>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124" name="TextBox 123">
              <a:extLst>
                <a:ext uri="{FF2B5EF4-FFF2-40B4-BE49-F238E27FC236}">
                  <a16:creationId xmlns:a16="http://schemas.microsoft.com/office/drawing/2014/main" id="{08277BCD-4290-A607-94F8-48A1CA866366}"/>
                </a:ext>
              </a:extLst>
            </p:cNvPr>
            <p:cNvSpPr txBox="1"/>
            <p:nvPr/>
          </p:nvSpPr>
          <p:spPr>
            <a:xfrm>
              <a:off x="1164493" y="3405887"/>
              <a:ext cx="7272020" cy="307777"/>
            </a:xfrm>
            <a:prstGeom prst="rect">
              <a:avLst/>
            </a:prstGeom>
            <a:noFill/>
          </p:spPr>
          <p:txBody>
            <a:bodyPr wrap="square" anchor="ctr">
              <a:spAutoFit/>
            </a:bodyPr>
            <a:lstStyle/>
            <a:p>
              <a:pPr algn="r" rtl="1"/>
              <a:r>
                <a:rPr lang="ar-AE" sz="1400" dirty="0"/>
                <a:t>توفير بيانات دقيقة في الوقت المناسب لزيادة سرعة الاستجابة وموثوقية الخدمات.</a:t>
              </a:r>
            </a:p>
          </p:txBody>
        </p:sp>
      </p:grpSp>
      <p:grpSp>
        <p:nvGrpSpPr>
          <p:cNvPr id="252" name="Group 251">
            <a:extLst>
              <a:ext uri="{FF2B5EF4-FFF2-40B4-BE49-F238E27FC236}">
                <a16:creationId xmlns:a16="http://schemas.microsoft.com/office/drawing/2014/main" id="{4DD37769-1D1C-A3DB-845F-CB7A2E9FED1D}"/>
              </a:ext>
            </a:extLst>
          </p:cNvPr>
          <p:cNvGrpSpPr/>
          <p:nvPr/>
        </p:nvGrpSpPr>
        <p:grpSpPr>
          <a:xfrm>
            <a:off x="9522019" y="3578441"/>
            <a:ext cx="1990846" cy="1465553"/>
            <a:chOff x="2833499" y="1773513"/>
            <a:chExt cx="1990846" cy="1465553"/>
          </a:xfrm>
        </p:grpSpPr>
        <p:sp>
          <p:nvSpPr>
            <p:cNvPr id="253" name="Rectangle 252">
              <a:extLst>
                <a:ext uri="{FF2B5EF4-FFF2-40B4-BE49-F238E27FC236}">
                  <a16:creationId xmlns:a16="http://schemas.microsoft.com/office/drawing/2014/main" id="{897732F9-BC3A-7123-BD8D-B0CCBC972E8C}"/>
                </a:ext>
              </a:extLst>
            </p:cNvPr>
            <p:cNvSpPr/>
            <p:nvPr/>
          </p:nvSpPr>
          <p:spPr>
            <a:xfrm>
              <a:off x="2833499" y="2531180"/>
              <a:ext cx="1990846"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تحسين تجربة المستفيد</a:t>
              </a:r>
            </a:p>
          </p:txBody>
        </p:sp>
        <p:sp>
          <p:nvSpPr>
            <p:cNvPr id="254" name="Freeform 253">
              <a:extLst>
                <a:ext uri="{FF2B5EF4-FFF2-40B4-BE49-F238E27FC236}">
                  <a16:creationId xmlns:a16="http://schemas.microsoft.com/office/drawing/2014/main" id="{4C7CB3F8-E85F-4655-08FB-814FCC49BDA0}"/>
                </a:ext>
              </a:extLst>
            </p:cNvPr>
            <p:cNvSpPr/>
            <p:nvPr/>
          </p:nvSpPr>
          <p:spPr>
            <a:xfrm>
              <a:off x="2833500" y="2090518"/>
              <a:ext cx="1990845" cy="1127032"/>
            </a:xfrm>
            <a:custGeom>
              <a:avLst/>
              <a:gdLst>
                <a:gd name="connsiteX0" fmla="*/ 187842 w 1990845"/>
                <a:gd name="connsiteY0" fmla="*/ 0 h 1127032"/>
                <a:gd name="connsiteX1" fmla="*/ 763058 w 1990845"/>
                <a:gd name="connsiteY1" fmla="*/ 0 h 1127032"/>
                <a:gd name="connsiteX2" fmla="*/ 759553 w 1990845"/>
                <a:gd name="connsiteY2" fmla="*/ 17360 h 1127032"/>
                <a:gd name="connsiteX3" fmla="*/ 993553 w 1990845"/>
                <a:gd name="connsiteY3" fmla="*/ 251360 h 1127032"/>
                <a:gd name="connsiteX4" fmla="*/ 1227553 w 1990845"/>
                <a:gd name="connsiteY4" fmla="*/ 17360 h 1127032"/>
                <a:gd name="connsiteX5" fmla="*/ 1224048 w 1990845"/>
                <a:gd name="connsiteY5" fmla="*/ 0 h 1127032"/>
                <a:gd name="connsiteX6" fmla="*/ 1803003 w 1990845"/>
                <a:gd name="connsiteY6" fmla="*/ 0 h 1127032"/>
                <a:gd name="connsiteX7" fmla="*/ 1990845 w 1990845"/>
                <a:gd name="connsiteY7" fmla="*/ 187842 h 1127032"/>
                <a:gd name="connsiteX8" fmla="*/ 1990845 w 1990845"/>
                <a:gd name="connsiteY8" fmla="*/ 939190 h 1127032"/>
                <a:gd name="connsiteX9" fmla="*/ 1803003 w 1990845"/>
                <a:gd name="connsiteY9" fmla="*/ 1127032 h 1127032"/>
                <a:gd name="connsiteX10" fmla="*/ 187842 w 1990845"/>
                <a:gd name="connsiteY10" fmla="*/ 1127032 h 1127032"/>
                <a:gd name="connsiteX11" fmla="*/ 0 w 1990845"/>
                <a:gd name="connsiteY11" fmla="*/ 939190 h 1127032"/>
                <a:gd name="connsiteX12" fmla="*/ 0 w 1990845"/>
                <a:gd name="connsiteY12" fmla="*/ 187842 h 1127032"/>
                <a:gd name="connsiteX13" fmla="*/ 187842 w 1990845"/>
                <a:gd name="connsiteY13" fmla="*/ 0 h 112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0845" h="1127032">
                  <a:moveTo>
                    <a:pt x="187842" y="0"/>
                  </a:moveTo>
                  <a:lnTo>
                    <a:pt x="763058" y="0"/>
                  </a:lnTo>
                  <a:lnTo>
                    <a:pt x="759553" y="17360"/>
                  </a:lnTo>
                  <a:cubicBezTo>
                    <a:pt x="759553" y="146595"/>
                    <a:pt x="864318" y="251360"/>
                    <a:pt x="993553" y="251360"/>
                  </a:cubicBezTo>
                  <a:cubicBezTo>
                    <a:pt x="1122788" y="251360"/>
                    <a:pt x="1227553" y="146595"/>
                    <a:pt x="1227553" y="17360"/>
                  </a:cubicBezTo>
                  <a:lnTo>
                    <a:pt x="1224048" y="0"/>
                  </a:lnTo>
                  <a:lnTo>
                    <a:pt x="1803003" y="0"/>
                  </a:lnTo>
                  <a:cubicBezTo>
                    <a:pt x="1906745" y="0"/>
                    <a:pt x="1990845" y="84100"/>
                    <a:pt x="1990845" y="187842"/>
                  </a:cubicBezTo>
                  <a:lnTo>
                    <a:pt x="1990845" y="939190"/>
                  </a:lnTo>
                  <a:cubicBezTo>
                    <a:pt x="1990845" y="1042932"/>
                    <a:pt x="1906745" y="1127032"/>
                    <a:pt x="1803003" y="1127032"/>
                  </a:cubicBezTo>
                  <a:lnTo>
                    <a:pt x="187842" y="1127032"/>
                  </a:lnTo>
                  <a:cubicBezTo>
                    <a:pt x="84100" y="1127032"/>
                    <a:pt x="0" y="1042932"/>
                    <a:pt x="0" y="939190"/>
                  </a:cubicBezTo>
                  <a:lnTo>
                    <a:pt x="0" y="187842"/>
                  </a:lnTo>
                  <a:cubicBezTo>
                    <a:pt x="0" y="84100"/>
                    <a:pt x="84100" y="0"/>
                    <a:pt x="187842" y="0"/>
                  </a:cubicBezTo>
                  <a:close/>
                </a:path>
              </a:pathLst>
            </a:cu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kkal Majalla" panose="02000000000000000000" pitchFamily="2" charset="-78"/>
                <a:cs typeface="Sakkal Majalla" panose="02000000000000000000" pitchFamily="2" charset="-78"/>
              </a:endParaRPr>
            </a:p>
          </p:txBody>
        </p:sp>
        <p:grpSp>
          <p:nvGrpSpPr>
            <p:cNvPr id="255" name="Group 254">
              <a:extLst>
                <a:ext uri="{FF2B5EF4-FFF2-40B4-BE49-F238E27FC236}">
                  <a16:creationId xmlns:a16="http://schemas.microsoft.com/office/drawing/2014/main" id="{4FA7D5CD-3FB2-0988-B74B-753BDA7D0C36}"/>
                </a:ext>
              </a:extLst>
            </p:cNvPr>
            <p:cNvGrpSpPr>
              <a:grpSpLocks noChangeAspect="1"/>
            </p:cNvGrpSpPr>
            <p:nvPr/>
          </p:nvGrpSpPr>
          <p:grpSpPr>
            <a:xfrm>
              <a:off x="3498326" y="1773513"/>
              <a:ext cx="661192" cy="651215"/>
              <a:chOff x="9999829" y="1879040"/>
              <a:chExt cx="291438" cy="292720"/>
            </a:xfrm>
            <a:solidFill>
              <a:srgbClr val="3FA0D9"/>
            </a:solidFill>
          </p:grpSpPr>
          <p:sp>
            <p:nvSpPr>
              <p:cNvPr id="256" name="Freeform 94">
                <a:extLst>
                  <a:ext uri="{FF2B5EF4-FFF2-40B4-BE49-F238E27FC236}">
                    <a16:creationId xmlns:a16="http://schemas.microsoft.com/office/drawing/2014/main" id="{93DFF9F9-1331-A139-76C8-40E41446E5F5}"/>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257" name="Oval 256">
                <a:extLst>
                  <a:ext uri="{FF2B5EF4-FFF2-40B4-BE49-F238E27FC236}">
                    <a16:creationId xmlns:a16="http://schemas.microsoft.com/office/drawing/2014/main" id="{41330A30-4AE5-4ADA-BECF-B7C75ED418D7}"/>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grpSp>
        <p:nvGrpSpPr>
          <p:cNvPr id="258" name="Group 257">
            <a:extLst>
              <a:ext uri="{FF2B5EF4-FFF2-40B4-BE49-F238E27FC236}">
                <a16:creationId xmlns:a16="http://schemas.microsoft.com/office/drawing/2014/main" id="{CED37580-3C5F-BBA5-76A6-D707BF5DB4F7}"/>
              </a:ext>
            </a:extLst>
          </p:cNvPr>
          <p:cNvGrpSpPr/>
          <p:nvPr/>
        </p:nvGrpSpPr>
        <p:grpSpPr>
          <a:xfrm>
            <a:off x="9519969" y="1556874"/>
            <a:ext cx="1990846" cy="1465553"/>
            <a:chOff x="2833499" y="1773513"/>
            <a:chExt cx="1990846" cy="1465553"/>
          </a:xfrm>
        </p:grpSpPr>
        <p:sp>
          <p:nvSpPr>
            <p:cNvPr id="259" name="Rectangle 258">
              <a:extLst>
                <a:ext uri="{FF2B5EF4-FFF2-40B4-BE49-F238E27FC236}">
                  <a16:creationId xmlns:a16="http://schemas.microsoft.com/office/drawing/2014/main" id="{41B7610E-42D4-137E-1D63-A2084E302DF4}"/>
                </a:ext>
              </a:extLst>
            </p:cNvPr>
            <p:cNvSpPr/>
            <p:nvPr/>
          </p:nvSpPr>
          <p:spPr>
            <a:xfrm>
              <a:off x="2833499" y="2531180"/>
              <a:ext cx="1990846" cy="707886"/>
            </a:xfrm>
            <a:prstGeom prst="rect">
              <a:avLst/>
            </a:prstGeom>
          </p:spPr>
          <p:txBody>
            <a:bodyPr wrap="square" anchor="t" anchorCtr="0">
              <a:noAutofit/>
            </a:bodyPr>
            <a:lstStyle/>
            <a:p>
              <a:pPr marL="0" lvl="1" algn="ctr" rtl="1"/>
              <a:r>
                <a:rPr lang="ar-EG" b="1" dirty="0">
                  <a:solidFill>
                    <a:schemeClr val="accent1"/>
                  </a:solidFill>
                  <a:latin typeface="Sakkal Majalla" panose="02000000000000000000" pitchFamily="2" charset="-78"/>
                  <a:cs typeface="Sakkal Majalla" panose="02000000000000000000" pitchFamily="2" charset="-78"/>
                </a:rPr>
                <a:t>تعزيز الحوكمة المؤسسية</a:t>
              </a:r>
            </a:p>
          </p:txBody>
        </p:sp>
        <p:sp>
          <p:nvSpPr>
            <p:cNvPr id="260" name="Freeform 259">
              <a:extLst>
                <a:ext uri="{FF2B5EF4-FFF2-40B4-BE49-F238E27FC236}">
                  <a16:creationId xmlns:a16="http://schemas.microsoft.com/office/drawing/2014/main" id="{307F5060-12D6-0485-AAA4-64CAA2B8F424}"/>
                </a:ext>
              </a:extLst>
            </p:cNvPr>
            <p:cNvSpPr/>
            <p:nvPr/>
          </p:nvSpPr>
          <p:spPr>
            <a:xfrm>
              <a:off x="2833500" y="2090518"/>
              <a:ext cx="1990845" cy="1127032"/>
            </a:xfrm>
            <a:custGeom>
              <a:avLst/>
              <a:gdLst>
                <a:gd name="connsiteX0" fmla="*/ 187842 w 1990845"/>
                <a:gd name="connsiteY0" fmla="*/ 0 h 1127032"/>
                <a:gd name="connsiteX1" fmla="*/ 763058 w 1990845"/>
                <a:gd name="connsiteY1" fmla="*/ 0 h 1127032"/>
                <a:gd name="connsiteX2" fmla="*/ 759553 w 1990845"/>
                <a:gd name="connsiteY2" fmla="*/ 17360 h 1127032"/>
                <a:gd name="connsiteX3" fmla="*/ 993553 w 1990845"/>
                <a:gd name="connsiteY3" fmla="*/ 251360 h 1127032"/>
                <a:gd name="connsiteX4" fmla="*/ 1227553 w 1990845"/>
                <a:gd name="connsiteY4" fmla="*/ 17360 h 1127032"/>
                <a:gd name="connsiteX5" fmla="*/ 1224048 w 1990845"/>
                <a:gd name="connsiteY5" fmla="*/ 0 h 1127032"/>
                <a:gd name="connsiteX6" fmla="*/ 1803003 w 1990845"/>
                <a:gd name="connsiteY6" fmla="*/ 0 h 1127032"/>
                <a:gd name="connsiteX7" fmla="*/ 1990845 w 1990845"/>
                <a:gd name="connsiteY7" fmla="*/ 187842 h 1127032"/>
                <a:gd name="connsiteX8" fmla="*/ 1990845 w 1990845"/>
                <a:gd name="connsiteY8" fmla="*/ 939190 h 1127032"/>
                <a:gd name="connsiteX9" fmla="*/ 1803003 w 1990845"/>
                <a:gd name="connsiteY9" fmla="*/ 1127032 h 1127032"/>
                <a:gd name="connsiteX10" fmla="*/ 187842 w 1990845"/>
                <a:gd name="connsiteY10" fmla="*/ 1127032 h 1127032"/>
                <a:gd name="connsiteX11" fmla="*/ 0 w 1990845"/>
                <a:gd name="connsiteY11" fmla="*/ 939190 h 1127032"/>
                <a:gd name="connsiteX12" fmla="*/ 0 w 1990845"/>
                <a:gd name="connsiteY12" fmla="*/ 187842 h 1127032"/>
                <a:gd name="connsiteX13" fmla="*/ 187842 w 1990845"/>
                <a:gd name="connsiteY13" fmla="*/ 0 h 112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0845" h="1127032">
                  <a:moveTo>
                    <a:pt x="187842" y="0"/>
                  </a:moveTo>
                  <a:lnTo>
                    <a:pt x="763058" y="0"/>
                  </a:lnTo>
                  <a:lnTo>
                    <a:pt x="759553" y="17360"/>
                  </a:lnTo>
                  <a:cubicBezTo>
                    <a:pt x="759553" y="146595"/>
                    <a:pt x="864318" y="251360"/>
                    <a:pt x="993553" y="251360"/>
                  </a:cubicBezTo>
                  <a:cubicBezTo>
                    <a:pt x="1122788" y="251360"/>
                    <a:pt x="1227553" y="146595"/>
                    <a:pt x="1227553" y="17360"/>
                  </a:cubicBezTo>
                  <a:lnTo>
                    <a:pt x="1224048" y="0"/>
                  </a:lnTo>
                  <a:lnTo>
                    <a:pt x="1803003" y="0"/>
                  </a:lnTo>
                  <a:cubicBezTo>
                    <a:pt x="1906745" y="0"/>
                    <a:pt x="1990845" y="84100"/>
                    <a:pt x="1990845" y="187842"/>
                  </a:cubicBezTo>
                  <a:lnTo>
                    <a:pt x="1990845" y="939190"/>
                  </a:lnTo>
                  <a:cubicBezTo>
                    <a:pt x="1990845" y="1042932"/>
                    <a:pt x="1906745" y="1127032"/>
                    <a:pt x="1803003" y="1127032"/>
                  </a:cubicBezTo>
                  <a:lnTo>
                    <a:pt x="187842" y="1127032"/>
                  </a:lnTo>
                  <a:cubicBezTo>
                    <a:pt x="84100" y="1127032"/>
                    <a:pt x="0" y="1042932"/>
                    <a:pt x="0" y="939190"/>
                  </a:cubicBezTo>
                  <a:lnTo>
                    <a:pt x="0" y="187842"/>
                  </a:lnTo>
                  <a:cubicBezTo>
                    <a:pt x="0" y="84100"/>
                    <a:pt x="84100" y="0"/>
                    <a:pt x="187842" y="0"/>
                  </a:cubicBezTo>
                  <a:close/>
                </a:path>
              </a:pathLst>
            </a:cu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kkal Majalla" panose="02000000000000000000" pitchFamily="2" charset="-78"/>
                <a:cs typeface="Sakkal Majalla" panose="02000000000000000000" pitchFamily="2" charset="-78"/>
              </a:endParaRPr>
            </a:p>
          </p:txBody>
        </p:sp>
        <p:grpSp>
          <p:nvGrpSpPr>
            <p:cNvPr id="261" name="Group 260">
              <a:extLst>
                <a:ext uri="{FF2B5EF4-FFF2-40B4-BE49-F238E27FC236}">
                  <a16:creationId xmlns:a16="http://schemas.microsoft.com/office/drawing/2014/main" id="{0CBF3DC2-B206-9828-1DFE-30D42562DF96}"/>
                </a:ext>
              </a:extLst>
            </p:cNvPr>
            <p:cNvGrpSpPr>
              <a:grpSpLocks noChangeAspect="1"/>
            </p:cNvGrpSpPr>
            <p:nvPr/>
          </p:nvGrpSpPr>
          <p:grpSpPr>
            <a:xfrm>
              <a:off x="3498326" y="1773513"/>
              <a:ext cx="661192" cy="651215"/>
              <a:chOff x="9999829" y="1879040"/>
              <a:chExt cx="291438" cy="292720"/>
            </a:xfrm>
            <a:solidFill>
              <a:srgbClr val="3FA0D9"/>
            </a:solidFill>
          </p:grpSpPr>
          <p:sp>
            <p:nvSpPr>
              <p:cNvPr id="262" name="Freeform 94">
                <a:extLst>
                  <a:ext uri="{FF2B5EF4-FFF2-40B4-BE49-F238E27FC236}">
                    <a16:creationId xmlns:a16="http://schemas.microsoft.com/office/drawing/2014/main" id="{E7D30DED-A1FC-8D7C-41A6-E75C9BA076D8}"/>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263" name="Oval 262">
                <a:extLst>
                  <a:ext uri="{FF2B5EF4-FFF2-40B4-BE49-F238E27FC236}">
                    <a16:creationId xmlns:a16="http://schemas.microsoft.com/office/drawing/2014/main" id="{FDB5C12B-0F8A-3D22-E5B5-72ECD0560B63}"/>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grpSp>
        <p:nvGrpSpPr>
          <p:cNvPr id="4" name="Group 3">
            <a:extLst>
              <a:ext uri="{FF2B5EF4-FFF2-40B4-BE49-F238E27FC236}">
                <a16:creationId xmlns:a16="http://schemas.microsoft.com/office/drawing/2014/main" id="{6B3209CD-AF07-E3ED-A7C3-BF184F343F1F}"/>
              </a:ext>
            </a:extLst>
          </p:cNvPr>
          <p:cNvGrpSpPr/>
          <p:nvPr/>
        </p:nvGrpSpPr>
        <p:grpSpPr>
          <a:xfrm>
            <a:off x="924448" y="3059872"/>
            <a:ext cx="8007298" cy="431507"/>
            <a:chOff x="924448" y="2485434"/>
            <a:chExt cx="8007298" cy="431507"/>
          </a:xfrm>
        </p:grpSpPr>
        <p:grpSp>
          <p:nvGrpSpPr>
            <p:cNvPr id="8" name="Group 7">
              <a:extLst>
                <a:ext uri="{FF2B5EF4-FFF2-40B4-BE49-F238E27FC236}">
                  <a16:creationId xmlns:a16="http://schemas.microsoft.com/office/drawing/2014/main" id="{AE38828D-4B5B-CD7A-1997-CA3AA69F08C8}"/>
                </a:ext>
              </a:extLst>
            </p:cNvPr>
            <p:cNvGrpSpPr/>
            <p:nvPr/>
          </p:nvGrpSpPr>
          <p:grpSpPr>
            <a:xfrm>
              <a:off x="8700500" y="2612744"/>
              <a:ext cx="231246" cy="172008"/>
              <a:chOff x="4833908" y="763778"/>
              <a:chExt cx="6643795" cy="4323758"/>
            </a:xfrm>
          </p:grpSpPr>
          <p:grpSp>
            <p:nvGrpSpPr>
              <p:cNvPr id="47" name="Group 46">
                <a:extLst>
                  <a:ext uri="{FF2B5EF4-FFF2-40B4-BE49-F238E27FC236}">
                    <a16:creationId xmlns:a16="http://schemas.microsoft.com/office/drawing/2014/main" id="{10615A99-A884-FB01-2614-EAD09169FB4E}"/>
                  </a:ext>
                </a:extLst>
              </p:cNvPr>
              <p:cNvGrpSpPr/>
              <p:nvPr/>
            </p:nvGrpSpPr>
            <p:grpSpPr>
              <a:xfrm>
                <a:off x="9359901" y="1409068"/>
                <a:ext cx="2117802" cy="3633120"/>
                <a:chOff x="9359901" y="1409068"/>
                <a:chExt cx="2117802" cy="3633120"/>
              </a:xfrm>
            </p:grpSpPr>
            <p:sp>
              <p:nvSpPr>
                <p:cNvPr id="60" name="Decision 22">
                  <a:extLst>
                    <a:ext uri="{FF2B5EF4-FFF2-40B4-BE49-F238E27FC236}">
                      <a16:creationId xmlns:a16="http://schemas.microsoft.com/office/drawing/2014/main" id="{82243C45-F0B7-CC24-106E-69788882793C}"/>
                    </a:ext>
                  </a:extLst>
                </p:cNvPr>
                <p:cNvSpPr/>
                <p:nvPr/>
              </p:nvSpPr>
              <p:spPr>
                <a:xfrm rot="17983095">
                  <a:off x="8932334" y="1836635"/>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61" name="Decision 23">
                  <a:extLst>
                    <a:ext uri="{FF2B5EF4-FFF2-40B4-BE49-F238E27FC236}">
                      <a16:creationId xmlns:a16="http://schemas.microsoft.com/office/drawing/2014/main" id="{0BCC13AD-7406-A30D-D4F0-232E296910AC}"/>
                    </a:ext>
                  </a:extLst>
                </p:cNvPr>
                <p:cNvSpPr/>
                <p:nvPr/>
              </p:nvSpPr>
              <p:spPr>
                <a:xfrm rot="21335274">
                  <a:off x="9589635" y="2754509"/>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62" name="Decision 24">
                  <a:extLst>
                    <a:ext uri="{FF2B5EF4-FFF2-40B4-BE49-F238E27FC236}">
                      <a16:creationId xmlns:a16="http://schemas.microsoft.com/office/drawing/2014/main" id="{9EC3090C-1AF8-BB60-96EF-98259E0648DF}"/>
                    </a:ext>
                  </a:extLst>
                </p:cNvPr>
                <p:cNvSpPr/>
                <p:nvPr/>
              </p:nvSpPr>
              <p:spPr>
                <a:xfrm rot="21335274">
                  <a:off x="9589636" y="4009254"/>
                  <a:ext cx="1888067" cy="1032934"/>
                </a:xfrm>
                <a:prstGeom prst="flowChartDecision">
                  <a:avLst/>
                </a:prstGeom>
                <a:solidFill>
                  <a:srgbClr val="4B3C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48" name="Decision 10">
                <a:extLst>
                  <a:ext uri="{FF2B5EF4-FFF2-40B4-BE49-F238E27FC236}">
                    <a16:creationId xmlns:a16="http://schemas.microsoft.com/office/drawing/2014/main" id="{81BCC20F-8E58-B1F5-F299-A68CACD95B0B}"/>
                  </a:ext>
                </a:extLst>
              </p:cNvPr>
              <p:cNvSpPr/>
              <p:nvPr/>
            </p:nvSpPr>
            <p:spPr>
              <a:xfrm rot="21335274">
                <a:off x="8352472" y="3446491"/>
                <a:ext cx="1888067" cy="1032934"/>
              </a:xfrm>
              <a:prstGeom prst="flowChartDecision">
                <a:avLst/>
              </a:prstGeom>
              <a:solidFill>
                <a:srgbClr val="5979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nvGrpSpPr>
              <p:cNvPr id="49" name="Group 48">
                <a:extLst>
                  <a:ext uri="{FF2B5EF4-FFF2-40B4-BE49-F238E27FC236}">
                    <a16:creationId xmlns:a16="http://schemas.microsoft.com/office/drawing/2014/main" id="{76BDB9B0-ABF4-EA75-4D6C-C716EAD36F9E}"/>
                  </a:ext>
                </a:extLst>
              </p:cNvPr>
              <p:cNvGrpSpPr/>
              <p:nvPr/>
            </p:nvGrpSpPr>
            <p:grpSpPr>
              <a:xfrm>
                <a:off x="8200175" y="763778"/>
                <a:ext cx="1032935" cy="3229447"/>
                <a:chOff x="8200175" y="763778"/>
                <a:chExt cx="1032935" cy="3229447"/>
              </a:xfrm>
            </p:grpSpPr>
            <p:sp>
              <p:nvSpPr>
                <p:cNvPr id="58" name="Decision 20">
                  <a:extLst>
                    <a:ext uri="{FF2B5EF4-FFF2-40B4-BE49-F238E27FC236}">
                      <a16:creationId xmlns:a16="http://schemas.microsoft.com/office/drawing/2014/main" id="{C65A7328-1A69-ECE8-E5A3-F95A9D2399E2}"/>
                    </a:ext>
                  </a:extLst>
                </p:cNvPr>
                <p:cNvSpPr/>
                <p:nvPr/>
              </p:nvSpPr>
              <p:spPr>
                <a:xfrm rot="17983095">
                  <a:off x="7772609" y="253272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59" name="Decision 21">
                  <a:extLst>
                    <a:ext uri="{FF2B5EF4-FFF2-40B4-BE49-F238E27FC236}">
                      <a16:creationId xmlns:a16="http://schemas.microsoft.com/office/drawing/2014/main" id="{90775930-D355-C725-971E-BD1D2BFC1B4B}"/>
                    </a:ext>
                  </a:extLst>
                </p:cNvPr>
                <p:cNvSpPr/>
                <p:nvPr/>
              </p:nvSpPr>
              <p:spPr>
                <a:xfrm rot="17983095">
                  <a:off x="7772608" y="1191345"/>
                  <a:ext cx="1888067" cy="1032934"/>
                </a:xfrm>
                <a:prstGeom prst="flowChartDecision">
                  <a:avLst/>
                </a:prstGeom>
                <a:solidFill>
                  <a:srgbClr val="3D9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50" name="Group 49">
                <a:extLst>
                  <a:ext uri="{FF2B5EF4-FFF2-40B4-BE49-F238E27FC236}">
                    <a16:creationId xmlns:a16="http://schemas.microsoft.com/office/drawing/2014/main" id="{EC154A7B-69BB-04E3-117A-B2BB1836A122}"/>
                  </a:ext>
                </a:extLst>
              </p:cNvPr>
              <p:cNvGrpSpPr/>
              <p:nvPr/>
            </p:nvGrpSpPr>
            <p:grpSpPr>
              <a:xfrm>
                <a:off x="7068934" y="763778"/>
                <a:ext cx="1057892" cy="3229449"/>
                <a:chOff x="7068934" y="763778"/>
                <a:chExt cx="1057892" cy="3229449"/>
              </a:xfrm>
            </p:grpSpPr>
            <p:sp>
              <p:nvSpPr>
                <p:cNvPr id="56" name="Decision 18">
                  <a:extLst>
                    <a:ext uri="{FF2B5EF4-FFF2-40B4-BE49-F238E27FC236}">
                      <a16:creationId xmlns:a16="http://schemas.microsoft.com/office/drawing/2014/main" id="{DE70813A-9505-28E3-91EB-0565C4D2D493}"/>
                    </a:ext>
                  </a:extLst>
                </p:cNvPr>
                <p:cNvSpPr/>
                <p:nvPr/>
              </p:nvSpPr>
              <p:spPr>
                <a:xfrm rot="3616905" flipH="1">
                  <a:off x="6641367" y="1191345"/>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57" name="Decision 19">
                  <a:extLst>
                    <a:ext uri="{FF2B5EF4-FFF2-40B4-BE49-F238E27FC236}">
                      <a16:creationId xmlns:a16="http://schemas.microsoft.com/office/drawing/2014/main" id="{1311792D-5E75-72AE-A49B-BB5BD86718F7}"/>
                    </a:ext>
                  </a:extLst>
                </p:cNvPr>
                <p:cNvSpPr/>
                <p:nvPr/>
              </p:nvSpPr>
              <p:spPr>
                <a:xfrm rot="3616905" flipH="1">
                  <a:off x="6666325" y="2532727"/>
                  <a:ext cx="1888067" cy="1032934"/>
                </a:xfrm>
                <a:prstGeom prst="flowChartDecision">
                  <a:avLst/>
                </a:prstGeom>
                <a:solidFill>
                  <a:srgbClr val="49B7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grpSp>
            <p:nvGrpSpPr>
              <p:cNvPr id="51" name="Group 50">
                <a:extLst>
                  <a:ext uri="{FF2B5EF4-FFF2-40B4-BE49-F238E27FC236}">
                    <a16:creationId xmlns:a16="http://schemas.microsoft.com/office/drawing/2014/main" id="{D19D7483-A30B-49C0-0081-3C5DAF053226}"/>
                  </a:ext>
                </a:extLst>
              </p:cNvPr>
              <p:cNvGrpSpPr/>
              <p:nvPr/>
            </p:nvGrpSpPr>
            <p:grpSpPr>
              <a:xfrm>
                <a:off x="4833908" y="1454416"/>
                <a:ext cx="2117803" cy="3633120"/>
                <a:chOff x="4833908" y="1454416"/>
                <a:chExt cx="2117803" cy="3633120"/>
              </a:xfrm>
            </p:grpSpPr>
            <p:sp>
              <p:nvSpPr>
                <p:cNvPr id="53" name="Decision 15">
                  <a:extLst>
                    <a:ext uri="{FF2B5EF4-FFF2-40B4-BE49-F238E27FC236}">
                      <a16:creationId xmlns:a16="http://schemas.microsoft.com/office/drawing/2014/main" id="{1072A61A-4D6D-AD38-74FE-FB98C26A1B03}"/>
                    </a:ext>
                  </a:extLst>
                </p:cNvPr>
                <p:cNvSpPr/>
                <p:nvPr/>
              </p:nvSpPr>
              <p:spPr>
                <a:xfrm rot="3616905" flipH="1">
                  <a:off x="5491210" y="1881983"/>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54" name="Decision 16">
                  <a:extLst>
                    <a:ext uri="{FF2B5EF4-FFF2-40B4-BE49-F238E27FC236}">
                      <a16:creationId xmlns:a16="http://schemas.microsoft.com/office/drawing/2014/main" id="{5EA26352-B6E8-E8E9-A500-4CE98A886B06}"/>
                    </a:ext>
                  </a:extLst>
                </p:cNvPr>
                <p:cNvSpPr/>
                <p:nvPr/>
              </p:nvSpPr>
              <p:spPr>
                <a:xfrm rot="264726" flipH="1">
                  <a:off x="4833909" y="2799857"/>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sp>
              <p:nvSpPr>
                <p:cNvPr id="55" name="Decision 17">
                  <a:extLst>
                    <a:ext uri="{FF2B5EF4-FFF2-40B4-BE49-F238E27FC236}">
                      <a16:creationId xmlns:a16="http://schemas.microsoft.com/office/drawing/2014/main" id="{1E121E44-A963-EF06-5943-902A83F21ABB}"/>
                    </a:ext>
                  </a:extLst>
                </p:cNvPr>
                <p:cNvSpPr/>
                <p:nvPr/>
              </p:nvSpPr>
              <p:spPr>
                <a:xfrm rot="264726" flipH="1">
                  <a:off x="4833908" y="4054602"/>
                  <a:ext cx="1888067" cy="1032934"/>
                </a:xfrm>
                <a:prstGeom prst="flowChartDecision">
                  <a:avLst/>
                </a:prstGeom>
                <a:solidFill>
                  <a:srgbClr val="41AB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52" name="Decision 14">
                <a:extLst>
                  <a:ext uri="{FF2B5EF4-FFF2-40B4-BE49-F238E27FC236}">
                    <a16:creationId xmlns:a16="http://schemas.microsoft.com/office/drawing/2014/main" id="{F234D54D-A7C1-969A-3503-05D027527018}"/>
                  </a:ext>
                </a:extLst>
              </p:cNvPr>
              <p:cNvSpPr/>
              <p:nvPr/>
            </p:nvSpPr>
            <p:spPr>
              <a:xfrm rot="264726" flipH="1">
                <a:off x="6071072" y="3491839"/>
                <a:ext cx="1888067" cy="1032934"/>
              </a:xfrm>
              <a:prstGeom prst="flowChartDecision">
                <a:avLst/>
              </a:prstGeom>
              <a:solidFill>
                <a:srgbClr val="4AB2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r" defTabSz="914400" rtl="1" eaLnBrk="1" latinLnBrk="0" hangingPunct="1"/>
                <a:endParaRPr lang="en-AE"/>
              </a:p>
            </p:txBody>
          </p:sp>
        </p:grpSp>
        <p:sp>
          <p:nvSpPr>
            <p:cNvPr id="26" name="Freeform 5">
              <a:extLst>
                <a:ext uri="{FF2B5EF4-FFF2-40B4-BE49-F238E27FC236}">
                  <a16:creationId xmlns:a16="http://schemas.microsoft.com/office/drawing/2014/main" id="{D3964386-5517-8BD2-65E9-541A3C71A8D7}"/>
                </a:ext>
              </a:extLst>
            </p:cNvPr>
            <p:cNvSpPr/>
            <p:nvPr/>
          </p:nvSpPr>
          <p:spPr>
            <a:xfrm>
              <a:off x="924448" y="2485434"/>
              <a:ext cx="7752114" cy="431507"/>
            </a:xfrm>
            <a:custGeom>
              <a:avLst/>
              <a:gdLst>
                <a:gd name="connsiteX0" fmla="*/ 0 w 9356125"/>
                <a:gd name="connsiteY0" fmla="*/ 270933 h 541868"/>
                <a:gd name="connsiteX1" fmla="*/ 0 w 9356125"/>
                <a:gd name="connsiteY1" fmla="*/ 270934 h 541868"/>
                <a:gd name="connsiteX2" fmla="*/ 0 w 9356125"/>
                <a:gd name="connsiteY2" fmla="*/ 270934 h 541868"/>
                <a:gd name="connsiteX3" fmla="*/ 270934 w 9356125"/>
                <a:gd name="connsiteY3" fmla="*/ 0 h 541868"/>
                <a:gd name="connsiteX4" fmla="*/ 9154353 w 9356125"/>
                <a:gd name="connsiteY4" fmla="*/ 0 h 541868"/>
                <a:gd name="connsiteX5" fmla="*/ 9345932 w 9356125"/>
                <a:gd name="connsiteY5" fmla="*/ 79355 h 541868"/>
                <a:gd name="connsiteX6" fmla="*/ 9356125 w 9356125"/>
                <a:gd name="connsiteY6" fmla="*/ 94473 h 541868"/>
                <a:gd name="connsiteX7" fmla="*/ 9330312 w 9356125"/>
                <a:gd name="connsiteY7" fmla="*/ 141265 h 541868"/>
                <a:gd name="connsiteX8" fmla="*/ 9303705 w 9356125"/>
                <a:gd name="connsiteY8" fmla="*/ 270934 h 541868"/>
                <a:gd name="connsiteX9" fmla="*/ 9330312 w 9356125"/>
                <a:gd name="connsiteY9" fmla="*/ 400604 h 541868"/>
                <a:gd name="connsiteX10" fmla="*/ 9356125 w 9356125"/>
                <a:gd name="connsiteY10" fmla="*/ 447395 h 541868"/>
                <a:gd name="connsiteX11" fmla="*/ 9345931 w 9356125"/>
                <a:gd name="connsiteY11" fmla="*/ 462513 h 541868"/>
                <a:gd name="connsiteX12" fmla="*/ 9154352 w 9356125"/>
                <a:gd name="connsiteY12" fmla="*/ 541868 h 541868"/>
                <a:gd name="connsiteX13" fmla="*/ 270934 w 9356125"/>
                <a:gd name="connsiteY13" fmla="*/ 541867 h 541868"/>
                <a:gd name="connsiteX14" fmla="*/ 21292 w 9356125"/>
                <a:gd name="connsiteY14" fmla="*/ 376393 h 541868"/>
                <a:gd name="connsiteX15" fmla="*/ 0 w 9356125"/>
                <a:gd name="connsiteY15" fmla="*/ 270934 h 541868"/>
                <a:gd name="connsiteX16" fmla="*/ 21292 w 9356125"/>
                <a:gd name="connsiteY16" fmla="*/ 165474 h 541868"/>
                <a:gd name="connsiteX17" fmla="*/ 270934 w 9356125"/>
                <a:gd name="connsiteY17" fmla="*/ 0 h 5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56125" h="541868">
                  <a:moveTo>
                    <a:pt x="0" y="270933"/>
                  </a:moveTo>
                  <a:lnTo>
                    <a:pt x="0" y="270934"/>
                  </a:lnTo>
                  <a:lnTo>
                    <a:pt x="0" y="270934"/>
                  </a:lnTo>
                  <a:close/>
                  <a:moveTo>
                    <a:pt x="270934" y="0"/>
                  </a:moveTo>
                  <a:lnTo>
                    <a:pt x="9154353" y="0"/>
                  </a:lnTo>
                  <a:cubicBezTo>
                    <a:pt x="9229170" y="0"/>
                    <a:pt x="9296903" y="30325"/>
                    <a:pt x="9345932" y="79355"/>
                  </a:cubicBezTo>
                  <a:lnTo>
                    <a:pt x="9356125" y="94473"/>
                  </a:lnTo>
                  <a:lnTo>
                    <a:pt x="9330312" y="141265"/>
                  </a:lnTo>
                  <a:cubicBezTo>
                    <a:pt x="9313179" y="181120"/>
                    <a:pt x="9303705" y="224938"/>
                    <a:pt x="9303705" y="270934"/>
                  </a:cubicBezTo>
                  <a:cubicBezTo>
                    <a:pt x="9303705" y="316930"/>
                    <a:pt x="9313179" y="360748"/>
                    <a:pt x="9330312" y="400604"/>
                  </a:cubicBezTo>
                  <a:lnTo>
                    <a:pt x="9356125" y="447395"/>
                  </a:lnTo>
                  <a:lnTo>
                    <a:pt x="9345931" y="462513"/>
                  </a:lnTo>
                  <a:cubicBezTo>
                    <a:pt x="9296902" y="511543"/>
                    <a:pt x="9229168" y="541868"/>
                    <a:pt x="9154352" y="541868"/>
                  </a:cubicBezTo>
                  <a:lnTo>
                    <a:pt x="270934" y="541867"/>
                  </a:lnTo>
                  <a:cubicBezTo>
                    <a:pt x="158710" y="541867"/>
                    <a:pt x="62421" y="473635"/>
                    <a:pt x="21292" y="376393"/>
                  </a:cubicBezTo>
                  <a:lnTo>
                    <a:pt x="0" y="270934"/>
                  </a:lnTo>
                  <a:lnTo>
                    <a:pt x="21292" y="165474"/>
                  </a:lnTo>
                  <a:cubicBezTo>
                    <a:pt x="62421" y="68232"/>
                    <a:pt x="158710" y="0"/>
                    <a:pt x="270934" y="0"/>
                  </a:cubicBezTo>
                  <a:close/>
                </a:path>
              </a:pathLst>
            </a:custGeom>
            <a:solidFill>
              <a:srgbClr val="3D9FDC">
                <a:alpha val="61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rtl="1"/>
              <a:endParaRPr lang="ar-AE" dirty="0"/>
            </a:p>
          </p:txBody>
        </p:sp>
        <p:sp>
          <p:nvSpPr>
            <p:cNvPr id="27" name="TextBox 26">
              <a:extLst>
                <a:ext uri="{FF2B5EF4-FFF2-40B4-BE49-F238E27FC236}">
                  <a16:creationId xmlns:a16="http://schemas.microsoft.com/office/drawing/2014/main" id="{4AC0E493-B592-2F1D-E7C6-61B5C797FACF}"/>
                </a:ext>
              </a:extLst>
            </p:cNvPr>
            <p:cNvSpPr txBox="1"/>
            <p:nvPr/>
          </p:nvSpPr>
          <p:spPr>
            <a:xfrm>
              <a:off x="1164493" y="2555614"/>
              <a:ext cx="7272020" cy="307777"/>
            </a:xfrm>
            <a:prstGeom prst="rect">
              <a:avLst/>
            </a:prstGeom>
            <a:noFill/>
          </p:spPr>
          <p:txBody>
            <a:bodyPr wrap="square" anchor="ctr">
              <a:spAutoFit/>
            </a:bodyPr>
            <a:lstStyle/>
            <a:p>
              <a:pPr algn="r" rtl="1"/>
              <a:r>
                <a:rPr lang="ar-AE" sz="1400" dirty="0"/>
                <a:t>الامتثال للمعايير والمتطلبات الصادرة عن الجهات التنظيمية ذات العلاقة، بما يضمن الاتساق مع السياسات الوطنية والتشريعات المعتمدة.</a:t>
              </a:r>
            </a:p>
          </p:txBody>
        </p:sp>
      </p:grpSp>
    </p:spTree>
    <p:extLst>
      <p:ext uri="{BB962C8B-B14F-4D97-AF65-F5344CB8AC3E}">
        <p14:creationId xmlns:p14="http://schemas.microsoft.com/office/powerpoint/2010/main" val="262990531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E5EE6-5C6B-FFCD-A557-C89F014FFFF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C2ABDD6-EB6B-4941-8186-C3FBEC5E2265}"/>
              </a:ext>
            </a:extLst>
          </p:cNvPr>
          <p:cNvSpPr>
            <a:spLocks noGrp="1"/>
          </p:cNvSpPr>
          <p:nvPr>
            <p:ph type="title"/>
          </p:nvPr>
        </p:nvSpPr>
        <p:spPr/>
        <p:txBody>
          <a:bodyPr/>
          <a:lstStyle/>
          <a:p>
            <a:pPr rtl="1"/>
            <a:r>
              <a:rPr lang="ar-AE" b="1" dirty="0"/>
              <a:t>الوضع المستقبلي لخزائن البيانات</a:t>
            </a:r>
            <a:endParaRPr lang="ar-AE" dirty="0"/>
          </a:p>
        </p:txBody>
      </p:sp>
      <p:sp>
        <p:nvSpPr>
          <p:cNvPr id="4" name="Text Placeholder 3">
            <a:extLst>
              <a:ext uri="{FF2B5EF4-FFF2-40B4-BE49-F238E27FC236}">
                <a16:creationId xmlns:a16="http://schemas.microsoft.com/office/drawing/2014/main" id="{05F4E3EC-0FF4-EC50-5865-E348A035FA2C}"/>
              </a:ext>
            </a:extLst>
          </p:cNvPr>
          <p:cNvSpPr>
            <a:spLocks noGrp="1"/>
          </p:cNvSpPr>
          <p:nvPr>
            <p:ph type="body" sz="quarter" idx="12"/>
          </p:nvPr>
        </p:nvSpPr>
        <p:spPr/>
        <p:txBody>
          <a:bodyPr/>
          <a:lstStyle/>
          <a:p>
            <a:r>
              <a:rPr lang="ar-EG" dirty="0"/>
              <a:t>01</a:t>
            </a:r>
            <a:endParaRPr lang="en-US" dirty="0"/>
          </a:p>
        </p:txBody>
      </p:sp>
      <p:sp>
        <p:nvSpPr>
          <p:cNvPr id="2" name="Text Placeholder 1">
            <a:extLst>
              <a:ext uri="{FF2B5EF4-FFF2-40B4-BE49-F238E27FC236}">
                <a16:creationId xmlns:a16="http://schemas.microsoft.com/office/drawing/2014/main" id="{AEE9C9AA-34BD-7AF9-1C07-B67B1DD488F9}"/>
              </a:ext>
            </a:extLst>
          </p:cNvPr>
          <p:cNvSpPr>
            <a:spLocks noGrp="1"/>
          </p:cNvSpPr>
          <p:nvPr>
            <p:ph type="body" sz="quarter" idx="14"/>
          </p:nvPr>
        </p:nvSpPr>
        <p:spPr/>
        <p:txBody>
          <a:bodyPr/>
          <a:lstStyle/>
          <a:p>
            <a:r>
              <a:rPr lang="en-US" dirty="0"/>
              <a:t>04</a:t>
            </a:r>
          </a:p>
        </p:txBody>
      </p:sp>
    </p:spTree>
    <p:extLst>
      <p:ext uri="{BB962C8B-B14F-4D97-AF65-F5344CB8AC3E}">
        <p14:creationId xmlns:p14="http://schemas.microsoft.com/office/powerpoint/2010/main" val="2798676086"/>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البيانات(مستودع بيانات)</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14</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4059465843"/>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nchor="ct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200" b="1" i="0" u="none" strike="noStrike" dirty="0">
                          <a:effectLst/>
                          <a:latin typeface="Arial" panose="020B0604020202020204" pitchFamily="34" charset="0"/>
                        </a:rPr>
                        <a:t>DMDB</a:t>
                      </a:r>
                    </a:p>
                  </a:txBody>
                  <a:tcPr marL="0" marR="0" marT="0" marB="0" anchor="ctr"/>
                </a:tc>
                <a:tc>
                  <a:txBody>
                    <a:bodyPr/>
                    <a:lstStyle/>
                    <a:p>
                      <a:pPr algn="ctr"/>
                      <a:r>
                        <a:rPr lang="en-US" sz="1200" dirty="0"/>
                        <a:t>MS SQL SERVER</a:t>
                      </a:r>
                    </a:p>
                  </a:txBody>
                  <a:tcPr anchor="ctr"/>
                </a:tc>
                <a:tc>
                  <a:txBody>
                    <a:bodyPr/>
                    <a:lstStyle/>
                    <a:p>
                      <a:pPr algn="ctr"/>
                      <a:r>
                        <a:rPr lang="en-US" sz="1200" dirty="0"/>
                        <a:t>2022</a:t>
                      </a:r>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200" b="1" i="0" u="none" strike="noStrike">
                          <a:effectLst/>
                          <a:latin typeface="Arial" panose="020B0604020202020204" pitchFamily="34" charset="0"/>
                        </a:rPr>
                        <a:t>DND_Cache_PRD</a:t>
                      </a:r>
                    </a:p>
                  </a:txBody>
                  <a:tcPr marL="0" marR="0" marT="0" marB="0" anchor="ctr"/>
                </a:tc>
                <a:tc>
                  <a:txBody>
                    <a:bodyPr/>
                    <a:lstStyle/>
                    <a:p>
                      <a:pPr algn="ctr"/>
                      <a:r>
                        <a:rPr lang="en-US" sz="1200" dirty="0"/>
                        <a:t>MS SQL SERVER</a:t>
                      </a:r>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200" b="1" i="0" u="none" strike="noStrike">
                          <a:effectLst/>
                          <a:latin typeface="Arial" panose="020B0604020202020204" pitchFamily="34" charset="0"/>
                        </a:rPr>
                        <a:t>DPDB</a:t>
                      </a: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200" b="1" i="0" u="none" strike="noStrike">
                          <a:effectLst/>
                          <a:latin typeface="Arial" panose="020B0604020202020204" pitchFamily="34" charset="0"/>
                        </a:rPr>
                        <a:t>DWHDB</a:t>
                      </a: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200" b="1" i="0" u="none" strike="noStrike">
                          <a:effectLst/>
                          <a:latin typeface="Arial" panose="020B0604020202020204" pitchFamily="34" charset="0"/>
                        </a:rPr>
                        <a:t>LANDING_DB</a:t>
                      </a: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200" b="1" i="0" u="none" strike="noStrike">
                          <a:effectLst/>
                          <a:latin typeface="Arial" panose="020B0604020202020204" pitchFamily="34" charset="0"/>
                        </a:rPr>
                        <a:t>MOE_DataFiles</a:t>
                      </a: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200" b="1" i="0" u="none" strike="noStrike">
                          <a:effectLst/>
                          <a:latin typeface="Arial" panose="020B0604020202020204" pitchFamily="34" charset="0"/>
                        </a:rPr>
                        <a:t>PBI_ReportServer</a:t>
                      </a: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200" b="1" i="0" u="none" strike="noStrike" dirty="0" err="1">
                          <a:effectLst/>
                          <a:latin typeface="Arial" panose="020B0604020202020204" pitchFamily="34" charset="0"/>
                        </a:rPr>
                        <a:t>PBI_ReportServerTempDB</a:t>
                      </a:r>
                      <a:endParaRPr lang="en-US" sz="1200" b="1" i="0" u="none" strike="noStrike" dirty="0">
                        <a:effectLst/>
                        <a:latin typeface="Arial" panose="020B0604020202020204" pitchFamily="34" charset="0"/>
                      </a:endParaRP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200" b="1" i="0" u="none" strike="noStrike">
                          <a:effectLst/>
                          <a:latin typeface="Arial" panose="020B0604020202020204" pitchFamily="34" charset="0"/>
                        </a:rPr>
                        <a:t>SBDB</a:t>
                      </a: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200" b="1" i="0" u="none" strike="noStrike">
                          <a:effectLst/>
                          <a:latin typeface="Arial" panose="020B0604020202020204" pitchFamily="34" charset="0"/>
                        </a:rPr>
                        <a:t>STGDB</a:t>
                      </a: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200" b="1" i="0" u="none" strike="noStrike">
                          <a:effectLst/>
                          <a:latin typeface="Arial" panose="020B0604020202020204" pitchFamily="34" charset="0"/>
                        </a:rPr>
                        <a:t>talend_administrator</a:t>
                      </a: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200" b="1" i="0" u="none" strike="noStrike">
                          <a:effectLst/>
                          <a:latin typeface="Arial" panose="020B0604020202020204" pitchFamily="34" charset="0"/>
                        </a:rPr>
                        <a:t>TALEND_DQ</a:t>
                      </a:r>
                    </a:p>
                  </a:txBody>
                  <a:tcPr marL="0" marR="0" marT="0" marB="0" anchor="ctr"/>
                </a:tc>
                <a:tc>
                  <a:txBody>
                    <a:bodyPr/>
                    <a:lstStyle/>
                    <a:p>
                      <a:pPr algn="ctr"/>
                      <a:r>
                        <a:rPr lang="en-US" sz="1200"/>
                        <a:t>MS SQL SERVER</a:t>
                      </a:r>
                      <a:endParaRPr lang="en-US" sz="1200" dirty="0"/>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200" b="1" i="0" u="none" strike="noStrike" dirty="0" err="1">
                          <a:effectLst/>
                          <a:latin typeface="Arial" panose="020B0604020202020204" pitchFamily="34" charset="0"/>
                        </a:rPr>
                        <a:t>WebService_Extract</a:t>
                      </a:r>
                      <a:endParaRPr lang="en-US" sz="120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lang="en-US" sz="1200" dirty="0"/>
                        <a:t>2022</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8" name="Group 7">
            <a:extLst>
              <a:ext uri="{FF2B5EF4-FFF2-40B4-BE49-F238E27FC236}">
                <a16:creationId xmlns:a16="http://schemas.microsoft.com/office/drawing/2014/main" id="{74B2B546-C778-65E9-38F5-91650F17F175}"/>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F655A2F7-D247-0DFC-8ABF-EC4CA26BC34E}"/>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7" name="Rectangle 6">
              <a:extLst>
                <a:ext uri="{FF2B5EF4-FFF2-40B4-BE49-F238E27FC236}">
                  <a16:creationId xmlns:a16="http://schemas.microsoft.com/office/drawing/2014/main" id="{1582B0BB-7F42-BFC1-CD6D-2CD762143887}"/>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92497341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15</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296309567"/>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nchor="ct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200" b="1" i="0" u="none" strike="noStrike">
                          <a:effectLst/>
                          <a:latin typeface="Arial" panose="020B0604020202020204" pitchFamily="34" charset="0"/>
                        </a:rPr>
                        <a:t>ASPState</a:t>
                      </a:r>
                    </a:p>
                  </a:txBody>
                  <a:tcPr marL="0" marR="0" marT="0" marB="0" anchor="ctr"/>
                </a:tc>
                <a:tc>
                  <a:txBody>
                    <a:bodyPr/>
                    <a:lstStyle/>
                    <a:p>
                      <a:pPr algn="ctr"/>
                      <a:r>
                        <a:rPr lang="en-US" sz="1200" dirty="0"/>
                        <a:t>MS SQL SERVER</a:t>
                      </a:r>
                    </a:p>
                  </a:txBody>
                  <a:tcPr anchor="ctr"/>
                </a:tc>
                <a:tc>
                  <a:txBody>
                    <a:bodyPr/>
                    <a:lstStyle/>
                    <a:p>
                      <a:pPr algn="ctr"/>
                      <a:r>
                        <a:rPr lang="en-US" sz="1200" dirty="0"/>
                        <a:t>2019</a:t>
                      </a:r>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tc>
                <a:extLst>
                  <a:ext uri="{0D108BD9-81ED-4DB2-BD59-A6C34878D82A}">
                    <a16:rowId xmlns:a16="http://schemas.microsoft.com/office/drawing/2014/main" val="169103518"/>
                  </a:ext>
                </a:extLst>
              </a:tr>
              <a:tr h="361150">
                <a:tc>
                  <a:txBody>
                    <a:bodyPr/>
                    <a:lstStyle/>
                    <a:p>
                      <a:pPr algn="ctr" rtl="0" fontAlgn="b"/>
                      <a:r>
                        <a:rPr lang="en-US" sz="1200" b="1" i="0" u="none" strike="noStrike">
                          <a:effectLst/>
                          <a:latin typeface="Arial" panose="020B0604020202020204" pitchFamily="34" charset="0"/>
                        </a:rPr>
                        <a:t>EDPDB</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2837972540"/>
                  </a:ext>
                </a:extLst>
              </a:tr>
              <a:tr h="361150">
                <a:tc>
                  <a:txBody>
                    <a:bodyPr/>
                    <a:lstStyle/>
                    <a:p>
                      <a:pPr algn="ctr" rtl="0" fontAlgn="b"/>
                      <a:r>
                        <a:rPr lang="en-US" sz="1200" b="1" i="0" u="none" strike="noStrike">
                          <a:effectLst/>
                          <a:latin typeface="Arial" panose="020B0604020202020204" pitchFamily="34" charset="0"/>
                        </a:rPr>
                        <a:t>ETECNafathIntegration</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2503226562"/>
                  </a:ext>
                </a:extLst>
              </a:tr>
              <a:tr h="361150">
                <a:tc>
                  <a:txBody>
                    <a:bodyPr/>
                    <a:lstStyle/>
                    <a:p>
                      <a:pPr algn="ctr" rtl="0" fontAlgn="b"/>
                      <a:r>
                        <a:rPr lang="en-US" sz="1200" b="1" i="0" u="none" strike="noStrike">
                          <a:effectLst/>
                          <a:latin typeface="Arial" panose="020B0604020202020204" pitchFamily="34" charset="0"/>
                        </a:rPr>
                        <a:t>ETECPaymentGateway</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3851449830"/>
                  </a:ext>
                </a:extLst>
              </a:tr>
              <a:tr h="361150">
                <a:tc>
                  <a:txBody>
                    <a:bodyPr/>
                    <a:lstStyle/>
                    <a:p>
                      <a:pPr algn="ctr" rtl="0" fontAlgn="b"/>
                      <a:r>
                        <a:rPr lang="en-US" sz="1200" b="1" i="0" u="none" strike="noStrike">
                          <a:effectLst/>
                          <a:latin typeface="Arial" panose="020B0604020202020204" pitchFamily="34" charset="0"/>
                        </a:rPr>
                        <a:t>MaqayeesDB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4224987572"/>
                  </a:ext>
                </a:extLst>
              </a:tr>
              <a:tr h="361150">
                <a:tc>
                  <a:txBody>
                    <a:bodyPr/>
                    <a:lstStyle/>
                    <a:p>
                      <a:pPr algn="ctr" rtl="0" fontAlgn="b"/>
                      <a:r>
                        <a:rPr lang="en-US" sz="1200" b="1" i="0" u="none" strike="noStrike">
                          <a:effectLst/>
                          <a:latin typeface="Arial" panose="020B0604020202020204" pitchFamily="34" charset="0"/>
                        </a:rPr>
                        <a:t>qeyas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3430863950"/>
                  </a:ext>
                </a:extLst>
              </a:tr>
              <a:tr h="361150">
                <a:tc>
                  <a:txBody>
                    <a:bodyPr/>
                    <a:lstStyle/>
                    <a:p>
                      <a:pPr algn="ctr" rtl="0" fontAlgn="b"/>
                      <a:r>
                        <a:rPr lang="en-US" sz="1200" b="1" i="0" u="none" strike="noStrike">
                          <a:effectLst/>
                          <a:latin typeface="Arial" panose="020B0604020202020204" pitchFamily="34" charset="0"/>
                        </a:rPr>
                        <a:t>Qiyas.TRAS.Audit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2156566796"/>
                  </a:ext>
                </a:extLst>
              </a:tr>
              <a:tr h="361150">
                <a:tc>
                  <a:txBody>
                    <a:bodyPr/>
                    <a:lstStyle/>
                    <a:p>
                      <a:pPr algn="ctr" rtl="0" fontAlgn="b"/>
                      <a:r>
                        <a:rPr lang="en-US" sz="1200" b="1" i="0" u="none" strike="noStrike">
                          <a:effectLst/>
                          <a:latin typeface="Arial" panose="020B0604020202020204" pitchFamily="34" charset="0"/>
                        </a:rPr>
                        <a:t>Qiyas.TRAS.Database</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803443235"/>
                  </a:ext>
                </a:extLst>
              </a:tr>
              <a:tr h="361150">
                <a:tc>
                  <a:txBody>
                    <a:bodyPr/>
                    <a:lstStyle/>
                    <a:p>
                      <a:pPr algn="ctr" rtl="0" fontAlgn="b"/>
                      <a:r>
                        <a:rPr lang="en-US" sz="1200" b="1" i="0" u="none" strike="noStrike">
                          <a:effectLst/>
                          <a:latin typeface="Arial" panose="020B0604020202020204" pitchFamily="34" charset="0"/>
                        </a:rPr>
                        <a:t>Reporting_test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2925117088"/>
                  </a:ext>
                </a:extLst>
              </a:tr>
              <a:tr h="361150">
                <a:tc>
                  <a:txBody>
                    <a:bodyPr/>
                    <a:lstStyle/>
                    <a:p>
                      <a:pPr algn="ctr" rtl="0" fontAlgn="b"/>
                      <a:r>
                        <a:rPr lang="en-US" sz="1200" b="1" i="0" u="none" strike="noStrike">
                          <a:effectLst/>
                          <a:latin typeface="Arial" panose="020B0604020202020204" pitchFamily="34" charset="0"/>
                        </a:rPr>
                        <a:t>SEA</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92539464"/>
                  </a:ext>
                </a:extLst>
              </a:tr>
              <a:tr h="361150">
                <a:tc>
                  <a:txBody>
                    <a:bodyPr/>
                    <a:lstStyle/>
                    <a:p>
                      <a:pPr algn="ctr" rtl="0" fontAlgn="b"/>
                      <a:r>
                        <a:rPr lang="en-US" sz="1200" b="1" i="0" u="none" strike="noStrike">
                          <a:effectLst/>
                          <a:latin typeface="Arial" panose="020B0604020202020204" pitchFamily="34" charset="0"/>
                        </a:rPr>
                        <a:t>SEAT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2091207583"/>
                  </a:ext>
                </a:extLst>
              </a:tr>
              <a:tr h="361150">
                <a:tc>
                  <a:txBody>
                    <a:bodyPr/>
                    <a:lstStyle/>
                    <a:p>
                      <a:pPr algn="ctr" rtl="0" fontAlgn="b"/>
                      <a:r>
                        <a:rPr lang="en-US" sz="1200" b="1" i="0" u="none" strike="noStrike">
                          <a:effectLst/>
                          <a:latin typeface="Arial" panose="020B0604020202020204" pitchFamily="34" charset="0"/>
                        </a:rPr>
                        <a:t>TahseelDB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3548218595"/>
                  </a:ext>
                </a:extLst>
              </a:tr>
              <a:tr h="361150">
                <a:tc>
                  <a:txBody>
                    <a:bodyPr/>
                    <a:lstStyle/>
                    <a:p>
                      <a:pPr algn="ctr" rtl="0" fontAlgn="b"/>
                      <a:r>
                        <a:rPr lang="en-US" sz="1200" b="1" i="0" u="none" strike="noStrike" dirty="0" err="1">
                          <a:effectLst/>
                          <a:latin typeface="Arial" panose="020B0604020202020204" pitchFamily="34" charset="0"/>
                        </a:rPr>
                        <a:t>Tarteeb</a:t>
                      </a:r>
                      <a:endParaRPr lang="en-US" sz="120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6804FBE0-3F24-A5EF-F945-082072EE6CDE}"/>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F18A7C40-15E5-056D-04B5-673E7551AB79}"/>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8CC4E154-B872-D4E9-4A54-D5BDD4E2F6D3}"/>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09517259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16</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765012369"/>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200" b="1" i="0" u="none" strike="noStrike">
                          <a:effectLst/>
                          <a:latin typeface="Arial" panose="020B0604020202020204" pitchFamily="34" charset="0"/>
                        </a:rPr>
                        <a:t>TPL</a:t>
                      </a:r>
                    </a:p>
                  </a:txBody>
                  <a:tcPr marL="0" marR="0" marT="0" marB="0" anchor="ctr"/>
                </a:tc>
                <a:tc>
                  <a:txBody>
                    <a:bodyPr/>
                    <a:lstStyle/>
                    <a:p>
                      <a:pPr algn="ctr"/>
                      <a:r>
                        <a:rPr lang="en-US" sz="1200" dirty="0"/>
                        <a:t>MS SQL SERVER</a:t>
                      </a:r>
                    </a:p>
                  </a:txBody>
                  <a:tcPr anchor="ctr"/>
                </a:tc>
                <a:tc>
                  <a:txBody>
                    <a:bodyPr/>
                    <a:lstStyle/>
                    <a:p>
                      <a:pPr algn="ctr"/>
                      <a:r>
                        <a:rPr lang="en-US" sz="1200" dirty="0"/>
                        <a:t>2019</a:t>
                      </a:r>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tc>
                <a:extLst>
                  <a:ext uri="{0D108BD9-81ED-4DB2-BD59-A6C34878D82A}">
                    <a16:rowId xmlns:a16="http://schemas.microsoft.com/office/drawing/2014/main" val="169103518"/>
                  </a:ext>
                </a:extLst>
              </a:tr>
              <a:tr h="361150">
                <a:tc>
                  <a:txBody>
                    <a:bodyPr/>
                    <a:lstStyle/>
                    <a:p>
                      <a:pPr algn="ctr" rtl="0" fontAlgn="b"/>
                      <a:r>
                        <a:rPr lang="en-US" sz="1200" b="1" i="0" u="none" strike="noStrike">
                          <a:effectLst/>
                          <a:latin typeface="Arial" panose="020B0604020202020204" pitchFamily="34" charset="0"/>
                        </a:rPr>
                        <a:t>GSB_Notifications_PRD</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200" b="1" i="0" u="none" strike="noStrike">
                          <a:effectLst/>
                          <a:latin typeface="Arial" panose="020B0604020202020204" pitchFamily="34" charset="0"/>
                        </a:rPr>
                        <a:t>GSB_Notifications_TST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200" b="1" i="0" u="none" strike="noStrike">
                          <a:effectLst/>
                          <a:latin typeface="Arial" panose="020B0604020202020204" pitchFamily="34" charset="0"/>
                        </a:rPr>
                        <a:t>QeyasResult_Temp</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200" b="1" i="0" u="none" strike="noStrike">
                          <a:effectLst/>
                          <a:latin typeface="Arial" panose="020B0604020202020204" pitchFamily="34" charset="0"/>
                        </a:rPr>
                        <a:t>QiyasResult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200" b="1" i="0" u="none" strike="noStrike">
                          <a:effectLst/>
                          <a:latin typeface="Arial" panose="020B0604020202020204" pitchFamily="34" charset="0"/>
                        </a:rPr>
                        <a:t>ReportServer</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200" b="1" i="0" u="none" strike="noStrike">
                          <a:effectLst/>
                          <a:latin typeface="Arial" panose="020B0604020202020204" pitchFamily="34" charset="0"/>
                        </a:rPr>
                        <a:t>ReportServerTempDB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200" b="1" i="0" u="none" strike="noStrike">
                          <a:effectLst/>
                          <a:latin typeface="Arial" panose="020B0604020202020204" pitchFamily="34" charset="0"/>
                        </a:rPr>
                        <a:t>SSISDB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200" b="1" i="0" u="none" strike="noStrike">
                          <a:effectLst/>
                          <a:latin typeface="Arial" panose="020B0604020202020204" pitchFamily="34" charset="0"/>
                        </a:rPr>
                        <a:t>YSR_Sample</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200" b="1" i="0" u="none" strike="noStrike">
                          <a:effectLst/>
                          <a:latin typeface="Arial" panose="020B0604020202020204" pitchFamily="34" charset="0"/>
                        </a:rPr>
                        <a:t>ExamResults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200" b="1" i="0" u="none" strike="noStrike">
                          <a:effectLst/>
                          <a:latin typeface="Arial" panose="020B0604020202020204" pitchFamily="34" charset="0"/>
                        </a:rPr>
                        <a:t>ExamResults_16102024</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200" b="1" i="0" u="none" strike="noStrike">
                          <a:effectLst/>
                          <a:latin typeface="Arial" panose="020B0604020202020204" pitchFamily="34" charset="0"/>
                        </a:rPr>
                        <a:t>Qiyas.TRAS.Database</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200" b="1" i="0" u="none" strike="noStrike" dirty="0">
                          <a:effectLst/>
                          <a:latin typeface="Arial" panose="020B0604020202020204" pitchFamily="34" charset="0"/>
                        </a:rPr>
                        <a:t>RewardR2</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DD72BBD6-94BC-BC3F-C23B-D0730C59155E}"/>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70785752-BD59-20B3-2D4F-E148CAC9B43C}"/>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3A70A62C-67B7-7B09-8FB8-4E2298C41A88}"/>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243106433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17</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417662384"/>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dirty="0">
                          <a:effectLst/>
                          <a:latin typeface="Arial" panose="020B0604020202020204" pitchFamily="34" charset="0"/>
                        </a:rPr>
                        <a:t>STGDB</a:t>
                      </a:r>
                    </a:p>
                  </a:txBody>
                  <a:tcPr marL="7620" marR="7620" marT="7620" marB="0" anchor="ctr"/>
                </a:tc>
                <a:tc>
                  <a:txBody>
                    <a:bodyPr/>
                    <a:lstStyle/>
                    <a:p>
                      <a:pPr algn="ctr"/>
                      <a:r>
                        <a:rPr lang="en-US" sz="1200" dirty="0"/>
                        <a:t>MS SQL SERVER</a:t>
                      </a:r>
                    </a:p>
                  </a:txBody>
                  <a:tcPr anchor="ctr"/>
                </a:tc>
                <a:tc>
                  <a:txBody>
                    <a:bodyPr/>
                    <a:lstStyle/>
                    <a:p>
                      <a:pPr algn="ctr"/>
                      <a:r>
                        <a:rPr lang="en-US" sz="1200" dirty="0"/>
                        <a:t>2019</a:t>
                      </a:r>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TPL</a:t>
                      </a:r>
                    </a:p>
                  </a:txBody>
                  <a:tcPr marL="7620" marR="7620" marT="762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AppMng_Service_DB_4306a6bfec9343a18f05276a43f94be1</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Bdc_Service_DB_d4190502ce194b6c9b7a2ef4414d464d</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ETECTraining</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Managed Metadata Service_827fb6cd36a74ceabd1830505c020d9a</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PerformancePoint Service Application_71eead66cd484e219fe34e6ffad77171</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QiyasCareers</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QiyasFormsAuth</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Search_Service_Application_AnalyticsReportingStoreDB_4c1ea6badb0e4197ba2de3d512cf6aa3</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Search_Service_Application_CrawlStoreDB_cee7c67af7ae47da8dd006fcc8d92a52</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Search_Service_Application_DB_1018e4f233674b5d904272df329b7c7e</a:t>
                      </a:r>
                    </a:p>
                  </a:txBody>
                  <a:tcPr marL="7620" marR="7620" marT="762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a:effectLst/>
                          <a:latin typeface="Arial" panose="020B0604020202020204" pitchFamily="34" charset="0"/>
                        </a:rPr>
                        <a:t>Search_Service_Application_ETEC_AnalyticsReportingStoreDB_3e58f1d16e024bd9910b9a2964caeebc</a:t>
                      </a:r>
                    </a:p>
                  </a:txBody>
                  <a:tcPr marL="7620" marR="7620" marT="762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1C0608E0-E5CF-13A3-FF86-A050EC9BBED7}"/>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51A79593-9FA6-E1B8-0583-67643B5C4432}"/>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561665F1-0FEE-60F1-0A29-59B18CD46AED}"/>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297725872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18</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2275932632"/>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00" b="1" i="0" u="none" strike="noStrike">
                          <a:effectLst/>
                          <a:latin typeface="Arial" panose="020B0604020202020204" pitchFamily="34" charset="0"/>
                        </a:rPr>
                        <a:t>Search_Service_Application_ETEC_CrawlStoreDB_a9a7bed8964c4c489b2a3f56fa0720a4</a:t>
                      </a:r>
                    </a:p>
                  </a:txBody>
                  <a:tcPr marL="0" marR="0" marT="0" marB="0" anchor="ctr"/>
                </a:tc>
                <a:tc>
                  <a:txBody>
                    <a:bodyPr/>
                    <a:lstStyle/>
                    <a:p>
                      <a:pPr algn="ctr"/>
                      <a:r>
                        <a:rPr lang="en-US" sz="1200" dirty="0"/>
                        <a:t>MS SQL SERVER</a:t>
                      </a:r>
                    </a:p>
                  </a:txBody>
                  <a:tcPr anchor="ctr"/>
                </a:tc>
                <a:tc>
                  <a:txBody>
                    <a:bodyPr/>
                    <a:lstStyle/>
                    <a:p>
                      <a:pPr algn="ctr"/>
                      <a:r>
                        <a:rPr lang="en-US" sz="1200" dirty="0"/>
                        <a:t>2019</a:t>
                      </a:r>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00" b="1" i="0" u="none" strike="noStrike">
                          <a:effectLst/>
                          <a:latin typeface="Arial" panose="020B0604020202020204" pitchFamily="34" charset="0"/>
                        </a:rPr>
                        <a:t>Search_Service_Application_ETEC_DB_814e0c71e0854c119ca6ac89be325dac</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00" b="1" i="0" u="none" strike="noStrike">
                          <a:effectLst/>
                          <a:latin typeface="Arial" panose="020B0604020202020204" pitchFamily="34" charset="0"/>
                        </a:rPr>
                        <a:t>Search_Service_Application_ETEC_LinksStoreDB_2c8af98eceb64fdc80bd6b38199f0d9d</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00" b="1" i="0" u="none" strike="noStrike">
                          <a:effectLst/>
                          <a:latin typeface="Arial" panose="020B0604020202020204" pitchFamily="34" charset="0"/>
                        </a:rPr>
                        <a:t>Search_Service_Application_LinksStoreDB_91af88bc81ba4d649967e3dff330e509</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00" b="1" i="0" u="none" strike="noStrike">
                          <a:effectLst/>
                          <a:latin typeface="Arial" panose="020B0604020202020204" pitchFamily="34" charset="0"/>
                        </a:rPr>
                        <a:t>Secure_Store_Service_DB_09836a0ebc744647a3496ff5f25f122b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00" b="1" i="0" u="none" strike="noStrike">
                          <a:effectLst/>
                          <a:latin typeface="Arial" panose="020B0604020202020204" pitchFamily="34" charset="0"/>
                        </a:rPr>
                        <a:t>SharePoint_AdminContent_105c9710-9f87-4aa6-aabe-80028b0a737b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00" b="1" i="0" u="none" strike="noStrike">
                          <a:effectLst/>
                          <a:latin typeface="Arial" panose="020B0604020202020204" pitchFamily="34" charset="0"/>
                        </a:rPr>
                        <a:t>SharePoint_AdminContent_3b5cfe5d-389b-4509-9388-682553692472</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00" b="1" i="0" u="none" strike="noStrike">
                          <a:effectLst/>
                          <a:latin typeface="Arial" panose="020B0604020202020204" pitchFamily="34" charset="0"/>
                        </a:rPr>
                        <a:t>SharePoint_Config_DR</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00" b="1" i="0" u="none" strike="noStrike">
                          <a:effectLst/>
                          <a:latin typeface="Arial" panose="020B0604020202020204" pitchFamily="34" charset="0"/>
                        </a:rPr>
                        <a:t>SharePoint_Config_ExternalPortal</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00" b="1" i="0" u="none" strike="noStrike">
                          <a:effectLst/>
                          <a:latin typeface="Arial" panose="020B0604020202020204" pitchFamily="34" charset="0"/>
                        </a:rPr>
                        <a:t>StateService_7958bb22b63046f784666904154e615a</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00" b="1" i="0" u="none" strike="noStrike">
                          <a:effectLst/>
                          <a:latin typeface="Arial" panose="020B0604020202020204" pitchFamily="34" charset="0"/>
                        </a:rPr>
                        <a:t>TranslationService_8908feb4f165486f882f04f933e847ca</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00" b="1" i="0" u="none" strike="noStrike">
                          <a:effectLst/>
                          <a:latin typeface="Arial" panose="020B0604020202020204" pitchFamily="34" charset="0"/>
                        </a:rPr>
                        <a:t>User Profile Service Application_ProfileDB_8dd589bd799d46a6889f14ffc4e36e20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00" b="1" i="0" u="none" strike="noStrike" dirty="0">
                          <a:effectLst/>
                          <a:latin typeface="Arial" panose="020B0604020202020204" pitchFamily="34" charset="0"/>
                        </a:rPr>
                        <a:t>User Profile Service Application_SocialDB_360ca3527b584b699e5cc0f9ea1df208</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4424670F-71B8-C1BE-5AC7-BC4C51C61663}"/>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693BDA7B-671D-938B-63AE-44A03F8C7DCB}"/>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3F5B8A4C-BA5A-9865-D9EC-1CC279D5D160}"/>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52413083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19</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139431363"/>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it-IT" sz="1000" b="1" i="0" u="none" strike="noStrike">
                          <a:effectLst/>
                          <a:latin typeface="Arial" panose="020B0604020202020204" pitchFamily="34" charset="0"/>
                        </a:rPr>
                        <a:t>User Profile Service Application_SyncDB_1f6e6220e1ca4e57810417b53e9dd203</a:t>
                      </a:r>
                    </a:p>
                  </a:txBody>
                  <a:tcPr marL="0" marR="0" marT="0" marB="0" anchor="ctr"/>
                </a:tc>
                <a:tc>
                  <a:txBody>
                    <a:bodyPr/>
                    <a:lstStyle/>
                    <a:p>
                      <a:pPr algn="ctr"/>
                      <a:r>
                        <a:rPr lang="en-US" sz="1200" dirty="0"/>
                        <a:t>MS SQL SERVER</a:t>
                      </a:r>
                    </a:p>
                  </a:txBody>
                  <a:tcPr anchor="ctr"/>
                </a:tc>
                <a:tc>
                  <a:txBody>
                    <a:bodyPr/>
                    <a:lstStyle/>
                    <a:p>
                      <a:pPr algn="ctr"/>
                      <a:r>
                        <a:rPr lang="en-US" sz="1200" dirty="0"/>
                        <a:t>2019</a:t>
                      </a:r>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00" b="1" i="0" u="none" strike="noStrike">
                          <a:effectLst/>
                          <a:latin typeface="Arial" panose="020B0604020202020204" pitchFamily="34" charset="0"/>
                        </a:rPr>
                        <a:t>WordAutomationServices_c65869432abb4147b98d863d6728aed3</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00" b="1" i="0" u="none" strike="noStrike">
                          <a:effectLst/>
                          <a:latin typeface="Arial" panose="020B0604020202020204" pitchFamily="34" charset="0"/>
                        </a:rPr>
                        <a:t>WSS_Content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00" b="1" i="0" u="none" strike="noStrike">
                          <a:effectLst/>
                          <a:latin typeface="Arial" panose="020B0604020202020204" pitchFamily="34" charset="0"/>
                        </a:rPr>
                        <a:t>WSS_Content_6d722bc4d39c4e1bb3e3dd537c4d2e36</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00" b="1" i="0" u="none" strike="noStrike">
                          <a:effectLst/>
                          <a:latin typeface="Arial" panose="020B0604020202020204" pitchFamily="34" charset="0"/>
                        </a:rPr>
                        <a:t>WSS_Content_DRonprem</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00" b="1" i="0" u="none" strike="noStrike">
                          <a:effectLst/>
                          <a:latin typeface="Arial" panose="020B0604020202020204" pitchFamily="34" charset="0"/>
                        </a:rPr>
                        <a:t>WSS_Content_eab6453d5ad24e69b625e3112c9c08d6</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00" b="1" i="0" u="none" strike="noStrike">
                          <a:effectLst/>
                          <a:latin typeface="Arial" panose="020B0604020202020204" pitchFamily="34" charset="0"/>
                        </a:rPr>
                        <a:t>WSS_Logging</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00" b="1" i="0" u="none" strike="noStrike">
                          <a:effectLst/>
                          <a:latin typeface="Arial" panose="020B0604020202020204" pitchFamily="34" charset="0"/>
                        </a:rPr>
                        <a:t>MMSservices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00" b="1" i="0" u="none" strike="noStrike">
                          <a:effectLst/>
                          <a:latin typeface="Arial" panose="020B0604020202020204" pitchFamily="34" charset="0"/>
                        </a:rPr>
                        <a:t>QiyasCareers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00" b="1" i="0" u="none" strike="noStrike">
                          <a:effectLst/>
                          <a:latin typeface="Arial" panose="020B0604020202020204" pitchFamily="34" charset="0"/>
                        </a:rPr>
                        <a:t>QiyasFormsAuth</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00" b="1" i="0" u="none" strike="noStrike">
                          <a:effectLst/>
                          <a:latin typeface="Arial" panose="020B0604020202020204" pitchFamily="34" charset="0"/>
                        </a:rPr>
                        <a:t>Search_Service_Application_AnalyticsReportingStoreDB_50bf0974eff847928cbbca0358e1786e</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00" b="1" i="0" u="none" strike="noStrike">
                          <a:effectLst/>
                          <a:latin typeface="Arial" panose="020B0604020202020204" pitchFamily="34" charset="0"/>
                        </a:rPr>
                        <a:t>Search_Service_Application_CrawlStoreDB_3dfe00225c76431a9a81a2e28aaa81f7</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00" b="1" i="0" u="none" strike="noStrike" dirty="0">
                          <a:effectLst/>
                          <a:latin typeface="Arial" panose="020B0604020202020204" pitchFamily="34" charset="0"/>
                        </a:rPr>
                        <a:t>Search_Service_Application_DB_673d52e024b74d48bffc4685ad3e4bb4</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D7B0F8B9-ED23-E8F8-9773-E04C4C6FF385}"/>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032CD648-C417-5887-3C9E-7C051D656B37}"/>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A1DB409E-12E8-F8E1-B42F-D45CA1BA0EFA}"/>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67618029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20</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2613799359"/>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Search_Service_Application_LinksStoreDB_5e5134f9c52b4fb0996a861f2cd66201</a:t>
                      </a:r>
                    </a:p>
                  </a:txBody>
                  <a:tcPr marL="0" marR="0" marT="0" marB="0" anchor="ctr"/>
                </a:tc>
                <a:tc>
                  <a:txBody>
                    <a:bodyPr/>
                    <a:lstStyle/>
                    <a:p>
                      <a:pPr algn="ctr"/>
                      <a:r>
                        <a:rPr lang="en-US" sz="1200" dirty="0"/>
                        <a:t>MS SQL SERVER</a:t>
                      </a:r>
                    </a:p>
                  </a:txBody>
                  <a:tcPr anchor="ctr"/>
                </a:tc>
                <a:tc>
                  <a:txBody>
                    <a:bodyPr/>
                    <a:lstStyle/>
                    <a:p>
                      <a:pPr algn="ctr"/>
                      <a:r>
                        <a:rPr lang="en-US" sz="1200" dirty="0"/>
                        <a:t>2019</a:t>
                      </a:r>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SessionStateDatabase</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SharePoint_AdminContent_6e41b1a5-7eb9-4df1-b813-8a5f0b681b3b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SharePoint_Config_careers </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test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WSS_Content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WSS_Content_temp</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WSS_UsageApplication</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ETEC.Sharepoint.API</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Secure_Store_Service_DB_d50faf96-f402-4c59-a0d8-53e317089c08</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SharePoint_AdminContent_b2235877-8eee-4e4c-8f3a-542a5416e220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SharePoint_Config</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err="1">
                          <a:effectLst/>
                          <a:latin typeface="Arial" panose="020B0604020202020204" pitchFamily="34" charset="0"/>
                        </a:rPr>
                        <a:t>WSS_Content</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AA2E5E41-E1C4-9CF3-DC54-14371D822259}"/>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2EA44275-CFFF-F515-6455-B8D343FA5059}"/>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760A76A0-0B38-ADC6-E145-128EA412886E}"/>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587484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21</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2539716995"/>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ARSystem</a:t>
                      </a:r>
                    </a:p>
                  </a:txBody>
                  <a:tcPr marL="0" marR="0" marT="0" marB="0" anchor="ctr"/>
                </a:tc>
                <a:tc>
                  <a:txBody>
                    <a:bodyPr/>
                    <a:lstStyle/>
                    <a:p>
                      <a:pPr algn="ctr"/>
                      <a:r>
                        <a:rPr lang="en-US" sz="1200" dirty="0"/>
                        <a:t>MS SQL SERVER</a:t>
                      </a:r>
                    </a:p>
                  </a:txBody>
                  <a:tcPr anchor="ctr"/>
                </a:tc>
                <a:tc>
                  <a:txBody>
                    <a:bodyPr/>
                    <a:lstStyle/>
                    <a:p>
                      <a:pPr algn="ctr"/>
                      <a:r>
                        <a:rPr lang="en-US" sz="1200" dirty="0"/>
                        <a:t>2019</a:t>
                      </a:r>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AzureDevOps_Configuration</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AzureDevOps_DefaultCollection</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Jiradb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SmartReporting</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WSO2_APIM_DB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WSO2_APIM_GSN_DB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WSO2_APIM_INT_DB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WSO2_APIM_WEB_DB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WSO2_MI_DB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2019</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ReportServer</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ReportServerTempDB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err="1">
                          <a:effectLst/>
                          <a:latin typeface="Arial" panose="020B0604020202020204" pitchFamily="34" charset="0"/>
                        </a:rPr>
                        <a:t>BioIdentDB</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2022</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1BC6D22C-384D-C22E-BD13-4B8D216423CC}"/>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D71ACF49-205F-5987-1E2B-E1E4D49EDB75}"/>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8E346D90-3406-F4F5-D3BE-79B2331555A7}"/>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26877909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22</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1103449108"/>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dirty="0" err="1">
                          <a:effectLst/>
                          <a:latin typeface="Arial" panose="020B0604020202020204" pitchFamily="34" charset="0"/>
                        </a:rPr>
                        <a:t>BioIdentDB_test</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lang="en-US" sz="1200" dirty="0"/>
                        <a:t>2022</a:t>
                      </a:r>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dirty="0" err="1">
                          <a:effectLst/>
                          <a:latin typeface="Arial" panose="020B0604020202020204" pitchFamily="34" charset="0"/>
                        </a:rPr>
                        <a:t>AcpdDB</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AppMng_Service_DB_314169382ed640c39707d6d8804179d0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dirty="0">
                          <a:effectLst/>
                          <a:latin typeface="Arial" panose="020B0604020202020204" pitchFamily="34" charset="0"/>
                        </a:rPr>
                        <a:t>AppMng_Service_DB_6676c938deb54fe39e7bc55775111fe5</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dirty="0">
                          <a:effectLst/>
                          <a:latin typeface="Arial" panose="020B0604020202020204" pitchFamily="34" charset="0"/>
                        </a:rPr>
                        <a:t>Bdc_Service_DB_28c641c1c65040729f3436421fe46316</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Bdc_Service_DB_b533cb63f0ee4f37a309987ffb2d298c</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dirty="0">
                          <a:effectLst/>
                          <a:latin typeface="Arial" panose="020B0604020202020204" pitchFamily="34" charset="0"/>
                        </a:rPr>
                        <a:t>Beneficiaries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dirty="0" err="1">
                          <a:effectLst/>
                          <a:latin typeface="Arial" panose="020B0604020202020204" pitchFamily="34" charset="0"/>
                        </a:rPr>
                        <a:t>BioSecurity</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dirty="0" err="1">
                          <a:effectLst/>
                          <a:latin typeface="Arial" panose="020B0604020202020204" pitchFamily="34" charset="0"/>
                        </a:rPr>
                        <a:t>BioTime</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dirty="0">
                          <a:effectLst/>
                          <a:latin typeface="Arial" panose="020B0604020202020204" pitchFamily="34" charset="0"/>
                        </a:rPr>
                        <a:t>CMSv2</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dirty="0">
                          <a:effectLst/>
                          <a:latin typeface="Arial" panose="020B0604020202020204" pitchFamily="34" charset="0"/>
                        </a:rPr>
                        <a:t>CMSv2NCAAA</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dirty="0">
                          <a:effectLst/>
                          <a:latin typeface="Arial" panose="020B0604020202020204" pitchFamily="34" charset="0"/>
                        </a:rPr>
                        <a:t>CMSv2Qiyas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a:effectLst/>
                          <a:latin typeface="Arial" panose="020B0604020202020204" pitchFamily="34" charset="0"/>
                        </a:rPr>
                        <a:t>CTRDB</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3748E68B-67AD-3287-3F88-7B32BED7E1B5}"/>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82E6AAB5-6CFF-17D3-F6E7-6DAECC02283B}"/>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76F65D32-FEDF-C26D-8046-AC351F9F527F}"/>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24860435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23</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266057891"/>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DocumentControlDB</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2017</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EECEvaluationDB</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Eltezam</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EMSDB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ETECSharedAudit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ETECSharedServices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ExamResultFilesDB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FBADatabase</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FPArchiving</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ICA1</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Images_Archive_system_Qiyas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InternationalAccreditationDB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err="1">
                          <a:effectLst/>
                          <a:latin typeface="Arial" panose="020B0604020202020204" pitchFamily="34" charset="0"/>
                        </a:rPr>
                        <a:t>InventionAward</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E7104151-862B-0485-13CB-2CCB93A398A2}"/>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4F415C14-8759-1B6D-E8F6-1298BEBF221F}"/>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4CEA1902-1787-5D39-A087-ED41DF875A86}"/>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88078600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24</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2998302487"/>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Managed Metadata Service_28af0ac78e5740ceb794a61ed804c183</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2017</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Managed Metadata Service_d093073cc4eb4fbbb1710e11739e4fac</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MARQABDB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MeetingDB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MMS_Eportal</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NintexForms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NintexFormsDB2019</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NintexWorkflowDB_81</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NintexWorkflowDB2019</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NintexWorkflowDB2020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NW2013DB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PerformancePoint Service Application_1c1dcc82b4c040fda3d83533a738c6b6</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a:effectLst/>
                          <a:latin typeface="Arial" panose="020B0604020202020204" pitchFamily="34" charset="0"/>
                        </a:rPr>
                        <a:t>PerformancePoint Service Application_83b7ac5ea51b462abc0451a2e07d6cf0</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12C44F71-7962-54AB-2FB6-45E86DE61493}"/>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3A4A766E-4EE2-2FB7-1B39-9544828B6760}"/>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41EF40D4-5EC0-D67E-3F27-009654DC15C6}"/>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25084975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25</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3532561927"/>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PPM2</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2017</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Profile DB</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Profile DB_USP_EEC_Sevices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Profile NCAAA 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ProfileDB_Eportal</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PYD</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QeyasResult_Temp</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QuestionnaireReadinessUniversities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Readiness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Reporting_test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ReportServer</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ReportServerTempDB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err="1">
                          <a:effectLst/>
                          <a:latin typeface="Arial" panose="020B0604020202020204" pitchFamily="34" charset="0"/>
                        </a:rPr>
                        <a:t>ResilienceScale</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395E28C6-35DD-CB87-8A69-E42471EC36E4}"/>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DDB8512D-F3BD-A6B2-8EF9-CE7A43E63DEF}"/>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91A75E23-D93A-55FE-8FE2-266B5FA1001C}"/>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295878030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26</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492704344"/>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RewardR2</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2017</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RMSUsers</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Satisfaction</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SbGatewayDatabaseQiyas2018</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SbManagementDBQiyas2018</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SBMessageContainer01</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Scales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Search_Service_Application_AnalyticsReportingStoreDB_fdbfcfb2efd54b8192d8bc38baaf4fef</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Search_Service_Application_AnalyticsReportingStoreDB_fe99686abab7487bbbafc25379776f98</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Search_Service_Application_CrawlStoreDB_2267e06dd5bb4805a4bab7864374f33a</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Search_Service_Application_CrawlStoreDB_a58158d66a2d449986ad9c0dacfed744</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Search_Service_Application_DB_5c29d9f573644c528fe06ff7a4bdeed0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a:effectLst/>
                          <a:latin typeface="Arial" panose="020B0604020202020204" pitchFamily="34" charset="0"/>
                        </a:rPr>
                        <a:t>Search_Service_Application_DB_ea16c2aeee6a49d4b49b2347eeda754c</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16BF1A6D-4C99-083A-9BBB-65DFBF1855FA}"/>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442D8FBE-C7F9-8872-DA5E-96720305FEC3}"/>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3763A33C-BD99-C421-605A-D90521173041}"/>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4338963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27</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2628137401"/>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dirty="0">
                          <a:effectLst/>
                          <a:latin typeface="Arial" panose="020B0604020202020204" pitchFamily="34" charset="0"/>
                        </a:rPr>
                        <a:t>Search_Service_Application_EEC_AnalyticsReportingStoreDB_a4dd2ca563f44ad2955ad52901c9914b</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2017</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dirty="0">
                          <a:effectLst/>
                          <a:latin typeface="Arial" panose="020B0604020202020204" pitchFamily="34" charset="0"/>
                        </a:rPr>
                        <a:t>Search_Service_Application_EEC_CrawlStoreDB_a6d424c819334624809b74400f0697a8</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dirty="0">
                          <a:effectLst/>
                          <a:latin typeface="Arial" panose="020B0604020202020204" pitchFamily="34" charset="0"/>
                        </a:rPr>
                        <a:t>Search_Service_Application_EEC_DB_2191ebd5fdbe459f8a76b526ea82172e</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dirty="0">
                          <a:effectLst/>
                          <a:latin typeface="Arial" panose="020B0604020202020204" pitchFamily="34" charset="0"/>
                        </a:rPr>
                        <a:t>Search_Service_Application_EEC_LinksStoreDB_5d4011cc166a4688b1f829ebe4998405</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dirty="0">
                          <a:effectLst/>
                          <a:latin typeface="Arial" panose="020B0604020202020204" pitchFamily="34" charset="0"/>
                        </a:rPr>
                        <a:t>Search_Service_Application_LinksStoreDB_833eddc4030b43d09571cb81503c21fa</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dirty="0">
                          <a:effectLst/>
                          <a:latin typeface="Arial" panose="020B0604020202020204" pitchFamily="34" charset="0"/>
                        </a:rPr>
                        <a:t>Search_Service_Application_LinksStoreDB_bc20b65e87ed4be198bb2c38512c58bb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dirty="0">
                          <a:effectLst/>
                          <a:latin typeface="Arial" panose="020B0604020202020204" pitchFamily="34" charset="0"/>
                        </a:rPr>
                        <a:t>Secure_Store_Service_DB_6ba1d20c38ab40849dcc9d3ba208456c</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dirty="0">
                          <a:effectLst/>
                          <a:latin typeface="Arial" panose="020B0604020202020204" pitchFamily="34" charset="0"/>
                        </a:rPr>
                        <a:t>Secure_Store_Service_DB_d2fec85ea1634c6b8bd154e65632fb0b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dirty="0" err="1">
                          <a:effectLst/>
                          <a:latin typeface="Arial" panose="020B0604020202020204" pitchFamily="34" charset="0"/>
                        </a:rPr>
                        <a:t>SessionStateDatabaseNew</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dirty="0">
                          <a:effectLst/>
                          <a:latin typeface="Arial" panose="020B0604020202020204" pitchFamily="34" charset="0"/>
                        </a:rPr>
                        <a:t>SharePoint_AdminContent_2bbfbbfd-5fd0-41fc-8158-27e1d59d6854</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dirty="0">
                          <a:effectLst/>
                          <a:latin typeface="Arial" panose="020B0604020202020204" pitchFamily="34" charset="0"/>
                        </a:rPr>
                        <a:t>SharePoint_AdminContent_edb6bdb9-eaff-4aa7-8840-5e20965ef675</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SharePoint_Config_MyPortal2020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err="1">
                          <a:effectLst/>
                          <a:latin typeface="Arial" panose="020B0604020202020204" pitchFamily="34" charset="0"/>
                        </a:rPr>
                        <a:t>SharePoint_Config_Qiyas</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F209D67F-14C7-D7B5-5F51-CF18058CE7DF}"/>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78A9B1BC-A7F7-9117-FA40-4A47970889E4}"/>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753868E4-0FD3-810D-3687-E3CFF78C5CF9}"/>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42739077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28</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346017072"/>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Social DB</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2017</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fr-FR" sz="1050" b="1" i="0" u="none" strike="noStrike">
                          <a:effectLst/>
                          <a:latin typeface="Arial" panose="020B0604020202020204" pitchFamily="34" charset="0"/>
                        </a:rPr>
                        <a:t>Social DB_USP_EEC_Sevices</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Social NCAAA 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SocialDB_Eportal</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SpecialityDocumentDB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StateService_9132ab1c32f24fb7bbf088e9d508ee89</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StateService_c754922b6c974acb83d9a82590adb49c</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Sync 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fr-FR" sz="1050" b="1" i="0" u="none" strike="noStrike">
                          <a:effectLst/>
                          <a:latin typeface="Arial" panose="020B0604020202020204" pitchFamily="34" charset="0"/>
                        </a:rPr>
                        <a:t>Sync DB_USP_EEC_Sevices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Sync NCAAA 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Sync_8f9163c7-71cb-4b37-a712-ba33a7ec02b3 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TaskTrackingDB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a:effectLst/>
                          <a:latin typeface="Arial" panose="020B0604020202020204" pitchFamily="34" charset="0"/>
                        </a:rPr>
                        <a:t>TBS_BAWSE</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563C76CA-C206-BE68-449F-6C84D5556072}"/>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C002F2DC-E506-08BD-0BD9-12F8C687AEC2}"/>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AE438725-A1A8-645F-B47A-EA5D39109E29}"/>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7883589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29</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3406039687"/>
              </p:ext>
            </p:extLst>
          </p:nvPr>
        </p:nvGraphicFramePr>
        <p:xfrm>
          <a:off x="717176" y="977148"/>
          <a:ext cx="10721788" cy="515676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00" b="1" i="0" u="none" strike="noStrike">
                          <a:effectLst/>
                          <a:latin typeface="Arial" panose="020B0604020202020204" pitchFamily="34" charset="0"/>
                        </a:rPr>
                        <a:t>TheUnitOfEnternalAudit</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2017</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00" b="1" i="0" u="none" strike="noStrike">
                          <a:effectLst/>
                          <a:latin typeface="Arial" panose="020B0604020202020204" pitchFamily="34" charset="0"/>
                        </a:rPr>
                        <a:t>Tornado</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00" b="1" i="0" u="none" strike="noStrike">
                          <a:effectLst/>
                          <a:latin typeface="Arial" panose="020B0604020202020204" pitchFamily="34" charset="0"/>
                        </a:rPr>
                        <a:t>TornadoCooperators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00" b="1" i="0" u="none" strike="noStrike">
                          <a:effectLst/>
                          <a:latin typeface="Arial" panose="020B0604020202020204" pitchFamily="34" charset="0"/>
                        </a:rPr>
                        <a:t>TornadoEEC</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00" b="1" i="0" u="none" strike="noStrike">
                          <a:effectLst/>
                          <a:latin typeface="Arial" panose="020B0604020202020204" pitchFamily="34" charset="0"/>
                        </a:rPr>
                        <a:t>TranslationService_fde7d10c19d34574a96e54cecb92eb09</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00" b="1" i="0" u="none" strike="noStrike">
                          <a:effectLst/>
                          <a:latin typeface="Arial" panose="020B0604020202020204" pitchFamily="34" charset="0"/>
                        </a:rPr>
                        <a:t>UniversityAccreditationDB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00" b="1" i="0" u="none" strike="noStrike">
                          <a:effectLst/>
                          <a:latin typeface="Arial" panose="020B0604020202020204" pitchFamily="34" charset="0"/>
                        </a:rPr>
                        <a:t>User Profile Service Application_ProfileDB_bc76b2eb126742c8b020a40826896d4c</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00" b="1" i="0" u="none" strike="noStrike">
                          <a:effectLst/>
                          <a:latin typeface="Arial" panose="020B0604020202020204" pitchFamily="34" charset="0"/>
                        </a:rPr>
                        <a:t>User Profile Service Application_SocialDB_9d6f22fbd3d0430c8b7a20e3a33dd5b6</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00" b="1" i="0" u="none" strike="noStrike">
                          <a:effectLst/>
                          <a:latin typeface="Arial" panose="020B0604020202020204" pitchFamily="34" charset="0"/>
                        </a:rPr>
                        <a:t>User Profile Service Application_SyncDB_eb3acd9448924e2ab68fdcf35024094e</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00" b="1" i="0" u="none" strike="noStrike">
                          <a:effectLst/>
                          <a:latin typeface="Arial" panose="020B0604020202020204" pitchFamily="34" charset="0"/>
                        </a:rPr>
                        <a:t>WFInstanceManagementDBQiyas2018</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00" b="1" i="0" u="none" strike="noStrike">
                          <a:effectLst/>
                          <a:latin typeface="Arial" panose="020B0604020202020204" pitchFamily="34" charset="0"/>
                        </a:rPr>
                        <a:t>WFManagementDBQiyas2018</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00" b="1" i="0" u="none" strike="noStrike">
                          <a:effectLst/>
                          <a:latin typeface="Arial" panose="020B0604020202020204" pitchFamily="34" charset="0"/>
                        </a:rPr>
                        <a:t>WFResourceManagementDBQiyas2018</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00" b="1" i="0" u="none" strike="noStrike" dirty="0">
                          <a:effectLst/>
                          <a:latin typeface="Arial" panose="020B0604020202020204" pitchFamily="34" charset="0"/>
                        </a:rPr>
                        <a:t>WordAutomationServices_3af5f3228603496281b7fc32a78a9670</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3077BE0C-1D77-63D1-1088-ED9ED1AECBB9}"/>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DD575D74-1721-F3D7-334E-5B461A63F691}"/>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C722952B-E5D2-D973-7C6F-ECA03CACAED0}"/>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71261285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30</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212382828"/>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WordAutomationServices_4656d144f69945f296de1bff0232803d</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2017</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WSS_Content_11e932e4135e4f07b3a5bb2486b24162</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WSS_Content_27500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WSS_Content_2b3bedbd-d565-4136-9d23-ec5e505738a5</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WSS_Content_2ced5811ed0645f99d4bfa6fb4586102</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WSS_Content_40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WSS_Content_81</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WSS_Content_9090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WSS_Content_9e1058136b6e4ab587f3180ce1b6a1a1</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WSS_Content_EEC</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WSS_Content_EPortal</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WSS_Content_MyPortal</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err="1">
                          <a:effectLst/>
                          <a:latin typeface="Arial" panose="020B0604020202020204" pitchFamily="34" charset="0"/>
                        </a:rPr>
                        <a:t>WSS_Content_QiyasPortal</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3B820554-98CC-C7A1-F828-14E660D3B234}"/>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CA64897F-8F16-48E1-768F-67F3737D9427}"/>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6DAB54EA-DE80-16BE-A678-7280B1D5095F}"/>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44108135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31</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1555767671"/>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WSS_Logging</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2017</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WSS_Logging_5fe859d81cb3432dad2ae0dab22f5c30</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WSS_UsageApplication</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WSS_UsageApplication_de438f11c15f43e7a07720a957a6718b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YSL</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2017</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AppMng_Service_DB_c4efb5870dda4938b3c5651620f1558f</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AX_SharePoint_Config</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AX_SharePoint_WSS_Content</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AXCONFIG</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BackupLocDb_a881a0ba-e5b6-45ab-a552-bab353ee689d</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BackupLocDb_d4bde9bb-bfc5-4103-9230-57e818873717</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Bdc_Service_DB_769639c8c2fa4604b65c0b441e015bb9</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a:effectLst/>
                          <a:latin typeface="Arial" panose="020B0604020202020204" pitchFamily="34" charset="0"/>
                        </a:rPr>
                        <a:t>Blue</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4B979C67-6B77-A982-4654-4BA7A823F64B}"/>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F4A534DB-B16C-1A96-3375-C39B18327199}"/>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B65D0D4C-3422-547B-DC2F-830A2D2D8A6A}"/>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58574212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32</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3236337317"/>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50" b="1" i="0" u="none" strike="noStrike">
                          <a:effectLst/>
                          <a:latin typeface="Arial" panose="020B0604020202020204" pitchFamily="34" charset="0"/>
                        </a:rPr>
                        <a:t>Blue8</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2014</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50" b="1" i="0" u="none" strike="noStrike">
                          <a:effectLst/>
                          <a:latin typeface="Arial" panose="020B0604020202020204" pitchFamily="34" charset="0"/>
                        </a:rPr>
                        <a:t>BlueTest</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50" b="1" i="0" u="none" strike="noStrike">
                          <a:effectLst/>
                          <a:latin typeface="Arial" panose="020B0604020202020204" pitchFamily="34" charset="0"/>
                        </a:rPr>
                        <a:t>BPI</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50" b="1" i="0" u="none" strike="noStrike">
                          <a:effectLst/>
                          <a:latin typeface="Arial" panose="020B0604020202020204" pitchFamily="34" charset="0"/>
                        </a:rPr>
                        <a:t>Managed Metadata Service_b77736a0441640928655c12ce194048c</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50" b="1" i="0" u="none" strike="noStrike">
                          <a:effectLst/>
                          <a:latin typeface="Arial" panose="020B0604020202020204" pitchFamily="34" charset="0"/>
                        </a:rPr>
                        <a:t>ManagementReporter16</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50" b="1" i="0" u="none" strike="noStrike">
                          <a:effectLst/>
                          <a:latin typeface="Arial" panose="020B0604020202020204" pitchFamily="34" charset="0"/>
                        </a:rPr>
                        <a:t>ManagementReporterDM16</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50" b="1" i="0" u="none" strike="noStrike">
                          <a:effectLst/>
                          <a:latin typeface="Arial" panose="020B0604020202020204" pitchFamily="34" charset="0"/>
                        </a:rPr>
                        <a:t>PerformancePoint Service Application_0cf120d9aca34766b17c02b29ba99a10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50" b="1" i="0" u="none" strike="noStrike">
                          <a:effectLst/>
                          <a:latin typeface="Arial" panose="020B0604020202020204" pitchFamily="34" charset="0"/>
                        </a:rPr>
                        <a:t>Qiyas_AX2012R3_DB_LIVE</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en-US" sz="1050" b="1" i="0" u="none" strike="noStrike">
                          <a:effectLst/>
                          <a:latin typeface="Arial" panose="020B0604020202020204" pitchFamily="34" charset="0"/>
                        </a:rPr>
                        <a:t>Qiyas_AX2012R3_DB_LIVE_model</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en-US" sz="1050" b="1" i="0" u="none" strike="noStrike">
                          <a:effectLst/>
                          <a:latin typeface="Arial" panose="020B0604020202020204" pitchFamily="34" charset="0"/>
                        </a:rPr>
                        <a:t>QIYAS_AX2012R3_DB_LIVEBaseline</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en-US" sz="1050" b="1" i="0" u="none" strike="noStrike">
                          <a:effectLst/>
                          <a:latin typeface="Arial" panose="020B0604020202020204" pitchFamily="34" charset="0"/>
                        </a:rPr>
                        <a:t>ReportServer</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50" b="1" i="0" u="none" strike="noStrike">
                          <a:effectLst/>
                          <a:latin typeface="Arial" panose="020B0604020202020204" pitchFamily="34" charset="0"/>
                        </a:rPr>
                        <a:t>ReportServerTempDB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50" b="1" i="0" u="none" strike="noStrike" dirty="0">
                          <a:effectLst/>
                          <a:latin typeface="Arial" panose="020B0604020202020204" pitchFamily="34" charset="0"/>
                        </a:rPr>
                        <a:t>Search_Service_Application_AnalyticsReportingStoreDB_38e846d6ea6a47b9a111414d15ce279e</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64E1B7F4-7695-65DC-A18D-22E04FFEBA1B}"/>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2D334DC4-BA94-8E09-0F95-BCED38E24A9C}"/>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F51599C6-DD13-4B27-5310-DA7B9FB3E9A9}"/>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64375799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33</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3804865610"/>
              </p:ext>
            </p:extLst>
          </p:nvPr>
        </p:nvGraphicFramePr>
        <p:xfrm>
          <a:off x="717176" y="977148"/>
          <a:ext cx="10721788" cy="506071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150">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61150">
                <a:tc>
                  <a:txBody>
                    <a:bodyPr/>
                    <a:lstStyle/>
                    <a:p>
                      <a:pPr algn="ctr" rtl="0" fontAlgn="b"/>
                      <a:r>
                        <a:rPr lang="en-US" sz="1000" b="1" i="0" u="none" strike="noStrike">
                          <a:effectLst/>
                          <a:latin typeface="Arial" panose="020B0604020202020204" pitchFamily="34" charset="0"/>
                        </a:rPr>
                        <a:t>Search_Service_Application_CrawlStoreDB_7460eeae3bf348b4a5f4b195b405c6a2</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2014</a:t>
                      </a:r>
                      <a:endParaRPr lang="en-US" sz="1200" dirty="0"/>
                    </a:p>
                  </a:txBody>
                  <a:tcPr anchor="ctr"/>
                </a:tc>
                <a:tc>
                  <a:txBody>
                    <a:bodyPr/>
                    <a:lstStyle/>
                    <a:p>
                      <a:pPr algn="ctr" rtl="0" fontAlgn="b"/>
                      <a:r>
                        <a:rPr lang="en-US" sz="1200" b="0" i="0" u="none" strike="noStrike" dirty="0">
                          <a:effectLst/>
                          <a:latin typeface="Arial" panose="020B0604020202020204" pitchFamily="34" charset="0"/>
                        </a:rPr>
                        <a:t>Daily Incremental backup, Weekly Full backup</a:t>
                      </a:r>
                    </a:p>
                  </a:txBody>
                  <a:tcPr marL="0" marR="0" marT="0" marB="0" anchor="ct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lang="en-US" sz="1200" dirty="0"/>
                    </a:p>
                  </a:txBody>
                  <a:tcPr anchor="ctr">
                    <a:solidFill>
                      <a:srgbClr val="00B050"/>
                    </a:solidFill>
                  </a:tcPr>
                </a:tc>
                <a:extLst>
                  <a:ext uri="{0D108BD9-81ED-4DB2-BD59-A6C34878D82A}">
                    <a16:rowId xmlns:a16="http://schemas.microsoft.com/office/drawing/2014/main" val="169103518"/>
                  </a:ext>
                </a:extLst>
              </a:tr>
              <a:tr h="361150">
                <a:tc>
                  <a:txBody>
                    <a:bodyPr/>
                    <a:lstStyle/>
                    <a:p>
                      <a:pPr algn="ctr" rtl="0" fontAlgn="b"/>
                      <a:r>
                        <a:rPr lang="en-US" sz="1000" b="1" i="0" u="none" strike="noStrike">
                          <a:effectLst/>
                          <a:latin typeface="Arial" panose="020B0604020202020204" pitchFamily="34" charset="0"/>
                        </a:rPr>
                        <a:t>Search_Service_Application_DB_03b7c45da03146a2bb795982e225168f</a:t>
                      </a: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61150">
                <a:tc>
                  <a:txBody>
                    <a:bodyPr/>
                    <a:lstStyle/>
                    <a:p>
                      <a:pPr algn="ctr" rtl="0" fontAlgn="b"/>
                      <a:r>
                        <a:rPr lang="en-US" sz="1000" b="1" i="0" u="none" strike="noStrike">
                          <a:effectLst/>
                          <a:latin typeface="Arial" panose="020B0604020202020204" pitchFamily="34" charset="0"/>
                        </a:rPr>
                        <a:t>Search_Service_Application_LinksStoreDB_9885dd24310c4ebb8e6d6a7d5718d1ff</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61150">
                <a:tc>
                  <a:txBody>
                    <a:bodyPr/>
                    <a:lstStyle/>
                    <a:p>
                      <a:pPr algn="ctr" rtl="0" fontAlgn="b"/>
                      <a:r>
                        <a:rPr lang="en-US" sz="1000" b="1" i="0" u="none" strike="noStrike">
                          <a:effectLst/>
                          <a:latin typeface="Arial" panose="020B0604020202020204" pitchFamily="34" charset="0"/>
                        </a:rPr>
                        <a:t>Secure_Store_Service_DB_39352e8f5c3441539d20bcd3b93cf056</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61150">
                <a:tc>
                  <a:txBody>
                    <a:bodyPr/>
                    <a:lstStyle/>
                    <a:p>
                      <a:pPr algn="ctr" rtl="0" fontAlgn="b"/>
                      <a:r>
                        <a:rPr lang="en-US" sz="1000" b="1" i="0" u="none" strike="noStrike">
                          <a:effectLst/>
                          <a:latin typeface="Arial" panose="020B0604020202020204" pitchFamily="34" charset="0"/>
                        </a:rPr>
                        <a:t>SharePoint_AdminContent_a86a46e6-46d3-4d09-9687-cadf3bc48b2b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61150">
                <a:tc>
                  <a:txBody>
                    <a:bodyPr/>
                    <a:lstStyle/>
                    <a:p>
                      <a:pPr algn="ctr" rtl="0" fontAlgn="b"/>
                      <a:r>
                        <a:rPr lang="en-US" sz="1000" b="1" i="0" u="none" strike="noStrike">
                          <a:effectLst/>
                          <a:latin typeface="Arial" panose="020B0604020202020204" pitchFamily="34" charset="0"/>
                        </a:rPr>
                        <a:t>SolvaitSSS</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61150">
                <a:tc>
                  <a:txBody>
                    <a:bodyPr/>
                    <a:lstStyle/>
                    <a:p>
                      <a:pPr algn="ctr" rtl="0" fontAlgn="b"/>
                      <a:r>
                        <a:rPr lang="en-US" sz="1000" b="1" i="0" u="none" strike="noStrike">
                          <a:effectLst/>
                          <a:latin typeface="Arial" panose="020B0604020202020204" pitchFamily="34" charset="0"/>
                        </a:rPr>
                        <a:t>StateService_9a0f5840dfc44169b9af003dea39c551</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61150">
                <a:tc>
                  <a:txBody>
                    <a:bodyPr/>
                    <a:lstStyle/>
                    <a:p>
                      <a:pPr algn="ctr" rtl="0" fontAlgn="b"/>
                      <a:r>
                        <a:rPr lang="en-US" sz="1000" b="1" i="0" u="none" strike="noStrike">
                          <a:effectLst/>
                          <a:latin typeface="Arial" panose="020B0604020202020204" pitchFamily="34" charset="0"/>
                        </a:rPr>
                        <a:t>TranslationService_312442f51ee645b499e70f11767a1507</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61150">
                <a:tc>
                  <a:txBody>
                    <a:bodyPr/>
                    <a:lstStyle/>
                    <a:p>
                      <a:pPr algn="ctr" rtl="0" fontAlgn="b"/>
                      <a:r>
                        <a:rPr lang="it-IT" sz="1000" b="1" i="0" u="none" strike="noStrike">
                          <a:effectLst/>
                          <a:latin typeface="Arial" panose="020B0604020202020204" pitchFamily="34" charset="0"/>
                        </a:rPr>
                        <a:t>User Profile Service Application_ProfileDB_3827cb967989478180a466e5e83e3e60</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61150">
                <a:tc>
                  <a:txBody>
                    <a:bodyPr/>
                    <a:lstStyle/>
                    <a:p>
                      <a:pPr algn="ctr" rtl="0" fontAlgn="b"/>
                      <a:r>
                        <a:rPr lang="it-IT" sz="1000" b="1" i="0" u="none" strike="noStrike">
                          <a:effectLst/>
                          <a:latin typeface="Arial" panose="020B0604020202020204" pitchFamily="34" charset="0"/>
                        </a:rPr>
                        <a:t>User Profile Service Application_SocialDB_1e634c2233af4d35adf1a3e860785576</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61150">
                <a:tc>
                  <a:txBody>
                    <a:bodyPr/>
                    <a:lstStyle/>
                    <a:p>
                      <a:pPr algn="ctr" rtl="0" fontAlgn="b"/>
                      <a:r>
                        <a:rPr lang="fr-FR" sz="1000" b="1" i="0" u="none" strike="noStrike">
                          <a:effectLst/>
                          <a:latin typeface="Arial" panose="020B0604020202020204" pitchFamily="34" charset="0"/>
                        </a:rPr>
                        <a:t>User Profile Service Application_SyncDB_360cca03ae7f49959315dceeec29686b</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61150">
                <a:tc>
                  <a:txBody>
                    <a:bodyPr/>
                    <a:lstStyle/>
                    <a:p>
                      <a:pPr algn="ctr" rtl="0" fontAlgn="b"/>
                      <a:r>
                        <a:rPr lang="en-US" sz="1000" b="1" i="0" u="none" strike="noStrike">
                          <a:effectLst/>
                          <a:latin typeface="Arial" panose="020B0604020202020204" pitchFamily="34" charset="0"/>
                        </a:rPr>
                        <a:t>WordAutomationServices_45beb35ffbae463b96469cec2ddf47cf</a:t>
                      </a:r>
                    </a:p>
                  </a:txBody>
                  <a:tcPr marL="0" marR="0" marT="0" marB="0" anchor="ctr"/>
                </a:tc>
                <a:tc>
                  <a:txBody>
                    <a:bodyPr/>
                    <a:lstStyle/>
                    <a:p>
                      <a:pPr algn="ctr"/>
                      <a:r>
                        <a:rPr lang="en-US" sz="1200"/>
                        <a:t>MS SQL SERVER</a:t>
                      </a:r>
                      <a:endParaRPr lang="en-US" sz="1200" dirty="0"/>
                    </a:p>
                  </a:txBody>
                  <a:tcPr anchor="ctr"/>
                </a:tc>
                <a:tc>
                  <a:txBody>
                    <a:bodyPr/>
                    <a:lstStyle/>
                    <a:p>
                      <a:pPr algn="ctr"/>
                      <a:r>
                        <a:rPr kumimoji="0" lang="en-US" sz="1200" b="0" i="0" u="none" strike="noStrike" kern="1200" cap="none" spc="0" normalizeH="0" baseline="0" noProof="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61150">
                <a:tc>
                  <a:txBody>
                    <a:bodyPr/>
                    <a:lstStyle/>
                    <a:p>
                      <a:pPr algn="ctr" rtl="0" fontAlgn="b"/>
                      <a:r>
                        <a:rPr lang="en-US" sz="1000" b="1" i="0" u="none" strike="noStrike" dirty="0" err="1">
                          <a:effectLst/>
                          <a:latin typeface="Arial" panose="020B0604020202020204" pitchFamily="34" charset="0"/>
                        </a:rPr>
                        <a:t>WSS_Logging</a:t>
                      </a:r>
                      <a:endParaRPr lang="en-US" sz="1000" b="1" i="0" u="none" strike="noStrike" dirty="0">
                        <a:effectLst/>
                        <a:latin typeface="Arial" panose="020B0604020202020204" pitchFamily="34" charset="0"/>
                      </a:endParaRPr>
                    </a:p>
                  </a:txBody>
                  <a:tcPr marL="0" marR="0" marT="0" marB="0" anchor="ctr"/>
                </a:tc>
                <a:tc>
                  <a:txBody>
                    <a:bodyPr/>
                    <a:lstStyle/>
                    <a:p>
                      <a:pPr algn="ctr"/>
                      <a:r>
                        <a:rPr lang="en-US" sz="1200" dirty="0"/>
                        <a:t>MS SQL SERVER</a:t>
                      </a:r>
                    </a:p>
                  </a:txBody>
                  <a:tcPr anchor="ctr"/>
                </a:tc>
                <a:tc>
                  <a:txBody>
                    <a:bodyPr/>
                    <a:lstStyle/>
                    <a:p>
                      <a:pPr algn="ctr"/>
                      <a:r>
                        <a:rPr kumimoji="0" lang="en-US" sz="1200" b="0" i="0" u="none" strike="noStrike" kern="1200" cap="none" spc="0" normalizeH="0" baseline="0" noProof="0" dirty="0">
                          <a:ln>
                            <a:noFill/>
                          </a:ln>
                          <a:solidFill>
                            <a:prstClr val="black"/>
                          </a:solidFill>
                          <a:effectLst/>
                          <a:uLnTx/>
                          <a:uFillTx/>
                          <a:latin typeface="Sakkal Majalla"/>
                          <a:ea typeface="+mn-ea"/>
                          <a:cs typeface="Sakkal Majalla"/>
                        </a:rPr>
                        <a:t>2014</a:t>
                      </a:r>
                      <a:endParaRPr lang="en-US" sz="1200" dirty="0"/>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لا</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bl>
          </a:graphicData>
        </a:graphic>
      </p:graphicFrame>
      <p:grpSp>
        <p:nvGrpSpPr>
          <p:cNvPr id="6" name="Group 5">
            <a:extLst>
              <a:ext uri="{FF2B5EF4-FFF2-40B4-BE49-F238E27FC236}">
                <a16:creationId xmlns:a16="http://schemas.microsoft.com/office/drawing/2014/main" id="{963E2DD0-B0C7-D3FD-104C-6AD867F049AE}"/>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AC1AD38E-43B8-1A79-567B-83A121B46B29}"/>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128001D1-7689-2073-8B3B-A1167DD76186}"/>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260604374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 علائقية)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34</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42626016"/>
              </p:ext>
            </p:extLst>
          </p:nvPr>
        </p:nvGraphicFramePr>
        <p:xfrm>
          <a:off x="717176" y="977148"/>
          <a:ext cx="10721788" cy="483666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298">
                <a:tc>
                  <a:txBody>
                    <a:bodyPr/>
                    <a:lstStyle/>
                    <a:p>
                      <a:pPr algn="ctr"/>
                      <a:r>
                        <a:rPr lang="ar-SA" dirty="0"/>
                        <a:t>اسم الخزينة</a:t>
                      </a:r>
                      <a:endParaRPr lang="en-US" dirty="0"/>
                    </a:p>
                  </a:txBody>
                  <a:tcPr anchor="ctr"/>
                </a:tc>
                <a:tc>
                  <a:txBody>
                    <a:bodyPr/>
                    <a:lstStyle/>
                    <a:p>
                      <a:pPr algn="ctr"/>
                      <a:r>
                        <a:rPr lang="ar-SA" dirty="0"/>
                        <a:t>نوع الخزينة</a:t>
                      </a:r>
                      <a:endParaRPr lang="en-US" dirty="0"/>
                    </a:p>
                  </a:txBody>
                  <a:tcPr anchor="ctr"/>
                </a:tc>
                <a:tc>
                  <a:txBody>
                    <a:bodyPr/>
                    <a:lstStyle/>
                    <a:p>
                      <a:pPr algn="ctr"/>
                      <a:r>
                        <a:rPr lang="ar-SA" dirty="0"/>
                        <a:t>الاصدار</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19350">
                <a:tc>
                  <a:txBody>
                    <a:bodyPr/>
                    <a:lstStyle/>
                    <a:p>
                      <a:pPr algn="ctr" rtl="0" fontAlgn="b"/>
                      <a:r>
                        <a:rPr lang="en-US" sz="1050" b="1" i="0" u="none" strike="noStrike">
                          <a:effectLst/>
                          <a:latin typeface="Arial" panose="020B0604020202020204" pitchFamily="34" charset="0"/>
                        </a:rPr>
                        <a:t>alfresco</a:t>
                      </a:r>
                    </a:p>
                  </a:txBody>
                  <a:tcPr marL="0" marR="0" marT="0" marB="0" anchor="ctr"/>
                </a:tc>
                <a:tc>
                  <a:txBody>
                    <a:bodyPr/>
                    <a:lstStyle/>
                    <a:p>
                      <a:pPr algn="ctr"/>
                      <a:r>
                        <a:rPr lang="en-US" sz="1200" dirty="0" err="1"/>
                        <a:t>MySql</a:t>
                      </a:r>
                      <a:endParaRPr lang="en-US" sz="1200" dirty="0"/>
                    </a:p>
                  </a:txBody>
                  <a:tcPr anchor="ctr"/>
                </a:tc>
                <a:tc>
                  <a:txBody>
                    <a:bodyPr/>
                    <a:lstStyle/>
                    <a:p>
                      <a:pPr algn="ctr" rtl="0" fontAlgn="b"/>
                      <a:r>
                        <a:rPr lang="en-US" sz="1000" b="0" i="0" u="none" strike="noStrike" dirty="0">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marL="0" marR="0" marT="0" marB="0" anchor="ctr">
                    <a:solidFill>
                      <a:srgbClr val="00B050"/>
                    </a:solidFill>
                  </a:tcP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169103518"/>
                  </a:ext>
                </a:extLst>
              </a:tr>
              <a:tr h="319350">
                <a:tc>
                  <a:txBody>
                    <a:bodyPr/>
                    <a:lstStyle/>
                    <a:p>
                      <a:pPr algn="ctr" rtl="0" fontAlgn="b"/>
                      <a:r>
                        <a:rPr lang="en-US" sz="1050" b="1" i="0" u="none" strike="noStrike">
                          <a:effectLst/>
                          <a:latin typeface="Arial" panose="020B0604020202020204" pitchFamily="34" charset="0"/>
                        </a:rPr>
                        <a:t>caseservice</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19350">
                <a:tc>
                  <a:txBody>
                    <a:bodyPr/>
                    <a:lstStyle/>
                    <a:p>
                      <a:pPr algn="ctr" rtl="0" fontAlgn="b"/>
                      <a:r>
                        <a:rPr lang="en-US" sz="1050" b="1" i="0" u="none" strike="noStrike">
                          <a:effectLst/>
                          <a:latin typeface="Arial" panose="020B0604020202020204" pitchFamily="34" charset="0"/>
                        </a:rPr>
                        <a:t>datamanagement</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503226562"/>
                  </a:ext>
                </a:extLst>
              </a:tr>
              <a:tr h="319350">
                <a:tc>
                  <a:txBody>
                    <a:bodyPr/>
                    <a:lstStyle/>
                    <a:p>
                      <a:pPr algn="ctr" rtl="0" fontAlgn="b"/>
                      <a:r>
                        <a:rPr lang="en-US" sz="1050" b="1" i="0" u="none" strike="noStrike">
                          <a:effectLst/>
                          <a:latin typeface="Arial" panose="020B0604020202020204" pitchFamily="34" charset="0"/>
                        </a:rPr>
                        <a:t>etec_feedbackservice</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19350">
                <a:tc>
                  <a:txBody>
                    <a:bodyPr/>
                    <a:lstStyle/>
                    <a:p>
                      <a:pPr algn="ctr" rtl="0" fontAlgn="b"/>
                      <a:r>
                        <a:rPr lang="en-US" sz="1050" b="1" i="0" u="none" strike="noStrike">
                          <a:effectLst/>
                          <a:latin typeface="Arial" panose="020B0604020202020204" pitchFamily="34" charset="0"/>
                        </a:rPr>
                        <a:t>etec_reportingservice</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19350">
                <a:tc>
                  <a:txBody>
                    <a:bodyPr/>
                    <a:lstStyle/>
                    <a:p>
                      <a:pPr algn="ctr" rtl="0" fontAlgn="b"/>
                      <a:r>
                        <a:rPr lang="en-US" sz="1050" b="1" i="0" u="none" strike="noStrike">
                          <a:effectLst/>
                          <a:latin typeface="Arial" panose="020B0604020202020204" pitchFamily="34" charset="0"/>
                        </a:rPr>
                        <a:t>etec_templateservice</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430863950"/>
                  </a:ext>
                </a:extLst>
              </a:tr>
              <a:tr h="319350">
                <a:tc>
                  <a:txBody>
                    <a:bodyPr/>
                    <a:lstStyle/>
                    <a:p>
                      <a:pPr algn="ctr" rtl="0" fontAlgn="b"/>
                      <a:r>
                        <a:rPr lang="en-US" sz="1050" b="1" i="0" u="none" strike="noStrike">
                          <a:effectLst/>
                          <a:latin typeface="Arial" panose="020B0604020202020204" pitchFamily="34" charset="0"/>
                        </a:rPr>
                        <a:t>gateway</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156566796"/>
                  </a:ext>
                </a:extLst>
              </a:tr>
              <a:tr h="319350">
                <a:tc>
                  <a:txBody>
                    <a:bodyPr/>
                    <a:lstStyle/>
                    <a:p>
                      <a:pPr algn="ctr" rtl="0" fontAlgn="b"/>
                      <a:r>
                        <a:rPr lang="en-US" sz="1050" b="1" i="0" u="none" strike="noStrike">
                          <a:effectLst/>
                          <a:latin typeface="Arial" panose="020B0604020202020204" pitchFamily="34" charset="0"/>
                        </a:rPr>
                        <a:t>integrationservice</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03443235"/>
                  </a:ext>
                </a:extLst>
              </a:tr>
              <a:tr h="319350">
                <a:tc>
                  <a:txBody>
                    <a:bodyPr/>
                    <a:lstStyle/>
                    <a:p>
                      <a:pPr algn="ctr" rtl="0" fontAlgn="b"/>
                      <a:r>
                        <a:rPr lang="en-US" sz="1050" b="1" i="0" u="none" strike="noStrike">
                          <a:effectLst/>
                          <a:latin typeface="Arial" panose="020B0604020202020204" pitchFamily="34" charset="0"/>
                        </a:rPr>
                        <a:t>keycloak</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25117088"/>
                  </a:ext>
                </a:extLst>
              </a:tr>
              <a:tr h="319350">
                <a:tc>
                  <a:txBody>
                    <a:bodyPr/>
                    <a:lstStyle/>
                    <a:p>
                      <a:pPr algn="ctr" rtl="0" fontAlgn="b"/>
                      <a:r>
                        <a:rPr lang="en-US" sz="1050" b="1" i="0" u="none" strike="noStrike">
                          <a:effectLst/>
                          <a:latin typeface="Arial" panose="020B0604020202020204" pitchFamily="34" charset="0"/>
                        </a:rPr>
                        <a:t>notification</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92539464"/>
                  </a:ext>
                </a:extLst>
              </a:tr>
              <a:tr h="319350">
                <a:tc>
                  <a:txBody>
                    <a:bodyPr/>
                    <a:lstStyle/>
                    <a:p>
                      <a:pPr algn="ctr" rtl="0" fontAlgn="b"/>
                      <a:r>
                        <a:rPr lang="en-US" sz="1050" b="1" i="0" u="none" strike="noStrike">
                          <a:effectLst/>
                          <a:latin typeface="Arial" panose="020B0604020202020204" pitchFamily="34" charset="0"/>
                        </a:rPr>
                        <a:t>orchestraservice</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091207583"/>
                  </a:ext>
                </a:extLst>
              </a:tr>
              <a:tr h="319350">
                <a:tc>
                  <a:txBody>
                    <a:bodyPr/>
                    <a:lstStyle/>
                    <a:p>
                      <a:pPr algn="ctr" rtl="0" fontAlgn="b"/>
                      <a:r>
                        <a:rPr lang="en-US" sz="1050" b="1" i="0" u="none" strike="noStrike">
                          <a:effectLst/>
                          <a:latin typeface="Arial" panose="020B0604020202020204" pitchFamily="34" charset="0"/>
                        </a:rPr>
                        <a:t>referencedata</a:t>
                      </a: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548218595"/>
                  </a:ext>
                </a:extLst>
              </a:tr>
              <a:tr h="319350">
                <a:tc>
                  <a:txBody>
                    <a:bodyPr/>
                    <a:lstStyle/>
                    <a:p>
                      <a:pPr algn="ctr" rtl="0" fontAlgn="b"/>
                      <a:r>
                        <a:rPr lang="en-US" sz="1050" b="1" i="0" u="none" strike="noStrike" dirty="0" err="1">
                          <a:effectLst/>
                          <a:latin typeface="Arial" panose="020B0604020202020204" pitchFamily="34" charset="0"/>
                        </a:rPr>
                        <a:t>Requestmanagement</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a:t>MySql</a:t>
                      </a:r>
                      <a:endParaRPr lang="en-US" sz="1200" dirty="0"/>
                    </a:p>
                  </a:txBody>
                  <a:tcPr anchor="ctr"/>
                </a:tc>
                <a:tc>
                  <a:txBody>
                    <a:bodyPr/>
                    <a:lstStyle/>
                    <a:p>
                      <a:pPr algn="ctr" rtl="0" fontAlgn="b"/>
                      <a:r>
                        <a:rPr lang="en-US" sz="1000" b="0" i="0" u="none" strike="noStrike">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Sakkal Majalla"/>
                        </a:rPr>
                        <a:t>Daily Incremental backup, Weekly Full backup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endParaRP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821373696"/>
                  </a:ext>
                </a:extLst>
              </a:tr>
              <a:tr h="319350">
                <a:tc>
                  <a:txBody>
                    <a:bodyPr/>
                    <a:lstStyle/>
                    <a:p>
                      <a:pPr algn="ctr" rtl="0" fontAlgn="b"/>
                      <a:r>
                        <a:rPr lang="en-US" sz="1050" b="1" i="0" u="none" strike="noStrike" dirty="0" err="1">
                          <a:effectLst/>
                          <a:latin typeface="Arial" panose="020B0604020202020204" pitchFamily="34" charset="0"/>
                        </a:rPr>
                        <a:t>workflowservice</a:t>
                      </a:r>
                      <a:endParaRPr lang="en-US" sz="1050" b="1" i="0" u="none" strike="noStrike" dirty="0">
                        <a:effectLst/>
                        <a:latin typeface="Arial" panose="020B0604020202020204" pitchFamily="34" charset="0"/>
                      </a:endParaRPr>
                    </a:p>
                  </a:txBody>
                  <a:tcPr marL="0" marR="0" marT="0" marB="0" anchor="ctr"/>
                </a:tc>
                <a:tc>
                  <a:txBody>
                    <a:bodyPr/>
                    <a:lstStyle/>
                    <a:p>
                      <a:pPr algn="ctr"/>
                      <a:r>
                        <a:rPr lang="en-US" sz="1200" dirty="0" err="1"/>
                        <a:t>MySql</a:t>
                      </a:r>
                      <a:endParaRPr lang="en-US" sz="1200" dirty="0"/>
                    </a:p>
                  </a:txBody>
                  <a:tcPr anchor="ctr"/>
                </a:tc>
                <a:tc>
                  <a:txBody>
                    <a:bodyPr/>
                    <a:lstStyle/>
                    <a:p>
                      <a:pPr algn="ctr" rtl="0" fontAlgn="b"/>
                      <a:r>
                        <a:rPr lang="en-US" sz="1000" b="0" i="0" u="none" strike="noStrike" dirty="0">
                          <a:effectLst/>
                          <a:latin typeface="Arial" panose="020B0604020202020204" pitchFamily="34" charset="0"/>
                        </a:rPr>
                        <a:t>5.7.39</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solidFill>
                      <a:srgbClr val="00B050"/>
                    </a:solidFill>
                  </a:tcP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3268762351"/>
                  </a:ext>
                </a:extLst>
              </a:tr>
            </a:tbl>
          </a:graphicData>
        </a:graphic>
      </p:graphicFrame>
      <p:grpSp>
        <p:nvGrpSpPr>
          <p:cNvPr id="6" name="Group 5">
            <a:extLst>
              <a:ext uri="{FF2B5EF4-FFF2-40B4-BE49-F238E27FC236}">
                <a16:creationId xmlns:a16="http://schemas.microsoft.com/office/drawing/2014/main" id="{EF587BF8-000B-1309-17BC-AE025033B0C9}"/>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BA258C26-1171-9F04-CBA0-8EDE32C783B1}"/>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86641332-EB06-93DB-6F85-3247211BFCE7}"/>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55292192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البيانات(قواعد بيانات)</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35</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3337821510"/>
              </p:ext>
            </p:extLst>
          </p:nvPr>
        </p:nvGraphicFramePr>
        <p:xfrm>
          <a:off x="717176" y="977148"/>
          <a:ext cx="10721788" cy="317407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470212">
                  <a:extLst>
                    <a:ext uri="{9D8B030D-6E8A-4147-A177-3AD203B41FA5}">
                      <a16:colId xmlns:a16="http://schemas.microsoft.com/office/drawing/2014/main" val="827222261"/>
                    </a:ext>
                  </a:extLst>
                </a:gridCol>
                <a:gridCol w="842682">
                  <a:extLst>
                    <a:ext uri="{9D8B030D-6E8A-4147-A177-3AD203B41FA5}">
                      <a16:colId xmlns:a16="http://schemas.microsoft.com/office/drawing/2014/main" val="4102752288"/>
                    </a:ext>
                  </a:extLst>
                </a:gridCol>
                <a:gridCol w="3290047">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298">
                <a:tc>
                  <a:txBody>
                    <a:bodyPr/>
                    <a:lstStyle/>
                    <a:p>
                      <a:pPr algn="ctr" rtl="1"/>
                      <a:r>
                        <a:rPr lang="ar-SA" dirty="0"/>
                        <a:t>اسم الخزينة</a:t>
                      </a:r>
                      <a:endParaRPr lang="en-US" dirty="0"/>
                    </a:p>
                  </a:txBody>
                  <a:tcPr anchor="ctr"/>
                </a:tc>
                <a:tc>
                  <a:txBody>
                    <a:bodyPr/>
                    <a:lstStyle/>
                    <a:p>
                      <a:pPr algn="ctr" rtl="1"/>
                      <a:r>
                        <a:rPr lang="ar-SA" dirty="0"/>
                        <a:t>نوع الخزينة</a:t>
                      </a:r>
                      <a:endParaRPr lang="en-US" dirty="0"/>
                    </a:p>
                  </a:txBody>
                  <a:tcPr anchor="ctr"/>
                </a:tc>
                <a:tc>
                  <a:txBody>
                    <a:bodyPr/>
                    <a:lstStyle/>
                    <a:p>
                      <a:pPr algn="ctr" rtl="1"/>
                      <a:r>
                        <a:rPr lang="ar-SA" dirty="0"/>
                        <a:t>الاصدار</a:t>
                      </a:r>
                      <a:endParaRPr lang="en-US" dirty="0"/>
                    </a:p>
                  </a:txBody>
                  <a:tcPr anchor="ctr"/>
                </a:tc>
                <a:tc>
                  <a:txBody>
                    <a:bodyPr/>
                    <a:lstStyle/>
                    <a:p>
                      <a:pPr algn="ctr" rtl="1"/>
                      <a:r>
                        <a:rPr lang="ar-SA" dirty="0"/>
                        <a:t>طريقة النسخ الاحتياطي</a:t>
                      </a:r>
                      <a:endParaRPr lang="en-US" dirty="0"/>
                    </a:p>
                  </a:txBody>
                  <a:tcPr/>
                </a:tc>
                <a:tc>
                  <a:txBody>
                    <a:bodyPr/>
                    <a:lstStyle/>
                    <a:p>
                      <a:pPr algn="ctr" rtl="1"/>
                      <a:r>
                        <a:rPr lang="ar-SA" dirty="0"/>
                        <a:t>التعافي من الكوارث</a:t>
                      </a:r>
                      <a:endParaRPr lang="en-US" dirty="0"/>
                    </a:p>
                  </a:txBody>
                  <a:tcPr anchor="ctr"/>
                </a:tc>
                <a:extLst>
                  <a:ext uri="{0D108BD9-81ED-4DB2-BD59-A6C34878D82A}">
                    <a16:rowId xmlns:a16="http://schemas.microsoft.com/office/drawing/2014/main" val="434338883"/>
                  </a:ext>
                </a:extLst>
              </a:tr>
              <a:tr h="319350">
                <a:tc>
                  <a:txBody>
                    <a:bodyPr/>
                    <a:lstStyle/>
                    <a:p>
                      <a:pPr algn="ctr" rtl="1" fontAlgn="b"/>
                      <a:r>
                        <a:rPr lang="en-US" sz="1050" b="1" i="0" u="none" strike="noStrike" dirty="0" err="1">
                          <a:effectLst/>
                          <a:latin typeface="Arial" panose="020B0604020202020204" pitchFamily="34" charset="0"/>
                        </a:rPr>
                        <a:t>businessLog</a:t>
                      </a:r>
                      <a:endParaRPr lang="en-US" sz="1050" b="1" i="0" u="none" strike="noStrike" dirty="0">
                        <a:effectLst/>
                        <a:latin typeface="Arial" panose="020B0604020202020204" pitchFamily="34" charset="0"/>
                      </a:endParaRPr>
                    </a:p>
                  </a:txBody>
                  <a:tcPr marL="0" marR="0" marT="0" marB="0" anchor="ctr"/>
                </a:tc>
                <a:tc>
                  <a:txBody>
                    <a:bodyPr/>
                    <a:lstStyle/>
                    <a:p>
                      <a:pPr algn="ctr" rtl="1"/>
                      <a:r>
                        <a:rPr lang="ar-SA" sz="1200" dirty="0"/>
                        <a:t>(غير علائقي)</a:t>
                      </a:r>
                      <a:r>
                        <a:rPr lang="en-US" sz="1200" dirty="0" err="1"/>
                        <a:t>mongoDB</a:t>
                      </a:r>
                      <a:endParaRPr lang="en-US" sz="1200" dirty="0"/>
                    </a:p>
                  </a:txBody>
                  <a:tcPr anchor="ctr"/>
                </a:tc>
                <a:tc>
                  <a:txBody>
                    <a:bodyPr/>
                    <a:lstStyle/>
                    <a:p>
                      <a:pPr algn="ctr" rtl="1" fontAlgn="b"/>
                      <a:r>
                        <a:rPr lang="en-US" sz="1000" b="0" i="0" u="none" strike="noStrike" dirty="0">
                          <a:effectLst/>
                          <a:latin typeface="Arial" panose="020B0604020202020204" pitchFamily="34" charset="0"/>
                        </a:rPr>
                        <a:t>4.4.13</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marL="0" marR="0" marT="0" marB="0"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37972540"/>
                  </a:ext>
                </a:extLst>
              </a:tr>
              <a:tr h="319350">
                <a:tc>
                  <a:txBody>
                    <a:bodyPr/>
                    <a:lstStyle/>
                    <a:p>
                      <a:pPr algn="ctr" rtl="1" fontAlgn="b"/>
                      <a:r>
                        <a:rPr lang="en-US" sz="1050" b="1" i="0" u="none" strike="noStrike" dirty="0" err="1">
                          <a:effectLst/>
                          <a:latin typeface="Arial" panose="020B0604020202020204" pitchFamily="34" charset="0"/>
                        </a:rPr>
                        <a:t>etec_cockpit</a:t>
                      </a:r>
                      <a:r>
                        <a:rPr lang="en-US" sz="1050" b="1" i="0" u="none" strike="noStrike" dirty="0">
                          <a:effectLst/>
                          <a:latin typeface="Arial" panose="020B0604020202020204" pitchFamily="34" charset="0"/>
                        </a:rPr>
                        <a:t>  </a:t>
                      </a:r>
                    </a:p>
                  </a:txBody>
                  <a:tcPr marL="0" marR="0" marT="0" marB="0" anchor="ctr"/>
                </a:tc>
                <a:tc>
                  <a:txBody>
                    <a:bodyPr/>
                    <a:lstStyle/>
                    <a:p>
                      <a:pPr algn="ctr" rtl="1"/>
                      <a:r>
                        <a:rPr lang="ar-SA" sz="1200" dirty="0"/>
                        <a:t>(غير علائقي)</a:t>
                      </a:r>
                      <a:r>
                        <a:rPr lang="en-US" sz="1200" dirty="0" err="1"/>
                        <a:t>mongoDB</a:t>
                      </a:r>
                      <a:endParaRPr lang="en-US" sz="1200" dirty="0"/>
                    </a:p>
                  </a:txBody>
                  <a:tcPr anchor="ctr"/>
                </a:tc>
                <a:tc>
                  <a:txBody>
                    <a:bodyPr/>
                    <a:lstStyle/>
                    <a:p>
                      <a:pPr algn="ctr" rtl="1" fontAlgn="b"/>
                      <a:r>
                        <a:rPr lang="en-US" sz="1000" b="0" i="0" u="none" strike="noStrike">
                          <a:effectLst/>
                          <a:latin typeface="Arial" panose="020B0604020202020204" pitchFamily="34" charset="0"/>
                        </a:rPr>
                        <a:t>4.4.13</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3851449830"/>
                  </a:ext>
                </a:extLst>
              </a:tr>
              <a:tr h="319350">
                <a:tc>
                  <a:txBody>
                    <a:bodyPr/>
                    <a:lstStyle/>
                    <a:p>
                      <a:pPr algn="ctr" rtl="1" fontAlgn="b"/>
                      <a:r>
                        <a:rPr lang="en-US" sz="1050" b="1" i="0" u="none" strike="noStrike" dirty="0" err="1">
                          <a:effectLst/>
                          <a:latin typeface="Arial" panose="020B0604020202020204" pitchFamily="34" charset="0"/>
                        </a:rPr>
                        <a:t>etec_formio</a:t>
                      </a:r>
                      <a:r>
                        <a:rPr lang="en-US" sz="1050" b="1" i="0" u="none" strike="noStrike" dirty="0">
                          <a:effectLst/>
                          <a:latin typeface="Arial" panose="020B0604020202020204" pitchFamily="34" charset="0"/>
                        </a:rPr>
                        <a:t>    </a:t>
                      </a:r>
                    </a:p>
                  </a:txBody>
                  <a:tcPr marL="0" marR="0" marT="0" marB="0" anchor="ctr"/>
                </a:tc>
                <a:tc>
                  <a:txBody>
                    <a:bodyPr/>
                    <a:lstStyle/>
                    <a:p>
                      <a:pPr algn="ctr" rtl="1"/>
                      <a:r>
                        <a:rPr lang="ar-SA" sz="1200" dirty="0"/>
                        <a:t>(غير علائقي)</a:t>
                      </a:r>
                      <a:r>
                        <a:rPr lang="en-US" sz="1200" dirty="0" err="1"/>
                        <a:t>mongoDB</a:t>
                      </a:r>
                      <a:endParaRPr lang="en-US" sz="1200" dirty="0"/>
                    </a:p>
                  </a:txBody>
                  <a:tcPr anchor="ctr"/>
                </a:tc>
                <a:tc>
                  <a:txBody>
                    <a:bodyPr/>
                    <a:lstStyle/>
                    <a:p>
                      <a:pPr algn="ctr" rtl="1" fontAlgn="b"/>
                      <a:r>
                        <a:rPr lang="en-US" sz="1000" b="0" i="0" u="none" strike="noStrike" dirty="0">
                          <a:effectLst/>
                          <a:latin typeface="Arial" panose="020B0604020202020204" pitchFamily="34" charset="0"/>
                        </a:rPr>
                        <a:t>4.4.13</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224987572"/>
                  </a:ext>
                </a:extLst>
              </a:tr>
              <a:tr h="319350">
                <a:tc>
                  <a:txBody>
                    <a:bodyPr/>
                    <a:lstStyle/>
                    <a:p>
                      <a:pPr marL="0" algn="ctr" defTabSz="914400" rtl="1" eaLnBrk="1" fontAlgn="b" latinLnBrk="0" hangingPunct="1"/>
                      <a:r>
                        <a:rPr lang="en-US" sz="1050" b="1" i="0" u="none" strike="noStrike" kern="1200">
                          <a:solidFill>
                            <a:schemeClr val="dk1"/>
                          </a:solidFill>
                          <a:effectLst/>
                          <a:latin typeface="Arial" panose="020B0604020202020204" pitchFamily="34" charset="0"/>
                          <a:ea typeface="+mn-ea"/>
                          <a:cs typeface="+mn-cs"/>
                        </a:rPr>
                        <a:t>etec_live_db</a:t>
                      </a:r>
                    </a:p>
                  </a:txBody>
                  <a:tcPr marL="0" marR="0" marT="0" marB="0" anchor="b"/>
                </a:tc>
                <a:tc>
                  <a:txBody>
                    <a:bodyPr/>
                    <a:lstStyle/>
                    <a:p>
                      <a:pPr algn="ctr" rtl="1" fontAlgn="b"/>
                      <a:r>
                        <a:rPr lang="en-US" sz="1200" kern="1200" dirty="0">
                          <a:solidFill>
                            <a:schemeClr val="dk1"/>
                          </a:solidFill>
                          <a:latin typeface="+mn-lt"/>
                          <a:ea typeface="+mn-ea"/>
                          <a:cs typeface="+mn-cs"/>
                        </a:rPr>
                        <a:t>PostgreSQL</a:t>
                      </a:r>
                    </a:p>
                  </a:txBody>
                  <a:tcPr marL="0" marR="0" marT="0" marB="0" anchor="b"/>
                </a:tc>
                <a:tc>
                  <a:txBody>
                    <a:bodyPr/>
                    <a:lstStyle/>
                    <a:p>
                      <a:pPr algn="ctr" rtl="1" fontAlgn="b"/>
                      <a:r>
                        <a:rPr lang="en-US" sz="1000" b="0" i="0" u="none" strike="noStrike" dirty="0">
                          <a:effectLst/>
                          <a:latin typeface="Arial" panose="020B0604020202020204" pitchFamily="34" charset="0"/>
                        </a:rPr>
                        <a:t>12.15</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solidFill>
                      <a:srgbClr val="00B050"/>
                    </a:solidFill>
                  </a:tcPr>
                </a:tc>
                <a:tc>
                  <a:txBody>
                    <a:bodyPr/>
                    <a:lstStyle/>
                    <a:p>
                      <a:pPr algn="ct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lang="en-US" sz="1200" dirty="0"/>
                    </a:p>
                  </a:txBody>
                  <a:tcPr anchor="ctr">
                    <a:solidFill>
                      <a:srgbClr val="00B050"/>
                    </a:solidFill>
                  </a:tcPr>
                </a:tc>
                <a:extLst>
                  <a:ext uri="{0D108BD9-81ED-4DB2-BD59-A6C34878D82A}">
                    <a16:rowId xmlns:a16="http://schemas.microsoft.com/office/drawing/2014/main" val="3430863950"/>
                  </a:ext>
                </a:extLst>
              </a:tr>
              <a:tr h="319350">
                <a:tc>
                  <a:txBody>
                    <a:bodyPr/>
                    <a:lstStyle/>
                    <a:p>
                      <a:pPr marL="0" algn="ctr" defTabSz="914400" rtl="1" eaLnBrk="1" fontAlgn="b" latinLnBrk="0" hangingPunct="1"/>
                      <a:r>
                        <a:rPr lang="en-US" sz="1050" b="1" i="0" u="none" strike="noStrike" kern="1200">
                          <a:solidFill>
                            <a:schemeClr val="dk1"/>
                          </a:solidFill>
                          <a:effectLst/>
                          <a:latin typeface="Arial" panose="020B0604020202020204" pitchFamily="34" charset="0"/>
                          <a:ea typeface="+mn-ea"/>
                          <a:cs typeface="+mn-cs"/>
                        </a:rPr>
                        <a:t>BASE-OES-SERVER</a:t>
                      </a:r>
                    </a:p>
                  </a:txBody>
                  <a:tcPr marL="0" marR="0" marT="0" marB="0" anchor="ctr"/>
                </a:tc>
                <a:tc>
                  <a:txBody>
                    <a:bodyPr/>
                    <a:lstStyle/>
                    <a:p>
                      <a:pPr algn="ctr" rtl="1" fontAlgn="b"/>
                      <a:r>
                        <a:rPr lang="en-US" sz="1200" kern="1200">
                          <a:solidFill>
                            <a:schemeClr val="dk1"/>
                          </a:solidFill>
                          <a:latin typeface="+mn-lt"/>
                          <a:ea typeface="+mn-ea"/>
                          <a:cs typeface="+mn-cs"/>
                        </a:rPr>
                        <a:t>MYSQL</a:t>
                      </a:r>
                    </a:p>
                  </a:txBody>
                  <a:tcPr marL="0" marR="0" marT="0" marB="0" anchor="ctr"/>
                </a:tc>
                <a:tc>
                  <a:txBody>
                    <a:bodyPr/>
                    <a:lstStyle/>
                    <a:p>
                      <a:pPr algn="ctr" rtl="1" fontAlgn="b"/>
                      <a:r>
                        <a:rPr lang="en-US" sz="1000" b="0" i="0" u="none" strike="noStrike">
                          <a:effectLst/>
                          <a:latin typeface="Arial" panose="020B0604020202020204" pitchFamily="34" charset="0"/>
                        </a:rPr>
                        <a:t>8</a:t>
                      </a:r>
                    </a:p>
                  </a:txBody>
                  <a:tcPr marL="0" marR="0" marT="0" marB="0" anchor="ctr"/>
                </a:tc>
                <a:tc>
                  <a:txBody>
                    <a:bodyPr/>
                    <a:lstStyle/>
                    <a:p>
                      <a:pPr algn="ctr" rtl="1" fontAlgn="b"/>
                      <a:r>
                        <a:rPr kumimoji="0" lang="en-US" sz="1200" b="0" i="0" u="none" strike="noStrike" kern="1200" cap="none" spc="0" normalizeH="0" baseline="0" dirty="0">
                          <a:ln>
                            <a:noFill/>
                          </a:ln>
                          <a:solidFill>
                            <a:prstClr val="black"/>
                          </a:solidFill>
                          <a:effectLst/>
                          <a:uLnTx/>
                          <a:uFillTx/>
                          <a:latin typeface="Arial" panose="020B0604020202020204" pitchFamily="34" charset="0"/>
                          <a:ea typeface="+mn-ea"/>
                          <a:cs typeface="Sakkal Majalla"/>
                        </a:rPr>
                        <a:t>Weekly Full backup</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4069501692"/>
                  </a:ext>
                </a:extLst>
              </a:tr>
              <a:tr h="319350">
                <a:tc>
                  <a:txBody>
                    <a:bodyPr/>
                    <a:lstStyle/>
                    <a:p>
                      <a:pPr marL="0" algn="ctr" defTabSz="914400" rtl="1" eaLnBrk="1" fontAlgn="b" latinLnBrk="0" hangingPunct="1"/>
                      <a:r>
                        <a:rPr lang="en-US" sz="1050" b="1" i="0" u="none" strike="noStrike" kern="1200">
                          <a:solidFill>
                            <a:schemeClr val="dk1"/>
                          </a:solidFill>
                          <a:effectLst/>
                          <a:latin typeface="Arial" panose="020B0604020202020204" pitchFamily="34" charset="0"/>
                          <a:ea typeface="+mn-ea"/>
                          <a:cs typeface="+mn-cs"/>
                        </a:rPr>
                        <a:t>IBS</a:t>
                      </a:r>
                    </a:p>
                  </a:txBody>
                  <a:tcPr marL="0" marR="0" marT="0" marB="0" anchor="ctr"/>
                </a:tc>
                <a:tc>
                  <a:txBody>
                    <a:bodyPr/>
                    <a:lstStyle/>
                    <a:p>
                      <a:pPr algn="ctr" rtl="1" fontAlgn="b"/>
                      <a:r>
                        <a:rPr lang="en-US" sz="1200" kern="1200">
                          <a:solidFill>
                            <a:schemeClr val="dk1"/>
                          </a:solidFill>
                          <a:latin typeface="+mn-lt"/>
                          <a:ea typeface="+mn-ea"/>
                          <a:cs typeface="+mn-cs"/>
                        </a:rPr>
                        <a:t>MS SQL SERVER</a:t>
                      </a:r>
                    </a:p>
                  </a:txBody>
                  <a:tcPr marL="0" marR="0" marT="0" marB="0" anchor="ctr"/>
                </a:tc>
                <a:tc>
                  <a:txBody>
                    <a:bodyPr/>
                    <a:lstStyle/>
                    <a:p>
                      <a:pPr algn="ctr" rtl="1" fontAlgn="b"/>
                      <a:r>
                        <a:rPr lang="en-US" sz="1000" b="0" i="0" u="none" strike="noStrike">
                          <a:effectLst/>
                          <a:latin typeface="Arial" panose="020B0604020202020204" pitchFamily="34" charset="0"/>
                        </a:rPr>
                        <a:t>2016</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marL="0" marR="0" marT="0" marB="0"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866801282"/>
                  </a:ext>
                </a:extLst>
              </a:tr>
              <a:tr h="308945">
                <a:tc>
                  <a:txBody>
                    <a:bodyPr/>
                    <a:lstStyle/>
                    <a:p>
                      <a:pPr marL="0" algn="ctr" defTabSz="914400" rtl="1" eaLnBrk="1" fontAlgn="b" latinLnBrk="0" hangingPunct="1"/>
                      <a:r>
                        <a:rPr lang="en-US" sz="1050" b="1" i="0" u="none" strike="noStrike" kern="1200" dirty="0" err="1">
                          <a:solidFill>
                            <a:schemeClr val="dk1"/>
                          </a:solidFill>
                          <a:effectLst/>
                          <a:latin typeface="Arial" panose="020B0604020202020204" pitchFamily="34" charset="0"/>
                          <a:ea typeface="+mn-ea"/>
                          <a:cs typeface="+mn-cs"/>
                        </a:rPr>
                        <a:t>IBS_pro</a:t>
                      </a:r>
                      <a:endParaRPr lang="en-US" sz="1050" b="1" i="0" u="none" strike="noStrike" kern="1200" dirty="0">
                        <a:solidFill>
                          <a:schemeClr val="dk1"/>
                        </a:solidFill>
                        <a:effectLst/>
                        <a:latin typeface="Arial" panose="020B0604020202020204" pitchFamily="34" charset="0"/>
                        <a:ea typeface="+mn-ea"/>
                        <a:cs typeface="+mn-cs"/>
                      </a:endParaRPr>
                    </a:p>
                  </a:txBody>
                  <a:tcPr marL="0" marR="0" marT="0" marB="0" anchor="ctr"/>
                </a:tc>
                <a:tc>
                  <a:txBody>
                    <a:bodyPr/>
                    <a:lstStyle/>
                    <a:p>
                      <a:pPr algn="ctr" rtl="1" fontAlgn="b"/>
                      <a:r>
                        <a:rPr lang="en-US" sz="1200" kern="1200" dirty="0">
                          <a:solidFill>
                            <a:schemeClr val="dk1"/>
                          </a:solidFill>
                          <a:latin typeface="+mn-lt"/>
                          <a:ea typeface="+mn-ea"/>
                          <a:cs typeface="+mn-cs"/>
                        </a:rPr>
                        <a:t>MS SQL SERVER</a:t>
                      </a:r>
                    </a:p>
                  </a:txBody>
                  <a:tcPr marL="0" marR="0" marT="0" marB="0" anchor="ctr"/>
                </a:tc>
                <a:tc>
                  <a:txBody>
                    <a:bodyPr/>
                    <a:lstStyle/>
                    <a:p>
                      <a:pPr algn="ctr" rtl="1" fontAlgn="b"/>
                      <a:r>
                        <a:rPr lang="en-US" sz="1000" b="0" i="0" u="none" strike="noStrike" dirty="0">
                          <a:effectLst/>
                          <a:latin typeface="Arial" panose="020B0604020202020204" pitchFamily="34" charset="0"/>
                        </a:rPr>
                        <a:t>2016</a:t>
                      </a: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Sakkal Majalla"/>
                        </a:rPr>
                        <a:t>Daily Incremental backup, Weekly Full backup</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solidFill>
                      <a:srgbClr val="00B050"/>
                    </a:solidFill>
                  </a:tcPr>
                </a:tc>
                <a:extLst>
                  <a:ext uri="{0D108BD9-81ED-4DB2-BD59-A6C34878D82A}">
                    <a16:rowId xmlns:a16="http://schemas.microsoft.com/office/drawing/2014/main" val="2904801076"/>
                  </a:ext>
                </a:extLst>
              </a:tr>
              <a:tr h="308945">
                <a:tc>
                  <a:txBody>
                    <a:bodyPr/>
                    <a:lstStyle/>
                    <a:p>
                      <a:pPr marL="0" algn="ctr" defTabSz="914400" rtl="1" eaLnBrk="1" fontAlgn="b" latinLnBrk="0" hangingPunct="1"/>
                      <a:r>
                        <a:rPr lang="en-US" sz="1050" b="1" i="0" u="none" strike="noStrike" kern="1200" dirty="0">
                          <a:solidFill>
                            <a:schemeClr val="dk1"/>
                          </a:solidFill>
                          <a:effectLst/>
                          <a:latin typeface="Arial" panose="020B0604020202020204" pitchFamily="34" charset="0"/>
                          <a:ea typeface="+mn-ea"/>
                          <a:cs typeface="+mn-cs"/>
                        </a:rPr>
                        <a:t>exams</a:t>
                      </a:r>
                    </a:p>
                  </a:txBody>
                  <a:tcPr marL="0" marR="0" marT="0" marB="0" anchor="ctr"/>
                </a:tc>
                <a:tc>
                  <a:txBody>
                    <a:bodyPr/>
                    <a:lstStyle/>
                    <a:p>
                      <a:pPr marL="0" algn="ctr" defTabSz="914400" rtl="1" eaLnBrk="1" fontAlgn="b" latinLnBrk="0" hangingPunct="1"/>
                      <a:r>
                        <a:rPr lang="en-US" sz="1200" kern="1200" dirty="0">
                          <a:solidFill>
                            <a:schemeClr val="dk1"/>
                          </a:solidFill>
                          <a:latin typeface="+mn-lt"/>
                          <a:ea typeface="+mn-ea"/>
                          <a:cs typeface="+mn-cs"/>
                        </a:rPr>
                        <a:t>MariaDB</a:t>
                      </a:r>
                    </a:p>
                  </a:txBody>
                  <a:tcPr marL="0" marR="0" marT="0" marB="0" anchor="ctr"/>
                </a:tc>
                <a:tc>
                  <a:txBody>
                    <a:bodyPr/>
                    <a:lstStyle/>
                    <a:p>
                      <a:pPr marL="0" algn="ctr" defTabSz="914400" rtl="1" eaLnBrk="1" fontAlgn="b" latinLnBrk="0" hangingPunct="1"/>
                      <a:r>
                        <a:rPr lang="en-US" sz="1000" b="0" i="0" u="none" strike="noStrike" dirty="0">
                          <a:effectLst/>
                          <a:latin typeface="Arial" panose="020B0604020202020204" pitchFamily="34" charset="0"/>
                        </a:rPr>
                        <a:t>10.6</a:t>
                      </a:r>
                    </a:p>
                  </a:txBody>
                  <a:tcPr marL="0" marR="0" marT="0" marB="0" anchor="ctr"/>
                </a:tc>
                <a:tc>
                  <a:txBody>
                    <a:bodyPr/>
                    <a:lstStyle/>
                    <a:p>
                      <a:pPr marL="0" algn="ctr" defTabSz="914400" rtl="1" eaLnBrk="1" fontAlgn="b" latinLnBrk="0" hangingPunct="1"/>
                      <a:r>
                        <a:rPr kumimoji="0" lang="en-US" sz="1200" b="0" i="0" u="none" strike="noStrike" kern="1200" cap="none" spc="0" normalizeH="0" baseline="0" dirty="0">
                          <a:ln>
                            <a:noFill/>
                          </a:ln>
                          <a:solidFill>
                            <a:prstClr val="black"/>
                          </a:solidFill>
                          <a:effectLst/>
                          <a:uLnTx/>
                          <a:uFillTx/>
                          <a:latin typeface="Arial" panose="020B0604020202020204" pitchFamily="34" charset="0"/>
                          <a:ea typeface="+mn-ea"/>
                          <a:cs typeface="Sakkal Majalla"/>
                        </a:rPr>
                        <a:t>Daily Full backup</a:t>
                      </a:r>
                    </a:p>
                  </a:txBody>
                  <a:tcPr marL="0" marR="0" marT="0" marB="0"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نعم</a:t>
                      </a:r>
                      <a:endParaRPr kumimoji="0" lang="en-US"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anchor="ctr"/>
                </a:tc>
                <a:extLst>
                  <a:ext uri="{0D108BD9-81ED-4DB2-BD59-A6C34878D82A}">
                    <a16:rowId xmlns:a16="http://schemas.microsoft.com/office/drawing/2014/main" val="1177591936"/>
                  </a:ext>
                </a:extLst>
              </a:tr>
            </a:tbl>
          </a:graphicData>
        </a:graphic>
      </p:graphicFrame>
      <p:grpSp>
        <p:nvGrpSpPr>
          <p:cNvPr id="6" name="Group 5">
            <a:extLst>
              <a:ext uri="{FF2B5EF4-FFF2-40B4-BE49-F238E27FC236}">
                <a16:creationId xmlns:a16="http://schemas.microsoft.com/office/drawing/2014/main" id="{718F7DB7-8613-A4BC-7AF7-FC1097982A9F}"/>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61F12540-B2EB-70F8-516E-915D88814911}"/>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1E3EC7D7-0828-9F92-FBF8-5ACF16F85BD7}"/>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66650246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90743"/>
            <a:ext cx="10972800" cy="666261"/>
          </a:xfrm>
        </p:spPr>
        <p:txBody>
          <a:bodyPr/>
          <a:lstStyle/>
          <a:p>
            <a:r>
              <a:rPr lang="ar-SA" dirty="0"/>
              <a:t>خزائن البيانات(شبكة الهيئة)</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36</a:t>
            </a:fld>
            <a:endParaRPr lang="en-US"/>
          </a:p>
        </p:txBody>
      </p:sp>
      <p:graphicFrame>
        <p:nvGraphicFramePr>
          <p:cNvPr id="4" name="Table 4">
            <a:extLst>
              <a:ext uri="{FF2B5EF4-FFF2-40B4-BE49-F238E27FC236}">
                <a16:creationId xmlns:a16="http://schemas.microsoft.com/office/drawing/2014/main" id="{B84F9546-2447-C15A-A708-AE5CAB482B35}"/>
              </a:ext>
            </a:extLst>
          </p:cNvPr>
          <p:cNvGraphicFramePr>
            <a:graphicFrameLocks noGrp="1"/>
          </p:cNvGraphicFramePr>
          <p:nvPr>
            <p:extLst>
              <p:ext uri="{D42A27DB-BD31-4B8C-83A1-F6EECF244321}">
                <p14:modId xmlns:p14="http://schemas.microsoft.com/office/powerpoint/2010/main" val="1273026958"/>
              </p:ext>
            </p:extLst>
          </p:nvPr>
        </p:nvGraphicFramePr>
        <p:xfrm>
          <a:off x="717176" y="977148"/>
          <a:ext cx="10721788" cy="1004460"/>
        </p:xfrm>
        <a:graphic>
          <a:graphicData uri="http://schemas.openxmlformats.org/drawingml/2006/table">
            <a:tbl>
              <a:tblPr rtl="1" firstRow="1" bandRow="1">
                <a:tableStyleId>{5C22544A-7EE6-4342-B048-85BDC9FD1C3A}</a:tableStyleId>
              </a:tblPr>
              <a:tblGrid>
                <a:gridCol w="3666564">
                  <a:extLst>
                    <a:ext uri="{9D8B030D-6E8A-4147-A177-3AD203B41FA5}">
                      <a16:colId xmlns:a16="http://schemas.microsoft.com/office/drawing/2014/main" val="4191908899"/>
                    </a:ext>
                  </a:extLst>
                </a:gridCol>
                <a:gridCol w="1313234">
                  <a:extLst>
                    <a:ext uri="{9D8B030D-6E8A-4147-A177-3AD203B41FA5}">
                      <a16:colId xmlns:a16="http://schemas.microsoft.com/office/drawing/2014/main" val="827222261"/>
                    </a:ext>
                  </a:extLst>
                </a:gridCol>
                <a:gridCol w="1138136">
                  <a:extLst>
                    <a:ext uri="{9D8B030D-6E8A-4147-A177-3AD203B41FA5}">
                      <a16:colId xmlns:a16="http://schemas.microsoft.com/office/drawing/2014/main" val="4102752288"/>
                    </a:ext>
                  </a:extLst>
                </a:gridCol>
                <a:gridCol w="3151571">
                  <a:extLst>
                    <a:ext uri="{9D8B030D-6E8A-4147-A177-3AD203B41FA5}">
                      <a16:colId xmlns:a16="http://schemas.microsoft.com/office/drawing/2014/main" val="111183341"/>
                    </a:ext>
                  </a:extLst>
                </a:gridCol>
                <a:gridCol w="1452283">
                  <a:extLst>
                    <a:ext uri="{9D8B030D-6E8A-4147-A177-3AD203B41FA5}">
                      <a16:colId xmlns:a16="http://schemas.microsoft.com/office/drawing/2014/main" val="251661208"/>
                    </a:ext>
                  </a:extLst>
                </a:gridCol>
              </a:tblGrid>
              <a:tr h="361298">
                <a:tc>
                  <a:txBody>
                    <a:bodyPr/>
                    <a:lstStyle/>
                    <a:p>
                      <a:pPr algn="ctr"/>
                      <a:r>
                        <a:rPr lang="ar-SA" dirty="0"/>
                        <a:t>اسم الخزينة</a:t>
                      </a:r>
                      <a:endParaRPr lang="en-US" dirty="0"/>
                    </a:p>
                  </a:txBody>
                  <a:tcPr anchor="ctr"/>
                </a:tc>
                <a:tc>
                  <a:txBody>
                    <a:bodyPr/>
                    <a:lstStyle/>
                    <a:p>
                      <a:pPr algn="ctr"/>
                      <a:r>
                        <a:rPr lang="ar-SA" dirty="0"/>
                        <a:t>تصنيف الهيكلة</a:t>
                      </a: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SA" dirty="0"/>
                        <a:t>موقع التخزين</a:t>
                      </a:r>
                      <a:endParaRPr lang="en-US" dirty="0"/>
                    </a:p>
                  </a:txBody>
                  <a:tcPr anchor="ctr"/>
                </a:tc>
                <a:tc>
                  <a:txBody>
                    <a:bodyPr/>
                    <a:lstStyle/>
                    <a:p>
                      <a:pPr algn="ctr"/>
                      <a:r>
                        <a:rPr lang="ar-SA" dirty="0"/>
                        <a:t>طريقة النسخ الاحتياطي</a:t>
                      </a:r>
                      <a:endParaRPr lang="en-US" dirty="0"/>
                    </a:p>
                  </a:txBody>
                  <a:tcPr/>
                </a:tc>
                <a:tc>
                  <a:txBody>
                    <a:bodyPr/>
                    <a:lstStyle/>
                    <a:p>
                      <a:pPr algn="ctr"/>
                      <a:r>
                        <a:rPr lang="ar-SA" dirty="0"/>
                        <a:t>التعافي من الكوارث</a:t>
                      </a:r>
                      <a:endParaRPr lang="en-US" dirty="0"/>
                    </a:p>
                  </a:txBody>
                  <a:tcPr anchor="ctr"/>
                </a:tc>
                <a:extLst>
                  <a:ext uri="{0D108BD9-81ED-4DB2-BD59-A6C34878D82A}">
                    <a16:rowId xmlns:a16="http://schemas.microsoft.com/office/drawing/2014/main" val="434338883"/>
                  </a:ext>
                </a:extLst>
              </a:tr>
              <a:tr h="319350">
                <a:tc>
                  <a:txBody>
                    <a:bodyPr/>
                    <a:lstStyle/>
                    <a:p>
                      <a:pPr algn="ctr" rtl="0" fontAlgn="b"/>
                      <a:r>
                        <a:rPr lang="en-US" sz="1050" b="1" i="0" u="none" strike="noStrike" dirty="0">
                          <a:effectLst/>
                          <a:latin typeface="Arial" panose="020B0604020202020204" pitchFamily="34" charset="0"/>
                        </a:rPr>
                        <a:t>Shared Folder1</a:t>
                      </a:r>
                    </a:p>
                  </a:txBody>
                  <a:tcPr marL="0" marR="0" marT="0" marB="0" anchor="ctr"/>
                </a:tc>
                <a:tc>
                  <a:txBody>
                    <a:bodyPr/>
                    <a:lstStyle/>
                    <a:p>
                      <a:pPr algn="ctr" rtl="1" fontAlgn="b"/>
                      <a:r>
                        <a:rPr lang="ar-EG" sz="1200" b="1" i="0" u="none" strike="noStrike" kern="1200" dirty="0">
                          <a:solidFill>
                            <a:schemeClr val="dk1"/>
                          </a:solidFill>
                          <a:effectLst/>
                          <a:latin typeface="Arial" panose="020B0604020202020204" pitchFamily="34" charset="0"/>
                          <a:ea typeface="+mn-ea"/>
                          <a:cs typeface="+mn-cs"/>
                        </a:rPr>
                        <a:t>شبه مهيكلة</a:t>
                      </a:r>
                    </a:p>
                  </a:txBody>
                  <a:tcPr anchor="ctr"/>
                </a:tc>
                <a:tc>
                  <a:txBody>
                    <a:bodyPr/>
                    <a:lstStyle/>
                    <a:p>
                      <a:pPr algn="ctr" rtl="0" fontAlgn="b"/>
                      <a:r>
                        <a:rPr lang="ar-SA" sz="1200" b="1" i="0" u="none" strike="noStrike" kern="1200" dirty="0">
                          <a:solidFill>
                            <a:schemeClr val="dk1"/>
                          </a:solidFill>
                          <a:effectLst/>
                          <a:latin typeface="Arial" panose="020B0604020202020204" pitchFamily="34" charset="0"/>
                          <a:ea typeface="+mn-ea"/>
                          <a:cs typeface="+mn-cs"/>
                        </a:rPr>
                        <a:t>ديم</a:t>
                      </a:r>
                      <a:endParaRPr lang="en-US" sz="1200" b="1" i="0" u="none" strike="noStrike" kern="1200" dirty="0">
                        <a:solidFill>
                          <a:schemeClr val="dk1"/>
                        </a:solidFill>
                        <a:effectLst/>
                        <a:latin typeface="Arial" panose="020B0604020202020204" pitchFamily="34" charset="0"/>
                        <a:ea typeface="+mn-ea"/>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dk1"/>
                          </a:solidFill>
                          <a:effectLst/>
                          <a:latin typeface="Arial" panose="020B0604020202020204" pitchFamily="34" charset="0"/>
                          <a:ea typeface="+mn-ea"/>
                          <a:cs typeface="+mn-cs"/>
                        </a:rPr>
                        <a:t>Daily Differential backup, Weekly Full Backup</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ar-SA" sz="1200" b="1" i="0" u="none" strike="noStrike" kern="1200" noProof="0" dirty="0">
                          <a:solidFill>
                            <a:schemeClr val="dk1"/>
                          </a:solidFill>
                          <a:effectLst/>
                          <a:latin typeface="Arial" panose="020B0604020202020204" pitchFamily="34" charset="0"/>
                          <a:ea typeface="+mn-ea"/>
                          <a:cs typeface="+mn-cs"/>
                        </a:rPr>
                        <a:t>نعم</a:t>
                      </a:r>
                      <a:endParaRPr lang="en-US" sz="1200" b="1" i="0" u="none" strike="noStrike" kern="1200" noProof="0" dirty="0">
                        <a:solidFill>
                          <a:schemeClr val="dk1"/>
                        </a:solidFill>
                        <a:effectLst/>
                        <a:latin typeface="Arial" panose="020B0604020202020204" pitchFamily="34" charset="0"/>
                        <a:ea typeface="+mn-ea"/>
                        <a:cs typeface="+mn-cs"/>
                      </a:endParaRPr>
                    </a:p>
                  </a:txBody>
                  <a:tcPr anchor="ctr"/>
                </a:tc>
                <a:extLst>
                  <a:ext uri="{0D108BD9-81ED-4DB2-BD59-A6C34878D82A}">
                    <a16:rowId xmlns:a16="http://schemas.microsoft.com/office/drawing/2014/main" val="2837972540"/>
                  </a:ext>
                </a:extLst>
              </a:tr>
              <a:tr h="319350">
                <a:tc>
                  <a:txBody>
                    <a:bodyPr/>
                    <a:lstStyle/>
                    <a:p>
                      <a:pPr algn="ctr" rtl="0" fontAlgn="b"/>
                      <a:r>
                        <a:rPr lang="en-US" sz="1050" b="1" i="0" u="none" strike="noStrike" dirty="0">
                          <a:effectLst/>
                          <a:latin typeface="Arial" panose="020B0604020202020204" pitchFamily="34" charset="0"/>
                        </a:rPr>
                        <a:t>Shared Folder2</a:t>
                      </a:r>
                    </a:p>
                  </a:txBody>
                  <a:tcPr marL="0" marR="0" marT="0" marB="0" anchor="ctr"/>
                </a:tc>
                <a:tc>
                  <a:txBody>
                    <a:bodyPr/>
                    <a:lstStyle/>
                    <a:p>
                      <a:pPr algn="ctr" rtl="1" fontAlgn="b"/>
                      <a:r>
                        <a:rPr lang="ar-EG" sz="1200" b="1" i="0" u="none" strike="noStrike" kern="1200" dirty="0">
                          <a:solidFill>
                            <a:schemeClr val="dk1"/>
                          </a:solidFill>
                          <a:effectLst/>
                          <a:latin typeface="Arial" panose="020B0604020202020204" pitchFamily="34" charset="0"/>
                          <a:ea typeface="+mn-ea"/>
                          <a:cs typeface="+mn-cs"/>
                        </a:rPr>
                        <a:t>شبه مهيكلة</a:t>
                      </a:r>
                    </a:p>
                  </a:txBody>
                  <a:tcPr anchor="ctr"/>
                </a:tc>
                <a:tc>
                  <a:txBody>
                    <a:bodyPr/>
                    <a:lstStyle/>
                    <a:p>
                      <a:pPr algn="ctr" rtl="0" fontAlgn="b"/>
                      <a:r>
                        <a:rPr lang="ar-SA" sz="1200" b="1" i="0" u="none" strike="noStrike" kern="1200" dirty="0">
                          <a:solidFill>
                            <a:schemeClr val="dk1"/>
                          </a:solidFill>
                          <a:effectLst/>
                          <a:latin typeface="Arial" panose="020B0604020202020204" pitchFamily="34" charset="0"/>
                          <a:ea typeface="+mn-ea"/>
                          <a:cs typeface="+mn-cs"/>
                        </a:rPr>
                        <a:t>ديم</a:t>
                      </a:r>
                      <a:endParaRPr lang="en-US" sz="1200" b="1" i="0" u="none" strike="noStrike" kern="1200" dirty="0">
                        <a:solidFill>
                          <a:schemeClr val="dk1"/>
                        </a:solidFill>
                        <a:effectLst/>
                        <a:latin typeface="Arial" panose="020B0604020202020204" pitchFamily="34" charset="0"/>
                        <a:ea typeface="+mn-ea"/>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dk1"/>
                          </a:solidFill>
                          <a:effectLst/>
                          <a:latin typeface="Arial" panose="020B0604020202020204" pitchFamily="34" charset="0"/>
                          <a:ea typeface="+mn-ea"/>
                          <a:cs typeface="+mn-cs"/>
                        </a:rPr>
                        <a:t>Daily Differential backup, Weekly Full Backup</a:t>
                      </a:r>
                    </a:p>
                  </a:txBody>
                  <a:tcPr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ar-SA" sz="1200" b="1" i="0" u="none" strike="noStrike" kern="1200" noProof="0" dirty="0">
                          <a:solidFill>
                            <a:schemeClr val="dk1"/>
                          </a:solidFill>
                          <a:effectLst/>
                          <a:latin typeface="Arial" panose="020B0604020202020204" pitchFamily="34" charset="0"/>
                          <a:ea typeface="+mn-ea"/>
                          <a:cs typeface="+mn-cs"/>
                        </a:rPr>
                        <a:t>نعم</a:t>
                      </a:r>
                      <a:endParaRPr lang="en-US" sz="1200" b="1" i="0" u="none" strike="noStrike" kern="1200" noProof="0" dirty="0">
                        <a:solidFill>
                          <a:schemeClr val="dk1"/>
                        </a:solidFill>
                        <a:effectLst/>
                        <a:latin typeface="Arial" panose="020B0604020202020204" pitchFamily="34" charset="0"/>
                        <a:ea typeface="+mn-ea"/>
                        <a:cs typeface="+mn-cs"/>
                      </a:endParaRPr>
                    </a:p>
                  </a:txBody>
                  <a:tcPr anchor="ctr"/>
                </a:tc>
                <a:extLst>
                  <a:ext uri="{0D108BD9-81ED-4DB2-BD59-A6C34878D82A}">
                    <a16:rowId xmlns:a16="http://schemas.microsoft.com/office/drawing/2014/main" val="3851449830"/>
                  </a:ext>
                </a:extLst>
              </a:tr>
            </a:tbl>
          </a:graphicData>
        </a:graphic>
      </p:graphicFrame>
      <p:grpSp>
        <p:nvGrpSpPr>
          <p:cNvPr id="6" name="Group 5">
            <a:extLst>
              <a:ext uri="{FF2B5EF4-FFF2-40B4-BE49-F238E27FC236}">
                <a16:creationId xmlns:a16="http://schemas.microsoft.com/office/drawing/2014/main" id="{BB3E689C-FEE9-EC66-A467-BC78AB2A4E79}"/>
              </a:ext>
            </a:extLst>
          </p:cNvPr>
          <p:cNvGrpSpPr/>
          <p:nvPr/>
        </p:nvGrpSpPr>
        <p:grpSpPr>
          <a:xfrm>
            <a:off x="5445493" y="6210431"/>
            <a:ext cx="1301014" cy="307777"/>
            <a:chOff x="6981138" y="6166124"/>
            <a:chExt cx="1301014" cy="307777"/>
          </a:xfrm>
        </p:grpSpPr>
        <p:sp>
          <p:nvSpPr>
            <p:cNvPr id="7" name="TextBox 6">
              <a:extLst>
                <a:ext uri="{FF2B5EF4-FFF2-40B4-BE49-F238E27FC236}">
                  <a16:creationId xmlns:a16="http://schemas.microsoft.com/office/drawing/2014/main" id="{2855EFC8-5E16-1E87-511D-7C34B560A47A}"/>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8" name="Rectangle 7">
              <a:extLst>
                <a:ext uri="{FF2B5EF4-FFF2-40B4-BE49-F238E27FC236}">
                  <a16:creationId xmlns:a16="http://schemas.microsoft.com/office/drawing/2014/main" id="{142BA903-C166-8901-65FE-DF961A480F73}"/>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59001810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830792" y="3925452"/>
            <a:ext cx="6713508" cy="641639"/>
          </a:xfrm>
        </p:spPr>
        <p:txBody>
          <a:bodyPr/>
          <a:lstStyle/>
          <a:p>
            <a:r>
              <a:rPr lang="ar-AE" b="1" dirty="0"/>
              <a:t>الوضع المستقبلي ل</a:t>
            </a:r>
            <a:r>
              <a:rPr lang="ar-SA" dirty="0"/>
              <a:t>كيانات البيانات</a:t>
            </a:r>
            <a:endParaRPr lang="en-US" dirty="0"/>
          </a:p>
        </p:txBody>
      </p:sp>
      <p:sp>
        <p:nvSpPr>
          <p:cNvPr id="4" name="Text Placeholder 3"/>
          <p:cNvSpPr>
            <a:spLocks noGrp="1"/>
          </p:cNvSpPr>
          <p:nvPr>
            <p:ph type="body" sz="quarter" idx="12"/>
          </p:nvPr>
        </p:nvSpPr>
        <p:spPr/>
        <p:txBody>
          <a:bodyPr/>
          <a:lstStyle/>
          <a:p>
            <a:r>
              <a:rPr lang="ar-EG" dirty="0"/>
              <a:t>01</a:t>
            </a:r>
            <a:endParaRPr lang="en-US" dirty="0"/>
          </a:p>
        </p:txBody>
      </p:sp>
      <p:sp>
        <p:nvSpPr>
          <p:cNvPr id="2" name="Text Placeholder 1">
            <a:extLst>
              <a:ext uri="{FF2B5EF4-FFF2-40B4-BE49-F238E27FC236}">
                <a16:creationId xmlns:a16="http://schemas.microsoft.com/office/drawing/2014/main" id="{256E742C-FD54-E193-BF94-1A1446226560}"/>
              </a:ext>
            </a:extLst>
          </p:cNvPr>
          <p:cNvSpPr>
            <a:spLocks noGrp="1"/>
          </p:cNvSpPr>
          <p:nvPr>
            <p:ph type="body" sz="quarter" idx="14"/>
          </p:nvPr>
        </p:nvSpPr>
        <p:spPr/>
        <p:txBody>
          <a:bodyPr/>
          <a:lstStyle/>
          <a:p>
            <a:pPr marL="0" indent="0" algn="ctr" defTabSz="914400" rtl="0" eaLnBrk="1" latinLnBrk="0" hangingPunct="1">
              <a:lnSpc>
                <a:spcPct val="100000"/>
              </a:lnSpc>
              <a:spcBef>
                <a:spcPts val="1200"/>
              </a:spcBef>
              <a:spcAft>
                <a:spcPts val="1200"/>
              </a:spcAft>
              <a:buSzPct val="80000"/>
              <a:buFont typeface="Arial" panose="020B0604020202020204" pitchFamily="34" charset="0"/>
              <a:buNone/>
            </a:pPr>
            <a:r>
              <a:rPr lang="en-US" dirty="0"/>
              <a:t>05</a:t>
            </a:r>
          </a:p>
        </p:txBody>
      </p:sp>
    </p:spTree>
    <p:extLst>
      <p:ext uri="{BB962C8B-B14F-4D97-AF65-F5344CB8AC3E}">
        <p14:creationId xmlns:p14="http://schemas.microsoft.com/office/powerpoint/2010/main" val="1038189196"/>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t>38</a:t>
            </a:fld>
            <a:endParaRPr lang="en-US"/>
          </a:p>
        </p:txBody>
      </p:sp>
      <p:graphicFrame>
        <p:nvGraphicFramePr>
          <p:cNvPr id="7" name="Table 6">
            <a:extLst>
              <a:ext uri="{FF2B5EF4-FFF2-40B4-BE49-F238E27FC236}">
                <a16:creationId xmlns:a16="http://schemas.microsoft.com/office/drawing/2014/main" id="{20039A17-2AA8-49A0-BED6-EE19CFC3358F}"/>
              </a:ext>
            </a:extLst>
          </p:cNvPr>
          <p:cNvGraphicFramePr>
            <a:graphicFrameLocks noGrp="1"/>
          </p:cNvGraphicFramePr>
          <p:nvPr>
            <p:extLst>
              <p:ext uri="{D42A27DB-BD31-4B8C-83A1-F6EECF244321}">
                <p14:modId xmlns:p14="http://schemas.microsoft.com/office/powerpoint/2010/main" val="2765468341"/>
              </p:ext>
            </p:extLst>
          </p:nvPr>
        </p:nvGraphicFramePr>
        <p:xfrm>
          <a:off x="621453" y="939190"/>
          <a:ext cx="10965711" cy="5046865"/>
        </p:xfrm>
        <a:graphic>
          <a:graphicData uri="http://schemas.openxmlformats.org/drawingml/2006/table">
            <a:tbl>
              <a:tblPr rtl="1" firstRow="1" firstCol="1" bandRow="1">
                <a:tableStyleId>{5C22544A-7EE6-4342-B048-85BDC9FD1C3A}</a:tableStyleId>
              </a:tblPr>
              <a:tblGrid>
                <a:gridCol w="381893">
                  <a:extLst>
                    <a:ext uri="{9D8B030D-6E8A-4147-A177-3AD203B41FA5}">
                      <a16:colId xmlns:a16="http://schemas.microsoft.com/office/drawing/2014/main" val="924048293"/>
                    </a:ext>
                  </a:extLst>
                </a:gridCol>
                <a:gridCol w="1188718">
                  <a:extLst>
                    <a:ext uri="{9D8B030D-6E8A-4147-A177-3AD203B41FA5}">
                      <a16:colId xmlns:a16="http://schemas.microsoft.com/office/drawing/2014/main" val="3202032702"/>
                    </a:ext>
                  </a:extLst>
                </a:gridCol>
                <a:gridCol w="1682208">
                  <a:extLst>
                    <a:ext uri="{9D8B030D-6E8A-4147-A177-3AD203B41FA5}">
                      <a16:colId xmlns:a16="http://schemas.microsoft.com/office/drawing/2014/main" val="4044514770"/>
                    </a:ext>
                  </a:extLst>
                </a:gridCol>
                <a:gridCol w="977409">
                  <a:extLst>
                    <a:ext uri="{9D8B030D-6E8A-4147-A177-3AD203B41FA5}">
                      <a16:colId xmlns:a16="http://schemas.microsoft.com/office/drawing/2014/main" val="1334801553"/>
                    </a:ext>
                  </a:extLst>
                </a:gridCol>
                <a:gridCol w="588388">
                  <a:extLst>
                    <a:ext uri="{9D8B030D-6E8A-4147-A177-3AD203B41FA5}">
                      <a16:colId xmlns:a16="http://schemas.microsoft.com/office/drawing/2014/main" val="2311895706"/>
                    </a:ext>
                  </a:extLst>
                </a:gridCol>
                <a:gridCol w="785191">
                  <a:extLst>
                    <a:ext uri="{9D8B030D-6E8A-4147-A177-3AD203B41FA5}">
                      <a16:colId xmlns:a16="http://schemas.microsoft.com/office/drawing/2014/main" val="2678073446"/>
                    </a:ext>
                  </a:extLst>
                </a:gridCol>
                <a:gridCol w="596348">
                  <a:extLst>
                    <a:ext uri="{9D8B030D-6E8A-4147-A177-3AD203B41FA5}">
                      <a16:colId xmlns:a16="http://schemas.microsoft.com/office/drawing/2014/main" val="2577328994"/>
                    </a:ext>
                  </a:extLst>
                </a:gridCol>
                <a:gridCol w="526774">
                  <a:extLst>
                    <a:ext uri="{9D8B030D-6E8A-4147-A177-3AD203B41FA5}">
                      <a16:colId xmlns:a16="http://schemas.microsoft.com/office/drawing/2014/main" val="1382895601"/>
                    </a:ext>
                  </a:extLst>
                </a:gridCol>
                <a:gridCol w="2429551">
                  <a:extLst>
                    <a:ext uri="{9D8B030D-6E8A-4147-A177-3AD203B41FA5}">
                      <a16:colId xmlns:a16="http://schemas.microsoft.com/office/drawing/2014/main" val="2550060147"/>
                    </a:ext>
                  </a:extLst>
                </a:gridCol>
                <a:gridCol w="1809231">
                  <a:extLst>
                    <a:ext uri="{9D8B030D-6E8A-4147-A177-3AD203B41FA5}">
                      <a16:colId xmlns:a16="http://schemas.microsoft.com/office/drawing/2014/main" val="2164656520"/>
                    </a:ext>
                  </a:extLst>
                </a:gridCol>
              </a:tblGrid>
              <a:tr h="548262">
                <a:tc>
                  <a:txBody>
                    <a:bodyPr/>
                    <a:lstStyle/>
                    <a:p>
                      <a:pPr marL="0" marR="0" algn="ctr" rtl="0">
                        <a:lnSpc>
                          <a:spcPct val="107000"/>
                        </a:lnSpc>
                        <a:spcBef>
                          <a:spcPts val="0"/>
                        </a:spcBef>
                        <a:spcAft>
                          <a:spcPts val="0"/>
                        </a:spcAft>
                      </a:pPr>
                      <a:r>
                        <a:rPr lang="en-US" sz="1000">
                          <a:effectLst/>
                          <a:latin typeface="+mn-lt"/>
                        </a:rPr>
                        <a:t>#</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اسم الكيان</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وصف الكيان</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الإدارة المالكة للكيان</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تصنيف الكيان</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الربط مع الشبكة الحكومية الآمنة</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الربط مع قناة التكامل الحكومية</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مجموعة البيانات</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خزينة البيانات</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ea typeface="Calibri" panose="020F0502020204030204" pitchFamily="34" charset="0"/>
                          <a:cs typeface="Arial" panose="020B0604020202020204" pitchFamily="34" charset="0"/>
                        </a:rPr>
                        <a:t>الوضع المستقبلي</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extLst>
                  <a:ext uri="{0D108BD9-81ED-4DB2-BD59-A6C34878D82A}">
                    <a16:rowId xmlns:a16="http://schemas.microsoft.com/office/drawing/2014/main" val="4284928647"/>
                  </a:ext>
                </a:extLst>
              </a:tr>
              <a:tr h="425625">
                <a:tc>
                  <a:txBody>
                    <a:bodyPr/>
                    <a:lstStyle/>
                    <a:p>
                      <a:pPr marL="0" marR="0" algn="ctr" rtl="0">
                        <a:lnSpc>
                          <a:spcPct val="107000"/>
                        </a:lnSpc>
                        <a:spcBef>
                          <a:spcPts val="0"/>
                        </a:spcBef>
                        <a:spcAft>
                          <a:spcPts val="0"/>
                        </a:spcAft>
                      </a:pPr>
                      <a:r>
                        <a:rPr lang="en-US" sz="1000">
                          <a:effectLst/>
                          <a:latin typeface="+mn-lt"/>
                        </a:rPr>
                        <a:t>1</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سجل الإتفاقيات</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بيانات الاتفاقيات مع الأطراف الأخرى</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ادارة الاتفاقيات والقضايا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مقيد</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البيانات القانونية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rowSpan="2">
                  <a:txBody>
                    <a:bodyPr/>
                    <a:lstStyle/>
                    <a:p>
                      <a:pPr marL="0" marR="0" algn="ctr" rtl="1">
                        <a:lnSpc>
                          <a:spcPct val="107000"/>
                        </a:lnSpc>
                        <a:spcBef>
                          <a:spcPts val="0"/>
                        </a:spcBef>
                        <a:spcAft>
                          <a:spcPts val="0"/>
                        </a:spcAft>
                      </a:pPr>
                      <a:r>
                        <a:rPr lang="ar-SA" sz="1000" dirty="0">
                          <a:effectLst/>
                          <a:latin typeface="+mn-lt"/>
                        </a:rPr>
                        <a:t>يدوي</a:t>
                      </a:r>
                    </a:p>
                  </a:txBody>
                  <a:tcPr marL="41637" marR="41637" marT="0" marB="0" anchor="ctr"/>
                </a:tc>
                <a:tc rowSpan="2">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dirty="0" err="1">
                          <a:effectLst/>
                          <a:latin typeface="+mn-lt"/>
                        </a:rPr>
                        <a:t>رقمنة</a:t>
                      </a:r>
                      <a:r>
                        <a:rPr lang="ar-SA" sz="1000" dirty="0">
                          <a:effectLst/>
                          <a:latin typeface="+mn-lt"/>
                        </a:rPr>
                        <a:t> وارشفة البيانات اليدوية</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41637" marR="41637" marT="0" marB="0" anchor="ctr">
                    <a:solidFill>
                      <a:srgbClr val="00B050"/>
                    </a:solidFill>
                  </a:tcPr>
                </a:tc>
                <a:extLst>
                  <a:ext uri="{0D108BD9-81ED-4DB2-BD59-A6C34878D82A}">
                    <a16:rowId xmlns:a16="http://schemas.microsoft.com/office/drawing/2014/main" val="2236226985"/>
                  </a:ext>
                </a:extLst>
              </a:tr>
              <a:tr h="957656">
                <a:tc>
                  <a:txBody>
                    <a:bodyPr/>
                    <a:lstStyle/>
                    <a:p>
                      <a:pPr marL="0" marR="0" algn="ctr" rtl="0">
                        <a:lnSpc>
                          <a:spcPct val="107000"/>
                        </a:lnSpc>
                        <a:spcBef>
                          <a:spcPts val="0"/>
                        </a:spcBef>
                        <a:spcAft>
                          <a:spcPts val="0"/>
                        </a:spcAft>
                      </a:pPr>
                      <a:r>
                        <a:rPr lang="en-US" sz="1000">
                          <a:effectLst/>
                          <a:latin typeface="+mn-lt"/>
                        </a:rPr>
                        <a:t>2</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سجل الدعاوى القانونية</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بيانات القضايا من رقم القضية وتاريخها واسم المحكمة وموقعها وموضوع الدعوى</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ادارة الاتفاقيات والقضايا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مقيد</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البيانات القانونية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vMerge="1">
                  <a:txBody>
                    <a:bodyPr/>
                    <a:lstStyle/>
                    <a:p>
                      <a:pPr marL="0" marR="0" algn="ctr" rtl="1">
                        <a:lnSpc>
                          <a:spcPct val="107000"/>
                        </a:lnSpc>
                        <a:spcBef>
                          <a:spcPts val="0"/>
                        </a:spcBef>
                        <a:spcAft>
                          <a:spcPts val="0"/>
                        </a:spcAft>
                      </a:pPr>
                      <a:r>
                        <a:rPr lang="ar-SA" sz="1000" dirty="0">
                          <a:effectLst/>
                          <a:latin typeface="+mn-lt"/>
                        </a:rPr>
                        <a:t>يدوي</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vMerge="1">
                  <a:txBody>
                    <a:bodyPr/>
                    <a:lstStyle/>
                    <a:p>
                      <a:endParaRPr lang="en-AE"/>
                    </a:p>
                  </a:txBody>
                  <a:tcPr/>
                </a:tc>
                <a:extLst>
                  <a:ext uri="{0D108BD9-81ED-4DB2-BD59-A6C34878D82A}">
                    <a16:rowId xmlns:a16="http://schemas.microsoft.com/office/drawing/2014/main" val="2618742447"/>
                  </a:ext>
                </a:extLst>
              </a:tr>
              <a:tr h="425625">
                <a:tc>
                  <a:txBody>
                    <a:bodyPr/>
                    <a:lstStyle/>
                    <a:p>
                      <a:pPr marL="0" marR="0" algn="ctr" rtl="0">
                        <a:lnSpc>
                          <a:spcPct val="107000"/>
                        </a:lnSpc>
                        <a:spcBef>
                          <a:spcPts val="0"/>
                        </a:spcBef>
                        <a:spcAft>
                          <a:spcPts val="0"/>
                        </a:spcAft>
                      </a:pPr>
                      <a:r>
                        <a:rPr lang="en-US" sz="1000">
                          <a:effectLst/>
                          <a:latin typeface="+mn-lt"/>
                        </a:rPr>
                        <a:t>3</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سجل المراجعة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تفاصيل وتقارير عمليات المراجعة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ادارة الاعتماد المؤسسي </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سري</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الاعتمادات</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en-US" sz="1000">
                          <a:effectLst/>
                          <a:latin typeface="+mn-lt"/>
                        </a:rPr>
                        <a:t>EMSDB</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41637" marR="41637" marT="0" marB="0" anchor="ctr">
                    <a:solidFill>
                      <a:srgbClr val="00B050"/>
                    </a:solidFill>
                  </a:tcPr>
                </a:tc>
                <a:extLst>
                  <a:ext uri="{0D108BD9-81ED-4DB2-BD59-A6C34878D82A}">
                    <a16:rowId xmlns:a16="http://schemas.microsoft.com/office/drawing/2014/main" val="612668564"/>
                  </a:ext>
                </a:extLst>
              </a:tr>
              <a:tr h="487933">
                <a:tc>
                  <a:txBody>
                    <a:bodyPr/>
                    <a:lstStyle/>
                    <a:p>
                      <a:pPr marL="0" marR="0" algn="ctr" rtl="0">
                        <a:lnSpc>
                          <a:spcPct val="107000"/>
                        </a:lnSpc>
                        <a:spcBef>
                          <a:spcPts val="0"/>
                        </a:spcBef>
                        <a:spcAft>
                          <a:spcPts val="0"/>
                        </a:spcAft>
                      </a:pPr>
                      <a:r>
                        <a:rPr lang="en-US" sz="1000">
                          <a:effectLst/>
                          <a:latin typeface="+mn-lt"/>
                        </a:rPr>
                        <a:t>4</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سجل برامج تخصص</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بيانات برامج التخصصات العسكرية والامنية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ادارة الاعتماد المؤسسي </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سري للغاية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الاعتمادات</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متعدد</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dirty="0" err="1">
                          <a:effectLst/>
                          <a:latin typeface="+mn-lt"/>
                        </a:rPr>
                        <a:t>رقمنة</a:t>
                      </a:r>
                      <a:r>
                        <a:rPr lang="ar-SA" sz="1000" dirty="0">
                          <a:effectLst/>
                          <a:latin typeface="+mn-lt"/>
                        </a:rPr>
                        <a:t> وارشفة البيانات اليدوية</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41637" marR="41637" marT="0" marB="0" anchor="ctr">
                    <a:solidFill>
                      <a:srgbClr val="00B050"/>
                    </a:solidFill>
                  </a:tcPr>
                </a:tc>
                <a:extLst>
                  <a:ext uri="{0D108BD9-81ED-4DB2-BD59-A6C34878D82A}">
                    <a16:rowId xmlns:a16="http://schemas.microsoft.com/office/drawing/2014/main" val="2271037891"/>
                  </a:ext>
                </a:extLst>
              </a:tr>
              <a:tr h="688633">
                <a:tc>
                  <a:txBody>
                    <a:bodyPr/>
                    <a:lstStyle/>
                    <a:p>
                      <a:pPr marL="0" marR="0" algn="ctr" rtl="0">
                        <a:lnSpc>
                          <a:spcPct val="107000"/>
                        </a:lnSpc>
                        <a:spcBef>
                          <a:spcPts val="0"/>
                        </a:spcBef>
                        <a:spcAft>
                          <a:spcPts val="0"/>
                        </a:spcAft>
                      </a:pPr>
                      <a:r>
                        <a:rPr lang="en-US" sz="1000">
                          <a:effectLst/>
                          <a:latin typeface="+mn-lt"/>
                        </a:rPr>
                        <a:t>5</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سجل المراسلات</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جميع المراسلات والمستندات التي تصدرها الهيئة إلى جهات خارجية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الاتصالات الإدارية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مقيد</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الاتصالات الإدارية</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en-US" sz="1000" dirty="0">
                          <a:effectLst/>
                          <a:latin typeface="+mn-lt"/>
                          <a:ea typeface="Calibri" panose="020F0502020204030204" pitchFamily="34" charset="0"/>
                          <a:cs typeface="Arial" panose="020B0604020202020204" pitchFamily="34" charset="0"/>
                        </a:rPr>
                        <a:t>CMSv2, CMSv2NCAAA –Archive, CMSv2Qiyas  --Archive</a:t>
                      </a:r>
                    </a:p>
                  </a:txBody>
                  <a:tcPr marL="41637" marR="4163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p>
                      <a:pPr marL="171450" marR="0" indent="-171450" algn="r" rtl="1">
                        <a:lnSpc>
                          <a:spcPct val="107000"/>
                        </a:lnSpc>
                        <a:spcBef>
                          <a:spcPts val="0"/>
                        </a:spcBef>
                        <a:spcAft>
                          <a:spcPts val="0"/>
                        </a:spcAft>
                        <a:buFont typeface="Arial" panose="020B0604020202020204" pitchFamily="34" charset="0"/>
                        <a:buChar char="•"/>
                      </a:pPr>
                      <a:endParaRPr lang="en-US" sz="1000" dirty="0">
                        <a:effectLst/>
                        <a:latin typeface="+mn-lt"/>
                        <a:ea typeface="Calibri" panose="020F0502020204030204" pitchFamily="34" charset="0"/>
                        <a:cs typeface="Arial" panose="020B0604020202020204" pitchFamily="34" charset="0"/>
                      </a:endParaRPr>
                    </a:p>
                  </a:txBody>
                  <a:tcPr marL="41637" marR="41637" marT="0" marB="0" anchor="ctr">
                    <a:solidFill>
                      <a:srgbClr val="00B050"/>
                    </a:solidFill>
                  </a:tcPr>
                </a:tc>
                <a:extLst>
                  <a:ext uri="{0D108BD9-81ED-4DB2-BD59-A6C34878D82A}">
                    <a16:rowId xmlns:a16="http://schemas.microsoft.com/office/drawing/2014/main" val="2040651489"/>
                  </a:ext>
                </a:extLst>
              </a:tr>
              <a:tr h="532031">
                <a:tc>
                  <a:txBody>
                    <a:bodyPr/>
                    <a:lstStyle/>
                    <a:p>
                      <a:pPr marL="0" marR="0" algn="ctr" rtl="0">
                        <a:lnSpc>
                          <a:spcPct val="107000"/>
                        </a:lnSpc>
                        <a:spcBef>
                          <a:spcPts val="0"/>
                        </a:spcBef>
                        <a:spcAft>
                          <a:spcPts val="0"/>
                        </a:spcAft>
                      </a:pPr>
                      <a:r>
                        <a:rPr lang="en-US" sz="1000">
                          <a:effectLst/>
                          <a:latin typeface="+mn-lt"/>
                        </a:rPr>
                        <a:t>6</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سجل الوثائق</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سحب وثيقة من بوابة المركز الوطني للوثائق والمحفوظات</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الاتصالات الإدارية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مقيد</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الاتصالات الإدارية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يدوي</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kumimoji="0" lang="ar-SA" sz="1000" b="0" i="0" u="none" strike="noStrike" kern="1200" cap="none" spc="0" normalizeH="0" baseline="0" noProof="0" dirty="0" err="1">
                          <a:ln>
                            <a:noFill/>
                          </a:ln>
                          <a:solidFill>
                            <a:prstClr val="black"/>
                          </a:solidFill>
                          <a:effectLst/>
                          <a:uLnTx/>
                          <a:uFillTx/>
                          <a:latin typeface="Sakkal Majalla"/>
                          <a:ea typeface="+mn-ea"/>
                          <a:cs typeface="Sakkal Majalla"/>
                        </a:rPr>
                        <a:t>رقمنة</a:t>
                      </a:r>
                      <a:r>
                        <a:rPr kumimoji="0" lang="ar-SA" sz="1000" b="0" i="0" u="none" strike="noStrike" kern="1200" cap="none" spc="0" normalizeH="0" baseline="0" noProof="0" dirty="0">
                          <a:ln>
                            <a:noFill/>
                          </a:ln>
                          <a:solidFill>
                            <a:prstClr val="black"/>
                          </a:solidFill>
                          <a:effectLst/>
                          <a:uLnTx/>
                          <a:uFillTx/>
                          <a:latin typeface="Sakkal Majalla"/>
                          <a:ea typeface="+mn-ea"/>
                          <a:cs typeface="Sakkal Majalla"/>
                        </a:rPr>
                        <a:t> وارشفة البيانات اليدوية</a:t>
                      </a:r>
                      <a:endParaRPr kumimoji="0" lang="en-US" sz="1000" b="0" i="0" u="none" strike="noStrike" kern="1200" cap="none" spc="0" normalizeH="0" baseline="0" noProof="0" dirty="0">
                        <a:ln>
                          <a:noFill/>
                        </a:ln>
                        <a:solidFill>
                          <a:prstClr val="black"/>
                        </a:solidFill>
                        <a:effectLst/>
                        <a:uLnTx/>
                        <a:uFillTx/>
                        <a:latin typeface="Sakkal Majalla"/>
                        <a:ea typeface="+mn-ea"/>
                        <a:cs typeface="Sakkal Majalla"/>
                      </a:endParaRP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41637" marR="41637" marT="0" marB="0" anchor="ctr">
                    <a:solidFill>
                      <a:srgbClr val="00B050"/>
                    </a:solidFill>
                  </a:tcPr>
                </a:tc>
                <a:extLst>
                  <a:ext uri="{0D108BD9-81ED-4DB2-BD59-A6C34878D82A}">
                    <a16:rowId xmlns:a16="http://schemas.microsoft.com/office/drawing/2014/main" val="1954148453"/>
                  </a:ext>
                </a:extLst>
              </a:tr>
              <a:tr h="319219">
                <a:tc>
                  <a:txBody>
                    <a:bodyPr/>
                    <a:lstStyle/>
                    <a:p>
                      <a:pPr marL="0" marR="0" algn="ctr" rtl="0">
                        <a:lnSpc>
                          <a:spcPct val="107000"/>
                        </a:lnSpc>
                        <a:spcBef>
                          <a:spcPts val="0"/>
                        </a:spcBef>
                        <a:spcAft>
                          <a:spcPts val="0"/>
                        </a:spcAft>
                      </a:pPr>
                      <a:r>
                        <a:rPr lang="en-US" sz="1000">
                          <a:effectLst/>
                          <a:latin typeface="+mn-lt"/>
                        </a:rPr>
                        <a:t>7</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مطالبة مالية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بيانات المطالبات المالية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الادارة المالية </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مقيد</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المالية</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متعدد</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kumimoji="0" lang="ar-SA" sz="1000" b="0" i="0" u="none" strike="noStrike" kern="1200" cap="none" spc="0" normalizeH="0" baseline="0" noProof="0" dirty="0" err="1">
                          <a:ln>
                            <a:noFill/>
                          </a:ln>
                          <a:solidFill>
                            <a:prstClr val="black"/>
                          </a:solidFill>
                          <a:effectLst/>
                          <a:uLnTx/>
                          <a:uFillTx/>
                          <a:latin typeface="Sakkal Majalla"/>
                          <a:ea typeface="+mn-ea"/>
                          <a:cs typeface="Sakkal Majalla"/>
                        </a:rPr>
                        <a:t>رقمنة</a:t>
                      </a:r>
                      <a:r>
                        <a:rPr kumimoji="0" lang="ar-SA" sz="1000" b="0" i="0" u="none" strike="noStrike" kern="1200" cap="none" spc="0" normalizeH="0" baseline="0" noProof="0" dirty="0">
                          <a:ln>
                            <a:noFill/>
                          </a:ln>
                          <a:solidFill>
                            <a:prstClr val="black"/>
                          </a:solidFill>
                          <a:effectLst/>
                          <a:uLnTx/>
                          <a:uFillTx/>
                          <a:latin typeface="Sakkal Majalla"/>
                          <a:ea typeface="+mn-ea"/>
                          <a:cs typeface="Sakkal Majalla"/>
                        </a:rPr>
                        <a:t> وارشفة البيانات اليدوية</a:t>
                      </a:r>
                      <a:endParaRPr kumimoji="0" lang="en-US" sz="1000" b="0" i="0" u="none" strike="noStrike" kern="1200" cap="none" spc="0" normalizeH="0" baseline="0" noProof="0" dirty="0">
                        <a:ln>
                          <a:noFill/>
                        </a:ln>
                        <a:solidFill>
                          <a:prstClr val="black"/>
                        </a:solidFill>
                        <a:effectLst/>
                        <a:uLnTx/>
                        <a:uFillTx/>
                        <a:latin typeface="Sakkal Majalla"/>
                        <a:ea typeface="+mn-ea"/>
                        <a:cs typeface="Sakkal Majalla"/>
                      </a:endParaRP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41637" marR="41637" marT="0" marB="0" anchor="ctr">
                    <a:solidFill>
                      <a:srgbClr val="00B050"/>
                    </a:solidFill>
                  </a:tcPr>
                </a:tc>
                <a:extLst>
                  <a:ext uri="{0D108BD9-81ED-4DB2-BD59-A6C34878D82A}">
                    <a16:rowId xmlns:a16="http://schemas.microsoft.com/office/drawing/2014/main" val="1994893356"/>
                  </a:ext>
                </a:extLst>
              </a:tr>
              <a:tr h="490625">
                <a:tc>
                  <a:txBody>
                    <a:bodyPr/>
                    <a:lstStyle/>
                    <a:p>
                      <a:pPr marL="0" marR="0" algn="ctr" rtl="0">
                        <a:lnSpc>
                          <a:spcPct val="107000"/>
                        </a:lnSpc>
                        <a:spcBef>
                          <a:spcPts val="0"/>
                        </a:spcBef>
                        <a:spcAft>
                          <a:spcPts val="0"/>
                        </a:spcAft>
                      </a:pPr>
                      <a:r>
                        <a:rPr lang="en-US" sz="1000">
                          <a:effectLst/>
                          <a:latin typeface="+mn-lt"/>
                        </a:rPr>
                        <a:t>8</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المتدرب</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بيانات المتدربين</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الاكاديمية الوطنية للتقويم  والقياس والاعتماد</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مقيد</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لا</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a:effectLst/>
                          <a:latin typeface="+mn-lt"/>
                        </a:rPr>
                        <a:t>المستفيدون</a:t>
                      </a:r>
                      <a:endParaRPr lang="en-US" sz="100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0" marR="0" algn="ctr" rtl="1">
                        <a:lnSpc>
                          <a:spcPct val="107000"/>
                        </a:lnSpc>
                        <a:spcBef>
                          <a:spcPts val="0"/>
                        </a:spcBef>
                        <a:spcAft>
                          <a:spcPts val="0"/>
                        </a:spcAft>
                      </a:pPr>
                      <a:r>
                        <a:rPr lang="ar-SA" sz="1000" dirty="0">
                          <a:effectLst/>
                          <a:latin typeface="+mn-lt"/>
                        </a:rPr>
                        <a:t>يدوي</a:t>
                      </a:r>
                      <a:endParaRPr lang="en-US" sz="1000" dirty="0">
                        <a:effectLst/>
                        <a:latin typeface="+mn-lt"/>
                        <a:ea typeface="Calibri" panose="020F0502020204030204" pitchFamily="34" charset="0"/>
                        <a:cs typeface="Arial" panose="020B0604020202020204" pitchFamily="34" charset="0"/>
                      </a:endParaRPr>
                    </a:p>
                  </a:txBody>
                  <a:tcPr marL="41637" marR="4163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kumimoji="0" lang="ar-SA" sz="1000" b="0" i="0" u="none" strike="noStrike" kern="1200" cap="none" spc="0" normalizeH="0" baseline="0" noProof="0" dirty="0" err="1">
                          <a:ln>
                            <a:noFill/>
                          </a:ln>
                          <a:solidFill>
                            <a:prstClr val="black"/>
                          </a:solidFill>
                          <a:effectLst/>
                          <a:uLnTx/>
                          <a:uFillTx/>
                          <a:latin typeface="Sakkal Majalla"/>
                          <a:ea typeface="+mn-ea"/>
                          <a:cs typeface="Sakkal Majalla"/>
                        </a:rPr>
                        <a:t>رقمنة</a:t>
                      </a:r>
                      <a:r>
                        <a:rPr kumimoji="0" lang="ar-SA" sz="1000" b="0" i="0" u="none" strike="noStrike" kern="1200" cap="none" spc="0" normalizeH="0" baseline="0" noProof="0" dirty="0">
                          <a:ln>
                            <a:noFill/>
                          </a:ln>
                          <a:solidFill>
                            <a:prstClr val="black"/>
                          </a:solidFill>
                          <a:effectLst/>
                          <a:uLnTx/>
                          <a:uFillTx/>
                          <a:latin typeface="Sakkal Majalla"/>
                          <a:ea typeface="+mn-ea"/>
                          <a:cs typeface="Sakkal Majalla"/>
                        </a:rPr>
                        <a:t> وارشفة البيانات اليدوية</a:t>
                      </a:r>
                      <a:endParaRPr kumimoji="0" lang="en-US" sz="1000" b="0" i="0" u="none" strike="noStrike" kern="1200" cap="none" spc="0" normalizeH="0" baseline="0" noProof="0" dirty="0">
                        <a:ln>
                          <a:noFill/>
                        </a:ln>
                        <a:solidFill>
                          <a:prstClr val="black"/>
                        </a:solidFill>
                        <a:effectLst/>
                        <a:uLnTx/>
                        <a:uFillTx/>
                        <a:latin typeface="Sakkal Majalla"/>
                        <a:ea typeface="+mn-ea"/>
                        <a:cs typeface="Sakkal Majalla"/>
                      </a:endParaRP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41637" marR="41637" marT="0" marB="0" anchor="ctr">
                    <a:solidFill>
                      <a:srgbClr val="00B050"/>
                    </a:solidFill>
                  </a:tcPr>
                </a:tc>
                <a:extLst>
                  <a:ext uri="{0D108BD9-81ED-4DB2-BD59-A6C34878D82A}">
                    <a16:rowId xmlns:a16="http://schemas.microsoft.com/office/drawing/2014/main" val="642466578"/>
                  </a:ext>
                </a:extLst>
              </a:tr>
            </a:tbl>
          </a:graphicData>
        </a:graphic>
      </p:graphicFrame>
      <p:grpSp>
        <p:nvGrpSpPr>
          <p:cNvPr id="2" name="Group 1">
            <a:extLst>
              <a:ext uri="{FF2B5EF4-FFF2-40B4-BE49-F238E27FC236}">
                <a16:creationId xmlns:a16="http://schemas.microsoft.com/office/drawing/2014/main" id="{DDD817EC-59EF-953C-A802-7D84CFB7F693}"/>
              </a:ext>
            </a:extLst>
          </p:cNvPr>
          <p:cNvGrpSpPr/>
          <p:nvPr/>
        </p:nvGrpSpPr>
        <p:grpSpPr>
          <a:xfrm>
            <a:off x="5445493" y="6210431"/>
            <a:ext cx="1301014" cy="307777"/>
            <a:chOff x="6981138" y="6166124"/>
            <a:chExt cx="1301014" cy="307777"/>
          </a:xfrm>
        </p:grpSpPr>
        <p:sp>
          <p:nvSpPr>
            <p:cNvPr id="4" name="TextBox 3">
              <a:extLst>
                <a:ext uri="{FF2B5EF4-FFF2-40B4-BE49-F238E27FC236}">
                  <a16:creationId xmlns:a16="http://schemas.microsoft.com/office/drawing/2014/main" id="{66268453-68C4-88B6-4A8A-0A5B4172CC3B}"/>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5" name="Rectangle 4">
              <a:extLst>
                <a:ext uri="{FF2B5EF4-FFF2-40B4-BE49-F238E27FC236}">
                  <a16:creationId xmlns:a16="http://schemas.microsoft.com/office/drawing/2014/main" id="{E9C74FEA-2755-0CDD-932E-AF85274BD22D}"/>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53194544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39</a:t>
            </a:fld>
            <a:endParaRPr lang="en-US"/>
          </a:p>
        </p:txBody>
      </p:sp>
      <p:graphicFrame>
        <p:nvGraphicFramePr>
          <p:cNvPr id="5" name="Table 4">
            <a:extLst>
              <a:ext uri="{FF2B5EF4-FFF2-40B4-BE49-F238E27FC236}">
                <a16:creationId xmlns:a16="http://schemas.microsoft.com/office/drawing/2014/main" id="{03CB6AE6-B455-4D09-BF62-BD9AFF263086}"/>
              </a:ext>
            </a:extLst>
          </p:cNvPr>
          <p:cNvGraphicFramePr>
            <a:graphicFrameLocks noGrp="1"/>
          </p:cNvGraphicFramePr>
          <p:nvPr>
            <p:extLst>
              <p:ext uri="{D42A27DB-BD31-4B8C-83A1-F6EECF244321}">
                <p14:modId xmlns:p14="http://schemas.microsoft.com/office/powerpoint/2010/main" val="81566460"/>
              </p:ext>
            </p:extLst>
          </p:nvPr>
        </p:nvGraphicFramePr>
        <p:xfrm>
          <a:off x="621453" y="733836"/>
          <a:ext cx="10895706" cy="4952497"/>
        </p:xfrm>
        <a:graphic>
          <a:graphicData uri="http://schemas.openxmlformats.org/drawingml/2006/table">
            <a:tbl>
              <a:tblPr rtl="1" firstRow="1" firstCol="1" bandRow="1">
                <a:tableStyleId>{5C22544A-7EE6-4342-B048-85BDC9FD1C3A}</a:tableStyleId>
              </a:tblPr>
              <a:tblGrid>
                <a:gridCol w="379285">
                  <a:extLst>
                    <a:ext uri="{9D8B030D-6E8A-4147-A177-3AD203B41FA5}">
                      <a16:colId xmlns:a16="http://schemas.microsoft.com/office/drawing/2014/main" val="1568580484"/>
                    </a:ext>
                  </a:extLst>
                </a:gridCol>
                <a:gridCol w="1692909">
                  <a:extLst>
                    <a:ext uri="{9D8B030D-6E8A-4147-A177-3AD203B41FA5}">
                      <a16:colId xmlns:a16="http://schemas.microsoft.com/office/drawing/2014/main" val="921982833"/>
                    </a:ext>
                  </a:extLst>
                </a:gridCol>
                <a:gridCol w="2590241">
                  <a:extLst>
                    <a:ext uri="{9D8B030D-6E8A-4147-A177-3AD203B41FA5}">
                      <a16:colId xmlns:a16="http://schemas.microsoft.com/office/drawing/2014/main" val="2571706668"/>
                    </a:ext>
                  </a:extLst>
                </a:gridCol>
                <a:gridCol w="2136949">
                  <a:extLst>
                    <a:ext uri="{9D8B030D-6E8A-4147-A177-3AD203B41FA5}">
                      <a16:colId xmlns:a16="http://schemas.microsoft.com/office/drawing/2014/main" val="932434766"/>
                    </a:ext>
                  </a:extLst>
                </a:gridCol>
                <a:gridCol w="434790">
                  <a:extLst>
                    <a:ext uri="{9D8B030D-6E8A-4147-A177-3AD203B41FA5}">
                      <a16:colId xmlns:a16="http://schemas.microsoft.com/office/drawing/2014/main" val="3199876397"/>
                    </a:ext>
                  </a:extLst>
                </a:gridCol>
                <a:gridCol w="481044">
                  <a:extLst>
                    <a:ext uri="{9D8B030D-6E8A-4147-A177-3AD203B41FA5}">
                      <a16:colId xmlns:a16="http://schemas.microsoft.com/office/drawing/2014/main" val="585819765"/>
                    </a:ext>
                  </a:extLst>
                </a:gridCol>
                <a:gridCol w="518050">
                  <a:extLst>
                    <a:ext uri="{9D8B030D-6E8A-4147-A177-3AD203B41FA5}">
                      <a16:colId xmlns:a16="http://schemas.microsoft.com/office/drawing/2014/main" val="3070617449"/>
                    </a:ext>
                  </a:extLst>
                </a:gridCol>
                <a:gridCol w="588042">
                  <a:extLst>
                    <a:ext uri="{9D8B030D-6E8A-4147-A177-3AD203B41FA5}">
                      <a16:colId xmlns:a16="http://schemas.microsoft.com/office/drawing/2014/main" val="3533466886"/>
                    </a:ext>
                  </a:extLst>
                </a:gridCol>
                <a:gridCol w="432709">
                  <a:extLst>
                    <a:ext uri="{9D8B030D-6E8A-4147-A177-3AD203B41FA5}">
                      <a16:colId xmlns:a16="http://schemas.microsoft.com/office/drawing/2014/main" val="3576900802"/>
                    </a:ext>
                  </a:extLst>
                </a:gridCol>
                <a:gridCol w="1641687">
                  <a:extLst>
                    <a:ext uri="{9D8B030D-6E8A-4147-A177-3AD203B41FA5}">
                      <a16:colId xmlns:a16="http://schemas.microsoft.com/office/drawing/2014/main" val="3703544744"/>
                    </a:ext>
                  </a:extLst>
                </a:gridCol>
              </a:tblGrid>
              <a:tr h="545588">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dirty="0">
                          <a:effectLst/>
                          <a:latin typeface="+mn-lt"/>
                        </a:rPr>
                        <a:t>الربط مع الشبكة الحكومية الآمنة</a:t>
                      </a:r>
                      <a:endParaRPr lang="en-US" sz="1050" dirty="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dirty="0">
                          <a:effectLst/>
                          <a:latin typeface="+mn-lt"/>
                        </a:rPr>
                        <a:t>خزينة البيانات</a:t>
                      </a:r>
                      <a:endParaRPr lang="en-US" sz="1050" dirty="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41434" marR="41434" marT="0" marB="0" anchor="ctr"/>
                </a:tc>
                <a:extLst>
                  <a:ext uri="{0D108BD9-81ED-4DB2-BD59-A6C34878D82A}">
                    <a16:rowId xmlns:a16="http://schemas.microsoft.com/office/drawing/2014/main" val="3302776280"/>
                  </a:ext>
                </a:extLst>
              </a:tr>
              <a:tr h="488232">
                <a:tc>
                  <a:txBody>
                    <a:bodyPr/>
                    <a:lstStyle/>
                    <a:p>
                      <a:pPr marL="0" marR="0" algn="ctr" rtl="0">
                        <a:lnSpc>
                          <a:spcPct val="107000"/>
                        </a:lnSpc>
                        <a:spcBef>
                          <a:spcPts val="0"/>
                        </a:spcBef>
                        <a:spcAft>
                          <a:spcPts val="0"/>
                        </a:spcAft>
                      </a:pPr>
                      <a:r>
                        <a:rPr lang="en-US" sz="1050">
                          <a:effectLst/>
                          <a:latin typeface="+mn-lt"/>
                        </a:rPr>
                        <a:t>9</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دورة تدريبية</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بيانات الدورة التدريبية وأهدافها ومواعيدها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الاكاديمية الوطنية للتقويم  والقياس والاعتماد</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التدريب</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rowSpan="2">
                  <a:txBody>
                    <a:bodyPr/>
                    <a:lstStyle/>
                    <a:p>
                      <a:pPr marL="0" marR="0" algn="ctr" rtl="1">
                        <a:lnSpc>
                          <a:spcPct val="107000"/>
                        </a:lnSpc>
                        <a:spcBef>
                          <a:spcPts val="0"/>
                        </a:spcBef>
                        <a:spcAft>
                          <a:spcPts val="0"/>
                        </a:spcAft>
                      </a:pPr>
                      <a:r>
                        <a:rPr lang="ar-SA" sz="1050" dirty="0">
                          <a:effectLst/>
                          <a:latin typeface="+mn-lt"/>
                        </a:rPr>
                        <a:t>يدوي</a:t>
                      </a:r>
                    </a:p>
                  </a:txBody>
                  <a:tcPr marL="41434" marR="41434" marT="0" marB="0" anchor="ctr"/>
                </a:tc>
                <a:tc rowSpan="2">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err="1">
                          <a:effectLst/>
                          <a:latin typeface="+mn-lt"/>
                        </a:rPr>
                        <a:t>رقمنة</a:t>
                      </a:r>
                      <a:r>
                        <a:rPr lang="ar-SA" sz="1050" dirty="0">
                          <a:effectLst/>
                          <a:latin typeface="+mn-lt"/>
                        </a:rPr>
                        <a:t> وارشفة البيانات اليدوية</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41434" marR="41434" marT="0" marB="0" anchor="ctr">
                    <a:solidFill>
                      <a:srgbClr val="00B050"/>
                    </a:solidFill>
                  </a:tcPr>
                </a:tc>
                <a:extLst>
                  <a:ext uri="{0D108BD9-81ED-4DB2-BD59-A6C34878D82A}">
                    <a16:rowId xmlns:a16="http://schemas.microsoft.com/office/drawing/2014/main" val="1007325235"/>
                  </a:ext>
                </a:extLst>
              </a:tr>
              <a:tr h="488232">
                <a:tc>
                  <a:txBody>
                    <a:bodyPr/>
                    <a:lstStyle/>
                    <a:p>
                      <a:pPr marL="0" marR="0" algn="ctr" rtl="0">
                        <a:lnSpc>
                          <a:spcPct val="107000"/>
                        </a:lnSpc>
                        <a:spcBef>
                          <a:spcPts val="0"/>
                        </a:spcBef>
                        <a:spcAft>
                          <a:spcPts val="0"/>
                        </a:spcAft>
                      </a:pPr>
                      <a:r>
                        <a:rPr lang="en-US" sz="1050">
                          <a:effectLst/>
                          <a:latin typeface="+mn-lt"/>
                        </a:rPr>
                        <a:t>10</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سجل أعضاء هيئة التدريس</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بيانات المدربين</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الاكاديمية الوطنية للتقويم  والقياس والاعتماد</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المستفيدون</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vMerge="1">
                  <a:txBody>
                    <a:bodyPr/>
                    <a:lstStyle/>
                    <a:p>
                      <a:pPr marL="0" marR="0" algn="ctr" rtl="1">
                        <a:lnSpc>
                          <a:spcPct val="107000"/>
                        </a:lnSpc>
                        <a:spcBef>
                          <a:spcPts val="0"/>
                        </a:spcBef>
                        <a:spcAft>
                          <a:spcPts val="0"/>
                        </a:spcAft>
                      </a:pPr>
                      <a:r>
                        <a:rPr lang="ar-SA" sz="1050" dirty="0">
                          <a:effectLst/>
                          <a:latin typeface="+mn-lt"/>
                        </a:rPr>
                        <a:t>يدوي</a:t>
                      </a:r>
                      <a:endParaRPr lang="en-US" sz="1050" dirty="0">
                        <a:effectLst/>
                        <a:latin typeface="+mn-lt"/>
                        <a:ea typeface="Calibri" panose="020F0502020204030204" pitchFamily="34" charset="0"/>
                        <a:cs typeface="Arial" panose="020B0604020202020204" pitchFamily="34" charset="0"/>
                      </a:endParaRPr>
                    </a:p>
                  </a:txBody>
                  <a:tcPr marL="41434" marR="41434" marT="0" marB="0" anchor="ctr"/>
                </a:tc>
                <a:tc vMerge="1">
                  <a:txBody>
                    <a:bodyPr/>
                    <a:lstStyle/>
                    <a:p>
                      <a:endParaRPr lang="en-AE"/>
                    </a:p>
                  </a:txBody>
                  <a:tcPr/>
                </a:tc>
                <a:extLst>
                  <a:ext uri="{0D108BD9-81ED-4DB2-BD59-A6C34878D82A}">
                    <a16:rowId xmlns:a16="http://schemas.microsoft.com/office/drawing/2014/main" val="3724121501"/>
                  </a:ext>
                </a:extLst>
              </a:tr>
              <a:tr h="488232">
                <a:tc>
                  <a:txBody>
                    <a:bodyPr/>
                    <a:lstStyle/>
                    <a:p>
                      <a:pPr marL="0" marR="0" algn="ctr" rtl="0">
                        <a:lnSpc>
                          <a:spcPct val="107000"/>
                        </a:lnSpc>
                        <a:spcBef>
                          <a:spcPts val="0"/>
                        </a:spcBef>
                        <a:spcAft>
                          <a:spcPts val="0"/>
                        </a:spcAft>
                      </a:pPr>
                      <a:r>
                        <a:rPr lang="en-US" sz="1050">
                          <a:effectLst/>
                          <a:latin typeface="+mn-lt"/>
                        </a:rPr>
                        <a:t>11</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سجل التسجيل في ورشة</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بيانات التسجيل في الورش التدريبية</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الاكاديمية الوطنية للتقويم والقياس والاعتماد</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rowSpan="3">
                  <a:txBody>
                    <a:bodyPr/>
                    <a:lstStyle/>
                    <a:p>
                      <a:pPr marL="0" marR="0" algn="ctr" rtl="1">
                        <a:lnSpc>
                          <a:spcPct val="107000"/>
                        </a:lnSpc>
                        <a:spcBef>
                          <a:spcPts val="0"/>
                        </a:spcBef>
                        <a:spcAft>
                          <a:spcPts val="0"/>
                        </a:spcAft>
                      </a:pPr>
                      <a:r>
                        <a:rPr lang="ar-SA" sz="1050" dirty="0">
                          <a:effectLst/>
                          <a:latin typeface="+mn-lt"/>
                        </a:rPr>
                        <a:t>غير محدد</a:t>
                      </a:r>
                    </a:p>
                  </a:txBody>
                  <a:tcPr marL="41434" marR="41434" marT="0" marB="0" anchor="ctr"/>
                </a:tc>
                <a:tc rowSpan="3">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تحديد خزينة البيانات</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41434" marR="41434" marT="0" marB="0" anchor="ctr">
                    <a:solidFill>
                      <a:srgbClr val="00B050"/>
                    </a:solidFill>
                  </a:tcPr>
                </a:tc>
                <a:extLst>
                  <a:ext uri="{0D108BD9-81ED-4DB2-BD59-A6C34878D82A}">
                    <a16:rowId xmlns:a16="http://schemas.microsoft.com/office/drawing/2014/main" val="669684732"/>
                  </a:ext>
                </a:extLst>
              </a:tr>
              <a:tr h="1376533">
                <a:tc>
                  <a:txBody>
                    <a:bodyPr/>
                    <a:lstStyle/>
                    <a:p>
                      <a:pPr marL="0" marR="0" algn="ctr" rtl="0">
                        <a:lnSpc>
                          <a:spcPct val="107000"/>
                        </a:lnSpc>
                        <a:spcBef>
                          <a:spcPts val="0"/>
                        </a:spcBef>
                        <a:spcAft>
                          <a:spcPts val="0"/>
                        </a:spcAft>
                      </a:pPr>
                      <a:r>
                        <a:rPr lang="en-US" sz="1050">
                          <a:effectLst/>
                          <a:latin typeface="+mn-lt"/>
                        </a:rPr>
                        <a:t>13</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dirty="0">
                          <a:effectLst/>
                          <a:latin typeface="+mn-lt"/>
                        </a:rPr>
                        <a:t>سجل بيانات الواجبات</a:t>
                      </a:r>
                      <a:endParaRPr lang="en-US" sz="1050" dirty="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بيانات الواجبات التي تمكن المستفيد من أداء واجبات الدورة أو الورشة التدريبية من خلال</a:t>
                      </a:r>
                      <a:br>
                        <a:rPr lang="ar-SA" sz="1050">
                          <a:effectLst/>
                          <a:latin typeface="+mn-lt"/>
                        </a:rPr>
                      </a:br>
                      <a:r>
                        <a:rPr lang="ar-SA" sz="1050">
                          <a:effectLst/>
                          <a:latin typeface="+mn-lt"/>
                        </a:rPr>
                        <a:t>المنصة الرقمية للتدريب الإلكتروني.</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الاكاديمية الوطنية للتقويم والقياس والاعتماد</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vMerge="1">
                  <a:txBody>
                    <a:bodyPr/>
                    <a:lstStyle/>
                    <a:p>
                      <a:pPr marL="0" marR="0" algn="ctr" rtl="1">
                        <a:lnSpc>
                          <a:spcPct val="107000"/>
                        </a:lnSpc>
                        <a:spcBef>
                          <a:spcPts val="0"/>
                        </a:spcBef>
                        <a:spcAft>
                          <a:spcPts val="0"/>
                        </a:spcAft>
                      </a:pPr>
                      <a:r>
                        <a:rPr lang="ar-SA" sz="1050" dirty="0">
                          <a:effectLst/>
                          <a:latin typeface="+mn-lt"/>
                        </a:rPr>
                        <a:t>غير محدد</a:t>
                      </a:r>
                      <a:endParaRPr lang="en-US" sz="1050" dirty="0">
                        <a:effectLst/>
                        <a:latin typeface="+mn-lt"/>
                        <a:ea typeface="Calibri" panose="020F0502020204030204" pitchFamily="34" charset="0"/>
                        <a:cs typeface="Arial" panose="020B0604020202020204" pitchFamily="34" charset="0"/>
                      </a:endParaRPr>
                    </a:p>
                  </a:txBody>
                  <a:tcPr marL="41434" marR="41434" marT="0" marB="0" anchor="ctr"/>
                </a:tc>
                <a:tc vMerge="1">
                  <a:txBody>
                    <a:bodyPr/>
                    <a:lstStyle/>
                    <a:p>
                      <a:endParaRPr lang="en-AE"/>
                    </a:p>
                  </a:txBody>
                  <a:tcPr/>
                </a:tc>
                <a:extLst>
                  <a:ext uri="{0D108BD9-81ED-4DB2-BD59-A6C34878D82A}">
                    <a16:rowId xmlns:a16="http://schemas.microsoft.com/office/drawing/2014/main" val="2980824367"/>
                  </a:ext>
                </a:extLst>
              </a:tr>
              <a:tr h="685274">
                <a:tc>
                  <a:txBody>
                    <a:bodyPr/>
                    <a:lstStyle/>
                    <a:p>
                      <a:pPr marL="0" marR="0" algn="ctr" rtl="0">
                        <a:lnSpc>
                          <a:spcPct val="107000"/>
                        </a:lnSpc>
                        <a:spcBef>
                          <a:spcPts val="0"/>
                        </a:spcBef>
                        <a:spcAft>
                          <a:spcPts val="0"/>
                        </a:spcAft>
                      </a:pPr>
                      <a:r>
                        <a:rPr lang="en-US" sz="1050">
                          <a:effectLst/>
                          <a:latin typeface="+mn-lt"/>
                        </a:rPr>
                        <a:t>14</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سجل حضور الفصول الإفتراضية</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بيانات حضور الفصول الافتراضية للدورات والورش التدريبية</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الاكاديمية الوطنية للتقويم والقياس والاعتماد</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vMerge="1">
                  <a:txBody>
                    <a:bodyPr/>
                    <a:lstStyle/>
                    <a:p>
                      <a:pPr marL="0" marR="0" algn="ctr" rtl="1">
                        <a:lnSpc>
                          <a:spcPct val="107000"/>
                        </a:lnSpc>
                        <a:spcBef>
                          <a:spcPts val="0"/>
                        </a:spcBef>
                        <a:spcAft>
                          <a:spcPts val="0"/>
                        </a:spcAft>
                      </a:pPr>
                      <a:r>
                        <a:rPr lang="ar-SA" sz="1050" dirty="0">
                          <a:effectLst/>
                          <a:latin typeface="+mn-lt"/>
                        </a:rPr>
                        <a:t>غير محدد</a:t>
                      </a:r>
                      <a:endParaRPr lang="en-US" sz="1050" dirty="0">
                        <a:effectLst/>
                        <a:latin typeface="+mn-lt"/>
                        <a:ea typeface="Calibri" panose="020F0502020204030204" pitchFamily="34" charset="0"/>
                        <a:cs typeface="Arial" panose="020B0604020202020204" pitchFamily="34" charset="0"/>
                      </a:endParaRPr>
                    </a:p>
                  </a:txBody>
                  <a:tcPr marL="41434" marR="41434" marT="0" marB="0" anchor="ctr"/>
                </a:tc>
                <a:tc vMerge="1">
                  <a:txBody>
                    <a:bodyPr/>
                    <a:lstStyle/>
                    <a:p>
                      <a:endParaRPr lang="en-AE"/>
                    </a:p>
                  </a:txBody>
                  <a:tcPr/>
                </a:tc>
                <a:extLst>
                  <a:ext uri="{0D108BD9-81ED-4DB2-BD59-A6C34878D82A}">
                    <a16:rowId xmlns:a16="http://schemas.microsoft.com/office/drawing/2014/main" val="1763976295"/>
                  </a:ext>
                </a:extLst>
              </a:tr>
              <a:tr h="741210">
                <a:tc>
                  <a:txBody>
                    <a:bodyPr/>
                    <a:lstStyle/>
                    <a:p>
                      <a:pPr marL="0" marR="0" algn="ctr" rtl="0">
                        <a:lnSpc>
                          <a:spcPct val="107000"/>
                        </a:lnSpc>
                        <a:spcBef>
                          <a:spcPts val="0"/>
                        </a:spcBef>
                        <a:spcAft>
                          <a:spcPts val="0"/>
                        </a:spcAft>
                      </a:pPr>
                      <a:r>
                        <a:rPr lang="en-US" sz="1050">
                          <a:effectLst/>
                          <a:latin typeface="+mn-lt"/>
                        </a:rPr>
                        <a:t>15</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سجل إلإستطلاعات</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جمع البيانات من مجموعة من الأفراد أو المشاركين بهدف الحصول على آرائهم</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للتطوير </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a:effectLst/>
                          <a:latin typeface="+mn-lt"/>
                        </a:rPr>
                        <a:t>المستفيدون</a:t>
                      </a:r>
                      <a:endParaRPr lang="en-US" sz="105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0" marR="0" algn="ctr" rtl="1">
                        <a:lnSpc>
                          <a:spcPct val="107000"/>
                        </a:lnSpc>
                        <a:spcBef>
                          <a:spcPts val="0"/>
                        </a:spcBef>
                        <a:spcAft>
                          <a:spcPts val="0"/>
                        </a:spcAft>
                      </a:pPr>
                      <a:r>
                        <a:rPr lang="ar-SA" sz="1050" dirty="0">
                          <a:effectLst/>
                          <a:latin typeface="+mn-lt"/>
                        </a:rPr>
                        <a:t>متعدد</a:t>
                      </a:r>
                      <a:endParaRPr lang="en-US" sz="1050" dirty="0">
                        <a:effectLst/>
                        <a:latin typeface="+mn-lt"/>
                        <a:ea typeface="Calibri" panose="020F0502020204030204" pitchFamily="34" charset="0"/>
                        <a:cs typeface="Arial" panose="020B0604020202020204" pitchFamily="34" charset="0"/>
                      </a:endParaRPr>
                    </a:p>
                  </a:txBody>
                  <a:tcPr marL="41434" marR="41434"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err="1">
                          <a:effectLst/>
                          <a:latin typeface="+mn-lt"/>
                        </a:rPr>
                        <a:t>رقمنة</a:t>
                      </a:r>
                      <a:r>
                        <a:rPr lang="ar-SA" sz="1050" dirty="0">
                          <a:effectLst/>
                          <a:latin typeface="+mn-lt"/>
                        </a:rPr>
                        <a:t> وارشفة البيانات اليدوية</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41434" marR="41434" marT="0" marB="0" anchor="ctr">
                    <a:solidFill>
                      <a:srgbClr val="00B050"/>
                    </a:solidFill>
                  </a:tcPr>
                </a:tc>
                <a:extLst>
                  <a:ext uri="{0D108BD9-81ED-4DB2-BD59-A6C34878D82A}">
                    <a16:rowId xmlns:a16="http://schemas.microsoft.com/office/drawing/2014/main" val="682719494"/>
                  </a:ext>
                </a:extLst>
              </a:tr>
            </a:tbl>
          </a:graphicData>
        </a:graphic>
      </p:graphicFrame>
      <p:grpSp>
        <p:nvGrpSpPr>
          <p:cNvPr id="2" name="Group 1">
            <a:extLst>
              <a:ext uri="{FF2B5EF4-FFF2-40B4-BE49-F238E27FC236}">
                <a16:creationId xmlns:a16="http://schemas.microsoft.com/office/drawing/2014/main" id="{B2C52D54-5AC6-7708-DDEB-F4A85E5896F2}"/>
              </a:ext>
            </a:extLst>
          </p:cNvPr>
          <p:cNvGrpSpPr/>
          <p:nvPr/>
        </p:nvGrpSpPr>
        <p:grpSpPr>
          <a:xfrm>
            <a:off x="5445493" y="6210431"/>
            <a:ext cx="1301014" cy="307777"/>
            <a:chOff x="6981138" y="6166124"/>
            <a:chExt cx="1301014" cy="307777"/>
          </a:xfrm>
        </p:grpSpPr>
        <p:sp>
          <p:nvSpPr>
            <p:cNvPr id="4" name="TextBox 3">
              <a:extLst>
                <a:ext uri="{FF2B5EF4-FFF2-40B4-BE49-F238E27FC236}">
                  <a16:creationId xmlns:a16="http://schemas.microsoft.com/office/drawing/2014/main" id="{40C2A1EB-C7C7-5FF1-BA56-635B10ED62EA}"/>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AB752531-1467-4420-F664-E0813BC359B4}"/>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16772792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40</a:t>
            </a:fld>
            <a:endParaRPr lang="en-US"/>
          </a:p>
        </p:txBody>
      </p:sp>
      <p:graphicFrame>
        <p:nvGraphicFramePr>
          <p:cNvPr id="2" name="Table 1">
            <a:extLst>
              <a:ext uri="{FF2B5EF4-FFF2-40B4-BE49-F238E27FC236}">
                <a16:creationId xmlns:a16="http://schemas.microsoft.com/office/drawing/2014/main" id="{161D7A83-66C5-4A3E-A3B4-E029E158F94E}"/>
              </a:ext>
            </a:extLst>
          </p:cNvPr>
          <p:cNvGraphicFramePr>
            <a:graphicFrameLocks noGrp="1"/>
          </p:cNvGraphicFramePr>
          <p:nvPr>
            <p:extLst>
              <p:ext uri="{D42A27DB-BD31-4B8C-83A1-F6EECF244321}">
                <p14:modId xmlns:p14="http://schemas.microsoft.com/office/powerpoint/2010/main" val="2591432717"/>
              </p:ext>
            </p:extLst>
          </p:nvPr>
        </p:nvGraphicFramePr>
        <p:xfrm>
          <a:off x="621453" y="894522"/>
          <a:ext cx="10900450" cy="5134584"/>
        </p:xfrm>
        <a:graphic>
          <a:graphicData uri="http://schemas.openxmlformats.org/drawingml/2006/table">
            <a:tbl>
              <a:tblPr rtl="1" firstRow="1" firstCol="1" bandRow="1">
                <a:tableStyleId>{5C22544A-7EE6-4342-B048-85BDC9FD1C3A}</a:tableStyleId>
              </a:tblPr>
              <a:tblGrid>
                <a:gridCol w="543664">
                  <a:extLst>
                    <a:ext uri="{9D8B030D-6E8A-4147-A177-3AD203B41FA5}">
                      <a16:colId xmlns:a16="http://schemas.microsoft.com/office/drawing/2014/main" val="501694947"/>
                    </a:ext>
                  </a:extLst>
                </a:gridCol>
                <a:gridCol w="1821272">
                  <a:extLst>
                    <a:ext uri="{9D8B030D-6E8A-4147-A177-3AD203B41FA5}">
                      <a16:colId xmlns:a16="http://schemas.microsoft.com/office/drawing/2014/main" val="4157148720"/>
                    </a:ext>
                  </a:extLst>
                </a:gridCol>
                <a:gridCol w="2645829">
                  <a:extLst>
                    <a:ext uri="{9D8B030D-6E8A-4147-A177-3AD203B41FA5}">
                      <a16:colId xmlns:a16="http://schemas.microsoft.com/office/drawing/2014/main" val="1226164575"/>
                    </a:ext>
                  </a:extLst>
                </a:gridCol>
                <a:gridCol w="899008">
                  <a:extLst>
                    <a:ext uri="{9D8B030D-6E8A-4147-A177-3AD203B41FA5}">
                      <a16:colId xmlns:a16="http://schemas.microsoft.com/office/drawing/2014/main" val="1538814008"/>
                    </a:ext>
                  </a:extLst>
                </a:gridCol>
                <a:gridCol w="559823">
                  <a:extLst>
                    <a:ext uri="{9D8B030D-6E8A-4147-A177-3AD203B41FA5}">
                      <a16:colId xmlns:a16="http://schemas.microsoft.com/office/drawing/2014/main" val="4177337401"/>
                    </a:ext>
                  </a:extLst>
                </a:gridCol>
                <a:gridCol w="579907">
                  <a:extLst>
                    <a:ext uri="{9D8B030D-6E8A-4147-A177-3AD203B41FA5}">
                      <a16:colId xmlns:a16="http://schemas.microsoft.com/office/drawing/2014/main" val="486407934"/>
                    </a:ext>
                  </a:extLst>
                </a:gridCol>
                <a:gridCol w="634242">
                  <a:extLst>
                    <a:ext uri="{9D8B030D-6E8A-4147-A177-3AD203B41FA5}">
                      <a16:colId xmlns:a16="http://schemas.microsoft.com/office/drawing/2014/main" val="1508590942"/>
                    </a:ext>
                  </a:extLst>
                </a:gridCol>
                <a:gridCol w="933321">
                  <a:extLst>
                    <a:ext uri="{9D8B030D-6E8A-4147-A177-3AD203B41FA5}">
                      <a16:colId xmlns:a16="http://schemas.microsoft.com/office/drawing/2014/main" val="3287663002"/>
                    </a:ext>
                  </a:extLst>
                </a:gridCol>
                <a:gridCol w="824577">
                  <a:extLst>
                    <a:ext uri="{9D8B030D-6E8A-4147-A177-3AD203B41FA5}">
                      <a16:colId xmlns:a16="http://schemas.microsoft.com/office/drawing/2014/main" val="3540326606"/>
                    </a:ext>
                  </a:extLst>
                </a:gridCol>
                <a:gridCol w="1458807">
                  <a:extLst>
                    <a:ext uri="{9D8B030D-6E8A-4147-A177-3AD203B41FA5}">
                      <a16:colId xmlns:a16="http://schemas.microsoft.com/office/drawing/2014/main" val="3549495278"/>
                    </a:ext>
                  </a:extLst>
                </a:gridCol>
              </a:tblGrid>
              <a:tr h="640039">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dirty="0">
                          <a:effectLst/>
                          <a:latin typeface="+mn-lt"/>
                        </a:rPr>
                        <a:t>خزينة البيانات</a:t>
                      </a:r>
                      <a:endParaRPr lang="en-US" sz="1050" dirty="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31707" marR="31707" marT="0" marB="0" anchor="ctr"/>
                </a:tc>
                <a:extLst>
                  <a:ext uri="{0D108BD9-81ED-4DB2-BD59-A6C34878D82A}">
                    <a16:rowId xmlns:a16="http://schemas.microsoft.com/office/drawing/2014/main" val="1542569868"/>
                  </a:ext>
                </a:extLst>
              </a:tr>
              <a:tr h="558104">
                <a:tc>
                  <a:txBody>
                    <a:bodyPr/>
                    <a:lstStyle/>
                    <a:p>
                      <a:pPr marL="0" marR="0" algn="ctr" rtl="0">
                        <a:lnSpc>
                          <a:spcPct val="107000"/>
                        </a:lnSpc>
                        <a:spcBef>
                          <a:spcPts val="0"/>
                        </a:spcBef>
                        <a:spcAft>
                          <a:spcPts val="0"/>
                        </a:spcAft>
                      </a:pPr>
                      <a:r>
                        <a:rPr lang="en-US" sz="1050">
                          <a:effectLst/>
                          <a:latin typeface="+mn-lt"/>
                        </a:rPr>
                        <a:t>16</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 إستشارة فنية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طلب الدراسة  الهندسية والاستشارة الفنية  في تخصصات مختلفة  مثل  الخدمات المعمارية  والإنشائية والكهربائية  والميكانيكية وإعداد  التقارير الفنية اللازمة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للخدمات والمرافق</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يدوي</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err="1">
                          <a:effectLst/>
                          <a:latin typeface="+mn-lt"/>
                        </a:rPr>
                        <a:t>رقمنة</a:t>
                      </a:r>
                      <a:r>
                        <a:rPr lang="ar-SA" sz="1050" dirty="0">
                          <a:effectLst/>
                          <a:latin typeface="+mn-lt"/>
                        </a:rPr>
                        <a:t> وارشفة البيانات اليدوية</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31707" marR="31707" marT="0" marB="0" anchor="ctr">
                    <a:solidFill>
                      <a:srgbClr val="00B050"/>
                    </a:solidFill>
                  </a:tcPr>
                </a:tc>
                <a:extLst>
                  <a:ext uri="{0D108BD9-81ED-4DB2-BD59-A6C34878D82A}">
                    <a16:rowId xmlns:a16="http://schemas.microsoft.com/office/drawing/2014/main" val="3650825717"/>
                  </a:ext>
                </a:extLst>
              </a:tr>
              <a:tr h="378670">
                <a:tc>
                  <a:txBody>
                    <a:bodyPr/>
                    <a:lstStyle/>
                    <a:p>
                      <a:pPr marL="0" marR="0" algn="ctr" rtl="0">
                        <a:lnSpc>
                          <a:spcPct val="107000"/>
                        </a:lnSpc>
                        <a:spcBef>
                          <a:spcPts val="0"/>
                        </a:spcBef>
                        <a:spcAft>
                          <a:spcPts val="0"/>
                        </a:spcAft>
                      </a:pPr>
                      <a:r>
                        <a:rPr lang="en-US" sz="1050">
                          <a:effectLst/>
                          <a:latin typeface="+mn-lt"/>
                        </a:rPr>
                        <a:t>17</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 توزيع المكاتب</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طلب توزيع المكاتب والفراغات المساحية </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للخدمات والمرافق</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غير محدد</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تحديد خزينة البيانات</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31707" marR="31707" marT="0" marB="0" anchor="ctr">
                    <a:solidFill>
                      <a:srgbClr val="00B050"/>
                    </a:solidFill>
                  </a:tcPr>
                </a:tc>
                <a:extLst>
                  <a:ext uri="{0D108BD9-81ED-4DB2-BD59-A6C34878D82A}">
                    <a16:rowId xmlns:a16="http://schemas.microsoft.com/office/drawing/2014/main" val="3189354429"/>
                  </a:ext>
                </a:extLst>
              </a:tr>
              <a:tr h="320020">
                <a:tc>
                  <a:txBody>
                    <a:bodyPr/>
                    <a:lstStyle/>
                    <a:p>
                      <a:pPr marL="0" marR="0" algn="ctr" rtl="0">
                        <a:lnSpc>
                          <a:spcPct val="107000"/>
                        </a:lnSpc>
                        <a:spcBef>
                          <a:spcPts val="0"/>
                        </a:spcBef>
                        <a:spcAft>
                          <a:spcPts val="0"/>
                        </a:spcAft>
                      </a:pPr>
                      <a:r>
                        <a:rPr lang="en-US" sz="1050">
                          <a:effectLst/>
                          <a:latin typeface="+mn-lt"/>
                        </a:rPr>
                        <a:t>18</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 توفير سيارة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طلب توفير سيارة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للخدمات والمرافق</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يدوي</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err="1">
                          <a:effectLst/>
                          <a:latin typeface="+mn-lt"/>
                        </a:rPr>
                        <a:t>رقمنة</a:t>
                      </a:r>
                      <a:r>
                        <a:rPr lang="ar-SA" sz="1050" dirty="0">
                          <a:effectLst/>
                          <a:latin typeface="+mn-lt"/>
                        </a:rPr>
                        <a:t> وارشفة البيانات اليدوية</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31707" marR="31707" marT="0" marB="0" anchor="ctr">
                    <a:solidFill>
                      <a:srgbClr val="00B050"/>
                    </a:solidFill>
                  </a:tcPr>
                </a:tc>
                <a:extLst>
                  <a:ext uri="{0D108BD9-81ED-4DB2-BD59-A6C34878D82A}">
                    <a16:rowId xmlns:a16="http://schemas.microsoft.com/office/drawing/2014/main" val="4092144322"/>
                  </a:ext>
                </a:extLst>
              </a:tr>
              <a:tr h="320020">
                <a:tc>
                  <a:txBody>
                    <a:bodyPr/>
                    <a:lstStyle/>
                    <a:p>
                      <a:pPr marL="0" marR="0" algn="ctr" rtl="0">
                        <a:lnSpc>
                          <a:spcPct val="107000"/>
                        </a:lnSpc>
                        <a:spcBef>
                          <a:spcPts val="0"/>
                        </a:spcBef>
                        <a:spcAft>
                          <a:spcPts val="0"/>
                        </a:spcAft>
                      </a:pPr>
                      <a:r>
                        <a:rPr lang="en-US" sz="1050">
                          <a:effectLst/>
                          <a:latin typeface="+mn-lt"/>
                        </a:rPr>
                        <a:t>19</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 صيانة هندسية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طلب صيانة (تكييف - إنارة - سباكة)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للخدمات والمرافق</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غير محدد</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تحديد خزينة البيانات</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31707" marR="31707" marT="0" marB="0" anchor="ctr">
                    <a:solidFill>
                      <a:srgbClr val="00B050"/>
                    </a:solidFill>
                  </a:tcPr>
                </a:tc>
                <a:extLst>
                  <a:ext uri="{0D108BD9-81ED-4DB2-BD59-A6C34878D82A}">
                    <a16:rowId xmlns:a16="http://schemas.microsoft.com/office/drawing/2014/main" val="2949296487"/>
                  </a:ext>
                </a:extLst>
              </a:tr>
              <a:tr h="1287478">
                <a:tc>
                  <a:txBody>
                    <a:bodyPr/>
                    <a:lstStyle/>
                    <a:p>
                      <a:pPr marL="0" marR="0" algn="ctr" rtl="0">
                        <a:lnSpc>
                          <a:spcPct val="107000"/>
                        </a:lnSpc>
                        <a:spcBef>
                          <a:spcPts val="0"/>
                        </a:spcBef>
                        <a:spcAft>
                          <a:spcPts val="0"/>
                        </a:spcAft>
                      </a:pPr>
                      <a:r>
                        <a:rPr lang="en-US" sz="1050">
                          <a:effectLst/>
                          <a:latin typeface="+mn-lt"/>
                        </a:rPr>
                        <a:t>20</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 مراجعة تصميم هندسي</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طلب التحقق من اتباع المعايير الهندسية  المناسبة  وأن يتوافق التصميم  مع الأداء المطلوب  وإجراء المراجعات المناسبة  للتأكد من  صحة التصميم  والتوافق مع متطلباته</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للخدمات والمرافق</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يدوي</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err="1">
                          <a:effectLst/>
                          <a:latin typeface="+mn-lt"/>
                        </a:rPr>
                        <a:t>رقمنة</a:t>
                      </a:r>
                      <a:r>
                        <a:rPr lang="ar-SA" sz="1050" dirty="0">
                          <a:effectLst/>
                          <a:latin typeface="+mn-lt"/>
                        </a:rPr>
                        <a:t> وارشفة البيانات اليدوية</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31707" marR="31707" marT="0" marB="0" anchor="ctr">
                    <a:solidFill>
                      <a:srgbClr val="00B050"/>
                    </a:solidFill>
                  </a:tcPr>
                </a:tc>
                <a:extLst>
                  <a:ext uri="{0D108BD9-81ED-4DB2-BD59-A6C34878D82A}">
                    <a16:rowId xmlns:a16="http://schemas.microsoft.com/office/drawing/2014/main" val="1159787725"/>
                  </a:ext>
                </a:extLst>
              </a:tr>
              <a:tr h="378670">
                <a:tc>
                  <a:txBody>
                    <a:bodyPr/>
                    <a:lstStyle/>
                    <a:p>
                      <a:pPr marL="0" marR="0" algn="ctr" rtl="0">
                        <a:lnSpc>
                          <a:spcPct val="107000"/>
                        </a:lnSpc>
                        <a:spcBef>
                          <a:spcPts val="0"/>
                        </a:spcBef>
                        <a:spcAft>
                          <a:spcPts val="0"/>
                        </a:spcAft>
                      </a:pPr>
                      <a:r>
                        <a:rPr lang="en-US" sz="1050">
                          <a:effectLst/>
                          <a:latin typeface="+mn-lt"/>
                        </a:rPr>
                        <a:t>21</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سجل العروض</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عروض التواصل المؤسسي وتعزيز الوعي</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الإدارة العامة الاتصال المؤسسي</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التواصل</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en-US" sz="1050">
                          <a:effectLst/>
                          <a:latin typeface="+mn-lt"/>
                        </a:rPr>
                        <a:t>WSS_Content_EPortal</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31707" marR="31707" marT="0" marB="0" anchor="ctr">
                    <a:solidFill>
                      <a:srgbClr val="00B050"/>
                    </a:solidFill>
                  </a:tcPr>
                </a:tc>
                <a:extLst>
                  <a:ext uri="{0D108BD9-81ED-4DB2-BD59-A6C34878D82A}">
                    <a16:rowId xmlns:a16="http://schemas.microsoft.com/office/drawing/2014/main" val="2279749530"/>
                  </a:ext>
                </a:extLst>
              </a:tr>
              <a:tr h="320020">
                <a:tc>
                  <a:txBody>
                    <a:bodyPr/>
                    <a:lstStyle/>
                    <a:p>
                      <a:pPr marL="0" marR="0" algn="ctr" rtl="0">
                        <a:lnSpc>
                          <a:spcPct val="107000"/>
                        </a:lnSpc>
                        <a:spcBef>
                          <a:spcPts val="0"/>
                        </a:spcBef>
                        <a:spcAft>
                          <a:spcPts val="0"/>
                        </a:spcAft>
                      </a:pPr>
                      <a:r>
                        <a:rPr lang="en-US" sz="1050">
                          <a:effectLst/>
                          <a:latin typeface="+mn-lt"/>
                        </a:rPr>
                        <a:t>22</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سجل المقترحات</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المقترحات</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الإدارة العامة الاتصال المؤسسي</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التواصل</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rowSpan="2">
                  <a:txBody>
                    <a:bodyPr/>
                    <a:lstStyle/>
                    <a:p>
                      <a:pPr marL="0" marR="0" algn="ctr" rtl="1">
                        <a:lnSpc>
                          <a:spcPct val="107000"/>
                        </a:lnSpc>
                        <a:spcBef>
                          <a:spcPts val="0"/>
                        </a:spcBef>
                        <a:spcAft>
                          <a:spcPts val="0"/>
                        </a:spcAft>
                      </a:pPr>
                      <a:r>
                        <a:rPr lang="ar-SA" sz="1050" dirty="0">
                          <a:effectLst/>
                          <a:latin typeface="+mn-lt"/>
                        </a:rPr>
                        <a:t>غير محدد</a:t>
                      </a:r>
                    </a:p>
                  </a:txBody>
                  <a:tcPr marL="31707" marR="31707" marT="0" marB="0" anchor="ctr"/>
                </a:tc>
                <a:tc rowSpan="2">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تحديد خزينة البيانات</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31707" marR="31707" marT="0" marB="0" anchor="ctr">
                    <a:solidFill>
                      <a:srgbClr val="00B050"/>
                    </a:solidFill>
                  </a:tcPr>
                </a:tc>
                <a:extLst>
                  <a:ext uri="{0D108BD9-81ED-4DB2-BD59-A6C34878D82A}">
                    <a16:rowId xmlns:a16="http://schemas.microsoft.com/office/drawing/2014/main" val="3291759311"/>
                  </a:ext>
                </a:extLst>
              </a:tr>
              <a:tr h="320020">
                <a:tc>
                  <a:txBody>
                    <a:bodyPr/>
                    <a:lstStyle/>
                    <a:p>
                      <a:pPr marL="0" marR="0" algn="ctr" rtl="0">
                        <a:lnSpc>
                          <a:spcPct val="107000"/>
                        </a:lnSpc>
                        <a:spcBef>
                          <a:spcPts val="0"/>
                        </a:spcBef>
                        <a:spcAft>
                          <a:spcPts val="0"/>
                        </a:spcAft>
                      </a:pPr>
                      <a:r>
                        <a:rPr lang="en-US" sz="1050">
                          <a:effectLst/>
                          <a:latin typeface="+mn-lt"/>
                        </a:rPr>
                        <a:t>23</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dirty="0">
                          <a:effectLst/>
                          <a:latin typeface="+mn-lt"/>
                        </a:rPr>
                        <a:t>سجل </a:t>
                      </a:r>
                      <a:r>
                        <a:rPr lang="ar-SA" sz="1050" dirty="0" err="1">
                          <a:effectLst/>
                          <a:latin typeface="+mn-lt"/>
                        </a:rPr>
                        <a:t>إستلام</a:t>
                      </a:r>
                      <a:r>
                        <a:rPr lang="ar-SA" sz="1050" dirty="0">
                          <a:effectLst/>
                          <a:latin typeface="+mn-lt"/>
                        </a:rPr>
                        <a:t> مقر</a:t>
                      </a:r>
                      <a:endParaRPr lang="en-US" sz="1050" dirty="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بيانات استلام أو نقل مقر</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الإدارة العامة الامن السيبراني</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1707" marR="31707" marT="0" marB="0" anchor="ctr"/>
                </a:tc>
                <a:tc>
                  <a:txBody>
                    <a:bodyPr/>
                    <a:lstStyle/>
                    <a:p>
                      <a:pPr marL="0" marR="0" algn="ctr" rtl="1">
                        <a:lnSpc>
                          <a:spcPct val="107000"/>
                        </a:lnSpc>
                        <a:spcBef>
                          <a:spcPts val="0"/>
                        </a:spcBef>
                        <a:spcAft>
                          <a:spcPts val="0"/>
                        </a:spcAft>
                      </a:pPr>
                      <a:r>
                        <a:rPr lang="ar-SA" sz="1050" dirty="0">
                          <a:effectLst/>
                          <a:latin typeface="+mn-lt"/>
                        </a:rPr>
                        <a:t>الحوكمة والمخاطر والالتزام</a:t>
                      </a:r>
                      <a:endParaRPr lang="en-US" sz="1050" dirty="0">
                        <a:effectLst/>
                        <a:latin typeface="+mn-lt"/>
                        <a:ea typeface="Calibri" panose="020F0502020204030204" pitchFamily="34" charset="0"/>
                        <a:cs typeface="Arial" panose="020B0604020202020204" pitchFamily="34" charset="0"/>
                      </a:endParaRPr>
                    </a:p>
                  </a:txBody>
                  <a:tcPr marL="31707" marR="31707" marT="0" marB="0" anchor="ctr"/>
                </a:tc>
                <a:tc vMerge="1">
                  <a:txBody>
                    <a:bodyPr/>
                    <a:lstStyle/>
                    <a:p>
                      <a:pPr marL="0" marR="0" algn="ctr" rtl="1">
                        <a:lnSpc>
                          <a:spcPct val="107000"/>
                        </a:lnSpc>
                        <a:spcBef>
                          <a:spcPts val="0"/>
                        </a:spcBef>
                        <a:spcAft>
                          <a:spcPts val="0"/>
                        </a:spcAft>
                      </a:pPr>
                      <a:r>
                        <a:rPr lang="ar-SA" sz="1050" dirty="0">
                          <a:effectLst/>
                          <a:latin typeface="+mn-lt"/>
                        </a:rPr>
                        <a:t>غير محدد</a:t>
                      </a:r>
                      <a:endParaRPr lang="en-US" sz="1050" dirty="0">
                        <a:effectLst/>
                        <a:latin typeface="+mn-lt"/>
                        <a:ea typeface="Calibri" panose="020F0502020204030204" pitchFamily="34" charset="0"/>
                        <a:cs typeface="Arial" panose="020B0604020202020204" pitchFamily="34" charset="0"/>
                      </a:endParaRPr>
                    </a:p>
                  </a:txBody>
                  <a:tcPr marL="31707" marR="31707" marT="0" marB="0" anchor="ctr"/>
                </a:tc>
                <a:tc vMerge="1">
                  <a:txBody>
                    <a:bodyPr/>
                    <a:lstStyle/>
                    <a:p>
                      <a:endParaRPr lang="en-AE"/>
                    </a:p>
                  </a:txBody>
                  <a:tcPr/>
                </a:tc>
                <a:extLst>
                  <a:ext uri="{0D108BD9-81ED-4DB2-BD59-A6C34878D82A}">
                    <a16:rowId xmlns:a16="http://schemas.microsoft.com/office/drawing/2014/main" val="274407417"/>
                  </a:ext>
                </a:extLst>
              </a:tr>
            </a:tbl>
          </a:graphicData>
        </a:graphic>
      </p:graphicFrame>
      <p:grpSp>
        <p:nvGrpSpPr>
          <p:cNvPr id="4" name="Group 3">
            <a:extLst>
              <a:ext uri="{FF2B5EF4-FFF2-40B4-BE49-F238E27FC236}">
                <a16:creationId xmlns:a16="http://schemas.microsoft.com/office/drawing/2014/main" id="{B9D68E42-5836-0E70-FADB-14A270698F1F}"/>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AD016178-D962-AF8E-2DB7-98FA9881EDA3}"/>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1BC4D66F-2E3F-90AD-DE5F-97BE77F6E1CA}"/>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50687330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41</a:t>
            </a:fld>
            <a:endParaRPr lang="en-US"/>
          </a:p>
        </p:txBody>
      </p:sp>
      <p:graphicFrame>
        <p:nvGraphicFramePr>
          <p:cNvPr id="4" name="Table 3">
            <a:extLst>
              <a:ext uri="{FF2B5EF4-FFF2-40B4-BE49-F238E27FC236}">
                <a16:creationId xmlns:a16="http://schemas.microsoft.com/office/drawing/2014/main" id="{18C22BF4-5283-42CE-8EF3-E9C941B1A853}"/>
              </a:ext>
            </a:extLst>
          </p:cNvPr>
          <p:cNvGraphicFramePr>
            <a:graphicFrameLocks noGrp="1"/>
          </p:cNvGraphicFramePr>
          <p:nvPr>
            <p:extLst>
              <p:ext uri="{D42A27DB-BD31-4B8C-83A1-F6EECF244321}">
                <p14:modId xmlns:p14="http://schemas.microsoft.com/office/powerpoint/2010/main" val="1894552536"/>
              </p:ext>
            </p:extLst>
          </p:nvPr>
        </p:nvGraphicFramePr>
        <p:xfrm>
          <a:off x="621452" y="933991"/>
          <a:ext cx="10900974" cy="5104826"/>
        </p:xfrm>
        <a:graphic>
          <a:graphicData uri="http://schemas.openxmlformats.org/drawingml/2006/table">
            <a:tbl>
              <a:tblPr rtl="1" firstRow="1" firstCol="1" bandRow="1">
                <a:tableStyleId>{5C22544A-7EE6-4342-B048-85BDC9FD1C3A}</a:tableStyleId>
              </a:tblPr>
              <a:tblGrid>
                <a:gridCol w="371804">
                  <a:extLst>
                    <a:ext uri="{9D8B030D-6E8A-4147-A177-3AD203B41FA5}">
                      <a16:colId xmlns:a16="http://schemas.microsoft.com/office/drawing/2014/main" val="3222274375"/>
                    </a:ext>
                  </a:extLst>
                </a:gridCol>
                <a:gridCol w="822119">
                  <a:extLst>
                    <a:ext uri="{9D8B030D-6E8A-4147-A177-3AD203B41FA5}">
                      <a16:colId xmlns:a16="http://schemas.microsoft.com/office/drawing/2014/main" val="4282207128"/>
                    </a:ext>
                  </a:extLst>
                </a:gridCol>
                <a:gridCol w="1962456">
                  <a:extLst>
                    <a:ext uri="{9D8B030D-6E8A-4147-A177-3AD203B41FA5}">
                      <a16:colId xmlns:a16="http://schemas.microsoft.com/office/drawing/2014/main" val="2063582999"/>
                    </a:ext>
                  </a:extLst>
                </a:gridCol>
                <a:gridCol w="1060036">
                  <a:extLst>
                    <a:ext uri="{9D8B030D-6E8A-4147-A177-3AD203B41FA5}">
                      <a16:colId xmlns:a16="http://schemas.microsoft.com/office/drawing/2014/main" val="319961951"/>
                    </a:ext>
                  </a:extLst>
                </a:gridCol>
                <a:gridCol w="632858">
                  <a:extLst>
                    <a:ext uri="{9D8B030D-6E8A-4147-A177-3AD203B41FA5}">
                      <a16:colId xmlns:a16="http://schemas.microsoft.com/office/drawing/2014/main" val="924954020"/>
                    </a:ext>
                  </a:extLst>
                </a:gridCol>
                <a:gridCol w="617037">
                  <a:extLst>
                    <a:ext uri="{9D8B030D-6E8A-4147-A177-3AD203B41FA5}">
                      <a16:colId xmlns:a16="http://schemas.microsoft.com/office/drawing/2014/main" val="2218546475"/>
                    </a:ext>
                  </a:extLst>
                </a:gridCol>
                <a:gridCol w="553750">
                  <a:extLst>
                    <a:ext uri="{9D8B030D-6E8A-4147-A177-3AD203B41FA5}">
                      <a16:colId xmlns:a16="http://schemas.microsoft.com/office/drawing/2014/main" val="2084395048"/>
                    </a:ext>
                  </a:extLst>
                </a:gridCol>
                <a:gridCol w="1669162">
                  <a:extLst>
                    <a:ext uri="{9D8B030D-6E8A-4147-A177-3AD203B41FA5}">
                      <a16:colId xmlns:a16="http://schemas.microsoft.com/office/drawing/2014/main" val="3400258055"/>
                    </a:ext>
                  </a:extLst>
                </a:gridCol>
                <a:gridCol w="1605876">
                  <a:extLst>
                    <a:ext uri="{9D8B030D-6E8A-4147-A177-3AD203B41FA5}">
                      <a16:colId xmlns:a16="http://schemas.microsoft.com/office/drawing/2014/main" val="3633165968"/>
                    </a:ext>
                  </a:extLst>
                </a:gridCol>
                <a:gridCol w="1605876">
                  <a:extLst>
                    <a:ext uri="{9D8B030D-6E8A-4147-A177-3AD203B41FA5}">
                      <a16:colId xmlns:a16="http://schemas.microsoft.com/office/drawing/2014/main" val="2898300170"/>
                    </a:ext>
                  </a:extLst>
                </a:gridCol>
              </a:tblGrid>
              <a:tr h="392711">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dirty="0">
                          <a:effectLst/>
                          <a:latin typeface="+mn-lt"/>
                        </a:rPr>
                        <a:t>خزينة البيانات</a:t>
                      </a:r>
                      <a:endParaRPr lang="en-US" sz="1050" dirty="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29824" marR="29824" marT="0" marB="0" anchor="ctr"/>
                </a:tc>
                <a:extLst>
                  <a:ext uri="{0D108BD9-81ED-4DB2-BD59-A6C34878D82A}">
                    <a16:rowId xmlns:a16="http://schemas.microsoft.com/office/drawing/2014/main" val="3516454253"/>
                  </a:ext>
                </a:extLst>
              </a:tr>
              <a:tr h="381085">
                <a:tc>
                  <a:txBody>
                    <a:bodyPr/>
                    <a:lstStyle/>
                    <a:p>
                      <a:pPr marL="0" marR="0" algn="ctr" rtl="0">
                        <a:lnSpc>
                          <a:spcPct val="107000"/>
                        </a:lnSpc>
                        <a:spcBef>
                          <a:spcPts val="0"/>
                        </a:spcBef>
                        <a:spcAft>
                          <a:spcPts val="0"/>
                        </a:spcAft>
                      </a:pPr>
                      <a:r>
                        <a:rPr lang="en-US" sz="1050">
                          <a:effectLst/>
                          <a:latin typeface="+mn-lt"/>
                        </a:rPr>
                        <a:t>24</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سجل طلبات صلاحية الوصول</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بيانات طلب صلاحية الوصول عن بعد  (</a:t>
                      </a:r>
                      <a:r>
                        <a:rPr lang="en-US" sz="1050">
                          <a:effectLst/>
                          <a:latin typeface="+mn-lt"/>
                        </a:rPr>
                        <a:t>VPN - MDM</a:t>
                      </a:r>
                      <a:r>
                        <a:rPr lang="ar-SA"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الإدارة العامة الامن السيبراني</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rowSpan="2">
                  <a:txBody>
                    <a:bodyPr/>
                    <a:lstStyle/>
                    <a:p>
                      <a:pPr marL="0" marR="0" algn="ctr" rtl="1">
                        <a:lnSpc>
                          <a:spcPct val="107000"/>
                        </a:lnSpc>
                        <a:spcBef>
                          <a:spcPts val="0"/>
                        </a:spcBef>
                        <a:spcAft>
                          <a:spcPts val="0"/>
                        </a:spcAft>
                      </a:pPr>
                      <a:r>
                        <a:rPr lang="ar-SA" sz="1050" dirty="0">
                          <a:effectLst/>
                          <a:latin typeface="+mn-lt"/>
                        </a:rPr>
                        <a:t>غير محدد</a:t>
                      </a:r>
                    </a:p>
                  </a:txBody>
                  <a:tcPr marL="29824" marR="29824" marT="0" marB="0" anchor="ctr"/>
                </a:tc>
                <a:tc rowSpan="2">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تحديد خزينة البيانات</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29824" marR="29824" marT="0" marB="0" anchor="ctr">
                    <a:solidFill>
                      <a:srgbClr val="00B050"/>
                    </a:solidFill>
                  </a:tcPr>
                </a:tc>
                <a:extLst>
                  <a:ext uri="{0D108BD9-81ED-4DB2-BD59-A6C34878D82A}">
                    <a16:rowId xmlns:a16="http://schemas.microsoft.com/office/drawing/2014/main" val="234539593"/>
                  </a:ext>
                </a:extLst>
              </a:tr>
              <a:tr h="533519">
                <a:tc>
                  <a:txBody>
                    <a:bodyPr/>
                    <a:lstStyle/>
                    <a:p>
                      <a:pPr marL="0" marR="0" algn="ctr" rtl="0">
                        <a:lnSpc>
                          <a:spcPct val="107000"/>
                        </a:lnSpc>
                        <a:spcBef>
                          <a:spcPts val="0"/>
                        </a:spcBef>
                        <a:spcAft>
                          <a:spcPts val="0"/>
                        </a:spcAft>
                      </a:pPr>
                      <a:r>
                        <a:rPr lang="en-US" sz="1050">
                          <a:effectLst/>
                          <a:latin typeface="+mn-lt"/>
                        </a:rPr>
                        <a:t>25</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dirty="0">
                          <a:effectLst/>
                          <a:latin typeface="+mn-lt"/>
                        </a:rPr>
                        <a:t>طلب الموافقات على البرامج التقنية</a:t>
                      </a:r>
                      <a:endParaRPr lang="en-US" sz="1050" dirty="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بيانات طلب الموافقات على البرامج التقنية والفنية على أجهزة المستخدمين</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الإدارة العامة الامن السيبراني</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vMerge="1">
                  <a:txBody>
                    <a:bodyPr/>
                    <a:lstStyle/>
                    <a:p>
                      <a:pPr marL="0" marR="0" algn="ctr" rtl="1">
                        <a:lnSpc>
                          <a:spcPct val="107000"/>
                        </a:lnSpc>
                        <a:spcBef>
                          <a:spcPts val="0"/>
                        </a:spcBef>
                        <a:spcAft>
                          <a:spcPts val="0"/>
                        </a:spcAft>
                      </a:pPr>
                      <a:r>
                        <a:rPr lang="ar-SA" sz="1050" dirty="0">
                          <a:effectLst/>
                          <a:latin typeface="+mn-lt"/>
                        </a:rPr>
                        <a:t>غير محدد</a:t>
                      </a:r>
                      <a:endParaRPr lang="en-US" sz="1050" dirty="0">
                        <a:effectLst/>
                        <a:latin typeface="+mn-lt"/>
                        <a:ea typeface="Calibri" panose="020F0502020204030204" pitchFamily="34" charset="0"/>
                        <a:cs typeface="Arial" panose="020B0604020202020204" pitchFamily="34" charset="0"/>
                      </a:endParaRPr>
                    </a:p>
                  </a:txBody>
                  <a:tcPr marL="29824" marR="29824" marT="0" marB="0" anchor="ctr"/>
                </a:tc>
                <a:tc vMerge="1">
                  <a:txBody>
                    <a:bodyPr/>
                    <a:lstStyle/>
                    <a:p>
                      <a:endParaRPr lang="en-AE"/>
                    </a:p>
                  </a:txBody>
                  <a:tcPr/>
                </a:tc>
                <a:extLst>
                  <a:ext uri="{0D108BD9-81ED-4DB2-BD59-A6C34878D82A}">
                    <a16:rowId xmlns:a16="http://schemas.microsoft.com/office/drawing/2014/main" val="1911306003"/>
                  </a:ext>
                </a:extLst>
              </a:tr>
              <a:tr h="609736">
                <a:tc>
                  <a:txBody>
                    <a:bodyPr/>
                    <a:lstStyle/>
                    <a:p>
                      <a:pPr marL="0" marR="0" algn="ctr" rtl="0">
                        <a:lnSpc>
                          <a:spcPct val="107000"/>
                        </a:lnSpc>
                        <a:spcBef>
                          <a:spcPts val="0"/>
                        </a:spcBef>
                        <a:spcAft>
                          <a:spcPts val="0"/>
                        </a:spcAft>
                      </a:pPr>
                      <a:r>
                        <a:rPr lang="en-US" sz="1050">
                          <a:effectLst/>
                          <a:latin typeface="+mn-lt"/>
                        </a:rPr>
                        <a:t>26</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طلب تقييم المخاطر السيبرانية</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بيانات طلب تقييم المخاطر في مرحلة مبكرة من المشاريع او طلبات التغيير الجوهرية</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الإدارة العامة الامن السيبراني</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rowSpan="2">
                  <a:txBody>
                    <a:bodyPr/>
                    <a:lstStyle/>
                    <a:p>
                      <a:pPr marL="0" marR="0" algn="ctr" rtl="1">
                        <a:lnSpc>
                          <a:spcPct val="107000"/>
                        </a:lnSpc>
                        <a:spcBef>
                          <a:spcPts val="0"/>
                        </a:spcBef>
                        <a:spcAft>
                          <a:spcPts val="0"/>
                        </a:spcAft>
                      </a:pPr>
                      <a:r>
                        <a:rPr lang="ar-SA" sz="1050" dirty="0">
                          <a:effectLst/>
                          <a:latin typeface="+mn-lt"/>
                        </a:rPr>
                        <a:t>يدوي</a:t>
                      </a:r>
                    </a:p>
                  </a:txBody>
                  <a:tcPr marL="29824" marR="29824" marT="0" marB="0" anchor="ctr"/>
                </a:tc>
                <a:tc rowSpan="2">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err="1">
                          <a:effectLst/>
                          <a:latin typeface="+mn-lt"/>
                        </a:rPr>
                        <a:t>رقمنة</a:t>
                      </a:r>
                      <a:r>
                        <a:rPr lang="ar-SA" sz="1050" dirty="0">
                          <a:effectLst/>
                          <a:latin typeface="+mn-lt"/>
                        </a:rPr>
                        <a:t> وارشفة البيانات اليدوية</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50" dirty="0">
                          <a:effectLst/>
                          <a:latin typeface="+mn-lt"/>
                        </a:rPr>
                        <a:t>انشاء واجهة للتكامل </a:t>
                      </a:r>
                      <a:r>
                        <a:rPr lang="en-US" sz="1050" dirty="0">
                          <a:effectLst/>
                          <a:latin typeface="+mn-lt"/>
                        </a:rPr>
                        <a:t>API</a:t>
                      </a:r>
                      <a:r>
                        <a:rPr lang="ar-SA" sz="1050" dirty="0">
                          <a:effectLst/>
                          <a:latin typeface="+mn-lt"/>
                        </a:rPr>
                        <a:t> او توثيقها في دليل البيانات</a:t>
                      </a:r>
                    </a:p>
                  </a:txBody>
                  <a:tcPr marL="29824" marR="29824" marT="0" marB="0" anchor="ctr">
                    <a:solidFill>
                      <a:srgbClr val="00B050"/>
                    </a:solidFill>
                  </a:tcPr>
                </a:tc>
                <a:extLst>
                  <a:ext uri="{0D108BD9-81ED-4DB2-BD59-A6C34878D82A}">
                    <a16:rowId xmlns:a16="http://schemas.microsoft.com/office/drawing/2014/main" val="1716808998"/>
                  </a:ext>
                </a:extLst>
              </a:tr>
              <a:tr h="457302">
                <a:tc>
                  <a:txBody>
                    <a:bodyPr/>
                    <a:lstStyle/>
                    <a:p>
                      <a:pPr marL="0" marR="0" algn="ctr" rtl="0">
                        <a:lnSpc>
                          <a:spcPct val="107000"/>
                        </a:lnSpc>
                        <a:spcBef>
                          <a:spcPts val="0"/>
                        </a:spcBef>
                        <a:spcAft>
                          <a:spcPts val="0"/>
                        </a:spcAft>
                      </a:pPr>
                      <a:r>
                        <a:rPr lang="en-US" sz="1050">
                          <a:effectLst/>
                          <a:latin typeface="+mn-lt"/>
                        </a:rPr>
                        <a:t>27</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طلب ضمان إمتثال</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بيانات طلب ضمان الامتثال السيبراني للحوسبة السحابية</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الإدارة العامة الامن السيبراني</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vMerge="1">
                  <a:txBody>
                    <a:bodyPr/>
                    <a:lstStyle/>
                    <a:p>
                      <a:pPr marL="0" marR="0" algn="ctr" rtl="1">
                        <a:lnSpc>
                          <a:spcPct val="107000"/>
                        </a:lnSpc>
                        <a:spcBef>
                          <a:spcPts val="0"/>
                        </a:spcBef>
                        <a:spcAft>
                          <a:spcPts val="0"/>
                        </a:spcAft>
                      </a:pPr>
                      <a:r>
                        <a:rPr lang="ar-SA" sz="1050" dirty="0">
                          <a:effectLst/>
                          <a:latin typeface="+mn-lt"/>
                        </a:rPr>
                        <a:t>يدوي</a:t>
                      </a:r>
                      <a:endParaRPr lang="en-US" sz="1050" dirty="0">
                        <a:effectLst/>
                        <a:latin typeface="+mn-lt"/>
                        <a:ea typeface="Calibri" panose="020F0502020204030204" pitchFamily="34" charset="0"/>
                        <a:cs typeface="Arial" panose="020B0604020202020204" pitchFamily="34" charset="0"/>
                      </a:endParaRPr>
                    </a:p>
                  </a:txBody>
                  <a:tcPr marL="29824" marR="29824" marT="0" marB="0" anchor="ctr"/>
                </a:tc>
                <a:tc vMerge="1">
                  <a:txBody>
                    <a:bodyPr/>
                    <a:lstStyle/>
                    <a:p>
                      <a:endParaRPr lang="en-AE"/>
                    </a:p>
                  </a:txBody>
                  <a:tcPr/>
                </a:tc>
                <a:extLst>
                  <a:ext uri="{0D108BD9-81ED-4DB2-BD59-A6C34878D82A}">
                    <a16:rowId xmlns:a16="http://schemas.microsoft.com/office/drawing/2014/main" val="2372500457"/>
                  </a:ext>
                </a:extLst>
              </a:tr>
              <a:tr h="1219473">
                <a:tc>
                  <a:txBody>
                    <a:bodyPr/>
                    <a:lstStyle/>
                    <a:p>
                      <a:pPr marL="0" marR="0" algn="ctr" rtl="0">
                        <a:lnSpc>
                          <a:spcPct val="107000"/>
                        </a:lnSpc>
                        <a:spcBef>
                          <a:spcPts val="0"/>
                        </a:spcBef>
                        <a:spcAft>
                          <a:spcPts val="0"/>
                        </a:spcAft>
                      </a:pPr>
                      <a:r>
                        <a:rPr lang="en-US" sz="1050">
                          <a:effectLst/>
                          <a:latin typeface="+mn-lt"/>
                        </a:rPr>
                        <a:t>28</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سجل  بيانات التصنيف</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يتضمن بيانات التصنيف ويمكن مدقق بيانات التصنيف من مراجعة وتدقيق بيانات التصنيف واتخاذ قرار حولها من خلال المنصة الرقمية للاعتماد والتصنيف.</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الإدارة العامة لبرامج التصنيف</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dirty="0">
                          <a:effectLst/>
                          <a:latin typeface="+mn-lt"/>
                        </a:rPr>
                        <a:t>لا</a:t>
                      </a:r>
                      <a:endParaRPr lang="en-US" sz="1050" dirty="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dirty="0">
                          <a:effectLst/>
                          <a:latin typeface="+mn-lt"/>
                        </a:rPr>
                        <a:t>الجودة</a:t>
                      </a:r>
                      <a:endParaRPr lang="en-US" sz="1050" dirty="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algn="ctr" rtl="0" fontAlgn="ctr"/>
                      <a:r>
                        <a:rPr lang="en-US" sz="1000" b="0" i="0" u="none" strike="noStrike" dirty="0">
                          <a:effectLst/>
                          <a:latin typeface="Calibri" panose="020F0502020204030204" pitchFamily="34" charset="0"/>
                        </a:rPr>
                        <a:t>alfresco,</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caseservice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datamanagement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etec_feedbackservice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etec_reportingservice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gateway,</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integrationservice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keycloak</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notification,</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orchestraservice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referencedata</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requestmanagement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workflowservice</a:t>
                      </a:r>
                      <a:endParaRPr lang="en-US" sz="1000" b="0" i="0" u="none" strike="noStrike" dirty="0">
                        <a:effectLst/>
                        <a:latin typeface="Calibri" panose="020F0502020204030204" pitchFamily="34" charset="0"/>
                      </a:endParaRP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588625723"/>
                  </a:ext>
                </a:extLst>
              </a:tr>
              <a:tr h="228651">
                <a:tc>
                  <a:txBody>
                    <a:bodyPr/>
                    <a:lstStyle/>
                    <a:p>
                      <a:pPr marL="0" marR="0" algn="ctr" rtl="0">
                        <a:lnSpc>
                          <a:spcPct val="107000"/>
                        </a:lnSpc>
                        <a:spcBef>
                          <a:spcPts val="0"/>
                        </a:spcBef>
                        <a:spcAft>
                          <a:spcPts val="0"/>
                        </a:spcAft>
                      </a:pPr>
                      <a:r>
                        <a:rPr lang="en-US" sz="1050">
                          <a:effectLst/>
                          <a:latin typeface="+mn-lt"/>
                        </a:rPr>
                        <a:t>29</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سجل المشاريع</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dirty="0">
                          <a:effectLst/>
                          <a:latin typeface="+mn-lt"/>
                        </a:rPr>
                        <a:t>احصائيات المشاريع المجتمعية</a:t>
                      </a:r>
                      <a:endParaRPr lang="en-US" sz="1050" dirty="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الإدارة العامة لبرامج التصنيف</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marL="0" marR="0" algn="ctr" rtl="1">
                        <a:lnSpc>
                          <a:spcPct val="107000"/>
                        </a:lnSpc>
                        <a:spcBef>
                          <a:spcPts val="0"/>
                        </a:spcBef>
                        <a:spcAft>
                          <a:spcPts val="0"/>
                        </a:spcAft>
                      </a:pPr>
                      <a:r>
                        <a:rPr lang="ar-SA" sz="1050">
                          <a:effectLst/>
                          <a:latin typeface="+mn-lt"/>
                        </a:rPr>
                        <a:t>التقارير وتحليل البيانات</a:t>
                      </a:r>
                      <a:endParaRPr lang="en-US" sz="1050">
                        <a:effectLst/>
                        <a:latin typeface="+mn-lt"/>
                        <a:ea typeface="Calibri" panose="020F0502020204030204" pitchFamily="34" charset="0"/>
                        <a:cs typeface="Arial" panose="020B0604020202020204" pitchFamily="34" charset="0"/>
                      </a:endParaRPr>
                    </a:p>
                  </a:txBody>
                  <a:tcPr marL="29824" marR="29824" marT="0" marB="0" anchor="ctr"/>
                </a:tc>
                <a:tc>
                  <a:txBody>
                    <a:bodyPr/>
                    <a:lstStyle/>
                    <a:p>
                      <a:pPr algn="ctr" rtl="1" fontAlgn="ctr"/>
                      <a:r>
                        <a:rPr lang="ar-SA" sz="1000" b="0" i="0" u="none" strike="noStrike" dirty="0">
                          <a:effectLst/>
                          <a:latin typeface="Calibri" panose="020F0502020204030204" pitchFamily="34" charset="0"/>
                        </a:rPr>
                        <a:t>متعدد </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err="1">
                          <a:effectLst/>
                          <a:latin typeface="+mn-lt"/>
                        </a:rPr>
                        <a:t>رقمنة</a:t>
                      </a:r>
                      <a:r>
                        <a:rPr lang="ar-SA" sz="1000" dirty="0">
                          <a:effectLst/>
                          <a:latin typeface="+mn-lt"/>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379786681"/>
                  </a:ext>
                </a:extLst>
              </a:tr>
            </a:tbl>
          </a:graphicData>
        </a:graphic>
      </p:graphicFrame>
      <p:grpSp>
        <p:nvGrpSpPr>
          <p:cNvPr id="2" name="Group 1">
            <a:extLst>
              <a:ext uri="{FF2B5EF4-FFF2-40B4-BE49-F238E27FC236}">
                <a16:creationId xmlns:a16="http://schemas.microsoft.com/office/drawing/2014/main" id="{C62ED378-EF27-D271-1C32-FA34D1BB88DC}"/>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40C9E60E-BB6B-6340-8491-20215348913F}"/>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F0388206-2B4C-6611-FDD5-1C8087CDC8F8}"/>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05733272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42</a:t>
            </a:fld>
            <a:endParaRPr lang="en-US"/>
          </a:p>
        </p:txBody>
      </p:sp>
      <p:graphicFrame>
        <p:nvGraphicFramePr>
          <p:cNvPr id="2" name="Table 1">
            <a:extLst>
              <a:ext uri="{FF2B5EF4-FFF2-40B4-BE49-F238E27FC236}">
                <a16:creationId xmlns:a16="http://schemas.microsoft.com/office/drawing/2014/main" id="{822EFE7F-9B78-483E-8DDA-5462C4000F83}"/>
              </a:ext>
            </a:extLst>
          </p:cNvPr>
          <p:cNvGraphicFramePr>
            <a:graphicFrameLocks noGrp="1"/>
          </p:cNvGraphicFramePr>
          <p:nvPr>
            <p:extLst>
              <p:ext uri="{D42A27DB-BD31-4B8C-83A1-F6EECF244321}">
                <p14:modId xmlns:p14="http://schemas.microsoft.com/office/powerpoint/2010/main" val="3578173523"/>
              </p:ext>
            </p:extLst>
          </p:nvPr>
        </p:nvGraphicFramePr>
        <p:xfrm>
          <a:off x="621454" y="896098"/>
          <a:ext cx="10949094" cy="5233924"/>
        </p:xfrm>
        <a:graphic>
          <a:graphicData uri="http://schemas.openxmlformats.org/drawingml/2006/table">
            <a:tbl>
              <a:tblPr rtl="1" firstRow="1" firstCol="1" bandRow="1">
                <a:tableStyleId>{5C22544A-7EE6-4342-B048-85BDC9FD1C3A}</a:tableStyleId>
              </a:tblPr>
              <a:tblGrid>
                <a:gridCol w="260072">
                  <a:extLst>
                    <a:ext uri="{9D8B030D-6E8A-4147-A177-3AD203B41FA5}">
                      <a16:colId xmlns:a16="http://schemas.microsoft.com/office/drawing/2014/main" val="1774135537"/>
                    </a:ext>
                  </a:extLst>
                </a:gridCol>
                <a:gridCol w="690750">
                  <a:extLst>
                    <a:ext uri="{9D8B030D-6E8A-4147-A177-3AD203B41FA5}">
                      <a16:colId xmlns:a16="http://schemas.microsoft.com/office/drawing/2014/main" val="3800027685"/>
                    </a:ext>
                  </a:extLst>
                </a:gridCol>
                <a:gridCol w="1875776">
                  <a:extLst>
                    <a:ext uri="{9D8B030D-6E8A-4147-A177-3AD203B41FA5}">
                      <a16:colId xmlns:a16="http://schemas.microsoft.com/office/drawing/2014/main" val="2400032253"/>
                    </a:ext>
                  </a:extLst>
                </a:gridCol>
                <a:gridCol w="736767">
                  <a:extLst>
                    <a:ext uri="{9D8B030D-6E8A-4147-A177-3AD203B41FA5}">
                      <a16:colId xmlns:a16="http://schemas.microsoft.com/office/drawing/2014/main" val="476954055"/>
                    </a:ext>
                  </a:extLst>
                </a:gridCol>
                <a:gridCol w="526612">
                  <a:extLst>
                    <a:ext uri="{9D8B030D-6E8A-4147-A177-3AD203B41FA5}">
                      <a16:colId xmlns:a16="http://schemas.microsoft.com/office/drawing/2014/main" val="2090684707"/>
                    </a:ext>
                  </a:extLst>
                </a:gridCol>
                <a:gridCol w="629198">
                  <a:extLst>
                    <a:ext uri="{9D8B030D-6E8A-4147-A177-3AD203B41FA5}">
                      <a16:colId xmlns:a16="http://schemas.microsoft.com/office/drawing/2014/main" val="4025430387"/>
                    </a:ext>
                  </a:extLst>
                </a:gridCol>
                <a:gridCol w="622360">
                  <a:extLst>
                    <a:ext uri="{9D8B030D-6E8A-4147-A177-3AD203B41FA5}">
                      <a16:colId xmlns:a16="http://schemas.microsoft.com/office/drawing/2014/main" val="632455270"/>
                    </a:ext>
                  </a:extLst>
                </a:gridCol>
                <a:gridCol w="984833">
                  <a:extLst>
                    <a:ext uri="{9D8B030D-6E8A-4147-A177-3AD203B41FA5}">
                      <a16:colId xmlns:a16="http://schemas.microsoft.com/office/drawing/2014/main" val="2051925673"/>
                    </a:ext>
                  </a:extLst>
                </a:gridCol>
                <a:gridCol w="2706720">
                  <a:extLst>
                    <a:ext uri="{9D8B030D-6E8A-4147-A177-3AD203B41FA5}">
                      <a16:colId xmlns:a16="http://schemas.microsoft.com/office/drawing/2014/main" val="3875699286"/>
                    </a:ext>
                  </a:extLst>
                </a:gridCol>
                <a:gridCol w="1916006">
                  <a:extLst>
                    <a:ext uri="{9D8B030D-6E8A-4147-A177-3AD203B41FA5}">
                      <a16:colId xmlns:a16="http://schemas.microsoft.com/office/drawing/2014/main" val="2398058569"/>
                    </a:ext>
                  </a:extLst>
                </a:gridCol>
              </a:tblGrid>
              <a:tr h="445357">
                <a:tc>
                  <a:txBody>
                    <a:bodyPr/>
                    <a:lstStyle/>
                    <a:p>
                      <a:pPr marL="0" marR="0" algn="ctr" rtl="0">
                        <a:lnSpc>
                          <a:spcPct val="107000"/>
                        </a:lnSpc>
                        <a:spcBef>
                          <a:spcPts val="0"/>
                        </a:spcBef>
                        <a:spcAft>
                          <a:spcPts val="0"/>
                        </a:spcAft>
                      </a:pPr>
                      <a:r>
                        <a:rPr lang="en-US" sz="1050" dirty="0">
                          <a:effectLst/>
                          <a:latin typeface="+mn-lt"/>
                        </a:rPr>
                        <a:t>#</a:t>
                      </a:r>
                      <a:endParaRPr lang="en-US" sz="1050" dirty="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dirty="0">
                          <a:effectLst/>
                          <a:latin typeface="+mn-lt"/>
                        </a:rPr>
                        <a:t>الربط مع قناة التكامل الحكومية</a:t>
                      </a:r>
                      <a:endParaRPr lang="en-US" sz="1050" dirty="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dirty="0">
                          <a:effectLst/>
                          <a:latin typeface="+mn-lt"/>
                        </a:rPr>
                        <a:t>خزينة البيانات</a:t>
                      </a:r>
                      <a:endParaRPr lang="en-US" sz="1050" dirty="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21485" marR="21485" marT="0" marB="0" anchor="ctr"/>
                </a:tc>
                <a:extLst>
                  <a:ext uri="{0D108BD9-81ED-4DB2-BD59-A6C34878D82A}">
                    <a16:rowId xmlns:a16="http://schemas.microsoft.com/office/drawing/2014/main" val="2744122210"/>
                  </a:ext>
                </a:extLst>
              </a:tr>
              <a:tr h="693805">
                <a:tc>
                  <a:txBody>
                    <a:bodyPr/>
                    <a:lstStyle/>
                    <a:p>
                      <a:pPr marL="0" marR="0" algn="ctr" rtl="0">
                        <a:lnSpc>
                          <a:spcPct val="107000"/>
                        </a:lnSpc>
                        <a:spcBef>
                          <a:spcPts val="0"/>
                        </a:spcBef>
                        <a:spcAft>
                          <a:spcPts val="0"/>
                        </a:spcAft>
                      </a:pPr>
                      <a:r>
                        <a:rPr lang="en-US" sz="1050">
                          <a:effectLst/>
                          <a:latin typeface="+mn-lt"/>
                        </a:rPr>
                        <a:t>31</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dirty="0">
                          <a:effectLst/>
                          <a:latin typeface="+mn-lt"/>
                        </a:rPr>
                        <a:t>طلب تقديم بيانات التصنيف</a:t>
                      </a:r>
                      <a:endParaRPr lang="en-US" sz="1050" dirty="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بيانات التقديم للتصنيف.</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الإدارة العامة لبرامج التصنيف</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الجودة</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algn="ctr" rtl="0" fontAlgn="ctr"/>
                      <a:r>
                        <a:rPr lang="en-US" sz="1000" b="0" i="0" u="none" strike="noStrike" dirty="0">
                          <a:effectLst/>
                          <a:latin typeface="Calibri" panose="020F0502020204030204" pitchFamily="34" charset="0"/>
                        </a:rPr>
                        <a:t>alfresco, </a:t>
                      </a:r>
                      <a:r>
                        <a:rPr lang="en-US" sz="1000" b="0" i="0" u="none" strike="noStrike" dirty="0" err="1">
                          <a:effectLst/>
                          <a:latin typeface="Calibri" panose="020F0502020204030204" pitchFamily="34" charset="0"/>
                        </a:rPr>
                        <a:t>caseservice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datamanagement</a:t>
                      </a:r>
                      <a:r>
                        <a:rPr lang="en-US" sz="1000" b="0" i="0" u="none" strike="noStrike" dirty="0">
                          <a:effectLst/>
                          <a:latin typeface="Calibri" panose="020F0502020204030204" pitchFamily="34" charset="0"/>
                        </a:rPr>
                        <a:t>, </a:t>
                      </a:r>
                      <a:r>
                        <a:rPr lang="en-US" sz="1000" b="0" i="0" u="none" strike="noStrike" dirty="0" err="1">
                          <a:effectLst/>
                          <a:latin typeface="Calibri" panose="020F0502020204030204" pitchFamily="34" charset="0"/>
                        </a:rPr>
                        <a:t>etec_feedbackservice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etec_reportingservice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gateway, </a:t>
                      </a:r>
                      <a:r>
                        <a:rPr lang="en-US" sz="1000" b="0" i="0" u="none" strike="noStrike" dirty="0" err="1">
                          <a:effectLst/>
                          <a:latin typeface="Calibri" panose="020F0502020204030204" pitchFamily="34" charset="0"/>
                        </a:rPr>
                        <a:t>integrationservice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keycloak</a:t>
                      </a:r>
                      <a:r>
                        <a:rPr lang="en-US" sz="1000" b="0" i="0" u="none" strike="noStrike" dirty="0">
                          <a:effectLst/>
                          <a:latin typeface="Calibri" panose="020F0502020204030204" pitchFamily="34" charset="0"/>
                        </a:rPr>
                        <a:t>, notification,</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orchestraservice</a:t>
                      </a:r>
                      <a:r>
                        <a:rPr lang="en-US" sz="1000" b="0" i="0" u="none" strike="noStrike" dirty="0">
                          <a:effectLst/>
                          <a:latin typeface="Calibri" panose="020F0502020204030204" pitchFamily="34" charset="0"/>
                        </a:rPr>
                        <a:t>, </a:t>
                      </a:r>
                      <a:r>
                        <a:rPr lang="en-US" sz="1000" b="0" i="0" u="none" strike="noStrike" dirty="0" err="1">
                          <a:effectLst/>
                          <a:latin typeface="Calibri" panose="020F0502020204030204" pitchFamily="34" charset="0"/>
                        </a:rPr>
                        <a:t>referencedata</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requestmanagement</a:t>
                      </a:r>
                      <a:r>
                        <a:rPr lang="en-US" sz="1000" b="0" i="0" u="none" strike="noStrike" dirty="0">
                          <a:effectLst/>
                          <a:latin typeface="Calibri" panose="020F0502020204030204" pitchFamily="34" charset="0"/>
                        </a:rPr>
                        <a:t>, </a:t>
                      </a:r>
                      <a:r>
                        <a:rPr lang="en-US" sz="1000" b="0" i="0" u="none" strike="noStrike" dirty="0" err="1">
                          <a:effectLst/>
                          <a:latin typeface="Calibri" panose="020F0502020204030204" pitchFamily="34" charset="0"/>
                        </a:rPr>
                        <a:t>workflowservice</a:t>
                      </a:r>
                      <a:endParaRPr lang="en-US" sz="1000" b="0" i="0" u="none" strike="noStrike" dirty="0">
                        <a:effectLst/>
                        <a:latin typeface="Calibri" panose="020F0502020204030204" pitchFamily="34" charset="0"/>
                      </a:endParaRP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983648522"/>
                  </a:ext>
                </a:extLst>
              </a:tr>
              <a:tr h="445357">
                <a:tc>
                  <a:txBody>
                    <a:bodyPr/>
                    <a:lstStyle/>
                    <a:p>
                      <a:pPr marL="0" marR="0" algn="ctr" rtl="0">
                        <a:lnSpc>
                          <a:spcPct val="107000"/>
                        </a:lnSpc>
                        <a:spcBef>
                          <a:spcPts val="0"/>
                        </a:spcBef>
                        <a:spcAft>
                          <a:spcPts val="0"/>
                        </a:spcAft>
                      </a:pPr>
                      <a:r>
                        <a:rPr lang="en-US" sz="1050">
                          <a:effectLst/>
                          <a:latin typeface="+mn-lt"/>
                        </a:rPr>
                        <a:t>32</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سجل تسجيل الإختبار</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بيانات خاصة بتسجيل في الاختبارات التي يقدمها المركز الوطني للقياس بكل أنواعها (تعليمية، لغوية، مهنية، دولية) في المواعيد المحددة</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الإدارة العامة لتطبيق الاختبارات</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التدريب</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algn="ctr" rtl="0" fontAlgn="ctr"/>
                      <a:r>
                        <a:rPr lang="en-US" sz="1000" b="0" i="0" u="none" strike="noStrike">
                          <a:effectLst/>
                          <a:latin typeface="Calibri" panose="020F0502020204030204" pitchFamily="34" charset="0"/>
                        </a:rPr>
                        <a:t>Qiyas.TRAS.Database</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Qiyas.TRAS.Audit</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ASPState</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p>
                      <a:pPr marL="171450" indent="-171450" algn="r" defTabSz="914400" rtl="1" eaLnBrk="1" fontAlgn="ctr" latinLnBrk="0" hangingPunct="1">
                        <a:buFont typeface="Arial" panose="020B0604020202020204" pitchFamily="34" charset="0"/>
                        <a:buChar char="•"/>
                      </a:pPr>
                      <a:endParaRPr lang="en-US" sz="1000" kern="1200" dirty="0">
                        <a:solidFill>
                          <a:schemeClr val="dk1"/>
                        </a:solidFill>
                        <a:effectLst/>
                        <a:latin typeface="+mn-lt"/>
                        <a:ea typeface="+mn-ea"/>
                        <a:cs typeface="+mn-cs"/>
                      </a:endParaRPr>
                    </a:p>
                  </a:txBody>
                  <a:tcPr marL="0" marR="0" marT="0" marB="0" anchor="ctr">
                    <a:solidFill>
                      <a:srgbClr val="00B050"/>
                    </a:solidFill>
                  </a:tcPr>
                </a:tc>
                <a:extLst>
                  <a:ext uri="{0D108BD9-81ED-4DB2-BD59-A6C34878D82A}">
                    <a16:rowId xmlns:a16="http://schemas.microsoft.com/office/drawing/2014/main" val="2546354620"/>
                  </a:ext>
                </a:extLst>
              </a:tr>
              <a:tr h="445357">
                <a:tc>
                  <a:txBody>
                    <a:bodyPr/>
                    <a:lstStyle/>
                    <a:p>
                      <a:pPr marL="0" marR="0" algn="ctr" rtl="0">
                        <a:lnSpc>
                          <a:spcPct val="107000"/>
                        </a:lnSpc>
                        <a:spcBef>
                          <a:spcPts val="0"/>
                        </a:spcBef>
                        <a:spcAft>
                          <a:spcPts val="0"/>
                        </a:spcAft>
                      </a:pPr>
                      <a:r>
                        <a:rPr lang="en-US" sz="1050">
                          <a:effectLst/>
                          <a:latin typeface="+mn-lt"/>
                        </a:rPr>
                        <a:t>33</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سجل الأصول التقنية</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عملية تتبع وتنظيم الأصول الرقمية (مثل الأجهزة، البرمجيات، والخوادم) وضبط إعدادات النظام لضمان استخدامها بكفاءة وأمان</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الإدارة العامة لتقنية المعلومات </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rowSpan="2">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0" marR="0" marT="0" marB="0" anchor="ctr"/>
                </a:tc>
                <a:tc rowSpan="2">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تحديد خزينة البيانات</a:t>
                      </a:r>
                    </a:p>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862647685"/>
                  </a:ext>
                </a:extLst>
              </a:tr>
              <a:tr h="222678">
                <a:tc>
                  <a:txBody>
                    <a:bodyPr/>
                    <a:lstStyle/>
                    <a:p>
                      <a:pPr marL="0" marR="0" algn="ctr" rtl="0">
                        <a:lnSpc>
                          <a:spcPct val="107000"/>
                        </a:lnSpc>
                        <a:spcBef>
                          <a:spcPts val="0"/>
                        </a:spcBef>
                        <a:spcAft>
                          <a:spcPts val="0"/>
                        </a:spcAft>
                      </a:pPr>
                      <a:r>
                        <a:rPr lang="en-US" sz="1050">
                          <a:effectLst/>
                          <a:latin typeface="+mn-lt"/>
                        </a:rPr>
                        <a:t>34</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سجل إدارة التغيير</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التعديلات أو التحديثات التي يتم اقتراحها وتنفيذها في أنظمة وتقنيات الهيئة</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الإدارة العامة لتقنية المعلومات </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vMerge="1">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0" marR="0" marT="0" marB="0" anchor="ctr"/>
                </a:tc>
                <a:tc vMerge="1">
                  <a:txBody>
                    <a:bodyPr/>
                    <a:lstStyle/>
                    <a:p>
                      <a:endParaRPr lang="en-AE"/>
                    </a:p>
                  </a:txBody>
                  <a:tcPr/>
                </a:tc>
                <a:extLst>
                  <a:ext uri="{0D108BD9-81ED-4DB2-BD59-A6C34878D82A}">
                    <a16:rowId xmlns:a16="http://schemas.microsoft.com/office/drawing/2014/main" val="2858760050"/>
                  </a:ext>
                </a:extLst>
              </a:tr>
              <a:tr h="445357">
                <a:tc>
                  <a:txBody>
                    <a:bodyPr/>
                    <a:lstStyle/>
                    <a:p>
                      <a:pPr marL="0" marR="0" algn="ctr" rtl="0">
                        <a:lnSpc>
                          <a:spcPct val="107000"/>
                        </a:lnSpc>
                        <a:spcBef>
                          <a:spcPts val="0"/>
                        </a:spcBef>
                        <a:spcAft>
                          <a:spcPts val="0"/>
                        </a:spcAft>
                      </a:pPr>
                      <a:r>
                        <a:rPr lang="en-US" sz="1050">
                          <a:effectLst/>
                          <a:latin typeface="+mn-lt"/>
                        </a:rPr>
                        <a:t>35</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سجل سياسات المخاطر</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الأنشطة والتدابير التي تهدف إلى التعرف على الحوادث الأمنية والتعامل معها بشكل سريع وفعّال لتقليل تأثيرها على الأصول الرقمية والبيانات</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الإدارة العامة لتقنية المعلومات </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algn="ctr" rtl="1" fontAlgn="ctr"/>
                      <a:r>
                        <a:rPr lang="ar-SA" sz="1000" b="0" i="0" u="none" strike="noStrike">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101983151"/>
                  </a:ext>
                </a:extLst>
              </a:tr>
              <a:tr h="334018">
                <a:tc>
                  <a:txBody>
                    <a:bodyPr/>
                    <a:lstStyle/>
                    <a:p>
                      <a:pPr marL="0" marR="0" algn="ctr" rtl="0">
                        <a:lnSpc>
                          <a:spcPct val="107000"/>
                        </a:lnSpc>
                        <a:spcBef>
                          <a:spcPts val="0"/>
                        </a:spcBef>
                        <a:spcAft>
                          <a:spcPts val="0"/>
                        </a:spcAft>
                      </a:pPr>
                      <a:r>
                        <a:rPr lang="en-US" sz="1050">
                          <a:effectLst/>
                          <a:latin typeface="+mn-lt"/>
                        </a:rPr>
                        <a:t>36</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سجل طلبات تقنية المعلومات</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الطلبات التي يتم تقديمها للحصول على برامج أو تطبيقات معينة لأغراض محددة داخل الهيئة</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الإدارة العامة لتقنية المعلومات </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algn="ctr" rtl="1" fontAlgn="ctr"/>
                      <a:r>
                        <a:rPr lang="ar-SA" sz="1100" b="1" i="0" u="none" strike="noStrike">
                          <a:effectLst/>
                          <a:latin typeface="Sakkal Majalla" panose="02000000000000000000" pitchFamily="2" charset="-78"/>
                          <a:cs typeface="Sakkal Majalla" panose="02000000000000000000" pitchFamily="2" charset="-78"/>
                        </a:rPr>
                        <a:t>غير محدد</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502207529"/>
                  </a:ext>
                </a:extLst>
              </a:tr>
              <a:tr h="222678">
                <a:tc>
                  <a:txBody>
                    <a:bodyPr/>
                    <a:lstStyle/>
                    <a:p>
                      <a:pPr marL="0" marR="0" algn="ctr" rtl="0">
                        <a:lnSpc>
                          <a:spcPct val="107000"/>
                        </a:lnSpc>
                        <a:spcBef>
                          <a:spcPts val="0"/>
                        </a:spcBef>
                        <a:spcAft>
                          <a:spcPts val="0"/>
                        </a:spcAft>
                      </a:pPr>
                      <a:r>
                        <a:rPr lang="en-US" sz="1050">
                          <a:effectLst/>
                          <a:latin typeface="+mn-lt"/>
                        </a:rPr>
                        <a:t>37</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سجل عمليات الكشف الامني</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عملية الكشف عن الأحداث الأمنية</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الإدارة العامة لتقنية المعلومات </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algn="ctr" rtl="1" fontAlgn="ctr"/>
                      <a:r>
                        <a:rPr lang="ar-SA" sz="1000" b="0" i="0" u="none" strike="noStrike">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008211235"/>
                  </a:ext>
                </a:extLst>
              </a:tr>
              <a:tr h="445357">
                <a:tc>
                  <a:txBody>
                    <a:bodyPr/>
                    <a:lstStyle/>
                    <a:p>
                      <a:pPr marL="0" marR="0" algn="ctr" rtl="0">
                        <a:lnSpc>
                          <a:spcPct val="107000"/>
                        </a:lnSpc>
                        <a:spcBef>
                          <a:spcPts val="0"/>
                        </a:spcBef>
                        <a:spcAft>
                          <a:spcPts val="0"/>
                        </a:spcAft>
                      </a:pPr>
                      <a:r>
                        <a:rPr lang="en-US" sz="1050">
                          <a:effectLst/>
                          <a:latin typeface="+mn-lt"/>
                        </a:rPr>
                        <a:t>38</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طلب خدمة</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طلبات المستخدمين أو العملاء للحصول على خدمات أو موارد معينة داخل الهيئة، مثل طلبات الدعم الفني، وتوفير البرمجيات أو الأجهزة</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الإدارة العامة لتقنية المعلومات </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1485" marR="21485" marT="0" marB="0" anchor="ctr"/>
                </a:tc>
                <a:tc>
                  <a:txBody>
                    <a:bodyPr/>
                    <a:lstStyle/>
                    <a:p>
                      <a:pPr algn="ctr" rtl="0" fontAlgn="ctr"/>
                      <a:r>
                        <a:rPr lang="en-US" sz="1000" b="0" i="0" u="none" strike="noStrike" dirty="0" err="1">
                          <a:effectLst/>
                          <a:latin typeface="Calibri" panose="020F0502020204030204" pitchFamily="34" charset="0"/>
                        </a:rPr>
                        <a:t>ARSystem</a:t>
                      </a:r>
                      <a:endParaRPr lang="en-US" sz="1000" b="0" i="0" u="none" strike="noStrike" dirty="0">
                        <a:effectLst/>
                        <a:latin typeface="Calibri" panose="020F0502020204030204" pitchFamily="34" charset="0"/>
                      </a:endParaRP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960260579"/>
                  </a:ext>
                </a:extLst>
              </a:tr>
            </a:tbl>
          </a:graphicData>
        </a:graphic>
      </p:graphicFrame>
      <p:grpSp>
        <p:nvGrpSpPr>
          <p:cNvPr id="4" name="Group 3">
            <a:extLst>
              <a:ext uri="{FF2B5EF4-FFF2-40B4-BE49-F238E27FC236}">
                <a16:creationId xmlns:a16="http://schemas.microsoft.com/office/drawing/2014/main" id="{2E42DAB2-2AF1-8905-A4DE-2A7BF0F33E1D}"/>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D483D6C0-28BC-C9FC-3C50-5946837D54ED}"/>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E6088800-0D75-C2E5-94F4-AC3C564ADD03}"/>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988491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43</a:t>
            </a:fld>
            <a:endParaRPr lang="en-US"/>
          </a:p>
        </p:txBody>
      </p:sp>
      <p:graphicFrame>
        <p:nvGraphicFramePr>
          <p:cNvPr id="4" name="Table 3">
            <a:extLst>
              <a:ext uri="{FF2B5EF4-FFF2-40B4-BE49-F238E27FC236}">
                <a16:creationId xmlns:a16="http://schemas.microsoft.com/office/drawing/2014/main" id="{7AF83222-5E21-4CA5-9E72-1EF963F1D3E7}"/>
              </a:ext>
            </a:extLst>
          </p:cNvPr>
          <p:cNvGraphicFramePr>
            <a:graphicFrameLocks noGrp="1"/>
          </p:cNvGraphicFramePr>
          <p:nvPr>
            <p:extLst>
              <p:ext uri="{D42A27DB-BD31-4B8C-83A1-F6EECF244321}">
                <p14:modId xmlns:p14="http://schemas.microsoft.com/office/powerpoint/2010/main" val="3002644901"/>
              </p:ext>
            </p:extLst>
          </p:nvPr>
        </p:nvGraphicFramePr>
        <p:xfrm>
          <a:off x="621452" y="897377"/>
          <a:ext cx="10946098" cy="5045260"/>
        </p:xfrm>
        <a:graphic>
          <a:graphicData uri="http://schemas.openxmlformats.org/drawingml/2006/table">
            <a:tbl>
              <a:tblPr rtl="1" firstRow="1" firstCol="1" bandRow="1">
                <a:tableStyleId>{5C22544A-7EE6-4342-B048-85BDC9FD1C3A}</a:tableStyleId>
              </a:tblPr>
              <a:tblGrid>
                <a:gridCol w="368193">
                  <a:extLst>
                    <a:ext uri="{9D8B030D-6E8A-4147-A177-3AD203B41FA5}">
                      <a16:colId xmlns:a16="http://schemas.microsoft.com/office/drawing/2014/main" val="426663564"/>
                    </a:ext>
                  </a:extLst>
                </a:gridCol>
                <a:gridCol w="958838">
                  <a:extLst>
                    <a:ext uri="{9D8B030D-6E8A-4147-A177-3AD203B41FA5}">
                      <a16:colId xmlns:a16="http://schemas.microsoft.com/office/drawing/2014/main" val="3386095798"/>
                    </a:ext>
                  </a:extLst>
                </a:gridCol>
                <a:gridCol w="1618520">
                  <a:extLst>
                    <a:ext uri="{9D8B030D-6E8A-4147-A177-3AD203B41FA5}">
                      <a16:colId xmlns:a16="http://schemas.microsoft.com/office/drawing/2014/main" val="318404183"/>
                    </a:ext>
                  </a:extLst>
                </a:gridCol>
                <a:gridCol w="1089239">
                  <a:extLst>
                    <a:ext uri="{9D8B030D-6E8A-4147-A177-3AD203B41FA5}">
                      <a16:colId xmlns:a16="http://schemas.microsoft.com/office/drawing/2014/main" val="3634118083"/>
                    </a:ext>
                  </a:extLst>
                </a:gridCol>
                <a:gridCol w="475584">
                  <a:extLst>
                    <a:ext uri="{9D8B030D-6E8A-4147-A177-3AD203B41FA5}">
                      <a16:colId xmlns:a16="http://schemas.microsoft.com/office/drawing/2014/main" val="3042989677"/>
                    </a:ext>
                  </a:extLst>
                </a:gridCol>
                <a:gridCol w="774742">
                  <a:extLst>
                    <a:ext uri="{9D8B030D-6E8A-4147-A177-3AD203B41FA5}">
                      <a16:colId xmlns:a16="http://schemas.microsoft.com/office/drawing/2014/main" val="205817998"/>
                    </a:ext>
                  </a:extLst>
                </a:gridCol>
                <a:gridCol w="790083">
                  <a:extLst>
                    <a:ext uri="{9D8B030D-6E8A-4147-A177-3AD203B41FA5}">
                      <a16:colId xmlns:a16="http://schemas.microsoft.com/office/drawing/2014/main" val="1886576079"/>
                    </a:ext>
                  </a:extLst>
                </a:gridCol>
                <a:gridCol w="1587837">
                  <a:extLst>
                    <a:ext uri="{9D8B030D-6E8A-4147-A177-3AD203B41FA5}">
                      <a16:colId xmlns:a16="http://schemas.microsoft.com/office/drawing/2014/main" val="1191699468"/>
                    </a:ext>
                  </a:extLst>
                </a:gridCol>
                <a:gridCol w="1641531">
                  <a:extLst>
                    <a:ext uri="{9D8B030D-6E8A-4147-A177-3AD203B41FA5}">
                      <a16:colId xmlns:a16="http://schemas.microsoft.com/office/drawing/2014/main" val="2323865885"/>
                    </a:ext>
                  </a:extLst>
                </a:gridCol>
                <a:gridCol w="1641531">
                  <a:extLst>
                    <a:ext uri="{9D8B030D-6E8A-4147-A177-3AD203B41FA5}">
                      <a16:colId xmlns:a16="http://schemas.microsoft.com/office/drawing/2014/main" val="1467576964"/>
                    </a:ext>
                  </a:extLst>
                </a:gridCol>
              </a:tblGrid>
              <a:tr h="334738">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خزينة البيانات</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extLst>
                  <a:ext uri="{0D108BD9-81ED-4DB2-BD59-A6C34878D82A}">
                    <a16:rowId xmlns:a16="http://schemas.microsoft.com/office/drawing/2014/main" val="2453789707"/>
                  </a:ext>
                </a:extLst>
              </a:tr>
              <a:tr h="446980">
                <a:tc>
                  <a:txBody>
                    <a:bodyPr/>
                    <a:lstStyle/>
                    <a:p>
                      <a:pPr marL="0" marR="0" algn="ctr" rtl="0">
                        <a:lnSpc>
                          <a:spcPct val="107000"/>
                        </a:lnSpc>
                        <a:spcBef>
                          <a:spcPts val="0"/>
                        </a:spcBef>
                        <a:spcAft>
                          <a:spcPts val="0"/>
                        </a:spcAft>
                      </a:pPr>
                      <a:r>
                        <a:rPr lang="en-US" sz="1050">
                          <a:effectLst/>
                          <a:latin typeface="+mn-lt"/>
                        </a:rPr>
                        <a:t>39</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كتالوج الخدمات</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وصف مفصل لجميع الخدمات التي تقدمها الهيئة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الإدارة العامة لتقنية المعلومات </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algn="ctr" rtl="1" fontAlgn="ctr"/>
                      <a:r>
                        <a:rPr lang="ar-SA" sz="1000" b="0" i="0" u="none" strike="noStrike">
                          <a:effectLst/>
                          <a:latin typeface="Calibri" panose="020F0502020204030204" pitchFamily="34" charset="0"/>
                        </a:rPr>
                        <a:t>متعدد</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93559968"/>
                  </a:ext>
                </a:extLst>
              </a:tr>
              <a:tr h="446980">
                <a:tc>
                  <a:txBody>
                    <a:bodyPr/>
                    <a:lstStyle/>
                    <a:p>
                      <a:pPr marL="0" marR="0" algn="ctr" rtl="0">
                        <a:lnSpc>
                          <a:spcPct val="107000"/>
                        </a:lnSpc>
                        <a:spcBef>
                          <a:spcPts val="0"/>
                        </a:spcBef>
                        <a:spcAft>
                          <a:spcPts val="0"/>
                        </a:spcAft>
                      </a:pPr>
                      <a:r>
                        <a:rPr lang="en-US" sz="1050">
                          <a:effectLst/>
                          <a:latin typeface="+mn-lt"/>
                        </a:rPr>
                        <a:t>40</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سجل إصدار الرخص</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 بيانات إصدار الرخص المهنية لشاغلي الوظائف التعليمية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للاختبارات والرخص المهنية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algn="ctr" rtl="1" fontAlgn="ctr"/>
                      <a:r>
                        <a:rPr lang="ar-SA" sz="1000" b="0" i="0" u="none" strike="noStrike">
                          <a:effectLst/>
                          <a:latin typeface="Calibri" panose="020F0502020204030204" pitchFamily="34" charset="0"/>
                        </a:rPr>
                        <a:t>متعدد</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879364754"/>
                  </a:ext>
                </a:extLst>
              </a:tr>
              <a:tr h="446980">
                <a:tc>
                  <a:txBody>
                    <a:bodyPr/>
                    <a:lstStyle/>
                    <a:p>
                      <a:pPr marL="0" marR="0" algn="ctr" rtl="0">
                        <a:lnSpc>
                          <a:spcPct val="107000"/>
                        </a:lnSpc>
                        <a:spcBef>
                          <a:spcPts val="0"/>
                        </a:spcBef>
                        <a:spcAft>
                          <a:spcPts val="0"/>
                        </a:spcAft>
                      </a:pPr>
                      <a:r>
                        <a:rPr lang="en-US" sz="1050" dirty="0">
                          <a:effectLst/>
                          <a:latin typeface="+mn-lt"/>
                        </a:rPr>
                        <a:t>41</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سجل المراجعين</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بيانات المراجعين</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الإدارة العامة للاعتماد</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مقيد</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لا</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لا</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الاعتمادات</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963235713"/>
                  </a:ext>
                </a:extLst>
              </a:tr>
              <a:tr h="446980">
                <a:tc>
                  <a:txBody>
                    <a:bodyPr/>
                    <a:lstStyle/>
                    <a:p>
                      <a:pPr marL="0" marR="0" algn="ctr" rtl="0">
                        <a:lnSpc>
                          <a:spcPct val="107000"/>
                        </a:lnSpc>
                        <a:spcBef>
                          <a:spcPts val="0"/>
                        </a:spcBef>
                        <a:spcAft>
                          <a:spcPts val="0"/>
                        </a:spcAft>
                      </a:pPr>
                      <a:r>
                        <a:rPr lang="en-US" sz="1050">
                          <a:effectLst/>
                          <a:latin typeface="+mn-lt"/>
                        </a:rPr>
                        <a:t>43</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سجل بيانات التعاقد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بيانات التعاقدات</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algn="ctr" rtl="1" fontAlgn="ctr"/>
                      <a:r>
                        <a:rPr lang="ar-SA" sz="1000" b="0" i="0" u="none" strike="noStrike" dirty="0">
                          <a:effectLst/>
                          <a:latin typeface="Calibri" panose="020F0502020204030204" pitchFamily="34" charset="0"/>
                        </a:rPr>
                        <a:t>متعدد</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764813489"/>
                  </a:ext>
                </a:extLst>
              </a:tr>
              <a:tr h="632919">
                <a:tc>
                  <a:txBody>
                    <a:bodyPr/>
                    <a:lstStyle/>
                    <a:p>
                      <a:pPr marL="0" marR="0" algn="ctr" rtl="0">
                        <a:lnSpc>
                          <a:spcPct val="107000"/>
                        </a:lnSpc>
                        <a:spcBef>
                          <a:spcPts val="0"/>
                        </a:spcBef>
                        <a:spcAft>
                          <a:spcPts val="0"/>
                        </a:spcAft>
                      </a:pPr>
                      <a:r>
                        <a:rPr lang="en-US" sz="1050">
                          <a:effectLst/>
                          <a:latin typeface="+mn-lt"/>
                        </a:rPr>
                        <a:t>42</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سجل المنشأة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بيانات تسجيل المنشئات للاعتماد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الإدارة العامة للاعتماد</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rowSpan="5">
                  <a:txBody>
                    <a:bodyPr/>
                    <a:lstStyle/>
                    <a:p>
                      <a:pPr algn="ctr" rtl="0" fontAlgn="ctr"/>
                      <a:r>
                        <a:rPr lang="en-US" sz="1000" b="0" i="0" u="none" strike="noStrike" dirty="0">
                          <a:effectLst/>
                          <a:latin typeface="Calibri" panose="020F0502020204030204" pitchFamily="34" charset="0"/>
                        </a:rPr>
                        <a:t>alfresco,</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caseservice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datamanagement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etec_feedbackservice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etec_reportingservice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gateway,</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integrationservice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keycloak</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notification,</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orchestraservice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referencedata</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requestmanagement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workflowservice</a:t>
                      </a:r>
                      <a:endParaRPr lang="en-US" sz="1000" b="0" i="0" u="none" strike="noStrike" dirty="0">
                        <a:effectLst/>
                        <a:latin typeface="Calibri" panose="020F0502020204030204" pitchFamily="34" charset="0"/>
                      </a:endParaRPr>
                    </a:p>
                  </a:txBody>
                  <a:tcPr marL="0" marR="0" marT="0" marB="0" anchor="ctr"/>
                </a:tc>
                <a:tc rowSpan="5">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p>
                      <a:pPr marL="0" algn="ctr" defTabSz="914400" rtl="1" eaLnBrk="1" fontAlgn="ctr" latinLnBrk="0" hangingPunct="1"/>
                      <a:endParaRPr lang="en-US" sz="1000" b="0" i="0" u="none" strike="noStrike" dirty="0">
                        <a:effectLst/>
                        <a:latin typeface="Calibri" panose="020F0502020204030204" pitchFamily="34" charset="0"/>
                      </a:endParaRPr>
                    </a:p>
                  </a:txBody>
                  <a:tcPr marL="0" marR="0" marT="0" marB="0" anchor="ctr">
                    <a:solidFill>
                      <a:srgbClr val="00B050"/>
                    </a:solidFill>
                  </a:tcPr>
                </a:tc>
                <a:extLst>
                  <a:ext uri="{0D108BD9-81ED-4DB2-BD59-A6C34878D82A}">
                    <a16:rowId xmlns:a16="http://schemas.microsoft.com/office/drawing/2014/main" val="3690073342"/>
                  </a:ext>
                </a:extLst>
              </a:tr>
              <a:tr h="632919">
                <a:tc>
                  <a:txBody>
                    <a:bodyPr/>
                    <a:lstStyle/>
                    <a:p>
                      <a:pPr marL="0" marR="0" algn="ctr" rtl="0">
                        <a:lnSpc>
                          <a:spcPct val="107000"/>
                        </a:lnSpc>
                        <a:spcBef>
                          <a:spcPts val="0"/>
                        </a:spcBef>
                        <a:spcAft>
                          <a:spcPts val="0"/>
                        </a:spcAft>
                      </a:pPr>
                      <a:r>
                        <a:rPr lang="en-US" sz="1050">
                          <a:effectLst/>
                          <a:latin typeface="+mn-lt"/>
                        </a:rPr>
                        <a:t>44</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سجل البرامج الأكاديمية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بيانات عن البرامج الأكاديمية المقدمة من المؤسسات التعليمية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البرامجي</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vMerge="1">
                  <a:txBody>
                    <a:bodyPr/>
                    <a:lstStyle/>
                    <a:p>
                      <a:pPr algn="ctr" rtl="0" fontAlgn="ctr"/>
                      <a:endParaRPr lang="en-US" sz="1000" b="0" i="0" u="none" strike="noStrike" dirty="0">
                        <a:effectLst/>
                        <a:latin typeface="Calibri" panose="020F0502020204030204" pitchFamily="34" charset="0"/>
                      </a:endParaRPr>
                    </a:p>
                  </a:txBody>
                  <a:tcPr marL="0" marR="0" marT="0" marB="0" anchor="ctr"/>
                </a:tc>
                <a:tc vMerge="1">
                  <a:txBody>
                    <a:bodyPr/>
                    <a:lstStyle/>
                    <a:p>
                      <a:endParaRPr lang="en-AE"/>
                    </a:p>
                  </a:txBody>
                  <a:tcPr/>
                </a:tc>
                <a:extLst>
                  <a:ext uri="{0D108BD9-81ED-4DB2-BD59-A6C34878D82A}">
                    <a16:rowId xmlns:a16="http://schemas.microsoft.com/office/drawing/2014/main" val="1946881989"/>
                  </a:ext>
                </a:extLst>
              </a:tr>
              <a:tr h="632919">
                <a:tc>
                  <a:txBody>
                    <a:bodyPr/>
                    <a:lstStyle/>
                    <a:p>
                      <a:pPr marL="0" marR="0" algn="ctr" rtl="0">
                        <a:lnSpc>
                          <a:spcPct val="107000"/>
                        </a:lnSpc>
                        <a:spcBef>
                          <a:spcPts val="0"/>
                        </a:spcBef>
                        <a:spcAft>
                          <a:spcPts val="0"/>
                        </a:spcAft>
                      </a:pPr>
                      <a:r>
                        <a:rPr lang="en-US" sz="1050">
                          <a:effectLst/>
                          <a:latin typeface="+mn-lt"/>
                        </a:rPr>
                        <a:t>45</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سجل إعتماد برامجي</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بيانات اعتماد وتقويم البرامج التدريبية في المنشآت التدريبية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البرامجي</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vMerge="1">
                  <a:txBody>
                    <a:bodyPr/>
                    <a:lstStyle/>
                    <a:p>
                      <a:pPr algn="ctr" rtl="0" fontAlgn="ctr"/>
                      <a:endParaRPr lang="en-US" sz="1000" b="0" i="0" u="none" strike="noStrike" dirty="0">
                        <a:effectLst/>
                        <a:latin typeface="Calibri" panose="020F0502020204030204" pitchFamily="34" charset="0"/>
                      </a:endParaRPr>
                    </a:p>
                  </a:txBody>
                  <a:tcPr marL="0" marR="0" marT="0" marB="0" anchor="ctr"/>
                </a:tc>
                <a:tc vMerge="1">
                  <a:txBody>
                    <a:bodyPr/>
                    <a:lstStyle/>
                    <a:p>
                      <a:endParaRPr lang="en-AE"/>
                    </a:p>
                  </a:txBody>
                  <a:tcPr/>
                </a:tc>
                <a:extLst>
                  <a:ext uri="{0D108BD9-81ED-4DB2-BD59-A6C34878D82A}">
                    <a16:rowId xmlns:a16="http://schemas.microsoft.com/office/drawing/2014/main" val="1683760458"/>
                  </a:ext>
                </a:extLst>
              </a:tr>
              <a:tr h="632919">
                <a:tc>
                  <a:txBody>
                    <a:bodyPr/>
                    <a:lstStyle/>
                    <a:p>
                      <a:pPr marL="0" marR="0" algn="ctr" rtl="0">
                        <a:lnSpc>
                          <a:spcPct val="107000"/>
                        </a:lnSpc>
                        <a:spcBef>
                          <a:spcPts val="0"/>
                        </a:spcBef>
                        <a:spcAft>
                          <a:spcPts val="0"/>
                        </a:spcAft>
                      </a:pPr>
                      <a:r>
                        <a:rPr lang="en-US" sz="1050">
                          <a:effectLst/>
                          <a:latin typeface="+mn-lt"/>
                        </a:rPr>
                        <a:t>46</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سجل طلبات إعتماد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بيانات طلب الاعتماد البرامجي</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البرامجي</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vMerge="1">
                  <a:txBody>
                    <a:bodyPr/>
                    <a:lstStyle/>
                    <a:p>
                      <a:pPr algn="ctr" rtl="0" fontAlgn="ctr"/>
                      <a:endParaRPr lang="en-US" sz="1000" b="0" i="0" u="none" strike="noStrike" dirty="0">
                        <a:effectLst/>
                        <a:latin typeface="Calibri" panose="020F0502020204030204" pitchFamily="34" charset="0"/>
                      </a:endParaRPr>
                    </a:p>
                  </a:txBody>
                  <a:tcPr marL="0" marR="0" marT="0" marB="0" anchor="ctr"/>
                </a:tc>
                <a:tc vMerge="1">
                  <a:txBody>
                    <a:bodyPr/>
                    <a:lstStyle/>
                    <a:p>
                      <a:endParaRPr lang="en-AE"/>
                    </a:p>
                  </a:txBody>
                  <a:tcPr/>
                </a:tc>
                <a:extLst>
                  <a:ext uri="{0D108BD9-81ED-4DB2-BD59-A6C34878D82A}">
                    <a16:rowId xmlns:a16="http://schemas.microsoft.com/office/drawing/2014/main" val="3809503354"/>
                  </a:ext>
                </a:extLst>
              </a:tr>
              <a:tr h="334738">
                <a:tc>
                  <a:txBody>
                    <a:bodyPr/>
                    <a:lstStyle/>
                    <a:p>
                      <a:pPr marL="0" marR="0" algn="ctr" rtl="0">
                        <a:lnSpc>
                          <a:spcPct val="107000"/>
                        </a:lnSpc>
                        <a:spcBef>
                          <a:spcPts val="0"/>
                        </a:spcBef>
                        <a:spcAft>
                          <a:spcPts val="0"/>
                        </a:spcAft>
                      </a:pPr>
                      <a:r>
                        <a:rPr lang="en-US" sz="1050">
                          <a:effectLst/>
                          <a:latin typeface="+mn-lt"/>
                        </a:rPr>
                        <a:t>47</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سجل عقود البرامج</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كافة تفاصيل العقود لبرنامج التخصصات العلمية</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البرامجي</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097" marR="22097" marT="0" marB="0" anchor="ctr"/>
                </a:tc>
                <a:tc>
                  <a:txBody>
                    <a:bodyPr/>
                    <a:lstStyle/>
                    <a:p>
                      <a:pPr marL="0" marR="0" algn="ctr" rtl="1">
                        <a:lnSpc>
                          <a:spcPct val="107000"/>
                        </a:lnSpc>
                        <a:spcBef>
                          <a:spcPts val="0"/>
                        </a:spcBef>
                        <a:spcAft>
                          <a:spcPts val="0"/>
                        </a:spcAft>
                      </a:pPr>
                      <a:r>
                        <a:rPr lang="ar-SA" sz="1050" dirty="0">
                          <a:effectLst/>
                          <a:latin typeface="+mn-lt"/>
                        </a:rPr>
                        <a:t>الاعتمادات</a:t>
                      </a:r>
                      <a:endParaRPr lang="en-US" sz="1050" dirty="0">
                        <a:effectLst/>
                        <a:latin typeface="+mn-lt"/>
                        <a:ea typeface="Calibri" panose="020F0502020204030204" pitchFamily="34" charset="0"/>
                        <a:cs typeface="Arial" panose="020B0604020202020204" pitchFamily="34" charset="0"/>
                      </a:endParaRPr>
                    </a:p>
                  </a:txBody>
                  <a:tcPr marL="22097" marR="22097" marT="0" marB="0" anchor="ctr"/>
                </a:tc>
                <a:tc vMerge="1">
                  <a:txBody>
                    <a:bodyPr/>
                    <a:lstStyle/>
                    <a:p>
                      <a:pPr algn="ctr" rtl="0" fontAlgn="ctr"/>
                      <a:endParaRPr lang="en-US" sz="1000" b="0" i="0" u="none" strike="noStrike" dirty="0">
                        <a:effectLst/>
                        <a:latin typeface="Calibri" panose="020F0502020204030204" pitchFamily="34" charset="0"/>
                      </a:endParaRPr>
                    </a:p>
                  </a:txBody>
                  <a:tcPr marL="0" marR="0" marT="0" marB="0" anchor="ctr"/>
                </a:tc>
                <a:tc vMerge="1">
                  <a:txBody>
                    <a:bodyPr/>
                    <a:lstStyle/>
                    <a:p>
                      <a:endParaRPr lang="en-AE"/>
                    </a:p>
                  </a:txBody>
                  <a:tcPr/>
                </a:tc>
                <a:extLst>
                  <a:ext uri="{0D108BD9-81ED-4DB2-BD59-A6C34878D82A}">
                    <a16:rowId xmlns:a16="http://schemas.microsoft.com/office/drawing/2014/main" val="4018666393"/>
                  </a:ext>
                </a:extLst>
              </a:tr>
            </a:tbl>
          </a:graphicData>
        </a:graphic>
      </p:graphicFrame>
      <p:grpSp>
        <p:nvGrpSpPr>
          <p:cNvPr id="2" name="Group 1">
            <a:extLst>
              <a:ext uri="{FF2B5EF4-FFF2-40B4-BE49-F238E27FC236}">
                <a16:creationId xmlns:a16="http://schemas.microsoft.com/office/drawing/2014/main" id="{AE2BD9E6-3A03-EC25-C9BB-D2AA09F15476}"/>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3DE1687A-8A95-B706-EFB6-F86FCCF506FB}"/>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7B275240-5AAD-6640-618E-72CC965FFF6C}"/>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5490825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44</a:t>
            </a:fld>
            <a:endParaRPr lang="en-US"/>
          </a:p>
        </p:txBody>
      </p:sp>
      <p:graphicFrame>
        <p:nvGraphicFramePr>
          <p:cNvPr id="2" name="Table 1">
            <a:extLst>
              <a:ext uri="{FF2B5EF4-FFF2-40B4-BE49-F238E27FC236}">
                <a16:creationId xmlns:a16="http://schemas.microsoft.com/office/drawing/2014/main" id="{9620E813-6698-4AF9-B555-E1F474D73DCC}"/>
              </a:ext>
            </a:extLst>
          </p:cNvPr>
          <p:cNvGraphicFramePr>
            <a:graphicFrameLocks noGrp="1"/>
          </p:cNvGraphicFramePr>
          <p:nvPr>
            <p:extLst>
              <p:ext uri="{D42A27DB-BD31-4B8C-83A1-F6EECF244321}">
                <p14:modId xmlns:p14="http://schemas.microsoft.com/office/powerpoint/2010/main" val="1236982432"/>
              </p:ext>
            </p:extLst>
          </p:nvPr>
        </p:nvGraphicFramePr>
        <p:xfrm>
          <a:off x="621453" y="593481"/>
          <a:ext cx="10966204" cy="5361764"/>
        </p:xfrm>
        <a:graphic>
          <a:graphicData uri="http://schemas.openxmlformats.org/drawingml/2006/table">
            <a:tbl>
              <a:tblPr rtl="1" firstRow="1" firstCol="1" bandRow="1">
                <a:tableStyleId>{5C22544A-7EE6-4342-B048-85BDC9FD1C3A}</a:tableStyleId>
              </a:tblPr>
              <a:tblGrid>
                <a:gridCol w="192853">
                  <a:extLst>
                    <a:ext uri="{9D8B030D-6E8A-4147-A177-3AD203B41FA5}">
                      <a16:colId xmlns:a16="http://schemas.microsoft.com/office/drawing/2014/main" val="3760781564"/>
                    </a:ext>
                  </a:extLst>
                </a:gridCol>
                <a:gridCol w="795522">
                  <a:extLst>
                    <a:ext uri="{9D8B030D-6E8A-4147-A177-3AD203B41FA5}">
                      <a16:colId xmlns:a16="http://schemas.microsoft.com/office/drawing/2014/main" val="1540587608"/>
                    </a:ext>
                  </a:extLst>
                </a:gridCol>
                <a:gridCol w="2421038">
                  <a:extLst>
                    <a:ext uri="{9D8B030D-6E8A-4147-A177-3AD203B41FA5}">
                      <a16:colId xmlns:a16="http://schemas.microsoft.com/office/drawing/2014/main" val="3157774533"/>
                    </a:ext>
                  </a:extLst>
                </a:gridCol>
                <a:gridCol w="1289310">
                  <a:extLst>
                    <a:ext uri="{9D8B030D-6E8A-4147-A177-3AD203B41FA5}">
                      <a16:colId xmlns:a16="http://schemas.microsoft.com/office/drawing/2014/main" val="1715197845"/>
                    </a:ext>
                  </a:extLst>
                </a:gridCol>
                <a:gridCol w="766424">
                  <a:extLst>
                    <a:ext uri="{9D8B030D-6E8A-4147-A177-3AD203B41FA5}">
                      <a16:colId xmlns:a16="http://schemas.microsoft.com/office/drawing/2014/main" val="814555041"/>
                    </a:ext>
                  </a:extLst>
                </a:gridCol>
                <a:gridCol w="766423">
                  <a:extLst>
                    <a:ext uri="{9D8B030D-6E8A-4147-A177-3AD203B41FA5}">
                      <a16:colId xmlns:a16="http://schemas.microsoft.com/office/drawing/2014/main" val="2830274220"/>
                    </a:ext>
                  </a:extLst>
                </a:gridCol>
                <a:gridCol w="651818">
                  <a:extLst>
                    <a:ext uri="{9D8B030D-6E8A-4147-A177-3AD203B41FA5}">
                      <a16:colId xmlns:a16="http://schemas.microsoft.com/office/drawing/2014/main" val="419721641"/>
                    </a:ext>
                  </a:extLst>
                </a:gridCol>
                <a:gridCol w="1217682">
                  <a:extLst>
                    <a:ext uri="{9D8B030D-6E8A-4147-A177-3AD203B41FA5}">
                      <a16:colId xmlns:a16="http://schemas.microsoft.com/office/drawing/2014/main" val="2638546306"/>
                    </a:ext>
                  </a:extLst>
                </a:gridCol>
                <a:gridCol w="1432567">
                  <a:extLst>
                    <a:ext uri="{9D8B030D-6E8A-4147-A177-3AD203B41FA5}">
                      <a16:colId xmlns:a16="http://schemas.microsoft.com/office/drawing/2014/main" val="780607592"/>
                    </a:ext>
                  </a:extLst>
                </a:gridCol>
                <a:gridCol w="1432567">
                  <a:extLst>
                    <a:ext uri="{9D8B030D-6E8A-4147-A177-3AD203B41FA5}">
                      <a16:colId xmlns:a16="http://schemas.microsoft.com/office/drawing/2014/main" val="3383657304"/>
                    </a:ext>
                  </a:extLst>
                </a:gridCol>
              </a:tblGrid>
              <a:tr h="516624">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خزينة البيانات</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41319" marR="41319" marT="0" marB="0" anchor="ctr"/>
                </a:tc>
                <a:extLst>
                  <a:ext uri="{0D108BD9-81ED-4DB2-BD59-A6C34878D82A}">
                    <a16:rowId xmlns:a16="http://schemas.microsoft.com/office/drawing/2014/main" val="3639265116"/>
                  </a:ext>
                </a:extLst>
              </a:tr>
              <a:tr h="401063">
                <a:tc>
                  <a:txBody>
                    <a:bodyPr/>
                    <a:lstStyle/>
                    <a:p>
                      <a:pPr marL="0" marR="0" algn="ctr" rtl="0">
                        <a:lnSpc>
                          <a:spcPct val="107000"/>
                        </a:lnSpc>
                        <a:spcBef>
                          <a:spcPts val="0"/>
                        </a:spcBef>
                        <a:spcAft>
                          <a:spcPts val="0"/>
                        </a:spcAft>
                      </a:pPr>
                      <a:r>
                        <a:rPr lang="en-US" sz="1050">
                          <a:effectLst/>
                          <a:latin typeface="+mn-lt"/>
                        </a:rPr>
                        <a:t>48</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أخصائي تقييم</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أخصائي التقييم الخارجي</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المدرسي</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المدارس</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rowSpan="3">
                  <a:txBody>
                    <a:bodyPr/>
                    <a:lstStyle/>
                    <a:p>
                      <a:pPr algn="ctr" rtl="0" fontAlgn="ctr"/>
                      <a:r>
                        <a:rPr lang="en-US" sz="1000" b="0" i="0" u="none" strike="noStrike" dirty="0">
                          <a:effectLst/>
                          <a:latin typeface="Calibri" panose="020F0502020204030204" pitchFamily="34" charset="0"/>
                        </a:rPr>
                        <a:t>SEA</a:t>
                      </a:r>
                    </a:p>
                  </a:txBody>
                  <a:tcPr marL="0" marR="0" marT="0" marB="0" anchor="ctr"/>
                </a:tc>
                <a:tc rowSpan="3">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p>
                      <a:pPr marL="0" algn="ctr" defTabSz="914400" rtl="1" eaLnBrk="1" fontAlgn="ctr" latinLnBrk="0" hangingPunct="1"/>
                      <a:endParaRPr lang="en-US" sz="1000" b="0" i="0" u="none" strike="noStrike" dirty="0">
                        <a:effectLst/>
                        <a:latin typeface="Calibri" panose="020F0502020204030204" pitchFamily="34" charset="0"/>
                      </a:endParaRPr>
                    </a:p>
                  </a:txBody>
                  <a:tcPr marL="0" marR="0" marT="0" marB="0" anchor="ctr">
                    <a:solidFill>
                      <a:srgbClr val="00B050"/>
                    </a:solidFill>
                  </a:tcPr>
                </a:tc>
                <a:extLst>
                  <a:ext uri="{0D108BD9-81ED-4DB2-BD59-A6C34878D82A}">
                    <a16:rowId xmlns:a16="http://schemas.microsoft.com/office/drawing/2014/main" val="1453938987"/>
                  </a:ext>
                </a:extLst>
              </a:tr>
              <a:tr h="275731">
                <a:tc>
                  <a:txBody>
                    <a:bodyPr/>
                    <a:lstStyle/>
                    <a:p>
                      <a:pPr marL="0" marR="0" algn="ctr" rtl="0">
                        <a:lnSpc>
                          <a:spcPct val="107000"/>
                        </a:lnSpc>
                        <a:spcBef>
                          <a:spcPts val="0"/>
                        </a:spcBef>
                        <a:spcAft>
                          <a:spcPts val="0"/>
                        </a:spcAft>
                      </a:pPr>
                      <a:r>
                        <a:rPr lang="en-US" sz="1050">
                          <a:effectLst/>
                          <a:latin typeface="+mn-lt"/>
                        </a:rPr>
                        <a:t>49</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سجل المدارس</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المدارس</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المدرسي</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المدارس</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vMerge="1">
                  <a:txBody>
                    <a:bodyPr/>
                    <a:lstStyle/>
                    <a:p>
                      <a:pPr algn="ctr" rtl="0" fontAlgn="ctr"/>
                      <a:r>
                        <a:rPr lang="en-US" sz="1100" b="1" i="0" u="none" strike="noStrike" dirty="0">
                          <a:effectLst/>
                          <a:latin typeface="Sakkal Majalla" panose="02000000000000000000" pitchFamily="2" charset="-78"/>
                          <a:cs typeface="Sakkal Majalla" panose="02000000000000000000" pitchFamily="2" charset="-78"/>
                        </a:rPr>
                        <a:t>SEA</a:t>
                      </a:r>
                    </a:p>
                  </a:txBody>
                  <a:tcPr marL="0" marR="0" marT="0" marB="0" anchor="ctr"/>
                </a:tc>
                <a:tc vMerge="1">
                  <a:txBody>
                    <a:bodyPr/>
                    <a:lstStyle/>
                    <a:p>
                      <a:endParaRPr lang="en-AE"/>
                    </a:p>
                  </a:txBody>
                  <a:tcPr/>
                </a:tc>
                <a:extLst>
                  <a:ext uri="{0D108BD9-81ED-4DB2-BD59-A6C34878D82A}">
                    <a16:rowId xmlns:a16="http://schemas.microsoft.com/office/drawing/2014/main" val="4077360830"/>
                  </a:ext>
                </a:extLst>
              </a:tr>
              <a:tr h="601595">
                <a:tc>
                  <a:txBody>
                    <a:bodyPr/>
                    <a:lstStyle/>
                    <a:p>
                      <a:pPr marL="0" marR="0" algn="ctr" rtl="0">
                        <a:lnSpc>
                          <a:spcPct val="107000"/>
                        </a:lnSpc>
                        <a:spcBef>
                          <a:spcPts val="0"/>
                        </a:spcBef>
                        <a:spcAft>
                          <a:spcPts val="0"/>
                        </a:spcAft>
                      </a:pPr>
                      <a:r>
                        <a:rPr lang="en-US" sz="1050">
                          <a:effectLst/>
                          <a:latin typeface="+mn-lt"/>
                        </a:rPr>
                        <a:t>50</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سجل المستخدمين</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مستخدمي الهيئة والمدارس ومكاتب ووزارة التعليم</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المدرسي</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المستفيدون</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vMerge="1">
                  <a:txBody>
                    <a:bodyPr/>
                    <a:lstStyle/>
                    <a:p>
                      <a:pPr algn="ctr" rtl="0" fontAlgn="ctr"/>
                      <a:r>
                        <a:rPr lang="en-US" sz="1000" b="0" i="0" u="none" strike="noStrike" dirty="0">
                          <a:effectLst/>
                          <a:latin typeface="Calibri" panose="020F0502020204030204" pitchFamily="34" charset="0"/>
                        </a:rPr>
                        <a:t>SEA</a:t>
                      </a:r>
                    </a:p>
                  </a:txBody>
                  <a:tcPr marL="0" marR="0" marT="0" marB="0" anchor="ctr"/>
                </a:tc>
                <a:tc vMerge="1">
                  <a:txBody>
                    <a:bodyPr/>
                    <a:lstStyle/>
                    <a:p>
                      <a:endParaRPr lang="en-AE"/>
                    </a:p>
                  </a:txBody>
                  <a:tcPr/>
                </a:tc>
                <a:extLst>
                  <a:ext uri="{0D108BD9-81ED-4DB2-BD59-A6C34878D82A}">
                    <a16:rowId xmlns:a16="http://schemas.microsoft.com/office/drawing/2014/main" val="3791695069"/>
                  </a:ext>
                </a:extLst>
              </a:tr>
              <a:tr h="369022">
                <a:tc>
                  <a:txBody>
                    <a:bodyPr/>
                    <a:lstStyle/>
                    <a:p>
                      <a:pPr marL="0" marR="0" algn="ctr" rtl="0">
                        <a:lnSpc>
                          <a:spcPct val="107000"/>
                        </a:lnSpc>
                        <a:spcBef>
                          <a:spcPts val="0"/>
                        </a:spcBef>
                        <a:spcAft>
                          <a:spcPts val="0"/>
                        </a:spcAft>
                      </a:pPr>
                      <a:r>
                        <a:rPr lang="en-US" sz="1050">
                          <a:effectLst/>
                          <a:latin typeface="+mn-lt"/>
                        </a:rPr>
                        <a:t>51</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سجل تقييم المدرسة</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تفاصيل تقييم واعتماد المدارس</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المدرسي</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المدارس</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algn="ctr" rtl="0" fontAlgn="ctr"/>
                      <a:r>
                        <a:rPr lang="en-US" sz="1100" b="1" i="0" u="none" strike="noStrike">
                          <a:effectLst/>
                          <a:latin typeface="Sakkal Majalla" panose="02000000000000000000" pitchFamily="2" charset="-78"/>
                          <a:cs typeface="Sakkal Majalla" panose="02000000000000000000" pitchFamily="2" charset="-78"/>
                        </a:rPr>
                        <a:t>Scales</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kern="1200" dirty="0">
                          <a:solidFill>
                            <a:schemeClr val="dk1"/>
                          </a:solidFill>
                          <a:effectLst/>
                          <a:latin typeface="+mn-lt"/>
                          <a:ea typeface="+mn-ea"/>
                          <a:cs typeface="+mn-cs"/>
                        </a:rPr>
                        <a:t>انشاء واجهة للتكامل </a:t>
                      </a:r>
                      <a:r>
                        <a:rPr lang="en-US" sz="1100" kern="1200" dirty="0">
                          <a:solidFill>
                            <a:schemeClr val="dk1"/>
                          </a:solidFill>
                          <a:effectLst/>
                          <a:latin typeface="+mn-lt"/>
                          <a:ea typeface="+mn-ea"/>
                          <a:cs typeface="+mn-cs"/>
                        </a:rPr>
                        <a:t>API</a:t>
                      </a:r>
                      <a:r>
                        <a:rPr lang="ar-SA" sz="11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221463754"/>
                  </a:ext>
                </a:extLst>
              </a:tr>
              <a:tr h="488697">
                <a:tc>
                  <a:txBody>
                    <a:bodyPr/>
                    <a:lstStyle/>
                    <a:p>
                      <a:pPr marL="0" marR="0" algn="ctr" rtl="0">
                        <a:lnSpc>
                          <a:spcPct val="107000"/>
                        </a:lnSpc>
                        <a:spcBef>
                          <a:spcPts val="0"/>
                        </a:spcBef>
                        <a:spcAft>
                          <a:spcPts val="0"/>
                        </a:spcAft>
                      </a:pPr>
                      <a:r>
                        <a:rPr lang="en-US" sz="1050">
                          <a:effectLst/>
                          <a:latin typeface="+mn-lt"/>
                        </a:rPr>
                        <a:t>52</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سجل درجات الطلاب</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الطلاب ومتوسط درجاتهم</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المدرسي</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المدارس</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algn="ctr" rtl="1" fontAlgn="ctr"/>
                      <a:r>
                        <a:rPr lang="ar-SA" sz="1100" b="1" i="0" u="none" strike="noStrike">
                          <a:effectLst/>
                          <a:latin typeface="Sakkal Majalla" panose="02000000000000000000" pitchFamily="2" charset="-78"/>
                          <a:cs typeface="Sakkal Majalla" panose="02000000000000000000" pitchFamily="2" charset="-78"/>
                        </a:rPr>
                        <a:t>غير محدد</a:t>
                      </a:r>
                    </a:p>
                  </a:txBody>
                  <a:tcPr marL="0" marR="0" marT="0" marB="0" anchor="ctr"/>
                </a:tc>
                <a:tc>
                  <a:txBody>
                    <a:bodyPr/>
                    <a:lstStyle/>
                    <a:p>
                      <a:pPr marL="171450" marR="0" lvl="0" indent="-171450" algn="r" defTabSz="914400" rtl="1" eaLnBrk="1" fontAlgn="auto" latinLnBrk="0" hangingPunct="1">
                        <a:lnSpc>
                          <a:spcPct val="107000"/>
                        </a:lnSpc>
                        <a:spcBef>
                          <a:spcPts val="0"/>
                        </a:spcBef>
                        <a:spcAft>
                          <a:spcPts val="0"/>
                        </a:spcAft>
                        <a:buClrTx/>
                        <a:buSzTx/>
                        <a:buFont typeface="Arial" panose="020B0604020202020204" pitchFamily="34" charset="0"/>
                        <a:buChar char="•"/>
                        <a:tabLst/>
                        <a:defRPr/>
                      </a:pPr>
                      <a:r>
                        <a:rPr lang="ar-SA" sz="1100" kern="1200" dirty="0">
                          <a:solidFill>
                            <a:schemeClr val="dk1"/>
                          </a:solidFill>
                          <a:effectLst/>
                          <a:latin typeface="+mn-lt"/>
                          <a:ea typeface="+mn-ea"/>
                          <a:cs typeface="+mn-cs"/>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kern="1200" dirty="0">
                          <a:solidFill>
                            <a:schemeClr val="dk1"/>
                          </a:solidFill>
                          <a:effectLst/>
                          <a:latin typeface="+mn-lt"/>
                          <a:ea typeface="+mn-ea"/>
                          <a:cs typeface="+mn-cs"/>
                        </a:rPr>
                        <a:t>انشاء واجهة للتكامل </a:t>
                      </a:r>
                      <a:r>
                        <a:rPr lang="en-US" sz="1100" kern="1200" dirty="0">
                          <a:solidFill>
                            <a:schemeClr val="dk1"/>
                          </a:solidFill>
                          <a:effectLst/>
                          <a:latin typeface="+mn-lt"/>
                          <a:ea typeface="+mn-ea"/>
                          <a:cs typeface="+mn-cs"/>
                        </a:rPr>
                        <a:t>API</a:t>
                      </a:r>
                      <a:r>
                        <a:rPr lang="ar-SA" sz="11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966497096"/>
                  </a:ext>
                </a:extLst>
              </a:tr>
              <a:tr h="701861">
                <a:tc>
                  <a:txBody>
                    <a:bodyPr/>
                    <a:lstStyle/>
                    <a:p>
                      <a:pPr marL="0" marR="0" algn="ctr" rtl="0">
                        <a:lnSpc>
                          <a:spcPct val="107000"/>
                        </a:lnSpc>
                        <a:spcBef>
                          <a:spcPts val="0"/>
                        </a:spcBef>
                        <a:spcAft>
                          <a:spcPts val="0"/>
                        </a:spcAft>
                      </a:pPr>
                      <a:r>
                        <a:rPr lang="en-US" sz="1050">
                          <a:effectLst/>
                          <a:latin typeface="+mn-lt"/>
                        </a:rPr>
                        <a:t>53</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طلب ترخيص</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طلب ترخيص الجهات الأجنبية المانحة للاعتماد المدرسي</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المدرسي</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algn="ctr" rtl="1" fontAlgn="ctr"/>
                      <a:r>
                        <a:rPr lang="ar-SA" sz="1000" b="0" i="0" u="none" strike="noStrike">
                          <a:effectLst/>
                          <a:latin typeface="Calibri" panose="020F0502020204030204" pitchFamily="34" charset="0"/>
                        </a:rPr>
                        <a:t>متعدد</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138131386"/>
                  </a:ext>
                </a:extLst>
              </a:tr>
              <a:tr h="1881226">
                <a:tc>
                  <a:txBody>
                    <a:bodyPr/>
                    <a:lstStyle/>
                    <a:p>
                      <a:pPr marL="0" marR="0" algn="ctr" rtl="0">
                        <a:lnSpc>
                          <a:spcPct val="107000"/>
                        </a:lnSpc>
                        <a:spcBef>
                          <a:spcPts val="0"/>
                        </a:spcBef>
                        <a:spcAft>
                          <a:spcPts val="0"/>
                        </a:spcAft>
                      </a:pPr>
                      <a:r>
                        <a:rPr lang="en-US" sz="1050">
                          <a:effectLst/>
                          <a:latin typeface="+mn-lt"/>
                        </a:rPr>
                        <a:t>54</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سجل الإعتماد</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بيانات المؤسسات المعتمدة</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المؤسسي</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41319" marR="41319" marT="0" marB="0" anchor="ctr"/>
                </a:tc>
                <a:tc>
                  <a:txBody>
                    <a:bodyPr/>
                    <a:lstStyle/>
                    <a:p>
                      <a:pPr algn="ctr" rtl="0" fontAlgn="ctr"/>
                      <a:r>
                        <a:rPr lang="en-US" sz="1000" b="0" i="0" u="none" strike="noStrike" dirty="0">
                          <a:effectLst/>
                          <a:latin typeface="Calibri" panose="020F0502020204030204" pitchFamily="34" charset="0"/>
                        </a:rPr>
                        <a:t>alfresco,</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caseservice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datamanagement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etec_feedbackservice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etec_reportingservice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gateway,</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integrationservice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keycloak</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notification,</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orchestraservice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referencedata</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requestmanagement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workflowservice</a:t>
                      </a:r>
                      <a:endParaRPr lang="en-US" sz="1000" b="0" i="0" u="none" strike="noStrike" dirty="0">
                        <a:effectLst/>
                        <a:latin typeface="Calibri" panose="020F0502020204030204" pitchFamily="34" charset="0"/>
                      </a:endParaRP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p>
                      <a:pPr marL="0" algn="ctr" defTabSz="914400" rtl="1" eaLnBrk="1" fontAlgn="ctr" latinLnBrk="0" hangingPunct="1"/>
                      <a:endParaRPr lang="en-US" sz="1000" b="0" i="0" u="none" strike="noStrike" dirty="0">
                        <a:effectLst/>
                        <a:latin typeface="Calibri" panose="020F0502020204030204" pitchFamily="34" charset="0"/>
                      </a:endParaRPr>
                    </a:p>
                  </a:txBody>
                  <a:tcPr marL="0" marR="0" marT="0" marB="0" anchor="ctr">
                    <a:solidFill>
                      <a:srgbClr val="00B050"/>
                    </a:solidFill>
                  </a:tcPr>
                </a:tc>
                <a:extLst>
                  <a:ext uri="{0D108BD9-81ED-4DB2-BD59-A6C34878D82A}">
                    <a16:rowId xmlns:a16="http://schemas.microsoft.com/office/drawing/2014/main" val="2968235082"/>
                  </a:ext>
                </a:extLst>
              </a:tr>
            </a:tbl>
          </a:graphicData>
        </a:graphic>
      </p:graphicFrame>
      <p:grpSp>
        <p:nvGrpSpPr>
          <p:cNvPr id="4" name="Group 3">
            <a:extLst>
              <a:ext uri="{FF2B5EF4-FFF2-40B4-BE49-F238E27FC236}">
                <a16:creationId xmlns:a16="http://schemas.microsoft.com/office/drawing/2014/main" id="{7CBED63F-3F56-3C39-3DB0-4FDFA37BB50A}"/>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5EC01526-EC3F-2636-FFF9-DE6170CD1013}"/>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B335C10B-BEB1-9586-BDA3-0B259CD53EBF}"/>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58771027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45</a:t>
            </a:fld>
            <a:endParaRPr lang="en-US"/>
          </a:p>
        </p:txBody>
      </p:sp>
      <p:graphicFrame>
        <p:nvGraphicFramePr>
          <p:cNvPr id="4" name="Table 3">
            <a:extLst>
              <a:ext uri="{FF2B5EF4-FFF2-40B4-BE49-F238E27FC236}">
                <a16:creationId xmlns:a16="http://schemas.microsoft.com/office/drawing/2014/main" id="{6675A547-EBA9-4DC0-A811-5E9262FF8DF9}"/>
              </a:ext>
            </a:extLst>
          </p:cNvPr>
          <p:cNvGraphicFramePr>
            <a:graphicFrameLocks noGrp="1"/>
          </p:cNvGraphicFramePr>
          <p:nvPr>
            <p:extLst>
              <p:ext uri="{D42A27DB-BD31-4B8C-83A1-F6EECF244321}">
                <p14:modId xmlns:p14="http://schemas.microsoft.com/office/powerpoint/2010/main" val="3956163027"/>
              </p:ext>
            </p:extLst>
          </p:nvPr>
        </p:nvGraphicFramePr>
        <p:xfrm>
          <a:off x="621452" y="839827"/>
          <a:ext cx="10992075" cy="5405120"/>
        </p:xfrm>
        <a:graphic>
          <a:graphicData uri="http://schemas.openxmlformats.org/drawingml/2006/table">
            <a:tbl>
              <a:tblPr rtl="1" firstRow="1" firstCol="1" bandRow="1">
                <a:tableStyleId>{5C22544A-7EE6-4342-B048-85BDC9FD1C3A}</a:tableStyleId>
              </a:tblPr>
              <a:tblGrid>
                <a:gridCol w="298596">
                  <a:extLst>
                    <a:ext uri="{9D8B030D-6E8A-4147-A177-3AD203B41FA5}">
                      <a16:colId xmlns:a16="http://schemas.microsoft.com/office/drawing/2014/main" val="1244086960"/>
                    </a:ext>
                  </a:extLst>
                </a:gridCol>
                <a:gridCol w="989986">
                  <a:extLst>
                    <a:ext uri="{9D8B030D-6E8A-4147-A177-3AD203B41FA5}">
                      <a16:colId xmlns:a16="http://schemas.microsoft.com/office/drawing/2014/main" val="4225195402"/>
                    </a:ext>
                  </a:extLst>
                </a:gridCol>
                <a:gridCol w="2486620">
                  <a:extLst>
                    <a:ext uri="{9D8B030D-6E8A-4147-A177-3AD203B41FA5}">
                      <a16:colId xmlns:a16="http://schemas.microsoft.com/office/drawing/2014/main" val="2037891522"/>
                    </a:ext>
                  </a:extLst>
                </a:gridCol>
                <a:gridCol w="820305">
                  <a:extLst>
                    <a:ext uri="{9D8B030D-6E8A-4147-A177-3AD203B41FA5}">
                      <a16:colId xmlns:a16="http://schemas.microsoft.com/office/drawing/2014/main" val="551164208"/>
                    </a:ext>
                  </a:extLst>
                </a:gridCol>
                <a:gridCol w="1017270">
                  <a:extLst>
                    <a:ext uri="{9D8B030D-6E8A-4147-A177-3AD203B41FA5}">
                      <a16:colId xmlns:a16="http://schemas.microsoft.com/office/drawing/2014/main" val="3506554944"/>
                    </a:ext>
                  </a:extLst>
                </a:gridCol>
                <a:gridCol w="582930">
                  <a:extLst>
                    <a:ext uri="{9D8B030D-6E8A-4147-A177-3AD203B41FA5}">
                      <a16:colId xmlns:a16="http://schemas.microsoft.com/office/drawing/2014/main" val="2553025529"/>
                    </a:ext>
                  </a:extLst>
                </a:gridCol>
                <a:gridCol w="537210">
                  <a:extLst>
                    <a:ext uri="{9D8B030D-6E8A-4147-A177-3AD203B41FA5}">
                      <a16:colId xmlns:a16="http://schemas.microsoft.com/office/drawing/2014/main" val="3659058289"/>
                    </a:ext>
                  </a:extLst>
                </a:gridCol>
                <a:gridCol w="788670">
                  <a:extLst>
                    <a:ext uri="{9D8B030D-6E8A-4147-A177-3AD203B41FA5}">
                      <a16:colId xmlns:a16="http://schemas.microsoft.com/office/drawing/2014/main" val="863782849"/>
                    </a:ext>
                  </a:extLst>
                </a:gridCol>
                <a:gridCol w="1451610">
                  <a:extLst>
                    <a:ext uri="{9D8B030D-6E8A-4147-A177-3AD203B41FA5}">
                      <a16:colId xmlns:a16="http://schemas.microsoft.com/office/drawing/2014/main" val="3589249754"/>
                    </a:ext>
                  </a:extLst>
                </a:gridCol>
                <a:gridCol w="2018878">
                  <a:extLst>
                    <a:ext uri="{9D8B030D-6E8A-4147-A177-3AD203B41FA5}">
                      <a16:colId xmlns:a16="http://schemas.microsoft.com/office/drawing/2014/main" val="3228807906"/>
                    </a:ext>
                  </a:extLst>
                </a:gridCol>
              </a:tblGrid>
              <a:tr h="493952">
                <a:tc>
                  <a:txBody>
                    <a:bodyPr/>
                    <a:lstStyle/>
                    <a:p>
                      <a:pPr marL="0" marR="0" algn="ctr" rtl="0">
                        <a:lnSpc>
                          <a:spcPct val="107000"/>
                        </a:lnSpc>
                        <a:spcBef>
                          <a:spcPts val="0"/>
                        </a:spcBef>
                        <a:spcAft>
                          <a:spcPts val="0"/>
                        </a:spcAft>
                      </a:pPr>
                      <a:r>
                        <a:rPr lang="en-US" sz="1050" dirty="0">
                          <a:effectLst/>
                          <a:latin typeface="+mn-lt"/>
                        </a:rPr>
                        <a:t>#</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dirty="0">
                          <a:effectLst/>
                          <a:latin typeface="+mn-lt"/>
                        </a:rPr>
                        <a:t>الربط مع الشبكة الحكومية الآمنة</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dirty="0">
                          <a:effectLst/>
                          <a:latin typeface="+mn-lt"/>
                        </a:rPr>
                        <a:t>مجموعة البيانات</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dirty="0">
                          <a:effectLst/>
                          <a:latin typeface="+mn-lt"/>
                        </a:rPr>
                        <a:t>خزينة البيانات</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extLst>
                  <a:ext uri="{0D108BD9-81ED-4DB2-BD59-A6C34878D82A}">
                    <a16:rowId xmlns:a16="http://schemas.microsoft.com/office/drawing/2014/main" val="1873922610"/>
                  </a:ext>
                </a:extLst>
              </a:tr>
              <a:tr h="1429090">
                <a:tc>
                  <a:txBody>
                    <a:bodyPr/>
                    <a:lstStyle/>
                    <a:p>
                      <a:pPr marL="0" marR="0" algn="ctr" rtl="0">
                        <a:lnSpc>
                          <a:spcPct val="107000"/>
                        </a:lnSpc>
                        <a:spcBef>
                          <a:spcPts val="0"/>
                        </a:spcBef>
                        <a:spcAft>
                          <a:spcPts val="0"/>
                        </a:spcAft>
                      </a:pPr>
                      <a:r>
                        <a:rPr lang="en-US" sz="1050">
                          <a:effectLst/>
                          <a:latin typeface="+mn-lt"/>
                        </a:rPr>
                        <a:t>55</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سجل البيانات الأساسية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بيانات البرامج وهيئة التدريس والطلاب</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المؤسسي</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dirty="0">
                          <a:effectLst/>
                          <a:latin typeface="+mn-lt"/>
                        </a:rPr>
                        <a:t>لا</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dirty="0">
                          <a:effectLst/>
                          <a:latin typeface="+mn-lt"/>
                        </a:rPr>
                        <a:t>الاعتمادات</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algn="ctr" rtl="0" fontAlgn="ctr"/>
                      <a:r>
                        <a:rPr lang="en-US" sz="1000" b="0" i="0" u="none" strike="noStrike" dirty="0">
                          <a:effectLst/>
                          <a:latin typeface="Calibri" panose="020F0502020204030204" pitchFamily="34" charset="0"/>
                        </a:rPr>
                        <a:t>alfresco,</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caseservice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datamanagement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etec_feedbackservice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etec_reportingservice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gateway,</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integrationservice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keycloak</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notification,</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orchestraservice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referencedata</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requestmanagement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workflowservice</a:t>
                      </a:r>
                      <a:endParaRPr lang="en-US" sz="1000" b="0" i="0" u="none" strike="noStrike" dirty="0">
                        <a:effectLst/>
                        <a:latin typeface="Calibri" panose="020F0502020204030204" pitchFamily="34" charset="0"/>
                      </a:endParaRP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p>
                      <a:pPr marL="171450" indent="-171450" algn="r" defTabSz="914400" rtl="1" eaLnBrk="1" fontAlgn="ctr" latinLnBrk="0" hangingPunct="1">
                        <a:buFont typeface="Arial" panose="020B0604020202020204" pitchFamily="34" charset="0"/>
                        <a:buChar char="•"/>
                      </a:pPr>
                      <a:endParaRPr lang="en-US" sz="1000" b="0" i="0" u="none" strike="noStrike" dirty="0">
                        <a:effectLst/>
                        <a:latin typeface="Calibri" panose="020F0502020204030204" pitchFamily="34" charset="0"/>
                      </a:endParaRPr>
                    </a:p>
                  </a:txBody>
                  <a:tcPr marL="0" marR="0" marT="0" marB="0" anchor="ctr">
                    <a:solidFill>
                      <a:srgbClr val="00B050"/>
                    </a:solidFill>
                  </a:tcPr>
                </a:tc>
                <a:extLst>
                  <a:ext uri="{0D108BD9-81ED-4DB2-BD59-A6C34878D82A}">
                    <a16:rowId xmlns:a16="http://schemas.microsoft.com/office/drawing/2014/main" val="3763810890"/>
                  </a:ext>
                </a:extLst>
              </a:tr>
              <a:tr h="284988">
                <a:tc>
                  <a:txBody>
                    <a:bodyPr/>
                    <a:lstStyle/>
                    <a:p>
                      <a:pPr marL="0" marR="0" algn="ctr" rtl="0">
                        <a:lnSpc>
                          <a:spcPct val="107000"/>
                        </a:lnSpc>
                        <a:spcBef>
                          <a:spcPts val="0"/>
                        </a:spcBef>
                        <a:spcAft>
                          <a:spcPts val="0"/>
                        </a:spcAft>
                      </a:pPr>
                      <a:r>
                        <a:rPr lang="en-US" sz="1050">
                          <a:effectLst/>
                          <a:latin typeface="+mn-lt"/>
                        </a:rPr>
                        <a:t>56</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مؤشر أداء</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مؤشرات الأداء المؤسسية للخدمات المقدمة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 المؤسسي</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algn="ctr" rtl="1" fontAlgn="ctr"/>
                      <a:r>
                        <a:rPr lang="ar-SA" sz="1000" b="0" i="0" u="none" strike="noStrike">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483533888"/>
                  </a:ext>
                </a:extLst>
              </a:tr>
              <a:tr h="246976">
                <a:tc>
                  <a:txBody>
                    <a:bodyPr/>
                    <a:lstStyle/>
                    <a:p>
                      <a:pPr marL="0" marR="0" algn="ctr" rtl="0">
                        <a:lnSpc>
                          <a:spcPct val="107000"/>
                        </a:lnSpc>
                        <a:spcBef>
                          <a:spcPts val="0"/>
                        </a:spcBef>
                        <a:spcAft>
                          <a:spcPts val="0"/>
                        </a:spcAft>
                      </a:pPr>
                      <a:r>
                        <a:rPr lang="en-US" sz="1050">
                          <a:effectLst/>
                          <a:latin typeface="+mn-lt"/>
                        </a:rPr>
                        <a:t>57</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dirty="0">
                          <a:effectLst/>
                          <a:latin typeface="+mn-lt"/>
                        </a:rPr>
                        <a:t>اعتماد مؤسسة تعليمية</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سجل بيانات  إعتماد مؤسسة تعليمية من جهات اعتماد دولية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للاعتمادات الدولية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algn="ctr" rtl="0" fontAlgn="ctr"/>
                      <a:r>
                        <a:rPr lang="en-US" sz="1000" b="0" i="0" u="none" strike="noStrike">
                          <a:effectLst/>
                          <a:latin typeface="Calibri" panose="020F0502020204030204" pitchFamily="34" charset="0"/>
                        </a:rPr>
                        <a:t>InternationalAccreditationDB</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4245346129"/>
                  </a:ext>
                </a:extLst>
              </a:tr>
              <a:tr h="284988">
                <a:tc>
                  <a:txBody>
                    <a:bodyPr/>
                    <a:lstStyle/>
                    <a:p>
                      <a:pPr marL="0" marR="0" algn="ctr" rtl="0">
                        <a:lnSpc>
                          <a:spcPct val="107000"/>
                        </a:lnSpc>
                        <a:spcBef>
                          <a:spcPts val="0"/>
                        </a:spcBef>
                        <a:spcAft>
                          <a:spcPts val="0"/>
                        </a:spcAft>
                      </a:pPr>
                      <a:r>
                        <a:rPr lang="en-US" sz="1050">
                          <a:effectLst/>
                          <a:latin typeface="+mn-lt"/>
                        </a:rPr>
                        <a:t>58</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سجل الإجتماعات</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معلومات الاجتماع وأعضاء اللجنة وأجندة الاجتماع والتوصيات</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للأمن السيبراني</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algn="ctr" rtl="1" fontAlgn="ctr"/>
                      <a:r>
                        <a:rPr lang="ar-SA" sz="1000" b="0" i="0" u="none" strike="noStrike">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411150855"/>
                  </a:ext>
                </a:extLst>
              </a:tr>
              <a:tr h="267165">
                <a:tc>
                  <a:txBody>
                    <a:bodyPr/>
                    <a:lstStyle/>
                    <a:p>
                      <a:pPr marL="0" marR="0" algn="ctr" rtl="0">
                        <a:lnSpc>
                          <a:spcPct val="107000"/>
                        </a:lnSpc>
                        <a:spcBef>
                          <a:spcPts val="0"/>
                        </a:spcBef>
                        <a:spcAft>
                          <a:spcPts val="0"/>
                        </a:spcAft>
                      </a:pPr>
                      <a:r>
                        <a:rPr lang="en-US" sz="1050">
                          <a:effectLst/>
                          <a:latin typeface="+mn-lt"/>
                        </a:rPr>
                        <a:t>59</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سجل الموظفين</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بيانات الموظفين</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للأمن السيبراني</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rowSpan="2">
                  <a:txBody>
                    <a:bodyPr/>
                    <a:lstStyle/>
                    <a:p>
                      <a:pPr algn="ctr" rtl="1" fontAlgn="ctr"/>
                      <a:r>
                        <a:rPr lang="ar-SA" sz="1000" b="0" i="0" u="none" strike="noStrike" dirty="0">
                          <a:effectLst/>
                          <a:latin typeface="Calibri" panose="020F0502020204030204" pitchFamily="34" charset="0"/>
                        </a:rPr>
                        <a:t>متعدد </a:t>
                      </a:r>
                    </a:p>
                  </a:txBody>
                  <a:tcPr marL="0" marR="0" marT="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678556178"/>
                  </a:ext>
                </a:extLst>
              </a:tr>
              <a:tr h="246976">
                <a:tc>
                  <a:txBody>
                    <a:bodyPr/>
                    <a:lstStyle/>
                    <a:p>
                      <a:pPr marL="0" marR="0" algn="ctr" rtl="0">
                        <a:lnSpc>
                          <a:spcPct val="107000"/>
                        </a:lnSpc>
                        <a:spcBef>
                          <a:spcPts val="0"/>
                        </a:spcBef>
                        <a:spcAft>
                          <a:spcPts val="0"/>
                        </a:spcAft>
                      </a:pPr>
                      <a:r>
                        <a:rPr lang="en-US" sz="1050">
                          <a:effectLst/>
                          <a:latin typeface="+mn-lt"/>
                        </a:rPr>
                        <a:t>60</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سجل الشواهد</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مشاهدات تقويم مدارس التعليم العام الحكومية للوقوف على أدائها من أجل التحسين و التطوير</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للتقويم المدرسي</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vMerge="1">
                  <a:txBody>
                    <a:bodyPr/>
                    <a:lstStyle/>
                    <a:p>
                      <a:pPr algn="ctr" rtl="1" fontAlgn="ctr"/>
                      <a:r>
                        <a:rPr lang="ar-SA" sz="1000" b="0" i="0" u="none" strike="noStrike" dirty="0">
                          <a:effectLst/>
                          <a:latin typeface="Calibri" panose="020F0502020204030204" pitchFamily="34" charset="0"/>
                        </a:rPr>
                        <a:t>متعدد</a:t>
                      </a:r>
                    </a:p>
                  </a:txBody>
                  <a:tcPr marL="0" marR="0" marT="0" marB="0" anchor="ctr"/>
                </a:tc>
                <a:tc vMerge="1">
                  <a:txBody>
                    <a:bodyPr/>
                    <a:lstStyle/>
                    <a:p>
                      <a:endParaRPr lang="en-AE" dirty="0"/>
                    </a:p>
                  </a:txBody>
                  <a:tcPr/>
                </a:tc>
                <a:extLst>
                  <a:ext uri="{0D108BD9-81ED-4DB2-BD59-A6C34878D82A}">
                    <a16:rowId xmlns:a16="http://schemas.microsoft.com/office/drawing/2014/main" val="2178367459"/>
                  </a:ext>
                </a:extLst>
              </a:tr>
              <a:tr h="246976">
                <a:tc>
                  <a:txBody>
                    <a:bodyPr/>
                    <a:lstStyle/>
                    <a:p>
                      <a:pPr marL="0" marR="0" algn="ctr" rtl="0">
                        <a:lnSpc>
                          <a:spcPct val="107000"/>
                        </a:lnSpc>
                        <a:spcBef>
                          <a:spcPts val="0"/>
                        </a:spcBef>
                        <a:spcAft>
                          <a:spcPts val="0"/>
                        </a:spcAft>
                      </a:pPr>
                      <a:r>
                        <a:rPr lang="en-US" sz="1050">
                          <a:effectLst/>
                          <a:latin typeface="+mn-lt"/>
                        </a:rPr>
                        <a:t>61</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سجل المخالفات</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سجل مخالفات المختبرين</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للشئون القانونية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البيانات القانونية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rowSpan="3">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rowSpan="3">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601576182"/>
                  </a:ext>
                </a:extLst>
              </a:tr>
              <a:tr h="246976">
                <a:tc>
                  <a:txBody>
                    <a:bodyPr/>
                    <a:lstStyle/>
                    <a:p>
                      <a:pPr marL="0" marR="0" algn="ctr" rtl="0">
                        <a:lnSpc>
                          <a:spcPct val="107000"/>
                        </a:lnSpc>
                        <a:spcBef>
                          <a:spcPts val="0"/>
                        </a:spcBef>
                        <a:spcAft>
                          <a:spcPts val="0"/>
                        </a:spcAft>
                      </a:pPr>
                      <a:r>
                        <a:rPr lang="en-US" sz="1050">
                          <a:effectLst/>
                          <a:latin typeface="+mn-lt"/>
                        </a:rPr>
                        <a:t>62</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طلب استشارة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بيانات الاستشارات القانونية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للشئون القانونية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البيانات القانونية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149671915"/>
                  </a:ext>
                </a:extLst>
              </a:tr>
              <a:tr h="246976">
                <a:tc>
                  <a:txBody>
                    <a:bodyPr/>
                    <a:lstStyle/>
                    <a:p>
                      <a:pPr marL="0" marR="0" algn="ctr" rtl="0">
                        <a:lnSpc>
                          <a:spcPct val="107000"/>
                        </a:lnSpc>
                        <a:spcBef>
                          <a:spcPts val="0"/>
                        </a:spcBef>
                        <a:spcAft>
                          <a:spcPts val="0"/>
                        </a:spcAft>
                      </a:pPr>
                      <a:r>
                        <a:rPr lang="en-US" sz="1050">
                          <a:effectLst/>
                          <a:latin typeface="+mn-lt"/>
                        </a:rPr>
                        <a:t>63</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مذكرة تفاهم</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بيانات العقود والاتفاقيات ومذكرات التفاهم</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للشئون القانونية</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2056" marR="32056" marT="0" marB="0" anchor="ctr"/>
                </a:tc>
                <a:tc>
                  <a:txBody>
                    <a:bodyPr/>
                    <a:lstStyle/>
                    <a:p>
                      <a:pPr marL="0" marR="0" algn="ctr" rtl="1">
                        <a:lnSpc>
                          <a:spcPct val="107000"/>
                        </a:lnSpc>
                        <a:spcBef>
                          <a:spcPts val="0"/>
                        </a:spcBef>
                        <a:spcAft>
                          <a:spcPts val="0"/>
                        </a:spcAft>
                      </a:pPr>
                      <a:r>
                        <a:rPr lang="ar-SA" sz="1050" dirty="0">
                          <a:effectLst/>
                          <a:latin typeface="+mn-lt"/>
                        </a:rPr>
                        <a:t>البيانات القانونية</a:t>
                      </a:r>
                      <a:endParaRPr lang="en-US" sz="1050" dirty="0">
                        <a:effectLst/>
                        <a:latin typeface="+mn-lt"/>
                        <a:ea typeface="Calibri" panose="020F0502020204030204" pitchFamily="34" charset="0"/>
                        <a:cs typeface="Arial" panose="020B0604020202020204" pitchFamily="34" charset="0"/>
                      </a:endParaRPr>
                    </a:p>
                  </a:txBody>
                  <a:tcPr marL="32056" marR="32056"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dirty="0"/>
                    </a:p>
                  </a:txBody>
                  <a:tcPr/>
                </a:tc>
                <a:extLst>
                  <a:ext uri="{0D108BD9-81ED-4DB2-BD59-A6C34878D82A}">
                    <a16:rowId xmlns:a16="http://schemas.microsoft.com/office/drawing/2014/main" val="2401303752"/>
                  </a:ext>
                </a:extLst>
              </a:tr>
            </a:tbl>
          </a:graphicData>
        </a:graphic>
      </p:graphicFrame>
      <p:grpSp>
        <p:nvGrpSpPr>
          <p:cNvPr id="2" name="Group 1">
            <a:extLst>
              <a:ext uri="{FF2B5EF4-FFF2-40B4-BE49-F238E27FC236}">
                <a16:creationId xmlns:a16="http://schemas.microsoft.com/office/drawing/2014/main" id="{2A7AA1CF-D260-C516-3593-D3A145BFD997}"/>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A7C3AC80-A4CE-97DD-95C1-7BEA0E2A6271}"/>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0403AE9D-EE18-CCB0-009B-F0205AEDF6DB}"/>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235574796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46</a:t>
            </a:fld>
            <a:endParaRPr lang="en-US"/>
          </a:p>
        </p:txBody>
      </p:sp>
      <p:graphicFrame>
        <p:nvGraphicFramePr>
          <p:cNvPr id="2" name="Table 1">
            <a:extLst>
              <a:ext uri="{FF2B5EF4-FFF2-40B4-BE49-F238E27FC236}">
                <a16:creationId xmlns:a16="http://schemas.microsoft.com/office/drawing/2014/main" id="{BFE2D34B-B412-4208-8F14-45325F891068}"/>
              </a:ext>
            </a:extLst>
          </p:cNvPr>
          <p:cNvGraphicFramePr>
            <a:graphicFrameLocks noGrp="1"/>
          </p:cNvGraphicFramePr>
          <p:nvPr>
            <p:extLst>
              <p:ext uri="{D42A27DB-BD31-4B8C-83A1-F6EECF244321}">
                <p14:modId xmlns:p14="http://schemas.microsoft.com/office/powerpoint/2010/main" val="1427360898"/>
              </p:ext>
            </p:extLst>
          </p:nvPr>
        </p:nvGraphicFramePr>
        <p:xfrm>
          <a:off x="621454" y="1003809"/>
          <a:ext cx="10880506" cy="4906550"/>
        </p:xfrm>
        <a:graphic>
          <a:graphicData uri="http://schemas.openxmlformats.org/drawingml/2006/table">
            <a:tbl>
              <a:tblPr rtl="1" firstRow="1" firstCol="1" bandRow="1">
                <a:tableStyleId>{5C22544A-7EE6-4342-B048-85BDC9FD1C3A}</a:tableStyleId>
              </a:tblPr>
              <a:tblGrid>
                <a:gridCol w="328518">
                  <a:extLst>
                    <a:ext uri="{9D8B030D-6E8A-4147-A177-3AD203B41FA5}">
                      <a16:colId xmlns:a16="http://schemas.microsoft.com/office/drawing/2014/main" val="3108309519"/>
                    </a:ext>
                  </a:extLst>
                </a:gridCol>
                <a:gridCol w="1741518">
                  <a:extLst>
                    <a:ext uri="{9D8B030D-6E8A-4147-A177-3AD203B41FA5}">
                      <a16:colId xmlns:a16="http://schemas.microsoft.com/office/drawing/2014/main" val="2332101933"/>
                    </a:ext>
                  </a:extLst>
                </a:gridCol>
                <a:gridCol w="2483685">
                  <a:extLst>
                    <a:ext uri="{9D8B030D-6E8A-4147-A177-3AD203B41FA5}">
                      <a16:colId xmlns:a16="http://schemas.microsoft.com/office/drawing/2014/main" val="4234182968"/>
                    </a:ext>
                  </a:extLst>
                </a:gridCol>
                <a:gridCol w="1131620">
                  <a:extLst>
                    <a:ext uri="{9D8B030D-6E8A-4147-A177-3AD203B41FA5}">
                      <a16:colId xmlns:a16="http://schemas.microsoft.com/office/drawing/2014/main" val="2303042556"/>
                    </a:ext>
                  </a:extLst>
                </a:gridCol>
                <a:gridCol w="609898">
                  <a:extLst>
                    <a:ext uri="{9D8B030D-6E8A-4147-A177-3AD203B41FA5}">
                      <a16:colId xmlns:a16="http://schemas.microsoft.com/office/drawing/2014/main" val="2515646393"/>
                    </a:ext>
                  </a:extLst>
                </a:gridCol>
                <a:gridCol w="800952">
                  <a:extLst>
                    <a:ext uri="{9D8B030D-6E8A-4147-A177-3AD203B41FA5}">
                      <a16:colId xmlns:a16="http://schemas.microsoft.com/office/drawing/2014/main" val="3671704158"/>
                    </a:ext>
                  </a:extLst>
                </a:gridCol>
                <a:gridCol w="646640">
                  <a:extLst>
                    <a:ext uri="{9D8B030D-6E8A-4147-A177-3AD203B41FA5}">
                      <a16:colId xmlns:a16="http://schemas.microsoft.com/office/drawing/2014/main" val="743057953"/>
                    </a:ext>
                  </a:extLst>
                </a:gridCol>
                <a:gridCol w="889131">
                  <a:extLst>
                    <a:ext uri="{9D8B030D-6E8A-4147-A177-3AD203B41FA5}">
                      <a16:colId xmlns:a16="http://schemas.microsoft.com/office/drawing/2014/main" val="257866418"/>
                    </a:ext>
                  </a:extLst>
                </a:gridCol>
                <a:gridCol w="1124272">
                  <a:extLst>
                    <a:ext uri="{9D8B030D-6E8A-4147-A177-3AD203B41FA5}">
                      <a16:colId xmlns:a16="http://schemas.microsoft.com/office/drawing/2014/main" val="2906794725"/>
                    </a:ext>
                  </a:extLst>
                </a:gridCol>
                <a:gridCol w="1124272">
                  <a:extLst>
                    <a:ext uri="{9D8B030D-6E8A-4147-A177-3AD203B41FA5}">
                      <a16:colId xmlns:a16="http://schemas.microsoft.com/office/drawing/2014/main" val="2828544509"/>
                    </a:ext>
                  </a:extLst>
                </a:gridCol>
              </a:tblGrid>
              <a:tr h="549954">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خزينة البيانات</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41766" marR="41766" marT="0" marB="0" anchor="ctr"/>
                </a:tc>
                <a:extLst>
                  <a:ext uri="{0D108BD9-81ED-4DB2-BD59-A6C34878D82A}">
                    <a16:rowId xmlns:a16="http://schemas.microsoft.com/office/drawing/2014/main" val="1656139287"/>
                  </a:ext>
                </a:extLst>
              </a:tr>
              <a:tr h="213469">
                <a:tc>
                  <a:txBody>
                    <a:bodyPr/>
                    <a:lstStyle/>
                    <a:p>
                      <a:pPr marL="0" marR="0" algn="ctr" rtl="0">
                        <a:lnSpc>
                          <a:spcPct val="107000"/>
                        </a:lnSpc>
                        <a:spcBef>
                          <a:spcPts val="0"/>
                        </a:spcBef>
                        <a:spcAft>
                          <a:spcPts val="0"/>
                        </a:spcAft>
                      </a:pPr>
                      <a:r>
                        <a:rPr lang="en-US" sz="1050">
                          <a:effectLst/>
                          <a:latin typeface="+mn-lt"/>
                        </a:rPr>
                        <a:t>64</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القيد اليومي</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بيانات القيود اليومية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للمالية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المالية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rowSpan="3">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rowSpan="3">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01124289"/>
                  </a:ext>
                </a:extLst>
              </a:tr>
              <a:tr h="320203">
                <a:tc>
                  <a:txBody>
                    <a:bodyPr/>
                    <a:lstStyle/>
                    <a:p>
                      <a:pPr marL="0" marR="0" algn="ctr" rtl="0">
                        <a:lnSpc>
                          <a:spcPct val="107000"/>
                        </a:lnSpc>
                        <a:spcBef>
                          <a:spcPts val="0"/>
                        </a:spcBef>
                        <a:spcAft>
                          <a:spcPts val="0"/>
                        </a:spcAft>
                      </a:pPr>
                      <a:r>
                        <a:rPr lang="en-US" sz="1050">
                          <a:effectLst/>
                          <a:latin typeface="+mn-lt"/>
                        </a:rPr>
                        <a:t>65</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سجل مسير الرواتب</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بيانات مسيرات الرواتب</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للمالية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نعم</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المالية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3873972749"/>
                  </a:ext>
                </a:extLst>
              </a:tr>
              <a:tr h="426938">
                <a:tc>
                  <a:txBody>
                    <a:bodyPr/>
                    <a:lstStyle/>
                    <a:p>
                      <a:pPr marL="0" marR="0" algn="ctr" rtl="0">
                        <a:lnSpc>
                          <a:spcPct val="107000"/>
                        </a:lnSpc>
                        <a:spcBef>
                          <a:spcPts val="0"/>
                        </a:spcBef>
                        <a:spcAft>
                          <a:spcPts val="0"/>
                        </a:spcAft>
                      </a:pPr>
                      <a:r>
                        <a:rPr lang="en-US" sz="1050">
                          <a:effectLst/>
                          <a:latin typeface="+mn-lt"/>
                        </a:rPr>
                        <a:t>66</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سجل الموافقات الدراسة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بيانات طلب الموافقة للدراسة على رأس العمل</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126867757"/>
                  </a:ext>
                </a:extLst>
              </a:tr>
              <a:tr h="1087996">
                <a:tc>
                  <a:txBody>
                    <a:bodyPr/>
                    <a:lstStyle/>
                    <a:p>
                      <a:pPr marL="0" marR="0" algn="ctr" rtl="0">
                        <a:lnSpc>
                          <a:spcPct val="107000"/>
                        </a:lnSpc>
                        <a:spcBef>
                          <a:spcPts val="0"/>
                        </a:spcBef>
                        <a:spcAft>
                          <a:spcPts val="0"/>
                        </a:spcAft>
                      </a:pPr>
                      <a:r>
                        <a:rPr lang="en-US" sz="1050">
                          <a:effectLst/>
                          <a:latin typeface="+mn-lt"/>
                        </a:rPr>
                        <a:t>67</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سجل طلب التعريف</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بيانات طلب التعريف تمكن الموظف من إصدار خطاب تعريف بالراتب أو شهادة تثبيت</a:t>
                      </a:r>
                      <a:br>
                        <a:rPr lang="ar-SA" sz="1050">
                          <a:effectLst/>
                          <a:latin typeface="+mn-lt"/>
                        </a:rPr>
                      </a:br>
                      <a:r>
                        <a:rPr lang="ar-SA" sz="1050">
                          <a:effectLst/>
                          <a:latin typeface="+mn-lt"/>
                        </a:rPr>
                        <a:t>بالراتب أو إحالة طبية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rowSpan="2">
                  <a:txBody>
                    <a:bodyPr/>
                    <a:lstStyle/>
                    <a:p>
                      <a:pPr algn="ctr" rtl="1" fontAlgn="ctr"/>
                      <a:r>
                        <a:rPr lang="ar-SA" sz="1000" b="0" i="0" u="none" strike="noStrike" dirty="0">
                          <a:effectLst/>
                          <a:latin typeface="Calibri" panose="020F0502020204030204" pitchFamily="34" charset="0"/>
                        </a:rPr>
                        <a:t>متعدد </a:t>
                      </a:r>
                    </a:p>
                  </a:txBody>
                  <a:tcPr marL="0" marR="0" marT="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847996706"/>
                  </a:ext>
                </a:extLst>
              </a:tr>
              <a:tr h="320203">
                <a:tc>
                  <a:txBody>
                    <a:bodyPr/>
                    <a:lstStyle/>
                    <a:p>
                      <a:pPr marL="0" marR="0" algn="ctr" rtl="0">
                        <a:lnSpc>
                          <a:spcPct val="107000"/>
                        </a:lnSpc>
                        <a:spcBef>
                          <a:spcPts val="0"/>
                        </a:spcBef>
                        <a:spcAft>
                          <a:spcPts val="0"/>
                        </a:spcAft>
                      </a:pPr>
                      <a:r>
                        <a:rPr lang="en-US" sz="1050">
                          <a:effectLst/>
                          <a:latin typeface="+mn-lt"/>
                        </a:rPr>
                        <a:t>68</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سجل طلبات التغيير</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بيانات طلب تغيير آيبان بنكي</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vMerge="1">
                  <a:txBody>
                    <a:bodyPr/>
                    <a:lstStyle/>
                    <a:p>
                      <a:pPr algn="ctr" rtl="1" fontAlgn="ctr"/>
                      <a:r>
                        <a:rPr lang="ar-SA" sz="1000" b="0" i="0" u="none" strike="noStrike" dirty="0">
                          <a:effectLst/>
                          <a:latin typeface="Calibri" panose="020F0502020204030204" pitchFamily="34" charset="0"/>
                        </a:rPr>
                        <a:t>متعدد </a:t>
                      </a:r>
                    </a:p>
                  </a:txBody>
                  <a:tcPr marL="0" marR="0" marT="0" marB="0" anchor="ctr"/>
                </a:tc>
                <a:tc vMerge="1">
                  <a:txBody>
                    <a:bodyPr/>
                    <a:lstStyle/>
                    <a:p>
                      <a:endParaRPr lang="en-AE"/>
                    </a:p>
                  </a:txBody>
                  <a:tcPr/>
                </a:tc>
                <a:extLst>
                  <a:ext uri="{0D108BD9-81ED-4DB2-BD59-A6C34878D82A}">
                    <a16:rowId xmlns:a16="http://schemas.microsoft.com/office/drawing/2014/main" val="89112453"/>
                  </a:ext>
                </a:extLst>
              </a:tr>
              <a:tr h="320203">
                <a:tc>
                  <a:txBody>
                    <a:bodyPr/>
                    <a:lstStyle/>
                    <a:p>
                      <a:pPr marL="0" marR="0" algn="ctr" rtl="0">
                        <a:lnSpc>
                          <a:spcPct val="107000"/>
                        </a:lnSpc>
                        <a:spcBef>
                          <a:spcPts val="0"/>
                        </a:spcBef>
                        <a:spcAft>
                          <a:spcPts val="0"/>
                        </a:spcAft>
                      </a:pPr>
                      <a:r>
                        <a:rPr lang="en-US" sz="1050">
                          <a:effectLst/>
                          <a:latin typeface="+mn-lt"/>
                        </a:rPr>
                        <a:t>69</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طلب تدريب تعاوني</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بيانات طلب متدربين لتدريبهم .</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rowSpan="4">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rowSpan="4">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219670524"/>
                  </a:ext>
                </a:extLst>
              </a:tr>
              <a:tr h="640407">
                <a:tc>
                  <a:txBody>
                    <a:bodyPr/>
                    <a:lstStyle/>
                    <a:p>
                      <a:pPr marL="0" marR="0" algn="ctr" rtl="0">
                        <a:lnSpc>
                          <a:spcPct val="107000"/>
                        </a:lnSpc>
                        <a:spcBef>
                          <a:spcPts val="0"/>
                        </a:spcBef>
                        <a:spcAft>
                          <a:spcPts val="0"/>
                        </a:spcAft>
                      </a:pPr>
                      <a:r>
                        <a:rPr lang="en-US" sz="1050">
                          <a:effectLst/>
                          <a:latin typeface="+mn-lt"/>
                        </a:rPr>
                        <a:t>70</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طلب تعاقد او تعاون</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بيانات طلب تغطية الاحتياج من الكوادر البشرية خلال فترة مؤقتة.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923523019"/>
                  </a:ext>
                </a:extLst>
              </a:tr>
              <a:tr h="640407">
                <a:tc>
                  <a:txBody>
                    <a:bodyPr/>
                    <a:lstStyle/>
                    <a:p>
                      <a:pPr marL="0" marR="0" algn="ctr" rtl="0">
                        <a:lnSpc>
                          <a:spcPct val="107000"/>
                        </a:lnSpc>
                        <a:spcBef>
                          <a:spcPts val="0"/>
                        </a:spcBef>
                        <a:spcAft>
                          <a:spcPts val="0"/>
                        </a:spcAft>
                      </a:pPr>
                      <a:r>
                        <a:rPr lang="en-US" sz="1050">
                          <a:effectLst/>
                          <a:latin typeface="+mn-lt"/>
                        </a:rPr>
                        <a:t>71</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طلب عمل إضافي</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بيانات طلب صرف مقابل مالي لساعات العمل الإضافية للموظف</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العامة للموارد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2231934103"/>
                  </a:ext>
                </a:extLst>
              </a:tr>
              <a:tr h="293520">
                <a:tc>
                  <a:txBody>
                    <a:bodyPr/>
                    <a:lstStyle/>
                    <a:p>
                      <a:pPr marL="0" marR="0" algn="ctr" rtl="0">
                        <a:lnSpc>
                          <a:spcPct val="107000"/>
                        </a:lnSpc>
                        <a:spcBef>
                          <a:spcPts val="0"/>
                        </a:spcBef>
                        <a:spcAft>
                          <a:spcPts val="0"/>
                        </a:spcAft>
                      </a:pPr>
                      <a:r>
                        <a:rPr lang="en-US" sz="1050">
                          <a:effectLst/>
                          <a:latin typeface="+mn-lt"/>
                        </a:rPr>
                        <a:t>72</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سجل التأمين</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بيانات العقار المراد تأمينه</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الإدارة الهندسية</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1766" marR="41766" marT="0" marB="0" anchor="ctr"/>
                </a:tc>
                <a:tc>
                  <a:txBody>
                    <a:bodyPr/>
                    <a:lstStyle/>
                    <a:p>
                      <a:pPr marL="0" marR="0" algn="ctr" rtl="1">
                        <a:lnSpc>
                          <a:spcPct val="107000"/>
                        </a:lnSpc>
                        <a:spcBef>
                          <a:spcPts val="0"/>
                        </a:spcBef>
                        <a:spcAft>
                          <a:spcPts val="0"/>
                        </a:spcAft>
                      </a:pPr>
                      <a:r>
                        <a:rPr lang="ar-SA" sz="1050" dirty="0">
                          <a:effectLst/>
                          <a:latin typeface="+mn-lt"/>
                        </a:rPr>
                        <a:t>طلبات الخدمات المساندة</a:t>
                      </a:r>
                      <a:endParaRPr lang="en-US" sz="1050" dirty="0">
                        <a:effectLst/>
                        <a:latin typeface="+mn-lt"/>
                        <a:ea typeface="Calibri" panose="020F0502020204030204" pitchFamily="34" charset="0"/>
                        <a:cs typeface="Arial" panose="020B0604020202020204" pitchFamily="34" charset="0"/>
                      </a:endParaRPr>
                    </a:p>
                  </a:txBody>
                  <a:tcPr marL="41766" marR="41766"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277240877"/>
                  </a:ext>
                </a:extLst>
              </a:tr>
            </a:tbl>
          </a:graphicData>
        </a:graphic>
      </p:graphicFrame>
      <p:grpSp>
        <p:nvGrpSpPr>
          <p:cNvPr id="4" name="Group 3">
            <a:extLst>
              <a:ext uri="{FF2B5EF4-FFF2-40B4-BE49-F238E27FC236}">
                <a16:creationId xmlns:a16="http://schemas.microsoft.com/office/drawing/2014/main" id="{A18E13E7-1210-278C-11B0-9015651877F6}"/>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0E0C3060-8568-91C5-2E75-7D3B472D4EED}"/>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F0F0AA5A-2270-BDA8-AB7B-75800F402CCC}"/>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4415233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47</a:t>
            </a:fld>
            <a:endParaRPr lang="en-US"/>
          </a:p>
        </p:txBody>
      </p:sp>
      <p:graphicFrame>
        <p:nvGraphicFramePr>
          <p:cNvPr id="4" name="Table 3">
            <a:extLst>
              <a:ext uri="{FF2B5EF4-FFF2-40B4-BE49-F238E27FC236}">
                <a16:creationId xmlns:a16="http://schemas.microsoft.com/office/drawing/2014/main" id="{BDFE2FCD-6678-4746-B562-C922C9258F53}"/>
              </a:ext>
            </a:extLst>
          </p:cNvPr>
          <p:cNvGraphicFramePr>
            <a:graphicFrameLocks noGrp="1"/>
          </p:cNvGraphicFramePr>
          <p:nvPr>
            <p:extLst>
              <p:ext uri="{D42A27DB-BD31-4B8C-83A1-F6EECF244321}">
                <p14:modId xmlns:p14="http://schemas.microsoft.com/office/powerpoint/2010/main" val="1216231309"/>
              </p:ext>
            </p:extLst>
          </p:nvPr>
        </p:nvGraphicFramePr>
        <p:xfrm>
          <a:off x="621451" y="777240"/>
          <a:ext cx="10865700" cy="5229593"/>
        </p:xfrm>
        <a:graphic>
          <a:graphicData uri="http://schemas.openxmlformats.org/drawingml/2006/table">
            <a:tbl>
              <a:tblPr rtl="1" firstRow="1" firstCol="1" bandRow="1">
                <a:tableStyleId>{5C22544A-7EE6-4342-B048-85BDC9FD1C3A}</a:tableStyleId>
              </a:tblPr>
              <a:tblGrid>
                <a:gridCol w="245266">
                  <a:extLst>
                    <a:ext uri="{9D8B030D-6E8A-4147-A177-3AD203B41FA5}">
                      <a16:colId xmlns:a16="http://schemas.microsoft.com/office/drawing/2014/main" val="1106619966"/>
                    </a:ext>
                  </a:extLst>
                </a:gridCol>
                <a:gridCol w="947091">
                  <a:extLst>
                    <a:ext uri="{9D8B030D-6E8A-4147-A177-3AD203B41FA5}">
                      <a16:colId xmlns:a16="http://schemas.microsoft.com/office/drawing/2014/main" val="406060905"/>
                    </a:ext>
                  </a:extLst>
                </a:gridCol>
                <a:gridCol w="3014785">
                  <a:extLst>
                    <a:ext uri="{9D8B030D-6E8A-4147-A177-3AD203B41FA5}">
                      <a16:colId xmlns:a16="http://schemas.microsoft.com/office/drawing/2014/main" val="3641503017"/>
                    </a:ext>
                  </a:extLst>
                </a:gridCol>
                <a:gridCol w="1192902">
                  <a:extLst>
                    <a:ext uri="{9D8B030D-6E8A-4147-A177-3AD203B41FA5}">
                      <a16:colId xmlns:a16="http://schemas.microsoft.com/office/drawing/2014/main" val="3403048798"/>
                    </a:ext>
                  </a:extLst>
                </a:gridCol>
                <a:gridCol w="672362">
                  <a:extLst>
                    <a:ext uri="{9D8B030D-6E8A-4147-A177-3AD203B41FA5}">
                      <a16:colId xmlns:a16="http://schemas.microsoft.com/office/drawing/2014/main" val="1508102875"/>
                    </a:ext>
                  </a:extLst>
                </a:gridCol>
                <a:gridCol w="715741">
                  <a:extLst>
                    <a:ext uri="{9D8B030D-6E8A-4147-A177-3AD203B41FA5}">
                      <a16:colId xmlns:a16="http://schemas.microsoft.com/office/drawing/2014/main" val="1964248055"/>
                    </a:ext>
                  </a:extLst>
                </a:gridCol>
                <a:gridCol w="730201">
                  <a:extLst>
                    <a:ext uri="{9D8B030D-6E8A-4147-A177-3AD203B41FA5}">
                      <a16:colId xmlns:a16="http://schemas.microsoft.com/office/drawing/2014/main" val="2838403326"/>
                    </a:ext>
                  </a:extLst>
                </a:gridCol>
                <a:gridCol w="711253">
                  <a:extLst>
                    <a:ext uri="{9D8B030D-6E8A-4147-A177-3AD203B41FA5}">
                      <a16:colId xmlns:a16="http://schemas.microsoft.com/office/drawing/2014/main" val="1140599417"/>
                    </a:ext>
                  </a:extLst>
                </a:gridCol>
                <a:gridCol w="1464887">
                  <a:extLst>
                    <a:ext uri="{9D8B030D-6E8A-4147-A177-3AD203B41FA5}">
                      <a16:colId xmlns:a16="http://schemas.microsoft.com/office/drawing/2014/main" val="1929101054"/>
                    </a:ext>
                  </a:extLst>
                </a:gridCol>
                <a:gridCol w="1171212">
                  <a:extLst>
                    <a:ext uri="{9D8B030D-6E8A-4147-A177-3AD203B41FA5}">
                      <a16:colId xmlns:a16="http://schemas.microsoft.com/office/drawing/2014/main" val="2281545765"/>
                    </a:ext>
                  </a:extLst>
                </a:gridCol>
              </a:tblGrid>
              <a:tr h="477313">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خزينة البيانات</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34586" marR="34586" marT="0" marB="0" anchor="ctr"/>
                </a:tc>
                <a:extLst>
                  <a:ext uri="{0D108BD9-81ED-4DB2-BD59-A6C34878D82A}">
                    <a16:rowId xmlns:a16="http://schemas.microsoft.com/office/drawing/2014/main" val="2545434839"/>
                  </a:ext>
                </a:extLst>
              </a:tr>
              <a:tr h="366666">
                <a:tc>
                  <a:txBody>
                    <a:bodyPr/>
                    <a:lstStyle/>
                    <a:p>
                      <a:pPr marL="0" marR="0" algn="ctr" rtl="0">
                        <a:lnSpc>
                          <a:spcPct val="107000"/>
                        </a:lnSpc>
                        <a:spcBef>
                          <a:spcPts val="0"/>
                        </a:spcBef>
                        <a:spcAft>
                          <a:spcPts val="0"/>
                        </a:spcAft>
                      </a:pPr>
                      <a:r>
                        <a:rPr lang="en-US" sz="1050">
                          <a:effectLst/>
                          <a:latin typeface="+mn-lt"/>
                        </a:rPr>
                        <a:t>73</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سجل الطالب بالتعليم العام</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البيانات التعليمة للطلاب والطالبات في التعليم العام</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المركز  الوطني للقياس (قياس)</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المستفيدون</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rowSpan="2">
                  <a:txBody>
                    <a:bodyPr/>
                    <a:lstStyle/>
                    <a:p>
                      <a:pPr algn="ctr" rtl="1" fontAlgn="ctr"/>
                      <a:r>
                        <a:rPr lang="ar-SA" sz="1000" b="0" i="0" u="none" strike="noStrike" dirty="0">
                          <a:effectLst/>
                          <a:latin typeface="Calibri" panose="020F0502020204030204" pitchFamily="34" charset="0"/>
                        </a:rPr>
                        <a:t>غير محدد</a:t>
                      </a:r>
                    </a:p>
                  </a:txBody>
                  <a:tcPr marL="0" marR="0" marT="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177847360"/>
                  </a:ext>
                </a:extLst>
              </a:tr>
              <a:tr h="318208">
                <a:tc>
                  <a:txBody>
                    <a:bodyPr/>
                    <a:lstStyle/>
                    <a:p>
                      <a:pPr marL="0" marR="0" algn="ctr" rtl="0">
                        <a:lnSpc>
                          <a:spcPct val="107000"/>
                        </a:lnSpc>
                        <a:spcBef>
                          <a:spcPts val="0"/>
                        </a:spcBef>
                        <a:spcAft>
                          <a:spcPts val="0"/>
                        </a:spcAft>
                      </a:pPr>
                      <a:r>
                        <a:rPr lang="en-US" sz="1050">
                          <a:effectLst/>
                          <a:latin typeface="+mn-lt"/>
                        </a:rPr>
                        <a:t>74</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سجل بيانات الإختبارات الرقمية</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بيانات الإختبارات الرقمية</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المركز  الوطني للقياس (قياس)</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vMerge="1">
                  <a:txBody>
                    <a:bodyPr/>
                    <a:lstStyle/>
                    <a:p>
                      <a:pPr algn="ctr" rtl="1" fontAlgn="ctr"/>
                      <a:r>
                        <a:rPr lang="ar-SA" sz="1000" b="0" i="0" u="none" strike="noStrike" dirty="0">
                          <a:effectLst/>
                          <a:latin typeface="Calibri" panose="020F0502020204030204" pitchFamily="34" charset="0"/>
                        </a:rPr>
                        <a:t>غير محدد</a:t>
                      </a:r>
                    </a:p>
                  </a:txBody>
                  <a:tcPr marL="0" marR="0" marT="0" marB="0" anchor="ctr"/>
                </a:tc>
                <a:tc vMerge="1">
                  <a:txBody>
                    <a:bodyPr/>
                    <a:lstStyle/>
                    <a:p>
                      <a:endParaRPr lang="en-AE"/>
                    </a:p>
                  </a:txBody>
                  <a:tcPr/>
                </a:tc>
                <a:extLst>
                  <a:ext uri="{0D108BD9-81ED-4DB2-BD59-A6C34878D82A}">
                    <a16:rowId xmlns:a16="http://schemas.microsoft.com/office/drawing/2014/main" val="2213340747"/>
                  </a:ext>
                </a:extLst>
              </a:tr>
              <a:tr h="1841266">
                <a:tc>
                  <a:txBody>
                    <a:bodyPr/>
                    <a:lstStyle/>
                    <a:p>
                      <a:pPr marL="0" marR="0" algn="ctr" rtl="0">
                        <a:lnSpc>
                          <a:spcPct val="107000"/>
                        </a:lnSpc>
                        <a:spcBef>
                          <a:spcPts val="0"/>
                        </a:spcBef>
                        <a:spcAft>
                          <a:spcPts val="0"/>
                        </a:spcAft>
                      </a:pPr>
                      <a:r>
                        <a:rPr lang="en-US" sz="1050">
                          <a:effectLst/>
                          <a:latin typeface="+mn-lt"/>
                        </a:rPr>
                        <a:t>75</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سجل إعتماد مؤسسي</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بيانات تقويم واعتماد  مؤسسات التعليم العسكري والأمني </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المركز الوطني لتقويم واعتماد التدريب (مسار)</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algn="ctr" rtl="0" fontAlgn="ctr"/>
                      <a:r>
                        <a:rPr lang="en-US" sz="1000" b="0" i="0" u="none" strike="noStrike">
                          <a:effectLst/>
                          <a:latin typeface="Calibri" panose="020F0502020204030204" pitchFamily="34" charset="0"/>
                        </a:rPr>
                        <a:t>alfresco,</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caseservice,</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datamanagement,</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etec_feedbackservice,</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etec_reportingservice,</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gateway,</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integrationservice,</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keycloak,</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notification,</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orchestraservice,</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referencedata,</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requestmanagement,</a:t>
                      </a:r>
                      <a:br>
                        <a:rPr lang="en-US" sz="1000" b="0" i="0" u="none" strike="noStrike">
                          <a:effectLst/>
                          <a:latin typeface="Calibri" panose="020F0502020204030204" pitchFamily="34" charset="0"/>
                        </a:rPr>
                      </a:br>
                      <a:r>
                        <a:rPr lang="en-US" sz="1000" b="0" i="0" u="none" strike="noStrike">
                          <a:effectLst/>
                          <a:latin typeface="Calibri" panose="020F0502020204030204" pitchFamily="34" charset="0"/>
                        </a:rPr>
                        <a:t>workflowservice</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4152162325"/>
                  </a:ext>
                </a:extLst>
              </a:tr>
              <a:tr h="406361">
                <a:tc>
                  <a:txBody>
                    <a:bodyPr/>
                    <a:lstStyle/>
                    <a:p>
                      <a:pPr marL="0" marR="0" algn="ctr" rtl="0">
                        <a:lnSpc>
                          <a:spcPct val="107000"/>
                        </a:lnSpc>
                        <a:spcBef>
                          <a:spcPts val="0"/>
                        </a:spcBef>
                        <a:spcAft>
                          <a:spcPts val="0"/>
                        </a:spcAft>
                      </a:pPr>
                      <a:r>
                        <a:rPr lang="en-US" sz="1050">
                          <a:effectLst/>
                          <a:latin typeface="+mn-lt"/>
                        </a:rPr>
                        <a:t>76</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سجل طلبات التسجيل</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بيانات طلب تسجيل المنشأة التدريبية</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المركز الوطني لتقويم واعتماد التدريب (مسار)</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rowSpan="3">
                  <a:txBody>
                    <a:bodyPr/>
                    <a:lstStyle/>
                    <a:p>
                      <a:pPr algn="ctr" rtl="1" fontAlgn="ctr"/>
                      <a:r>
                        <a:rPr lang="ar-SA" sz="1000" b="0" i="0" u="none" strike="noStrike" dirty="0">
                          <a:effectLst/>
                          <a:latin typeface="Calibri" panose="020F0502020204030204" pitchFamily="34" charset="0"/>
                        </a:rPr>
                        <a:t>متعدد</a:t>
                      </a:r>
                    </a:p>
                  </a:txBody>
                  <a:tcPr marL="0" marR="0" marT="0" marB="0" anchor="ctr"/>
                </a:tc>
                <a:tc rowSpan="3">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926646022"/>
                  </a:ext>
                </a:extLst>
              </a:tr>
              <a:tr h="406361">
                <a:tc>
                  <a:txBody>
                    <a:bodyPr/>
                    <a:lstStyle/>
                    <a:p>
                      <a:pPr marL="0" marR="0" algn="ctr" rtl="0">
                        <a:lnSpc>
                          <a:spcPct val="107000"/>
                        </a:lnSpc>
                        <a:spcBef>
                          <a:spcPts val="0"/>
                        </a:spcBef>
                        <a:spcAft>
                          <a:spcPts val="0"/>
                        </a:spcAft>
                      </a:pPr>
                      <a:r>
                        <a:rPr lang="en-US" sz="1050">
                          <a:effectLst/>
                          <a:latin typeface="+mn-lt"/>
                        </a:rPr>
                        <a:t>77</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سجل متطلبات التأهيل</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بيانات متطلبات التأهل</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المركز الوطني لتقويم واعتماد التدريب (مسار)</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vMerge="1">
                  <a:txBody>
                    <a:bodyPr/>
                    <a:lstStyle/>
                    <a:p>
                      <a:pPr algn="ctr" rtl="1" fontAlgn="ctr"/>
                      <a:r>
                        <a:rPr lang="ar-SA" sz="1000" b="0" i="0" u="none" strike="noStrike" dirty="0">
                          <a:effectLst/>
                          <a:latin typeface="Calibri" panose="020F0502020204030204" pitchFamily="34" charset="0"/>
                        </a:rPr>
                        <a:t>متعدد</a:t>
                      </a:r>
                    </a:p>
                  </a:txBody>
                  <a:tcPr marL="0" marR="0" marT="0" marB="0" anchor="ctr"/>
                </a:tc>
                <a:tc vMerge="1">
                  <a:txBody>
                    <a:bodyPr/>
                    <a:lstStyle/>
                    <a:p>
                      <a:endParaRPr lang="en-AE"/>
                    </a:p>
                  </a:txBody>
                  <a:tcPr/>
                </a:tc>
                <a:extLst>
                  <a:ext uri="{0D108BD9-81ED-4DB2-BD59-A6C34878D82A}">
                    <a16:rowId xmlns:a16="http://schemas.microsoft.com/office/drawing/2014/main" val="1302989973"/>
                  </a:ext>
                </a:extLst>
              </a:tr>
              <a:tr h="406361">
                <a:tc>
                  <a:txBody>
                    <a:bodyPr/>
                    <a:lstStyle/>
                    <a:p>
                      <a:pPr marL="0" marR="0" algn="ctr" rtl="0">
                        <a:lnSpc>
                          <a:spcPct val="107000"/>
                        </a:lnSpc>
                        <a:spcBef>
                          <a:spcPts val="0"/>
                        </a:spcBef>
                        <a:spcAft>
                          <a:spcPts val="0"/>
                        </a:spcAft>
                      </a:pPr>
                      <a:r>
                        <a:rPr lang="en-US" sz="1050">
                          <a:effectLst/>
                          <a:latin typeface="+mn-lt"/>
                        </a:rPr>
                        <a:t>78</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سجل المفوض</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بيانات المفوض عن حساب المؤسسة التعليمية</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المركز الوطني لتقويم والاعتماد الاكاديمي (اعتماد)</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vMerge="1">
                  <a:txBody>
                    <a:bodyPr/>
                    <a:lstStyle/>
                    <a:p>
                      <a:pPr algn="ctr" rtl="1" fontAlgn="ctr"/>
                      <a:r>
                        <a:rPr lang="ar-SA" sz="1000" b="0" i="0" u="none" strike="noStrike" dirty="0">
                          <a:effectLst/>
                          <a:latin typeface="Calibri" panose="020F0502020204030204" pitchFamily="34" charset="0"/>
                        </a:rPr>
                        <a:t>متعدد</a:t>
                      </a:r>
                    </a:p>
                  </a:txBody>
                  <a:tcPr marL="0" marR="0" marT="0" marB="0" anchor="ctr"/>
                </a:tc>
                <a:tc vMerge="1">
                  <a:txBody>
                    <a:bodyPr/>
                    <a:lstStyle/>
                    <a:p>
                      <a:endParaRPr lang="en-AE"/>
                    </a:p>
                  </a:txBody>
                  <a:tcPr/>
                </a:tc>
                <a:extLst>
                  <a:ext uri="{0D108BD9-81ED-4DB2-BD59-A6C34878D82A}">
                    <a16:rowId xmlns:a16="http://schemas.microsoft.com/office/drawing/2014/main" val="3351463623"/>
                  </a:ext>
                </a:extLst>
              </a:tr>
              <a:tr h="806664">
                <a:tc>
                  <a:txBody>
                    <a:bodyPr/>
                    <a:lstStyle/>
                    <a:p>
                      <a:pPr marL="0" marR="0" algn="ctr" rtl="0">
                        <a:lnSpc>
                          <a:spcPct val="107000"/>
                        </a:lnSpc>
                        <a:spcBef>
                          <a:spcPts val="0"/>
                        </a:spcBef>
                        <a:spcAft>
                          <a:spcPts val="0"/>
                        </a:spcAft>
                      </a:pPr>
                      <a:r>
                        <a:rPr lang="en-US" sz="1050">
                          <a:effectLst/>
                          <a:latin typeface="+mn-lt"/>
                        </a:rPr>
                        <a:t>79</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سجل التقويم الدوري</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بياات خاصة بدعم مؤسسات التعليم والتدريب العسكري في تفعيل نظم الجودة وتحقيق متطلبات الجودة. </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المركز الوطني للتقويم والاعتماد الاكاديمي  العسكري (درع)</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34586" marR="34586" marT="0" marB="0" anchor="ctr"/>
                </a:tc>
                <a:tc>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305808466"/>
                  </a:ext>
                </a:extLst>
              </a:tr>
            </a:tbl>
          </a:graphicData>
        </a:graphic>
      </p:graphicFrame>
      <p:grpSp>
        <p:nvGrpSpPr>
          <p:cNvPr id="2" name="Group 1">
            <a:extLst>
              <a:ext uri="{FF2B5EF4-FFF2-40B4-BE49-F238E27FC236}">
                <a16:creationId xmlns:a16="http://schemas.microsoft.com/office/drawing/2014/main" id="{7AEA9B78-1994-B580-944B-BFB455229960}"/>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8D238A37-FF2C-5080-3A2A-ADC02979130E}"/>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B633533F-9C35-A8C7-468A-4F10C3C697B3}"/>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294613245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48</a:t>
            </a:fld>
            <a:endParaRPr lang="en-US"/>
          </a:p>
        </p:txBody>
      </p:sp>
      <p:graphicFrame>
        <p:nvGraphicFramePr>
          <p:cNvPr id="2" name="Table 1">
            <a:extLst>
              <a:ext uri="{FF2B5EF4-FFF2-40B4-BE49-F238E27FC236}">
                <a16:creationId xmlns:a16="http://schemas.microsoft.com/office/drawing/2014/main" id="{D1D006F8-91AF-47C3-AE9C-32C09E85BF78}"/>
              </a:ext>
            </a:extLst>
          </p:cNvPr>
          <p:cNvGraphicFramePr>
            <a:graphicFrameLocks noGrp="1"/>
          </p:cNvGraphicFramePr>
          <p:nvPr>
            <p:extLst>
              <p:ext uri="{D42A27DB-BD31-4B8C-83A1-F6EECF244321}">
                <p14:modId xmlns:p14="http://schemas.microsoft.com/office/powerpoint/2010/main" val="3249727853"/>
              </p:ext>
            </p:extLst>
          </p:nvPr>
        </p:nvGraphicFramePr>
        <p:xfrm>
          <a:off x="621452" y="839747"/>
          <a:ext cx="10976291" cy="5205657"/>
        </p:xfrm>
        <a:graphic>
          <a:graphicData uri="http://schemas.openxmlformats.org/drawingml/2006/table">
            <a:tbl>
              <a:tblPr rtl="1" firstRow="1" firstCol="1" bandRow="1">
                <a:tableStyleId>{5C22544A-7EE6-4342-B048-85BDC9FD1C3A}</a:tableStyleId>
              </a:tblPr>
              <a:tblGrid>
                <a:gridCol w="353821">
                  <a:extLst>
                    <a:ext uri="{9D8B030D-6E8A-4147-A177-3AD203B41FA5}">
                      <a16:colId xmlns:a16="http://schemas.microsoft.com/office/drawing/2014/main" val="102241697"/>
                    </a:ext>
                  </a:extLst>
                </a:gridCol>
                <a:gridCol w="1478181">
                  <a:extLst>
                    <a:ext uri="{9D8B030D-6E8A-4147-A177-3AD203B41FA5}">
                      <a16:colId xmlns:a16="http://schemas.microsoft.com/office/drawing/2014/main" val="3374495015"/>
                    </a:ext>
                  </a:extLst>
                </a:gridCol>
                <a:gridCol w="3538201">
                  <a:extLst>
                    <a:ext uri="{9D8B030D-6E8A-4147-A177-3AD203B41FA5}">
                      <a16:colId xmlns:a16="http://schemas.microsoft.com/office/drawing/2014/main" val="2508588989"/>
                    </a:ext>
                  </a:extLst>
                </a:gridCol>
                <a:gridCol w="1124362">
                  <a:extLst>
                    <a:ext uri="{9D8B030D-6E8A-4147-A177-3AD203B41FA5}">
                      <a16:colId xmlns:a16="http://schemas.microsoft.com/office/drawing/2014/main" val="2227734475"/>
                    </a:ext>
                  </a:extLst>
                </a:gridCol>
                <a:gridCol w="448172">
                  <a:extLst>
                    <a:ext uri="{9D8B030D-6E8A-4147-A177-3AD203B41FA5}">
                      <a16:colId xmlns:a16="http://schemas.microsoft.com/office/drawing/2014/main" val="1663982351"/>
                    </a:ext>
                  </a:extLst>
                </a:gridCol>
                <a:gridCol w="479624">
                  <a:extLst>
                    <a:ext uri="{9D8B030D-6E8A-4147-A177-3AD203B41FA5}">
                      <a16:colId xmlns:a16="http://schemas.microsoft.com/office/drawing/2014/main" val="4262933977"/>
                    </a:ext>
                  </a:extLst>
                </a:gridCol>
                <a:gridCol w="448172">
                  <a:extLst>
                    <a:ext uri="{9D8B030D-6E8A-4147-A177-3AD203B41FA5}">
                      <a16:colId xmlns:a16="http://schemas.microsoft.com/office/drawing/2014/main" val="243974604"/>
                    </a:ext>
                  </a:extLst>
                </a:gridCol>
                <a:gridCol w="1045736">
                  <a:extLst>
                    <a:ext uri="{9D8B030D-6E8A-4147-A177-3AD203B41FA5}">
                      <a16:colId xmlns:a16="http://schemas.microsoft.com/office/drawing/2014/main" val="2871109775"/>
                    </a:ext>
                  </a:extLst>
                </a:gridCol>
                <a:gridCol w="612644">
                  <a:extLst>
                    <a:ext uri="{9D8B030D-6E8A-4147-A177-3AD203B41FA5}">
                      <a16:colId xmlns:a16="http://schemas.microsoft.com/office/drawing/2014/main" val="2027268923"/>
                    </a:ext>
                  </a:extLst>
                </a:gridCol>
                <a:gridCol w="1447378">
                  <a:extLst>
                    <a:ext uri="{9D8B030D-6E8A-4147-A177-3AD203B41FA5}">
                      <a16:colId xmlns:a16="http://schemas.microsoft.com/office/drawing/2014/main" val="274428845"/>
                    </a:ext>
                  </a:extLst>
                </a:gridCol>
              </a:tblGrid>
              <a:tr h="369307">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خزينة البيانات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28047" marR="28047" marT="0" marB="0" anchor="ctr"/>
                </a:tc>
                <a:extLst>
                  <a:ext uri="{0D108BD9-81ED-4DB2-BD59-A6C34878D82A}">
                    <a16:rowId xmlns:a16="http://schemas.microsoft.com/office/drawing/2014/main" val="697047548"/>
                  </a:ext>
                </a:extLst>
              </a:tr>
              <a:tr h="463861">
                <a:tc>
                  <a:txBody>
                    <a:bodyPr/>
                    <a:lstStyle/>
                    <a:p>
                      <a:pPr marL="0" marR="0" algn="ctr" rtl="0">
                        <a:lnSpc>
                          <a:spcPct val="107000"/>
                        </a:lnSpc>
                        <a:spcBef>
                          <a:spcPts val="0"/>
                        </a:spcBef>
                        <a:spcAft>
                          <a:spcPts val="0"/>
                        </a:spcAft>
                      </a:pPr>
                      <a:r>
                        <a:rPr lang="en-US" sz="1050">
                          <a:effectLst/>
                          <a:latin typeface="+mn-lt"/>
                        </a:rPr>
                        <a:t>80</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طلب اعتماد</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بيانات الاعتماد المؤسسي لمؤسسات التدريب العسكري</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المركز الوطني للتقويم والاعتماد الاكاديمي  العسكري (درع)</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algn="ctr" rtl="1" fontAlgn="ctr"/>
                      <a:r>
                        <a:rPr lang="ar-SA" sz="1000" b="0" i="0" u="none" strike="noStrike">
                          <a:effectLst/>
                          <a:latin typeface="+mn-lt"/>
                        </a:rPr>
                        <a:t>متعدد </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466295637"/>
                  </a:ext>
                </a:extLst>
              </a:tr>
              <a:tr h="397172">
                <a:tc>
                  <a:txBody>
                    <a:bodyPr/>
                    <a:lstStyle/>
                    <a:p>
                      <a:pPr marL="0" marR="0" algn="ctr" rtl="0">
                        <a:lnSpc>
                          <a:spcPct val="107000"/>
                        </a:lnSpc>
                        <a:spcBef>
                          <a:spcPts val="0"/>
                        </a:spcBef>
                        <a:spcAft>
                          <a:spcPts val="0"/>
                        </a:spcAft>
                      </a:pPr>
                      <a:r>
                        <a:rPr lang="en-US" sz="1050">
                          <a:effectLst/>
                          <a:latin typeface="+mn-lt"/>
                        </a:rPr>
                        <a:t>81</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سجل الأبناء</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سجل يحتوي على بيانات الأبناء</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المركز الوطني للتقويم والتميز المدرسي (تميز)</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المستفيدون</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rowSpan="2">
                  <a:txBody>
                    <a:bodyPr/>
                    <a:lstStyle/>
                    <a:p>
                      <a:pPr algn="ctr" rtl="1" fontAlgn="ctr"/>
                      <a:r>
                        <a:rPr lang="ar-SA" sz="1000" b="1" i="0" u="none" strike="noStrike" dirty="0">
                          <a:effectLst/>
                          <a:latin typeface="+mn-lt"/>
                          <a:cs typeface="Sakkal Majalla" panose="02000000000000000000" pitchFamily="2" charset="-78"/>
                        </a:rPr>
                        <a:t>غير محدد</a:t>
                      </a:r>
                    </a:p>
                  </a:txBody>
                  <a:tcPr marL="0" marR="0" marT="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p>
                      <a:pPr algn="ctr" rtl="1" fontAlgn="ctr"/>
                      <a:endParaRPr lang="ar-SA" sz="1000" b="1" i="0" u="none" strike="noStrike" dirty="0">
                        <a:effectLst/>
                        <a:latin typeface="+mn-lt"/>
                        <a:cs typeface="Sakkal Majalla" panose="02000000000000000000" pitchFamily="2" charset="-78"/>
                      </a:endParaRPr>
                    </a:p>
                  </a:txBody>
                  <a:tcPr marL="0" marR="0" marT="0" marB="0" anchor="ctr">
                    <a:solidFill>
                      <a:srgbClr val="00B050"/>
                    </a:solidFill>
                  </a:tcPr>
                </a:tc>
                <a:extLst>
                  <a:ext uri="{0D108BD9-81ED-4DB2-BD59-A6C34878D82A}">
                    <a16:rowId xmlns:a16="http://schemas.microsoft.com/office/drawing/2014/main" val="1625270669"/>
                  </a:ext>
                </a:extLst>
              </a:tr>
              <a:tr h="931772">
                <a:tc>
                  <a:txBody>
                    <a:bodyPr/>
                    <a:lstStyle/>
                    <a:p>
                      <a:pPr marL="0" marR="0" algn="ctr" rtl="0">
                        <a:lnSpc>
                          <a:spcPct val="107000"/>
                        </a:lnSpc>
                        <a:spcBef>
                          <a:spcPts val="0"/>
                        </a:spcBef>
                        <a:spcAft>
                          <a:spcPts val="0"/>
                        </a:spcAft>
                      </a:pPr>
                      <a:r>
                        <a:rPr lang="en-US" sz="1050">
                          <a:effectLst/>
                          <a:latin typeface="+mn-lt"/>
                        </a:rPr>
                        <a:t>82</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سجل مقاييس مستقيم</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بيانات مقاييس مستقبل الابناء الجديدة والمجدولة</a:t>
                      </a:r>
                      <a:br>
                        <a:rPr lang="ar-SA" sz="1050">
                          <a:effectLst/>
                          <a:latin typeface="+mn-lt"/>
                        </a:rPr>
                      </a:br>
                      <a:r>
                        <a:rPr lang="ar-SA" sz="1050">
                          <a:effectLst/>
                          <a:latin typeface="+mn-lt"/>
                        </a:rPr>
                        <a:t>والمعلقة، تتيح إمكانية اختيار المقياس المطلوب أداؤه من قبل أحد الأبناء.</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المركز الوطني للتقويم والتميز المدرسي (تميز)</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الجودة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vMerge="1">
                  <a:txBody>
                    <a:bodyPr/>
                    <a:lstStyle/>
                    <a:p>
                      <a:pPr algn="ctr" rtl="1" fontAlgn="ctr"/>
                      <a:r>
                        <a:rPr lang="ar-SA" sz="1000" b="1" i="0" u="none" strike="noStrike" dirty="0">
                          <a:effectLst/>
                          <a:latin typeface="Sakkal Majalla" panose="02000000000000000000" pitchFamily="2" charset="-78"/>
                          <a:cs typeface="Sakkal Majalla" panose="02000000000000000000" pitchFamily="2" charset="-78"/>
                        </a:rPr>
                        <a:t>غير محدد</a:t>
                      </a:r>
                    </a:p>
                  </a:txBody>
                  <a:tcPr marL="0" marR="0" marT="0" marB="0" anchor="ctr"/>
                </a:tc>
                <a:tc vMerge="1">
                  <a:txBody>
                    <a:bodyPr/>
                    <a:lstStyle/>
                    <a:p>
                      <a:endParaRPr lang="en-AE"/>
                    </a:p>
                  </a:txBody>
                  <a:tcPr/>
                </a:tc>
                <a:extLst>
                  <a:ext uri="{0D108BD9-81ED-4DB2-BD59-A6C34878D82A}">
                    <a16:rowId xmlns:a16="http://schemas.microsoft.com/office/drawing/2014/main" val="1526407171"/>
                  </a:ext>
                </a:extLst>
              </a:tr>
              <a:tr h="501724">
                <a:tc>
                  <a:txBody>
                    <a:bodyPr/>
                    <a:lstStyle/>
                    <a:p>
                      <a:pPr marL="0" marR="0" algn="ctr" rtl="0">
                        <a:lnSpc>
                          <a:spcPct val="107000"/>
                        </a:lnSpc>
                        <a:spcBef>
                          <a:spcPts val="0"/>
                        </a:spcBef>
                        <a:spcAft>
                          <a:spcPts val="0"/>
                        </a:spcAft>
                      </a:pPr>
                      <a:r>
                        <a:rPr lang="en-US" sz="1050">
                          <a:effectLst/>
                          <a:latin typeface="+mn-lt"/>
                        </a:rPr>
                        <a:t>83</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طلب الإعتماد المدرسي الوطني</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بيانات طلب اعتماد (وطني) للمدارس الأهلية والعالمية بالمملكة.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المركز الوطني للتقويم والتميز المدرسي (تميز)</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algn="ctr" rtl="0" fontAlgn="ctr"/>
                      <a:r>
                        <a:rPr lang="en-US" sz="1100" b="1" i="0" u="none" strike="noStrike">
                          <a:effectLst/>
                          <a:latin typeface="+mn-lt"/>
                          <a:cs typeface="Sakkal Majalla" panose="02000000000000000000" pitchFamily="2" charset="-78"/>
                        </a:rPr>
                        <a:t>SEA</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kern="1200" dirty="0">
                          <a:solidFill>
                            <a:schemeClr val="dk1"/>
                          </a:solidFill>
                          <a:effectLst/>
                          <a:latin typeface="+mn-lt"/>
                          <a:ea typeface="+mn-ea"/>
                          <a:cs typeface="+mn-cs"/>
                        </a:rPr>
                        <a:t>انشاء واجهة للتكامل </a:t>
                      </a:r>
                      <a:r>
                        <a:rPr lang="en-US" sz="1100" kern="1200" dirty="0">
                          <a:solidFill>
                            <a:schemeClr val="dk1"/>
                          </a:solidFill>
                          <a:effectLst/>
                          <a:latin typeface="+mn-lt"/>
                          <a:ea typeface="+mn-ea"/>
                          <a:cs typeface="+mn-cs"/>
                        </a:rPr>
                        <a:t>API</a:t>
                      </a:r>
                      <a:r>
                        <a:rPr lang="ar-SA" sz="11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277745675"/>
                  </a:ext>
                </a:extLst>
              </a:tr>
              <a:tr h="841400">
                <a:tc>
                  <a:txBody>
                    <a:bodyPr/>
                    <a:lstStyle/>
                    <a:p>
                      <a:pPr marL="0" marR="0" algn="ctr" rtl="0">
                        <a:lnSpc>
                          <a:spcPct val="107000"/>
                        </a:lnSpc>
                        <a:spcBef>
                          <a:spcPts val="0"/>
                        </a:spcBef>
                        <a:spcAft>
                          <a:spcPts val="0"/>
                        </a:spcAft>
                      </a:pPr>
                      <a:r>
                        <a:rPr lang="en-US" sz="1050">
                          <a:effectLst/>
                          <a:latin typeface="+mn-lt"/>
                        </a:rPr>
                        <a:t>84</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خريطة إختبار</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سجل يوضح خريطة الإختبار  والخطوات المتبعة من أجل تجهيز الاختبار  في المنصة المناسبة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إدارة الاختبارات الرقمية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rowSpan="2">
                  <a:txBody>
                    <a:bodyPr/>
                    <a:lstStyle/>
                    <a:p>
                      <a:pPr algn="ctr" rtl="0" fontAlgn="ctr"/>
                      <a:r>
                        <a:rPr lang="en-US" sz="1100" b="1" i="0" u="none" strike="noStrike" dirty="0">
                          <a:effectLst/>
                          <a:latin typeface="+mn-lt"/>
                          <a:cs typeface="Sakkal Majalla" panose="02000000000000000000" pitchFamily="2" charset="-78"/>
                        </a:rPr>
                        <a:t>EMSDB</a:t>
                      </a:r>
                    </a:p>
                  </a:txBody>
                  <a:tcPr marL="0" marR="0" marT="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100" kern="1200" dirty="0">
                          <a:solidFill>
                            <a:schemeClr val="dk1"/>
                          </a:solidFill>
                          <a:effectLst/>
                          <a:latin typeface="+mn-lt"/>
                          <a:ea typeface="+mn-ea"/>
                          <a:cs typeface="+mn-cs"/>
                        </a:rPr>
                        <a:t>انشاء واجهة للتكامل </a:t>
                      </a:r>
                      <a:r>
                        <a:rPr lang="en-US" sz="1100" kern="1200" dirty="0">
                          <a:solidFill>
                            <a:schemeClr val="dk1"/>
                          </a:solidFill>
                          <a:effectLst/>
                          <a:latin typeface="+mn-lt"/>
                          <a:ea typeface="+mn-ea"/>
                          <a:cs typeface="+mn-cs"/>
                        </a:rPr>
                        <a:t>API</a:t>
                      </a:r>
                      <a:r>
                        <a:rPr lang="ar-SA" sz="11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706030776"/>
                  </a:ext>
                </a:extLst>
              </a:tr>
              <a:tr h="286699">
                <a:tc>
                  <a:txBody>
                    <a:bodyPr/>
                    <a:lstStyle/>
                    <a:p>
                      <a:pPr marL="0" marR="0" algn="ctr" rtl="0">
                        <a:lnSpc>
                          <a:spcPct val="107000"/>
                        </a:lnSpc>
                        <a:spcBef>
                          <a:spcPts val="0"/>
                        </a:spcBef>
                        <a:spcAft>
                          <a:spcPts val="0"/>
                        </a:spcAft>
                      </a:pPr>
                      <a:r>
                        <a:rPr lang="en-US" sz="1050">
                          <a:effectLst/>
                          <a:latin typeface="+mn-lt"/>
                        </a:rPr>
                        <a:t>85</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سجل الاختبارات الرقمية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سجل يحتوي على بيانات الاختبارات الرقمية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إدارة الاختبارات الرقمية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vMerge="1">
                  <a:txBody>
                    <a:bodyPr/>
                    <a:lstStyle/>
                    <a:p>
                      <a:pPr algn="ctr" rtl="0" fontAlgn="ctr"/>
                      <a:r>
                        <a:rPr lang="en-US" sz="1100" b="1" i="0" u="none" strike="noStrike" dirty="0">
                          <a:effectLst/>
                          <a:latin typeface="Sakkal Majalla" panose="02000000000000000000" pitchFamily="2" charset="-78"/>
                          <a:cs typeface="Sakkal Majalla" panose="02000000000000000000" pitchFamily="2" charset="-78"/>
                        </a:rPr>
                        <a:t>EMSDB</a:t>
                      </a:r>
                    </a:p>
                  </a:txBody>
                  <a:tcPr marL="0" marR="0" marT="0" marB="0" anchor="ctr"/>
                </a:tc>
                <a:tc vMerge="1">
                  <a:txBody>
                    <a:bodyPr/>
                    <a:lstStyle/>
                    <a:p>
                      <a:endParaRPr lang="en-AE"/>
                    </a:p>
                  </a:txBody>
                  <a:tcPr/>
                </a:tc>
                <a:extLst>
                  <a:ext uri="{0D108BD9-81ED-4DB2-BD59-A6C34878D82A}">
                    <a16:rowId xmlns:a16="http://schemas.microsoft.com/office/drawing/2014/main" val="1652589580"/>
                  </a:ext>
                </a:extLst>
              </a:tr>
              <a:tr h="197106">
                <a:tc>
                  <a:txBody>
                    <a:bodyPr/>
                    <a:lstStyle/>
                    <a:p>
                      <a:pPr marL="0" marR="0" algn="ctr" rtl="0">
                        <a:lnSpc>
                          <a:spcPct val="107000"/>
                        </a:lnSpc>
                        <a:spcBef>
                          <a:spcPts val="0"/>
                        </a:spcBef>
                        <a:spcAft>
                          <a:spcPts val="0"/>
                        </a:spcAft>
                      </a:pPr>
                      <a:r>
                        <a:rPr lang="en-US" sz="1050">
                          <a:effectLst/>
                          <a:latin typeface="+mn-lt"/>
                        </a:rPr>
                        <a:t>86</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تصنيف رخصة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أنواع الرخص</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إدارة الاختبارات المهنية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rowSpan="3">
                  <a:txBody>
                    <a:bodyPr/>
                    <a:lstStyle/>
                    <a:p>
                      <a:pPr algn="ctr" rtl="1" fontAlgn="ctr"/>
                      <a:r>
                        <a:rPr lang="ar-SA" sz="1000" b="0" i="0" u="none" strike="noStrike" dirty="0">
                          <a:effectLst/>
                          <a:latin typeface="+mn-lt"/>
                        </a:rPr>
                        <a:t>متعدد</a:t>
                      </a:r>
                    </a:p>
                  </a:txBody>
                  <a:tcPr marL="0" marR="0" marT="0" marB="0" anchor="ctr"/>
                </a:tc>
                <a:tc rowSpan="3">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192505528"/>
                  </a:ext>
                </a:extLst>
              </a:tr>
              <a:tr h="197106">
                <a:tc>
                  <a:txBody>
                    <a:bodyPr/>
                    <a:lstStyle/>
                    <a:p>
                      <a:pPr marL="0" marR="0" algn="ctr" rtl="0">
                        <a:lnSpc>
                          <a:spcPct val="107000"/>
                        </a:lnSpc>
                        <a:spcBef>
                          <a:spcPts val="0"/>
                        </a:spcBef>
                        <a:spcAft>
                          <a:spcPts val="0"/>
                        </a:spcAft>
                      </a:pPr>
                      <a:r>
                        <a:rPr lang="en-US" sz="1050">
                          <a:effectLst/>
                          <a:latin typeface="+mn-lt"/>
                        </a:rPr>
                        <a:t>87</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سجل الرخص</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بيانات الرخصة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إدارة الاختبارات المهنية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نعم</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نعم</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vMerge="1">
                  <a:txBody>
                    <a:bodyPr/>
                    <a:lstStyle/>
                    <a:p>
                      <a:pPr algn="ctr" rtl="1" fontAlgn="ctr"/>
                      <a:r>
                        <a:rPr lang="ar-SA" sz="1000" b="0" i="0" u="none" strike="noStrike">
                          <a:effectLst/>
                          <a:latin typeface="Calibri" panose="020F0502020204030204" pitchFamily="34" charset="0"/>
                        </a:rPr>
                        <a:t>متعدد</a:t>
                      </a:r>
                    </a:p>
                  </a:txBody>
                  <a:tcPr marL="0" marR="0" marT="0" marB="0" anchor="ctr"/>
                </a:tc>
                <a:tc vMerge="1">
                  <a:txBody>
                    <a:bodyPr/>
                    <a:lstStyle/>
                    <a:p>
                      <a:endParaRPr lang="en-AE"/>
                    </a:p>
                  </a:txBody>
                  <a:tcPr/>
                </a:tc>
                <a:extLst>
                  <a:ext uri="{0D108BD9-81ED-4DB2-BD59-A6C34878D82A}">
                    <a16:rowId xmlns:a16="http://schemas.microsoft.com/office/drawing/2014/main" val="4016959059"/>
                  </a:ext>
                </a:extLst>
              </a:tr>
              <a:tr h="197106">
                <a:tc>
                  <a:txBody>
                    <a:bodyPr/>
                    <a:lstStyle/>
                    <a:p>
                      <a:pPr marL="0" marR="0" algn="ctr" rtl="0">
                        <a:lnSpc>
                          <a:spcPct val="107000"/>
                        </a:lnSpc>
                        <a:spcBef>
                          <a:spcPts val="0"/>
                        </a:spcBef>
                        <a:spcAft>
                          <a:spcPts val="0"/>
                        </a:spcAft>
                      </a:pPr>
                      <a:r>
                        <a:rPr lang="en-US" sz="1050">
                          <a:effectLst/>
                          <a:latin typeface="+mn-lt"/>
                        </a:rPr>
                        <a:t>88</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سجل بيانات قواعد الترخيص</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بيانات قواعد الترخيص</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إدارة الاختبارات المهنية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vMerge="1">
                  <a:txBody>
                    <a:bodyPr/>
                    <a:lstStyle/>
                    <a:p>
                      <a:pPr algn="ctr" rtl="1" fontAlgn="ctr"/>
                      <a:r>
                        <a:rPr lang="ar-SA" sz="1000" b="0" i="0" u="none" strike="noStrike" dirty="0">
                          <a:effectLst/>
                          <a:latin typeface="Calibri" panose="020F0502020204030204" pitchFamily="34" charset="0"/>
                        </a:rPr>
                        <a:t>متعدد</a:t>
                      </a:r>
                    </a:p>
                  </a:txBody>
                  <a:tcPr marL="0" marR="0" marT="0" marB="0" anchor="ctr"/>
                </a:tc>
                <a:tc vMerge="1">
                  <a:txBody>
                    <a:bodyPr/>
                    <a:lstStyle/>
                    <a:p>
                      <a:endParaRPr lang="en-AE"/>
                    </a:p>
                  </a:txBody>
                  <a:tcPr/>
                </a:tc>
                <a:extLst>
                  <a:ext uri="{0D108BD9-81ED-4DB2-BD59-A6C34878D82A}">
                    <a16:rowId xmlns:a16="http://schemas.microsoft.com/office/drawing/2014/main" val="4177098996"/>
                  </a:ext>
                </a:extLst>
              </a:tr>
              <a:tr h="430049">
                <a:tc>
                  <a:txBody>
                    <a:bodyPr/>
                    <a:lstStyle/>
                    <a:p>
                      <a:pPr marL="0" marR="0" algn="ctr" rtl="0">
                        <a:lnSpc>
                          <a:spcPct val="107000"/>
                        </a:lnSpc>
                        <a:spcBef>
                          <a:spcPts val="0"/>
                        </a:spcBef>
                        <a:spcAft>
                          <a:spcPts val="0"/>
                        </a:spcAft>
                      </a:pPr>
                      <a:r>
                        <a:rPr lang="en-US" sz="1050">
                          <a:effectLst/>
                          <a:latin typeface="+mn-lt"/>
                        </a:rPr>
                        <a:t>89</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سجل الإستشارات</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بيانات الاستشارات وتاريخها والإدارة المقدمة للاستشارة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إدارة الاستشارات القانونية </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marL="0" marR="0" algn="ctr" rtl="1">
                        <a:lnSpc>
                          <a:spcPct val="107000"/>
                        </a:lnSpc>
                        <a:spcBef>
                          <a:spcPts val="0"/>
                        </a:spcBef>
                        <a:spcAft>
                          <a:spcPts val="0"/>
                        </a:spcAft>
                      </a:pPr>
                      <a:r>
                        <a:rPr lang="ar-SA" sz="1050">
                          <a:effectLst/>
                          <a:latin typeface="+mn-lt"/>
                        </a:rPr>
                        <a:t>البيانات القانونية</a:t>
                      </a:r>
                      <a:endParaRPr lang="en-US" sz="1050">
                        <a:effectLst/>
                        <a:latin typeface="+mn-lt"/>
                        <a:ea typeface="Calibri" panose="020F0502020204030204" pitchFamily="34" charset="0"/>
                        <a:cs typeface="Arial" panose="020B0604020202020204" pitchFamily="34" charset="0"/>
                      </a:endParaRPr>
                    </a:p>
                  </a:txBody>
                  <a:tcPr marL="28047" marR="28047" marT="0" marB="0" anchor="ctr"/>
                </a:tc>
                <a:tc>
                  <a:txBody>
                    <a:bodyPr/>
                    <a:lstStyle/>
                    <a:p>
                      <a:pPr algn="ctr" rtl="1" fontAlgn="ctr"/>
                      <a:r>
                        <a:rPr lang="ar-SA" sz="1000" b="0" i="0" u="none" strike="noStrike" dirty="0">
                          <a:effectLst/>
                          <a:latin typeface="+mn-lt"/>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4097151318"/>
                  </a:ext>
                </a:extLst>
              </a:tr>
            </a:tbl>
          </a:graphicData>
        </a:graphic>
      </p:graphicFrame>
      <p:grpSp>
        <p:nvGrpSpPr>
          <p:cNvPr id="4" name="Group 3">
            <a:extLst>
              <a:ext uri="{FF2B5EF4-FFF2-40B4-BE49-F238E27FC236}">
                <a16:creationId xmlns:a16="http://schemas.microsoft.com/office/drawing/2014/main" id="{0F893284-3EB7-E88D-9076-13EA1AAD237E}"/>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E3FD62F7-466C-99DE-4789-0941FF785B5E}"/>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8283A353-47BE-FCD3-0371-36D8CD51A029}"/>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2489257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49</a:t>
            </a:fld>
            <a:endParaRPr lang="en-US"/>
          </a:p>
        </p:txBody>
      </p:sp>
      <p:graphicFrame>
        <p:nvGraphicFramePr>
          <p:cNvPr id="4" name="Table 3">
            <a:extLst>
              <a:ext uri="{FF2B5EF4-FFF2-40B4-BE49-F238E27FC236}">
                <a16:creationId xmlns:a16="http://schemas.microsoft.com/office/drawing/2014/main" id="{13B3C8F6-826B-4F1A-870B-2AAC0115D6A9}"/>
              </a:ext>
            </a:extLst>
          </p:cNvPr>
          <p:cNvGraphicFramePr>
            <a:graphicFrameLocks noGrp="1"/>
          </p:cNvGraphicFramePr>
          <p:nvPr>
            <p:extLst>
              <p:ext uri="{D42A27DB-BD31-4B8C-83A1-F6EECF244321}">
                <p14:modId xmlns:p14="http://schemas.microsoft.com/office/powerpoint/2010/main" val="1609623720"/>
              </p:ext>
            </p:extLst>
          </p:nvPr>
        </p:nvGraphicFramePr>
        <p:xfrm>
          <a:off x="621453" y="806155"/>
          <a:ext cx="10990182" cy="5153560"/>
        </p:xfrm>
        <a:graphic>
          <a:graphicData uri="http://schemas.openxmlformats.org/drawingml/2006/table">
            <a:tbl>
              <a:tblPr rtl="1" firstRow="1" firstCol="1" bandRow="1">
                <a:tableStyleId>{5C22544A-7EE6-4342-B048-85BDC9FD1C3A}</a:tableStyleId>
              </a:tblPr>
              <a:tblGrid>
                <a:gridCol w="290440">
                  <a:extLst>
                    <a:ext uri="{9D8B030D-6E8A-4147-A177-3AD203B41FA5}">
                      <a16:colId xmlns:a16="http://schemas.microsoft.com/office/drawing/2014/main" val="3236719243"/>
                    </a:ext>
                  </a:extLst>
                </a:gridCol>
                <a:gridCol w="699330">
                  <a:extLst>
                    <a:ext uri="{9D8B030D-6E8A-4147-A177-3AD203B41FA5}">
                      <a16:colId xmlns:a16="http://schemas.microsoft.com/office/drawing/2014/main" val="3032278384"/>
                    </a:ext>
                  </a:extLst>
                </a:gridCol>
                <a:gridCol w="3325700">
                  <a:extLst>
                    <a:ext uri="{9D8B030D-6E8A-4147-A177-3AD203B41FA5}">
                      <a16:colId xmlns:a16="http://schemas.microsoft.com/office/drawing/2014/main" val="3901253705"/>
                    </a:ext>
                  </a:extLst>
                </a:gridCol>
                <a:gridCol w="901359">
                  <a:extLst>
                    <a:ext uri="{9D8B030D-6E8A-4147-A177-3AD203B41FA5}">
                      <a16:colId xmlns:a16="http://schemas.microsoft.com/office/drawing/2014/main" val="3024790472"/>
                    </a:ext>
                  </a:extLst>
                </a:gridCol>
                <a:gridCol w="543923">
                  <a:extLst>
                    <a:ext uri="{9D8B030D-6E8A-4147-A177-3AD203B41FA5}">
                      <a16:colId xmlns:a16="http://schemas.microsoft.com/office/drawing/2014/main" val="2411406097"/>
                    </a:ext>
                  </a:extLst>
                </a:gridCol>
                <a:gridCol w="660477">
                  <a:extLst>
                    <a:ext uri="{9D8B030D-6E8A-4147-A177-3AD203B41FA5}">
                      <a16:colId xmlns:a16="http://schemas.microsoft.com/office/drawing/2014/main" val="4289741946"/>
                    </a:ext>
                  </a:extLst>
                </a:gridCol>
                <a:gridCol w="761492">
                  <a:extLst>
                    <a:ext uri="{9D8B030D-6E8A-4147-A177-3AD203B41FA5}">
                      <a16:colId xmlns:a16="http://schemas.microsoft.com/office/drawing/2014/main" val="4210557473"/>
                    </a:ext>
                  </a:extLst>
                </a:gridCol>
                <a:gridCol w="1103387">
                  <a:extLst>
                    <a:ext uri="{9D8B030D-6E8A-4147-A177-3AD203B41FA5}">
                      <a16:colId xmlns:a16="http://schemas.microsoft.com/office/drawing/2014/main" val="2176302012"/>
                    </a:ext>
                  </a:extLst>
                </a:gridCol>
                <a:gridCol w="1352037">
                  <a:extLst>
                    <a:ext uri="{9D8B030D-6E8A-4147-A177-3AD203B41FA5}">
                      <a16:colId xmlns:a16="http://schemas.microsoft.com/office/drawing/2014/main" val="4281791483"/>
                    </a:ext>
                  </a:extLst>
                </a:gridCol>
                <a:gridCol w="1352037">
                  <a:extLst>
                    <a:ext uri="{9D8B030D-6E8A-4147-A177-3AD203B41FA5}">
                      <a16:colId xmlns:a16="http://schemas.microsoft.com/office/drawing/2014/main" val="3513231423"/>
                    </a:ext>
                  </a:extLst>
                </a:gridCol>
              </a:tblGrid>
              <a:tr h="471513">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dirty="0">
                          <a:effectLst/>
                          <a:latin typeface="+mn-lt"/>
                        </a:rPr>
                        <a:t>وصف الكيان</a:t>
                      </a:r>
                      <a:endParaRPr lang="en-US" sz="1050" dirty="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dirty="0">
                          <a:effectLst/>
                          <a:latin typeface="+mn-lt"/>
                        </a:rPr>
                        <a:t>خزينة البيانات</a:t>
                      </a:r>
                      <a:endParaRPr lang="en-US" sz="1050" dirty="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35809" marR="35809" marT="0" marB="0" anchor="ctr"/>
                </a:tc>
                <a:extLst>
                  <a:ext uri="{0D108BD9-81ED-4DB2-BD59-A6C34878D82A}">
                    <a16:rowId xmlns:a16="http://schemas.microsoft.com/office/drawing/2014/main" val="2081214769"/>
                  </a:ext>
                </a:extLst>
              </a:tr>
              <a:tr h="677378">
                <a:tc>
                  <a:txBody>
                    <a:bodyPr/>
                    <a:lstStyle/>
                    <a:p>
                      <a:pPr marL="0" marR="0" algn="ctr" rtl="0">
                        <a:lnSpc>
                          <a:spcPct val="107000"/>
                        </a:lnSpc>
                        <a:spcBef>
                          <a:spcPts val="0"/>
                        </a:spcBef>
                        <a:spcAft>
                          <a:spcPts val="0"/>
                        </a:spcAft>
                      </a:pPr>
                      <a:r>
                        <a:rPr lang="en-US" sz="1050">
                          <a:effectLst/>
                          <a:latin typeface="+mn-lt"/>
                        </a:rPr>
                        <a:t>90</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لائحة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اللوائح وتاريخ الاعتماد والنفاذ والإدارة المعنية بتطبيق اللائحة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إدارة الاستشارات القانونية </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البيانات القانونية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algn="ctr" rtl="1" fontAlgn="ctr"/>
                      <a:r>
                        <a:rPr lang="ar-SA" sz="1000" b="0" i="0" u="none" strike="noStrike">
                          <a:effectLst/>
                          <a:latin typeface="+mn-lt"/>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418071295"/>
                  </a:ext>
                </a:extLst>
              </a:tr>
              <a:tr h="251655">
                <a:tc>
                  <a:txBody>
                    <a:bodyPr/>
                    <a:lstStyle/>
                    <a:p>
                      <a:pPr marL="0" marR="0" algn="ctr" rtl="0">
                        <a:lnSpc>
                          <a:spcPct val="107000"/>
                        </a:lnSpc>
                        <a:spcBef>
                          <a:spcPts val="0"/>
                        </a:spcBef>
                        <a:spcAft>
                          <a:spcPts val="0"/>
                        </a:spcAft>
                      </a:pPr>
                      <a:r>
                        <a:rPr lang="en-US" sz="1050">
                          <a:effectLst/>
                          <a:latin typeface="+mn-lt"/>
                        </a:rPr>
                        <a:t>91</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سجل الزوار</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بيانات الزوار وأسباب الزيارة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إدارة الأمن والسلامة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rowSpan="2">
                  <a:txBody>
                    <a:bodyPr/>
                    <a:lstStyle/>
                    <a:p>
                      <a:pPr algn="ctr" rtl="1" fontAlgn="ctr"/>
                      <a:r>
                        <a:rPr lang="ar-SA" sz="1000" b="0" i="0" u="none" strike="noStrike" dirty="0">
                          <a:effectLst/>
                          <a:latin typeface="+mn-lt"/>
                        </a:rPr>
                        <a:t>غير محدد</a:t>
                      </a:r>
                    </a:p>
                  </a:txBody>
                  <a:tcPr marL="0" marR="0" marT="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606666871"/>
                  </a:ext>
                </a:extLst>
              </a:tr>
              <a:tr h="457554">
                <a:tc>
                  <a:txBody>
                    <a:bodyPr/>
                    <a:lstStyle/>
                    <a:p>
                      <a:pPr marL="0" marR="0" algn="ctr" rtl="0">
                        <a:lnSpc>
                          <a:spcPct val="107000"/>
                        </a:lnSpc>
                        <a:spcBef>
                          <a:spcPts val="0"/>
                        </a:spcBef>
                        <a:spcAft>
                          <a:spcPts val="0"/>
                        </a:spcAft>
                      </a:pPr>
                      <a:r>
                        <a:rPr lang="en-US" sz="1050">
                          <a:effectLst/>
                          <a:latin typeface="+mn-lt"/>
                        </a:rPr>
                        <a:t>92</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سجل دخول بوابة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بيانات سجلات الدخول والخروج للبوابات</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إدارة الأمن والسلامة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dirty="0">
                          <a:effectLst/>
                          <a:latin typeface="+mn-lt"/>
                        </a:rPr>
                        <a:t>لا</a:t>
                      </a:r>
                      <a:endParaRPr lang="en-US" sz="1050" dirty="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vMerge="1">
                  <a:txBody>
                    <a:bodyPr/>
                    <a:lstStyle/>
                    <a:p>
                      <a:pPr algn="ctr" rtl="1" fontAlgn="ctr"/>
                      <a:r>
                        <a:rPr lang="ar-SA" sz="1000" b="0" i="0" u="none" strike="noStrike" dirty="0">
                          <a:effectLst/>
                          <a:latin typeface="+mn-lt"/>
                        </a:rPr>
                        <a:t>غير محدد</a:t>
                      </a:r>
                    </a:p>
                  </a:txBody>
                  <a:tcPr marL="0" marR="0" marT="0" marB="0" anchor="ctr"/>
                </a:tc>
                <a:tc vMerge="1">
                  <a:txBody>
                    <a:bodyPr/>
                    <a:lstStyle/>
                    <a:p>
                      <a:endParaRPr lang="en-AE"/>
                    </a:p>
                  </a:txBody>
                  <a:tcPr/>
                </a:tc>
                <a:extLst>
                  <a:ext uri="{0D108BD9-81ED-4DB2-BD59-A6C34878D82A}">
                    <a16:rowId xmlns:a16="http://schemas.microsoft.com/office/drawing/2014/main" val="3074539379"/>
                  </a:ext>
                </a:extLst>
              </a:tr>
              <a:tr h="366043">
                <a:tc>
                  <a:txBody>
                    <a:bodyPr/>
                    <a:lstStyle/>
                    <a:p>
                      <a:pPr marL="0" marR="0" algn="ctr" rtl="0">
                        <a:lnSpc>
                          <a:spcPct val="107000"/>
                        </a:lnSpc>
                        <a:spcBef>
                          <a:spcPts val="0"/>
                        </a:spcBef>
                        <a:spcAft>
                          <a:spcPts val="0"/>
                        </a:spcAft>
                      </a:pPr>
                      <a:r>
                        <a:rPr lang="en-US" sz="1050">
                          <a:effectLst/>
                          <a:latin typeface="+mn-lt"/>
                        </a:rPr>
                        <a:t>93</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طلب موقف سيارة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طلبات مواقف السيارات للزوار</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إدارة الأمن والسلامة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algn="ctr" rtl="1" fontAlgn="ctr"/>
                      <a:r>
                        <a:rPr lang="ar-SA" sz="1000" b="0" i="0" u="none" strike="noStrike">
                          <a:effectLst/>
                          <a:latin typeface="+mn-lt"/>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697433270"/>
                  </a:ext>
                </a:extLst>
              </a:tr>
              <a:tr h="732086">
                <a:tc>
                  <a:txBody>
                    <a:bodyPr/>
                    <a:lstStyle/>
                    <a:p>
                      <a:pPr marL="0" marR="0" algn="ctr" rtl="0">
                        <a:lnSpc>
                          <a:spcPct val="107000"/>
                        </a:lnSpc>
                        <a:spcBef>
                          <a:spcPts val="0"/>
                        </a:spcBef>
                        <a:spcAft>
                          <a:spcPts val="0"/>
                        </a:spcAft>
                      </a:pPr>
                      <a:r>
                        <a:rPr lang="en-US" sz="1050">
                          <a:effectLst/>
                          <a:latin typeface="+mn-lt"/>
                        </a:rPr>
                        <a:t>94</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سجل البحوث العلمية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مخرجات البحوث والدراسات الإحتياجات البحثية عن اختبار الرخصة المهنية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إدارة البحوث</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التقارير وتحليل البيانات</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algn="ctr" rtl="0" fontAlgn="ctr"/>
                      <a:r>
                        <a:rPr lang="en-US" sz="1000" b="0" i="0" u="none" strike="noStrike">
                          <a:effectLst/>
                          <a:latin typeface="+mn-lt"/>
                        </a:rPr>
                        <a:t>Qiyas.TRAS.Database</a:t>
                      </a:r>
                      <a:br>
                        <a:rPr lang="en-US" sz="1000" b="0" i="0" u="none" strike="noStrike">
                          <a:effectLst/>
                          <a:latin typeface="+mn-lt"/>
                        </a:rPr>
                      </a:br>
                      <a:r>
                        <a:rPr lang="en-US" sz="1000" b="0" i="0" u="none" strike="noStrike">
                          <a:effectLst/>
                          <a:latin typeface="+mn-lt"/>
                        </a:rPr>
                        <a:t>Qiyas.TRAS.Audit</a:t>
                      </a:r>
                      <a:br>
                        <a:rPr lang="en-US" sz="1000" b="0" i="0" u="none" strike="noStrike">
                          <a:effectLst/>
                          <a:latin typeface="+mn-lt"/>
                        </a:rPr>
                      </a:br>
                      <a:r>
                        <a:rPr lang="en-US" sz="1000" b="0" i="0" u="none" strike="noStrike">
                          <a:effectLst/>
                          <a:latin typeface="+mn-lt"/>
                        </a:rPr>
                        <a:t>ASPState</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163540023"/>
                  </a:ext>
                </a:extLst>
              </a:tr>
              <a:tr h="592234">
                <a:tc>
                  <a:txBody>
                    <a:bodyPr/>
                    <a:lstStyle/>
                    <a:p>
                      <a:pPr marL="0" marR="0" algn="ctr" rtl="0">
                        <a:lnSpc>
                          <a:spcPct val="107000"/>
                        </a:lnSpc>
                        <a:spcBef>
                          <a:spcPts val="0"/>
                        </a:spcBef>
                        <a:spcAft>
                          <a:spcPts val="0"/>
                        </a:spcAft>
                      </a:pPr>
                      <a:r>
                        <a:rPr lang="en-US" sz="1050">
                          <a:effectLst/>
                          <a:latin typeface="+mn-lt"/>
                        </a:rPr>
                        <a:t>95</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طلب إدراج مشروع في الخطة السنوية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بيانات طلبات إضافة المشاريع و دراستها و اعتمادها أو رفضها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إدارة التخطيط الاستراتيجي</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التخطيط الاستراتيجي</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rowSpan="4">
                  <a:txBody>
                    <a:bodyPr/>
                    <a:lstStyle/>
                    <a:p>
                      <a:pPr algn="ctr" rtl="1" fontAlgn="ctr"/>
                      <a:r>
                        <a:rPr lang="ar-SA" sz="1000" b="0" i="0" u="none" strike="noStrike" dirty="0">
                          <a:effectLst/>
                          <a:latin typeface="+mn-lt"/>
                        </a:rPr>
                        <a:t>يدوي</a:t>
                      </a:r>
                    </a:p>
                  </a:txBody>
                  <a:tcPr marL="0" marR="0" marT="0" marB="0" anchor="ctr"/>
                </a:tc>
                <a:tc rowSpan="4">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818395601"/>
                  </a:ext>
                </a:extLst>
              </a:tr>
              <a:tr h="306561">
                <a:tc>
                  <a:txBody>
                    <a:bodyPr/>
                    <a:lstStyle/>
                    <a:p>
                      <a:pPr marL="0" marR="0" algn="ctr" rtl="0">
                        <a:lnSpc>
                          <a:spcPct val="107000"/>
                        </a:lnSpc>
                        <a:spcBef>
                          <a:spcPts val="0"/>
                        </a:spcBef>
                        <a:spcAft>
                          <a:spcPts val="0"/>
                        </a:spcAft>
                      </a:pPr>
                      <a:r>
                        <a:rPr lang="en-US" sz="1050">
                          <a:effectLst/>
                          <a:latin typeface="+mn-lt"/>
                        </a:rPr>
                        <a:t>96</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سجل المعايير </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معايير اختيار وتأهيل المدربين </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إدارة التخطيط والتطوير</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الجودة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vMerge="1">
                  <a:txBody>
                    <a:bodyPr/>
                    <a:lstStyle/>
                    <a:p>
                      <a:pPr algn="ctr" rtl="1" fontAlgn="ctr"/>
                      <a:r>
                        <a:rPr lang="ar-SA" sz="1000" b="0" i="0" u="none" strike="noStrike" dirty="0">
                          <a:effectLst/>
                          <a:latin typeface="+mn-lt"/>
                        </a:rPr>
                        <a:t>يدوي</a:t>
                      </a:r>
                    </a:p>
                  </a:txBody>
                  <a:tcPr marL="0" marR="0" marT="0" marB="0" anchor="ctr"/>
                </a:tc>
                <a:tc vMerge="1">
                  <a:txBody>
                    <a:bodyPr/>
                    <a:lstStyle/>
                    <a:p>
                      <a:endParaRPr lang="en-AE"/>
                    </a:p>
                  </a:txBody>
                  <a:tcPr/>
                </a:tc>
                <a:extLst>
                  <a:ext uri="{0D108BD9-81ED-4DB2-BD59-A6C34878D82A}">
                    <a16:rowId xmlns:a16="http://schemas.microsoft.com/office/drawing/2014/main" val="1850334492"/>
                  </a:ext>
                </a:extLst>
              </a:tr>
              <a:tr h="592234">
                <a:tc>
                  <a:txBody>
                    <a:bodyPr/>
                    <a:lstStyle/>
                    <a:p>
                      <a:pPr marL="0" marR="0" algn="ctr" rtl="0">
                        <a:lnSpc>
                          <a:spcPct val="107000"/>
                        </a:lnSpc>
                        <a:spcBef>
                          <a:spcPts val="0"/>
                        </a:spcBef>
                        <a:spcAft>
                          <a:spcPts val="0"/>
                        </a:spcAft>
                      </a:pPr>
                      <a:r>
                        <a:rPr lang="en-US" sz="1050">
                          <a:effectLst/>
                          <a:latin typeface="+mn-lt"/>
                        </a:rPr>
                        <a:t>97</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سجل الاعتراضات</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بيانات الاعتراضات ونتائج المقابلات والتحقيقات مع المعترضين</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إدارة التدقيق والضبط</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البيانات القانونية</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vMerge="1">
                  <a:txBody>
                    <a:bodyPr/>
                    <a:lstStyle/>
                    <a:p>
                      <a:pPr algn="ctr" rtl="1" fontAlgn="ctr"/>
                      <a:r>
                        <a:rPr lang="ar-SA" sz="1000" b="0" i="0" u="none" strike="noStrike" dirty="0">
                          <a:effectLst/>
                          <a:latin typeface="+mn-lt"/>
                        </a:rPr>
                        <a:t>يدوي</a:t>
                      </a:r>
                    </a:p>
                  </a:txBody>
                  <a:tcPr marL="0" marR="0" marT="0" marB="0" anchor="ctr"/>
                </a:tc>
                <a:tc vMerge="1">
                  <a:txBody>
                    <a:bodyPr/>
                    <a:lstStyle/>
                    <a:p>
                      <a:endParaRPr lang="en-AE"/>
                    </a:p>
                  </a:txBody>
                  <a:tcPr/>
                </a:tc>
                <a:extLst>
                  <a:ext uri="{0D108BD9-81ED-4DB2-BD59-A6C34878D82A}">
                    <a16:rowId xmlns:a16="http://schemas.microsoft.com/office/drawing/2014/main" val="752169244"/>
                  </a:ext>
                </a:extLst>
              </a:tr>
              <a:tr h="366043">
                <a:tc>
                  <a:txBody>
                    <a:bodyPr/>
                    <a:lstStyle/>
                    <a:p>
                      <a:pPr marL="0" marR="0" algn="ctr" rtl="0">
                        <a:lnSpc>
                          <a:spcPct val="107000"/>
                        </a:lnSpc>
                        <a:spcBef>
                          <a:spcPts val="0"/>
                        </a:spcBef>
                        <a:spcAft>
                          <a:spcPts val="0"/>
                        </a:spcAft>
                      </a:pPr>
                      <a:r>
                        <a:rPr lang="en-US" sz="1050">
                          <a:effectLst/>
                          <a:latin typeface="+mn-lt"/>
                        </a:rPr>
                        <a:t>98</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سجل التقديم لإختبار</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أسم المتقدم و هوية المتقدم ونوع الاختبار</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إدارة التدقيق والضبط</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809" marR="35809" marT="0" marB="0" anchor="ctr"/>
                </a:tc>
                <a:tc>
                  <a:txBody>
                    <a:bodyPr/>
                    <a:lstStyle/>
                    <a:p>
                      <a:pPr marL="0" marR="0" algn="ctr" rtl="1">
                        <a:lnSpc>
                          <a:spcPct val="107000"/>
                        </a:lnSpc>
                        <a:spcBef>
                          <a:spcPts val="0"/>
                        </a:spcBef>
                        <a:spcAft>
                          <a:spcPts val="0"/>
                        </a:spcAft>
                      </a:pPr>
                      <a:r>
                        <a:rPr lang="ar-SA" sz="1050" dirty="0">
                          <a:effectLst/>
                          <a:latin typeface="+mn-lt"/>
                        </a:rPr>
                        <a:t>البيانات القانونية</a:t>
                      </a:r>
                      <a:endParaRPr lang="en-US" sz="1050" dirty="0">
                        <a:effectLst/>
                        <a:latin typeface="+mn-lt"/>
                        <a:ea typeface="Calibri" panose="020F0502020204030204" pitchFamily="34" charset="0"/>
                        <a:cs typeface="Arial" panose="020B0604020202020204" pitchFamily="34" charset="0"/>
                      </a:endParaRPr>
                    </a:p>
                  </a:txBody>
                  <a:tcPr marL="35809" marR="35809" marT="0" marB="0" anchor="ctr"/>
                </a:tc>
                <a:tc vMerge="1">
                  <a:txBody>
                    <a:bodyPr/>
                    <a:lstStyle/>
                    <a:p>
                      <a:pPr algn="ctr" rtl="1" fontAlgn="ctr"/>
                      <a:r>
                        <a:rPr lang="ar-SA" sz="1000" b="0" i="0" u="none" strike="noStrike" dirty="0">
                          <a:effectLst/>
                          <a:latin typeface="+mn-lt"/>
                        </a:rPr>
                        <a:t>يدوي</a:t>
                      </a:r>
                    </a:p>
                  </a:txBody>
                  <a:tcPr marL="0" marR="0" marT="0" marB="0" anchor="ctr"/>
                </a:tc>
                <a:tc vMerge="1">
                  <a:txBody>
                    <a:bodyPr/>
                    <a:lstStyle/>
                    <a:p>
                      <a:endParaRPr lang="en-AE"/>
                    </a:p>
                  </a:txBody>
                  <a:tcPr/>
                </a:tc>
                <a:extLst>
                  <a:ext uri="{0D108BD9-81ED-4DB2-BD59-A6C34878D82A}">
                    <a16:rowId xmlns:a16="http://schemas.microsoft.com/office/drawing/2014/main" val="1628791237"/>
                  </a:ext>
                </a:extLst>
              </a:tr>
            </a:tbl>
          </a:graphicData>
        </a:graphic>
      </p:graphicFrame>
      <p:grpSp>
        <p:nvGrpSpPr>
          <p:cNvPr id="2" name="Group 1">
            <a:extLst>
              <a:ext uri="{FF2B5EF4-FFF2-40B4-BE49-F238E27FC236}">
                <a16:creationId xmlns:a16="http://schemas.microsoft.com/office/drawing/2014/main" id="{1AE3699E-0AB2-40D3-DAA8-3BC5E2FC53E2}"/>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31FD5B5F-DDD6-1805-DCA1-399B84B0AC3F}"/>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B3B971F8-32FE-13ED-9E4D-5086CE5E188B}"/>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7532716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50</a:t>
            </a:fld>
            <a:endParaRPr lang="en-US"/>
          </a:p>
        </p:txBody>
      </p:sp>
      <p:graphicFrame>
        <p:nvGraphicFramePr>
          <p:cNvPr id="2" name="Table 1">
            <a:extLst>
              <a:ext uri="{FF2B5EF4-FFF2-40B4-BE49-F238E27FC236}">
                <a16:creationId xmlns:a16="http://schemas.microsoft.com/office/drawing/2014/main" id="{A17AC6F9-FE62-44A6-82A7-A2E325CBA2A2}"/>
              </a:ext>
            </a:extLst>
          </p:cNvPr>
          <p:cNvGraphicFramePr>
            <a:graphicFrameLocks noGrp="1"/>
          </p:cNvGraphicFramePr>
          <p:nvPr>
            <p:extLst>
              <p:ext uri="{D42A27DB-BD31-4B8C-83A1-F6EECF244321}">
                <p14:modId xmlns:p14="http://schemas.microsoft.com/office/powerpoint/2010/main" val="396470744"/>
              </p:ext>
            </p:extLst>
          </p:nvPr>
        </p:nvGraphicFramePr>
        <p:xfrm>
          <a:off x="621455" y="916766"/>
          <a:ext cx="10934276" cy="5015403"/>
        </p:xfrm>
        <a:graphic>
          <a:graphicData uri="http://schemas.openxmlformats.org/drawingml/2006/table">
            <a:tbl>
              <a:tblPr rtl="1" firstRow="1" firstCol="1" bandRow="1">
                <a:tableStyleId>{5C22544A-7EE6-4342-B048-85BDC9FD1C3A}</a:tableStyleId>
              </a:tblPr>
              <a:tblGrid>
                <a:gridCol w="269965">
                  <a:extLst>
                    <a:ext uri="{9D8B030D-6E8A-4147-A177-3AD203B41FA5}">
                      <a16:colId xmlns:a16="http://schemas.microsoft.com/office/drawing/2014/main" val="2387107791"/>
                    </a:ext>
                  </a:extLst>
                </a:gridCol>
                <a:gridCol w="1156104">
                  <a:extLst>
                    <a:ext uri="{9D8B030D-6E8A-4147-A177-3AD203B41FA5}">
                      <a16:colId xmlns:a16="http://schemas.microsoft.com/office/drawing/2014/main" val="291724207"/>
                    </a:ext>
                  </a:extLst>
                </a:gridCol>
                <a:gridCol w="3772156">
                  <a:extLst>
                    <a:ext uri="{9D8B030D-6E8A-4147-A177-3AD203B41FA5}">
                      <a16:colId xmlns:a16="http://schemas.microsoft.com/office/drawing/2014/main" val="3379884759"/>
                    </a:ext>
                  </a:extLst>
                </a:gridCol>
                <a:gridCol w="993064">
                  <a:extLst>
                    <a:ext uri="{9D8B030D-6E8A-4147-A177-3AD203B41FA5}">
                      <a16:colId xmlns:a16="http://schemas.microsoft.com/office/drawing/2014/main" val="3522151077"/>
                    </a:ext>
                  </a:extLst>
                </a:gridCol>
                <a:gridCol w="607695">
                  <a:extLst>
                    <a:ext uri="{9D8B030D-6E8A-4147-A177-3AD203B41FA5}">
                      <a16:colId xmlns:a16="http://schemas.microsoft.com/office/drawing/2014/main" val="2080240700"/>
                    </a:ext>
                  </a:extLst>
                </a:gridCol>
                <a:gridCol w="637339">
                  <a:extLst>
                    <a:ext uri="{9D8B030D-6E8A-4147-A177-3AD203B41FA5}">
                      <a16:colId xmlns:a16="http://schemas.microsoft.com/office/drawing/2014/main" val="146321921"/>
                    </a:ext>
                  </a:extLst>
                </a:gridCol>
                <a:gridCol w="585463">
                  <a:extLst>
                    <a:ext uri="{9D8B030D-6E8A-4147-A177-3AD203B41FA5}">
                      <a16:colId xmlns:a16="http://schemas.microsoft.com/office/drawing/2014/main" val="3457110904"/>
                    </a:ext>
                  </a:extLst>
                </a:gridCol>
                <a:gridCol w="763324">
                  <a:extLst>
                    <a:ext uri="{9D8B030D-6E8A-4147-A177-3AD203B41FA5}">
                      <a16:colId xmlns:a16="http://schemas.microsoft.com/office/drawing/2014/main" val="1910997187"/>
                    </a:ext>
                  </a:extLst>
                </a:gridCol>
                <a:gridCol w="1074583">
                  <a:extLst>
                    <a:ext uri="{9D8B030D-6E8A-4147-A177-3AD203B41FA5}">
                      <a16:colId xmlns:a16="http://schemas.microsoft.com/office/drawing/2014/main" val="2282034725"/>
                    </a:ext>
                  </a:extLst>
                </a:gridCol>
                <a:gridCol w="1074583">
                  <a:extLst>
                    <a:ext uri="{9D8B030D-6E8A-4147-A177-3AD203B41FA5}">
                      <a16:colId xmlns:a16="http://schemas.microsoft.com/office/drawing/2014/main" val="836363287"/>
                    </a:ext>
                  </a:extLst>
                </a:gridCol>
              </a:tblGrid>
              <a:tr h="713046">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dirty="0">
                          <a:effectLst/>
                          <a:latin typeface="+mn-lt"/>
                        </a:rPr>
                        <a:t>الربط مع الشبكة الحكومية الآمنة</a:t>
                      </a:r>
                      <a:endParaRPr lang="en-US" sz="1050" dirty="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خزينة البيانات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36145" marR="36145" marT="0" marB="0" anchor="ctr"/>
                </a:tc>
                <a:extLst>
                  <a:ext uri="{0D108BD9-81ED-4DB2-BD59-A6C34878D82A}">
                    <a16:rowId xmlns:a16="http://schemas.microsoft.com/office/drawing/2014/main" val="480097770"/>
                  </a:ext>
                </a:extLst>
              </a:tr>
              <a:tr h="634759">
                <a:tc>
                  <a:txBody>
                    <a:bodyPr/>
                    <a:lstStyle/>
                    <a:p>
                      <a:pPr marL="0" marR="0" algn="ctr" rtl="0">
                        <a:lnSpc>
                          <a:spcPct val="107000"/>
                        </a:lnSpc>
                        <a:spcBef>
                          <a:spcPts val="0"/>
                        </a:spcBef>
                        <a:spcAft>
                          <a:spcPts val="0"/>
                        </a:spcAft>
                      </a:pPr>
                      <a:r>
                        <a:rPr lang="en-US" sz="1050">
                          <a:effectLst/>
                          <a:latin typeface="+mn-lt"/>
                        </a:rPr>
                        <a:t>99</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سجل القرارات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الواقعة ونتائج الدراسة وأسماء الأعضاء ومحتوى القرار بما في ذلك معتمد القرار</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إدارة التدقيق والضبط</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البيانات القانونية</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algn="ctr" rtl="1" fontAlgn="ctr"/>
                      <a:r>
                        <a:rPr lang="ar-SA" sz="1000" b="0" i="0" u="none" strike="noStrike">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139314952"/>
                  </a:ext>
                </a:extLst>
              </a:tr>
              <a:tr h="356523">
                <a:tc>
                  <a:txBody>
                    <a:bodyPr/>
                    <a:lstStyle/>
                    <a:p>
                      <a:pPr marL="0" marR="0" algn="ctr" rtl="0">
                        <a:lnSpc>
                          <a:spcPct val="107000"/>
                        </a:lnSpc>
                        <a:spcBef>
                          <a:spcPts val="0"/>
                        </a:spcBef>
                        <a:spcAft>
                          <a:spcPts val="0"/>
                        </a:spcAft>
                      </a:pPr>
                      <a:r>
                        <a:rPr lang="en-US" sz="1050">
                          <a:effectLst/>
                          <a:latin typeface="+mn-lt"/>
                        </a:rPr>
                        <a:t>100</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سجل الاختبار الورقي</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سجل يحتوي على بيانات الاختبارات الورقية</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algn="ctr" rtl="0" fontAlgn="ctr"/>
                      <a:r>
                        <a:rPr lang="en-US" sz="1100" b="1" i="0" u="none" strike="noStrike">
                          <a:effectLst/>
                          <a:latin typeface="Sakkal Majalla" panose="02000000000000000000" pitchFamily="2" charset="-78"/>
                          <a:cs typeface="Sakkal Majalla" panose="02000000000000000000" pitchFamily="2" charset="-78"/>
                        </a:rPr>
                        <a:t>EMSDB</a:t>
                      </a:r>
                    </a:p>
                  </a:txBody>
                  <a:tcPr marL="0" marR="0" marT="0" marB="0" anchor="ctr"/>
                </a:tc>
                <a:tc>
                  <a:txBody>
                    <a:bodyPr/>
                    <a:lstStyle/>
                    <a:p>
                      <a:pPr algn="ctr" rtl="0" fontAlgn="ctr"/>
                      <a:endParaRPr lang="en-US" sz="1100" b="1" i="0" u="none" strike="noStrike" dirty="0">
                        <a:effectLst/>
                        <a:latin typeface="Sakkal Majalla" panose="02000000000000000000" pitchFamily="2" charset="-78"/>
                        <a:cs typeface="Sakkal Majalla" panose="02000000000000000000" pitchFamily="2" charset="-78"/>
                      </a:endParaRPr>
                    </a:p>
                  </a:txBody>
                  <a:tcPr marL="0" marR="0" marT="0" marB="0" anchor="ctr">
                    <a:solidFill>
                      <a:srgbClr val="00B050"/>
                    </a:solidFill>
                  </a:tcPr>
                </a:tc>
                <a:extLst>
                  <a:ext uri="{0D108BD9-81ED-4DB2-BD59-A6C34878D82A}">
                    <a16:rowId xmlns:a16="http://schemas.microsoft.com/office/drawing/2014/main" val="691602356"/>
                  </a:ext>
                </a:extLst>
              </a:tr>
              <a:tr h="634759">
                <a:tc>
                  <a:txBody>
                    <a:bodyPr/>
                    <a:lstStyle/>
                    <a:p>
                      <a:pPr marL="0" marR="0" algn="ctr" rtl="0">
                        <a:lnSpc>
                          <a:spcPct val="107000"/>
                        </a:lnSpc>
                        <a:spcBef>
                          <a:spcPts val="0"/>
                        </a:spcBef>
                        <a:spcAft>
                          <a:spcPts val="0"/>
                        </a:spcAft>
                      </a:pPr>
                      <a:r>
                        <a:rPr lang="en-US" sz="1050">
                          <a:effectLst/>
                          <a:latin typeface="+mn-lt"/>
                        </a:rPr>
                        <a:t>101</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سجل الإختبارات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تفاصيل بيانات الاختبار</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algn="ctr" rtl="1" fontAlgn="ctr"/>
                      <a:r>
                        <a:rPr lang="ar-SA" sz="1000" b="0" i="0" u="none" strike="noStrike">
                          <a:effectLst/>
                          <a:latin typeface="Calibri" panose="020F0502020204030204" pitchFamily="34" charset="0"/>
                        </a:rPr>
                        <a:t>غير محدد</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4207622785"/>
                  </a:ext>
                </a:extLst>
              </a:tr>
              <a:tr h="356523">
                <a:tc>
                  <a:txBody>
                    <a:bodyPr/>
                    <a:lstStyle/>
                    <a:p>
                      <a:pPr marL="0" marR="0" algn="ctr" rtl="0">
                        <a:lnSpc>
                          <a:spcPct val="107000"/>
                        </a:lnSpc>
                        <a:spcBef>
                          <a:spcPts val="0"/>
                        </a:spcBef>
                        <a:spcAft>
                          <a:spcPts val="0"/>
                        </a:spcAft>
                      </a:pPr>
                      <a:r>
                        <a:rPr lang="en-US" sz="1050">
                          <a:effectLst/>
                          <a:latin typeface="+mn-lt"/>
                        </a:rPr>
                        <a:t>102</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سجل الأسئلة</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بيانات أسئلة الاختبارات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rowSpan="5">
                  <a:txBody>
                    <a:bodyPr/>
                    <a:lstStyle/>
                    <a:p>
                      <a:pPr algn="ctr" rtl="0" fontAlgn="ctr"/>
                      <a:r>
                        <a:rPr lang="en-US" sz="1100" b="1" i="0" u="none" strike="noStrike" dirty="0">
                          <a:effectLst/>
                          <a:latin typeface="Sakkal Majalla" panose="02000000000000000000" pitchFamily="2" charset="-78"/>
                          <a:cs typeface="Sakkal Majalla" panose="02000000000000000000" pitchFamily="2" charset="-78"/>
                        </a:rPr>
                        <a:t>EMSDB</a:t>
                      </a:r>
                    </a:p>
                  </a:txBody>
                  <a:tcPr marL="0" marR="0" marT="0" marB="0" anchor="ctr"/>
                </a:tc>
                <a:tc rowSpan="5">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100" dirty="0">
                          <a:effectLst/>
                          <a:latin typeface="+mn-lt"/>
                        </a:rPr>
                        <a:t>انشاء واجهة للتكامل </a:t>
                      </a:r>
                      <a:r>
                        <a:rPr lang="en-US" sz="1100" dirty="0">
                          <a:effectLst/>
                          <a:latin typeface="+mn-lt"/>
                        </a:rPr>
                        <a:t>API</a:t>
                      </a:r>
                      <a:r>
                        <a:rPr lang="ar-SA" sz="11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719372783"/>
                  </a:ext>
                </a:extLst>
              </a:tr>
              <a:tr h="528956">
                <a:tc>
                  <a:txBody>
                    <a:bodyPr/>
                    <a:lstStyle/>
                    <a:p>
                      <a:pPr marL="0" marR="0" algn="ctr" rtl="0">
                        <a:lnSpc>
                          <a:spcPct val="107000"/>
                        </a:lnSpc>
                        <a:spcBef>
                          <a:spcPts val="0"/>
                        </a:spcBef>
                        <a:spcAft>
                          <a:spcPts val="0"/>
                        </a:spcAft>
                      </a:pPr>
                      <a:r>
                        <a:rPr lang="en-US" sz="1050">
                          <a:effectLst/>
                          <a:latin typeface="+mn-lt"/>
                        </a:rPr>
                        <a:t>103</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سجل أوراق الإجابة</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بيانات أوراق الإجابة للتأكد من قابلية قراءة أوراق الإجابة على الماسح الضوئي  </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سري للغاية</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vMerge="1">
                  <a:txBody>
                    <a:bodyPr/>
                    <a:lstStyle/>
                    <a:p>
                      <a:pPr algn="ctr" rtl="0" fontAlgn="ctr"/>
                      <a:r>
                        <a:rPr lang="en-US" sz="1000" b="0" i="0" u="none" strike="noStrike">
                          <a:effectLst/>
                          <a:latin typeface="Calibri" panose="020F0502020204030204" pitchFamily="34" charset="0"/>
                        </a:rPr>
                        <a:t>EMSDB</a:t>
                      </a:r>
                    </a:p>
                  </a:txBody>
                  <a:tcPr marL="0" marR="0" marT="0" marB="0" anchor="ctr"/>
                </a:tc>
                <a:tc vMerge="1">
                  <a:txBody>
                    <a:bodyPr/>
                    <a:lstStyle/>
                    <a:p>
                      <a:endParaRPr lang="en-AE"/>
                    </a:p>
                  </a:txBody>
                  <a:tcPr/>
                </a:tc>
                <a:extLst>
                  <a:ext uri="{0D108BD9-81ED-4DB2-BD59-A6C34878D82A}">
                    <a16:rowId xmlns:a16="http://schemas.microsoft.com/office/drawing/2014/main" val="1737479085"/>
                  </a:ext>
                </a:extLst>
              </a:tr>
              <a:tr h="356523">
                <a:tc>
                  <a:txBody>
                    <a:bodyPr/>
                    <a:lstStyle/>
                    <a:p>
                      <a:pPr marL="0" marR="0" algn="ctr" rtl="0">
                        <a:lnSpc>
                          <a:spcPct val="107000"/>
                        </a:lnSpc>
                        <a:spcBef>
                          <a:spcPts val="0"/>
                        </a:spcBef>
                        <a:spcAft>
                          <a:spcPts val="0"/>
                        </a:spcAft>
                      </a:pPr>
                      <a:r>
                        <a:rPr lang="en-US" sz="1050">
                          <a:effectLst/>
                          <a:latin typeface="+mn-lt"/>
                        </a:rPr>
                        <a:t>104</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سجل بيانات المتقدمين للإختبار</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بيانات المتقدمين للإختبار</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vMerge="1">
                  <a:txBody>
                    <a:bodyPr/>
                    <a:lstStyle/>
                    <a:p>
                      <a:pPr algn="ctr" rtl="0" fontAlgn="ctr"/>
                      <a:r>
                        <a:rPr lang="en-US" sz="1100" b="1" i="0" u="none" strike="noStrike">
                          <a:effectLst/>
                          <a:latin typeface="Sakkal Majalla" panose="02000000000000000000" pitchFamily="2" charset="-78"/>
                          <a:cs typeface="Sakkal Majalla" panose="02000000000000000000" pitchFamily="2" charset="-78"/>
                        </a:rPr>
                        <a:t>EMSDB</a:t>
                      </a:r>
                    </a:p>
                  </a:txBody>
                  <a:tcPr marL="0" marR="0" marT="0" marB="0" anchor="ctr"/>
                </a:tc>
                <a:tc vMerge="1">
                  <a:txBody>
                    <a:bodyPr/>
                    <a:lstStyle/>
                    <a:p>
                      <a:endParaRPr lang="en-AE"/>
                    </a:p>
                  </a:txBody>
                  <a:tcPr/>
                </a:tc>
                <a:extLst>
                  <a:ext uri="{0D108BD9-81ED-4DB2-BD59-A6C34878D82A}">
                    <a16:rowId xmlns:a16="http://schemas.microsoft.com/office/drawing/2014/main" val="486921249"/>
                  </a:ext>
                </a:extLst>
              </a:tr>
              <a:tr h="356523">
                <a:tc>
                  <a:txBody>
                    <a:bodyPr/>
                    <a:lstStyle/>
                    <a:p>
                      <a:pPr marL="0" marR="0" algn="ctr" rtl="0">
                        <a:lnSpc>
                          <a:spcPct val="107000"/>
                        </a:lnSpc>
                        <a:spcBef>
                          <a:spcPts val="0"/>
                        </a:spcBef>
                        <a:spcAft>
                          <a:spcPts val="0"/>
                        </a:spcAft>
                      </a:pPr>
                      <a:r>
                        <a:rPr lang="en-US" sz="1050">
                          <a:effectLst/>
                          <a:latin typeface="+mn-lt"/>
                        </a:rPr>
                        <a:t>105</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سجل خرائط التصحيح</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بيانات خرائط التصحيح وتعريف الاختبار</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سري للغاية</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vMerge="1">
                  <a:txBody>
                    <a:bodyPr/>
                    <a:lstStyle/>
                    <a:p>
                      <a:pPr algn="ctr" rtl="0" fontAlgn="ctr"/>
                      <a:r>
                        <a:rPr lang="en-US" sz="1100" b="1" i="0" u="none" strike="noStrike">
                          <a:effectLst/>
                          <a:latin typeface="Sakkal Majalla" panose="02000000000000000000" pitchFamily="2" charset="-78"/>
                          <a:cs typeface="Sakkal Majalla" panose="02000000000000000000" pitchFamily="2" charset="-78"/>
                        </a:rPr>
                        <a:t>EMSDB</a:t>
                      </a:r>
                    </a:p>
                  </a:txBody>
                  <a:tcPr marL="0" marR="0" marT="0" marB="0" anchor="ctr"/>
                </a:tc>
                <a:tc vMerge="1">
                  <a:txBody>
                    <a:bodyPr/>
                    <a:lstStyle/>
                    <a:p>
                      <a:endParaRPr lang="en-AE"/>
                    </a:p>
                  </a:txBody>
                  <a:tcPr/>
                </a:tc>
                <a:extLst>
                  <a:ext uri="{0D108BD9-81ED-4DB2-BD59-A6C34878D82A}">
                    <a16:rowId xmlns:a16="http://schemas.microsoft.com/office/drawing/2014/main" val="1713692663"/>
                  </a:ext>
                </a:extLst>
              </a:tr>
              <a:tr h="377827">
                <a:tc>
                  <a:txBody>
                    <a:bodyPr/>
                    <a:lstStyle/>
                    <a:p>
                      <a:pPr marL="0" marR="0" algn="ctr" rtl="0">
                        <a:lnSpc>
                          <a:spcPct val="107000"/>
                        </a:lnSpc>
                        <a:spcBef>
                          <a:spcPts val="0"/>
                        </a:spcBef>
                        <a:spcAft>
                          <a:spcPts val="0"/>
                        </a:spcAft>
                      </a:pPr>
                      <a:r>
                        <a:rPr lang="en-US" sz="1050">
                          <a:effectLst/>
                          <a:latin typeface="+mn-lt"/>
                        </a:rPr>
                        <a:t>106</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سجل معادلات التصحيح</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معادلات التصحيح للحصول على نتائج الطلبة في الاختبار</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vMerge="1">
                  <a:txBody>
                    <a:bodyPr/>
                    <a:lstStyle/>
                    <a:p>
                      <a:pPr algn="ctr" rtl="0" fontAlgn="ctr"/>
                      <a:r>
                        <a:rPr lang="en-US" sz="1100" b="1" i="0" u="none" strike="noStrike" dirty="0">
                          <a:effectLst/>
                          <a:latin typeface="Sakkal Majalla" panose="02000000000000000000" pitchFamily="2" charset="-78"/>
                          <a:cs typeface="Sakkal Majalla" panose="02000000000000000000" pitchFamily="2" charset="-78"/>
                        </a:rPr>
                        <a:t>EMSDB</a:t>
                      </a:r>
                    </a:p>
                  </a:txBody>
                  <a:tcPr marL="0" marR="0" marT="0" marB="0" anchor="ctr"/>
                </a:tc>
                <a:tc vMerge="1">
                  <a:txBody>
                    <a:bodyPr/>
                    <a:lstStyle/>
                    <a:p>
                      <a:endParaRPr lang="en-AE"/>
                    </a:p>
                  </a:txBody>
                  <a:tcPr/>
                </a:tc>
                <a:extLst>
                  <a:ext uri="{0D108BD9-81ED-4DB2-BD59-A6C34878D82A}">
                    <a16:rowId xmlns:a16="http://schemas.microsoft.com/office/drawing/2014/main" val="1287905765"/>
                  </a:ext>
                </a:extLst>
              </a:tr>
              <a:tr h="699964">
                <a:tc>
                  <a:txBody>
                    <a:bodyPr/>
                    <a:lstStyle/>
                    <a:p>
                      <a:pPr marL="0" marR="0" algn="ctr" rtl="0">
                        <a:lnSpc>
                          <a:spcPct val="107000"/>
                        </a:lnSpc>
                        <a:spcBef>
                          <a:spcPts val="0"/>
                        </a:spcBef>
                        <a:spcAft>
                          <a:spcPts val="0"/>
                        </a:spcAft>
                      </a:pPr>
                      <a:r>
                        <a:rPr lang="en-US" sz="1050">
                          <a:effectLst/>
                          <a:latin typeface="+mn-lt"/>
                        </a:rPr>
                        <a:t>107</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طلب إعادة تصحيح</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بيانات طلب إعادة تصحيح اختباره خلال ستين يوماً من إعلان النتيجة لدى موقع المركز الوطني للقياس.</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6145" marR="36145" marT="0" marB="0" anchor="ctr"/>
                </a:tc>
                <a:tc>
                  <a:txBody>
                    <a:bodyPr/>
                    <a:lstStyle/>
                    <a:p>
                      <a:pPr algn="ctr" rtl="0" fontAlgn="ctr"/>
                      <a:r>
                        <a:rPr lang="en-US" sz="1000" b="0" i="0" u="none" strike="noStrike" dirty="0" err="1">
                          <a:effectLst/>
                          <a:latin typeface="Calibri" panose="020F0502020204030204" pitchFamily="34" charset="0"/>
                        </a:rPr>
                        <a:t>Qiyas.TRAS.Database</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Qiyas.TRAS.Audit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ASPState</a:t>
                      </a:r>
                      <a:endParaRPr lang="en-US" sz="1000" b="0" i="0" u="none" strike="noStrike" dirty="0">
                        <a:effectLst/>
                        <a:latin typeface="Calibri" panose="020F0502020204030204" pitchFamily="34" charset="0"/>
                      </a:endParaRPr>
                    </a:p>
                  </a:txBody>
                  <a:tcPr marL="0" marR="0" marT="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93311316"/>
                  </a:ext>
                </a:extLst>
              </a:tr>
            </a:tbl>
          </a:graphicData>
        </a:graphic>
      </p:graphicFrame>
      <p:grpSp>
        <p:nvGrpSpPr>
          <p:cNvPr id="4" name="Group 3">
            <a:extLst>
              <a:ext uri="{FF2B5EF4-FFF2-40B4-BE49-F238E27FC236}">
                <a16:creationId xmlns:a16="http://schemas.microsoft.com/office/drawing/2014/main" id="{6CD55D25-5C28-8C8A-A72D-F36F15D7FB6D}"/>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581CAA18-42ED-EFEF-183F-2A51F923BE2C}"/>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D3051FF9-083E-262E-98F3-557504F58D69}"/>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0335385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51</a:t>
            </a:fld>
            <a:endParaRPr lang="en-US"/>
          </a:p>
        </p:txBody>
      </p:sp>
      <p:graphicFrame>
        <p:nvGraphicFramePr>
          <p:cNvPr id="4" name="Table 3">
            <a:extLst>
              <a:ext uri="{FF2B5EF4-FFF2-40B4-BE49-F238E27FC236}">
                <a16:creationId xmlns:a16="http://schemas.microsoft.com/office/drawing/2014/main" id="{D6DC2368-54AC-4E87-BF2C-068DDD1B04FA}"/>
              </a:ext>
            </a:extLst>
          </p:cNvPr>
          <p:cNvGraphicFramePr>
            <a:graphicFrameLocks noGrp="1"/>
          </p:cNvGraphicFramePr>
          <p:nvPr>
            <p:extLst>
              <p:ext uri="{D42A27DB-BD31-4B8C-83A1-F6EECF244321}">
                <p14:modId xmlns:p14="http://schemas.microsoft.com/office/powerpoint/2010/main" val="2955049277"/>
              </p:ext>
            </p:extLst>
          </p:nvPr>
        </p:nvGraphicFramePr>
        <p:xfrm>
          <a:off x="621452" y="855514"/>
          <a:ext cx="11122133" cy="5039912"/>
        </p:xfrm>
        <a:graphic>
          <a:graphicData uri="http://schemas.openxmlformats.org/drawingml/2006/table">
            <a:tbl>
              <a:tblPr rtl="1" firstRow="1" firstCol="1" bandRow="1">
                <a:tableStyleId>{5C22544A-7EE6-4342-B048-85BDC9FD1C3A}</a:tableStyleId>
              </a:tblPr>
              <a:tblGrid>
                <a:gridCol w="279367">
                  <a:extLst>
                    <a:ext uri="{9D8B030D-6E8A-4147-A177-3AD203B41FA5}">
                      <a16:colId xmlns:a16="http://schemas.microsoft.com/office/drawing/2014/main" val="3333990205"/>
                    </a:ext>
                  </a:extLst>
                </a:gridCol>
                <a:gridCol w="1177905">
                  <a:extLst>
                    <a:ext uri="{9D8B030D-6E8A-4147-A177-3AD203B41FA5}">
                      <a16:colId xmlns:a16="http://schemas.microsoft.com/office/drawing/2014/main" val="2009531544"/>
                    </a:ext>
                  </a:extLst>
                </a:gridCol>
                <a:gridCol w="3903698">
                  <a:extLst>
                    <a:ext uri="{9D8B030D-6E8A-4147-A177-3AD203B41FA5}">
                      <a16:colId xmlns:a16="http://schemas.microsoft.com/office/drawing/2014/main" val="2858173035"/>
                    </a:ext>
                  </a:extLst>
                </a:gridCol>
                <a:gridCol w="981588">
                  <a:extLst>
                    <a:ext uri="{9D8B030D-6E8A-4147-A177-3AD203B41FA5}">
                      <a16:colId xmlns:a16="http://schemas.microsoft.com/office/drawing/2014/main" val="2839637918"/>
                    </a:ext>
                  </a:extLst>
                </a:gridCol>
                <a:gridCol w="709763">
                  <a:extLst>
                    <a:ext uri="{9D8B030D-6E8A-4147-A177-3AD203B41FA5}">
                      <a16:colId xmlns:a16="http://schemas.microsoft.com/office/drawing/2014/main" val="264276372"/>
                    </a:ext>
                  </a:extLst>
                </a:gridCol>
                <a:gridCol w="558750">
                  <a:extLst>
                    <a:ext uri="{9D8B030D-6E8A-4147-A177-3AD203B41FA5}">
                      <a16:colId xmlns:a16="http://schemas.microsoft.com/office/drawing/2014/main" val="3950155822"/>
                    </a:ext>
                  </a:extLst>
                </a:gridCol>
                <a:gridCol w="490794">
                  <a:extLst>
                    <a:ext uri="{9D8B030D-6E8A-4147-A177-3AD203B41FA5}">
                      <a16:colId xmlns:a16="http://schemas.microsoft.com/office/drawing/2014/main" val="1622320825"/>
                    </a:ext>
                  </a:extLst>
                </a:gridCol>
                <a:gridCol w="936284">
                  <a:extLst>
                    <a:ext uri="{9D8B030D-6E8A-4147-A177-3AD203B41FA5}">
                      <a16:colId xmlns:a16="http://schemas.microsoft.com/office/drawing/2014/main" val="1684814450"/>
                    </a:ext>
                  </a:extLst>
                </a:gridCol>
                <a:gridCol w="1041992">
                  <a:extLst>
                    <a:ext uri="{9D8B030D-6E8A-4147-A177-3AD203B41FA5}">
                      <a16:colId xmlns:a16="http://schemas.microsoft.com/office/drawing/2014/main" val="715156332"/>
                    </a:ext>
                  </a:extLst>
                </a:gridCol>
                <a:gridCol w="1041992">
                  <a:extLst>
                    <a:ext uri="{9D8B030D-6E8A-4147-A177-3AD203B41FA5}">
                      <a16:colId xmlns:a16="http://schemas.microsoft.com/office/drawing/2014/main" val="2338081111"/>
                    </a:ext>
                  </a:extLst>
                </a:gridCol>
              </a:tblGrid>
              <a:tr h="631371">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dirty="0">
                          <a:effectLst/>
                          <a:latin typeface="+mn-lt"/>
                        </a:rPr>
                        <a:t>خزينة البيانات</a:t>
                      </a:r>
                      <a:endParaRPr lang="en-US" sz="1050" dirty="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33287" marR="33287" marT="0" marB="0" anchor="ctr"/>
                </a:tc>
                <a:extLst>
                  <a:ext uri="{0D108BD9-81ED-4DB2-BD59-A6C34878D82A}">
                    <a16:rowId xmlns:a16="http://schemas.microsoft.com/office/drawing/2014/main" val="369616260"/>
                  </a:ext>
                </a:extLst>
              </a:tr>
              <a:tr h="360864">
                <a:tc>
                  <a:txBody>
                    <a:bodyPr/>
                    <a:lstStyle/>
                    <a:p>
                      <a:pPr marL="0" marR="0" algn="ctr" rtl="0">
                        <a:lnSpc>
                          <a:spcPct val="107000"/>
                        </a:lnSpc>
                        <a:spcBef>
                          <a:spcPts val="0"/>
                        </a:spcBef>
                        <a:spcAft>
                          <a:spcPts val="0"/>
                        </a:spcAft>
                      </a:pPr>
                      <a:r>
                        <a:rPr lang="en-US" sz="1050">
                          <a:effectLst/>
                          <a:latin typeface="+mn-lt"/>
                        </a:rPr>
                        <a:t>108</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طلب إعلان نتيجية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بيانات طلب إعلان نتائج الاختبارات الورقية للمستفيدين</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rowSpan="2">
                  <a:txBody>
                    <a:bodyPr/>
                    <a:lstStyle/>
                    <a:p>
                      <a:pPr algn="ctr" rtl="0" fontAlgn="ctr"/>
                      <a:r>
                        <a:rPr lang="en-US" sz="1100" b="1" i="0" u="none" strike="noStrike" dirty="0">
                          <a:effectLst/>
                          <a:latin typeface="Sakkal Majalla" panose="02000000000000000000" pitchFamily="2" charset="-78"/>
                          <a:cs typeface="Sakkal Majalla" panose="02000000000000000000" pitchFamily="2" charset="-78"/>
                        </a:rPr>
                        <a:t>EMSDB</a:t>
                      </a:r>
                    </a:p>
                  </a:txBody>
                  <a:tcPr marL="0" marR="0" marT="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100" dirty="0">
                          <a:effectLst/>
                          <a:latin typeface="+mn-lt"/>
                        </a:rPr>
                        <a:t>انشاء واجهة للتكامل </a:t>
                      </a:r>
                      <a:r>
                        <a:rPr lang="en-US" sz="1100" dirty="0">
                          <a:effectLst/>
                          <a:latin typeface="+mn-lt"/>
                        </a:rPr>
                        <a:t>API</a:t>
                      </a:r>
                      <a:r>
                        <a:rPr lang="ar-SA" sz="11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54954878"/>
                  </a:ext>
                </a:extLst>
              </a:tr>
              <a:tr h="198475">
                <a:tc>
                  <a:txBody>
                    <a:bodyPr/>
                    <a:lstStyle/>
                    <a:p>
                      <a:pPr marL="0" marR="0" algn="ctr" rtl="0">
                        <a:lnSpc>
                          <a:spcPct val="107000"/>
                        </a:lnSpc>
                        <a:spcBef>
                          <a:spcPts val="0"/>
                        </a:spcBef>
                        <a:spcAft>
                          <a:spcPts val="0"/>
                        </a:spcAft>
                      </a:pPr>
                      <a:r>
                        <a:rPr lang="en-US" sz="1050">
                          <a:effectLst/>
                          <a:latin typeface="+mn-lt"/>
                        </a:rPr>
                        <a:t>109</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ورقة إجابة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بيانات أوراق الإجابة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التصحيح والنتائج</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سري للغاية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vMerge="1">
                  <a:txBody>
                    <a:bodyPr/>
                    <a:lstStyle/>
                    <a:p>
                      <a:pPr algn="ctr" rtl="0" fontAlgn="ctr"/>
                      <a:r>
                        <a:rPr lang="en-US" sz="1100" b="1" i="0" u="none" strike="noStrike" dirty="0">
                          <a:effectLst/>
                          <a:latin typeface="Sakkal Majalla" panose="02000000000000000000" pitchFamily="2" charset="-78"/>
                          <a:cs typeface="Sakkal Majalla" panose="02000000000000000000" pitchFamily="2" charset="-78"/>
                        </a:rPr>
                        <a:t>EMSDB</a:t>
                      </a:r>
                    </a:p>
                  </a:txBody>
                  <a:tcPr marL="0" marR="0" marT="0" marB="0" anchor="ctr"/>
                </a:tc>
                <a:tc vMerge="1">
                  <a:txBody>
                    <a:bodyPr/>
                    <a:lstStyle/>
                    <a:p>
                      <a:endParaRPr lang="en-AE"/>
                    </a:p>
                  </a:txBody>
                  <a:tcPr/>
                </a:tc>
                <a:extLst>
                  <a:ext uri="{0D108BD9-81ED-4DB2-BD59-A6C34878D82A}">
                    <a16:rowId xmlns:a16="http://schemas.microsoft.com/office/drawing/2014/main" val="3235506163"/>
                  </a:ext>
                </a:extLst>
              </a:tr>
              <a:tr h="618257">
                <a:tc>
                  <a:txBody>
                    <a:bodyPr/>
                    <a:lstStyle/>
                    <a:p>
                      <a:pPr marL="0" marR="0" algn="ctr" rtl="0">
                        <a:lnSpc>
                          <a:spcPct val="107000"/>
                        </a:lnSpc>
                        <a:spcBef>
                          <a:spcPts val="0"/>
                        </a:spcBef>
                        <a:spcAft>
                          <a:spcPts val="0"/>
                        </a:spcAft>
                      </a:pPr>
                      <a:r>
                        <a:rPr lang="en-US" sz="1050">
                          <a:effectLst/>
                          <a:latin typeface="+mn-lt"/>
                        </a:rPr>
                        <a:t>110</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سجل جدولة الإختبار</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بيانات جدولة تسجيل الاختبارات</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الجدولة والمتابعة </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الرخص والاختبارات</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algn="ctr" rtl="1" fontAlgn="ctr"/>
                      <a:r>
                        <a:rPr lang="ar-SA" sz="1100" b="1" i="0" u="none" strike="noStrike">
                          <a:effectLst/>
                          <a:latin typeface="Sakkal Majalla" panose="02000000000000000000" pitchFamily="2" charset="-78"/>
                          <a:cs typeface="Sakkal Majalla" panose="02000000000000000000" pitchFamily="2" charset="-78"/>
                        </a:rPr>
                        <a:t>غير محدد</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انشاء واجهة للتكامل </a:t>
                      </a:r>
                      <a:r>
                        <a:rPr lang="en-US" sz="1100" dirty="0">
                          <a:effectLst/>
                          <a:latin typeface="+mn-lt"/>
                        </a:rPr>
                        <a:t>API</a:t>
                      </a:r>
                      <a:r>
                        <a:rPr lang="ar-SA" sz="11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517504695"/>
                  </a:ext>
                </a:extLst>
              </a:tr>
              <a:tr h="702565">
                <a:tc>
                  <a:txBody>
                    <a:bodyPr/>
                    <a:lstStyle/>
                    <a:p>
                      <a:pPr marL="0" marR="0" algn="ctr" rtl="0">
                        <a:lnSpc>
                          <a:spcPct val="107000"/>
                        </a:lnSpc>
                        <a:spcBef>
                          <a:spcPts val="0"/>
                        </a:spcBef>
                        <a:spcAft>
                          <a:spcPts val="0"/>
                        </a:spcAft>
                      </a:pPr>
                      <a:r>
                        <a:rPr lang="en-US" sz="1050">
                          <a:effectLst/>
                          <a:latin typeface="+mn-lt"/>
                        </a:rPr>
                        <a:t>111</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سجل السياسات</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القواعد والمبادئ التوجيهية التي تحدد طريقة تنفيذ الأعمال واتخاذ القرارات داخل الهيئة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الجودة والتميز المؤسسي</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الجودة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algn="ctr" rtl="0" fontAlgn="ctr"/>
                      <a:r>
                        <a:rPr lang="en-US" sz="1000" b="0" i="0" u="none" strike="noStrike">
                          <a:effectLst/>
                          <a:latin typeface="Calibri" panose="020F0502020204030204" pitchFamily="34" charset="0"/>
                        </a:rPr>
                        <a:t>CMSv2, CMSv2NCAAA –Archive, CMSv2Qiyas  --Archive</a:t>
                      </a:r>
                    </a:p>
                  </a:txBody>
                  <a:tcPr marL="0" marR="0" marT="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223771017"/>
                  </a:ext>
                </a:extLst>
              </a:tr>
              <a:tr h="315686">
                <a:tc>
                  <a:txBody>
                    <a:bodyPr/>
                    <a:lstStyle/>
                    <a:p>
                      <a:pPr marL="0" marR="0" algn="ctr" rtl="0">
                        <a:lnSpc>
                          <a:spcPct val="107000"/>
                        </a:lnSpc>
                        <a:spcBef>
                          <a:spcPts val="0"/>
                        </a:spcBef>
                        <a:spcAft>
                          <a:spcPts val="0"/>
                        </a:spcAft>
                      </a:pPr>
                      <a:r>
                        <a:rPr lang="en-US" sz="1050">
                          <a:effectLst/>
                          <a:latin typeface="+mn-lt"/>
                        </a:rPr>
                        <a:t>112</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سجل الشهادات</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خطة التقدم على الجائزة / الشهادة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الجودة والتميز المؤسسي</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الجودة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rowSpan="3">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0" marR="0" marT="0" marB="0" anchor="ctr"/>
                </a:tc>
                <a:tc rowSpan="3">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انشاء واجهة للتكامل </a:t>
                      </a:r>
                      <a:r>
                        <a:rPr lang="en-US" sz="1100" dirty="0">
                          <a:effectLst/>
                          <a:latin typeface="+mn-lt"/>
                        </a:rPr>
                        <a:t>API</a:t>
                      </a:r>
                      <a:r>
                        <a:rPr lang="ar-SA" sz="11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366641612"/>
                  </a:ext>
                </a:extLst>
              </a:tr>
              <a:tr h="360864">
                <a:tc>
                  <a:txBody>
                    <a:bodyPr/>
                    <a:lstStyle/>
                    <a:p>
                      <a:pPr marL="0" marR="0" algn="ctr" rtl="0">
                        <a:lnSpc>
                          <a:spcPct val="107000"/>
                        </a:lnSpc>
                        <a:spcBef>
                          <a:spcPts val="0"/>
                        </a:spcBef>
                        <a:spcAft>
                          <a:spcPts val="0"/>
                        </a:spcAft>
                      </a:pPr>
                      <a:r>
                        <a:rPr lang="en-US" sz="1050">
                          <a:effectLst/>
                          <a:latin typeface="+mn-lt"/>
                        </a:rPr>
                        <a:t>113</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سجل رضا العملاء</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مدى رضا العملاء عن المنتجات أو الخدمات التي تقدمها الهيئة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الجودة والتميز المؤسسي</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الجودة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vMerge="1">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0" marR="0" marT="0" marB="0" anchor="ctr"/>
                </a:tc>
                <a:tc vMerge="1">
                  <a:txBody>
                    <a:bodyPr/>
                    <a:lstStyle/>
                    <a:p>
                      <a:endParaRPr lang="en-AE"/>
                    </a:p>
                  </a:txBody>
                  <a:tcPr/>
                </a:tc>
                <a:extLst>
                  <a:ext uri="{0D108BD9-81ED-4DB2-BD59-A6C34878D82A}">
                    <a16:rowId xmlns:a16="http://schemas.microsoft.com/office/drawing/2014/main" val="935062646"/>
                  </a:ext>
                </a:extLst>
              </a:tr>
              <a:tr h="649555">
                <a:tc>
                  <a:txBody>
                    <a:bodyPr/>
                    <a:lstStyle/>
                    <a:p>
                      <a:pPr marL="0" marR="0" algn="ctr" rtl="0">
                        <a:lnSpc>
                          <a:spcPct val="107000"/>
                        </a:lnSpc>
                        <a:spcBef>
                          <a:spcPts val="0"/>
                        </a:spcBef>
                        <a:spcAft>
                          <a:spcPts val="0"/>
                        </a:spcAft>
                      </a:pPr>
                      <a:r>
                        <a:rPr lang="en-US" sz="1050">
                          <a:effectLst/>
                          <a:latin typeface="+mn-lt"/>
                        </a:rPr>
                        <a:t>114</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سجل الحوكمة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الحوكمة المؤسسية، وإدارة المخاطر، وضمان الامتثال للوائح والقوانين والمعايير</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vMerge="1">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0" marR="0" marT="0" marB="0" anchor="ctr"/>
                </a:tc>
                <a:tc vMerge="1">
                  <a:txBody>
                    <a:bodyPr/>
                    <a:lstStyle/>
                    <a:p>
                      <a:endParaRPr lang="en-AE"/>
                    </a:p>
                  </a:txBody>
                  <a:tcPr/>
                </a:tc>
                <a:extLst>
                  <a:ext uri="{0D108BD9-81ED-4DB2-BD59-A6C34878D82A}">
                    <a16:rowId xmlns:a16="http://schemas.microsoft.com/office/drawing/2014/main" val="1636222417"/>
                  </a:ext>
                </a:extLst>
              </a:tr>
              <a:tr h="505209">
                <a:tc>
                  <a:txBody>
                    <a:bodyPr/>
                    <a:lstStyle/>
                    <a:p>
                      <a:pPr marL="0" marR="0" algn="ctr" rtl="0">
                        <a:lnSpc>
                          <a:spcPct val="107000"/>
                        </a:lnSpc>
                        <a:spcBef>
                          <a:spcPts val="0"/>
                        </a:spcBef>
                        <a:spcAft>
                          <a:spcPts val="0"/>
                        </a:spcAft>
                      </a:pPr>
                      <a:r>
                        <a:rPr lang="en-US" sz="1050">
                          <a:effectLst/>
                          <a:latin typeface="+mn-lt"/>
                        </a:rPr>
                        <a:t>115</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سجل المخاطر</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تقييم المخاطر والثغرات الأمنية وسجل المخاطر التنفيذية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rowSpan="2">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490343576"/>
                  </a:ext>
                </a:extLst>
              </a:tr>
              <a:tr h="505209">
                <a:tc>
                  <a:txBody>
                    <a:bodyPr/>
                    <a:lstStyle/>
                    <a:p>
                      <a:pPr marL="0" marR="0" algn="ctr" rtl="0">
                        <a:lnSpc>
                          <a:spcPct val="107000"/>
                        </a:lnSpc>
                        <a:spcBef>
                          <a:spcPts val="0"/>
                        </a:spcBef>
                        <a:spcAft>
                          <a:spcPts val="0"/>
                        </a:spcAft>
                      </a:pPr>
                      <a:r>
                        <a:rPr lang="en-US" sz="1050">
                          <a:effectLst/>
                          <a:latin typeface="+mn-lt"/>
                        </a:rPr>
                        <a:t>116</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سجل تقييم المخاطر</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قائمة مراجعة الطرف الخارجي ونتائج تقييم المخاطر والنتائج المحققة</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إدارة 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3287" marR="33287" marT="0" marB="0" anchor="ctr"/>
                </a:tc>
                <a:tc>
                  <a:txBody>
                    <a:bodyPr/>
                    <a:lstStyle/>
                    <a:p>
                      <a:pPr marL="0" marR="0" algn="ctr" rtl="1">
                        <a:lnSpc>
                          <a:spcPct val="107000"/>
                        </a:lnSpc>
                        <a:spcBef>
                          <a:spcPts val="0"/>
                        </a:spcBef>
                        <a:spcAft>
                          <a:spcPts val="0"/>
                        </a:spcAft>
                      </a:pPr>
                      <a:r>
                        <a:rPr lang="ar-SA" sz="1050" dirty="0">
                          <a:effectLst/>
                          <a:latin typeface="+mn-lt"/>
                        </a:rPr>
                        <a:t>الحوكمة والمخاطر والالتزام</a:t>
                      </a:r>
                      <a:endParaRPr lang="en-US" sz="1050" dirty="0">
                        <a:effectLst/>
                        <a:latin typeface="+mn-lt"/>
                        <a:ea typeface="Calibri" panose="020F0502020204030204" pitchFamily="34" charset="0"/>
                        <a:cs typeface="Arial" panose="020B0604020202020204" pitchFamily="34" charset="0"/>
                      </a:endParaRPr>
                    </a:p>
                  </a:txBody>
                  <a:tcPr marL="33287" marR="33287"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1242438611"/>
                  </a:ext>
                </a:extLst>
              </a:tr>
            </a:tbl>
          </a:graphicData>
        </a:graphic>
      </p:graphicFrame>
      <p:grpSp>
        <p:nvGrpSpPr>
          <p:cNvPr id="2" name="Group 1">
            <a:extLst>
              <a:ext uri="{FF2B5EF4-FFF2-40B4-BE49-F238E27FC236}">
                <a16:creationId xmlns:a16="http://schemas.microsoft.com/office/drawing/2014/main" id="{99DBE7DA-AF5B-2A11-B125-F4B5DE42F457}"/>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C52FFC37-72A9-A0A9-14A8-8CEF9CF11252}"/>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10D4EB60-375F-6BAE-A6EB-162EB45C24F8}"/>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31856596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0AC4A85-2265-4CA0-808C-A0B90FDC7627}"/>
              </a:ext>
            </a:extLst>
          </p:cNvPr>
          <p:cNvSpPr>
            <a:spLocks noGrp="1"/>
          </p:cNvSpPr>
          <p:nvPr>
            <p:ph type="sldNum" sz="quarter" idx="12"/>
          </p:nvPr>
        </p:nvSpPr>
        <p:spPr/>
        <p:txBody>
          <a:bodyPr/>
          <a:lstStyle/>
          <a:p>
            <a:fld id="{0BE4EC83-A869-464E-AE9F-881796FB085E}" type="slidenum">
              <a:rPr lang="en-US" smtClean="0"/>
              <a:t>52</a:t>
            </a:fld>
            <a:endParaRPr lang="en-US"/>
          </a:p>
        </p:txBody>
      </p:sp>
      <p:graphicFrame>
        <p:nvGraphicFramePr>
          <p:cNvPr id="2" name="Table 1">
            <a:extLst>
              <a:ext uri="{FF2B5EF4-FFF2-40B4-BE49-F238E27FC236}">
                <a16:creationId xmlns:a16="http://schemas.microsoft.com/office/drawing/2014/main" id="{2404D9FB-7CDA-4626-BAA5-4ED7296AA694}"/>
              </a:ext>
            </a:extLst>
          </p:cNvPr>
          <p:cNvGraphicFramePr>
            <a:graphicFrameLocks noGrp="1"/>
          </p:cNvGraphicFramePr>
          <p:nvPr>
            <p:extLst>
              <p:ext uri="{D42A27DB-BD31-4B8C-83A1-F6EECF244321}">
                <p14:modId xmlns:p14="http://schemas.microsoft.com/office/powerpoint/2010/main" val="3603146460"/>
              </p:ext>
            </p:extLst>
          </p:nvPr>
        </p:nvGraphicFramePr>
        <p:xfrm>
          <a:off x="621452" y="925830"/>
          <a:ext cx="11052831" cy="4972048"/>
        </p:xfrm>
        <a:graphic>
          <a:graphicData uri="http://schemas.openxmlformats.org/drawingml/2006/table">
            <a:tbl>
              <a:tblPr rtl="1" firstRow="1" firstCol="1" bandRow="1">
                <a:tableStyleId>{5C22544A-7EE6-4342-B048-85BDC9FD1C3A}</a:tableStyleId>
              </a:tblPr>
              <a:tblGrid>
                <a:gridCol w="281258">
                  <a:extLst>
                    <a:ext uri="{9D8B030D-6E8A-4147-A177-3AD203B41FA5}">
                      <a16:colId xmlns:a16="http://schemas.microsoft.com/office/drawing/2014/main" val="1836065014"/>
                    </a:ext>
                  </a:extLst>
                </a:gridCol>
                <a:gridCol w="1095035">
                  <a:extLst>
                    <a:ext uri="{9D8B030D-6E8A-4147-A177-3AD203B41FA5}">
                      <a16:colId xmlns:a16="http://schemas.microsoft.com/office/drawing/2014/main" val="584430780"/>
                    </a:ext>
                  </a:extLst>
                </a:gridCol>
                <a:gridCol w="3895943">
                  <a:extLst>
                    <a:ext uri="{9D8B030D-6E8A-4147-A177-3AD203B41FA5}">
                      <a16:colId xmlns:a16="http://schemas.microsoft.com/office/drawing/2014/main" val="2198205995"/>
                    </a:ext>
                  </a:extLst>
                </a:gridCol>
                <a:gridCol w="1623930">
                  <a:extLst>
                    <a:ext uri="{9D8B030D-6E8A-4147-A177-3AD203B41FA5}">
                      <a16:colId xmlns:a16="http://schemas.microsoft.com/office/drawing/2014/main" val="2416645432"/>
                    </a:ext>
                  </a:extLst>
                </a:gridCol>
                <a:gridCol w="402258">
                  <a:extLst>
                    <a:ext uri="{9D8B030D-6E8A-4147-A177-3AD203B41FA5}">
                      <a16:colId xmlns:a16="http://schemas.microsoft.com/office/drawing/2014/main" val="2475791291"/>
                    </a:ext>
                  </a:extLst>
                </a:gridCol>
                <a:gridCol w="610836">
                  <a:extLst>
                    <a:ext uri="{9D8B030D-6E8A-4147-A177-3AD203B41FA5}">
                      <a16:colId xmlns:a16="http://schemas.microsoft.com/office/drawing/2014/main" val="2868863518"/>
                    </a:ext>
                  </a:extLst>
                </a:gridCol>
                <a:gridCol w="469300">
                  <a:extLst>
                    <a:ext uri="{9D8B030D-6E8A-4147-A177-3AD203B41FA5}">
                      <a16:colId xmlns:a16="http://schemas.microsoft.com/office/drawing/2014/main" val="4114551343"/>
                    </a:ext>
                  </a:extLst>
                </a:gridCol>
                <a:gridCol w="603387">
                  <a:extLst>
                    <a:ext uri="{9D8B030D-6E8A-4147-A177-3AD203B41FA5}">
                      <a16:colId xmlns:a16="http://schemas.microsoft.com/office/drawing/2014/main" val="1012089125"/>
                    </a:ext>
                  </a:extLst>
                </a:gridCol>
                <a:gridCol w="1035442">
                  <a:extLst>
                    <a:ext uri="{9D8B030D-6E8A-4147-A177-3AD203B41FA5}">
                      <a16:colId xmlns:a16="http://schemas.microsoft.com/office/drawing/2014/main" val="3445356177"/>
                    </a:ext>
                  </a:extLst>
                </a:gridCol>
                <a:gridCol w="1035442">
                  <a:extLst>
                    <a:ext uri="{9D8B030D-6E8A-4147-A177-3AD203B41FA5}">
                      <a16:colId xmlns:a16="http://schemas.microsoft.com/office/drawing/2014/main" val="3132855032"/>
                    </a:ext>
                  </a:extLst>
                </a:gridCol>
              </a:tblGrid>
              <a:tr h="746132">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خزينة البيانات</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35215" marR="35215" marT="0" marB="0" anchor="ctr"/>
                </a:tc>
                <a:extLst>
                  <a:ext uri="{0D108BD9-81ED-4DB2-BD59-A6C34878D82A}">
                    <a16:rowId xmlns:a16="http://schemas.microsoft.com/office/drawing/2014/main" val="1183393893"/>
                  </a:ext>
                </a:extLst>
              </a:tr>
              <a:tr h="354016">
                <a:tc>
                  <a:txBody>
                    <a:bodyPr/>
                    <a:lstStyle/>
                    <a:p>
                      <a:pPr marL="0" marR="0" algn="ctr" rtl="0">
                        <a:lnSpc>
                          <a:spcPct val="107000"/>
                        </a:lnSpc>
                        <a:spcBef>
                          <a:spcPts val="0"/>
                        </a:spcBef>
                        <a:spcAft>
                          <a:spcPts val="0"/>
                        </a:spcAft>
                      </a:pPr>
                      <a:r>
                        <a:rPr lang="en-US" sz="1050">
                          <a:effectLst/>
                          <a:latin typeface="+mn-lt"/>
                        </a:rPr>
                        <a:t>117</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سجل الترسيات</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التعميد والعقود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إدارة الطرح والعقود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الطرح والعقود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rowSpan="4">
                  <a:txBody>
                    <a:bodyPr/>
                    <a:lstStyle/>
                    <a:p>
                      <a:pPr algn="ctr" rtl="1" fontAlgn="ctr"/>
                      <a:r>
                        <a:rPr lang="ar-SA" sz="1000" b="0" i="0" u="none" strike="noStrike" dirty="0">
                          <a:effectLst/>
                          <a:latin typeface="Calibri" panose="020F0502020204030204" pitchFamily="34" charset="0"/>
                        </a:rPr>
                        <a:t>متعدد </a:t>
                      </a:r>
                    </a:p>
                  </a:txBody>
                  <a:tcPr marL="7620" marR="7620" marT="7620" marB="0" anchor="ctr"/>
                </a:tc>
                <a:tc rowSpan="4">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7620" marR="7620" marT="7620" marB="0" anchor="ctr">
                    <a:solidFill>
                      <a:srgbClr val="00B050"/>
                    </a:solidFill>
                  </a:tcPr>
                </a:tc>
                <a:extLst>
                  <a:ext uri="{0D108BD9-81ED-4DB2-BD59-A6C34878D82A}">
                    <a16:rowId xmlns:a16="http://schemas.microsoft.com/office/drawing/2014/main" val="4164050126"/>
                  </a:ext>
                </a:extLst>
              </a:tr>
              <a:tr h="354016">
                <a:tc>
                  <a:txBody>
                    <a:bodyPr/>
                    <a:lstStyle/>
                    <a:p>
                      <a:pPr marL="0" marR="0" algn="ctr" rtl="0">
                        <a:lnSpc>
                          <a:spcPct val="107000"/>
                        </a:lnSpc>
                        <a:spcBef>
                          <a:spcPts val="0"/>
                        </a:spcBef>
                        <a:spcAft>
                          <a:spcPts val="0"/>
                        </a:spcAft>
                      </a:pPr>
                      <a:r>
                        <a:rPr lang="en-US" sz="1050">
                          <a:effectLst/>
                          <a:latin typeface="+mn-lt"/>
                        </a:rPr>
                        <a:t>118</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طلب شراء</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طلبات الشراء الخاصة بالمشاريع</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إدارة الطرح والعقود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الطرح والعقود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vMerge="1">
                  <a:txBody>
                    <a:bodyPr/>
                    <a:lstStyle/>
                    <a:p>
                      <a:pPr algn="ctr" rtl="1" fontAlgn="ctr"/>
                      <a:r>
                        <a:rPr lang="ar-SA" sz="1000" b="0" i="0" u="none" strike="noStrike" dirty="0">
                          <a:effectLst/>
                          <a:latin typeface="Calibri" panose="020F0502020204030204" pitchFamily="34" charset="0"/>
                        </a:rPr>
                        <a:t>متعدد </a:t>
                      </a:r>
                    </a:p>
                  </a:txBody>
                  <a:tcPr marL="7620" marR="7620" marT="7620" marB="0" anchor="ctr"/>
                </a:tc>
                <a:tc vMerge="1">
                  <a:txBody>
                    <a:bodyPr/>
                    <a:lstStyle/>
                    <a:p>
                      <a:endParaRPr lang="en-AE"/>
                    </a:p>
                  </a:txBody>
                  <a:tcPr/>
                </a:tc>
                <a:extLst>
                  <a:ext uri="{0D108BD9-81ED-4DB2-BD59-A6C34878D82A}">
                    <a16:rowId xmlns:a16="http://schemas.microsoft.com/office/drawing/2014/main" val="1550362485"/>
                  </a:ext>
                </a:extLst>
              </a:tr>
              <a:tr h="354016">
                <a:tc>
                  <a:txBody>
                    <a:bodyPr/>
                    <a:lstStyle/>
                    <a:p>
                      <a:pPr marL="0" marR="0" algn="ctr" rtl="0">
                        <a:lnSpc>
                          <a:spcPct val="107000"/>
                        </a:lnSpc>
                        <a:spcBef>
                          <a:spcPts val="0"/>
                        </a:spcBef>
                        <a:spcAft>
                          <a:spcPts val="0"/>
                        </a:spcAft>
                      </a:pPr>
                      <a:r>
                        <a:rPr lang="en-US" sz="1050">
                          <a:effectLst/>
                          <a:latin typeface="+mn-lt"/>
                        </a:rPr>
                        <a:t>119</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نموذج اولي لمنافسة</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متطلبات ومعايير طرح منافسة</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إدارة الطرح والعقود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الطرح والعقود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vMerge="1">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متعدد </a:t>
                      </a:r>
                    </a:p>
                  </a:txBody>
                  <a:tcPr marL="7620" marR="7620" marT="7620" marB="0" anchor="ctr"/>
                </a:tc>
                <a:tc vMerge="1">
                  <a:txBody>
                    <a:bodyPr/>
                    <a:lstStyle/>
                    <a:p>
                      <a:endParaRPr lang="en-AE"/>
                    </a:p>
                  </a:txBody>
                  <a:tcPr/>
                </a:tc>
                <a:extLst>
                  <a:ext uri="{0D108BD9-81ED-4DB2-BD59-A6C34878D82A}">
                    <a16:rowId xmlns:a16="http://schemas.microsoft.com/office/drawing/2014/main" val="3409873435"/>
                  </a:ext>
                </a:extLst>
              </a:tr>
              <a:tr h="627555">
                <a:tc>
                  <a:txBody>
                    <a:bodyPr/>
                    <a:lstStyle/>
                    <a:p>
                      <a:pPr marL="0" marR="0" algn="ctr" rtl="0">
                        <a:lnSpc>
                          <a:spcPct val="107000"/>
                        </a:lnSpc>
                        <a:spcBef>
                          <a:spcPts val="0"/>
                        </a:spcBef>
                        <a:spcAft>
                          <a:spcPts val="0"/>
                        </a:spcAft>
                      </a:pPr>
                      <a:r>
                        <a:rPr lang="en-US" sz="1050">
                          <a:effectLst/>
                          <a:latin typeface="+mn-lt"/>
                        </a:rPr>
                        <a:t>120</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سجل اخبار الهيئة</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جميع أخبار الهيئة وبيانات عامة والتعاميم او القرارات الداخلية التي تخص الموظف </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إدارة العناية بالمستفيدين</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المستفيدون</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vMerge="1">
                  <a:txBody>
                    <a:bodyPr/>
                    <a:lstStyle/>
                    <a:p>
                      <a:pPr algn="ctr" rtl="1" fontAlgn="ctr"/>
                      <a:r>
                        <a:rPr lang="ar-SA" sz="1000" b="0" i="0" u="none" strike="noStrike" dirty="0">
                          <a:effectLst/>
                          <a:latin typeface="Calibri" panose="020F0502020204030204" pitchFamily="34" charset="0"/>
                        </a:rPr>
                        <a:t>متعدد</a:t>
                      </a:r>
                    </a:p>
                  </a:txBody>
                  <a:tcPr marL="7620" marR="7620" marT="7620" marB="0" anchor="ctr"/>
                </a:tc>
                <a:tc vMerge="1">
                  <a:txBody>
                    <a:bodyPr/>
                    <a:lstStyle/>
                    <a:p>
                      <a:endParaRPr lang="en-AE"/>
                    </a:p>
                  </a:txBody>
                  <a:tcPr/>
                </a:tc>
                <a:extLst>
                  <a:ext uri="{0D108BD9-81ED-4DB2-BD59-A6C34878D82A}">
                    <a16:rowId xmlns:a16="http://schemas.microsoft.com/office/drawing/2014/main" val="3913059736"/>
                  </a:ext>
                </a:extLst>
              </a:tr>
              <a:tr h="653647">
                <a:tc>
                  <a:txBody>
                    <a:bodyPr/>
                    <a:lstStyle/>
                    <a:p>
                      <a:pPr marL="0" marR="0" algn="ctr" rtl="0">
                        <a:lnSpc>
                          <a:spcPct val="107000"/>
                        </a:lnSpc>
                        <a:spcBef>
                          <a:spcPts val="0"/>
                        </a:spcBef>
                        <a:spcAft>
                          <a:spcPts val="0"/>
                        </a:spcAft>
                      </a:pPr>
                      <a:r>
                        <a:rPr lang="en-US" sz="1050">
                          <a:effectLst/>
                          <a:latin typeface="+mn-lt"/>
                        </a:rPr>
                        <a:t>121</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سجل خدمة مستفيد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تفصيل الدعم على المنصة ورسائل للمشاركين في الورش والندوات وأدلة الخدمات</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إدارة العناية بالمستفيدين</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المستفيدون</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rowSpan="2">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7620" marR="7620" marT="762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انشاء واجهة للتكامل </a:t>
                      </a:r>
                      <a:r>
                        <a:rPr lang="en-US" sz="1100" dirty="0">
                          <a:effectLst/>
                          <a:latin typeface="+mn-lt"/>
                        </a:rPr>
                        <a:t>API</a:t>
                      </a:r>
                      <a:r>
                        <a:rPr lang="ar-SA" sz="1100" dirty="0">
                          <a:effectLst/>
                          <a:latin typeface="+mn-lt"/>
                        </a:rPr>
                        <a:t> او توثيقها في دليل البيانات</a:t>
                      </a:r>
                    </a:p>
                    <a:p>
                      <a:pPr algn="ctr" rtl="1" fontAlgn="ctr"/>
                      <a:endParaRPr lang="ar-SA" sz="1100" b="1" i="0" u="none" strike="noStrike" dirty="0">
                        <a:effectLst/>
                        <a:latin typeface="Sakkal Majalla" panose="02000000000000000000" pitchFamily="2" charset="-78"/>
                        <a:cs typeface="Sakkal Majalla" panose="02000000000000000000" pitchFamily="2" charset="-78"/>
                      </a:endParaRPr>
                    </a:p>
                  </a:txBody>
                  <a:tcPr marL="7620" marR="7620" marT="7620" marB="0" anchor="ctr">
                    <a:solidFill>
                      <a:srgbClr val="00B050"/>
                    </a:solidFill>
                  </a:tcPr>
                </a:tc>
                <a:extLst>
                  <a:ext uri="{0D108BD9-81ED-4DB2-BD59-A6C34878D82A}">
                    <a16:rowId xmlns:a16="http://schemas.microsoft.com/office/drawing/2014/main" val="1973359870"/>
                  </a:ext>
                </a:extLst>
              </a:tr>
              <a:tr h="392222">
                <a:tc>
                  <a:txBody>
                    <a:bodyPr/>
                    <a:lstStyle/>
                    <a:p>
                      <a:pPr marL="0" marR="0" algn="ctr" rtl="0">
                        <a:lnSpc>
                          <a:spcPct val="107000"/>
                        </a:lnSpc>
                        <a:spcBef>
                          <a:spcPts val="0"/>
                        </a:spcBef>
                        <a:spcAft>
                          <a:spcPts val="0"/>
                        </a:spcAft>
                      </a:pPr>
                      <a:r>
                        <a:rPr lang="en-US" sz="1050">
                          <a:effectLst/>
                          <a:latin typeface="+mn-lt"/>
                        </a:rPr>
                        <a:t>122</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طلب خدمة الدعم الموحد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بيانات طلب خدمة في منصة الدعم الموحد  من قبل الأفراد </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إدارة العناية بالمستفيدين</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المستفيدون</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vMerge="1">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7620" marR="7620" marT="7620" marB="0" anchor="ctr"/>
                </a:tc>
                <a:tc vMerge="1">
                  <a:txBody>
                    <a:bodyPr/>
                    <a:lstStyle/>
                    <a:p>
                      <a:endParaRPr lang="en-AE"/>
                    </a:p>
                  </a:txBody>
                  <a:tcPr/>
                </a:tc>
                <a:extLst>
                  <a:ext uri="{0D108BD9-81ED-4DB2-BD59-A6C34878D82A}">
                    <a16:rowId xmlns:a16="http://schemas.microsoft.com/office/drawing/2014/main" val="2090227136"/>
                  </a:ext>
                </a:extLst>
              </a:tr>
              <a:tr h="1490444">
                <a:tc>
                  <a:txBody>
                    <a:bodyPr/>
                    <a:lstStyle/>
                    <a:p>
                      <a:pPr marL="0" marR="0" algn="ctr" rtl="0">
                        <a:lnSpc>
                          <a:spcPct val="107000"/>
                        </a:lnSpc>
                        <a:spcBef>
                          <a:spcPts val="0"/>
                        </a:spcBef>
                        <a:spcAft>
                          <a:spcPts val="0"/>
                        </a:spcAft>
                      </a:pPr>
                      <a:r>
                        <a:rPr lang="en-US" sz="1050">
                          <a:effectLst/>
                          <a:latin typeface="+mn-lt"/>
                        </a:rPr>
                        <a:t>123</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دورة تدريبية للدراسات العليا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سجل يتضمن بيانات تدريب طلاب الدراسات العليا لتخصص القياس والتقويم في الجامعات السعودية بهدف اتقان التعامل مع البرامج الإحصائية وقراءة المخرجات واعداد التقارير السيكومترية</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إدارة القياس</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marL="0" marR="0" algn="ctr" rtl="1">
                        <a:lnSpc>
                          <a:spcPct val="107000"/>
                        </a:lnSpc>
                        <a:spcBef>
                          <a:spcPts val="0"/>
                        </a:spcBef>
                        <a:spcAft>
                          <a:spcPts val="0"/>
                        </a:spcAft>
                      </a:pPr>
                      <a:r>
                        <a:rPr lang="ar-SA" sz="1050">
                          <a:effectLst/>
                          <a:latin typeface="+mn-lt"/>
                        </a:rPr>
                        <a:t>الجودة</a:t>
                      </a:r>
                      <a:endParaRPr lang="en-US" sz="1050">
                        <a:effectLst/>
                        <a:latin typeface="+mn-lt"/>
                        <a:ea typeface="Calibri" panose="020F0502020204030204" pitchFamily="34" charset="0"/>
                        <a:cs typeface="Arial" panose="020B0604020202020204" pitchFamily="34" charset="0"/>
                      </a:endParaRPr>
                    </a:p>
                  </a:txBody>
                  <a:tcPr marL="35215" marR="35215" marT="0" marB="0" anchor="ctr"/>
                </a:tc>
                <a:tc>
                  <a:txBody>
                    <a:bodyPr/>
                    <a:lstStyle/>
                    <a:p>
                      <a:pPr algn="ctr" rtl="1" fontAlgn="ctr"/>
                      <a:r>
                        <a:rPr lang="ar-SA" sz="1000" b="0" i="0" u="none" strike="noStrike" dirty="0">
                          <a:effectLst/>
                          <a:latin typeface="Calibri" panose="020F0502020204030204" pitchFamily="34" charset="0"/>
                        </a:rPr>
                        <a:t>يدوي</a:t>
                      </a:r>
                    </a:p>
                  </a:txBody>
                  <a:tcPr marL="7620" marR="7620" marT="762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7620" marR="7620" marT="7620" marB="0" anchor="ctr">
                    <a:solidFill>
                      <a:srgbClr val="00B050"/>
                    </a:solidFill>
                  </a:tcPr>
                </a:tc>
                <a:extLst>
                  <a:ext uri="{0D108BD9-81ED-4DB2-BD59-A6C34878D82A}">
                    <a16:rowId xmlns:a16="http://schemas.microsoft.com/office/drawing/2014/main" val="4087807774"/>
                  </a:ext>
                </a:extLst>
              </a:tr>
            </a:tbl>
          </a:graphicData>
        </a:graphic>
      </p:graphicFrame>
      <p:grpSp>
        <p:nvGrpSpPr>
          <p:cNvPr id="4" name="Group 3">
            <a:extLst>
              <a:ext uri="{FF2B5EF4-FFF2-40B4-BE49-F238E27FC236}">
                <a16:creationId xmlns:a16="http://schemas.microsoft.com/office/drawing/2014/main" id="{1E398203-FF80-DB38-3F73-026AD3F11E10}"/>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4029DD40-C51D-A38B-F463-F08404F8DA47}"/>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60ED0637-ED67-D96E-1367-B33EF904D126}"/>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422604875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6106B6-9CC3-48F8-89C3-C539CD1CB26B}"/>
              </a:ext>
            </a:extLst>
          </p:cNvPr>
          <p:cNvSpPr>
            <a:spLocks noGrp="1"/>
          </p:cNvSpPr>
          <p:nvPr>
            <p:ph type="sldNum" sz="quarter" idx="12"/>
          </p:nvPr>
        </p:nvSpPr>
        <p:spPr/>
        <p:txBody>
          <a:bodyPr/>
          <a:lstStyle/>
          <a:p>
            <a:fld id="{0BE4EC83-A869-464E-AE9F-881796FB085E}" type="slidenum">
              <a:rPr lang="en-US" smtClean="0"/>
              <a:t>53</a:t>
            </a:fld>
            <a:endParaRPr lang="en-US"/>
          </a:p>
        </p:txBody>
      </p:sp>
      <p:graphicFrame>
        <p:nvGraphicFramePr>
          <p:cNvPr id="4" name="Table 3">
            <a:extLst>
              <a:ext uri="{FF2B5EF4-FFF2-40B4-BE49-F238E27FC236}">
                <a16:creationId xmlns:a16="http://schemas.microsoft.com/office/drawing/2014/main" id="{29E01409-17E0-443A-91E1-D3F1D9EADBCD}"/>
              </a:ext>
            </a:extLst>
          </p:cNvPr>
          <p:cNvGraphicFramePr>
            <a:graphicFrameLocks noGrp="1"/>
          </p:cNvGraphicFramePr>
          <p:nvPr>
            <p:extLst>
              <p:ext uri="{D42A27DB-BD31-4B8C-83A1-F6EECF244321}">
                <p14:modId xmlns:p14="http://schemas.microsoft.com/office/powerpoint/2010/main" val="2542649227"/>
              </p:ext>
            </p:extLst>
          </p:nvPr>
        </p:nvGraphicFramePr>
        <p:xfrm>
          <a:off x="621454" y="915286"/>
          <a:ext cx="11007694" cy="4989124"/>
        </p:xfrm>
        <a:graphic>
          <a:graphicData uri="http://schemas.openxmlformats.org/drawingml/2006/table">
            <a:tbl>
              <a:tblPr rtl="1" firstRow="1" firstCol="1" bandRow="1">
                <a:tableStyleId>{5C22544A-7EE6-4342-B048-85BDC9FD1C3A}</a:tableStyleId>
              </a:tblPr>
              <a:tblGrid>
                <a:gridCol w="315205">
                  <a:extLst>
                    <a:ext uri="{9D8B030D-6E8A-4147-A177-3AD203B41FA5}">
                      <a16:colId xmlns:a16="http://schemas.microsoft.com/office/drawing/2014/main" val="1209374273"/>
                    </a:ext>
                  </a:extLst>
                </a:gridCol>
                <a:gridCol w="880016">
                  <a:extLst>
                    <a:ext uri="{9D8B030D-6E8A-4147-A177-3AD203B41FA5}">
                      <a16:colId xmlns:a16="http://schemas.microsoft.com/office/drawing/2014/main" val="1299170127"/>
                    </a:ext>
                  </a:extLst>
                </a:gridCol>
                <a:gridCol w="4150743">
                  <a:extLst>
                    <a:ext uri="{9D8B030D-6E8A-4147-A177-3AD203B41FA5}">
                      <a16:colId xmlns:a16="http://schemas.microsoft.com/office/drawing/2014/main" val="2165608839"/>
                    </a:ext>
                  </a:extLst>
                </a:gridCol>
                <a:gridCol w="1019352">
                  <a:extLst>
                    <a:ext uri="{9D8B030D-6E8A-4147-A177-3AD203B41FA5}">
                      <a16:colId xmlns:a16="http://schemas.microsoft.com/office/drawing/2014/main" val="2862704744"/>
                    </a:ext>
                  </a:extLst>
                </a:gridCol>
                <a:gridCol w="542676">
                  <a:extLst>
                    <a:ext uri="{9D8B030D-6E8A-4147-A177-3AD203B41FA5}">
                      <a16:colId xmlns:a16="http://schemas.microsoft.com/office/drawing/2014/main" val="2763003896"/>
                    </a:ext>
                  </a:extLst>
                </a:gridCol>
                <a:gridCol w="594011">
                  <a:extLst>
                    <a:ext uri="{9D8B030D-6E8A-4147-A177-3AD203B41FA5}">
                      <a16:colId xmlns:a16="http://schemas.microsoft.com/office/drawing/2014/main" val="2203211870"/>
                    </a:ext>
                  </a:extLst>
                </a:gridCol>
                <a:gridCol w="513343">
                  <a:extLst>
                    <a:ext uri="{9D8B030D-6E8A-4147-A177-3AD203B41FA5}">
                      <a16:colId xmlns:a16="http://schemas.microsoft.com/office/drawing/2014/main" val="412158732"/>
                    </a:ext>
                  </a:extLst>
                </a:gridCol>
                <a:gridCol w="814016">
                  <a:extLst>
                    <a:ext uri="{9D8B030D-6E8A-4147-A177-3AD203B41FA5}">
                      <a16:colId xmlns:a16="http://schemas.microsoft.com/office/drawing/2014/main" val="3412926125"/>
                    </a:ext>
                  </a:extLst>
                </a:gridCol>
                <a:gridCol w="1089166">
                  <a:extLst>
                    <a:ext uri="{9D8B030D-6E8A-4147-A177-3AD203B41FA5}">
                      <a16:colId xmlns:a16="http://schemas.microsoft.com/office/drawing/2014/main" val="1743508430"/>
                    </a:ext>
                  </a:extLst>
                </a:gridCol>
                <a:gridCol w="1089166">
                  <a:extLst>
                    <a:ext uri="{9D8B030D-6E8A-4147-A177-3AD203B41FA5}">
                      <a16:colId xmlns:a16="http://schemas.microsoft.com/office/drawing/2014/main" val="2762471991"/>
                    </a:ext>
                  </a:extLst>
                </a:gridCol>
              </a:tblGrid>
              <a:tr h="651094">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خزينة البيانات</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35744" marR="35744" marT="0" marB="0" anchor="ctr"/>
                </a:tc>
                <a:extLst>
                  <a:ext uri="{0D108BD9-81ED-4DB2-BD59-A6C34878D82A}">
                    <a16:rowId xmlns:a16="http://schemas.microsoft.com/office/drawing/2014/main" val="3546117404"/>
                  </a:ext>
                </a:extLst>
              </a:tr>
              <a:tr h="694805">
                <a:tc>
                  <a:txBody>
                    <a:bodyPr/>
                    <a:lstStyle/>
                    <a:p>
                      <a:pPr marL="0" marR="0" algn="ctr" rtl="0">
                        <a:lnSpc>
                          <a:spcPct val="107000"/>
                        </a:lnSpc>
                        <a:spcBef>
                          <a:spcPts val="0"/>
                        </a:spcBef>
                        <a:spcAft>
                          <a:spcPts val="0"/>
                        </a:spcAft>
                      </a:pPr>
                      <a:r>
                        <a:rPr lang="en-US" sz="1050">
                          <a:effectLst/>
                          <a:latin typeface="+mn-lt"/>
                        </a:rPr>
                        <a:t>124</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dirty="0">
                          <a:effectLst/>
                          <a:latin typeface="+mn-lt"/>
                        </a:rPr>
                        <a:t>سجل البيانات الديمغرافية</a:t>
                      </a:r>
                      <a:endParaRPr lang="en-US" sz="1050" dirty="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سجل بيانات ديمغرافية يستخدم لإصدار تقارير وصفية  لجهات حكومية خارجية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إدارة القياس</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الجودة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algn="ctr" rtl="1" fontAlgn="ctr"/>
                      <a:r>
                        <a:rPr lang="ar-SA" sz="1000" b="0" i="0" u="none" strike="noStrike">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657474200"/>
                  </a:ext>
                </a:extLst>
              </a:tr>
              <a:tr h="434253">
                <a:tc>
                  <a:txBody>
                    <a:bodyPr/>
                    <a:lstStyle/>
                    <a:p>
                      <a:pPr marL="0" marR="0" algn="ctr" rtl="0">
                        <a:lnSpc>
                          <a:spcPct val="107000"/>
                        </a:lnSpc>
                        <a:spcBef>
                          <a:spcPts val="0"/>
                        </a:spcBef>
                        <a:spcAft>
                          <a:spcPts val="0"/>
                        </a:spcAft>
                      </a:pPr>
                      <a:r>
                        <a:rPr lang="en-US" sz="1050">
                          <a:effectLst/>
                          <a:latin typeface="+mn-lt"/>
                        </a:rPr>
                        <a:t>125</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سجل طلبات الشراء</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بيانات طلب وشراء مشتريات برامج تحقيق الرؤية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إدارة المشتريات والعقود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rowSpan="4">
                  <a:txBody>
                    <a:bodyPr/>
                    <a:lstStyle/>
                    <a:p>
                      <a:pPr algn="ctr" rtl="1" fontAlgn="ctr"/>
                      <a:r>
                        <a:rPr lang="ar-SA" sz="1000" b="0" i="0" u="none" strike="noStrike" dirty="0">
                          <a:effectLst/>
                          <a:latin typeface="Calibri" panose="020F0502020204030204" pitchFamily="34" charset="0"/>
                        </a:rPr>
                        <a:t>متعدد </a:t>
                      </a:r>
                    </a:p>
                  </a:txBody>
                  <a:tcPr marL="0" marR="0" marT="0" marB="0" anchor="ctr"/>
                </a:tc>
                <a:tc rowSpan="4">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860361914"/>
                  </a:ext>
                </a:extLst>
              </a:tr>
              <a:tr h="481266">
                <a:tc>
                  <a:txBody>
                    <a:bodyPr/>
                    <a:lstStyle/>
                    <a:p>
                      <a:pPr marL="0" marR="0" algn="ctr" rtl="0">
                        <a:lnSpc>
                          <a:spcPct val="107000"/>
                        </a:lnSpc>
                        <a:spcBef>
                          <a:spcPts val="0"/>
                        </a:spcBef>
                        <a:spcAft>
                          <a:spcPts val="0"/>
                        </a:spcAft>
                      </a:pPr>
                      <a:r>
                        <a:rPr lang="en-US" sz="1050">
                          <a:effectLst/>
                          <a:latin typeface="+mn-lt"/>
                        </a:rPr>
                        <a:t>126</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طلب إحتياجات من السوق الالكترونية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بيانات طلبات  احتياجات الهيئة من السوق الالكتروني</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إدارة المشتريات والعقود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vMerge="1">
                  <a:txBody>
                    <a:bodyPr/>
                    <a:lstStyle/>
                    <a:p>
                      <a:pPr algn="ctr" rtl="1" fontAlgn="ctr"/>
                      <a:r>
                        <a:rPr lang="ar-SA" sz="1000" b="0" i="0" u="none" strike="noStrike">
                          <a:effectLst/>
                          <a:latin typeface="Calibri" panose="020F0502020204030204" pitchFamily="34" charset="0"/>
                        </a:rPr>
                        <a:t>متعدد </a:t>
                      </a:r>
                    </a:p>
                  </a:txBody>
                  <a:tcPr marL="0" marR="0" marT="0" marB="0" anchor="ctr"/>
                </a:tc>
                <a:tc vMerge="1">
                  <a:txBody>
                    <a:bodyPr/>
                    <a:lstStyle/>
                    <a:p>
                      <a:endParaRPr lang="en-AE"/>
                    </a:p>
                  </a:txBody>
                  <a:tcPr/>
                </a:tc>
                <a:extLst>
                  <a:ext uri="{0D108BD9-81ED-4DB2-BD59-A6C34878D82A}">
                    <a16:rowId xmlns:a16="http://schemas.microsoft.com/office/drawing/2014/main" val="1090216768"/>
                  </a:ext>
                </a:extLst>
              </a:tr>
              <a:tr h="347403">
                <a:tc>
                  <a:txBody>
                    <a:bodyPr/>
                    <a:lstStyle/>
                    <a:p>
                      <a:pPr marL="0" marR="0" algn="ctr" rtl="0">
                        <a:lnSpc>
                          <a:spcPct val="107000"/>
                        </a:lnSpc>
                        <a:spcBef>
                          <a:spcPts val="0"/>
                        </a:spcBef>
                        <a:spcAft>
                          <a:spcPts val="0"/>
                        </a:spcAft>
                      </a:pPr>
                      <a:r>
                        <a:rPr lang="en-US" sz="1050">
                          <a:effectLst/>
                          <a:latin typeface="+mn-lt"/>
                        </a:rPr>
                        <a:t>127</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كراسة شروط</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بيانات كراسات الشروط والمواصفات</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إدارة المشتريات والعقود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vMerge="1">
                  <a:txBody>
                    <a:bodyPr/>
                    <a:lstStyle/>
                    <a:p>
                      <a:pPr algn="ctr" rtl="1" fontAlgn="ctr"/>
                      <a:r>
                        <a:rPr lang="ar-SA" sz="1100" b="1" i="0" u="none" strike="noStrike">
                          <a:effectLst/>
                          <a:latin typeface="Sakkal Majalla" panose="02000000000000000000" pitchFamily="2" charset="-78"/>
                          <a:cs typeface="Sakkal Majalla" panose="02000000000000000000" pitchFamily="2" charset="-78"/>
                        </a:rPr>
                        <a:t>متعدد </a:t>
                      </a:r>
                    </a:p>
                  </a:txBody>
                  <a:tcPr marL="0" marR="0" marT="0" marB="0" anchor="ctr"/>
                </a:tc>
                <a:tc vMerge="1">
                  <a:txBody>
                    <a:bodyPr/>
                    <a:lstStyle/>
                    <a:p>
                      <a:endParaRPr lang="en-AE"/>
                    </a:p>
                  </a:txBody>
                  <a:tcPr/>
                </a:tc>
                <a:extLst>
                  <a:ext uri="{0D108BD9-81ED-4DB2-BD59-A6C34878D82A}">
                    <a16:rowId xmlns:a16="http://schemas.microsoft.com/office/drawing/2014/main" val="1683763101"/>
                  </a:ext>
                </a:extLst>
              </a:tr>
              <a:tr h="347403">
                <a:tc>
                  <a:txBody>
                    <a:bodyPr/>
                    <a:lstStyle/>
                    <a:p>
                      <a:pPr marL="0" marR="0" algn="ctr" rtl="0">
                        <a:lnSpc>
                          <a:spcPct val="107000"/>
                        </a:lnSpc>
                        <a:spcBef>
                          <a:spcPts val="0"/>
                        </a:spcBef>
                        <a:spcAft>
                          <a:spcPts val="0"/>
                        </a:spcAft>
                      </a:pPr>
                      <a:r>
                        <a:rPr lang="en-US" sz="1050">
                          <a:effectLst/>
                          <a:latin typeface="+mn-lt"/>
                        </a:rPr>
                        <a:t>128</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نموذج تأهيل المتنافسين</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بيانات نموذج تأهيل المتنافسين المسبق</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إدارة المشتريات والعقود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طلبات الخدمات المساندة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vMerge="1">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متعدد </a:t>
                      </a:r>
                    </a:p>
                  </a:txBody>
                  <a:tcPr marL="0" marR="0" marT="0" marB="0" anchor="ctr"/>
                </a:tc>
                <a:tc vMerge="1">
                  <a:txBody>
                    <a:bodyPr/>
                    <a:lstStyle/>
                    <a:p>
                      <a:endParaRPr lang="en-AE"/>
                    </a:p>
                  </a:txBody>
                  <a:tcPr/>
                </a:tc>
                <a:extLst>
                  <a:ext uri="{0D108BD9-81ED-4DB2-BD59-A6C34878D82A}">
                    <a16:rowId xmlns:a16="http://schemas.microsoft.com/office/drawing/2014/main" val="1798585699"/>
                  </a:ext>
                </a:extLst>
              </a:tr>
              <a:tr h="579609">
                <a:tc>
                  <a:txBody>
                    <a:bodyPr/>
                    <a:lstStyle/>
                    <a:p>
                      <a:pPr marL="0" marR="0" algn="ctr" rtl="0">
                        <a:lnSpc>
                          <a:spcPct val="107000"/>
                        </a:lnSpc>
                        <a:spcBef>
                          <a:spcPts val="0"/>
                        </a:spcBef>
                        <a:spcAft>
                          <a:spcPts val="0"/>
                        </a:spcAft>
                      </a:pPr>
                      <a:r>
                        <a:rPr lang="en-US" sz="1050">
                          <a:effectLst/>
                          <a:latin typeface="+mn-lt"/>
                        </a:rPr>
                        <a:t>129</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طلب استقالة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بيانات إنهاء الخدمات وفقاً </a:t>
                      </a:r>
                      <a:br>
                        <a:rPr lang="ar-SA" sz="1050">
                          <a:effectLst/>
                          <a:latin typeface="+mn-lt"/>
                        </a:rPr>
                      </a:br>
                      <a:r>
                        <a:rPr lang="ar-SA" sz="1050">
                          <a:effectLst/>
                          <a:latin typeface="+mn-lt"/>
                        </a:rPr>
                        <a:t>لنظام العمل  السعودي</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إدارة الموارد البشرية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algn="ctr" rtl="1" fontAlgn="ctr"/>
                      <a:r>
                        <a:rPr lang="ar-SA" sz="1000" b="0" i="0" u="none" strike="noStrike">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322443710"/>
                  </a:ext>
                </a:extLst>
              </a:tr>
              <a:tr h="260552">
                <a:tc>
                  <a:txBody>
                    <a:bodyPr/>
                    <a:lstStyle/>
                    <a:p>
                      <a:pPr marL="0" marR="0" algn="ctr" rtl="0">
                        <a:lnSpc>
                          <a:spcPct val="107000"/>
                        </a:lnSpc>
                        <a:spcBef>
                          <a:spcPts val="0"/>
                        </a:spcBef>
                        <a:spcAft>
                          <a:spcPts val="0"/>
                        </a:spcAft>
                      </a:pPr>
                      <a:r>
                        <a:rPr lang="en-US" sz="1050">
                          <a:effectLst/>
                          <a:latin typeface="+mn-lt"/>
                        </a:rPr>
                        <a:t>130</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طلب امر إركاب</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بيانات أمر اركاب للموظف</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إدارة الموارد البشرية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rowSpan="2">
                  <a:txBody>
                    <a:bodyPr/>
                    <a:lstStyle/>
                    <a:p>
                      <a:pPr algn="ctr" rtl="1" fontAlgn="ctr"/>
                      <a:r>
                        <a:rPr lang="ar-SA" sz="1000" b="0" i="0" u="none" strike="noStrike" dirty="0">
                          <a:effectLst/>
                          <a:latin typeface="Calibri" panose="020F0502020204030204" pitchFamily="34" charset="0"/>
                        </a:rPr>
                        <a:t>متعدد </a:t>
                      </a:r>
                    </a:p>
                  </a:txBody>
                  <a:tcPr marL="0" marR="0" marT="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313323083"/>
                  </a:ext>
                </a:extLst>
              </a:tr>
              <a:tr h="1129058">
                <a:tc>
                  <a:txBody>
                    <a:bodyPr/>
                    <a:lstStyle/>
                    <a:p>
                      <a:pPr marL="0" marR="0" algn="ctr" rtl="0">
                        <a:lnSpc>
                          <a:spcPct val="107000"/>
                        </a:lnSpc>
                        <a:spcBef>
                          <a:spcPts val="0"/>
                        </a:spcBef>
                        <a:spcAft>
                          <a:spcPts val="0"/>
                        </a:spcAft>
                      </a:pPr>
                      <a:r>
                        <a:rPr lang="en-US" sz="1050">
                          <a:effectLst/>
                          <a:latin typeface="+mn-lt"/>
                        </a:rPr>
                        <a:t>131</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طلب إجازة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بيانات طلب التمتع بإجازة سنوية أو الاستثنائية أو الخاصة  وفقاً لنظام العمل السعودي،  بالإضافة إلى بيانات معالجة ساعات التأخير أو الاستئذان.</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إدارة الموارد البشرية</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35744" marR="35744" marT="0" marB="0" anchor="ctr"/>
                </a:tc>
                <a:tc>
                  <a:txBody>
                    <a:bodyPr/>
                    <a:lstStyle/>
                    <a:p>
                      <a:pPr marL="0" marR="0" algn="ctr" rtl="1">
                        <a:lnSpc>
                          <a:spcPct val="107000"/>
                        </a:lnSpc>
                        <a:spcBef>
                          <a:spcPts val="0"/>
                        </a:spcBef>
                        <a:spcAft>
                          <a:spcPts val="0"/>
                        </a:spcAft>
                      </a:pPr>
                      <a:r>
                        <a:rPr lang="ar-SA" sz="1050" dirty="0">
                          <a:effectLst/>
                          <a:latin typeface="+mn-lt"/>
                        </a:rPr>
                        <a:t>الموارد البشرية</a:t>
                      </a:r>
                      <a:endParaRPr lang="en-US" sz="1050" dirty="0">
                        <a:effectLst/>
                        <a:latin typeface="+mn-lt"/>
                        <a:ea typeface="Calibri" panose="020F0502020204030204" pitchFamily="34" charset="0"/>
                        <a:cs typeface="Arial" panose="020B0604020202020204" pitchFamily="34" charset="0"/>
                      </a:endParaRPr>
                    </a:p>
                  </a:txBody>
                  <a:tcPr marL="35744" marR="35744" marT="0" marB="0" anchor="ctr"/>
                </a:tc>
                <a:tc vMerge="1">
                  <a:txBody>
                    <a:bodyPr/>
                    <a:lstStyle/>
                    <a:p>
                      <a:pPr algn="ctr" rtl="1" fontAlgn="ctr"/>
                      <a:r>
                        <a:rPr lang="ar-SA" sz="1000" b="0" i="0" u="none" strike="noStrike" dirty="0">
                          <a:effectLst/>
                          <a:latin typeface="Calibri" panose="020F0502020204030204" pitchFamily="34" charset="0"/>
                        </a:rPr>
                        <a:t>متعدد </a:t>
                      </a:r>
                    </a:p>
                  </a:txBody>
                  <a:tcPr marL="0" marR="0" marT="0" marB="0" anchor="ctr"/>
                </a:tc>
                <a:tc vMerge="1">
                  <a:txBody>
                    <a:bodyPr/>
                    <a:lstStyle/>
                    <a:p>
                      <a:endParaRPr lang="en-AE"/>
                    </a:p>
                  </a:txBody>
                  <a:tcPr/>
                </a:tc>
                <a:extLst>
                  <a:ext uri="{0D108BD9-81ED-4DB2-BD59-A6C34878D82A}">
                    <a16:rowId xmlns:a16="http://schemas.microsoft.com/office/drawing/2014/main" val="3590153076"/>
                  </a:ext>
                </a:extLst>
              </a:tr>
            </a:tbl>
          </a:graphicData>
        </a:graphic>
      </p:graphicFrame>
      <p:grpSp>
        <p:nvGrpSpPr>
          <p:cNvPr id="2" name="Group 1">
            <a:extLst>
              <a:ext uri="{FF2B5EF4-FFF2-40B4-BE49-F238E27FC236}">
                <a16:creationId xmlns:a16="http://schemas.microsoft.com/office/drawing/2014/main" id="{9A052EB3-A222-AF82-4144-511C625D9915}"/>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C418A989-249C-C7BE-E82C-223B194B882B}"/>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BC09117C-D151-4F10-62C2-1ABDA7E463CD}"/>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21120496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4ADE324-EDF8-4BA8-AF13-CF7528F37C35}"/>
              </a:ext>
            </a:extLst>
          </p:cNvPr>
          <p:cNvSpPr>
            <a:spLocks noGrp="1"/>
          </p:cNvSpPr>
          <p:nvPr>
            <p:ph type="sldNum" sz="quarter" idx="12"/>
          </p:nvPr>
        </p:nvSpPr>
        <p:spPr/>
        <p:txBody>
          <a:bodyPr/>
          <a:lstStyle/>
          <a:p>
            <a:fld id="{0BE4EC83-A869-464E-AE9F-881796FB085E}" type="slidenum">
              <a:rPr lang="en-US" smtClean="0"/>
              <a:t>54</a:t>
            </a:fld>
            <a:endParaRPr lang="en-US"/>
          </a:p>
        </p:txBody>
      </p:sp>
      <p:graphicFrame>
        <p:nvGraphicFramePr>
          <p:cNvPr id="4" name="Table 3">
            <a:extLst>
              <a:ext uri="{FF2B5EF4-FFF2-40B4-BE49-F238E27FC236}">
                <a16:creationId xmlns:a16="http://schemas.microsoft.com/office/drawing/2014/main" id="{912B52B2-82DD-4862-A205-520EE868F769}"/>
              </a:ext>
            </a:extLst>
          </p:cNvPr>
          <p:cNvGraphicFramePr>
            <a:graphicFrameLocks noGrp="1"/>
          </p:cNvGraphicFramePr>
          <p:nvPr>
            <p:extLst>
              <p:ext uri="{D42A27DB-BD31-4B8C-83A1-F6EECF244321}">
                <p14:modId xmlns:p14="http://schemas.microsoft.com/office/powerpoint/2010/main" val="360125682"/>
              </p:ext>
            </p:extLst>
          </p:nvPr>
        </p:nvGraphicFramePr>
        <p:xfrm>
          <a:off x="621452" y="868679"/>
          <a:ext cx="10941281" cy="5138986"/>
        </p:xfrm>
        <a:graphic>
          <a:graphicData uri="http://schemas.openxmlformats.org/drawingml/2006/table">
            <a:tbl>
              <a:tblPr rtl="1" firstRow="1" firstCol="1" bandRow="1">
                <a:tableStyleId>{5C22544A-7EE6-4342-B048-85BDC9FD1C3A}</a:tableStyleId>
              </a:tblPr>
              <a:tblGrid>
                <a:gridCol w="219436">
                  <a:extLst>
                    <a:ext uri="{9D8B030D-6E8A-4147-A177-3AD203B41FA5}">
                      <a16:colId xmlns:a16="http://schemas.microsoft.com/office/drawing/2014/main" val="1380203874"/>
                    </a:ext>
                  </a:extLst>
                </a:gridCol>
                <a:gridCol w="761927">
                  <a:extLst>
                    <a:ext uri="{9D8B030D-6E8A-4147-A177-3AD203B41FA5}">
                      <a16:colId xmlns:a16="http://schemas.microsoft.com/office/drawing/2014/main" val="310225803"/>
                    </a:ext>
                  </a:extLst>
                </a:gridCol>
                <a:gridCol w="1523855">
                  <a:extLst>
                    <a:ext uri="{9D8B030D-6E8A-4147-A177-3AD203B41FA5}">
                      <a16:colId xmlns:a16="http://schemas.microsoft.com/office/drawing/2014/main" val="2016295254"/>
                    </a:ext>
                  </a:extLst>
                </a:gridCol>
                <a:gridCol w="1105707">
                  <a:extLst>
                    <a:ext uri="{9D8B030D-6E8A-4147-A177-3AD203B41FA5}">
                      <a16:colId xmlns:a16="http://schemas.microsoft.com/office/drawing/2014/main" val="352552235"/>
                    </a:ext>
                  </a:extLst>
                </a:gridCol>
                <a:gridCol w="659757">
                  <a:extLst>
                    <a:ext uri="{9D8B030D-6E8A-4147-A177-3AD203B41FA5}">
                      <a16:colId xmlns:a16="http://schemas.microsoft.com/office/drawing/2014/main" val="270986793"/>
                    </a:ext>
                  </a:extLst>
                </a:gridCol>
                <a:gridCol w="694481">
                  <a:extLst>
                    <a:ext uri="{9D8B030D-6E8A-4147-A177-3AD203B41FA5}">
                      <a16:colId xmlns:a16="http://schemas.microsoft.com/office/drawing/2014/main" val="233439390"/>
                    </a:ext>
                  </a:extLst>
                </a:gridCol>
                <a:gridCol w="555585">
                  <a:extLst>
                    <a:ext uri="{9D8B030D-6E8A-4147-A177-3AD203B41FA5}">
                      <a16:colId xmlns:a16="http://schemas.microsoft.com/office/drawing/2014/main" val="3745316631"/>
                    </a:ext>
                  </a:extLst>
                </a:gridCol>
                <a:gridCol w="1169043">
                  <a:extLst>
                    <a:ext uri="{9D8B030D-6E8A-4147-A177-3AD203B41FA5}">
                      <a16:colId xmlns:a16="http://schemas.microsoft.com/office/drawing/2014/main" val="3487696167"/>
                    </a:ext>
                  </a:extLst>
                </a:gridCol>
                <a:gridCol w="3055717">
                  <a:extLst>
                    <a:ext uri="{9D8B030D-6E8A-4147-A177-3AD203B41FA5}">
                      <a16:colId xmlns:a16="http://schemas.microsoft.com/office/drawing/2014/main" val="186159520"/>
                    </a:ext>
                  </a:extLst>
                </a:gridCol>
                <a:gridCol w="1195773">
                  <a:extLst>
                    <a:ext uri="{9D8B030D-6E8A-4147-A177-3AD203B41FA5}">
                      <a16:colId xmlns:a16="http://schemas.microsoft.com/office/drawing/2014/main" val="1080248011"/>
                    </a:ext>
                  </a:extLst>
                </a:gridCol>
              </a:tblGrid>
              <a:tr h="785030">
                <a:tc>
                  <a:txBody>
                    <a:bodyPr/>
                    <a:lstStyle/>
                    <a:p>
                      <a:pPr marL="0" marR="0" algn="ctr" rtl="0">
                        <a:lnSpc>
                          <a:spcPct val="107000"/>
                        </a:lnSpc>
                        <a:spcBef>
                          <a:spcPts val="0"/>
                        </a:spcBef>
                        <a:spcAft>
                          <a:spcPts val="0"/>
                        </a:spcAft>
                      </a:pPr>
                      <a:r>
                        <a:rPr lang="en-US" sz="1050" dirty="0">
                          <a:effectLst/>
                          <a:latin typeface="+mn-lt"/>
                        </a:rPr>
                        <a:t>#</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وصف الكيان</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الإدارة المالكة للكيان</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تصنيف الكيان</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الربط مع قناة التكامل الحكومية</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مجموعة البيانات</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خزينة البيانات</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p>
                      <a:pPr marL="0" marR="0" algn="ctr" rtl="1">
                        <a:lnSpc>
                          <a:spcPct val="107000"/>
                        </a:lnSpc>
                        <a:spcBef>
                          <a:spcPts val="0"/>
                        </a:spcBef>
                        <a:spcAft>
                          <a:spcPts val="0"/>
                        </a:spcAft>
                      </a:pP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extLst>
                  <a:ext uri="{0D108BD9-81ED-4DB2-BD59-A6C34878D82A}">
                    <a16:rowId xmlns:a16="http://schemas.microsoft.com/office/drawing/2014/main" val="2512449961"/>
                  </a:ext>
                </a:extLst>
              </a:tr>
              <a:tr h="157006">
                <a:tc>
                  <a:txBody>
                    <a:bodyPr/>
                    <a:lstStyle/>
                    <a:p>
                      <a:pPr marL="0" marR="0" algn="ctr" rtl="0">
                        <a:lnSpc>
                          <a:spcPct val="107000"/>
                        </a:lnSpc>
                        <a:spcBef>
                          <a:spcPts val="0"/>
                        </a:spcBef>
                        <a:spcAft>
                          <a:spcPts val="0"/>
                        </a:spcAft>
                      </a:pPr>
                      <a:r>
                        <a:rPr lang="en-US" sz="1050">
                          <a:effectLst/>
                          <a:latin typeface="+mn-lt"/>
                        </a:rPr>
                        <a:t>132</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طلب إعارة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بيانات طلب إعارة موظف</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إدارة الموارد البشرية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rowSpan="3">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rowSpan="3">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p>
                      <a:pPr algn="ctr" rtl="1" fontAlgn="ctr"/>
                      <a:endParaRPr lang="ar-SA" sz="1000" b="0" i="0" u="none" strike="noStrike" dirty="0">
                        <a:effectLst/>
                        <a:latin typeface="Calibri" panose="020F0502020204030204" pitchFamily="34" charset="0"/>
                      </a:endParaRPr>
                    </a:p>
                  </a:txBody>
                  <a:tcPr marL="0" marR="0" marT="0" marB="0" anchor="ctr">
                    <a:solidFill>
                      <a:srgbClr val="00B050"/>
                    </a:solidFill>
                  </a:tcPr>
                </a:tc>
                <a:extLst>
                  <a:ext uri="{0D108BD9-81ED-4DB2-BD59-A6C34878D82A}">
                    <a16:rowId xmlns:a16="http://schemas.microsoft.com/office/drawing/2014/main" val="194546015"/>
                  </a:ext>
                </a:extLst>
              </a:tr>
              <a:tr h="314012">
                <a:tc>
                  <a:txBody>
                    <a:bodyPr/>
                    <a:lstStyle/>
                    <a:p>
                      <a:pPr marL="0" marR="0" algn="ctr" rtl="0">
                        <a:lnSpc>
                          <a:spcPct val="107000"/>
                        </a:lnSpc>
                        <a:spcBef>
                          <a:spcPts val="0"/>
                        </a:spcBef>
                        <a:spcAft>
                          <a:spcPts val="0"/>
                        </a:spcAft>
                      </a:pPr>
                      <a:r>
                        <a:rPr lang="en-US" sz="1050">
                          <a:effectLst/>
                          <a:latin typeface="+mn-lt"/>
                        </a:rPr>
                        <a:t>133</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طلب إنتداب</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بيانات طلب القيام بمهمة عمل خارج مدينة مقر الهيئة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إدارة الموارد البشرية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243684108"/>
                  </a:ext>
                </a:extLst>
              </a:tr>
              <a:tr h="314012">
                <a:tc>
                  <a:txBody>
                    <a:bodyPr/>
                    <a:lstStyle/>
                    <a:p>
                      <a:pPr marL="0" marR="0" algn="ctr" rtl="0">
                        <a:lnSpc>
                          <a:spcPct val="107000"/>
                        </a:lnSpc>
                        <a:spcBef>
                          <a:spcPts val="0"/>
                        </a:spcBef>
                        <a:spcAft>
                          <a:spcPts val="0"/>
                        </a:spcAft>
                      </a:pPr>
                      <a:r>
                        <a:rPr lang="en-US" sz="1050">
                          <a:effectLst/>
                          <a:latin typeface="+mn-lt"/>
                        </a:rPr>
                        <a:t>134</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طلب نقل موظف</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بيانات طلب نقل الموظف من ادارته الى إدارة أخرى</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إدارة الموارد البشرية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4048824331"/>
                  </a:ext>
                </a:extLst>
              </a:tr>
              <a:tr h="157006">
                <a:tc>
                  <a:txBody>
                    <a:bodyPr/>
                    <a:lstStyle/>
                    <a:p>
                      <a:pPr marL="0" marR="0" algn="ctr" rtl="0">
                        <a:lnSpc>
                          <a:spcPct val="107000"/>
                        </a:lnSpc>
                        <a:spcBef>
                          <a:spcPts val="0"/>
                        </a:spcBef>
                        <a:spcAft>
                          <a:spcPts val="0"/>
                        </a:spcAft>
                      </a:pPr>
                      <a:r>
                        <a:rPr lang="en-US" sz="1050" dirty="0">
                          <a:effectLst/>
                          <a:latin typeface="+mn-lt"/>
                        </a:rPr>
                        <a:t>135</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وحدة تنظيمية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اسم الإدارة واسم المدير</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إدارة الموارد البشرية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الموارد البشرية</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rowSpan="2">
                  <a:txBody>
                    <a:bodyPr/>
                    <a:lstStyle/>
                    <a:p>
                      <a:pPr algn="ctr" rtl="1" fontAlgn="ctr"/>
                      <a:r>
                        <a:rPr lang="ar-SA" sz="1000" b="0" i="0" u="none" strike="noStrike" dirty="0">
                          <a:effectLst/>
                          <a:latin typeface="Calibri" panose="020F0502020204030204" pitchFamily="34" charset="0"/>
                        </a:rPr>
                        <a:t>متعدد </a:t>
                      </a:r>
                    </a:p>
                  </a:txBody>
                  <a:tcPr marL="0" marR="0" marT="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p>
                      <a:pPr algn="ctr" rtl="1" fontAlgn="ctr"/>
                      <a:endParaRPr lang="ar-SA" sz="1000" b="0" i="0" u="none" strike="noStrike" dirty="0">
                        <a:effectLst/>
                        <a:latin typeface="Calibri" panose="020F0502020204030204" pitchFamily="34" charset="0"/>
                      </a:endParaRPr>
                    </a:p>
                  </a:txBody>
                  <a:tcPr marL="0" marR="0" marT="0" marB="0" anchor="ctr">
                    <a:solidFill>
                      <a:srgbClr val="00B050"/>
                    </a:solidFill>
                  </a:tcPr>
                </a:tc>
                <a:extLst>
                  <a:ext uri="{0D108BD9-81ED-4DB2-BD59-A6C34878D82A}">
                    <a16:rowId xmlns:a16="http://schemas.microsoft.com/office/drawing/2014/main" val="3630335408"/>
                  </a:ext>
                </a:extLst>
              </a:tr>
              <a:tr h="314012">
                <a:tc>
                  <a:txBody>
                    <a:bodyPr/>
                    <a:lstStyle/>
                    <a:p>
                      <a:pPr marL="0" marR="0" algn="ctr" rtl="0">
                        <a:lnSpc>
                          <a:spcPct val="107000"/>
                        </a:lnSpc>
                        <a:spcBef>
                          <a:spcPts val="0"/>
                        </a:spcBef>
                        <a:spcAft>
                          <a:spcPts val="0"/>
                        </a:spcAft>
                      </a:pPr>
                      <a:r>
                        <a:rPr lang="en-US" sz="1050">
                          <a:effectLst/>
                          <a:latin typeface="+mn-lt"/>
                        </a:rPr>
                        <a:t>137</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سجل شهادات الإنجاز</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الأعمال المنجزة وقيمة الدفعة </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إدارة علاقات الموردين</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الطرح والعقود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vMerge="1">
                  <a:txBody>
                    <a:bodyPr/>
                    <a:lstStyle/>
                    <a:p>
                      <a:pPr algn="ctr" rtl="1" fontAlgn="ctr"/>
                      <a:r>
                        <a:rPr lang="ar-SA" sz="1000" b="0" i="0" u="none" strike="noStrike" dirty="0">
                          <a:effectLst/>
                          <a:latin typeface="Calibri" panose="020F0502020204030204" pitchFamily="34" charset="0"/>
                        </a:rPr>
                        <a:t>متعدد </a:t>
                      </a:r>
                    </a:p>
                  </a:txBody>
                  <a:tcPr marL="0" marR="0" marT="0" marB="0" anchor="ctr"/>
                </a:tc>
                <a:tc vMerge="1">
                  <a:txBody>
                    <a:bodyPr/>
                    <a:lstStyle/>
                    <a:p>
                      <a:endParaRPr lang="en-AE"/>
                    </a:p>
                  </a:txBody>
                  <a:tcPr/>
                </a:tc>
                <a:extLst>
                  <a:ext uri="{0D108BD9-81ED-4DB2-BD59-A6C34878D82A}">
                    <a16:rowId xmlns:a16="http://schemas.microsoft.com/office/drawing/2014/main" val="2818351771"/>
                  </a:ext>
                </a:extLst>
              </a:tr>
              <a:tr h="683994">
                <a:tc>
                  <a:txBody>
                    <a:bodyPr/>
                    <a:lstStyle/>
                    <a:p>
                      <a:pPr marL="0" marR="0" algn="ctr" rtl="0">
                        <a:lnSpc>
                          <a:spcPct val="107000"/>
                        </a:lnSpc>
                        <a:spcBef>
                          <a:spcPts val="0"/>
                        </a:spcBef>
                        <a:spcAft>
                          <a:spcPts val="0"/>
                        </a:spcAft>
                      </a:pPr>
                      <a:r>
                        <a:rPr lang="en-US" sz="1050">
                          <a:effectLst/>
                          <a:latin typeface="+mn-lt"/>
                        </a:rPr>
                        <a:t>136</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سجل تقويم التدريب</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بيانات التحقق من أهداف التدريب من خلال تطبيق عدد من الأدوات بعد تنفيذ التدريب. </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إدارة تقييم التدريب</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التدريب</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rowSpan="4">
                  <a:txBody>
                    <a:bodyPr/>
                    <a:lstStyle/>
                    <a:p>
                      <a:pPr algn="ctr" rtl="0" fontAlgn="ctr"/>
                      <a:r>
                        <a:rPr lang="en-US" sz="1000" b="0" i="0" u="none" strike="noStrike" dirty="0">
                          <a:effectLst/>
                          <a:latin typeface="Calibri" panose="020F0502020204030204" pitchFamily="34" charset="0"/>
                        </a:rPr>
                        <a:t>alfresco,</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caseservice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datamanagement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etec_feedbackservice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etec_re,portingservice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gateway</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integrationservice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keycloak</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a:effectLst/>
                          <a:latin typeface="Calibri" panose="020F0502020204030204" pitchFamily="34" charset="0"/>
                        </a:rPr>
                        <a:t>notification,</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orchestraservice</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referencedata</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requestmanagement</a:t>
                      </a:r>
                      <a:r>
                        <a:rPr lang="en-US" sz="1000" b="0" i="0" u="none" strike="noStrike" dirty="0">
                          <a:effectLst/>
                          <a:latin typeface="Calibri" panose="020F0502020204030204" pitchFamily="34" charset="0"/>
                        </a:rPr>
                        <a:t>,</a:t>
                      </a:r>
                      <a:br>
                        <a:rPr lang="en-US" sz="1000" b="0" i="0" u="none" strike="noStrike" dirty="0">
                          <a:effectLst/>
                          <a:latin typeface="Calibri" panose="020F0502020204030204" pitchFamily="34" charset="0"/>
                        </a:rPr>
                      </a:br>
                      <a:r>
                        <a:rPr lang="en-US" sz="1000" b="0" i="0" u="none" strike="noStrike" dirty="0" err="1">
                          <a:effectLst/>
                          <a:latin typeface="Calibri" panose="020F0502020204030204" pitchFamily="34" charset="0"/>
                        </a:rPr>
                        <a:t>workflowservice</a:t>
                      </a:r>
                      <a:endParaRPr lang="en-US" sz="1000" b="0" i="0" u="none" strike="noStrike" dirty="0">
                        <a:effectLst/>
                        <a:latin typeface="Calibri" panose="020F0502020204030204" pitchFamily="34" charset="0"/>
                      </a:endParaRPr>
                    </a:p>
                  </a:txBody>
                  <a:tcPr marL="0" marR="0" marT="0" marB="0" anchor="ctr"/>
                </a:tc>
                <a:tc rowSpan="4">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dirty="0">
                          <a:effectLst/>
                          <a:latin typeface="+mn-lt"/>
                        </a:rPr>
                        <a:t>انشاء واجهة للتكامل </a:t>
                      </a:r>
                      <a:r>
                        <a:rPr lang="en-US" sz="1000" dirty="0">
                          <a:effectLst/>
                          <a:latin typeface="+mn-lt"/>
                        </a:rPr>
                        <a:t>API</a:t>
                      </a:r>
                      <a:r>
                        <a:rPr lang="ar-SA" sz="1000" dirty="0">
                          <a:effectLst/>
                          <a:latin typeface="+mn-lt"/>
                        </a:rPr>
                        <a:t> او توثيقها في دليل البيانات</a:t>
                      </a:r>
                    </a:p>
                    <a:p>
                      <a:pPr marL="0" algn="r" defTabSz="914400" rtl="1" eaLnBrk="1" fontAlgn="ctr" latinLnBrk="0" hangingPunct="1"/>
                      <a:endParaRPr lang="en-US" sz="1000" b="0" i="0" u="none" strike="noStrike" dirty="0">
                        <a:effectLst/>
                        <a:latin typeface="Calibri" panose="020F0502020204030204" pitchFamily="34" charset="0"/>
                      </a:endParaRPr>
                    </a:p>
                  </a:txBody>
                  <a:tcPr marL="0" marR="0" marT="0" marB="0" anchor="ctr">
                    <a:solidFill>
                      <a:srgbClr val="00B050"/>
                    </a:solidFill>
                  </a:tcPr>
                </a:tc>
                <a:extLst>
                  <a:ext uri="{0D108BD9-81ED-4DB2-BD59-A6C34878D82A}">
                    <a16:rowId xmlns:a16="http://schemas.microsoft.com/office/drawing/2014/main" val="198452712"/>
                  </a:ext>
                </a:extLst>
              </a:tr>
              <a:tr h="683994">
                <a:tc>
                  <a:txBody>
                    <a:bodyPr/>
                    <a:lstStyle/>
                    <a:p>
                      <a:pPr marL="0" marR="0" algn="ctr" rtl="0">
                        <a:lnSpc>
                          <a:spcPct val="107000"/>
                        </a:lnSpc>
                        <a:spcBef>
                          <a:spcPts val="0"/>
                        </a:spcBef>
                        <a:spcAft>
                          <a:spcPts val="0"/>
                        </a:spcAft>
                      </a:pPr>
                      <a:r>
                        <a:rPr lang="en-US" sz="1050">
                          <a:effectLst/>
                          <a:latin typeface="+mn-lt"/>
                        </a:rPr>
                        <a:t>138</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بيان مالي لزيارة</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البيانات المالية للزيارات</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إدارة عمليات الاعتماد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vMerge="1">
                  <a:txBody>
                    <a:bodyPr/>
                    <a:lstStyle/>
                    <a:p>
                      <a:pPr algn="ctr" rtl="0" fontAlgn="ctr"/>
                      <a:endParaRPr lang="en-US" sz="1000" b="0" i="0" u="none" strike="noStrike" dirty="0">
                        <a:effectLst/>
                        <a:latin typeface="Calibri" panose="020F0502020204030204" pitchFamily="34" charset="0"/>
                      </a:endParaRPr>
                    </a:p>
                  </a:txBody>
                  <a:tcPr marL="0" marR="0" marT="0" marB="0" anchor="ctr"/>
                </a:tc>
                <a:tc vMerge="1">
                  <a:txBody>
                    <a:bodyPr/>
                    <a:lstStyle/>
                    <a:p>
                      <a:endParaRPr lang="en-AE"/>
                    </a:p>
                  </a:txBody>
                  <a:tcPr/>
                </a:tc>
                <a:extLst>
                  <a:ext uri="{0D108BD9-81ED-4DB2-BD59-A6C34878D82A}">
                    <a16:rowId xmlns:a16="http://schemas.microsoft.com/office/drawing/2014/main" val="1642104945"/>
                  </a:ext>
                </a:extLst>
              </a:tr>
              <a:tr h="683994">
                <a:tc>
                  <a:txBody>
                    <a:bodyPr/>
                    <a:lstStyle/>
                    <a:p>
                      <a:pPr marL="0" marR="0" algn="ctr" rtl="0">
                        <a:lnSpc>
                          <a:spcPct val="107000"/>
                        </a:lnSpc>
                        <a:spcBef>
                          <a:spcPts val="0"/>
                        </a:spcBef>
                        <a:spcAft>
                          <a:spcPts val="0"/>
                        </a:spcAft>
                      </a:pPr>
                      <a:r>
                        <a:rPr lang="en-US" sz="1050">
                          <a:effectLst/>
                          <a:latin typeface="+mn-lt"/>
                        </a:rPr>
                        <a:t>139</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سجل العقود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بيانات العقود والاعتماد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إدارة عمليات الاعتماد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الاعتمادات</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vMerge="1">
                  <a:txBody>
                    <a:bodyPr/>
                    <a:lstStyle/>
                    <a:p>
                      <a:pPr algn="ctr" rtl="0" fontAlgn="ctr"/>
                      <a:endParaRPr lang="en-US" sz="1000" b="0" i="0" u="none" strike="noStrike" dirty="0">
                        <a:effectLst/>
                        <a:latin typeface="Calibri" panose="020F0502020204030204" pitchFamily="34" charset="0"/>
                      </a:endParaRPr>
                    </a:p>
                  </a:txBody>
                  <a:tcPr marL="0" marR="0" marT="0" marB="0" anchor="ctr"/>
                </a:tc>
                <a:tc vMerge="1">
                  <a:txBody>
                    <a:bodyPr/>
                    <a:lstStyle/>
                    <a:p>
                      <a:endParaRPr lang="en-AE"/>
                    </a:p>
                  </a:txBody>
                  <a:tcPr/>
                </a:tc>
                <a:extLst>
                  <a:ext uri="{0D108BD9-81ED-4DB2-BD59-A6C34878D82A}">
                    <a16:rowId xmlns:a16="http://schemas.microsoft.com/office/drawing/2014/main" val="3969833760"/>
                  </a:ext>
                </a:extLst>
              </a:tr>
              <a:tr h="683994">
                <a:tc>
                  <a:txBody>
                    <a:bodyPr/>
                    <a:lstStyle/>
                    <a:p>
                      <a:pPr marL="0" marR="0" algn="ctr" rtl="0">
                        <a:lnSpc>
                          <a:spcPct val="107000"/>
                        </a:lnSpc>
                        <a:spcBef>
                          <a:spcPts val="0"/>
                        </a:spcBef>
                        <a:spcAft>
                          <a:spcPts val="0"/>
                        </a:spcAft>
                      </a:pPr>
                      <a:r>
                        <a:rPr lang="en-US" sz="1050">
                          <a:effectLst/>
                          <a:latin typeface="+mn-lt"/>
                        </a:rPr>
                        <a:t>140</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سجل زيارة إعتماد </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تفاصيل زيارات الاعتمادات</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إدارة عمليات الاعتماد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5747" marR="25747" marT="0" marB="0" anchor="ctr"/>
                </a:tc>
                <a:tc>
                  <a:txBody>
                    <a:bodyPr/>
                    <a:lstStyle/>
                    <a:p>
                      <a:pPr marL="0" marR="0" algn="ctr" rtl="1">
                        <a:lnSpc>
                          <a:spcPct val="107000"/>
                        </a:lnSpc>
                        <a:spcBef>
                          <a:spcPts val="0"/>
                        </a:spcBef>
                        <a:spcAft>
                          <a:spcPts val="0"/>
                        </a:spcAft>
                      </a:pPr>
                      <a:r>
                        <a:rPr lang="ar-SA" sz="1050" dirty="0">
                          <a:effectLst/>
                          <a:latin typeface="+mn-lt"/>
                        </a:rPr>
                        <a:t>الاعتمادات</a:t>
                      </a:r>
                      <a:endParaRPr lang="en-US" sz="1050" dirty="0">
                        <a:effectLst/>
                        <a:latin typeface="+mn-lt"/>
                        <a:ea typeface="Calibri" panose="020F0502020204030204" pitchFamily="34" charset="0"/>
                        <a:cs typeface="Arial" panose="020B0604020202020204" pitchFamily="34" charset="0"/>
                      </a:endParaRPr>
                    </a:p>
                  </a:txBody>
                  <a:tcPr marL="25747" marR="25747" marT="0" marB="0" anchor="ctr"/>
                </a:tc>
                <a:tc vMerge="1">
                  <a:txBody>
                    <a:bodyPr/>
                    <a:lstStyle/>
                    <a:p>
                      <a:pPr algn="ctr" rtl="0" fontAlgn="ctr"/>
                      <a:endParaRPr lang="en-US" sz="1000" b="0" i="0" u="none" strike="noStrike" dirty="0">
                        <a:effectLst/>
                        <a:latin typeface="Calibri" panose="020F0502020204030204" pitchFamily="34" charset="0"/>
                      </a:endParaRPr>
                    </a:p>
                  </a:txBody>
                  <a:tcPr marL="0" marR="0" marT="0" marB="0" anchor="ctr"/>
                </a:tc>
                <a:tc vMerge="1">
                  <a:txBody>
                    <a:bodyPr/>
                    <a:lstStyle/>
                    <a:p>
                      <a:endParaRPr lang="en-AE"/>
                    </a:p>
                  </a:txBody>
                  <a:tcPr/>
                </a:tc>
                <a:extLst>
                  <a:ext uri="{0D108BD9-81ED-4DB2-BD59-A6C34878D82A}">
                    <a16:rowId xmlns:a16="http://schemas.microsoft.com/office/drawing/2014/main" val="392370575"/>
                  </a:ext>
                </a:extLst>
              </a:tr>
            </a:tbl>
          </a:graphicData>
        </a:graphic>
      </p:graphicFrame>
      <p:grpSp>
        <p:nvGrpSpPr>
          <p:cNvPr id="2" name="Group 1">
            <a:extLst>
              <a:ext uri="{FF2B5EF4-FFF2-40B4-BE49-F238E27FC236}">
                <a16:creationId xmlns:a16="http://schemas.microsoft.com/office/drawing/2014/main" id="{D4C79F8E-319E-C70E-437C-A7E8D21579D1}"/>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8439249E-EF69-C814-2DE9-F6A07F34AD30}"/>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E6221DA9-E4FB-5272-A690-E99FA6686EBD}"/>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5332505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D6ED5F-1C24-4EB7-9AAC-0FA925425E12}"/>
              </a:ext>
            </a:extLst>
          </p:cNvPr>
          <p:cNvSpPr>
            <a:spLocks noGrp="1"/>
          </p:cNvSpPr>
          <p:nvPr>
            <p:ph type="sldNum" sz="quarter" idx="12"/>
          </p:nvPr>
        </p:nvSpPr>
        <p:spPr/>
        <p:txBody>
          <a:bodyPr/>
          <a:lstStyle/>
          <a:p>
            <a:fld id="{0BE4EC83-A869-464E-AE9F-881796FB085E}" type="slidenum">
              <a:rPr lang="en-US" smtClean="0"/>
              <a:t>55</a:t>
            </a:fld>
            <a:endParaRPr lang="en-US"/>
          </a:p>
        </p:txBody>
      </p:sp>
      <p:graphicFrame>
        <p:nvGraphicFramePr>
          <p:cNvPr id="4" name="Table 3">
            <a:extLst>
              <a:ext uri="{FF2B5EF4-FFF2-40B4-BE49-F238E27FC236}">
                <a16:creationId xmlns:a16="http://schemas.microsoft.com/office/drawing/2014/main" id="{3DDB181B-B7B4-4241-BE63-1F9A05EFF517}"/>
              </a:ext>
            </a:extLst>
          </p:cNvPr>
          <p:cNvGraphicFramePr>
            <a:graphicFrameLocks noGrp="1"/>
          </p:cNvGraphicFramePr>
          <p:nvPr>
            <p:extLst>
              <p:ext uri="{D42A27DB-BD31-4B8C-83A1-F6EECF244321}">
                <p14:modId xmlns:p14="http://schemas.microsoft.com/office/powerpoint/2010/main" val="810538029"/>
              </p:ext>
            </p:extLst>
          </p:nvPr>
        </p:nvGraphicFramePr>
        <p:xfrm>
          <a:off x="621453" y="866055"/>
          <a:ext cx="11021224" cy="5125890"/>
        </p:xfrm>
        <a:graphic>
          <a:graphicData uri="http://schemas.openxmlformats.org/drawingml/2006/table">
            <a:tbl>
              <a:tblPr rtl="1" firstRow="1" firstCol="1" bandRow="1">
                <a:tableStyleId>{5C22544A-7EE6-4342-B048-85BDC9FD1C3A}</a:tableStyleId>
              </a:tblPr>
              <a:tblGrid>
                <a:gridCol w="377697">
                  <a:extLst>
                    <a:ext uri="{9D8B030D-6E8A-4147-A177-3AD203B41FA5}">
                      <a16:colId xmlns:a16="http://schemas.microsoft.com/office/drawing/2014/main" val="480475358"/>
                    </a:ext>
                  </a:extLst>
                </a:gridCol>
                <a:gridCol w="974461">
                  <a:extLst>
                    <a:ext uri="{9D8B030D-6E8A-4147-A177-3AD203B41FA5}">
                      <a16:colId xmlns:a16="http://schemas.microsoft.com/office/drawing/2014/main" val="1181073549"/>
                    </a:ext>
                  </a:extLst>
                </a:gridCol>
                <a:gridCol w="2349282">
                  <a:extLst>
                    <a:ext uri="{9D8B030D-6E8A-4147-A177-3AD203B41FA5}">
                      <a16:colId xmlns:a16="http://schemas.microsoft.com/office/drawing/2014/main" val="3200097327"/>
                    </a:ext>
                  </a:extLst>
                </a:gridCol>
                <a:gridCol w="1382375">
                  <a:extLst>
                    <a:ext uri="{9D8B030D-6E8A-4147-A177-3AD203B41FA5}">
                      <a16:colId xmlns:a16="http://schemas.microsoft.com/office/drawing/2014/main" val="3610328116"/>
                    </a:ext>
                  </a:extLst>
                </a:gridCol>
                <a:gridCol w="626978">
                  <a:extLst>
                    <a:ext uri="{9D8B030D-6E8A-4147-A177-3AD203B41FA5}">
                      <a16:colId xmlns:a16="http://schemas.microsoft.com/office/drawing/2014/main" val="3718277861"/>
                    </a:ext>
                  </a:extLst>
                </a:gridCol>
                <a:gridCol w="717626">
                  <a:extLst>
                    <a:ext uri="{9D8B030D-6E8A-4147-A177-3AD203B41FA5}">
                      <a16:colId xmlns:a16="http://schemas.microsoft.com/office/drawing/2014/main" val="2189232211"/>
                    </a:ext>
                  </a:extLst>
                </a:gridCol>
                <a:gridCol w="589209">
                  <a:extLst>
                    <a:ext uri="{9D8B030D-6E8A-4147-A177-3AD203B41FA5}">
                      <a16:colId xmlns:a16="http://schemas.microsoft.com/office/drawing/2014/main" val="2536850537"/>
                    </a:ext>
                  </a:extLst>
                </a:gridCol>
                <a:gridCol w="710072">
                  <a:extLst>
                    <a:ext uri="{9D8B030D-6E8A-4147-A177-3AD203B41FA5}">
                      <a16:colId xmlns:a16="http://schemas.microsoft.com/office/drawing/2014/main" val="1224836535"/>
                    </a:ext>
                  </a:extLst>
                </a:gridCol>
                <a:gridCol w="1912557">
                  <a:extLst>
                    <a:ext uri="{9D8B030D-6E8A-4147-A177-3AD203B41FA5}">
                      <a16:colId xmlns:a16="http://schemas.microsoft.com/office/drawing/2014/main" val="188268024"/>
                    </a:ext>
                  </a:extLst>
                </a:gridCol>
                <a:gridCol w="1380967">
                  <a:extLst>
                    <a:ext uri="{9D8B030D-6E8A-4147-A177-3AD203B41FA5}">
                      <a16:colId xmlns:a16="http://schemas.microsoft.com/office/drawing/2014/main" val="3560432857"/>
                    </a:ext>
                  </a:extLst>
                </a:gridCol>
              </a:tblGrid>
              <a:tr h="298209">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خزينة البيانات</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22647" marR="22647" marT="0" marB="0" anchor="ctr"/>
                </a:tc>
                <a:extLst>
                  <a:ext uri="{0D108BD9-81ED-4DB2-BD59-A6C34878D82A}">
                    <a16:rowId xmlns:a16="http://schemas.microsoft.com/office/drawing/2014/main" val="3026522534"/>
                  </a:ext>
                </a:extLst>
              </a:tr>
              <a:tr h="636637">
                <a:tc>
                  <a:txBody>
                    <a:bodyPr/>
                    <a:lstStyle/>
                    <a:p>
                      <a:pPr marL="0" marR="0" algn="ctr" rtl="0">
                        <a:lnSpc>
                          <a:spcPct val="107000"/>
                        </a:lnSpc>
                        <a:spcBef>
                          <a:spcPts val="0"/>
                        </a:spcBef>
                        <a:spcAft>
                          <a:spcPts val="0"/>
                        </a:spcAft>
                      </a:pPr>
                      <a:r>
                        <a:rPr lang="en-US" sz="1050">
                          <a:effectLst/>
                          <a:latin typeface="+mn-lt"/>
                        </a:rPr>
                        <a:t>141</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سجل التصحيحات</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العملية التي تقوم من خلالها الهيئة بتحديد وتصنيف وتثبيت التحديثات أو التصحيحات البرمجية على الأنظمة والتطبيقات</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إدارة عمليات الأمن السيبراني</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algn="ctr" rtl="1" fontAlgn="ctr"/>
                      <a:r>
                        <a:rPr lang="ar-SA" sz="1100" b="1" i="0" u="none" strike="noStrike">
                          <a:effectLst/>
                          <a:latin typeface="Sakkal Majalla" panose="02000000000000000000" pitchFamily="2" charset="-78"/>
                          <a:cs typeface="Sakkal Majalla" panose="02000000000000000000" pitchFamily="2" charset="-78"/>
                        </a:rPr>
                        <a:t>غير محدد</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انشاء واجهة للتكامل </a:t>
                      </a:r>
                      <a:r>
                        <a:rPr lang="en-US" sz="1100" dirty="0">
                          <a:effectLst/>
                          <a:latin typeface="+mn-lt"/>
                        </a:rPr>
                        <a:t>API</a:t>
                      </a:r>
                      <a:r>
                        <a:rPr lang="ar-SA" sz="11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398682496"/>
                  </a:ext>
                </a:extLst>
              </a:tr>
              <a:tr h="868142">
                <a:tc>
                  <a:txBody>
                    <a:bodyPr/>
                    <a:lstStyle/>
                    <a:p>
                      <a:pPr marL="0" marR="0" algn="ctr" rtl="0">
                        <a:lnSpc>
                          <a:spcPct val="107000"/>
                        </a:lnSpc>
                        <a:spcBef>
                          <a:spcPts val="0"/>
                        </a:spcBef>
                        <a:spcAft>
                          <a:spcPts val="0"/>
                        </a:spcAft>
                      </a:pPr>
                      <a:r>
                        <a:rPr lang="en-US" sz="1050">
                          <a:effectLst/>
                          <a:latin typeface="+mn-lt"/>
                        </a:rPr>
                        <a:t>142</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سجل خطط التعافي من الكوارث</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مجموعة من السياسات والإجراءات والخطط التي تضعها الهيئة لضمان استمرارية العمليات واستعادة الأنظمة والتطبيقات والبنية التحتية التقنية بعد حدوث كارثة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إدارة عمليات الأمن السيبراني</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rowSpan="4">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rowSpan="4">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4136723048"/>
                  </a:ext>
                </a:extLst>
              </a:tr>
              <a:tr h="1389026">
                <a:tc>
                  <a:txBody>
                    <a:bodyPr/>
                    <a:lstStyle/>
                    <a:p>
                      <a:pPr marL="0" marR="0" algn="ctr" rtl="0">
                        <a:lnSpc>
                          <a:spcPct val="107000"/>
                        </a:lnSpc>
                        <a:spcBef>
                          <a:spcPts val="0"/>
                        </a:spcBef>
                        <a:spcAft>
                          <a:spcPts val="0"/>
                        </a:spcAft>
                      </a:pPr>
                      <a:r>
                        <a:rPr lang="en-US" sz="1050">
                          <a:effectLst/>
                          <a:latin typeface="+mn-lt"/>
                        </a:rPr>
                        <a:t>143</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سجل رصد الأنظمة </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العملية المستمرة لرصد الأنظمة والشبكات والتطبيقات بحثًا عن أي نشاط غير عادي أو تهديدات محتملة قد تؤثر على أمن الهيئة. تهدف المراقبة إلى اكتشاف التهديدات بشكل مبكر، ومنع الهجمات، والاستجابة لها بسرعة لضمان حماية البيانات والأنظمة.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إدارة عمليات الأمن السيبراني</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vMerge="1">
                  <a:txBody>
                    <a:bodyPr/>
                    <a:lstStyle/>
                    <a:p>
                      <a:pPr algn="ctr" rtl="1" fontAlgn="ctr"/>
                      <a:r>
                        <a:rPr lang="ar-SA" sz="1000" b="0" i="0" u="none" strike="noStrike">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2381931815"/>
                  </a:ext>
                </a:extLst>
              </a:tr>
              <a:tr h="694513">
                <a:tc>
                  <a:txBody>
                    <a:bodyPr/>
                    <a:lstStyle/>
                    <a:p>
                      <a:pPr marL="0" marR="0" algn="ctr" rtl="0">
                        <a:lnSpc>
                          <a:spcPct val="107000"/>
                        </a:lnSpc>
                        <a:spcBef>
                          <a:spcPts val="0"/>
                        </a:spcBef>
                        <a:spcAft>
                          <a:spcPts val="0"/>
                        </a:spcAft>
                      </a:pPr>
                      <a:r>
                        <a:rPr lang="en-US" sz="1050">
                          <a:effectLst/>
                          <a:latin typeface="+mn-lt"/>
                        </a:rPr>
                        <a:t>144</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منظومة حماية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مجموعة من البرمجيات والتقنيات والحلول التي تُستخدم لحماية الأنظمة والشبكات والمعلومات من التهديدات السيبرانية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إدارة عمليات الأمن السيبراني</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الحوكمة والمخاطر والالتزام</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vMerge="1">
                  <a:txBody>
                    <a:bodyPr/>
                    <a:lstStyle/>
                    <a:p>
                      <a:pPr algn="ctr" rtl="1" fontAlgn="ctr"/>
                      <a:r>
                        <a:rPr lang="ar-SA" sz="1000" b="0" i="0" u="none" strike="noStrike">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299656838"/>
                  </a:ext>
                </a:extLst>
              </a:tr>
              <a:tr h="231504">
                <a:tc>
                  <a:txBody>
                    <a:bodyPr/>
                    <a:lstStyle/>
                    <a:p>
                      <a:pPr marL="0" marR="0" algn="ctr" rtl="0">
                        <a:lnSpc>
                          <a:spcPct val="107000"/>
                        </a:lnSpc>
                        <a:spcBef>
                          <a:spcPts val="0"/>
                        </a:spcBef>
                        <a:spcAft>
                          <a:spcPts val="0"/>
                        </a:spcAft>
                      </a:pPr>
                      <a:r>
                        <a:rPr lang="en-US" sz="1050">
                          <a:effectLst/>
                          <a:latin typeface="+mn-lt"/>
                        </a:rPr>
                        <a:t>145</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سجل التطوير المهني</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بيانات التطوير المهني المستمر  </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إدارة عمليات التدريب</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عام</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التدريب</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vMerge="1">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vMerge="1">
                  <a:txBody>
                    <a:bodyPr/>
                    <a:lstStyle/>
                    <a:p>
                      <a:endParaRPr lang="en-AE"/>
                    </a:p>
                  </a:txBody>
                  <a:tcPr/>
                </a:tc>
                <a:extLst>
                  <a:ext uri="{0D108BD9-81ED-4DB2-BD59-A6C34878D82A}">
                    <a16:rowId xmlns:a16="http://schemas.microsoft.com/office/drawing/2014/main" val="1895806446"/>
                  </a:ext>
                </a:extLst>
              </a:tr>
              <a:tr h="320709">
                <a:tc>
                  <a:txBody>
                    <a:bodyPr/>
                    <a:lstStyle/>
                    <a:p>
                      <a:pPr marL="0" marR="0" algn="ctr" rtl="0">
                        <a:lnSpc>
                          <a:spcPct val="107000"/>
                        </a:lnSpc>
                        <a:spcBef>
                          <a:spcPts val="0"/>
                        </a:spcBef>
                        <a:spcAft>
                          <a:spcPts val="0"/>
                        </a:spcAft>
                      </a:pPr>
                      <a:r>
                        <a:rPr lang="en-US" sz="1050">
                          <a:effectLst/>
                          <a:latin typeface="+mn-lt"/>
                        </a:rPr>
                        <a:t>146</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نموذج سعر تقديري</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معلومات المشروع وجدول البنود والأسعار التقديرية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إدارة عمليات الشراء</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سري</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الطرح والعقود</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algn="ctr" rtl="1" fontAlgn="ctr"/>
                      <a:r>
                        <a:rPr lang="ar-SA" sz="1100" b="1" i="0" u="none" strike="noStrike">
                          <a:effectLst/>
                          <a:latin typeface="Sakkal Majalla" panose="02000000000000000000" pitchFamily="2" charset="-78"/>
                          <a:cs typeface="Sakkal Majalla" panose="02000000000000000000" pitchFamily="2" charset="-78"/>
                        </a:rPr>
                        <a:t>متعدد </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kern="1200" dirty="0">
                          <a:solidFill>
                            <a:schemeClr val="dk1"/>
                          </a:solidFill>
                          <a:effectLst/>
                          <a:latin typeface="+mn-lt"/>
                          <a:ea typeface="+mn-ea"/>
                          <a:cs typeface="+mn-cs"/>
                        </a:rPr>
                        <a:t>انشاء واجهة للتكامل </a:t>
                      </a:r>
                      <a:r>
                        <a:rPr lang="en-US" sz="1100" kern="1200" dirty="0">
                          <a:solidFill>
                            <a:schemeClr val="dk1"/>
                          </a:solidFill>
                          <a:effectLst/>
                          <a:latin typeface="+mn-lt"/>
                          <a:ea typeface="+mn-ea"/>
                          <a:cs typeface="+mn-cs"/>
                        </a:rPr>
                        <a:t>API</a:t>
                      </a:r>
                      <a:r>
                        <a:rPr lang="ar-SA" sz="11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520004375"/>
                  </a:ext>
                </a:extLst>
              </a:tr>
              <a:tr h="374559">
                <a:tc>
                  <a:txBody>
                    <a:bodyPr/>
                    <a:lstStyle/>
                    <a:p>
                      <a:pPr marL="0" marR="0" algn="ctr" rtl="0">
                        <a:lnSpc>
                          <a:spcPct val="107000"/>
                        </a:lnSpc>
                        <a:spcBef>
                          <a:spcPts val="0"/>
                        </a:spcBef>
                        <a:spcAft>
                          <a:spcPts val="0"/>
                        </a:spcAft>
                      </a:pPr>
                      <a:r>
                        <a:rPr lang="en-US" sz="1050">
                          <a:effectLst/>
                          <a:latin typeface="+mn-lt"/>
                        </a:rPr>
                        <a:t>147</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سجل خطابات الجهات الرقابية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تفاصيل الخطابات من الجهة المرسلة والموضوع ورقم الخطاب</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إدراة المراجعة الداخلية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marL="0" marR="0" algn="ctr" rtl="1">
                        <a:lnSpc>
                          <a:spcPct val="107000"/>
                        </a:lnSpc>
                        <a:spcBef>
                          <a:spcPts val="0"/>
                        </a:spcBef>
                        <a:spcAft>
                          <a:spcPts val="0"/>
                        </a:spcAft>
                      </a:pPr>
                      <a:r>
                        <a:rPr lang="ar-SA" sz="1050">
                          <a:effectLst/>
                          <a:latin typeface="+mn-lt"/>
                        </a:rPr>
                        <a:t>المراجعة الداخلية</a:t>
                      </a:r>
                      <a:endParaRPr lang="en-US" sz="1050">
                        <a:effectLst/>
                        <a:latin typeface="+mn-lt"/>
                        <a:ea typeface="Calibri" panose="020F0502020204030204" pitchFamily="34" charset="0"/>
                        <a:cs typeface="Arial" panose="020B0604020202020204" pitchFamily="34" charset="0"/>
                      </a:endParaRPr>
                    </a:p>
                  </a:txBody>
                  <a:tcPr marL="22647" marR="22647" marT="0" marB="0" anchor="ctr"/>
                </a:tc>
                <a:tc>
                  <a:txBody>
                    <a:bodyPr/>
                    <a:lstStyle/>
                    <a:p>
                      <a:pPr algn="ctr" rtl="1" fontAlgn="ctr"/>
                      <a:r>
                        <a:rPr lang="ar-SA" sz="1000" b="0" i="0" u="none" strike="noStrike" dirty="0">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060249264"/>
                  </a:ext>
                </a:extLst>
              </a:tr>
            </a:tbl>
          </a:graphicData>
        </a:graphic>
      </p:graphicFrame>
      <p:grpSp>
        <p:nvGrpSpPr>
          <p:cNvPr id="2" name="Group 1">
            <a:extLst>
              <a:ext uri="{FF2B5EF4-FFF2-40B4-BE49-F238E27FC236}">
                <a16:creationId xmlns:a16="http://schemas.microsoft.com/office/drawing/2014/main" id="{D7D3BBF7-1428-33B0-AF5B-AC7310F66413}"/>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78D74B83-CAEC-7DA9-71E1-BEBF2475066E}"/>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FEB56AF0-0BD6-769B-03A0-D80574848CBD}"/>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38782931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B1F2CA-001A-4B69-9BEB-E88A26100613}"/>
              </a:ext>
            </a:extLst>
          </p:cNvPr>
          <p:cNvSpPr>
            <a:spLocks noGrp="1"/>
          </p:cNvSpPr>
          <p:nvPr>
            <p:ph type="sldNum" sz="quarter" idx="12"/>
          </p:nvPr>
        </p:nvSpPr>
        <p:spPr/>
        <p:txBody>
          <a:bodyPr/>
          <a:lstStyle/>
          <a:p>
            <a:fld id="{0BE4EC83-A869-464E-AE9F-881796FB085E}" type="slidenum">
              <a:rPr lang="en-US" smtClean="0"/>
              <a:t>56</a:t>
            </a:fld>
            <a:endParaRPr lang="en-US"/>
          </a:p>
        </p:txBody>
      </p:sp>
      <p:graphicFrame>
        <p:nvGraphicFramePr>
          <p:cNvPr id="4" name="Table 3">
            <a:extLst>
              <a:ext uri="{FF2B5EF4-FFF2-40B4-BE49-F238E27FC236}">
                <a16:creationId xmlns:a16="http://schemas.microsoft.com/office/drawing/2014/main" id="{ABCC26A0-4DCD-4EF5-8B6F-8B3F00F961E4}"/>
              </a:ext>
            </a:extLst>
          </p:cNvPr>
          <p:cNvGraphicFramePr>
            <a:graphicFrameLocks noGrp="1"/>
          </p:cNvGraphicFramePr>
          <p:nvPr>
            <p:extLst>
              <p:ext uri="{D42A27DB-BD31-4B8C-83A1-F6EECF244321}">
                <p14:modId xmlns:p14="http://schemas.microsoft.com/office/powerpoint/2010/main" val="1168550873"/>
              </p:ext>
            </p:extLst>
          </p:nvPr>
        </p:nvGraphicFramePr>
        <p:xfrm>
          <a:off x="621452" y="850575"/>
          <a:ext cx="10960946" cy="5156850"/>
        </p:xfrm>
        <a:graphic>
          <a:graphicData uri="http://schemas.openxmlformats.org/drawingml/2006/table">
            <a:tbl>
              <a:tblPr rtl="1" firstRow="1" firstCol="1" bandRow="1">
                <a:tableStyleId>{5C22544A-7EE6-4342-B048-85BDC9FD1C3A}</a:tableStyleId>
              </a:tblPr>
              <a:tblGrid>
                <a:gridCol w="333248">
                  <a:extLst>
                    <a:ext uri="{9D8B030D-6E8A-4147-A177-3AD203B41FA5}">
                      <a16:colId xmlns:a16="http://schemas.microsoft.com/office/drawing/2014/main" val="1437163768"/>
                    </a:ext>
                  </a:extLst>
                </a:gridCol>
                <a:gridCol w="1173610">
                  <a:extLst>
                    <a:ext uri="{9D8B030D-6E8A-4147-A177-3AD203B41FA5}">
                      <a16:colId xmlns:a16="http://schemas.microsoft.com/office/drawing/2014/main" val="2658910871"/>
                    </a:ext>
                  </a:extLst>
                </a:gridCol>
                <a:gridCol w="3086162">
                  <a:extLst>
                    <a:ext uri="{9D8B030D-6E8A-4147-A177-3AD203B41FA5}">
                      <a16:colId xmlns:a16="http://schemas.microsoft.com/office/drawing/2014/main" val="4232245055"/>
                    </a:ext>
                  </a:extLst>
                </a:gridCol>
                <a:gridCol w="1115654">
                  <a:extLst>
                    <a:ext uri="{9D8B030D-6E8A-4147-A177-3AD203B41FA5}">
                      <a16:colId xmlns:a16="http://schemas.microsoft.com/office/drawing/2014/main" val="615169983"/>
                    </a:ext>
                  </a:extLst>
                </a:gridCol>
                <a:gridCol w="709963">
                  <a:extLst>
                    <a:ext uri="{9D8B030D-6E8A-4147-A177-3AD203B41FA5}">
                      <a16:colId xmlns:a16="http://schemas.microsoft.com/office/drawing/2014/main" val="3326432516"/>
                    </a:ext>
                  </a:extLst>
                </a:gridCol>
                <a:gridCol w="536094">
                  <a:extLst>
                    <a:ext uri="{9D8B030D-6E8A-4147-A177-3AD203B41FA5}">
                      <a16:colId xmlns:a16="http://schemas.microsoft.com/office/drawing/2014/main" val="2674293368"/>
                    </a:ext>
                  </a:extLst>
                </a:gridCol>
                <a:gridCol w="521606">
                  <a:extLst>
                    <a:ext uri="{9D8B030D-6E8A-4147-A177-3AD203B41FA5}">
                      <a16:colId xmlns:a16="http://schemas.microsoft.com/office/drawing/2014/main" val="1925190337"/>
                    </a:ext>
                  </a:extLst>
                </a:gridCol>
                <a:gridCol w="804141">
                  <a:extLst>
                    <a:ext uri="{9D8B030D-6E8A-4147-A177-3AD203B41FA5}">
                      <a16:colId xmlns:a16="http://schemas.microsoft.com/office/drawing/2014/main" val="1039049941"/>
                    </a:ext>
                  </a:extLst>
                </a:gridCol>
                <a:gridCol w="1340234">
                  <a:extLst>
                    <a:ext uri="{9D8B030D-6E8A-4147-A177-3AD203B41FA5}">
                      <a16:colId xmlns:a16="http://schemas.microsoft.com/office/drawing/2014/main" val="1652773663"/>
                    </a:ext>
                  </a:extLst>
                </a:gridCol>
                <a:gridCol w="1340234">
                  <a:extLst>
                    <a:ext uri="{9D8B030D-6E8A-4147-A177-3AD203B41FA5}">
                      <a16:colId xmlns:a16="http://schemas.microsoft.com/office/drawing/2014/main" val="3095903229"/>
                    </a:ext>
                  </a:extLst>
                </a:gridCol>
              </a:tblGrid>
              <a:tr h="533519">
                <a:tc>
                  <a:txBody>
                    <a:bodyPr/>
                    <a:lstStyle/>
                    <a:p>
                      <a:pPr marL="0" marR="0" algn="ctr" rtl="0">
                        <a:lnSpc>
                          <a:spcPct val="107000"/>
                        </a:lnSpc>
                        <a:spcBef>
                          <a:spcPts val="0"/>
                        </a:spcBef>
                        <a:spcAft>
                          <a:spcPts val="0"/>
                        </a:spcAft>
                      </a:pPr>
                      <a:r>
                        <a:rPr lang="en-US" sz="1050">
                          <a:effectLst/>
                          <a:latin typeface="+mn-lt"/>
                        </a:rPr>
                        <a:t>#</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dirty="0">
                          <a:effectLst/>
                          <a:latin typeface="+mn-lt"/>
                        </a:rPr>
                        <a:t>اسم الكيان</a:t>
                      </a:r>
                      <a:endParaRPr lang="en-US" sz="1050" dirty="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وصف الكيان</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الإدارة المالكة للكيان</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تصنيف الكيان</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الربط مع الشبكة الحكومية الآمنة</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الربط مع قناة التكامل الحكومية</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مجموعة البيانات</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خزينة البيانات</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050" dirty="0">
                          <a:effectLst/>
                          <a:latin typeface="+mn-lt"/>
                          <a:ea typeface="Calibri" panose="020F0502020204030204" pitchFamily="34" charset="0"/>
                          <a:cs typeface="Arial" panose="020B0604020202020204" pitchFamily="34" charset="0"/>
                        </a:rPr>
                        <a:t>الوضع المستقبلي</a:t>
                      </a:r>
                      <a:endParaRPr lang="en-US" sz="1050" dirty="0">
                        <a:effectLst/>
                        <a:latin typeface="+mn-lt"/>
                        <a:ea typeface="Calibri" panose="020F0502020204030204" pitchFamily="34" charset="0"/>
                        <a:cs typeface="Arial" panose="020B0604020202020204" pitchFamily="34" charset="0"/>
                      </a:endParaRPr>
                    </a:p>
                  </a:txBody>
                  <a:tcPr marL="40518" marR="40518" marT="0" marB="0" anchor="ctr"/>
                </a:tc>
                <a:extLst>
                  <a:ext uri="{0D108BD9-81ED-4DB2-BD59-A6C34878D82A}">
                    <a16:rowId xmlns:a16="http://schemas.microsoft.com/office/drawing/2014/main" val="884910602"/>
                  </a:ext>
                </a:extLst>
              </a:tr>
              <a:tr h="862799">
                <a:tc>
                  <a:txBody>
                    <a:bodyPr/>
                    <a:lstStyle/>
                    <a:p>
                      <a:pPr marL="0" marR="0" algn="ctr" rtl="0">
                        <a:lnSpc>
                          <a:spcPct val="107000"/>
                        </a:lnSpc>
                        <a:spcBef>
                          <a:spcPts val="0"/>
                        </a:spcBef>
                        <a:spcAft>
                          <a:spcPts val="0"/>
                        </a:spcAft>
                      </a:pPr>
                      <a:r>
                        <a:rPr lang="en-US" sz="1050">
                          <a:effectLst/>
                          <a:latin typeface="+mn-lt"/>
                        </a:rPr>
                        <a:t>148</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سجل خطة التدقيق</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تفاصيل خطة التدقيق من تاريخ البدء التدقيق وتاريخ الانتهاء من التدقيق وأسم المدقق..</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إدراة المراجعة الداخلية</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المراجعة الداخلية</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algn="ctr" rtl="1" fontAlgn="ctr"/>
                      <a:r>
                        <a:rPr lang="ar-SA" sz="1000" b="0" i="0" u="none" strike="noStrike">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456959224"/>
                  </a:ext>
                </a:extLst>
              </a:tr>
              <a:tr h="1138994">
                <a:tc>
                  <a:txBody>
                    <a:bodyPr/>
                    <a:lstStyle/>
                    <a:p>
                      <a:pPr marL="0" marR="0" algn="ctr" rtl="0">
                        <a:lnSpc>
                          <a:spcPct val="107000"/>
                        </a:lnSpc>
                        <a:spcBef>
                          <a:spcPts val="0"/>
                        </a:spcBef>
                        <a:spcAft>
                          <a:spcPts val="0"/>
                        </a:spcAft>
                      </a:pPr>
                      <a:r>
                        <a:rPr lang="en-US" sz="1050">
                          <a:effectLst/>
                          <a:latin typeface="+mn-lt"/>
                        </a:rPr>
                        <a:t>149</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سجل بيانات المستفيد</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بيانات </a:t>
                      </a:r>
                      <a:r>
                        <a:rPr lang="ar-SA" sz="1050" u="sng">
                          <a:effectLst/>
                          <a:latin typeface="+mn-lt"/>
                        </a:rPr>
                        <a:t>المستفيدين الشخصية بالإضافة إلى سجل المدفوعات وتفاصيل الاختبارات المتاحة للتسجيل والقديمة</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مركز قياس</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نعم</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المستفيدون</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rowSpan="2">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0" marR="0" marT="0" marB="0" anchor="ctr"/>
                </a:tc>
                <a:tc rowSpan="2">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انشاء واجهة للتكامل </a:t>
                      </a:r>
                      <a:r>
                        <a:rPr lang="en-US" sz="1100" dirty="0">
                          <a:effectLst/>
                          <a:latin typeface="+mn-lt"/>
                        </a:rPr>
                        <a:t>API</a:t>
                      </a:r>
                      <a:r>
                        <a:rPr lang="ar-SA" sz="11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3060715831"/>
                  </a:ext>
                </a:extLst>
              </a:tr>
              <a:tr h="207090">
                <a:tc>
                  <a:txBody>
                    <a:bodyPr/>
                    <a:lstStyle/>
                    <a:p>
                      <a:pPr marL="0" marR="0" algn="ctr" rtl="0">
                        <a:lnSpc>
                          <a:spcPct val="107000"/>
                        </a:lnSpc>
                        <a:spcBef>
                          <a:spcPts val="0"/>
                        </a:spcBef>
                        <a:spcAft>
                          <a:spcPts val="0"/>
                        </a:spcAft>
                      </a:pPr>
                      <a:r>
                        <a:rPr lang="en-US" sz="1050">
                          <a:effectLst/>
                          <a:latin typeface="+mn-lt"/>
                        </a:rPr>
                        <a:t>150</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سجل التغيير</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بيانات طلب تغيير</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مكتب إدارة المشاريع</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الجودة</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vMerge="1">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0" marR="0" marT="0" marB="0" anchor="ctr"/>
                </a:tc>
                <a:tc vMerge="1">
                  <a:txBody>
                    <a:bodyPr/>
                    <a:lstStyle/>
                    <a:p>
                      <a:endParaRPr lang="en-AE"/>
                    </a:p>
                  </a:txBody>
                  <a:tcPr/>
                </a:tc>
                <a:extLst>
                  <a:ext uri="{0D108BD9-81ED-4DB2-BD59-A6C34878D82A}">
                    <a16:rowId xmlns:a16="http://schemas.microsoft.com/office/drawing/2014/main" val="1828683237"/>
                  </a:ext>
                </a:extLst>
              </a:tr>
              <a:tr h="621269">
                <a:tc>
                  <a:txBody>
                    <a:bodyPr/>
                    <a:lstStyle/>
                    <a:p>
                      <a:pPr marL="0" marR="0" algn="ctr" rtl="0">
                        <a:lnSpc>
                          <a:spcPct val="107000"/>
                        </a:lnSpc>
                        <a:spcBef>
                          <a:spcPts val="0"/>
                        </a:spcBef>
                        <a:spcAft>
                          <a:spcPts val="0"/>
                        </a:spcAft>
                      </a:pPr>
                      <a:r>
                        <a:rPr lang="en-US" sz="1050">
                          <a:effectLst/>
                          <a:latin typeface="+mn-lt"/>
                        </a:rPr>
                        <a:t>151</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سجل المتنافسين</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بيانات المتنافسين لتقديم نموذج تأهيل المتنافسين المسبق</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مكتب إدارة المشاريع</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الطرح والعقود</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algn="ctr" rtl="1" fontAlgn="ctr"/>
                      <a:r>
                        <a:rPr lang="ar-SA" sz="1100" b="1" i="0" u="none" strike="noStrike">
                          <a:effectLst/>
                          <a:latin typeface="Sakkal Majalla" panose="02000000000000000000" pitchFamily="2" charset="-78"/>
                          <a:cs typeface="Sakkal Majalla" panose="02000000000000000000" pitchFamily="2" charset="-78"/>
                        </a:rPr>
                        <a:t>متعدد </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kern="1200" dirty="0" err="1">
                          <a:solidFill>
                            <a:schemeClr val="dk1"/>
                          </a:solidFill>
                          <a:effectLst/>
                          <a:latin typeface="+mn-lt"/>
                          <a:ea typeface="+mn-ea"/>
                          <a:cs typeface="+mn-cs"/>
                        </a:rPr>
                        <a:t>رقمنة</a:t>
                      </a:r>
                      <a:r>
                        <a:rPr lang="ar-SA" sz="11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kern="1200" dirty="0">
                          <a:solidFill>
                            <a:schemeClr val="dk1"/>
                          </a:solidFill>
                          <a:effectLst/>
                          <a:latin typeface="+mn-lt"/>
                          <a:ea typeface="+mn-ea"/>
                          <a:cs typeface="+mn-cs"/>
                        </a:rPr>
                        <a:t>انشاء واجهة للتكامل </a:t>
                      </a:r>
                      <a:r>
                        <a:rPr lang="en-US" sz="1100" kern="1200" dirty="0">
                          <a:solidFill>
                            <a:schemeClr val="dk1"/>
                          </a:solidFill>
                          <a:effectLst/>
                          <a:latin typeface="+mn-lt"/>
                          <a:ea typeface="+mn-ea"/>
                          <a:cs typeface="+mn-cs"/>
                        </a:rPr>
                        <a:t>API</a:t>
                      </a:r>
                      <a:r>
                        <a:rPr lang="ar-SA" sz="11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2185792866"/>
                  </a:ext>
                </a:extLst>
              </a:tr>
              <a:tr h="1138994">
                <a:tc>
                  <a:txBody>
                    <a:bodyPr/>
                    <a:lstStyle/>
                    <a:p>
                      <a:pPr marL="0" marR="0" algn="ctr" rtl="0">
                        <a:lnSpc>
                          <a:spcPct val="107000"/>
                        </a:lnSpc>
                        <a:spcBef>
                          <a:spcPts val="0"/>
                        </a:spcBef>
                        <a:spcAft>
                          <a:spcPts val="0"/>
                        </a:spcAft>
                      </a:pPr>
                      <a:r>
                        <a:rPr lang="en-US" sz="1050">
                          <a:effectLst/>
                          <a:latin typeface="+mn-lt"/>
                        </a:rPr>
                        <a:t>152</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سجل تنفيذ مشروع</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تنسيق الجهود والموارد لتنفيذ المهام وضمان تحقيق الأهداف في الوقت المحدد وبالميزانية المحددة.</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مكتب إدارة المشاريع</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التخطيط الاستراتيجي</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algn="ctr" rtl="1" fontAlgn="ctr"/>
                      <a:r>
                        <a:rPr lang="ar-SA" sz="1000" b="0" i="0" u="none" strike="noStrike">
                          <a:effectLst/>
                          <a:latin typeface="Calibri" panose="020F0502020204030204" pitchFamily="34" charset="0"/>
                        </a:rPr>
                        <a:t>يدوي</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err="1">
                          <a:solidFill>
                            <a:schemeClr val="dk1"/>
                          </a:solidFill>
                          <a:effectLst/>
                          <a:latin typeface="+mn-lt"/>
                          <a:ea typeface="+mn-ea"/>
                          <a:cs typeface="+mn-cs"/>
                        </a:rPr>
                        <a:t>رقمنة</a:t>
                      </a:r>
                      <a:r>
                        <a:rPr lang="ar-SA" sz="1000" kern="1200" dirty="0">
                          <a:solidFill>
                            <a:schemeClr val="dk1"/>
                          </a:solidFill>
                          <a:effectLst/>
                          <a:latin typeface="+mn-lt"/>
                          <a:ea typeface="+mn-ea"/>
                          <a:cs typeface="+mn-cs"/>
                        </a:rPr>
                        <a:t> وارشفة البيانات اليدوية</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000" kern="1200" dirty="0">
                          <a:solidFill>
                            <a:schemeClr val="dk1"/>
                          </a:solidFill>
                          <a:effectLst/>
                          <a:latin typeface="+mn-lt"/>
                          <a:ea typeface="+mn-ea"/>
                          <a:cs typeface="+mn-cs"/>
                        </a:rPr>
                        <a:t>انشاء واجهة للتكامل </a:t>
                      </a:r>
                      <a:r>
                        <a:rPr lang="en-US" sz="1000" kern="1200" dirty="0">
                          <a:solidFill>
                            <a:schemeClr val="dk1"/>
                          </a:solidFill>
                          <a:effectLst/>
                          <a:latin typeface="+mn-lt"/>
                          <a:ea typeface="+mn-ea"/>
                          <a:cs typeface="+mn-cs"/>
                        </a:rPr>
                        <a:t>API</a:t>
                      </a:r>
                      <a:r>
                        <a:rPr lang="ar-SA" sz="1000" kern="1200" dirty="0">
                          <a:solidFill>
                            <a:schemeClr val="dk1"/>
                          </a:solidFill>
                          <a:effectLst/>
                          <a:latin typeface="+mn-lt"/>
                          <a:ea typeface="+mn-ea"/>
                          <a:cs typeface="+mn-cs"/>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653131403"/>
                  </a:ext>
                </a:extLst>
              </a:tr>
              <a:tr h="310635">
                <a:tc>
                  <a:txBody>
                    <a:bodyPr/>
                    <a:lstStyle/>
                    <a:p>
                      <a:pPr marL="0" marR="0" algn="ctr" rtl="0">
                        <a:lnSpc>
                          <a:spcPct val="107000"/>
                        </a:lnSpc>
                        <a:spcBef>
                          <a:spcPts val="0"/>
                        </a:spcBef>
                        <a:spcAft>
                          <a:spcPts val="0"/>
                        </a:spcAft>
                      </a:pPr>
                      <a:r>
                        <a:rPr lang="en-US" sz="1050">
                          <a:effectLst/>
                          <a:latin typeface="+mn-lt"/>
                        </a:rPr>
                        <a:t>153</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مشروع تقني</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dirty="0">
                          <a:effectLst/>
                          <a:latin typeface="+mn-lt"/>
                        </a:rPr>
                        <a:t>بيانات المشاريع التقنية</a:t>
                      </a:r>
                      <a:endParaRPr lang="en-US" sz="1050" dirty="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مكتب إدارة المشاريع</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مقيد</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لا</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marL="0" marR="0" algn="ctr" rtl="1">
                        <a:lnSpc>
                          <a:spcPct val="107000"/>
                        </a:lnSpc>
                        <a:spcBef>
                          <a:spcPts val="0"/>
                        </a:spcBef>
                        <a:spcAft>
                          <a:spcPts val="0"/>
                        </a:spcAft>
                      </a:pPr>
                      <a:r>
                        <a:rPr lang="ar-SA" sz="1050">
                          <a:effectLst/>
                          <a:latin typeface="+mn-lt"/>
                        </a:rPr>
                        <a:t>التخطيط الاستراتيجي</a:t>
                      </a:r>
                      <a:endParaRPr lang="en-US" sz="1050">
                        <a:effectLst/>
                        <a:latin typeface="+mn-lt"/>
                        <a:ea typeface="Calibri" panose="020F0502020204030204" pitchFamily="34" charset="0"/>
                        <a:cs typeface="Arial" panose="020B0604020202020204" pitchFamily="34" charset="0"/>
                      </a:endParaRPr>
                    </a:p>
                  </a:txBody>
                  <a:tcPr marL="40518" marR="40518" marT="0" marB="0" anchor="ctr"/>
                </a:tc>
                <a:tc>
                  <a:txBody>
                    <a:bodyPr/>
                    <a:lstStyle/>
                    <a:p>
                      <a:pPr algn="ctr" rtl="1" fontAlgn="ctr"/>
                      <a:r>
                        <a:rPr lang="ar-SA" sz="1100" b="1" i="0" u="none" strike="noStrike" dirty="0">
                          <a:effectLst/>
                          <a:latin typeface="Sakkal Majalla" panose="02000000000000000000" pitchFamily="2" charset="-78"/>
                          <a:cs typeface="Sakkal Majalla" panose="02000000000000000000" pitchFamily="2" charset="-78"/>
                        </a:rPr>
                        <a:t>غير محدد</a:t>
                      </a:r>
                    </a:p>
                  </a:txBody>
                  <a:tcPr marL="0" marR="0" marT="0" marB="0" anchor="ctr"/>
                </a:tc>
                <a:tc>
                  <a:txBody>
                    <a:bodyPr/>
                    <a:lstStyle/>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تحديد خزينة البيانات</a:t>
                      </a:r>
                    </a:p>
                    <a:p>
                      <a:pPr marL="171450" marR="0" lvl="0" indent="-171450" algn="r" defTabSz="914400" rtl="1" eaLnBrk="1" fontAlgn="ctr" latinLnBrk="0" hangingPunct="1">
                        <a:lnSpc>
                          <a:spcPct val="100000"/>
                        </a:lnSpc>
                        <a:spcBef>
                          <a:spcPts val="0"/>
                        </a:spcBef>
                        <a:spcAft>
                          <a:spcPts val="0"/>
                        </a:spcAft>
                        <a:buClrTx/>
                        <a:buSzTx/>
                        <a:buFont typeface="Arial" panose="020B0604020202020204" pitchFamily="34" charset="0"/>
                        <a:buChar char="•"/>
                        <a:tabLst/>
                        <a:defRPr/>
                      </a:pPr>
                      <a:r>
                        <a:rPr lang="ar-SA" sz="1100" dirty="0">
                          <a:effectLst/>
                          <a:latin typeface="+mn-lt"/>
                        </a:rPr>
                        <a:t>انشاء واجهة للتكامل </a:t>
                      </a:r>
                      <a:r>
                        <a:rPr lang="en-US" sz="1100" dirty="0">
                          <a:effectLst/>
                          <a:latin typeface="+mn-lt"/>
                        </a:rPr>
                        <a:t>API</a:t>
                      </a:r>
                      <a:r>
                        <a:rPr lang="ar-SA" sz="1100" dirty="0">
                          <a:effectLst/>
                          <a:latin typeface="+mn-lt"/>
                        </a:rPr>
                        <a:t> او توثيقها في دليل البيانات</a:t>
                      </a:r>
                    </a:p>
                  </a:txBody>
                  <a:tcPr marL="0" marR="0" marT="0" marB="0" anchor="ctr">
                    <a:solidFill>
                      <a:srgbClr val="00B050"/>
                    </a:solidFill>
                  </a:tcPr>
                </a:tc>
                <a:extLst>
                  <a:ext uri="{0D108BD9-81ED-4DB2-BD59-A6C34878D82A}">
                    <a16:rowId xmlns:a16="http://schemas.microsoft.com/office/drawing/2014/main" val="1452829078"/>
                  </a:ext>
                </a:extLst>
              </a:tr>
            </a:tbl>
          </a:graphicData>
        </a:graphic>
      </p:graphicFrame>
      <p:grpSp>
        <p:nvGrpSpPr>
          <p:cNvPr id="2" name="Group 1">
            <a:extLst>
              <a:ext uri="{FF2B5EF4-FFF2-40B4-BE49-F238E27FC236}">
                <a16:creationId xmlns:a16="http://schemas.microsoft.com/office/drawing/2014/main" id="{93E3BEC3-5B0A-1C67-2CC8-5CA2D682627A}"/>
              </a:ext>
            </a:extLst>
          </p:cNvPr>
          <p:cNvGrpSpPr/>
          <p:nvPr/>
        </p:nvGrpSpPr>
        <p:grpSpPr>
          <a:xfrm>
            <a:off x="5445493" y="6210431"/>
            <a:ext cx="1301014" cy="307777"/>
            <a:chOff x="6981138" y="6166124"/>
            <a:chExt cx="1301014" cy="307777"/>
          </a:xfrm>
        </p:grpSpPr>
        <p:sp>
          <p:nvSpPr>
            <p:cNvPr id="5" name="TextBox 4">
              <a:extLst>
                <a:ext uri="{FF2B5EF4-FFF2-40B4-BE49-F238E27FC236}">
                  <a16:creationId xmlns:a16="http://schemas.microsoft.com/office/drawing/2014/main" id="{4CA0E800-C431-A312-CAD4-1B54BE8AD4E8}"/>
                </a:ext>
              </a:extLst>
            </p:cNvPr>
            <p:cNvSpPr txBox="1"/>
            <p:nvPr/>
          </p:nvSpPr>
          <p:spPr>
            <a:xfrm>
              <a:off x="6981138" y="6166124"/>
              <a:ext cx="1042273" cy="307777"/>
            </a:xfrm>
            <a:prstGeom prst="rect">
              <a:avLst/>
            </a:prstGeom>
            <a:noFill/>
          </p:spPr>
          <p:txBody>
            <a:bodyPr wrap="none" rtlCol="0">
              <a:spAutoFit/>
            </a:bodyPr>
            <a:lstStyle/>
            <a:p>
              <a:pPr algn="r" rtl="1"/>
              <a:r>
                <a:rPr lang="ar-SA" sz="1400" dirty="0"/>
                <a:t>الوضع المستقبلي </a:t>
              </a:r>
              <a:endParaRPr lang="en-US" sz="1400" dirty="0"/>
            </a:p>
          </p:txBody>
        </p:sp>
        <p:sp>
          <p:nvSpPr>
            <p:cNvPr id="6" name="Rectangle 5">
              <a:extLst>
                <a:ext uri="{FF2B5EF4-FFF2-40B4-BE49-F238E27FC236}">
                  <a16:creationId xmlns:a16="http://schemas.microsoft.com/office/drawing/2014/main" id="{17F17CC8-9241-6204-A156-0D9E3C63EAD0}"/>
                </a:ext>
              </a:extLst>
            </p:cNvPr>
            <p:cNvSpPr/>
            <p:nvPr/>
          </p:nvSpPr>
          <p:spPr>
            <a:xfrm>
              <a:off x="8023411" y="6211614"/>
              <a:ext cx="258741" cy="22486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AE"/>
            </a:p>
          </p:txBody>
        </p:sp>
      </p:grpSp>
    </p:spTree>
    <p:extLst>
      <p:ext uri="{BB962C8B-B14F-4D97-AF65-F5344CB8AC3E}">
        <p14:creationId xmlns:p14="http://schemas.microsoft.com/office/powerpoint/2010/main" val="190130993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SA" dirty="0"/>
              <a:t>تحليل الفجوات</a:t>
            </a:r>
            <a:endParaRPr lang="en-US" dirty="0"/>
          </a:p>
        </p:txBody>
      </p:sp>
      <p:sp>
        <p:nvSpPr>
          <p:cNvPr id="4" name="Text Placeholder 3"/>
          <p:cNvSpPr>
            <a:spLocks noGrp="1"/>
          </p:cNvSpPr>
          <p:nvPr>
            <p:ph type="body" sz="quarter" idx="12"/>
          </p:nvPr>
        </p:nvSpPr>
        <p:spPr/>
        <p:txBody>
          <a:bodyPr/>
          <a:lstStyle/>
          <a:p>
            <a:r>
              <a:rPr lang="ar-EG" dirty="0"/>
              <a:t>01</a:t>
            </a:r>
            <a:endParaRPr lang="en-US" dirty="0"/>
          </a:p>
        </p:txBody>
      </p:sp>
      <p:sp>
        <p:nvSpPr>
          <p:cNvPr id="2" name="Text Placeholder 1">
            <a:extLst>
              <a:ext uri="{FF2B5EF4-FFF2-40B4-BE49-F238E27FC236}">
                <a16:creationId xmlns:a16="http://schemas.microsoft.com/office/drawing/2014/main" id="{256E742C-FD54-E193-BF94-1A1446226560}"/>
              </a:ext>
            </a:extLst>
          </p:cNvPr>
          <p:cNvSpPr>
            <a:spLocks noGrp="1"/>
          </p:cNvSpPr>
          <p:nvPr>
            <p:ph type="body" sz="quarter" idx="14"/>
          </p:nvPr>
        </p:nvSpPr>
        <p:spPr/>
        <p:txBody>
          <a:bodyPr/>
          <a:lstStyle/>
          <a:p>
            <a:r>
              <a:rPr lang="ar-SA" dirty="0"/>
              <a:t>07</a:t>
            </a:r>
            <a:endParaRPr lang="en-US" dirty="0"/>
          </a:p>
        </p:txBody>
      </p:sp>
    </p:spTree>
    <p:extLst>
      <p:ext uri="{BB962C8B-B14F-4D97-AF65-F5344CB8AC3E}">
        <p14:creationId xmlns:p14="http://schemas.microsoft.com/office/powerpoint/2010/main" val="391060612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7429F-0197-EC1E-9544-3961285D8C39}"/>
              </a:ext>
            </a:extLst>
          </p:cNvPr>
          <p:cNvSpPr>
            <a:spLocks noGrp="1"/>
          </p:cNvSpPr>
          <p:nvPr>
            <p:ph type="title"/>
          </p:nvPr>
        </p:nvSpPr>
        <p:spPr/>
        <p:txBody>
          <a:bodyPr/>
          <a:lstStyle/>
          <a:p>
            <a:r>
              <a:rPr lang="ar-SA" dirty="0"/>
              <a:t>تصنيفات فجوات البيانات</a:t>
            </a:r>
            <a:endParaRPr lang="en-US" dirty="0"/>
          </a:p>
        </p:txBody>
      </p:sp>
      <p:sp>
        <p:nvSpPr>
          <p:cNvPr id="3" name="Slide Number Placeholder 2">
            <a:extLst>
              <a:ext uri="{FF2B5EF4-FFF2-40B4-BE49-F238E27FC236}">
                <a16:creationId xmlns:a16="http://schemas.microsoft.com/office/drawing/2014/main" id="{8073EDF3-C1B0-9871-9588-F2E03558B263}"/>
              </a:ext>
            </a:extLst>
          </p:cNvPr>
          <p:cNvSpPr>
            <a:spLocks noGrp="1"/>
          </p:cNvSpPr>
          <p:nvPr>
            <p:ph type="sldNum" sz="quarter" idx="12"/>
          </p:nvPr>
        </p:nvSpPr>
        <p:spPr/>
        <p:txBody>
          <a:bodyPr/>
          <a:lstStyle/>
          <a:p>
            <a:fld id="{0BE4EC83-A869-464E-AE9F-881796FB085E}" type="slidenum">
              <a:rPr lang="en-US" smtClean="0"/>
              <a:t>58</a:t>
            </a:fld>
            <a:endParaRPr lang="en-US"/>
          </a:p>
        </p:txBody>
      </p:sp>
      <p:graphicFrame>
        <p:nvGraphicFramePr>
          <p:cNvPr id="5" name="Table 4">
            <a:extLst>
              <a:ext uri="{FF2B5EF4-FFF2-40B4-BE49-F238E27FC236}">
                <a16:creationId xmlns:a16="http://schemas.microsoft.com/office/drawing/2014/main" id="{2E31447A-62E1-5A75-8860-7C3D2567B469}"/>
              </a:ext>
            </a:extLst>
          </p:cNvPr>
          <p:cNvGraphicFramePr>
            <a:graphicFrameLocks noGrp="1"/>
          </p:cNvGraphicFramePr>
          <p:nvPr>
            <p:extLst>
              <p:ext uri="{D42A27DB-BD31-4B8C-83A1-F6EECF244321}">
                <p14:modId xmlns:p14="http://schemas.microsoft.com/office/powerpoint/2010/main" val="2747033034"/>
              </p:ext>
            </p:extLst>
          </p:nvPr>
        </p:nvGraphicFramePr>
        <p:xfrm>
          <a:off x="609602" y="1483622"/>
          <a:ext cx="10972799" cy="4464160"/>
        </p:xfrm>
        <a:graphic>
          <a:graphicData uri="http://schemas.openxmlformats.org/drawingml/2006/table">
            <a:tbl>
              <a:tblPr rtl="1" firstRow="1" bandRow="1">
                <a:tableStyleId>{B301B821-A1FF-4177-AEE7-76D212191A09}</a:tableStyleId>
              </a:tblPr>
              <a:tblGrid>
                <a:gridCol w="330201">
                  <a:extLst>
                    <a:ext uri="{9D8B030D-6E8A-4147-A177-3AD203B41FA5}">
                      <a16:colId xmlns:a16="http://schemas.microsoft.com/office/drawing/2014/main" val="768197547"/>
                    </a:ext>
                  </a:extLst>
                </a:gridCol>
                <a:gridCol w="3873500">
                  <a:extLst>
                    <a:ext uri="{9D8B030D-6E8A-4147-A177-3AD203B41FA5}">
                      <a16:colId xmlns:a16="http://schemas.microsoft.com/office/drawing/2014/main" val="233733831"/>
                    </a:ext>
                  </a:extLst>
                </a:gridCol>
                <a:gridCol w="6769098">
                  <a:extLst>
                    <a:ext uri="{9D8B030D-6E8A-4147-A177-3AD203B41FA5}">
                      <a16:colId xmlns:a16="http://schemas.microsoft.com/office/drawing/2014/main" val="734113840"/>
                    </a:ext>
                  </a:extLst>
                </a:gridCol>
              </a:tblGrid>
              <a:tr h="201310">
                <a:tc>
                  <a:txBody>
                    <a:bodyPr/>
                    <a:lstStyle/>
                    <a:p>
                      <a:pPr algn="r" rtl="1">
                        <a:buNone/>
                      </a:pPr>
                      <a:r>
                        <a:rPr lang="ar-AE" sz="1200" dirty="0">
                          <a:latin typeface="+mn-lt"/>
                        </a:rPr>
                        <a:t>م</a:t>
                      </a:r>
                    </a:p>
                  </a:txBody>
                  <a:tcPr marL="32522" marR="32522" marT="16261" marB="16261" anchor="ctr"/>
                </a:tc>
                <a:tc>
                  <a:txBody>
                    <a:bodyPr/>
                    <a:lstStyle/>
                    <a:p>
                      <a:pPr algn="ctr" rtl="1">
                        <a:buNone/>
                      </a:pPr>
                      <a:r>
                        <a:rPr lang="ar-AE" sz="1200" dirty="0"/>
                        <a:t>اسم التصنيف</a:t>
                      </a:r>
                      <a:endParaRPr lang="ar-AE" sz="1200" dirty="0">
                        <a:latin typeface="+mn-lt"/>
                      </a:endParaRPr>
                    </a:p>
                  </a:txBody>
                  <a:tcPr marL="32522" marR="32522" marT="16261" marB="16261" anchor="ctr"/>
                </a:tc>
                <a:tc>
                  <a:txBody>
                    <a:bodyPr/>
                    <a:lstStyle/>
                    <a:p>
                      <a:pPr algn="ctr" rtl="1">
                        <a:buNone/>
                      </a:pPr>
                      <a:r>
                        <a:rPr lang="ar-AE" sz="1200" dirty="0"/>
                        <a:t>الوصف</a:t>
                      </a:r>
                      <a:endParaRPr lang="ar-AE" sz="1200" dirty="0">
                        <a:latin typeface="+mn-lt"/>
                      </a:endParaRPr>
                    </a:p>
                  </a:txBody>
                  <a:tcPr marL="32522" marR="32522" marT="16261" marB="16261" anchor="ctr"/>
                </a:tc>
                <a:extLst>
                  <a:ext uri="{0D108BD9-81ED-4DB2-BD59-A6C34878D82A}">
                    <a16:rowId xmlns:a16="http://schemas.microsoft.com/office/drawing/2014/main" val="1978189265"/>
                  </a:ext>
                </a:extLst>
              </a:tr>
              <a:tr h="287144">
                <a:tc>
                  <a:txBody>
                    <a:bodyPr/>
                    <a:lstStyle/>
                    <a:p>
                      <a:pPr algn="r" rtl="1">
                        <a:buNone/>
                      </a:pPr>
                      <a:r>
                        <a:rPr lang="en-AE" sz="1200" dirty="0"/>
                        <a:t>1</a:t>
                      </a:r>
                      <a:endParaRPr lang="en-AE" sz="1200" dirty="0">
                        <a:latin typeface="+mn-lt"/>
                      </a:endParaRPr>
                    </a:p>
                  </a:txBody>
                  <a:tcPr marL="32522" marR="32522" marT="16261" marB="16261" anchor="ctr"/>
                </a:tc>
                <a:tc>
                  <a:txBody>
                    <a:bodyPr/>
                    <a:lstStyle/>
                    <a:p>
                      <a:pPr algn="r" rtl="1">
                        <a:buNone/>
                      </a:pPr>
                      <a:r>
                        <a:rPr lang="ar-AE" sz="1200" b="1" dirty="0"/>
                        <a:t>حوكمة البيانات (</a:t>
                      </a:r>
                      <a:r>
                        <a:rPr lang="en-US" sz="1200" b="1" dirty="0"/>
                        <a:t>Data Governance</a:t>
                      </a:r>
                      <a:r>
                        <a:rPr lang="ar-SA" sz="1200" b="1" dirty="0"/>
                        <a:t>)</a:t>
                      </a:r>
                      <a:endParaRPr lang="en-US" sz="1200" b="1" dirty="0">
                        <a:latin typeface="+mn-lt"/>
                      </a:endParaRPr>
                    </a:p>
                  </a:txBody>
                  <a:tcPr marL="32522" marR="32522" marT="16261" marB="16261" anchor="ctr"/>
                </a:tc>
                <a:tc>
                  <a:txBody>
                    <a:bodyPr/>
                    <a:lstStyle/>
                    <a:p>
                      <a:pPr algn="r" rtl="1">
                        <a:buNone/>
                      </a:pPr>
                      <a:r>
                        <a:rPr lang="ar-AE" sz="1200" dirty="0"/>
                        <a:t>تحديد الأدوار والمسؤوليات ووضع السياسات والإجراءات اللازمة للتحكم بالبيانات، وضمان الامتثال للأنظمة والأطر الاستراتيجية.</a:t>
                      </a:r>
                      <a:endParaRPr lang="ar-AE" sz="1200" dirty="0">
                        <a:latin typeface="+mn-lt"/>
                      </a:endParaRPr>
                    </a:p>
                  </a:txBody>
                  <a:tcPr marL="32522" marR="32522" marT="16261" marB="16261" anchor="ctr"/>
                </a:tc>
                <a:extLst>
                  <a:ext uri="{0D108BD9-81ED-4DB2-BD59-A6C34878D82A}">
                    <a16:rowId xmlns:a16="http://schemas.microsoft.com/office/drawing/2014/main" val="1699291265"/>
                  </a:ext>
                </a:extLst>
              </a:tr>
              <a:tr h="287144">
                <a:tc>
                  <a:txBody>
                    <a:bodyPr/>
                    <a:lstStyle/>
                    <a:p>
                      <a:pPr algn="r" rtl="1">
                        <a:buNone/>
                      </a:pPr>
                      <a:r>
                        <a:rPr lang="en-AE" sz="1200"/>
                        <a:t>2</a:t>
                      </a:r>
                      <a:endParaRPr lang="en-AE" sz="1200">
                        <a:latin typeface="+mn-lt"/>
                      </a:endParaRPr>
                    </a:p>
                  </a:txBody>
                  <a:tcPr marL="32522" marR="32522" marT="16261" marB="16261" anchor="ctr"/>
                </a:tc>
                <a:tc>
                  <a:txBody>
                    <a:bodyPr/>
                    <a:lstStyle/>
                    <a:p>
                      <a:pPr algn="r" rtl="1">
                        <a:buNone/>
                      </a:pPr>
                      <a:r>
                        <a:rPr lang="ar-AE" sz="1200" b="1" dirty="0"/>
                        <a:t>البيانات الوصفية ودليل البيانات (</a:t>
                      </a:r>
                      <a:r>
                        <a:rPr lang="en-US" sz="1200" b="1" dirty="0"/>
                        <a:t>Metadata &amp; Data Catalog</a:t>
                      </a:r>
                      <a:r>
                        <a:rPr lang="ar-SA" sz="1200" b="1" dirty="0"/>
                        <a:t>)</a:t>
                      </a:r>
                      <a:endParaRPr lang="en-US" sz="1200" b="1" dirty="0">
                        <a:latin typeface="+mn-lt"/>
                      </a:endParaRPr>
                    </a:p>
                  </a:txBody>
                  <a:tcPr marL="32522" marR="32522" marT="16261" marB="16261" anchor="ctr"/>
                </a:tc>
                <a:tc>
                  <a:txBody>
                    <a:bodyPr/>
                    <a:lstStyle/>
                    <a:p>
                      <a:pPr algn="r" rtl="1">
                        <a:buNone/>
                      </a:pPr>
                      <a:r>
                        <a:rPr lang="ar-AE" sz="1200"/>
                        <a:t>توثيق خصائص البيانات (التعريف، الأصل، السياق) وتوفير دليل بيانات (</a:t>
                      </a:r>
                      <a:r>
                        <a:rPr lang="en-US" sz="1200"/>
                        <a:t>Data Catalog) </a:t>
                      </a:r>
                      <a:r>
                        <a:rPr lang="ar-AE" sz="1200"/>
                        <a:t>لسهولة الاكتشاف والتكامل.</a:t>
                      </a:r>
                      <a:endParaRPr lang="ar-AE" sz="1200">
                        <a:latin typeface="+mn-lt"/>
                      </a:endParaRPr>
                    </a:p>
                  </a:txBody>
                  <a:tcPr marL="32522" marR="32522" marT="16261" marB="16261" anchor="ctr"/>
                </a:tc>
                <a:extLst>
                  <a:ext uri="{0D108BD9-81ED-4DB2-BD59-A6C34878D82A}">
                    <a16:rowId xmlns:a16="http://schemas.microsoft.com/office/drawing/2014/main" val="1359150061"/>
                  </a:ext>
                </a:extLst>
              </a:tr>
              <a:tr h="201310">
                <a:tc>
                  <a:txBody>
                    <a:bodyPr/>
                    <a:lstStyle/>
                    <a:p>
                      <a:pPr algn="r" rtl="1">
                        <a:buNone/>
                      </a:pPr>
                      <a:r>
                        <a:rPr lang="en-AE" sz="1200"/>
                        <a:t>3</a:t>
                      </a:r>
                      <a:endParaRPr lang="en-AE" sz="1200">
                        <a:latin typeface="+mn-lt"/>
                      </a:endParaRPr>
                    </a:p>
                  </a:txBody>
                  <a:tcPr marL="32522" marR="32522" marT="16261" marB="16261" anchor="ctr"/>
                </a:tc>
                <a:tc>
                  <a:txBody>
                    <a:bodyPr/>
                    <a:lstStyle/>
                    <a:p>
                      <a:pPr algn="r" rtl="1">
                        <a:buNone/>
                      </a:pPr>
                      <a:r>
                        <a:rPr lang="ar-AE" sz="1200" b="1" dirty="0"/>
                        <a:t>جودة البيانات (</a:t>
                      </a:r>
                      <a:r>
                        <a:rPr lang="en-US" sz="1200" b="1" dirty="0"/>
                        <a:t>Data Quality</a:t>
                      </a:r>
                      <a:r>
                        <a:rPr lang="ar-SA" sz="1200" b="1" dirty="0"/>
                        <a:t>)</a:t>
                      </a:r>
                      <a:endParaRPr lang="en-US" sz="1200" b="1" dirty="0">
                        <a:latin typeface="+mn-lt"/>
                      </a:endParaRPr>
                    </a:p>
                  </a:txBody>
                  <a:tcPr marL="32522" marR="32522" marT="16261" marB="16261" anchor="ctr"/>
                </a:tc>
                <a:tc>
                  <a:txBody>
                    <a:bodyPr/>
                    <a:lstStyle/>
                    <a:p>
                      <a:pPr algn="r" rtl="1">
                        <a:buNone/>
                      </a:pPr>
                      <a:r>
                        <a:rPr lang="ar-AE" sz="1200"/>
                        <a:t>وضع معايير ومقاييس لضمان دقة واكتمال واتساق البيانات، وآليات لتحسينها بشكل مستمر.</a:t>
                      </a:r>
                      <a:endParaRPr lang="ar-AE" sz="1200">
                        <a:latin typeface="+mn-lt"/>
                      </a:endParaRPr>
                    </a:p>
                  </a:txBody>
                  <a:tcPr marL="32522" marR="32522" marT="16261" marB="16261" anchor="ctr"/>
                </a:tc>
                <a:extLst>
                  <a:ext uri="{0D108BD9-81ED-4DB2-BD59-A6C34878D82A}">
                    <a16:rowId xmlns:a16="http://schemas.microsoft.com/office/drawing/2014/main" val="1398616377"/>
                  </a:ext>
                </a:extLst>
              </a:tr>
              <a:tr h="287144">
                <a:tc>
                  <a:txBody>
                    <a:bodyPr/>
                    <a:lstStyle/>
                    <a:p>
                      <a:pPr algn="r" rtl="1">
                        <a:buNone/>
                      </a:pPr>
                      <a:r>
                        <a:rPr lang="en-AE" sz="1200"/>
                        <a:t>4</a:t>
                      </a:r>
                      <a:endParaRPr lang="en-AE" sz="1200">
                        <a:latin typeface="+mn-lt"/>
                      </a:endParaRPr>
                    </a:p>
                  </a:txBody>
                  <a:tcPr marL="32522" marR="32522" marT="16261" marB="16261" anchor="ctr"/>
                </a:tc>
                <a:tc>
                  <a:txBody>
                    <a:bodyPr/>
                    <a:lstStyle/>
                    <a:p>
                      <a:pPr algn="r" rtl="1">
                        <a:buNone/>
                      </a:pPr>
                      <a:r>
                        <a:rPr lang="ar-AE" sz="1200" b="1" dirty="0"/>
                        <a:t>تخزين البيانات </a:t>
                      </a:r>
                      <a:r>
                        <a:rPr lang="ar-SA" sz="1200" b="1" dirty="0"/>
                        <a:t>(</a:t>
                      </a:r>
                      <a:r>
                        <a:rPr lang="en-US" sz="1200" b="1" dirty="0"/>
                        <a:t>Data Storage</a:t>
                      </a:r>
                      <a:r>
                        <a:rPr lang="ar-SA" sz="1200" b="1" dirty="0"/>
                        <a:t>)</a:t>
                      </a:r>
                      <a:endParaRPr lang="en-US" sz="1200" b="1" dirty="0">
                        <a:latin typeface="+mn-lt"/>
                      </a:endParaRPr>
                    </a:p>
                  </a:txBody>
                  <a:tcPr marL="32522" marR="32522" marT="16261" marB="16261" anchor="ctr"/>
                </a:tc>
                <a:tc>
                  <a:txBody>
                    <a:bodyPr/>
                    <a:lstStyle/>
                    <a:p>
                      <a:pPr algn="r" rtl="1">
                        <a:buNone/>
                      </a:pPr>
                      <a:r>
                        <a:rPr lang="ar-AE" sz="1200"/>
                        <a:t>إدارة حفظ البيانات في أنظمة أو وسائط مناسبة، ووضع سياسات النسخ الاحتياطي والاسترجاع والأرشفة وفقًا لمستويات تصنيفها.</a:t>
                      </a:r>
                      <a:endParaRPr lang="ar-AE" sz="1200">
                        <a:latin typeface="+mn-lt"/>
                      </a:endParaRPr>
                    </a:p>
                  </a:txBody>
                  <a:tcPr marL="32522" marR="32522" marT="16261" marB="16261" anchor="ctr"/>
                </a:tc>
                <a:extLst>
                  <a:ext uri="{0D108BD9-81ED-4DB2-BD59-A6C34878D82A}">
                    <a16:rowId xmlns:a16="http://schemas.microsoft.com/office/drawing/2014/main" val="2847546075"/>
                  </a:ext>
                </a:extLst>
              </a:tr>
              <a:tr h="201310">
                <a:tc>
                  <a:txBody>
                    <a:bodyPr/>
                    <a:lstStyle/>
                    <a:p>
                      <a:pPr algn="r" rtl="1">
                        <a:buNone/>
                      </a:pPr>
                      <a:r>
                        <a:rPr lang="en-AE" sz="1200"/>
                        <a:t>5</a:t>
                      </a:r>
                      <a:endParaRPr lang="en-AE" sz="1200">
                        <a:latin typeface="+mn-lt"/>
                      </a:endParaRPr>
                    </a:p>
                  </a:txBody>
                  <a:tcPr marL="32522" marR="32522" marT="16261" marB="16261" anchor="ctr"/>
                </a:tc>
                <a:tc>
                  <a:txBody>
                    <a:bodyPr/>
                    <a:lstStyle/>
                    <a:p>
                      <a:pPr algn="r" rtl="1">
                        <a:buNone/>
                      </a:pPr>
                      <a:r>
                        <a:rPr lang="ar-AE" sz="1200" b="1" dirty="0"/>
                        <a:t>إدارة المحتوى والوثائق (</a:t>
                      </a:r>
                      <a:r>
                        <a:rPr lang="en-US" sz="1200" b="1" dirty="0"/>
                        <a:t>Content &amp; Document Management</a:t>
                      </a:r>
                      <a:r>
                        <a:rPr lang="ar-AE" sz="1200" b="1" dirty="0"/>
                        <a:t>)</a:t>
                      </a:r>
                      <a:endParaRPr lang="en-US" sz="1200" b="1" dirty="0">
                        <a:latin typeface="+mn-lt"/>
                      </a:endParaRPr>
                    </a:p>
                  </a:txBody>
                  <a:tcPr marL="32522" marR="32522" marT="16261" marB="16261" anchor="ctr"/>
                </a:tc>
                <a:tc>
                  <a:txBody>
                    <a:bodyPr/>
                    <a:lstStyle/>
                    <a:p>
                      <a:pPr algn="r" rtl="1">
                        <a:buNone/>
                      </a:pPr>
                      <a:r>
                        <a:rPr lang="ar-AE" sz="1200"/>
                        <a:t>تنظيم الوثائق الورقية والرقمية وحفظها وأرشفتها، وضمان سهولة الوصول إليها والتخلص الآمن منها.</a:t>
                      </a:r>
                      <a:endParaRPr lang="ar-AE" sz="1200">
                        <a:latin typeface="+mn-lt"/>
                      </a:endParaRPr>
                    </a:p>
                  </a:txBody>
                  <a:tcPr marL="32522" marR="32522" marT="16261" marB="16261" anchor="ctr"/>
                </a:tc>
                <a:extLst>
                  <a:ext uri="{0D108BD9-81ED-4DB2-BD59-A6C34878D82A}">
                    <a16:rowId xmlns:a16="http://schemas.microsoft.com/office/drawing/2014/main" val="1060319285"/>
                  </a:ext>
                </a:extLst>
              </a:tr>
              <a:tr h="287144">
                <a:tc>
                  <a:txBody>
                    <a:bodyPr/>
                    <a:lstStyle/>
                    <a:p>
                      <a:pPr algn="r" rtl="1">
                        <a:buNone/>
                      </a:pPr>
                      <a:r>
                        <a:rPr lang="en-AE" sz="1200"/>
                        <a:t>6</a:t>
                      </a:r>
                      <a:endParaRPr lang="en-AE" sz="1200">
                        <a:latin typeface="+mn-lt"/>
                      </a:endParaRPr>
                    </a:p>
                  </a:txBody>
                  <a:tcPr marL="32522" marR="32522" marT="16261" marB="16261" anchor="ctr"/>
                </a:tc>
                <a:tc>
                  <a:txBody>
                    <a:bodyPr/>
                    <a:lstStyle/>
                    <a:p>
                      <a:pPr algn="r" rtl="1">
                        <a:buNone/>
                      </a:pPr>
                      <a:r>
                        <a:rPr lang="ar-AE" sz="1200" b="1" dirty="0"/>
                        <a:t>النمذجة وهيكلة البيانات (</a:t>
                      </a:r>
                      <a:r>
                        <a:rPr lang="en-US" sz="1200" b="1" dirty="0"/>
                        <a:t>Data Modeling &amp; Architecture</a:t>
                      </a:r>
                      <a:r>
                        <a:rPr lang="ar-SA" sz="1200" b="1" dirty="0"/>
                        <a:t>)</a:t>
                      </a:r>
                      <a:endParaRPr lang="en-US" sz="1200" b="1" dirty="0">
                        <a:latin typeface="+mn-lt"/>
                      </a:endParaRPr>
                    </a:p>
                  </a:txBody>
                  <a:tcPr marL="32522" marR="32522" marT="16261" marB="16261" anchor="ctr"/>
                </a:tc>
                <a:tc>
                  <a:txBody>
                    <a:bodyPr/>
                    <a:lstStyle/>
                    <a:p>
                      <a:pPr algn="r" rtl="1">
                        <a:buNone/>
                      </a:pPr>
                      <a:r>
                        <a:rPr lang="ar-AE" sz="1200"/>
                        <a:t>تصميم نماذج البيانات وبُناها الهيكلية، وتحديد العلاقات بينها لضمان سهولة الاستخدام والتكامل عبر الأنظمة المختلفة.</a:t>
                      </a:r>
                      <a:endParaRPr lang="ar-AE" sz="1200">
                        <a:latin typeface="+mn-lt"/>
                      </a:endParaRPr>
                    </a:p>
                  </a:txBody>
                  <a:tcPr marL="32522" marR="32522" marT="16261" marB="16261" anchor="ctr"/>
                </a:tc>
                <a:extLst>
                  <a:ext uri="{0D108BD9-81ED-4DB2-BD59-A6C34878D82A}">
                    <a16:rowId xmlns:a16="http://schemas.microsoft.com/office/drawing/2014/main" val="2595947251"/>
                  </a:ext>
                </a:extLst>
              </a:tr>
              <a:tr h="287144">
                <a:tc>
                  <a:txBody>
                    <a:bodyPr/>
                    <a:lstStyle/>
                    <a:p>
                      <a:pPr algn="r" rtl="1">
                        <a:buNone/>
                      </a:pPr>
                      <a:r>
                        <a:rPr lang="en-AE" sz="1200"/>
                        <a:t>7</a:t>
                      </a:r>
                      <a:endParaRPr lang="en-AE" sz="1200">
                        <a:latin typeface="+mn-lt"/>
                      </a:endParaRPr>
                    </a:p>
                  </a:txBody>
                  <a:tcPr marL="32522" marR="32522" marT="16261" marB="16261" anchor="ctr"/>
                </a:tc>
                <a:tc>
                  <a:txBody>
                    <a:bodyPr/>
                    <a:lstStyle/>
                    <a:p>
                      <a:pPr algn="r" rtl="1">
                        <a:buNone/>
                      </a:pPr>
                      <a:r>
                        <a:rPr lang="ar-AE" sz="1200" b="1" dirty="0"/>
                        <a:t>تكامل البيانات ومشاركتها (</a:t>
                      </a:r>
                      <a:r>
                        <a:rPr lang="en-US" sz="1200" b="1" dirty="0"/>
                        <a:t>Data Integration &amp; Sharing</a:t>
                      </a:r>
                      <a:r>
                        <a:rPr lang="ar-SA" sz="1200" b="1" dirty="0"/>
                        <a:t>)</a:t>
                      </a:r>
                      <a:endParaRPr lang="en-US" sz="1200" b="1" dirty="0">
                        <a:latin typeface="+mn-lt"/>
                      </a:endParaRPr>
                    </a:p>
                  </a:txBody>
                  <a:tcPr marL="32522" marR="32522" marT="16261" marB="16261" anchor="ctr"/>
                </a:tc>
                <a:tc>
                  <a:txBody>
                    <a:bodyPr/>
                    <a:lstStyle/>
                    <a:p>
                      <a:pPr algn="r" rtl="1">
                        <a:buNone/>
                      </a:pPr>
                      <a:r>
                        <a:rPr lang="ar-AE" sz="1200"/>
                        <a:t>ربط الأنظمة ومصادر البيانات داخليًا وخارجيًا، وتسهيل تبادل البيانات بانسيابية وأمان، مع ضمان الامتثال للمعايير.</a:t>
                      </a:r>
                      <a:endParaRPr lang="ar-AE" sz="1200">
                        <a:latin typeface="+mn-lt"/>
                      </a:endParaRPr>
                    </a:p>
                  </a:txBody>
                  <a:tcPr marL="32522" marR="32522" marT="16261" marB="16261" anchor="ctr"/>
                </a:tc>
                <a:extLst>
                  <a:ext uri="{0D108BD9-81ED-4DB2-BD59-A6C34878D82A}">
                    <a16:rowId xmlns:a16="http://schemas.microsoft.com/office/drawing/2014/main" val="179630131"/>
                  </a:ext>
                </a:extLst>
              </a:tr>
              <a:tr h="372226">
                <a:tc>
                  <a:txBody>
                    <a:bodyPr/>
                    <a:lstStyle/>
                    <a:p>
                      <a:pPr algn="r" rtl="1">
                        <a:buNone/>
                      </a:pPr>
                      <a:r>
                        <a:rPr lang="en-AE" sz="1200"/>
                        <a:t>8</a:t>
                      </a:r>
                      <a:endParaRPr lang="en-AE" sz="1200">
                        <a:latin typeface="+mn-lt"/>
                      </a:endParaRPr>
                    </a:p>
                  </a:txBody>
                  <a:tcPr marL="32522" marR="32522" marT="16261" marB="16261" anchor="ctr"/>
                </a:tc>
                <a:tc>
                  <a:txBody>
                    <a:bodyPr/>
                    <a:lstStyle/>
                    <a:p>
                      <a:pPr algn="r" rtl="1">
                        <a:buNone/>
                      </a:pPr>
                      <a:r>
                        <a:rPr lang="ar-AE" sz="1200" b="1" dirty="0"/>
                        <a:t>إدارة البيانات المرجعية والرئيسية (</a:t>
                      </a:r>
                      <a:r>
                        <a:rPr lang="en-US" sz="1200" b="1" dirty="0"/>
                        <a:t>Master &amp; Reference Data Management</a:t>
                      </a:r>
                      <a:r>
                        <a:rPr lang="ar-SA" sz="1200" b="1" dirty="0"/>
                        <a:t>)</a:t>
                      </a:r>
                      <a:endParaRPr lang="en-US" sz="1200" b="1" dirty="0">
                        <a:latin typeface="+mn-lt"/>
                      </a:endParaRPr>
                    </a:p>
                  </a:txBody>
                  <a:tcPr marL="32522" marR="32522" marT="16261" marB="16261" anchor="ctr"/>
                </a:tc>
                <a:tc>
                  <a:txBody>
                    <a:bodyPr/>
                    <a:lstStyle/>
                    <a:p>
                      <a:pPr algn="r" rtl="1">
                        <a:buNone/>
                      </a:pPr>
                      <a:r>
                        <a:rPr lang="ar-AE" sz="1200" dirty="0"/>
                        <a:t>توحيد البيانات المحورية (مثل بيانات الأفراد والمنتجات) للتأكد من صحة السجلات وموثوقيتها وتوفير “مصدر وحيد موثوق”.</a:t>
                      </a:r>
                      <a:endParaRPr lang="ar-AE" sz="1200" dirty="0">
                        <a:latin typeface="+mn-lt"/>
                      </a:endParaRPr>
                    </a:p>
                  </a:txBody>
                  <a:tcPr marL="32522" marR="32522" marT="16261" marB="16261" anchor="ctr"/>
                </a:tc>
                <a:extLst>
                  <a:ext uri="{0D108BD9-81ED-4DB2-BD59-A6C34878D82A}">
                    <a16:rowId xmlns:a16="http://schemas.microsoft.com/office/drawing/2014/main" val="3451168258"/>
                  </a:ext>
                </a:extLst>
              </a:tr>
              <a:tr h="287144">
                <a:tc>
                  <a:txBody>
                    <a:bodyPr/>
                    <a:lstStyle/>
                    <a:p>
                      <a:pPr algn="r" rtl="1">
                        <a:buNone/>
                      </a:pPr>
                      <a:r>
                        <a:rPr lang="en-AE" sz="1200"/>
                        <a:t>9</a:t>
                      </a:r>
                      <a:endParaRPr lang="en-AE" sz="1200">
                        <a:latin typeface="+mn-lt"/>
                      </a:endParaRPr>
                    </a:p>
                  </a:txBody>
                  <a:tcPr marL="32522" marR="32522" marT="16261" marB="16261" anchor="ctr"/>
                </a:tc>
                <a:tc>
                  <a:txBody>
                    <a:bodyPr/>
                    <a:lstStyle/>
                    <a:p>
                      <a:pPr algn="r" rtl="1">
                        <a:buNone/>
                      </a:pPr>
                      <a:r>
                        <a:rPr lang="ar-AE" sz="1200" b="1" dirty="0"/>
                        <a:t>ذكاء الأعمال والتحليلات (</a:t>
                      </a:r>
                      <a:r>
                        <a:rPr lang="en-US" sz="1200" b="1" dirty="0"/>
                        <a:t>Business Intelligence &amp; Analytics</a:t>
                      </a:r>
                      <a:r>
                        <a:rPr lang="ar-SA" sz="1200" b="1" dirty="0"/>
                        <a:t>)</a:t>
                      </a:r>
                      <a:endParaRPr lang="en-US" sz="1200" b="1" dirty="0">
                        <a:latin typeface="+mn-lt"/>
                      </a:endParaRPr>
                    </a:p>
                  </a:txBody>
                  <a:tcPr marL="32522" marR="32522" marT="16261" marB="16261" anchor="ctr"/>
                </a:tc>
                <a:tc>
                  <a:txBody>
                    <a:bodyPr/>
                    <a:lstStyle/>
                    <a:p>
                      <a:pPr algn="r" rtl="1">
                        <a:buNone/>
                      </a:pPr>
                      <a:r>
                        <a:rPr lang="ar-AE" sz="1200" dirty="0"/>
                        <a:t>استخدام أدوات وتقنيات التحليل الإحصائي والتنبؤي لاستخراج معلومات قيّمة تدعم القرارات الاستراتيجية والتشغيلية.</a:t>
                      </a:r>
                      <a:endParaRPr lang="ar-AE" sz="1200" dirty="0">
                        <a:latin typeface="+mn-lt"/>
                      </a:endParaRPr>
                    </a:p>
                  </a:txBody>
                  <a:tcPr marL="32522" marR="32522" marT="16261" marB="16261" anchor="ctr"/>
                </a:tc>
                <a:extLst>
                  <a:ext uri="{0D108BD9-81ED-4DB2-BD59-A6C34878D82A}">
                    <a16:rowId xmlns:a16="http://schemas.microsoft.com/office/drawing/2014/main" val="891423073"/>
                  </a:ext>
                </a:extLst>
              </a:tr>
              <a:tr h="287144">
                <a:tc>
                  <a:txBody>
                    <a:bodyPr/>
                    <a:lstStyle/>
                    <a:p>
                      <a:pPr algn="r" rtl="1">
                        <a:buNone/>
                      </a:pPr>
                      <a:r>
                        <a:rPr lang="en-AE" sz="1200"/>
                        <a:t>10</a:t>
                      </a:r>
                      <a:endParaRPr lang="en-AE" sz="1200">
                        <a:latin typeface="+mn-lt"/>
                      </a:endParaRPr>
                    </a:p>
                  </a:txBody>
                  <a:tcPr marL="32522" marR="32522" marT="16261" marB="16261" anchor="ctr"/>
                </a:tc>
                <a:tc>
                  <a:txBody>
                    <a:bodyPr/>
                    <a:lstStyle/>
                    <a:p>
                      <a:pPr algn="r" rtl="1">
                        <a:buNone/>
                      </a:pPr>
                      <a:r>
                        <a:rPr lang="ar-AE" sz="1200" b="1" dirty="0"/>
                        <a:t>تحقيق القيمة من البيانات (</a:t>
                      </a:r>
                      <a:r>
                        <a:rPr lang="en-US" sz="1200" b="1" dirty="0"/>
                        <a:t>Data Value Realization</a:t>
                      </a:r>
                      <a:r>
                        <a:rPr lang="ar-SA" sz="1200" b="1" dirty="0"/>
                        <a:t>)</a:t>
                      </a:r>
                      <a:endParaRPr lang="en-US" sz="1200" b="1" dirty="0">
                        <a:latin typeface="+mn-lt"/>
                      </a:endParaRPr>
                    </a:p>
                  </a:txBody>
                  <a:tcPr marL="32522" marR="32522" marT="16261" marB="16261" anchor="ctr"/>
                </a:tc>
                <a:tc>
                  <a:txBody>
                    <a:bodyPr/>
                    <a:lstStyle/>
                    <a:p>
                      <a:pPr algn="r" rtl="1">
                        <a:buNone/>
                      </a:pPr>
                      <a:r>
                        <a:rPr lang="ar-AE" sz="1200" dirty="0"/>
                        <a:t>توظيف البيانات لتحقيق عوائد اقتصادية وابتكارية، وتطوير خدمات ومنتجات بيانات تسهم في رفع كفاءة العمليات والأداء.</a:t>
                      </a:r>
                      <a:endParaRPr lang="ar-AE" sz="1200" dirty="0">
                        <a:latin typeface="+mn-lt"/>
                      </a:endParaRPr>
                    </a:p>
                  </a:txBody>
                  <a:tcPr marL="32522" marR="32522" marT="16261" marB="16261" anchor="ctr"/>
                </a:tc>
                <a:extLst>
                  <a:ext uri="{0D108BD9-81ED-4DB2-BD59-A6C34878D82A}">
                    <a16:rowId xmlns:a16="http://schemas.microsoft.com/office/drawing/2014/main" val="1425500605"/>
                  </a:ext>
                </a:extLst>
              </a:tr>
              <a:tr h="287144">
                <a:tc>
                  <a:txBody>
                    <a:bodyPr/>
                    <a:lstStyle/>
                    <a:p>
                      <a:pPr algn="r" rtl="1">
                        <a:buNone/>
                      </a:pPr>
                      <a:r>
                        <a:rPr lang="en-AE" sz="1200"/>
                        <a:t>11</a:t>
                      </a:r>
                      <a:endParaRPr lang="en-AE" sz="1200">
                        <a:latin typeface="+mn-lt"/>
                      </a:endParaRPr>
                    </a:p>
                  </a:txBody>
                  <a:tcPr marL="32522" marR="32522" marT="16261" marB="16261" anchor="ctr"/>
                </a:tc>
                <a:tc>
                  <a:txBody>
                    <a:bodyPr/>
                    <a:lstStyle/>
                    <a:p>
                      <a:pPr algn="r" rtl="1">
                        <a:buNone/>
                      </a:pPr>
                      <a:r>
                        <a:rPr lang="ar-AE" sz="1200" b="1" dirty="0"/>
                        <a:t>البيانات المفتوحة (</a:t>
                      </a:r>
                      <a:r>
                        <a:rPr lang="en-US" sz="1200" b="1" dirty="0"/>
                        <a:t>Open Data</a:t>
                      </a:r>
                      <a:r>
                        <a:rPr lang="ar-SA" sz="1200" b="1" dirty="0"/>
                        <a:t>)</a:t>
                      </a:r>
                      <a:endParaRPr lang="en-US" sz="1200" b="1" dirty="0">
                        <a:latin typeface="+mn-lt"/>
                      </a:endParaRPr>
                    </a:p>
                  </a:txBody>
                  <a:tcPr marL="32522" marR="32522" marT="16261" marB="16261" anchor="ctr"/>
                </a:tc>
                <a:tc>
                  <a:txBody>
                    <a:bodyPr/>
                    <a:lstStyle/>
                    <a:p>
                      <a:pPr algn="r" rtl="1">
                        <a:buNone/>
                      </a:pPr>
                      <a:r>
                        <a:rPr lang="ar-AE" sz="1200" dirty="0"/>
                        <a:t>نشر البيانات العامة للجهات لإتاحتها للجميع مجانًا، بما يعزز الشفافية ويدعم الابتكار وإيجاد فرص اقتصادية واجتماعية.</a:t>
                      </a:r>
                      <a:endParaRPr lang="ar-AE" sz="1200" dirty="0">
                        <a:latin typeface="+mn-lt"/>
                      </a:endParaRPr>
                    </a:p>
                  </a:txBody>
                  <a:tcPr marL="32522" marR="32522" marT="16261" marB="16261" anchor="ctr"/>
                </a:tc>
                <a:extLst>
                  <a:ext uri="{0D108BD9-81ED-4DB2-BD59-A6C34878D82A}">
                    <a16:rowId xmlns:a16="http://schemas.microsoft.com/office/drawing/2014/main" val="2694396285"/>
                  </a:ext>
                </a:extLst>
              </a:tr>
              <a:tr h="287144">
                <a:tc>
                  <a:txBody>
                    <a:bodyPr/>
                    <a:lstStyle/>
                    <a:p>
                      <a:pPr algn="r" rtl="1">
                        <a:buNone/>
                      </a:pPr>
                      <a:r>
                        <a:rPr lang="en-AE" sz="1200"/>
                        <a:t>12</a:t>
                      </a:r>
                      <a:endParaRPr lang="en-AE" sz="1200">
                        <a:latin typeface="+mn-lt"/>
                      </a:endParaRPr>
                    </a:p>
                  </a:txBody>
                  <a:tcPr marL="32522" marR="32522" marT="16261" marB="16261" anchor="ctr"/>
                </a:tc>
                <a:tc>
                  <a:txBody>
                    <a:bodyPr/>
                    <a:lstStyle/>
                    <a:p>
                      <a:pPr algn="r" rtl="1">
                        <a:buNone/>
                      </a:pPr>
                      <a:r>
                        <a:rPr lang="ar-AE" sz="1200" b="1" dirty="0"/>
                        <a:t>حرية المعلومات (</a:t>
                      </a:r>
                      <a:r>
                        <a:rPr lang="en-US" sz="1200" b="1" dirty="0"/>
                        <a:t>Freedom of Information</a:t>
                      </a:r>
                      <a:r>
                        <a:rPr lang="ar-SA" sz="1200" b="1" dirty="0"/>
                        <a:t>)</a:t>
                      </a:r>
                      <a:endParaRPr lang="en-US" sz="1200" b="1" dirty="0">
                        <a:latin typeface="+mn-lt"/>
                      </a:endParaRPr>
                    </a:p>
                  </a:txBody>
                  <a:tcPr marL="32522" marR="32522" marT="16261" marB="16261" anchor="ctr"/>
                </a:tc>
                <a:tc>
                  <a:txBody>
                    <a:bodyPr/>
                    <a:lstStyle/>
                    <a:p>
                      <a:pPr algn="r" rtl="1">
                        <a:buNone/>
                      </a:pPr>
                      <a:r>
                        <a:rPr lang="ar-AE" sz="1200" dirty="0"/>
                        <a:t>تمكين الأفراد من الوصول إلى المعلومات العامة لدى الجهات وفق إطار قانوني يراعي متطلبات الأمن والخصوصية.</a:t>
                      </a:r>
                      <a:endParaRPr lang="ar-AE" sz="1200" dirty="0">
                        <a:latin typeface="+mn-lt"/>
                      </a:endParaRPr>
                    </a:p>
                  </a:txBody>
                  <a:tcPr marL="32522" marR="32522" marT="16261" marB="16261" anchor="ctr"/>
                </a:tc>
                <a:extLst>
                  <a:ext uri="{0D108BD9-81ED-4DB2-BD59-A6C34878D82A}">
                    <a16:rowId xmlns:a16="http://schemas.microsoft.com/office/drawing/2014/main" val="2565121843"/>
                  </a:ext>
                </a:extLst>
              </a:tr>
              <a:tr h="287144">
                <a:tc>
                  <a:txBody>
                    <a:bodyPr/>
                    <a:lstStyle/>
                    <a:p>
                      <a:pPr algn="r" rtl="1">
                        <a:buNone/>
                      </a:pPr>
                      <a:r>
                        <a:rPr lang="en-AE" sz="1200"/>
                        <a:t>13</a:t>
                      </a:r>
                      <a:endParaRPr lang="en-AE" sz="1200">
                        <a:latin typeface="+mn-lt"/>
                      </a:endParaRPr>
                    </a:p>
                  </a:txBody>
                  <a:tcPr marL="32522" marR="32522" marT="16261" marB="16261" anchor="ctr"/>
                </a:tc>
                <a:tc>
                  <a:txBody>
                    <a:bodyPr/>
                    <a:lstStyle/>
                    <a:p>
                      <a:pPr algn="r" rtl="1">
                        <a:buNone/>
                      </a:pPr>
                      <a:r>
                        <a:rPr lang="ar-AE" sz="1200" b="1" dirty="0"/>
                        <a:t>تصنيف البيانات (</a:t>
                      </a:r>
                      <a:r>
                        <a:rPr lang="en-US" sz="1200" b="1" dirty="0"/>
                        <a:t>Data Classification</a:t>
                      </a:r>
                      <a:r>
                        <a:rPr lang="ar-SA" sz="1200" b="1" dirty="0"/>
                        <a:t>)</a:t>
                      </a:r>
                      <a:endParaRPr lang="en-US" sz="1200" b="1" dirty="0">
                        <a:latin typeface="+mn-lt"/>
                      </a:endParaRPr>
                    </a:p>
                  </a:txBody>
                  <a:tcPr marL="32522" marR="32522" marT="16261" marB="16261" anchor="ctr"/>
                </a:tc>
                <a:tc>
                  <a:txBody>
                    <a:bodyPr/>
                    <a:lstStyle/>
                    <a:p>
                      <a:pPr algn="r" rtl="1">
                        <a:buNone/>
                      </a:pPr>
                      <a:r>
                        <a:rPr lang="ar-AE" sz="1200" dirty="0"/>
                        <a:t>تقسيم البيانات إلى مستويات حساسية (عامة، مقيدة، سرية…) وتحديد ضوابط الحماية والمعالجة لكل مستوى.</a:t>
                      </a:r>
                      <a:endParaRPr lang="ar-AE" sz="1200" dirty="0">
                        <a:latin typeface="+mn-lt"/>
                      </a:endParaRPr>
                    </a:p>
                  </a:txBody>
                  <a:tcPr marL="32522" marR="32522" marT="16261" marB="16261" anchor="ctr"/>
                </a:tc>
                <a:extLst>
                  <a:ext uri="{0D108BD9-81ED-4DB2-BD59-A6C34878D82A}">
                    <a16:rowId xmlns:a16="http://schemas.microsoft.com/office/drawing/2014/main" val="2464357729"/>
                  </a:ext>
                </a:extLst>
              </a:tr>
              <a:tr h="287144">
                <a:tc>
                  <a:txBody>
                    <a:bodyPr/>
                    <a:lstStyle/>
                    <a:p>
                      <a:pPr algn="r" rtl="1">
                        <a:buNone/>
                      </a:pPr>
                      <a:r>
                        <a:rPr lang="en-AE" sz="1200"/>
                        <a:t>14</a:t>
                      </a:r>
                      <a:endParaRPr lang="en-AE" sz="1200">
                        <a:latin typeface="+mn-lt"/>
                      </a:endParaRPr>
                    </a:p>
                  </a:txBody>
                  <a:tcPr marL="32522" marR="32522" marT="16261" marB="16261" anchor="ctr"/>
                </a:tc>
                <a:tc>
                  <a:txBody>
                    <a:bodyPr/>
                    <a:lstStyle/>
                    <a:p>
                      <a:pPr algn="r" rtl="1">
                        <a:buNone/>
                      </a:pPr>
                      <a:r>
                        <a:rPr lang="ar-AE" sz="1200" b="1" dirty="0"/>
                        <a:t>حماية البيانات الشخصية (</a:t>
                      </a:r>
                      <a:r>
                        <a:rPr lang="en-US" sz="1200" b="1" dirty="0"/>
                        <a:t>Personal Data Protection</a:t>
                      </a:r>
                      <a:r>
                        <a:rPr lang="ar-SA" sz="1200" b="1" dirty="0"/>
                        <a:t>)</a:t>
                      </a:r>
                      <a:endParaRPr lang="en-US" sz="1200" b="1" dirty="0">
                        <a:latin typeface="+mn-lt"/>
                      </a:endParaRPr>
                    </a:p>
                  </a:txBody>
                  <a:tcPr marL="32522" marR="32522" marT="16261" marB="16261" anchor="ctr"/>
                </a:tc>
                <a:tc>
                  <a:txBody>
                    <a:bodyPr/>
                    <a:lstStyle/>
                    <a:p>
                      <a:pPr algn="r" rtl="1">
                        <a:buNone/>
                      </a:pPr>
                      <a:r>
                        <a:rPr lang="ar-AE" sz="1200" dirty="0"/>
                        <a:t>وضع إجراءات وقوانين تحافظ على خصوصية الأفراد وحقوقهم، وتنظم معالجة بياناتهم الشخصية بما يتوافق مع اللوائح و النظم و القوانين المعمول بها.</a:t>
                      </a:r>
                      <a:endParaRPr lang="ar-AE" sz="1200" dirty="0">
                        <a:latin typeface="+mn-lt"/>
                      </a:endParaRPr>
                    </a:p>
                  </a:txBody>
                  <a:tcPr marL="32522" marR="32522" marT="16261" marB="16261" anchor="ctr"/>
                </a:tc>
                <a:extLst>
                  <a:ext uri="{0D108BD9-81ED-4DB2-BD59-A6C34878D82A}">
                    <a16:rowId xmlns:a16="http://schemas.microsoft.com/office/drawing/2014/main" val="1934300549"/>
                  </a:ext>
                </a:extLst>
              </a:tr>
              <a:tr h="287144">
                <a:tc>
                  <a:txBody>
                    <a:bodyPr/>
                    <a:lstStyle/>
                    <a:p>
                      <a:pPr algn="r" rtl="1">
                        <a:buNone/>
                      </a:pPr>
                      <a:r>
                        <a:rPr lang="en-AE" sz="1200" dirty="0"/>
                        <a:t>15</a:t>
                      </a:r>
                      <a:endParaRPr lang="en-AE" sz="1200" dirty="0">
                        <a:latin typeface="+mn-lt"/>
                      </a:endParaRPr>
                    </a:p>
                  </a:txBody>
                  <a:tcPr marL="32522" marR="32522" marT="16261" marB="16261" anchor="ctr"/>
                </a:tc>
                <a:tc>
                  <a:txBody>
                    <a:bodyPr/>
                    <a:lstStyle/>
                    <a:p>
                      <a:pPr algn="r" rtl="1">
                        <a:buNone/>
                      </a:pPr>
                      <a:r>
                        <a:rPr lang="ar-AE" sz="1200" b="1" dirty="0"/>
                        <a:t>أمن البيانات وحمايتها (</a:t>
                      </a:r>
                      <a:r>
                        <a:rPr lang="en-US" sz="1200" b="1" dirty="0"/>
                        <a:t>Data Security &amp; Protection</a:t>
                      </a:r>
                      <a:r>
                        <a:rPr lang="ar-SA" sz="1200" b="1" dirty="0"/>
                        <a:t>)</a:t>
                      </a:r>
                      <a:endParaRPr lang="en-US" sz="1200" b="1" dirty="0">
                        <a:latin typeface="+mn-lt"/>
                      </a:endParaRPr>
                    </a:p>
                  </a:txBody>
                  <a:tcPr marL="32522" marR="32522" marT="16261" marB="16261" anchor="ctr"/>
                </a:tc>
                <a:tc>
                  <a:txBody>
                    <a:bodyPr/>
                    <a:lstStyle/>
                    <a:p>
                      <a:pPr algn="r" rtl="1">
                        <a:buNone/>
                      </a:pPr>
                      <a:r>
                        <a:rPr lang="ar-AE" sz="1200" dirty="0"/>
                        <a:t>اعتماد إجراءات فنية وتنظيمية لمنع الاختراقات والوصول أو التعديل غير المصرح به، وضمان سلامة البيانات واستمراريتها.</a:t>
                      </a:r>
                      <a:endParaRPr lang="ar-AE" sz="1200" dirty="0">
                        <a:latin typeface="+mn-lt"/>
                      </a:endParaRPr>
                    </a:p>
                  </a:txBody>
                  <a:tcPr marL="32522" marR="32522" marT="16261" marB="16261" anchor="ctr"/>
                </a:tc>
                <a:extLst>
                  <a:ext uri="{0D108BD9-81ED-4DB2-BD59-A6C34878D82A}">
                    <a16:rowId xmlns:a16="http://schemas.microsoft.com/office/drawing/2014/main" val="4012006855"/>
                  </a:ext>
                </a:extLst>
              </a:tr>
            </a:tbl>
          </a:graphicData>
        </a:graphic>
      </p:graphicFrame>
      <p:sp>
        <p:nvSpPr>
          <p:cNvPr id="6" name="Rectangle 1">
            <a:extLst>
              <a:ext uri="{FF2B5EF4-FFF2-40B4-BE49-F238E27FC236}">
                <a16:creationId xmlns:a16="http://schemas.microsoft.com/office/drawing/2014/main" id="{A63A2667-308F-A51E-57E3-8972463C41A3}"/>
              </a:ext>
            </a:extLst>
          </p:cNvPr>
          <p:cNvSpPr>
            <a:spLocks noChangeArrowheads="1"/>
          </p:cNvSpPr>
          <p:nvPr/>
        </p:nvSpPr>
        <p:spPr bwMode="auto">
          <a:xfrm>
            <a:off x="609600" y="1206623"/>
            <a:ext cx="1097279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lang="ar-SA" altLang="en-AE" sz="1200" dirty="0"/>
              <a:t>فيما يلي جدول يوضّح</a:t>
            </a:r>
            <a:r>
              <a:rPr lang="en-AE" altLang="en-AE" sz="1200" dirty="0"/>
              <a:t> </a:t>
            </a:r>
            <a:r>
              <a:rPr lang="ar-SA" altLang="en-AE" sz="1200" dirty="0"/>
              <a:t>تصنيفات فجوات البيانات الـ 15</a:t>
            </a:r>
            <a:r>
              <a:rPr lang="en-AE" altLang="en-AE" sz="1200" dirty="0"/>
              <a:t> </a:t>
            </a:r>
            <a:r>
              <a:rPr lang="ar-SA" altLang="en-AE" sz="1200" dirty="0" err="1"/>
              <a:t>بناءًا</a:t>
            </a:r>
            <a:r>
              <a:rPr lang="ar-SA" altLang="en-AE" sz="1200" dirty="0"/>
              <a:t> على ضوابط ومواصفات إدارة البيانات الوطنية وحوكمتها وحماية البيانات الشخصية</a:t>
            </a:r>
            <a:r>
              <a:rPr lang="en-AE" altLang="en-AE" sz="1200" dirty="0"/>
              <a:t>:</a:t>
            </a:r>
          </a:p>
        </p:txBody>
      </p:sp>
    </p:spTree>
    <p:extLst>
      <p:ext uri="{BB962C8B-B14F-4D97-AF65-F5344CB8AC3E}">
        <p14:creationId xmlns:p14="http://schemas.microsoft.com/office/powerpoint/2010/main" val="90724419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6B3D9-1748-4396-A9A8-2FDFA138A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9F8DE-9AEF-FF01-5931-1793EFF34694}"/>
              </a:ext>
            </a:extLst>
          </p:cNvPr>
          <p:cNvSpPr>
            <a:spLocks noGrp="1"/>
          </p:cNvSpPr>
          <p:nvPr>
            <p:ph type="title"/>
          </p:nvPr>
        </p:nvSpPr>
        <p:spPr/>
        <p:txBody>
          <a:bodyPr/>
          <a:lstStyle/>
          <a:p>
            <a:r>
              <a:rPr lang="ar-SA" dirty="0"/>
              <a:t>ملخص تحليل الفجوات</a:t>
            </a:r>
            <a:endParaRPr lang="en-AE" dirty="0"/>
          </a:p>
        </p:txBody>
      </p:sp>
      <p:sp>
        <p:nvSpPr>
          <p:cNvPr id="3" name="Slide Number Placeholder 2">
            <a:extLst>
              <a:ext uri="{FF2B5EF4-FFF2-40B4-BE49-F238E27FC236}">
                <a16:creationId xmlns:a16="http://schemas.microsoft.com/office/drawing/2014/main" id="{68BCDD20-685C-33B1-78F8-E7F7B9347F7C}"/>
              </a:ext>
            </a:extLst>
          </p:cNvPr>
          <p:cNvSpPr>
            <a:spLocks noGrp="1"/>
          </p:cNvSpPr>
          <p:nvPr>
            <p:ph type="sldNum" sz="quarter" idx="12"/>
          </p:nvPr>
        </p:nvSpPr>
        <p:spPr/>
        <p:txBody>
          <a:bodyPr/>
          <a:lstStyle/>
          <a:p>
            <a:fld id="{0BE4EC83-A869-464E-AE9F-881796FB085E}" type="slidenum">
              <a:rPr lang="en-US" smtClean="0"/>
              <a:t>59</a:t>
            </a:fld>
            <a:endParaRPr lang="en-US"/>
          </a:p>
        </p:txBody>
      </p:sp>
      <p:graphicFrame>
        <p:nvGraphicFramePr>
          <p:cNvPr id="4" name="Table 3">
            <a:extLst>
              <a:ext uri="{FF2B5EF4-FFF2-40B4-BE49-F238E27FC236}">
                <a16:creationId xmlns:a16="http://schemas.microsoft.com/office/drawing/2014/main" id="{C7D64F8B-6C3A-9004-10F3-510E0C3137A2}"/>
              </a:ext>
            </a:extLst>
          </p:cNvPr>
          <p:cNvGraphicFramePr>
            <a:graphicFrameLocks noGrp="1"/>
          </p:cNvGraphicFramePr>
          <p:nvPr>
            <p:extLst>
              <p:ext uri="{D42A27DB-BD31-4B8C-83A1-F6EECF244321}">
                <p14:modId xmlns:p14="http://schemas.microsoft.com/office/powerpoint/2010/main" val="4166456181"/>
              </p:ext>
            </p:extLst>
          </p:nvPr>
        </p:nvGraphicFramePr>
        <p:xfrm>
          <a:off x="557022" y="1127761"/>
          <a:ext cx="11077955" cy="5050860"/>
        </p:xfrm>
        <a:graphic>
          <a:graphicData uri="http://schemas.openxmlformats.org/drawingml/2006/table">
            <a:tbl>
              <a:tblPr rtl="1" firstRow="1" bandRow="1">
                <a:tableStyleId>{B301B821-A1FF-4177-AEE7-76D212191A09}</a:tableStyleId>
              </a:tblPr>
              <a:tblGrid>
                <a:gridCol w="763611">
                  <a:extLst>
                    <a:ext uri="{9D8B030D-6E8A-4147-A177-3AD203B41FA5}">
                      <a16:colId xmlns:a16="http://schemas.microsoft.com/office/drawing/2014/main" val="1848166869"/>
                    </a:ext>
                  </a:extLst>
                </a:gridCol>
                <a:gridCol w="924287">
                  <a:extLst>
                    <a:ext uri="{9D8B030D-6E8A-4147-A177-3AD203B41FA5}">
                      <a16:colId xmlns:a16="http://schemas.microsoft.com/office/drawing/2014/main" val="3183077499"/>
                    </a:ext>
                  </a:extLst>
                </a:gridCol>
                <a:gridCol w="1776215">
                  <a:extLst>
                    <a:ext uri="{9D8B030D-6E8A-4147-A177-3AD203B41FA5}">
                      <a16:colId xmlns:a16="http://schemas.microsoft.com/office/drawing/2014/main" val="641879211"/>
                    </a:ext>
                  </a:extLst>
                </a:gridCol>
                <a:gridCol w="1776215">
                  <a:extLst>
                    <a:ext uri="{9D8B030D-6E8A-4147-A177-3AD203B41FA5}">
                      <a16:colId xmlns:a16="http://schemas.microsoft.com/office/drawing/2014/main" val="2407940828"/>
                    </a:ext>
                  </a:extLst>
                </a:gridCol>
                <a:gridCol w="1207041">
                  <a:extLst>
                    <a:ext uri="{9D8B030D-6E8A-4147-A177-3AD203B41FA5}">
                      <a16:colId xmlns:a16="http://schemas.microsoft.com/office/drawing/2014/main" val="2266366844"/>
                    </a:ext>
                  </a:extLst>
                </a:gridCol>
                <a:gridCol w="1637497">
                  <a:extLst>
                    <a:ext uri="{9D8B030D-6E8A-4147-A177-3AD203B41FA5}">
                      <a16:colId xmlns:a16="http://schemas.microsoft.com/office/drawing/2014/main" val="170401669"/>
                    </a:ext>
                  </a:extLst>
                </a:gridCol>
                <a:gridCol w="1074902">
                  <a:extLst>
                    <a:ext uri="{9D8B030D-6E8A-4147-A177-3AD203B41FA5}">
                      <a16:colId xmlns:a16="http://schemas.microsoft.com/office/drawing/2014/main" val="4110629147"/>
                    </a:ext>
                  </a:extLst>
                </a:gridCol>
                <a:gridCol w="614230">
                  <a:extLst>
                    <a:ext uri="{9D8B030D-6E8A-4147-A177-3AD203B41FA5}">
                      <a16:colId xmlns:a16="http://schemas.microsoft.com/office/drawing/2014/main" val="2090639194"/>
                    </a:ext>
                  </a:extLst>
                </a:gridCol>
                <a:gridCol w="479867">
                  <a:extLst>
                    <a:ext uri="{9D8B030D-6E8A-4147-A177-3AD203B41FA5}">
                      <a16:colId xmlns:a16="http://schemas.microsoft.com/office/drawing/2014/main" val="1489210985"/>
                    </a:ext>
                  </a:extLst>
                </a:gridCol>
                <a:gridCol w="824090">
                  <a:extLst>
                    <a:ext uri="{9D8B030D-6E8A-4147-A177-3AD203B41FA5}">
                      <a16:colId xmlns:a16="http://schemas.microsoft.com/office/drawing/2014/main" val="602859565"/>
                    </a:ext>
                  </a:extLst>
                </a:gridCol>
              </a:tblGrid>
              <a:tr h="260804">
                <a:tc>
                  <a:txBody>
                    <a:bodyPr/>
                    <a:lstStyle/>
                    <a:p>
                      <a:pPr marL="0" algn="ctr" defTabSz="914400" rtl="1"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marL="0" algn="ctr" defTabSz="914400" rtl="1" eaLnBrk="1" latinLnBrk="0" hangingPunct="1">
                        <a:buNone/>
                      </a:pPr>
                      <a:r>
                        <a:rPr lang="ar-SA" sz="1400" dirty="0">
                          <a:latin typeface="+mn-lt"/>
                        </a:rPr>
                        <a:t>التصنيف</a:t>
                      </a:r>
                      <a:endParaRPr lang="ar-AE" sz="1400" dirty="0">
                        <a:latin typeface="+mn-lt"/>
                      </a:endParaRP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66779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GAP-D-01</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غياب الدليل الموحد للبيانات</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البيانات الوصفية ودليل البيانات (2)</a:t>
                      </a:r>
                    </a:p>
                  </a:txBody>
                  <a:tcPr marL="9525" marR="9525" marT="9525" marB="0" anchor="ctr"/>
                </a:tc>
                <a:tc>
                  <a:txBody>
                    <a:bodyPr/>
                    <a:lstStyle/>
                    <a:p>
                      <a:pPr algn="r" rtl="1">
                        <a:buNone/>
                      </a:pPr>
                      <a:r>
                        <a:rPr lang="ar-AE" sz="1200" dirty="0"/>
                        <a:t>يفتقر الدليل الموحد للبيانات إلى الإرساء، فلا توجد مرجعية شاملة تتضمن معلومات الكيانات ومواقع تخزينها</a:t>
                      </a:r>
                      <a:endParaRPr lang="ar-AE" sz="1200" dirty="0">
                        <a:latin typeface="+mn-lt"/>
                      </a:endParaRPr>
                    </a:p>
                  </a:txBody>
                  <a:tcPr marL="20927" marR="20927" marT="10464" marB="10464" anchor="ctr"/>
                </a:tc>
                <a:tc>
                  <a:txBody>
                    <a:bodyPr/>
                    <a:lstStyle/>
                    <a:p>
                      <a:pPr algn="r" rtl="1">
                        <a:buNone/>
                      </a:pPr>
                      <a:r>
                        <a:rPr lang="ar-AE" sz="1200" dirty="0"/>
                        <a:t>تعدّد التعريفات وتكرار المعلومات، مما يحد من التنسيق بين الإدارات</a:t>
                      </a:r>
                      <a:endParaRPr lang="ar-AE" sz="1200" dirty="0">
                        <a:latin typeface="+mn-lt"/>
                      </a:endParaRPr>
                    </a:p>
                  </a:txBody>
                  <a:tcPr marL="20927" marR="20927" marT="10464" marB="10464" anchor="ctr"/>
                </a:tc>
                <a:tc>
                  <a:txBody>
                    <a:bodyPr/>
                    <a:lstStyle/>
                    <a:p>
                      <a:pPr algn="r" rtl="1">
                        <a:buNone/>
                      </a:pPr>
                      <a:r>
                        <a:rPr lang="ar-AE" sz="1200" dirty="0"/>
                        <a:t>دمج وتوحيد التعريفات في دليل مركزي يُحدث دوريًا، ما يُسهّل الوصول للبيانات ويمنع تكرارها</a:t>
                      </a:r>
                      <a:endParaRPr lang="ar-AE" sz="1200" dirty="0">
                        <a:latin typeface="+mn-lt"/>
                      </a:endParaRPr>
                    </a:p>
                  </a:txBody>
                  <a:tcPr marL="20927" marR="20927" marT="10464" marB="10464" anchor="ctr"/>
                </a:tc>
                <a:tc>
                  <a:txBody>
                    <a:bodyPr/>
                    <a:lstStyle/>
                    <a:p>
                      <a:pPr algn="r" rtl="1">
                        <a:buNone/>
                      </a:pPr>
                      <a:r>
                        <a:rPr lang="ar-AE" sz="1200" dirty="0"/>
                        <a:t>إنشاء دليل شامل ومحدّث للبيانات</a:t>
                      </a:r>
                      <a:endParaRPr lang="en-US" sz="1200" dirty="0">
                        <a:latin typeface="+mn-lt"/>
                      </a:endParaRP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2285552734"/>
                  </a:ext>
                </a:extLst>
              </a:tr>
              <a:tr h="66779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GAP-D-02</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r>
                        <a:rPr lang="ar-SA" sz="1200" dirty="0"/>
                        <a:t>نقص جزئي في سياسات حوكمة البيانات</a:t>
                      </a:r>
                    </a:p>
                  </a:txBody>
                  <a:tcPr marL="20927" marR="20927" marT="10464" marB="10464" anchor="ctr"/>
                </a:tc>
                <a:tc>
                  <a:txBody>
                    <a:bodyPr/>
                    <a:lstStyle/>
                    <a:p>
                      <a:pPr algn="ctr" rtl="1" fontAlgn="ctr"/>
                      <a:r>
                        <a:rPr lang="ar-AE" sz="1200" b="0" i="0" u="none" strike="noStrike" dirty="0">
                          <a:solidFill>
                            <a:srgbClr val="000000"/>
                          </a:solidFill>
                          <a:effectLst/>
                          <a:latin typeface="Aptos Narrow" panose="020B0004020202020204" pitchFamily="34" charset="0"/>
                        </a:rPr>
                        <a:t>حوكمة البيانات (1)</a:t>
                      </a:r>
                    </a:p>
                  </a:txBody>
                  <a:tcPr marL="9525" marR="9525" marT="9525" marB="0" anchor="ctr"/>
                </a:tc>
                <a:tc>
                  <a:txBody>
                    <a:bodyPr/>
                    <a:lstStyle/>
                    <a:p>
                      <a:pPr algn="r" rtl="1"/>
                      <a:r>
                        <a:rPr lang="ar-SA" sz="1200" dirty="0"/>
                        <a:t>يوجد مكتب بيانات فعّال، لكن ما زالت بعض السياسات المهمة غير مكتملة مثل سياسة النمذجة وهيكلة البيانات.</a:t>
                      </a:r>
                    </a:p>
                  </a:txBody>
                  <a:tcPr marL="20927" marR="20927" marT="10464" marB="10464" anchor="ctr"/>
                </a:tc>
                <a:tc>
                  <a:txBody>
                    <a:bodyPr/>
                    <a:lstStyle/>
                    <a:p>
                      <a:pPr algn="r" rtl="1"/>
                      <a:r>
                        <a:rPr lang="ar-SA" sz="1200" dirty="0"/>
                        <a:t>تفاوت في إدارة البيانات بين الأنظمة، وصعوبة في توحيد الهياكل مما يؤثر على الكفاءة.</a:t>
                      </a:r>
                    </a:p>
                  </a:txBody>
                  <a:tcPr marL="20927" marR="20927" marT="10464" marB="10464" anchor="ctr"/>
                </a:tc>
                <a:tc>
                  <a:txBody>
                    <a:bodyPr/>
                    <a:lstStyle/>
                    <a:p>
                      <a:pPr algn="r" rtl="1"/>
                      <a:r>
                        <a:rPr lang="ar-SA" sz="1200" dirty="0"/>
                        <a:t>تحسين توحيد السياسات، ورفع كفاءة إدارة البيانات وتحليلها.</a:t>
                      </a:r>
                    </a:p>
                  </a:txBody>
                  <a:tcPr marL="20927" marR="20927" marT="10464" marB="10464" anchor="ctr"/>
                </a:tc>
                <a:tc>
                  <a:txBody>
                    <a:bodyPr/>
                    <a:lstStyle/>
                    <a:p>
                      <a:pPr algn="r" rtl="1"/>
                      <a:r>
                        <a:rPr lang="ar-SA" sz="1200" dirty="0"/>
                        <a:t>استكمال السياسات المتبقية وتحديث إطار حوكمة البيانات.</a:t>
                      </a: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و التوجهات المستقبلية</a:t>
                      </a:r>
                    </a:p>
                  </a:txBody>
                  <a:tcPr marL="20927" marR="20927" marT="10464" marB="10464" anchor="ctr"/>
                </a:tc>
                <a:extLst>
                  <a:ext uri="{0D108BD9-81ED-4DB2-BD59-A6C34878D82A}">
                    <a16:rowId xmlns:a16="http://schemas.microsoft.com/office/drawing/2014/main" val="1911398290"/>
                  </a:ext>
                </a:extLst>
              </a:tr>
              <a:tr h="88334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GAP-D-03</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عدم </a:t>
                      </a:r>
                      <a:r>
                        <a:rPr lang="ar-SA" sz="1200" dirty="0"/>
                        <a:t>توثيق</a:t>
                      </a:r>
                      <a:r>
                        <a:rPr lang="ar-AE" sz="1200" dirty="0"/>
                        <a:t> خطط التعافي من الكوارث</a:t>
                      </a:r>
                      <a:r>
                        <a:rPr lang="ar-SA" sz="1200"/>
                        <a:t> ل</a:t>
                      </a:r>
                      <a:r>
                        <a:rPr lang="ar-AE" sz="1200"/>
                        <a:t>خزائن </a:t>
                      </a:r>
                      <a:r>
                        <a:rPr lang="ar-SA" sz="1200" dirty="0"/>
                        <a:t>البيانات </a:t>
                      </a:r>
                      <a:r>
                        <a:rPr lang="ar-AE" sz="1200" dirty="0"/>
                        <a:t>الحيوية</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تخزين البيانات (4)</a:t>
                      </a:r>
                    </a:p>
                  </a:txBody>
                  <a:tcPr marL="9525" marR="9525" marT="9525" marB="0" anchor="ctr"/>
                </a:tc>
                <a:tc>
                  <a:txBody>
                    <a:bodyPr/>
                    <a:lstStyle/>
                    <a:p>
                      <a:pPr algn="r" rtl="1">
                        <a:buNone/>
                      </a:pPr>
                      <a:r>
                        <a:rPr lang="ar-AE" sz="1200" dirty="0"/>
                        <a:t>لا تتوافر </a:t>
                      </a:r>
                      <a:r>
                        <a:rPr lang="ar-SA" sz="1200" dirty="0"/>
                        <a:t>معلومات عن </a:t>
                      </a:r>
                      <a:r>
                        <a:rPr lang="ar-AE" sz="1200" dirty="0"/>
                        <a:t>خطط لضمان استمرارية خزائن </a:t>
                      </a:r>
                      <a:r>
                        <a:rPr lang="ar-SA" sz="1200" dirty="0"/>
                        <a:t>البيانات </a:t>
                      </a:r>
                      <a:r>
                        <a:rPr lang="ar-AE" sz="1200" dirty="0"/>
                        <a:t>الحيوية</a:t>
                      </a:r>
                      <a:endParaRPr lang="ar-AE" sz="1200" dirty="0">
                        <a:latin typeface="+mn-lt"/>
                      </a:endParaRPr>
                    </a:p>
                  </a:txBody>
                  <a:tcPr marL="20927" marR="20927" marT="10464" marB="10464" anchor="ctr"/>
                </a:tc>
                <a:tc>
                  <a:txBody>
                    <a:bodyPr/>
                    <a:lstStyle/>
                    <a:p>
                      <a:pPr algn="r" rtl="1">
                        <a:buNone/>
                      </a:pPr>
                      <a:r>
                        <a:rPr lang="ar-AE" sz="1200" dirty="0"/>
                        <a:t>ارتفاع احتمال انقطاع الخدمات أو فقدان البيانات في حال وقوع كارثة</a:t>
                      </a:r>
                      <a:r>
                        <a:rPr lang="ar-SA" sz="1200" dirty="0"/>
                        <a:t> لعدم وجود توثيق كافي للخطط</a:t>
                      </a:r>
                      <a:endParaRPr lang="ar-AE" sz="1200" dirty="0">
                        <a:latin typeface="+mn-lt"/>
                      </a:endParaRPr>
                    </a:p>
                  </a:txBody>
                  <a:tcPr marL="20927" marR="20927" marT="10464" marB="10464" anchor="ctr"/>
                </a:tc>
                <a:tc>
                  <a:txBody>
                    <a:bodyPr/>
                    <a:lstStyle/>
                    <a:p>
                      <a:pPr algn="r" rtl="1">
                        <a:buNone/>
                      </a:pPr>
                      <a:r>
                        <a:rPr lang="ar-AE" sz="1200" dirty="0"/>
                        <a:t>وضع </a:t>
                      </a:r>
                      <a:r>
                        <a:rPr lang="ar-SA" sz="1200" dirty="0"/>
                        <a:t>توثيق </a:t>
                      </a:r>
                      <a:r>
                        <a:rPr lang="ar-AE" sz="1200" dirty="0"/>
                        <a:t>خطط متكاملة للتعافي من الكوارث </a:t>
                      </a:r>
                      <a:r>
                        <a:rPr lang="ar-SA" sz="1200" dirty="0"/>
                        <a:t> </a:t>
                      </a:r>
                      <a:r>
                        <a:rPr lang="ar-AE" sz="1200" dirty="0"/>
                        <a:t>وتحديد الأولويات </a:t>
                      </a:r>
                      <a:r>
                        <a:rPr lang="en-US" sz="1200" dirty="0"/>
                        <a:t>RTO/RPO، </a:t>
                      </a:r>
                      <a:r>
                        <a:rPr lang="ar-AE" sz="1200" dirty="0"/>
                        <a:t>ما يعزز موثوقية واستمرارية الخدمات</a:t>
                      </a:r>
                      <a:endParaRPr lang="ar-AE" sz="1200" dirty="0">
                        <a:latin typeface="+mn-lt"/>
                      </a:endParaRPr>
                    </a:p>
                  </a:txBody>
                  <a:tcPr marL="20927" marR="20927" marT="10464" marB="10464" anchor="ctr"/>
                </a:tc>
                <a:tc>
                  <a:txBody>
                    <a:bodyPr/>
                    <a:lstStyle/>
                    <a:p>
                      <a:pPr algn="r" rtl="1">
                        <a:buNone/>
                      </a:pPr>
                      <a:r>
                        <a:rPr lang="ar-SA" sz="1200" dirty="0"/>
                        <a:t>توثيق </a:t>
                      </a:r>
                      <a:r>
                        <a:rPr lang="ar-AE" sz="1200" dirty="0"/>
                        <a:t>خطط التعافي لكل خزانة وتحديثها بانتظام</a:t>
                      </a:r>
                      <a:endParaRPr lang="ar-AE" sz="1200" dirty="0">
                        <a:latin typeface="+mn-lt"/>
                      </a:endParaRPr>
                    </a:p>
                  </a:txBody>
                  <a:tcPr marL="20927" marR="20927" marT="10464" marB="10464" anchor="ctr"/>
                </a:tc>
                <a:tc>
                  <a:txBody>
                    <a:bodyPr/>
                    <a:lstStyle/>
                    <a:p>
                      <a:pPr algn="ctr" rtl="1">
                        <a:buNone/>
                      </a:pPr>
                      <a:r>
                        <a:rPr lang="ar-AE" sz="1200"/>
                        <a:t>عالية</a:t>
                      </a:r>
                      <a:endParaRPr lang="ar-AE" sz="1200">
                        <a:latin typeface="+mn-lt"/>
                      </a:endParaRPr>
                    </a:p>
                  </a:txBody>
                  <a:tcPr marL="20927" marR="20927" marT="10464" marB="10464" anchor="ctr"/>
                </a:tc>
                <a:tc>
                  <a:txBody>
                    <a:bodyPr/>
                    <a:lstStyle/>
                    <a:p>
                      <a:pPr algn="ctr" rtl="1">
                        <a:buNone/>
                      </a:pPr>
                      <a:r>
                        <a:rPr lang="ar-AE" sz="1200"/>
                        <a:t>عالية</a:t>
                      </a:r>
                      <a:endParaRPr lang="ar-AE" sz="120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1746732054"/>
                  </a:ext>
                </a:extLst>
              </a:tr>
              <a:tr h="66779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GAP-D-04</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a:t>تناثر قواعد البيانات</a:t>
                      </a:r>
                      <a:endParaRPr lang="ar-AE" sz="1200">
                        <a:latin typeface="+mn-lt"/>
                      </a:endParaRPr>
                    </a:p>
                  </a:txBody>
                  <a:tcPr marL="20927" marR="20927" marT="10464" marB="10464" anchor="ctr"/>
                </a:tc>
                <a:tc>
                  <a:txBody>
                    <a:bodyPr/>
                    <a:lstStyle/>
                    <a:p>
                      <a:pPr algn="ctr" rtl="1" fontAlgn="ctr"/>
                      <a:r>
                        <a:rPr lang="ar-AE" sz="1200" b="0" i="0" u="none" strike="noStrike" dirty="0">
                          <a:solidFill>
                            <a:srgbClr val="000000"/>
                          </a:solidFill>
                          <a:effectLst/>
                          <a:latin typeface="Aptos Narrow" panose="020B0004020202020204" pitchFamily="34" charset="0"/>
                        </a:rPr>
                        <a:t>تكامل البيانات ومشاركتها (7)</a:t>
                      </a:r>
                    </a:p>
                  </a:txBody>
                  <a:tcPr marL="9525" marR="9525" marT="9525" marB="0" anchor="ctr"/>
                </a:tc>
                <a:tc>
                  <a:txBody>
                    <a:bodyPr/>
                    <a:lstStyle/>
                    <a:p>
                      <a:pPr algn="r" rtl="1">
                        <a:buNone/>
                      </a:pPr>
                      <a:r>
                        <a:rPr lang="ar-AE" sz="1200"/>
                        <a:t>تتعدد الأنواع والإصدارات دون استراتيجية فعّالة للدمج والتكامل</a:t>
                      </a:r>
                      <a:endParaRPr lang="ar-AE" sz="1200">
                        <a:latin typeface="+mn-lt"/>
                      </a:endParaRPr>
                    </a:p>
                  </a:txBody>
                  <a:tcPr marL="20927" marR="20927" marT="10464" marB="10464" anchor="ctr"/>
                </a:tc>
                <a:tc>
                  <a:txBody>
                    <a:bodyPr/>
                    <a:lstStyle/>
                    <a:p>
                      <a:pPr algn="r" rtl="1">
                        <a:buNone/>
                      </a:pPr>
                      <a:r>
                        <a:rPr lang="ar-AE" sz="1200" dirty="0"/>
                        <a:t>صعوبة ربط المعلومات وتناقلها، وزيادة التكلفة التشغيلية والصيانة</a:t>
                      </a:r>
                      <a:endParaRPr lang="ar-AE" sz="1200" dirty="0">
                        <a:latin typeface="+mn-lt"/>
                      </a:endParaRPr>
                    </a:p>
                  </a:txBody>
                  <a:tcPr marL="20927" marR="20927" marT="10464" marB="10464" anchor="ctr"/>
                </a:tc>
                <a:tc>
                  <a:txBody>
                    <a:bodyPr/>
                    <a:lstStyle/>
                    <a:p>
                      <a:pPr algn="r" rtl="1">
                        <a:buNone/>
                      </a:pPr>
                      <a:r>
                        <a:rPr lang="ar-AE" sz="1200" dirty="0"/>
                        <a:t>تجميع وترشيد القواعد المكررة في مستودع بيانات مركزي، وتحسين التكامل عبر حلول </a:t>
                      </a:r>
                      <a:r>
                        <a:rPr lang="en-US" sz="1200" dirty="0"/>
                        <a:t>ETL/ELT</a:t>
                      </a:r>
                      <a:endParaRPr lang="en-US" sz="1200" dirty="0">
                        <a:latin typeface="+mn-lt"/>
                      </a:endParaRPr>
                    </a:p>
                  </a:txBody>
                  <a:tcPr marL="20927" marR="20927" marT="10464" marB="10464" anchor="ctr"/>
                </a:tc>
                <a:tc>
                  <a:txBody>
                    <a:bodyPr/>
                    <a:lstStyle/>
                    <a:p>
                      <a:pPr algn="r" rtl="1">
                        <a:buNone/>
                      </a:pPr>
                      <a:r>
                        <a:rPr lang="ar-AE" sz="1200"/>
                        <a:t>تقليل تنوع الإصدارات واعتماد بنية تخزين موحدة</a:t>
                      </a:r>
                      <a:endParaRPr lang="ar-AE" sz="1200">
                        <a:latin typeface="+mn-lt"/>
                      </a:endParaRPr>
                    </a:p>
                  </a:txBody>
                  <a:tcPr marL="20927" marR="20927" marT="10464" marB="10464" anchor="ctr"/>
                </a:tc>
                <a:tc>
                  <a:txBody>
                    <a:bodyPr/>
                    <a:lstStyle/>
                    <a:p>
                      <a:pPr algn="ctr" rtl="1">
                        <a:buNone/>
                      </a:pPr>
                      <a:r>
                        <a:rPr lang="ar-AE" sz="1200"/>
                        <a:t>متوسطة</a:t>
                      </a:r>
                      <a:endParaRPr lang="ar-AE" sz="1200">
                        <a:latin typeface="+mn-lt"/>
                      </a:endParaRPr>
                    </a:p>
                  </a:txBody>
                  <a:tcPr marL="20927" marR="20927" marT="10464" marB="10464" anchor="ctr"/>
                </a:tc>
                <a:tc>
                  <a:txBody>
                    <a:bodyPr/>
                    <a:lstStyle/>
                    <a:p>
                      <a:pPr algn="ctr" rtl="1">
                        <a:buNone/>
                      </a:pPr>
                      <a:r>
                        <a:rPr lang="ar-AE" sz="1200"/>
                        <a:t>عالية</a:t>
                      </a:r>
                      <a:endParaRPr lang="ar-AE" sz="120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1187917283"/>
                  </a:ext>
                </a:extLst>
              </a:tr>
              <a:tr h="88334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GAP-D-05</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r>
                        <a:rPr lang="ar-SA" sz="1200" dirty="0"/>
                        <a:t>توفر منصة دمج بيانات جزئية لا تغطي كافة كيانات البيانات</a:t>
                      </a:r>
                    </a:p>
                  </a:txBody>
                  <a:tcPr marL="20927" marR="20927" marT="10464" marB="10464" anchor="ctr"/>
                </a:tc>
                <a:tc>
                  <a:txBody>
                    <a:bodyPr/>
                    <a:lstStyle/>
                    <a:p>
                      <a:pPr algn="ctr" rtl="1" fontAlgn="ctr"/>
                      <a:r>
                        <a:rPr lang="ar-AE" sz="1200" b="0" i="0" u="none" strike="noStrike" dirty="0">
                          <a:solidFill>
                            <a:srgbClr val="000000"/>
                          </a:solidFill>
                          <a:effectLst/>
                          <a:latin typeface="Aptos Narrow" panose="020B0004020202020204" pitchFamily="34" charset="0"/>
                        </a:rPr>
                        <a:t>تكامل البيانات ومشاركتها (7)</a:t>
                      </a:r>
                    </a:p>
                  </a:txBody>
                  <a:tcPr marL="9525" marR="9525" marT="9525" marB="0" anchor="ctr"/>
                </a:tc>
                <a:tc>
                  <a:txBody>
                    <a:bodyPr/>
                    <a:lstStyle/>
                    <a:p>
                      <a:pPr algn="r" rtl="1"/>
                      <a:r>
                        <a:rPr lang="ar-SA" sz="1200" dirty="0"/>
                        <a:t>تمتلك الهيئة منصة لدمج البيانات، لكنها لا تشمل جميع كيانات البيانات الرئيسة</a:t>
                      </a:r>
                    </a:p>
                  </a:txBody>
                  <a:tcPr marL="20927" marR="20927" marT="10464" marB="10464" anchor="ctr"/>
                </a:tc>
                <a:tc>
                  <a:txBody>
                    <a:bodyPr/>
                    <a:lstStyle/>
                    <a:p>
                      <a:pPr algn="r" rtl="1">
                        <a:buNone/>
                      </a:pPr>
                      <a:r>
                        <a:rPr lang="ar-AE" sz="1200" dirty="0"/>
                        <a:t>ضعف في توحيد البيانات وتكاملها، وصعوبة في الحصول على رؤية شاملة وموحدة، </a:t>
                      </a:r>
                      <a:endParaRPr lang="ar-AE" sz="1200" dirty="0">
                        <a:latin typeface="+mn-lt"/>
                      </a:endParaRPr>
                    </a:p>
                  </a:txBody>
                  <a:tcPr marL="20927" marR="20927" marT="10464" marB="10464" anchor="ctr"/>
                </a:tc>
                <a:tc>
                  <a:txBody>
                    <a:bodyPr/>
                    <a:lstStyle/>
                    <a:p>
                      <a:pPr algn="r" rtl="1"/>
                      <a:r>
                        <a:rPr lang="ar-SA" sz="1200" dirty="0"/>
                        <a:t>تحقيق تكامل شامل يغطي كافة كيانات البيانات، ما يعزز من دقة التحليلات وسرعة الوصول للمعلومة، ويدعم اتخاذ القرار بجودة أعلى.</a:t>
                      </a:r>
                    </a:p>
                  </a:txBody>
                  <a:tcPr marL="20927" marR="20927" marT="10464" marB="10464" anchor="ctr"/>
                </a:tc>
                <a:tc>
                  <a:txBody>
                    <a:bodyPr/>
                    <a:lstStyle/>
                    <a:p>
                      <a:pPr algn="r" rtl="1"/>
                      <a:r>
                        <a:rPr lang="ar-SA" sz="1200" dirty="0"/>
                        <a:t>توسعة منصة دمج البيانات لتشمل كافة كيانات البيانات الرئيسية</a:t>
                      </a:r>
                    </a:p>
                  </a:txBody>
                  <a:tcPr marL="20927" marR="20927" marT="10464" marB="10464" anchor="ctr"/>
                </a:tc>
                <a:tc>
                  <a:txBody>
                    <a:bodyPr/>
                    <a:lstStyle/>
                    <a:p>
                      <a:pPr algn="ctr" rtl="1">
                        <a:buNone/>
                      </a:pPr>
                      <a:r>
                        <a:rPr lang="ar-AE" sz="1200"/>
                        <a:t>عالية</a:t>
                      </a:r>
                      <a:endParaRPr lang="ar-AE" sz="1200">
                        <a:latin typeface="+mn-lt"/>
                      </a:endParaRPr>
                    </a:p>
                  </a:txBody>
                  <a:tcPr marL="20927" marR="20927" marT="10464" marB="10464" anchor="ctr"/>
                </a:tc>
                <a:tc>
                  <a:txBody>
                    <a:bodyPr/>
                    <a:lstStyle/>
                    <a:p>
                      <a:pPr algn="ctr" rtl="1">
                        <a:buNone/>
                      </a:pPr>
                      <a:r>
                        <a:rPr lang="ar-AE" sz="1200"/>
                        <a:t>متوسطة</a:t>
                      </a:r>
                      <a:endParaRPr lang="ar-AE" sz="120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2343610073"/>
                  </a:ext>
                </a:extLst>
              </a:tr>
              <a:tr h="88334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GAP-D-06</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r>
                        <a:rPr lang="ar-SA" sz="1200" dirty="0"/>
                        <a:t>وجود معايير جودة بيانات مفعلة جزئيًا دون تطبيق شامل على جميع كيانات البيانات</a:t>
                      </a:r>
                    </a:p>
                  </a:txBody>
                  <a:tcPr marL="20927" marR="20927" marT="10464" marB="10464" anchor="ctr"/>
                </a:tc>
                <a:tc>
                  <a:txBody>
                    <a:bodyPr/>
                    <a:lstStyle/>
                    <a:p>
                      <a:pPr algn="ctr" rtl="1" fontAlgn="ctr"/>
                      <a:r>
                        <a:rPr lang="ar-AE" sz="1200" b="0" i="0" u="none" strike="noStrike" dirty="0">
                          <a:solidFill>
                            <a:srgbClr val="000000"/>
                          </a:solidFill>
                          <a:effectLst/>
                          <a:latin typeface="Aptos Narrow" panose="020B0004020202020204" pitchFamily="34" charset="0"/>
                        </a:rPr>
                        <a:t>جودة البيانات (3)</a:t>
                      </a:r>
                    </a:p>
                  </a:txBody>
                  <a:tcPr marL="9525" marR="9525" marT="9525" marB="0" anchor="ctr"/>
                </a:tc>
                <a:tc>
                  <a:txBody>
                    <a:bodyPr/>
                    <a:lstStyle/>
                    <a:p>
                      <a:pPr algn="r" rtl="1"/>
                      <a:r>
                        <a:rPr lang="ar-SA" sz="1200" dirty="0"/>
                        <a:t>تتوفر بعض معايير جودة البيانات، إلا أن تفعيلها محدود في نطاق جزئي من الكيانات أو الأنظمة، مما يؤدي إلى تباين في جودة البيانات وصعوبة ضمان موثوقيتها.</a:t>
                      </a:r>
                    </a:p>
                  </a:txBody>
                  <a:tcPr marL="20927" marR="20927" marT="10464" marB="10464" anchor="ctr"/>
                </a:tc>
                <a:tc>
                  <a:txBody>
                    <a:bodyPr/>
                    <a:lstStyle/>
                    <a:p>
                      <a:pPr algn="r" rtl="1">
                        <a:buNone/>
                      </a:pPr>
                      <a:r>
                        <a:rPr lang="ar-AE" sz="1200" dirty="0"/>
                        <a:t>اختلاف مستويات الجودة بين مصادر البيانات، ضعف الثقة في البيانات المستخدمة</a:t>
                      </a:r>
                    </a:p>
                  </a:txBody>
                  <a:tcPr marL="20927" marR="20927" marT="10464" marB="10464" anchor="ctr"/>
                </a:tc>
                <a:tc>
                  <a:txBody>
                    <a:bodyPr/>
                    <a:lstStyle/>
                    <a:p>
                      <a:pPr algn="r" rtl="1">
                        <a:buNone/>
                      </a:pPr>
                      <a:r>
                        <a:rPr lang="ar-AE" sz="1200" dirty="0"/>
                        <a:t>تحقيق توحيد شامل لمعايير جودة البيانات على مستوى </a:t>
                      </a:r>
                      <a:r>
                        <a:rPr lang="ar-SA" sz="1200" dirty="0"/>
                        <a:t>الهيئة</a:t>
                      </a:r>
                      <a:r>
                        <a:rPr lang="ar-AE" sz="1200" dirty="0"/>
                        <a:t>، ما يعزز موثوقية البيانات ويُسهم في تحسين الكفاءة التحليلية ودقة القرارات.</a:t>
                      </a:r>
                    </a:p>
                  </a:txBody>
                  <a:tcPr marL="20927" marR="20927" marT="10464" marB="10464" anchor="ctr"/>
                </a:tc>
                <a:tc>
                  <a:txBody>
                    <a:bodyPr/>
                    <a:lstStyle/>
                    <a:p>
                      <a:pPr algn="r" rtl="1"/>
                      <a:r>
                        <a:rPr lang="ar-SA" sz="1200" dirty="0"/>
                        <a:t>تفعيل شامل لمعايير جودة البيانات على كافة كيانات البيانات، مع وضع آليات متابعة وتقييم مستمر.</a:t>
                      </a: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و التوجهات المستقبلية</a:t>
                      </a:r>
                    </a:p>
                  </a:txBody>
                  <a:tcPr marL="20927" marR="20927" marT="10464" marB="10464" anchor="ctr"/>
                </a:tc>
                <a:extLst>
                  <a:ext uri="{0D108BD9-81ED-4DB2-BD59-A6C34878D82A}">
                    <a16:rowId xmlns:a16="http://schemas.microsoft.com/office/drawing/2014/main" val="2194282011"/>
                  </a:ext>
                </a:extLst>
              </a:tr>
            </a:tbl>
          </a:graphicData>
        </a:graphic>
      </p:graphicFrame>
    </p:spTree>
    <p:extLst>
      <p:ext uri="{BB962C8B-B14F-4D97-AF65-F5344CB8AC3E}">
        <p14:creationId xmlns:p14="http://schemas.microsoft.com/office/powerpoint/2010/main" val="295528975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2B4E8-E77C-FFBA-D0DE-6E41F24FA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1175B-1296-C350-0E6D-2B68BE3E6EED}"/>
              </a:ext>
            </a:extLst>
          </p:cNvPr>
          <p:cNvSpPr>
            <a:spLocks noGrp="1"/>
          </p:cNvSpPr>
          <p:nvPr>
            <p:ph type="title"/>
          </p:nvPr>
        </p:nvSpPr>
        <p:spPr/>
        <p:txBody>
          <a:bodyPr/>
          <a:lstStyle/>
          <a:p>
            <a:r>
              <a:rPr lang="ar-SA" dirty="0"/>
              <a:t>ملخص تحليل الفجوات</a:t>
            </a:r>
            <a:endParaRPr lang="en-AE" dirty="0"/>
          </a:p>
        </p:txBody>
      </p:sp>
      <p:sp>
        <p:nvSpPr>
          <p:cNvPr id="3" name="Slide Number Placeholder 2">
            <a:extLst>
              <a:ext uri="{FF2B5EF4-FFF2-40B4-BE49-F238E27FC236}">
                <a16:creationId xmlns:a16="http://schemas.microsoft.com/office/drawing/2014/main" id="{090B3158-1BFF-C7A5-DD27-F0EE2F196736}"/>
              </a:ext>
            </a:extLst>
          </p:cNvPr>
          <p:cNvSpPr>
            <a:spLocks noGrp="1"/>
          </p:cNvSpPr>
          <p:nvPr>
            <p:ph type="sldNum" sz="quarter" idx="12"/>
          </p:nvPr>
        </p:nvSpPr>
        <p:spPr/>
        <p:txBody>
          <a:bodyPr/>
          <a:lstStyle/>
          <a:p>
            <a:fld id="{0BE4EC83-A869-464E-AE9F-881796FB085E}" type="slidenum">
              <a:rPr lang="en-US" smtClean="0"/>
              <a:t>60</a:t>
            </a:fld>
            <a:endParaRPr lang="en-US"/>
          </a:p>
        </p:txBody>
      </p:sp>
      <p:graphicFrame>
        <p:nvGraphicFramePr>
          <p:cNvPr id="4" name="Table 3">
            <a:extLst>
              <a:ext uri="{FF2B5EF4-FFF2-40B4-BE49-F238E27FC236}">
                <a16:creationId xmlns:a16="http://schemas.microsoft.com/office/drawing/2014/main" id="{A07A0E2C-8BC1-2035-5C90-4610A9E84272}"/>
              </a:ext>
            </a:extLst>
          </p:cNvPr>
          <p:cNvGraphicFramePr>
            <a:graphicFrameLocks noGrp="1"/>
          </p:cNvGraphicFramePr>
          <p:nvPr>
            <p:extLst>
              <p:ext uri="{D42A27DB-BD31-4B8C-83A1-F6EECF244321}">
                <p14:modId xmlns:p14="http://schemas.microsoft.com/office/powerpoint/2010/main" val="2360556239"/>
              </p:ext>
            </p:extLst>
          </p:nvPr>
        </p:nvGraphicFramePr>
        <p:xfrm>
          <a:off x="609600" y="1139190"/>
          <a:ext cx="11025377" cy="4912333"/>
        </p:xfrm>
        <a:graphic>
          <a:graphicData uri="http://schemas.openxmlformats.org/drawingml/2006/table">
            <a:tbl>
              <a:tblPr rtl="1" firstRow="1" bandRow="1">
                <a:tableStyleId>{B301B821-A1FF-4177-AEE7-76D212191A09}</a:tableStyleId>
              </a:tblPr>
              <a:tblGrid>
                <a:gridCol w="759987">
                  <a:extLst>
                    <a:ext uri="{9D8B030D-6E8A-4147-A177-3AD203B41FA5}">
                      <a16:colId xmlns:a16="http://schemas.microsoft.com/office/drawing/2014/main" val="1848166869"/>
                    </a:ext>
                  </a:extLst>
                </a:gridCol>
                <a:gridCol w="919900">
                  <a:extLst>
                    <a:ext uri="{9D8B030D-6E8A-4147-A177-3AD203B41FA5}">
                      <a16:colId xmlns:a16="http://schemas.microsoft.com/office/drawing/2014/main" val="3183077499"/>
                    </a:ext>
                  </a:extLst>
                </a:gridCol>
                <a:gridCol w="1767785">
                  <a:extLst>
                    <a:ext uri="{9D8B030D-6E8A-4147-A177-3AD203B41FA5}">
                      <a16:colId xmlns:a16="http://schemas.microsoft.com/office/drawing/2014/main" val="4234434377"/>
                    </a:ext>
                  </a:extLst>
                </a:gridCol>
                <a:gridCol w="1767785">
                  <a:extLst>
                    <a:ext uri="{9D8B030D-6E8A-4147-A177-3AD203B41FA5}">
                      <a16:colId xmlns:a16="http://schemas.microsoft.com/office/drawing/2014/main" val="2407940828"/>
                    </a:ext>
                  </a:extLst>
                </a:gridCol>
                <a:gridCol w="1201312">
                  <a:extLst>
                    <a:ext uri="{9D8B030D-6E8A-4147-A177-3AD203B41FA5}">
                      <a16:colId xmlns:a16="http://schemas.microsoft.com/office/drawing/2014/main" val="2266366844"/>
                    </a:ext>
                  </a:extLst>
                </a:gridCol>
                <a:gridCol w="1718951">
                  <a:extLst>
                    <a:ext uri="{9D8B030D-6E8A-4147-A177-3AD203B41FA5}">
                      <a16:colId xmlns:a16="http://schemas.microsoft.com/office/drawing/2014/main" val="170401669"/>
                    </a:ext>
                  </a:extLst>
                </a:gridCol>
                <a:gridCol w="1132945">
                  <a:extLst>
                    <a:ext uri="{9D8B030D-6E8A-4147-A177-3AD203B41FA5}">
                      <a16:colId xmlns:a16="http://schemas.microsoft.com/office/drawing/2014/main" val="4110629147"/>
                    </a:ext>
                  </a:extLst>
                </a:gridCol>
                <a:gridCol w="586006">
                  <a:extLst>
                    <a:ext uri="{9D8B030D-6E8A-4147-A177-3AD203B41FA5}">
                      <a16:colId xmlns:a16="http://schemas.microsoft.com/office/drawing/2014/main" val="2090639194"/>
                    </a:ext>
                  </a:extLst>
                </a:gridCol>
                <a:gridCol w="507872">
                  <a:extLst>
                    <a:ext uri="{9D8B030D-6E8A-4147-A177-3AD203B41FA5}">
                      <a16:colId xmlns:a16="http://schemas.microsoft.com/office/drawing/2014/main" val="1489210985"/>
                    </a:ext>
                  </a:extLst>
                </a:gridCol>
                <a:gridCol w="662834">
                  <a:extLst>
                    <a:ext uri="{9D8B030D-6E8A-4147-A177-3AD203B41FA5}">
                      <a16:colId xmlns:a16="http://schemas.microsoft.com/office/drawing/2014/main" val="602859565"/>
                    </a:ext>
                  </a:extLst>
                </a:gridCol>
              </a:tblGrid>
              <a:tr h="228755">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SA" sz="1400" dirty="0">
                          <a:latin typeface="+mn-lt"/>
                        </a:rPr>
                        <a:t>التصنيف</a:t>
                      </a:r>
                      <a:endParaRPr lang="ar-AE" sz="1400" dirty="0">
                        <a:latin typeface="+mn-lt"/>
                      </a:endParaRP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85371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GAP-D-07</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توفر قدرات تحليلية متقدمة غير مفعلة على مستوى الهيئة</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ذكاء الأعمال والتحليلات (9)</a:t>
                      </a:r>
                    </a:p>
                  </a:txBody>
                  <a:tcPr marL="9525" marR="9525" marT="9525" marB="0" anchor="ctr"/>
                </a:tc>
                <a:tc>
                  <a:txBody>
                    <a:bodyPr/>
                    <a:lstStyle/>
                    <a:p>
                      <a:pPr algn="r" rtl="1">
                        <a:buNone/>
                      </a:pPr>
                      <a:r>
                        <a:rPr lang="ar-AE" sz="1200" dirty="0"/>
                        <a:t>تمتلك الهيئة أدوات أو تقنيات تدعم التحليلات المتقدمة مثل الذكاء الاصطناعي وتعلم الآلة، لكنها غير مفعلة أو غير مستغلة بشكل شامل على مستوى الوحدات التنظيمية</a:t>
                      </a:r>
                      <a:endParaRPr lang="ar-AE" sz="1200" dirty="0">
                        <a:latin typeface="+mn-lt"/>
                      </a:endParaRPr>
                    </a:p>
                  </a:txBody>
                  <a:tcPr marL="20927" marR="20927" marT="10464" marB="10464" anchor="ctr"/>
                </a:tc>
                <a:tc>
                  <a:txBody>
                    <a:bodyPr/>
                    <a:lstStyle/>
                    <a:p>
                      <a:pPr algn="r" rtl="1">
                        <a:buNone/>
                      </a:pPr>
                      <a:r>
                        <a:rPr lang="ar-AE" sz="1200" dirty="0"/>
                        <a:t>ضعف في التنبؤ واتخاذ القرار الاستباقي، وعدم الاستفادة الكاملة من البيانات المتاحة في تحسين الأداء وتطوير الخدمات.</a:t>
                      </a:r>
                    </a:p>
                  </a:txBody>
                  <a:tcPr marL="20927" marR="20927" marT="10464" marB="10464" anchor="ctr"/>
                </a:tc>
                <a:tc>
                  <a:txBody>
                    <a:bodyPr/>
                    <a:lstStyle/>
                    <a:p>
                      <a:pPr algn="r" rtl="1">
                        <a:buNone/>
                      </a:pPr>
                      <a:r>
                        <a:rPr lang="ar-AE" sz="1200" dirty="0"/>
                        <a:t>تفعيل شامل للتحليلات المتقدمة يعزز قدرة الهيئة على اتخاذ قرارات مبنية على نماذج تنبؤية وتحليلات عميقة، ويرفع من كفاءة وجودة العمليات والخدمات.</a:t>
                      </a:r>
                    </a:p>
                  </a:txBody>
                  <a:tcPr marL="20927" marR="20927" marT="10464" marB="10464" anchor="ctr"/>
                </a:tc>
                <a:tc>
                  <a:txBody>
                    <a:bodyPr/>
                    <a:lstStyle/>
                    <a:p>
                      <a:pPr algn="r" rtl="1">
                        <a:buNone/>
                      </a:pPr>
                      <a:r>
                        <a:rPr lang="ar-AE" sz="1200" dirty="0"/>
                        <a:t>تفعيل الأدوات التحليلية المتقدمة وتوسيع استخدامها عبر الوحدات المختلفة، وربطها بمنصات البيانات.</a:t>
                      </a:r>
                    </a:p>
                  </a:txBody>
                  <a:tcPr marL="20927" marR="20927" marT="10464" marB="10464" anchor="ctr"/>
                </a:tc>
                <a:tc>
                  <a:txBody>
                    <a:bodyPr/>
                    <a:lstStyle/>
                    <a:p>
                      <a:pPr algn="ctr" rtl="1">
                        <a:buNone/>
                      </a:pPr>
                      <a:r>
                        <a:rPr lang="ar-AE" sz="1200"/>
                        <a:t>متوسطة</a:t>
                      </a:r>
                      <a:endParaRPr lang="ar-AE" sz="1200">
                        <a:latin typeface="+mn-lt"/>
                      </a:endParaRP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algn="ctr" rtl="1">
                        <a:buNone/>
                      </a:pPr>
                      <a:r>
                        <a:rPr lang="ar-AE" sz="1200" dirty="0"/>
                        <a:t>وثيقة الوضع الحالي و التوجهات المستقبلية</a:t>
                      </a:r>
                      <a:endParaRPr lang="ar-AE" sz="1200" dirty="0">
                        <a:latin typeface="+mn-lt"/>
                      </a:endParaRPr>
                    </a:p>
                  </a:txBody>
                  <a:tcPr marL="20927" marR="20927" marT="10464" marB="10464" anchor="ctr"/>
                </a:tc>
                <a:extLst>
                  <a:ext uri="{0D108BD9-81ED-4DB2-BD59-A6C34878D82A}">
                    <a16:rowId xmlns:a16="http://schemas.microsoft.com/office/drawing/2014/main" val="3386048539"/>
                  </a:ext>
                </a:extLst>
              </a:tr>
              <a:tr h="85371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Sakkal Majalla"/>
                          <a:ea typeface="+mn-ea"/>
                          <a:cs typeface="Sakkal Majalla"/>
                        </a:rPr>
                        <a:t>GAP-D-08</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ضعف توثيق البيانات المفتوحة</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البيانات المفتوحة (11)</a:t>
                      </a:r>
                    </a:p>
                  </a:txBody>
                  <a:tcPr marL="9525" marR="9525" marT="9525" marB="0" anchor="ctr"/>
                </a:tc>
                <a:tc>
                  <a:txBody>
                    <a:bodyPr/>
                    <a:lstStyle/>
                    <a:p>
                      <a:pPr algn="r" rtl="1">
                        <a:buNone/>
                      </a:pPr>
                      <a:r>
                        <a:rPr lang="ar-AE" sz="1200"/>
                        <a:t>لا توجد عملية منظمة لنشر البيانات المفتوحة وتحديثها بانتظام</a:t>
                      </a:r>
                      <a:endParaRPr lang="ar-AE" sz="1200">
                        <a:latin typeface="+mn-lt"/>
                      </a:endParaRPr>
                    </a:p>
                  </a:txBody>
                  <a:tcPr marL="20927" marR="20927" marT="10464" marB="10464" anchor="ctr"/>
                </a:tc>
                <a:tc>
                  <a:txBody>
                    <a:bodyPr/>
                    <a:lstStyle/>
                    <a:p>
                      <a:pPr algn="r" rtl="1">
                        <a:buNone/>
                      </a:pPr>
                      <a:r>
                        <a:rPr lang="ar-AE" sz="1200"/>
                        <a:t>قلة الشفافية وفقدان فرص الاستفادة من البيانات في تحسين الخدمات أو دعم الأبحاث</a:t>
                      </a:r>
                      <a:endParaRPr lang="ar-AE" sz="1200">
                        <a:latin typeface="+mn-lt"/>
                      </a:endParaRPr>
                    </a:p>
                  </a:txBody>
                  <a:tcPr marL="20927" marR="20927" marT="10464" marB="10464" anchor="ctr"/>
                </a:tc>
                <a:tc>
                  <a:txBody>
                    <a:bodyPr/>
                    <a:lstStyle/>
                    <a:p>
                      <a:pPr algn="r" rtl="1">
                        <a:buNone/>
                      </a:pPr>
                      <a:r>
                        <a:rPr lang="ar-AE" sz="1200"/>
                        <a:t>إنشاء سياسة واضحة ومحدثة لنشر البيانات المفتوحة، بما يتوافق مع لوائح الخصوصية والأمن واحتياجات المستفيد</a:t>
                      </a:r>
                      <a:endParaRPr lang="ar-AE" sz="1200">
                        <a:latin typeface="+mn-lt"/>
                      </a:endParaRPr>
                    </a:p>
                  </a:txBody>
                  <a:tcPr marL="20927" marR="20927" marT="10464" marB="10464" anchor="ctr"/>
                </a:tc>
                <a:tc>
                  <a:txBody>
                    <a:bodyPr/>
                    <a:lstStyle/>
                    <a:p>
                      <a:pPr algn="r" rtl="1">
                        <a:buNone/>
                      </a:pPr>
                      <a:r>
                        <a:rPr lang="ar-AE" sz="1200"/>
                        <a:t>إطلاق بوابة بيانات مفتوحة وتحديثها وفق جدول زمني ثابت</a:t>
                      </a:r>
                      <a:endParaRPr lang="ar-AE" sz="1200">
                        <a:latin typeface="+mn-lt"/>
                      </a:endParaRPr>
                    </a:p>
                  </a:txBody>
                  <a:tcPr marL="20927" marR="20927" marT="10464" marB="10464" anchor="ctr"/>
                </a:tc>
                <a:tc>
                  <a:txBody>
                    <a:bodyPr/>
                    <a:lstStyle/>
                    <a:p>
                      <a:pPr algn="ctr" rtl="1">
                        <a:buNone/>
                      </a:pPr>
                      <a:r>
                        <a:rPr lang="ar-AE" sz="1200"/>
                        <a:t>متوسطة</a:t>
                      </a:r>
                      <a:endParaRPr lang="ar-AE" sz="1200">
                        <a:latin typeface="+mn-lt"/>
                      </a:endParaRP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3067900995"/>
                  </a:ext>
                </a:extLst>
              </a:tr>
              <a:tr h="85371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GAP-D-09</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استمرار</a:t>
                      </a:r>
                      <a:r>
                        <a:rPr lang="ar-SA" sz="1200" dirty="0"/>
                        <a:t> بعض</a:t>
                      </a:r>
                      <a:r>
                        <a:rPr lang="ar-AE" sz="1200" dirty="0"/>
                        <a:t> التعاملات الورقية</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إدارة المحتوى والوثائق (5)</a:t>
                      </a:r>
                    </a:p>
                  </a:txBody>
                  <a:tcPr marL="9525" marR="9525" marT="9525" marB="0" anchor="ctr"/>
                </a:tc>
                <a:tc>
                  <a:txBody>
                    <a:bodyPr/>
                    <a:lstStyle/>
                    <a:p>
                      <a:pPr algn="r" rtl="1">
                        <a:buNone/>
                      </a:pPr>
                      <a:r>
                        <a:rPr lang="ar-AE" sz="1200" dirty="0"/>
                        <a:t>الاعتماد على بعض النماذج الورقية في إدخال ومعالجة البيانات</a:t>
                      </a:r>
                      <a:endParaRPr lang="ar-AE" sz="1200" dirty="0">
                        <a:latin typeface="+mn-lt"/>
                      </a:endParaRPr>
                    </a:p>
                  </a:txBody>
                  <a:tcPr marL="20927" marR="20927" marT="10464" marB="10464" anchor="ctr"/>
                </a:tc>
                <a:tc>
                  <a:txBody>
                    <a:bodyPr/>
                    <a:lstStyle/>
                    <a:p>
                      <a:pPr algn="r" rtl="1">
                        <a:buNone/>
                      </a:pPr>
                      <a:r>
                        <a:rPr lang="ar-AE" sz="1200" dirty="0"/>
                        <a:t>بطء سير العمليات وزيادة احتمالات الخطأ البشري وهدر الوقت</a:t>
                      </a:r>
                      <a:endParaRPr lang="ar-AE" sz="1200" dirty="0">
                        <a:latin typeface="+mn-lt"/>
                      </a:endParaRPr>
                    </a:p>
                  </a:txBody>
                  <a:tcPr marL="20927" marR="20927" marT="10464" marB="10464" anchor="ctr"/>
                </a:tc>
                <a:tc>
                  <a:txBody>
                    <a:bodyPr/>
                    <a:lstStyle/>
                    <a:p>
                      <a:pPr algn="r" rtl="1">
                        <a:buNone/>
                      </a:pPr>
                      <a:r>
                        <a:rPr lang="ar-AE" sz="1200" dirty="0"/>
                        <a:t>أتمتة العمليات والاعتماد على النماذج الرقمية وقواعد البيانات المشتركة</a:t>
                      </a:r>
                      <a:endParaRPr lang="ar-AE" sz="1200" dirty="0">
                        <a:latin typeface="+mn-lt"/>
                      </a:endParaRPr>
                    </a:p>
                  </a:txBody>
                  <a:tcPr marL="20927" marR="20927" marT="10464" marB="10464" anchor="ctr"/>
                </a:tc>
                <a:tc>
                  <a:txBody>
                    <a:bodyPr/>
                    <a:lstStyle/>
                    <a:p>
                      <a:pPr algn="r" rtl="1">
                        <a:buNone/>
                      </a:pPr>
                      <a:r>
                        <a:rPr lang="ar-AE" sz="1200" dirty="0"/>
                        <a:t>تحويل النماذج الورقية إلى إلكترونية وإجراء فحوصات دورية لقياس كفاءة التحول</a:t>
                      </a:r>
                      <a:endParaRPr lang="ar-AE" sz="1200" dirty="0">
                        <a:latin typeface="+mn-lt"/>
                      </a:endParaRP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4205275932"/>
                  </a:ext>
                </a:extLst>
              </a:tr>
              <a:tr h="8537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GAP-D-10</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p>
                      <a:pPr marL="0" algn="ctr" defTabSz="914400" rtl="0" eaLnBrk="1" latinLnBrk="0" hangingPunct="1">
                        <a:buNone/>
                      </a:pPr>
                      <a:endParaRPr lang="ar-AE" sz="1200" dirty="0">
                        <a:latin typeface="+mn-lt"/>
                      </a:endParaRPr>
                    </a:p>
                  </a:txBody>
                  <a:tcPr marL="20927" marR="20927" marT="10464" marB="10464" anchor="ctr"/>
                </a:tc>
                <a:tc>
                  <a:txBody>
                    <a:bodyPr/>
                    <a:lstStyle/>
                    <a:p>
                      <a:pPr algn="r" rtl="1">
                        <a:buNone/>
                      </a:pPr>
                      <a:r>
                        <a:rPr lang="ar-AE" sz="1200" dirty="0">
                          <a:latin typeface="+mn-lt"/>
                        </a:rPr>
                        <a:t>عدم وجود نظام موحّد لإدارة </a:t>
                      </a:r>
                      <a:r>
                        <a:rPr lang="ar-SA" sz="1200" dirty="0">
                          <a:latin typeface="+mn-lt"/>
                        </a:rPr>
                        <a:t>البيانات</a:t>
                      </a:r>
                      <a:r>
                        <a:rPr lang="ar-AE" sz="1200" dirty="0">
                          <a:latin typeface="+mn-lt"/>
                        </a:rPr>
                        <a:t> الوصفية </a:t>
                      </a:r>
                      <a:r>
                        <a:rPr lang="en-US" sz="1200" dirty="0">
                          <a:latin typeface="+mn-lt"/>
                        </a:rPr>
                        <a:t>Metadata</a:t>
                      </a:r>
                    </a:p>
                  </a:txBody>
                  <a:tcPr marL="40111" marR="40111" marT="20055" marB="20055" anchor="ctr"/>
                </a:tc>
                <a:tc>
                  <a:txBody>
                    <a:bodyPr/>
                    <a:lstStyle/>
                    <a:p>
                      <a:pPr algn="ctr" rtl="1" fontAlgn="ctr"/>
                      <a:r>
                        <a:rPr lang="ar-AE" sz="1200" b="0" i="0" u="none" strike="noStrike">
                          <a:solidFill>
                            <a:srgbClr val="000000"/>
                          </a:solidFill>
                          <a:effectLst/>
                          <a:latin typeface="Aptos Narrow" panose="020B0004020202020204" pitchFamily="34" charset="0"/>
                        </a:rPr>
                        <a:t>البيانات الوصفية ودليل البيانات (2)</a:t>
                      </a:r>
                    </a:p>
                  </a:txBody>
                  <a:tcPr marL="9525" marR="9525" marT="9525" marB="0" anchor="ctr"/>
                </a:tc>
                <a:tc>
                  <a:txBody>
                    <a:bodyPr/>
                    <a:lstStyle/>
                    <a:p>
                      <a:pPr algn="r" rtl="1">
                        <a:buNone/>
                      </a:pPr>
                      <a:r>
                        <a:rPr lang="ar-AE" sz="1200" dirty="0">
                          <a:latin typeface="+mn-lt"/>
                        </a:rPr>
                        <a:t>لا تتوفر آلية محددة لإدارة البيانات الوصفية </a:t>
                      </a:r>
                      <a:r>
                        <a:rPr lang="en-US" sz="1200" dirty="0">
                          <a:latin typeface="+mn-lt"/>
                        </a:rPr>
                        <a:t>Metadata</a:t>
                      </a:r>
                      <a:r>
                        <a:rPr lang="ar-SA" sz="1200" dirty="0">
                          <a:latin typeface="+mn-lt"/>
                        </a:rPr>
                        <a:t> </a:t>
                      </a:r>
                      <a:r>
                        <a:rPr lang="ar-AE" sz="1200" dirty="0">
                          <a:latin typeface="+mn-lt"/>
                        </a:rPr>
                        <a:t>وتوحيدها بين الأنظمة والتطبيقات</a:t>
                      </a:r>
                    </a:p>
                  </a:txBody>
                  <a:tcPr marL="40111" marR="40111" marT="20055" marB="20055" anchor="ctr"/>
                </a:tc>
                <a:tc>
                  <a:txBody>
                    <a:bodyPr/>
                    <a:lstStyle/>
                    <a:p>
                      <a:pPr algn="r" rtl="1">
                        <a:buNone/>
                      </a:pPr>
                      <a:r>
                        <a:rPr lang="ar-AE" sz="1200" dirty="0">
                          <a:latin typeface="+mn-lt"/>
                        </a:rPr>
                        <a:t>تضارب في تعريفات البيانات وصعوبة تتبّع مصادرها أو تحديثها، ما قد يؤدي إلى تكرار وتناقض في التقارير والمخرجات</a:t>
                      </a:r>
                    </a:p>
                  </a:txBody>
                  <a:tcPr marL="40111" marR="40111" marT="20055" marB="20055" anchor="ctr"/>
                </a:tc>
                <a:tc>
                  <a:txBody>
                    <a:bodyPr/>
                    <a:lstStyle/>
                    <a:p>
                      <a:pPr algn="r" rtl="1">
                        <a:buNone/>
                      </a:pPr>
                      <a:r>
                        <a:rPr lang="ar-AE" sz="1200" dirty="0">
                          <a:latin typeface="+mn-lt"/>
                        </a:rPr>
                        <a:t>تطوير نظام لإدارة البيانات الوصفية وربطه بجميع الأنظمة لتمكين تتبع المصادر وتسهيل تحديث المعلومات</a:t>
                      </a:r>
                    </a:p>
                  </a:txBody>
                  <a:tcPr marL="40111" marR="40111" marT="20055" marB="20055" anchor="ctr"/>
                </a:tc>
                <a:tc>
                  <a:txBody>
                    <a:bodyPr/>
                    <a:lstStyle/>
                    <a:p>
                      <a:pPr algn="r" rtl="1">
                        <a:buNone/>
                      </a:pPr>
                      <a:r>
                        <a:rPr lang="ar-AE" sz="1200" dirty="0">
                          <a:latin typeface="+mn-lt"/>
                        </a:rPr>
                        <a:t>بناء منصة </a:t>
                      </a:r>
                      <a:r>
                        <a:rPr lang="en-US" sz="1200" dirty="0">
                          <a:latin typeface="+mn-lt"/>
                        </a:rPr>
                        <a:t>Meta-Data </a:t>
                      </a:r>
                      <a:r>
                        <a:rPr lang="ar-AE" sz="1200" dirty="0">
                          <a:latin typeface="+mn-lt"/>
                        </a:rPr>
                        <a:t>مركزية واعتماد معايير موحّدة لهيكلة وتوثيق التعريفات الوصفية</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algn="ctr" rtl="1">
                        <a:buNone/>
                      </a:pPr>
                      <a:r>
                        <a:rPr lang="ar-AE" sz="1200" kern="1200" dirty="0">
                          <a:solidFill>
                            <a:schemeClr val="dk1"/>
                          </a:solidFill>
                          <a:latin typeface="+mn-lt"/>
                          <a:ea typeface="+mn-ea"/>
                          <a:cs typeface="+mn-cs"/>
                        </a:rPr>
                        <a:t>متوسطة</a:t>
                      </a:r>
                    </a:p>
                  </a:txBody>
                  <a:tcPr marL="40111" marR="40111" marT="20055" marB="20055"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و التوجهات المستقبلية</a:t>
                      </a:r>
                    </a:p>
                  </a:txBody>
                  <a:tcPr marL="40111" marR="40111" marT="20055" marB="20055" anchor="ctr"/>
                </a:tc>
                <a:extLst>
                  <a:ext uri="{0D108BD9-81ED-4DB2-BD59-A6C34878D82A}">
                    <a16:rowId xmlns:a16="http://schemas.microsoft.com/office/drawing/2014/main" val="3512262893"/>
                  </a:ext>
                </a:extLst>
              </a:tr>
              <a:tr h="10807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GAP-D-11</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انعدام اتفاقية مستوى الخدمة </a:t>
                      </a:r>
                      <a:r>
                        <a:rPr lang="ar-SA" sz="1200" dirty="0">
                          <a:latin typeface="+mn-lt"/>
                        </a:rPr>
                        <a:t>(</a:t>
                      </a:r>
                      <a:r>
                        <a:rPr lang="en-US" sz="1200" dirty="0">
                          <a:latin typeface="+mn-lt"/>
                        </a:rPr>
                        <a:t>SLA</a:t>
                      </a:r>
                      <a:r>
                        <a:rPr lang="ar-SA" sz="1200" dirty="0">
                          <a:latin typeface="+mn-lt"/>
                        </a:rPr>
                        <a:t>)</a:t>
                      </a:r>
                      <a:r>
                        <a:rPr lang="en-US" sz="1200" dirty="0">
                          <a:latin typeface="+mn-lt"/>
                        </a:rPr>
                        <a:t> </a:t>
                      </a:r>
                      <a:r>
                        <a:rPr lang="ar-AE" sz="1200" dirty="0">
                          <a:latin typeface="+mn-lt"/>
                        </a:rPr>
                        <a:t>لخدمات البيانات</a:t>
                      </a:r>
                    </a:p>
                  </a:txBody>
                  <a:tcPr marL="40111" marR="40111" marT="20055" marB="20055" anchor="ctr"/>
                </a:tc>
                <a:tc>
                  <a:txBody>
                    <a:bodyPr/>
                    <a:lstStyle/>
                    <a:p>
                      <a:pPr algn="ctr" rtl="1" fontAlgn="ctr"/>
                      <a:r>
                        <a:rPr lang="ar-AE" sz="1200" b="0" i="0" u="none" strike="noStrike" dirty="0">
                          <a:solidFill>
                            <a:srgbClr val="000000"/>
                          </a:solidFill>
                          <a:effectLst/>
                          <a:latin typeface="Aptos Narrow" panose="020B0004020202020204" pitchFamily="34" charset="0"/>
                        </a:rPr>
                        <a:t>حوكمة البيانات (1)</a:t>
                      </a:r>
                    </a:p>
                  </a:txBody>
                  <a:tcPr marL="9525" marR="9525" marT="9525" marB="0" anchor="ctr"/>
                </a:tc>
                <a:tc>
                  <a:txBody>
                    <a:bodyPr/>
                    <a:lstStyle/>
                    <a:p>
                      <a:pPr algn="r" rtl="1">
                        <a:buNone/>
                      </a:pPr>
                      <a:r>
                        <a:rPr lang="ar-AE" sz="1200" dirty="0">
                          <a:latin typeface="+mn-lt"/>
                        </a:rPr>
                        <a:t>غياب وثائق تحدد مستوى الخدمة المتوقّع ومدة الاستجابة والصيانة اللازمة</a:t>
                      </a:r>
                    </a:p>
                  </a:txBody>
                  <a:tcPr marL="40111" marR="40111" marT="20055" marB="20055" anchor="ctr"/>
                </a:tc>
                <a:tc>
                  <a:txBody>
                    <a:bodyPr/>
                    <a:lstStyle/>
                    <a:p>
                      <a:pPr algn="r" rtl="1">
                        <a:buNone/>
                      </a:pPr>
                      <a:r>
                        <a:rPr lang="ar-AE" sz="1200" dirty="0">
                          <a:latin typeface="+mn-lt"/>
                        </a:rPr>
                        <a:t>تفاوت في جودة التسليم وصعوبة محاسبة الفرق التقنية عند تدني الأداء أو تأخر الاستجابة</a:t>
                      </a:r>
                    </a:p>
                  </a:txBody>
                  <a:tcPr marL="40111" marR="40111" marT="20055" marB="20055" anchor="ctr"/>
                </a:tc>
                <a:tc>
                  <a:txBody>
                    <a:bodyPr/>
                    <a:lstStyle/>
                    <a:p>
                      <a:pPr algn="r" rtl="1">
                        <a:buNone/>
                      </a:pPr>
                      <a:r>
                        <a:rPr lang="ar-AE" sz="1200" dirty="0">
                          <a:latin typeface="+mn-lt"/>
                        </a:rPr>
                        <a:t>وضع اتفاقية مستوى الخدمة وتحديد متطلبات زمنية وجودة محددة، مما يضمن التزام كافة الجهات بها</a:t>
                      </a:r>
                    </a:p>
                  </a:txBody>
                  <a:tcPr marL="40111" marR="40111" marT="20055" marB="20055" anchor="ctr"/>
                </a:tc>
                <a:tc>
                  <a:txBody>
                    <a:bodyPr/>
                    <a:lstStyle/>
                    <a:p>
                      <a:pPr algn="r" rtl="1">
                        <a:buNone/>
                      </a:pPr>
                      <a:r>
                        <a:rPr lang="ar-AE" sz="1200" dirty="0">
                          <a:latin typeface="+mn-lt"/>
                        </a:rPr>
                        <a:t>توثيق المعايير الزمنية والجودة لخدمات البيانات، ومراقبة الالتزام بتنفيذها</a:t>
                      </a:r>
                    </a:p>
                  </a:txBody>
                  <a:tcPr marL="40111" marR="40111" marT="20055" marB="20055" anchor="ctr"/>
                </a:tc>
                <a:tc>
                  <a:txBody>
                    <a:bodyPr/>
                    <a:lstStyle/>
                    <a:p>
                      <a:pPr algn="ctr" rtl="1">
                        <a:buNone/>
                      </a:pPr>
                      <a:r>
                        <a:rPr lang="ar-AE" sz="1200" dirty="0">
                          <a:latin typeface="+mn-lt"/>
                        </a:rPr>
                        <a:t>عالية</a:t>
                      </a:r>
                    </a:p>
                  </a:txBody>
                  <a:tcPr marL="40111" marR="40111" marT="20055" marB="20055" anchor="ctr"/>
                </a:tc>
                <a:tc>
                  <a:txBody>
                    <a:bodyPr/>
                    <a:lstStyle/>
                    <a:p>
                      <a:pPr algn="ctr" rtl="1">
                        <a:buNone/>
                      </a:pPr>
                      <a:r>
                        <a:rPr lang="ar-AE" sz="1200" dirty="0">
                          <a:latin typeface="+mn-lt"/>
                        </a:rPr>
                        <a:t>عالية</a:t>
                      </a:r>
                    </a:p>
                  </a:txBody>
                  <a:tcPr marL="40111" marR="40111" marT="20055" marB="20055" anchor="ctr"/>
                </a:tc>
                <a:tc>
                  <a:txBody>
                    <a:bodyPr/>
                    <a:lstStyle/>
                    <a:p>
                      <a:pPr algn="ctr" rtl="1">
                        <a:buNone/>
                      </a:pPr>
                      <a:r>
                        <a:rPr lang="ar-AE" sz="1200" dirty="0"/>
                        <a:t>وثيقة الوضع الحالي و التوجهات المستقبلية</a:t>
                      </a:r>
                      <a:endParaRPr lang="ar-AE" sz="1200" dirty="0">
                        <a:latin typeface="+mn-lt"/>
                      </a:endParaRPr>
                    </a:p>
                  </a:txBody>
                  <a:tcPr marL="20927" marR="20927" marT="10464" marB="10464" anchor="ctr"/>
                </a:tc>
                <a:extLst>
                  <a:ext uri="{0D108BD9-81ED-4DB2-BD59-A6C34878D82A}">
                    <a16:rowId xmlns:a16="http://schemas.microsoft.com/office/drawing/2014/main" val="417752018"/>
                  </a:ext>
                </a:extLst>
              </a:tr>
            </a:tbl>
          </a:graphicData>
        </a:graphic>
      </p:graphicFrame>
    </p:spTree>
    <p:extLst>
      <p:ext uri="{BB962C8B-B14F-4D97-AF65-F5344CB8AC3E}">
        <p14:creationId xmlns:p14="http://schemas.microsoft.com/office/powerpoint/2010/main" val="190865817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FD1F-C4CC-29C6-6DF9-F647E8D21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A51E0-8129-CCF7-1A29-CB9E84CEA54F}"/>
              </a:ext>
            </a:extLst>
          </p:cNvPr>
          <p:cNvSpPr>
            <a:spLocks noGrp="1"/>
          </p:cNvSpPr>
          <p:nvPr>
            <p:ph type="title"/>
          </p:nvPr>
        </p:nvSpPr>
        <p:spPr/>
        <p:txBody>
          <a:bodyPr/>
          <a:lstStyle/>
          <a:p>
            <a:r>
              <a:rPr lang="ar-SA" dirty="0"/>
              <a:t>ملخص تحليل الفجوات</a:t>
            </a:r>
            <a:endParaRPr lang="en-AE" dirty="0"/>
          </a:p>
        </p:txBody>
      </p:sp>
      <p:sp>
        <p:nvSpPr>
          <p:cNvPr id="3" name="Slide Number Placeholder 2">
            <a:extLst>
              <a:ext uri="{FF2B5EF4-FFF2-40B4-BE49-F238E27FC236}">
                <a16:creationId xmlns:a16="http://schemas.microsoft.com/office/drawing/2014/main" id="{8D01DA91-BEB2-B6B3-A868-50A651AFB4A3}"/>
              </a:ext>
            </a:extLst>
          </p:cNvPr>
          <p:cNvSpPr>
            <a:spLocks noGrp="1"/>
          </p:cNvSpPr>
          <p:nvPr>
            <p:ph type="sldNum" sz="quarter" idx="12"/>
          </p:nvPr>
        </p:nvSpPr>
        <p:spPr/>
        <p:txBody>
          <a:bodyPr/>
          <a:lstStyle/>
          <a:p>
            <a:fld id="{0BE4EC83-A869-464E-AE9F-881796FB085E}" type="slidenum">
              <a:rPr lang="en-US" smtClean="0"/>
              <a:t>61</a:t>
            </a:fld>
            <a:endParaRPr lang="en-US"/>
          </a:p>
        </p:txBody>
      </p:sp>
      <p:graphicFrame>
        <p:nvGraphicFramePr>
          <p:cNvPr id="4" name="Table 3">
            <a:extLst>
              <a:ext uri="{FF2B5EF4-FFF2-40B4-BE49-F238E27FC236}">
                <a16:creationId xmlns:a16="http://schemas.microsoft.com/office/drawing/2014/main" id="{766B2993-B279-F131-6E00-85088C737AC7}"/>
              </a:ext>
            </a:extLst>
          </p:cNvPr>
          <p:cNvGraphicFramePr>
            <a:graphicFrameLocks noGrp="1"/>
          </p:cNvGraphicFramePr>
          <p:nvPr>
            <p:extLst>
              <p:ext uri="{D42A27DB-BD31-4B8C-83A1-F6EECF244321}">
                <p14:modId xmlns:p14="http://schemas.microsoft.com/office/powerpoint/2010/main" val="3686525163"/>
              </p:ext>
            </p:extLst>
          </p:nvPr>
        </p:nvGraphicFramePr>
        <p:xfrm>
          <a:off x="621453" y="1227339"/>
          <a:ext cx="10960945" cy="4839163"/>
        </p:xfrm>
        <a:graphic>
          <a:graphicData uri="http://schemas.openxmlformats.org/drawingml/2006/table">
            <a:tbl>
              <a:tblPr rtl="1" firstRow="1" bandRow="1">
                <a:tableStyleId>{B301B821-A1FF-4177-AEE7-76D212191A09}</a:tableStyleId>
              </a:tblPr>
              <a:tblGrid>
                <a:gridCol w="813028">
                  <a:extLst>
                    <a:ext uri="{9D8B030D-6E8A-4147-A177-3AD203B41FA5}">
                      <a16:colId xmlns:a16="http://schemas.microsoft.com/office/drawing/2014/main" val="1848166869"/>
                    </a:ext>
                  </a:extLst>
                </a:gridCol>
                <a:gridCol w="1057241">
                  <a:extLst>
                    <a:ext uri="{9D8B030D-6E8A-4147-A177-3AD203B41FA5}">
                      <a16:colId xmlns:a16="http://schemas.microsoft.com/office/drawing/2014/main" val="3183077499"/>
                    </a:ext>
                  </a:extLst>
                </a:gridCol>
                <a:gridCol w="1057241">
                  <a:extLst>
                    <a:ext uri="{9D8B030D-6E8A-4147-A177-3AD203B41FA5}">
                      <a16:colId xmlns:a16="http://schemas.microsoft.com/office/drawing/2014/main" val="910221352"/>
                    </a:ext>
                  </a:extLst>
                </a:gridCol>
                <a:gridCol w="1577711">
                  <a:extLst>
                    <a:ext uri="{9D8B030D-6E8A-4147-A177-3AD203B41FA5}">
                      <a16:colId xmlns:a16="http://schemas.microsoft.com/office/drawing/2014/main" val="2407940828"/>
                    </a:ext>
                  </a:extLst>
                </a:gridCol>
                <a:gridCol w="1525468">
                  <a:extLst>
                    <a:ext uri="{9D8B030D-6E8A-4147-A177-3AD203B41FA5}">
                      <a16:colId xmlns:a16="http://schemas.microsoft.com/office/drawing/2014/main" val="2266366844"/>
                    </a:ext>
                  </a:extLst>
                </a:gridCol>
                <a:gridCol w="1619504">
                  <a:extLst>
                    <a:ext uri="{9D8B030D-6E8A-4147-A177-3AD203B41FA5}">
                      <a16:colId xmlns:a16="http://schemas.microsoft.com/office/drawing/2014/main" val="170401669"/>
                    </a:ext>
                  </a:extLst>
                </a:gridCol>
                <a:gridCol w="1431434">
                  <a:extLst>
                    <a:ext uri="{9D8B030D-6E8A-4147-A177-3AD203B41FA5}">
                      <a16:colId xmlns:a16="http://schemas.microsoft.com/office/drawing/2014/main" val="4110629147"/>
                    </a:ext>
                  </a:extLst>
                </a:gridCol>
                <a:gridCol w="480628">
                  <a:extLst>
                    <a:ext uri="{9D8B030D-6E8A-4147-A177-3AD203B41FA5}">
                      <a16:colId xmlns:a16="http://schemas.microsoft.com/office/drawing/2014/main" val="2090639194"/>
                    </a:ext>
                  </a:extLst>
                </a:gridCol>
                <a:gridCol w="584432">
                  <a:extLst>
                    <a:ext uri="{9D8B030D-6E8A-4147-A177-3AD203B41FA5}">
                      <a16:colId xmlns:a16="http://schemas.microsoft.com/office/drawing/2014/main" val="1489210985"/>
                    </a:ext>
                  </a:extLst>
                </a:gridCol>
                <a:gridCol w="814258">
                  <a:extLst>
                    <a:ext uri="{9D8B030D-6E8A-4147-A177-3AD203B41FA5}">
                      <a16:colId xmlns:a16="http://schemas.microsoft.com/office/drawing/2014/main" val="602859565"/>
                    </a:ext>
                  </a:extLst>
                </a:gridCol>
              </a:tblGrid>
              <a:tr h="267699">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02097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GAP-D-12</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نقص في سياسات الأرشفة طويلة الأجل</a:t>
                      </a:r>
                    </a:p>
                  </a:txBody>
                  <a:tcPr marL="40111" marR="40111" marT="20055" marB="20055" anchor="ctr"/>
                </a:tc>
                <a:tc>
                  <a:txBody>
                    <a:bodyPr/>
                    <a:lstStyle/>
                    <a:p>
                      <a:pPr algn="ctr" rtl="1" fontAlgn="ctr"/>
                      <a:r>
                        <a:rPr lang="ar-AE" sz="1200" b="0" i="0" u="none" strike="noStrike">
                          <a:solidFill>
                            <a:srgbClr val="000000"/>
                          </a:solidFill>
                          <a:effectLst/>
                          <a:latin typeface="Aptos Narrow" panose="020B0004020202020204" pitchFamily="34" charset="0"/>
                        </a:rPr>
                        <a:t>إدارة المحتوى والوثائق (5)</a:t>
                      </a:r>
                    </a:p>
                  </a:txBody>
                  <a:tcPr marL="9525" marR="9525" marT="9525" marB="0" anchor="ctr"/>
                </a:tc>
                <a:tc>
                  <a:txBody>
                    <a:bodyPr/>
                    <a:lstStyle/>
                    <a:p>
                      <a:pPr algn="r" rtl="1">
                        <a:buNone/>
                      </a:pPr>
                      <a:r>
                        <a:rPr lang="ar-AE" sz="1200" dirty="0">
                          <a:latin typeface="+mn-lt"/>
                        </a:rPr>
                        <a:t>لا توجد سياسة شاملة لأرشفة البيانات القديمة أو محدودة الاستخدام</a:t>
                      </a:r>
                    </a:p>
                  </a:txBody>
                  <a:tcPr marL="40111" marR="40111" marT="20055" marB="20055" anchor="ctr"/>
                </a:tc>
                <a:tc>
                  <a:txBody>
                    <a:bodyPr/>
                    <a:lstStyle/>
                    <a:p>
                      <a:pPr algn="r" rtl="1">
                        <a:buNone/>
                      </a:pPr>
                      <a:r>
                        <a:rPr lang="ar-AE" sz="1200" dirty="0">
                          <a:latin typeface="+mn-lt"/>
                        </a:rPr>
                        <a:t>تضخّم قواعد البيانات بأنواع مختلفة من البيانات، وتأثير سلبي على الأداء وزيادة التكاليف التشغيلية</a:t>
                      </a:r>
                    </a:p>
                  </a:txBody>
                  <a:tcPr marL="40111" marR="40111" marT="20055" marB="20055" anchor="ctr"/>
                </a:tc>
                <a:tc>
                  <a:txBody>
                    <a:bodyPr/>
                    <a:lstStyle/>
                    <a:p>
                      <a:pPr algn="r" rtl="1">
                        <a:buNone/>
                      </a:pPr>
                      <a:r>
                        <a:rPr lang="ar-AE" sz="1200" dirty="0">
                          <a:latin typeface="+mn-lt"/>
                        </a:rPr>
                        <a:t>وضع وتنفيذ سياسة رسمية لأرشفة البيانات حسب دورة حياتها، مع آليات استرجاع واضحة</a:t>
                      </a:r>
                    </a:p>
                  </a:txBody>
                  <a:tcPr marL="40111" marR="40111" marT="20055" marB="20055" anchor="ctr"/>
                </a:tc>
                <a:tc>
                  <a:txBody>
                    <a:bodyPr/>
                    <a:lstStyle/>
                    <a:p>
                      <a:pPr algn="r" rtl="1">
                        <a:buNone/>
                      </a:pPr>
                      <a:r>
                        <a:rPr lang="ar-AE" sz="1200" dirty="0">
                          <a:latin typeface="+mn-lt"/>
                        </a:rPr>
                        <a:t>تخصيص مخازن منفصلة (أرشيف بارد) ونقل البيانات الأقل استخدامًا إليها بصورة دورية</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3386048539"/>
                  </a:ext>
                </a:extLst>
              </a:tr>
              <a:tr h="102097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GAP-D-13</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ضعف تحديد الأدوار الخاصة بأمناء البيانات </a:t>
                      </a:r>
                      <a:endParaRPr lang="en-US" sz="1200" dirty="0">
                        <a:latin typeface="+mn-lt"/>
                      </a:endParaRPr>
                    </a:p>
                  </a:txBody>
                  <a:tcPr marL="40111" marR="40111" marT="20055" marB="20055" anchor="ctr"/>
                </a:tc>
                <a:tc>
                  <a:txBody>
                    <a:bodyPr/>
                    <a:lstStyle/>
                    <a:p>
                      <a:pPr algn="ctr" rtl="1" fontAlgn="ctr"/>
                      <a:r>
                        <a:rPr lang="ar-AE" sz="1200" b="0" i="0" u="none" strike="noStrike">
                          <a:solidFill>
                            <a:srgbClr val="000000"/>
                          </a:solidFill>
                          <a:effectLst/>
                          <a:latin typeface="Aptos Narrow" panose="020B0004020202020204" pitchFamily="34" charset="0"/>
                        </a:rPr>
                        <a:t>حوكمة البيانات (1)</a:t>
                      </a:r>
                    </a:p>
                  </a:txBody>
                  <a:tcPr marL="9525" marR="9525" marT="9525" marB="0" anchor="ctr"/>
                </a:tc>
                <a:tc>
                  <a:txBody>
                    <a:bodyPr/>
                    <a:lstStyle/>
                    <a:p>
                      <a:pPr algn="r" rtl="1">
                        <a:buNone/>
                      </a:pPr>
                      <a:r>
                        <a:rPr lang="ar-AE" sz="1200" dirty="0">
                          <a:latin typeface="+mn-lt"/>
                        </a:rPr>
                        <a:t>لا يوجد توصيف واضح لدور أمين البيانات ومسؤولياته في ضمان جودة وتحديث البيانات</a:t>
                      </a:r>
                    </a:p>
                  </a:txBody>
                  <a:tcPr marL="40111" marR="40111" marT="20055" marB="20055" anchor="ctr"/>
                </a:tc>
                <a:tc>
                  <a:txBody>
                    <a:bodyPr/>
                    <a:lstStyle/>
                    <a:p>
                      <a:pPr algn="r" rtl="1">
                        <a:buNone/>
                      </a:pPr>
                      <a:r>
                        <a:rPr lang="ar-AE" sz="1200" dirty="0">
                          <a:latin typeface="+mn-lt"/>
                        </a:rPr>
                        <a:t>تشتت جهود المتابعة والتحديث بين الأقسام، مما يؤدي إلى تضارب في المهام وضعف في الرقابة الشاملة للبيانات</a:t>
                      </a:r>
                    </a:p>
                  </a:txBody>
                  <a:tcPr marL="40111" marR="40111" marT="20055" marB="20055" anchor="ctr"/>
                </a:tc>
                <a:tc>
                  <a:txBody>
                    <a:bodyPr/>
                    <a:lstStyle/>
                    <a:p>
                      <a:pPr algn="r" rtl="1">
                        <a:buNone/>
                      </a:pPr>
                      <a:r>
                        <a:rPr lang="ar-AE" sz="1200" dirty="0">
                          <a:latin typeface="+mn-lt"/>
                        </a:rPr>
                        <a:t>وضع توصيف وظيفي مفصّل لأدوار أمناء البيانات، وتحديد المهام والمسؤوليات وتدريبهم</a:t>
                      </a:r>
                    </a:p>
                  </a:txBody>
                  <a:tcPr marL="40111" marR="40111" marT="20055" marB="20055" anchor="ctr"/>
                </a:tc>
                <a:tc>
                  <a:txBody>
                    <a:bodyPr/>
                    <a:lstStyle/>
                    <a:p>
                      <a:pPr algn="r" rtl="1">
                        <a:buNone/>
                      </a:pPr>
                      <a:r>
                        <a:rPr lang="ar-AE" sz="1200" dirty="0">
                          <a:latin typeface="+mn-lt"/>
                        </a:rPr>
                        <a:t>تعيين أمناء بيانات لكل مجال أو نظام، وتمكينهم من الأدوات والسلطات اللازمة لتنفيذ مهامهم</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و التوجهات المستقبلية</a:t>
                      </a:r>
                    </a:p>
                  </a:txBody>
                  <a:tcPr marL="20927" marR="20927" marT="10464" marB="10464" anchor="ctr"/>
                </a:tc>
                <a:extLst>
                  <a:ext uri="{0D108BD9-81ED-4DB2-BD59-A6C34878D82A}">
                    <a16:rowId xmlns:a16="http://schemas.microsoft.com/office/drawing/2014/main" val="3067900995"/>
                  </a:ext>
                </a:extLst>
              </a:tr>
              <a:tr h="102097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GAP-D-14</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فجوة إنشاء كيانات بيانات جديدة لسد احتياجات أتمتة الأعمال والخدمات</a:t>
                      </a:r>
                    </a:p>
                  </a:txBody>
                  <a:tcPr marL="40111" marR="40111" marT="20055" marB="20055" anchor="ctr"/>
                </a:tc>
                <a:tc>
                  <a:txBody>
                    <a:bodyPr/>
                    <a:lstStyle/>
                    <a:p>
                      <a:pPr algn="ctr" rtl="1" fontAlgn="ctr"/>
                      <a:r>
                        <a:rPr lang="ar-AE" sz="1200" b="0" i="0" u="none" strike="noStrike">
                          <a:solidFill>
                            <a:srgbClr val="000000"/>
                          </a:solidFill>
                          <a:effectLst/>
                          <a:latin typeface="Aptos Narrow" panose="020B0004020202020204" pitchFamily="34" charset="0"/>
                        </a:rPr>
                        <a:t>النمذجة وهيكلة البيانات (6)</a:t>
                      </a:r>
                    </a:p>
                  </a:txBody>
                  <a:tcPr marL="9525" marR="9525" marT="9525" marB="0"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عدم توافر كيانات بيانات تلبي متطلبات الأتمتة للخدمات والأعمال الجديدة، مما يُصعّب توفير قاعدة بيانات شاملة للعمليات المستقبلية</a:t>
                      </a:r>
                    </a:p>
                  </a:txBody>
                  <a:tcPr marL="40111" marR="40111" marT="20055" marB="20055"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استمرار الاعتماد على إجراءات يدوية أو أنظمة غير متكاملة، مما يُعيق التحول الرقمي الكامل للخدمات والأعمال</a:t>
                      </a:r>
                    </a:p>
                  </a:txBody>
                  <a:tcPr marL="40111" marR="40111" marT="20055" marB="20055"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تصميم نماذج وكيانات بيانات تلبي الاحتياجات المستحدثة للأتمتة، ما يتيح تطوير خدمات جديدة وأتمتة العمليات بكفاءة عالية</a:t>
                      </a:r>
                    </a:p>
                  </a:txBody>
                  <a:tcPr marL="40111" marR="40111" marT="20055" marB="20055"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تحليل المتطلبات المستجدة بالتعاون مع إدارات الأعمال، وتحديد الكيانات المطلوبة وإضافتها إلى الدليل الموحد وقواعد البيانات</a:t>
                      </a:r>
                    </a:p>
                  </a:txBody>
                  <a:tcPr marL="40111" marR="40111" marT="20055" marB="20055" anchor="ctr"/>
                </a:tc>
                <a:tc>
                  <a:txBody>
                    <a:bodyPr/>
                    <a:lstStyle/>
                    <a:p>
                      <a:pPr algn="r" rtl="1">
                        <a:buNone/>
                      </a:pPr>
                      <a:r>
                        <a:rPr lang="ar-AE" sz="1200" dirty="0">
                          <a:latin typeface="+mn-lt"/>
                        </a:rPr>
                        <a:t>عالية</a:t>
                      </a:r>
                    </a:p>
                  </a:txBody>
                  <a:tcPr marL="40111" marR="40111" marT="20055" marB="20055" anchor="ctr"/>
                </a:tc>
                <a:tc>
                  <a:txBody>
                    <a:bodyPr/>
                    <a:lstStyle/>
                    <a:p>
                      <a:pPr algn="ctr" rtl="1">
                        <a:buNone/>
                      </a:pPr>
                      <a:r>
                        <a:rPr lang="ar-AE" sz="1200" dirty="0">
                          <a:latin typeface="+mn-lt"/>
                        </a:rPr>
                        <a:t>عالية</a:t>
                      </a:r>
                    </a:p>
                  </a:txBody>
                  <a:tcPr marL="40111" marR="40111" marT="20055" marB="20055"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a:t>
                      </a: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للأعمال </a:t>
                      </a: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 التوجهات المستقبلية</a:t>
                      </a:r>
                    </a:p>
                  </a:txBody>
                  <a:tcPr marL="20927" marR="20927" marT="10464" marB="10464" anchor="ctr"/>
                </a:tc>
                <a:extLst>
                  <a:ext uri="{0D108BD9-81ED-4DB2-BD59-A6C34878D82A}">
                    <a16:rowId xmlns:a16="http://schemas.microsoft.com/office/drawing/2014/main" val="4205275932"/>
                  </a:ext>
                </a:extLst>
              </a:tr>
              <a:tr h="150854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GAP-D-15</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الاعتماد على إدارة البيانات الورقية بدلًا من الأنظمة المؤتمتة</a:t>
                      </a:r>
                    </a:p>
                  </a:txBody>
                  <a:tcPr marL="24310" marR="24310" marT="12155" marB="12155" anchor="ctr"/>
                </a:tc>
                <a:tc>
                  <a:txBody>
                    <a:bodyPr/>
                    <a:lstStyle/>
                    <a:p>
                      <a:pPr algn="ctr" rtl="1" fontAlgn="ctr"/>
                      <a:r>
                        <a:rPr lang="ar-AE" sz="1200" b="0" i="0" u="none" strike="noStrike" dirty="0">
                          <a:solidFill>
                            <a:srgbClr val="000000"/>
                          </a:solidFill>
                          <a:effectLst/>
                          <a:latin typeface="Aptos Narrow" panose="020B0004020202020204" pitchFamily="34" charset="0"/>
                        </a:rPr>
                        <a:t>إدارة المحتوى والوثائق (5)</a:t>
                      </a:r>
                    </a:p>
                  </a:txBody>
                  <a:tcPr marL="9525" marR="9525" marT="9525" marB="0" anchor="ctr"/>
                </a:tc>
                <a:tc>
                  <a:txBody>
                    <a:bodyPr/>
                    <a:lstStyle/>
                    <a:p>
                      <a:pPr algn="r" rtl="1">
                        <a:buNone/>
                      </a:pPr>
                      <a:r>
                        <a:rPr lang="ar-AE" sz="1200">
                          <a:latin typeface="+mn-lt"/>
                        </a:rPr>
                        <a:t>استمرار استخدام المستندات الورقية في حفظ ومعالجة البيانات، ما يعيق الأتمتة الشاملة لمعظم كيانات البيانات</a:t>
                      </a:r>
                    </a:p>
                  </a:txBody>
                  <a:tcPr marL="24310" marR="24310" marT="12155" marB="12155" anchor="ctr"/>
                </a:tc>
                <a:tc>
                  <a:txBody>
                    <a:bodyPr/>
                    <a:lstStyle/>
                    <a:p>
                      <a:pPr algn="r" rtl="1">
                        <a:buNone/>
                      </a:pPr>
                      <a:r>
                        <a:rPr lang="ar-AE" sz="1200" dirty="0">
                          <a:latin typeface="+mn-lt"/>
                        </a:rPr>
                        <a:t>بطء سير العمليات وزيادة احتمالية الخطأ وصعوبة الوصول إلى المعلومات</a:t>
                      </a:r>
                    </a:p>
                  </a:txBody>
                  <a:tcPr marL="24310" marR="24310" marT="12155" marB="12155" anchor="ctr"/>
                </a:tc>
                <a:tc>
                  <a:txBody>
                    <a:bodyPr/>
                    <a:lstStyle/>
                    <a:p>
                      <a:pPr algn="r" rtl="1">
                        <a:buNone/>
                      </a:pPr>
                      <a:r>
                        <a:rPr lang="ar-AE" sz="1200" dirty="0">
                          <a:latin typeface="+mn-lt"/>
                        </a:rPr>
                        <a:t>تبنّي أنظمة مؤتمتة لكافة كيانات البيانات، ما يرفع كفاءة العمليات ويتيح الوصول السريع والآمن إلى المعلومات</a:t>
                      </a:r>
                    </a:p>
                  </a:txBody>
                  <a:tcPr marL="24310" marR="24310" marT="12155" marB="12155" anchor="ctr"/>
                </a:tc>
                <a:tc>
                  <a:txBody>
                    <a:bodyPr/>
                    <a:lstStyle/>
                    <a:p>
                      <a:pPr algn="r" rtl="1">
                        <a:buNone/>
                      </a:pPr>
                      <a:r>
                        <a:rPr lang="ar-AE" sz="1200" dirty="0">
                          <a:latin typeface="+mn-lt"/>
                        </a:rPr>
                        <a:t>تحويل النماذج والسجلات الورقية إلى إلكترونية، وتدريب المستخدمين على استخدام الأنظمة المؤتمتة</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ملف حصر البيانات</a:t>
                      </a:r>
                    </a:p>
                  </a:txBody>
                  <a:tcPr marL="24310" marR="24310" marT="12155" marB="12155" anchor="ctr"/>
                </a:tc>
                <a:extLst>
                  <a:ext uri="{0D108BD9-81ED-4DB2-BD59-A6C34878D82A}">
                    <a16:rowId xmlns:a16="http://schemas.microsoft.com/office/drawing/2014/main" val="152741407"/>
                  </a:ext>
                </a:extLst>
              </a:tr>
            </a:tbl>
          </a:graphicData>
        </a:graphic>
      </p:graphicFrame>
    </p:spTree>
    <p:extLst>
      <p:ext uri="{BB962C8B-B14F-4D97-AF65-F5344CB8AC3E}">
        <p14:creationId xmlns:p14="http://schemas.microsoft.com/office/powerpoint/2010/main" val="76492074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7184F-41E6-C39D-F21E-C9FA86E28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22C60-CE4C-F3DC-8887-A28CAC90D9D6}"/>
              </a:ext>
            </a:extLst>
          </p:cNvPr>
          <p:cNvSpPr>
            <a:spLocks noGrp="1"/>
          </p:cNvSpPr>
          <p:nvPr>
            <p:ph type="title"/>
          </p:nvPr>
        </p:nvSpPr>
        <p:spPr/>
        <p:txBody>
          <a:bodyPr/>
          <a:lstStyle/>
          <a:p>
            <a:r>
              <a:rPr lang="ar-SA" dirty="0"/>
              <a:t>ملخص تحليل الفجوات</a:t>
            </a:r>
            <a:endParaRPr lang="en-AE" dirty="0"/>
          </a:p>
        </p:txBody>
      </p:sp>
      <p:sp>
        <p:nvSpPr>
          <p:cNvPr id="3" name="Slide Number Placeholder 2">
            <a:extLst>
              <a:ext uri="{FF2B5EF4-FFF2-40B4-BE49-F238E27FC236}">
                <a16:creationId xmlns:a16="http://schemas.microsoft.com/office/drawing/2014/main" id="{1CAD233B-BD10-1CA9-BA02-E844EC3109C9}"/>
              </a:ext>
            </a:extLst>
          </p:cNvPr>
          <p:cNvSpPr>
            <a:spLocks noGrp="1"/>
          </p:cNvSpPr>
          <p:nvPr>
            <p:ph type="sldNum" sz="quarter" idx="12"/>
          </p:nvPr>
        </p:nvSpPr>
        <p:spPr/>
        <p:txBody>
          <a:bodyPr/>
          <a:lstStyle/>
          <a:p>
            <a:fld id="{0BE4EC83-A869-464E-AE9F-881796FB085E}" type="slidenum">
              <a:rPr lang="en-US" smtClean="0"/>
              <a:t>62</a:t>
            </a:fld>
            <a:endParaRPr lang="en-US"/>
          </a:p>
        </p:txBody>
      </p:sp>
      <p:graphicFrame>
        <p:nvGraphicFramePr>
          <p:cNvPr id="4" name="Table 3">
            <a:extLst>
              <a:ext uri="{FF2B5EF4-FFF2-40B4-BE49-F238E27FC236}">
                <a16:creationId xmlns:a16="http://schemas.microsoft.com/office/drawing/2014/main" id="{3F51415F-A83D-5C7E-7C4E-E2153A9FA6B4}"/>
              </a:ext>
            </a:extLst>
          </p:cNvPr>
          <p:cNvGraphicFramePr>
            <a:graphicFrameLocks noGrp="1"/>
          </p:cNvGraphicFramePr>
          <p:nvPr>
            <p:extLst>
              <p:ext uri="{D42A27DB-BD31-4B8C-83A1-F6EECF244321}">
                <p14:modId xmlns:p14="http://schemas.microsoft.com/office/powerpoint/2010/main" val="4148266848"/>
              </p:ext>
            </p:extLst>
          </p:nvPr>
        </p:nvGraphicFramePr>
        <p:xfrm>
          <a:off x="609602" y="1150371"/>
          <a:ext cx="10972798" cy="4888119"/>
        </p:xfrm>
        <a:graphic>
          <a:graphicData uri="http://schemas.openxmlformats.org/drawingml/2006/table">
            <a:tbl>
              <a:tblPr rtl="1" firstRow="1" bandRow="1">
                <a:tableStyleId>{B301B821-A1FF-4177-AEE7-76D212191A09}</a:tableStyleId>
              </a:tblPr>
              <a:tblGrid>
                <a:gridCol w="777011">
                  <a:extLst>
                    <a:ext uri="{9D8B030D-6E8A-4147-A177-3AD203B41FA5}">
                      <a16:colId xmlns:a16="http://schemas.microsoft.com/office/drawing/2014/main" val="1848166869"/>
                    </a:ext>
                  </a:extLst>
                </a:gridCol>
                <a:gridCol w="1010406">
                  <a:extLst>
                    <a:ext uri="{9D8B030D-6E8A-4147-A177-3AD203B41FA5}">
                      <a16:colId xmlns:a16="http://schemas.microsoft.com/office/drawing/2014/main" val="3183077499"/>
                    </a:ext>
                  </a:extLst>
                </a:gridCol>
                <a:gridCol w="1507820">
                  <a:extLst>
                    <a:ext uri="{9D8B030D-6E8A-4147-A177-3AD203B41FA5}">
                      <a16:colId xmlns:a16="http://schemas.microsoft.com/office/drawing/2014/main" val="2549066410"/>
                    </a:ext>
                  </a:extLst>
                </a:gridCol>
                <a:gridCol w="1507820">
                  <a:extLst>
                    <a:ext uri="{9D8B030D-6E8A-4147-A177-3AD203B41FA5}">
                      <a16:colId xmlns:a16="http://schemas.microsoft.com/office/drawing/2014/main" val="2407940828"/>
                    </a:ext>
                  </a:extLst>
                </a:gridCol>
                <a:gridCol w="1457892">
                  <a:extLst>
                    <a:ext uri="{9D8B030D-6E8A-4147-A177-3AD203B41FA5}">
                      <a16:colId xmlns:a16="http://schemas.microsoft.com/office/drawing/2014/main" val="2266366844"/>
                    </a:ext>
                  </a:extLst>
                </a:gridCol>
                <a:gridCol w="1547762">
                  <a:extLst>
                    <a:ext uri="{9D8B030D-6E8A-4147-A177-3AD203B41FA5}">
                      <a16:colId xmlns:a16="http://schemas.microsoft.com/office/drawing/2014/main" val="170401669"/>
                    </a:ext>
                  </a:extLst>
                </a:gridCol>
                <a:gridCol w="1368022">
                  <a:extLst>
                    <a:ext uri="{9D8B030D-6E8A-4147-A177-3AD203B41FA5}">
                      <a16:colId xmlns:a16="http://schemas.microsoft.com/office/drawing/2014/main" val="4110629147"/>
                    </a:ext>
                  </a:extLst>
                </a:gridCol>
                <a:gridCol w="459335">
                  <a:extLst>
                    <a:ext uri="{9D8B030D-6E8A-4147-A177-3AD203B41FA5}">
                      <a16:colId xmlns:a16="http://schemas.microsoft.com/office/drawing/2014/main" val="2090639194"/>
                    </a:ext>
                  </a:extLst>
                </a:gridCol>
                <a:gridCol w="558543">
                  <a:extLst>
                    <a:ext uri="{9D8B030D-6E8A-4147-A177-3AD203B41FA5}">
                      <a16:colId xmlns:a16="http://schemas.microsoft.com/office/drawing/2014/main" val="1489210985"/>
                    </a:ext>
                  </a:extLst>
                </a:gridCol>
                <a:gridCol w="778187">
                  <a:extLst>
                    <a:ext uri="{9D8B030D-6E8A-4147-A177-3AD203B41FA5}">
                      <a16:colId xmlns:a16="http://schemas.microsoft.com/office/drawing/2014/main" val="602859565"/>
                    </a:ext>
                  </a:extLst>
                </a:gridCol>
              </a:tblGrid>
              <a:tr h="262506">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00116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GAP-D-16</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a:latin typeface="+mn-lt"/>
                        </a:rPr>
                        <a:t>عدم استخدام نظام </a:t>
                      </a:r>
                      <a:r>
                        <a:rPr lang="en-US" sz="1200">
                          <a:latin typeface="+mn-lt"/>
                        </a:rPr>
                        <a:t>ECM </a:t>
                      </a:r>
                      <a:r>
                        <a:rPr lang="ar-AE" sz="1200">
                          <a:latin typeface="+mn-lt"/>
                        </a:rPr>
                        <a:t>والاكتفاء بحفظ الملفات على شبكة الهيئة</a:t>
                      </a:r>
                    </a:p>
                  </a:txBody>
                  <a:tcPr marL="24310" marR="24310" marT="12155" marB="12155" anchor="ctr"/>
                </a:tc>
                <a:tc>
                  <a:txBody>
                    <a:bodyPr/>
                    <a:lstStyle/>
                    <a:p>
                      <a:pPr algn="ctr" rtl="1" fontAlgn="ctr"/>
                      <a:r>
                        <a:rPr lang="ar-AE" sz="1200" b="0" i="0" u="none" strike="noStrike">
                          <a:solidFill>
                            <a:srgbClr val="000000"/>
                          </a:solidFill>
                          <a:effectLst/>
                          <a:latin typeface="Aptos Narrow" panose="020B0004020202020204" pitchFamily="34" charset="0"/>
                        </a:rPr>
                        <a:t>إدارة المحتوى والوثائق (5)</a:t>
                      </a:r>
                    </a:p>
                  </a:txBody>
                  <a:tcPr marL="9525" marR="9525" marT="9525" marB="0" anchor="ctr"/>
                </a:tc>
                <a:tc>
                  <a:txBody>
                    <a:bodyPr/>
                    <a:lstStyle/>
                    <a:p>
                      <a:pPr algn="r" rtl="1">
                        <a:buNone/>
                      </a:pPr>
                      <a:r>
                        <a:rPr lang="ar-AE" sz="1200" dirty="0">
                          <a:latin typeface="+mn-lt"/>
                        </a:rPr>
                        <a:t>غياب منصة موحّدة لإدارة المحتوى المؤسسي، مما يقلل من توحيد معايير تخزين الملفات والقدرة على الأرشفة الذكية</a:t>
                      </a:r>
                    </a:p>
                  </a:txBody>
                  <a:tcPr marL="24310" marR="24310" marT="12155" marB="12155" anchor="ctr"/>
                </a:tc>
                <a:tc>
                  <a:txBody>
                    <a:bodyPr/>
                    <a:lstStyle/>
                    <a:p>
                      <a:pPr algn="r" rtl="1">
                        <a:buNone/>
                      </a:pPr>
                      <a:r>
                        <a:rPr lang="ar-AE" sz="1200" dirty="0">
                          <a:latin typeface="+mn-lt"/>
                        </a:rPr>
                        <a:t>تعدّد أماكن الحفظ وصعوبة تتبّع نسخ الملفات أو تطبيق معايير أمنية موحّدة</a:t>
                      </a:r>
                    </a:p>
                  </a:txBody>
                  <a:tcPr marL="24310" marR="24310" marT="12155" marB="12155" anchor="ctr"/>
                </a:tc>
                <a:tc>
                  <a:txBody>
                    <a:bodyPr/>
                    <a:lstStyle/>
                    <a:p>
                      <a:pPr algn="r" rtl="1">
                        <a:buNone/>
                      </a:pPr>
                      <a:r>
                        <a:rPr lang="ar-AE" sz="1200" dirty="0">
                          <a:latin typeface="+mn-lt"/>
                        </a:rPr>
                        <a:t>اعتماد نظام إدارة محتوى مؤسسي (</a:t>
                      </a:r>
                      <a:r>
                        <a:rPr lang="en-US" sz="1200" dirty="0">
                          <a:latin typeface="+mn-lt"/>
                        </a:rPr>
                        <a:t>ECM) </a:t>
                      </a:r>
                      <a:r>
                        <a:rPr lang="ar-AE" sz="1200" dirty="0">
                          <a:latin typeface="+mn-lt"/>
                        </a:rPr>
                        <a:t>يضمن توحيد أساليب الحفظ والأرشفة، وتتبّع التعديلات بكفاءة</a:t>
                      </a:r>
                    </a:p>
                  </a:txBody>
                  <a:tcPr marL="24310" marR="24310" marT="12155" marB="12155" anchor="ctr"/>
                </a:tc>
                <a:tc>
                  <a:txBody>
                    <a:bodyPr/>
                    <a:lstStyle/>
                    <a:p>
                      <a:pPr algn="r" rtl="1">
                        <a:buNone/>
                      </a:pPr>
                      <a:r>
                        <a:rPr lang="ar-AE" sz="1200">
                          <a:latin typeface="+mn-lt"/>
                        </a:rPr>
                        <a:t>تركيب وتشغيل </a:t>
                      </a:r>
                      <a:r>
                        <a:rPr lang="en-US" sz="1200">
                          <a:latin typeface="+mn-lt"/>
                        </a:rPr>
                        <a:t>ECM </a:t>
                      </a:r>
                      <a:r>
                        <a:rPr lang="ar-AE" sz="1200">
                          <a:latin typeface="+mn-lt"/>
                        </a:rPr>
                        <a:t>وربطها بالأنظمة الأساسية لتسهيل البحث والأرشفة وإدارة الصلاحيات</a:t>
                      </a:r>
                    </a:p>
                  </a:txBody>
                  <a:tcPr marL="24310" marR="24310" marT="12155" marB="12155" anchor="ctr"/>
                </a:tc>
                <a:tc>
                  <a:txBody>
                    <a:bodyPr/>
                    <a:lstStyle/>
                    <a:p>
                      <a:pPr algn="ctr" rtl="1">
                        <a:buNone/>
                      </a:pPr>
                      <a:r>
                        <a:rPr lang="ar-AE" sz="1200">
                          <a:latin typeface="+mn-lt"/>
                        </a:rPr>
                        <a:t>متوسطة</a:t>
                      </a:r>
                    </a:p>
                  </a:txBody>
                  <a:tcPr marL="24310" marR="24310" marT="12155" marB="12155" anchor="ctr"/>
                </a:tc>
                <a:tc>
                  <a:txBody>
                    <a:bodyPr/>
                    <a:lstStyle/>
                    <a:p>
                      <a:pPr algn="ctr" rtl="1">
                        <a:buNone/>
                      </a:pPr>
                      <a:r>
                        <a:rPr lang="ar-AE" sz="1200" dirty="0">
                          <a:latin typeface="+mn-lt"/>
                        </a:rPr>
                        <a:t>متوسطة</a:t>
                      </a:r>
                    </a:p>
                  </a:txBody>
                  <a:tcPr marL="24310" marR="24310" marT="12155" marB="12155" anchor="ctr"/>
                </a:tc>
                <a:tc>
                  <a:txBody>
                    <a:bodyPr/>
                    <a:lstStyle/>
                    <a:p>
                      <a:pPr algn="ctr" rtl="1">
                        <a:buNone/>
                      </a:pPr>
                      <a:r>
                        <a:rPr lang="ar-AE" sz="1200" dirty="0">
                          <a:latin typeface="+mn-lt"/>
                        </a:rPr>
                        <a:t>ملف حصر البيانات</a:t>
                      </a:r>
                    </a:p>
                  </a:txBody>
                  <a:tcPr marL="24310" marR="24310" marT="12155" marB="12155" anchor="ctr"/>
                </a:tc>
                <a:extLst>
                  <a:ext uri="{0D108BD9-81ED-4DB2-BD59-A6C34878D82A}">
                    <a16:rowId xmlns:a16="http://schemas.microsoft.com/office/drawing/2014/main" val="3386048539"/>
                  </a:ext>
                </a:extLst>
              </a:tr>
              <a:tr h="1143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GAP-D-17</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توفر قدرات الذكاء الاصطناعي وتعلم الآلة دون تفعيل شامل على مستوى الهيئة.</a:t>
                      </a:r>
                    </a:p>
                  </a:txBody>
                  <a:tcPr marL="24310" marR="24310" marT="12155" marB="12155" anchor="ctr"/>
                </a:tc>
                <a:tc>
                  <a:txBody>
                    <a:bodyPr/>
                    <a:lstStyle/>
                    <a:p>
                      <a:pPr algn="ctr" rtl="1" fontAlgn="ctr"/>
                      <a:r>
                        <a:rPr lang="ar-AE" sz="1200" b="0" i="0" u="none" strike="noStrike">
                          <a:solidFill>
                            <a:srgbClr val="000000"/>
                          </a:solidFill>
                          <a:effectLst/>
                          <a:latin typeface="Aptos Narrow" panose="020B0004020202020204" pitchFamily="34" charset="0"/>
                        </a:rPr>
                        <a:t>ذكاء الأعمال والتحليلات (9)</a:t>
                      </a:r>
                    </a:p>
                  </a:txBody>
                  <a:tcPr marL="9525" marR="9525" marT="9525" marB="0" anchor="ctr"/>
                </a:tc>
                <a:tc>
                  <a:txBody>
                    <a:bodyPr/>
                    <a:lstStyle/>
                    <a:p>
                      <a:pPr algn="r" rtl="1">
                        <a:buNone/>
                      </a:pPr>
                      <a:r>
                        <a:rPr lang="ar-AE" sz="1200" dirty="0">
                          <a:latin typeface="+mn-lt"/>
                        </a:rPr>
                        <a:t>تتوفر لدى الهيئة أدوات وتقنيات تدعم تطبيقات الذكاء الاصطناعي وتعلم الآلة، إلا أنها غير مفعلة بشكل </a:t>
                      </a:r>
                      <a:r>
                        <a:rPr lang="ar-SA" sz="1200" dirty="0">
                          <a:latin typeface="+mn-lt"/>
                        </a:rPr>
                        <a:t>كامل</a:t>
                      </a:r>
                      <a:r>
                        <a:rPr lang="ar-AE" sz="1200" dirty="0">
                          <a:latin typeface="+mn-lt"/>
                        </a:rPr>
                        <a:t>، مما يحد من الاستفادة من هذه التقنيات الحديثة.</a:t>
                      </a:r>
                    </a:p>
                  </a:txBody>
                  <a:tcPr marL="24310" marR="24310" marT="12155" marB="12155" anchor="ctr"/>
                </a:tc>
                <a:tc>
                  <a:txBody>
                    <a:bodyPr/>
                    <a:lstStyle/>
                    <a:p>
                      <a:pPr algn="r" rtl="1">
                        <a:buNone/>
                      </a:pPr>
                      <a:r>
                        <a:rPr lang="ar-AE" sz="1200" dirty="0">
                          <a:latin typeface="+mn-lt"/>
                        </a:rPr>
                        <a:t>ضعف في الاستفادة من الذكاء الاصطناعي في تحسين الكفاءة التشغيلية، وغياب التحليلات التنبؤية والقرارات الاستباقية، مما يؤدي إلى استمرار الإجراءات التقليدية.</a:t>
                      </a:r>
                    </a:p>
                  </a:txBody>
                  <a:tcPr marL="24310" marR="24310" marT="12155" marB="12155" anchor="ctr"/>
                </a:tc>
                <a:tc>
                  <a:txBody>
                    <a:bodyPr/>
                    <a:lstStyle/>
                    <a:p>
                      <a:pPr algn="r" rtl="1">
                        <a:buNone/>
                      </a:pPr>
                      <a:r>
                        <a:rPr lang="ar-AE" sz="1200" dirty="0">
                          <a:latin typeface="+mn-lt"/>
                        </a:rPr>
                        <a:t>تفعيل شامل لتقنيات الذكاء الاصطناعي وتعلم الآلة يعزز من الكفاءة التشغيلية، ويدعم الأتمتة، ويسهم في اتخاذ قرارات أكثر دقة وفاعلية، وتحقيق قيمة أكبر من البيانات.</a:t>
                      </a:r>
                    </a:p>
                  </a:txBody>
                  <a:tcPr marL="24310" marR="24310" marT="12155" marB="12155" anchor="ctr"/>
                </a:tc>
                <a:tc>
                  <a:txBody>
                    <a:bodyPr/>
                    <a:lstStyle/>
                    <a:p>
                      <a:pPr algn="r" rtl="1">
                        <a:buNone/>
                      </a:pPr>
                      <a:r>
                        <a:rPr lang="ar-AE" sz="1200" dirty="0">
                          <a:latin typeface="+mn-lt"/>
                        </a:rPr>
                        <a:t>تصميم خطة تفعيل مؤسسي لاستخدام الذكاء الاصطناعي وتعلم الآلة في المجالات ذات الأولوية، وتضمينها في خارطة التحول الرقمي، وتوفير القدرات والحوكمة اللازمة.</a:t>
                      </a:r>
                    </a:p>
                  </a:txBody>
                  <a:tcPr marL="24310" marR="24310" marT="12155" marB="12155" anchor="ctr"/>
                </a:tc>
                <a:tc>
                  <a:txBody>
                    <a:bodyPr/>
                    <a:lstStyle/>
                    <a:p>
                      <a:pPr algn="ctr" rtl="1">
                        <a:buNone/>
                      </a:pPr>
                      <a:r>
                        <a:rPr lang="ar-AE" sz="1200" dirty="0">
                          <a:latin typeface="+mn-lt"/>
                        </a:rPr>
                        <a:t>متوسطة</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ملف حصر البيانات</a:t>
                      </a:r>
                    </a:p>
                  </a:txBody>
                  <a:tcPr marL="24310" marR="24310" marT="12155" marB="12155" anchor="ctr"/>
                </a:tc>
                <a:extLst>
                  <a:ext uri="{0D108BD9-81ED-4DB2-BD59-A6C34878D82A}">
                    <a16:rowId xmlns:a16="http://schemas.microsoft.com/office/drawing/2014/main" val="3067900995"/>
                  </a:ext>
                </a:extLst>
              </a:tr>
              <a:tr h="10011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GAP-D-18</a:t>
                      </a:r>
                      <a:endParaRPr kumimoji="0" lang="ar-EG" sz="1200" b="0"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عدم وجود إجراءات موحّدة لتحديد البيانات الرئيسية والمرجعية</a:t>
                      </a:r>
                    </a:p>
                  </a:txBody>
                  <a:tcPr marL="24310" marR="24310" marT="12155" marB="12155" anchor="ctr"/>
                </a:tc>
                <a:tc>
                  <a:txBody>
                    <a:bodyPr/>
                    <a:lstStyle/>
                    <a:p>
                      <a:pPr algn="ctr" rtl="1" fontAlgn="ctr"/>
                      <a:r>
                        <a:rPr lang="ar-AE" sz="1200" b="0" i="0" u="none" strike="noStrike">
                          <a:solidFill>
                            <a:srgbClr val="000000"/>
                          </a:solidFill>
                          <a:effectLst/>
                          <a:latin typeface="Aptos Narrow" panose="020B0004020202020204" pitchFamily="34" charset="0"/>
                        </a:rPr>
                        <a:t>إدارة البيانات المرجعية والرئيسية (8)</a:t>
                      </a:r>
                    </a:p>
                  </a:txBody>
                  <a:tcPr marL="9525" marR="9525" marT="9525" marB="0" anchor="ctr"/>
                </a:tc>
                <a:tc>
                  <a:txBody>
                    <a:bodyPr/>
                    <a:lstStyle/>
                    <a:p>
                      <a:pPr algn="r" rtl="1">
                        <a:buNone/>
                      </a:pPr>
                      <a:r>
                        <a:rPr lang="ar-AE" sz="1200" dirty="0">
                          <a:latin typeface="+mn-lt"/>
                        </a:rPr>
                        <a:t>غياب إطار واضح لتعريف البيانات الأساسية والمرجعية وضمان تحديثها في مختلف الأنظمة</a:t>
                      </a:r>
                    </a:p>
                  </a:txBody>
                  <a:tcPr marL="24310" marR="24310" marT="12155" marB="12155" anchor="ctr"/>
                </a:tc>
                <a:tc>
                  <a:txBody>
                    <a:bodyPr/>
                    <a:lstStyle/>
                    <a:p>
                      <a:pPr algn="r" rtl="1">
                        <a:buNone/>
                      </a:pPr>
                      <a:r>
                        <a:rPr lang="ar-AE" sz="1200" dirty="0">
                          <a:latin typeface="+mn-lt"/>
                        </a:rPr>
                        <a:t>حدوث تكرار وتضارب في المعلومات الأساسية بين الأنظمة وصعوبة الحفاظ على البيانات الصحيحة</a:t>
                      </a:r>
                    </a:p>
                  </a:txBody>
                  <a:tcPr marL="24310" marR="24310" marT="12155" marB="12155" anchor="ctr"/>
                </a:tc>
                <a:tc>
                  <a:txBody>
                    <a:bodyPr/>
                    <a:lstStyle/>
                    <a:p>
                      <a:pPr algn="r" rtl="1">
                        <a:buNone/>
                      </a:pPr>
                      <a:r>
                        <a:rPr lang="ar-AE" sz="1200" dirty="0">
                          <a:latin typeface="+mn-lt"/>
                        </a:rPr>
                        <a:t>اعتماد إجراءات مركزية لتحديد البيانات الأساسية والمرجعية وتحديثها باستمرار</a:t>
                      </a:r>
                    </a:p>
                  </a:txBody>
                  <a:tcPr marL="24310" marR="24310" marT="12155" marB="12155" anchor="ctr"/>
                </a:tc>
                <a:tc>
                  <a:txBody>
                    <a:bodyPr/>
                    <a:lstStyle/>
                    <a:p>
                      <a:pPr algn="r" rtl="1">
                        <a:buNone/>
                      </a:pPr>
                      <a:r>
                        <a:rPr lang="ar-AE" sz="1200" dirty="0">
                          <a:latin typeface="+mn-lt"/>
                        </a:rPr>
                        <a:t>توحيد قوائم البيانات وإنشاء قواميس بيانات مرجعية وإلزام الأنظمة باعتمادها</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متطلبات البنية المؤسسية</a:t>
                      </a:r>
                    </a:p>
                  </a:txBody>
                  <a:tcPr marL="24310" marR="24310" marT="12155" marB="12155" anchor="ctr"/>
                </a:tc>
                <a:extLst>
                  <a:ext uri="{0D108BD9-81ED-4DB2-BD59-A6C34878D82A}">
                    <a16:rowId xmlns:a16="http://schemas.microsoft.com/office/drawing/2014/main" val="4205275932"/>
                  </a:ext>
                </a:extLst>
              </a:tr>
              <a:tr h="1479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GAP-D-19</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غياب تقنيات تصنيف </a:t>
                      </a:r>
                      <a:r>
                        <a:rPr lang="ar-SA" sz="1200" dirty="0">
                          <a:latin typeface="+mn-lt"/>
                        </a:rPr>
                        <a:t>البيانات</a:t>
                      </a:r>
                      <a:r>
                        <a:rPr lang="ar-AE" sz="1200" dirty="0">
                          <a:latin typeface="+mn-lt"/>
                        </a:rPr>
                        <a:t> المتقدم</a:t>
                      </a:r>
                    </a:p>
                  </a:txBody>
                  <a:tcPr marL="24310" marR="24310" marT="12155" marB="12155" anchor="ctr"/>
                </a:tc>
                <a:tc>
                  <a:txBody>
                    <a:bodyPr/>
                    <a:lstStyle/>
                    <a:p>
                      <a:pPr algn="ctr" rtl="1" fontAlgn="ctr"/>
                      <a:r>
                        <a:rPr lang="ar-AE" sz="1200" b="0" i="0" u="none" strike="noStrike" dirty="0">
                          <a:solidFill>
                            <a:srgbClr val="000000"/>
                          </a:solidFill>
                          <a:effectLst/>
                          <a:latin typeface="Aptos Narrow" panose="020B0004020202020204" pitchFamily="34" charset="0"/>
                        </a:rPr>
                        <a:t>تصنيف البيانات (13)</a:t>
                      </a:r>
                    </a:p>
                  </a:txBody>
                  <a:tcPr marL="9525" marR="9525" marT="9525" marB="0" anchor="ctr"/>
                </a:tc>
                <a:tc>
                  <a:txBody>
                    <a:bodyPr/>
                    <a:lstStyle/>
                    <a:p>
                      <a:pPr algn="r" rtl="1">
                        <a:buNone/>
                      </a:pPr>
                      <a:r>
                        <a:rPr lang="ar-AE" sz="1200" dirty="0">
                          <a:latin typeface="+mn-lt"/>
                        </a:rPr>
                        <a:t>استخدام أساليب بدائية أو محدودة في تصنيف البيانات، ما يقلل من فاعلية تنظيمها</a:t>
                      </a:r>
                    </a:p>
                  </a:txBody>
                  <a:tcPr marL="24310" marR="24310" marT="12155" marB="12155" anchor="ctr"/>
                </a:tc>
                <a:tc>
                  <a:txBody>
                    <a:bodyPr/>
                    <a:lstStyle/>
                    <a:p>
                      <a:pPr algn="r" rtl="1">
                        <a:buNone/>
                      </a:pPr>
                      <a:r>
                        <a:rPr lang="ar-AE" sz="1200">
                          <a:latin typeface="+mn-lt"/>
                        </a:rPr>
                        <a:t>صعوبة الوصول السريع للبيانات المطلوبة، وإهدار موارد في البحث والربط اليدوي</a:t>
                      </a:r>
                    </a:p>
                  </a:txBody>
                  <a:tcPr marL="24310" marR="24310" marT="12155" marB="12155" anchor="ctr"/>
                </a:tc>
                <a:tc>
                  <a:txBody>
                    <a:bodyPr/>
                    <a:lstStyle/>
                    <a:p>
                      <a:pPr algn="r" rtl="1">
                        <a:buNone/>
                      </a:pPr>
                      <a:r>
                        <a:rPr lang="ar-AE" sz="1200" dirty="0">
                          <a:latin typeface="+mn-lt"/>
                        </a:rPr>
                        <a:t>تطبيق أنظمة ذكية لتصنيف البيانات (مثل التصنيف المؤسسي) مع دعم التحليل الآلي للمحتوى</a:t>
                      </a:r>
                    </a:p>
                  </a:txBody>
                  <a:tcPr marL="24310" marR="24310" marT="12155" marB="12155" anchor="ctr"/>
                </a:tc>
                <a:tc>
                  <a:txBody>
                    <a:bodyPr/>
                    <a:lstStyle/>
                    <a:p>
                      <a:pPr algn="r" rtl="1">
                        <a:buNone/>
                      </a:pPr>
                      <a:r>
                        <a:rPr lang="ar-AE" sz="1200" dirty="0">
                          <a:latin typeface="+mn-lt"/>
                        </a:rPr>
                        <a:t>اعتماد تقنيات متخصصة في التصنيف والمؤشرات الوصفية، ما يرفع كفاءة الأرشفة والبحث</a:t>
                      </a:r>
                    </a:p>
                  </a:txBody>
                  <a:tcPr marL="24310" marR="24310" marT="12155" marB="12155" anchor="ctr"/>
                </a:tc>
                <a:tc>
                  <a:txBody>
                    <a:bodyPr/>
                    <a:lstStyle/>
                    <a:p>
                      <a:pPr algn="ctr" rtl="1">
                        <a:buNone/>
                      </a:pPr>
                      <a:r>
                        <a:rPr lang="ar-AE" sz="1200" dirty="0">
                          <a:latin typeface="+mn-lt"/>
                        </a:rPr>
                        <a:t>متوسطة</a:t>
                      </a:r>
                    </a:p>
                  </a:txBody>
                  <a:tcPr marL="24310" marR="24310" marT="12155" marB="12155" anchor="ctr"/>
                </a:tc>
                <a:tc>
                  <a:txBody>
                    <a:bodyPr/>
                    <a:lstStyle/>
                    <a:p>
                      <a:pPr algn="ctr" rtl="1">
                        <a:buNone/>
                      </a:pPr>
                      <a:r>
                        <a:rPr lang="ar-AE" sz="1200" dirty="0">
                          <a:latin typeface="+mn-lt"/>
                        </a:rPr>
                        <a:t>متوسطة</a:t>
                      </a:r>
                    </a:p>
                  </a:txBody>
                  <a:tcPr marL="24310" marR="24310" marT="12155" marB="12155" anchor="ctr"/>
                </a:tc>
                <a:tc>
                  <a:txBody>
                    <a:bodyPr/>
                    <a:lstStyle/>
                    <a:p>
                      <a:pPr algn="ctr" rtl="1">
                        <a:buNone/>
                      </a:pPr>
                      <a:r>
                        <a:rPr lang="ar-AE" sz="1200" dirty="0">
                          <a:latin typeface="+mn-lt"/>
                        </a:rPr>
                        <a:t>متطلبات البنية المؤسسية</a:t>
                      </a:r>
                    </a:p>
                  </a:txBody>
                  <a:tcPr marL="24310" marR="24310" marT="12155" marB="12155" anchor="ctr"/>
                </a:tc>
                <a:extLst>
                  <a:ext uri="{0D108BD9-81ED-4DB2-BD59-A6C34878D82A}">
                    <a16:rowId xmlns:a16="http://schemas.microsoft.com/office/drawing/2014/main" val="152741407"/>
                  </a:ext>
                </a:extLst>
              </a:tr>
            </a:tbl>
          </a:graphicData>
        </a:graphic>
      </p:graphicFrame>
    </p:spTree>
    <p:extLst>
      <p:ext uri="{BB962C8B-B14F-4D97-AF65-F5344CB8AC3E}">
        <p14:creationId xmlns:p14="http://schemas.microsoft.com/office/powerpoint/2010/main" val="356449795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82BBE-B487-6566-14FA-F9145ED24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50F98-38D0-9BA3-0EE2-1FBC51B5E378}"/>
              </a:ext>
            </a:extLst>
          </p:cNvPr>
          <p:cNvSpPr>
            <a:spLocks noGrp="1"/>
          </p:cNvSpPr>
          <p:nvPr>
            <p:ph type="title"/>
          </p:nvPr>
        </p:nvSpPr>
        <p:spPr/>
        <p:txBody>
          <a:bodyPr/>
          <a:lstStyle/>
          <a:p>
            <a:r>
              <a:rPr lang="ar-SA" dirty="0"/>
              <a:t>ملخص تحليل الفجوات</a:t>
            </a:r>
            <a:endParaRPr lang="en-AE" dirty="0"/>
          </a:p>
        </p:txBody>
      </p:sp>
      <p:sp>
        <p:nvSpPr>
          <p:cNvPr id="3" name="Slide Number Placeholder 2">
            <a:extLst>
              <a:ext uri="{FF2B5EF4-FFF2-40B4-BE49-F238E27FC236}">
                <a16:creationId xmlns:a16="http://schemas.microsoft.com/office/drawing/2014/main" id="{6A4E4B08-948D-50A9-6DC1-CA126B5BA6F8}"/>
              </a:ext>
            </a:extLst>
          </p:cNvPr>
          <p:cNvSpPr>
            <a:spLocks noGrp="1"/>
          </p:cNvSpPr>
          <p:nvPr>
            <p:ph type="sldNum" sz="quarter" idx="12"/>
          </p:nvPr>
        </p:nvSpPr>
        <p:spPr/>
        <p:txBody>
          <a:bodyPr/>
          <a:lstStyle/>
          <a:p>
            <a:fld id="{0BE4EC83-A869-464E-AE9F-881796FB085E}" type="slidenum">
              <a:rPr lang="en-US" smtClean="0"/>
              <a:t>63</a:t>
            </a:fld>
            <a:endParaRPr lang="en-US"/>
          </a:p>
        </p:txBody>
      </p:sp>
      <p:graphicFrame>
        <p:nvGraphicFramePr>
          <p:cNvPr id="4" name="Table 3">
            <a:extLst>
              <a:ext uri="{FF2B5EF4-FFF2-40B4-BE49-F238E27FC236}">
                <a16:creationId xmlns:a16="http://schemas.microsoft.com/office/drawing/2014/main" id="{355F8041-410B-899D-E88E-74275E3FD4D9}"/>
              </a:ext>
            </a:extLst>
          </p:cNvPr>
          <p:cNvGraphicFramePr>
            <a:graphicFrameLocks noGrp="1"/>
          </p:cNvGraphicFramePr>
          <p:nvPr>
            <p:extLst>
              <p:ext uri="{D42A27DB-BD31-4B8C-83A1-F6EECF244321}">
                <p14:modId xmlns:p14="http://schemas.microsoft.com/office/powerpoint/2010/main" val="3878785482"/>
              </p:ext>
            </p:extLst>
          </p:nvPr>
        </p:nvGraphicFramePr>
        <p:xfrm>
          <a:off x="621453" y="1123950"/>
          <a:ext cx="10960946" cy="3414902"/>
        </p:xfrm>
        <a:graphic>
          <a:graphicData uri="http://schemas.openxmlformats.org/drawingml/2006/table">
            <a:tbl>
              <a:tblPr rtl="1" firstRow="1" bandRow="1">
                <a:tableStyleId>{B301B821-A1FF-4177-AEE7-76D212191A09}</a:tableStyleId>
              </a:tblPr>
              <a:tblGrid>
                <a:gridCol w="776172">
                  <a:extLst>
                    <a:ext uri="{9D8B030D-6E8A-4147-A177-3AD203B41FA5}">
                      <a16:colId xmlns:a16="http://schemas.microsoft.com/office/drawing/2014/main" val="1848166869"/>
                    </a:ext>
                  </a:extLst>
                </a:gridCol>
                <a:gridCol w="1009315">
                  <a:extLst>
                    <a:ext uri="{9D8B030D-6E8A-4147-A177-3AD203B41FA5}">
                      <a16:colId xmlns:a16="http://schemas.microsoft.com/office/drawing/2014/main" val="3183077499"/>
                    </a:ext>
                  </a:extLst>
                </a:gridCol>
                <a:gridCol w="1506191">
                  <a:extLst>
                    <a:ext uri="{9D8B030D-6E8A-4147-A177-3AD203B41FA5}">
                      <a16:colId xmlns:a16="http://schemas.microsoft.com/office/drawing/2014/main" val="3730834252"/>
                    </a:ext>
                  </a:extLst>
                </a:gridCol>
                <a:gridCol w="1506191">
                  <a:extLst>
                    <a:ext uri="{9D8B030D-6E8A-4147-A177-3AD203B41FA5}">
                      <a16:colId xmlns:a16="http://schemas.microsoft.com/office/drawing/2014/main" val="2407940828"/>
                    </a:ext>
                  </a:extLst>
                </a:gridCol>
                <a:gridCol w="1456317">
                  <a:extLst>
                    <a:ext uri="{9D8B030D-6E8A-4147-A177-3AD203B41FA5}">
                      <a16:colId xmlns:a16="http://schemas.microsoft.com/office/drawing/2014/main" val="2266366844"/>
                    </a:ext>
                  </a:extLst>
                </a:gridCol>
                <a:gridCol w="1546090">
                  <a:extLst>
                    <a:ext uri="{9D8B030D-6E8A-4147-A177-3AD203B41FA5}">
                      <a16:colId xmlns:a16="http://schemas.microsoft.com/office/drawing/2014/main" val="170401669"/>
                    </a:ext>
                  </a:extLst>
                </a:gridCol>
                <a:gridCol w="1366544">
                  <a:extLst>
                    <a:ext uri="{9D8B030D-6E8A-4147-A177-3AD203B41FA5}">
                      <a16:colId xmlns:a16="http://schemas.microsoft.com/office/drawing/2014/main" val="4110629147"/>
                    </a:ext>
                  </a:extLst>
                </a:gridCol>
                <a:gridCol w="458839">
                  <a:extLst>
                    <a:ext uri="{9D8B030D-6E8A-4147-A177-3AD203B41FA5}">
                      <a16:colId xmlns:a16="http://schemas.microsoft.com/office/drawing/2014/main" val="2090639194"/>
                    </a:ext>
                  </a:extLst>
                </a:gridCol>
                <a:gridCol w="557940">
                  <a:extLst>
                    <a:ext uri="{9D8B030D-6E8A-4147-A177-3AD203B41FA5}">
                      <a16:colId xmlns:a16="http://schemas.microsoft.com/office/drawing/2014/main" val="1489210985"/>
                    </a:ext>
                  </a:extLst>
                </a:gridCol>
                <a:gridCol w="777347">
                  <a:extLst>
                    <a:ext uri="{9D8B030D-6E8A-4147-A177-3AD203B41FA5}">
                      <a16:colId xmlns:a16="http://schemas.microsoft.com/office/drawing/2014/main" val="602859565"/>
                    </a:ext>
                  </a:extLst>
                </a:gridCol>
              </a:tblGrid>
              <a:tr h="266510">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09605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GAP-D-20</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الحاجة إلى توظيف التقنيات الناشئة لتلبية احتياجات المستفيدين بشكل استباقي</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تحقيق القيمة من البيانات (10)</a:t>
                      </a:r>
                    </a:p>
                  </a:txBody>
                  <a:tcPr marL="9525" marR="9525" marT="9525" marB="0" anchor="ctr"/>
                </a:tc>
                <a:tc>
                  <a:txBody>
                    <a:bodyPr/>
                    <a:lstStyle/>
                    <a:p>
                      <a:pPr algn="r" rtl="1">
                        <a:buNone/>
                      </a:pPr>
                      <a:r>
                        <a:rPr lang="ar-AE" sz="1200" dirty="0">
                          <a:latin typeface="+mn-lt"/>
                        </a:rPr>
                        <a:t>يوجد </a:t>
                      </a:r>
                      <a:r>
                        <a:rPr lang="ar-SA" sz="1200" dirty="0">
                          <a:latin typeface="+mn-lt"/>
                        </a:rPr>
                        <a:t>نقص</a:t>
                      </a:r>
                      <a:r>
                        <a:rPr lang="ar-AE" sz="1200" dirty="0">
                          <a:latin typeface="+mn-lt"/>
                        </a:rPr>
                        <a:t> في الاستفادة من التقنيات الناشئة لتقديم خدمات استباقية، حيث تُقدّم معظم الخدمات بشكل تفاعلي دون توظيف أدوات متقدمة لتوقّع احتياجات المستفيدين.</a:t>
                      </a:r>
                    </a:p>
                  </a:txBody>
                  <a:tcPr marL="18232" marR="18232" marT="9116" marB="9116" anchor="ctr"/>
                </a:tc>
                <a:tc>
                  <a:txBody>
                    <a:bodyPr/>
                    <a:lstStyle/>
                    <a:p>
                      <a:pPr algn="r" rtl="1">
                        <a:buNone/>
                      </a:pPr>
                      <a:r>
                        <a:rPr lang="ar-AE" sz="1200" dirty="0">
                          <a:latin typeface="+mn-lt"/>
                        </a:rPr>
                        <a:t>تأخر في الاستجابة لاحتياجات المستفيدين، وانخفاض رضاهم، وضعف قدرة الهيئة على تقديم خدمات مخصصة وفعّالة بشكل ديناميكي.</a:t>
                      </a:r>
                    </a:p>
                  </a:txBody>
                  <a:tcPr marL="18232" marR="18232" marT="9116" marB="9116" anchor="ctr"/>
                </a:tc>
                <a:tc>
                  <a:txBody>
                    <a:bodyPr/>
                    <a:lstStyle/>
                    <a:p>
                      <a:pPr algn="r" rtl="1">
                        <a:buNone/>
                      </a:pPr>
                      <a:r>
                        <a:rPr lang="ar-AE" sz="1200" dirty="0">
                          <a:latin typeface="+mn-lt"/>
                        </a:rPr>
                        <a:t>رفع مستوى رضا المستفيدين من خلال تقديم خدمات استباقية مبنية على تحليل السلوك والاحتياجات المتوقعة، وتحسين كفاءة العمليات وخفض التكاليف التشغيلية.</a:t>
                      </a:r>
                    </a:p>
                  </a:txBody>
                  <a:tcPr marL="18232" marR="18232" marT="9116" marB="9116" anchor="ctr"/>
                </a:tc>
                <a:tc>
                  <a:txBody>
                    <a:bodyPr/>
                    <a:lstStyle/>
                    <a:p>
                      <a:pPr algn="r" rtl="1">
                        <a:buNone/>
                      </a:pPr>
                      <a:r>
                        <a:rPr lang="ar-AE" sz="1200">
                          <a:latin typeface="+mn-lt"/>
                        </a:rPr>
                        <a:t>تكوين فريق عمل مختص بالذكاء الاصطناعي ومعالجة البيانات الضخمة، وتنفيذ مبادرات ابتكارية للتفاعل مع احتياجات المستفيد</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algn="ctr" rtl="1">
                        <a:buNone/>
                      </a:pPr>
                      <a:r>
                        <a:rPr lang="ar-AE" sz="1200">
                          <a:latin typeface="+mn-lt"/>
                        </a:rPr>
                        <a:t>متطلبات البنية المؤسسية</a:t>
                      </a:r>
                    </a:p>
                  </a:txBody>
                  <a:tcPr marL="18232" marR="18232" marT="9116" marB="9116" anchor="ctr"/>
                </a:tc>
                <a:extLst>
                  <a:ext uri="{0D108BD9-81ED-4DB2-BD59-A6C34878D82A}">
                    <a16:rowId xmlns:a16="http://schemas.microsoft.com/office/drawing/2014/main" val="3386048539"/>
                  </a:ext>
                </a:extLst>
              </a:tr>
              <a:tr h="10164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GAP-D-21</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عدم الإسراع في تنفيذ نظام منع تسرب البيانات</a:t>
                      </a:r>
                      <a:r>
                        <a:rPr lang="en-US" sz="1200" dirty="0">
                          <a:latin typeface="+mn-lt"/>
                        </a:rPr>
                        <a:t> DLP </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أمن البيانات وحمايتها (15)</a:t>
                      </a:r>
                    </a:p>
                    <a:p>
                      <a:pPr marL="0" marR="0" lvl="0" indent="0" algn="ctr" defTabSz="914400" rtl="1" eaLnBrk="1" fontAlgn="ctr" latinLnBrk="0" hangingPunct="1">
                        <a:lnSpc>
                          <a:spcPct val="100000"/>
                        </a:lnSpc>
                        <a:spcBef>
                          <a:spcPts val="0"/>
                        </a:spcBef>
                        <a:spcAft>
                          <a:spcPts val="0"/>
                        </a:spcAft>
                        <a:buClrTx/>
                        <a:buSzTx/>
                        <a:buFontTx/>
                        <a:buNone/>
                        <a:tabLst/>
                        <a:defRPr/>
                      </a:pPr>
                      <a:r>
                        <a:rPr lang="ar-AE" sz="1200" b="0" i="0" u="none" strike="noStrike" kern="1200" dirty="0">
                          <a:solidFill>
                            <a:srgbClr val="000000"/>
                          </a:solidFill>
                          <a:effectLst/>
                          <a:latin typeface="Aptos Narrow" panose="020B0004020202020204" pitchFamily="34" charset="0"/>
                          <a:ea typeface="+mn-ea"/>
                          <a:cs typeface="+mn-cs"/>
                        </a:rPr>
                        <a:t>حماية البيانات الشخصية (14)</a:t>
                      </a:r>
                    </a:p>
                  </a:txBody>
                  <a:tcPr marL="9525" marR="9525" marT="9525" marB="0" anchor="ctr"/>
                </a:tc>
                <a:tc>
                  <a:txBody>
                    <a:bodyPr/>
                    <a:lstStyle/>
                    <a:p>
                      <a:pPr algn="r" rtl="1">
                        <a:buNone/>
                      </a:pPr>
                      <a:r>
                        <a:rPr lang="ar-AE" sz="1200" dirty="0">
                          <a:latin typeface="+mn-lt"/>
                        </a:rPr>
                        <a:t>غياب حلول فعّالة لرصد التسرب المحتمل للبيانات الحساسة أو منعها</a:t>
                      </a:r>
                    </a:p>
                  </a:txBody>
                  <a:tcPr marL="18232" marR="18232" marT="9116" marB="9116" anchor="ctr"/>
                </a:tc>
                <a:tc>
                  <a:txBody>
                    <a:bodyPr/>
                    <a:lstStyle/>
                    <a:p>
                      <a:pPr algn="r" rtl="1">
                        <a:buNone/>
                      </a:pPr>
                      <a:r>
                        <a:rPr lang="ar-AE" sz="1200" dirty="0">
                          <a:latin typeface="+mn-lt"/>
                        </a:rPr>
                        <a:t>تزايد مخاطر الاختراق أو سوء الاستخدام للبيانات، وعدم القدرة على تتبع التسريبات المحتملة</a:t>
                      </a:r>
                    </a:p>
                  </a:txBody>
                  <a:tcPr marL="18232" marR="18232" marT="9116" marB="9116" anchor="ctr"/>
                </a:tc>
                <a:tc>
                  <a:txBody>
                    <a:bodyPr/>
                    <a:lstStyle/>
                    <a:p>
                      <a:pPr algn="r" rtl="1">
                        <a:buNone/>
                      </a:pPr>
                      <a:r>
                        <a:rPr lang="ar-AE" sz="1200" dirty="0">
                          <a:latin typeface="+mn-lt"/>
                        </a:rPr>
                        <a:t>نشر واعتماد تقنيات </a:t>
                      </a:r>
                      <a:r>
                        <a:rPr lang="en-US" sz="1200" dirty="0">
                          <a:latin typeface="+mn-lt"/>
                        </a:rPr>
                        <a:t>DLP </a:t>
                      </a:r>
                      <a:r>
                        <a:rPr lang="ar-AE" sz="1200" dirty="0">
                          <a:latin typeface="+mn-lt"/>
                        </a:rPr>
                        <a:t>لرصد السلوكيات الشاذة والتفاعل الفوري مع أي نشاط مشبوه</a:t>
                      </a:r>
                    </a:p>
                  </a:txBody>
                  <a:tcPr marL="18232" marR="18232" marT="9116" marB="9116" anchor="ctr"/>
                </a:tc>
                <a:tc>
                  <a:txBody>
                    <a:bodyPr/>
                    <a:lstStyle/>
                    <a:p>
                      <a:pPr algn="r" rtl="1">
                        <a:buNone/>
                      </a:pPr>
                      <a:r>
                        <a:rPr lang="ar-AE" sz="1200">
                          <a:latin typeface="+mn-lt"/>
                        </a:rPr>
                        <a:t>تدريب الموظفين على استخدام النظام ووضع سياسات وتقييمات دورية للأمان</a:t>
                      </a:r>
                    </a:p>
                  </a:txBody>
                  <a:tcPr marL="18232" marR="18232" marT="9116" marB="9116" anchor="ctr"/>
                </a:tc>
                <a:tc>
                  <a:txBody>
                    <a:bodyPr/>
                    <a:lstStyle/>
                    <a:p>
                      <a:pPr algn="ctr" rtl="1">
                        <a:buNone/>
                      </a:pPr>
                      <a:r>
                        <a:rPr lang="ar-AE" sz="1200">
                          <a:latin typeface="+mn-lt"/>
                        </a:rPr>
                        <a:t>عالية</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algn="ctr" rtl="1">
                        <a:buNone/>
                      </a:pPr>
                      <a:r>
                        <a:rPr lang="ar-AE" sz="1200" dirty="0"/>
                        <a:t>وثيقة الوضع الحالي </a:t>
                      </a:r>
                      <a:endParaRPr lang="ar-AE" sz="1200" dirty="0">
                        <a:latin typeface="+mn-lt"/>
                      </a:endParaRPr>
                    </a:p>
                  </a:txBody>
                  <a:tcPr marL="18232" marR="18232" marT="9116" marB="9116" anchor="ctr"/>
                </a:tc>
                <a:extLst>
                  <a:ext uri="{0D108BD9-81ED-4DB2-BD59-A6C34878D82A}">
                    <a16:rowId xmlns:a16="http://schemas.microsoft.com/office/drawing/2014/main" val="3067900995"/>
                  </a:ext>
                </a:extLst>
              </a:tr>
              <a:tr h="10164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GAP-D-22</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r>
                        <a:rPr lang="ar-SA" sz="1200" dirty="0"/>
                        <a:t>توثيق جزئي لهياكل البيانات ونمذجتها.</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النمذجة وهيكلة البيانات (6)</a:t>
                      </a:r>
                    </a:p>
                  </a:txBody>
                  <a:tcPr marL="9525" marR="9525" marT="9525" marB="0" anchor="ctr"/>
                </a:tc>
                <a:tc>
                  <a:txBody>
                    <a:bodyPr/>
                    <a:lstStyle/>
                    <a:p>
                      <a:pPr algn="r" rtl="1">
                        <a:buNone/>
                      </a:pPr>
                      <a:r>
                        <a:rPr lang="ar-AE" sz="1200" dirty="0">
                          <a:latin typeface="+mn-lt"/>
                        </a:rPr>
                        <a:t>تم توثيق جزء من هياكل البيانات ونماذجها، إلا أن ذلك لا يشمل جميع الأنظمة والمجالات، مما يحد من فهم البيانات وتكاملها بشكل شامل</a:t>
                      </a:r>
                    </a:p>
                  </a:txBody>
                  <a:tcPr marL="18232" marR="18232" marT="9116" marB="9116" anchor="ctr"/>
                </a:tc>
                <a:tc>
                  <a:txBody>
                    <a:bodyPr/>
                    <a:lstStyle/>
                    <a:p>
                      <a:pPr algn="r" rtl="1">
                        <a:buNone/>
                      </a:pPr>
                      <a:r>
                        <a:rPr lang="ar-AE" sz="1200" dirty="0">
                          <a:latin typeface="+mn-lt"/>
                        </a:rPr>
                        <a:t>ضعف في فهم شامل للبيانات، وصعوبة في التكامل والتحليل الدقيق بين الأنظمة.</a:t>
                      </a:r>
                    </a:p>
                  </a:txBody>
                  <a:tcPr marL="18232" marR="18232" marT="9116" marB="9116" anchor="ctr"/>
                </a:tc>
                <a:tc>
                  <a:txBody>
                    <a:bodyPr/>
                    <a:lstStyle/>
                    <a:p>
                      <a:pPr algn="r" rtl="1">
                        <a:buNone/>
                      </a:pPr>
                      <a:r>
                        <a:rPr lang="ar-AE" sz="1200" dirty="0">
                          <a:latin typeface="+mn-lt"/>
                        </a:rPr>
                        <a:t>تحسين تكامل البيانات ودقتها، ودعم تطوير النماذج التحليلية واتخاذ القرار المؤسسي.</a:t>
                      </a:r>
                    </a:p>
                  </a:txBody>
                  <a:tcPr marL="18232" marR="18232" marT="9116" marB="9116" anchor="ctr"/>
                </a:tc>
                <a:tc>
                  <a:txBody>
                    <a:bodyPr/>
                    <a:lstStyle/>
                    <a:p>
                      <a:pPr algn="r" rtl="1">
                        <a:buNone/>
                      </a:pPr>
                      <a:r>
                        <a:rPr lang="ar-AE" sz="1200" dirty="0">
                          <a:latin typeface="+mn-lt"/>
                        </a:rPr>
                        <a:t>استكمال توثيق هياكل البيانات ونمذجتها لكافة الأنظمة، وربطها ضمن إطار موحد لحوكمة البيانات.</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t>وثيقة الوضع الحالي </a:t>
                      </a:r>
                      <a:endParaRPr lang="ar-AE" sz="1200" dirty="0">
                        <a:latin typeface="+mn-lt"/>
                      </a:endParaRPr>
                    </a:p>
                  </a:txBody>
                  <a:tcPr marL="18232" marR="18232" marT="9116" marB="9116" anchor="ctr"/>
                </a:tc>
                <a:extLst>
                  <a:ext uri="{0D108BD9-81ED-4DB2-BD59-A6C34878D82A}">
                    <a16:rowId xmlns:a16="http://schemas.microsoft.com/office/drawing/2014/main" val="4205275932"/>
                  </a:ext>
                </a:extLst>
              </a:tr>
            </a:tbl>
          </a:graphicData>
        </a:graphic>
      </p:graphicFrame>
    </p:spTree>
    <p:extLst>
      <p:ext uri="{BB962C8B-B14F-4D97-AF65-F5344CB8AC3E}">
        <p14:creationId xmlns:p14="http://schemas.microsoft.com/office/powerpoint/2010/main" val="366097161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637B-BA7E-C606-236E-606DE5DE6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751F7-FCE5-C253-1724-534228722C9B}"/>
              </a:ext>
            </a:extLst>
          </p:cNvPr>
          <p:cNvSpPr>
            <a:spLocks noGrp="1"/>
          </p:cNvSpPr>
          <p:nvPr>
            <p:ph type="title"/>
          </p:nvPr>
        </p:nvSpPr>
        <p:spPr/>
        <p:txBody>
          <a:bodyPr/>
          <a:lstStyle/>
          <a:p>
            <a:r>
              <a:rPr lang="ar-SA" dirty="0"/>
              <a:t>ملخص تحليل الفجوات</a:t>
            </a:r>
            <a:endParaRPr lang="en-AE" dirty="0"/>
          </a:p>
        </p:txBody>
      </p:sp>
      <p:sp>
        <p:nvSpPr>
          <p:cNvPr id="3" name="Slide Number Placeholder 2">
            <a:extLst>
              <a:ext uri="{FF2B5EF4-FFF2-40B4-BE49-F238E27FC236}">
                <a16:creationId xmlns:a16="http://schemas.microsoft.com/office/drawing/2014/main" id="{2CB6A47A-87AE-6344-E876-896FCF9730AA}"/>
              </a:ext>
            </a:extLst>
          </p:cNvPr>
          <p:cNvSpPr>
            <a:spLocks noGrp="1"/>
          </p:cNvSpPr>
          <p:nvPr>
            <p:ph type="sldNum" sz="quarter" idx="12"/>
          </p:nvPr>
        </p:nvSpPr>
        <p:spPr/>
        <p:txBody>
          <a:bodyPr/>
          <a:lstStyle/>
          <a:p>
            <a:fld id="{0BE4EC83-A869-464E-AE9F-881796FB085E}" type="slidenum">
              <a:rPr lang="en-US" smtClean="0"/>
              <a:t>64</a:t>
            </a:fld>
            <a:endParaRPr lang="en-US"/>
          </a:p>
        </p:txBody>
      </p:sp>
      <p:graphicFrame>
        <p:nvGraphicFramePr>
          <p:cNvPr id="4" name="Table 3">
            <a:extLst>
              <a:ext uri="{FF2B5EF4-FFF2-40B4-BE49-F238E27FC236}">
                <a16:creationId xmlns:a16="http://schemas.microsoft.com/office/drawing/2014/main" id="{9053816E-3867-F18A-2608-E2481BB01590}"/>
              </a:ext>
            </a:extLst>
          </p:cNvPr>
          <p:cNvGraphicFramePr>
            <a:graphicFrameLocks noGrp="1"/>
          </p:cNvGraphicFramePr>
          <p:nvPr>
            <p:extLst>
              <p:ext uri="{D42A27DB-BD31-4B8C-83A1-F6EECF244321}">
                <p14:modId xmlns:p14="http://schemas.microsoft.com/office/powerpoint/2010/main" val="1146025210"/>
              </p:ext>
            </p:extLst>
          </p:nvPr>
        </p:nvGraphicFramePr>
        <p:xfrm>
          <a:off x="621453" y="1140543"/>
          <a:ext cx="10960946" cy="4906298"/>
        </p:xfrm>
        <a:graphic>
          <a:graphicData uri="http://schemas.openxmlformats.org/drawingml/2006/table">
            <a:tbl>
              <a:tblPr rtl="1" firstRow="1" bandRow="1">
                <a:tableStyleId>{B301B821-A1FF-4177-AEE7-76D212191A09}</a:tableStyleId>
              </a:tblPr>
              <a:tblGrid>
                <a:gridCol w="776172">
                  <a:extLst>
                    <a:ext uri="{9D8B030D-6E8A-4147-A177-3AD203B41FA5}">
                      <a16:colId xmlns:a16="http://schemas.microsoft.com/office/drawing/2014/main" val="1848166869"/>
                    </a:ext>
                  </a:extLst>
                </a:gridCol>
                <a:gridCol w="1009315">
                  <a:extLst>
                    <a:ext uri="{9D8B030D-6E8A-4147-A177-3AD203B41FA5}">
                      <a16:colId xmlns:a16="http://schemas.microsoft.com/office/drawing/2014/main" val="3183077499"/>
                    </a:ext>
                  </a:extLst>
                </a:gridCol>
                <a:gridCol w="1506191">
                  <a:extLst>
                    <a:ext uri="{9D8B030D-6E8A-4147-A177-3AD203B41FA5}">
                      <a16:colId xmlns:a16="http://schemas.microsoft.com/office/drawing/2014/main" val="2541275625"/>
                    </a:ext>
                  </a:extLst>
                </a:gridCol>
                <a:gridCol w="1506191">
                  <a:extLst>
                    <a:ext uri="{9D8B030D-6E8A-4147-A177-3AD203B41FA5}">
                      <a16:colId xmlns:a16="http://schemas.microsoft.com/office/drawing/2014/main" val="2407940828"/>
                    </a:ext>
                  </a:extLst>
                </a:gridCol>
                <a:gridCol w="1386493">
                  <a:extLst>
                    <a:ext uri="{9D8B030D-6E8A-4147-A177-3AD203B41FA5}">
                      <a16:colId xmlns:a16="http://schemas.microsoft.com/office/drawing/2014/main" val="2266366844"/>
                    </a:ext>
                  </a:extLst>
                </a:gridCol>
                <a:gridCol w="1615913">
                  <a:extLst>
                    <a:ext uri="{9D8B030D-6E8A-4147-A177-3AD203B41FA5}">
                      <a16:colId xmlns:a16="http://schemas.microsoft.com/office/drawing/2014/main" val="170401669"/>
                    </a:ext>
                  </a:extLst>
                </a:gridCol>
                <a:gridCol w="1366545">
                  <a:extLst>
                    <a:ext uri="{9D8B030D-6E8A-4147-A177-3AD203B41FA5}">
                      <a16:colId xmlns:a16="http://schemas.microsoft.com/office/drawing/2014/main" val="4110629147"/>
                    </a:ext>
                  </a:extLst>
                </a:gridCol>
                <a:gridCol w="458839">
                  <a:extLst>
                    <a:ext uri="{9D8B030D-6E8A-4147-A177-3AD203B41FA5}">
                      <a16:colId xmlns:a16="http://schemas.microsoft.com/office/drawing/2014/main" val="2090639194"/>
                    </a:ext>
                  </a:extLst>
                </a:gridCol>
                <a:gridCol w="557940">
                  <a:extLst>
                    <a:ext uri="{9D8B030D-6E8A-4147-A177-3AD203B41FA5}">
                      <a16:colId xmlns:a16="http://schemas.microsoft.com/office/drawing/2014/main" val="1489210985"/>
                    </a:ext>
                  </a:extLst>
                </a:gridCol>
                <a:gridCol w="777347">
                  <a:extLst>
                    <a:ext uri="{9D8B030D-6E8A-4147-A177-3AD203B41FA5}">
                      <a16:colId xmlns:a16="http://schemas.microsoft.com/office/drawing/2014/main" val="602859565"/>
                    </a:ext>
                  </a:extLst>
                </a:gridCol>
              </a:tblGrid>
              <a:tr h="256750">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1265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GAP-D-23</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ضعف المنصّة المتاحة للمستخدمين لاستخراج التقارير والتحليلات</a:t>
                      </a:r>
                    </a:p>
                  </a:txBody>
                  <a:tcPr marL="18232" marR="18232" marT="9116" marB="9116" anchor="ctr"/>
                </a:tc>
                <a:tc>
                  <a:txBody>
                    <a:bodyPr/>
                    <a:lstStyle/>
                    <a:p>
                      <a:pPr algn="ctr" rtl="1" fontAlgn="ctr"/>
                      <a:r>
                        <a:rPr lang="ar-AE" sz="1200" b="0" i="0" u="none" strike="noStrike">
                          <a:solidFill>
                            <a:srgbClr val="000000"/>
                          </a:solidFill>
                          <a:effectLst/>
                          <a:latin typeface="Aptos Narrow" panose="020B0004020202020204" pitchFamily="34" charset="0"/>
                        </a:rPr>
                        <a:t>ذكاء الأعمال والتحليلات (9)</a:t>
                      </a:r>
                    </a:p>
                  </a:txBody>
                  <a:tcPr marL="9525" marR="9525" marT="9525" marB="0" anchor="ctr"/>
                </a:tc>
                <a:tc>
                  <a:txBody>
                    <a:bodyPr/>
                    <a:lstStyle/>
                    <a:p>
                      <a:pPr algn="r" rtl="1">
                        <a:buNone/>
                      </a:pPr>
                      <a:r>
                        <a:rPr lang="ar-AE" sz="1200">
                          <a:latin typeface="+mn-lt"/>
                        </a:rPr>
                        <a:t>عدم توفّر منصة متكاملة لتوليد التقارير وتحليل البيانات ذاتيًا دون الحاجة لفرق تقنية</a:t>
                      </a:r>
                    </a:p>
                  </a:txBody>
                  <a:tcPr marL="18232" marR="18232" marT="9116" marB="9116" anchor="ctr"/>
                </a:tc>
                <a:tc>
                  <a:txBody>
                    <a:bodyPr/>
                    <a:lstStyle/>
                    <a:p>
                      <a:pPr algn="r" rtl="1">
                        <a:buNone/>
                      </a:pPr>
                      <a:r>
                        <a:rPr lang="ar-AE" sz="1200">
                          <a:latin typeface="+mn-lt"/>
                        </a:rPr>
                        <a:t>الاعتماد على إدارات تقنية المعلومات لإعداد التقارير بطيء ويعيق سرعة صنع القرار</a:t>
                      </a:r>
                    </a:p>
                  </a:txBody>
                  <a:tcPr marL="18232" marR="18232" marT="9116" marB="9116" anchor="ctr"/>
                </a:tc>
                <a:tc>
                  <a:txBody>
                    <a:bodyPr/>
                    <a:lstStyle/>
                    <a:p>
                      <a:pPr algn="r" rtl="1">
                        <a:buNone/>
                      </a:pPr>
                      <a:r>
                        <a:rPr lang="ar-AE" sz="1200">
                          <a:latin typeface="+mn-lt"/>
                        </a:rPr>
                        <a:t>تطوير منصة تفاعلية للمستخدمين النهائيين (</a:t>
                      </a:r>
                      <a:r>
                        <a:rPr lang="en-US" sz="1200">
                          <a:latin typeface="+mn-lt"/>
                        </a:rPr>
                        <a:t>BI Self-Service) </a:t>
                      </a:r>
                      <a:r>
                        <a:rPr lang="ar-AE" sz="1200">
                          <a:latin typeface="+mn-lt"/>
                        </a:rPr>
                        <a:t>تتيح لهم تحليلات فورية واستخراج التقارير بسهولة</a:t>
                      </a:r>
                    </a:p>
                  </a:txBody>
                  <a:tcPr marL="18232" marR="18232" marT="9116" marB="9116" anchor="ctr"/>
                </a:tc>
                <a:tc>
                  <a:txBody>
                    <a:bodyPr/>
                    <a:lstStyle/>
                    <a:p>
                      <a:pPr algn="r" rtl="1">
                        <a:buNone/>
                      </a:pPr>
                      <a:r>
                        <a:rPr lang="ar-AE" sz="1200">
                          <a:latin typeface="+mn-lt"/>
                        </a:rPr>
                        <a:t>اختيار أداة </a:t>
                      </a:r>
                      <a:r>
                        <a:rPr lang="en-US" sz="1200">
                          <a:latin typeface="+mn-lt"/>
                        </a:rPr>
                        <a:t>BI </a:t>
                      </a:r>
                      <a:r>
                        <a:rPr lang="ar-AE" sz="1200">
                          <a:latin typeface="+mn-lt"/>
                        </a:rPr>
                        <a:t>متخصصة وتأهيل المستخدمين وتوفير مصادر تدريب ودعم</a:t>
                      </a:r>
                    </a:p>
                  </a:txBody>
                  <a:tcPr marL="18232" marR="18232" marT="9116" marB="9116" anchor="ctr"/>
                </a:tc>
                <a:tc>
                  <a:txBody>
                    <a:bodyPr/>
                    <a:lstStyle/>
                    <a:p>
                      <a:pPr algn="ctr" rtl="1">
                        <a:buNone/>
                      </a:pPr>
                      <a:r>
                        <a:rPr lang="ar-AE" sz="1200">
                          <a:latin typeface="+mn-lt"/>
                        </a:rPr>
                        <a:t>متوسطة</a:t>
                      </a:r>
                    </a:p>
                  </a:txBody>
                  <a:tcPr marL="18232" marR="18232" marT="9116" marB="9116" anchor="ctr"/>
                </a:tc>
                <a:tc>
                  <a:txBody>
                    <a:bodyPr/>
                    <a:lstStyle/>
                    <a:p>
                      <a:pPr algn="ctr" rtl="1">
                        <a:buNone/>
                      </a:pPr>
                      <a:r>
                        <a:rPr lang="ar-AE" sz="1200">
                          <a:latin typeface="+mn-lt"/>
                        </a:rPr>
                        <a:t>متوسطة</a:t>
                      </a:r>
                    </a:p>
                  </a:txBody>
                  <a:tcPr marL="18232" marR="18232" marT="9116" marB="9116" anchor="ctr"/>
                </a:tc>
                <a:tc>
                  <a:txBody>
                    <a:bodyPr/>
                    <a:lstStyle/>
                    <a:p>
                      <a:pPr algn="ctr" rtl="1">
                        <a:buNone/>
                      </a:pPr>
                      <a:r>
                        <a:rPr lang="ar-AE" sz="1200" dirty="0">
                          <a:latin typeface="+mn-lt"/>
                        </a:rPr>
                        <a:t>ملف حصر البيانات</a:t>
                      </a:r>
                    </a:p>
                  </a:txBody>
                  <a:tcPr marL="18232" marR="18232" marT="9116" marB="9116" anchor="ctr"/>
                </a:tc>
                <a:extLst>
                  <a:ext uri="{0D108BD9-81ED-4DB2-BD59-A6C34878D82A}">
                    <a16:rowId xmlns:a16="http://schemas.microsoft.com/office/drawing/2014/main" val="3386048539"/>
                  </a:ext>
                </a:extLst>
              </a:tr>
              <a:tr h="10220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GAP-D-24</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غياب مستودع أو دليل مركزي شامل (قاموس بيانات) عن جميع عناصر البيانات المستخدمة</a:t>
                      </a:r>
                    </a:p>
                  </a:txBody>
                  <a:tcPr marL="18232" marR="18232" marT="9116" marB="9116" anchor="ctr"/>
                </a:tc>
                <a:tc>
                  <a:txBody>
                    <a:bodyPr/>
                    <a:lstStyle/>
                    <a:p>
                      <a:pPr algn="ctr" rtl="1" fontAlgn="ctr"/>
                      <a:r>
                        <a:rPr lang="ar-AE" sz="1200" b="0" i="0" u="none" strike="noStrike">
                          <a:solidFill>
                            <a:srgbClr val="000000"/>
                          </a:solidFill>
                          <a:effectLst/>
                          <a:latin typeface="Aptos Narrow" panose="020B0004020202020204" pitchFamily="34" charset="0"/>
                        </a:rPr>
                        <a:t>البيانات الوصفية ودليل البيانات (2)</a:t>
                      </a:r>
                    </a:p>
                  </a:txBody>
                  <a:tcPr marL="9525" marR="9525" marT="9525" marB="0" anchor="ctr"/>
                </a:tc>
                <a:tc>
                  <a:txBody>
                    <a:bodyPr/>
                    <a:lstStyle/>
                    <a:p>
                      <a:pPr algn="r" rtl="1">
                        <a:buNone/>
                      </a:pPr>
                      <a:r>
                        <a:rPr lang="ar-AE" sz="1200">
                          <a:latin typeface="+mn-lt"/>
                        </a:rPr>
                        <a:t>لم تُجمع بيانات عناصر النظام المختلفة في مرجع واحد، ما يصعّب عملية البحث عن خصائص البيانات أو تعريفاتها</a:t>
                      </a:r>
                    </a:p>
                  </a:txBody>
                  <a:tcPr marL="18232" marR="18232" marT="9116" marB="9116" anchor="ctr"/>
                </a:tc>
                <a:tc>
                  <a:txBody>
                    <a:bodyPr/>
                    <a:lstStyle/>
                    <a:p>
                      <a:pPr algn="r" rtl="1">
                        <a:buNone/>
                      </a:pPr>
                      <a:r>
                        <a:rPr lang="ar-AE" sz="1200">
                          <a:latin typeface="+mn-lt"/>
                        </a:rPr>
                        <a:t>التكرار والتضارب في تعريف العناصر وعدم وضوح العلاقات والمسؤوليات</a:t>
                      </a:r>
                    </a:p>
                  </a:txBody>
                  <a:tcPr marL="18232" marR="18232" marT="9116" marB="9116" anchor="ctr"/>
                </a:tc>
                <a:tc>
                  <a:txBody>
                    <a:bodyPr/>
                    <a:lstStyle/>
                    <a:p>
                      <a:pPr algn="r" rtl="1">
                        <a:buNone/>
                      </a:pPr>
                      <a:r>
                        <a:rPr lang="ar-AE" sz="1200">
                          <a:latin typeface="+mn-lt"/>
                        </a:rPr>
                        <a:t>إنشاء قاموس بيانات مركزي وتحديثه دوريًا، ما يسهّل معرفة الخصائص والقيود والمسؤولين عن البيانات</a:t>
                      </a:r>
                    </a:p>
                  </a:txBody>
                  <a:tcPr marL="18232" marR="18232" marT="9116" marB="9116" anchor="ctr"/>
                </a:tc>
                <a:tc>
                  <a:txBody>
                    <a:bodyPr/>
                    <a:lstStyle/>
                    <a:p>
                      <a:pPr algn="r" rtl="1">
                        <a:buNone/>
                      </a:pPr>
                      <a:r>
                        <a:rPr lang="ar-AE" sz="1200">
                          <a:latin typeface="+mn-lt"/>
                        </a:rPr>
                        <a:t>ربط القاموس بجميع الأنظمة واعتماد آليات تزامن أوتوماتيكية لأي تغيير في البنية</a:t>
                      </a:r>
                    </a:p>
                  </a:txBody>
                  <a:tcPr marL="18232" marR="18232" marT="9116" marB="9116" anchor="ctr"/>
                </a:tc>
                <a:tc>
                  <a:txBody>
                    <a:bodyPr/>
                    <a:lstStyle/>
                    <a:p>
                      <a:pPr algn="ctr" rtl="1">
                        <a:buNone/>
                      </a:pPr>
                      <a:r>
                        <a:rPr lang="ar-AE" sz="1200">
                          <a:latin typeface="+mn-lt"/>
                        </a:rPr>
                        <a:t>متوسطة</a:t>
                      </a:r>
                    </a:p>
                  </a:txBody>
                  <a:tcPr marL="18232" marR="18232" marT="9116" marB="9116" anchor="ctr"/>
                </a:tc>
                <a:tc>
                  <a:txBody>
                    <a:bodyPr/>
                    <a:lstStyle/>
                    <a:p>
                      <a:pPr algn="ctr" rtl="1">
                        <a:buNone/>
                      </a:pPr>
                      <a:r>
                        <a:rPr lang="ar-AE" sz="1200">
                          <a:latin typeface="+mn-lt"/>
                        </a:rPr>
                        <a:t>متوسطة</a:t>
                      </a:r>
                    </a:p>
                  </a:txBody>
                  <a:tcPr marL="18232" marR="18232" marT="9116" marB="9116" anchor="ctr"/>
                </a:tc>
                <a:tc>
                  <a:txBody>
                    <a:bodyPr/>
                    <a:lstStyle/>
                    <a:p>
                      <a:pPr algn="ctr" rtl="1">
                        <a:buNone/>
                      </a:pPr>
                      <a:r>
                        <a:rPr lang="ar-AE" sz="1200" dirty="0">
                          <a:latin typeface="+mn-lt"/>
                        </a:rPr>
                        <a:t>ملف حصر البيانات</a:t>
                      </a:r>
                    </a:p>
                  </a:txBody>
                  <a:tcPr marL="18232" marR="18232" marT="9116" marB="9116" anchor="ctr"/>
                </a:tc>
                <a:extLst>
                  <a:ext uri="{0D108BD9-81ED-4DB2-BD59-A6C34878D82A}">
                    <a16:rowId xmlns:a16="http://schemas.microsoft.com/office/drawing/2014/main" val="3067900995"/>
                  </a:ext>
                </a:extLst>
              </a:tr>
              <a:tr h="11265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GAP-D-25</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عدم اعتماد تصنيف واضح للبيانات (مرجعية، وصفية، أساسية)</a:t>
                      </a:r>
                    </a:p>
                  </a:txBody>
                  <a:tcPr marL="18232" marR="18232" marT="9116" marB="9116" anchor="ctr"/>
                </a:tc>
                <a:tc>
                  <a:txBody>
                    <a:bodyPr/>
                    <a:lstStyle/>
                    <a:p>
                      <a:pPr algn="ctr" rtl="1" fontAlgn="ctr"/>
                      <a:r>
                        <a:rPr lang="ar-AE" sz="1200" b="0" i="0" u="none" strike="noStrike">
                          <a:solidFill>
                            <a:srgbClr val="000000"/>
                          </a:solidFill>
                          <a:effectLst/>
                          <a:latin typeface="Aptos Narrow" panose="020B0004020202020204" pitchFamily="34" charset="0"/>
                        </a:rPr>
                        <a:t>تصنيف البيانات (13)</a:t>
                      </a:r>
                    </a:p>
                  </a:txBody>
                  <a:tcPr marL="9525" marR="9525" marT="9525" marB="0" anchor="ctr"/>
                </a:tc>
                <a:tc>
                  <a:txBody>
                    <a:bodyPr/>
                    <a:lstStyle/>
                    <a:p>
                      <a:pPr algn="r" rtl="1">
                        <a:buNone/>
                      </a:pPr>
                      <a:r>
                        <a:rPr lang="ar-AE" sz="1200" dirty="0">
                          <a:latin typeface="+mn-lt"/>
                        </a:rPr>
                        <a:t>اختلاط فئات البيانات في الأنظمة دون تحديد نوعها أو استخداماتها</a:t>
                      </a:r>
                    </a:p>
                  </a:txBody>
                  <a:tcPr marL="18232" marR="18232" marT="9116" marB="9116" anchor="ctr"/>
                </a:tc>
                <a:tc>
                  <a:txBody>
                    <a:bodyPr/>
                    <a:lstStyle/>
                    <a:p>
                      <a:pPr algn="r" rtl="1">
                        <a:buNone/>
                      </a:pPr>
                      <a:r>
                        <a:rPr lang="ar-AE" sz="1200" dirty="0">
                          <a:latin typeface="+mn-lt"/>
                        </a:rPr>
                        <a:t>صعوبة إدارة البيانات، وزيادة التكرار، وتعقيد عمليات الحذف أو الأرشفة</a:t>
                      </a:r>
                    </a:p>
                  </a:txBody>
                  <a:tcPr marL="18232" marR="18232" marT="9116" marB="9116" anchor="ctr"/>
                </a:tc>
                <a:tc>
                  <a:txBody>
                    <a:bodyPr/>
                    <a:lstStyle/>
                    <a:p>
                      <a:pPr algn="r" rtl="1">
                        <a:buNone/>
                      </a:pPr>
                      <a:r>
                        <a:rPr lang="ar-AE" sz="1200" dirty="0">
                          <a:latin typeface="+mn-lt"/>
                        </a:rPr>
                        <a:t>تطوير واعتماد نهج تصنيف يشمل البيانات المرجعية والوصفية والأساسية وإلزام كافة الإدارات بتطبيقه</a:t>
                      </a:r>
                    </a:p>
                  </a:txBody>
                  <a:tcPr marL="18232" marR="18232" marT="9116" marB="9116" anchor="ctr"/>
                </a:tc>
                <a:tc>
                  <a:txBody>
                    <a:bodyPr/>
                    <a:lstStyle/>
                    <a:p>
                      <a:pPr algn="r" rtl="1">
                        <a:buNone/>
                      </a:pPr>
                      <a:r>
                        <a:rPr lang="ar-AE" sz="1200" dirty="0">
                          <a:latin typeface="+mn-lt"/>
                        </a:rPr>
                        <a:t>بناء سياسة تصنيف مدعومة بأدوات فنية لضمان الالتزام والتحديث المستمر</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a:latin typeface="+mn-lt"/>
                        </a:rPr>
                        <a:t>عالية</a:t>
                      </a:r>
                    </a:p>
                  </a:txBody>
                  <a:tcPr marL="18232" marR="18232" marT="9116" marB="9116" anchor="ctr"/>
                </a:tc>
                <a:tc>
                  <a:txBody>
                    <a:bodyPr/>
                    <a:lstStyle/>
                    <a:p>
                      <a:pPr algn="ctr" rtl="1">
                        <a:buNone/>
                      </a:pPr>
                      <a:r>
                        <a:rPr lang="ar-AE" sz="1200" dirty="0"/>
                        <a:t>وثيقة الوضع الحالي </a:t>
                      </a:r>
                      <a:endParaRPr lang="ar-AE" sz="1200" dirty="0">
                        <a:latin typeface="+mn-lt"/>
                      </a:endParaRPr>
                    </a:p>
                  </a:txBody>
                  <a:tcPr marL="18232" marR="18232" marT="9116" marB="9116" anchor="ctr"/>
                </a:tc>
                <a:extLst>
                  <a:ext uri="{0D108BD9-81ED-4DB2-BD59-A6C34878D82A}">
                    <a16:rowId xmlns:a16="http://schemas.microsoft.com/office/drawing/2014/main" val="4205275932"/>
                  </a:ext>
                </a:extLst>
              </a:tr>
              <a:tr h="13743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GAP-D-26</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نقص التقييم المستمر لجودة البيانات (التكرار، الإكمال، التكامل) وتعيين مسؤول مختص</a:t>
                      </a:r>
                    </a:p>
                  </a:txBody>
                  <a:tcPr marL="18232" marR="18232" marT="9116" marB="9116" anchor="ctr"/>
                </a:tc>
                <a:tc>
                  <a:txBody>
                    <a:bodyPr/>
                    <a:lstStyle/>
                    <a:p>
                      <a:pPr algn="ctr" rtl="1" fontAlgn="ctr"/>
                      <a:r>
                        <a:rPr lang="ar-AE" sz="1200" b="0" i="0" u="none" strike="noStrike" dirty="0">
                          <a:solidFill>
                            <a:srgbClr val="000000"/>
                          </a:solidFill>
                          <a:effectLst/>
                          <a:latin typeface="Aptos Narrow" panose="020B0004020202020204" pitchFamily="34" charset="0"/>
                        </a:rPr>
                        <a:t>جودة البيانات (3)</a:t>
                      </a:r>
                    </a:p>
                  </a:txBody>
                  <a:tcPr marL="9525" marR="9525" marT="9525" marB="0" anchor="ctr"/>
                </a:tc>
                <a:tc>
                  <a:txBody>
                    <a:bodyPr/>
                    <a:lstStyle/>
                    <a:p>
                      <a:pPr algn="r" rtl="1">
                        <a:buNone/>
                      </a:pPr>
                      <a:r>
                        <a:rPr lang="ar-AE" sz="1200" dirty="0">
                          <a:latin typeface="+mn-lt"/>
                        </a:rPr>
                        <a:t>لا توجد عملية تفتيش دوري للبيانات للوقوف على المشاكل المتعلقة بالتكرار أو النقص أو عدم الترابط</a:t>
                      </a:r>
                    </a:p>
                  </a:txBody>
                  <a:tcPr marL="18232" marR="18232" marT="9116" marB="9116" anchor="ctr"/>
                </a:tc>
                <a:tc>
                  <a:txBody>
                    <a:bodyPr/>
                    <a:lstStyle/>
                    <a:p>
                      <a:pPr algn="r" rtl="1">
                        <a:buNone/>
                      </a:pPr>
                      <a:r>
                        <a:rPr lang="ar-AE" sz="1200" dirty="0">
                          <a:latin typeface="+mn-lt"/>
                        </a:rPr>
                        <a:t>صعوبة اكتشاف الأخطاء المتكررة وضعف في ثقة التقارير الصادرة عن مختلف الأنظمة</a:t>
                      </a:r>
                    </a:p>
                  </a:txBody>
                  <a:tcPr marL="18232" marR="18232" marT="9116" marB="9116" anchor="ctr"/>
                </a:tc>
                <a:tc>
                  <a:txBody>
                    <a:bodyPr/>
                    <a:lstStyle/>
                    <a:p>
                      <a:pPr algn="r" rtl="1">
                        <a:buNone/>
                      </a:pPr>
                      <a:r>
                        <a:rPr lang="ar-AE" sz="1200" dirty="0">
                          <a:latin typeface="+mn-lt"/>
                        </a:rPr>
                        <a:t>إجراء تقييمات دورية لجودة البيانات واعتماد مؤشرات أداء واضحة، وتعيين مسؤول مؤهل لإدارة جودة البيانات</a:t>
                      </a:r>
                    </a:p>
                  </a:txBody>
                  <a:tcPr marL="18232" marR="18232" marT="9116" marB="9116" anchor="ctr"/>
                </a:tc>
                <a:tc>
                  <a:txBody>
                    <a:bodyPr/>
                    <a:lstStyle/>
                    <a:p>
                      <a:pPr algn="r" rtl="1">
                        <a:buNone/>
                      </a:pPr>
                      <a:r>
                        <a:rPr lang="ar-AE" sz="1200" dirty="0">
                          <a:latin typeface="+mn-lt"/>
                        </a:rPr>
                        <a:t>استعمال أدوات مخصصة لفحص الجودة مع نشر تقارير دورية بالإجراءات التصحيحية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a:t>
                      </a:r>
                    </a:p>
                  </a:txBody>
                  <a:tcPr marL="18232" marR="18232" marT="9116" marB="9116" anchor="ctr"/>
                </a:tc>
                <a:extLst>
                  <a:ext uri="{0D108BD9-81ED-4DB2-BD59-A6C34878D82A}">
                    <a16:rowId xmlns:a16="http://schemas.microsoft.com/office/drawing/2014/main" val="152741407"/>
                  </a:ext>
                </a:extLst>
              </a:tr>
            </a:tbl>
          </a:graphicData>
        </a:graphic>
      </p:graphicFrame>
    </p:spTree>
    <p:extLst>
      <p:ext uri="{BB962C8B-B14F-4D97-AF65-F5344CB8AC3E}">
        <p14:creationId xmlns:p14="http://schemas.microsoft.com/office/powerpoint/2010/main" val="311823851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8D2ED-1B09-5C42-B60B-978E22749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F319A-154C-FE23-058E-E1AC5B48CD29}"/>
              </a:ext>
            </a:extLst>
          </p:cNvPr>
          <p:cNvSpPr>
            <a:spLocks noGrp="1"/>
          </p:cNvSpPr>
          <p:nvPr>
            <p:ph type="title"/>
          </p:nvPr>
        </p:nvSpPr>
        <p:spPr/>
        <p:txBody>
          <a:bodyPr/>
          <a:lstStyle/>
          <a:p>
            <a:r>
              <a:rPr lang="ar-SA" dirty="0"/>
              <a:t>ملخص تحليل الفجوات</a:t>
            </a:r>
            <a:endParaRPr lang="en-AE" dirty="0"/>
          </a:p>
        </p:txBody>
      </p:sp>
      <p:sp>
        <p:nvSpPr>
          <p:cNvPr id="3" name="Slide Number Placeholder 2">
            <a:extLst>
              <a:ext uri="{FF2B5EF4-FFF2-40B4-BE49-F238E27FC236}">
                <a16:creationId xmlns:a16="http://schemas.microsoft.com/office/drawing/2014/main" id="{162BCF6F-2240-D3C0-4488-8F46FC6B6504}"/>
              </a:ext>
            </a:extLst>
          </p:cNvPr>
          <p:cNvSpPr>
            <a:spLocks noGrp="1"/>
          </p:cNvSpPr>
          <p:nvPr>
            <p:ph type="sldNum" sz="quarter" idx="12"/>
          </p:nvPr>
        </p:nvSpPr>
        <p:spPr/>
        <p:txBody>
          <a:bodyPr/>
          <a:lstStyle/>
          <a:p>
            <a:fld id="{0BE4EC83-A869-464E-AE9F-881796FB085E}" type="slidenum">
              <a:rPr lang="en-US" smtClean="0"/>
              <a:t>65</a:t>
            </a:fld>
            <a:endParaRPr lang="en-US"/>
          </a:p>
        </p:txBody>
      </p:sp>
      <p:graphicFrame>
        <p:nvGraphicFramePr>
          <p:cNvPr id="4" name="Table 3">
            <a:extLst>
              <a:ext uri="{FF2B5EF4-FFF2-40B4-BE49-F238E27FC236}">
                <a16:creationId xmlns:a16="http://schemas.microsoft.com/office/drawing/2014/main" id="{ED314E2A-C45A-6FEF-E1B6-5478312171DA}"/>
              </a:ext>
            </a:extLst>
          </p:cNvPr>
          <p:cNvGraphicFramePr>
            <a:graphicFrameLocks noGrp="1"/>
          </p:cNvGraphicFramePr>
          <p:nvPr>
            <p:extLst>
              <p:ext uri="{D42A27DB-BD31-4B8C-83A1-F6EECF244321}">
                <p14:modId xmlns:p14="http://schemas.microsoft.com/office/powerpoint/2010/main" val="2691829312"/>
              </p:ext>
            </p:extLst>
          </p:nvPr>
        </p:nvGraphicFramePr>
        <p:xfrm>
          <a:off x="621453" y="1158113"/>
          <a:ext cx="10960948" cy="4780571"/>
        </p:xfrm>
        <a:graphic>
          <a:graphicData uri="http://schemas.openxmlformats.org/drawingml/2006/table">
            <a:tbl>
              <a:tblPr rtl="1" firstRow="1" bandRow="1">
                <a:tableStyleId>{B301B821-A1FF-4177-AEE7-76D212191A09}</a:tableStyleId>
              </a:tblPr>
              <a:tblGrid>
                <a:gridCol w="776172">
                  <a:extLst>
                    <a:ext uri="{9D8B030D-6E8A-4147-A177-3AD203B41FA5}">
                      <a16:colId xmlns:a16="http://schemas.microsoft.com/office/drawing/2014/main" val="1848166869"/>
                    </a:ext>
                  </a:extLst>
                </a:gridCol>
                <a:gridCol w="1009315">
                  <a:extLst>
                    <a:ext uri="{9D8B030D-6E8A-4147-A177-3AD203B41FA5}">
                      <a16:colId xmlns:a16="http://schemas.microsoft.com/office/drawing/2014/main" val="3183077499"/>
                    </a:ext>
                  </a:extLst>
                </a:gridCol>
                <a:gridCol w="1154359">
                  <a:extLst>
                    <a:ext uri="{9D8B030D-6E8A-4147-A177-3AD203B41FA5}">
                      <a16:colId xmlns:a16="http://schemas.microsoft.com/office/drawing/2014/main" val="2994891593"/>
                    </a:ext>
                  </a:extLst>
                </a:gridCol>
                <a:gridCol w="1484671">
                  <a:extLst>
                    <a:ext uri="{9D8B030D-6E8A-4147-A177-3AD203B41FA5}">
                      <a16:colId xmlns:a16="http://schemas.microsoft.com/office/drawing/2014/main" val="2407940828"/>
                    </a:ext>
                  </a:extLst>
                </a:gridCol>
                <a:gridCol w="1602658">
                  <a:extLst>
                    <a:ext uri="{9D8B030D-6E8A-4147-A177-3AD203B41FA5}">
                      <a16:colId xmlns:a16="http://schemas.microsoft.com/office/drawing/2014/main" val="2266366844"/>
                    </a:ext>
                  </a:extLst>
                </a:gridCol>
                <a:gridCol w="1415845">
                  <a:extLst>
                    <a:ext uri="{9D8B030D-6E8A-4147-A177-3AD203B41FA5}">
                      <a16:colId xmlns:a16="http://schemas.microsoft.com/office/drawing/2014/main" val="170401669"/>
                    </a:ext>
                  </a:extLst>
                </a:gridCol>
                <a:gridCol w="1723802">
                  <a:extLst>
                    <a:ext uri="{9D8B030D-6E8A-4147-A177-3AD203B41FA5}">
                      <a16:colId xmlns:a16="http://schemas.microsoft.com/office/drawing/2014/main" val="4110629147"/>
                    </a:ext>
                  </a:extLst>
                </a:gridCol>
                <a:gridCol w="458839">
                  <a:extLst>
                    <a:ext uri="{9D8B030D-6E8A-4147-A177-3AD203B41FA5}">
                      <a16:colId xmlns:a16="http://schemas.microsoft.com/office/drawing/2014/main" val="2090639194"/>
                    </a:ext>
                  </a:extLst>
                </a:gridCol>
                <a:gridCol w="557940">
                  <a:extLst>
                    <a:ext uri="{9D8B030D-6E8A-4147-A177-3AD203B41FA5}">
                      <a16:colId xmlns:a16="http://schemas.microsoft.com/office/drawing/2014/main" val="1489210985"/>
                    </a:ext>
                  </a:extLst>
                </a:gridCol>
                <a:gridCol w="777347">
                  <a:extLst>
                    <a:ext uri="{9D8B030D-6E8A-4147-A177-3AD203B41FA5}">
                      <a16:colId xmlns:a16="http://schemas.microsoft.com/office/drawing/2014/main" val="602859565"/>
                    </a:ext>
                  </a:extLst>
                </a:gridCol>
              </a:tblGrid>
              <a:tr h="263726">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0847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GAP-D-27</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استمرار وجود قواعد بيانات غير مستخدمة وعدم أرشفتها</a:t>
                      </a:r>
                    </a:p>
                  </a:txBody>
                  <a:tcPr marL="18232" marR="18232" marT="9116" marB="9116" anchor="ctr"/>
                </a:tc>
                <a:tc>
                  <a:txBody>
                    <a:bodyPr/>
                    <a:lstStyle/>
                    <a:p>
                      <a:pPr algn="ctr" rtl="1" fontAlgn="ctr"/>
                      <a:r>
                        <a:rPr lang="ar-AE" sz="1200" b="0" i="0" u="none" strike="noStrike">
                          <a:solidFill>
                            <a:srgbClr val="000000"/>
                          </a:solidFill>
                          <a:effectLst/>
                          <a:latin typeface="Aptos Narrow" panose="020B0004020202020204" pitchFamily="34" charset="0"/>
                        </a:rPr>
                        <a:t>تخزين البيانات (4)</a:t>
                      </a:r>
                    </a:p>
                  </a:txBody>
                  <a:tcPr marL="9525" marR="9525" marT="9525" marB="0" anchor="ctr"/>
                </a:tc>
                <a:tc>
                  <a:txBody>
                    <a:bodyPr/>
                    <a:lstStyle/>
                    <a:p>
                      <a:pPr algn="r" rtl="1">
                        <a:buNone/>
                      </a:pPr>
                      <a:r>
                        <a:rPr lang="ar-AE" sz="1200">
                          <a:latin typeface="+mn-lt"/>
                        </a:rPr>
                        <a:t>عدم ترشيد الموارد واستمرار إنفاق الجهد والتخزين على قواعد أو سجلات لا قيمة فعلية لها</a:t>
                      </a:r>
                    </a:p>
                  </a:txBody>
                  <a:tcPr marL="18232" marR="18232" marT="9116" marB="9116" anchor="ctr"/>
                </a:tc>
                <a:tc>
                  <a:txBody>
                    <a:bodyPr/>
                    <a:lstStyle/>
                    <a:p>
                      <a:pPr algn="r" rtl="1">
                        <a:buNone/>
                      </a:pPr>
                      <a:r>
                        <a:rPr lang="ar-AE" sz="1200">
                          <a:latin typeface="+mn-lt"/>
                        </a:rPr>
                        <a:t>ازدحام الخوادم وزيادة التكلفة التشغيلية وصعوبة التركيز على البيانات المهمة</a:t>
                      </a:r>
                    </a:p>
                  </a:txBody>
                  <a:tcPr marL="18232" marR="18232" marT="9116" marB="9116" anchor="ctr"/>
                </a:tc>
                <a:tc>
                  <a:txBody>
                    <a:bodyPr/>
                    <a:lstStyle/>
                    <a:p>
                      <a:pPr algn="r" rtl="1">
                        <a:buNone/>
                      </a:pPr>
                      <a:r>
                        <a:rPr lang="ar-AE" sz="1200" dirty="0">
                          <a:latin typeface="+mn-lt"/>
                        </a:rPr>
                        <a:t>أرشفة أو إغلاق القواعد غير المستخدمة بعد تقييم فاعليتها وأخذ نسخة منها أو تصديرها للأرشيف</a:t>
                      </a:r>
                    </a:p>
                  </a:txBody>
                  <a:tcPr marL="18232" marR="18232" marT="9116" marB="9116" anchor="ctr"/>
                </a:tc>
                <a:tc>
                  <a:txBody>
                    <a:bodyPr/>
                    <a:lstStyle/>
                    <a:p>
                      <a:pPr algn="r" rtl="1">
                        <a:buNone/>
                      </a:pPr>
                      <a:r>
                        <a:rPr lang="ar-AE" sz="1200" dirty="0">
                          <a:latin typeface="+mn-lt"/>
                        </a:rPr>
                        <a:t>وضع آلية مرجعية تحدد صلاحية الاستخدام وإجراءات الغلق أو الأرشفة</a:t>
                      </a:r>
                    </a:p>
                  </a:txBody>
                  <a:tcPr marL="18232" marR="18232" marT="9116" marB="9116" anchor="ctr"/>
                </a:tc>
                <a:tc>
                  <a:txBody>
                    <a:bodyPr/>
                    <a:lstStyle/>
                    <a:p>
                      <a:pPr algn="ctr" rtl="1">
                        <a:buNone/>
                      </a:pPr>
                      <a:r>
                        <a:rPr lang="ar-AE" sz="120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18232" marR="18232" marT="9116" marB="9116" anchor="ctr"/>
                </a:tc>
                <a:extLst>
                  <a:ext uri="{0D108BD9-81ED-4DB2-BD59-A6C34878D82A}">
                    <a16:rowId xmlns:a16="http://schemas.microsoft.com/office/drawing/2014/main" val="3386048539"/>
                  </a:ext>
                </a:extLst>
              </a:tr>
              <a:tr h="9069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GAP-D-28</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a:latin typeface="+mn-lt"/>
                        </a:rPr>
                        <a:t>غياب مؤشرات أداء نمذجة البيانات (قياس فعالية النماذج وجودتها)</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النمذجة وهيكلة البيانات (6)</a:t>
                      </a:r>
                    </a:p>
                  </a:txBody>
                  <a:tcPr marL="9525" marR="9525" marT="9525" marB="0" anchor="ctr"/>
                </a:tc>
                <a:tc>
                  <a:txBody>
                    <a:bodyPr/>
                    <a:lstStyle/>
                    <a:p>
                      <a:pPr algn="r" rtl="1">
                        <a:buNone/>
                      </a:pPr>
                      <a:r>
                        <a:rPr lang="ar-AE" sz="1200">
                          <a:latin typeface="+mn-lt"/>
                        </a:rPr>
                        <a:t>لا توجد معايير كمية أو نوعية لقياس مدى فعالية النماذج ومدى كفاءتها في تلبية الأهداف الاستراتيجية</a:t>
                      </a:r>
                    </a:p>
                  </a:txBody>
                  <a:tcPr marL="18232" marR="18232" marT="9116" marB="9116" anchor="ctr"/>
                </a:tc>
                <a:tc>
                  <a:txBody>
                    <a:bodyPr/>
                    <a:lstStyle/>
                    <a:p>
                      <a:pPr algn="r" rtl="1">
                        <a:buNone/>
                      </a:pPr>
                      <a:r>
                        <a:rPr lang="ar-AE" sz="1200">
                          <a:latin typeface="+mn-lt"/>
                        </a:rPr>
                        <a:t>عدم القدرة على تقييم ما إذا كانت النماذج تلبي الاحتياجات، وضعف التحسين المستمر</a:t>
                      </a:r>
                    </a:p>
                  </a:txBody>
                  <a:tcPr marL="18232" marR="18232" marT="9116" marB="9116" anchor="ctr"/>
                </a:tc>
                <a:tc>
                  <a:txBody>
                    <a:bodyPr/>
                    <a:lstStyle/>
                    <a:p>
                      <a:pPr algn="r" rtl="1">
                        <a:buNone/>
                      </a:pPr>
                      <a:r>
                        <a:rPr lang="ar-AE" sz="1200">
                          <a:latin typeface="+mn-lt"/>
                        </a:rPr>
                        <a:t>اعتماد مجموعة من مؤشرات الأداء تقيس مدى دقة النماذج وكفاءتها وتحسينها دوريًا</a:t>
                      </a:r>
                    </a:p>
                  </a:txBody>
                  <a:tcPr marL="18232" marR="18232" marT="9116" marB="9116" anchor="ctr"/>
                </a:tc>
                <a:tc>
                  <a:txBody>
                    <a:bodyPr/>
                    <a:lstStyle/>
                    <a:p>
                      <a:pPr algn="r" rtl="1">
                        <a:buNone/>
                      </a:pPr>
                      <a:r>
                        <a:rPr lang="ar-AE" sz="1200" dirty="0">
                          <a:latin typeface="+mn-lt"/>
                        </a:rPr>
                        <a:t>جمع بيانات الأداء ونشر نتائج التقييم والاقتراحات التطويرية ضمن تقارير دورية</a:t>
                      </a:r>
                    </a:p>
                  </a:txBody>
                  <a:tcPr marL="18232" marR="18232" marT="9116" marB="9116" anchor="ctr"/>
                </a:tc>
                <a:tc>
                  <a:txBody>
                    <a:bodyPr/>
                    <a:lstStyle/>
                    <a:p>
                      <a:pPr algn="ctr" rtl="1">
                        <a:buNone/>
                      </a:pPr>
                      <a:r>
                        <a:rPr lang="ar-AE" sz="120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18232" marR="18232" marT="9116" marB="9116" anchor="ctr"/>
                </a:tc>
                <a:extLst>
                  <a:ext uri="{0D108BD9-81ED-4DB2-BD59-A6C34878D82A}">
                    <a16:rowId xmlns:a16="http://schemas.microsoft.com/office/drawing/2014/main" val="3067900995"/>
                  </a:ext>
                </a:extLst>
              </a:tr>
              <a:tr h="9069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 GAP-D-29</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kern="1200" dirty="0">
                          <a:solidFill>
                            <a:schemeClr val="dk1"/>
                          </a:solidFill>
                          <a:latin typeface="+mn-lt"/>
                          <a:ea typeface="+mn-ea"/>
                          <a:cs typeface="+mn-cs"/>
                        </a:rPr>
                        <a:t>عدم تحديث وتوثيق كيانات البيانات المفتوحة بانتظام</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البيانات المفتوحة (11)</a:t>
                      </a:r>
                    </a:p>
                    <a:p>
                      <a:pPr marL="0" marR="0" lvl="0" indent="0" algn="ctr" defTabSz="914400" rtl="1" eaLnBrk="1" fontAlgn="ctr" latinLnBrk="0" hangingPunct="1">
                        <a:lnSpc>
                          <a:spcPct val="100000"/>
                        </a:lnSpc>
                        <a:spcBef>
                          <a:spcPts val="0"/>
                        </a:spcBef>
                        <a:spcAft>
                          <a:spcPts val="0"/>
                        </a:spcAft>
                        <a:buClrTx/>
                        <a:buSzTx/>
                        <a:buFontTx/>
                        <a:buNone/>
                        <a:tabLst/>
                        <a:defRPr/>
                      </a:pPr>
                      <a:r>
                        <a:rPr lang="ar-AE" sz="1200" b="0" i="0" u="none" strike="noStrike" kern="1200" dirty="0">
                          <a:solidFill>
                            <a:srgbClr val="000000"/>
                          </a:solidFill>
                          <a:effectLst/>
                          <a:latin typeface="Aptos Narrow" panose="020B0004020202020204" pitchFamily="34" charset="0"/>
                          <a:ea typeface="+mn-ea"/>
                          <a:cs typeface="+mn-cs"/>
                        </a:rPr>
                        <a:t>حرية المعلومات (12)</a:t>
                      </a:r>
                    </a:p>
                    <a:p>
                      <a:pPr algn="ctr" rtl="1" fontAlgn="ctr"/>
                      <a:endParaRPr lang="ar-AE" sz="1200" b="0" i="0" u="none" strike="noStrike" kern="1200" dirty="0">
                        <a:solidFill>
                          <a:srgbClr val="000000"/>
                        </a:solidFill>
                        <a:effectLst/>
                        <a:latin typeface="Aptos Narrow" panose="020B0004020202020204" pitchFamily="34" charset="0"/>
                        <a:ea typeface="+mn-ea"/>
                        <a:cs typeface="+mn-cs"/>
                      </a:endParaRPr>
                    </a:p>
                  </a:txBody>
                  <a:tcPr marL="9525" marR="9525" marT="9525" marB="0" anchor="ctr"/>
                </a:tc>
                <a:tc>
                  <a:txBody>
                    <a:bodyPr/>
                    <a:lstStyle/>
                    <a:p>
                      <a:pPr algn="r" rtl="1">
                        <a:buNone/>
                      </a:pPr>
                      <a:r>
                        <a:rPr lang="ar-AE" sz="1200" kern="1200" dirty="0">
                          <a:solidFill>
                            <a:schemeClr val="dk1"/>
                          </a:solidFill>
                          <a:latin typeface="+mn-lt"/>
                          <a:ea typeface="+mn-ea"/>
                          <a:cs typeface="+mn-cs"/>
                        </a:rPr>
                        <a:t>نشر البيانات المفتوحة بشكل محدود أو قديم دون تحديثها أو وصفها بشكل كاف</a:t>
                      </a:r>
                    </a:p>
                  </a:txBody>
                  <a:tcPr marL="18232" marR="18232" marT="9116" marB="9116" anchor="ctr"/>
                </a:tc>
                <a:tc>
                  <a:txBody>
                    <a:bodyPr/>
                    <a:lstStyle/>
                    <a:p>
                      <a:pPr algn="r" rtl="1">
                        <a:buNone/>
                      </a:pPr>
                      <a:r>
                        <a:rPr lang="ar-AE" sz="1200" dirty="0">
                          <a:latin typeface="+mn-lt"/>
                        </a:rPr>
                        <a:t>تراجع ثقة المستفيدين وضعف الاستفادة من البيانات المفتوحة في المبادرات أو الدراسات البحثية</a:t>
                      </a:r>
                    </a:p>
                  </a:txBody>
                  <a:tcPr marL="18232" marR="18232" marT="9116" marB="9116" anchor="ctr"/>
                </a:tc>
                <a:tc>
                  <a:txBody>
                    <a:bodyPr/>
                    <a:lstStyle/>
                    <a:p>
                      <a:pPr algn="r" rtl="1">
                        <a:buNone/>
                      </a:pPr>
                      <a:r>
                        <a:rPr lang="ar-AE" sz="1200" dirty="0">
                          <a:latin typeface="+mn-lt"/>
                        </a:rPr>
                        <a:t>وضع جدول زمني منتظم لتحديث الوثائق والكيانات المفتوحة، مع تحديد المسؤول عن إدارتها</a:t>
                      </a:r>
                    </a:p>
                  </a:txBody>
                  <a:tcPr marL="18232" marR="18232" marT="9116" marB="9116" anchor="ctr"/>
                </a:tc>
                <a:tc>
                  <a:txBody>
                    <a:bodyPr/>
                    <a:lstStyle/>
                    <a:p>
                      <a:pPr algn="r" rtl="1">
                        <a:buNone/>
                      </a:pPr>
                      <a:r>
                        <a:rPr lang="ar-AE" sz="1200" dirty="0">
                          <a:latin typeface="+mn-lt"/>
                        </a:rPr>
                        <a:t>إنشاء بوابة إلكترونية للبيانات المفتوحة وإصدار تحديثات دورية لها</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a:t>
                      </a:r>
                    </a:p>
                  </a:txBody>
                  <a:tcPr marL="18232" marR="18232" marT="9116" marB="9116" anchor="ctr"/>
                </a:tc>
                <a:extLst>
                  <a:ext uri="{0D108BD9-81ED-4DB2-BD59-A6C34878D82A}">
                    <a16:rowId xmlns:a16="http://schemas.microsoft.com/office/drawing/2014/main" val="4205275932"/>
                  </a:ext>
                </a:extLst>
              </a:tr>
              <a:tr h="161826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 GAP-D-30</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r>
                        <a:rPr lang="ar-AE" sz="1200" kern="1200" dirty="0">
                          <a:solidFill>
                            <a:schemeClr val="dk1"/>
                          </a:solidFill>
                          <a:latin typeface="+mn-lt"/>
                          <a:ea typeface="+mn-ea"/>
                          <a:cs typeface="+mn-cs"/>
                        </a:rPr>
                        <a:t>ضعف التدريب والتوعية بإدارة البيانات وحوكمتها</a:t>
                      </a:r>
                    </a:p>
                    <a:p>
                      <a:pPr algn="r" rtl="1">
                        <a:buNone/>
                      </a:pPr>
                      <a:endParaRPr lang="ar-AE" sz="1200" kern="1200" dirty="0">
                        <a:solidFill>
                          <a:schemeClr val="dk1"/>
                        </a:solidFill>
                        <a:latin typeface="+mn-lt"/>
                        <a:ea typeface="+mn-ea"/>
                        <a:cs typeface="+mn-cs"/>
                      </a:endParaRPr>
                    </a:p>
                  </a:txBody>
                  <a:tcPr marL="18232" marR="18232" marT="9116" marB="9116" anchor="ctr"/>
                </a:tc>
                <a:tc>
                  <a:txBody>
                    <a:bodyPr/>
                    <a:lstStyle/>
                    <a:p>
                      <a:pPr marL="0" algn="ctr" defTabSz="914400" rtl="1" eaLnBrk="1" fontAlgn="ctr" latinLnBrk="0" hangingPunct="1"/>
                      <a:r>
                        <a:rPr lang="ar-SA" sz="1200" b="0" i="0" u="none" strike="noStrike" kern="1200" dirty="0">
                          <a:solidFill>
                            <a:srgbClr val="000000"/>
                          </a:solidFill>
                          <a:effectLst/>
                          <a:latin typeface="Aptos Narrow" panose="020B0004020202020204" pitchFamily="34" charset="0"/>
                          <a:ea typeface="+mn-ea"/>
                          <a:cs typeface="+mn-cs"/>
                        </a:rPr>
                        <a:t>كافة التصنيفات</a:t>
                      </a:r>
                      <a:endParaRPr lang="ar-AE" sz="1200" b="0" i="0" u="none" strike="noStrike" kern="1200" dirty="0">
                        <a:solidFill>
                          <a:srgbClr val="000000"/>
                        </a:solidFill>
                        <a:effectLst/>
                        <a:latin typeface="Aptos Narrow" panose="020B0004020202020204" pitchFamily="34" charset="0"/>
                        <a:ea typeface="+mn-ea"/>
                        <a:cs typeface="+mn-cs"/>
                      </a:endParaRPr>
                    </a:p>
                  </a:txBody>
                  <a:tcPr marL="9525" marR="9525" marT="9525" marB="0" anchor="ctr"/>
                </a:tc>
                <a:tc>
                  <a:txBody>
                    <a:bodyPr/>
                    <a:lstStyle/>
                    <a:p>
                      <a:pPr algn="r" rtl="1"/>
                      <a:r>
                        <a:rPr lang="ar-AE" sz="1200" kern="1200" dirty="0">
                          <a:solidFill>
                            <a:schemeClr val="dk1"/>
                          </a:solidFill>
                          <a:latin typeface="+mn-lt"/>
                          <a:ea typeface="+mn-ea"/>
                          <a:cs typeface="+mn-cs"/>
                        </a:rPr>
                        <a:t>ضعف التدريب والتوعية في إدارة البيانات وحوكمتها يسبب تدني الالتزام بالسياسات وعدم وضوح الأدوار والمسؤوليات، ويحدّ من التعاون بين الجهات المعنية.</a:t>
                      </a:r>
                    </a:p>
                  </a:txBody>
                  <a:tcPr marL="18232" marR="18232" marT="9116" marB="9116"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عدم وضوح الأدوار والمسؤوليات المتعلقة بالبيانات. </a:t>
                      </a:r>
                    </a:p>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انخفاض مستوى الالتزام بالسياسات والقواعد والإرشادات. </a:t>
                      </a:r>
                    </a:p>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ضعف التنسيق بين الإدارات وأمناء البيانات.</a:t>
                      </a:r>
                    </a:p>
                  </a:txBody>
                  <a:tcPr marL="18232" marR="18232" marT="9116" marB="9116"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رفع كفاءة العاملين وفهمهم لمفاهيم حوكمة البيانات</a:t>
                      </a:r>
                    </a:p>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تحسّن الامتثال للضوابط والسياسات. </a:t>
                      </a:r>
                    </a:p>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تقليل الأخطاء والمخاطر المصاحبة للجهل بالممارسات الصحيحة.</a:t>
                      </a:r>
                    </a:p>
                  </a:txBody>
                  <a:tcPr marL="18232" marR="18232" marT="9116" marB="9116" anchor="ctr"/>
                </a:tc>
                <a:tc>
                  <a:txBody>
                    <a:bodyPr/>
                    <a:lstStyle/>
                    <a:p>
                      <a:pPr algn="r" rtl="1"/>
                      <a:r>
                        <a:rPr lang="ar-AE" sz="1200" kern="1200" dirty="0">
                          <a:solidFill>
                            <a:schemeClr val="dk1"/>
                          </a:solidFill>
                          <a:latin typeface="+mn-lt"/>
                          <a:ea typeface="+mn-ea"/>
                          <a:cs typeface="+mn-cs"/>
                        </a:rPr>
                        <a:t>حصر الأدوار ومسح مستويات الوعي.</a:t>
                      </a:r>
                    </a:p>
                    <a:p>
                      <a:pPr algn="r" rtl="1"/>
                      <a:r>
                        <a:rPr lang="ar-AE" sz="1200" kern="1200" dirty="0">
                          <a:solidFill>
                            <a:schemeClr val="dk1"/>
                          </a:solidFill>
                          <a:latin typeface="+mn-lt"/>
                          <a:ea typeface="+mn-ea"/>
                          <a:cs typeface="+mn-cs"/>
                        </a:rPr>
                        <a:t>إعداد منهج وبرامج توعية متنوعة.</a:t>
                      </a:r>
                    </a:p>
                    <a:p>
                      <a:pPr algn="r" rtl="1"/>
                      <a:r>
                        <a:rPr lang="ar-AE" sz="1200" kern="1200" dirty="0">
                          <a:solidFill>
                            <a:schemeClr val="dk1"/>
                          </a:solidFill>
                          <a:latin typeface="+mn-lt"/>
                          <a:ea typeface="+mn-ea"/>
                          <a:cs typeface="+mn-cs"/>
                        </a:rPr>
                        <a:t>عقد دورات وحملات داخلية لتعزيز الالتزام.</a:t>
                      </a:r>
                    </a:p>
                    <a:p>
                      <a:pPr algn="r" rtl="1"/>
                      <a:r>
                        <a:rPr lang="ar-AE" sz="1200" kern="1200" dirty="0">
                          <a:solidFill>
                            <a:schemeClr val="dk1"/>
                          </a:solidFill>
                          <a:latin typeface="+mn-lt"/>
                          <a:ea typeface="+mn-ea"/>
                          <a:cs typeface="+mn-cs"/>
                        </a:rPr>
                        <a:t>قياس الأثر بمؤشرات أداء واختبارات.</a:t>
                      </a:r>
                    </a:p>
                    <a:p>
                      <a:pPr algn="r" rtl="1"/>
                      <a:r>
                        <a:rPr lang="ar-AE" sz="1200" kern="1200" dirty="0">
                          <a:solidFill>
                            <a:schemeClr val="dk1"/>
                          </a:solidFill>
                          <a:latin typeface="+mn-lt"/>
                          <a:ea typeface="+mn-ea"/>
                          <a:cs typeface="+mn-cs"/>
                        </a:rPr>
                        <a:t>توثيق النتائج ودمج التدريب ضمن الخطط السنوية.</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altLang="en-AE" sz="1200" dirty="0"/>
                        <a:t>ضوابط ومواصفات إدارة البيانات الوطنية وحوكمتها وحماية البيانات الشخصية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18232" marR="18232" marT="9116" marB="9116" anchor="ctr"/>
                </a:tc>
                <a:extLst>
                  <a:ext uri="{0D108BD9-81ED-4DB2-BD59-A6C34878D82A}">
                    <a16:rowId xmlns:a16="http://schemas.microsoft.com/office/drawing/2014/main" val="1434359721"/>
                  </a:ext>
                </a:extLst>
              </a:tr>
            </a:tbl>
          </a:graphicData>
        </a:graphic>
      </p:graphicFrame>
    </p:spTree>
    <p:extLst>
      <p:ext uri="{BB962C8B-B14F-4D97-AF65-F5344CB8AC3E}">
        <p14:creationId xmlns:p14="http://schemas.microsoft.com/office/powerpoint/2010/main" val="237749547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5DA39-2B62-CE39-0121-73A50EAB7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F1EE6-C10F-3B85-775F-453CA2A8601A}"/>
              </a:ext>
            </a:extLst>
          </p:cNvPr>
          <p:cNvSpPr>
            <a:spLocks noGrp="1"/>
          </p:cNvSpPr>
          <p:nvPr>
            <p:ph type="title"/>
          </p:nvPr>
        </p:nvSpPr>
        <p:spPr/>
        <p:txBody>
          <a:bodyPr/>
          <a:lstStyle/>
          <a:p>
            <a:r>
              <a:rPr lang="ar-SA" dirty="0"/>
              <a:t>ملخص تحليل الفجوات</a:t>
            </a:r>
            <a:endParaRPr lang="en-AE" dirty="0"/>
          </a:p>
        </p:txBody>
      </p:sp>
      <p:sp>
        <p:nvSpPr>
          <p:cNvPr id="3" name="Slide Number Placeholder 2">
            <a:extLst>
              <a:ext uri="{FF2B5EF4-FFF2-40B4-BE49-F238E27FC236}">
                <a16:creationId xmlns:a16="http://schemas.microsoft.com/office/drawing/2014/main" id="{02182B63-88E6-2BD9-F056-0CCD762BE9ED}"/>
              </a:ext>
            </a:extLst>
          </p:cNvPr>
          <p:cNvSpPr>
            <a:spLocks noGrp="1"/>
          </p:cNvSpPr>
          <p:nvPr>
            <p:ph type="sldNum" sz="quarter" idx="12"/>
          </p:nvPr>
        </p:nvSpPr>
        <p:spPr/>
        <p:txBody>
          <a:bodyPr/>
          <a:lstStyle/>
          <a:p>
            <a:fld id="{0BE4EC83-A869-464E-AE9F-881796FB085E}" type="slidenum">
              <a:rPr lang="en-US" smtClean="0"/>
              <a:t>66</a:t>
            </a:fld>
            <a:endParaRPr lang="en-US"/>
          </a:p>
        </p:txBody>
      </p:sp>
      <p:graphicFrame>
        <p:nvGraphicFramePr>
          <p:cNvPr id="4" name="Table 3">
            <a:extLst>
              <a:ext uri="{FF2B5EF4-FFF2-40B4-BE49-F238E27FC236}">
                <a16:creationId xmlns:a16="http://schemas.microsoft.com/office/drawing/2014/main" id="{EBBF2A54-E5EC-D493-AE08-B49864A67B19}"/>
              </a:ext>
            </a:extLst>
          </p:cNvPr>
          <p:cNvGraphicFramePr>
            <a:graphicFrameLocks noGrp="1"/>
          </p:cNvGraphicFramePr>
          <p:nvPr>
            <p:extLst>
              <p:ext uri="{D42A27DB-BD31-4B8C-83A1-F6EECF244321}">
                <p14:modId xmlns:p14="http://schemas.microsoft.com/office/powerpoint/2010/main" val="2803051861"/>
              </p:ext>
            </p:extLst>
          </p:nvPr>
        </p:nvGraphicFramePr>
        <p:xfrm>
          <a:off x="621453" y="1158113"/>
          <a:ext cx="10960948" cy="1744998"/>
        </p:xfrm>
        <a:graphic>
          <a:graphicData uri="http://schemas.openxmlformats.org/drawingml/2006/table">
            <a:tbl>
              <a:tblPr rtl="1" firstRow="1" bandRow="1">
                <a:tableStyleId>{B301B821-A1FF-4177-AEE7-76D212191A09}</a:tableStyleId>
              </a:tblPr>
              <a:tblGrid>
                <a:gridCol w="776172">
                  <a:extLst>
                    <a:ext uri="{9D8B030D-6E8A-4147-A177-3AD203B41FA5}">
                      <a16:colId xmlns:a16="http://schemas.microsoft.com/office/drawing/2014/main" val="1848166869"/>
                    </a:ext>
                  </a:extLst>
                </a:gridCol>
                <a:gridCol w="1009315">
                  <a:extLst>
                    <a:ext uri="{9D8B030D-6E8A-4147-A177-3AD203B41FA5}">
                      <a16:colId xmlns:a16="http://schemas.microsoft.com/office/drawing/2014/main" val="3183077499"/>
                    </a:ext>
                  </a:extLst>
                </a:gridCol>
                <a:gridCol w="1154359">
                  <a:extLst>
                    <a:ext uri="{9D8B030D-6E8A-4147-A177-3AD203B41FA5}">
                      <a16:colId xmlns:a16="http://schemas.microsoft.com/office/drawing/2014/main" val="2994891593"/>
                    </a:ext>
                  </a:extLst>
                </a:gridCol>
                <a:gridCol w="1484671">
                  <a:extLst>
                    <a:ext uri="{9D8B030D-6E8A-4147-A177-3AD203B41FA5}">
                      <a16:colId xmlns:a16="http://schemas.microsoft.com/office/drawing/2014/main" val="2407940828"/>
                    </a:ext>
                  </a:extLst>
                </a:gridCol>
                <a:gridCol w="1602658">
                  <a:extLst>
                    <a:ext uri="{9D8B030D-6E8A-4147-A177-3AD203B41FA5}">
                      <a16:colId xmlns:a16="http://schemas.microsoft.com/office/drawing/2014/main" val="2266366844"/>
                    </a:ext>
                  </a:extLst>
                </a:gridCol>
                <a:gridCol w="1415845">
                  <a:extLst>
                    <a:ext uri="{9D8B030D-6E8A-4147-A177-3AD203B41FA5}">
                      <a16:colId xmlns:a16="http://schemas.microsoft.com/office/drawing/2014/main" val="170401669"/>
                    </a:ext>
                  </a:extLst>
                </a:gridCol>
                <a:gridCol w="1723802">
                  <a:extLst>
                    <a:ext uri="{9D8B030D-6E8A-4147-A177-3AD203B41FA5}">
                      <a16:colId xmlns:a16="http://schemas.microsoft.com/office/drawing/2014/main" val="4110629147"/>
                    </a:ext>
                  </a:extLst>
                </a:gridCol>
                <a:gridCol w="458839">
                  <a:extLst>
                    <a:ext uri="{9D8B030D-6E8A-4147-A177-3AD203B41FA5}">
                      <a16:colId xmlns:a16="http://schemas.microsoft.com/office/drawing/2014/main" val="2090639194"/>
                    </a:ext>
                  </a:extLst>
                </a:gridCol>
                <a:gridCol w="557940">
                  <a:extLst>
                    <a:ext uri="{9D8B030D-6E8A-4147-A177-3AD203B41FA5}">
                      <a16:colId xmlns:a16="http://schemas.microsoft.com/office/drawing/2014/main" val="1489210985"/>
                    </a:ext>
                  </a:extLst>
                </a:gridCol>
                <a:gridCol w="777347">
                  <a:extLst>
                    <a:ext uri="{9D8B030D-6E8A-4147-A177-3AD203B41FA5}">
                      <a16:colId xmlns:a16="http://schemas.microsoft.com/office/drawing/2014/main" val="602859565"/>
                    </a:ext>
                  </a:extLst>
                </a:gridCol>
              </a:tblGrid>
              <a:tr h="263726">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0847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 GAP-D-31</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غياب النموذج المفاهيمي المؤسسي للبيانات بسبب ضعف توثيق العلاقات بين كيانات البيانات وخزائنها.</a:t>
                      </a:r>
                    </a:p>
                  </a:txBody>
                  <a:tcPr marL="18232" marR="18232" marT="9116" marB="9116" anchor="ctr"/>
                </a:tc>
                <a:tc>
                  <a:txBody>
                    <a:bodyPr/>
                    <a:lstStyle/>
                    <a:p>
                      <a:pPr algn="ctr" rtl="1" fontAlgn="ctr"/>
                      <a:r>
                        <a:rPr lang="ar-AE" sz="1200" b="0" dirty="0"/>
                        <a:t>النمذجة وهيكلة البيانات </a:t>
                      </a:r>
                      <a:r>
                        <a:rPr lang="ar-SA" sz="1200" b="0" dirty="0"/>
                        <a:t>(</a:t>
                      </a:r>
                      <a:r>
                        <a:rPr lang="en-US" sz="1200" b="0" dirty="0"/>
                        <a:t>6</a:t>
                      </a:r>
                      <a:r>
                        <a:rPr lang="ar-SA" sz="1200" b="0" dirty="0"/>
                        <a:t>)</a:t>
                      </a:r>
                      <a:endParaRPr lang="ar-AE" sz="12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تفتقر الهيئة إلى نموذج مفاهيمي موحد للبيانات يوضح العلاقات بين كيانات البيانات وخزائنها، ما يعيق بناء نماذج منطقية وفيزيائية مترابطة ويؤثر على تكامل البيانات وجودتها.</a:t>
                      </a:r>
                    </a:p>
                  </a:txBody>
                  <a:tcPr marL="18232" marR="18232" marT="9116" marB="9116"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ضعف تكامل البيانات.</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صعوبة ربط وتحليل المعلومات عبر الأنظمة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.بطء في تطوير الحلول الرقمية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تدني جودة البيانات المستخدمة في دعم اتخاذ القرار.</a:t>
                      </a:r>
                    </a:p>
                    <a:p>
                      <a:pPr algn="r" rtl="1">
                        <a:buNone/>
                      </a:pPr>
                      <a:endParaRPr lang="ar-AE" sz="1200" dirty="0">
                        <a:latin typeface="+mn-lt"/>
                      </a:endParaRPr>
                    </a:p>
                  </a:txBody>
                  <a:tcPr marL="18232" marR="18232" marT="9116" marB="9116"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تحقيق تكامل وتناغم بين كيانات وخزائن البيانات.</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 تحسين جودة البيانات ودقتها. تسريع تطوير الحلول الرقمية.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دعم اتخاذ القرار المبني على بيانات موثوقة.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رفع كفاءة مشاريع التحليل والتكامل المؤسسي.</a:t>
                      </a:r>
                    </a:p>
                  </a:txBody>
                  <a:tcPr marL="18232" marR="18232" marT="9116" marB="9116" anchor="ctr"/>
                </a:tc>
                <a:tc>
                  <a:txBody>
                    <a:bodyPr/>
                    <a:lstStyle/>
                    <a:p>
                      <a:pPr algn="r" rtl="1"/>
                      <a:r>
                        <a:rPr lang="ar-SA" sz="1200" dirty="0"/>
                        <a:t>إعداد وتوثيق النموذج المفاهيمي وربطه بالنماذج المنطقية والفيزيائية وتحديثه دورياً.</a:t>
                      </a:r>
                    </a:p>
                  </a:txBody>
                  <a:tcPr marL="18232" marR="18232" marT="9116" marB="9116" anchor="ctr"/>
                </a:tc>
                <a:tc>
                  <a:txBody>
                    <a:bodyPr/>
                    <a:lstStyle/>
                    <a:p>
                      <a:pPr algn="ctr" rtl="1">
                        <a:buNone/>
                      </a:pPr>
                      <a:r>
                        <a:rPr lang="ar-SA" sz="1200" dirty="0">
                          <a:latin typeface="+mn-lt"/>
                        </a:rPr>
                        <a:t>متوسطة</a:t>
                      </a:r>
                      <a:endParaRPr lang="ar-AE" sz="1200" dirty="0">
                        <a:latin typeface="+mn-lt"/>
                      </a:endParaRPr>
                    </a:p>
                  </a:txBody>
                  <a:tcPr marL="18232" marR="18232" marT="9116" marB="9116" anchor="ctr"/>
                </a:tc>
                <a:tc>
                  <a:txBody>
                    <a:bodyPr/>
                    <a:lstStyle/>
                    <a:p>
                      <a:pPr algn="ctr" rtl="1">
                        <a:buNone/>
                      </a:pPr>
                      <a:r>
                        <a:rPr lang="ar-SA" sz="1200" dirty="0">
                          <a:latin typeface="+mn-lt"/>
                        </a:rPr>
                        <a:t>متوسطة</a:t>
                      </a:r>
                      <a:endParaRPr lang="ar-AE" sz="1200" dirty="0">
                        <a:latin typeface="+mn-lt"/>
                      </a:endParaRP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altLang="en-AE" sz="1200" dirty="0"/>
                        <a:t>ضوابط ومواصفات إدارة البيانات الوطنية وحوكمتها وحماية البيانات الشخصية</a:t>
                      </a:r>
                      <a:endParaRPr kumimoji="0" lang="ar-AE" sz="1200" b="0" i="0" u="none" strike="noStrike" kern="1200" cap="none" spc="0" normalizeH="0" baseline="0" noProof="0" dirty="0">
                        <a:ln>
                          <a:noFill/>
                        </a:ln>
                        <a:solidFill>
                          <a:prstClr val="black"/>
                        </a:solidFill>
                        <a:effectLst/>
                        <a:uLnTx/>
                        <a:uFillTx/>
                        <a:latin typeface="+mn-lt"/>
                        <a:ea typeface="+mn-ea"/>
                        <a:cs typeface="+mn-cs"/>
                      </a:endParaRPr>
                    </a:p>
                  </a:txBody>
                  <a:tcPr marL="18232" marR="18232" marT="9116" marB="9116" anchor="ctr"/>
                </a:tc>
                <a:extLst>
                  <a:ext uri="{0D108BD9-81ED-4DB2-BD59-A6C34878D82A}">
                    <a16:rowId xmlns:a16="http://schemas.microsoft.com/office/drawing/2014/main" val="3386048539"/>
                  </a:ext>
                </a:extLst>
              </a:tr>
            </a:tbl>
          </a:graphicData>
        </a:graphic>
      </p:graphicFrame>
    </p:spTree>
    <p:extLst>
      <p:ext uri="{BB962C8B-B14F-4D97-AF65-F5344CB8AC3E}">
        <p14:creationId xmlns:p14="http://schemas.microsoft.com/office/powerpoint/2010/main" val="190346497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80836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28592</TotalTime>
  <Words>13962</Words>
  <Application>Microsoft Office PowerPoint</Application>
  <PresentationFormat>Widescreen</PresentationFormat>
  <Paragraphs>3900</Paragraphs>
  <Slides>67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67</vt:i4>
      </vt:variant>
    </vt:vector>
  </HeadingPairs>
  <TitlesOfParts>
    <vt:vector size="75" baseType="lpstr">
      <vt:lpstr>Sakkal Majalla</vt:lpstr>
      <vt:lpstr>Arial</vt:lpstr>
      <vt:lpstr>DIN Next LT Arabic</vt:lpstr>
      <vt:lpstr>Wingdings</vt:lpstr>
      <vt:lpstr>Aptos Narrow</vt:lpstr>
      <vt:lpstr>Tajawal</vt:lpstr>
      <vt:lpstr>Calibri</vt:lpstr>
      <vt:lpstr>Office Theme</vt:lpstr>
      <vt:lpstr>وثيقة الوضع المستقبلي لبنية البيانات</vt:lpstr>
      <vt:lpstr>PowerPoint Presentation</vt:lpstr>
      <vt:lpstr>PowerPoint Presentation</vt:lpstr>
      <vt:lpstr>PowerPoint Presentation</vt:lpstr>
      <vt:lpstr>الغرض من الوثيقة</vt:lpstr>
      <vt:lpstr>الغرض من الوثيقة</vt:lpstr>
      <vt:lpstr>ملخص الوضع الحالي</vt:lpstr>
      <vt:lpstr>ملخص الوضع الحالي</vt:lpstr>
      <vt:lpstr>الرؤية المستقبلية لبنية البيانات</vt:lpstr>
      <vt:lpstr>PowerPoint Presentation</vt:lpstr>
      <vt:lpstr>الرؤية المستقبلية لبنية البيانات</vt:lpstr>
      <vt:lpstr>الرؤية المستقبلية لبنية البيانات</vt:lpstr>
      <vt:lpstr>الوضع المستقبلي لخزائن البيانات</vt:lpstr>
      <vt:lpstr>خزائن البيانات(مستودع بيانات)</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 علائقية)</vt:lpstr>
      <vt:lpstr>خزائن البيانات(قواعد بيانات)</vt:lpstr>
      <vt:lpstr>خزائن البيانات(شبكة الهيئة)</vt:lpstr>
      <vt:lpstr>الوضع المستقبلي لكيانات البيانات</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تحليل الفجوات</vt:lpstr>
      <vt:lpstr>تصنيفات فجوات البيانات</vt:lpstr>
      <vt:lpstr>ملخص تحليل الفجوات</vt:lpstr>
      <vt:lpstr>ملخص تحليل الفجوات</vt:lpstr>
      <vt:lpstr>ملخص تحليل الفجوات</vt:lpstr>
      <vt:lpstr>ملخص تحليل الفجوات</vt:lpstr>
      <vt:lpstr>ملخص تحليل الفجوات</vt:lpstr>
      <vt:lpstr>ملخص تحليل الفجوات</vt:lpstr>
      <vt:lpstr>ملخص تحليل الفجوات</vt:lpstr>
      <vt:lpstr>ملخص تحليل الفجوات</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Dana  Alghadhban</cp:lastModifiedBy>
  <cp:revision>2155</cp:revision>
  <dcterms:created xsi:type="dcterms:W3CDTF">2024-05-29T18:26:52Z</dcterms:created>
  <dcterms:modified xsi:type="dcterms:W3CDTF">2025-05-07T12:54:25Z</dcterms:modified>
</cp:coreProperties>
</file>