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saveSubsetFonts="1">
  <p:sldMasterIdLst>
    <p:sldMasterId id="2147483702" r:id="rId1"/>
  </p:sldMasterIdLst>
  <p:notesMasterIdLst>
    <p:notesMasterId r:id="rId114"/>
  </p:notesMasterIdLst>
  <p:handoutMasterIdLst>
    <p:handoutMasterId r:id="rId115"/>
  </p:handoutMasterIdLst>
  <p:sldIdLst>
    <p:sldId id="5165" r:id="rId2"/>
    <p:sldId id="2147476774" r:id="rId3"/>
    <p:sldId id="2147476322" r:id="rId4"/>
    <p:sldId id="2147471819" r:id="rId5"/>
    <p:sldId id="2147474904" r:id="rId6"/>
    <p:sldId id="2147474905" r:id="rId7"/>
    <p:sldId id="2147476649" r:id="rId8"/>
    <p:sldId id="2147476648" r:id="rId9"/>
    <p:sldId id="2147476650" r:id="rId10"/>
    <p:sldId id="2147476700" r:id="rId11"/>
    <p:sldId id="2147476775" r:id="rId12"/>
    <p:sldId id="2147476686" r:id="rId13"/>
    <p:sldId id="2147476687" r:id="rId14"/>
    <p:sldId id="2147476654" r:id="rId15"/>
    <p:sldId id="2147476691" r:id="rId16"/>
    <p:sldId id="2147476656" r:id="rId17"/>
    <p:sldId id="2147476695" r:id="rId18"/>
    <p:sldId id="2147476696" r:id="rId19"/>
    <p:sldId id="2147476697" r:id="rId20"/>
    <p:sldId id="2147476786" r:id="rId21"/>
    <p:sldId id="2147476776" r:id="rId22"/>
    <p:sldId id="2147476689" r:id="rId23"/>
    <p:sldId id="2147476690" r:id="rId24"/>
    <p:sldId id="2147476730" r:id="rId25"/>
    <p:sldId id="2147476731" r:id="rId26"/>
    <p:sldId id="2147476732" r:id="rId27"/>
    <p:sldId id="2147476733" r:id="rId28"/>
    <p:sldId id="2147476734" r:id="rId29"/>
    <p:sldId id="2147476735" r:id="rId30"/>
    <p:sldId id="2147476737" r:id="rId31"/>
    <p:sldId id="2147476736" r:id="rId32"/>
    <p:sldId id="2147476738" r:id="rId33"/>
    <p:sldId id="2147476739" r:id="rId34"/>
    <p:sldId id="2147476740" r:id="rId35"/>
    <p:sldId id="2147476741" r:id="rId36"/>
    <p:sldId id="2147476742" r:id="rId37"/>
    <p:sldId id="2147476743" r:id="rId38"/>
    <p:sldId id="2147476744" r:id="rId39"/>
    <p:sldId id="2147476745" r:id="rId40"/>
    <p:sldId id="2147476746" r:id="rId41"/>
    <p:sldId id="2147476747" r:id="rId42"/>
    <p:sldId id="2147476748" r:id="rId43"/>
    <p:sldId id="2147476749" r:id="rId44"/>
    <p:sldId id="2147476750" r:id="rId45"/>
    <p:sldId id="2147476751" r:id="rId46"/>
    <p:sldId id="2147476752" r:id="rId47"/>
    <p:sldId id="2147476753" r:id="rId48"/>
    <p:sldId id="2147476754" r:id="rId49"/>
    <p:sldId id="2147476755" r:id="rId50"/>
    <p:sldId id="2147476756" r:id="rId51"/>
    <p:sldId id="2147476757" r:id="rId52"/>
    <p:sldId id="2147476758" r:id="rId53"/>
    <p:sldId id="2147476759" r:id="rId54"/>
    <p:sldId id="2147476760" r:id="rId55"/>
    <p:sldId id="2147476761" r:id="rId56"/>
    <p:sldId id="2147476762" r:id="rId57"/>
    <p:sldId id="2147476763" r:id="rId58"/>
    <p:sldId id="2147476764" r:id="rId59"/>
    <p:sldId id="2147476765" r:id="rId60"/>
    <p:sldId id="2147476766" r:id="rId61"/>
    <p:sldId id="2147476767" r:id="rId62"/>
    <p:sldId id="2147476768" r:id="rId63"/>
    <p:sldId id="2147476769" r:id="rId64"/>
    <p:sldId id="2147476770" r:id="rId65"/>
    <p:sldId id="2147476771" r:id="rId66"/>
    <p:sldId id="2147476772" r:id="rId67"/>
    <p:sldId id="2147476773" r:id="rId68"/>
    <p:sldId id="2147476708" r:id="rId69"/>
    <p:sldId id="2147476711" r:id="rId70"/>
    <p:sldId id="2147476710" r:id="rId71"/>
    <p:sldId id="2147476712" r:id="rId72"/>
    <p:sldId id="2147476713" r:id="rId73"/>
    <p:sldId id="2147476714" r:id="rId74"/>
    <p:sldId id="2147476715" r:id="rId75"/>
    <p:sldId id="2147476777" r:id="rId76"/>
    <p:sldId id="2147476692" r:id="rId77"/>
    <p:sldId id="2147476693" r:id="rId78"/>
    <p:sldId id="2147476694" r:id="rId79"/>
    <p:sldId id="2147476698" r:id="rId80"/>
    <p:sldId id="2147476778" r:id="rId81"/>
    <p:sldId id="2147476699" r:id="rId82"/>
    <p:sldId id="2147476716" r:id="rId83"/>
    <p:sldId id="2147476717" r:id="rId84"/>
    <p:sldId id="2147476779" r:id="rId85"/>
    <p:sldId id="2147471764" r:id="rId86"/>
    <p:sldId id="2147476679" r:id="rId87"/>
    <p:sldId id="2147476680" r:id="rId88"/>
    <p:sldId id="2147476681" r:id="rId89"/>
    <p:sldId id="2147476683" r:id="rId90"/>
    <p:sldId id="2147476684" r:id="rId91"/>
    <p:sldId id="2147476685" r:id="rId92"/>
    <p:sldId id="2147476780" r:id="rId93"/>
    <p:sldId id="2147476718" r:id="rId94"/>
    <p:sldId id="2147476719" r:id="rId95"/>
    <p:sldId id="2147476720" r:id="rId96"/>
    <p:sldId id="2147476721" r:id="rId97"/>
    <p:sldId id="2147476722" r:id="rId98"/>
    <p:sldId id="2147476781" r:id="rId99"/>
    <p:sldId id="2147476723" r:id="rId100"/>
    <p:sldId id="2147476782" r:id="rId101"/>
    <p:sldId id="2147476724" r:id="rId102"/>
    <p:sldId id="2147476725" r:id="rId103"/>
    <p:sldId id="2147476652" r:id="rId104"/>
    <p:sldId id="2147476783" r:id="rId105"/>
    <p:sldId id="2147476726" r:id="rId106"/>
    <p:sldId id="2147476784" r:id="rId107"/>
    <p:sldId id="2147476727" r:id="rId108"/>
    <p:sldId id="2147476728" r:id="rId109"/>
    <p:sldId id="2147476729" r:id="rId110"/>
    <p:sldId id="4898" r:id="rId111"/>
    <p:sldId id="770" r:id="rId112"/>
    <p:sldId id="2147476785" r:id="rId113"/>
  </p:sldIdLst>
  <p:sldSz cx="12192000" cy="6858000"/>
  <p:notesSz cx="6858000" cy="9144000"/>
  <p:embeddedFontLst>
    <p:embeddedFont>
      <p:font typeface="DIN Next LT Arabic" panose="020B0604020202020204" charset="0"/>
      <p:regular r:id="rId116"/>
      <p:bold r:id="rId117"/>
    </p:embeddedFont>
    <p:embeddedFont>
      <p:font typeface="Cambria" panose="02040503050406030204" pitchFamily="18" charset="0"/>
      <p:regular r:id="rId118"/>
      <p:bold r:id="rId119"/>
      <p:italic r:id="rId120"/>
      <p:boldItalic r:id="rId121"/>
    </p:embeddedFont>
    <p:embeddedFont>
      <p:font typeface="Sakkal Majalla" panose="020B0604020202020204" charset="-78"/>
      <p:regular r:id="rId122"/>
      <p:bold r:id="rId123"/>
    </p:embeddedFont>
    <p:embeddedFont>
      <p:font typeface="Calibri" panose="020F0502020204030204" pitchFamily="34" charset="0"/>
      <p:regular r:id="rId124"/>
      <p:bold r:id="rId125"/>
      <p:italic r:id="rId126"/>
      <p:boldItalic r:id="rId1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ة" id="{06D99704-3366-49D8-8C6C-BC95D9133FA4}">
          <p14:sldIdLst>
            <p14:sldId id="5165"/>
            <p14:sldId id="2147476774"/>
            <p14:sldId id="2147476322"/>
            <p14:sldId id="2147471819"/>
            <p14:sldId id="2147474904"/>
            <p14:sldId id="2147474905"/>
          </p14:sldIdLst>
        </p14:section>
        <p14:section name="نظرة عامة" id="{F959E33B-BECF-4E99-AAF2-9D5A8B77FC9A}">
          <p14:sldIdLst>
            <p14:sldId id="2147476649"/>
            <p14:sldId id="2147476648"/>
            <p14:sldId id="2147476650"/>
            <p14:sldId id="2147476700"/>
          </p14:sldIdLst>
        </p14:section>
        <p14:section name="مشاهدات بنية التقنية الحالية" id="{2B74524D-A2B7-4797-BE62-E1A9749EA31F}">
          <p14:sldIdLst>
            <p14:sldId id="2147476775"/>
            <p14:sldId id="2147476686"/>
            <p14:sldId id="2147476687"/>
            <p14:sldId id="2147476654"/>
            <p14:sldId id="2147476691"/>
            <p14:sldId id="2147476656"/>
            <p14:sldId id="2147476695"/>
            <p14:sldId id="2147476696"/>
            <p14:sldId id="2147476697"/>
            <p14:sldId id="2147476786"/>
          </p14:sldIdLst>
        </p14:section>
        <p14:section name="رؤية للخوادم المستقبلية" id="{4E122644-3007-4986-A777-A1863D218ED4}">
          <p14:sldIdLst>
            <p14:sldId id="2147476776"/>
            <p14:sldId id="2147476689"/>
            <p14:sldId id="2147476690"/>
            <p14:sldId id="2147476730"/>
            <p14:sldId id="2147476731"/>
            <p14:sldId id="2147476732"/>
            <p14:sldId id="2147476733"/>
            <p14:sldId id="2147476734"/>
            <p14:sldId id="2147476735"/>
            <p14:sldId id="2147476737"/>
            <p14:sldId id="2147476736"/>
            <p14:sldId id="2147476738"/>
            <p14:sldId id="2147476739"/>
            <p14:sldId id="2147476740"/>
            <p14:sldId id="2147476741"/>
            <p14:sldId id="2147476742"/>
            <p14:sldId id="2147476743"/>
            <p14:sldId id="2147476744"/>
            <p14:sldId id="2147476745"/>
            <p14:sldId id="2147476746"/>
            <p14:sldId id="2147476747"/>
            <p14:sldId id="2147476748"/>
            <p14:sldId id="2147476749"/>
            <p14:sldId id="2147476750"/>
            <p14:sldId id="2147476751"/>
            <p14:sldId id="2147476752"/>
            <p14:sldId id="2147476753"/>
            <p14:sldId id="2147476754"/>
            <p14:sldId id="2147476755"/>
            <p14:sldId id="2147476756"/>
            <p14:sldId id="2147476757"/>
            <p14:sldId id="2147476758"/>
            <p14:sldId id="2147476759"/>
            <p14:sldId id="2147476760"/>
            <p14:sldId id="2147476761"/>
            <p14:sldId id="2147476762"/>
            <p14:sldId id="2147476763"/>
            <p14:sldId id="2147476764"/>
            <p14:sldId id="2147476765"/>
            <p14:sldId id="2147476766"/>
            <p14:sldId id="2147476767"/>
            <p14:sldId id="2147476768"/>
            <p14:sldId id="2147476769"/>
            <p14:sldId id="2147476770"/>
            <p14:sldId id="2147476771"/>
            <p14:sldId id="2147476772"/>
            <p14:sldId id="2147476773"/>
            <p14:sldId id="2147476708"/>
            <p14:sldId id="2147476711"/>
            <p14:sldId id="2147476710"/>
            <p14:sldId id="2147476712"/>
            <p14:sldId id="2147476713"/>
            <p14:sldId id="2147476714"/>
            <p14:sldId id="2147476715"/>
          </p14:sldIdLst>
        </p14:section>
        <p14:section name="رؤية مستقبلية لإدارة وتأمين الشبكة" id="{A3455D72-3473-4EC9-8056-C2B1C9A5C84F}">
          <p14:sldIdLst>
            <p14:sldId id="2147476777"/>
            <p14:sldId id="2147476692"/>
            <p14:sldId id="2147476693"/>
            <p14:sldId id="2147476694"/>
            <p14:sldId id="2147476698"/>
          </p14:sldIdLst>
        </p14:section>
        <p14:section name="البنية المستقبلية لادارة الشبكة" id="{5B9F87BE-17D9-4E70-8AC7-4C56104555EC}">
          <p14:sldIdLst>
            <p14:sldId id="2147476778"/>
            <p14:sldId id="2147476699"/>
            <p14:sldId id="2147476716"/>
            <p14:sldId id="2147476717"/>
          </p14:sldIdLst>
        </p14:section>
        <p14:section name="أدوات إدارة البنية التحتية ومراقبتها" id="{87E94403-ED10-40AF-9D93-24C18947DC3C}">
          <p14:sldIdLst>
            <p14:sldId id="2147476779"/>
            <p14:sldId id="2147471764"/>
            <p14:sldId id="2147476679"/>
            <p14:sldId id="2147476680"/>
            <p14:sldId id="2147476681"/>
            <p14:sldId id="2147476683"/>
            <p14:sldId id="2147476684"/>
            <p14:sldId id="2147476685"/>
          </p14:sldIdLst>
        </p14:section>
        <p14:section name="الرؤية المستقبلية للرخص" id="{78DAF5B2-3EC4-4A5B-ACF4-05B82BBE2DE7}">
          <p14:sldIdLst>
            <p14:sldId id="2147476780"/>
            <p14:sldId id="2147476718"/>
            <p14:sldId id="2147476719"/>
            <p14:sldId id="2147476720"/>
            <p14:sldId id="2147476721"/>
            <p14:sldId id="2147476722"/>
          </p14:sldIdLst>
        </p14:section>
        <p14:section name="الرؤية المستقبلية للانظمة الحالية" id="{F337F77A-2DA2-4434-8ADE-D93B124EF466}">
          <p14:sldIdLst>
            <p14:sldId id="2147476781"/>
            <p14:sldId id="2147476723"/>
          </p14:sldIdLst>
        </p14:section>
        <p14:section name="الرؤية المستقبلية لمرافق مركز البيانات" id="{D816058A-F86D-4717-A371-832DD86B6F93}">
          <p14:sldIdLst>
            <p14:sldId id="2147476782"/>
            <p14:sldId id="2147476724"/>
            <p14:sldId id="2147476725"/>
            <p14:sldId id="2147476652"/>
          </p14:sldIdLst>
        </p14:section>
        <p14:section name="دليل الخدمات" id="{05F8377E-E736-483F-ACB4-0DF2786D898A}">
          <p14:sldIdLst>
            <p14:sldId id="2147476783"/>
            <p14:sldId id="2147476726"/>
          </p14:sldIdLst>
        </p14:section>
        <p14:section name="ملخص بالفجوات التي جرى سردها" id="{B69C8DB7-A165-4F29-8C2D-A31C19CD0E1A}">
          <p14:sldIdLst>
            <p14:sldId id="2147476784"/>
            <p14:sldId id="2147476727"/>
            <p14:sldId id="2147476728"/>
            <p14:sldId id="2147476729"/>
          </p14:sldIdLst>
        </p14:section>
        <p14:section name="المراجعة والاعتماد" id="{CF98DA63-44F6-4A5C-A2F6-430E3C7D973D}">
          <p14:sldIdLst>
            <p14:sldId id="4898"/>
            <p14:sldId id="770"/>
            <p14:sldId id="21474767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a  Alghadhban" initials="DA" lastIdx="10" clrIdx="0">
    <p:extLst>
      <p:ext uri="{19B8F6BF-5375-455C-9EA6-DF929625EA0E}">
        <p15:presenceInfo xmlns:p15="http://schemas.microsoft.com/office/powerpoint/2012/main" userId="S-1-5-21-2411063874-488449627-3027057399-11734" providerId="AD"/>
      </p:ext>
    </p:extLst>
  </p:cmAuthor>
  <p:cmAuthor id="2" name="Ahmed Shawky" initials="A" lastIdx="2" clrIdx="1">
    <p:extLst>
      <p:ext uri="{19B8F6BF-5375-455C-9EA6-DF929625EA0E}">
        <p15:presenceInfo xmlns:p15="http://schemas.microsoft.com/office/powerpoint/2012/main" userId="Ahmed Shawky" providerId="None"/>
      </p:ext>
    </p:extLst>
  </p:cmAuthor>
  <p:cmAuthor id="3" name="Ahmed Shawky" initials="AS" lastIdx="18" clrIdx="2">
    <p:extLst>
      <p:ext uri="{19B8F6BF-5375-455C-9EA6-DF929625EA0E}">
        <p15:presenceInfo xmlns:p15="http://schemas.microsoft.com/office/powerpoint/2012/main" userId="S::a.shawky@rmg-sa.com::e8ca3da9-d268-4851-a55d-39b83f2b78e7" providerId="AD"/>
      </p:ext>
    </p:extLst>
  </p:cmAuthor>
  <p:cmAuthor id="4" name="Alaa  Alwatban" initials="AA" lastIdx="4" clrIdx="3">
    <p:extLst>
      <p:ext uri="{19B8F6BF-5375-455C-9EA6-DF929625EA0E}">
        <p15:presenceInfo xmlns:p15="http://schemas.microsoft.com/office/powerpoint/2012/main" userId="S-1-5-21-2411063874-488449627-3027057399-11707" providerId="AD"/>
      </p:ext>
    </p:extLst>
  </p:cmAuthor>
  <p:cmAuthor id="5" name="Rawan Naif. Alanazi" initials="RNA" lastIdx="41" clrIdx="4">
    <p:extLst>
      <p:ext uri="{19B8F6BF-5375-455C-9EA6-DF929625EA0E}">
        <p15:presenceInfo xmlns:p15="http://schemas.microsoft.com/office/powerpoint/2012/main" userId="S-1-5-21-2411063874-488449627-3027057399-12334" providerId="AD"/>
      </p:ext>
    </p:extLst>
  </p:cmAuthor>
  <p:cmAuthor id="6" name="Hani Adel Ibraheem Rehan" initials="HA" lastIdx="26" clrIdx="5">
    <p:extLst>
      <p:ext uri="{19B8F6BF-5375-455C-9EA6-DF929625EA0E}">
        <p15:presenceInfo xmlns:p15="http://schemas.microsoft.com/office/powerpoint/2012/main" userId="S::h_rehan@mans.edu.eg::13aea2b9-4f76-4644-996f-07bc1876147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A0D9"/>
    <a:srgbClr val="D0CEDB"/>
    <a:srgbClr val="4C3C8D"/>
    <a:srgbClr val="F5A053"/>
    <a:srgbClr val="392D6A"/>
    <a:srgbClr val="E5E5E7"/>
    <a:srgbClr val="F2F2F2"/>
    <a:srgbClr val="B2D9F0"/>
    <a:srgbClr val="8CC6E8"/>
    <a:srgbClr val="51B4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60" autoAdjust="0"/>
    <p:restoredTop sz="95706" autoAdjust="0"/>
  </p:normalViewPr>
  <p:slideViewPr>
    <p:cSldViewPr snapToGrid="0">
      <p:cViewPr varScale="1">
        <p:scale>
          <a:sx n="115" d="100"/>
          <a:sy n="115" d="100"/>
        </p:scale>
        <p:origin x="534" y="78"/>
      </p:cViewPr>
      <p:guideLst/>
    </p:cSldViewPr>
  </p:slideViewPr>
  <p:outlineViewPr>
    <p:cViewPr>
      <p:scale>
        <a:sx n="33" d="100"/>
        <a:sy n="33" d="100"/>
      </p:scale>
      <p:origin x="0" y="-2107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315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2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8.fntdata"/><Relationship Id="rId128" Type="http://schemas.openxmlformats.org/officeDocument/2006/relationships/commentAuthors" Target="commentAuthor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3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9.fntdata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font" Target="fonts/font4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5.fntdata"/><Relationship Id="rId125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handoutMaster" Target="handoutMasters/handoutMaster1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6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5" dt="2025-03-18T12:02:06.588" idx="32">
    <p:pos x="7670" y="10"/>
    <p:text>يوجد نقاط قوة أكثر (F5) , Thousand eyes - Etc...</p:text>
    <p:extLst>
      <p:ext uri="{C676402C-5697-4E1C-873F-D02D1690AC5C}">
        <p15:threadingInfo xmlns:p15="http://schemas.microsoft.com/office/powerpoint/2012/main" timeZoneBias="-180"/>
      </p:ext>
    </p:extLst>
  </p:cm>
  <p:cm authorId="6" dt="2025-03-25T20:50:46.294" idx="20">
    <p:pos x="7670" y="106"/>
    <p:text>تم الاضافة</p:text>
    <p:extLst>
      <p:ext uri="{C676402C-5697-4E1C-873F-D02D1690AC5C}">
        <p15:threadingInfo xmlns:p15="http://schemas.microsoft.com/office/powerpoint/2012/main" timeZoneBias="-180">
          <p15:parentCm authorId="5" idx="32"/>
        </p15:threadingInfo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3CCF8-5C26-4AF6-B7BA-B28572CBB7B8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2BC3B-B80E-4787-98A9-8276652C0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11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18F3E-C117-429A-B1A6-546895907122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FDBCA-D751-4A03-819B-45597328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4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C2AEA-7A22-4B03-A8FB-2EF6962113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08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1C2AEA-7A22-4B03-A8FB-2EF6962113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55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8F5F-C77E-F40A-3ECC-14E17145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B764-34DC-574E-D059-BB2A68C27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EEA12-22AB-6E36-EBB6-D0F40ADF6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01A14-A0EE-DF0B-8F8E-1FD28F598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FF41FD-1AE6-42C9-ACE0-F0AE4B7547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80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purple and white background&#10;&#10;Description automatically generated">
            <a:extLst>
              <a:ext uri="{FF2B5EF4-FFF2-40B4-BE49-F238E27FC236}">
                <a16:creationId xmlns:a16="http://schemas.microsoft.com/office/drawing/2014/main" id="{1008D6FD-44B1-6442-D7E1-6FD1426D8D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" name="Title 4">
            <a:extLst>
              <a:ext uri="{FF2B5EF4-FFF2-40B4-BE49-F238E27FC236}">
                <a16:creationId xmlns:a16="http://schemas.microsoft.com/office/drawing/2014/main" id="{C1AB8D8F-867E-9D96-D014-2635FC5416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6527" y="3749232"/>
            <a:ext cx="3855873" cy="1204833"/>
          </a:xfrm>
        </p:spPr>
        <p:txBody>
          <a:bodyPr anchor="b" anchorCtr="0"/>
          <a:lstStyle>
            <a:lvl1pPr>
              <a:lnSpc>
                <a:spcPct val="80000"/>
              </a:lnSpc>
              <a:defRPr sz="2800" baseline="0">
                <a:solidFill>
                  <a:schemeClr val="accent3"/>
                </a:solidFill>
                <a:latin typeface="DIN Next LT Arabic" panose="020B0503020203050203" pitchFamily="34" charset="-78"/>
                <a:ea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r>
              <a:rPr lang="ar-EG" dirty="0"/>
              <a:t>استبدل هذا العنوان بعنوان المستند المراد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83890CF7-C10F-BB3C-914C-AF80ABF449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26527" y="5000247"/>
            <a:ext cx="3855873" cy="369332"/>
          </a:xfrm>
        </p:spPr>
        <p:txBody>
          <a:bodyPr wrap="square">
            <a:spAutoFit/>
          </a:bodyPr>
          <a:lstStyle>
            <a:lvl1pPr algn="r">
              <a:defRPr lang="en-US" sz="1800" baseline="0">
                <a:solidFill>
                  <a:schemeClr val="bg1"/>
                </a:solidFill>
                <a:latin typeface="DIN Next LT Arabic" panose="020B0503020203050203" pitchFamily="34" charset="-78"/>
                <a:ea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pPr lvl="0"/>
            <a:r>
              <a:rPr lang="ar-EG" dirty="0"/>
              <a:t>عنوان فرعي</a:t>
            </a:r>
          </a:p>
        </p:txBody>
      </p:sp>
    </p:spTree>
    <p:extLst>
      <p:ext uri="{BB962C8B-B14F-4D97-AF65-F5344CB8AC3E}">
        <p14:creationId xmlns:p14="http://schemas.microsoft.com/office/powerpoint/2010/main" val="82696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 thruBlk="1"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88" userDrawn="1">
          <p15:clr>
            <a:srgbClr val="FBAE40"/>
          </p15:clr>
        </p15:guide>
        <p15:guide id="2" pos="3336" userDrawn="1">
          <p15:clr>
            <a:srgbClr val="FBAE40"/>
          </p15:clr>
        </p15:guide>
        <p15:guide id="3" pos="70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Agenda (b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 userDrawn="1"/>
        </p:nvSpPr>
        <p:spPr>
          <a:xfrm>
            <a:off x="9003322" y="0"/>
            <a:ext cx="3188677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6000">
                <a:schemeClr val="accent1"/>
              </a:gs>
            </a:gsLst>
            <a:lin ang="1200000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422421" y="923909"/>
            <a:ext cx="2350478" cy="5010182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>
              <a:defRPr lang="en-US" dirty="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ar-EG" dirty="0"/>
              <a:t>جدول المحتويات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</a:lstStyle>
          <a:p>
            <a:fld id="{D07F32C4-027C-41E7-9CB9-C0506AA6389A}" type="datetime1">
              <a:rPr lang="en-US" smtClean="0"/>
              <a:pPr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9600" y="6367630"/>
            <a:ext cx="3691931" cy="365125"/>
          </a:xfrm>
          <a:prstGeom prst="rect">
            <a:avLst/>
          </a:prstGeom>
        </p:spPr>
        <p:txBody>
          <a:bodyPr/>
          <a:lstStyle>
            <a:lvl1pPr rtl="1">
              <a:defRPr/>
            </a:lvl1pPr>
          </a:lstStyle>
          <a:p>
            <a:endParaRPr lang="en-US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23" hasCustomPrompt="1"/>
          </p:nvPr>
        </p:nvSpPr>
        <p:spPr>
          <a:xfrm>
            <a:off x="4664387" y="2757873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24" hasCustomPrompt="1"/>
          </p:nvPr>
        </p:nvSpPr>
        <p:spPr>
          <a:xfrm>
            <a:off x="4661165" y="3012507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50" name="Text Placeholder 6"/>
          <p:cNvSpPr>
            <a:spLocks noGrp="1"/>
          </p:cNvSpPr>
          <p:nvPr>
            <p:ph type="body" sz="quarter" idx="57" hasCustomPrompt="1"/>
          </p:nvPr>
        </p:nvSpPr>
        <p:spPr>
          <a:xfrm>
            <a:off x="7715771" y="2672766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9" name="Text Placeholder 11"/>
          <p:cNvSpPr>
            <a:spLocks noGrp="1"/>
          </p:cNvSpPr>
          <p:nvPr>
            <p:ph type="body" sz="quarter" idx="58" hasCustomPrompt="1"/>
          </p:nvPr>
        </p:nvSpPr>
        <p:spPr>
          <a:xfrm>
            <a:off x="4664387" y="3531718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40" name="Text Placeholder 11"/>
          <p:cNvSpPr>
            <a:spLocks noGrp="1"/>
          </p:cNvSpPr>
          <p:nvPr>
            <p:ph type="body" sz="quarter" idx="59" hasCustomPrompt="1"/>
          </p:nvPr>
        </p:nvSpPr>
        <p:spPr>
          <a:xfrm>
            <a:off x="4661165" y="3786352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60" hasCustomPrompt="1"/>
          </p:nvPr>
        </p:nvSpPr>
        <p:spPr>
          <a:xfrm>
            <a:off x="7715771" y="3446611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2" name="Text Placeholder 11"/>
          <p:cNvSpPr>
            <a:spLocks noGrp="1"/>
          </p:cNvSpPr>
          <p:nvPr>
            <p:ph type="body" sz="quarter" idx="61" hasCustomPrompt="1"/>
          </p:nvPr>
        </p:nvSpPr>
        <p:spPr>
          <a:xfrm>
            <a:off x="4664387" y="4305563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43" name="Text Placeholder 11"/>
          <p:cNvSpPr>
            <a:spLocks noGrp="1"/>
          </p:cNvSpPr>
          <p:nvPr>
            <p:ph type="body" sz="quarter" idx="62" hasCustomPrompt="1"/>
          </p:nvPr>
        </p:nvSpPr>
        <p:spPr>
          <a:xfrm>
            <a:off x="4661165" y="4560197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45" name="Text Placeholder 6"/>
          <p:cNvSpPr>
            <a:spLocks noGrp="1"/>
          </p:cNvSpPr>
          <p:nvPr>
            <p:ph type="body" sz="quarter" idx="63" hasCustomPrompt="1"/>
          </p:nvPr>
        </p:nvSpPr>
        <p:spPr>
          <a:xfrm>
            <a:off x="7715771" y="4220456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6" name="Text Placeholder 11"/>
          <p:cNvSpPr>
            <a:spLocks noGrp="1"/>
          </p:cNvSpPr>
          <p:nvPr>
            <p:ph type="body" sz="quarter" idx="64" hasCustomPrompt="1"/>
          </p:nvPr>
        </p:nvSpPr>
        <p:spPr>
          <a:xfrm>
            <a:off x="4664387" y="5079408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48" name="Text Placeholder 11"/>
          <p:cNvSpPr>
            <a:spLocks noGrp="1"/>
          </p:cNvSpPr>
          <p:nvPr>
            <p:ph type="body" sz="quarter" idx="65" hasCustomPrompt="1"/>
          </p:nvPr>
        </p:nvSpPr>
        <p:spPr>
          <a:xfrm>
            <a:off x="4661165" y="5334042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49" name="Text Placeholder 6"/>
          <p:cNvSpPr>
            <a:spLocks noGrp="1"/>
          </p:cNvSpPr>
          <p:nvPr>
            <p:ph type="body" sz="quarter" idx="66" hasCustomPrompt="1"/>
          </p:nvPr>
        </p:nvSpPr>
        <p:spPr>
          <a:xfrm>
            <a:off x="7715771" y="4994301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1" name="Text Placeholder 11"/>
          <p:cNvSpPr>
            <a:spLocks noGrp="1"/>
          </p:cNvSpPr>
          <p:nvPr>
            <p:ph type="body" sz="quarter" idx="67" hasCustomPrompt="1"/>
          </p:nvPr>
        </p:nvSpPr>
        <p:spPr>
          <a:xfrm>
            <a:off x="830980" y="2757873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52" name="Text Placeholder 11"/>
          <p:cNvSpPr>
            <a:spLocks noGrp="1"/>
          </p:cNvSpPr>
          <p:nvPr>
            <p:ph type="body" sz="quarter" idx="68" hasCustomPrompt="1"/>
          </p:nvPr>
        </p:nvSpPr>
        <p:spPr>
          <a:xfrm>
            <a:off x="827758" y="3012507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65" name="Text Placeholder 6"/>
          <p:cNvSpPr>
            <a:spLocks noGrp="1"/>
          </p:cNvSpPr>
          <p:nvPr>
            <p:ph type="body" sz="quarter" idx="69" hasCustomPrompt="1"/>
          </p:nvPr>
        </p:nvSpPr>
        <p:spPr>
          <a:xfrm>
            <a:off x="3882364" y="2672766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6" name="Text Placeholder 11"/>
          <p:cNvSpPr>
            <a:spLocks noGrp="1"/>
          </p:cNvSpPr>
          <p:nvPr>
            <p:ph type="body" sz="quarter" idx="70" hasCustomPrompt="1"/>
          </p:nvPr>
        </p:nvSpPr>
        <p:spPr>
          <a:xfrm>
            <a:off x="830980" y="3531718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67" name="Text Placeholder 11"/>
          <p:cNvSpPr>
            <a:spLocks noGrp="1"/>
          </p:cNvSpPr>
          <p:nvPr>
            <p:ph type="body" sz="quarter" idx="71" hasCustomPrompt="1"/>
          </p:nvPr>
        </p:nvSpPr>
        <p:spPr>
          <a:xfrm>
            <a:off x="827758" y="3786352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68" name="Text Placeholder 6"/>
          <p:cNvSpPr>
            <a:spLocks noGrp="1"/>
          </p:cNvSpPr>
          <p:nvPr>
            <p:ph type="body" sz="quarter" idx="72" hasCustomPrompt="1"/>
          </p:nvPr>
        </p:nvSpPr>
        <p:spPr>
          <a:xfrm>
            <a:off x="3882364" y="3446611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9" name="Text Placeholder 11"/>
          <p:cNvSpPr>
            <a:spLocks noGrp="1"/>
          </p:cNvSpPr>
          <p:nvPr>
            <p:ph type="body" sz="quarter" idx="73" hasCustomPrompt="1"/>
          </p:nvPr>
        </p:nvSpPr>
        <p:spPr>
          <a:xfrm>
            <a:off x="830980" y="4305563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70" name="Text Placeholder 11"/>
          <p:cNvSpPr>
            <a:spLocks noGrp="1"/>
          </p:cNvSpPr>
          <p:nvPr>
            <p:ph type="body" sz="quarter" idx="74" hasCustomPrompt="1"/>
          </p:nvPr>
        </p:nvSpPr>
        <p:spPr>
          <a:xfrm>
            <a:off x="827758" y="4560197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71" name="Text Placeholder 6"/>
          <p:cNvSpPr>
            <a:spLocks noGrp="1"/>
          </p:cNvSpPr>
          <p:nvPr>
            <p:ph type="body" sz="quarter" idx="75" hasCustomPrompt="1"/>
          </p:nvPr>
        </p:nvSpPr>
        <p:spPr>
          <a:xfrm>
            <a:off x="3882364" y="4220456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2" name="Text Placeholder 11"/>
          <p:cNvSpPr>
            <a:spLocks noGrp="1"/>
          </p:cNvSpPr>
          <p:nvPr>
            <p:ph type="body" sz="quarter" idx="76" hasCustomPrompt="1"/>
          </p:nvPr>
        </p:nvSpPr>
        <p:spPr>
          <a:xfrm>
            <a:off x="830980" y="5079408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74" name="Text Placeholder 6"/>
          <p:cNvSpPr>
            <a:spLocks noGrp="1"/>
          </p:cNvSpPr>
          <p:nvPr>
            <p:ph type="body" sz="quarter" idx="78" hasCustomPrompt="1"/>
          </p:nvPr>
        </p:nvSpPr>
        <p:spPr>
          <a:xfrm>
            <a:off x="3882364" y="4994301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79" hasCustomPrompt="1"/>
          </p:nvPr>
        </p:nvSpPr>
        <p:spPr>
          <a:xfrm>
            <a:off x="824657" y="5334042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61" name="Text Placeholder 11"/>
          <p:cNvSpPr>
            <a:spLocks noGrp="1"/>
          </p:cNvSpPr>
          <p:nvPr>
            <p:ph type="body" sz="quarter" idx="86" hasCustomPrompt="1"/>
          </p:nvPr>
        </p:nvSpPr>
        <p:spPr>
          <a:xfrm>
            <a:off x="4664387" y="1982676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62" name="Text Placeholder 11"/>
          <p:cNvSpPr>
            <a:spLocks noGrp="1"/>
          </p:cNvSpPr>
          <p:nvPr>
            <p:ph type="body" sz="quarter" idx="87" hasCustomPrompt="1"/>
          </p:nvPr>
        </p:nvSpPr>
        <p:spPr>
          <a:xfrm>
            <a:off x="4661165" y="2237310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63" name="Text Placeholder 6"/>
          <p:cNvSpPr>
            <a:spLocks noGrp="1"/>
          </p:cNvSpPr>
          <p:nvPr>
            <p:ph type="body" sz="quarter" idx="88" hasCustomPrompt="1"/>
          </p:nvPr>
        </p:nvSpPr>
        <p:spPr>
          <a:xfrm>
            <a:off x="7715771" y="1897569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4" name="Text Placeholder 11"/>
          <p:cNvSpPr>
            <a:spLocks noGrp="1"/>
          </p:cNvSpPr>
          <p:nvPr>
            <p:ph type="body" sz="quarter" idx="89" hasCustomPrompt="1"/>
          </p:nvPr>
        </p:nvSpPr>
        <p:spPr>
          <a:xfrm>
            <a:off x="4664387" y="1208831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73" name="Text Placeholder 11"/>
          <p:cNvSpPr>
            <a:spLocks noGrp="1"/>
          </p:cNvSpPr>
          <p:nvPr>
            <p:ph type="body" sz="quarter" idx="90" hasCustomPrompt="1"/>
          </p:nvPr>
        </p:nvSpPr>
        <p:spPr>
          <a:xfrm>
            <a:off x="4661165" y="1463465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75" name="Text Placeholder 6"/>
          <p:cNvSpPr>
            <a:spLocks noGrp="1"/>
          </p:cNvSpPr>
          <p:nvPr>
            <p:ph type="body" sz="quarter" idx="91" hasCustomPrompt="1"/>
          </p:nvPr>
        </p:nvSpPr>
        <p:spPr>
          <a:xfrm>
            <a:off x="7715771" y="1123724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6" name="Text Placeholder 11"/>
          <p:cNvSpPr>
            <a:spLocks noGrp="1"/>
          </p:cNvSpPr>
          <p:nvPr>
            <p:ph type="body" sz="quarter" idx="92" hasCustomPrompt="1"/>
          </p:nvPr>
        </p:nvSpPr>
        <p:spPr>
          <a:xfrm>
            <a:off x="4664387" y="5853253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77" name="Text Placeholder 11"/>
          <p:cNvSpPr>
            <a:spLocks noGrp="1"/>
          </p:cNvSpPr>
          <p:nvPr>
            <p:ph type="body" sz="quarter" idx="93" hasCustomPrompt="1"/>
          </p:nvPr>
        </p:nvSpPr>
        <p:spPr>
          <a:xfrm>
            <a:off x="4661165" y="6107887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78" name="Text Placeholder 6"/>
          <p:cNvSpPr>
            <a:spLocks noGrp="1"/>
          </p:cNvSpPr>
          <p:nvPr>
            <p:ph type="body" sz="quarter" idx="94" hasCustomPrompt="1"/>
          </p:nvPr>
        </p:nvSpPr>
        <p:spPr>
          <a:xfrm>
            <a:off x="7715771" y="5768146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9" name="Text Placeholder 11"/>
          <p:cNvSpPr>
            <a:spLocks noGrp="1"/>
          </p:cNvSpPr>
          <p:nvPr>
            <p:ph type="body" sz="quarter" idx="95" hasCustomPrompt="1"/>
          </p:nvPr>
        </p:nvSpPr>
        <p:spPr>
          <a:xfrm>
            <a:off x="830980" y="1982676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80" name="Text Placeholder 11"/>
          <p:cNvSpPr>
            <a:spLocks noGrp="1"/>
          </p:cNvSpPr>
          <p:nvPr>
            <p:ph type="body" sz="quarter" idx="96" hasCustomPrompt="1"/>
          </p:nvPr>
        </p:nvSpPr>
        <p:spPr>
          <a:xfrm>
            <a:off x="827758" y="2237310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81" name="Text Placeholder 6"/>
          <p:cNvSpPr>
            <a:spLocks noGrp="1"/>
          </p:cNvSpPr>
          <p:nvPr>
            <p:ph type="body" sz="quarter" idx="97" hasCustomPrompt="1"/>
          </p:nvPr>
        </p:nvSpPr>
        <p:spPr>
          <a:xfrm>
            <a:off x="3882364" y="1897569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2" name="Text Placeholder 11"/>
          <p:cNvSpPr>
            <a:spLocks noGrp="1"/>
          </p:cNvSpPr>
          <p:nvPr>
            <p:ph type="body" sz="quarter" idx="98" hasCustomPrompt="1"/>
          </p:nvPr>
        </p:nvSpPr>
        <p:spPr>
          <a:xfrm>
            <a:off x="830980" y="1208831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83" name="Text Placeholder 11"/>
          <p:cNvSpPr>
            <a:spLocks noGrp="1"/>
          </p:cNvSpPr>
          <p:nvPr>
            <p:ph type="body" sz="quarter" idx="99" hasCustomPrompt="1"/>
          </p:nvPr>
        </p:nvSpPr>
        <p:spPr>
          <a:xfrm>
            <a:off x="827758" y="1463465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84" name="Text Placeholder 6"/>
          <p:cNvSpPr>
            <a:spLocks noGrp="1"/>
          </p:cNvSpPr>
          <p:nvPr>
            <p:ph type="body" sz="quarter" idx="100" hasCustomPrompt="1"/>
          </p:nvPr>
        </p:nvSpPr>
        <p:spPr>
          <a:xfrm>
            <a:off x="3882364" y="1123724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5" name="Text Placeholder 11"/>
          <p:cNvSpPr>
            <a:spLocks noGrp="1"/>
          </p:cNvSpPr>
          <p:nvPr>
            <p:ph type="body" sz="quarter" idx="101" hasCustomPrompt="1"/>
          </p:nvPr>
        </p:nvSpPr>
        <p:spPr>
          <a:xfrm>
            <a:off x="830980" y="5853253"/>
            <a:ext cx="2754247" cy="228600"/>
          </a:xfrm>
        </p:spPr>
        <p:txBody>
          <a:bodyPr lIns="0" tIns="0" rIns="0" bIns="0">
            <a:noAutofit/>
          </a:bodyPr>
          <a:lstStyle>
            <a:lvl1pPr marL="0" indent="0" algn="r" rtl="1">
              <a:buNone/>
              <a:defRPr sz="18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86" name="Text Placeholder 11"/>
          <p:cNvSpPr>
            <a:spLocks noGrp="1"/>
          </p:cNvSpPr>
          <p:nvPr>
            <p:ph type="body" sz="quarter" idx="102" hasCustomPrompt="1"/>
          </p:nvPr>
        </p:nvSpPr>
        <p:spPr>
          <a:xfrm>
            <a:off x="827758" y="6107887"/>
            <a:ext cx="2766892" cy="270175"/>
          </a:xfrm>
        </p:spPr>
        <p:txBody>
          <a:bodyPr lIns="0" tIns="0" rIns="0" bIns="0"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87" name="Text Placeholder 6"/>
          <p:cNvSpPr>
            <a:spLocks noGrp="1"/>
          </p:cNvSpPr>
          <p:nvPr>
            <p:ph type="body" sz="quarter" idx="103" hasCustomPrompt="1"/>
          </p:nvPr>
        </p:nvSpPr>
        <p:spPr>
          <a:xfrm>
            <a:off x="3882364" y="5768146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wrap="square" lIns="0" tIns="64008" rIns="0" bIns="0" anchor="ctr" anchorCtr="0">
            <a:noAutofit/>
          </a:bodyPr>
          <a:lstStyle>
            <a:lvl1pPr marL="0" indent="0" algn="ctr" rtl="1">
              <a:lnSpc>
                <a:spcPct val="100000"/>
              </a:lnSpc>
              <a:spcBef>
                <a:spcPts val="0"/>
              </a:spcBef>
              <a:buNone/>
              <a:defRPr sz="2000" b="1" kern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1452" y="6335328"/>
            <a:ext cx="439703" cy="3200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>
            <a:lvl1pPr algn="l">
              <a:defRPr lang="en-US" sz="1400" b="1" smtClean="0">
                <a:solidFill>
                  <a:schemeClr val="accent1"/>
                </a:solidFill>
              </a:defRPr>
            </a:lvl1pPr>
          </a:lstStyle>
          <a:p>
            <a:pPr rtl="1"/>
            <a:r>
              <a:rPr lang="en-US"/>
              <a:t>#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75B88D-BA01-1F9E-6243-DA286D73D2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52" y="277136"/>
            <a:ext cx="2464906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418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960">
          <p15:clr>
            <a:srgbClr val="FBAE40"/>
          </p15:clr>
        </p15:guide>
        <p15:guide id="2" pos="67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Agenda (b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56EA63-0ACA-2641-5B9B-A593E15C93E8}"/>
              </a:ext>
            </a:extLst>
          </p:cNvPr>
          <p:cNvSpPr/>
          <p:nvPr userDrawn="1"/>
        </p:nvSpPr>
        <p:spPr>
          <a:xfrm>
            <a:off x="9003322" y="0"/>
            <a:ext cx="3188677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46000">
                <a:schemeClr val="accent1"/>
              </a:gs>
            </a:gsLst>
            <a:lin ang="1200000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79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>
            <a:lvl1pPr algn="r" rtl="1">
              <a:defRPr/>
            </a:lvl1pPr>
          </a:lstStyle>
          <a:p>
            <a:fld id="{D07F32C4-027C-41E7-9CB9-C0506AA6389A}" type="datetime1">
              <a:rPr lang="en-US" smtClean="0"/>
              <a:pPr/>
              <a:t>4/6/2025</a:t>
            </a:fld>
            <a:endParaRPr lang="en-US"/>
          </a:p>
        </p:txBody>
      </p:sp>
      <p:sp>
        <p:nvSpPr>
          <p:cNvPr id="18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89600" y="6367630"/>
            <a:ext cx="3691931" cy="365125"/>
          </a:xfrm>
          <a:prstGeom prst="rect">
            <a:avLst/>
          </a:prstGeom>
        </p:spPr>
        <p:txBody>
          <a:bodyPr/>
          <a:lstStyle>
            <a:lvl1pPr rtl="1">
              <a:defRPr/>
            </a:lvl1pPr>
          </a:lstStyle>
          <a:p>
            <a:endParaRPr lang="en-US" dirty="0"/>
          </a:p>
        </p:txBody>
      </p:sp>
      <p:sp>
        <p:nvSpPr>
          <p:cNvPr id="18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1452" y="6335328"/>
            <a:ext cx="439703" cy="320040"/>
          </a:xfrm>
        </p:spPr>
        <p:txBody>
          <a:bodyPr/>
          <a:lstStyle>
            <a:lvl1pPr algn="l" rtl="1">
              <a:defRPr sz="1200">
                <a:solidFill>
                  <a:schemeClr val="accent1"/>
                </a:solidFill>
              </a:defRPr>
            </a:lvl1pPr>
          </a:lstStyle>
          <a:p>
            <a:fld id="{46ED658E-7B78-4C3F-B2D4-66856F143B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2" name="Title 1"/>
          <p:cNvSpPr>
            <a:spLocks noGrp="1"/>
          </p:cNvSpPr>
          <p:nvPr>
            <p:ph type="title" hasCustomPrompt="1"/>
          </p:nvPr>
        </p:nvSpPr>
        <p:spPr>
          <a:xfrm>
            <a:off x="9207769" y="3185566"/>
            <a:ext cx="2779783" cy="486869"/>
          </a:xfrm>
        </p:spPr>
        <p:txBody>
          <a:bodyPr>
            <a:noAutofit/>
          </a:bodyPr>
          <a:lstStyle>
            <a:lvl1pPr algn="ctr">
              <a:defRPr sz="3600" spc="200" baseline="0">
                <a:solidFill>
                  <a:schemeClr val="bg1"/>
                </a:solidFill>
              </a:defRPr>
            </a:lvl1pPr>
          </a:lstStyle>
          <a:p>
            <a:r>
              <a:rPr lang="ar-EG" dirty="0"/>
              <a:t>جدول المحتويات</a:t>
            </a:r>
            <a:endParaRPr lang="en-US" dirty="0"/>
          </a:p>
        </p:txBody>
      </p:sp>
      <p:sp>
        <p:nvSpPr>
          <p:cNvPr id="183" name="Text Placehold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1307048" y="1477694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84" name="Text Placeholder 11"/>
          <p:cNvSpPr>
            <a:spLocks noGrp="1"/>
          </p:cNvSpPr>
          <p:nvPr>
            <p:ph type="body" sz="quarter" idx="23" hasCustomPrompt="1"/>
          </p:nvPr>
        </p:nvSpPr>
        <p:spPr>
          <a:xfrm>
            <a:off x="4980125" y="1477694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85" name="Text Placeholder 11"/>
          <p:cNvSpPr>
            <a:spLocks noGrp="1"/>
          </p:cNvSpPr>
          <p:nvPr>
            <p:ph type="body" sz="quarter" idx="32" hasCustomPrompt="1"/>
          </p:nvPr>
        </p:nvSpPr>
        <p:spPr>
          <a:xfrm>
            <a:off x="1307048" y="2304763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86" name="Text Placeholder 11"/>
          <p:cNvSpPr>
            <a:spLocks noGrp="1"/>
          </p:cNvSpPr>
          <p:nvPr>
            <p:ph type="body" sz="quarter" idx="35" hasCustomPrompt="1"/>
          </p:nvPr>
        </p:nvSpPr>
        <p:spPr>
          <a:xfrm>
            <a:off x="4980125" y="2304763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87" name="Text Placeholder 11"/>
          <p:cNvSpPr>
            <a:spLocks noGrp="1"/>
          </p:cNvSpPr>
          <p:nvPr>
            <p:ph type="body" sz="quarter" idx="44" hasCustomPrompt="1"/>
          </p:nvPr>
        </p:nvSpPr>
        <p:spPr>
          <a:xfrm>
            <a:off x="1307048" y="3131832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88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4980125" y="3131832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89" name="Text Placeholder 6"/>
          <p:cNvSpPr>
            <a:spLocks noGrp="1"/>
          </p:cNvSpPr>
          <p:nvPr>
            <p:ph type="body" sz="quarter" idx="54" hasCustomPrompt="1"/>
          </p:nvPr>
        </p:nvSpPr>
        <p:spPr>
          <a:xfrm>
            <a:off x="4038533" y="1386812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190" name="Text Placeholder 6"/>
          <p:cNvSpPr>
            <a:spLocks noGrp="1"/>
          </p:cNvSpPr>
          <p:nvPr>
            <p:ph type="body" sz="quarter" idx="55" hasCustomPrompt="1"/>
          </p:nvPr>
        </p:nvSpPr>
        <p:spPr>
          <a:xfrm>
            <a:off x="4038533" y="2216904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191" name="Text Placeholder 6"/>
          <p:cNvSpPr>
            <a:spLocks noGrp="1"/>
          </p:cNvSpPr>
          <p:nvPr>
            <p:ph type="body" sz="quarter" idx="56" hasCustomPrompt="1"/>
          </p:nvPr>
        </p:nvSpPr>
        <p:spPr>
          <a:xfrm>
            <a:off x="4038533" y="3046996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192" name="Text Placeholder 6"/>
          <p:cNvSpPr>
            <a:spLocks noGrp="1"/>
          </p:cNvSpPr>
          <p:nvPr>
            <p:ph type="body" sz="quarter" idx="57" hasCustomPrompt="1"/>
          </p:nvPr>
        </p:nvSpPr>
        <p:spPr>
          <a:xfrm>
            <a:off x="7715771" y="1386812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193" name="Text Placeholder 6"/>
          <p:cNvSpPr>
            <a:spLocks noGrp="1"/>
          </p:cNvSpPr>
          <p:nvPr>
            <p:ph type="body" sz="quarter" idx="58" hasCustomPrompt="1"/>
          </p:nvPr>
        </p:nvSpPr>
        <p:spPr>
          <a:xfrm>
            <a:off x="7715771" y="2216904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194" name="Text Placeholder 6"/>
          <p:cNvSpPr>
            <a:spLocks noGrp="1"/>
          </p:cNvSpPr>
          <p:nvPr>
            <p:ph type="body" sz="quarter" idx="59" hasCustomPrompt="1"/>
          </p:nvPr>
        </p:nvSpPr>
        <p:spPr>
          <a:xfrm>
            <a:off x="7715771" y="3046996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195" name="Text Placeholder 11"/>
          <p:cNvSpPr>
            <a:spLocks noGrp="1"/>
          </p:cNvSpPr>
          <p:nvPr>
            <p:ph type="body" sz="quarter" idx="60" hasCustomPrompt="1"/>
          </p:nvPr>
        </p:nvSpPr>
        <p:spPr>
          <a:xfrm>
            <a:off x="1307048" y="3968953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96" name="Text Placeholder 11"/>
          <p:cNvSpPr>
            <a:spLocks noGrp="1"/>
          </p:cNvSpPr>
          <p:nvPr>
            <p:ph type="body" sz="quarter" idx="61" hasCustomPrompt="1"/>
          </p:nvPr>
        </p:nvSpPr>
        <p:spPr>
          <a:xfrm>
            <a:off x="4980125" y="3968953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97" name="Text Placeholder 11"/>
          <p:cNvSpPr>
            <a:spLocks noGrp="1"/>
          </p:cNvSpPr>
          <p:nvPr>
            <p:ph type="body" sz="quarter" idx="62" hasCustomPrompt="1"/>
          </p:nvPr>
        </p:nvSpPr>
        <p:spPr>
          <a:xfrm>
            <a:off x="1307048" y="4796022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98" name="Text Placeholder 11"/>
          <p:cNvSpPr>
            <a:spLocks noGrp="1"/>
          </p:cNvSpPr>
          <p:nvPr>
            <p:ph type="body" sz="quarter" idx="63" hasCustomPrompt="1"/>
          </p:nvPr>
        </p:nvSpPr>
        <p:spPr>
          <a:xfrm>
            <a:off x="4980125" y="4796022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199" name="Text Placeholder 11"/>
          <p:cNvSpPr>
            <a:spLocks noGrp="1"/>
          </p:cNvSpPr>
          <p:nvPr>
            <p:ph type="body" sz="quarter" idx="64" hasCustomPrompt="1"/>
          </p:nvPr>
        </p:nvSpPr>
        <p:spPr>
          <a:xfrm>
            <a:off x="1307048" y="5623091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200" name="Text Placeholder 11"/>
          <p:cNvSpPr>
            <a:spLocks noGrp="1"/>
          </p:cNvSpPr>
          <p:nvPr>
            <p:ph type="body" sz="quarter" idx="65" hasCustomPrompt="1"/>
          </p:nvPr>
        </p:nvSpPr>
        <p:spPr>
          <a:xfrm>
            <a:off x="4980125" y="5623091"/>
            <a:ext cx="2413319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العنوان</a:t>
            </a:r>
            <a:endParaRPr lang="en-US" dirty="0"/>
          </a:p>
        </p:txBody>
      </p:sp>
      <p:sp>
        <p:nvSpPr>
          <p:cNvPr id="201" name="Text Placeholder 6"/>
          <p:cNvSpPr>
            <a:spLocks noGrp="1"/>
          </p:cNvSpPr>
          <p:nvPr>
            <p:ph type="body" sz="quarter" idx="66" hasCustomPrompt="1"/>
          </p:nvPr>
        </p:nvSpPr>
        <p:spPr>
          <a:xfrm>
            <a:off x="4038533" y="3878071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202" name="Text Placeholder 6"/>
          <p:cNvSpPr>
            <a:spLocks noGrp="1"/>
          </p:cNvSpPr>
          <p:nvPr>
            <p:ph type="body" sz="quarter" idx="67" hasCustomPrompt="1"/>
          </p:nvPr>
        </p:nvSpPr>
        <p:spPr>
          <a:xfrm>
            <a:off x="4038533" y="4708163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203" name="Text Placeholder 6"/>
          <p:cNvSpPr>
            <a:spLocks noGrp="1"/>
          </p:cNvSpPr>
          <p:nvPr>
            <p:ph type="body" sz="quarter" idx="68" hasCustomPrompt="1"/>
          </p:nvPr>
        </p:nvSpPr>
        <p:spPr>
          <a:xfrm>
            <a:off x="4038533" y="5538255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204" name="Text Placeholder 6"/>
          <p:cNvSpPr>
            <a:spLocks noGrp="1"/>
          </p:cNvSpPr>
          <p:nvPr>
            <p:ph type="body" sz="quarter" idx="69" hasCustomPrompt="1"/>
          </p:nvPr>
        </p:nvSpPr>
        <p:spPr>
          <a:xfrm>
            <a:off x="7715771" y="3878071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205" name="Text Placeholder 6"/>
          <p:cNvSpPr>
            <a:spLocks noGrp="1"/>
          </p:cNvSpPr>
          <p:nvPr>
            <p:ph type="body" sz="quarter" idx="70" hasCustomPrompt="1"/>
          </p:nvPr>
        </p:nvSpPr>
        <p:spPr>
          <a:xfrm>
            <a:off x="7715771" y="4708163"/>
            <a:ext cx="365760" cy="36576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sp>
        <p:nvSpPr>
          <p:cNvPr id="206" name="Text Placeholder 6"/>
          <p:cNvSpPr>
            <a:spLocks noGrp="1"/>
          </p:cNvSpPr>
          <p:nvPr>
            <p:ph type="body" sz="quarter" idx="71" hasCustomPrompt="1"/>
          </p:nvPr>
        </p:nvSpPr>
        <p:spPr>
          <a:xfrm>
            <a:off x="7715771" y="5538255"/>
            <a:ext cx="365760" cy="365760"/>
          </a:xfrm>
          <a:prstGeom prst="rect">
            <a:avLst/>
          </a:prstGeom>
          <a:solidFill>
            <a:schemeClr val="accent1"/>
          </a:solidFill>
          <a:ln w="15875">
            <a:noFill/>
          </a:ln>
        </p:spPr>
        <p:txBody>
          <a:bodyPr vert="horz" wrap="square" lIns="0" tIns="64008" rIns="0" bIns="0" rtlCol="0" anchor="ctr" anchorCtr="0">
            <a:noAutofit/>
          </a:bodyPr>
          <a:lstStyle>
            <a:lvl1pPr algn="ctr">
              <a:defRPr lang="en-US" sz="2000" b="1" kern="0" baseline="0" dirty="0">
                <a:solidFill>
                  <a:schemeClr val="bg1"/>
                </a:solidFill>
              </a:defRPr>
            </a:lvl1pPr>
          </a:lstStyle>
          <a:p>
            <a:pPr lvl="0" algn="ctr">
              <a:spcBef>
                <a:spcPts val="0"/>
              </a:spcBef>
            </a:pPr>
            <a:r>
              <a:rPr lang="en-US" dirty="0"/>
              <a:t>#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E1AC8B-C2AF-7EC8-8BD1-AD35C320C9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52" y="277136"/>
            <a:ext cx="2464906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7037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960">
          <p15:clr>
            <a:srgbClr val="FBAE40"/>
          </p15:clr>
        </p15:guide>
        <p15:guide id="2" pos="67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8153400" y="1352939"/>
            <a:ext cx="4038600" cy="5505061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8153400" y="-373"/>
            <a:ext cx="4038600" cy="6217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153400" y="621419"/>
            <a:ext cx="403860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08759" y="621420"/>
            <a:ext cx="3727882" cy="731519"/>
          </a:xfrm>
        </p:spPr>
        <p:txBody>
          <a:bodyPr anchor="ctr" anchorCtr="0"/>
          <a:lstStyle>
            <a:lvl1pPr algn="ct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ar-EG" dirty="0"/>
              <a:t>جدول المحتويات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3196257" y="1604963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27"/>
          <p:cNvSpPr>
            <a:spLocks noGrp="1"/>
          </p:cNvSpPr>
          <p:nvPr>
            <p:ph type="body" sz="quarter" idx="14"/>
          </p:nvPr>
        </p:nvSpPr>
        <p:spPr>
          <a:xfrm>
            <a:off x="3196257" y="2010050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27"/>
          <p:cNvSpPr>
            <a:spLocks noGrp="1"/>
          </p:cNvSpPr>
          <p:nvPr>
            <p:ph type="body" sz="quarter" idx="15"/>
          </p:nvPr>
        </p:nvSpPr>
        <p:spPr>
          <a:xfrm>
            <a:off x="3196257" y="2415137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3196257" y="2820224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7"/>
          <p:cNvSpPr>
            <a:spLocks noGrp="1"/>
          </p:cNvSpPr>
          <p:nvPr>
            <p:ph type="body" sz="quarter" idx="17"/>
          </p:nvPr>
        </p:nvSpPr>
        <p:spPr>
          <a:xfrm>
            <a:off x="3196257" y="3225311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7"/>
          <p:cNvSpPr>
            <a:spLocks noGrp="1"/>
          </p:cNvSpPr>
          <p:nvPr>
            <p:ph type="body" sz="quarter" idx="18"/>
          </p:nvPr>
        </p:nvSpPr>
        <p:spPr>
          <a:xfrm>
            <a:off x="3196257" y="3630398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7"/>
          <p:cNvSpPr>
            <a:spLocks noGrp="1"/>
          </p:cNvSpPr>
          <p:nvPr>
            <p:ph type="body" sz="quarter" idx="19"/>
          </p:nvPr>
        </p:nvSpPr>
        <p:spPr>
          <a:xfrm>
            <a:off x="3196257" y="4035485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3196257" y="4440572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3196257" y="4845659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3196257" y="5250746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3196257" y="5655833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3196257" y="6060918"/>
            <a:ext cx="4748213" cy="354012"/>
          </a:xfrm>
        </p:spPr>
        <p:txBody>
          <a:bodyPr anchor="ctr" anchorCtr="0">
            <a:noAutofit/>
          </a:bodyPr>
          <a:lstStyle>
            <a:lvl1pPr marL="0" indent="0" algn="r" rtl="1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Box 81"/>
          <p:cNvSpPr txBox="1"/>
          <p:nvPr userDrawn="1"/>
        </p:nvSpPr>
        <p:spPr>
          <a:xfrm>
            <a:off x="2214857" y="2716272"/>
            <a:ext cx="134431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 fontAlgn="base"/>
            <a:r>
              <a:rPr lang="en-US" sz="1600" b="1" dirty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1452" y="6335328"/>
            <a:ext cx="439703" cy="3200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>
            <a:lvl1pPr algn="l">
              <a:defRPr lang="en-US" sz="1400" b="1" smtClean="0">
                <a:solidFill>
                  <a:schemeClr val="accent1"/>
                </a:solidFill>
              </a:defRPr>
            </a:lvl1pPr>
          </a:lstStyle>
          <a:p>
            <a:pPr rtl="1"/>
            <a:r>
              <a:rPr lang="en-US"/>
              <a:t>#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0176E-CEC2-70DC-C086-2D881B3412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52" y="277136"/>
            <a:ext cx="2464906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54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0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3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84913560-8229-45AB-89CF-A554C7EFF781}" type="datetime1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489825" y="0"/>
            <a:ext cx="470217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75918"/>
            <a:ext cx="6115756" cy="666261"/>
          </a:xfrm>
        </p:spPr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84913560-8229-45AB-89CF-A554C7EFF781}" type="datetime1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1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lvl="1"/>
            <a:r>
              <a:rPr lang="ar-EG" dirty="0"/>
              <a:t>المستوى الثاني</a:t>
            </a:r>
            <a:endParaRPr lang="en-US" dirty="0"/>
          </a:p>
          <a:p>
            <a:pPr lvl="2"/>
            <a:r>
              <a:rPr lang="ar-EG" dirty="0"/>
              <a:t>المستوى الثالث</a:t>
            </a:r>
            <a:endParaRPr lang="en-US" dirty="0"/>
          </a:p>
          <a:p>
            <a:pPr lvl="3"/>
            <a:r>
              <a:rPr lang="ar-EG" dirty="0"/>
              <a:t>المستوى الرابع</a:t>
            </a:r>
            <a:endParaRPr lang="en-US" dirty="0"/>
          </a:p>
          <a:p>
            <a:pPr lvl="4"/>
            <a:r>
              <a:rPr lang="ar-EG" dirty="0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F2A58179-A128-427D-87DD-C6A55F04E0A8}" type="datetime1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0035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834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white rectangle&#10;&#10;Description automatically generated">
            <a:extLst>
              <a:ext uri="{FF2B5EF4-FFF2-40B4-BE49-F238E27FC236}">
                <a16:creationId xmlns:a16="http://schemas.microsoft.com/office/drawing/2014/main" id="{5D8E7D26-4E4F-35D7-4CE8-4428C2B6C8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28634" y="3925452"/>
            <a:ext cx="5615666" cy="641639"/>
          </a:xfrm>
          <a:noFill/>
        </p:spPr>
        <p:txBody>
          <a:bodyPr lIns="0" rIns="0" anchor="t" anchorCtr="0">
            <a:noAutofit/>
          </a:bodyPr>
          <a:lstStyle>
            <a:lvl1pPr algn="r">
              <a:defRPr sz="360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defRPr>
            </a:lvl1pPr>
          </a:lstStyle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292975" y="7016661"/>
            <a:ext cx="4251325" cy="865187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rgbClr val="E6E6E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1626" y="2343256"/>
            <a:ext cx="1942674" cy="1181919"/>
          </a:xfrm>
          <a:noFill/>
        </p:spPr>
        <p:txBody>
          <a:bodyPr lIns="0" tIns="0" bIns="0" anchor="ctr" anchorCtr="0">
            <a:noAutofit/>
          </a:bodyPr>
          <a:lstStyle>
            <a:lvl1pPr marL="0" indent="0" algn="ctr">
              <a:buNone/>
              <a:defRPr sz="8800" b="1">
                <a:ln w="19050"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ar-EG" dirty="0"/>
              <a:t>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89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extLst>
    <p:ext uri="{DCECCB84-F9BA-43D5-87BE-67443E8EF086}">
      <p15:sldGuideLst xmlns:p15="http://schemas.microsoft.com/office/powerpoint/2012/main">
        <p15:guide id="1" pos="7272" userDrawn="1">
          <p15:clr>
            <a:srgbClr val="FBAE40"/>
          </p15:clr>
        </p15:guide>
        <p15:guide id="2" pos="6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49C7275D-5BB8-4235-AA87-2A9EA75815F5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3CAB-C57B-49C6-A95E-89979DFB2E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6197600" y="1447799"/>
            <a:ext cx="5156200" cy="3037381"/>
          </a:xfrm>
        </p:spPr>
        <p:txBody>
          <a:bodyPr/>
          <a:lstStyle/>
          <a:p>
            <a:r>
              <a:rPr lang="ar-EG" dirty="0"/>
              <a:t>اضغط على الأيقونة لإضافة صورة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6197600" y="4538892"/>
            <a:ext cx="5156200" cy="4699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115084"/>
            <a:ext cx="5156200" cy="725416"/>
          </a:xfrm>
        </p:spPr>
        <p:txBody>
          <a:bodyPr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تعديل النص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6197600" y="5115084"/>
            <a:ext cx="5156200" cy="725416"/>
          </a:xfrm>
        </p:spPr>
        <p:txBody>
          <a:bodyPr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538892"/>
            <a:ext cx="5156200" cy="4699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838200" y="1447799"/>
            <a:ext cx="5156200" cy="3037381"/>
          </a:xfrm>
        </p:spPr>
        <p:txBody>
          <a:bodyPr/>
          <a:lstStyle/>
          <a:p>
            <a:r>
              <a:rPr lang="ar-EG" dirty="0"/>
              <a:t>اضغط على الأيقونة لإضافة صورة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4512036"/>
            <a:ext cx="515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6197600" y="4512036"/>
            <a:ext cx="515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838200" y="5846160"/>
            <a:ext cx="5156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6197600" y="5846160"/>
            <a:ext cx="5156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23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49C7275D-5BB8-4235-AA87-2A9EA75815F5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3CAB-C57B-49C6-A95E-89979DFB2E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6197600" y="4538892"/>
            <a:ext cx="5156200" cy="4699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115084"/>
            <a:ext cx="5156200" cy="725416"/>
          </a:xfrm>
        </p:spPr>
        <p:txBody>
          <a:bodyPr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تعديل النص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6197600" y="5115084"/>
            <a:ext cx="5156200" cy="725416"/>
          </a:xfrm>
        </p:spPr>
        <p:txBody>
          <a:bodyPr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538892"/>
            <a:ext cx="5156200" cy="469900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4512036"/>
            <a:ext cx="515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6197600" y="4512036"/>
            <a:ext cx="515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838200" y="5846160"/>
            <a:ext cx="5156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6197600" y="5846160"/>
            <a:ext cx="51562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/>
          <p:cNvSpPr>
            <a:spLocks noGrp="1"/>
          </p:cNvSpPr>
          <p:nvPr>
            <p:ph sz="quarter" idx="19" hasCustomPrompt="1"/>
          </p:nvPr>
        </p:nvSpPr>
        <p:spPr>
          <a:xfrm>
            <a:off x="6197600" y="1470188"/>
            <a:ext cx="5156200" cy="306304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lvl="1"/>
            <a:r>
              <a:rPr lang="ar-EG" dirty="0"/>
              <a:t>مستوى ثان</a:t>
            </a:r>
            <a:endParaRPr lang="en-US" dirty="0"/>
          </a:p>
          <a:p>
            <a:pPr lvl="2"/>
            <a:r>
              <a:rPr lang="ar-EG" dirty="0"/>
              <a:t>مستوى ثالث</a:t>
            </a:r>
            <a:endParaRPr lang="en-US" dirty="0"/>
          </a:p>
          <a:p>
            <a:pPr lvl="3"/>
            <a:r>
              <a:rPr lang="ar-EG" dirty="0"/>
              <a:t>مستوى رابع</a:t>
            </a:r>
            <a:endParaRPr lang="en-US" dirty="0"/>
          </a:p>
          <a:p>
            <a:pPr lvl="4"/>
            <a:r>
              <a:rPr lang="ar-EG" dirty="0"/>
              <a:t>مستوى خامس</a:t>
            </a:r>
            <a:endParaRPr lang="en-US" dirty="0"/>
          </a:p>
        </p:txBody>
      </p:sp>
      <p:sp>
        <p:nvSpPr>
          <p:cNvPr id="21" name="Content Placeholder 8"/>
          <p:cNvSpPr>
            <a:spLocks noGrp="1"/>
          </p:cNvSpPr>
          <p:nvPr>
            <p:ph sz="quarter" idx="20" hasCustomPrompt="1"/>
          </p:nvPr>
        </p:nvSpPr>
        <p:spPr>
          <a:xfrm>
            <a:off x="838200" y="1470188"/>
            <a:ext cx="5156200" cy="306304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lvl="1"/>
            <a:r>
              <a:rPr lang="ar-EG" dirty="0"/>
              <a:t>مستوى ثان</a:t>
            </a:r>
            <a:endParaRPr lang="en-US" dirty="0"/>
          </a:p>
          <a:p>
            <a:pPr lvl="2"/>
            <a:r>
              <a:rPr lang="ar-EG" dirty="0"/>
              <a:t>مستوى ثالث</a:t>
            </a:r>
            <a:endParaRPr lang="en-US" dirty="0"/>
          </a:p>
          <a:p>
            <a:pPr lvl="3"/>
            <a:r>
              <a:rPr lang="ar-EG" dirty="0"/>
              <a:t>مستوى رابع</a:t>
            </a:r>
            <a:endParaRPr lang="en-US" dirty="0"/>
          </a:p>
          <a:p>
            <a:pPr lvl="4"/>
            <a:r>
              <a:rPr lang="ar-EG" dirty="0"/>
              <a:t>مستوى خامس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94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49C7275D-5BB8-4235-AA87-2A9EA75815F5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3CAB-C57B-49C6-A95E-89979DFB2E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54189"/>
            <a:ext cx="5257800" cy="469900"/>
          </a:xfrm>
          <a:solidFill>
            <a:schemeClr val="accent1"/>
          </a:solidFill>
          <a:ln>
            <a:solidFill>
              <a:schemeClr val="bg1"/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1924089"/>
            <a:ext cx="5257800" cy="4160520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182880" tIns="182880" rIns="182880">
            <a:norm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lvl="1"/>
            <a:r>
              <a:rPr lang="ar-EG" dirty="0"/>
              <a:t>مستوى ثان</a:t>
            </a:r>
            <a:endParaRPr lang="en-US" dirty="0"/>
          </a:p>
          <a:p>
            <a:pPr lvl="2"/>
            <a:r>
              <a:rPr lang="ar-EG" dirty="0"/>
              <a:t>مستوى ثالث</a:t>
            </a:r>
            <a:endParaRPr lang="en-US" dirty="0"/>
          </a:p>
          <a:p>
            <a:pPr lvl="3"/>
            <a:r>
              <a:rPr lang="ar-EG" dirty="0"/>
              <a:t>مستوى رابع</a:t>
            </a:r>
            <a:endParaRPr lang="en-US" dirty="0"/>
          </a:p>
          <a:p>
            <a:pPr lvl="4"/>
            <a:r>
              <a:rPr lang="ar-EG" dirty="0"/>
              <a:t>مستوى خامس</a:t>
            </a:r>
            <a:endParaRPr lang="en-US" dirty="0"/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27" hasCustomPrompt="1"/>
          </p:nvPr>
        </p:nvSpPr>
        <p:spPr>
          <a:xfrm>
            <a:off x="838169" y="1454189"/>
            <a:ext cx="5257800" cy="469900"/>
          </a:xfrm>
          <a:solidFill>
            <a:schemeClr val="accent2"/>
          </a:solidFill>
          <a:ln>
            <a:solidFill>
              <a:schemeClr val="bg1"/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838169" y="1924089"/>
            <a:ext cx="5257800" cy="4160520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lIns="182880" tIns="182880" rIns="182880">
            <a:norm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lvl="1"/>
            <a:r>
              <a:rPr lang="ar-EG" dirty="0"/>
              <a:t>مستوى ثان</a:t>
            </a:r>
            <a:endParaRPr lang="en-US" dirty="0"/>
          </a:p>
          <a:p>
            <a:pPr lvl="2"/>
            <a:r>
              <a:rPr lang="ar-EG" dirty="0"/>
              <a:t>مستوى ثالث</a:t>
            </a:r>
            <a:endParaRPr lang="en-US" dirty="0"/>
          </a:p>
          <a:p>
            <a:pPr lvl="3"/>
            <a:r>
              <a:rPr lang="ar-EG" dirty="0"/>
              <a:t>مستوى رابع</a:t>
            </a:r>
            <a:endParaRPr lang="en-US" dirty="0"/>
          </a:p>
          <a:p>
            <a:pPr lvl="4"/>
            <a:r>
              <a:rPr lang="ar-EG" dirty="0"/>
              <a:t>مستوى خامس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5971" y="6096000"/>
            <a:ext cx="5257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 flipV="1">
            <a:off x="838171" y="6095999"/>
            <a:ext cx="5257800" cy="3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14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49C7275D-5BB8-4235-AA87-2A9EA75815F5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13CAB-C57B-49C6-A95E-89979DFB2E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8719767" y="1465912"/>
            <a:ext cx="2624328" cy="469900"/>
          </a:xfrm>
          <a:solidFill>
            <a:schemeClr val="accent1"/>
          </a:solidFill>
          <a:ln>
            <a:solidFill>
              <a:schemeClr val="bg1"/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8719767" y="1935163"/>
            <a:ext cx="2624328" cy="4160837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tIns="91440" rIns="91440">
            <a:normAutofit/>
          </a:bodyPr>
          <a:lstStyle>
            <a:lvl1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88925" indent="0">
              <a:buNone/>
              <a:defRPr sz="1200"/>
            </a:lvl2pPr>
            <a:lvl3pPr marL="571500" indent="0">
              <a:buNone/>
              <a:defRPr sz="1100"/>
            </a:lvl3pPr>
            <a:lvl4pPr marL="857250" indent="0">
              <a:buNone/>
              <a:defRPr sz="1050"/>
            </a:lvl4pPr>
            <a:lvl5pPr marL="1085850" indent="0">
              <a:buNone/>
              <a:defRPr sz="1050"/>
            </a:lvl5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27" hasCustomPrompt="1"/>
          </p:nvPr>
        </p:nvSpPr>
        <p:spPr>
          <a:xfrm>
            <a:off x="6098798" y="1465912"/>
            <a:ext cx="2624328" cy="469900"/>
          </a:xfrm>
          <a:solidFill>
            <a:schemeClr val="accent2"/>
          </a:solidFill>
          <a:ln>
            <a:solidFill>
              <a:schemeClr val="bg1"/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6098798" y="1935163"/>
            <a:ext cx="2624328" cy="4160837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tIns="91440" rIns="91440">
            <a:normAutofit/>
          </a:bodyPr>
          <a:lstStyle>
            <a:lvl1pPr marL="285750" indent="-28575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88925" indent="0">
              <a:buNone/>
              <a:defRPr sz="1200"/>
            </a:lvl2pPr>
            <a:lvl3pPr marL="571500" indent="0">
              <a:buNone/>
              <a:defRPr sz="1100"/>
            </a:lvl3pPr>
            <a:lvl4pPr marL="857250" indent="0">
              <a:buNone/>
              <a:defRPr sz="1050"/>
            </a:lvl4pPr>
            <a:lvl5pPr marL="1085850" indent="0">
              <a:buNone/>
              <a:defRPr sz="1050"/>
            </a:lvl5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24" name="Text Placeholder 15"/>
          <p:cNvSpPr>
            <a:spLocks noGrp="1"/>
          </p:cNvSpPr>
          <p:nvPr>
            <p:ph type="body" sz="quarter" idx="29" hasCustomPrompt="1"/>
          </p:nvPr>
        </p:nvSpPr>
        <p:spPr>
          <a:xfrm>
            <a:off x="3477830" y="1465912"/>
            <a:ext cx="2624328" cy="469900"/>
          </a:xfrm>
          <a:solidFill>
            <a:schemeClr val="accent1"/>
          </a:solidFill>
          <a:ln>
            <a:solidFill>
              <a:schemeClr val="bg1"/>
            </a:solidFill>
          </a:ln>
        </p:spPr>
        <p:txBody>
          <a:bodyPr anchor="b" anchorCtr="0">
            <a:normAutofit/>
          </a:bodyPr>
          <a:lstStyle>
            <a:lvl1pPr marL="0" indent="0" algn="ctr" rtl="1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30" hasCustomPrompt="1"/>
          </p:nvPr>
        </p:nvSpPr>
        <p:spPr>
          <a:xfrm>
            <a:off x="3477830" y="1935163"/>
            <a:ext cx="2624328" cy="4160837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tIns="91440" rIns="91440">
            <a:normAutofit/>
          </a:bodyPr>
          <a:lstStyle>
            <a:lvl1pPr marL="285750" indent="-285750" algn="r" rtl="1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88925" indent="0" algn="r" rtl="1">
              <a:buNone/>
              <a:defRPr sz="1200"/>
            </a:lvl2pPr>
            <a:lvl3pPr marL="571500" indent="0" algn="r" rtl="1">
              <a:buNone/>
              <a:defRPr sz="1100"/>
            </a:lvl3pPr>
            <a:lvl4pPr marL="857250" indent="0" algn="r" rtl="1">
              <a:buNone/>
              <a:defRPr sz="1050"/>
            </a:lvl4pPr>
            <a:lvl5pPr marL="1085850" indent="0" algn="r" rtl="1">
              <a:buNone/>
              <a:defRPr sz="1050"/>
            </a:lvl5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26" name="Text Placeholder 15"/>
          <p:cNvSpPr>
            <a:spLocks noGrp="1"/>
          </p:cNvSpPr>
          <p:nvPr>
            <p:ph type="body" sz="quarter" idx="31" hasCustomPrompt="1"/>
          </p:nvPr>
        </p:nvSpPr>
        <p:spPr>
          <a:xfrm>
            <a:off x="856862" y="1465912"/>
            <a:ext cx="2624328" cy="469900"/>
          </a:xfrm>
          <a:solidFill>
            <a:schemeClr val="accent2"/>
          </a:solidFill>
          <a:ln>
            <a:solidFill>
              <a:schemeClr val="bg1"/>
            </a:solidFill>
          </a:ln>
        </p:spPr>
        <p:txBody>
          <a:bodyPr anchor="b" anchorCtr="0">
            <a:normAutofit/>
          </a:bodyPr>
          <a:lstStyle>
            <a:lvl1pPr marL="0" indent="0" algn="ctr" rtl="1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56862" y="1935163"/>
            <a:ext cx="2624328" cy="4160837"/>
          </a:xfr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tIns="91440" rIns="91440">
            <a:normAutofit/>
          </a:bodyPr>
          <a:lstStyle>
            <a:lvl1pPr marL="285750" indent="-285750" algn="r" rtl="1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88925" indent="0" algn="r" rtl="1">
              <a:buNone/>
              <a:defRPr sz="1200"/>
            </a:lvl2pPr>
            <a:lvl3pPr marL="571500" indent="0" algn="r" rtl="1">
              <a:buNone/>
              <a:defRPr sz="1100"/>
            </a:lvl3pPr>
            <a:lvl4pPr marL="857250" indent="0" algn="r" rtl="1">
              <a:buNone/>
              <a:defRPr sz="1050"/>
            </a:lvl4pPr>
            <a:lvl5pPr marL="1085850" indent="0" algn="r" rtl="1">
              <a:buNone/>
              <a:defRPr sz="1050"/>
            </a:lvl5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0060884" y="6096000"/>
            <a:ext cx="27432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>
            <a:off x="7323667" y="6096000"/>
            <a:ext cx="27432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4586451" y="6096000"/>
            <a:ext cx="27432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 userDrawn="1"/>
        </p:nvCxnSpPr>
        <p:spPr>
          <a:xfrm>
            <a:off x="1849235" y="6096000"/>
            <a:ext cx="27432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04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with title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84913560-8229-45AB-89CF-A554C7EFF781}" type="datetime1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45580" y="1652041"/>
            <a:ext cx="5099828" cy="35479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ادخل النص المناسب هنا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845580" y="2203539"/>
            <a:ext cx="5099828" cy="1381156"/>
          </a:xfrm>
        </p:spPr>
        <p:txBody>
          <a:bodyPr>
            <a:normAutofit/>
          </a:bodyPr>
          <a:lstStyle>
            <a:lvl1pPr marL="0" indent="0" rtl="0">
              <a:buNone/>
              <a:defRPr sz="1600"/>
            </a:lvl1pPr>
          </a:lstStyle>
          <a:p>
            <a:pPr lvl="0"/>
            <a:r>
              <a:rPr lang="ar-EG" dirty="0"/>
              <a:t>ادخل النص المناسب هنا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96768" y="2053486"/>
            <a:ext cx="5486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253972" y="1652041"/>
            <a:ext cx="5099828" cy="35479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ادخل النص المناسب هنا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253972" y="2203539"/>
            <a:ext cx="5099828" cy="1381156"/>
          </a:xfrm>
        </p:spPr>
        <p:txBody>
          <a:bodyPr>
            <a:normAutofit/>
          </a:bodyPr>
          <a:lstStyle>
            <a:lvl1pPr marL="0" indent="0" rtl="0">
              <a:buNone/>
              <a:defRPr sz="1600"/>
            </a:lvl1pPr>
          </a:lstStyle>
          <a:p>
            <a:pPr lvl="0"/>
            <a:r>
              <a:rPr lang="ar-EG" dirty="0"/>
              <a:t>ادخل النص المناسب هنا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0805160" y="2053486"/>
            <a:ext cx="5486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845580" y="3841385"/>
            <a:ext cx="5099828" cy="35479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ادخل النص المناسب هنا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45580" y="4392883"/>
            <a:ext cx="5099828" cy="1381156"/>
          </a:xfrm>
        </p:spPr>
        <p:txBody>
          <a:bodyPr>
            <a:normAutofit/>
          </a:bodyPr>
          <a:lstStyle>
            <a:lvl1pPr marL="0" indent="0" rtl="0">
              <a:buNone/>
              <a:defRPr sz="1600"/>
            </a:lvl1pPr>
          </a:lstStyle>
          <a:p>
            <a:pPr lvl="0"/>
            <a:r>
              <a:rPr lang="ar-EG" dirty="0"/>
              <a:t>ادخل النص المناسب هنا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396768" y="4242830"/>
            <a:ext cx="5486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6253972" y="3841385"/>
            <a:ext cx="5099828" cy="35479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ادخل النص المناسب هنا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6253972" y="4392883"/>
            <a:ext cx="5099828" cy="1381156"/>
          </a:xfrm>
        </p:spPr>
        <p:txBody>
          <a:bodyPr>
            <a:normAutofit/>
          </a:bodyPr>
          <a:lstStyle>
            <a:lvl1pPr marL="0" indent="0" rtl="0">
              <a:buNone/>
              <a:defRPr sz="1600"/>
            </a:lvl1pPr>
          </a:lstStyle>
          <a:p>
            <a:pPr lvl="0"/>
            <a:r>
              <a:rPr lang="ar-EG" dirty="0"/>
              <a:t>ادخل النص المناسب هنا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10805160" y="4242830"/>
            <a:ext cx="5486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425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84913560-8229-45AB-89CF-A554C7EFF781}" type="datetime1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850190" y="1447800"/>
            <a:ext cx="3092223" cy="4638675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261577" y="1447800"/>
            <a:ext cx="3092223" cy="4638675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4572870" y="1447800"/>
            <a:ext cx="3092223" cy="4638675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10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84913560-8229-45AB-89CF-A554C7EFF781}" type="datetime1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850190" y="1447800"/>
            <a:ext cx="4831419" cy="4638675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6522381" y="1447800"/>
            <a:ext cx="4831419" cy="4638675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14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/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D07F32C4-027C-41E7-9CB9-C0506AA6389A}" type="datetime1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658E-7B78-4C3F-B2D4-66856F143B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1ED86105-1558-4D32-B1A9-5F4D28811B5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836" y="1547024"/>
            <a:ext cx="2192643" cy="305172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ar-EG" dirty="0"/>
              <a:t>اضغط على الأيقونة لإضافة صورة</a:t>
            </a:r>
            <a:endParaRPr lang="en-US" dirty="0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AD11BF4A-2489-4211-84F8-479B8880D4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79225" y="1547024"/>
            <a:ext cx="2175731" cy="305172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ar-EG" dirty="0"/>
              <a:t>اضغط على الأيقونة لإضافة صورة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846596" y="4793469"/>
            <a:ext cx="2207123" cy="368300"/>
          </a:xfrm>
        </p:spPr>
        <p:txBody>
          <a:bodyPr>
            <a:normAutofit/>
          </a:bodyPr>
          <a:lstStyle>
            <a:lvl1pPr marL="0" indent="0" algn="ctr">
              <a:buNone/>
              <a:defRPr sz="20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عنوان 4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3644019" y="4793469"/>
            <a:ext cx="2192642" cy="368300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عنوان 3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9179225" y="4793469"/>
            <a:ext cx="2175731" cy="368300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عنوان 1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1ED86105-1558-4D32-B1A9-5F4D28811B5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644019" y="1547024"/>
            <a:ext cx="2192643" cy="305172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ar-EG" dirty="0"/>
              <a:t>اضغط على الأيقونة لإضافة صورة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1ED86105-1558-4D32-B1A9-5F4D28811B5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419301" y="1547024"/>
            <a:ext cx="2192643" cy="305172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000"/>
            </a:lvl1pPr>
          </a:lstStyle>
          <a:p>
            <a:r>
              <a:rPr lang="ar-EG" dirty="0"/>
              <a:t>اضغط على الأيقونة لإضافة صورة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25" hasCustomPrompt="1"/>
          </p:nvPr>
        </p:nvSpPr>
        <p:spPr>
          <a:xfrm>
            <a:off x="6418380" y="4793469"/>
            <a:ext cx="2194484" cy="36830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ar-EG" dirty="0"/>
              <a:t>عنوان 2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6" hasCustomPrompt="1"/>
          </p:nvPr>
        </p:nvSpPr>
        <p:spPr>
          <a:xfrm>
            <a:off x="846845" y="5161763"/>
            <a:ext cx="2206625" cy="7286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27" hasCustomPrompt="1"/>
          </p:nvPr>
        </p:nvSpPr>
        <p:spPr>
          <a:xfrm>
            <a:off x="3637028" y="5161763"/>
            <a:ext cx="2206625" cy="7286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28" hasCustomPrompt="1"/>
          </p:nvPr>
        </p:nvSpPr>
        <p:spPr>
          <a:xfrm>
            <a:off x="6421014" y="5161763"/>
            <a:ext cx="2189217" cy="7286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29" hasCustomPrompt="1"/>
          </p:nvPr>
        </p:nvSpPr>
        <p:spPr>
          <a:xfrm>
            <a:off x="9183408" y="5161763"/>
            <a:ext cx="2167364" cy="7286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9809890" y="5143475"/>
            <a:ext cx="914400" cy="18288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8" name="Rectangle 27"/>
          <p:cNvSpPr/>
          <p:nvPr userDrawn="1"/>
        </p:nvSpPr>
        <p:spPr>
          <a:xfrm>
            <a:off x="7058422" y="5143475"/>
            <a:ext cx="914400" cy="18288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9" name="Rectangle 28"/>
          <p:cNvSpPr/>
          <p:nvPr userDrawn="1"/>
        </p:nvSpPr>
        <p:spPr>
          <a:xfrm>
            <a:off x="4283140" y="5143475"/>
            <a:ext cx="914400" cy="18288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1492957" y="5143475"/>
            <a:ext cx="914400" cy="18288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55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447801"/>
            <a:ext cx="5181600" cy="4648200"/>
          </a:xfrm>
        </p:spPr>
        <p:txBody>
          <a:bodyPr/>
          <a:lstStyle/>
          <a:p>
            <a:pPr lvl="0"/>
            <a:r>
              <a:rPr lang="ar-EG" dirty="0"/>
              <a:t>تعديل النص</a:t>
            </a:r>
            <a:endParaRPr lang="en-US" dirty="0"/>
          </a:p>
          <a:p>
            <a:pPr lvl="1"/>
            <a:r>
              <a:rPr lang="ar-EG" dirty="0"/>
              <a:t>المستوى الثاني</a:t>
            </a:r>
            <a:endParaRPr lang="en-US" dirty="0"/>
          </a:p>
          <a:p>
            <a:pPr lvl="2"/>
            <a:r>
              <a:rPr lang="ar-EG" dirty="0"/>
              <a:t>المستوى الثالث</a:t>
            </a:r>
            <a:endParaRPr lang="en-US" dirty="0"/>
          </a:p>
          <a:p>
            <a:pPr lvl="3"/>
            <a:r>
              <a:rPr lang="ar-EG" dirty="0"/>
              <a:t>المستوى الرابع</a:t>
            </a:r>
            <a:endParaRPr lang="en-US" dirty="0"/>
          </a:p>
          <a:p>
            <a:pPr lvl="4"/>
            <a:r>
              <a:rPr lang="ar-EG" dirty="0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447801"/>
            <a:ext cx="5181600" cy="4648200"/>
          </a:xfrm>
        </p:spPr>
        <p:txBody>
          <a:bodyPr/>
          <a:lstStyle/>
          <a:p>
            <a:pPr lvl="0"/>
            <a:r>
              <a:rPr lang="ar-EG" dirty="0"/>
              <a:t>تعديل النص</a:t>
            </a:r>
            <a:endParaRPr lang="en-US" dirty="0"/>
          </a:p>
          <a:p>
            <a:pPr lvl="1"/>
            <a:r>
              <a:rPr lang="ar-EG" dirty="0"/>
              <a:t>المستوى الثاني</a:t>
            </a:r>
            <a:endParaRPr lang="en-US" dirty="0"/>
          </a:p>
          <a:p>
            <a:pPr lvl="2"/>
            <a:r>
              <a:rPr lang="ar-EG" dirty="0"/>
              <a:t>المستوى الثالث</a:t>
            </a:r>
            <a:endParaRPr lang="en-US" dirty="0"/>
          </a:p>
          <a:p>
            <a:pPr lvl="3"/>
            <a:r>
              <a:rPr lang="ar-EG" dirty="0"/>
              <a:t>المستوى الرابع</a:t>
            </a:r>
            <a:endParaRPr lang="en-US" dirty="0"/>
          </a:p>
          <a:p>
            <a:pPr lvl="4"/>
            <a:r>
              <a:rPr lang="ar-EG" dirty="0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35BB4A2A-1A89-4F2B-96A8-6DC5A8475B0F}" type="datetime1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77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1453" y="6390919"/>
            <a:ext cx="320040" cy="320040"/>
          </a:xfrm>
        </p:spPr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9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28796" y="979084"/>
            <a:ext cx="3932237" cy="1078316"/>
          </a:xfrm>
        </p:spPr>
        <p:txBody>
          <a:bodyPr anchor="b"/>
          <a:lstStyle>
            <a:lvl1pPr algn="r">
              <a:defRPr sz="3200"/>
            </a:lvl1pPr>
          </a:lstStyle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EG" dirty="0"/>
              <a:t>تعديل النص</a:t>
            </a:r>
            <a:endParaRPr lang="en-US" dirty="0"/>
          </a:p>
          <a:p>
            <a:pPr lvl="1"/>
            <a:r>
              <a:rPr lang="ar-EG" dirty="0"/>
              <a:t>المستوى الثاني</a:t>
            </a:r>
            <a:endParaRPr lang="en-US" dirty="0"/>
          </a:p>
          <a:p>
            <a:pPr lvl="2"/>
            <a:r>
              <a:rPr lang="ar-EG" dirty="0"/>
              <a:t>المستوى الثالث</a:t>
            </a:r>
            <a:endParaRPr lang="en-US" dirty="0"/>
          </a:p>
          <a:p>
            <a:pPr lvl="3"/>
            <a:r>
              <a:rPr lang="ar-EG" dirty="0"/>
              <a:t>المستوى الرابع</a:t>
            </a:r>
            <a:endParaRPr lang="en-US" dirty="0"/>
          </a:p>
          <a:p>
            <a:pPr lvl="4"/>
            <a:r>
              <a:rPr lang="ar-EG" dirty="0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428796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DD6CC213-28D1-4DA6-A99B-8EB8EB359378}" type="datetime1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40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28852" y="1002415"/>
            <a:ext cx="3932237" cy="1010014"/>
          </a:xfrm>
        </p:spPr>
        <p:txBody>
          <a:bodyPr anchor="b" anchorCtr="0"/>
          <a:lstStyle>
            <a:lvl1pPr algn="r">
              <a:defRPr sz="3200"/>
            </a:lvl1pPr>
          </a:lstStyle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51806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EG" dirty="0"/>
              <a:t>اضغط على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428852" y="2057400"/>
            <a:ext cx="391724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EG" dirty="0"/>
              <a:t>تعديل النص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6155" y="6372408"/>
            <a:ext cx="1875631" cy="365125"/>
          </a:xfrm>
          <a:prstGeom prst="rect">
            <a:avLst/>
          </a:prstGeom>
        </p:spPr>
        <p:txBody>
          <a:bodyPr/>
          <a:lstStyle/>
          <a:p>
            <a:fld id="{DF371FAE-8BEF-45E3-BB4F-0DA630E7BA88}" type="datetime1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00233" y="6367630"/>
            <a:ext cx="369193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81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square with white and blue text&#10;&#10;Description automatically generated">
            <a:extLst>
              <a:ext uri="{FF2B5EF4-FFF2-40B4-BE49-F238E27FC236}">
                <a16:creationId xmlns:a16="http://schemas.microsoft.com/office/drawing/2014/main" id="{06F6661A-8164-8ED8-2B47-BE90673565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5568">
          <p15:clr>
            <a:srgbClr val="FBAE40"/>
          </p15:clr>
        </p15:guide>
        <p15:guide id="2" pos="2112">
          <p15:clr>
            <a:srgbClr val="FBAE40"/>
          </p15:clr>
        </p15:guide>
        <p15:guide id="3" orient="horz" pos="1992" userDrawn="1">
          <p15:clr>
            <a:srgbClr val="FBAE40"/>
          </p15:clr>
        </p15:guide>
        <p15:guide id="4" orient="horz" pos="22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Title Slide orig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81955" y="2821900"/>
            <a:ext cx="6248399" cy="1277739"/>
          </a:xfrm>
        </p:spPr>
        <p:txBody>
          <a:bodyPr bIns="0" anchor="b" anchorCtr="0"/>
          <a:lstStyle>
            <a:lvl1pPr>
              <a:defRPr sz="3200">
                <a:solidFill>
                  <a:schemeClr val="accent1"/>
                </a:solidFill>
                <a:latin typeface="Sakkal Majalla" panose="02000000000000000000" pitchFamily="2" charset="-78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5443904" y="4144985"/>
            <a:ext cx="5886450" cy="400110"/>
          </a:xfrm>
        </p:spPr>
        <p:txBody>
          <a:bodyPr wrap="square">
            <a:spAutoFit/>
          </a:bodyPr>
          <a:lstStyle>
            <a:lvl1pPr algn="r">
              <a:defRPr lang="en-US" sz="2000">
                <a:solidFill>
                  <a:schemeClr val="accent1"/>
                </a:solidFill>
                <a:latin typeface="Sakkal Majalla" panose="02000000000000000000" pitchFamily="2" charset="-78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71885A9-ED3A-B515-6D78-7FBA4982C7E7}"/>
              </a:ext>
            </a:extLst>
          </p:cNvPr>
          <p:cNvGrpSpPr/>
          <p:nvPr userDrawn="1"/>
        </p:nvGrpSpPr>
        <p:grpSpPr>
          <a:xfrm>
            <a:off x="0" y="1987398"/>
            <a:ext cx="3556000" cy="4944492"/>
            <a:chOff x="0" y="1913508"/>
            <a:chExt cx="3556000" cy="4944492"/>
          </a:xfrm>
        </p:grpSpPr>
        <p:sp>
          <p:nvSpPr>
            <p:cNvPr id="10" name="Freeform 19">
              <a:extLst>
                <a:ext uri="{FF2B5EF4-FFF2-40B4-BE49-F238E27FC236}">
                  <a16:creationId xmlns:a16="http://schemas.microsoft.com/office/drawing/2014/main" id="{CFE4FE36-C34D-6056-4FF2-EA086B674D1E}"/>
                </a:ext>
              </a:extLst>
            </p:cNvPr>
            <p:cNvSpPr/>
            <p:nvPr userDrawn="1"/>
          </p:nvSpPr>
          <p:spPr>
            <a:xfrm flipV="1">
              <a:off x="6" y="2045457"/>
              <a:ext cx="3431371" cy="4812543"/>
            </a:xfrm>
            <a:custGeom>
              <a:avLst/>
              <a:gdLst>
                <a:gd name="connsiteX0" fmla="*/ 1114081 w 1114081"/>
                <a:gd name="connsiteY0" fmla="*/ 0 h 1557973"/>
                <a:gd name="connsiteX1" fmla="*/ 1099137 w 1114081"/>
                <a:gd name="connsiteY1" fmla="*/ 66018 h 1557973"/>
                <a:gd name="connsiteX2" fmla="*/ 1025913 w 1114081"/>
                <a:gd name="connsiteY2" fmla="*/ 228617 h 1557973"/>
                <a:gd name="connsiteX3" fmla="*/ 486325 w 1114081"/>
                <a:gd name="connsiteY3" fmla="*/ 1163211 h 1557973"/>
                <a:gd name="connsiteX4" fmla="*/ 32223 w 1114081"/>
                <a:gd name="connsiteY4" fmla="*/ 1547669 h 1557973"/>
                <a:gd name="connsiteX5" fmla="*/ 1 w 1114081"/>
                <a:gd name="connsiteY5" fmla="*/ 1557973 h 1557973"/>
                <a:gd name="connsiteX6" fmla="*/ 0 w 1114081"/>
                <a:gd name="connsiteY6" fmla="*/ 1 h 1557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081" h="1557973">
                  <a:moveTo>
                    <a:pt x="1114081" y="0"/>
                  </a:moveTo>
                  <a:lnTo>
                    <a:pt x="1099137" y="66018"/>
                  </a:lnTo>
                  <a:cubicBezTo>
                    <a:pt x="1080638" y="121515"/>
                    <a:pt x="1056302" y="175982"/>
                    <a:pt x="1025913" y="228617"/>
                  </a:cubicBezTo>
                  <a:lnTo>
                    <a:pt x="486325" y="1163211"/>
                  </a:lnTo>
                  <a:cubicBezTo>
                    <a:pt x="379964" y="1347433"/>
                    <a:pt x="217078" y="1478671"/>
                    <a:pt x="32223" y="1547669"/>
                  </a:cubicBezTo>
                  <a:lnTo>
                    <a:pt x="1" y="15579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C0F5917-117C-68CC-711D-1B1079027AD0}"/>
                </a:ext>
              </a:extLst>
            </p:cNvPr>
            <p:cNvGrpSpPr/>
            <p:nvPr userDrawn="1"/>
          </p:nvGrpSpPr>
          <p:grpSpPr>
            <a:xfrm>
              <a:off x="0" y="1913508"/>
              <a:ext cx="3556000" cy="4944492"/>
              <a:chOff x="0" y="1913508"/>
              <a:chExt cx="3556000" cy="4944492"/>
            </a:xfrm>
          </p:grpSpPr>
          <p:sp>
            <p:nvSpPr>
              <p:cNvPr id="13" name="Freeform 21">
                <a:extLst>
                  <a:ext uri="{FF2B5EF4-FFF2-40B4-BE49-F238E27FC236}">
                    <a16:creationId xmlns:a16="http://schemas.microsoft.com/office/drawing/2014/main" id="{5D65A9C5-EBC3-69E7-0C56-E3C684764F0B}"/>
                  </a:ext>
                </a:extLst>
              </p:cNvPr>
              <p:cNvSpPr/>
              <p:nvPr userDrawn="1"/>
            </p:nvSpPr>
            <p:spPr>
              <a:xfrm flipV="1">
                <a:off x="6" y="1913508"/>
                <a:ext cx="3555994" cy="4944492"/>
              </a:xfrm>
              <a:custGeom>
                <a:avLst/>
                <a:gdLst>
                  <a:gd name="connsiteX0" fmla="*/ 0 w 1154543"/>
                  <a:gd name="connsiteY0" fmla="*/ 0 h 1600689"/>
                  <a:gd name="connsiteX1" fmla="*/ 1154543 w 1154543"/>
                  <a:gd name="connsiteY1" fmla="*/ 0 h 1600689"/>
                  <a:gd name="connsiteX2" fmla="*/ 1137994 w 1154543"/>
                  <a:gd name="connsiteY2" fmla="*/ 73107 h 1600689"/>
                  <a:gd name="connsiteX3" fmla="*/ 1062231 w 1154543"/>
                  <a:gd name="connsiteY3" fmla="*/ 241345 h 1600689"/>
                  <a:gd name="connsiteX4" fmla="*/ 515506 w 1154543"/>
                  <a:gd name="connsiteY4" fmla="*/ 1188299 h 1600689"/>
                  <a:gd name="connsiteX5" fmla="*/ 45656 w 1154543"/>
                  <a:gd name="connsiteY5" fmla="*/ 1586089 h 1600689"/>
                  <a:gd name="connsiteX6" fmla="*/ 0 w 1154543"/>
                  <a:gd name="connsiteY6" fmla="*/ 1600689 h 1600689"/>
                  <a:gd name="connsiteX0" fmla="*/ 0 w 1154543"/>
                  <a:gd name="connsiteY0" fmla="*/ 0 h 1600689"/>
                  <a:gd name="connsiteX1" fmla="*/ 1154543 w 1154543"/>
                  <a:gd name="connsiteY1" fmla="*/ 0 h 1600689"/>
                  <a:gd name="connsiteX2" fmla="*/ 1137994 w 1154543"/>
                  <a:gd name="connsiteY2" fmla="*/ 73107 h 1600689"/>
                  <a:gd name="connsiteX3" fmla="*/ 1062231 w 1154543"/>
                  <a:gd name="connsiteY3" fmla="*/ 241345 h 1600689"/>
                  <a:gd name="connsiteX4" fmla="*/ 515506 w 1154543"/>
                  <a:gd name="connsiteY4" fmla="*/ 1188299 h 1600689"/>
                  <a:gd name="connsiteX5" fmla="*/ 45656 w 1154543"/>
                  <a:gd name="connsiteY5" fmla="*/ 1586089 h 1600689"/>
                  <a:gd name="connsiteX6" fmla="*/ 0 w 1154543"/>
                  <a:gd name="connsiteY6" fmla="*/ 1600689 h 1600689"/>
                  <a:gd name="connsiteX7" fmla="*/ 91440 w 1154543"/>
                  <a:gd name="connsiteY7" fmla="*/ 91440 h 1600689"/>
                  <a:gd name="connsiteX0" fmla="*/ 0 w 1154543"/>
                  <a:gd name="connsiteY0" fmla="*/ 0 h 1600689"/>
                  <a:gd name="connsiteX1" fmla="*/ 1154543 w 1154543"/>
                  <a:gd name="connsiteY1" fmla="*/ 0 h 1600689"/>
                  <a:gd name="connsiteX2" fmla="*/ 1137994 w 1154543"/>
                  <a:gd name="connsiteY2" fmla="*/ 73107 h 1600689"/>
                  <a:gd name="connsiteX3" fmla="*/ 1062231 w 1154543"/>
                  <a:gd name="connsiteY3" fmla="*/ 241345 h 1600689"/>
                  <a:gd name="connsiteX4" fmla="*/ 515506 w 1154543"/>
                  <a:gd name="connsiteY4" fmla="*/ 1188299 h 1600689"/>
                  <a:gd name="connsiteX5" fmla="*/ 45656 w 1154543"/>
                  <a:gd name="connsiteY5" fmla="*/ 1586089 h 1600689"/>
                  <a:gd name="connsiteX6" fmla="*/ 0 w 1154543"/>
                  <a:gd name="connsiteY6" fmla="*/ 1600689 h 1600689"/>
                  <a:gd name="connsiteX0" fmla="*/ 1154543 w 1154543"/>
                  <a:gd name="connsiteY0" fmla="*/ 0 h 1600689"/>
                  <a:gd name="connsiteX1" fmla="*/ 1137994 w 1154543"/>
                  <a:gd name="connsiteY1" fmla="*/ 73107 h 1600689"/>
                  <a:gd name="connsiteX2" fmla="*/ 1062231 w 1154543"/>
                  <a:gd name="connsiteY2" fmla="*/ 241345 h 1600689"/>
                  <a:gd name="connsiteX3" fmla="*/ 515506 w 1154543"/>
                  <a:gd name="connsiteY3" fmla="*/ 1188299 h 1600689"/>
                  <a:gd name="connsiteX4" fmla="*/ 45656 w 1154543"/>
                  <a:gd name="connsiteY4" fmla="*/ 1586089 h 1600689"/>
                  <a:gd name="connsiteX5" fmla="*/ 0 w 1154543"/>
                  <a:gd name="connsiteY5" fmla="*/ 1600689 h 1600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4543" h="1600689">
                    <a:moveTo>
                      <a:pt x="1154543" y="0"/>
                    </a:moveTo>
                    <a:lnTo>
                      <a:pt x="1137994" y="73107"/>
                    </a:lnTo>
                    <a:cubicBezTo>
                      <a:pt x="1118853" y="130528"/>
                      <a:pt x="1093674" y="186885"/>
                      <a:pt x="1062231" y="241345"/>
                    </a:cubicBezTo>
                    <a:lnTo>
                      <a:pt x="515506" y="1188299"/>
                    </a:lnTo>
                    <a:cubicBezTo>
                      <a:pt x="405457" y="1378909"/>
                      <a:pt x="236922" y="1514699"/>
                      <a:pt x="45656" y="1586089"/>
                    </a:cubicBezTo>
                    <a:lnTo>
                      <a:pt x="0" y="1600689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14" name="Freeform 50">
                <a:extLst>
                  <a:ext uri="{FF2B5EF4-FFF2-40B4-BE49-F238E27FC236}">
                    <a16:creationId xmlns:a16="http://schemas.microsoft.com/office/drawing/2014/main" id="{EA0E50DC-5330-36B9-3E12-932C6481ABAC}"/>
                  </a:ext>
                </a:extLst>
              </p:cNvPr>
              <p:cNvSpPr/>
              <p:nvPr userDrawn="1"/>
            </p:nvSpPr>
            <p:spPr>
              <a:xfrm>
                <a:off x="0" y="2045457"/>
                <a:ext cx="3431371" cy="4812543"/>
              </a:xfrm>
              <a:custGeom>
                <a:avLst/>
                <a:gdLst>
                  <a:gd name="connsiteX0" fmla="*/ 3 w 3431371"/>
                  <a:gd name="connsiteY0" fmla="*/ 0 h 4812543"/>
                  <a:gd name="connsiteX1" fmla="*/ 99247 w 3431371"/>
                  <a:gd name="connsiteY1" fmla="*/ 31829 h 4812543"/>
                  <a:gd name="connsiteX2" fmla="*/ 1497882 w 3431371"/>
                  <a:gd name="connsiteY2" fmla="*/ 1219411 h 4812543"/>
                  <a:gd name="connsiteX3" fmla="*/ 3159814 w 3431371"/>
                  <a:gd name="connsiteY3" fmla="*/ 4106351 h 4812543"/>
                  <a:gd name="connsiteX4" fmla="*/ 3385344 w 3431371"/>
                  <a:gd name="connsiteY4" fmla="*/ 4608615 h 4812543"/>
                  <a:gd name="connsiteX5" fmla="*/ 3431371 w 3431371"/>
                  <a:gd name="connsiteY5" fmla="*/ 4812543 h 4812543"/>
                  <a:gd name="connsiteX6" fmla="*/ 0 w 3431371"/>
                  <a:gd name="connsiteY6" fmla="*/ 4812540 h 4812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31371" h="4812543">
                    <a:moveTo>
                      <a:pt x="3" y="0"/>
                    </a:moveTo>
                    <a:lnTo>
                      <a:pt x="99247" y="31829"/>
                    </a:lnTo>
                    <a:cubicBezTo>
                      <a:pt x="668600" y="244962"/>
                      <a:pt x="1170290" y="650353"/>
                      <a:pt x="1497882" y="1219411"/>
                    </a:cubicBezTo>
                    <a:lnTo>
                      <a:pt x="3159814" y="4106351"/>
                    </a:lnTo>
                    <a:cubicBezTo>
                      <a:pt x="3253412" y="4268939"/>
                      <a:pt x="3328367" y="4437186"/>
                      <a:pt x="3385344" y="4608615"/>
                    </a:cubicBezTo>
                    <a:lnTo>
                      <a:pt x="3431371" y="4812543"/>
                    </a:lnTo>
                    <a:lnTo>
                      <a:pt x="0" y="4812540"/>
                    </a:lnTo>
                    <a:close/>
                  </a:path>
                </a:pathLst>
              </a:custGeom>
              <a:blipFill dpi="0" rotWithShape="1">
                <a:blip r:embed="rId2"/>
                <a:srcRect/>
                <a:stretch>
                  <a:fillRect l="-41367" t="-1846" r="-98751" b="-13852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D7D54B39-48EF-2342-AC64-2B2406C09983}"/>
                </a:ext>
              </a:extLst>
            </p:cNvPr>
            <p:cNvSpPr/>
            <p:nvPr userDrawn="1"/>
          </p:nvSpPr>
          <p:spPr>
            <a:xfrm flipV="1">
              <a:off x="0" y="4622158"/>
              <a:ext cx="1484647" cy="2235839"/>
            </a:xfrm>
            <a:custGeom>
              <a:avLst/>
              <a:gdLst>
                <a:gd name="connsiteX0" fmla="*/ 0 w 482028"/>
                <a:gd name="connsiteY0" fmla="*/ 0 h 723812"/>
                <a:gd name="connsiteX1" fmla="*/ 482028 w 482028"/>
                <a:gd name="connsiteY1" fmla="*/ 0 h 723812"/>
                <a:gd name="connsiteX2" fmla="*/ 447767 w 482028"/>
                <a:gd name="connsiteY2" fmla="*/ 101886 h 723812"/>
                <a:gd name="connsiteX3" fmla="*/ 169602 w 482028"/>
                <a:gd name="connsiteY3" fmla="*/ 583681 h 723812"/>
                <a:gd name="connsiteX4" fmla="*/ 32352 w 482028"/>
                <a:gd name="connsiteY4" fmla="*/ 711733 h 723812"/>
                <a:gd name="connsiteX5" fmla="*/ 1 w 482028"/>
                <a:gd name="connsiteY5" fmla="*/ 723812 h 7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2028" h="723812">
                  <a:moveTo>
                    <a:pt x="0" y="0"/>
                  </a:moveTo>
                  <a:lnTo>
                    <a:pt x="482028" y="0"/>
                  </a:lnTo>
                  <a:lnTo>
                    <a:pt x="447767" y="101886"/>
                  </a:lnTo>
                  <a:lnTo>
                    <a:pt x="169602" y="583681"/>
                  </a:lnTo>
                  <a:cubicBezTo>
                    <a:pt x="136353" y="641271"/>
                    <a:pt x="87957" y="684664"/>
                    <a:pt x="32352" y="711733"/>
                  </a:cubicBezTo>
                  <a:lnTo>
                    <a:pt x="1" y="7238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22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 thruBlk="1"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42982A0-0E12-0CD0-BD26-CCB3496D9500}"/>
              </a:ext>
            </a:extLst>
          </p:cNvPr>
          <p:cNvSpPr/>
          <p:nvPr userDrawn="1"/>
        </p:nvSpPr>
        <p:spPr>
          <a:xfrm>
            <a:off x="426720" y="377261"/>
            <a:ext cx="11338560" cy="5769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4EA71BE-3CCC-4CFA-DB3E-DFC159419FAF}"/>
              </a:ext>
            </a:extLst>
          </p:cNvPr>
          <p:cNvSpPr/>
          <p:nvPr userDrawn="1"/>
        </p:nvSpPr>
        <p:spPr>
          <a:xfrm rot="10800000" flipV="1">
            <a:off x="619123" y="216443"/>
            <a:ext cx="439704" cy="531176"/>
          </a:xfrm>
          <a:custGeom>
            <a:avLst/>
            <a:gdLst>
              <a:gd name="connsiteX0" fmla="*/ 0 w 439704"/>
              <a:gd name="connsiteY0" fmla="*/ 531176 h 531176"/>
              <a:gd name="connsiteX1" fmla="*/ 439704 w 439704"/>
              <a:gd name="connsiteY1" fmla="*/ 388308 h 531176"/>
              <a:gd name="connsiteX2" fmla="*/ 439704 w 439704"/>
              <a:gd name="connsiteY2" fmla="*/ 0 h 531176"/>
              <a:gd name="connsiteX3" fmla="*/ 0 w 439704"/>
              <a:gd name="connsiteY3" fmla="*/ 0 h 53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704" h="531176">
                <a:moveTo>
                  <a:pt x="0" y="531176"/>
                </a:moveTo>
                <a:lnTo>
                  <a:pt x="439704" y="388308"/>
                </a:lnTo>
                <a:lnTo>
                  <a:pt x="43970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609601" y="561078"/>
            <a:ext cx="10972800" cy="666261"/>
          </a:xfrm>
          <a:prstGeom prst="rect">
            <a:avLst/>
          </a:prstGeom>
        </p:spPr>
        <p:txBody>
          <a:bodyPr vert="horz" lIns="91440" tIns="45720" rIns="0" bIns="45720" rtlCol="0" anchor="ctr" anchorCtr="0">
            <a:noAutofit/>
          </a:bodyPr>
          <a:lstStyle/>
          <a:p>
            <a:r>
              <a:rPr lang="ar-EG" dirty="0"/>
              <a:t>اضغط لتغيير العنوان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609600" y="1333501"/>
            <a:ext cx="10972800" cy="4812768"/>
          </a:xfrm>
          <a:prstGeom prst="rect">
            <a:avLst/>
          </a:prstGeom>
        </p:spPr>
        <p:txBody>
          <a:bodyPr vert="horz" lIns="91440" tIns="45720" rIns="0" bIns="45720" rtlCol="0">
            <a:normAutofit/>
          </a:bodyPr>
          <a:lstStyle/>
          <a:p>
            <a:pPr lvl="0"/>
            <a:r>
              <a:rPr lang="ar-EG" dirty="0"/>
              <a:t>تعديل النص</a:t>
            </a:r>
            <a:endParaRPr lang="en-US" dirty="0"/>
          </a:p>
          <a:p>
            <a:pPr lvl="1"/>
            <a:r>
              <a:rPr lang="ar-EG" dirty="0"/>
              <a:t>المستوى الثاني</a:t>
            </a:r>
            <a:endParaRPr lang="en-US" dirty="0"/>
          </a:p>
          <a:p>
            <a:pPr lvl="2"/>
            <a:r>
              <a:rPr lang="ar-EG" dirty="0"/>
              <a:t>المستوى الثالث</a:t>
            </a:r>
            <a:endParaRPr lang="en-US" dirty="0"/>
          </a:p>
          <a:p>
            <a:pPr lvl="3"/>
            <a:r>
              <a:rPr lang="ar-EG" dirty="0"/>
              <a:t>المستوى الرابع</a:t>
            </a:r>
            <a:endParaRPr lang="en-US" dirty="0"/>
          </a:p>
          <a:p>
            <a:pPr lvl="4"/>
            <a:r>
              <a:rPr lang="ar-EG" dirty="0"/>
              <a:t>المستوى الخامس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E4E69-AE0B-085D-5A16-9A00D7D753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642" y="6335328"/>
            <a:ext cx="2464906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621452" y="6358188"/>
            <a:ext cx="437375" cy="3200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>
            <a:lvl1pPr algn="ctr">
              <a:defRPr lang="en-US" sz="1400" b="1" smtClean="0">
                <a:solidFill>
                  <a:schemeClr val="accent1"/>
                </a:solidFill>
              </a:defRPr>
            </a:lvl1pPr>
          </a:lstStyle>
          <a:p>
            <a:pPr rtl="1"/>
            <a:r>
              <a:rPr lang="en-GB"/>
              <a:t>#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302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05" r:id="rId2"/>
    <p:sldLayoutId id="2147483749" r:id="rId3"/>
    <p:sldLayoutId id="2147483744" r:id="rId4"/>
    <p:sldLayoutId id="2147483730" r:id="rId5"/>
    <p:sldLayoutId id="2147483741" r:id="rId6"/>
    <p:sldLayoutId id="2147483707" r:id="rId7"/>
    <p:sldLayoutId id="2147483710" r:id="rId8"/>
    <p:sldLayoutId id="2147483711" r:id="rId9"/>
    <p:sldLayoutId id="2147483712" r:id="rId10"/>
    <p:sldLayoutId id="2147483713" r:id="rId11"/>
    <p:sldLayoutId id="2147483715" r:id="rId12"/>
    <p:sldLayoutId id="2147483740" r:id="rId13"/>
    <p:sldLayoutId id="2147483718" r:id="rId14"/>
    <p:sldLayoutId id="2147483719" r:id="rId15"/>
    <p:sldLayoutId id="2147483725" r:id="rId16"/>
    <p:sldLayoutId id="2147483728" r:id="rId17"/>
    <p:sldLayoutId id="2147483735" r:id="rId18"/>
    <p:sldLayoutId id="2147483737" r:id="rId19"/>
    <p:sldLayoutId id="2147483738" r:id="rId20"/>
    <p:sldLayoutId id="2147483739" r:id="rId21"/>
    <p:sldLayoutId id="2147483751" r:id="rId2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hdr="0" ftr="0" dt="0"/>
  <p:txStyles>
    <p:titleStyle>
      <a:lvl1pPr algn="r" defTabSz="914400" rtl="1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r" defTabSz="914400" rtl="1" eaLnBrk="1" latinLnBrk="0" hangingPunct="1">
        <a:lnSpc>
          <a:spcPct val="100000"/>
        </a:lnSpc>
        <a:spcBef>
          <a:spcPts val="1200"/>
        </a:spcBef>
        <a:spcAft>
          <a:spcPts val="1200"/>
        </a:spcAft>
        <a:buSzPct val="80000"/>
        <a:buFont typeface="Arial" panose="020B0604020202020204" pitchFamily="34" charset="0"/>
        <a:buNone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88925" indent="0" algn="r" defTabSz="914400" rtl="1" eaLnBrk="1" latinLnBrk="0" hangingPunct="1">
        <a:lnSpc>
          <a:spcPct val="100000"/>
        </a:lnSpc>
        <a:spcBef>
          <a:spcPts val="600"/>
        </a:spcBef>
        <a:spcAft>
          <a:spcPts val="600"/>
        </a:spcAft>
        <a:buSzPct val="80000"/>
        <a:buFont typeface="Arial" panose="020B0604020202020204" pitchFamily="34" charset="0"/>
        <a:buNone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71500" indent="0" algn="r" defTabSz="914400" rtl="1" eaLnBrk="1" latinLnBrk="0" hangingPunct="1">
        <a:lnSpc>
          <a:spcPct val="100000"/>
        </a:lnSpc>
        <a:spcBef>
          <a:spcPts val="600"/>
        </a:spcBef>
        <a:spcAft>
          <a:spcPts val="600"/>
        </a:spcAft>
        <a:buSzPct val="80000"/>
        <a:buFont typeface="Wingdings" panose="05000000000000000000" pitchFamily="2" charset="2"/>
        <a:buNone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57250" indent="0" algn="r" defTabSz="914400" rtl="1" eaLnBrk="1" latinLnBrk="0" hangingPunct="1">
        <a:lnSpc>
          <a:spcPct val="90000"/>
        </a:lnSpc>
        <a:spcBef>
          <a:spcPts val="500"/>
        </a:spcBef>
        <a:buClr>
          <a:schemeClr val="accent2">
            <a:lumMod val="75000"/>
          </a:schemeClr>
        </a:buClr>
        <a:buSzPct val="80000"/>
        <a:buFont typeface="Wingdings" panose="05000000000000000000" pitchFamily="2" charset="2"/>
        <a:buNone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85850" indent="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6" pos="7296" userDrawn="1">
          <p15:clr>
            <a:srgbClr val="F26B43"/>
          </p15:clr>
        </p15:guide>
        <p15:guide id="7" orient="horz" pos="840" userDrawn="1">
          <p15:clr>
            <a:srgbClr val="F26B43"/>
          </p15:clr>
        </p15:guide>
        <p15:guide id="10" pos="384" userDrawn="1">
          <p15:clr>
            <a:srgbClr val="F26B43"/>
          </p15:clr>
        </p15:guide>
        <p15:guide id="11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459C-7702-232D-A8C9-7137E24B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>
                <a:latin typeface="+mj-lt"/>
                <a:cs typeface="Sakkal Majalla" panose="02000000000000000000" pitchFamily="2" charset="-78"/>
              </a:rPr>
              <a:t>الوضع </a:t>
            </a:r>
            <a:r>
              <a:rPr lang="ar-EG" dirty="0">
                <a:latin typeface="+mj-lt"/>
                <a:cs typeface="Sakkal Majalla" panose="02000000000000000000" pitchFamily="2" charset="-78"/>
              </a:rPr>
              <a:t>المستقبلي</a:t>
            </a:r>
            <a:r>
              <a:rPr lang="ar-SA" dirty="0">
                <a:latin typeface="+mj-lt"/>
                <a:cs typeface="Sakkal Majalla" panose="02000000000000000000" pitchFamily="2" charset="-78"/>
              </a:rPr>
              <a:t> لبنية التقنية</a:t>
            </a:r>
            <a:endParaRPr lang="en-US" dirty="0">
              <a:latin typeface="+mj-lt"/>
              <a:cs typeface="Sakkal Majalla" panose="020000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0910D-8E8C-95EF-FF84-FCA8B475F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6527" y="5000247"/>
            <a:ext cx="3855873" cy="954107"/>
          </a:xfrm>
        </p:spPr>
        <p:txBody>
          <a:bodyPr/>
          <a:lstStyle/>
          <a:p>
            <a:r>
              <a:rPr lang="ar-EG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النسخة 0.2</a:t>
            </a:r>
          </a:p>
          <a:p>
            <a:endParaRPr lang="en-US" dirty="0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C0DEFD76-EB00-CF87-4ECE-F6008E3B0B02}"/>
              </a:ext>
            </a:extLst>
          </p:cNvPr>
          <p:cNvSpPr txBox="1">
            <a:spLocks/>
          </p:cNvSpPr>
          <p:nvPr/>
        </p:nvSpPr>
        <p:spPr>
          <a:xfrm>
            <a:off x="6182137" y="4340123"/>
            <a:ext cx="5077097" cy="400110"/>
          </a:xfrm>
          <a:prstGeom prst="rect">
            <a:avLst/>
          </a:prstGeom>
        </p:spPr>
        <p:txBody>
          <a:bodyPr vert="horz" lIns="91440" tIns="45720" rIns="0" bIns="45720" rtlCol="0">
            <a:normAutofit/>
          </a:bodyPr>
          <a:lstStyle>
            <a:lvl1pPr marL="0" indent="0" algn="r" defTabSz="914400" rtl="1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1pPr>
            <a:lvl2pPr marL="288925" indent="0" algn="r" defTabSz="914400" rt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2pPr>
            <a:lvl3pPr marL="571500" indent="0" algn="r" defTabSz="914400" rt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3pPr>
            <a:lvl4pPr marL="857250" indent="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None/>
              <a:defRPr sz="14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4pPr>
            <a:lvl5pPr marL="1085850" indent="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ar-EG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129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 thruBlk="1"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511F85-C479-8D90-10E7-C9AAA926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B2A0F6-01C9-66B0-1DE7-9525A019E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8AEC9-6FE0-FBCD-C9C9-C365B5BEB5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ar-SA" dirty="0"/>
              <a:t>مشاهدات بنية التقنية الحالية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916E4E-8F23-179B-119F-8770CF35E24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ar-SA" dirty="0"/>
              <a:t>نظرة عامة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FE501B-2227-B44E-FB40-C3CB6020782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ar-EG" dirty="0"/>
              <a:t>رؤية مستقبلية ل</a:t>
            </a:r>
            <a:r>
              <a:rPr lang="ar-SA" dirty="0"/>
              <a:t>إدارة وتأمين الشبكة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F66EA1-BFC3-BDF1-7E5B-AC9A72C982B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ar-SA" dirty="0"/>
              <a:t>رؤية للخوادم المستقبلية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92979B-2908-A371-3F21-FB09B481DA1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ar-SA" dirty="0"/>
              <a:t>أدوات إدارة البنية التحتية ومراقبتها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6274113-2A54-8EB9-B262-73FC4C60D56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ar-SA" dirty="0"/>
              <a:t>البنية المستقبلية لإدارة الشبكة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69B299B-F377-6BFC-F247-06449270963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ar-EG" dirty="0"/>
              <a:t>2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64FCBCE-66DB-F131-18E3-234E7D1BF96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ar-EG" dirty="0"/>
              <a:t>4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47F297A-CBD6-F728-BEA5-74449A24F01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ar-EG" dirty="0"/>
              <a:t>6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E893BCC-E36D-00DC-F191-CE376668C017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ar-EG" dirty="0"/>
              <a:t>1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41B415B-F191-EA09-D80C-5F53DE10FB15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ar-EG" dirty="0"/>
              <a:t>3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152FEBB-292D-7254-1F6D-EE4BF168AD1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ar-EG" dirty="0"/>
              <a:t>5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8299F3C-295A-F61E-1F5A-5F5450F1C6E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r>
              <a:rPr lang="ar-SA" dirty="0"/>
              <a:t>الرؤية المستقبلية للأنظمة الحالية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EA0BD45-981B-A494-4473-C0894846FBF4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ar-SA" dirty="0"/>
              <a:t>الرؤية المستقبلية للرخص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DD27972-9C43-9FE2-CCFC-07EEA84616C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ar-SA" dirty="0"/>
              <a:t>دليل الخدمات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D127111-E0C4-351B-A46A-9F45BB381EBC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ar-EG" dirty="0"/>
              <a:t>الرؤية المستقبلية ل</a:t>
            </a:r>
            <a:r>
              <a:rPr lang="ar-SA" dirty="0"/>
              <a:t>مرافق مركز البيانات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2B01711-7054-C65E-A33A-0424B804E6F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ar-SA" sz="1800" dirty="0"/>
              <a:t>المراجعة والاعتماد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B1207D2-0E11-595F-A126-B525CFB30FB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r>
              <a:rPr lang="ar-SA" dirty="0"/>
              <a:t>ملخص بالفجوات التي جرى سردها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B0CEC10-CECF-D3D9-B54B-D0C0D567D5DA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r>
              <a:rPr lang="ar-EG" dirty="0"/>
              <a:t>8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7FC8D6D-F8B9-6A1E-8368-08A1DD747B95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7C84B1F-33B9-DA60-FF61-A46E80A311F8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702D28-4E8B-851E-E3C8-6EF94E66F5D6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r>
              <a:rPr lang="ar-EG" dirty="0"/>
              <a:t>7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EB7B668-CF6A-5D81-54FC-A15344D79A8B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FC6CDD2-FB34-D995-8396-BEEE127CA07B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6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 invX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ar-SA" sz="2800" dirty="0" err="1">
              <a:solidFill>
                <a:schemeClr val="tx1"/>
              </a:solidFill>
              <a:latin typeface="Sakkal Majalla" panose="00000500000000000000" pitchFamily="2" charset="-78"/>
              <a:ea typeface="Sakkal Majalla" panose="020A0503020102020204" pitchFamily="18" charset="-78"/>
              <a:cs typeface="Sakkal Majalla" panose="00000500000000000000" pitchFamily="2" charset="-78"/>
              <a:sym typeface="Sakkal Majalla" panose="00000500000000000000" pitchFamily="2" charset="-78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6F4BF38F-766A-46B6-8934-74E4752D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ar-SA" sz="2800" dirty="0"/>
              <a:t>مقدمة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2170" y="6413168"/>
            <a:ext cx="508540" cy="233438"/>
          </a:xfrm>
        </p:spPr>
        <p:txBody>
          <a:bodyPr/>
          <a:lstStyle/>
          <a:p>
            <a:fld id="{0BE4EC83-A869-464E-AE9F-881796FB085E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015B329-D008-1BBF-63E6-6606DA36EDDA}"/>
              </a:ext>
            </a:extLst>
          </p:cNvPr>
          <p:cNvGrpSpPr/>
          <p:nvPr/>
        </p:nvGrpSpPr>
        <p:grpSpPr>
          <a:xfrm>
            <a:off x="10745572" y="2050250"/>
            <a:ext cx="665480" cy="665480"/>
            <a:chOff x="0" y="0"/>
            <a:chExt cx="666029" cy="666074"/>
          </a:xfrm>
          <a:solidFill>
            <a:schemeClr val="bg1"/>
          </a:solidFill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4BEAF8C-64FB-2D81-15B9-40B6A2C08CBB}"/>
                </a:ext>
              </a:extLst>
            </p:cNvPr>
            <p:cNvSpPr/>
            <p:nvPr/>
          </p:nvSpPr>
          <p:spPr>
            <a:xfrm>
              <a:off x="0" y="0"/>
              <a:ext cx="666029" cy="666074"/>
            </a:xfrm>
            <a:prstGeom prst="ellipse">
              <a:avLst/>
            </a:prstGeom>
            <a:solidFill>
              <a:schemeClr val="accent1"/>
            </a:solidFill>
            <a:ln w="63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26EAE-1498-AF0E-AD30-71014908872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1925" y="104775"/>
              <a:ext cx="343078" cy="457200"/>
              <a:chOff x="161475" y="104437"/>
              <a:chExt cx="1237761" cy="1649497"/>
            </a:xfrm>
            <a:grpFill/>
          </p:grpSpPr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AE556AD6-6B77-8161-2141-4A5F53F1EB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1475" y="104437"/>
                <a:ext cx="1237761" cy="1442862"/>
              </a:xfrm>
              <a:custGeom>
                <a:avLst/>
                <a:gdLst>
                  <a:gd name="T0" fmla="*/ 35 w 6532"/>
                  <a:gd name="T1" fmla="*/ 163 h 7618"/>
                  <a:gd name="T2" fmla="*/ 0 w 6532"/>
                  <a:gd name="T3" fmla="*/ 1789 h 7618"/>
                  <a:gd name="T4" fmla="*/ 120 w 6532"/>
                  <a:gd name="T5" fmla="*/ 7549 h 7618"/>
                  <a:gd name="T6" fmla="*/ 446 w 6532"/>
                  <a:gd name="T7" fmla="*/ 7611 h 7618"/>
                  <a:gd name="T8" fmla="*/ 780 w 6532"/>
                  <a:gd name="T9" fmla="*/ 7272 h 7618"/>
                  <a:gd name="T10" fmla="*/ 626 w 6532"/>
                  <a:gd name="T11" fmla="*/ 6555 h 7618"/>
                  <a:gd name="T12" fmla="*/ 678 w 6532"/>
                  <a:gd name="T13" fmla="*/ 5827 h 7618"/>
                  <a:gd name="T14" fmla="*/ 900 w 6532"/>
                  <a:gd name="T15" fmla="*/ 5191 h 7618"/>
                  <a:gd name="T16" fmla="*/ 1291 w 6532"/>
                  <a:gd name="T17" fmla="*/ 4613 h 7618"/>
                  <a:gd name="T18" fmla="*/ 1724 w 6532"/>
                  <a:gd name="T19" fmla="*/ 4220 h 7618"/>
                  <a:gd name="T20" fmla="*/ 2400 w 6532"/>
                  <a:gd name="T21" fmla="*/ 3871 h 7618"/>
                  <a:gd name="T22" fmla="*/ 2866 w 6532"/>
                  <a:gd name="T23" fmla="*/ 3758 h 7618"/>
                  <a:gd name="T24" fmla="*/ 3572 w 6532"/>
                  <a:gd name="T25" fmla="*/ 3750 h 7618"/>
                  <a:gd name="T26" fmla="*/ 4102 w 6532"/>
                  <a:gd name="T27" fmla="*/ 3866 h 7618"/>
                  <a:gd name="T28" fmla="*/ 4599 w 6532"/>
                  <a:gd name="T29" fmla="*/ 4094 h 7618"/>
                  <a:gd name="T30" fmla="*/ 5022 w 6532"/>
                  <a:gd name="T31" fmla="*/ 4400 h 7618"/>
                  <a:gd name="T32" fmla="*/ 5134 w 6532"/>
                  <a:gd name="T33" fmla="*/ 3890 h 7618"/>
                  <a:gd name="T34" fmla="*/ 5239 w 6532"/>
                  <a:gd name="T35" fmla="*/ 3740 h 7618"/>
                  <a:gd name="T36" fmla="*/ 5412 w 6532"/>
                  <a:gd name="T37" fmla="*/ 3796 h 7618"/>
                  <a:gd name="T38" fmla="*/ 5572 w 6532"/>
                  <a:gd name="T39" fmla="*/ 3853 h 7618"/>
                  <a:gd name="T40" fmla="*/ 5749 w 6532"/>
                  <a:gd name="T41" fmla="*/ 3733 h 7618"/>
                  <a:gd name="T42" fmla="*/ 5892 w 6532"/>
                  <a:gd name="T43" fmla="*/ 3825 h 7618"/>
                  <a:gd name="T44" fmla="*/ 5885 w 6532"/>
                  <a:gd name="T45" fmla="*/ 3950 h 7618"/>
                  <a:gd name="T46" fmla="*/ 5734 w 6532"/>
                  <a:gd name="T47" fmla="*/ 4200 h 7618"/>
                  <a:gd name="T48" fmla="*/ 5899 w 6532"/>
                  <a:gd name="T49" fmla="*/ 4300 h 7618"/>
                  <a:gd name="T50" fmla="*/ 5899 w 6532"/>
                  <a:gd name="T51" fmla="*/ 4400 h 7618"/>
                  <a:gd name="T52" fmla="*/ 5803 w 6532"/>
                  <a:gd name="T53" fmla="*/ 4488 h 7618"/>
                  <a:gd name="T54" fmla="*/ 5300 w 6532"/>
                  <a:gd name="T55" fmla="*/ 4556 h 7618"/>
                  <a:gd name="T56" fmla="*/ 5658 w 6532"/>
                  <a:gd name="T57" fmla="*/ 5259 h 7618"/>
                  <a:gd name="T58" fmla="*/ 5828 w 6532"/>
                  <a:gd name="T59" fmla="*/ 5720 h 7618"/>
                  <a:gd name="T60" fmla="*/ 5907 w 6532"/>
                  <a:gd name="T61" fmla="*/ 6335 h 7618"/>
                  <a:gd name="T62" fmla="*/ 5843 w 6532"/>
                  <a:gd name="T63" fmla="*/ 6950 h 7618"/>
                  <a:gd name="T64" fmla="*/ 5664 w 6532"/>
                  <a:gd name="T65" fmla="*/ 7480 h 7618"/>
                  <a:gd name="T66" fmla="*/ 6321 w 6532"/>
                  <a:gd name="T67" fmla="*/ 7598 h 7618"/>
                  <a:gd name="T68" fmla="*/ 6484 w 6532"/>
                  <a:gd name="T69" fmla="*/ 7470 h 7618"/>
                  <a:gd name="T70" fmla="*/ 6109 w 6532"/>
                  <a:gd name="T71" fmla="*/ 1082 h 7618"/>
                  <a:gd name="T72" fmla="*/ 5779 w 6532"/>
                  <a:gd name="T73" fmla="*/ 1009 h 7618"/>
                  <a:gd name="T74" fmla="*/ 5528 w 6532"/>
                  <a:gd name="T75" fmla="*/ 772 h 7618"/>
                  <a:gd name="T76" fmla="*/ 5452 w 6532"/>
                  <a:gd name="T77" fmla="*/ 504 h 7618"/>
                  <a:gd name="T78" fmla="*/ 1335 w 6532"/>
                  <a:gd name="T79" fmla="*/ 1 h 7618"/>
                  <a:gd name="T80" fmla="*/ 4764 w 6532"/>
                  <a:gd name="T81" fmla="*/ 1126 h 7618"/>
                  <a:gd name="T82" fmla="*/ 4812 w 6532"/>
                  <a:gd name="T83" fmla="*/ 1283 h 7618"/>
                  <a:gd name="T84" fmla="*/ 4692 w 6532"/>
                  <a:gd name="T85" fmla="*/ 1386 h 7618"/>
                  <a:gd name="T86" fmla="*/ 883 w 6532"/>
                  <a:gd name="T87" fmla="*/ 1386 h 7618"/>
                  <a:gd name="T88" fmla="*/ 663 w 6532"/>
                  <a:gd name="T89" fmla="*/ 1339 h 7618"/>
                  <a:gd name="T90" fmla="*/ 639 w 6532"/>
                  <a:gd name="T91" fmla="*/ 1168 h 7618"/>
                  <a:gd name="T92" fmla="*/ 789 w 6532"/>
                  <a:gd name="T93" fmla="*/ 1100 h 7618"/>
                  <a:gd name="T94" fmla="*/ 4712 w 6532"/>
                  <a:gd name="T95" fmla="*/ 1083 h 7618"/>
                  <a:gd name="T96" fmla="*/ 5907 w 6532"/>
                  <a:gd name="T97" fmla="*/ 1995 h 7618"/>
                  <a:gd name="T98" fmla="*/ 5871 w 6532"/>
                  <a:gd name="T99" fmla="*/ 2122 h 7618"/>
                  <a:gd name="T100" fmla="*/ 5110 w 6532"/>
                  <a:gd name="T101" fmla="*/ 2165 h 7618"/>
                  <a:gd name="T102" fmla="*/ 659 w 6532"/>
                  <a:gd name="T103" fmla="*/ 2115 h 7618"/>
                  <a:gd name="T104" fmla="*/ 628 w 6532"/>
                  <a:gd name="T105" fmla="*/ 1971 h 7618"/>
                  <a:gd name="T106" fmla="*/ 3262 w 6532"/>
                  <a:gd name="T107" fmla="*/ 1866 h 7618"/>
                  <a:gd name="T108" fmla="*/ 5842 w 6532"/>
                  <a:gd name="T109" fmla="*/ 1891 h 7618"/>
                  <a:gd name="T110" fmla="*/ 5906 w 6532"/>
                  <a:gd name="T111" fmla="*/ 2792 h 7618"/>
                  <a:gd name="T112" fmla="*/ 5832 w 6532"/>
                  <a:gd name="T113" fmla="*/ 2925 h 7618"/>
                  <a:gd name="T114" fmla="*/ 2317 w 6532"/>
                  <a:gd name="T115" fmla="*/ 2952 h 7618"/>
                  <a:gd name="T116" fmla="*/ 678 w 6532"/>
                  <a:gd name="T117" fmla="*/ 2913 h 7618"/>
                  <a:gd name="T118" fmla="*/ 646 w 6532"/>
                  <a:gd name="T119" fmla="*/ 2718 h 7618"/>
                  <a:gd name="T120" fmla="*/ 2271 w 6532"/>
                  <a:gd name="T121" fmla="*/ 2637 h 7618"/>
                  <a:gd name="T122" fmla="*/ 5815 w 6532"/>
                  <a:gd name="T123" fmla="*/ 2659 h 7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32" h="7618">
                    <a:moveTo>
                      <a:pt x="174" y="28"/>
                    </a:moveTo>
                    <a:lnTo>
                      <a:pt x="145" y="43"/>
                    </a:lnTo>
                    <a:lnTo>
                      <a:pt x="99" y="77"/>
                    </a:lnTo>
                    <a:lnTo>
                      <a:pt x="63" y="117"/>
                    </a:lnTo>
                    <a:lnTo>
                      <a:pt x="35" y="163"/>
                    </a:lnTo>
                    <a:lnTo>
                      <a:pt x="24" y="190"/>
                    </a:lnTo>
                    <a:lnTo>
                      <a:pt x="19" y="204"/>
                    </a:lnTo>
                    <a:lnTo>
                      <a:pt x="13" y="272"/>
                    </a:lnTo>
                    <a:lnTo>
                      <a:pt x="5" y="508"/>
                    </a:lnTo>
                    <a:lnTo>
                      <a:pt x="0" y="1789"/>
                    </a:lnTo>
                    <a:lnTo>
                      <a:pt x="2" y="3835"/>
                    </a:lnTo>
                    <a:lnTo>
                      <a:pt x="7" y="7410"/>
                    </a:lnTo>
                    <a:lnTo>
                      <a:pt x="47" y="7470"/>
                    </a:lnTo>
                    <a:lnTo>
                      <a:pt x="66" y="7495"/>
                    </a:lnTo>
                    <a:lnTo>
                      <a:pt x="120" y="7549"/>
                    </a:lnTo>
                    <a:lnTo>
                      <a:pt x="145" y="7568"/>
                    </a:lnTo>
                    <a:lnTo>
                      <a:pt x="165" y="7581"/>
                    </a:lnTo>
                    <a:lnTo>
                      <a:pt x="209" y="7598"/>
                    </a:lnTo>
                    <a:lnTo>
                      <a:pt x="291" y="7607"/>
                    </a:lnTo>
                    <a:lnTo>
                      <a:pt x="446" y="7611"/>
                    </a:lnTo>
                    <a:lnTo>
                      <a:pt x="567" y="7613"/>
                    </a:lnTo>
                    <a:lnTo>
                      <a:pt x="930" y="7618"/>
                    </a:lnTo>
                    <a:lnTo>
                      <a:pt x="867" y="7480"/>
                    </a:lnTo>
                    <a:lnTo>
                      <a:pt x="836" y="7411"/>
                    </a:lnTo>
                    <a:lnTo>
                      <a:pt x="780" y="7272"/>
                    </a:lnTo>
                    <a:lnTo>
                      <a:pt x="733" y="7131"/>
                    </a:lnTo>
                    <a:lnTo>
                      <a:pt x="694" y="6989"/>
                    </a:lnTo>
                    <a:lnTo>
                      <a:pt x="663" y="6845"/>
                    </a:lnTo>
                    <a:lnTo>
                      <a:pt x="641" y="6700"/>
                    </a:lnTo>
                    <a:lnTo>
                      <a:pt x="626" y="6555"/>
                    </a:lnTo>
                    <a:lnTo>
                      <a:pt x="620" y="6409"/>
                    </a:lnTo>
                    <a:lnTo>
                      <a:pt x="622" y="6263"/>
                    </a:lnTo>
                    <a:lnTo>
                      <a:pt x="633" y="6117"/>
                    </a:lnTo>
                    <a:lnTo>
                      <a:pt x="651" y="5972"/>
                    </a:lnTo>
                    <a:lnTo>
                      <a:pt x="678" y="5827"/>
                    </a:lnTo>
                    <a:lnTo>
                      <a:pt x="713" y="5683"/>
                    </a:lnTo>
                    <a:lnTo>
                      <a:pt x="756" y="5540"/>
                    </a:lnTo>
                    <a:lnTo>
                      <a:pt x="808" y="5399"/>
                    </a:lnTo>
                    <a:lnTo>
                      <a:pt x="867" y="5260"/>
                    </a:lnTo>
                    <a:lnTo>
                      <a:pt x="900" y="5191"/>
                    </a:lnTo>
                    <a:lnTo>
                      <a:pt x="935" y="5123"/>
                    </a:lnTo>
                    <a:lnTo>
                      <a:pt x="1012" y="4989"/>
                    </a:lnTo>
                    <a:lnTo>
                      <a:pt x="1097" y="4859"/>
                    </a:lnTo>
                    <a:lnTo>
                      <a:pt x="1190" y="4734"/>
                    </a:lnTo>
                    <a:lnTo>
                      <a:pt x="1291" y="4613"/>
                    </a:lnTo>
                    <a:lnTo>
                      <a:pt x="1398" y="4499"/>
                    </a:lnTo>
                    <a:lnTo>
                      <a:pt x="1511" y="4391"/>
                    </a:lnTo>
                    <a:lnTo>
                      <a:pt x="1629" y="4291"/>
                    </a:lnTo>
                    <a:lnTo>
                      <a:pt x="1690" y="4245"/>
                    </a:lnTo>
                    <a:lnTo>
                      <a:pt x="1724" y="4220"/>
                    </a:lnTo>
                    <a:lnTo>
                      <a:pt x="1805" y="4167"/>
                    </a:lnTo>
                    <a:lnTo>
                      <a:pt x="1949" y="4083"/>
                    </a:lnTo>
                    <a:lnTo>
                      <a:pt x="2160" y="3974"/>
                    </a:lnTo>
                    <a:lnTo>
                      <a:pt x="2311" y="3906"/>
                    </a:lnTo>
                    <a:lnTo>
                      <a:pt x="2400" y="3871"/>
                    </a:lnTo>
                    <a:lnTo>
                      <a:pt x="2439" y="3858"/>
                    </a:lnTo>
                    <a:lnTo>
                      <a:pt x="2547" y="3824"/>
                    </a:lnTo>
                    <a:lnTo>
                      <a:pt x="2687" y="3788"/>
                    </a:lnTo>
                    <a:lnTo>
                      <a:pt x="2776" y="3770"/>
                    </a:lnTo>
                    <a:lnTo>
                      <a:pt x="2866" y="3758"/>
                    </a:lnTo>
                    <a:lnTo>
                      <a:pt x="2963" y="3749"/>
                    </a:lnTo>
                    <a:lnTo>
                      <a:pt x="3128" y="3743"/>
                    </a:lnTo>
                    <a:lnTo>
                      <a:pt x="3265" y="3743"/>
                    </a:lnTo>
                    <a:lnTo>
                      <a:pt x="3405" y="3744"/>
                    </a:lnTo>
                    <a:lnTo>
                      <a:pt x="3572" y="3750"/>
                    </a:lnTo>
                    <a:lnTo>
                      <a:pt x="3669" y="3759"/>
                    </a:lnTo>
                    <a:lnTo>
                      <a:pt x="3760" y="3772"/>
                    </a:lnTo>
                    <a:lnTo>
                      <a:pt x="3849" y="3791"/>
                    </a:lnTo>
                    <a:lnTo>
                      <a:pt x="3991" y="3830"/>
                    </a:lnTo>
                    <a:lnTo>
                      <a:pt x="4102" y="3866"/>
                    </a:lnTo>
                    <a:lnTo>
                      <a:pt x="4157" y="3885"/>
                    </a:lnTo>
                    <a:lnTo>
                      <a:pt x="4268" y="3929"/>
                    </a:lnTo>
                    <a:lnTo>
                      <a:pt x="4380" y="3979"/>
                    </a:lnTo>
                    <a:lnTo>
                      <a:pt x="4490" y="4034"/>
                    </a:lnTo>
                    <a:lnTo>
                      <a:pt x="4599" y="4094"/>
                    </a:lnTo>
                    <a:lnTo>
                      <a:pt x="4704" y="4158"/>
                    </a:lnTo>
                    <a:lnTo>
                      <a:pt x="4803" y="4225"/>
                    </a:lnTo>
                    <a:lnTo>
                      <a:pt x="4897" y="4294"/>
                    </a:lnTo>
                    <a:lnTo>
                      <a:pt x="4940" y="4330"/>
                    </a:lnTo>
                    <a:lnTo>
                      <a:pt x="5022" y="4400"/>
                    </a:lnTo>
                    <a:lnTo>
                      <a:pt x="5077" y="4346"/>
                    </a:lnTo>
                    <a:lnTo>
                      <a:pt x="5132" y="4293"/>
                    </a:lnTo>
                    <a:lnTo>
                      <a:pt x="5132" y="4065"/>
                    </a:lnTo>
                    <a:lnTo>
                      <a:pt x="5132" y="3988"/>
                    </a:lnTo>
                    <a:lnTo>
                      <a:pt x="5134" y="3890"/>
                    </a:lnTo>
                    <a:lnTo>
                      <a:pt x="5143" y="3836"/>
                    </a:lnTo>
                    <a:lnTo>
                      <a:pt x="5161" y="3802"/>
                    </a:lnTo>
                    <a:lnTo>
                      <a:pt x="5175" y="3785"/>
                    </a:lnTo>
                    <a:lnTo>
                      <a:pt x="5194" y="3765"/>
                    </a:lnTo>
                    <a:lnTo>
                      <a:pt x="5239" y="3740"/>
                    </a:lnTo>
                    <a:lnTo>
                      <a:pt x="5289" y="3730"/>
                    </a:lnTo>
                    <a:lnTo>
                      <a:pt x="5342" y="3738"/>
                    </a:lnTo>
                    <a:lnTo>
                      <a:pt x="5367" y="3750"/>
                    </a:lnTo>
                    <a:lnTo>
                      <a:pt x="5383" y="3760"/>
                    </a:lnTo>
                    <a:lnTo>
                      <a:pt x="5412" y="3796"/>
                    </a:lnTo>
                    <a:lnTo>
                      <a:pt x="5435" y="3842"/>
                    </a:lnTo>
                    <a:lnTo>
                      <a:pt x="5447" y="3893"/>
                    </a:lnTo>
                    <a:lnTo>
                      <a:pt x="5449" y="3918"/>
                    </a:lnTo>
                    <a:lnTo>
                      <a:pt x="5449" y="3971"/>
                    </a:lnTo>
                    <a:lnTo>
                      <a:pt x="5572" y="3853"/>
                    </a:lnTo>
                    <a:lnTo>
                      <a:pt x="5607" y="3819"/>
                    </a:lnTo>
                    <a:lnTo>
                      <a:pt x="5661" y="3771"/>
                    </a:lnTo>
                    <a:lnTo>
                      <a:pt x="5700" y="3744"/>
                    </a:lnTo>
                    <a:lnTo>
                      <a:pt x="5733" y="3734"/>
                    </a:lnTo>
                    <a:lnTo>
                      <a:pt x="5749" y="3733"/>
                    </a:lnTo>
                    <a:lnTo>
                      <a:pt x="5775" y="3734"/>
                    </a:lnTo>
                    <a:lnTo>
                      <a:pt x="5819" y="3744"/>
                    </a:lnTo>
                    <a:lnTo>
                      <a:pt x="5854" y="3767"/>
                    </a:lnTo>
                    <a:lnTo>
                      <a:pt x="5881" y="3801"/>
                    </a:lnTo>
                    <a:lnTo>
                      <a:pt x="5892" y="3825"/>
                    </a:lnTo>
                    <a:lnTo>
                      <a:pt x="5898" y="3839"/>
                    </a:lnTo>
                    <a:lnTo>
                      <a:pt x="5905" y="3867"/>
                    </a:lnTo>
                    <a:lnTo>
                      <a:pt x="5905" y="3894"/>
                    </a:lnTo>
                    <a:lnTo>
                      <a:pt x="5899" y="3921"/>
                    </a:lnTo>
                    <a:lnTo>
                      <a:pt x="5885" y="3950"/>
                    </a:lnTo>
                    <a:lnTo>
                      <a:pt x="5863" y="3982"/>
                    </a:lnTo>
                    <a:lnTo>
                      <a:pt x="5815" y="4039"/>
                    </a:lnTo>
                    <a:lnTo>
                      <a:pt x="5769" y="4086"/>
                    </a:lnTo>
                    <a:lnTo>
                      <a:pt x="5659" y="4200"/>
                    </a:lnTo>
                    <a:lnTo>
                      <a:pt x="5734" y="4200"/>
                    </a:lnTo>
                    <a:lnTo>
                      <a:pt x="5765" y="4201"/>
                    </a:lnTo>
                    <a:lnTo>
                      <a:pt x="5817" y="4212"/>
                    </a:lnTo>
                    <a:lnTo>
                      <a:pt x="5857" y="4236"/>
                    </a:lnTo>
                    <a:lnTo>
                      <a:pt x="5887" y="4274"/>
                    </a:lnTo>
                    <a:lnTo>
                      <a:pt x="5899" y="4300"/>
                    </a:lnTo>
                    <a:lnTo>
                      <a:pt x="5904" y="4314"/>
                    </a:lnTo>
                    <a:lnTo>
                      <a:pt x="5911" y="4338"/>
                    </a:lnTo>
                    <a:lnTo>
                      <a:pt x="5911" y="4361"/>
                    </a:lnTo>
                    <a:lnTo>
                      <a:pt x="5904" y="4385"/>
                    </a:lnTo>
                    <a:lnTo>
                      <a:pt x="5899" y="4400"/>
                    </a:lnTo>
                    <a:lnTo>
                      <a:pt x="5892" y="4416"/>
                    </a:lnTo>
                    <a:lnTo>
                      <a:pt x="5877" y="4443"/>
                    </a:lnTo>
                    <a:lnTo>
                      <a:pt x="5859" y="4463"/>
                    </a:lnTo>
                    <a:lnTo>
                      <a:pt x="5835" y="4478"/>
                    </a:lnTo>
                    <a:lnTo>
                      <a:pt x="5803" y="4488"/>
                    </a:lnTo>
                    <a:lnTo>
                      <a:pt x="5759" y="4495"/>
                    </a:lnTo>
                    <a:lnTo>
                      <a:pt x="5668" y="4499"/>
                    </a:lnTo>
                    <a:lnTo>
                      <a:pt x="5582" y="4500"/>
                    </a:lnTo>
                    <a:lnTo>
                      <a:pt x="5355" y="4500"/>
                    </a:lnTo>
                    <a:lnTo>
                      <a:pt x="5300" y="4556"/>
                    </a:lnTo>
                    <a:lnTo>
                      <a:pt x="5245" y="4613"/>
                    </a:lnTo>
                    <a:lnTo>
                      <a:pt x="5380" y="4795"/>
                    </a:lnTo>
                    <a:lnTo>
                      <a:pt x="5437" y="4872"/>
                    </a:lnTo>
                    <a:lnTo>
                      <a:pt x="5552" y="5058"/>
                    </a:lnTo>
                    <a:lnTo>
                      <a:pt x="5658" y="5259"/>
                    </a:lnTo>
                    <a:lnTo>
                      <a:pt x="5725" y="5406"/>
                    </a:lnTo>
                    <a:lnTo>
                      <a:pt x="5761" y="5497"/>
                    </a:lnTo>
                    <a:lnTo>
                      <a:pt x="5775" y="5540"/>
                    </a:lnTo>
                    <a:lnTo>
                      <a:pt x="5794" y="5599"/>
                    </a:lnTo>
                    <a:lnTo>
                      <a:pt x="5828" y="5720"/>
                    </a:lnTo>
                    <a:lnTo>
                      <a:pt x="5855" y="5842"/>
                    </a:lnTo>
                    <a:lnTo>
                      <a:pt x="5877" y="5964"/>
                    </a:lnTo>
                    <a:lnTo>
                      <a:pt x="5893" y="6088"/>
                    </a:lnTo>
                    <a:lnTo>
                      <a:pt x="5903" y="6211"/>
                    </a:lnTo>
                    <a:lnTo>
                      <a:pt x="5907" y="6335"/>
                    </a:lnTo>
                    <a:lnTo>
                      <a:pt x="5906" y="6459"/>
                    </a:lnTo>
                    <a:lnTo>
                      <a:pt x="5899" y="6583"/>
                    </a:lnTo>
                    <a:lnTo>
                      <a:pt x="5886" y="6706"/>
                    </a:lnTo>
                    <a:lnTo>
                      <a:pt x="5867" y="6828"/>
                    </a:lnTo>
                    <a:lnTo>
                      <a:pt x="5843" y="6950"/>
                    </a:lnTo>
                    <a:lnTo>
                      <a:pt x="5813" y="7070"/>
                    </a:lnTo>
                    <a:lnTo>
                      <a:pt x="5778" y="7189"/>
                    </a:lnTo>
                    <a:lnTo>
                      <a:pt x="5736" y="7307"/>
                    </a:lnTo>
                    <a:lnTo>
                      <a:pt x="5689" y="7423"/>
                    </a:lnTo>
                    <a:lnTo>
                      <a:pt x="5664" y="7480"/>
                    </a:lnTo>
                    <a:lnTo>
                      <a:pt x="5600" y="7618"/>
                    </a:lnTo>
                    <a:lnTo>
                      <a:pt x="5964" y="7613"/>
                    </a:lnTo>
                    <a:lnTo>
                      <a:pt x="6085" y="7611"/>
                    </a:lnTo>
                    <a:lnTo>
                      <a:pt x="6240" y="7607"/>
                    </a:lnTo>
                    <a:lnTo>
                      <a:pt x="6321" y="7598"/>
                    </a:lnTo>
                    <a:lnTo>
                      <a:pt x="6365" y="7581"/>
                    </a:lnTo>
                    <a:lnTo>
                      <a:pt x="6385" y="7568"/>
                    </a:lnTo>
                    <a:lnTo>
                      <a:pt x="6411" y="7549"/>
                    </a:lnTo>
                    <a:lnTo>
                      <a:pt x="6464" y="7495"/>
                    </a:lnTo>
                    <a:lnTo>
                      <a:pt x="6484" y="7470"/>
                    </a:lnTo>
                    <a:lnTo>
                      <a:pt x="6524" y="7410"/>
                    </a:lnTo>
                    <a:lnTo>
                      <a:pt x="6529" y="4246"/>
                    </a:lnTo>
                    <a:lnTo>
                      <a:pt x="6532" y="1083"/>
                    </a:lnTo>
                    <a:lnTo>
                      <a:pt x="6259" y="1083"/>
                    </a:lnTo>
                    <a:lnTo>
                      <a:pt x="6109" y="1082"/>
                    </a:lnTo>
                    <a:lnTo>
                      <a:pt x="5978" y="1073"/>
                    </a:lnTo>
                    <a:lnTo>
                      <a:pt x="5912" y="1060"/>
                    </a:lnTo>
                    <a:lnTo>
                      <a:pt x="5880" y="1050"/>
                    </a:lnTo>
                    <a:lnTo>
                      <a:pt x="5845" y="1038"/>
                    </a:lnTo>
                    <a:lnTo>
                      <a:pt x="5779" y="1009"/>
                    </a:lnTo>
                    <a:lnTo>
                      <a:pt x="5718" y="973"/>
                    </a:lnTo>
                    <a:lnTo>
                      <a:pt x="5662" y="932"/>
                    </a:lnTo>
                    <a:lnTo>
                      <a:pt x="5611" y="884"/>
                    </a:lnTo>
                    <a:lnTo>
                      <a:pt x="5567" y="830"/>
                    </a:lnTo>
                    <a:lnTo>
                      <a:pt x="5528" y="772"/>
                    </a:lnTo>
                    <a:lnTo>
                      <a:pt x="5496" y="707"/>
                    </a:lnTo>
                    <a:lnTo>
                      <a:pt x="5482" y="673"/>
                    </a:lnTo>
                    <a:lnTo>
                      <a:pt x="5472" y="644"/>
                    </a:lnTo>
                    <a:lnTo>
                      <a:pt x="5459" y="585"/>
                    </a:lnTo>
                    <a:lnTo>
                      <a:pt x="5452" y="504"/>
                    </a:lnTo>
                    <a:lnTo>
                      <a:pt x="5449" y="379"/>
                    </a:lnTo>
                    <a:lnTo>
                      <a:pt x="5449" y="291"/>
                    </a:lnTo>
                    <a:lnTo>
                      <a:pt x="5449" y="0"/>
                    </a:lnTo>
                    <a:lnTo>
                      <a:pt x="2837" y="0"/>
                    </a:lnTo>
                    <a:lnTo>
                      <a:pt x="1335" y="1"/>
                    </a:lnTo>
                    <a:lnTo>
                      <a:pt x="402" y="8"/>
                    </a:lnTo>
                    <a:lnTo>
                      <a:pt x="233" y="16"/>
                    </a:lnTo>
                    <a:lnTo>
                      <a:pt x="184" y="23"/>
                    </a:lnTo>
                    <a:lnTo>
                      <a:pt x="174" y="28"/>
                    </a:lnTo>
                    <a:close/>
                    <a:moveTo>
                      <a:pt x="4764" y="1126"/>
                    </a:moveTo>
                    <a:lnTo>
                      <a:pt x="4779" y="1141"/>
                    </a:lnTo>
                    <a:lnTo>
                      <a:pt x="4802" y="1173"/>
                    </a:lnTo>
                    <a:lnTo>
                      <a:pt x="4815" y="1209"/>
                    </a:lnTo>
                    <a:lnTo>
                      <a:pt x="4818" y="1246"/>
                    </a:lnTo>
                    <a:lnTo>
                      <a:pt x="4812" y="1283"/>
                    </a:lnTo>
                    <a:lnTo>
                      <a:pt x="4797" y="1317"/>
                    </a:lnTo>
                    <a:lnTo>
                      <a:pt x="4772" y="1348"/>
                    </a:lnTo>
                    <a:lnTo>
                      <a:pt x="4740" y="1372"/>
                    </a:lnTo>
                    <a:lnTo>
                      <a:pt x="4720" y="1381"/>
                    </a:lnTo>
                    <a:lnTo>
                      <a:pt x="4692" y="1386"/>
                    </a:lnTo>
                    <a:lnTo>
                      <a:pt x="4461" y="1393"/>
                    </a:lnTo>
                    <a:lnTo>
                      <a:pt x="3677" y="1398"/>
                    </a:lnTo>
                    <a:lnTo>
                      <a:pt x="2697" y="1396"/>
                    </a:lnTo>
                    <a:lnTo>
                      <a:pt x="1474" y="1393"/>
                    </a:lnTo>
                    <a:lnTo>
                      <a:pt x="883" y="1386"/>
                    </a:lnTo>
                    <a:lnTo>
                      <a:pt x="770" y="1381"/>
                    </a:lnTo>
                    <a:lnTo>
                      <a:pt x="713" y="1374"/>
                    </a:lnTo>
                    <a:lnTo>
                      <a:pt x="689" y="1364"/>
                    </a:lnTo>
                    <a:lnTo>
                      <a:pt x="682" y="1358"/>
                    </a:lnTo>
                    <a:lnTo>
                      <a:pt x="663" y="1339"/>
                    </a:lnTo>
                    <a:lnTo>
                      <a:pt x="636" y="1300"/>
                    </a:lnTo>
                    <a:lnTo>
                      <a:pt x="624" y="1258"/>
                    </a:lnTo>
                    <a:lnTo>
                      <a:pt x="627" y="1213"/>
                    </a:lnTo>
                    <a:lnTo>
                      <a:pt x="634" y="1188"/>
                    </a:lnTo>
                    <a:lnTo>
                      <a:pt x="639" y="1168"/>
                    </a:lnTo>
                    <a:lnTo>
                      <a:pt x="647" y="1144"/>
                    </a:lnTo>
                    <a:lnTo>
                      <a:pt x="658" y="1131"/>
                    </a:lnTo>
                    <a:lnTo>
                      <a:pt x="678" y="1120"/>
                    </a:lnTo>
                    <a:lnTo>
                      <a:pt x="711" y="1111"/>
                    </a:lnTo>
                    <a:lnTo>
                      <a:pt x="789" y="1100"/>
                    </a:lnTo>
                    <a:lnTo>
                      <a:pt x="973" y="1091"/>
                    </a:lnTo>
                    <a:lnTo>
                      <a:pt x="1272" y="1086"/>
                    </a:lnTo>
                    <a:lnTo>
                      <a:pt x="1978" y="1083"/>
                    </a:lnTo>
                    <a:lnTo>
                      <a:pt x="2727" y="1083"/>
                    </a:lnTo>
                    <a:lnTo>
                      <a:pt x="4712" y="1083"/>
                    </a:lnTo>
                    <a:lnTo>
                      <a:pt x="4764" y="1126"/>
                    </a:lnTo>
                    <a:close/>
                    <a:moveTo>
                      <a:pt x="5842" y="1891"/>
                    </a:moveTo>
                    <a:lnTo>
                      <a:pt x="5862" y="1907"/>
                    </a:lnTo>
                    <a:lnTo>
                      <a:pt x="5892" y="1947"/>
                    </a:lnTo>
                    <a:lnTo>
                      <a:pt x="5907" y="1995"/>
                    </a:lnTo>
                    <a:lnTo>
                      <a:pt x="5906" y="2043"/>
                    </a:lnTo>
                    <a:lnTo>
                      <a:pt x="5899" y="2066"/>
                    </a:lnTo>
                    <a:lnTo>
                      <a:pt x="5892" y="2086"/>
                    </a:lnTo>
                    <a:lnTo>
                      <a:pt x="5884" y="2109"/>
                    </a:lnTo>
                    <a:lnTo>
                      <a:pt x="5871" y="2122"/>
                    </a:lnTo>
                    <a:lnTo>
                      <a:pt x="5848" y="2133"/>
                    </a:lnTo>
                    <a:lnTo>
                      <a:pt x="5809" y="2142"/>
                    </a:lnTo>
                    <a:lnTo>
                      <a:pt x="5714" y="2152"/>
                    </a:lnTo>
                    <a:lnTo>
                      <a:pt x="5486" y="2161"/>
                    </a:lnTo>
                    <a:lnTo>
                      <a:pt x="5110" y="2165"/>
                    </a:lnTo>
                    <a:lnTo>
                      <a:pt x="4216" y="2167"/>
                    </a:lnTo>
                    <a:lnTo>
                      <a:pt x="3262" y="2166"/>
                    </a:lnTo>
                    <a:lnTo>
                      <a:pt x="717" y="2166"/>
                    </a:lnTo>
                    <a:lnTo>
                      <a:pt x="670" y="2126"/>
                    </a:lnTo>
                    <a:lnTo>
                      <a:pt x="659" y="2115"/>
                    </a:lnTo>
                    <a:lnTo>
                      <a:pt x="640" y="2090"/>
                    </a:lnTo>
                    <a:lnTo>
                      <a:pt x="628" y="2062"/>
                    </a:lnTo>
                    <a:lnTo>
                      <a:pt x="622" y="2032"/>
                    </a:lnTo>
                    <a:lnTo>
                      <a:pt x="622" y="2001"/>
                    </a:lnTo>
                    <a:lnTo>
                      <a:pt x="628" y="1971"/>
                    </a:lnTo>
                    <a:lnTo>
                      <a:pt x="640" y="1943"/>
                    </a:lnTo>
                    <a:lnTo>
                      <a:pt x="659" y="1917"/>
                    </a:lnTo>
                    <a:lnTo>
                      <a:pt x="670" y="1906"/>
                    </a:lnTo>
                    <a:lnTo>
                      <a:pt x="717" y="1866"/>
                    </a:lnTo>
                    <a:lnTo>
                      <a:pt x="3262" y="1866"/>
                    </a:lnTo>
                    <a:lnTo>
                      <a:pt x="4683" y="1867"/>
                    </a:lnTo>
                    <a:lnTo>
                      <a:pt x="5608" y="1874"/>
                    </a:lnTo>
                    <a:lnTo>
                      <a:pt x="5784" y="1881"/>
                    </a:lnTo>
                    <a:lnTo>
                      <a:pt x="5834" y="1887"/>
                    </a:lnTo>
                    <a:lnTo>
                      <a:pt x="5842" y="1891"/>
                    </a:lnTo>
                    <a:close/>
                    <a:moveTo>
                      <a:pt x="5849" y="2675"/>
                    </a:moveTo>
                    <a:lnTo>
                      <a:pt x="5864" y="2689"/>
                    </a:lnTo>
                    <a:lnTo>
                      <a:pt x="5886" y="2721"/>
                    </a:lnTo>
                    <a:lnTo>
                      <a:pt x="5901" y="2756"/>
                    </a:lnTo>
                    <a:lnTo>
                      <a:pt x="5906" y="2792"/>
                    </a:lnTo>
                    <a:lnTo>
                      <a:pt x="5904" y="2828"/>
                    </a:lnTo>
                    <a:lnTo>
                      <a:pt x="5894" y="2861"/>
                    </a:lnTo>
                    <a:lnTo>
                      <a:pt x="5875" y="2891"/>
                    </a:lnTo>
                    <a:lnTo>
                      <a:pt x="5849" y="2915"/>
                    </a:lnTo>
                    <a:lnTo>
                      <a:pt x="5832" y="2925"/>
                    </a:lnTo>
                    <a:lnTo>
                      <a:pt x="5816" y="2928"/>
                    </a:lnTo>
                    <a:lnTo>
                      <a:pt x="5694" y="2934"/>
                    </a:lnTo>
                    <a:lnTo>
                      <a:pt x="5349" y="2942"/>
                    </a:lnTo>
                    <a:lnTo>
                      <a:pt x="4214" y="2952"/>
                    </a:lnTo>
                    <a:lnTo>
                      <a:pt x="2317" y="2952"/>
                    </a:lnTo>
                    <a:lnTo>
                      <a:pt x="1181" y="2942"/>
                    </a:lnTo>
                    <a:lnTo>
                      <a:pt x="837" y="2934"/>
                    </a:lnTo>
                    <a:lnTo>
                      <a:pt x="715" y="2928"/>
                    </a:lnTo>
                    <a:lnTo>
                      <a:pt x="699" y="2925"/>
                    </a:lnTo>
                    <a:lnTo>
                      <a:pt x="678" y="2913"/>
                    </a:lnTo>
                    <a:lnTo>
                      <a:pt x="648" y="2881"/>
                    </a:lnTo>
                    <a:lnTo>
                      <a:pt x="631" y="2843"/>
                    </a:lnTo>
                    <a:lnTo>
                      <a:pt x="624" y="2802"/>
                    </a:lnTo>
                    <a:lnTo>
                      <a:pt x="629" y="2759"/>
                    </a:lnTo>
                    <a:lnTo>
                      <a:pt x="646" y="2718"/>
                    </a:lnTo>
                    <a:lnTo>
                      <a:pt x="672" y="2683"/>
                    </a:lnTo>
                    <a:lnTo>
                      <a:pt x="709" y="2654"/>
                    </a:lnTo>
                    <a:lnTo>
                      <a:pt x="732" y="2645"/>
                    </a:lnTo>
                    <a:lnTo>
                      <a:pt x="884" y="2641"/>
                    </a:lnTo>
                    <a:lnTo>
                      <a:pt x="2271" y="2637"/>
                    </a:lnTo>
                    <a:lnTo>
                      <a:pt x="3284" y="2638"/>
                    </a:lnTo>
                    <a:lnTo>
                      <a:pt x="4851" y="2640"/>
                    </a:lnTo>
                    <a:lnTo>
                      <a:pt x="5603" y="2647"/>
                    </a:lnTo>
                    <a:lnTo>
                      <a:pt x="5745" y="2652"/>
                    </a:lnTo>
                    <a:lnTo>
                      <a:pt x="5815" y="2659"/>
                    </a:lnTo>
                    <a:lnTo>
                      <a:pt x="5842" y="2669"/>
                    </a:lnTo>
                    <a:lnTo>
                      <a:pt x="5849" y="26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A010F9DA-0484-5C9F-9F7F-B4679CFD0C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9887" y="143820"/>
                <a:ext cx="105363" cy="105363"/>
              </a:xfrm>
              <a:custGeom>
                <a:avLst/>
                <a:gdLst>
                  <a:gd name="T0" fmla="*/ 7 w 554"/>
                  <a:gd name="T1" fmla="*/ 167 h 556"/>
                  <a:gd name="T2" fmla="*/ 9 w 554"/>
                  <a:gd name="T3" fmla="*/ 218 h 556"/>
                  <a:gd name="T4" fmla="*/ 15 w 554"/>
                  <a:gd name="T5" fmla="*/ 292 h 556"/>
                  <a:gd name="T6" fmla="*/ 26 w 554"/>
                  <a:gd name="T7" fmla="*/ 344 h 556"/>
                  <a:gd name="T8" fmla="*/ 45 w 554"/>
                  <a:gd name="T9" fmla="*/ 388 h 556"/>
                  <a:gd name="T10" fmla="*/ 59 w 554"/>
                  <a:gd name="T11" fmla="*/ 412 h 556"/>
                  <a:gd name="T12" fmla="*/ 71 w 554"/>
                  <a:gd name="T13" fmla="*/ 433 h 556"/>
                  <a:gd name="T14" fmla="*/ 98 w 554"/>
                  <a:gd name="T15" fmla="*/ 468 h 556"/>
                  <a:gd name="T16" fmla="*/ 128 w 554"/>
                  <a:gd name="T17" fmla="*/ 497 h 556"/>
                  <a:gd name="T18" fmla="*/ 163 w 554"/>
                  <a:gd name="T19" fmla="*/ 520 h 556"/>
                  <a:gd name="T20" fmla="*/ 203 w 554"/>
                  <a:gd name="T21" fmla="*/ 537 h 556"/>
                  <a:gd name="T22" fmla="*/ 249 w 554"/>
                  <a:gd name="T23" fmla="*/ 548 h 556"/>
                  <a:gd name="T24" fmla="*/ 332 w 554"/>
                  <a:gd name="T25" fmla="*/ 556 h 556"/>
                  <a:gd name="T26" fmla="*/ 402 w 554"/>
                  <a:gd name="T27" fmla="*/ 555 h 556"/>
                  <a:gd name="T28" fmla="*/ 554 w 554"/>
                  <a:gd name="T29" fmla="*/ 550 h 556"/>
                  <a:gd name="T30" fmla="*/ 277 w 554"/>
                  <a:gd name="T31" fmla="*/ 275 h 556"/>
                  <a:gd name="T32" fmla="*/ 0 w 554"/>
                  <a:gd name="T33" fmla="*/ 0 h 556"/>
                  <a:gd name="T34" fmla="*/ 7 w 554"/>
                  <a:gd name="T35" fmla="*/ 167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54" h="556">
                    <a:moveTo>
                      <a:pt x="7" y="167"/>
                    </a:moveTo>
                    <a:lnTo>
                      <a:pt x="9" y="218"/>
                    </a:lnTo>
                    <a:lnTo>
                      <a:pt x="15" y="292"/>
                    </a:lnTo>
                    <a:lnTo>
                      <a:pt x="26" y="344"/>
                    </a:lnTo>
                    <a:lnTo>
                      <a:pt x="45" y="388"/>
                    </a:lnTo>
                    <a:lnTo>
                      <a:pt x="59" y="412"/>
                    </a:lnTo>
                    <a:lnTo>
                      <a:pt x="71" y="433"/>
                    </a:lnTo>
                    <a:lnTo>
                      <a:pt x="98" y="468"/>
                    </a:lnTo>
                    <a:lnTo>
                      <a:pt x="128" y="497"/>
                    </a:lnTo>
                    <a:lnTo>
                      <a:pt x="163" y="520"/>
                    </a:lnTo>
                    <a:lnTo>
                      <a:pt x="203" y="537"/>
                    </a:lnTo>
                    <a:lnTo>
                      <a:pt x="249" y="548"/>
                    </a:lnTo>
                    <a:lnTo>
                      <a:pt x="332" y="556"/>
                    </a:lnTo>
                    <a:lnTo>
                      <a:pt x="402" y="555"/>
                    </a:lnTo>
                    <a:lnTo>
                      <a:pt x="554" y="550"/>
                    </a:lnTo>
                    <a:lnTo>
                      <a:pt x="277" y="275"/>
                    </a:lnTo>
                    <a:lnTo>
                      <a:pt x="0" y="0"/>
                    </a:lnTo>
                    <a:lnTo>
                      <a:pt x="7" y="1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AD45FBC1-A074-2E34-EF1C-17F07A47B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5887" y="869599"/>
                <a:ext cx="884846" cy="884335"/>
              </a:xfrm>
              <a:custGeom>
                <a:avLst/>
                <a:gdLst>
                  <a:gd name="T0" fmla="*/ 1657 w 4667"/>
                  <a:gd name="T1" fmla="*/ 104 h 4670"/>
                  <a:gd name="T2" fmla="*/ 1218 w 4667"/>
                  <a:gd name="T3" fmla="*/ 285 h 4670"/>
                  <a:gd name="T4" fmla="*/ 762 w 4667"/>
                  <a:gd name="T5" fmla="*/ 607 h 4670"/>
                  <a:gd name="T6" fmla="*/ 401 w 4667"/>
                  <a:gd name="T7" fmla="*/ 1025 h 4670"/>
                  <a:gd name="T8" fmla="*/ 144 w 4667"/>
                  <a:gd name="T9" fmla="*/ 1527 h 4670"/>
                  <a:gd name="T10" fmla="*/ 31 w 4667"/>
                  <a:gd name="T11" fmla="*/ 1923 h 4670"/>
                  <a:gd name="T12" fmla="*/ 0 w 4667"/>
                  <a:gd name="T13" fmla="*/ 2384 h 4670"/>
                  <a:gd name="T14" fmla="*/ 33 w 4667"/>
                  <a:gd name="T15" fmla="*/ 2769 h 4670"/>
                  <a:gd name="T16" fmla="*/ 216 w 4667"/>
                  <a:gd name="T17" fmla="*/ 3333 h 4670"/>
                  <a:gd name="T18" fmla="*/ 584 w 4667"/>
                  <a:gd name="T19" fmla="*/ 3886 h 4670"/>
                  <a:gd name="T20" fmla="*/ 1027 w 4667"/>
                  <a:gd name="T21" fmla="*/ 4280 h 4670"/>
                  <a:gd name="T22" fmla="*/ 1510 w 4667"/>
                  <a:gd name="T23" fmla="*/ 4528 h 4670"/>
                  <a:gd name="T24" fmla="*/ 1918 w 4667"/>
                  <a:gd name="T25" fmla="*/ 4645 h 4670"/>
                  <a:gd name="T26" fmla="*/ 2652 w 4667"/>
                  <a:gd name="T27" fmla="*/ 4658 h 4670"/>
                  <a:gd name="T28" fmla="*/ 2978 w 4667"/>
                  <a:gd name="T29" fmla="*/ 4590 h 4670"/>
                  <a:gd name="T30" fmla="*/ 3449 w 4667"/>
                  <a:gd name="T31" fmla="*/ 4396 h 4670"/>
                  <a:gd name="T32" fmla="*/ 3745 w 4667"/>
                  <a:gd name="T33" fmla="*/ 4208 h 4670"/>
                  <a:gd name="T34" fmla="*/ 4196 w 4667"/>
                  <a:gd name="T35" fmla="*/ 3757 h 4670"/>
                  <a:gd name="T36" fmla="*/ 4368 w 4667"/>
                  <a:gd name="T37" fmla="*/ 3498 h 4670"/>
                  <a:gd name="T38" fmla="*/ 4561 w 4667"/>
                  <a:gd name="T39" fmla="*/ 3059 h 4670"/>
                  <a:gd name="T40" fmla="*/ 4646 w 4667"/>
                  <a:gd name="T41" fmla="*/ 2726 h 4670"/>
                  <a:gd name="T42" fmla="*/ 4657 w 4667"/>
                  <a:gd name="T43" fmla="*/ 2044 h 4670"/>
                  <a:gd name="T44" fmla="*/ 4575 w 4667"/>
                  <a:gd name="T45" fmla="*/ 1671 h 4670"/>
                  <a:gd name="T46" fmla="*/ 4394 w 4667"/>
                  <a:gd name="T47" fmla="*/ 1232 h 4670"/>
                  <a:gd name="T48" fmla="*/ 4127 w 4667"/>
                  <a:gd name="T49" fmla="*/ 836 h 4670"/>
                  <a:gd name="T50" fmla="*/ 4068 w 4667"/>
                  <a:gd name="T51" fmla="*/ 831 h 4670"/>
                  <a:gd name="T52" fmla="*/ 3978 w 4667"/>
                  <a:gd name="T53" fmla="*/ 1151 h 4670"/>
                  <a:gd name="T54" fmla="*/ 4182 w 4667"/>
                  <a:gd name="T55" fmla="*/ 1503 h 4670"/>
                  <a:gd name="T56" fmla="*/ 4325 w 4667"/>
                  <a:gd name="T57" fmla="*/ 1952 h 4670"/>
                  <a:gd name="T58" fmla="*/ 4358 w 4667"/>
                  <a:gd name="T59" fmla="*/ 2264 h 4670"/>
                  <a:gd name="T60" fmla="*/ 4332 w 4667"/>
                  <a:gd name="T61" fmla="*/ 2694 h 4670"/>
                  <a:gd name="T62" fmla="*/ 4241 w 4667"/>
                  <a:gd name="T63" fmla="*/ 3033 h 4670"/>
                  <a:gd name="T64" fmla="*/ 3989 w 4667"/>
                  <a:gd name="T65" fmla="*/ 3514 h 4670"/>
                  <a:gd name="T66" fmla="*/ 3624 w 4667"/>
                  <a:gd name="T67" fmla="*/ 3904 h 4670"/>
                  <a:gd name="T68" fmla="*/ 3161 w 4667"/>
                  <a:gd name="T69" fmla="*/ 4189 h 4670"/>
                  <a:gd name="T70" fmla="*/ 2777 w 4667"/>
                  <a:gd name="T71" fmla="*/ 4321 h 4670"/>
                  <a:gd name="T72" fmla="*/ 2343 w 4667"/>
                  <a:gd name="T73" fmla="*/ 4351 h 4670"/>
                  <a:gd name="T74" fmla="*/ 1891 w 4667"/>
                  <a:gd name="T75" fmla="*/ 4320 h 4670"/>
                  <a:gd name="T76" fmla="*/ 1532 w 4667"/>
                  <a:gd name="T77" fmla="*/ 4198 h 4670"/>
                  <a:gd name="T78" fmla="*/ 1149 w 4667"/>
                  <a:gd name="T79" fmla="*/ 3982 h 4670"/>
                  <a:gd name="T80" fmla="*/ 631 w 4667"/>
                  <a:gd name="T81" fmla="*/ 3433 h 4670"/>
                  <a:gd name="T82" fmla="*/ 352 w 4667"/>
                  <a:gd name="T83" fmla="*/ 2737 h 4670"/>
                  <a:gd name="T84" fmla="*/ 337 w 4667"/>
                  <a:gd name="T85" fmla="*/ 2020 h 4670"/>
                  <a:gd name="T86" fmla="*/ 420 w 4667"/>
                  <a:gd name="T87" fmla="*/ 1681 h 4670"/>
                  <a:gd name="T88" fmla="*/ 579 w 4667"/>
                  <a:gd name="T89" fmla="*/ 1330 h 4670"/>
                  <a:gd name="T90" fmla="*/ 845 w 4667"/>
                  <a:gd name="T91" fmla="*/ 971 h 4670"/>
                  <a:gd name="T92" fmla="*/ 1184 w 4667"/>
                  <a:gd name="T93" fmla="*/ 674 h 4670"/>
                  <a:gd name="T94" fmla="*/ 1578 w 4667"/>
                  <a:gd name="T95" fmla="*/ 458 h 4670"/>
                  <a:gd name="T96" fmla="*/ 2036 w 4667"/>
                  <a:gd name="T97" fmla="*/ 334 h 4670"/>
                  <a:gd name="T98" fmla="*/ 2593 w 4667"/>
                  <a:gd name="T99" fmla="*/ 328 h 4670"/>
                  <a:gd name="T100" fmla="*/ 2869 w 4667"/>
                  <a:gd name="T101" fmla="*/ 384 h 4670"/>
                  <a:gd name="T102" fmla="*/ 3313 w 4667"/>
                  <a:gd name="T103" fmla="*/ 564 h 4670"/>
                  <a:gd name="T104" fmla="*/ 3663 w 4667"/>
                  <a:gd name="T105" fmla="*/ 799 h 4670"/>
                  <a:gd name="T106" fmla="*/ 3782 w 4667"/>
                  <a:gd name="T107" fmla="*/ 501 h 4670"/>
                  <a:gd name="T108" fmla="*/ 3428 w 4667"/>
                  <a:gd name="T109" fmla="*/ 274 h 4670"/>
                  <a:gd name="T110" fmla="*/ 3068 w 4667"/>
                  <a:gd name="T111" fmla="*/ 119 h 4670"/>
                  <a:gd name="T112" fmla="*/ 2650 w 4667"/>
                  <a:gd name="T113" fmla="*/ 24 h 4670"/>
                  <a:gd name="T114" fmla="*/ 2150 w 4667"/>
                  <a:gd name="T115" fmla="*/ 5 h 46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667" h="4670">
                    <a:moveTo>
                      <a:pt x="2093" y="11"/>
                    </a:moveTo>
                    <a:lnTo>
                      <a:pt x="2016" y="21"/>
                    </a:lnTo>
                    <a:lnTo>
                      <a:pt x="1841" y="55"/>
                    </a:lnTo>
                    <a:lnTo>
                      <a:pt x="1657" y="104"/>
                    </a:lnTo>
                    <a:lnTo>
                      <a:pt x="1485" y="161"/>
                    </a:lnTo>
                    <a:lnTo>
                      <a:pt x="1412" y="191"/>
                    </a:lnTo>
                    <a:lnTo>
                      <a:pt x="1346" y="220"/>
                    </a:lnTo>
                    <a:lnTo>
                      <a:pt x="1218" y="285"/>
                    </a:lnTo>
                    <a:lnTo>
                      <a:pt x="1095" y="356"/>
                    </a:lnTo>
                    <a:lnTo>
                      <a:pt x="978" y="433"/>
                    </a:lnTo>
                    <a:lnTo>
                      <a:pt x="867" y="517"/>
                    </a:lnTo>
                    <a:lnTo>
                      <a:pt x="762" y="607"/>
                    </a:lnTo>
                    <a:lnTo>
                      <a:pt x="662" y="703"/>
                    </a:lnTo>
                    <a:lnTo>
                      <a:pt x="569" y="805"/>
                    </a:lnTo>
                    <a:lnTo>
                      <a:pt x="482" y="912"/>
                    </a:lnTo>
                    <a:lnTo>
                      <a:pt x="401" y="1025"/>
                    </a:lnTo>
                    <a:lnTo>
                      <a:pt x="326" y="1143"/>
                    </a:lnTo>
                    <a:lnTo>
                      <a:pt x="259" y="1266"/>
                    </a:lnTo>
                    <a:lnTo>
                      <a:pt x="198" y="1394"/>
                    </a:lnTo>
                    <a:lnTo>
                      <a:pt x="144" y="1527"/>
                    </a:lnTo>
                    <a:lnTo>
                      <a:pt x="97" y="1664"/>
                    </a:lnTo>
                    <a:lnTo>
                      <a:pt x="57" y="1806"/>
                    </a:lnTo>
                    <a:lnTo>
                      <a:pt x="40" y="1879"/>
                    </a:lnTo>
                    <a:lnTo>
                      <a:pt x="31" y="1923"/>
                    </a:lnTo>
                    <a:lnTo>
                      <a:pt x="17" y="2025"/>
                    </a:lnTo>
                    <a:lnTo>
                      <a:pt x="7" y="2139"/>
                    </a:lnTo>
                    <a:lnTo>
                      <a:pt x="1" y="2260"/>
                    </a:lnTo>
                    <a:lnTo>
                      <a:pt x="0" y="2384"/>
                    </a:lnTo>
                    <a:lnTo>
                      <a:pt x="4" y="2506"/>
                    </a:lnTo>
                    <a:lnTo>
                      <a:pt x="12" y="2621"/>
                    </a:lnTo>
                    <a:lnTo>
                      <a:pt x="25" y="2724"/>
                    </a:lnTo>
                    <a:lnTo>
                      <a:pt x="33" y="2769"/>
                    </a:lnTo>
                    <a:lnTo>
                      <a:pt x="51" y="2855"/>
                    </a:lnTo>
                    <a:lnTo>
                      <a:pt x="96" y="3021"/>
                    </a:lnTo>
                    <a:lnTo>
                      <a:pt x="151" y="3180"/>
                    </a:lnTo>
                    <a:lnTo>
                      <a:pt x="216" y="3333"/>
                    </a:lnTo>
                    <a:lnTo>
                      <a:pt x="291" y="3480"/>
                    </a:lnTo>
                    <a:lnTo>
                      <a:pt x="378" y="3621"/>
                    </a:lnTo>
                    <a:lnTo>
                      <a:pt x="476" y="3756"/>
                    </a:lnTo>
                    <a:lnTo>
                      <a:pt x="584" y="3886"/>
                    </a:lnTo>
                    <a:lnTo>
                      <a:pt x="643" y="3949"/>
                    </a:lnTo>
                    <a:lnTo>
                      <a:pt x="720" y="4027"/>
                    </a:lnTo>
                    <a:lnTo>
                      <a:pt x="871" y="4164"/>
                    </a:lnTo>
                    <a:lnTo>
                      <a:pt x="1027" y="4280"/>
                    </a:lnTo>
                    <a:lnTo>
                      <a:pt x="1194" y="4381"/>
                    </a:lnTo>
                    <a:lnTo>
                      <a:pt x="1285" y="4427"/>
                    </a:lnTo>
                    <a:lnTo>
                      <a:pt x="1364" y="4466"/>
                    </a:lnTo>
                    <a:lnTo>
                      <a:pt x="1510" y="4528"/>
                    </a:lnTo>
                    <a:lnTo>
                      <a:pt x="1650" y="4578"/>
                    </a:lnTo>
                    <a:lnTo>
                      <a:pt x="1797" y="4619"/>
                    </a:lnTo>
                    <a:lnTo>
                      <a:pt x="1878" y="4637"/>
                    </a:lnTo>
                    <a:lnTo>
                      <a:pt x="1918" y="4645"/>
                    </a:lnTo>
                    <a:lnTo>
                      <a:pt x="2019" y="4658"/>
                    </a:lnTo>
                    <a:lnTo>
                      <a:pt x="2201" y="4670"/>
                    </a:lnTo>
                    <a:lnTo>
                      <a:pt x="2469" y="4670"/>
                    </a:lnTo>
                    <a:lnTo>
                      <a:pt x="2652" y="4658"/>
                    </a:lnTo>
                    <a:lnTo>
                      <a:pt x="2753" y="4645"/>
                    </a:lnTo>
                    <a:lnTo>
                      <a:pt x="2793" y="4637"/>
                    </a:lnTo>
                    <a:lnTo>
                      <a:pt x="2855" y="4623"/>
                    </a:lnTo>
                    <a:lnTo>
                      <a:pt x="2978" y="4590"/>
                    </a:lnTo>
                    <a:lnTo>
                      <a:pt x="3100" y="4550"/>
                    </a:lnTo>
                    <a:lnTo>
                      <a:pt x="3219" y="4504"/>
                    </a:lnTo>
                    <a:lnTo>
                      <a:pt x="3336" y="4453"/>
                    </a:lnTo>
                    <a:lnTo>
                      <a:pt x="3449" y="4396"/>
                    </a:lnTo>
                    <a:lnTo>
                      <a:pt x="3558" y="4334"/>
                    </a:lnTo>
                    <a:lnTo>
                      <a:pt x="3662" y="4268"/>
                    </a:lnTo>
                    <a:lnTo>
                      <a:pt x="3712" y="4232"/>
                    </a:lnTo>
                    <a:lnTo>
                      <a:pt x="3745" y="4208"/>
                    </a:lnTo>
                    <a:lnTo>
                      <a:pt x="3817" y="4148"/>
                    </a:lnTo>
                    <a:lnTo>
                      <a:pt x="3935" y="4041"/>
                    </a:lnTo>
                    <a:lnTo>
                      <a:pt x="4093" y="3877"/>
                    </a:lnTo>
                    <a:lnTo>
                      <a:pt x="4196" y="3757"/>
                    </a:lnTo>
                    <a:lnTo>
                      <a:pt x="4252" y="3683"/>
                    </a:lnTo>
                    <a:lnTo>
                      <a:pt x="4275" y="3651"/>
                    </a:lnTo>
                    <a:lnTo>
                      <a:pt x="4307" y="3601"/>
                    </a:lnTo>
                    <a:lnTo>
                      <a:pt x="4368" y="3498"/>
                    </a:lnTo>
                    <a:lnTo>
                      <a:pt x="4424" y="3393"/>
                    </a:lnTo>
                    <a:lnTo>
                      <a:pt x="4475" y="3284"/>
                    </a:lnTo>
                    <a:lnTo>
                      <a:pt x="4521" y="3172"/>
                    </a:lnTo>
                    <a:lnTo>
                      <a:pt x="4561" y="3059"/>
                    </a:lnTo>
                    <a:lnTo>
                      <a:pt x="4597" y="2943"/>
                    </a:lnTo>
                    <a:lnTo>
                      <a:pt x="4626" y="2826"/>
                    </a:lnTo>
                    <a:lnTo>
                      <a:pt x="4638" y="2767"/>
                    </a:lnTo>
                    <a:lnTo>
                      <a:pt x="4646" y="2726"/>
                    </a:lnTo>
                    <a:lnTo>
                      <a:pt x="4657" y="2628"/>
                    </a:lnTo>
                    <a:lnTo>
                      <a:pt x="4667" y="2457"/>
                    </a:lnTo>
                    <a:lnTo>
                      <a:pt x="4667" y="2211"/>
                    </a:lnTo>
                    <a:lnTo>
                      <a:pt x="4657" y="2044"/>
                    </a:lnTo>
                    <a:lnTo>
                      <a:pt x="4646" y="1949"/>
                    </a:lnTo>
                    <a:lnTo>
                      <a:pt x="4638" y="1911"/>
                    </a:lnTo>
                    <a:lnTo>
                      <a:pt x="4621" y="1834"/>
                    </a:lnTo>
                    <a:lnTo>
                      <a:pt x="4575" y="1671"/>
                    </a:lnTo>
                    <a:lnTo>
                      <a:pt x="4518" y="1506"/>
                    </a:lnTo>
                    <a:lnTo>
                      <a:pt x="4456" y="1355"/>
                    </a:lnTo>
                    <a:lnTo>
                      <a:pt x="4425" y="1291"/>
                    </a:lnTo>
                    <a:lnTo>
                      <a:pt x="4394" y="1232"/>
                    </a:lnTo>
                    <a:lnTo>
                      <a:pt x="4313" y="1095"/>
                    </a:lnTo>
                    <a:lnTo>
                      <a:pt x="4225" y="962"/>
                    </a:lnTo>
                    <a:lnTo>
                      <a:pt x="4151" y="861"/>
                    </a:lnTo>
                    <a:lnTo>
                      <a:pt x="4127" y="836"/>
                    </a:lnTo>
                    <a:lnTo>
                      <a:pt x="4115" y="825"/>
                    </a:lnTo>
                    <a:lnTo>
                      <a:pt x="4100" y="818"/>
                    </a:lnTo>
                    <a:lnTo>
                      <a:pt x="4089" y="819"/>
                    </a:lnTo>
                    <a:lnTo>
                      <a:pt x="4068" y="831"/>
                    </a:lnTo>
                    <a:lnTo>
                      <a:pt x="4022" y="873"/>
                    </a:lnTo>
                    <a:lnTo>
                      <a:pt x="3987" y="909"/>
                    </a:lnTo>
                    <a:lnTo>
                      <a:pt x="3880" y="1014"/>
                    </a:lnTo>
                    <a:lnTo>
                      <a:pt x="3978" y="1151"/>
                    </a:lnTo>
                    <a:lnTo>
                      <a:pt x="4012" y="1198"/>
                    </a:lnTo>
                    <a:lnTo>
                      <a:pt x="4075" y="1296"/>
                    </a:lnTo>
                    <a:lnTo>
                      <a:pt x="4131" y="1398"/>
                    </a:lnTo>
                    <a:lnTo>
                      <a:pt x="4182" y="1503"/>
                    </a:lnTo>
                    <a:lnTo>
                      <a:pt x="4227" y="1612"/>
                    </a:lnTo>
                    <a:lnTo>
                      <a:pt x="4266" y="1723"/>
                    </a:lnTo>
                    <a:lnTo>
                      <a:pt x="4299" y="1837"/>
                    </a:lnTo>
                    <a:lnTo>
                      <a:pt x="4325" y="1952"/>
                    </a:lnTo>
                    <a:lnTo>
                      <a:pt x="4335" y="2011"/>
                    </a:lnTo>
                    <a:lnTo>
                      <a:pt x="4342" y="2057"/>
                    </a:lnTo>
                    <a:lnTo>
                      <a:pt x="4353" y="2157"/>
                    </a:lnTo>
                    <a:lnTo>
                      <a:pt x="4358" y="2264"/>
                    </a:lnTo>
                    <a:lnTo>
                      <a:pt x="4359" y="2373"/>
                    </a:lnTo>
                    <a:lnTo>
                      <a:pt x="4355" y="2483"/>
                    </a:lnTo>
                    <a:lnTo>
                      <a:pt x="4346" y="2591"/>
                    </a:lnTo>
                    <a:lnTo>
                      <a:pt x="4332" y="2694"/>
                    </a:lnTo>
                    <a:lnTo>
                      <a:pt x="4314" y="2789"/>
                    </a:lnTo>
                    <a:lnTo>
                      <a:pt x="4303" y="2832"/>
                    </a:lnTo>
                    <a:lnTo>
                      <a:pt x="4285" y="2901"/>
                    </a:lnTo>
                    <a:lnTo>
                      <a:pt x="4241" y="3033"/>
                    </a:lnTo>
                    <a:lnTo>
                      <a:pt x="4189" y="3161"/>
                    </a:lnTo>
                    <a:lnTo>
                      <a:pt x="4130" y="3284"/>
                    </a:lnTo>
                    <a:lnTo>
                      <a:pt x="4063" y="3402"/>
                    </a:lnTo>
                    <a:lnTo>
                      <a:pt x="3989" y="3514"/>
                    </a:lnTo>
                    <a:lnTo>
                      <a:pt x="3908" y="3621"/>
                    </a:lnTo>
                    <a:lnTo>
                      <a:pt x="3819" y="3721"/>
                    </a:lnTo>
                    <a:lnTo>
                      <a:pt x="3725" y="3816"/>
                    </a:lnTo>
                    <a:lnTo>
                      <a:pt x="3624" y="3904"/>
                    </a:lnTo>
                    <a:lnTo>
                      <a:pt x="3517" y="3986"/>
                    </a:lnTo>
                    <a:lnTo>
                      <a:pt x="3404" y="4061"/>
                    </a:lnTo>
                    <a:lnTo>
                      <a:pt x="3285" y="4129"/>
                    </a:lnTo>
                    <a:lnTo>
                      <a:pt x="3161" y="4189"/>
                    </a:lnTo>
                    <a:lnTo>
                      <a:pt x="3032" y="4242"/>
                    </a:lnTo>
                    <a:lnTo>
                      <a:pt x="2897" y="4288"/>
                    </a:lnTo>
                    <a:lnTo>
                      <a:pt x="2828" y="4307"/>
                    </a:lnTo>
                    <a:lnTo>
                      <a:pt x="2777" y="4321"/>
                    </a:lnTo>
                    <a:lnTo>
                      <a:pt x="2689" y="4338"/>
                    </a:lnTo>
                    <a:lnTo>
                      <a:pt x="2590" y="4347"/>
                    </a:lnTo>
                    <a:lnTo>
                      <a:pt x="2446" y="4351"/>
                    </a:lnTo>
                    <a:lnTo>
                      <a:pt x="2343" y="4351"/>
                    </a:lnTo>
                    <a:lnTo>
                      <a:pt x="2215" y="4351"/>
                    </a:lnTo>
                    <a:lnTo>
                      <a:pt x="2063" y="4344"/>
                    </a:lnTo>
                    <a:lnTo>
                      <a:pt x="1974" y="4334"/>
                    </a:lnTo>
                    <a:lnTo>
                      <a:pt x="1891" y="4320"/>
                    </a:lnTo>
                    <a:lnTo>
                      <a:pt x="1809" y="4300"/>
                    </a:lnTo>
                    <a:lnTo>
                      <a:pt x="1680" y="4257"/>
                    </a:lnTo>
                    <a:lnTo>
                      <a:pt x="1578" y="4217"/>
                    </a:lnTo>
                    <a:lnTo>
                      <a:pt x="1532" y="4198"/>
                    </a:lnTo>
                    <a:lnTo>
                      <a:pt x="1442" y="4157"/>
                    </a:lnTo>
                    <a:lnTo>
                      <a:pt x="1354" y="4111"/>
                    </a:lnTo>
                    <a:lnTo>
                      <a:pt x="1270" y="4062"/>
                    </a:lnTo>
                    <a:lnTo>
                      <a:pt x="1149" y="3982"/>
                    </a:lnTo>
                    <a:lnTo>
                      <a:pt x="999" y="3862"/>
                    </a:lnTo>
                    <a:lnTo>
                      <a:pt x="862" y="3730"/>
                    </a:lnTo>
                    <a:lnTo>
                      <a:pt x="739" y="3587"/>
                    </a:lnTo>
                    <a:lnTo>
                      <a:pt x="631" y="3433"/>
                    </a:lnTo>
                    <a:lnTo>
                      <a:pt x="538" y="3270"/>
                    </a:lnTo>
                    <a:lnTo>
                      <a:pt x="460" y="3099"/>
                    </a:lnTo>
                    <a:lnTo>
                      <a:pt x="397" y="2921"/>
                    </a:lnTo>
                    <a:lnTo>
                      <a:pt x="352" y="2737"/>
                    </a:lnTo>
                    <a:lnTo>
                      <a:pt x="323" y="2549"/>
                    </a:lnTo>
                    <a:lnTo>
                      <a:pt x="312" y="2358"/>
                    </a:lnTo>
                    <a:lnTo>
                      <a:pt x="319" y="2165"/>
                    </a:lnTo>
                    <a:lnTo>
                      <a:pt x="337" y="2020"/>
                    </a:lnTo>
                    <a:lnTo>
                      <a:pt x="355" y="1922"/>
                    </a:lnTo>
                    <a:lnTo>
                      <a:pt x="377" y="1826"/>
                    </a:lnTo>
                    <a:lnTo>
                      <a:pt x="404" y="1729"/>
                    </a:lnTo>
                    <a:lnTo>
                      <a:pt x="420" y="1681"/>
                    </a:lnTo>
                    <a:lnTo>
                      <a:pt x="438" y="1629"/>
                    </a:lnTo>
                    <a:lnTo>
                      <a:pt x="479" y="1527"/>
                    </a:lnTo>
                    <a:lnTo>
                      <a:pt x="526" y="1427"/>
                    </a:lnTo>
                    <a:lnTo>
                      <a:pt x="579" y="1330"/>
                    </a:lnTo>
                    <a:lnTo>
                      <a:pt x="638" y="1235"/>
                    </a:lnTo>
                    <a:lnTo>
                      <a:pt x="702" y="1144"/>
                    </a:lnTo>
                    <a:lnTo>
                      <a:pt x="771" y="1055"/>
                    </a:lnTo>
                    <a:lnTo>
                      <a:pt x="845" y="971"/>
                    </a:lnTo>
                    <a:lnTo>
                      <a:pt x="924" y="890"/>
                    </a:lnTo>
                    <a:lnTo>
                      <a:pt x="1007" y="814"/>
                    </a:lnTo>
                    <a:lnTo>
                      <a:pt x="1094" y="742"/>
                    </a:lnTo>
                    <a:lnTo>
                      <a:pt x="1184" y="674"/>
                    </a:lnTo>
                    <a:lnTo>
                      <a:pt x="1278" y="612"/>
                    </a:lnTo>
                    <a:lnTo>
                      <a:pt x="1375" y="555"/>
                    </a:lnTo>
                    <a:lnTo>
                      <a:pt x="1475" y="503"/>
                    </a:lnTo>
                    <a:lnTo>
                      <a:pt x="1578" y="458"/>
                    </a:lnTo>
                    <a:lnTo>
                      <a:pt x="1630" y="437"/>
                    </a:lnTo>
                    <a:lnTo>
                      <a:pt x="1716" y="407"/>
                    </a:lnTo>
                    <a:lnTo>
                      <a:pt x="1875" y="362"/>
                    </a:lnTo>
                    <a:lnTo>
                      <a:pt x="2036" y="334"/>
                    </a:lnTo>
                    <a:lnTo>
                      <a:pt x="2215" y="322"/>
                    </a:lnTo>
                    <a:lnTo>
                      <a:pt x="2318" y="321"/>
                    </a:lnTo>
                    <a:lnTo>
                      <a:pt x="2440" y="321"/>
                    </a:lnTo>
                    <a:lnTo>
                      <a:pt x="2593" y="328"/>
                    </a:lnTo>
                    <a:lnTo>
                      <a:pt x="2672" y="337"/>
                    </a:lnTo>
                    <a:lnTo>
                      <a:pt x="2702" y="342"/>
                    </a:lnTo>
                    <a:lnTo>
                      <a:pt x="2757" y="354"/>
                    </a:lnTo>
                    <a:lnTo>
                      <a:pt x="2869" y="384"/>
                    </a:lnTo>
                    <a:lnTo>
                      <a:pt x="2983" y="420"/>
                    </a:lnTo>
                    <a:lnTo>
                      <a:pt x="3096" y="463"/>
                    </a:lnTo>
                    <a:lnTo>
                      <a:pt x="3207" y="511"/>
                    </a:lnTo>
                    <a:lnTo>
                      <a:pt x="3313" y="564"/>
                    </a:lnTo>
                    <a:lnTo>
                      <a:pt x="3414" y="621"/>
                    </a:lnTo>
                    <a:lnTo>
                      <a:pt x="3506" y="681"/>
                    </a:lnTo>
                    <a:lnTo>
                      <a:pt x="3548" y="712"/>
                    </a:lnTo>
                    <a:lnTo>
                      <a:pt x="3663" y="799"/>
                    </a:lnTo>
                    <a:lnTo>
                      <a:pt x="3770" y="692"/>
                    </a:lnTo>
                    <a:lnTo>
                      <a:pt x="3878" y="586"/>
                    </a:lnTo>
                    <a:lnTo>
                      <a:pt x="3815" y="529"/>
                    </a:lnTo>
                    <a:lnTo>
                      <a:pt x="3782" y="501"/>
                    </a:lnTo>
                    <a:lnTo>
                      <a:pt x="3707" y="443"/>
                    </a:lnTo>
                    <a:lnTo>
                      <a:pt x="3621" y="385"/>
                    </a:lnTo>
                    <a:lnTo>
                      <a:pt x="3527" y="328"/>
                    </a:lnTo>
                    <a:lnTo>
                      <a:pt x="3428" y="274"/>
                    </a:lnTo>
                    <a:lnTo>
                      <a:pt x="3325" y="223"/>
                    </a:lnTo>
                    <a:lnTo>
                      <a:pt x="3221" y="177"/>
                    </a:lnTo>
                    <a:lnTo>
                      <a:pt x="3118" y="136"/>
                    </a:lnTo>
                    <a:lnTo>
                      <a:pt x="3068" y="119"/>
                    </a:lnTo>
                    <a:lnTo>
                      <a:pt x="3014" y="101"/>
                    </a:lnTo>
                    <a:lnTo>
                      <a:pt x="2898" y="70"/>
                    </a:lnTo>
                    <a:lnTo>
                      <a:pt x="2777" y="44"/>
                    </a:lnTo>
                    <a:lnTo>
                      <a:pt x="2650" y="24"/>
                    </a:lnTo>
                    <a:lnTo>
                      <a:pt x="2522" y="10"/>
                    </a:lnTo>
                    <a:lnTo>
                      <a:pt x="2395" y="2"/>
                    </a:lnTo>
                    <a:lnTo>
                      <a:pt x="2270" y="0"/>
                    </a:lnTo>
                    <a:lnTo>
                      <a:pt x="2150" y="5"/>
                    </a:lnTo>
                    <a:lnTo>
                      <a:pt x="2093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2B1FD46-6ED6-F61E-3B00-B5FF4C90C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594" y="988772"/>
                <a:ext cx="647012" cy="647012"/>
              </a:xfrm>
              <a:custGeom>
                <a:avLst/>
                <a:gdLst>
                  <a:gd name="T0" fmla="*/ 1115 w 3416"/>
                  <a:gd name="T1" fmla="*/ 101 h 3418"/>
                  <a:gd name="T2" fmla="*/ 825 w 3416"/>
                  <a:gd name="T3" fmla="*/ 238 h 3418"/>
                  <a:gd name="T4" fmla="*/ 527 w 3416"/>
                  <a:gd name="T5" fmla="*/ 467 h 3418"/>
                  <a:gd name="T6" fmla="*/ 286 w 3416"/>
                  <a:gd name="T7" fmla="*/ 752 h 3418"/>
                  <a:gd name="T8" fmla="*/ 110 w 3416"/>
                  <a:gd name="T9" fmla="*/ 1086 h 3418"/>
                  <a:gd name="T10" fmla="*/ 28 w 3416"/>
                  <a:gd name="T11" fmla="*/ 1354 h 3418"/>
                  <a:gd name="T12" fmla="*/ 0 w 3416"/>
                  <a:gd name="T13" fmla="*/ 1761 h 3418"/>
                  <a:gd name="T14" fmla="*/ 37 w 3416"/>
                  <a:gd name="T15" fmla="*/ 2098 h 3418"/>
                  <a:gd name="T16" fmla="*/ 166 w 3416"/>
                  <a:gd name="T17" fmla="*/ 2453 h 3418"/>
                  <a:gd name="T18" fmla="*/ 389 w 3416"/>
                  <a:gd name="T19" fmla="*/ 2798 h 3418"/>
                  <a:gd name="T20" fmla="*/ 678 w 3416"/>
                  <a:gd name="T21" fmla="*/ 3073 h 3418"/>
                  <a:gd name="T22" fmla="*/ 1017 w 3416"/>
                  <a:gd name="T23" fmla="*/ 3272 h 3418"/>
                  <a:gd name="T24" fmla="*/ 1391 w 3416"/>
                  <a:gd name="T25" fmla="*/ 3388 h 3418"/>
                  <a:gd name="T26" fmla="*/ 1786 w 3416"/>
                  <a:gd name="T27" fmla="*/ 3416 h 3418"/>
                  <a:gd name="T28" fmla="*/ 2185 w 3416"/>
                  <a:gd name="T29" fmla="*/ 3350 h 3418"/>
                  <a:gd name="T30" fmla="*/ 2575 w 3416"/>
                  <a:gd name="T31" fmla="*/ 3182 h 3418"/>
                  <a:gd name="T32" fmla="*/ 2821 w 3416"/>
                  <a:gd name="T33" fmla="*/ 2999 h 3418"/>
                  <a:gd name="T34" fmla="*/ 3125 w 3416"/>
                  <a:gd name="T35" fmla="*/ 2667 h 3418"/>
                  <a:gd name="T36" fmla="*/ 3302 w 3416"/>
                  <a:gd name="T37" fmla="*/ 2325 h 3418"/>
                  <a:gd name="T38" fmla="*/ 3405 w 3416"/>
                  <a:gd name="T39" fmla="*/ 1902 h 3418"/>
                  <a:gd name="T40" fmla="*/ 3401 w 3416"/>
                  <a:gd name="T41" fmla="*/ 1468 h 3418"/>
                  <a:gd name="T42" fmla="*/ 3287 w 3416"/>
                  <a:gd name="T43" fmla="*/ 1048 h 3418"/>
                  <a:gd name="T44" fmla="*/ 3094 w 3416"/>
                  <a:gd name="T45" fmla="*/ 703 h 3418"/>
                  <a:gd name="T46" fmla="*/ 3015 w 3416"/>
                  <a:gd name="T47" fmla="*/ 621 h 3418"/>
                  <a:gd name="T48" fmla="*/ 2858 w 3416"/>
                  <a:gd name="T49" fmla="*/ 907 h 3418"/>
                  <a:gd name="T50" fmla="*/ 3052 w 3416"/>
                  <a:gd name="T51" fmla="*/ 1313 h 3418"/>
                  <a:gd name="T52" fmla="*/ 3105 w 3416"/>
                  <a:gd name="T53" fmla="*/ 1609 h 3418"/>
                  <a:gd name="T54" fmla="*/ 3072 w 3416"/>
                  <a:gd name="T55" fmla="*/ 2004 h 3418"/>
                  <a:gd name="T56" fmla="*/ 2932 w 3416"/>
                  <a:gd name="T57" fmla="*/ 2377 h 3418"/>
                  <a:gd name="T58" fmla="*/ 2697 w 3416"/>
                  <a:gd name="T59" fmla="*/ 2698 h 3418"/>
                  <a:gd name="T60" fmla="*/ 2405 w 3416"/>
                  <a:gd name="T61" fmla="*/ 2919 h 3418"/>
                  <a:gd name="T62" fmla="*/ 2015 w 3416"/>
                  <a:gd name="T63" fmla="*/ 3075 h 3418"/>
                  <a:gd name="T64" fmla="*/ 1493 w 3416"/>
                  <a:gd name="T65" fmla="*/ 3095 h 3418"/>
                  <a:gd name="T66" fmla="*/ 1249 w 3416"/>
                  <a:gd name="T67" fmla="*/ 3033 h 3418"/>
                  <a:gd name="T68" fmla="*/ 918 w 3416"/>
                  <a:gd name="T69" fmla="*/ 2866 h 3418"/>
                  <a:gd name="T70" fmla="*/ 648 w 3416"/>
                  <a:gd name="T71" fmla="*/ 2628 h 3418"/>
                  <a:gd name="T72" fmla="*/ 446 w 3416"/>
                  <a:gd name="T73" fmla="*/ 2325 h 3418"/>
                  <a:gd name="T74" fmla="*/ 348 w 3416"/>
                  <a:gd name="T75" fmla="*/ 2072 h 3418"/>
                  <a:gd name="T76" fmla="*/ 308 w 3416"/>
                  <a:gd name="T77" fmla="*/ 1711 h 3418"/>
                  <a:gd name="T78" fmla="*/ 340 w 3416"/>
                  <a:gd name="T79" fmla="*/ 1393 h 3418"/>
                  <a:gd name="T80" fmla="*/ 455 w 3416"/>
                  <a:gd name="T81" fmla="*/ 1075 h 3418"/>
                  <a:gd name="T82" fmla="*/ 669 w 3416"/>
                  <a:gd name="T83" fmla="*/ 764 h 3418"/>
                  <a:gd name="T84" fmla="*/ 961 w 3416"/>
                  <a:gd name="T85" fmla="*/ 522 h 3418"/>
                  <a:gd name="T86" fmla="*/ 1318 w 3416"/>
                  <a:gd name="T87" fmla="*/ 360 h 3418"/>
                  <a:gd name="T88" fmla="*/ 1601 w 3416"/>
                  <a:gd name="T89" fmla="*/ 313 h 3418"/>
                  <a:gd name="T90" fmla="*/ 2013 w 3416"/>
                  <a:gd name="T91" fmla="*/ 338 h 3418"/>
                  <a:gd name="T92" fmla="*/ 2430 w 3416"/>
                  <a:gd name="T93" fmla="*/ 507 h 3418"/>
                  <a:gd name="T94" fmla="*/ 2798 w 3416"/>
                  <a:gd name="T95" fmla="*/ 400 h 3418"/>
                  <a:gd name="T96" fmla="*/ 2519 w 3416"/>
                  <a:gd name="T97" fmla="*/ 201 h 3418"/>
                  <a:gd name="T98" fmla="*/ 2104 w 3416"/>
                  <a:gd name="T99" fmla="*/ 41 h 3418"/>
                  <a:gd name="T100" fmla="*/ 1615 w 3416"/>
                  <a:gd name="T101" fmla="*/ 2 h 3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416" h="3418">
                    <a:moveTo>
                      <a:pt x="1415" y="17"/>
                    </a:moveTo>
                    <a:lnTo>
                      <a:pt x="1366" y="26"/>
                    </a:lnTo>
                    <a:lnTo>
                      <a:pt x="1244" y="58"/>
                    </a:lnTo>
                    <a:lnTo>
                      <a:pt x="1115" y="101"/>
                    </a:lnTo>
                    <a:lnTo>
                      <a:pt x="997" y="147"/>
                    </a:lnTo>
                    <a:lnTo>
                      <a:pt x="950" y="168"/>
                    </a:lnTo>
                    <a:lnTo>
                      <a:pt x="907" y="190"/>
                    </a:lnTo>
                    <a:lnTo>
                      <a:pt x="825" y="238"/>
                    </a:lnTo>
                    <a:lnTo>
                      <a:pt x="745" y="289"/>
                    </a:lnTo>
                    <a:lnTo>
                      <a:pt x="669" y="344"/>
                    </a:lnTo>
                    <a:lnTo>
                      <a:pt x="596" y="404"/>
                    </a:lnTo>
                    <a:lnTo>
                      <a:pt x="527" y="467"/>
                    </a:lnTo>
                    <a:lnTo>
                      <a:pt x="461" y="533"/>
                    </a:lnTo>
                    <a:lnTo>
                      <a:pt x="399" y="603"/>
                    </a:lnTo>
                    <a:lnTo>
                      <a:pt x="341" y="676"/>
                    </a:lnTo>
                    <a:lnTo>
                      <a:pt x="286" y="752"/>
                    </a:lnTo>
                    <a:lnTo>
                      <a:pt x="236" y="832"/>
                    </a:lnTo>
                    <a:lnTo>
                      <a:pt x="190" y="914"/>
                    </a:lnTo>
                    <a:lnTo>
                      <a:pt x="148" y="998"/>
                    </a:lnTo>
                    <a:lnTo>
                      <a:pt x="110" y="1086"/>
                    </a:lnTo>
                    <a:lnTo>
                      <a:pt x="77" y="1176"/>
                    </a:lnTo>
                    <a:lnTo>
                      <a:pt x="49" y="1268"/>
                    </a:lnTo>
                    <a:lnTo>
                      <a:pt x="37" y="1315"/>
                    </a:lnTo>
                    <a:lnTo>
                      <a:pt x="28" y="1354"/>
                    </a:lnTo>
                    <a:lnTo>
                      <a:pt x="14" y="1444"/>
                    </a:lnTo>
                    <a:lnTo>
                      <a:pt x="4" y="1545"/>
                    </a:lnTo>
                    <a:lnTo>
                      <a:pt x="0" y="1652"/>
                    </a:lnTo>
                    <a:lnTo>
                      <a:pt x="0" y="1761"/>
                    </a:lnTo>
                    <a:lnTo>
                      <a:pt x="4" y="1868"/>
                    </a:lnTo>
                    <a:lnTo>
                      <a:pt x="14" y="1969"/>
                    </a:lnTo>
                    <a:lnTo>
                      <a:pt x="28" y="2059"/>
                    </a:lnTo>
                    <a:lnTo>
                      <a:pt x="37" y="2098"/>
                    </a:lnTo>
                    <a:lnTo>
                      <a:pt x="51" y="2152"/>
                    </a:lnTo>
                    <a:lnTo>
                      <a:pt x="84" y="2256"/>
                    </a:lnTo>
                    <a:lnTo>
                      <a:pt x="122" y="2356"/>
                    </a:lnTo>
                    <a:lnTo>
                      <a:pt x="166" y="2453"/>
                    </a:lnTo>
                    <a:lnTo>
                      <a:pt x="215" y="2545"/>
                    </a:lnTo>
                    <a:lnTo>
                      <a:pt x="268" y="2634"/>
                    </a:lnTo>
                    <a:lnTo>
                      <a:pt x="327" y="2718"/>
                    </a:lnTo>
                    <a:lnTo>
                      <a:pt x="389" y="2798"/>
                    </a:lnTo>
                    <a:lnTo>
                      <a:pt x="456" y="2873"/>
                    </a:lnTo>
                    <a:lnTo>
                      <a:pt x="526" y="2945"/>
                    </a:lnTo>
                    <a:lnTo>
                      <a:pt x="600" y="3011"/>
                    </a:lnTo>
                    <a:lnTo>
                      <a:pt x="678" y="3073"/>
                    </a:lnTo>
                    <a:lnTo>
                      <a:pt x="758" y="3130"/>
                    </a:lnTo>
                    <a:lnTo>
                      <a:pt x="842" y="3182"/>
                    </a:lnTo>
                    <a:lnTo>
                      <a:pt x="928" y="3230"/>
                    </a:lnTo>
                    <a:lnTo>
                      <a:pt x="1017" y="3272"/>
                    </a:lnTo>
                    <a:lnTo>
                      <a:pt x="1108" y="3309"/>
                    </a:lnTo>
                    <a:lnTo>
                      <a:pt x="1201" y="3341"/>
                    </a:lnTo>
                    <a:lnTo>
                      <a:pt x="1295" y="3367"/>
                    </a:lnTo>
                    <a:lnTo>
                      <a:pt x="1391" y="3388"/>
                    </a:lnTo>
                    <a:lnTo>
                      <a:pt x="1489" y="3404"/>
                    </a:lnTo>
                    <a:lnTo>
                      <a:pt x="1587" y="3414"/>
                    </a:lnTo>
                    <a:lnTo>
                      <a:pt x="1686" y="3418"/>
                    </a:lnTo>
                    <a:lnTo>
                      <a:pt x="1786" y="3416"/>
                    </a:lnTo>
                    <a:lnTo>
                      <a:pt x="1886" y="3409"/>
                    </a:lnTo>
                    <a:lnTo>
                      <a:pt x="1986" y="3395"/>
                    </a:lnTo>
                    <a:lnTo>
                      <a:pt x="2086" y="3376"/>
                    </a:lnTo>
                    <a:lnTo>
                      <a:pt x="2185" y="3350"/>
                    </a:lnTo>
                    <a:lnTo>
                      <a:pt x="2284" y="3317"/>
                    </a:lnTo>
                    <a:lnTo>
                      <a:pt x="2382" y="3279"/>
                    </a:lnTo>
                    <a:lnTo>
                      <a:pt x="2479" y="3234"/>
                    </a:lnTo>
                    <a:lnTo>
                      <a:pt x="2575" y="3182"/>
                    </a:lnTo>
                    <a:lnTo>
                      <a:pt x="2622" y="3153"/>
                    </a:lnTo>
                    <a:lnTo>
                      <a:pt x="2651" y="3135"/>
                    </a:lnTo>
                    <a:lnTo>
                      <a:pt x="2716" y="3087"/>
                    </a:lnTo>
                    <a:lnTo>
                      <a:pt x="2821" y="2999"/>
                    </a:lnTo>
                    <a:lnTo>
                      <a:pt x="2962" y="2862"/>
                    </a:lnTo>
                    <a:lnTo>
                      <a:pt x="3054" y="2759"/>
                    </a:lnTo>
                    <a:lnTo>
                      <a:pt x="3105" y="2696"/>
                    </a:lnTo>
                    <a:lnTo>
                      <a:pt x="3125" y="2667"/>
                    </a:lnTo>
                    <a:lnTo>
                      <a:pt x="3155" y="2620"/>
                    </a:lnTo>
                    <a:lnTo>
                      <a:pt x="3211" y="2525"/>
                    </a:lnTo>
                    <a:lnTo>
                      <a:pt x="3260" y="2426"/>
                    </a:lnTo>
                    <a:lnTo>
                      <a:pt x="3302" y="2325"/>
                    </a:lnTo>
                    <a:lnTo>
                      <a:pt x="3338" y="2221"/>
                    </a:lnTo>
                    <a:lnTo>
                      <a:pt x="3367" y="2116"/>
                    </a:lnTo>
                    <a:lnTo>
                      <a:pt x="3389" y="2009"/>
                    </a:lnTo>
                    <a:lnTo>
                      <a:pt x="3405" y="1902"/>
                    </a:lnTo>
                    <a:lnTo>
                      <a:pt x="3414" y="1793"/>
                    </a:lnTo>
                    <a:lnTo>
                      <a:pt x="3416" y="1685"/>
                    </a:lnTo>
                    <a:lnTo>
                      <a:pt x="3412" y="1576"/>
                    </a:lnTo>
                    <a:lnTo>
                      <a:pt x="3401" y="1468"/>
                    </a:lnTo>
                    <a:lnTo>
                      <a:pt x="3383" y="1361"/>
                    </a:lnTo>
                    <a:lnTo>
                      <a:pt x="3358" y="1255"/>
                    </a:lnTo>
                    <a:lnTo>
                      <a:pt x="3326" y="1151"/>
                    </a:lnTo>
                    <a:lnTo>
                      <a:pt x="3287" y="1048"/>
                    </a:lnTo>
                    <a:lnTo>
                      <a:pt x="3265" y="998"/>
                    </a:lnTo>
                    <a:lnTo>
                      <a:pt x="3241" y="949"/>
                    </a:lnTo>
                    <a:lnTo>
                      <a:pt x="3170" y="825"/>
                    </a:lnTo>
                    <a:lnTo>
                      <a:pt x="3094" y="703"/>
                    </a:lnTo>
                    <a:lnTo>
                      <a:pt x="3049" y="640"/>
                    </a:lnTo>
                    <a:lnTo>
                      <a:pt x="3030" y="617"/>
                    </a:lnTo>
                    <a:lnTo>
                      <a:pt x="3025" y="615"/>
                    </a:lnTo>
                    <a:lnTo>
                      <a:pt x="3015" y="621"/>
                    </a:lnTo>
                    <a:lnTo>
                      <a:pt x="2953" y="679"/>
                    </a:lnTo>
                    <a:lnTo>
                      <a:pt x="2910" y="722"/>
                    </a:lnTo>
                    <a:lnTo>
                      <a:pt x="2805" y="828"/>
                    </a:lnTo>
                    <a:lnTo>
                      <a:pt x="2858" y="907"/>
                    </a:lnTo>
                    <a:lnTo>
                      <a:pt x="2887" y="950"/>
                    </a:lnTo>
                    <a:lnTo>
                      <a:pt x="2947" y="1064"/>
                    </a:lnTo>
                    <a:lnTo>
                      <a:pt x="3005" y="1191"/>
                    </a:lnTo>
                    <a:lnTo>
                      <a:pt x="3052" y="1313"/>
                    </a:lnTo>
                    <a:lnTo>
                      <a:pt x="3067" y="1365"/>
                    </a:lnTo>
                    <a:lnTo>
                      <a:pt x="3078" y="1413"/>
                    </a:lnTo>
                    <a:lnTo>
                      <a:pt x="3095" y="1510"/>
                    </a:lnTo>
                    <a:lnTo>
                      <a:pt x="3105" y="1609"/>
                    </a:lnTo>
                    <a:lnTo>
                      <a:pt x="3107" y="1708"/>
                    </a:lnTo>
                    <a:lnTo>
                      <a:pt x="3102" y="1807"/>
                    </a:lnTo>
                    <a:lnTo>
                      <a:pt x="3090" y="1906"/>
                    </a:lnTo>
                    <a:lnTo>
                      <a:pt x="3072" y="2004"/>
                    </a:lnTo>
                    <a:lnTo>
                      <a:pt x="3046" y="2100"/>
                    </a:lnTo>
                    <a:lnTo>
                      <a:pt x="3015" y="2195"/>
                    </a:lnTo>
                    <a:lnTo>
                      <a:pt x="2977" y="2288"/>
                    </a:lnTo>
                    <a:lnTo>
                      <a:pt x="2932" y="2377"/>
                    </a:lnTo>
                    <a:lnTo>
                      <a:pt x="2882" y="2464"/>
                    </a:lnTo>
                    <a:lnTo>
                      <a:pt x="2826" y="2546"/>
                    </a:lnTo>
                    <a:lnTo>
                      <a:pt x="2764" y="2625"/>
                    </a:lnTo>
                    <a:lnTo>
                      <a:pt x="2697" y="2698"/>
                    </a:lnTo>
                    <a:lnTo>
                      <a:pt x="2625" y="2767"/>
                    </a:lnTo>
                    <a:lnTo>
                      <a:pt x="2587" y="2798"/>
                    </a:lnTo>
                    <a:lnTo>
                      <a:pt x="2534" y="2839"/>
                    </a:lnTo>
                    <a:lnTo>
                      <a:pt x="2405" y="2919"/>
                    </a:lnTo>
                    <a:lnTo>
                      <a:pt x="2261" y="2991"/>
                    </a:lnTo>
                    <a:lnTo>
                      <a:pt x="2116" y="3048"/>
                    </a:lnTo>
                    <a:lnTo>
                      <a:pt x="2050" y="3067"/>
                    </a:lnTo>
                    <a:lnTo>
                      <a:pt x="2015" y="3075"/>
                    </a:lnTo>
                    <a:lnTo>
                      <a:pt x="1937" y="3089"/>
                    </a:lnTo>
                    <a:lnTo>
                      <a:pt x="1806" y="3103"/>
                    </a:lnTo>
                    <a:lnTo>
                      <a:pt x="1621" y="3105"/>
                    </a:lnTo>
                    <a:lnTo>
                      <a:pt x="1493" y="3095"/>
                    </a:lnTo>
                    <a:lnTo>
                      <a:pt x="1419" y="3083"/>
                    </a:lnTo>
                    <a:lnTo>
                      <a:pt x="1387" y="3075"/>
                    </a:lnTo>
                    <a:lnTo>
                      <a:pt x="1340" y="3062"/>
                    </a:lnTo>
                    <a:lnTo>
                      <a:pt x="1249" y="3033"/>
                    </a:lnTo>
                    <a:lnTo>
                      <a:pt x="1161" y="2998"/>
                    </a:lnTo>
                    <a:lnTo>
                      <a:pt x="1076" y="2958"/>
                    </a:lnTo>
                    <a:lnTo>
                      <a:pt x="995" y="2914"/>
                    </a:lnTo>
                    <a:lnTo>
                      <a:pt x="918" y="2866"/>
                    </a:lnTo>
                    <a:lnTo>
                      <a:pt x="845" y="2813"/>
                    </a:lnTo>
                    <a:lnTo>
                      <a:pt x="775" y="2755"/>
                    </a:lnTo>
                    <a:lnTo>
                      <a:pt x="709" y="2693"/>
                    </a:lnTo>
                    <a:lnTo>
                      <a:pt x="648" y="2628"/>
                    </a:lnTo>
                    <a:lnTo>
                      <a:pt x="591" y="2558"/>
                    </a:lnTo>
                    <a:lnTo>
                      <a:pt x="538" y="2484"/>
                    </a:lnTo>
                    <a:lnTo>
                      <a:pt x="490" y="2406"/>
                    </a:lnTo>
                    <a:lnTo>
                      <a:pt x="446" y="2325"/>
                    </a:lnTo>
                    <a:lnTo>
                      <a:pt x="407" y="2240"/>
                    </a:lnTo>
                    <a:lnTo>
                      <a:pt x="373" y="2152"/>
                    </a:lnTo>
                    <a:lnTo>
                      <a:pt x="358" y="2107"/>
                    </a:lnTo>
                    <a:lnTo>
                      <a:pt x="348" y="2072"/>
                    </a:lnTo>
                    <a:lnTo>
                      <a:pt x="331" y="1992"/>
                    </a:lnTo>
                    <a:lnTo>
                      <a:pt x="318" y="1903"/>
                    </a:lnTo>
                    <a:lnTo>
                      <a:pt x="311" y="1809"/>
                    </a:lnTo>
                    <a:lnTo>
                      <a:pt x="308" y="1711"/>
                    </a:lnTo>
                    <a:lnTo>
                      <a:pt x="311" y="1614"/>
                    </a:lnTo>
                    <a:lnTo>
                      <a:pt x="319" y="1520"/>
                    </a:lnTo>
                    <a:lnTo>
                      <a:pt x="331" y="1433"/>
                    </a:lnTo>
                    <a:lnTo>
                      <a:pt x="340" y="1393"/>
                    </a:lnTo>
                    <a:lnTo>
                      <a:pt x="352" y="1345"/>
                    </a:lnTo>
                    <a:lnTo>
                      <a:pt x="380" y="1252"/>
                    </a:lnTo>
                    <a:lnTo>
                      <a:pt x="414" y="1162"/>
                    </a:lnTo>
                    <a:lnTo>
                      <a:pt x="455" y="1075"/>
                    </a:lnTo>
                    <a:lnTo>
                      <a:pt x="500" y="991"/>
                    </a:lnTo>
                    <a:lnTo>
                      <a:pt x="552" y="912"/>
                    </a:lnTo>
                    <a:lnTo>
                      <a:pt x="608" y="836"/>
                    </a:lnTo>
                    <a:lnTo>
                      <a:pt x="669" y="764"/>
                    </a:lnTo>
                    <a:lnTo>
                      <a:pt x="736" y="697"/>
                    </a:lnTo>
                    <a:lnTo>
                      <a:pt x="806" y="634"/>
                    </a:lnTo>
                    <a:lnTo>
                      <a:pt x="882" y="575"/>
                    </a:lnTo>
                    <a:lnTo>
                      <a:pt x="961" y="522"/>
                    </a:lnTo>
                    <a:lnTo>
                      <a:pt x="1045" y="473"/>
                    </a:lnTo>
                    <a:lnTo>
                      <a:pt x="1132" y="430"/>
                    </a:lnTo>
                    <a:lnTo>
                      <a:pt x="1223" y="392"/>
                    </a:lnTo>
                    <a:lnTo>
                      <a:pt x="1318" y="360"/>
                    </a:lnTo>
                    <a:lnTo>
                      <a:pt x="1367" y="347"/>
                    </a:lnTo>
                    <a:lnTo>
                      <a:pt x="1400" y="339"/>
                    </a:lnTo>
                    <a:lnTo>
                      <a:pt x="1475" y="325"/>
                    </a:lnTo>
                    <a:lnTo>
                      <a:pt x="1601" y="313"/>
                    </a:lnTo>
                    <a:lnTo>
                      <a:pt x="1780" y="310"/>
                    </a:lnTo>
                    <a:lnTo>
                      <a:pt x="1906" y="320"/>
                    </a:lnTo>
                    <a:lnTo>
                      <a:pt x="1981" y="331"/>
                    </a:lnTo>
                    <a:lnTo>
                      <a:pt x="2013" y="338"/>
                    </a:lnTo>
                    <a:lnTo>
                      <a:pt x="2074" y="354"/>
                    </a:lnTo>
                    <a:lnTo>
                      <a:pt x="2198" y="396"/>
                    </a:lnTo>
                    <a:lnTo>
                      <a:pt x="2319" y="447"/>
                    </a:lnTo>
                    <a:lnTo>
                      <a:pt x="2430" y="507"/>
                    </a:lnTo>
                    <a:lnTo>
                      <a:pt x="2480" y="538"/>
                    </a:lnTo>
                    <a:lnTo>
                      <a:pt x="2588" y="612"/>
                    </a:lnTo>
                    <a:lnTo>
                      <a:pt x="2693" y="505"/>
                    </a:lnTo>
                    <a:lnTo>
                      <a:pt x="2798" y="400"/>
                    </a:lnTo>
                    <a:lnTo>
                      <a:pt x="2765" y="363"/>
                    </a:lnTo>
                    <a:lnTo>
                      <a:pt x="2740" y="339"/>
                    </a:lnTo>
                    <a:lnTo>
                      <a:pt x="2645" y="273"/>
                    </a:lnTo>
                    <a:lnTo>
                      <a:pt x="2519" y="201"/>
                    </a:lnTo>
                    <a:lnTo>
                      <a:pt x="2390" y="137"/>
                    </a:lnTo>
                    <a:lnTo>
                      <a:pt x="2333" y="113"/>
                    </a:lnTo>
                    <a:lnTo>
                      <a:pt x="2257" y="85"/>
                    </a:lnTo>
                    <a:lnTo>
                      <a:pt x="2104" y="41"/>
                    </a:lnTo>
                    <a:lnTo>
                      <a:pt x="1948" y="13"/>
                    </a:lnTo>
                    <a:lnTo>
                      <a:pt x="1786" y="1"/>
                    </a:lnTo>
                    <a:lnTo>
                      <a:pt x="1700" y="0"/>
                    </a:lnTo>
                    <a:lnTo>
                      <a:pt x="1615" y="2"/>
                    </a:lnTo>
                    <a:lnTo>
                      <a:pt x="1460" y="11"/>
                    </a:lnTo>
                    <a:lnTo>
                      <a:pt x="1415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13" name="Freeform 15">
                <a:extLst>
                  <a:ext uri="{FF2B5EF4-FFF2-40B4-BE49-F238E27FC236}">
                    <a16:creationId xmlns:a16="http://schemas.microsoft.com/office/drawing/2014/main" id="{4F964436-9B66-94E1-E4C3-5CB80D8CD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721" y="1105387"/>
                <a:ext cx="411735" cy="412758"/>
              </a:xfrm>
              <a:custGeom>
                <a:avLst/>
                <a:gdLst>
                  <a:gd name="T0" fmla="*/ 652 w 2171"/>
                  <a:gd name="T1" fmla="*/ 88 h 2179"/>
                  <a:gd name="T2" fmla="*/ 305 w 2171"/>
                  <a:gd name="T3" fmla="*/ 324 h 2179"/>
                  <a:gd name="T4" fmla="*/ 71 w 2171"/>
                  <a:gd name="T5" fmla="*/ 684 h 2179"/>
                  <a:gd name="T6" fmla="*/ 12 w 2171"/>
                  <a:gd name="T7" fmla="*/ 866 h 2179"/>
                  <a:gd name="T8" fmla="*/ 0 w 2171"/>
                  <a:gd name="T9" fmla="*/ 1089 h 2179"/>
                  <a:gd name="T10" fmla="*/ 13 w 2171"/>
                  <a:gd name="T11" fmla="*/ 1312 h 2179"/>
                  <a:gd name="T12" fmla="*/ 58 w 2171"/>
                  <a:gd name="T13" fmla="*/ 1468 h 2179"/>
                  <a:gd name="T14" fmla="*/ 184 w 2171"/>
                  <a:gd name="T15" fmla="*/ 1708 h 2179"/>
                  <a:gd name="T16" fmla="*/ 359 w 2171"/>
                  <a:gd name="T17" fmla="*/ 1906 h 2179"/>
                  <a:gd name="T18" fmla="*/ 575 w 2171"/>
                  <a:gd name="T19" fmla="*/ 2055 h 2179"/>
                  <a:gd name="T20" fmla="*/ 822 w 2171"/>
                  <a:gd name="T21" fmla="*/ 2148 h 2179"/>
                  <a:gd name="T22" fmla="*/ 1091 w 2171"/>
                  <a:gd name="T23" fmla="*/ 2179 h 2179"/>
                  <a:gd name="T24" fmla="*/ 1340 w 2171"/>
                  <a:gd name="T25" fmla="*/ 2148 h 2179"/>
                  <a:gd name="T26" fmla="*/ 1704 w 2171"/>
                  <a:gd name="T27" fmla="*/ 1988 h 2179"/>
                  <a:gd name="T28" fmla="*/ 1984 w 2171"/>
                  <a:gd name="T29" fmla="*/ 1708 h 2179"/>
                  <a:gd name="T30" fmla="*/ 2110 w 2171"/>
                  <a:gd name="T31" fmla="*/ 1469 h 2179"/>
                  <a:gd name="T32" fmla="*/ 2168 w 2171"/>
                  <a:gd name="T33" fmla="*/ 1142 h 2179"/>
                  <a:gd name="T34" fmla="*/ 2157 w 2171"/>
                  <a:gd name="T35" fmla="*/ 893 h 2179"/>
                  <a:gd name="T36" fmla="*/ 2060 w 2171"/>
                  <a:gd name="T37" fmla="*/ 602 h 2179"/>
                  <a:gd name="T38" fmla="*/ 1978 w 2171"/>
                  <a:gd name="T39" fmla="*/ 464 h 2179"/>
                  <a:gd name="T40" fmla="*/ 1890 w 2171"/>
                  <a:gd name="T41" fmla="*/ 505 h 2179"/>
                  <a:gd name="T42" fmla="*/ 1788 w 2171"/>
                  <a:gd name="T43" fmla="*/ 755 h 2179"/>
                  <a:gd name="T44" fmla="*/ 1851 w 2171"/>
                  <a:gd name="T45" fmla="*/ 940 h 2179"/>
                  <a:gd name="T46" fmla="*/ 1861 w 2171"/>
                  <a:gd name="T47" fmla="*/ 1166 h 2179"/>
                  <a:gd name="T48" fmla="*/ 1806 w 2171"/>
                  <a:gd name="T49" fmla="*/ 1382 h 2179"/>
                  <a:gd name="T50" fmla="*/ 1690 w 2171"/>
                  <a:gd name="T51" fmla="*/ 1575 h 2179"/>
                  <a:gd name="T52" fmla="*/ 1519 w 2171"/>
                  <a:gd name="T53" fmla="*/ 1731 h 2179"/>
                  <a:gd name="T54" fmla="*/ 1369 w 2171"/>
                  <a:gd name="T55" fmla="*/ 1811 h 2179"/>
                  <a:gd name="T56" fmla="*/ 1084 w 2171"/>
                  <a:gd name="T57" fmla="*/ 1865 h 2179"/>
                  <a:gd name="T58" fmla="*/ 802 w 2171"/>
                  <a:gd name="T59" fmla="*/ 1813 h 2179"/>
                  <a:gd name="T60" fmla="*/ 636 w 2171"/>
                  <a:gd name="T61" fmla="*/ 1721 h 2179"/>
                  <a:gd name="T62" fmla="*/ 449 w 2171"/>
                  <a:gd name="T63" fmla="*/ 1532 h 2179"/>
                  <a:gd name="T64" fmla="*/ 339 w 2171"/>
                  <a:gd name="T65" fmla="*/ 1305 h 2179"/>
                  <a:gd name="T66" fmla="*/ 308 w 2171"/>
                  <a:gd name="T67" fmla="*/ 1059 h 2179"/>
                  <a:gd name="T68" fmla="*/ 360 w 2171"/>
                  <a:gd name="T69" fmla="*/ 813 h 2179"/>
                  <a:gd name="T70" fmla="*/ 495 w 2171"/>
                  <a:gd name="T71" fmla="*/ 586 h 2179"/>
                  <a:gd name="T72" fmla="*/ 615 w 2171"/>
                  <a:gd name="T73" fmla="*/ 471 h 2179"/>
                  <a:gd name="T74" fmla="*/ 814 w 2171"/>
                  <a:gd name="T75" fmla="*/ 359 h 2179"/>
                  <a:gd name="T76" fmla="*/ 1045 w 2171"/>
                  <a:gd name="T77" fmla="*/ 314 h 2179"/>
                  <a:gd name="T78" fmla="*/ 1226 w 2171"/>
                  <a:gd name="T79" fmla="*/ 322 h 2179"/>
                  <a:gd name="T80" fmla="*/ 1437 w 2171"/>
                  <a:gd name="T81" fmla="*/ 392 h 2179"/>
                  <a:gd name="T82" fmla="*/ 1740 w 2171"/>
                  <a:gd name="T83" fmla="*/ 222 h 2179"/>
                  <a:gd name="T84" fmla="*/ 1582 w 2171"/>
                  <a:gd name="T85" fmla="*/ 119 h 2179"/>
                  <a:gd name="T86" fmla="*/ 1313 w 2171"/>
                  <a:gd name="T87" fmla="*/ 22 h 2179"/>
                  <a:gd name="T88" fmla="*/ 1027 w 2171"/>
                  <a:gd name="T89" fmla="*/ 0 h 2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171" h="2179">
                    <a:moveTo>
                      <a:pt x="863" y="22"/>
                    </a:moveTo>
                    <a:lnTo>
                      <a:pt x="790" y="40"/>
                    </a:lnTo>
                    <a:lnTo>
                      <a:pt x="652" y="88"/>
                    </a:lnTo>
                    <a:lnTo>
                      <a:pt x="525" y="152"/>
                    </a:lnTo>
                    <a:lnTo>
                      <a:pt x="409" y="231"/>
                    </a:lnTo>
                    <a:lnTo>
                      <a:pt x="305" y="324"/>
                    </a:lnTo>
                    <a:lnTo>
                      <a:pt x="214" y="431"/>
                    </a:lnTo>
                    <a:lnTo>
                      <a:pt x="136" y="551"/>
                    </a:lnTo>
                    <a:lnTo>
                      <a:pt x="71" y="684"/>
                    </a:lnTo>
                    <a:lnTo>
                      <a:pt x="45" y="755"/>
                    </a:lnTo>
                    <a:lnTo>
                      <a:pt x="31" y="797"/>
                    </a:lnTo>
                    <a:lnTo>
                      <a:pt x="12" y="866"/>
                    </a:lnTo>
                    <a:lnTo>
                      <a:pt x="3" y="936"/>
                    </a:lnTo>
                    <a:lnTo>
                      <a:pt x="0" y="1027"/>
                    </a:lnTo>
                    <a:lnTo>
                      <a:pt x="0" y="1089"/>
                    </a:lnTo>
                    <a:lnTo>
                      <a:pt x="0" y="1149"/>
                    </a:lnTo>
                    <a:lnTo>
                      <a:pt x="4" y="1241"/>
                    </a:lnTo>
                    <a:lnTo>
                      <a:pt x="13" y="1312"/>
                    </a:lnTo>
                    <a:lnTo>
                      <a:pt x="31" y="1383"/>
                    </a:lnTo>
                    <a:lnTo>
                      <a:pt x="43" y="1424"/>
                    </a:lnTo>
                    <a:lnTo>
                      <a:pt x="58" y="1468"/>
                    </a:lnTo>
                    <a:lnTo>
                      <a:pt x="94" y="1552"/>
                    </a:lnTo>
                    <a:lnTo>
                      <a:pt x="136" y="1632"/>
                    </a:lnTo>
                    <a:lnTo>
                      <a:pt x="184" y="1708"/>
                    </a:lnTo>
                    <a:lnTo>
                      <a:pt x="237" y="1779"/>
                    </a:lnTo>
                    <a:lnTo>
                      <a:pt x="296" y="1845"/>
                    </a:lnTo>
                    <a:lnTo>
                      <a:pt x="359" y="1906"/>
                    </a:lnTo>
                    <a:lnTo>
                      <a:pt x="427" y="1961"/>
                    </a:lnTo>
                    <a:lnTo>
                      <a:pt x="500" y="2011"/>
                    </a:lnTo>
                    <a:lnTo>
                      <a:pt x="575" y="2055"/>
                    </a:lnTo>
                    <a:lnTo>
                      <a:pt x="655" y="2092"/>
                    </a:lnTo>
                    <a:lnTo>
                      <a:pt x="737" y="2123"/>
                    </a:lnTo>
                    <a:lnTo>
                      <a:pt x="822" y="2148"/>
                    </a:lnTo>
                    <a:lnTo>
                      <a:pt x="910" y="2165"/>
                    </a:lnTo>
                    <a:lnTo>
                      <a:pt x="999" y="2176"/>
                    </a:lnTo>
                    <a:lnTo>
                      <a:pt x="1091" y="2179"/>
                    </a:lnTo>
                    <a:lnTo>
                      <a:pt x="1137" y="2177"/>
                    </a:lnTo>
                    <a:lnTo>
                      <a:pt x="1206" y="2172"/>
                    </a:lnTo>
                    <a:lnTo>
                      <a:pt x="1340" y="2148"/>
                    </a:lnTo>
                    <a:lnTo>
                      <a:pt x="1469" y="2109"/>
                    </a:lnTo>
                    <a:lnTo>
                      <a:pt x="1591" y="2056"/>
                    </a:lnTo>
                    <a:lnTo>
                      <a:pt x="1704" y="1988"/>
                    </a:lnTo>
                    <a:lnTo>
                      <a:pt x="1809" y="1907"/>
                    </a:lnTo>
                    <a:lnTo>
                      <a:pt x="1903" y="1813"/>
                    </a:lnTo>
                    <a:lnTo>
                      <a:pt x="1984" y="1708"/>
                    </a:lnTo>
                    <a:lnTo>
                      <a:pt x="2020" y="1650"/>
                    </a:lnTo>
                    <a:lnTo>
                      <a:pt x="2056" y="1587"/>
                    </a:lnTo>
                    <a:lnTo>
                      <a:pt x="2110" y="1469"/>
                    </a:lnTo>
                    <a:lnTo>
                      <a:pt x="2144" y="1350"/>
                    </a:lnTo>
                    <a:lnTo>
                      <a:pt x="2164" y="1218"/>
                    </a:lnTo>
                    <a:lnTo>
                      <a:pt x="2168" y="1142"/>
                    </a:lnTo>
                    <a:lnTo>
                      <a:pt x="2171" y="1064"/>
                    </a:lnTo>
                    <a:lnTo>
                      <a:pt x="2166" y="959"/>
                    </a:lnTo>
                    <a:lnTo>
                      <a:pt x="2157" y="893"/>
                    </a:lnTo>
                    <a:lnTo>
                      <a:pt x="2137" y="797"/>
                    </a:lnTo>
                    <a:lnTo>
                      <a:pt x="2091" y="669"/>
                    </a:lnTo>
                    <a:lnTo>
                      <a:pt x="2060" y="602"/>
                    </a:lnTo>
                    <a:lnTo>
                      <a:pt x="2030" y="540"/>
                    </a:lnTo>
                    <a:lnTo>
                      <a:pt x="1997" y="484"/>
                    </a:lnTo>
                    <a:lnTo>
                      <a:pt x="1978" y="464"/>
                    </a:lnTo>
                    <a:lnTo>
                      <a:pt x="1957" y="459"/>
                    </a:lnTo>
                    <a:lnTo>
                      <a:pt x="1934" y="468"/>
                    </a:lnTo>
                    <a:lnTo>
                      <a:pt x="1890" y="505"/>
                    </a:lnTo>
                    <a:lnTo>
                      <a:pt x="1847" y="549"/>
                    </a:lnTo>
                    <a:lnTo>
                      <a:pt x="1740" y="655"/>
                    </a:lnTo>
                    <a:lnTo>
                      <a:pt x="1788" y="755"/>
                    </a:lnTo>
                    <a:lnTo>
                      <a:pt x="1805" y="792"/>
                    </a:lnTo>
                    <a:lnTo>
                      <a:pt x="1832" y="865"/>
                    </a:lnTo>
                    <a:lnTo>
                      <a:pt x="1851" y="940"/>
                    </a:lnTo>
                    <a:lnTo>
                      <a:pt x="1862" y="1016"/>
                    </a:lnTo>
                    <a:lnTo>
                      <a:pt x="1865" y="1091"/>
                    </a:lnTo>
                    <a:lnTo>
                      <a:pt x="1861" y="1166"/>
                    </a:lnTo>
                    <a:lnTo>
                      <a:pt x="1850" y="1240"/>
                    </a:lnTo>
                    <a:lnTo>
                      <a:pt x="1831" y="1312"/>
                    </a:lnTo>
                    <a:lnTo>
                      <a:pt x="1806" y="1382"/>
                    </a:lnTo>
                    <a:lnTo>
                      <a:pt x="1774" y="1450"/>
                    </a:lnTo>
                    <a:lnTo>
                      <a:pt x="1735" y="1514"/>
                    </a:lnTo>
                    <a:lnTo>
                      <a:pt x="1690" y="1575"/>
                    </a:lnTo>
                    <a:lnTo>
                      <a:pt x="1639" y="1632"/>
                    </a:lnTo>
                    <a:lnTo>
                      <a:pt x="1582" y="1684"/>
                    </a:lnTo>
                    <a:lnTo>
                      <a:pt x="1519" y="1731"/>
                    </a:lnTo>
                    <a:lnTo>
                      <a:pt x="1450" y="1772"/>
                    </a:lnTo>
                    <a:lnTo>
                      <a:pt x="1413" y="1790"/>
                    </a:lnTo>
                    <a:lnTo>
                      <a:pt x="1369" y="1811"/>
                    </a:lnTo>
                    <a:lnTo>
                      <a:pt x="1276" y="1841"/>
                    </a:lnTo>
                    <a:lnTo>
                      <a:pt x="1181" y="1859"/>
                    </a:lnTo>
                    <a:lnTo>
                      <a:pt x="1084" y="1865"/>
                    </a:lnTo>
                    <a:lnTo>
                      <a:pt x="988" y="1859"/>
                    </a:lnTo>
                    <a:lnTo>
                      <a:pt x="893" y="1842"/>
                    </a:lnTo>
                    <a:lnTo>
                      <a:pt x="802" y="1813"/>
                    </a:lnTo>
                    <a:lnTo>
                      <a:pt x="716" y="1772"/>
                    </a:lnTo>
                    <a:lnTo>
                      <a:pt x="675" y="1747"/>
                    </a:lnTo>
                    <a:lnTo>
                      <a:pt x="636" y="1721"/>
                    </a:lnTo>
                    <a:lnTo>
                      <a:pt x="565" y="1663"/>
                    </a:lnTo>
                    <a:lnTo>
                      <a:pt x="503" y="1600"/>
                    </a:lnTo>
                    <a:lnTo>
                      <a:pt x="449" y="1532"/>
                    </a:lnTo>
                    <a:lnTo>
                      <a:pt x="404" y="1460"/>
                    </a:lnTo>
                    <a:lnTo>
                      <a:pt x="367" y="1384"/>
                    </a:lnTo>
                    <a:lnTo>
                      <a:pt x="339" y="1305"/>
                    </a:lnTo>
                    <a:lnTo>
                      <a:pt x="320" y="1224"/>
                    </a:lnTo>
                    <a:lnTo>
                      <a:pt x="310" y="1142"/>
                    </a:lnTo>
                    <a:lnTo>
                      <a:pt x="308" y="1059"/>
                    </a:lnTo>
                    <a:lnTo>
                      <a:pt x="316" y="976"/>
                    </a:lnTo>
                    <a:lnTo>
                      <a:pt x="333" y="894"/>
                    </a:lnTo>
                    <a:lnTo>
                      <a:pt x="360" y="813"/>
                    </a:lnTo>
                    <a:lnTo>
                      <a:pt x="395" y="735"/>
                    </a:lnTo>
                    <a:lnTo>
                      <a:pt x="441" y="659"/>
                    </a:lnTo>
                    <a:lnTo>
                      <a:pt x="495" y="586"/>
                    </a:lnTo>
                    <a:lnTo>
                      <a:pt x="527" y="552"/>
                    </a:lnTo>
                    <a:lnTo>
                      <a:pt x="555" y="523"/>
                    </a:lnTo>
                    <a:lnTo>
                      <a:pt x="615" y="471"/>
                    </a:lnTo>
                    <a:lnTo>
                      <a:pt x="678" y="426"/>
                    </a:lnTo>
                    <a:lnTo>
                      <a:pt x="744" y="389"/>
                    </a:lnTo>
                    <a:lnTo>
                      <a:pt x="814" y="359"/>
                    </a:lnTo>
                    <a:lnTo>
                      <a:pt x="888" y="337"/>
                    </a:lnTo>
                    <a:lnTo>
                      <a:pt x="965" y="322"/>
                    </a:lnTo>
                    <a:lnTo>
                      <a:pt x="1045" y="314"/>
                    </a:lnTo>
                    <a:lnTo>
                      <a:pt x="1087" y="314"/>
                    </a:lnTo>
                    <a:lnTo>
                      <a:pt x="1138" y="314"/>
                    </a:lnTo>
                    <a:lnTo>
                      <a:pt x="1226" y="322"/>
                    </a:lnTo>
                    <a:lnTo>
                      <a:pt x="1306" y="340"/>
                    </a:lnTo>
                    <a:lnTo>
                      <a:pt x="1390" y="371"/>
                    </a:lnTo>
                    <a:lnTo>
                      <a:pt x="1437" y="392"/>
                    </a:lnTo>
                    <a:lnTo>
                      <a:pt x="1525" y="434"/>
                    </a:lnTo>
                    <a:lnTo>
                      <a:pt x="1632" y="329"/>
                    </a:lnTo>
                    <a:lnTo>
                      <a:pt x="1740" y="222"/>
                    </a:lnTo>
                    <a:lnTo>
                      <a:pt x="1702" y="190"/>
                    </a:lnTo>
                    <a:lnTo>
                      <a:pt x="1672" y="169"/>
                    </a:lnTo>
                    <a:lnTo>
                      <a:pt x="1582" y="119"/>
                    </a:lnTo>
                    <a:lnTo>
                      <a:pt x="1471" y="71"/>
                    </a:lnTo>
                    <a:lnTo>
                      <a:pt x="1361" y="33"/>
                    </a:lnTo>
                    <a:lnTo>
                      <a:pt x="1313" y="22"/>
                    </a:lnTo>
                    <a:lnTo>
                      <a:pt x="1259" y="12"/>
                    </a:lnTo>
                    <a:lnTo>
                      <a:pt x="1144" y="0"/>
                    </a:lnTo>
                    <a:lnTo>
                      <a:pt x="1027" y="0"/>
                    </a:lnTo>
                    <a:lnTo>
                      <a:pt x="915" y="12"/>
                    </a:lnTo>
                    <a:lnTo>
                      <a:pt x="863" y="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017A5242-8E1B-F402-59CC-C19F1C2D8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1871" y="1223537"/>
                <a:ext cx="176458" cy="174923"/>
              </a:xfrm>
              <a:custGeom>
                <a:avLst/>
                <a:gdLst>
                  <a:gd name="T0" fmla="*/ 308 w 932"/>
                  <a:gd name="T1" fmla="*/ 27 h 925"/>
                  <a:gd name="T2" fmla="*/ 174 w 932"/>
                  <a:gd name="T3" fmla="*/ 102 h 925"/>
                  <a:gd name="T4" fmla="*/ 73 w 932"/>
                  <a:gd name="T5" fmla="*/ 214 h 925"/>
                  <a:gd name="T6" fmla="*/ 13 w 932"/>
                  <a:gd name="T7" fmla="*/ 353 h 925"/>
                  <a:gd name="T8" fmla="*/ 0 w 932"/>
                  <a:gd name="T9" fmla="*/ 470 h 925"/>
                  <a:gd name="T10" fmla="*/ 5 w 932"/>
                  <a:gd name="T11" fmla="*/ 532 h 925"/>
                  <a:gd name="T12" fmla="*/ 57 w 932"/>
                  <a:gd name="T13" fmla="*/ 681 h 925"/>
                  <a:gd name="T14" fmla="*/ 136 w 932"/>
                  <a:gd name="T15" fmla="*/ 787 h 925"/>
                  <a:gd name="T16" fmla="*/ 249 w 932"/>
                  <a:gd name="T17" fmla="*/ 874 h 925"/>
                  <a:gd name="T18" fmla="*/ 351 w 932"/>
                  <a:gd name="T19" fmla="*/ 913 h 925"/>
                  <a:gd name="T20" fmla="*/ 466 w 932"/>
                  <a:gd name="T21" fmla="*/ 925 h 925"/>
                  <a:gd name="T22" fmla="*/ 550 w 932"/>
                  <a:gd name="T23" fmla="*/ 918 h 925"/>
                  <a:gd name="T24" fmla="*/ 654 w 932"/>
                  <a:gd name="T25" fmla="*/ 886 h 925"/>
                  <a:gd name="T26" fmla="*/ 745 w 932"/>
                  <a:gd name="T27" fmla="*/ 833 h 925"/>
                  <a:gd name="T28" fmla="*/ 821 w 932"/>
                  <a:gd name="T29" fmla="*/ 762 h 925"/>
                  <a:gd name="T30" fmla="*/ 879 w 932"/>
                  <a:gd name="T31" fmla="*/ 676 h 925"/>
                  <a:gd name="T32" fmla="*/ 917 w 932"/>
                  <a:gd name="T33" fmla="*/ 579 h 925"/>
                  <a:gd name="T34" fmla="*/ 932 w 932"/>
                  <a:gd name="T35" fmla="*/ 474 h 925"/>
                  <a:gd name="T36" fmla="*/ 922 w 932"/>
                  <a:gd name="T37" fmla="*/ 364 h 925"/>
                  <a:gd name="T38" fmla="*/ 908 w 932"/>
                  <a:gd name="T39" fmla="*/ 312 h 925"/>
                  <a:gd name="T40" fmla="*/ 886 w 932"/>
                  <a:gd name="T41" fmla="*/ 275 h 925"/>
                  <a:gd name="T42" fmla="*/ 785 w 932"/>
                  <a:gd name="T43" fmla="*/ 366 h 925"/>
                  <a:gd name="T44" fmla="*/ 662 w 932"/>
                  <a:gd name="T45" fmla="*/ 489 h 925"/>
                  <a:gd name="T46" fmla="*/ 550 w 932"/>
                  <a:gd name="T47" fmla="*/ 584 h 925"/>
                  <a:gd name="T48" fmla="*/ 484 w 932"/>
                  <a:gd name="T49" fmla="*/ 613 h 925"/>
                  <a:gd name="T50" fmla="*/ 425 w 932"/>
                  <a:gd name="T51" fmla="*/ 608 h 925"/>
                  <a:gd name="T52" fmla="*/ 386 w 932"/>
                  <a:gd name="T53" fmla="*/ 591 h 925"/>
                  <a:gd name="T54" fmla="*/ 328 w 932"/>
                  <a:gd name="T55" fmla="*/ 528 h 925"/>
                  <a:gd name="T56" fmla="*/ 316 w 932"/>
                  <a:gd name="T57" fmla="*/ 457 h 925"/>
                  <a:gd name="T58" fmla="*/ 332 w 932"/>
                  <a:gd name="T59" fmla="*/ 404 h 925"/>
                  <a:gd name="T60" fmla="*/ 442 w 932"/>
                  <a:gd name="T61" fmla="*/ 277 h 925"/>
                  <a:gd name="T62" fmla="*/ 555 w 932"/>
                  <a:gd name="T63" fmla="*/ 161 h 925"/>
                  <a:gd name="T64" fmla="*/ 649 w 932"/>
                  <a:gd name="T65" fmla="*/ 55 h 925"/>
                  <a:gd name="T66" fmla="*/ 643 w 932"/>
                  <a:gd name="T67" fmla="*/ 32 h 925"/>
                  <a:gd name="T68" fmla="*/ 598 w 932"/>
                  <a:gd name="T69" fmla="*/ 16 h 925"/>
                  <a:gd name="T70" fmla="*/ 450 w 932"/>
                  <a:gd name="T71" fmla="*/ 0 h 925"/>
                  <a:gd name="T72" fmla="*/ 346 w 932"/>
                  <a:gd name="T73" fmla="*/ 15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925">
                    <a:moveTo>
                      <a:pt x="346" y="15"/>
                    </a:moveTo>
                    <a:lnTo>
                      <a:pt x="308" y="27"/>
                    </a:lnTo>
                    <a:lnTo>
                      <a:pt x="237" y="59"/>
                    </a:lnTo>
                    <a:lnTo>
                      <a:pt x="174" y="102"/>
                    </a:lnTo>
                    <a:lnTo>
                      <a:pt x="119" y="154"/>
                    </a:lnTo>
                    <a:lnTo>
                      <a:pt x="73" y="214"/>
                    </a:lnTo>
                    <a:lnTo>
                      <a:pt x="38" y="281"/>
                    </a:lnTo>
                    <a:lnTo>
                      <a:pt x="13" y="353"/>
                    </a:lnTo>
                    <a:lnTo>
                      <a:pt x="1" y="430"/>
                    </a:lnTo>
                    <a:lnTo>
                      <a:pt x="0" y="470"/>
                    </a:lnTo>
                    <a:lnTo>
                      <a:pt x="0" y="490"/>
                    </a:lnTo>
                    <a:lnTo>
                      <a:pt x="5" y="532"/>
                    </a:lnTo>
                    <a:lnTo>
                      <a:pt x="21" y="596"/>
                    </a:lnTo>
                    <a:lnTo>
                      <a:pt x="57" y="681"/>
                    </a:lnTo>
                    <a:lnTo>
                      <a:pt x="107" y="756"/>
                    </a:lnTo>
                    <a:lnTo>
                      <a:pt x="136" y="787"/>
                    </a:lnTo>
                    <a:lnTo>
                      <a:pt x="174" y="821"/>
                    </a:lnTo>
                    <a:lnTo>
                      <a:pt x="249" y="874"/>
                    </a:lnTo>
                    <a:lnTo>
                      <a:pt x="309" y="900"/>
                    </a:lnTo>
                    <a:lnTo>
                      <a:pt x="351" y="913"/>
                    </a:lnTo>
                    <a:lnTo>
                      <a:pt x="417" y="924"/>
                    </a:lnTo>
                    <a:lnTo>
                      <a:pt x="466" y="925"/>
                    </a:lnTo>
                    <a:lnTo>
                      <a:pt x="495" y="924"/>
                    </a:lnTo>
                    <a:lnTo>
                      <a:pt x="550" y="918"/>
                    </a:lnTo>
                    <a:lnTo>
                      <a:pt x="603" y="905"/>
                    </a:lnTo>
                    <a:lnTo>
                      <a:pt x="654" y="886"/>
                    </a:lnTo>
                    <a:lnTo>
                      <a:pt x="701" y="862"/>
                    </a:lnTo>
                    <a:lnTo>
                      <a:pt x="745" y="833"/>
                    </a:lnTo>
                    <a:lnTo>
                      <a:pt x="785" y="799"/>
                    </a:lnTo>
                    <a:lnTo>
                      <a:pt x="821" y="762"/>
                    </a:lnTo>
                    <a:lnTo>
                      <a:pt x="852" y="721"/>
                    </a:lnTo>
                    <a:lnTo>
                      <a:pt x="879" y="676"/>
                    </a:lnTo>
                    <a:lnTo>
                      <a:pt x="901" y="629"/>
                    </a:lnTo>
                    <a:lnTo>
                      <a:pt x="917" y="579"/>
                    </a:lnTo>
                    <a:lnTo>
                      <a:pt x="928" y="527"/>
                    </a:lnTo>
                    <a:lnTo>
                      <a:pt x="932" y="474"/>
                    </a:lnTo>
                    <a:lnTo>
                      <a:pt x="930" y="419"/>
                    </a:lnTo>
                    <a:lnTo>
                      <a:pt x="922" y="364"/>
                    </a:lnTo>
                    <a:lnTo>
                      <a:pt x="915" y="337"/>
                    </a:lnTo>
                    <a:lnTo>
                      <a:pt x="908" y="312"/>
                    </a:lnTo>
                    <a:lnTo>
                      <a:pt x="892" y="279"/>
                    </a:lnTo>
                    <a:lnTo>
                      <a:pt x="886" y="275"/>
                    </a:lnTo>
                    <a:lnTo>
                      <a:pt x="873" y="284"/>
                    </a:lnTo>
                    <a:lnTo>
                      <a:pt x="785" y="366"/>
                    </a:lnTo>
                    <a:lnTo>
                      <a:pt x="725" y="427"/>
                    </a:lnTo>
                    <a:lnTo>
                      <a:pt x="662" y="489"/>
                    </a:lnTo>
                    <a:lnTo>
                      <a:pt x="590" y="555"/>
                    </a:lnTo>
                    <a:lnTo>
                      <a:pt x="550" y="584"/>
                    </a:lnTo>
                    <a:lnTo>
                      <a:pt x="515" y="604"/>
                    </a:lnTo>
                    <a:lnTo>
                      <a:pt x="484" y="613"/>
                    </a:lnTo>
                    <a:lnTo>
                      <a:pt x="455" y="614"/>
                    </a:lnTo>
                    <a:lnTo>
                      <a:pt x="425" y="608"/>
                    </a:lnTo>
                    <a:lnTo>
                      <a:pt x="410" y="602"/>
                    </a:lnTo>
                    <a:lnTo>
                      <a:pt x="386" y="591"/>
                    </a:lnTo>
                    <a:lnTo>
                      <a:pt x="350" y="563"/>
                    </a:lnTo>
                    <a:lnTo>
                      <a:pt x="328" y="528"/>
                    </a:lnTo>
                    <a:lnTo>
                      <a:pt x="317" y="484"/>
                    </a:lnTo>
                    <a:lnTo>
                      <a:pt x="316" y="457"/>
                    </a:lnTo>
                    <a:lnTo>
                      <a:pt x="317" y="440"/>
                    </a:lnTo>
                    <a:lnTo>
                      <a:pt x="332" y="404"/>
                    </a:lnTo>
                    <a:lnTo>
                      <a:pt x="370" y="354"/>
                    </a:lnTo>
                    <a:lnTo>
                      <a:pt x="442" y="277"/>
                    </a:lnTo>
                    <a:lnTo>
                      <a:pt x="495" y="223"/>
                    </a:lnTo>
                    <a:lnTo>
                      <a:pt x="555" y="161"/>
                    </a:lnTo>
                    <a:lnTo>
                      <a:pt x="627" y="85"/>
                    </a:lnTo>
                    <a:lnTo>
                      <a:pt x="649" y="55"/>
                    </a:lnTo>
                    <a:lnTo>
                      <a:pt x="652" y="43"/>
                    </a:lnTo>
                    <a:lnTo>
                      <a:pt x="643" y="32"/>
                    </a:lnTo>
                    <a:lnTo>
                      <a:pt x="628" y="27"/>
                    </a:lnTo>
                    <a:lnTo>
                      <a:pt x="598" y="16"/>
                    </a:lnTo>
                    <a:lnTo>
                      <a:pt x="526" y="3"/>
                    </a:lnTo>
                    <a:lnTo>
                      <a:pt x="450" y="0"/>
                    </a:lnTo>
                    <a:lnTo>
                      <a:pt x="378" y="7"/>
                    </a:lnTo>
                    <a:lnTo>
                      <a:pt x="34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74B8A81-3488-D736-83CB-E7A47D481AB6}"/>
              </a:ext>
            </a:extLst>
          </p:cNvPr>
          <p:cNvSpPr/>
          <p:nvPr/>
        </p:nvSpPr>
        <p:spPr>
          <a:xfrm>
            <a:off x="505326" y="1242522"/>
            <a:ext cx="1019775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1600" dirty="0"/>
              <a:t>تهدف هذه الوثيقة إلى تقديم تصور شامل حول </a:t>
            </a:r>
            <a:r>
              <a:rPr lang="ar-SA" sz="1600" b="1" dirty="0"/>
              <a:t>البنية التقنية المستقبلية</a:t>
            </a:r>
            <a:r>
              <a:rPr lang="ar-SA" sz="1600" dirty="0"/>
              <a:t> في هيئة تقويم التعليم والتدريب، وذلك كجزء من مخرجات مشروع البنية المؤسسية. تستند الوثيقة إلى </a:t>
            </a:r>
            <a:r>
              <a:rPr lang="ar-SA" sz="1600" b="1" dirty="0"/>
              <a:t>الإرشادات المتقدمة في منهجية البنية المؤسسية الوطنية </a:t>
            </a:r>
            <a:r>
              <a:rPr lang="en-US" sz="1600" b="1" dirty="0"/>
              <a:t>NORA</a:t>
            </a:r>
            <a:r>
              <a:rPr lang="en-US" sz="1600" dirty="0"/>
              <a:t>، </a:t>
            </a:r>
            <a:r>
              <a:rPr lang="ar-SA" sz="1600" dirty="0"/>
              <a:t>التي طورتها هيئة الحكومة الرقمية، باعتبارها إطارًا مرجعيًا لتوحيد وتطوير البنية التقنية داخل الجهات الحكومية.</a:t>
            </a:r>
          </a:p>
          <a:p>
            <a:pPr algn="r" rtl="1"/>
            <a:r>
              <a:rPr lang="ar-SA" sz="1600" b="1" dirty="0"/>
              <a:t>مكونات البنية التقنية المستقبلية: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البنية التحتية السحابية المتقدمة:</a:t>
            </a:r>
            <a:r>
              <a:rPr lang="ar-SA" sz="1600" dirty="0"/>
              <a:t> الانتقال إلى </a:t>
            </a:r>
            <a:r>
              <a:rPr lang="ar-SA" sz="1600" b="1" dirty="0"/>
              <a:t>بيئة هجينة تعتمد على الحوسبة السحابية</a:t>
            </a:r>
            <a:r>
              <a:rPr lang="ar-SA" sz="1600" dirty="0"/>
              <a:t> لتحسين المرونة وقابلية التوسع.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أنظمة متكاملة لإدارة البيانات:</a:t>
            </a:r>
            <a:r>
              <a:rPr lang="ar-SA" sz="1600" dirty="0"/>
              <a:t> تطبيق </a:t>
            </a:r>
            <a:r>
              <a:rPr lang="ar-SA" sz="1600" b="1" dirty="0"/>
              <a:t>منصات تحليل البيانات الضخمة والذكاء الاصطناعي</a:t>
            </a:r>
            <a:r>
              <a:rPr lang="ar-SA" sz="1600" dirty="0"/>
              <a:t> لتعزيز اتخاذ القرارات الذكية.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تحسين تجربة المستخدم الرقمية:</a:t>
            </a:r>
            <a:r>
              <a:rPr lang="ar-SA" sz="1600" dirty="0"/>
              <a:t> تطوير </a:t>
            </a:r>
            <a:r>
              <a:rPr lang="ar-SA" sz="1600" b="1" dirty="0"/>
              <a:t>واجهات استخدام حديثة وخدمات إلكترونية مؤتمتة</a:t>
            </a:r>
            <a:r>
              <a:rPr lang="ar-SA" sz="1600" dirty="0"/>
              <a:t> لرفع مستوى رضا المستخدمين.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تعزيز الأمان والامتثال:</a:t>
            </a:r>
            <a:r>
              <a:rPr lang="ar-SA" sz="1600" dirty="0"/>
              <a:t> تنفيذ </a:t>
            </a:r>
            <a:r>
              <a:rPr lang="ar-SA" sz="1600" b="1" dirty="0"/>
              <a:t>نموذج الأمان الصفري </a:t>
            </a:r>
            <a:r>
              <a:rPr lang="en-US" sz="1600" b="1" dirty="0"/>
              <a:t>Zero Trust</a:t>
            </a:r>
            <a:r>
              <a:rPr lang="en-US" sz="1600" dirty="0"/>
              <a:t> </a:t>
            </a:r>
            <a:r>
              <a:rPr lang="ar-SA" sz="1600" dirty="0"/>
              <a:t>لضمان الحماية الكاملة للبنية الرقمية.</a:t>
            </a:r>
          </a:p>
          <a:p>
            <a:pPr algn="r" rtl="1"/>
            <a:r>
              <a:rPr lang="ar-SA" sz="1600" b="1" u="sng" dirty="0"/>
              <a:t>أهمية الوثيقة كأداة استراتيجية</a:t>
            </a:r>
          </a:p>
          <a:p>
            <a:pPr algn="r" rtl="1"/>
            <a:r>
              <a:rPr lang="ar-SA" sz="1600" dirty="0"/>
              <a:t>تُعتبر هذه الوثيقة </a:t>
            </a:r>
            <a:r>
              <a:rPr lang="ar-SA" sz="1600" b="1" dirty="0"/>
              <a:t>مرجعًا استراتيجيًا</a:t>
            </a:r>
            <a:r>
              <a:rPr lang="ar-SA" sz="1600" dirty="0"/>
              <a:t> لدعم القرارات التقنية المستقبلية في الهيئة، حيث تسهم في: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مواءمة البنية التقنية مع الأهداف الاستراتيجية للهيئة</a:t>
            </a:r>
            <a:r>
              <a:rPr lang="ar-SA" sz="1600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تحقيق أقصى استفادة من الاستثمارات التقنية</a:t>
            </a:r>
            <a:r>
              <a:rPr lang="ar-SA" sz="1600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ضمان جاهزية الهيئة لمتطلبات التحول الرقمي والتطورات التقنية المستقبلية</a:t>
            </a:r>
            <a:r>
              <a:rPr lang="ar-SA" sz="1600" dirty="0"/>
              <a:t>.</a:t>
            </a:r>
          </a:p>
          <a:p>
            <a:pPr algn="r" rtl="1"/>
            <a:r>
              <a:rPr lang="en-US" sz="1600" dirty="0"/>
              <a:t>🚀 </a:t>
            </a:r>
            <a:r>
              <a:rPr lang="ar-SA" sz="1600" b="1" dirty="0"/>
              <a:t>البنية التقنية المستقبلية ستمكّن الهيئة من تحقيق الريادة الرقمية، وضمان استدامة الحلول التقنية، وتعزيز التكامل بين الأنظمة لدعم بيئة تعليمية مبتكرة وفعالة.</a:t>
            </a:r>
            <a:endParaRPr lang="ar-SA" sz="1600" dirty="0"/>
          </a:p>
        </p:txBody>
      </p:sp>
      <p:sp>
        <p:nvSpPr>
          <p:cNvPr id="16" name="Freeform 18">
            <a:extLst>
              <a:ext uri="{FF2B5EF4-FFF2-40B4-BE49-F238E27FC236}">
                <a16:creationId xmlns:a16="http://schemas.microsoft.com/office/drawing/2014/main" id="{7938A321-7A93-6FFB-C9DB-BFF5EFA87F59}"/>
              </a:ext>
            </a:extLst>
          </p:cNvPr>
          <p:cNvSpPr/>
          <p:nvPr/>
        </p:nvSpPr>
        <p:spPr>
          <a:xfrm>
            <a:off x="433491" y="1051006"/>
            <a:ext cx="10644821" cy="4755988"/>
          </a:xfrm>
          <a:custGeom>
            <a:avLst/>
            <a:gdLst>
              <a:gd name="connsiteX0" fmla="*/ 208040 w 10535326"/>
              <a:gd name="connsiteY0" fmla="*/ 0 h 1248213"/>
              <a:gd name="connsiteX1" fmla="*/ 10327286 w 10535326"/>
              <a:gd name="connsiteY1" fmla="*/ 0 h 1248213"/>
              <a:gd name="connsiteX2" fmla="*/ 10535326 w 10535326"/>
              <a:gd name="connsiteY2" fmla="*/ 208040 h 1248213"/>
              <a:gd name="connsiteX3" fmla="*/ 10535326 w 10535326"/>
              <a:gd name="connsiteY3" fmla="*/ 255317 h 1248213"/>
              <a:gd name="connsiteX4" fmla="*/ 492101 w 10535326"/>
              <a:gd name="connsiteY4" fmla="*/ 255317 h 1248213"/>
              <a:gd name="connsiteX5" fmla="*/ 492101 w 10535326"/>
              <a:gd name="connsiteY5" fmla="*/ 1248213 h 1248213"/>
              <a:gd name="connsiteX6" fmla="*/ 208040 w 10535326"/>
              <a:gd name="connsiteY6" fmla="*/ 1248213 h 1248213"/>
              <a:gd name="connsiteX7" fmla="*/ 0 w 10535326"/>
              <a:gd name="connsiteY7" fmla="*/ 1040173 h 1248213"/>
              <a:gd name="connsiteX8" fmla="*/ 0 w 10535326"/>
              <a:gd name="connsiteY8" fmla="*/ 208040 h 1248213"/>
              <a:gd name="connsiteX9" fmla="*/ 208040 w 10535326"/>
              <a:gd name="connsiteY9" fmla="*/ 0 h 1248213"/>
              <a:gd name="connsiteX0" fmla="*/ 492101 w 10535326"/>
              <a:gd name="connsiteY0" fmla="*/ 255317 h 1248213"/>
              <a:gd name="connsiteX1" fmla="*/ 492101 w 10535326"/>
              <a:gd name="connsiteY1" fmla="*/ 1248213 h 1248213"/>
              <a:gd name="connsiteX2" fmla="*/ 208040 w 10535326"/>
              <a:gd name="connsiteY2" fmla="*/ 1248213 h 1248213"/>
              <a:gd name="connsiteX3" fmla="*/ 0 w 10535326"/>
              <a:gd name="connsiteY3" fmla="*/ 1040173 h 1248213"/>
              <a:gd name="connsiteX4" fmla="*/ 0 w 10535326"/>
              <a:gd name="connsiteY4" fmla="*/ 208040 h 1248213"/>
              <a:gd name="connsiteX5" fmla="*/ 208040 w 10535326"/>
              <a:gd name="connsiteY5" fmla="*/ 0 h 1248213"/>
              <a:gd name="connsiteX6" fmla="*/ 10327286 w 10535326"/>
              <a:gd name="connsiteY6" fmla="*/ 0 h 1248213"/>
              <a:gd name="connsiteX7" fmla="*/ 10535326 w 10535326"/>
              <a:gd name="connsiteY7" fmla="*/ 208040 h 1248213"/>
              <a:gd name="connsiteX8" fmla="*/ 10535326 w 10535326"/>
              <a:gd name="connsiteY8" fmla="*/ 255317 h 1248213"/>
              <a:gd name="connsiteX9" fmla="*/ 583541 w 10535326"/>
              <a:gd name="connsiteY9" fmla="*/ 346757 h 1248213"/>
              <a:gd name="connsiteX0" fmla="*/ 492101 w 10535326"/>
              <a:gd name="connsiteY0" fmla="*/ 255317 h 1248213"/>
              <a:gd name="connsiteX1" fmla="*/ 492101 w 10535326"/>
              <a:gd name="connsiteY1" fmla="*/ 1248213 h 1248213"/>
              <a:gd name="connsiteX2" fmla="*/ 208040 w 10535326"/>
              <a:gd name="connsiteY2" fmla="*/ 1248213 h 1248213"/>
              <a:gd name="connsiteX3" fmla="*/ 0 w 10535326"/>
              <a:gd name="connsiteY3" fmla="*/ 1040173 h 1248213"/>
              <a:gd name="connsiteX4" fmla="*/ 0 w 10535326"/>
              <a:gd name="connsiteY4" fmla="*/ 208040 h 1248213"/>
              <a:gd name="connsiteX5" fmla="*/ 208040 w 10535326"/>
              <a:gd name="connsiteY5" fmla="*/ 0 h 1248213"/>
              <a:gd name="connsiteX6" fmla="*/ 10327286 w 10535326"/>
              <a:gd name="connsiteY6" fmla="*/ 0 h 1248213"/>
              <a:gd name="connsiteX7" fmla="*/ 10535326 w 10535326"/>
              <a:gd name="connsiteY7" fmla="*/ 208040 h 1248213"/>
              <a:gd name="connsiteX8" fmla="*/ 10535326 w 10535326"/>
              <a:gd name="connsiteY8" fmla="*/ 255317 h 1248213"/>
              <a:gd name="connsiteX0" fmla="*/ 492101 w 10535326"/>
              <a:gd name="connsiteY0" fmla="*/ 1248213 h 1248213"/>
              <a:gd name="connsiteX1" fmla="*/ 208040 w 10535326"/>
              <a:gd name="connsiteY1" fmla="*/ 1248213 h 1248213"/>
              <a:gd name="connsiteX2" fmla="*/ 0 w 10535326"/>
              <a:gd name="connsiteY2" fmla="*/ 1040173 h 1248213"/>
              <a:gd name="connsiteX3" fmla="*/ 0 w 10535326"/>
              <a:gd name="connsiteY3" fmla="*/ 208040 h 1248213"/>
              <a:gd name="connsiteX4" fmla="*/ 208040 w 10535326"/>
              <a:gd name="connsiteY4" fmla="*/ 0 h 1248213"/>
              <a:gd name="connsiteX5" fmla="*/ 10327286 w 10535326"/>
              <a:gd name="connsiteY5" fmla="*/ 0 h 1248213"/>
              <a:gd name="connsiteX6" fmla="*/ 10535326 w 10535326"/>
              <a:gd name="connsiteY6" fmla="*/ 208040 h 1248213"/>
              <a:gd name="connsiteX7" fmla="*/ 10535326 w 10535326"/>
              <a:gd name="connsiteY7" fmla="*/ 255317 h 124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35326" h="1248213">
                <a:moveTo>
                  <a:pt x="492101" y="1248213"/>
                </a:moveTo>
                <a:lnTo>
                  <a:pt x="208040" y="1248213"/>
                </a:lnTo>
                <a:cubicBezTo>
                  <a:pt x="93143" y="1248213"/>
                  <a:pt x="0" y="1155070"/>
                  <a:pt x="0" y="1040173"/>
                </a:cubicBezTo>
                <a:lnTo>
                  <a:pt x="0" y="208040"/>
                </a:lnTo>
                <a:cubicBezTo>
                  <a:pt x="0" y="93143"/>
                  <a:pt x="93143" y="0"/>
                  <a:pt x="208040" y="0"/>
                </a:cubicBezTo>
                <a:lnTo>
                  <a:pt x="10327286" y="0"/>
                </a:lnTo>
                <a:cubicBezTo>
                  <a:pt x="10442183" y="0"/>
                  <a:pt x="10535326" y="93143"/>
                  <a:pt x="10535326" y="208040"/>
                </a:cubicBezTo>
                <a:lnTo>
                  <a:pt x="10535326" y="255317"/>
                </a:lnTo>
              </a:path>
            </a:pathLst>
          </a:custGeom>
          <a:noFill/>
          <a:ln w="41275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5683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3CEFCB-1C50-4541-B945-FA7318725068}"/>
              </a:ext>
            </a:extLst>
          </p:cNvPr>
          <p:cNvSpPr txBox="1">
            <a:spLocks/>
          </p:cNvSpPr>
          <p:nvPr/>
        </p:nvSpPr>
        <p:spPr>
          <a:xfrm>
            <a:off x="8404261" y="2681103"/>
            <a:ext cx="3071974" cy="149579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41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algn="r" rtl="1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AF38DC2-1C2E-74BD-0DF5-9872FFCB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جدول المصطلحات</a:t>
            </a:r>
            <a:br>
              <a:rPr lang="ar-SA" dirty="0"/>
            </a:b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97840D-8A7B-FD99-40FB-3413D367A8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C5C7D-0A59-80C6-77A2-09157FF5C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91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96DEFB-716C-428C-BBFC-A3B47DDF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dirty="0"/>
              <a:t>المصطلحات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B44A86-C35A-4918-8EC7-A00F22B2B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788615"/>
              </p:ext>
            </p:extLst>
          </p:nvPr>
        </p:nvGraphicFramePr>
        <p:xfrm>
          <a:off x="951726" y="1248738"/>
          <a:ext cx="10288548" cy="4360524"/>
        </p:xfrm>
        <a:graphic>
          <a:graphicData uri="http://schemas.openxmlformats.org/drawingml/2006/table">
            <a:tbl>
              <a:tblPr rtl="1" firstRow="1" bandRow="1"/>
              <a:tblGrid>
                <a:gridCol w="502464">
                  <a:extLst>
                    <a:ext uri="{9D8B030D-6E8A-4147-A177-3AD203B41FA5}">
                      <a16:colId xmlns:a16="http://schemas.microsoft.com/office/drawing/2014/main" val="4185963658"/>
                    </a:ext>
                  </a:extLst>
                </a:gridCol>
                <a:gridCol w="4270944">
                  <a:extLst>
                    <a:ext uri="{9D8B030D-6E8A-4147-A177-3AD203B41FA5}">
                      <a16:colId xmlns:a16="http://schemas.microsoft.com/office/drawing/2014/main" val="2362722719"/>
                    </a:ext>
                  </a:extLst>
                </a:gridCol>
                <a:gridCol w="5515140">
                  <a:extLst>
                    <a:ext uri="{9D8B030D-6E8A-4147-A177-3AD203B41FA5}">
                      <a16:colId xmlns:a16="http://schemas.microsoft.com/office/drawing/2014/main" val="4048230291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700" b="1" kern="1200" dirty="0">
                          <a:solidFill>
                            <a:srgbClr val="FFFFFF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#</a:t>
                      </a:r>
                      <a:endParaRPr lang="en-US" sz="1000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C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700" b="1" kern="1200" dirty="0">
                          <a:solidFill>
                            <a:srgbClr val="FFFFFF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الإختصار</a:t>
                      </a:r>
                      <a:endParaRPr lang="en-US" sz="1000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C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700" b="1" kern="1200" dirty="0">
                          <a:solidFill>
                            <a:srgbClr val="FFFFFF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المسمى باللغة العربية</a:t>
                      </a:r>
                      <a:endParaRPr lang="en-US" sz="1000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C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9856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1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App</a:t>
                      </a:r>
                      <a:endParaRPr lang="en-US" sz="1000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التطبيقات</a:t>
                      </a:r>
                      <a:r>
                        <a:rPr lang="en-US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 </a:t>
                      </a:r>
                      <a:endParaRPr lang="en-US" sz="900" b="1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04918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2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ATS</a:t>
                      </a:r>
                      <a:endParaRPr lang="en-US" sz="1000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كاميرا تكتيكية متقدمة</a:t>
                      </a:r>
                      <a:endParaRPr lang="en-US" sz="900" b="1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18539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3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CCTV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أنظمة مراقبة الكاميرات </a:t>
                      </a:r>
                      <a:endParaRPr lang="en-US" sz="1600" b="1" kern="12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48657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4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CMDB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قاعدة بيانات إدارة التكوين</a:t>
                      </a:r>
                      <a:endParaRPr lang="en-US" sz="900" b="1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91602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5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CR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طلب تغيير</a:t>
                      </a:r>
                      <a:endParaRPr lang="en-US" sz="900" b="1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52968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6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CSP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مزود الخدمات السحابية </a:t>
                      </a:r>
                      <a:r>
                        <a:rPr lang="ar-SA" sz="1600" b="1" kern="1200" dirty="0" err="1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مايكروس</a:t>
                      </a:r>
                      <a:r>
                        <a:rPr lang="ar-EG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وفت</a:t>
                      </a: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 إيجور – أمازون </a:t>
                      </a:r>
                      <a:r>
                        <a:rPr lang="en-US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AWS </a:t>
                      </a: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– سحابة قوقل  </a:t>
                      </a:r>
                      <a:endParaRPr lang="en-US" sz="1600" b="1" kern="12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5550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7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DB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قاعدة البيانات</a:t>
                      </a:r>
                      <a:endParaRPr lang="en-US" sz="900" b="1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02704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8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DC/DR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مركز البيانات / استعادة البيانات</a:t>
                      </a:r>
                      <a:endParaRPr lang="en-US" sz="900" b="1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03717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9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EA 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البنية</a:t>
                      </a: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 المؤسسية</a:t>
                      </a:r>
                      <a:endParaRPr lang="en-US" sz="900" b="1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01948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10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ERP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إدارة الموارد المؤسسية</a:t>
                      </a:r>
                      <a:endParaRPr lang="en-US" sz="900" b="1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78969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11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kern="120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ETL</a:t>
                      </a:r>
                      <a:endParaRPr lang="en-US" sz="100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kern="1200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إدارة البيانات </a:t>
                      </a:r>
                      <a:endParaRPr lang="en-US" sz="1600" b="1" kern="1200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5982" marR="5982" marT="5982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577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04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96DEFB-716C-428C-BBFC-A3B47DDF9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516" y="438676"/>
            <a:ext cx="10924155" cy="612001"/>
          </a:xfrm>
        </p:spPr>
        <p:txBody>
          <a:bodyPr/>
          <a:lstStyle/>
          <a:p>
            <a:pPr algn="r" rtl="1"/>
            <a:r>
              <a:rPr lang="ar-SA" dirty="0"/>
              <a:t>المصطلحات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551B5C-68D4-4F43-ACC2-00440F54C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54782"/>
              </p:ext>
            </p:extLst>
          </p:nvPr>
        </p:nvGraphicFramePr>
        <p:xfrm>
          <a:off x="951726" y="1248738"/>
          <a:ext cx="10288548" cy="4020977"/>
        </p:xfrm>
        <a:graphic>
          <a:graphicData uri="http://schemas.openxmlformats.org/drawingml/2006/table">
            <a:tbl>
              <a:tblPr rtl="1" firstRow="1" bandRow="1"/>
              <a:tblGrid>
                <a:gridCol w="502464">
                  <a:extLst>
                    <a:ext uri="{9D8B030D-6E8A-4147-A177-3AD203B41FA5}">
                      <a16:colId xmlns:a16="http://schemas.microsoft.com/office/drawing/2014/main" val="4185963658"/>
                    </a:ext>
                  </a:extLst>
                </a:gridCol>
                <a:gridCol w="4270944">
                  <a:extLst>
                    <a:ext uri="{9D8B030D-6E8A-4147-A177-3AD203B41FA5}">
                      <a16:colId xmlns:a16="http://schemas.microsoft.com/office/drawing/2014/main" val="2362722719"/>
                    </a:ext>
                  </a:extLst>
                </a:gridCol>
                <a:gridCol w="5515140">
                  <a:extLst>
                    <a:ext uri="{9D8B030D-6E8A-4147-A177-3AD203B41FA5}">
                      <a16:colId xmlns:a16="http://schemas.microsoft.com/office/drawing/2014/main" val="4048230291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700" b="1" kern="1200" dirty="0">
                          <a:solidFill>
                            <a:srgbClr val="FFFFFF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#</a:t>
                      </a:r>
                      <a:endParaRPr lang="en-US" sz="1000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C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700" b="1" kern="1200" dirty="0">
                          <a:solidFill>
                            <a:srgbClr val="FFFFFF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الإختصار</a:t>
                      </a:r>
                      <a:endParaRPr lang="en-US" sz="1000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C8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700" b="1" kern="1200" dirty="0">
                          <a:solidFill>
                            <a:srgbClr val="FFFFFF"/>
                          </a:solidFill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المسمى باللغة العربية</a:t>
                      </a:r>
                      <a:endParaRPr lang="en-US" sz="1000" dirty="0"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86137" marR="86137" marT="43068" marB="4306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C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9856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G-Cloud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السحابة الحكومية مركز المعلومات الوطني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04918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GEOS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نظام تشغيل بيئة الجرافيك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18539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HQ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المقر الرئيسي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48657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ITSM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IT Service Management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91602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LAN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الشبكة المحلية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52968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MCAD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التصميم بمساعدة الحاسوب 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5550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b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NIC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مركز المعلومات الوطني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03717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b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S2S VPN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الشبكة الظاهرية الخاصة من شبكة إلى شبكة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01948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b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S-Cloud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السحابة الآمنة مركز المعلومات الوطني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78969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rtl="1"/>
                      <a:r>
                        <a:rPr lang="en-US" b="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SSL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-SA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بروتوكول طبقة المقابس الآمنة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577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395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E544-818D-DE0E-C3D6-F6D9BDE7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EBB401-97D8-A028-AA35-B8B15101DC6A}"/>
              </a:ext>
            </a:extLst>
          </p:cNvPr>
          <p:cNvSpPr txBox="1">
            <a:spLocks/>
          </p:cNvSpPr>
          <p:nvPr/>
        </p:nvSpPr>
        <p:spPr>
          <a:xfrm>
            <a:off x="8404261" y="2681103"/>
            <a:ext cx="3071974" cy="149579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041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algn="r" rtl="1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C5D6A8-6060-BEC2-A4B7-06F2C613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>
                <a:cs typeface="+mj-cs"/>
              </a:rPr>
              <a:t/>
            </a:r>
            <a:br>
              <a:rPr lang="ar-EG" dirty="0">
                <a:cs typeface="+mj-cs"/>
              </a:rPr>
            </a:br>
            <a:r>
              <a:rPr lang="ar-EG" dirty="0">
                <a:cs typeface="+mj-cs"/>
              </a:rPr>
              <a:t>نظرة عامة على بنية التقنية</a:t>
            </a:r>
            <a:r>
              <a:rPr lang="ar-SA" dirty="0">
                <a:cs typeface="+mj-cs"/>
              </a:rPr>
              <a:t/>
            </a:r>
            <a:br>
              <a:rPr lang="ar-SA" dirty="0">
                <a:cs typeface="+mj-cs"/>
              </a:rPr>
            </a:br>
            <a:endParaRPr lang="en-US" dirty="0"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1DAA9-9916-C9EA-31CD-363CB93B3C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312A9-8635-CF6F-B549-44B6A7A74F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1.0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61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2CC2-4AF9-A775-4634-4C9FB68C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ar-EG" dirty="0"/>
              <a:t>نظرة عامة على البنية التحتية للهيئة والتصور المستقبلي لها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D526F1-B778-1362-09AA-13CAE7AF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77CBC251-389D-9179-669D-6068F44B5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1580147"/>
            <a:ext cx="4823177" cy="3943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8D7F8E-0D71-5379-AB94-B01877860C4B}"/>
              </a:ext>
            </a:extLst>
          </p:cNvPr>
          <p:cNvSpPr txBox="1"/>
          <p:nvPr/>
        </p:nvSpPr>
        <p:spPr>
          <a:xfrm>
            <a:off x="5558588" y="1219436"/>
            <a:ext cx="58413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buNone/>
            </a:pPr>
            <a:r>
              <a:rPr lang="ar-SA" sz="1200" b="1" dirty="0"/>
              <a:t>1️⃣ مركز البيانات الرئيسي - </a:t>
            </a:r>
            <a:r>
              <a:rPr lang="en-US" sz="1200" b="1" dirty="0"/>
              <a:t>Main DC Riyadh TW01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سيكون </a:t>
            </a:r>
            <a:r>
              <a:rPr lang="ar-SA" sz="1200" b="1" dirty="0"/>
              <a:t>العصب الرئيسي</a:t>
            </a:r>
            <a:r>
              <a:rPr lang="ar-SA" sz="1200" dirty="0"/>
              <a:t> لعمليات الهيئة، مع تطوير آليات الأتمتة والتحكم المركزي في كافة مراكز البيانات المرتبطة به.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سيتم </a:t>
            </a:r>
            <a:r>
              <a:rPr lang="ar-SA" sz="1200" b="1" dirty="0"/>
              <a:t>تعزيز الحوكمة</a:t>
            </a:r>
            <a:r>
              <a:rPr lang="ar-SA" sz="1200" dirty="0"/>
              <a:t> عبر إضافة تقنيات </a:t>
            </a:r>
            <a:r>
              <a:rPr lang="en-US" sz="1200" b="1" dirty="0"/>
              <a:t>SDN (Software-Defined Networking)</a:t>
            </a:r>
            <a:r>
              <a:rPr lang="en-US" sz="1200" dirty="0"/>
              <a:t> </a:t>
            </a:r>
            <a:r>
              <a:rPr lang="ar-SA" sz="1200" dirty="0"/>
              <a:t>لرفع كفاءة الإدارة الشبكية والحد من الأعطال.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التكامل مع تقنيات </a:t>
            </a:r>
            <a:r>
              <a:rPr lang="ar-SA" sz="1200" b="1" dirty="0"/>
              <a:t>الذكاء الاصطناعي</a:t>
            </a:r>
            <a:r>
              <a:rPr lang="en-US" sz="1200" b="1" dirty="0"/>
              <a:t> </a:t>
            </a:r>
            <a:r>
              <a:rPr lang="ar-SA" sz="1200" b="1" dirty="0"/>
              <a:t>والتحليلات المتقدمة</a:t>
            </a:r>
            <a:r>
              <a:rPr lang="ar-SA" sz="1200" dirty="0"/>
              <a:t> لمراقبة الأداء وتحسين استهلاك الموارد.</a:t>
            </a:r>
          </a:p>
          <a:p>
            <a:pPr algn="r" rtl="1">
              <a:buNone/>
            </a:pPr>
            <a:r>
              <a:rPr lang="ar-SA" sz="1200" b="1" dirty="0"/>
              <a:t>2️⃣ التوجيه الافتراضي - </a:t>
            </a:r>
            <a:r>
              <a:rPr lang="en-US" sz="1200" b="1" dirty="0"/>
              <a:t>VRF Virtual Routing and Forwarding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سيتم </a:t>
            </a:r>
            <a:r>
              <a:rPr lang="ar-SA" sz="1200" b="1" dirty="0"/>
              <a:t>تحسين قدرة التوجيه الافتراضي</a:t>
            </a:r>
            <a:r>
              <a:rPr lang="ar-SA" sz="1200" dirty="0"/>
              <a:t> بين مراكز البيانات عبر تطوير بيئات </a:t>
            </a:r>
            <a:r>
              <a:rPr lang="en-US" sz="1200" b="1" dirty="0"/>
              <a:t>VRF </a:t>
            </a:r>
            <a:r>
              <a:rPr lang="ar-SA" sz="1200" b="1" dirty="0"/>
              <a:t>متعددة الطبقات</a:t>
            </a:r>
            <a:r>
              <a:rPr lang="ar-SA" sz="1200" dirty="0"/>
              <a:t> لرفع مستوى الأمان والاستمرارية.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دعم </a:t>
            </a:r>
            <a:r>
              <a:rPr lang="ar-SA" sz="1200" b="1" dirty="0"/>
              <a:t>التوجيه التنبئي (</a:t>
            </a:r>
            <a:r>
              <a:rPr lang="en-US" sz="1200" b="1" dirty="0"/>
              <a:t>Predictive Routing)</a:t>
            </a:r>
            <a:r>
              <a:rPr lang="en-US" sz="1200" dirty="0"/>
              <a:t> </a:t>
            </a:r>
            <a:r>
              <a:rPr lang="ar-SA" sz="1200" dirty="0"/>
              <a:t>باستخدام التحليلات الذكية لتجنب الأعطال قبل حدوثها.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تنفيذ تقنيات </a:t>
            </a:r>
            <a:r>
              <a:rPr lang="en-US" sz="1200" b="1" dirty="0"/>
              <a:t>Zero Trust Network Architecture (ZTNA)</a:t>
            </a:r>
            <a:r>
              <a:rPr lang="en-US" sz="1200" dirty="0"/>
              <a:t> </a:t>
            </a:r>
            <a:r>
              <a:rPr lang="ar-SA" sz="1200" dirty="0"/>
              <a:t>لضمان أقصى درجات الأمان بين الروابط الشبكية.</a:t>
            </a:r>
          </a:p>
          <a:p>
            <a:pPr algn="r" rtl="1">
              <a:buNone/>
            </a:pPr>
            <a:r>
              <a:rPr lang="ar-SA" sz="1200" b="1" dirty="0"/>
              <a:t>3️⃣ الخدمات السحابية - </a:t>
            </a:r>
            <a:r>
              <a:rPr lang="en-US" sz="1200" b="1" dirty="0"/>
              <a:t>Deem Cloud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تعزيز الخدمات السحابية عبر </a:t>
            </a:r>
            <a:r>
              <a:rPr lang="ar-SA" sz="1200" b="1" dirty="0"/>
              <a:t>توسيع البنية التحتية</a:t>
            </a:r>
            <a:r>
              <a:rPr lang="ar-SA" sz="1200" dirty="0"/>
              <a:t> وإضافة </a:t>
            </a:r>
            <a:r>
              <a:rPr lang="ar-SA" sz="1200" b="1" dirty="0"/>
              <a:t>دعم </a:t>
            </a:r>
            <a:r>
              <a:rPr lang="en-US" sz="1200" b="1" dirty="0"/>
              <a:t>Kubernetes </a:t>
            </a:r>
            <a:r>
              <a:rPr lang="ar-SA" sz="1200" b="1" dirty="0"/>
              <a:t>و</a:t>
            </a:r>
            <a:r>
              <a:rPr lang="en-US" sz="1200" b="1" dirty="0"/>
              <a:t>Containers</a:t>
            </a:r>
            <a:r>
              <a:rPr lang="en-US" sz="1200" dirty="0"/>
              <a:t> </a:t>
            </a:r>
            <a:r>
              <a:rPr lang="ar-SA" sz="1200" dirty="0"/>
              <a:t>لتشغيل التطبيقات بكفاءة أكبر.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تطوير </a:t>
            </a:r>
            <a:r>
              <a:rPr lang="ar-SA" sz="1200" b="1" dirty="0"/>
              <a:t>نظام النسخ الاحتياطي الذكي</a:t>
            </a:r>
            <a:r>
              <a:rPr lang="ar-SA" sz="1200" dirty="0"/>
              <a:t> يعتمد على الذكاء الاصطناعي لتحديد الأولويات وضمان التعافي السريع عند الأزمات.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تكامل مع </a:t>
            </a:r>
            <a:r>
              <a:rPr lang="ar-SA" sz="1200" b="1" dirty="0"/>
              <a:t>الخدمات السحابية العالمية</a:t>
            </a:r>
            <a:r>
              <a:rPr lang="ar-SA" sz="1200" dirty="0"/>
              <a:t> لزيادة </a:t>
            </a:r>
            <a:r>
              <a:rPr lang="ar-SA" sz="1200" dirty="0" err="1"/>
              <a:t>التوافرية</a:t>
            </a:r>
            <a:r>
              <a:rPr lang="ar-SA" sz="1200" dirty="0"/>
              <a:t> وتقليل أزمنة الاستجابة.</a:t>
            </a:r>
          </a:p>
          <a:p>
            <a:pPr algn="r" rtl="1">
              <a:buNone/>
            </a:pPr>
            <a:r>
              <a:rPr lang="ar-SA" sz="1200" b="1" dirty="0"/>
              <a:t>4️⃣ مركز بيانات موبايلي - </a:t>
            </a:r>
            <a:r>
              <a:rPr lang="en-US" sz="1200" b="1" dirty="0"/>
              <a:t>Mobily DC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تحسين دوره كـ </a:t>
            </a:r>
            <a:r>
              <a:rPr lang="ar-SA" sz="1200" b="1" dirty="0"/>
              <a:t>مركز بيانات احتياطي </a:t>
            </a:r>
            <a:r>
              <a:rPr lang="en-US" sz="1200" b="1" dirty="0"/>
              <a:t>DR</a:t>
            </a:r>
            <a:r>
              <a:rPr lang="en-US" sz="1200" dirty="0"/>
              <a:t> </a:t>
            </a:r>
            <a:r>
              <a:rPr lang="ar-SA" sz="1200" dirty="0"/>
              <a:t>من خلال التكامل مع </a:t>
            </a:r>
            <a:r>
              <a:rPr lang="en-US" sz="1200" b="1" dirty="0"/>
              <a:t>Deem Cloud</a:t>
            </a:r>
            <a:r>
              <a:rPr lang="en-US" sz="1200" dirty="0"/>
              <a:t> </a:t>
            </a:r>
            <a:r>
              <a:rPr lang="ar-SA" sz="1200" dirty="0"/>
              <a:t>لضمان استعادة البيانات بسرعة أكبر.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رفع مستوى أمان </a:t>
            </a:r>
            <a:r>
              <a:rPr lang="ar-SA" sz="1200" b="1" dirty="0"/>
              <a:t>الاتصالات بين المراكز</a:t>
            </a:r>
            <a:r>
              <a:rPr lang="ar-SA" sz="1200" dirty="0"/>
              <a:t> باستخدام </a:t>
            </a:r>
            <a:r>
              <a:rPr lang="en-US" sz="1200" b="1" dirty="0"/>
              <a:t>VPN </a:t>
            </a:r>
            <a:r>
              <a:rPr lang="ar-SA" sz="1200" b="1" dirty="0"/>
              <a:t>مؤمن مع تشفير </a:t>
            </a:r>
            <a:r>
              <a:rPr lang="en-US" sz="1200" b="1" dirty="0"/>
              <a:t>AES-256</a:t>
            </a:r>
            <a:r>
              <a:rPr lang="en-US" sz="1200" dirty="0"/>
              <a:t> </a:t>
            </a:r>
            <a:r>
              <a:rPr lang="ar-SA" sz="1200" dirty="0"/>
              <a:t>لحماية البيانات أثناء النقل.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دعم الاتصال مع </a:t>
            </a:r>
            <a:r>
              <a:rPr lang="en-US" sz="1200" dirty="0"/>
              <a:t>Google Cloud </a:t>
            </a:r>
            <a:r>
              <a:rPr lang="ar-SA" sz="1200" dirty="0"/>
              <a:t>كحل إضافي لضمان مرونة التشغيل وعدم الاعتماد على جهة واحدة</a:t>
            </a:r>
            <a:endParaRPr lang="en-US" sz="12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b="1" dirty="0"/>
              <a:t>5️⃣ مركز بيانات ندى - </a:t>
            </a:r>
            <a:r>
              <a:rPr lang="en-US" sz="1200" b="1" dirty="0"/>
              <a:t>Nada DC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تعزيز كفاءته عبر </a:t>
            </a:r>
            <a:r>
              <a:rPr lang="ar-SA" sz="1200" b="1" dirty="0"/>
              <a:t>تحسين البنية التحتية للشبكات</a:t>
            </a:r>
            <a:r>
              <a:rPr lang="ar-SA" sz="1200" dirty="0"/>
              <a:t> من خلال تحديث أجهزة التوجيه والموزعات.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دعم </a:t>
            </a:r>
            <a:r>
              <a:rPr lang="ar-SA" sz="1200" b="1" dirty="0"/>
              <a:t>التحول الجزئي للسحابة</a:t>
            </a:r>
            <a:r>
              <a:rPr lang="ar-SA" sz="1200" dirty="0"/>
              <a:t> عبر التكامل التدريجي مع </a:t>
            </a:r>
            <a:r>
              <a:rPr lang="en-US" sz="1200" b="1" dirty="0"/>
              <a:t>Deem Cloud</a:t>
            </a:r>
            <a:r>
              <a:rPr lang="en-US" sz="1200" dirty="0"/>
              <a:t> </a:t>
            </a:r>
            <a:r>
              <a:rPr lang="ar-SA" sz="1200" dirty="0"/>
              <a:t>و </a:t>
            </a:r>
            <a:r>
              <a:rPr lang="en-US" sz="1200" dirty="0"/>
              <a:t>Google Cloud.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dirty="0"/>
              <a:t>تنفيذ </a:t>
            </a:r>
            <a:r>
              <a:rPr lang="ar-SA" sz="1200" b="1" dirty="0"/>
              <a:t>نظام مراقبة وتحليل الأداء الذكي</a:t>
            </a:r>
            <a:r>
              <a:rPr lang="ar-SA" sz="1200" dirty="0"/>
              <a:t> باستخدام أدوات مثل </a:t>
            </a:r>
            <a:r>
              <a:rPr lang="en-US" sz="1200" b="1" dirty="0"/>
              <a:t>ELK Stack </a:t>
            </a:r>
            <a:r>
              <a:rPr lang="ar-SA" sz="1200" b="1" dirty="0"/>
              <a:t>أو </a:t>
            </a:r>
            <a:r>
              <a:rPr lang="en-US" sz="1200" b="1" dirty="0"/>
              <a:t>Splunk</a:t>
            </a:r>
            <a:r>
              <a:rPr lang="en-US" sz="1200" dirty="0"/>
              <a:t> </a:t>
            </a:r>
            <a:r>
              <a:rPr lang="ar-SA" sz="1200" dirty="0"/>
              <a:t>لضمان تشغيل مستقر وخالٍ من الأعطال.</a:t>
            </a:r>
          </a:p>
          <a:p>
            <a:pPr algn="r" rtl="1">
              <a:buNone/>
            </a:pPr>
            <a:r>
              <a:rPr lang="ar-SA" sz="1200" b="1" dirty="0"/>
              <a:t>6️⃣ الخدمات السحابية الاحتياطية - </a:t>
            </a:r>
            <a:r>
              <a:rPr lang="en-US" sz="1200" b="1" dirty="0"/>
              <a:t>Google Cloud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b="1" dirty="0"/>
              <a:t>تعزيز الاعتماد عليها كمنصة احتياطية متقدمة عبر توسيع التكامل مع أنظمة الهيئة.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b="1" dirty="0"/>
              <a:t>تحسين آليات التخزين طويل الأمد والنسخ الاحتياطي باستخدام خدمات </a:t>
            </a:r>
            <a:r>
              <a:rPr lang="en-US" sz="1200" b="1" dirty="0"/>
              <a:t>Google </a:t>
            </a:r>
            <a:r>
              <a:rPr lang="ar-SA" sz="1200" b="1" dirty="0"/>
              <a:t>مثل </a:t>
            </a:r>
            <a:r>
              <a:rPr lang="en-US" sz="1200" b="1" dirty="0" err="1"/>
              <a:t>Coldline</a:t>
            </a:r>
            <a:r>
              <a:rPr lang="en-US" sz="1200" b="1" dirty="0"/>
              <a:t> </a:t>
            </a:r>
            <a:r>
              <a:rPr lang="ar-SA" sz="1200" b="1" dirty="0"/>
              <a:t>و</a:t>
            </a:r>
            <a:r>
              <a:rPr lang="en-US" sz="1200" b="1" dirty="0"/>
              <a:t>Nearline Storage.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200" b="1" dirty="0"/>
              <a:t>تنفيذ سياسات الأمان المتقدمة مثل </a:t>
            </a:r>
            <a:r>
              <a:rPr lang="en-US" sz="1200" b="1" dirty="0"/>
              <a:t>DDoS Protection </a:t>
            </a:r>
            <a:r>
              <a:rPr lang="ar-SA" sz="1200" b="1" dirty="0"/>
              <a:t>و </a:t>
            </a:r>
            <a:r>
              <a:rPr lang="en-US" sz="1200" b="1" dirty="0"/>
              <a:t>Cloud Armor </a:t>
            </a:r>
            <a:r>
              <a:rPr lang="ar-SA" sz="1200" b="1" dirty="0"/>
              <a:t>لضمان حماية البيانات والخدمات.</a:t>
            </a:r>
          </a:p>
        </p:txBody>
      </p:sp>
    </p:spTree>
    <p:extLst>
      <p:ext uri="{BB962C8B-B14F-4D97-AF65-F5344CB8AC3E}">
        <p14:creationId xmlns:p14="http://schemas.microsoft.com/office/powerpoint/2010/main" val="295729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F4A3E-64B7-22C7-B09E-FE1E3BC04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5CCF-9E91-3BCC-9F38-E1995741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ar-EG" dirty="0"/>
              <a:t>نظرة عامة على البنية التحتية للهيئة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BA3F3D-9CAD-D989-699C-85AD42FD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66FCB-18DC-6B36-FB51-F59D002E90A8}"/>
              </a:ext>
            </a:extLst>
          </p:cNvPr>
          <p:cNvSpPr txBox="1"/>
          <p:nvPr/>
        </p:nvSpPr>
        <p:spPr>
          <a:xfrm>
            <a:off x="4491789" y="1512302"/>
            <a:ext cx="685439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buNone/>
            </a:pPr>
            <a:r>
              <a:rPr lang="ar-SA" sz="1600" b="1" dirty="0"/>
              <a:t>1️⃣ التوسع الجغرافي والتغطية الشبكية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/>
              <a:t>تعتمد الهيئة على </a:t>
            </a:r>
            <a:r>
              <a:rPr lang="ar-SA" sz="1600" b="1" dirty="0"/>
              <a:t>بنية تحتية متكاملة</a:t>
            </a:r>
            <a:r>
              <a:rPr lang="ar-SA" sz="1600" dirty="0"/>
              <a:t> لربط جميع المراكز والفروع في مختلف مناطق المملكة، مما يعزز </a:t>
            </a:r>
            <a:r>
              <a:rPr lang="ar-SA" sz="1600" b="1" dirty="0"/>
              <a:t>استمرارية الخدمات وتحسين الأداء التشغيلي</a:t>
            </a:r>
            <a:r>
              <a:rPr lang="ar-SA" sz="1600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/>
              <a:t>يتم تعزيز الشبكة بتقنيات </a:t>
            </a:r>
            <a:r>
              <a:rPr lang="en-US" sz="1600" b="1" dirty="0"/>
              <a:t>SD-WAN</a:t>
            </a:r>
            <a:r>
              <a:rPr lang="en-US" sz="1600" dirty="0"/>
              <a:t> </a:t>
            </a:r>
            <a:r>
              <a:rPr lang="ar-SA" sz="1600" dirty="0"/>
              <a:t>لضمان </a:t>
            </a:r>
            <a:r>
              <a:rPr lang="ar-SA" sz="1600" b="1" dirty="0"/>
              <a:t>تحكم ذكي في الاتصال وإدارة فعالة للنطاق الترددي</a:t>
            </a:r>
            <a:r>
              <a:rPr lang="ar-SA" sz="1600" dirty="0"/>
              <a:t>، مما يحسن تجربة المستخدم.</a:t>
            </a:r>
          </a:p>
          <a:p>
            <a:pPr algn="r" rtl="1">
              <a:buNone/>
            </a:pPr>
            <a:r>
              <a:rPr lang="ar-SA" sz="1600" b="1" dirty="0"/>
              <a:t>2️⃣ تطوير الربط الشبكي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/>
              <a:t>سيتم الانتقال إلى </a:t>
            </a:r>
            <a:r>
              <a:rPr lang="ar-SA" sz="1600" b="1" dirty="0"/>
              <a:t>شبكة </a:t>
            </a:r>
            <a:r>
              <a:rPr lang="en-US" sz="1600" b="1" dirty="0"/>
              <a:t>VPN </a:t>
            </a:r>
            <a:r>
              <a:rPr lang="ar-SA" sz="1600" b="1" dirty="0"/>
              <a:t>هجينة</a:t>
            </a:r>
            <a:r>
              <a:rPr lang="ar-SA" sz="1600" dirty="0"/>
              <a:t> تشمل </a:t>
            </a:r>
            <a:r>
              <a:rPr lang="ar-SA" sz="1600" b="1" dirty="0"/>
              <a:t>الإنترنت وديم </a:t>
            </a:r>
            <a:r>
              <a:rPr lang="en-US" sz="1600" b="1" dirty="0"/>
              <a:t>VPN</a:t>
            </a:r>
            <a:r>
              <a:rPr lang="en-US" sz="1600" dirty="0"/>
              <a:t> </a:t>
            </a:r>
            <a:r>
              <a:rPr lang="ar-SA" sz="1600" dirty="0"/>
              <a:t>بالإضافة إلى </a:t>
            </a:r>
            <a:r>
              <a:rPr lang="ar-SA" sz="1600" b="1" dirty="0"/>
              <a:t>الربط المباشر عبر </a:t>
            </a:r>
            <a:r>
              <a:rPr lang="en-US" sz="1600" b="1" dirty="0"/>
              <a:t>MPLS</a:t>
            </a:r>
            <a:r>
              <a:rPr lang="en-US" sz="1600" dirty="0"/>
              <a:t> </a:t>
            </a:r>
            <a:r>
              <a:rPr lang="ar-SA" sz="1600" dirty="0"/>
              <a:t>للمواقع ذات الحساسية العالية.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/>
              <a:t>هذا التحول يضمن </a:t>
            </a:r>
            <a:r>
              <a:rPr lang="ar-SA" sz="1600" b="1" dirty="0"/>
              <a:t>سرعة واستقرار الاتصال</a:t>
            </a:r>
            <a:r>
              <a:rPr lang="ar-SA" sz="1600" dirty="0"/>
              <a:t> مع تقليل التأخير </a:t>
            </a:r>
            <a:r>
              <a:rPr lang="en-US" sz="1600" b="1" dirty="0"/>
              <a:t>Latency</a:t>
            </a:r>
            <a:r>
              <a:rPr lang="ar-SA" sz="1600" dirty="0"/>
              <a:t>وتحسين تدفق البيانات بين الفروع والمركز الرئيسي.</a:t>
            </a:r>
          </a:p>
          <a:p>
            <a:pPr algn="r" rtl="1">
              <a:buNone/>
            </a:pPr>
            <a:r>
              <a:rPr lang="ar-SA" sz="1600" b="1" dirty="0"/>
              <a:t>3️⃣ تحسين الأمان السيبراني في الاتصال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/>
              <a:t>تعزيز الحماية باستخدام </a:t>
            </a:r>
            <a:r>
              <a:rPr lang="ar-SA" sz="1600" b="1" dirty="0"/>
              <a:t>بروتوكولات تشفير متقدمة (</a:t>
            </a:r>
            <a:r>
              <a:rPr lang="en-US" sz="1600" b="1" dirty="0"/>
              <a:t>AES-256 </a:t>
            </a:r>
            <a:r>
              <a:rPr lang="ar-SA" sz="1600" b="1" dirty="0"/>
              <a:t>و </a:t>
            </a:r>
            <a:r>
              <a:rPr lang="en-US" sz="1600" b="1" dirty="0"/>
              <a:t>IPsec VPN)</a:t>
            </a:r>
            <a:r>
              <a:rPr lang="en-US" sz="1600" dirty="0"/>
              <a:t> </a:t>
            </a:r>
            <a:r>
              <a:rPr lang="ar-SA" sz="1600" dirty="0"/>
              <a:t>لضمان أمان البيانات أثناء النقل.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/>
              <a:t>تكامل تقنيات </a:t>
            </a:r>
            <a:r>
              <a:rPr lang="en-US" sz="1600" b="1" dirty="0"/>
              <a:t>Zero Trust Security</a:t>
            </a:r>
            <a:r>
              <a:rPr lang="en-US" sz="1600" dirty="0"/>
              <a:t> </a:t>
            </a:r>
            <a:r>
              <a:rPr lang="ar-SA" sz="1600" dirty="0"/>
              <a:t>لضمان </a:t>
            </a:r>
            <a:r>
              <a:rPr lang="ar-SA" sz="1600" b="1" dirty="0"/>
              <a:t>عدم وصول غير المصرح لهم إلى الشبكة</a:t>
            </a:r>
            <a:r>
              <a:rPr lang="ar-SA" sz="1600" dirty="0"/>
              <a:t>، مع تحسين آليات المصادقة.</a:t>
            </a:r>
          </a:p>
          <a:p>
            <a:pPr algn="r" rtl="1">
              <a:buNone/>
            </a:pPr>
            <a:r>
              <a:rPr lang="ar-SA" sz="1600" b="1" dirty="0"/>
              <a:t>4️⃣ رفع كفاءة التشغيل والاتصال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/>
              <a:t>دعم </a:t>
            </a:r>
            <a:r>
              <a:rPr lang="ar-SA" sz="1600" b="1" dirty="0"/>
              <a:t>التوجيه التلقائي لحركة البيانات </a:t>
            </a:r>
            <a:r>
              <a:rPr lang="en-US" sz="1600" b="1" dirty="0"/>
              <a:t>Dynamic Routing</a:t>
            </a:r>
            <a:r>
              <a:rPr lang="en-US" sz="1600" dirty="0"/>
              <a:t> </a:t>
            </a:r>
            <a:r>
              <a:rPr lang="ar-SA" sz="1600" dirty="0"/>
              <a:t>لضمان </a:t>
            </a:r>
            <a:r>
              <a:rPr lang="ar-SA" sz="1600" b="1" dirty="0"/>
              <a:t>استمرارية الخدمة حتى في حالات الأعطال</a:t>
            </a:r>
            <a:r>
              <a:rPr lang="ar-SA" sz="1600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dirty="0"/>
              <a:t>تقليل الضغط على الشبكة عبر </a:t>
            </a:r>
            <a:r>
              <a:rPr lang="ar-SA" sz="1600" b="1" dirty="0"/>
              <a:t>تقنيات التحميل المتوازن </a:t>
            </a:r>
            <a:r>
              <a:rPr lang="en-US" sz="1600" b="1" dirty="0"/>
              <a:t>Load Balancing</a:t>
            </a:r>
            <a:r>
              <a:rPr lang="en-US" sz="1600" dirty="0"/>
              <a:t> </a:t>
            </a:r>
            <a:r>
              <a:rPr lang="ar-SA" sz="1600" dirty="0"/>
              <a:t>لضمان </a:t>
            </a:r>
            <a:r>
              <a:rPr lang="ar-SA" sz="1600" b="1" dirty="0"/>
              <a:t>أداء ثابت وسريع للخدمات الإلكترونية</a:t>
            </a:r>
            <a:r>
              <a:rPr lang="ar-SA" sz="16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FCE4E5-6970-614F-B37A-6BF882F70270}"/>
              </a:ext>
            </a:extLst>
          </p:cNvPr>
          <p:cNvSpPr txBox="1"/>
          <p:nvPr/>
        </p:nvSpPr>
        <p:spPr>
          <a:xfrm>
            <a:off x="5996940" y="1073450"/>
            <a:ext cx="534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التغطية الجغرافية لمواقع الهيئة </a:t>
            </a:r>
            <a:endParaRPr lang="en-US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3" y="1774324"/>
            <a:ext cx="4440555" cy="375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1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A0D6C-D835-0786-D1B4-72B92E7C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A6CB-2C85-EC7D-E910-8045D95CE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977" y="617145"/>
            <a:ext cx="10924155" cy="612001"/>
          </a:xfrm>
        </p:spPr>
        <p:txBody>
          <a:bodyPr/>
          <a:lstStyle/>
          <a:p>
            <a:r>
              <a:rPr lang="ar-SA" dirty="0"/>
              <a:t>قدرات البنية  التقنية التحتية </a:t>
            </a:r>
            <a:r>
              <a:rPr lang="ar-EG" dirty="0"/>
              <a:t>المستقبلية </a:t>
            </a:r>
            <a:r>
              <a:rPr lang="ar-SA" dirty="0"/>
              <a:t>في الهيئة</a:t>
            </a:r>
            <a:br>
              <a:rPr lang="ar-SA" dirty="0"/>
            </a:br>
            <a:endParaRPr lang="en-GB" dirty="0"/>
          </a:p>
        </p:txBody>
      </p:sp>
      <p:sp>
        <p:nvSpPr>
          <p:cNvPr id="36" name="Text Placeholder 46">
            <a:extLst>
              <a:ext uri="{FF2B5EF4-FFF2-40B4-BE49-F238E27FC236}">
                <a16:creationId xmlns:a16="http://schemas.microsoft.com/office/drawing/2014/main" id="{1AA147D4-C67B-1A37-2DF7-64DBC9535664}"/>
              </a:ext>
            </a:extLst>
          </p:cNvPr>
          <p:cNvSpPr txBox="1">
            <a:spLocks/>
          </p:cNvSpPr>
          <p:nvPr/>
        </p:nvSpPr>
        <p:spPr>
          <a:xfrm>
            <a:off x="520634" y="749227"/>
            <a:ext cx="10924155" cy="60101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004133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004133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004133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004133"/>
              </a:buClr>
              <a:buFont typeface="Arial" panose="020B0604020202020204" pitchFamily="34" charset="0"/>
              <a:buChar char="​"/>
              <a:defRPr lang="en-US" sz="2400" kern="1200">
                <a:solidFill>
                  <a:srgbClr val="004133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4133"/>
              </a:buClr>
              <a:buFont typeface="Arial" panose="020B0604020202020204" pitchFamily="34" charset="0"/>
              <a:buChar char="​"/>
              <a:defRPr lang="en-US" sz="24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4133"/>
              </a:buClr>
              <a:buFont typeface="Arial" panose="020B0604020202020204" pitchFamily="34" charset="0"/>
              <a:buChar char="•"/>
              <a:defRPr lang="en-US" sz="24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004133"/>
              </a:buClr>
              <a:buFont typeface="Arial" panose="020B0604020202020204" pitchFamily="34" charset="0"/>
              <a:buChar char="​"/>
              <a:defRPr lang="en-US" sz="5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+mn-lt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4133"/>
              </a:buClr>
              <a:buFont typeface="Arial" panose="020B0604020202020204" pitchFamily="34" charset="0"/>
              <a:buChar char="​"/>
              <a:defRPr lang="en-US" sz="6600" kern="1200" baseline="0" smtClean="0">
                <a:solidFill>
                  <a:srgbClr val="004133"/>
                </a:solidFill>
                <a:latin typeface="+mn-lt"/>
                <a:ea typeface="+mn-ea"/>
                <a:cs typeface="+mn-cs"/>
                <a:sym typeface="+mn-lt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004133"/>
              </a:buClr>
              <a:buFont typeface="Arial" panose="020B0604020202020204" pitchFamily="34" charset="0"/>
              <a:buChar char="​"/>
              <a:defRPr lang="en-US" sz="3200" kern="1200" baseline="0" dirty="0">
                <a:solidFill>
                  <a:srgbClr val="004133"/>
                </a:solidFill>
                <a:latin typeface="+mn-lt"/>
                <a:ea typeface="+mn-ea"/>
                <a:cs typeface="+mn-cs"/>
                <a:sym typeface="+mn-lt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004133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/>
              <a:ea typeface="+mn-ea"/>
              <a:cs typeface="+mn-cs"/>
              <a:sym typeface="+mn-lt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4D69EAC-9A44-58E7-7184-DFC00A9E14E7}"/>
              </a:ext>
            </a:extLst>
          </p:cNvPr>
          <p:cNvSpPr/>
          <p:nvPr/>
        </p:nvSpPr>
        <p:spPr>
          <a:xfrm flipH="1">
            <a:off x="4112626" y="2203810"/>
            <a:ext cx="7308774" cy="710006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rgbClr val="0041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الشبكات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E23024E-BC7B-AFEA-8740-BAD5BC0B2ACC}"/>
              </a:ext>
            </a:extLst>
          </p:cNvPr>
          <p:cNvSpPr/>
          <p:nvPr/>
        </p:nvSpPr>
        <p:spPr>
          <a:xfrm flipH="1">
            <a:off x="4146308" y="1229146"/>
            <a:ext cx="7301126" cy="796930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rgbClr val="0041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الحوسبة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CD0F633-46E6-79A2-E453-EE46AF4FB639}"/>
              </a:ext>
            </a:extLst>
          </p:cNvPr>
          <p:cNvSpPr/>
          <p:nvPr/>
        </p:nvSpPr>
        <p:spPr>
          <a:xfrm flipH="1">
            <a:off x="4125032" y="3090904"/>
            <a:ext cx="7303939" cy="466429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rgbClr val="0041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التخزين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DFF7D54-96AB-95BA-A6F1-686FC2654551}"/>
              </a:ext>
            </a:extLst>
          </p:cNvPr>
          <p:cNvSpPr/>
          <p:nvPr/>
        </p:nvSpPr>
        <p:spPr>
          <a:xfrm flipH="1">
            <a:off x="4095537" y="3722126"/>
            <a:ext cx="7301126" cy="564530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rgbClr val="0041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defRPr/>
            </a:pPr>
            <a:r>
              <a:rPr lang="ar-EG" sz="160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النهاية</a:t>
            </a:r>
            <a:endParaRPr lang="en-US" sz="1600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6A6875B-DFC2-B0D3-2E69-E7419461B2AE}"/>
              </a:ext>
            </a:extLst>
          </p:cNvPr>
          <p:cNvSpPr/>
          <p:nvPr/>
        </p:nvSpPr>
        <p:spPr>
          <a:xfrm flipH="1">
            <a:off x="4100195" y="4447760"/>
            <a:ext cx="7257592" cy="560065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rgbClr val="0041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مرافق مركز البيانات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2471309-8B7F-41E4-59A2-3E8A964E7728}"/>
              </a:ext>
            </a:extLst>
          </p:cNvPr>
          <p:cNvSpPr/>
          <p:nvPr/>
        </p:nvSpPr>
        <p:spPr>
          <a:xfrm flipH="1">
            <a:off x="1953224" y="1179371"/>
            <a:ext cx="2081626" cy="4929402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rgbClr val="0041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1"/>
            <a:endParaRPr lang="en-US" sz="1600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B7ACFC-F3BD-7893-9BD4-0B194F14A975}"/>
              </a:ext>
            </a:extLst>
          </p:cNvPr>
          <p:cNvSpPr txBox="1"/>
          <p:nvPr/>
        </p:nvSpPr>
        <p:spPr>
          <a:xfrm flipH="1">
            <a:off x="2431854" y="1168204"/>
            <a:ext cx="1187069" cy="44791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ar-SA" sz="1200" b="1" dirty="0">
                <a:solidFill>
                  <a:schemeClr val="accent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إدارة البنية التحتية ومراقبتها</a:t>
            </a:r>
            <a:endParaRPr lang="en-US" sz="1200" b="1" dirty="0">
              <a:solidFill>
                <a:schemeClr val="accent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6670E85-07D3-A350-C144-434367992804}"/>
              </a:ext>
            </a:extLst>
          </p:cNvPr>
          <p:cNvSpPr/>
          <p:nvPr/>
        </p:nvSpPr>
        <p:spPr>
          <a:xfrm flipH="1">
            <a:off x="608650" y="1168963"/>
            <a:ext cx="1297979" cy="4939810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rgbClr val="0041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75531E-6C26-75BA-7BA5-9CD797D2FC81}"/>
              </a:ext>
            </a:extLst>
          </p:cNvPr>
          <p:cNvSpPr txBox="1"/>
          <p:nvPr/>
        </p:nvSpPr>
        <p:spPr>
          <a:xfrm flipH="1">
            <a:off x="904995" y="1256109"/>
            <a:ext cx="1187069" cy="226231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الأمن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F4B9BE-5299-B507-8511-9AC2B1941D69}"/>
              </a:ext>
            </a:extLst>
          </p:cNvPr>
          <p:cNvSpPr/>
          <p:nvPr/>
        </p:nvSpPr>
        <p:spPr>
          <a:xfrm flipH="1">
            <a:off x="9720934" y="2367654"/>
            <a:ext cx="875165" cy="413706"/>
          </a:xfrm>
          <a:prstGeom prst="rect">
            <a:avLst/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الشبكات المعرفة بالبرمجيات </a:t>
            </a:r>
            <a:r>
              <a:rPr lang="en-US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SDN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F1F576A-7A75-25A2-DEE1-DBDD7E83714F}"/>
              </a:ext>
            </a:extLst>
          </p:cNvPr>
          <p:cNvSpPr/>
          <p:nvPr/>
        </p:nvSpPr>
        <p:spPr>
          <a:xfrm flipH="1">
            <a:off x="8633019" y="2367653"/>
            <a:ext cx="916190" cy="413707"/>
          </a:xfrm>
          <a:prstGeom prst="rect">
            <a:avLst/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SD-WAN </a:t>
            </a:r>
            <a:r>
              <a:rPr lang="ar-SA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و5</a:t>
            </a:r>
            <a:r>
              <a:rPr lang="en-US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EE030BD-D64C-83DD-661A-4389A32ACF8A}"/>
              </a:ext>
            </a:extLst>
          </p:cNvPr>
          <p:cNvSpPr/>
          <p:nvPr/>
        </p:nvSpPr>
        <p:spPr>
          <a:xfrm flipH="1">
            <a:off x="7618243" y="2360642"/>
            <a:ext cx="916190" cy="420719"/>
          </a:xfrm>
          <a:prstGeom prst="rect">
            <a:avLst/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روابط الإتصال </a:t>
            </a:r>
            <a:endParaRPr lang="en-US" sz="900" dirty="0">
              <a:solidFill>
                <a:srgbClr val="07080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DCC5619-11C2-9C47-5052-63594F9C7E97}"/>
              </a:ext>
            </a:extLst>
          </p:cNvPr>
          <p:cNvSpPr/>
          <p:nvPr/>
        </p:nvSpPr>
        <p:spPr>
          <a:xfrm flipH="1">
            <a:off x="4472700" y="2403152"/>
            <a:ext cx="872600" cy="401347"/>
          </a:xfrm>
          <a:prstGeom prst="rect">
            <a:avLst/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اتصالات سحابية موحدة</a:t>
            </a:r>
            <a:endParaRPr lang="en-US" sz="900" dirty="0">
              <a:solidFill>
                <a:srgbClr val="07080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2764B7F-A8BF-3B6A-52DF-1016D5F09B5B}"/>
              </a:ext>
            </a:extLst>
          </p:cNvPr>
          <p:cNvSpPr/>
          <p:nvPr/>
        </p:nvSpPr>
        <p:spPr>
          <a:xfrm flipH="1">
            <a:off x="5487474" y="2415068"/>
            <a:ext cx="872600" cy="383610"/>
          </a:xfrm>
          <a:prstGeom prst="rect">
            <a:avLst/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EG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موزعات</a:t>
            </a:r>
            <a:endParaRPr lang="en-US" sz="900" dirty="0">
              <a:solidFill>
                <a:srgbClr val="07080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FB61337-D0FD-7BCB-3611-7C27221DC4BE}"/>
              </a:ext>
            </a:extLst>
          </p:cNvPr>
          <p:cNvSpPr/>
          <p:nvPr/>
        </p:nvSpPr>
        <p:spPr>
          <a:xfrm flipH="1">
            <a:off x="9060552" y="3163156"/>
            <a:ext cx="1535547" cy="277105"/>
          </a:xfrm>
          <a:prstGeom prst="rect">
            <a:avLst/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التخزين اللامركزي</a:t>
            </a:r>
            <a:endParaRPr lang="en-US" sz="800" dirty="0">
              <a:solidFill>
                <a:srgbClr val="07080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CDC8818-8C3A-0BF3-7854-AE3745D9F6E8}"/>
              </a:ext>
            </a:extLst>
          </p:cNvPr>
          <p:cNvSpPr/>
          <p:nvPr/>
        </p:nvSpPr>
        <p:spPr>
          <a:xfrm flipH="1">
            <a:off x="4117986" y="5237397"/>
            <a:ext cx="7206199" cy="865598"/>
          </a:xfrm>
          <a:prstGeom prst="rect">
            <a:avLst/>
          </a:prstGeom>
          <a:solidFill>
            <a:schemeClr val="bg1"/>
          </a:solidFill>
          <a:ln w="9525" cap="rnd" cmpd="sng" algn="ctr">
            <a:solidFill>
              <a:srgbClr val="0041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خدمات البنية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/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r>
              <a:rPr kumimoji="0" lang="ar-S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 التحتية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807DB-7CE7-E52C-551E-05AD467B97B5}"/>
              </a:ext>
            </a:extLst>
          </p:cNvPr>
          <p:cNvSpPr/>
          <p:nvPr/>
        </p:nvSpPr>
        <p:spPr>
          <a:xfrm flipH="1">
            <a:off x="5428229" y="1341631"/>
            <a:ext cx="1108964" cy="467023"/>
          </a:xfrm>
          <a:prstGeom prst="rect">
            <a:avLst/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EG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</a:t>
            </a:r>
            <a:r>
              <a:rPr lang="ar-SA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لحوسبة السحابية والحاويات</a:t>
            </a:r>
            <a:endParaRPr lang="en-US" sz="900" dirty="0">
              <a:solidFill>
                <a:srgbClr val="07080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BC6C56-0321-D403-0F50-D83C552A72D4}"/>
              </a:ext>
            </a:extLst>
          </p:cNvPr>
          <p:cNvSpPr/>
          <p:nvPr/>
        </p:nvSpPr>
        <p:spPr>
          <a:xfrm flipH="1">
            <a:off x="8341553" y="1344244"/>
            <a:ext cx="1108964" cy="482600"/>
          </a:xfrm>
          <a:prstGeom prst="rect">
            <a:avLst/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 machines</a:t>
            </a:r>
          </a:p>
        </p:txBody>
      </p:sp>
      <p:sp>
        <p:nvSpPr>
          <p:cNvPr id="8" name="Rectangle: Rounded Corners 41">
            <a:extLst>
              <a:ext uri="{FF2B5EF4-FFF2-40B4-BE49-F238E27FC236}">
                <a16:creationId xmlns:a16="http://schemas.microsoft.com/office/drawing/2014/main" id="{635F2D20-6BE7-9572-C1B7-4F6D2FE8B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735" y="1334870"/>
            <a:ext cx="1483404" cy="460882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90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الحوسبة </a:t>
            </a:r>
            <a:r>
              <a:rPr lang="ar-SA" altLang="en-US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بدون خوادم</a:t>
            </a:r>
            <a:endParaRPr lang="en-US" altLang="en-US" sz="900" dirty="0">
              <a:solidFill>
                <a:srgbClr val="07080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41">
            <a:extLst>
              <a:ext uri="{FF2B5EF4-FFF2-40B4-BE49-F238E27FC236}">
                <a16:creationId xmlns:a16="http://schemas.microsoft.com/office/drawing/2014/main" id="{12C6039A-BDBE-F2EF-19C7-EB5546FA9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4778" y="3146662"/>
            <a:ext cx="1485901" cy="348057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النسخ الاحتياطي المنفصل عن الشبكة</a:t>
            </a:r>
          </a:p>
        </p:txBody>
      </p:sp>
      <p:sp>
        <p:nvSpPr>
          <p:cNvPr id="16" name="Rectangle: Rounded Corners 41">
            <a:extLst>
              <a:ext uri="{FF2B5EF4-FFF2-40B4-BE49-F238E27FC236}">
                <a16:creationId xmlns:a16="http://schemas.microsoft.com/office/drawing/2014/main" id="{3F06DCBC-AF5A-05EC-ED24-44618122F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680" y="3148704"/>
            <a:ext cx="1485901" cy="348057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9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النسخ الاحتياطي الذكي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: Rounded Corners 41">
            <a:extLst>
              <a:ext uri="{FF2B5EF4-FFF2-40B4-BE49-F238E27FC236}">
                <a16:creationId xmlns:a16="http://schemas.microsoft.com/office/drawing/2014/main" id="{10A68862-8B1E-F953-D2FD-003DB4A67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206" y="3142084"/>
            <a:ext cx="1485901" cy="348057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9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شبكة مساحة التخزين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Storage Area Network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: Rounded Corners 41">
            <a:extLst>
              <a:ext uri="{FF2B5EF4-FFF2-40B4-BE49-F238E27FC236}">
                <a16:creationId xmlns:a16="http://schemas.microsoft.com/office/drawing/2014/main" id="{1464F538-DA4A-F24C-1A25-EABE7D251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6410" y="3830082"/>
            <a:ext cx="1468924" cy="338139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0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الحوسبة السحابية للأجهزة الافتراضية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: Rounded Corners 41">
            <a:extLst>
              <a:ext uri="{FF2B5EF4-FFF2-40B4-BE49-F238E27FC236}">
                <a16:creationId xmlns:a16="http://schemas.microsoft.com/office/drawing/2014/main" id="{F37D8AA3-ACB8-7277-2D19-FE3F0952B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0134" y="3816961"/>
            <a:ext cx="1462476" cy="33813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أنظمة تشغيل محطة المستخدم</a:t>
            </a:r>
            <a:endParaRPr kumimoji="0" lang="ar-SA" altLang="en-US" sz="9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Workstation O.S.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: Rounded Corners 41">
            <a:extLst>
              <a:ext uri="{FF2B5EF4-FFF2-40B4-BE49-F238E27FC236}">
                <a16:creationId xmlns:a16="http://schemas.microsoft.com/office/drawing/2014/main" id="{41C4844B-E896-A8E5-86FC-DC6795351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955" y="3809616"/>
            <a:ext cx="1462476" cy="33813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أنظمة تشغيل محطة المستخدم</a:t>
            </a:r>
            <a:endParaRPr kumimoji="0" lang="ar-SA" altLang="en-US" sz="9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Workstation O.S.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: Rounded Corners 41">
            <a:extLst>
              <a:ext uri="{FF2B5EF4-FFF2-40B4-BE49-F238E27FC236}">
                <a16:creationId xmlns:a16="http://schemas.microsoft.com/office/drawing/2014/main" id="{BEB89A47-16FD-04DA-7216-357236988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4467" y="3810412"/>
            <a:ext cx="1462476" cy="33813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10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طرفيات المستخدم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Peripherals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: Rounded Corners 41">
            <a:extLst>
              <a:ext uri="{FF2B5EF4-FFF2-40B4-BE49-F238E27FC236}">
                <a16:creationId xmlns:a16="http://schemas.microsoft.com/office/drawing/2014/main" id="{8974C234-8ED8-ECDB-4D6C-D7D78B60A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3952" y="4562858"/>
            <a:ext cx="1046878" cy="337493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مخطط مركز البيانات</a:t>
            </a:r>
            <a:endParaRPr kumimoji="0" lang="ar-SA" altLang="en-US" sz="8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Center Layout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: Rounded Corners 41">
            <a:extLst>
              <a:ext uri="{FF2B5EF4-FFF2-40B4-BE49-F238E27FC236}">
                <a16:creationId xmlns:a16="http://schemas.microsoft.com/office/drawing/2014/main" id="{06ED5D7E-5B4F-1E38-5C7E-7B0E8EB0E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583" y="4567834"/>
            <a:ext cx="1041254" cy="340106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التزويد الكهربائي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Power Supply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: Rounded Corners 41">
            <a:extLst>
              <a:ext uri="{FF2B5EF4-FFF2-40B4-BE49-F238E27FC236}">
                <a16:creationId xmlns:a16="http://schemas.microsoft.com/office/drawing/2014/main" id="{F733FF75-1630-05EE-6C62-00B9BBDAC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246" y="4560245"/>
            <a:ext cx="1077750" cy="340106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التبريد السائل لمراكز البيانات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Rectangle: Rounded Corners 41">
            <a:extLst>
              <a:ext uri="{FF2B5EF4-FFF2-40B4-BE49-F238E27FC236}">
                <a16:creationId xmlns:a16="http://schemas.microsoft.com/office/drawing/2014/main" id="{CA74C7DD-6380-4456-CF47-0B79158CE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8250" y="4562858"/>
            <a:ext cx="1077750" cy="337493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مراكز البيانات السحابية الذكية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: Rounded Corners 41">
            <a:extLst>
              <a:ext uri="{FF2B5EF4-FFF2-40B4-BE49-F238E27FC236}">
                <a16:creationId xmlns:a16="http://schemas.microsoft.com/office/drawing/2014/main" id="{F579807F-06F6-0744-CF99-46219F58F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2315" y="5306034"/>
            <a:ext cx="1269258" cy="29087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ترجمة اسم النطاق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 Name Resolution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: Rounded Corners 41">
            <a:extLst>
              <a:ext uri="{FF2B5EF4-FFF2-40B4-BE49-F238E27FC236}">
                <a16:creationId xmlns:a16="http://schemas.microsoft.com/office/drawing/2014/main" id="{2F722436-344E-277B-4465-22D9143CB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437" y="5285568"/>
            <a:ext cx="971725" cy="33813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التحكم في النطاق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Domain Controller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Rectangle: Rounded Corners 41">
            <a:extLst>
              <a:ext uri="{FF2B5EF4-FFF2-40B4-BE49-F238E27FC236}">
                <a16:creationId xmlns:a16="http://schemas.microsoft.com/office/drawing/2014/main" id="{0888674B-CFEE-4485-5805-6D45BE59C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050" y="5317870"/>
            <a:ext cx="1376591" cy="279044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الاتصال الصوتي والمرئي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Voice &amp; Video Calling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Rectangle: Rounded Corners 41">
            <a:extLst>
              <a:ext uri="{FF2B5EF4-FFF2-40B4-BE49-F238E27FC236}">
                <a16:creationId xmlns:a16="http://schemas.microsoft.com/office/drawing/2014/main" id="{D96380B0-5FB1-91A3-BCCD-910B7616E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683" y="5331177"/>
            <a:ext cx="1143865" cy="292530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منصات التعاون السحابية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: Rounded Corners 41">
            <a:extLst>
              <a:ext uri="{FF2B5EF4-FFF2-40B4-BE49-F238E27FC236}">
                <a16:creationId xmlns:a16="http://schemas.microsoft.com/office/drawing/2014/main" id="{DD1E5DCC-96DA-FA67-4296-C8829623F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662" y="5646862"/>
            <a:ext cx="1376591" cy="279045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بوابة الرسائل النصية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SMS Gateway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: Rounded Corners 41">
            <a:extLst>
              <a:ext uri="{FF2B5EF4-FFF2-40B4-BE49-F238E27FC236}">
                <a16:creationId xmlns:a16="http://schemas.microsoft.com/office/drawing/2014/main" id="{34671E17-6606-59DF-4E98-C21C333B7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0826" y="5650434"/>
            <a:ext cx="1240083" cy="279045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10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البريد الالكتروني</a:t>
            </a:r>
            <a:endParaRPr kumimoji="0" lang="ar-SA" altLang="en-US" sz="10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Email Services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: Rounded Corners 41">
            <a:extLst>
              <a:ext uri="{FF2B5EF4-FFF2-40B4-BE49-F238E27FC236}">
                <a16:creationId xmlns:a16="http://schemas.microsoft.com/office/drawing/2014/main" id="{6D57FDD5-0C5D-8846-14BB-46AAC01FF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018" y="5650434"/>
            <a:ext cx="1385077" cy="279045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مزامنة وقت الشبكة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Time Sync.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4057249-C802-4866-F15B-F29B6B4CA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2705" y="1678216"/>
            <a:ext cx="874047" cy="67090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7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مراقبة أداء </a:t>
            </a:r>
            <a:r>
              <a:rPr lang="ar-SA" altLang="en-US" sz="700" dirty="0" err="1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وتوافرية</a:t>
            </a:r>
            <a:r>
              <a:rPr lang="ar-SA" altLang="en-US" sz="7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البنية التحتية</a:t>
            </a:r>
            <a:endParaRPr kumimoji="0" lang="ar-SA" altLang="en-US" sz="7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Infrastructure Performance &amp; Availability Monitoring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: Rounded Corners 41">
            <a:extLst>
              <a:ext uri="{FF2B5EF4-FFF2-40B4-BE49-F238E27FC236}">
                <a16:creationId xmlns:a16="http://schemas.microsoft.com/office/drawing/2014/main" id="{98720B1B-528D-9E49-AB05-2EA6DBBFA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4763" y="2210292"/>
            <a:ext cx="962518" cy="354403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مراقبة أداء التطبيقات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Performance  Monitoring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: Rounded Corners 41">
            <a:extLst>
              <a:ext uri="{FF2B5EF4-FFF2-40B4-BE49-F238E27FC236}">
                <a16:creationId xmlns:a16="http://schemas.microsoft.com/office/drawing/2014/main" id="{375DB4F0-B6E6-7E42-F2BE-E6679092D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9084" y="2499521"/>
            <a:ext cx="874046" cy="304978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7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أتمتة التصحيح الذكي 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Automated Patch Remediation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: Rounded Corners 41">
            <a:extLst>
              <a:ext uri="{FF2B5EF4-FFF2-40B4-BE49-F238E27FC236}">
                <a16:creationId xmlns:a16="http://schemas.microsoft.com/office/drawing/2014/main" id="{38CCE49C-CBF7-41E7-EEA2-8159C91FF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048" y="3082206"/>
            <a:ext cx="874045" cy="482434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6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إدارة تحديثات وتكوينات نقاط النهاية</a:t>
            </a:r>
            <a:endParaRPr kumimoji="0" lang="ar-SA" altLang="en-US" sz="6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Endpoints Patches &amp; Configuration Management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: Rounded Corners 41">
            <a:extLst>
              <a:ext uri="{FF2B5EF4-FFF2-40B4-BE49-F238E27FC236}">
                <a16:creationId xmlns:a16="http://schemas.microsoft.com/office/drawing/2014/main" id="{D5B1F827-B82D-4178-4580-C72C74650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048" y="3722126"/>
            <a:ext cx="874045" cy="661933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المراقبة الاستباقية للأداء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Proactive Performance Monitoring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: Rounded Corners 41">
            <a:extLst>
              <a:ext uri="{FF2B5EF4-FFF2-40B4-BE49-F238E27FC236}">
                <a16:creationId xmlns:a16="http://schemas.microsoft.com/office/drawing/2014/main" id="{21AE1D73-7494-5948-56FC-BF3FBA133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856" y="4495992"/>
            <a:ext cx="874045" cy="511834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تحسين الأداء </a:t>
            </a:r>
            <a:r>
              <a:rPr lang="ar-SA" altLang="en-US" sz="800" dirty="0" err="1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السحابي</a:t>
            </a:r>
            <a:r>
              <a:rPr lang="ar-SA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 Performance Optimization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: Rounded Corners 41">
            <a:extLst>
              <a:ext uri="{FF2B5EF4-FFF2-40B4-BE49-F238E27FC236}">
                <a16:creationId xmlns:a16="http://schemas.microsoft.com/office/drawing/2014/main" id="{6144AC17-3F43-3138-D6A4-C2139BD13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912" y="5144200"/>
            <a:ext cx="885630" cy="479507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إدارة التعافي من الكوارث</a:t>
            </a:r>
            <a:endParaRPr kumimoji="0" lang="ar-SA" altLang="en-US" sz="8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Disaster Recovery Management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: Rounded Corners 41">
            <a:extLst>
              <a:ext uri="{FF2B5EF4-FFF2-40B4-BE49-F238E27FC236}">
                <a16:creationId xmlns:a16="http://schemas.microsoft.com/office/drawing/2014/main" id="{1696985E-4786-E16B-15A4-6E41F2309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198" y="4581073"/>
            <a:ext cx="925947" cy="477040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مراكز بيانات خضراء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Green Data Centers - Sustainable IT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: Rounded Corners 41">
            <a:extLst>
              <a:ext uri="{FF2B5EF4-FFF2-40B4-BE49-F238E27FC236}">
                <a16:creationId xmlns:a16="http://schemas.microsoft.com/office/drawing/2014/main" id="{889DA603-A134-D2BA-6301-31B98D664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301" y="4083674"/>
            <a:ext cx="985911" cy="309530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إدارة التغييرات التقنية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Changes Management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: Rounded Corners 41">
            <a:extLst>
              <a:ext uri="{FF2B5EF4-FFF2-40B4-BE49-F238E27FC236}">
                <a16:creationId xmlns:a16="http://schemas.microsoft.com/office/drawing/2014/main" id="{263AF3A8-D6A9-5A3F-C35E-6361A73BE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7774" y="3543669"/>
            <a:ext cx="948064" cy="40812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7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مركز العمليات الأمنية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Cyber </a:t>
            </a:r>
            <a:endParaRPr kumimoji="0" lang="ar-SA" altLang="en-US" sz="7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Operation Center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Rectangle: Rounded Corners 41">
            <a:extLst>
              <a:ext uri="{FF2B5EF4-FFF2-40B4-BE49-F238E27FC236}">
                <a16:creationId xmlns:a16="http://schemas.microsoft.com/office/drawing/2014/main" id="{5B23855B-7ABB-D15E-3B2E-2FEC6497C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064" y="1656089"/>
            <a:ext cx="905216" cy="373824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7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إدارة الثغرات الأمنية</a:t>
            </a:r>
            <a:r>
              <a:rPr lang="en-US" altLang="en-US" sz="7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-cyber </a:t>
            </a:r>
            <a:endParaRPr kumimoji="0" lang="ar-SA" altLang="en-US" sz="7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Vulnerabilities Management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: Rounded Corners 41">
            <a:extLst>
              <a:ext uri="{FF2B5EF4-FFF2-40B4-BE49-F238E27FC236}">
                <a16:creationId xmlns:a16="http://schemas.microsoft.com/office/drawing/2014/main" id="{282EE7C0-62AB-AA2A-6F25-F599FA371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198" y="2659188"/>
            <a:ext cx="925947" cy="40812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5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إدارة حزم التحديثات والإصلاحات الأمنية</a:t>
            </a:r>
            <a:endParaRPr kumimoji="0" lang="ar-SA" altLang="en-US" sz="5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Patch Management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Rectangle: Rounded Corners 41">
            <a:extLst>
              <a:ext uri="{FF2B5EF4-FFF2-40B4-BE49-F238E27FC236}">
                <a16:creationId xmlns:a16="http://schemas.microsoft.com/office/drawing/2014/main" id="{BC61A220-B62B-745C-D377-1239E8824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064" y="3107290"/>
            <a:ext cx="905218" cy="37906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7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Cyber -</a:t>
            </a:r>
            <a:r>
              <a:rPr lang="ar-SA" altLang="en-US" sz="7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اختبار الاختراق</a:t>
            </a:r>
            <a:endParaRPr kumimoji="0" lang="ar-SA" altLang="en-US" sz="7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Penetration Testing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: Rounded Corners 41">
            <a:extLst>
              <a:ext uri="{FF2B5EF4-FFF2-40B4-BE49-F238E27FC236}">
                <a16:creationId xmlns:a16="http://schemas.microsoft.com/office/drawing/2014/main" id="{46412531-2AA5-4BAE-D991-520A12F38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98" y="1616116"/>
            <a:ext cx="1078320" cy="453849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Firewall + </a:t>
            </a:r>
            <a:r>
              <a:rPr lang="ar-SA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موزع الاحمال </a:t>
            </a: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F5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: Rounded Corners 41">
            <a:extLst>
              <a:ext uri="{FF2B5EF4-FFF2-40B4-BE49-F238E27FC236}">
                <a16:creationId xmlns:a16="http://schemas.microsoft.com/office/drawing/2014/main" id="{18132C84-3E9B-C90E-7B7C-BB4C6B8AA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98" y="2135944"/>
            <a:ext cx="1043103" cy="475751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Application Firewall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: Rounded Corners 41">
            <a:extLst>
              <a:ext uri="{FF2B5EF4-FFF2-40B4-BE49-F238E27FC236}">
                <a16:creationId xmlns:a16="http://schemas.microsoft.com/office/drawing/2014/main" id="{98FAC127-C619-17F5-B687-B9DC00715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36" y="2733741"/>
            <a:ext cx="1078319" cy="267598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8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Sign 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: Rounded Corners 41">
            <a:extLst>
              <a:ext uri="{FF2B5EF4-FFF2-40B4-BE49-F238E27FC236}">
                <a16:creationId xmlns:a16="http://schemas.microsoft.com/office/drawing/2014/main" id="{6A6051E7-1EFC-24CB-A251-5FBC081BF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99" y="3067317"/>
            <a:ext cx="1062356" cy="419042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الأمن السيبراني بالذكاء الاصطناعي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AI-driven Cybersecurity</a:t>
            </a:r>
            <a:endParaRPr kumimoji="0" lang="ar-SA" altLang="en-US" sz="800" b="0" i="0" u="none" strike="noStrike" cap="none" normalizeH="0" baseline="0" dirty="0">
              <a:ln>
                <a:noFill/>
              </a:ln>
              <a:solidFill>
                <a:srgbClr val="07080B"/>
              </a:solidFill>
              <a:effectLst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Rectangle: Rounded Corners 41">
            <a:extLst>
              <a:ext uri="{FF2B5EF4-FFF2-40B4-BE49-F238E27FC236}">
                <a16:creationId xmlns:a16="http://schemas.microsoft.com/office/drawing/2014/main" id="{B4B2AA9E-9906-B45D-A462-B9C587110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98" y="3558718"/>
            <a:ext cx="1062356" cy="445673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إدارة الصلاحيات الهامة والحساسة</a:t>
            </a:r>
          </a:p>
        </p:txBody>
      </p:sp>
      <p:sp>
        <p:nvSpPr>
          <p:cNvPr id="7" name="Rectangle: Rounded Corners 41">
            <a:extLst>
              <a:ext uri="{FF2B5EF4-FFF2-40B4-BE49-F238E27FC236}">
                <a16:creationId xmlns:a16="http://schemas.microsoft.com/office/drawing/2014/main" id="{7B0073A8-EDCC-B1BD-6CE1-368D6C284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37" y="4050121"/>
            <a:ext cx="1078317" cy="400141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إدارة هويات الدخول والصلاحيات</a:t>
            </a:r>
          </a:p>
        </p:txBody>
      </p:sp>
      <p:sp>
        <p:nvSpPr>
          <p:cNvPr id="10" name="Rectangle: Rounded Corners 41">
            <a:extLst>
              <a:ext uri="{FF2B5EF4-FFF2-40B4-BE49-F238E27FC236}">
                <a16:creationId xmlns:a16="http://schemas.microsoft.com/office/drawing/2014/main" id="{8D4A995B-20B4-3B8B-5052-FCA08358E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398" y="4495991"/>
            <a:ext cx="1043103" cy="521981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الكشف والاستجابة لنقاط النهاية</a:t>
            </a:r>
          </a:p>
        </p:txBody>
      </p:sp>
      <p:sp>
        <p:nvSpPr>
          <p:cNvPr id="11" name="Rectangle: Rounded Corners 41">
            <a:extLst>
              <a:ext uri="{FF2B5EF4-FFF2-40B4-BE49-F238E27FC236}">
                <a16:creationId xmlns:a16="http://schemas.microsoft.com/office/drawing/2014/main" id="{758863A1-DF6E-7D00-61E7-96137F3C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37" y="5058113"/>
            <a:ext cx="1078317" cy="789234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حماية متقدمة ضد التهديدات المستمرة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Advanced Threat Protection - ATP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: Rounded Corners 41">
            <a:extLst>
              <a:ext uri="{FF2B5EF4-FFF2-40B4-BE49-F238E27FC236}">
                <a16:creationId xmlns:a16="http://schemas.microsoft.com/office/drawing/2014/main" id="{E9A74EEF-F500-6403-8FF1-A8BAC9F58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9891" y="5122772"/>
            <a:ext cx="948064" cy="524090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إدارة استهلاك الطاقة الذكية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7080B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Smart Energy Management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: Rounded Corners 41">
            <a:extLst>
              <a:ext uri="{FF2B5EF4-FFF2-40B4-BE49-F238E27FC236}">
                <a16:creationId xmlns:a16="http://schemas.microsoft.com/office/drawing/2014/main" id="{A2E39595-F027-E8F1-E7A1-1A600E9C5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813" y="1344245"/>
            <a:ext cx="992191" cy="458268"/>
          </a:xfrm>
          <a:prstGeom prst="roundRect">
            <a:avLst>
              <a:gd name="adj" fmla="val 6944"/>
            </a:avLst>
          </a:prstGeom>
          <a:solidFill>
            <a:srgbClr val="3FA0D9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A" altLang="en-US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الذكاء الاصطناعي </a:t>
            </a:r>
            <a:r>
              <a:rPr lang="ar-SA" altLang="en-US" sz="900" dirty="0" err="1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السحابي</a:t>
            </a:r>
            <a:endParaRPr lang="en-US" altLang="en-US" sz="900" dirty="0">
              <a:solidFill>
                <a:srgbClr val="07080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: Rounded Corners 41">
            <a:extLst>
              <a:ext uri="{FF2B5EF4-FFF2-40B4-BE49-F238E27FC236}">
                <a16:creationId xmlns:a16="http://schemas.microsoft.com/office/drawing/2014/main" id="{7CDE11E8-29D1-EE3A-75FE-C8D0B68AA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784" y="5710347"/>
            <a:ext cx="1376591" cy="279045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sz="800" dirty="0"/>
              <a:t>إدارة الهوية والصلاحيات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43BD72-A496-5796-95BA-AA27D8C6E692}"/>
              </a:ext>
            </a:extLst>
          </p:cNvPr>
          <p:cNvSpPr/>
          <p:nvPr/>
        </p:nvSpPr>
        <p:spPr>
          <a:xfrm flipH="1">
            <a:off x="6550531" y="2399984"/>
            <a:ext cx="872600" cy="383610"/>
          </a:xfrm>
          <a:prstGeom prst="rect">
            <a:avLst/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EG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الموجهات</a:t>
            </a:r>
            <a:endParaRPr lang="en-US" sz="900" dirty="0">
              <a:solidFill>
                <a:srgbClr val="07080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4A3ECE-4205-8751-3B5A-D5C60042BF8A}"/>
              </a:ext>
            </a:extLst>
          </p:cNvPr>
          <p:cNvSpPr/>
          <p:nvPr/>
        </p:nvSpPr>
        <p:spPr>
          <a:xfrm flipH="1">
            <a:off x="9531249" y="1344244"/>
            <a:ext cx="1108964" cy="482600"/>
          </a:xfrm>
          <a:prstGeom prst="rect">
            <a:avLst/>
          </a:prstGeom>
          <a:solidFill>
            <a:srgbClr val="EDEDED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07080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Virtual machines </a:t>
            </a:r>
          </a:p>
        </p:txBody>
      </p:sp>
    </p:spTree>
    <p:extLst>
      <p:ext uri="{BB962C8B-B14F-4D97-AF65-F5344CB8AC3E}">
        <p14:creationId xmlns:p14="http://schemas.microsoft.com/office/powerpoint/2010/main" val="361237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0EB410-A013-454F-A153-3D74E0C6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مشاهدات بنية التقنية الحالية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97B35-A58C-2221-C975-1B63148DD92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73E76C-328B-5725-90C1-9129EB5A8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2.0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AA6174-EA03-B5E1-9D9A-CCC58C25E2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6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D873-7BF8-4D8D-20BD-06C0F18E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مشاهدات على الخوادم الخاصة بالهيئة كما في الوضع الحالي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E916F9-7322-1985-8814-FF1788D5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50A88-16B3-1257-910D-7A1529DADD65}"/>
              </a:ext>
            </a:extLst>
          </p:cNvPr>
          <p:cNvSpPr txBox="1"/>
          <p:nvPr/>
        </p:nvSpPr>
        <p:spPr>
          <a:xfrm>
            <a:off x="1491916" y="1403230"/>
            <a:ext cx="9914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/>
              <a:t>تتكون بيئة الخوادم الحالية من مجموعة متنوعة من الأنظمة التشغيلية والبنية التحتية، مما يعكس تاريخًا طويلًا من التوسع والتحديثات الجزئية دون استراتيجية موحدة. فيما يلي أبرز ملامح الوضع الحالي: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B0E6C9-1A73-E1F0-94A9-77E2BFB25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36323"/>
              </p:ext>
            </p:extLst>
          </p:nvPr>
        </p:nvGraphicFramePr>
        <p:xfrm>
          <a:off x="1200484" y="2225452"/>
          <a:ext cx="9791031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688">
                  <a:extLst>
                    <a:ext uri="{9D8B030D-6E8A-4147-A177-3AD203B41FA5}">
                      <a16:colId xmlns:a16="http://schemas.microsoft.com/office/drawing/2014/main" val="4272918643"/>
                    </a:ext>
                  </a:extLst>
                </a:gridCol>
                <a:gridCol w="2383343">
                  <a:extLst>
                    <a:ext uri="{9D8B030D-6E8A-4147-A177-3AD203B41FA5}">
                      <a16:colId xmlns:a16="http://schemas.microsoft.com/office/drawing/2014/main" val="4184382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-EG" dirty="0"/>
                        <a:t>الوصف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dirty="0"/>
                        <a:t>المشاهدة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056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يوجد </a:t>
                      </a:r>
                      <a:r>
                        <a:rPr lang="ar-SA" b="1" dirty="0"/>
                        <a:t>عدة إصدارات من أنظمة التشغيل</a:t>
                      </a:r>
                      <a:r>
                        <a:rPr lang="ar-SA" dirty="0"/>
                        <a:t> تشمل:</a:t>
                      </a:r>
                      <a:r>
                        <a:rPr lang="en-US" b="1" dirty="0"/>
                        <a:t>Windows Server 2012, 2016, 2019, 2022</a:t>
                      </a:r>
                      <a:r>
                        <a:rPr lang="en-US" dirty="0"/>
                        <a:t>.</a:t>
                      </a:r>
                    </a:p>
                    <a:p>
                      <a:pPr algn="r" rtl="1"/>
                      <a:r>
                        <a:rPr lang="en-US" b="1" dirty="0"/>
                        <a:t>Red Hat Enterprise Linux RHEL 7, 8, 9</a:t>
                      </a:r>
                      <a:r>
                        <a:rPr lang="en-US" dirty="0"/>
                        <a:t>.</a:t>
                      </a:r>
                    </a:p>
                    <a:p>
                      <a:pPr algn="r" rtl="1"/>
                      <a:r>
                        <a:rPr lang="en-US" b="1" dirty="0"/>
                        <a:t>Ubuntu Linux </a:t>
                      </a:r>
                      <a:r>
                        <a:rPr lang="ar-SA" b="1" dirty="0"/>
                        <a:t>بأنظمة 32 و64 بت</a:t>
                      </a:r>
                      <a:r>
                        <a:rPr lang="ar-SA" dirty="0"/>
                        <a:t>.</a:t>
                      </a:r>
                    </a:p>
                    <a:p>
                      <a:pPr algn="r" rtl="1"/>
                      <a:r>
                        <a:rPr lang="en-US" b="1" dirty="0"/>
                        <a:t>CentOS 7 </a:t>
                      </a:r>
                      <a:r>
                        <a:rPr lang="ar-SA" b="1" dirty="0"/>
                        <a:t>و 8 الذي انتهى دعمه</a:t>
                      </a:r>
                      <a:r>
                        <a:rPr lang="ar-SA" dirty="0"/>
                        <a:t>.</a:t>
                      </a:r>
                    </a:p>
                    <a:p>
                      <a:pPr algn="r" rtl="1"/>
                      <a:r>
                        <a:rPr lang="ar-SA" b="1" dirty="0"/>
                        <a:t>أنظمة </a:t>
                      </a:r>
                      <a:r>
                        <a:rPr lang="en-US" b="1" dirty="0"/>
                        <a:t>FreeBSD </a:t>
                      </a:r>
                      <a:r>
                        <a:rPr lang="ar-SA" b="1" dirty="0"/>
                        <a:t>و</a:t>
                      </a:r>
                      <a:r>
                        <a:rPr lang="en-US" b="1" dirty="0"/>
                        <a:t>Linux </a:t>
                      </a:r>
                      <a:r>
                        <a:rPr lang="ar-SA" b="1" dirty="0"/>
                        <a:t>أخرى غير معروفة المصدر</a:t>
                      </a:r>
                      <a:r>
                        <a:rPr lang="ar-SA" dirty="0"/>
                        <a:t>.</a:t>
                      </a:r>
                    </a:p>
                    <a:p>
                      <a:pPr algn="r" rtl="1"/>
                      <a:r>
                        <a:rPr lang="ar-SA" dirty="0"/>
                        <a:t>هذا التنوع يعقد عمليات الإدارة والدعم الفني، ويؤدي إلى تحديات في التوافقية والأمان.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1. تنوع أنظمة التشغيل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920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914400" rtl="1" eaLnBrk="1" latinLnBrk="0" hangingPunct="1"/>
                      <a:r>
                        <a:rPr lang="ar-SA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عدد الأنوية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Logical CPUs </a:t>
                      </a:r>
                      <a:r>
                        <a:rPr lang="ar-SA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للخوادم يتراوح بين 1 و 64 نواة، مما يشير إلى عدم تجانس واضح بين الخوادم من حيث الأداء والقدرة على معالجة المهام.</a:t>
                      </a:r>
                      <a:endParaRPr lang="ar-EG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2. </a:t>
                      </a:r>
                      <a:r>
                        <a:rPr lang="ar-SA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تفاوت في مواصفات الأجهزة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496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68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57ECB-1B91-15FD-7701-C8437474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8BFB-E608-38CD-7AAE-77DA3BB5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مشاهدات على الخوادم الخاصة بالهيئة كما في الوضع الحالي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14EE5-4147-8D4C-B234-1D74E999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7087C-6D8E-B72B-D01A-FB0332736431}"/>
              </a:ext>
            </a:extLst>
          </p:cNvPr>
          <p:cNvSpPr txBox="1"/>
          <p:nvPr/>
        </p:nvSpPr>
        <p:spPr>
          <a:xfrm>
            <a:off x="1491916" y="1403230"/>
            <a:ext cx="9914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/>
              <a:t>تتكون بيئة الخوادم الحالية من مجموعة متنوعة من الأنظمة التشغيلية والبنية التحتية، مما يعكس تاريخًا طويلًا من التوسع والتحديثات الجزئية دون استراتيجية موحدة. فيما يلي أبرز ملامح الوضع الحالي: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6C643F7-3A62-72E1-DBC4-257B73CFA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894374"/>
              </p:ext>
            </p:extLst>
          </p:nvPr>
        </p:nvGraphicFramePr>
        <p:xfrm>
          <a:off x="1200484" y="2225452"/>
          <a:ext cx="9791031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688">
                  <a:extLst>
                    <a:ext uri="{9D8B030D-6E8A-4147-A177-3AD203B41FA5}">
                      <a16:colId xmlns:a16="http://schemas.microsoft.com/office/drawing/2014/main" val="4272918643"/>
                    </a:ext>
                  </a:extLst>
                </a:gridCol>
                <a:gridCol w="2383343">
                  <a:extLst>
                    <a:ext uri="{9D8B030D-6E8A-4147-A177-3AD203B41FA5}">
                      <a16:colId xmlns:a16="http://schemas.microsoft.com/office/drawing/2014/main" val="41843822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-EG" dirty="0"/>
                        <a:t>الوصف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dirty="0"/>
                        <a:t>المشاهدة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056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-SA" b="1" dirty="0"/>
                        <a:t>بيئة التطبيقات </a:t>
                      </a:r>
                      <a:r>
                        <a:rPr lang="ar-SA" dirty="0"/>
                        <a:t>وهي الأكبر من حيث عدد الخوادم، لكنها غير موحدة من حيث نظام التشغيل والمواصفات</a:t>
                      </a:r>
                      <a:endParaRPr lang="ar-EG" dirty="0"/>
                    </a:p>
                    <a:p>
                      <a:pPr algn="r" rtl="1"/>
                      <a:r>
                        <a:rPr lang="ar-SA" dirty="0"/>
                        <a:t>.</a:t>
                      </a:r>
                      <a:r>
                        <a:rPr lang="ar-SA" b="1" dirty="0"/>
                        <a:t>بيئة قواعد البيانات </a:t>
                      </a:r>
                      <a:r>
                        <a:rPr lang="en-US" b="1" dirty="0"/>
                        <a:t>DB</a:t>
                      </a:r>
                      <a:r>
                        <a:rPr lang="en-US" dirty="0"/>
                        <a:t> </a:t>
                      </a:r>
                      <a:r>
                        <a:rPr lang="ar-SA" dirty="0"/>
                        <a:t>تتضمن خوادم قوية، ولكنها قديمة في بعض الأحيان.</a:t>
                      </a:r>
                      <a:endParaRPr lang="ar-EG" dirty="0"/>
                    </a:p>
                    <a:p>
                      <a:pPr algn="r" rtl="1"/>
                      <a:r>
                        <a:rPr lang="ar-SA" b="1" dirty="0"/>
                        <a:t>بيئة الشبكة المحايدة </a:t>
                      </a:r>
                      <a:r>
                        <a:rPr lang="en-US" b="1" dirty="0"/>
                        <a:t>DMZ</a:t>
                      </a:r>
                      <a:r>
                        <a:rPr lang="en-US" dirty="0"/>
                        <a:t> </a:t>
                      </a:r>
                      <a:r>
                        <a:rPr lang="ar-SA" dirty="0"/>
                        <a:t>تحتوي على مزيج من الأنظمة المختلفة، مما قد يشكل تحديًا أمنيًا.</a:t>
                      </a:r>
                      <a:endParaRPr lang="ar-EG" dirty="0"/>
                    </a:p>
                    <a:p>
                      <a:pPr algn="r" rtl="1"/>
                      <a:r>
                        <a:rPr lang="ar-SA" b="1" dirty="0"/>
                        <a:t>بيئة الاختبار </a:t>
                      </a:r>
                      <a:r>
                        <a:rPr lang="en-US" b="1" dirty="0"/>
                        <a:t>TESTING</a:t>
                      </a:r>
                      <a:r>
                        <a:rPr lang="en-US" dirty="0"/>
                        <a:t> </a:t>
                      </a:r>
                      <a:r>
                        <a:rPr lang="ar-SA" dirty="0"/>
                        <a:t>تتكون من خوادم متباينة المواصفات، وبعضها قديم نسبيًا.</a:t>
                      </a:r>
                      <a:endParaRPr lang="ar-EG" dirty="0"/>
                    </a:p>
                    <a:p>
                      <a:pPr algn="r" rtl="1"/>
                      <a:r>
                        <a:rPr lang="ar-SA" b="1" dirty="0"/>
                        <a:t>بيئة الويب </a:t>
                      </a:r>
                      <a:r>
                        <a:rPr lang="en-US" b="1" dirty="0"/>
                        <a:t>WEB</a:t>
                      </a:r>
                      <a:r>
                        <a:rPr lang="en-US" dirty="0"/>
                        <a:t> </a:t>
                      </a:r>
                      <a:r>
                        <a:rPr lang="ar-SA" dirty="0"/>
                        <a:t>تتضمن خوادم ذات مواصفات متباينة، وبعضها يستخدم أنظمة تشغيل قديمة.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3. توزيع غير متوازن للخوادم عبر المناطق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920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b="1" dirty="0"/>
                        <a:t>Windows Server 2012</a:t>
                      </a:r>
                      <a:r>
                        <a:rPr lang="en-US" dirty="0"/>
                        <a:t> </a:t>
                      </a:r>
                      <a:r>
                        <a:rPr lang="ar-SA" dirty="0"/>
                        <a:t>انتهى دعمه في أكتوبر 2023</a:t>
                      </a:r>
                    </a:p>
                    <a:p>
                      <a:pPr algn="r" rtl="1"/>
                      <a:r>
                        <a:rPr lang="en-US" b="1" dirty="0"/>
                        <a:t>CentOS 7 </a:t>
                      </a:r>
                      <a:r>
                        <a:rPr lang="ar-SA" b="1" dirty="0"/>
                        <a:t>و8</a:t>
                      </a:r>
                      <a:r>
                        <a:rPr lang="ar-SA" dirty="0"/>
                        <a:t> توقف دعم </a:t>
                      </a:r>
                      <a:r>
                        <a:rPr lang="en-US" dirty="0"/>
                        <a:t>CentOS </a:t>
                      </a:r>
                      <a:r>
                        <a:rPr lang="ar-SA" dirty="0"/>
                        <a:t>منذ 2021.</a:t>
                      </a:r>
                    </a:p>
                    <a:p>
                      <a:pPr algn="r" rtl="1"/>
                      <a:r>
                        <a:rPr lang="en-US" b="1" dirty="0"/>
                        <a:t>Red Hat 7</a:t>
                      </a:r>
                      <a:r>
                        <a:rPr lang="en-US" dirty="0"/>
                        <a:t> </a:t>
                      </a:r>
                      <a:r>
                        <a:rPr lang="ar-SA" dirty="0"/>
                        <a:t>الذي يقترب من نهاية دعمه.</a:t>
                      </a:r>
                    </a:p>
                    <a:p>
                      <a:pPr algn="r" rtl="1"/>
                      <a:r>
                        <a:rPr lang="ar-SA" dirty="0"/>
                        <a:t>استمرار تشغيل هذه الأنظمة يشكل خطرًا أمنيًا وقد يؤثر على الامتثال لمتطلبات الحوكمة الأمنية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4. وجود خوادم قديمة وغير مدعومة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496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بعض الخوادم مدرجة تحت تصنيف </a:t>
                      </a:r>
                      <a:r>
                        <a:rPr lang="en-US" b="1" dirty="0"/>
                        <a:t>N/A</a:t>
                      </a:r>
                      <a:r>
                        <a:rPr lang="en-US" dirty="0"/>
                        <a:t> </a:t>
                      </a:r>
                      <a:r>
                        <a:rPr lang="ar-SA" dirty="0"/>
                        <a:t>دون تحديد دورها الوظيفي، مما يدل على وجود أصول غير موثقة بشكل كامل.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dirty="0"/>
                        <a:t>5. عدم التوثيق الكامل لبعض الخوادم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216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68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959C6-1158-44DB-24A1-B38A5086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52" y="326421"/>
            <a:ext cx="10972800" cy="666261"/>
          </a:xfrm>
        </p:spPr>
        <p:txBody>
          <a:bodyPr/>
          <a:lstStyle/>
          <a:p>
            <a:pPr rtl="0"/>
            <a:r>
              <a:rPr lang="ar-EG" sz="2400" b="1" dirty="0">
                <a:solidFill>
                  <a:schemeClr val="accent1"/>
                </a:solidFill>
                <a:latin typeface="Sakkal Majalla" panose="02000000000000000000" pitchFamily="2" charset="-78"/>
                <a:ea typeface="+mj-ea"/>
                <a:cs typeface="Sakkal Majalla" panose="02000000000000000000" pitchFamily="2" charset="-78"/>
              </a:rPr>
              <a:t/>
            </a:r>
            <a:br>
              <a:rPr lang="ar-EG" sz="2400" b="1" dirty="0">
                <a:solidFill>
                  <a:schemeClr val="accent1"/>
                </a:solidFill>
                <a:latin typeface="Sakkal Majalla" panose="02000000000000000000" pitchFamily="2" charset="-78"/>
                <a:ea typeface="+mj-ea"/>
                <a:cs typeface="Sakkal Majalla" panose="02000000000000000000" pitchFamily="2" charset="-78"/>
              </a:rPr>
            </a:br>
            <a:r>
              <a:rPr lang="ar-EG" dirty="0"/>
              <a:t>مشاهدات على </a:t>
            </a:r>
            <a:r>
              <a:rPr lang="ar-SA" dirty="0"/>
              <a:t>إدارة وتأمين الشبكة</a:t>
            </a:r>
            <a:r>
              <a:rPr lang="ar-EG" dirty="0"/>
              <a:t> في الوضع الحالي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4FBED3-E678-6F79-A6B0-830FF4CBD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C5CD9-7BA2-C9E1-9E4C-F4ABE46C37C6}"/>
              </a:ext>
            </a:extLst>
          </p:cNvPr>
          <p:cNvSpPr txBox="1"/>
          <p:nvPr/>
        </p:nvSpPr>
        <p:spPr>
          <a:xfrm>
            <a:off x="1163053" y="1101039"/>
            <a:ext cx="1043119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/>
              <a:t>يتضح أن البنية التقنية الحالية تحتوي على مجموعة واسعة من الأنظمة الأمنية والخوادم، مما يوفر أساسًا قويًا لأمن المعلومات، ولكن مع وجود بعض التحديات التي تحتاج إلى تحسين.</a:t>
            </a:r>
          </a:p>
          <a:p>
            <a:pPr algn="r" rtl="1"/>
            <a:r>
              <a:rPr lang="ar-SA" sz="1400" b="1" dirty="0"/>
              <a:t>1. مكونات البنية التقنية الحالية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400" b="1" dirty="0"/>
              <a:t>أنظمة الحماية والأمان السيبراني:</a:t>
            </a:r>
            <a:endParaRPr lang="ar-SA" sz="14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Firewalls</a:t>
            </a:r>
            <a:r>
              <a:rPr lang="en-US" sz="1400" dirty="0"/>
              <a:t>: </a:t>
            </a:r>
            <a:r>
              <a:rPr lang="ar-SA" sz="1400" dirty="0"/>
              <a:t>استخدام </a:t>
            </a:r>
            <a:r>
              <a:rPr lang="en-US" sz="1400" dirty="0"/>
              <a:t>Firewalls </a:t>
            </a:r>
            <a:r>
              <a:rPr lang="ar-SA" sz="1400" dirty="0"/>
              <a:t>من </a:t>
            </a:r>
            <a:r>
              <a:rPr lang="en-US" sz="1400" b="1" dirty="0"/>
              <a:t>Cisco, Palo Alto, Fortinet, F5</a:t>
            </a:r>
            <a:r>
              <a:rPr lang="en-US" sz="1400" dirty="0"/>
              <a:t>، </a:t>
            </a:r>
            <a:r>
              <a:rPr lang="ar-SA" sz="1400" dirty="0"/>
              <a:t>مما يوفر تغطية قوية لجدار الحماية.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Intrusion Prevention Systems IPS: </a:t>
            </a:r>
            <a:r>
              <a:rPr lang="ar-SA" sz="1400" b="1" dirty="0"/>
              <a:t>لمنع الاختراقات والهجمات.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Network Detection &amp; Response NDR: </a:t>
            </a:r>
            <a:r>
              <a:rPr lang="ar-SA" sz="1400" b="1" dirty="0"/>
              <a:t>للكشف عن الأنشطة الضارة وتحليل الشبكة.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Deep Discovery Systems DDI/DDAN: </a:t>
            </a:r>
            <a:r>
              <a:rPr lang="ar-SA" sz="1400" b="1" dirty="0"/>
              <a:t>لتحليل التهديدات المتقدمة.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400" b="1" dirty="0"/>
              <a:t>أنظمة حماية البريد الإلكتروني:</a:t>
            </a:r>
            <a:endParaRPr lang="ar-SA" sz="14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Email Secure Gateway ESAV, SMAV, SMEX: </a:t>
            </a:r>
            <a:r>
              <a:rPr lang="ar-SA" sz="1400" b="1" dirty="0"/>
              <a:t>لتصفية الرسائل الإلكترونية والتصدي لهجمات التصيد </a:t>
            </a:r>
            <a:r>
              <a:rPr lang="en-US" sz="1400" b="1" dirty="0"/>
              <a:t>Phishing.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Scan Mail: </a:t>
            </a:r>
            <a:r>
              <a:rPr lang="ar-SA" sz="1400" b="1" dirty="0"/>
              <a:t>لفحص رسائل البريد الإلكتروني بحثًا عن الفيروسات والبرمجيات الضارة.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400" b="1" dirty="0"/>
              <a:t>إدارة الامتيازات والوصول:</a:t>
            </a:r>
            <a:endParaRPr lang="ar-SA" sz="14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Multi-Factor Authentication MFA</a:t>
            </a:r>
            <a:r>
              <a:rPr lang="en-US" sz="1400" dirty="0"/>
              <a:t>: </a:t>
            </a:r>
            <a:r>
              <a:rPr lang="ar-SA" sz="1400" dirty="0"/>
              <a:t>لتعزيز أمان الحسابات.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Safeguard Privileged Passwords PAM-SPP: </a:t>
            </a:r>
            <a:r>
              <a:rPr lang="ar-SA" sz="1400" b="1" dirty="0"/>
              <a:t>لحماية الحسابات الحساسة.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Safeguard Privileged Sessions PAM-SPS: </a:t>
            </a:r>
            <a:r>
              <a:rPr lang="ar-SA" sz="1400" b="1" dirty="0"/>
              <a:t>لمراقبة </a:t>
            </a:r>
            <a:r>
              <a:rPr lang="ar-EG" sz="1400" b="1" dirty="0"/>
              <a:t>قنوات الاتصال</a:t>
            </a:r>
            <a:r>
              <a:rPr lang="ar-SA" sz="1400" b="1" dirty="0"/>
              <a:t> الحساسة.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400" b="1" dirty="0"/>
              <a:t>إدارة بيانات الأمن والتحليل </a:t>
            </a:r>
            <a:r>
              <a:rPr lang="en-US" sz="1400" b="1" dirty="0"/>
              <a:t>SIEM &amp; Log Management:</a:t>
            </a:r>
            <a:endParaRPr lang="en-US" sz="14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Splunk Deployment Servers: </a:t>
            </a:r>
            <a:r>
              <a:rPr lang="ar-SA" sz="1400" b="1" dirty="0"/>
              <a:t>لجمع وتحليل سجلات الأنظمة.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Qualys Scanner: </a:t>
            </a:r>
            <a:r>
              <a:rPr lang="ar-SA" sz="1400" b="1" dirty="0"/>
              <a:t>لإجراء عمليات الفحص الأمني الدوري.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Apex One Antivirus: </a:t>
            </a:r>
            <a:r>
              <a:rPr lang="ar-SA" sz="1400" b="1" dirty="0"/>
              <a:t>لحماية الأجهزة من الفيروسات والبرمجيات الضارة</a:t>
            </a:r>
            <a:r>
              <a:rPr lang="ar-SA" sz="1400" dirty="0">
                <a:solidFill>
                  <a:srgbClr val="FF0000"/>
                </a:solidFill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400" b="1" dirty="0"/>
              <a:t>أنظمة أخرى:</a:t>
            </a:r>
            <a:endParaRPr lang="ar-SA" sz="14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Remote Desktop Services RDS: </a:t>
            </a:r>
            <a:r>
              <a:rPr lang="ar-SA" sz="1400" b="1" dirty="0"/>
              <a:t>لإدارة الوصول عن بعد.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Security Awareness Training KnowBe4: </a:t>
            </a:r>
            <a:r>
              <a:rPr lang="ar-SA" sz="1400" b="1" dirty="0"/>
              <a:t>لتعزيز الوعي الأمني.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400" b="1" dirty="0"/>
              <a:t>Databases &amp; Storage Solutions: </a:t>
            </a:r>
            <a:r>
              <a:rPr lang="ar-SA" sz="1400" b="1" dirty="0"/>
              <a:t>أنظمة قواعد بيانات من </a:t>
            </a:r>
            <a:r>
              <a:rPr lang="en-US" sz="1400" b="1" dirty="0"/>
              <a:t>Trend Micro </a:t>
            </a:r>
            <a:r>
              <a:rPr lang="ar-SA" sz="1400" b="1" dirty="0"/>
              <a:t>و </a:t>
            </a:r>
            <a:r>
              <a:rPr lang="en-US" sz="1400" b="1" dirty="0"/>
              <a:t>Fidelis.</a:t>
            </a:r>
          </a:p>
        </p:txBody>
      </p:sp>
    </p:spTree>
    <p:extLst>
      <p:ext uri="{BB962C8B-B14F-4D97-AF65-F5344CB8AC3E}">
        <p14:creationId xmlns:p14="http://schemas.microsoft.com/office/powerpoint/2010/main" val="411569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5FCA2-16DA-D875-8E69-C63F334E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9DAD-2DC8-C6E9-C967-FCB564C22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52" y="326421"/>
            <a:ext cx="10972800" cy="666261"/>
          </a:xfrm>
        </p:spPr>
        <p:txBody>
          <a:bodyPr/>
          <a:lstStyle/>
          <a:p>
            <a:pPr rtl="0"/>
            <a:r>
              <a:rPr lang="ar-EG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القوة في الوضع الحالي بالنسبة ل</a:t>
            </a:r>
            <a:r>
              <a:rPr lang="ar-SA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إدارة وتأمين الشبكة</a:t>
            </a:r>
            <a:r>
              <a:rPr lang="ar-EG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في الوضع الحالي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1FE952-876A-F399-EE06-17625080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4755E-E5ED-7F82-AFF9-24303264A338}"/>
              </a:ext>
            </a:extLst>
          </p:cNvPr>
          <p:cNvSpPr txBox="1"/>
          <p:nvPr/>
        </p:nvSpPr>
        <p:spPr>
          <a:xfrm>
            <a:off x="1223079" y="1289846"/>
            <a:ext cx="10371173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600" dirty="0"/>
              <a:t>✅ </a:t>
            </a:r>
            <a:r>
              <a:rPr lang="ar-SA" sz="1600" b="1" dirty="0"/>
              <a:t>تنوع الحلول الأمنية</a:t>
            </a:r>
            <a:r>
              <a:rPr lang="ar-SA" sz="1600" dirty="0"/>
              <a:t>: وجود عدة أنظمة حماية متقدمة يغطي جميع الجوانب الأمنية الأساسية.</a:t>
            </a:r>
            <a:endParaRPr lang="ar-EG" sz="1600" dirty="0"/>
          </a:p>
          <a:p>
            <a:pPr algn="r" rtl="1"/>
            <a:r>
              <a:rPr lang="ar-SA" sz="1600" dirty="0"/>
              <a:t/>
            </a:r>
            <a:br>
              <a:rPr lang="ar-SA" sz="1600" dirty="0"/>
            </a:br>
            <a:r>
              <a:rPr lang="en-US" sz="1600" dirty="0"/>
              <a:t>✅ </a:t>
            </a:r>
            <a:r>
              <a:rPr lang="ar-SA" sz="1600" b="1" dirty="0"/>
              <a:t>تغطية موسعة جغرافيًا</a:t>
            </a:r>
            <a:r>
              <a:rPr lang="ar-SA" sz="1600" dirty="0"/>
              <a:t>: الأنظمة موزعة عبر مواقع متعددة مثل </a:t>
            </a:r>
            <a:r>
              <a:rPr lang="en-US" sz="1600" b="1" dirty="0"/>
              <a:t>Deem، Mobily، Tower</a:t>
            </a:r>
            <a:r>
              <a:rPr lang="en-US" sz="1600" dirty="0"/>
              <a:t>، </a:t>
            </a:r>
            <a:r>
              <a:rPr lang="ar-SA" sz="1600" dirty="0"/>
              <a:t>مما يقلل من المخاطر الناجمة عن فشل نقطة واحدة.</a:t>
            </a:r>
            <a:endParaRPr lang="ar-EG" sz="1600" dirty="0"/>
          </a:p>
          <a:p>
            <a:pPr algn="r" rtl="1"/>
            <a:r>
              <a:rPr lang="ar-SA" sz="1600" dirty="0">
                <a:solidFill>
                  <a:srgbClr val="FF0000"/>
                </a:solidFill>
              </a:rPr>
              <a:t/>
            </a:r>
            <a:br>
              <a:rPr lang="ar-SA" sz="1600" dirty="0">
                <a:solidFill>
                  <a:srgbClr val="FF0000"/>
                </a:solidFill>
              </a:rPr>
            </a:br>
            <a:r>
              <a:rPr lang="en-US" sz="1600" dirty="0">
                <a:solidFill>
                  <a:srgbClr val="FF0000"/>
                </a:solidFill>
              </a:rPr>
              <a:t>✅ </a:t>
            </a:r>
            <a:r>
              <a:rPr lang="ar-SA" sz="1600" dirty="0"/>
              <a:t>اعتماد أنظمة متعددة لمكافحة الهجمات: مثل </a:t>
            </a:r>
            <a:r>
              <a:rPr lang="en-US" sz="1600" dirty="0"/>
              <a:t>NDR، IPS، Deep Discovery، Firewalls، Endpoint Protection، </a:t>
            </a:r>
            <a:r>
              <a:rPr lang="en-US" sz="1600" dirty="0" err="1"/>
              <a:t>Thousandsyes</a:t>
            </a:r>
            <a:r>
              <a:rPr lang="en-US" sz="1600" dirty="0"/>
              <a:t>، </a:t>
            </a:r>
            <a:r>
              <a:rPr lang="ar-SA" sz="1600" dirty="0"/>
              <a:t>مما يوفر حماية متعددة الطبقات.</a:t>
            </a:r>
            <a:endParaRPr lang="ar-EG" sz="1600" dirty="0"/>
          </a:p>
          <a:p>
            <a:pPr algn="r" rtl="1"/>
            <a:r>
              <a:rPr lang="ar-SA" sz="1600" dirty="0"/>
              <a:t/>
            </a:r>
            <a:br>
              <a:rPr lang="ar-SA" sz="1600" dirty="0"/>
            </a:br>
            <a:r>
              <a:rPr lang="en-US" sz="1600" dirty="0"/>
              <a:t>✅ </a:t>
            </a:r>
            <a:r>
              <a:rPr lang="ar-SA" sz="1600" dirty="0"/>
              <a:t>وجود أدوات تحليل البيانات الأمنية </a:t>
            </a:r>
            <a:r>
              <a:rPr lang="en-US" sz="1600" dirty="0"/>
              <a:t>SIEM </a:t>
            </a:r>
            <a:r>
              <a:rPr lang="ar-SA" sz="1600" dirty="0"/>
              <a:t>مثل </a:t>
            </a:r>
            <a:r>
              <a:rPr lang="en-US" sz="1600" dirty="0"/>
              <a:t>Splunk: </a:t>
            </a:r>
            <a:r>
              <a:rPr lang="ar-SA" sz="1600" dirty="0"/>
              <a:t>لتحليل السجلات والتعامل مع التهديدات بسرعة.</a:t>
            </a:r>
            <a:endParaRPr lang="ar-EG" sz="1600" dirty="0"/>
          </a:p>
          <a:p>
            <a:pPr algn="r" rtl="1"/>
            <a:r>
              <a:rPr lang="ar-SA" sz="1600" dirty="0"/>
              <a:t/>
            </a:r>
            <a:br>
              <a:rPr lang="ar-SA" sz="1600" dirty="0"/>
            </a:br>
            <a:r>
              <a:rPr lang="en-US" sz="1600" dirty="0"/>
              <a:t>✅ </a:t>
            </a:r>
            <a:r>
              <a:rPr lang="ar-SA" sz="1600" dirty="0"/>
              <a:t>استخدام أنظمة </a:t>
            </a:r>
            <a:r>
              <a:rPr lang="en-US" sz="1600" dirty="0"/>
              <a:t>PAM </a:t>
            </a:r>
            <a:r>
              <a:rPr lang="ar-SA" sz="1600" dirty="0"/>
              <a:t>لحماية الحسابات المتميزة: مما يساعد في تقليل مخاطر الاختراقات.</a:t>
            </a:r>
          </a:p>
          <a:p>
            <a:pPr algn="r" rtl="1"/>
            <a:endParaRPr lang="ar-SA" sz="1600" dirty="0">
              <a:solidFill>
                <a:srgbClr val="FF0000"/>
              </a:solidFill>
            </a:endParaRPr>
          </a:p>
          <a:p>
            <a:pPr algn="r" rtl="1"/>
            <a:r>
              <a:rPr lang="en-US" sz="1600" dirty="0"/>
              <a:t>✅</a:t>
            </a:r>
            <a:r>
              <a:rPr lang="ar-SA" sz="1600" dirty="0"/>
              <a:t> استخدام أدوات مراقبة تساهم في رفع آداء البنية التقنية التحتية مثل ( </a:t>
            </a:r>
            <a:r>
              <a:rPr lang="en-US" sz="1600" dirty="0" err="1"/>
              <a:t>SolarWinds</a:t>
            </a:r>
            <a:r>
              <a:rPr lang="en-US" sz="1600" dirty="0"/>
              <a:t> , Appdynamics </a:t>
            </a:r>
            <a:r>
              <a:rPr lang="ar-SA" sz="1600" dirty="0"/>
              <a:t>).</a:t>
            </a:r>
            <a:endParaRPr lang="en-US" sz="1600" dirty="0"/>
          </a:p>
          <a:p>
            <a:pPr algn="r" rtl="1"/>
            <a:r>
              <a:rPr lang="ar-SA" sz="1600" dirty="0"/>
              <a:t> </a:t>
            </a:r>
            <a:r>
              <a:rPr lang="en-US" sz="1600" dirty="0"/>
              <a:t>NCA Active Directory AD DNS  ✅</a:t>
            </a:r>
            <a:r>
              <a:rPr lang="ar-SA" sz="1600" dirty="0"/>
              <a:t> إدارة الهويات الرقمية والتحكم في الوصول إلى موارد الهيئة وفق </a:t>
            </a:r>
            <a:r>
              <a:rPr lang="en-US" sz="1600" dirty="0"/>
              <a:t>NCA، </a:t>
            </a:r>
            <a:r>
              <a:rPr lang="ar-SA" sz="1600" dirty="0"/>
              <a:t>بالإضافة إلى إدارة نظام أسماء النطاقات </a:t>
            </a:r>
            <a:r>
              <a:rPr lang="en-US" sz="1600" dirty="0"/>
              <a:t>DNS</a:t>
            </a:r>
            <a:r>
              <a:rPr lang="ar-SA" sz="1600" dirty="0"/>
              <a:t>لضمان استقرار الشبكة وموثوقيتها</a:t>
            </a:r>
            <a:endParaRPr lang="en-US" sz="1600" dirty="0"/>
          </a:p>
          <a:p>
            <a:pPr algn="r" rtl="1"/>
            <a:r>
              <a:rPr lang="en-US" sz="1600" dirty="0"/>
              <a:t>Labs AD &amp; DNS</a:t>
            </a:r>
            <a:r>
              <a:rPr lang="en-US" sz="1600" dirty="0">
                <a:solidFill>
                  <a:prstClr val="black"/>
                </a:solidFill>
              </a:rPr>
              <a:t> ✅ </a:t>
            </a:r>
            <a:r>
              <a:rPr lang="ar-SA" sz="1600" dirty="0"/>
              <a:t>دارة الهويات</a:t>
            </a:r>
            <a:r>
              <a:rPr lang="en-US" sz="1600" dirty="0"/>
              <a:t> </a:t>
            </a:r>
            <a:r>
              <a:rPr lang="ar-SA" sz="1600" dirty="0"/>
              <a:t>الرقمية والتحكم في</a:t>
            </a:r>
            <a:r>
              <a:rPr lang="en-US" sz="1600" dirty="0"/>
              <a:t> </a:t>
            </a:r>
            <a:r>
              <a:rPr lang="ar-SA" sz="1600" dirty="0"/>
              <a:t>الوصول إلى</a:t>
            </a:r>
            <a:r>
              <a:rPr lang="en-US" sz="1600" dirty="0"/>
              <a:t> </a:t>
            </a:r>
            <a:r>
              <a:rPr lang="ar-SA" sz="1600" dirty="0"/>
              <a:t> الموارد المؤسسية، بالإضافة إلى نظام أسماء النطاقات </a:t>
            </a:r>
            <a:r>
              <a:rPr lang="en-US" sz="1600" dirty="0"/>
              <a:t>DNS</a:t>
            </a:r>
            <a:r>
              <a:rPr lang="ar-SA" sz="1600" dirty="0"/>
              <a:t>لضمان استقرار وربط الشبكات.</a:t>
            </a:r>
          </a:p>
          <a:p>
            <a:pPr algn="r" rtl="1"/>
            <a:r>
              <a:rPr lang="en-US" sz="1600" dirty="0">
                <a:solidFill>
                  <a:prstClr val="black"/>
                </a:solidFill>
              </a:rPr>
              <a:t>✅</a:t>
            </a:r>
            <a:r>
              <a:rPr lang="ar-SA" sz="1600" dirty="0">
                <a:solidFill>
                  <a:prstClr val="black"/>
                </a:solidFill>
              </a:rPr>
              <a:t>خدمة إدارة الأنظمة </a:t>
            </a:r>
            <a:r>
              <a:rPr lang="en-US" sz="1600" dirty="0">
                <a:solidFill>
                  <a:prstClr val="black"/>
                </a:solidFill>
              </a:rPr>
              <a:t>SCCM</a:t>
            </a:r>
            <a:r>
              <a:rPr lang="ar-SA" sz="1600" dirty="0">
                <a:solidFill>
                  <a:prstClr val="black"/>
                </a:solidFill>
              </a:rPr>
              <a:t> : خدمة تقنية تهدف إلى إدارة وصيانة أجهزة الكمبيوتر والخوادم داخل الهيئة، بما يشمل توزيع البرمجيات تحديث الأنظمة ،مراقبة الأداء، و حماية البيانات.</a:t>
            </a:r>
          </a:p>
          <a:p>
            <a:pPr algn="r" rtl="1"/>
            <a:r>
              <a:rPr lang="ar-SA" sz="1600" dirty="0"/>
              <a:t>✅خدمة الدخول الموحد </a:t>
            </a:r>
            <a:r>
              <a:rPr lang="en-US" sz="1600" dirty="0"/>
              <a:t>SSO</a:t>
            </a:r>
            <a:r>
              <a:rPr lang="ar-SA" sz="1600" dirty="0"/>
              <a:t>: تتيح للمستخدمين الوصول إلى جميع الأنظمة والتطبيقات المؤسسية باستخدام اسم مستخدم وكلمة مرور واحدة.</a:t>
            </a:r>
          </a:p>
          <a:p>
            <a:pPr algn="r" rtl="1"/>
            <a:r>
              <a:rPr lang="ar-SA" sz="1600" dirty="0">
                <a:solidFill>
                  <a:prstClr val="black"/>
                </a:solidFill>
              </a:rPr>
              <a:t>✅</a:t>
            </a:r>
            <a:r>
              <a:rPr lang="ar-SA" sz="1600" dirty="0"/>
              <a:t> </a:t>
            </a:r>
            <a:r>
              <a:rPr lang="en-US" sz="1600" dirty="0"/>
              <a:t>DHCP</a:t>
            </a:r>
            <a:r>
              <a:rPr lang="ar-SA" sz="1600" dirty="0"/>
              <a:t> توزيع وإدارة عناوين  </a:t>
            </a:r>
            <a:r>
              <a:rPr lang="en-US" sz="1600" dirty="0"/>
              <a:t>IP</a:t>
            </a:r>
            <a:r>
              <a:rPr lang="ar-SA" sz="1600" dirty="0"/>
              <a:t>تلقائيًا على الأجهزة المتصلة بالشبكة.</a:t>
            </a:r>
          </a:p>
          <a:p>
            <a:pPr algn="r" rtl="1"/>
            <a:r>
              <a:rPr lang="ar-SA" sz="1600" dirty="0">
                <a:solidFill>
                  <a:prstClr val="black"/>
                </a:solidFill>
              </a:rPr>
              <a:t>✅ </a:t>
            </a:r>
            <a:r>
              <a:rPr lang="ar-SA" sz="1600" dirty="0"/>
              <a:t>خدمات مشاركة الملفات: رفع ومشاركة الملفات بأمان مع مستخدمين آخرين داخل الهيئة أو خارجها.</a:t>
            </a:r>
            <a:endParaRPr lang="en-US" sz="1600" dirty="0"/>
          </a:p>
          <a:p>
            <a:pPr algn="r" rtl="1"/>
            <a:endParaRPr lang="en-US" sz="1600" dirty="0"/>
          </a:p>
          <a:p>
            <a:pPr algn="r" rtl="1"/>
            <a:endParaRPr lang="ar-SA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65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51F7-9239-2888-32D6-D6D0ABB5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A735-D175-0CA3-4CB1-785FCD3A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6593"/>
            <a:ext cx="10972800" cy="666261"/>
          </a:xfrm>
        </p:spPr>
        <p:txBody>
          <a:bodyPr/>
          <a:lstStyle/>
          <a:p>
            <a:pPr rtl="0"/>
            <a:r>
              <a:rPr lang="ar-EG" sz="2400" b="1" dirty="0">
                <a:solidFill>
                  <a:schemeClr val="accent1"/>
                </a:solidFill>
                <a:latin typeface="Sakkal Majalla" panose="02000000000000000000" pitchFamily="2" charset="-78"/>
                <a:ea typeface="+mj-ea"/>
                <a:cs typeface="Sakkal Majalla" panose="02000000000000000000" pitchFamily="2" charset="-78"/>
              </a:rPr>
              <a:t>مشاهدات على </a:t>
            </a:r>
            <a:r>
              <a:rPr lang="ar-EG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الشبكات في الوضع الحالي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F8CD7D-31A1-6DA7-B5AE-8ECA389A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DD5D3-7DDF-AE0D-E50A-FA24FAC38B74}"/>
              </a:ext>
            </a:extLst>
          </p:cNvPr>
          <p:cNvSpPr txBox="1"/>
          <p:nvPr/>
        </p:nvSpPr>
        <p:spPr>
          <a:xfrm>
            <a:off x="1491916" y="1409109"/>
            <a:ext cx="980974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1. البنية التحتية الحالية للشبكة</a:t>
            </a:r>
          </a:p>
          <a:p>
            <a:pPr algn="r" rtl="1"/>
            <a:r>
              <a:rPr lang="ar-SA" b="1" dirty="0"/>
              <a:t>أ. الأجهزة الشبكية</a:t>
            </a:r>
          </a:p>
          <a:p>
            <a:pPr algn="r" rtl="1"/>
            <a:r>
              <a:rPr lang="ar-SA" dirty="0"/>
              <a:t>تحتوي الشبكة الحالية على مجموعة متنوعة من الأجهزة، موزعة عبر مواقع متعددة مثل </a:t>
            </a:r>
            <a:r>
              <a:rPr lang="en-US" b="1" dirty="0"/>
              <a:t>Mobily DC، NADA، Tower01</a:t>
            </a:r>
            <a:r>
              <a:rPr lang="en-US" dirty="0"/>
              <a:t>، </a:t>
            </a:r>
            <a:r>
              <a:rPr lang="ar-SA" dirty="0"/>
              <a:t>وتشمل:</a:t>
            </a:r>
            <a:endParaRPr lang="ar-EG" dirty="0"/>
          </a:p>
          <a:p>
            <a:pPr algn="r" rtl="1"/>
            <a:endParaRPr lang="ar-EG" dirty="0"/>
          </a:p>
          <a:p>
            <a:pPr algn="r" rtl="1"/>
            <a:r>
              <a:rPr lang="ar-SA" b="1" dirty="0" err="1"/>
              <a:t>الراوترات</a:t>
            </a:r>
            <a:r>
              <a:rPr lang="ar-SA" b="1" dirty="0"/>
              <a:t> </a:t>
            </a:r>
            <a:r>
              <a:rPr lang="en-US" b="1" dirty="0"/>
              <a:t>Routers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الأجهزة المستخدمة تشمل </a:t>
            </a:r>
            <a:r>
              <a:rPr lang="en-US" b="1" dirty="0"/>
              <a:t>Cisco ISR4331/K9، Cisco 3945، Cisco 2911/K9</a:t>
            </a:r>
            <a:r>
              <a:rPr lang="en-US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بعض </a:t>
            </a:r>
            <a:r>
              <a:rPr lang="ar-SA" dirty="0" err="1"/>
              <a:t>الراوترات</a:t>
            </a:r>
            <a:r>
              <a:rPr lang="ar-SA" dirty="0"/>
              <a:t> الحرجة المصنفة </a:t>
            </a:r>
            <a:r>
              <a:rPr lang="en-US" b="1" dirty="0"/>
              <a:t>Critical</a:t>
            </a:r>
            <a:r>
              <a:rPr lang="en-US" dirty="0"/>
              <a:t> </a:t>
            </a:r>
            <a:r>
              <a:rPr lang="ar-SA" dirty="0"/>
              <a:t>تشمل: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ETECGCR01.nca.local 10.10.250.88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MRS-LITE-ETEC-RYD-IPVPN 10.6.250.27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MRS-LITE-ETEC-RYD-150M-DIA 10.6.250.28</a:t>
            </a:r>
            <a:endParaRPr lang="en-US" dirty="0"/>
          </a:p>
          <a:p>
            <a:pPr algn="r" rtl="1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62902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99D6-2DD4-8197-1B50-B1F0696E4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24B7-A691-BC0A-19DF-E8BE03C5E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6593"/>
            <a:ext cx="10972800" cy="666261"/>
          </a:xfrm>
        </p:spPr>
        <p:txBody>
          <a:bodyPr/>
          <a:lstStyle/>
          <a:p>
            <a:pPr rtl="0"/>
            <a:r>
              <a:rPr lang="ar-EG" sz="2400" b="1" dirty="0">
                <a:solidFill>
                  <a:schemeClr val="accent1"/>
                </a:solidFill>
                <a:latin typeface="Sakkal Majalla" panose="02000000000000000000" pitchFamily="2" charset="-78"/>
                <a:ea typeface="+mj-ea"/>
                <a:cs typeface="Sakkal Majalla" panose="02000000000000000000" pitchFamily="2" charset="-78"/>
              </a:rPr>
              <a:t>مشاهدات </a:t>
            </a:r>
            <a:r>
              <a:rPr lang="ar-EG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على الشبكات في الوضع الحالي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8AE9AA-2868-5B68-8B6D-CBA9D299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7FBEF-6460-2C16-6B28-02666929346B}"/>
              </a:ext>
            </a:extLst>
          </p:cNvPr>
          <p:cNvSpPr txBox="1"/>
          <p:nvPr/>
        </p:nvSpPr>
        <p:spPr>
          <a:xfrm>
            <a:off x="1491916" y="1409109"/>
            <a:ext cx="98097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1. البنية التحتية الحالية للشبكة</a:t>
            </a:r>
          </a:p>
          <a:p>
            <a:pPr algn="r" rtl="1"/>
            <a:r>
              <a:rPr lang="ar-SA" b="1" dirty="0"/>
              <a:t>أ. الأجهزة الشبكية</a:t>
            </a:r>
          </a:p>
          <a:p>
            <a:pPr algn="r" rtl="1"/>
            <a:r>
              <a:rPr lang="ar-SA" dirty="0"/>
              <a:t>تحتوي الشبكة الحالية على مجموعة متنوعة من الأجهزة، موزعة عبر مواقع متعددة مثل </a:t>
            </a:r>
            <a:r>
              <a:rPr lang="en-US" b="1" dirty="0"/>
              <a:t>Mobily DC، NADA، Tower01</a:t>
            </a:r>
            <a:r>
              <a:rPr lang="en-US" dirty="0"/>
              <a:t>، </a:t>
            </a:r>
            <a:r>
              <a:rPr lang="ar-SA" dirty="0"/>
              <a:t>وتشمل:</a:t>
            </a:r>
            <a:endParaRPr lang="ar-EG" dirty="0"/>
          </a:p>
          <a:p>
            <a:pPr algn="r" rtl="1"/>
            <a:endParaRPr lang="ar-EG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الموزعات </a:t>
            </a:r>
            <a:r>
              <a:rPr lang="en-US" b="1" dirty="0"/>
              <a:t>Switches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Core Switches </a:t>
            </a:r>
            <a:r>
              <a:rPr lang="ar-SA" b="1" dirty="0"/>
              <a:t>موزعات العمود الفقري:</a:t>
            </a:r>
            <a:r>
              <a:rPr lang="ar-SA" dirty="0"/>
              <a:t> </a:t>
            </a:r>
            <a:r>
              <a:rPr lang="en-US" b="1" dirty="0"/>
              <a:t>Cisco Nexus 7700، Catalyst 9500.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Distribution Switches</a:t>
            </a:r>
            <a:r>
              <a:rPr lang="ar-SA" b="1" dirty="0"/>
              <a:t>موزعات التوزيع: </a:t>
            </a:r>
            <a:r>
              <a:rPr lang="en-US" b="1" dirty="0"/>
              <a:t>Cisco Catalyst 9300، Catalyst 3850.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Access Switches </a:t>
            </a:r>
            <a:r>
              <a:rPr lang="ar-SA" b="1" dirty="0"/>
              <a:t>موزعات الوصول: </a:t>
            </a:r>
            <a:r>
              <a:rPr lang="en-US" b="1" dirty="0"/>
              <a:t>WS-C2960X-48FPS-L، C9300-48Y4C.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بعض الموزعات المصنفة </a:t>
            </a:r>
            <a:r>
              <a:rPr lang="en-US" b="1" dirty="0"/>
              <a:t>Critical</a:t>
            </a:r>
            <a:r>
              <a:rPr lang="en-US" dirty="0"/>
              <a:t> </a:t>
            </a:r>
            <a:r>
              <a:rPr lang="ar-SA" dirty="0"/>
              <a:t>تشمل:</a:t>
            </a:r>
          </a:p>
          <a:p>
            <a:pPr marL="1143000" lvl="2" indent="-228600" algn="r" rtl="1">
              <a:buFont typeface="Arial" panose="020B0604020202020204" pitchFamily="34" charset="0"/>
              <a:buChar char="•"/>
            </a:pPr>
            <a:r>
              <a:rPr lang="en-US" b="1" dirty="0"/>
              <a:t>Campus-Core01 10.10.210.51</a:t>
            </a:r>
            <a:endParaRPr lang="en-US" dirty="0"/>
          </a:p>
          <a:p>
            <a:pPr marL="1143000" lvl="2" indent="-228600" algn="r" rtl="1">
              <a:buFont typeface="Arial" panose="020B0604020202020204" pitchFamily="34" charset="0"/>
              <a:buChar char="•"/>
            </a:pPr>
            <a:r>
              <a:rPr lang="en-US" b="1" dirty="0"/>
              <a:t>Server-Core01 10.10.250.50</a:t>
            </a:r>
            <a:endParaRPr lang="en-US" dirty="0"/>
          </a:p>
          <a:p>
            <a:pPr marL="1143000" lvl="2" indent="-228600" algn="r" rtl="1">
              <a:buFont typeface="Arial" panose="020B0604020202020204" pitchFamily="34" charset="0"/>
              <a:buChar char="•"/>
            </a:pPr>
            <a:r>
              <a:rPr lang="en-US" b="1" dirty="0"/>
              <a:t>WAN SW 10.10.250.75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وحدات التحكم اللاسلكي </a:t>
            </a:r>
            <a:r>
              <a:rPr lang="en-US" b="1" dirty="0"/>
              <a:t>Wireless Controllers: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Cisco 9800 Tower01 - 10.6.248.10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AIR-CT5508-K9 NADA_WLC_1 - 10.5.251.5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أنظمة إدارة الاتصالات </a:t>
            </a:r>
            <a:r>
              <a:rPr lang="en-US" b="1" dirty="0"/>
              <a:t>Call Manager</a:t>
            </a:r>
            <a:endParaRPr lang="en-US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b="1" dirty="0"/>
              <a:t>Call Manager BE7KH، BE7KM</a:t>
            </a:r>
            <a:endParaRPr lang="en-US" dirty="0"/>
          </a:p>
          <a:p>
            <a:pPr algn="r" rtl="1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34604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E0EFF-01D2-806A-274E-EC27B021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F67E-6C40-BAA4-AC7B-6B1661094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6593"/>
            <a:ext cx="10972800" cy="666261"/>
          </a:xfrm>
        </p:spPr>
        <p:txBody>
          <a:bodyPr/>
          <a:lstStyle/>
          <a:p>
            <a:pPr rtl="0"/>
            <a:r>
              <a:rPr lang="ar-EG" sz="2400" b="1" dirty="0">
                <a:solidFill>
                  <a:schemeClr val="accent1"/>
                </a:solidFill>
                <a:latin typeface="Sakkal Majalla" panose="02000000000000000000" pitchFamily="2" charset="-78"/>
                <a:ea typeface="+mj-ea"/>
                <a:cs typeface="Sakkal Majalla" panose="02000000000000000000" pitchFamily="2" charset="-78"/>
              </a:rPr>
              <a:t>مشاهدات </a:t>
            </a:r>
            <a:r>
              <a:rPr lang="ar-EG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على الشبكات في الوضع الحالي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E06BE1-00C2-F1E0-BF19-01FF586A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5839B-B3A0-93E7-2337-279E05087ABA}"/>
              </a:ext>
            </a:extLst>
          </p:cNvPr>
          <p:cNvSpPr txBox="1"/>
          <p:nvPr/>
        </p:nvSpPr>
        <p:spPr>
          <a:xfrm>
            <a:off x="1491916" y="1409109"/>
            <a:ext cx="98097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1. البنية التحتية الحالية للشبكة</a:t>
            </a:r>
          </a:p>
          <a:p>
            <a:pPr algn="r" rtl="1"/>
            <a:r>
              <a:rPr lang="ar-SA" b="1" dirty="0"/>
              <a:t>أ. الأجهزة الشبكية</a:t>
            </a:r>
          </a:p>
          <a:p>
            <a:pPr algn="r" rtl="1"/>
            <a:r>
              <a:rPr lang="ar-SA" dirty="0"/>
              <a:t>تحتوي الشبكة الحالية على مجموعة متنوعة من الأجهزة، موزعة عبر مواقع متعددة مثل </a:t>
            </a:r>
            <a:r>
              <a:rPr lang="en-US" b="1" dirty="0"/>
              <a:t>Mobily DC، NADA، Tower01</a:t>
            </a:r>
            <a:r>
              <a:rPr lang="en-US" dirty="0"/>
              <a:t>، </a:t>
            </a:r>
            <a:r>
              <a:rPr lang="ar-SA" dirty="0"/>
              <a:t>وتشمل:</a:t>
            </a:r>
            <a:endParaRPr lang="ar-EG" dirty="0"/>
          </a:p>
          <a:p>
            <a:pPr algn="r" rtl="1"/>
            <a:endParaRPr lang="ar-EG" dirty="0"/>
          </a:p>
          <a:p>
            <a:pPr algn="r" rtl="1"/>
            <a:r>
              <a:rPr lang="ar-SA" b="1" dirty="0"/>
              <a:t>ب. أنظمة الإدارة والمراقبة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Cisco Prime Infrastructure 3.x</a:t>
            </a:r>
            <a:r>
              <a:rPr lang="en-US" dirty="0"/>
              <a:t> </a:t>
            </a:r>
            <a:r>
              <a:rPr lang="ar-SA" dirty="0"/>
              <a:t>لإدارة الشبكة وضمان جودتها.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Cisco DNA Center</a:t>
            </a:r>
            <a:r>
              <a:rPr lang="en-US" dirty="0"/>
              <a:t> </a:t>
            </a:r>
            <a:r>
              <a:rPr lang="ar-SA" dirty="0"/>
              <a:t>لتحليل الأداء والتحكم الذكي.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Thousand Eyes </a:t>
            </a:r>
            <a:r>
              <a:rPr lang="ar-SA" b="1" dirty="0"/>
              <a:t>و </a:t>
            </a:r>
            <a:r>
              <a:rPr lang="en-US" b="1" dirty="0"/>
              <a:t>SolarWinds</a:t>
            </a:r>
            <a:r>
              <a:rPr lang="en-US" dirty="0"/>
              <a:t> </a:t>
            </a:r>
            <a:r>
              <a:rPr lang="ar-SA" dirty="0"/>
              <a:t>لمراقبة أداء الشبكة والتطبيقات.</a:t>
            </a:r>
          </a:p>
          <a:p>
            <a:pPr algn="r" rtl="1"/>
            <a:r>
              <a:rPr lang="ar-SA" b="1" dirty="0"/>
              <a:t>ج. أنظمة الأمان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Cisco Firepower NGFW </a:t>
            </a:r>
            <a:r>
              <a:rPr lang="ar-SA" b="1" dirty="0"/>
              <a:t>جدار ناري متقدم لم يتم ذكره لكنه مطلوب.</a:t>
            </a:r>
            <a:endParaRPr lang="ar-SA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Cisco ISE </a:t>
            </a:r>
            <a:r>
              <a:rPr lang="ar-SA" b="1" dirty="0"/>
              <a:t>إدارة الهوية والتحكم في الوصول.</a:t>
            </a:r>
            <a:endParaRPr lang="ar-SA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Email Security Appliance، Secure Web Appliance </a:t>
            </a:r>
            <a:r>
              <a:rPr lang="ar-SA" b="1" dirty="0"/>
              <a:t>للحماية من التهديدات الإلكترونية</a:t>
            </a:r>
            <a:r>
              <a:rPr lang="ar-SA" dirty="0">
                <a:solidFill>
                  <a:srgbClr val="FF0000"/>
                </a:solidFill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WS02 Identity Server</a:t>
            </a:r>
            <a:r>
              <a:rPr lang="en-US" dirty="0"/>
              <a:t> </a:t>
            </a:r>
            <a:r>
              <a:rPr lang="ar-SA" dirty="0"/>
              <a:t>لإدارة الهوية والأمان.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dirty="0"/>
              <a:t>Appdynamics </a:t>
            </a:r>
            <a:r>
              <a:rPr lang="ar-SA" dirty="0"/>
              <a:t> لمراقبة سير عمليات تطبيقات الهيئة الداخلية والخارجية ورصد المشاكل التقنية الواردة و إصدار تقارير جلسات المستخدمين الداخليين والخارجيين من جميع نواحي البنية التقنية التحتية، قواعد البيانات والتطوير للتحليل وحلها.</a:t>
            </a:r>
          </a:p>
          <a:p>
            <a:pPr algn="r" rtl="1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29387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97910-2C78-4843-9D56-15C224A9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2C42-EE1E-78D9-F1C1-055741E3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52" y="340392"/>
            <a:ext cx="10972800" cy="666261"/>
          </a:xfrm>
        </p:spPr>
        <p:txBody>
          <a:bodyPr/>
          <a:lstStyle/>
          <a:p>
            <a:pPr rtl="0"/>
            <a:r>
              <a:rPr lang="ar-EG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الضعف والتحديات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E8E462-11AE-0016-6A2A-9B661DC7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B51B4-1288-80A5-847F-6D543353377E}"/>
              </a:ext>
            </a:extLst>
          </p:cNvPr>
          <p:cNvSpPr txBox="1"/>
          <p:nvPr/>
        </p:nvSpPr>
        <p:spPr>
          <a:xfrm>
            <a:off x="621452" y="884366"/>
            <a:ext cx="110973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SA" sz="1600" dirty="0"/>
              <a:t>1️⃣ </a:t>
            </a:r>
            <a:r>
              <a:rPr lang="ar-SA" sz="1600" b="1" dirty="0"/>
              <a:t>عدم وجود أتمتة متكاملة عبر </a:t>
            </a:r>
            <a:r>
              <a:rPr lang="en-US" sz="1600" b="1" dirty="0"/>
              <a:t>SDN </a:t>
            </a:r>
            <a:r>
              <a:rPr lang="ar-SA" sz="1600" b="1" dirty="0"/>
              <a:t>للتحكم الذكي في الشبكة</a:t>
            </a:r>
            <a:endParaRPr lang="ar-SA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التحدي</a:t>
            </a:r>
            <a:r>
              <a:rPr lang="ar-SA" sz="1600" dirty="0"/>
              <a:t>: الشبكات التقليدية تحتاج إلى تدخل يدوي لإدارتها، مما يؤدي إلى بطء الاستجابة للأعطال وصعوبة التوسع.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التأثير</a:t>
            </a:r>
            <a:r>
              <a:rPr lang="ar-SA" sz="1600" dirty="0"/>
              <a:t>: غياب </a:t>
            </a:r>
            <a:r>
              <a:rPr lang="en-US" sz="1600" b="1" dirty="0"/>
              <a:t>Software-Defined Networking (SDN)</a:t>
            </a:r>
            <a:r>
              <a:rPr lang="en-US" sz="1600" dirty="0"/>
              <a:t> </a:t>
            </a:r>
            <a:r>
              <a:rPr lang="ar-SA" sz="1600" dirty="0"/>
              <a:t>يعني أن الإدارة ليست ديناميكية أو قابلة للتكيف مع المتغيرات، مما يقلل من كفاءة استخدام الموارد ويزيد من التكاليف التشغيلية.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الحل المقترح</a:t>
            </a:r>
            <a:r>
              <a:rPr lang="ar-SA" sz="1600" dirty="0"/>
              <a:t>: دمج </a:t>
            </a:r>
            <a:r>
              <a:rPr lang="en-US" sz="1600" dirty="0"/>
              <a:t>SDN </a:t>
            </a:r>
            <a:r>
              <a:rPr lang="ar-SA" sz="1600" dirty="0"/>
              <a:t>يمكن أن يتيح </a:t>
            </a:r>
            <a:r>
              <a:rPr lang="ar-SA" sz="1600" b="1" dirty="0"/>
              <a:t>الإدارة المركزية الذكية</a:t>
            </a:r>
            <a:r>
              <a:rPr lang="ar-SA" sz="1600" dirty="0"/>
              <a:t>، مما يوفر </a:t>
            </a:r>
            <a:r>
              <a:rPr lang="ar-SA" sz="1600" b="1" dirty="0"/>
              <a:t>أتمتة التكوينات، تحسين الأداء، واستجابة أسرع للأعطال</a:t>
            </a:r>
            <a:r>
              <a:rPr lang="ar-SA" sz="1600" dirty="0"/>
              <a:t>.</a:t>
            </a:r>
            <a:endParaRPr lang="ar-EG" sz="1600" dirty="0"/>
          </a:p>
          <a:p>
            <a:pPr algn="r" rtl="1">
              <a:buFont typeface="Arial" panose="020B0604020202020204" pitchFamily="34" charset="0"/>
              <a:buChar char="•"/>
            </a:pPr>
            <a:endParaRPr lang="ar-SA" sz="1600" dirty="0"/>
          </a:p>
          <a:p>
            <a:pPr algn="r" rtl="1">
              <a:buNone/>
            </a:pPr>
            <a:r>
              <a:rPr lang="ar-SA" sz="1600" dirty="0"/>
              <a:t>2️⃣ </a:t>
            </a:r>
            <a:r>
              <a:rPr lang="ar-SA" sz="1600" b="1" dirty="0"/>
              <a:t>عدم تكرار بعض الأجهزة الحرجة، مما يمثل نقطة ضعف محتملة</a:t>
            </a:r>
            <a:endParaRPr lang="ar-SA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التحدي</a:t>
            </a:r>
            <a:r>
              <a:rPr lang="ar-SA" sz="1600" dirty="0"/>
              <a:t>: وجود مكونات أساسية بدون </a:t>
            </a:r>
            <a:r>
              <a:rPr lang="ar-SA" sz="1600" b="1" dirty="0"/>
              <a:t>تكرار </a:t>
            </a:r>
            <a:r>
              <a:rPr lang="en-US" sz="1600" b="1" dirty="0"/>
              <a:t>Redundancy</a:t>
            </a:r>
            <a:r>
              <a:rPr lang="en-US" sz="1600" dirty="0"/>
              <a:t> </a:t>
            </a:r>
            <a:r>
              <a:rPr lang="ar-SA" sz="1600" dirty="0"/>
              <a:t>يجعل الشبكة عرضة للتوقف في حالة تعطل أي جهاز رئيسي.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التأثير</a:t>
            </a:r>
            <a:r>
              <a:rPr lang="ar-SA" sz="1600" dirty="0"/>
              <a:t>: إذا تعطل جهاز رئيسي مثل </a:t>
            </a:r>
            <a:r>
              <a:rPr lang="ar-SA" sz="1600" b="1" dirty="0"/>
              <a:t>موزّع </a:t>
            </a:r>
            <a:r>
              <a:rPr lang="en-US" sz="1600" b="1" dirty="0"/>
              <a:t>Core Switch </a:t>
            </a:r>
            <a:r>
              <a:rPr lang="ar-SA" sz="1600" b="1" dirty="0"/>
              <a:t>أو جدار ناري (</a:t>
            </a:r>
            <a:r>
              <a:rPr lang="en-US" sz="1600" b="1" dirty="0"/>
              <a:t>Firewall)</a:t>
            </a:r>
            <a:r>
              <a:rPr lang="en-US" sz="1600" dirty="0"/>
              <a:t>، </a:t>
            </a:r>
            <a:r>
              <a:rPr lang="ar-SA" sz="1600" dirty="0"/>
              <a:t>فقد يؤدي ذلك إلى </a:t>
            </a:r>
            <a:r>
              <a:rPr lang="ar-SA" sz="1600" b="1" dirty="0"/>
              <a:t>انقطاع كامل للخدمة</a:t>
            </a:r>
            <a:r>
              <a:rPr lang="ar-SA" sz="1600" dirty="0"/>
              <a:t>، مما يؤثر على العمليات التشغيلية.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الحل المقترح</a:t>
            </a:r>
            <a:r>
              <a:rPr lang="ar-SA" sz="1600" dirty="0"/>
              <a:t>: تنفيذ خطط </a:t>
            </a:r>
            <a:r>
              <a:rPr lang="ar-SA" sz="1600" b="1" dirty="0"/>
              <a:t>التكرار الفعال </a:t>
            </a:r>
            <a:r>
              <a:rPr lang="en-US" sz="1600" b="1" dirty="0"/>
              <a:t>High Availability - HA</a:t>
            </a:r>
            <a:r>
              <a:rPr lang="en-US" sz="1600" dirty="0"/>
              <a:t> </a:t>
            </a:r>
            <a:r>
              <a:rPr lang="ar-SA" sz="1600" dirty="0"/>
              <a:t>باستخدام أجهزة </a:t>
            </a:r>
            <a:r>
              <a:rPr lang="ar-SA" sz="1600" b="1" dirty="0"/>
              <a:t>بديلة أو مزدوجة</a:t>
            </a:r>
            <a:r>
              <a:rPr lang="ar-SA" sz="1600" dirty="0"/>
              <a:t>، مما يضمن استمرار العمل حتى في حالة حدوث عطل.</a:t>
            </a:r>
            <a:endParaRPr lang="ar-EG" sz="1600" dirty="0"/>
          </a:p>
          <a:p>
            <a:pPr algn="r" rtl="1">
              <a:buFont typeface="Arial" panose="020B0604020202020204" pitchFamily="34" charset="0"/>
              <a:buChar char="•"/>
            </a:pPr>
            <a:endParaRPr lang="ar-SA" sz="1600" dirty="0"/>
          </a:p>
          <a:p>
            <a:pPr algn="r" rtl="1">
              <a:buNone/>
            </a:pPr>
            <a:r>
              <a:rPr lang="ar-SA" sz="1600" dirty="0"/>
              <a:t>3️⃣ </a:t>
            </a:r>
            <a:r>
              <a:rPr lang="ar-SA" sz="1600" b="1" dirty="0"/>
              <a:t>استخدام أجهزة قديمة مثل </a:t>
            </a:r>
            <a:r>
              <a:rPr lang="en-US" sz="1600" b="1" dirty="0"/>
              <a:t>Cisco 3945 </a:t>
            </a:r>
            <a:r>
              <a:rPr lang="ar-SA" sz="1600" b="1" dirty="0"/>
              <a:t>و </a:t>
            </a:r>
            <a:r>
              <a:rPr lang="en-US" sz="1600" b="1" dirty="0"/>
              <a:t>Cisco 2911</a:t>
            </a:r>
            <a:endParaRPr lang="en-US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التحدي</a:t>
            </a:r>
            <a:r>
              <a:rPr lang="ar-SA" sz="1600" dirty="0"/>
              <a:t>: هذه الأجهزة تنتمي إلى جيل قديم من </a:t>
            </a:r>
            <a:r>
              <a:rPr lang="ar-SA" sz="1600" b="1" dirty="0"/>
              <a:t>الموجهات </a:t>
            </a:r>
            <a:r>
              <a:rPr lang="en-US" sz="1600" b="1" dirty="0"/>
              <a:t>Routers</a:t>
            </a:r>
            <a:r>
              <a:rPr lang="en-US" sz="1600" dirty="0"/>
              <a:t>، </a:t>
            </a:r>
            <a:r>
              <a:rPr lang="ar-SA" sz="1600" dirty="0"/>
              <a:t>وتفتقر إلى </a:t>
            </a:r>
            <a:r>
              <a:rPr lang="ar-SA" sz="1600" b="1" dirty="0"/>
              <a:t>الدعم الكامل لأحدث التقنيات</a:t>
            </a:r>
            <a:r>
              <a:rPr lang="ar-SA" sz="1600" dirty="0"/>
              <a:t> مثل </a:t>
            </a:r>
            <a:r>
              <a:rPr lang="en-US" sz="1600" b="1" dirty="0"/>
              <a:t>SD-WAN، </a:t>
            </a:r>
            <a:r>
              <a:rPr lang="ar-SA" sz="1600" b="1" dirty="0"/>
              <a:t>التشفير المتقدم، وتحليل البيانات في الزمن الفعلي</a:t>
            </a:r>
            <a:r>
              <a:rPr lang="ar-SA" sz="1600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التأثير</a:t>
            </a:r>
            <a:r>
              <a:rPr lang="ar-SA" sz="1600" dirty="0"/>
              <a:t>: الأداء أقل مقارنة بالأجهزة الحديثة، </a:t>
            </a:r>
            <a:r>
              <a:rPr lang="ar-SA" sz="1600" b="1" dirty="0"/>
              <a:t>محدودية في قابلية التوسع</a:t>
            </a:r>
            <a:r>
              <a:rPr lang="ar-SA" sz="1600" dirty="0"/>
              <a:t>، وعدم توفر تحديثات أمنية جديدة من الشركة المصنعة.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الحل المقترح</a:t>
            </a:r>
            <a:r>
              <a:rPr lang="ar-SA" sz="1600" dirty="0"/>
              <a:t>: استبدال الأجهزة بأخرى حديثة مثل </a:t>
            </a:r>
            <a:r>
              <a:rPr lang="en-US" sz="1600" b="1" dirty="0"/>
              <a:t>Cisco ISR 4000 Series</a:t>
            </a:r>
            <a:r>
              <a:rPr lang="en-US" sz="1600" dirty="0"/>
              <a:t> </a:t>
            </a:r>
            <a:r>
              <a:rPr lang="ar-SA" sz="1600" dirty="0"/>
              <a:t>أو حلول </a:t>
            </a:r>
            <a:r>
              <a:rPr lang="en-US" sz="1600" dirty="0"/>
              <a:t>SD-WAN </a:t>
            </a:r>
            <a:r>
              <a:rPr lang="ar-SA" sz="1600" dirty="0"/>
              <a:t>المتقدمة لتحسين </a:t>
            </a:r>
            <a:r>
              <a:rPr lang="ar-SA" sz="1600" b="1" dirty="0"/>
              <a:t>الأداء، الأمان، والإدارة الذكية</a:t>
            </a:r>
            <a:r>
              <a:rPr lang="ar-SA" sz="1600" dirty="0"/>
              <a:t>.</a:t>
            </a:r>
            <a:endParaRPr lang="ar-EG" sz="1600" dirty="0"/>
          </a:p>
          <a:p>
            <a:pPr algn="r" rtl="1">
              <a:buFont typeface="Arial" panose="020B0604020202020204" pitchFamily="34" charset="0"/>
              <a:buChar char="•"/>
            </a:pPr>
            <a:endParaRPr lang="ar-SA" sz="1600" dirty="0"/>
          </a:p>
          <a:p>
            <a:pPr algn="r" rtl="1">
              <a:buNone/>
            </a:pPr>
            <a:r>
              <a:rPr lang="ar-SA" sz="1600" dirty="0"/>
              <a:t>4️⃣ </a:t>
            </a:r>
            <a:r>
              <a:rPr lang="ar-SA" sz="1600" b="1" dirty="0"/>
              <a:t>الحاجة إلى تحديث الأمان السيبراني وتكامل الحلول الأمنية مثل </a:t>
            </a:r>
            <a:r>
              <a:rPr lang="en-US" sz="1600" b="1" dirty="0"/>
              <a:t>Cisco Firepower NGFW</a:t>
            </a:r>
            <a:endParaRPr lang="en-US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التحدي</a:t>
            </a:r>
            <a:r>
              <a:rPr lang="ar-SA" sz="1600" dirty="0"/>
              <a:t>: مع ازدياد الهجمات السيبرانية، يجب أن تحتوي الشبكة على أحدث أنظمة الحماية. استخدام جدران حماية تقليدية فقط لا يكفي لمواجهة </a:t>
            </a:r>
            <a:r>
              <a:rPr lang="ar-SA" sz="1600" b="1" dirty="0"/>
              <a:t>الهجمات المتطورة (</a:t>
            </a:r>
            <a:r>
              <a:rPr lang="en-US" sz="1600" b="1" dirty="0"/>
              <a:t>Zero-Day Attacks, Ransomware, Advanced Persistent Threats - APTs)</a:t>
            </a:r>
            <a:r>
              <a:rPr lang="en-US" sz="1600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التأثير</a:t>
            </a:r>
            <a:r>
              <a:rPr lang="ar-SA" sz="1600" dirty="0"/>
              <a:t>: </a:t>
            </a:r>
            <a:r>
              <a:rPr lang="ar-SA" sz="1600" b="1" dirty="0"/>
              <a:t>الثغرات الأمنية الحالية</a:t>
            </a:r>
            <a:r>
              <a:rPr lang="ar-SA" sz="1600" dirty="0"/>
              <a:t> قد تسمح </a:t>
            </a:r>
            <a:r>
              <a:rPr lang="ar-SA" sz="1600" b="1" dirty="0"/>
              <a:t>بالهجمات الإلكترونية، تسرب البيانات، وانتهاك الامتثال التنظيمي</a:t>
            </a:r>
            <a:r>
              <a:rPr lang="ar-SA" sz="1600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sz="1600" b="1" dirty="0"/>
              <a:t>الحل المقترح</a:t>
            </a:r>
            <a:r>
              <a:rPr lang="ar-SA" sz="1600" dirty="0"/>
              <a:t>: تحديث البنية الأمنية باستخدام </a:t>
            </a:r>
            <a:r>
              <a:rPr lang="en-US" sz="1600" b="1" dirty="0"/>
              <a:t>Cisco Firepower Next-Generation Firewall (NGFW)</a:t>
            </a:r>
            <a:r>
              <a:rPr lang="en-US" sz="1600" dirty="0"/>
              <a:t> </a:t>
            </a:r>
            <a:r>
              <a:rPr lang="ar-SA" sz="1600" dirty="0"/>
              <a:t>مع تفعيل </a:t>
            </a:r>
            <a:r>
              <a:rPr lang="en-US" sz="1600" b="1" dirty="0"/>
              <a:t>IPS (Intrusion Prevention System)، </a:t>
            </a:r>
            <a:r>
              <a:rPr lang="ar-SA" sz="1600" b="1" dirty="0"/>
              <a:t>تحليل التهديدات السلوكية، وتكامل مع أنظمة </a:t>
            </a:r>
            <a:r>
              <a:rPr lang="en-US" sz="1600" b="1" dirty="0"/>
              <a:t>SIEM </a:t>
            </a:r>
            <a:r>
              <a:rPr lang="ar-SA" sz="1600" b="1" dirty="0"/>
              <a:t>للأمان المركزي</a:t>
            </a:r>
            <a:r>
              <a:rPr lang="ar-SA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683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9B5B-8C3D-EBA9-4A0F-9E429460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التوجهات المستقبلية للبنية التقنية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C69B93-524A-4A32-3399-DAEFE451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20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174885-F5E4-2A7E-7FA0-2A6630416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ar-SA" dirty="0"/>
              <a:t>تعزيز التكامل والربط البيني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12C60C-0CF5-4859-FE9A-BB752BF5E1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SA" dirty="0"/>
              <a:t>ضمان تكامل الأنظمة والخدمات الرقمية عبر مختلف المنصات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91DD51-10CD-FBC7-34BF-0D75EB67E7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ar-SA" dirty="0"/>
              <a:t>تحقيق التحول الرقمي الشامل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95E796-6280-F574-06CF-2B3303E1F5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ar-SA" dirty="0"/>
              <a:t>تطوير بنية تقنية مرنة تدعم الابتكار والاستدامة التقنية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99BD75-5391-9C1B-ED35-EAEACD36B4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ar-SA" dirty="0"/>
              <a:t>ضمان الأمان والامتثال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CB3E03-1069-336B-52E5-73BCACB3F8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ar-SA" dirty="0"/>
              <a:t>تطبيق أعلى معايير الأمن السيبراني وفقًا للسياسات الوطنية.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9CC0A24-A766-F9AF-056F-91CBFDEBC3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r>
              <a:rPr lang="ar-SA" dirty="0"/>
              <a:t>تحسين الأداء والكفاءة التشغيلية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6CC610D-8E08-85FF-56D0-B43F5E2594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ar-SA" dirty="0"/>
              <a:t>تبني أحدث الحلول السحابية والذكاء الاصطناعي لتحسين كفاءة العمليات التقنية.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76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A04B05-6B55-1D7A-0135-73745011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رؤية للخوادم المستقبلية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390D4-6107-9D78-0679-18E8D0D77D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1826C1-C7E3-91A6-50A1-B39256641D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3.0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05CC58-0D1A-858D-77A0-69952F2BCA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9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1D46A-1D2F-1551-6770-FA797134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تصور الوضع المستقبلي للخوادم - البنية المستهدفة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4750E4-0658-759F-BDCF-5BDD5492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498E3-9874-6B56-97FC-DC67F254E322}"/>
              </a:ext>
            </a:extLst>
          </p:cNvPr>
          <p:cNvSpPr txBox="1"/>
          <p:nvPr/>
        </p:nvSpPr>
        <p:spPr>
          <a:xfrm>
            <a:off x="5045243" y="13754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dirty="0"/>
              <a:t>لتجاوز التحديات المذكورة وتحقيق بيئة خوادم أكثر أمانًا واستدامة، يتم اقتراح التصميم التالي: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F83DC-CCEC-BBB4-0D9A-A1A59090C580}"/>
              </a:ext>
            </a:extLst>
          </p:cNvPr>
          <p:cNvSpPr txBox="1"/>
          <p:nvPr/>
        </p:nvSpPr>
        <p:spPr>
          <a:xfrm>
            <a:off x="994610" y="1859340"/>
            <a:ext cx="103471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1. توحيد أنظمة التشغيل وتقليل التنوع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الترحيل إلى أنظمة تشغيل حديثة ومدعومة بالكامل: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Windows Server 2016,2019 </a:t>
            </a:r>
            <a:r>
              <a:rPr lang="ar-SA" dirty="0"/>
              <a:t>→ </a:t>
            </a:r>
            <a:r>
              <a:rPr lang="en-US" dirty="0"/>
              <a:t>Windows Server 2022.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dirty="0"/>
              <a:t>CentOS RHEL 7 → RHEL 9 or Ubuntu LTS.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الأنظمة غير المدعومة مثل </a:t>
            </a:r>
            <a:r>
              <a:rPr lang="en-US" dirty="0"/>
              <a:t>Windows Server 2012 </a:t>
            </a:r>
            <a:r>
              <a:rPr lang="ar-SA" dirty="0"/>
              <a:t>يتم إيقافها واستبدالها.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dirty="0"/>
              <a:t>تقليل عدد الأنظمة التشغيلية المختلفة إلى </a:t>
            </a:r>
            <a:r>
              <a:rPr lang="en-US" dirty="0"/>
              <a:t>Windows Server </a:t>
            </a:r>
            <a:r>
              <a:rPr lang="ar-SA" dirty="0"/>
              <a:t>و </a:t>
            </a:r>
            <a:r>
              <a:rPr lang="en-US" dirty="0"/>
              <a:t>RHEL </a:t>
            </a:r>
            <a:r>
              <a:rPr lang="ar-SA" dirty="0"/>
              <a:t>و </a:t>
            </a:r>
            <a:r>
              <a:rPr lang="en-US" dirty="0"/>
              <a:t>Ubuntu LTS </a:t>
            </a:r>
            <a:r>
              <a:rPr lang="ar-SA" dirty="0"/>
              <a:t>فقط، مما يسهل الإدارة والدعم</a:t>
            </a:r>
            <a:r>
              <a:rPr lang="ar-SA" b="1" dirty="0"/>
              <a:t>.</a:t>
            </a:r>
            <a:endParaRPr lang="ar-EG" b="1" dirty="0"/>
          </a:p>
          <a:p>
            <a:pPr lvl="1" algn="r" rtl="1">
              <a:buFont typeface="Arial" panose="020B0604020202020204" pitchFamily="34" charset="0"/>
              <a:buChar char="•"/>
            </a:pPr>
            <a:endParaRPr lang="ar-EG" b="1" dirty="0"/>
          </a:p>
          <a:p>
            <a:pPr lvl="1" algn="r" rtl="1">
              <a:buFont typeface="Arial" panose="020B0604020202020204" pitchFamily="34" charset="0"/>
              <a:buChar char="•"/>
            </a:pPr>
            <a:endParaRPr lang="ar-SA" dirty="0"/>
          </a:p>
          <a:p>
            <a:pPr algn="r" rtl="1"/>
            <a:r>
              <a:rPr lang="ar-SA" b="1" dirty="0"/>
              <a:t>2. تحسين الأداء من خلال توزيع أفضل للموارد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dirty="0"/>
              <a:t>إعادة توزيع الأحمال عبر بيئة افتراضية</a:t>
            </a:r>
            <a:r>
              <a:rPr lang="ar-EG" dirty="0"/>
              <a:t> للأجهزة الفيزيائية </a:t>
            </a:r>
            <a:endParaRPr lang="en-US" dirty="0"/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dirty="0"/>
              <a:t>رفع الحد الأدنى لمواصفات الخوادم إلى 8 أنوية و16 جيجابايت من الذاكرة العشوائية.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dirty="0"/>
              <a:t>استبدال الخوادم ذات الأداء المنخفض بخوادم افتراضية على بيئة سحابية مرنة</a:t>
            </a:r>
            <a:r>
              <a:rPr lang="ar-SA" b="1" dirty="0"/>
              <a:t>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62550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372E8-79C1-04E1-B05A-286D8F1D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8E7C-3893-4BFC-0A8A-12662A242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تصور الوضع المستقبلي للخوادم - البنية المستهدفة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4F96F3-0986-2DF4-6833-8D8E3588B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C97ED-527E-BC6D-118D-68E2B566B014}"/>
              </a:ext>
            </a:extLst>
          </p:cNvPr>
          <p:cNvSpPr txBox="1"/>
          <p:nvPr/>
        </p:nvSpPr>
        <p:spPr>
          <a:xfrm>
            <a:off x="5045243" y="13754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dirty="0"/>
              <a:t>لتجاوز التحديات المذكورة وتحقيق بيئة خوادم أكثر أمانًا واستدامة، يتم اقتراح التصميم التالي: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AA4AD-C08A-E6F2-F14E-885695A3F460}"/>
              </a:ext>
            </a:extLst>
          </p:cNvPr>
          <p:cNvSpPr txBox="1"/>
          <p:nvPr/>
        </p:nvSpPr>
        <p:spPr>
          <a:xfrm>
            <a:off x="1179095" y="1979110"/>
            <a:ext cx="99621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3. إعادة هيكلة بيئة </a:t>
            </a:r>
            <a:r>
              <a:rPr lang="en-US" b="1" dirty="0"/>
              <a:t>DMZ </a:t>
            </a:r>
            <a:r>
              <a:rPr lang="ar-SA" b="1" dirty="0"/>
              <a:t>للأمان السيبراني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EG" dirty="0"/>
              <a:t>توحيد</a:t>
            </a:r>
            <a:r>
              <a:rPr lang="ar-SA" dirty="0"/>
              <a:t> بيئة </a:t>
            </a:r>
            <a:r>
              <a:rPr lang="en-US" dirty="0"/>
              <a:t>DMZ </a:t>
            </a:r>
            <a:r>
              <a:rPr lang="ar-SA" dirty="0"/>
              <a:t>تعتمد على </a:t>
            </a:r>
            <a:r>
              <a:rPr lang="en-US" dirty="0"/>
              <a:t>Linux </a:t>
            </a:r>
            <a:r>
              <a:rPr lang="ar-SA" dirty="0"/>
              <a:t>بشكل أساسي نظرًا لمرونته العالية وأمانه</a:t>
            </a:r>
            <a:r>
              <a:rPr lang="ar-EG" dirty="0"/>
              <a:t> و </a:t>
            </a:r>
            <a:r>
              <a:rPr lang="en-US" dirty="0"/>
              <a:t>DMZ </a:t>
            </a:r>
            <a:r>
              <a:rPr lang="ar-EG" dirty="0"/>
              <a:t> اخري الإصدارات الموحدة</a:t>
            </a:r>
            <a:endParaRPr lang="ar-SA" dirty="0"/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dirty="0"/>
              <a:t>تقليل عدد الأنظمة التشغيلية داخل </a:t>
            </a:r>
            <a:r>
              <a:rPr lang="en-US" dirty="0"/>
              <a:t>DMZ </a:t>
            </a:r>
            <a:r>
              <a:rPr lang="ar-SA" dirty="0"/>
              <a:t>لتكون موحدة بناءً على أنظمة تشغيل مدعومة.</a:t>
            </a:r>
          </a:p>
          <a:p>
            <a:pPr algn="r" rtl="1"/>
            <a:r>
              <a:rPr lang="ar-SA" b="1" dirty="0"/>
              <a:t>4. اعتماد الحلول السحابية والتقنيات الحديثة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dirty="0"/>
              <a:t>استخدام </a:t>
            </a:r>
            <a:r>
              <a:rPr lang="en-US" dirty="0"/>
              <a:t>Kubernetes </a:t>
            </a:r>
            <a:r>
              <a:rPr lang="ar-SA" dirty="0"/>
              <a:t>و</a:t>
            </a:r>
            <a:r>
              <a:rPr lang="en-US" dirty="0"/>
              <a:t>Docker </a:t>
            </a:r>
            <a:r>
              <a:rPr lang="ar-SA" dirty="0"/>
              <a:t>لتسهيل نشر التطبيقات وإدارتها بكفاءة.</a:t>
            </a:r>
          </a:p>
          <a:p>
            <a:pPr algn="r" rtl="1"/>
            <a:r>
              <a:rPr lang="ar-SA" b="1" dirty="0"/>
              <a:t>5. تحسين إدارة الأصول والبنية التحتية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dirty="0"/>
              <a:t>إنشاء قاعدة بيانات موحدة للأصول التقنية لتوثيق جميع الخوادم.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dirty="0"/>
              <a:t>تنفيذ نظام إدارة الأصول </a:t>
            </a:r>
            <a:r>
              <a:rPr lang="en-US" dirty="0"/>
              <a:t>IT Asset Management ITAM </a:t>
            </a:r>
            <a:r>
              <a:rPr lang="ar-SA" dirty="0"/>
              <a:t>لمتابعة الأجهزة وأنظمتها التشغيلية.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ar-SA" dirty="0"/>
              <a:t>تحديد دورة حياة واضحة للخوادم واستراتيجية لإعادة التدوير أو التحديث المستمر.</a:t>
            </a:r>
          </a:p>
        </p:txBody>
      </p:sp>
    </p:spTree>
    <p:extLst>
      <p:ext uri="{BB962C8B-B14F-4D97-AF65-F5344CB8AC3E}">
        <p14:creationId xmlns:p14="http://schemas.microsoft.com/office/powerpoint/2010/main" val="235980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88EF-22CB-2D98-409B-5206D668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00DE42-2266-775C-4BBB-3BB494EA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B1A160-A300-B0D6-5BDB-04B82987AE07}"/>
              </a:ext>
            </a:extLst>
          </p:cNvPr>
          <p:cNvGraphicFramePr>
            <a:graphicFrameLocks noGrp="1"/>
          </p:cNvGraphicFramePr>
          <p:nvPr/>
        </p:nvGraphicFramePr>
        <p:xfrm>
          <a:off x="569496" y="1283021"/>
          <a:ext cx="11053008" cy="498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363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16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ETECMUSTA10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تطبيقات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ETECBMCKCPP01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ETECIPAPP01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ETEC-Internal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بوابة داخلية (Internal Portal)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ETECAPIEIPP01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ETECBMCDSP01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ETECSCCMT02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ETECSCCMT02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ETECSURAPP003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ETECAYA01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ترقية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النظام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إلى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أحدث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إصدار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مدعوم</a:t>
                      </a:r>
                      <a:r>
                        <a:rPr sz="800" dirty="0"/>
                        <a:t>, </a:t>
                      </a:r>
                      <a:r>
                        <a:rPr sz="800" dirty="0" err="1"/>
                        <a:t>تفعيل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أدوات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مراقبة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مثل</a:t>
                      </a:r>
                      <a:r>
                        <a:rPr sz="800" dirty="0"/>
                        <a:t> Prometheus و Grafana, </a:t>
                      </a:r>
                      <a:r>
                        <a:rPr sz="800" dirty="0" err="1"/>
                        <a:t>تحسين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التوافق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مع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الحوسبة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السحابية</a:t>
                      </a:r>
                      <a:r>
                        <a:rPr sz="800" dirty="0"/>
                        <a:t>, </a:t>
                      </a:r>
                      <a:r>
                        <a:rPr sz="800" dirty="0" err="1"/>
                        <a:t>زيادة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الأتمتة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باستخدام</a:t>
                      </a:r>
                      <a:r>
                        <a:rPr sz="800" dirty="0"/>
                        <a:t>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ETECEXTAP02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64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419D-2893-41A2-6E40-0A399E89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6232-A0EF-CD66-E28D-CCFF3BCC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BD80A2-D0B6-D490-7672-C52C1DDE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5615E5-4E5A-D0A8-2DB2-A6F2A9E035F3}"/>
              </a:ext>
            </a:extLst>
          </p:cNvPr>
          <p:cNvGraphicFramePr>
            <a:graphicFrameLocks noGrp="1"/>
          </p:cNvGraphicFramePr>
          <p:nvPr/>
        </p:nvGraphicFramePr>
        <p:xfrm>
          <a:off x="926612" y="1130968"/>
          <a:ext cx="10643936" cy="544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78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3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08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04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ETECAPIPP03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ETECMKCLFTP01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ETECMKCL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QISRAXR3AOS03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ETECTRSAP04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ETECTRSAP04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ETECELAP15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ETECBMCKCPP03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ETECMUSTS01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ETECMUSTSTORAGE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تخزين (Storage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QISRTBS01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QISRTBS01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ETECJIRAAP03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900"/>
                        <a:t>ETECMUSTA07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خادم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تطبيقات</a:t>
                      </a:r>
                      <a:r>
                        <a:rPr sz="900" dirty="0"/>
                        <a:t>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64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4154D-ACFE-8CFC-D99E-CD8CEF77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CD34-4997-6538-676C-FB12692D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05DAAC-DC8F-6A37-BC5B-5C1BD2076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F9C081-5B61-02D3-1114-B3C91675DC10}"/>
              </a:ext>
            </a:extLst>
          </p:cNvPr>
          <p:cNvGraphicFramePr>
            <a:graphicFrameLocks noGrp="1"/>
          </p:cNvGraphicFramePr>
          <p:nvPr/>
        </p:nvGraphicFramePr>
        <p:xfrm>
          <a:off x="810126" y="1227339"/>
          <a:ext cx="107722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7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71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2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465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ETECDENSM01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ETECDENODO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ETECTRSAP08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ETECTRSAP02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ETECAPIAP01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ETECAPIAP01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ETECEXPW02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ETECEXPW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خادم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عام</a:t>
                      </a:r>
                      <a:r>
                        <a:rPr sz="9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ETECEXPAP01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ETECEXPAP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ETECADY03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ETECELAP11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Other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ETECAPIP01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QISRAPIPRD01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QISRTRAS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900"/>
                        <a:t>ETECEXPW01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ETECEXPW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خادم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عام</a:t>
                      </a:r>
                      <a:r>
                        <a:rPr sz="9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321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485B7-F510-0070-241C-62F117622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16DE-AD04-D71D-A8EE-E0663490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218A71-A167-4EA7-231C-6777A72A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8ACA7A-2747-1BCA-CC86-8646EC7B9420}"/>
              </a:ext>
            </a:extLst>
          </p:cNvPr>
          <p:cNvGraphicFramePr>
            <a:graphicFrameLocks noGrp="1"/>
          </p:cNvGraphicFramePr>
          <p:nvPr/>
        </p:nvGraphicFramePr>
        <p:xfrm>
          <a:off x="954507" y="1227339"/>
          <a:ext cx="10627892" cy="498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7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5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870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84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ETECISA01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ETECISERVER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ETECAPIP03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ETECDTC02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ETECDTC01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ETECTPLA10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ETECTPLT01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ETECELKPP01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ETECAYA02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QISREMS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QISREMS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98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6B21-C1C1-037B-E946-7D6DC77A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BD23-09AB-80C2-DFB9-C293716BC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7AB788-EF47-6EE8-3AD3-C179C86F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8F62F7-9B7A-A234-40A6-B2AC0D79ED4E}"/>
              </a:ext>
            </a:extLst>
          </p:cNvPr>
          <p:cNvGraphicFramePr>
            <a:graphicFrameLocks noGrp="1"/>
          </p:cNvGraphicFramePr>
          <p:nvPr/>
        </p:nvGraphicFramePr>
        <p:xfrm>
          <a:off x="713872" y="1227339"/>
          <a:ext cx="1076425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3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55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455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ETECAPIPP03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ETECMKCLFTP01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ETECMKCL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QISRAXR3AOS03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ETECELAP15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ETECBMCKCPP03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ETECMUSTS01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تخزين (Storage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QISRTBS01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QISRTBS01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ETECJIRAAP03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ETECMUSTA07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تطبيقات</a:t>
                      </a:r>
                      <a:r>
                        <a:rPr sz="800" dirty="0"/>
                        <a:t>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97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8E814-1DD3-9624-AE22-63A9DDD5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B9A55-7B92-A2B9-DE10-F6DC36C1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197551-371B-413B-7905-69AE1F09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043290-1C43-1B52-A346-981071DF5C31}"/>
              </a:ext>
            </a:extLst>
          </p:cNvPr>
          <p:cNvGraphicFramePr>
            <a:graphicFrameLocks noGrp="1"/>
          </p:cNvGraphicFramePr>
          <p:nvPr/>
        </p:nvGraphicFramePr>
        <p:xfrm>
          <a:off x="545431" y="1315453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8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19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ETECNDC01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ETECNDC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ETECMUSTA09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تطبيقات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ETECGSBA01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ETECGSB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ETECMKCLREPORT01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ETECMKCL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ETECIBMA14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ETECELKPP02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ETECIBMA07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ETECTPLA13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ETECAPIPP04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NCAAIAAP01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NCAAIAAP01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26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AD28-65E0-0EFE-EF80-F64FD7BB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771E-ED92-9D38-47F1-C80B84BC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D19544-2BB3-59D9-E688-435B8CBF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5F4B5E-7602-680A-2304-ABCEB34306E2}"/>
              </a:ext>
            </a:extLst>
          </p:cNvPr>
          <p:cNvGraphicFramePr>
            <a:graphicFrameLocks noGrp="1"/>
          </p:cNvGraphicFramePr>
          <p:nvPr/>
        </p:nvGraphicFramePr>
        <p:xfrm>
          <a:off x="705853" y="1227339"/>
          <a:ext cx="10876548" cy="498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7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779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QISRTFSAPP01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ETECMUSTS02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تخزين (Storage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ETECCERAP03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ETECTPLA03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ETECIBMA01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ETECMSC01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ETECMUSTA08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تطبيقات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ETECTPLA15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38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3D50-4151-88AA-EE3E-345D8A906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8B328-5902-4BCE-B8BA-0F8FA1B9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3CAE87-9DFC-4A45-E17B-9EA7A371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DFC28A-0E7A-018E-9E83-9762D3BD8BBE}"/>
              </a:ext>
            </a:extLst>
          </p:cNvPr>
          <p:cNvGraphicFramePr>
            <a:graphicFrameLocks noGrp="1"/>
          </p:cNvGraphicFramePr>
          <p:nvPr/>
        </p:nvGraphicFramePr>
        <p:xfrm>
          <a:off x="737937" y="1227339"/>
          <a:ext cx="1090863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46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95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59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35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ETECEXPAP04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ETECEXPAP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ETECCRMA02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إدارة علاقات العملاء (CRM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ETECELAP14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ETECTPLA05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ETECMUSTC03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Server2022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Server_2022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ETECACPDAP01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ETECACPD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ETECDENVDPP01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ETECDENODO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60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9451-A053-31E4-51C9-82D0BA93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D58C1-6333-8795-6329-381EEAD1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DD594A-5CAE-381E-6D20-B62EEAED6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0D843C-32BF-30EB-D563-FF0147060506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1227339"/>
          <a:ext cx="10972800" cy="5270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18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4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6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737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ETECIBMA12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ETECELAP05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ETECIBMA09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ETECPDAPP01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ETECAPIP02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ETECBMCWNP03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EECCMS01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QISR01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ETECELAP02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ETECAPIPP06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900"/>
                        <a:t>ETECAPIPP01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خادم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واجهات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برمجية</a:t>
                      </a:r>
                      <a:r>
                        <a:rPr sz="900" dirty="0"/>
                        <a:t>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16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F2539-EEC8-FB0D-637D-D9759D17F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FA35-9354-3402-35E1-387AF51A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A8BE8-6C89-DC11-6465-A3D571DC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E73C86-2F11-8E72-FE3C-6BA7451DF527}"/>
              </a:ext>
            </a:extLst>
          </p:cNvPr>
          <p:cNvGraphicFramePr>
            <a:graphicFrameLocks noGrp="1"/>
          </p:cNvGraphicFramePr>
          <p:nvPr/>
        </p:nvGraphicFramePr>
        <p:xfrm>
          <a:off x="621452" y="1506763"/>
          <a:ext cx="11025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8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8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9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81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ETECTRSAP07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ETECTRSAP01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ETECTRSAP11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ETECTRSAP11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ETECNASEEJA01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ETECNASEEJ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ETECAYA03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ETECMUSTA05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تطبيقات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ETECIBMA13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ETECTPLA08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ETECTPLA08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ETECBIAP03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ETECBIAP01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ETECTPLA07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ETECTPLW03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900"/>
                        <a:t>ETECSEA02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ETECSEA01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خادم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عام</a:t>
                      </a:r>
                      <a:r>
                        <a:rPr sz="9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75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363C7-D4CD-A57F-613F-9C5EEB8A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D3E25-507B-21A7-533B-81AA599D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7356FD-E2EB-D291-86BE-48097B94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428905-86A5-F99B-1F17-A8387825020B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315453"/>
          <a:ext cx="1112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4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34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90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ETECMUSTS03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ETECMUSTSTORAGE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تخزين (Storage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ETECAPIP06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ETECTRSAP15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ETECTRSAP-cloned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ETECBIAP02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ETECBIAP01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ETECMUSTA01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تطبيقات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ETECBMCJP01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ETECELAP04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ETECBMCWNP02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QISRBPI01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QISRBPI01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900"/>
                        <a:t>ETECMOJTest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ETECMOJ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خادم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عام</a:t>
                      </a:r>
                      <a:r>
                        <a:rPr sz="9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97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5B950-1788-F034-B492-ECA2E1804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3596-3397-D68F-5EB2-5B6A97CE8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169EC5-6B4B-FECA-CFED-60E4C84B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8CB914-7B58-E56D-C301-D403EAD38227}"/>
              </a:ext>
            </a:extLst>
          </p:cNvPr>
          <p:cNvGraphicFramePr>
            <a:graphicFrameLocks noGrp="1"/>
          </p:cNvGraphicFramePr>
          <p:nvPr/>
        </p:nvGraphicFramePr>
        <p:xfrm>
          <a:off x="713872" y="1347537"/>
          <a:ext cx="1078029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7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7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1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475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ETECSURAPP002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ETECTPLA09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ETECAPIEIPP02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ETECELAP12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QISRAXR3AOS01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ETECAPMAP01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ETECAPMAP01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ETECIBMA08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0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F872-E29D-4F2C-5D64-D5BA59E33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84D3C-E9C9-6729-3734-859840F2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E2C8A-7415-8567-25DF-E3CFF73B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2E44DF-C3C2-E395-BD5A-47FA5F962E06}"/>
              </a:ext>
            </a:extLst>
          </p:cNvPr>
          <p:cNvGraphicFramePr>
            <a:graphicFrameLocks noGrp="1"/>
          </p:cNvGraphicFramePr>
          <p:nvPr/>
        </p:nvGraphicFramePr>
        <p:xfrm>
          <a:off x="685620" y="1227339"/>
          <a:ext cx="1096094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7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350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01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7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Managed by</a:t>
                      </a:r>
                      <a:endParaRPr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Target </a:t>
                      </a:r>
                      <a:r>
                        <a:rPr sz="7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700"/>
                        <a:t>ETECAYSTGA01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700"/>
                        <a:t>QISRSPAPP04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IMAGE-MGM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Microsoft Windows Server 2012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700"/>
                        <a:t>ETECNASEEJA02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ETECNASEEJ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700"/>
                        <a:t>ETECBIAP04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ETECBIAP01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700"/>
                        <a:t>ETECADY01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ETECADY01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700"/>
                        <a:t>ETECAPIPP05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700"/>
                        <a:t>ETECJIRAAP04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ETECJIRA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700"/>
                        <a:t>ETECSURAPP01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700"/>
                        <a:t>ETECELKP02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700"/>
                        <a:t>ETECAPMAP02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ETECAPMAP02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00" dirty="0" err="1"/>
                        <a:t>خادم</a:t>
                      </a:r>
                      <a:r>
                        <a:rPr sz="700" dirty="0"/>
                        <a:t> </a:t>
                      </a:r>
                      <a:r>
                        <a:rPr sz="700" dirty="0" err="1"/>
                        <a:t>عام</a:t>
                      </a:r>
                      <a:r>
                        <a:rPr sz="7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873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703B-F810-3233-BEE2-74997886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BFD15-39BF-BE13-8759-1638563C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850D2C-28BC-F602-B9AE-11863311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B6CDC2-EB5C-D426-01CF-7AFBD2889B87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227339"/>
          <a:ext cx="11125200" cy="498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4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2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12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ETECBIAP01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ETECBIAP01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ETECTPLA11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ETECMUSTA04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تطبيقات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ETECEXPW03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ETECEXPW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ETECMOJAP01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ETECMOJ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ETECPTA01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ETECELAP13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ETECSEA01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ETECSEA01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ETECEXTAP01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68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1052-C0F2-0D71-4640-4348801B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90D0-6171-4B6C-0219-FCBCC763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96845-688C-70FB-E4A6-37C35ABD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F1C635-53DF-0A02-2D01-D3ACC83AEA89}"/>
              </a:ext>
            </a:extLst>
          </p:cNvPr>
          <p:cNvGraphicFramePr>
            <a:graphicFrameLocks noGrp="1"/>
          </p:cNvGraphicFramePr>
          <p:nvPr/>
        </p:nvGraphicFramePr>
        <p:xfrm>
          <a:off x="545431" y="1227339"/>
          <a:ext cx="10972800" cy="4946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9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8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ETECDENVDPS01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ETECDENODO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ETECIBMA06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ETECELAP08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ETECJIRAAP01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ETECIBMA05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ETECELAP06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ETECEXPAP02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ETECEXPAP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ETECIBMA02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ETECCERAP02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18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678B-1360-959E-3774-F34A9238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1DD1-BB92-C8ED-7627-9C276FD2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5BEB97-50F6-A7D6-4B04-7DF53889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3769E5-8EBA-F7A7-5118-2C585150390E}"/>
              </a:ext>
            </a:extLst>
          </p:cNvPr>
          <p:cNvGraphicFramePr>
            <a:graphicFrameLocks noGrp="1"/>
          </p:cNvGraphicFramePr>
          <p:nvPr/>
        </p:nvGraphicFramePr>
        <p:xfrm>
          <a:off x="609601" y="1347537"/>
          <a:ext cx="108765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72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9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ETECBMCWNP01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ETECMSC02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ETECEIP02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QISRAPIPRD02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QISRTRAS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ETECADY04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ETECMUSTA02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تطبيقات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ETECISA02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ETECHR01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ETECLTZAPP01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ETECLTZ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ETECIBMA16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A74B-FC51-2B92-FE96-2438AACBF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5D47-8CBB-27F0-76EA-F3C670E3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9CDB51-42FF-89A9-D21C-A8798DF0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3DD8C1-4F09-2B01-4CED-32EAD902C6DC}"/>
              </a:ext>
            </a:extLst>
          </p:cNvPr>
          <p:cNvGraphicFramePr>
            <a:graphicFrameLocks noGrp="1"/>
          </p:cNvGraphicFramePr>
          <p:nvPr/>
        </p:nvGraphicFramePr>
        <p:xfrm>
          <a:off x="621452" y="1147128"/>
          <a:ext cx="10972800" cy="4893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6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8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3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576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9339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73">
                <a:tc>
                  <a:txBody>
                    <a:bodyPr/>
                    <a:lstStyle/>
                    <a:p>
                      <a:r>
                        <a:rPr sz="800"/>
                        <a:t>ETECBMCWNP06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73">
                <a:tc>
                  <a:txBody>
                    <a:bodyPr/>
                    <a:lstStyle/>
                    <a:p>
                      <a:r>
                        <a:rPr sz="800"/>
                        <a:t>ETECDTC03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ETECDTC01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273">
                <a:tc>
                  <a:txBody>
                    <a:bodyPr/>
                    <a:lstStyle/>
                    <a:p>
                      <a:r>
                        <a:rPr sz="800"/>
                        <a:t>ETECMUSTC02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73">
                <a:tc>
                  <a:txBody>
                    <a:bodyPr/>
                    <a:lstStyle/>
                    <a:p>
                      <a:r>
                        <a:rPr sz="800"/>
                        <a:t>ETECIBMA11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339">
                <a:tc>
                  <a:txBody>
                    <a:bodyPr/>
                    <a:lstStyle/>
                    <a:p>
                      <a:r>
                        <a:rPr sz="800"/>
                        <a:t>ETECELAP01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73">
                <a:tc>
                  <a:txBody>
                    <a:bodyPr/>
                    <a:lstStyle/>
                    <a:p>
                      <a:r>
                        <a:rPr sz="800"/>
                        <a:t>ETECTRSAP13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273">
                <a:tc>
                  <a:txBody>
                    <a:bodyPr/>
                    <a:lstStyle/>
                    <a:p>
                      <a:r>
                        <a:rPr sz="800"/>
                        <a:t>ETECGLS02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Monitoring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مراقبة (Monitoring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273">
                <a:tc>
                  <a:txBody>
                    <a:bodyPr/>
                    <a:lstStyle/>
                    <a:p>
                      <a:r>
                        <a:rPr sz="800"/>
                        <a:t>ETECMUSTA03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تطبيقات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273">
                <a:tc>
                  <a:txBody>
                    <a:bodyPr/>
                    <a:lstStyle/>
                    <a:p>
                      <a:r>
                        <a:rPr sz="800"/>
                        <a:t>ETECELAP09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273">
                <a:tc>
                  <a:txBody>
                    <a:bodyPr/>
                    <a:lstStyle/>
                    <a:p>
                      <a:r>
                        <a:rPr sz="800"/>
                        <a:t>ETECTPLA02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61F68-84A1-6350-CDBA-6FE55A50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68134-9682-5EA3-A695-64A0283C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DE944D-7732-D335-FB50-E44437ECC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2A8BE5-EAE9-BE9C-9DCB-71F5FC1CF060}"/>
              </a:ext>
            </a:extLst>
          </p:cNvPr>
          <p:cNvGraphicFramePr>
            <a:graphicFrameLocks noGrp="1"/>
          </p:cNvGraphicFramePr>
          <p:nvPr/>
        </p:nvGraphicFramePr>
        <p:xfrm>
          <a:off x="681789" y="1227339"/>
          <a:ext cx="1090060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1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3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2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ETECMUSTA06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ETECMUSTAPP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تطبيقات (Application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ETECTRSAP17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ETECTRSAP17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ETECMKCLADAPTIVE01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ETECMKCL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ETECELA17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ترقية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النظام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إلى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أحدث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إصدار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مدعوم</a:t>
                      </a:r>
                      <a:r>
                        <a:rPr sz="900" dirty="0"/>
                        <a:t>, </a:t>
                      </a:r>
                      <a:r>
                        <a:rPr sz="900" dirty="0" err="1"/>
                        <a:t>تفعيل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أدوات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مراقبة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مثل</a:t>
                      </a:r>
                      <a:r>
                        <a:rPr sz="900" dirty="0"/>
                        <a:t> Prometheus و Grafana, </a:t>
                      </a:r>
                      <a:r>
                        <a:rPr sz="900" dirty="0" err="1"/>
                        <a:t>تحسين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التوافق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مع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الحوسبة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السحابية</a:t>
                      </a:r>
                      <a:r>
                        <a:rPr sz="900" dirty="0"/>
                        <a:t>, </a:t>
                      </a:r>
                      <a:r>
                        <a:rPr sz="900" dirty="0" err="1"/>
                        <a:t>زيادة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الأتمتة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باستخدام</a:t>
                      </a:r>
                      <a:r>
                        <a:rPr sz="900" dirty="0"/>
                        <a:t>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ETECCRMAPP01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ETECCRMAPP01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إدارة علاقات العملاء (CRM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ETECMKCLEXAM01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ETECMKCL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ETECTRSAP16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ETECTRSAP16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ETECTPLA12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ETECTPLA08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ETECADY02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900"/>
                        <a:t>ETECTTPAP01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ETECTTPAP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 err="1"/>
                        <a:t>خادم</a:t>
                      </a:r>
                      <a:r>
                        <a:rPr sz="900" dirty="0"/>
                        <a:t> </a:t>
                      </a:r>
                      <a:r>
                        <a:rPr sz="900" dirty="0" err="1"/>
                        <a:t>عام</a:t>
                      </a:r>
                      <a:r>
                        <a:rPr sz="9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6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94CF-A574-E785-86EF-0C2F70DC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5045D-70E9-85B8-51D8-5F616499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679861-A495-27E7-38A4-3D427A8B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7A9059-4066-1F43-C290-6D4C30365C15}"/>
              </a:ext>
            </a:extLst>
          </p:cNvPr>
          <p:cNvGraphicFramePr>
            <a:graphicFrameLocks noGrp="1"/>
          </p:cNvGraphicFramePr>
          <p:nvPr/>
        </p:nvGraphicFramePr>
        <p:xfrm>
          <a:off x="621452" y="1227457"/>
          <a:ext cx="11053016" cy="498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06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486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16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ETECAPIAP02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ETECBMCHP01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ETECSURAPP004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ETECBMCWNP05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إدارة النظام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ETECELKP01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واجهات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برمجية</a:t>
                      </a:r>
                      <a:r>
                        <a:rPr sz="800" dirty="0"/>
                        <a:t>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ETECJIRAAP02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ETECMKCLCENTRALW01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ETECMKCL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QISRAXR3AOS02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ETECBMCWNP07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إدارة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النظام</a:t>
                      </a:r>
                      <a:r>
                        <a:rPr sz="800" dirty="0"/>
                        <a:t> (BMC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29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05E0-8CB0-BFC1-1101-A43E536E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15E5-ABD3-C13D-C8BD-FE5BAB21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C0C3D2-13FA-3F89-C1EA-C07C560C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93390B-0F84-44DC-8493-E7C0499AFCFE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1227339"/>
          <a:ext cx="11061034" cy="498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2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3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63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793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26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ETECELAP07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ETECEIP01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واجهات برمجية (API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ETECTPLA04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ETECAYA04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ETECTPLA01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ETECADY05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ETECTRSAP02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ETECSOLARAPP01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ETECIBMA10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53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D60C2-77BB-1C5A-BD7F-93E8A3058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094A-1CA0-4392-343F-73644C8D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FE50D-72A0-D456-45CE-EC9C7223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6A4A56-34FB-5D12-922C-A321E25FC149}"/>
              </a:ext>
            </a:extLst>
          </p:cNvPr>
          <p:cNvGraphicFramePr>
            <a:graphicFrameLocks noGrp="1"/>
          </p:cNvGraphicFramePr>
          <p:nvPr/>
        </p:nvGraphicFramePr>
        <p:xfrm>
          <a:off x="457199" y="1143000"/>
          <a:ext cx="11125200" cy="4946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3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6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0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278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ETECAPMAP03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ETECAPMAP03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ETECELAP03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24.04 LTS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ETECEXPAP05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ETECEXPAP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ETECMAPP01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QISR01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ETECIBMA03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ETECTTPAP02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ETECTTPAP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ETECCERAP01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ETECIBMA15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ETECIBM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r>
                        <a:rPr sz="800"/>
                        <a:t>ETECSPDG02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ETECSPDG01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2.6.x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Other 2.6.x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r>
                        <a:rPr sz="800"/>
                        <a:t>ETECTPLA14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 err="1"/>
                        <a:t>خادم</a:t>
                      </a:r>
                      <a:r>
                        <a:rPr sz="800" dirty="0"/>
                        <a:t> </a:t>
                      </a:r>
                      <a:r>
                        <a:rPr sz="800" dirty="0" err="1"/>
                        <a:t>عام</a:t>
                      </a:r>
                      <a:r>
                        <a:rPr sz="8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64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2884-CEEC-25B7-6DCD-1AA37F73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EB965-A72C-121A-CB2E-23866FD4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9D9790-B3C1-AD08-E368-AEC9D802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F87EFD-07BA-2F7C-CCAB-8294FCBB82AD}"/>
              </a:ext>
            </a:extLst>
          </p:cNvPr>
          <p:cNvGraphicFramePr>
            <a:graphicFrameLocks noGrp="1"/>
          </p:cNvGraphicFramePr>
          <p:nvPr/>
        </p:nvGraphicFramePr>
        <p:xfrm>
          <a:off x="840139" y="1475874"/>
          <a:ext cx="10676024" cy="377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4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09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0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45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4905">
                <a:tc>
                  <a:txBody>
                    <a:bodyPr/>
                    <a:lstStyle/>
                    <a:p>
                      <a:r>
                        <a:rPr sz="11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Managed by</a:t>
                      </a:r>
                      <a:endParaRPr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Target </a:t>
                      </a:r>
                      <a:r>
                        <a:rPr sz="1100" dirty="0"/>
                        <a:t>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Server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sz="1100"/>
                        <a:t>ETECTRSAP20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ETECTRSAP20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sz="1100"/>
                        <a:t>ETECMKCLAR01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ETECMKCL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ترقية النظام إلى أحدث إصدار مدعوم, تفعيل أدوات مراقبة مثل Prometheus و Grafana, تحسين التوافق مع الحوسبة السحابية, زيادة الأتمتة باستخدام Kubernetes و Ansible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خادم عام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sz="1100"/>
                        <a:t>ETECTRSAP01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ETECTRSAP01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تحديث النظام إلى Windows Server 2022, تفعيل نظام أمان متقدم (MFA, Zero Trust), تطبيق إدارة تلقائية عبر Ansible, استخدام تقنيات الحوسبة السحابية لتحسين الأداء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خادم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عام</a:t>
                      </a:r>
                      <a:r>
                        <a:rPr sz="1100" dirty="0"/>
                        <a:t> (General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5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A33E-58ED-30BB-1AA5-6683A4B1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44A61-48EC-0AC7-379B-E71155B78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BD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4A432-22A0-D6CF-29D5-DF2591B5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B97E2A-DFE4-C727-31B3-BBFDE1C8B7A5}"/>
              </a:ext>
            </a:extLst>
          </p:cNvPr>
          <p:cNvGraphicFramePr>
            <a:graphicFrameLocks noGrp="1"/>
          </p:cNvGraphicFramePr>
          <p:nvPr/>
        </p:nvGraphicFramePr>
        <p:xfrm>
          <a:off x="994609" y="1227339"/>
          <a:ext cx="10587791" cy="4792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71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21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sz="10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Managed by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Target </a:t>
                      </a:r>
                      <a:r>
                        <a:rPr sz="1000" dirty="0"/>
                        <a:t>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 dirty="0"/>
                        <a:t>ETECDBGC04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ETECDBGC04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to Windows Server 2022 with enhanced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ETECDBGCBKP01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ETECDBGCBKP01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Migrate to cloud-based DB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ETECEXTDB02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Integrate with a hybrid cloud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ETECMUSTDS03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ETECMUSTDB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to RHEL 10 with improved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ETECMUSTDB01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ETECMUSTDB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Enterprise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Implement containerization for database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ETECMKCLCENTRALDB01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ETECMKCL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Migrate to Kubernetes-managed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ETECELDB02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ETECELDB01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to Rocky Linux for better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ETECNASEEJD01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ETECNASEEJ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Enhance with AI-driven database 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ETECDWH02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ETECDWH02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Move to a high-availability cluster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ETECDELTA01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ETECDELTA01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Implement automated patch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ETEC-LABS-DC03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Integrate with Azure AD for security improvements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ETECIdtDB01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Transition to a microservices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ETECLDTDB02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ETECLDT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hardware for increased processing power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/>
                        <a:t>ETEC-SQL-04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SqlCluster-PRD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Enable full disaster recovery and backup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1000" dirty="0"/>
                        <a:t>ETECAYDB01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Implement database sharding for 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33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01D7-5B08-2A4B-B9F6-631B8171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7A80-876A-4DCD-8E62-13EDD6E9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BD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75A59D-6E0D-98CF-8979-2E0D8A0A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B8E6F-4C0D-E323-F830-44F6BF373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054349"/>
              </p:ext>
            </p:extLst>
          </p:nvPr>
        </p:nvGraphicFramePr>
        <p:xfrm>
          <a:off x="938463" y="1244600"/>
          <a:ext cx="10379244" cy="4698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2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27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2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7116">
                <a:tc>
                  <a:txBody>
                    <a:bodyPr/>
                    <a:lstStyle/>
                    <a:p>
                      <a:r>
                        <a:rPr sz="10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Target </a:t>
                      </a:r>
                      <a:r>
                        <a:rPr sz="1000" dirty="0"/>
                        <a:t>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Expected </a:t>
                      </a:r>
                      <a:r>
                        <a:rPr lang="en-US" sz="1000" dirty="0"/>
                        <a:t>Target </a:t>
                      </a:r>
                      <a:r>
                        <a:rPr sz="1000" dirty="0"/>
                        <a:t>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116">
                <a:tc>
                  <a:txBody>
                    <a:bodyPr/>
                    <a:lstStyle/>
                    <a:p>
                      <a:r>
                        <a:rPr sz="1000"/>
                        <a:t>ETECISDDB02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ETECISD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Move to a serverless database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AWS RDS or Azure 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107">
                <a:tc>
                  <a:txBody>
                    <a:bodyPr/>
                    <a:lstStyle/>
                    <a:p>
                      <a:r>
                        <a:rPr sz="1000"/>
                        <a:t>ETECDCGC01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ETECDCGC01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Optimize performance with SSD-based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Hybrid SSD-based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107">
                <a:tc>
                  <a:txBody>
                    <a:bodyPr/>
                    <a:lstStyle/>
                    <a:p>
                      <a:r>
                        <a:rPr sz="1000"/>
                        <a:t>ETECDBGCRS02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ETECDBGCRS02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Deploy zero-trust security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Zero-Trust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107">
                <a:tc>
                  <a:txBody>
                    <a:bodyPr/>
                    <a:lstStyle/>
                    <a:p>
                      <a:r>
                        <a:rPr sz="1000"/>
                        <a:t>ETECDBNIC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ETECDBNIC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Enhance monitoring with AI-driven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AI-powered Monitoring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107">
                <a:tc>
                  <a:txBody>
                    <a:bodyPr/>
                    <a:lstStyle/>
                    <a:p>
                      <a:r>
                        <a:rPr sz="1000"/>
                        <a:t>SCCMTEST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ETECSCCMT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to Windows Server 2022 for longevity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116">
                <a:tc>
                  <a:txBody>
                    <a:bodyPr/>
                    <a:lstStyle/>
                    <a:p>
                      <a:r>
                        <a:rPr sz="1000"/>
                        <a:t>ETECSOLARDB01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Enable automated compliance auditing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Cloud Compliance Auditing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116">
                <a:tc>
                  <a:txBody>
                    <a:bodyPr/>
                    <a:lstStyle/>
                    <a:p>
                      <a:r>
                        <a:rPr sz="1000"/>
                        <a:t>ETECEXTDB01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Migrate to PostgreSQL for cost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PostgreSQL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107">
                <a:tc>
                  <a:txBody>
                    <a:bodyPr/>
                    <a:lstStyle/>
                    <a:p>
                      <a:r>
                        <a:rPr sz="1000"/>
                        <a:t>ETECDCGC03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Deploy advanced encryption and security 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Advanced Encryption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33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2DED-FF9D-A607-D976-7E1627C62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3545-5498-A8DC-7881-2EB459DFB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DMZ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EA721-1C6A-49D4-60DC-51D10B08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6C2EAA-59EA-BA3F-FB82-157A4F07D7CF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068804"/>
          <a:ext cx="10948736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736">
                  <a:extLst>
                    <a:ext uri="{9D8B030D-6E8A-4147-A177-3AD203B41FA5}">
                      <a16:colId xmlns:a16="http://schemas.microsoft.com/office/drawing/2014/main" val="260022043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25734600"/>
                    </a:ext>
                  </a:extLst>
                </a:gridCol>
                <a:gridCol w="1788696">
                  <a:extLst>
                    <a:ext uri="{9D8B030D-6E8A-4147-A177-3AD203B41FA5}">
                      <a16:colId xmlns:a16="http://schemas.microsoft.com/office/drawing/2014/main" val="2478429428"/>
                    </a:ext>
                  </a:extLst>
                </a:gridCol>
                <a:gridCol w="2991852">
                  <a:extLst>
                    <a:ext uri="{9D8B030D-6E8A-4147-A177-3AD203B41FA5}">
                      <a16:colId xmlns:a16="http://schemas.microsoft.com/office/drawing/2014/main" val="3803235624"/>
                    </a:ext>
                  </a:extLst>
                </a:gridCol>
                <a:gridCol w="705852">
                  <a:extLst>
                    <a:ext uri="{9D8B030D-6E8A-4147-A177-3AD203B41FA5}">
                      <a16:colId xmlns:a16="http://schemas.microsoft.com/office/drawing/2014/main" val="356019051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303032558"/>
                    </a:ext>
                  </a:extLst>
                </a:gridCol>
              </a:tblGrid>
              <a:tr h="193759">
                <a:tc>
                  <a:txBody>
                    <a:bodyPr/>
                    <a:lstStyle/>
                    <a:p>
                      <a:r>
                        <a:rPr sz="10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Managed by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Logical CPU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140623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 dirty="0"/>
                        <a:t>Prisma-console1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Prisma-console1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Hybrid Cloud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046708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 dirty="0"/>
                        <a:t>splk-hfdm02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AI-Powered Log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Hybrid Cloud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259175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 dirty="0"/>
                        <a:t>QISRTEMENC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Mobile Armor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988309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ETECADSS01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Cloud Identity &amp; Access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348815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Splk-idx04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AI-Powered Log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Hybrid Cloud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536710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ETECAWARE01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Zero Trust Security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727681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ETECDEVINTRA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ETECDEVINTRA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291587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EDR-IGTW-Deem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Hybrid Cloud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8902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ETECZKT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TM DSM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049063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ETECQVS02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ETECQALYS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Hybrid Cloud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230272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ETECSPSS01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ETECSPS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Ubuntu AI-Optimized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752419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ETECCISCOUM01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ETECCISCOUM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Ubuntu AI-Optimized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099181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splk-hfdm01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AI-Powered Log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Hybrid Cloud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878694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QISRAADC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Azure AD 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340809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ETECZKT02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TM DSM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429337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ETECDNCA01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ETECDNC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019850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/>
                        <a:t>Win2019TEMP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Win2019TEMP-f2c30a4c-bd8d-4426-8f9b-f657d9b28bb9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016054"/>
                  </a:ext>
                </a:extLst>
              </a:tr>
              <a:tr h="193759">
                <a:tc>
                  <a:txBody>
                    <a:bodyPr/>
                    <a:lstStyle/>
                    <a:p>
                      <a:r>
                        <a:rPr sz="1000" dirty="0"/>
                        <a:t>QISRENVIAP01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QISR-EnVision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04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83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BEF1-6269-D8B9-D426-2D1146A3C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49C9-9597-5C54-3CC9-9971696D6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DMZ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759D04-2AFF-69F6-AAA6-4456FAA3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49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79C729-F83F-75E1-DED3-ACA116B307C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33499"/>
          <a:ext cx="11036970" cy="525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95">
                  <a:extLst>
                    <a:ext uri="{9D8B030D-6E8A-4147-A177-3AD203B41FA5}">
                      <a16:colId xmlns:a16="http://schemas.microsoft.com/office/drawing/2014/main" val="2986575615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3597448099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4085636479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3944998278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2156077440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1190985439"/>
                    </a:ext>
                  </a:extLst>
                </a:gridCol>
              </a:tblGrid>
              <a:tr h="260127">
                <a:tc>
                  <a:txBody>
                    <a:bodyPr/>
                    <a:lstStyle/>
                    <a:p>
                      <a:r>
                        <a:rPr sz="10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Managed by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Logical CPU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005880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 dirty="0"/>
                        <a:t>ETECALGOSECS02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ETECALGOSEC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Next-Gen Cloud 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645895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 dirty="0"/>
                        <a:t>QISRAT01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Blockchain Secure Data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420560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 dirty="0"/>
                        <a:t>splk-idx03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AI-Powered Log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Hybrid Cloud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322436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 dirty="0"/>
                        <a:t>ETECFS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73815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BACKUP-TEMP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BACKUP-TEMP-d2507f17-99b5-4ad3-b2ee-516aeedb5df2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270564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SPP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ETECSPP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Next-Gen Cloud 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70864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ETECDS01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TM DSM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966690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NDA-045038ab-b22e-4839-bf18-4dbb54f469dd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AI-Optimized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839508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ETECDNCA02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ETECDNC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Next-Gen Cloud 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08085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ETECFARMSC01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ETECFARM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621992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ETECCISCOUM02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ETECCISCOUM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Ubuntu AI-Optimized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542428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ETECCC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upgrade clone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034937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splk-hfdm03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AI-Powered Log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Red Hat Hybrid Cloud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276521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QISRAPEX03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TM DSM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506110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ETEC-EXCH03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Cloud-Based Email System (O365, Google Workspace)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28831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QISREMS-clone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QISREMS-clone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324769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/>
                        <a:t>ETECVEEAM01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ETECVEEAM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476312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900" dirty="0"/>
                        <a:t>ETECSPP001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ETECSPP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Next-Gen Cloud 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991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37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772E-8EC1-18AD-BA37-A1CC6DB0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C9C7-A482-3AAE-CC9B-C8303095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DMZ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80DB1A-4ED5-733A-9201-6C3344725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50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4719D6-18AF-98EC-00CF-50DE3DF3888D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33499"/>
          <a:ext cx="11036970" cy="2897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495">
                  <a:extLst>
                    <a:ext uri="{9D8B030D-6E8A-4147-A177-3AD203B41FA5}">
                      <a16:colId xmlns:a16="http://schemas.microsoft.com/office/drawing/2014/main" val="2986575615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3597448099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4085636479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3944998278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2156077440"/>
                    </a:ext>
                  </a:extLst>
                </a:gridCol>
                <a:gridCol w="1839495">
                  <a:extLst>
                    <a:ext uri="{9D8B030D-6E8A-4147-A177-3AD203B41FA5}">
                      <a16:colId xmlns:a16="http://schemas.microsoft.com/office/drawing/2014/main" val="1190985439"/>
                    </a:ext>
                  </a:extLst>
                </a:gridCol>
              </a:tblGrid>
              <a:tr h="260127">
                <a:tc>
                  <a:txBody>
                    <a:bodyPr/>
                    <a:lstStyle/>
                    <a:p>
                      <a:r>
                        <a:rPr sz="105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Managed by</a:t>
                      </a:r>
                      <a:endParaRPr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Logical CPU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005880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1000" dirty="0"/>
                        <a:t>ETEC-EXCH01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Cloud-Based Email System (O365, Google Workspace)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645895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1000" dirty="0"/>
                        <a:t>ETECADFS01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420560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1000"/>
                        <a:t>Prisma-Console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Prisma-Console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Hybrid Cloud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322436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1000"/>
                        <a:t>ETECRDSS01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ETECRDS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73815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1000"/>
                        <a:t>QISRSCCM01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QISR-SCCM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270564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1000"/>
                        <a:t>QISRCA01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AD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70864"/>
                  </a:ext>
                </a:extLst>
              </a:tr>
              <a:tr h="260127">
                <a:tc>
                  <a:txBody>
                    <a:bodyPr/>
                    <a:lstStyle/>
                    <a:p>
                      <a:r>
                        <a:rPr sz="1000"/>
                        <a:t>QISRMMC01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TM DSM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Azure Cloud / Windows Server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966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05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1E93B-1FA7-1FA5-E019-D440B455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E60C-4738-AEC0-EAB9-8ED0959C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 Management servers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3B295A-DE6C-57FB-225E-6789BDE0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C18135-A24F-2CCC-BA82-248F2017A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077752"/>
              </p:ext>
            </p:extLst>
          </p:nvPr>
        </p:nvGraphicFramePr>
        <p:xfrm>
          <a:off x="533400" y="1058778"/>
          <a:ext cx="11125200" cy="5440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187">
                <a:tc>
                  <a:txBody>
                    <a:bodyPr/>
                    <a:lstStyle/>
                    <a:p>
                      <a:r>
                        <a:rPr sz="10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Managed by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Logical CPU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ADMANAGER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2025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ETECSEC01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ETECSEC01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PA-VM-ESX-10.2.3-ETEC_02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PA-VM-ESX-10.2.5-New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Rocky Linux 8/9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FortiGate-EDGE_DEEM_20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FortiGate2-VM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FortiOS 7.x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F5-1-EXT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F5-1-EXT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Linux Kernel 5.x+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ETEC-SMG02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Mail-Gateway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FreeBSD 13.x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Server2025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Server_2025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2025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ETEC-WSA04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FreeBSD 13.x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ETEC-SMG01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Mail-Gateway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FreeBSD 13.x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ETEC-WSA03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FreeBSD 13.x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Panorama-ESX-10.2.5-IP300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Panorama-ESX-10.2.5=new-HA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Rocky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F5-4-INT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F5-4-INT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Linux Kernel 5.x+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F5-2-EXT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F5-2-EXT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Linux Kernel 5.x+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PA-VM-ESX-10.2.5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PA-VM-ESX-10.2.5-New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Rocky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FortiGate3-VM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FortiGate3-VM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FortiOS 7.x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ETEC-SMA01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Mail-Gateway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FreeBSD 13.x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BIG-IQ-9.0.0.1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FFDCD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Linux Kernel 6.x+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ETEC-SMA02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Mail-Gateway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FreeBSD 13.x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ETECSWAP10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Solarwinds NextGen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2025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/>
                        <a:t>Panorama-ESX-10.2.5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Panorama-ESX-10.2.5-New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Rocky Linux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5163">
                <a:tc>
                  <a:txBody>
                    <a:bodyPr/>
                    <a:lstStyle/>
                    <a:p>
                      <a:r>
                        <a:rPr sz="1000" dirty="0"/>
                        <a:t>ETEC-PA-CentOS02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TPL-PA-CentOS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CentOS Stream 9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13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C2029-D542-BCCA-9A67-67F3F5E1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02F4-7C80-EFCF-E30E-02AE0C79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 Management servers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C7B6D9-F612-641F-A653-0F6E0E9F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52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E9B9DE-0AF5-7A91-8E26-4AF8A2BEEA5C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33499"/>
          <a:ext cx="10972800" cy="5025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2846764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02346757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7041663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646366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30878745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6865115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9247044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018975683"/>
                    </a:ext>
                  </a:extLst>
                </a:gridCol>
              </a:tblGrid>
              <a:tr h="482823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Recommended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961799"/>
                  </a:ext>
                </a:extLst>
              </a:tr>
              <a:tr h="482823">
                <a:tc>
                  <a:txBody>
                    <a:bodyPr/>
                    <a:lstStyle/>
                    <a:p>
                      <a:r>
                        <a:rPr sz="1000" dirty="0"/>
                        <a:t>ETECJUMP03R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Evaluate and optimize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179250"/>
                  </a:ext>
                </a:extLst>
              </a:tr>
              <a:tr h="482823">
                <a:tc>
                  <a:txBody>
                    <a:bodyPr/>
                    <a:lstStyle/>
                    <a:p>
                      <a:r>
                        <a:rPr sz="1000"/>
                        <a:t>ETECJUMP34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Evaluate and optimize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270123"/>
                  </a:ext>
                </a:extLst>
              </a:tr>
              <a:tr h="482823">
                <a:tc>
                  <a:txBody>
                    <a:bodyPr/>
                    <a:lstStyle/>
                    <a:p>
                      <a:r>
                        <a:rPr sz="1000"/>
                        <a:t>ETECACPDW01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ETECACPD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Evaluate and optimize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8267"/>
                  </a:ext>
                </a:extLst>
              </a:tr>
              <a:tr h="482823">
                <a:tc>
                  <a:txBody>
                    <a:bodyPr/>
                    <a:lstStyle/>
                    <a:p>
                      <a:r>
                        <a:rPr sz="1000"/>
                        <a:t>QISRAXDEV02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Evaluate and optimize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55354"/>
                  </a:ext>
                </a:extLst>
              </a:tr>
              <a:tr h="482823">
                <a:tc>
                  <a:txBody>
                    <a:bodyPr/>
                    <a:lstStyle/>
                    <a:p>
                      <a:r>
                        <a:rPr sz="1000"/>
                        <a:t>ETECJMS01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ETECJMS01-c6fe9ba1-b742-43ea-942f-11dff46c36e1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Evaluate and optimize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864837"/>
                  </a:ext>
                </a:extLst>
              </a:tr>
              <a:tr h="482823">
                <a:tc>
                  <a:txBody>
                    <a:bodyPr/>
                    <a:lstStyle/>
                    <a:p>
                      <a:r>
                        <a:rPr sz="1000"/>
                        <a:t>ETECJMP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Evaluate and optimize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504357"/>
                  </a:ext>
                </a:extLst>
              </a:tr>
              <a:tr h="482823">
                <a:tc>
                  <a:txBody>
                    <a:bodyPr/>
                    <a:lstStyle/>
                    <a:p>
                      <a:r>
                        <a:rPr sz="1000"/>
                        <a:t>ETECELDBT01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ETECELA01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Evaluate and optimize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53281"/>
                  </a:ext>
                </a:extLst>
              </a:tr>
              <a:tr h="482823">
                <a:tc>
                  <a:txBody>
                    <a:bodyPr/>
                    <a:lstStyle/>
                    <a:p>
                      <a:r>
                        <a:rPr sz="1000"/>
                        <a:t>ETECNAFSW03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ETECNAFSW03-7057b303-d2bf-4bc0-94df-bd801d627133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Evaluate and optimize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282480"/>
                  </a:ext>
                </a:extLst>
              </a:tr>
              <a:tr h="482823">
                <a:tc>
                  <a:txBody>
                    <a:bodyPr/>
                    <a:lstStyle/>
                    <a:p>
                      <a:r>
                        <a:rPr sz="1000"/>
                        <a:t>ETECDMZHR01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Evaluate and optimize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614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37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65570-5E80-5076-C49A-4031F6AB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6383-8700-317F-76A1-13896BA9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76E6E7-D194-3FC0-1996-FF8499B7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D5DDC6-079F-478E-BF7A-19767C71B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661004"/>
              </p:ext>
            </p:extLst>
          </p:nvPr>
        </p:nvGraphicFramePr>
        <p:xfrm>
          <a:off x="609600" y="1333500"/>
          <a:ext cx="10972801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1884586167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4138912508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863511809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917186896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99714276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187597875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86793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71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ETECQVS03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ETECQALYS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7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014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ETECIPWEB02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ETEC-Internal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049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ETECDEVOPS04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66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ETECJUMP05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094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ETECJUMP25R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34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ETECJUMP19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573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ETECANLS01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798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ETECANLS02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78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ETECBMCWND02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039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ETECSAGRAP01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ETECSGR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493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ETECFSC-PRD-W01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ETECFSC-PRD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461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74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D243E-C173-18B8-6183-E0ACACD1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A5DE-70AA-AA7B-1DB6-F127D34EB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F3F26E-0499-00C2-D6C2-79AE7DB0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54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B10B41-FB66-0E2E-873D-729DA547A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943056"/>
              </p:ext>
            </p:extLst>
          </p:nvPr>
        </p:nvGraphicFramePr>
        <p:xfrm>
          <a:off x="609600" y="1333500"/>
          <a:ext cx="10972801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3810023449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665402367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82001105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735764219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05837451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56204915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065252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0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Managed by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Target </a:t>
                      </a:r>
                      <a:r>
                        <a:rPr sz="10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51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 dirty="0"/>
                        <a:t>ETEC-DB-TST01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SqlCluster-DEV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10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 dirty="0"/>
                        <a:t>ETECJUMP24R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3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qisrspaptest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10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ETECSURAPI2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96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ETECJUMP15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12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WIN2019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WIN2019-51ddb284-3545-4951-833b-7c3fbc0cac8b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68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ETECHMZSTG01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55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ETECJUMP32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703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QISRAPIWEB02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QISRTRAS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38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QISRWEB01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QISR01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76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41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D449-45FC-620D-172E-7A51A3271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5E1F-7B07-91B7-9FC4-BE3F2BAA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7369B-1257-C73A-1E51-C6BBA473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073D97-27BF-C3B3-BF65-586B48E7A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293941"/>
              </p:ext>
            </p:extLst>
          </p:nvPr>
        </p:nvGraphicFramePr>
        <p:xfrm>
          <a:off x="609599" y="1333500"/>
          <a:ext cx="10972801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3837378355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972810326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4010812483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249083446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411458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233272432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555940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0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Managed by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Target </a:t>
                      </a:r>
                      <a:r>
                        <a:rPr sz="10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14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 dirty="0"/>
                        <a:t>ETECCMSDEV01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ETECMSC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394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 dirty="0"/>
                        <a:t>QISRAXR3WEB01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436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ETECSEW07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ETECSEW01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38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ETECBMCKCPD01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11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ETEC-DEVTLNDS01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ETEC_DEV_TLND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60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QISRAXR3EP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392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ETECJUMP09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0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ETECJUMP04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8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ETECJUMP10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850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ETECTRTW01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ETECTRTW01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88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87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49BF2-AA84-C5E5-8FE7-D929ABF9A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FFC6-506D-B34C-7F28-1D69F0D7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8C79A-B863-4A9D-B244-13B647ED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EFDC3E-CD4A-1D50-4FD4-F80619DF9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960394"/>
              </p:ext>
            </p:extLst>
          </p:nvPr>
        </p:nvGraphicFramePr>
        <p:xfrm>
          <a:off x="609598" y="1333500"/>
          <a:ext cx="10852485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355">
                  <a:extLst>
                    <a:ext uri="{9D8B030D-6E8A-4147-A177-3AD203B41FA5}">
                      <a16:colId xmlns:a16="http://schemas.microsoft.com/office/drawing/2014/main" val="3837378355"/>
                    </a:ext>
                  </a:extLst>
                </a:gridCol>
                <a:gridCol w="1550355">
                  <a:extLst>
                    <a:ext uri="{9D8B030D-6E8A-4147-A177-3AD203B41FA5}">
                      <a16:colId xmlns:a16="http://schemas.microsoft.com/office/drawing/2014/main" val="972810326"/>
                    </a:ext>
                  </a:extLst>
                </a:gridCol>
                <a:gridCol w="1550355">
                  <a:extLst>
                    <a:ext uri="{9D8B030D-6E8A-4147-A177-3AD203B41FA5}">
                      <a16:colId xmlns:a16="http://schemas.microsoft.com/office/drawing/2014/main" val="4010812483"/>
                    </a:ext>
                  </a:extLst>
                </a:gridCol>
                <a:gridCol w="1550355">
                  <a:extLst>
                    <a:ext uri="{9D8B030D-6E8A-4147-A177-3AD203B41FA5}">
                      <a16:colId xmlns:a16="http://schemas.microsoft.com/office/drawing/2014/main" val="2249083446"/>
                    </a:ext>
                  </a:extLst>
                </a:gridCol>
                <a:gridCol w="1550355">
                  <a:extLst>
                    <a:ext uri="{9D8B030D-6E8A-4147-A177-3AD203B41FA5}">
                      <a16:colId xmlns:a16="http://schemas.microsoft.com/office/drawing/2014/main" val="24114582"/>
                    </a:ext>
                  </a:extLst>
                </a:gridCol>
                <a:gridCol w="1550355">
                  <a:extLst>
                    <a:ext uri="{9D8B030D-6E8A-4147-A177-3AD203B41FA5}">
                      <a16:colId xmlns:a16="http://schemas.microsoft.com/office/drawing/2014/main" val="233272432"/>
                    </a:ext>
                  </a:extLst>
                </a:gridCol>
                <a:gridCol w="1550355">
                  <a:extLst>
                    <a:ext uri="{9D8B030D-6E8A-4147-A177-3AD203B41FA5}">
                      <a16:colId xmlns:a16="http://schemas.microsoft.com/office/drawing/2014/main" val="555940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0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Managed by</a:t>
                      </a:r>
                      <a:endParaRPr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Target </a:t>
                      </a:r>
                      <a:r>
                        <a:rPr sz="10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262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 dirty="0"/>
                        <a:t>ETECCMSDEV01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ETECMSC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394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 dirty="0"/>
                        <a:t>QISRAXR3WEB01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436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ETECSEW07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ETECSEW01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38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ETECBMCKCPD01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711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ETEC-DEVTLNDS01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ETEC_DEV_TLND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60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QISRAXR3EP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392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ETECJUMP09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20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ETECJUMP04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28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ETECJUMP10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850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000"/>
                        <a:t>ETECTRTW01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ETECTRTW01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88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32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41A23-75A7-97B8-8B6B-2C2F15BA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56B4-EDF0-1126-3A3F-EECF278E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117853-50C0-F189-2AFF-10DCC44A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A5BDD8-7C50-8706-0BD6-ED0609DAB7C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33500"/>
          <a:ext cx="1096095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850">
                  <a:extLst>
                    <a:ext uri="{9D8B030D-6E8A-4147-A177-3AD203B41FA5}">
                      <a16:colId xmlns:a16="http://schemas.microsoft.com/office/drawing/2014/main" val="1586321793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486513132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853154399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3238240125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720498849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2912852055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2484399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120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ETECSET01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ETECSET01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27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ETECSURW01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250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ETECAPMT05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ETECAPMT05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124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ETECJUMP27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863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ETECSEW04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ETECSEW01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434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ETECTRSSTD01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ETECTRSST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85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CentralDBTEST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CentralDBTEST-098b7fb0-f661-42c7-b115-1c95a2e2eccb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631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ETECJIRAW01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350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DevServer01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53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DevServer02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636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ETECCRMW01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ETEC-CRM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31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ETECDEVOPS02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984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85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7A1DD-390D-46D8-B16E-4CB05A352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C0E27-05E9-CC96-C101-1A82949D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1759D6-073D-71E8-D3ED-01569D06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58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F1C38A-0D95-1AB7-A901-28FDDF58D0AA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1333500"/>
          <a:ext cx="10972801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3">
                  <a:extLst>
                    <a:ext uri="{9D8B030D-6E8A-4147-A177-3AD203B41FA5}">
                      <a16:colId xmlns:a16="http://schemas.microsoft.com/office/drawing/2014/main" val="3544598491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84356519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096119115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289947998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653058336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188646121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4453858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48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ETECJUMP17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932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DevServer04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60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ETECIPWEB01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ETEC-Internal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721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ETECTTPT01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ETECTTPT01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300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ETECSEW02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ETECSEW01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325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ETECQVS01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ETECQALYS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Red Hat Enterprise Linux 7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325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ETECTPLA16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641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ETECJMPFIN01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ETECJMPFIN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782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SERVER-APPLICATION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28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ETECSEW03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ETECSEW01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46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ETECPDW01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8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ETECSURAPIT01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673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QISRAPIWEB01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QISRTRAS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155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QISRWEB02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QISR01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888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86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0983E-417E-195A-1297-42DC66E2B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1D06-F7D4-8125-11E9-8ED6B7E39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991BCB-D6FA-D00E-C4DB-D72A59D6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59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620361-3D4D-B456-6C76-C484E0D88740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133350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547">
                  <a:extLst>
                    <a:ext uri="{9D8B030D-6E8A-4147-A177-3AD203B41FA5}">
                      <a16:colId xmlns:a16="http://schemas.microsoft.com/office/drawing/2014/main" val="161986148"/>
                    </a:ext>
                  </a:extLst>
                </a:gridCol>
                <a:gridCol w="1596547">
                  <a:extLst>
                    <a:ext uri="{9D8B030D-6E8A-4147-A177-3AD203B41FA5}">
                      <a16:colId xmlns:a16="http://schemas.microsoft.com/office/drawing/2014/main" val="2392684833"/>
                    </a:ext>
                  </a:extLst>
                </a:gridCol>
                <a:gridCol w="1596547">
                  <a:extLst>
                    <a:ext uri="{9D8B030D-6E8A-4147-A177-3AD203B41FA5}">
                      <a16:colId xmlns:a16="http://schemas.microsoft.com/office/drawing/2014/main" val="454007904"/>
                    </a:ext>
                  </a:extLst>
                </a:gridCol>
                <a:gridCol w="1596547">
                  <a:extLst>
                    <a:ext uri="{9D8B030D-6E8A-4147-A177-3AD203B41FA5}">
                      <a16:colId xmlns:a16="http://schemas.microsoft.com/office/drawing/2014/main" val="895974639"/>
                    </a:ext>
                  </a:extLst>
                </a:gridCol>
                <a:gridCol w="812118">
                  <a:extLst>
                    <a:ext uri="{9D8B030D-6E8A-4147-A177-3AD203B41FA5}">
                      <a16:colId xmlns:a16="http://schemas.microsoft.com/office/drawing/2014/main" val="3004242188"/>
                    </a:ext>
                  </a:extLst>
                </a:gridCol>
                <a:gridCol w="1310461">
                  <a:extLst>
                    <a:ext uri="{9D8B030D-6E8A-4147-A177-3AD203B41FA5}">
                      <a16:colId xmlns:a16="http://schemas.microsoft.com/office/drawing/2014/main" val="2846821860"/>
                    </a:ext>
                  </a:extLst>
                </a:gridCol>
                <a:gridCol w="2464033">
                  <a:extLst>
                    <a:ext uri="{9D8B030D-6E8A-4147-A177-3AD203B41FA5}">
                      <a16:colId xmlns:a16="http://schemas.microsoft.com/office/drawing/2014/main" val="21155902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601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QISRAXHCMDEV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28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ETECNAFSW02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ETECNAFSW02-0a39217b-76b5-4a5e-beed-2d18a56eef25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300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ETECBIW04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ETECBIW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734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ETECSEW01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ETECSEW01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02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ETECBMCDSD01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270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ETECPR01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865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ETECJUMP26R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5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ETECJUMP29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19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ETECTRSW01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ETECTRSW01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978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ETECISAP01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ETECISAP01-67227822-fe97-46b0-8c4c-09b93076100e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519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ETECAPIT03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ETECAPI-TEST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742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 dirty="0"/>
                        <a:t>ETECSET02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ETECSET01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16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900"/>
                        <a:t>FSC-UAT-WEB02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FSC-UAT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75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76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B04DF-3E0E-7359-DF7D-AC0D6A7E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7B06-C55C-6379-4F60-87A4C5E59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2953B4-619B-7992-20FB-892CE13E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60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1D80FB-449B-96C7-4FC8-1436C3E0DD62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1333500"/>
          <a:ext cx="10972800" cy="4594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362">
                  <a:extLst>
                    <a:ext uri="{9D8B030D-6E8A-4147-A177-3AD203B41FA5}">
                      <a16:colId xmlns:a16="http://schemas.microsoft.com/office/drawing/2014/main" val="4286907966"/>
                    </a:ext>
                  </a:extLst>
                </a:gridCol>
                <a:gridCol w="1607362">
                  <a:extLst>
                    <a:ext uri="{9D8B030D-6E8A-4147-A177-3AD203B41FA5}">
                      <a16:colId xmlns:a16="http://schemas.microsoft.com/office/drawing/2014/main" val="577121879"/>
                    </a:ext>
                  </a:extLst>
                </a:gridCol>
                <a:gridCol w="1096352">
                  <a:extLst>
                    <a:ext uri="{9D8B030D-6E8A-4147-A177-3AD203B41FA5}">
                      <a16:colId xmlns:a16="http://schemas.microsoft.com/office/drawing/2014/main" val="497610640"/>
                    </a:ext>
                  </a:extLst>
                </a:gridCol>
                <a:gridCol w="2053336">
                  <a:extLst>
                    <a:ext uri="{9D8B030D-6E8A-4147-A177-3AD203B41FA5}">
                      <a16:colId xmlns:a16="http://schemas.microsoft.com/office/drawing/2014/main" val="3354933688"/>
                    </a:ext>
                  </a:extLst>
                </a:gridCol>
                <a:gridCol w="715415">
                  <a:extLst>
                    <a:ext uri="{9D8B030D-6E8A-4147-A177-3AD203B41FA5}">
                      <a16:colId xmlns:a16="http://schemas.microsoft.com/office/drawing/2014/main" val="1652447874"/>
                    </a:ext>
                  </a:extLst>
                </a:gridCol>
                <a:gridCol w="1142806">
                  <a:extLst>
                    <a:ext uri="{9D8B030D-6E8A-4147-A177-3AD203B41FA5}">
                      <a16:colId xmlns:a16="http://schemas.microsoft.com/office/drawing/2014/main" val="1172372357"/>
                    </a:ext>
                  </a:extLst>
                </a:gridCol>
                <a:gridCol w="2750167">
                  <a:extLst>
                    <a:ext uri="{9D8B030D-6E8A-4147-A177-3AD203B41FA5}">
                      <a16:colId xmlns:a16="http://schemas.microsoft.com/office/drawing/2014/main" val="659960878"/>
                    </a:ext>
                  </a:extLst>
                </a:gridCol>
              </a:tblGrid>
              <a:tr h="276750">
                <a:tc>
                  <a:txBody>
                    <a:bodyPr/>
                    <a:lstStyle/>
                    <a:p>
                      <a:r>
                        <a:rPr sz="9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Managed by</a:t>
                      </a:r>
                      <a:endParaRPr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Target </a:t>
                      </a:r>
                      <a:r>
                        <a:rPr sz="9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788529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 dirty="0"/>
                        <a:t>ETECJUMP20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834440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ETECJUMP30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726109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QISRAXR3WEB02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297792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ETEC-DB-DEV01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SqlCluster-DEV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621087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ETECJUMP22R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070822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ETECTEMP2022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276639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ETECJUMP18R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127801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ETECNCAAAW01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ETECNCAAA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151662"/>
                  </a:ext>
                </a:extLst>
              </a:tr>
              <a:tr h="442801">
                <a:tc>
                  <a:txBody>
                    <a:bodyPr/>
                    <a:lstStyle/>
                    <a:p>
                      <a:r>
                        <a:rPr sz="900"/>
                        <a:t>NEW-Image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NEW-Image-687c692c-4fdd-4f38-b0f1-4037f411ce55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630585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ETECJUMP13R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681537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ETECAYW02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310102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ETECAPMW02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552180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ETECAPMT03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ETECAPMT03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639467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ETECEXTW01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523000"/>
                  </a:ext>
                </a:extLst>
              </a:tr>
              <a:tr h="276750">
                <a:tc>
                  <a:txBody>
                    <a:bodyPr/>
                    <a:lstStyle/>
                    <a:p>
                      <a:r>
                        <a:rPr sz="900"/>
                        <a:t>ETECSURW02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618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52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0AF02-5DBD-45E5-10C1-D5761314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D4C6-2D84-0336-9357-17C8BD56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A39A30-AAFB-EA11-6A9C-822B6AA9E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D8AB09-9217-A730-E07B-92B9450EF1E7}"/>
              </a:ext>
            </a:extLst>
          </p:cNvPr>
          <p:cNvGraphicFramePr>
            <a:graphicFrameLocks noGrp="1"/>
          </p:cNvGraphicFramePr>
          <p:nvPr/>
        </p:nvGraphicFramePr>
        <p:xfrm>
          <a:off x="609598" y="1333500"/>
          <a:ext cx="11093117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731">
                  <a:extLst>
                    <a:ext uri="{9D8B030D-6E8A-4147-A177-3AD203B41FA5}">
                      <a16:colId xmlns:a16="http://schemas.microsoft.com/office/drawing/2014/main" val="1563889093"/>
                    </a:ext>
                  </a:extLst>
                </a:gridCol>
                <a:gridCol w="1584731">
                  <a:extLst>
                    <a:ext uri="{9D8B030D-6E8A-4147-A177-3AD203B41FA5}">
                      <a16:colId xmlns:a16="http://schemas.microsoft.com/office/drawing/2014/main" val="1349277918"/>
                    </a:ext>
                  </a:extLst>
                </a:gridCol>
                <a:gridCol w="1584731">
                  <a:extLst>
                    <a:ext uri="{9D8B030D-6E8A-4147-A177-3AD203B41FA5}">
                      <a16:colId xmlns:a16="http://schemas.microsoft.com/office/drawing/2014/main" val="3147832912"/>
                    </a:ext>
                  </a:extLst>
                </a:gridCol>
                <a:gridCol w="1584731">
                  <a:extLst>
                    <a:ext uri="{9D8B030D-6E8A-4147-A177-3AD203B41FA5}">
                      <a16:colId xmlns:a16="http://schemas.microsoft.com/office/drawing/2014/main" val="3715448061"/>
                    </a:ext>
                  </a:extLst>
                </a:gridCol>
                <a:gridCol w="1584731">
                  <a:extLst>
                    <a:ext uri="{9D8B030D-6E8A-4147-A177-3AD203B41FA5}">
                      <a16:colId xmlns:a16="http://schemas.microsoft.com/office/drawing/2014/main" val="3325126431"/>
                    </a:ext>
                  </a:extLst>
                </a:gridCol>
                <a:gridCol w="1584731">
                  <a:extLst>
                    <a:ext uri="{9D8B030D-6E8A-4147-A177-3AD203B41FA5}">
                      <a16:colId xmlns:a16="http://schemas.microsoft.com/office/drawing/2014/main" val="1500850281"/>
                    </a:ext>
                  </a:extLst>
                </a:gridCol>
                <a:gridCol w="1584731">
                  <a:extLst>
                    <a:ext uri="{9D8B030D-6E8A-4147-A177-3AD203B41FA5}">
                      <a16:colId xmlns:a16="http://schemas.microsoft.com/office/drawing/2014/main" val="2781416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700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ETECJUMP20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302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188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QISRAXR3WEB02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71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ETEC-DB-DEV01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SqlCluster-DEV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74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ETECJUMP22R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81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ETECTEMP2022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027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ETECJUMP18R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089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ETECNCAAAW01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ETECNCAAA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NEW-Image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NEW-Image-687c692c-4fdd-4f38-b0f1-4037f411ce55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146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ETECJUMP13R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7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ETECAYW02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9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ETECAPMW02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883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ETECAPMT03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ETECAPMT03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644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ETECEXTW01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956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ETECSURW02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990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28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07353-F02A-69F7-761C-96DA538A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DE1E3-798E-13C8-7638-34626A73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2A599B-18E1-F112-F602-BD37111A7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62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116B9E-1588-33D2-2724-62354FF10431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33500"/>
          <a:ext cx="11036970" cy="49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710">
                  <a:extLst>
                    <a:ext uri="{9D8B030D-6E8A-4147-A177-3AD203B41FA5}">
                      <a16:colId xmlns:a16="http://schemas.microsoft.com/office/drawing/2014/main" val="3291818941"/>
                    </a:ext>
                  </a:extLst>
                </a:gridCol>
                <a:gridCol w="1576710">
                  <a:extLst>
                    <a:ext uri="{9D8B030D-6E8A-4147-A177-3AD203B41FA5}">
                      <a16:colId xmlns:a16="http://schemas.microsoft.com/office/drawing/2014/main" val="3627376813"/>
                    </a:ext>
                  </a:extLst>
                </a:gridCol>
                <a:gridCol w="1576710">
                  <a:extLst>
                    <a:ext uri="{9D8B030D-6E8A-4147-A177-3AD203B41FA5}">
                      <a16:colId xmlns:a16="http://schemas.microsoft.com/office/drawing/2014/main" val="3817570876"/>
                    </a:ext>
                  </a:extLst>
                </a:gridCol>
                <a:gridCol w="1576710">
                  <a:extLst>
                    <a:ext uri="{9D8B030D-6E8A-4147-A177-3AD203B41FA5}">
                      <a16:colId xmlns:a16="http://schemas.microsoft.com/office/drawing/2014/main" val="2973369668"/>
                    </a:ext>
                  </a:extLst>
                </a:gridCol>
                <a:gridCol w="1576710">
                  <a:extLst>
                    <a:ext uri="{9D8B030D-6E8A-4147-A177-3AD203B41FA5}">
                      <a16:colId xmlns:a16="http://schemas.microsoft.com/office/drawing/2014/main" val="131596317"/>
                    </a:ext>
                  </a:extLst>
                </a:gridCol>
                <a:gridCol w="1576710">
                  <a:extLst>
                    <a:ext uri="{9D8B030D-6E8A-4147-A177-3AD203B41FA5}">
                      <a16:colId xmlns:a16="http://schemas.microsoft.com/office/drawing/2014/main" val="1844190114"/>
                    </a:ext>
                  </a:extLst>
                </a:gridCol>
                <a:gridCol w="1576710">
                  <a:extLst>
                    <a:ext uri="{9D8B030D-6E8A-4147-A177-3AD203B41FA5}">
                      <a16:colId xmlns:a16="http://schemas.microsoft.com/office/drawing/2014/main" val="1021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375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MKCLTEST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MKCL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(32-bit)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116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DevServer03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075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ETECCYPAMTEST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ETECCYPAMTEST-3c84ca52-e7f5-4385-95ac-81711f2c5028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4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ETECTRSSTt01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ETECTRSST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476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ETECSYS-f6947045-9d1b-42e7-8a55-a1dce0bcee5f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186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ETECAPMT02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ETECAPMT02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6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ETECJUMP16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626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ETECAYSTGW01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373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08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NCAAIAW01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NCAAIAW01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104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ncaaiapt01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96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ETECMUSTWEB01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ETECMUST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857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44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WIN10JUMTEP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WIN10JUMTEP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10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52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77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55DC7-E272-6CB0-3120-245CF8A5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5A10B-EF88-B0B2-6451-D5CA151B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A44402-6771-DCF9-31CD-8B1730AD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3E7B4A-12E3-15C2-DED9-A2D66AC944C8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33500"/>
          <a:ext cx="1096095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850">
                  <a:extLst>
                    <a:ext uri="{9D8B030D-6E8A-4147-A177-3AD203B41FA5}">
                      <a16:colId xmlns:a16="http://schemas.microsoft.com/office/drawing/2014/main" val="344294353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2624347214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1265706778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3002156049"/>
                    </a:ext>
                  </a:extLst>
                </a:gridCol>
                <a:gridCol w="674811">
                  <a:extLst>
                    <a:ext uri="{9D8B030D-6E8A-4147-A177-3AD203B41FA5}">
                      <a16:colId xmlns:a16="http://schemas.microsoft.com/office/drawing/2014/main" val="1643671635"/>
                    </a:ext>
                  </a:extLst>
                </a:gridCol>
                <a:gridCol w="1179094">
                  <a:extLst>
                    <a:ext uri="{9D8B030D-6E8A-4147-A177-3AD203B41FA5}">
                      <a16:colId xmlns:a16="http://schemas.microsoft.com/office/drawing/2014/main" val="4091886468"/>
                    </a:ext>
                  </a:extLst>
                </a:gridCol>
                <a:gridCol w="2843645">
                  <a:extLst>
                    <a:ext uri="{9D8B030D-6E8A-4147-A177-3AD203B41FA5}">
                      <a16:colId xmlns:a16="http://schemas.microsoft.com/office/drawing/2014/main" val="2149768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46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QISEMST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QISREMS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469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ETECBMCWND01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819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ETECJUMP14R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500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ETECODOODEV01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ETECODOO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81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ETECAPMW01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952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Etecayweb02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56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QISRAPTST01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QISR-BSystem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91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WIN2016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63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ETECBMCWND03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819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ETECSURAPPT01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1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etecportapp01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25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ETECELW01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426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ETECELW02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878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ETECEXTAPI01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628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424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07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147CE-6907-4DAA-C289-8A81D5FE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499B-A69F-66FA-44DF-698423FE5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B25F87-404B-3386-E570-5A4D3C4D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64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AAEB3D-806B-18A0-5422-A1FF8B5B0A6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33500"/>
          <a:ext cx="1096095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850">
                  <a:extLst>
                    <a:ext uri="{9D8B030D-6E8A-4147-A177-3AD203B41FA5}">
                      <a16:colId xmlns:a16="http://schemas.microsoft.com/office/drawing/2014/main" val="936941113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1525440331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163505879"/>
                    </a:ext>
                  </a:extLst>
                </a:gridCol>
                <a:gridCol w="1565850">
                  <a:extLst>
                    <a:ext uri="{9D8B030D-6E8A-4147-A177-3AD203B41FA5}">
                      <a16:colId xmlns:a16="http://schemas.microsoft.com/office/drawing/2014/main" val="2359989458"/>
                    </a:ext>
                  </a:extLst>
                </a:gridCol>
                <a:gridCol w="843253">
                  <a:extLst>
                    <a:ext uri="{9D8B030D-6E8A-4147-A177-3AD203B41FA5}">
                      <a16:colId xmlns:a16="http://schemas.microsoft.com/office/drawing/2014/main" val="1981917832"/>
                    </a:ext>
                  </a:extLst>
                </a:gridCol>
                <a:gridCol w="1034715">
                  <a:extLst>
                    <a:ext uri="{9D8B030D-6E8A-4147-A177-3AD203B41FA5}">
                      <a16:colId xmlns:a16="http://schemas.microsoft.com/office/drawing/2014/main" val="3390987360"/>
                    </a:ext>
                  </a:extLst>
                </a:gridCol>
                <a:gridCol w="2819582">
                  <a:extLst>
                    <a:ext uri="{9D8B030D-6E8A-4147-A177-3AD203B41FA5}">
                      <a16:colId xmlns:a16="http://schemas.microsoft.com/office/drawing/2014/main" val="4253676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48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ETECJUMP21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158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ETECEEPT01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013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ETECAPMT04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ETECAPMT04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10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ETECNEWTEMPLATE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ETECNEWTEMPLATE-653969e2-0eb5-4634-b5ac-f514df14a942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358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ETECSEANCTAA01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ETECSEA01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017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ETECTPLW04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ETECTPLW04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778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ETECBMCJD01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83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ETECAPIT01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229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ETECJUMP02R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962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ETECBMCWND04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ETEC-BMC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Red Hat Enterprise Linux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884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ETECJUMP01R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737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ETECADSS02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AD SELF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506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ETECJUMP36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77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ETECDBMZ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ETECDBMZ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199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37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E964C-9004-0CF0-32EC-50E97ED5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D9A3-051D-D91B-A3B5-AE6CB081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7B7C38-C7C2-564D-2AD0-9A8DA11C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178406-EEB9-F8E3-3B3D-1458186BA9FB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1333500"/>
          <a:ext cx="11069051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293">
                  <a:extLst>
                    <a:ext uri="{9D8B030D-6E8A-4147-A177-3AD203B41FA5}">
                      <a16:colId xmlns:a16="http://schemas.microsoft.com/office/drawing/2014/main" val="3223849101"/>
                    </a:ext>
                  </a:extLst>
                </a:gridCol>
                <a:gridCol w="1581293">
                  <a:extLst>
                    <a:ext uri="{9D8B030D-6E8A-4147-A177-3AD203B41FA5}">
                      <a16:colId xmlns:a16="http://schemas.microsoft.com/office/drawing/2014/main" val="1537615959"/>
                    </a:ext>
                  </a:extLst>
                </a:gridCol>
                <a:gridCol w="1581293">
                  <a:extLst>
                    <a:ext uri="{9D8B030D-6E8A-4147-A177-3AD203B41FA5}">
                      <a16:colId xmlns:a16="http://schemas.microsoft.com/office/drawing/2014/main" val="3233503527"/>
                    </a:ext>
                  </a:extLst>
                </a:gridCol>
                <a:gridCol w="1581293">
                  <a:extLst>
                    <a:ext uri="{9D8B030D-6E8A-4147-A177-3AD203B41FA5}">
                      <a16:colId xmlns:a16="http://schemas.microsoft.com/office/drawing/2014/main" val="3030161728"/>
                    </a:ext>
                  </a:extLst>
                </a:gridCol>
                <a:gridCol w="917840">
                  <a:extLst>
                    <a:ext uri="{9D8B030D-6E8A-4147-A177-3AD203B41FA5}">
                      <a16:colId xmlns:a16="http://schemas.microsoft.com/office/drawing/2014/main" val="4102256420"/>
                    </a:ext>
                  </a:extLst>
                </a:gridCol>
                <a:gridCol w="1267326">
                  <a:extLst>
                    <a:ext uri="{9D8B030D-6E8A-4147-A177-3AD203B41FA5}">
                      <a16:colId xmlns:a16="http://schemas.microsoft.com/office/drawing/2014/main" val="3384368170"/>
                    </a:ext>
                  </a:extLst>
                </a:gridCol>
                <a:gridCol w="2558713">
                  <a:extLst>
                    <a:ext uri="{9D8B030D-6E8A-4147-A177-3AD203B41FA5}">
                      <a16:colId xmlns:a16="http://schemas.microsoft.com/office/drawing/2014/main" val="2245092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7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ETECJUMP28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81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FSC-UAT-WEB01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FSC-UAT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224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SHAMEL-GSN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SHAMEL-GSN-7700ae82-b7c3-4e1d-9185-6f0d84a248f5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404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ETECTRSDMZ01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ETECTRSAP01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854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ETECEXTAPI02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690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ETEC-DEVTLNDS02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ETEC_DEV_TLND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50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ETECAYW01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407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OVACDNSTEST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OVACDNSTEST-8dddd544-92ae-41a2-95c5-58bf23b29446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025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ETECDEVOPS03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719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ETECNAFSW01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ETECNAFSW01-c5ef4b64-67ef-414e-bef5-4020aceba731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430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ETECACPDTST01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35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/>
                        <a:t>ETECCRMW02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ETEC-CRM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25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800" dirty="0"/>
                        <a:t>ETECAPMT01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ETECAPMT01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9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80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953F0-8022-9053-1DA0-2D549F457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97B6-AB6B-2117-EFDD-CB386417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F62E72-4D79-0B31-3EA6-2B87312F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3E365D-E1EE-0C87-1442-299CB6390EF3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33500"/>
          <a:ext cx="10908631" cy="41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250">
                  <a:extLst>
                    <a:ext uri="{9D8B030D-6E8A-4147-A177-3AD203B41FA5}">
                      <a16:colId xmlns:a16="http://schemas.microsoft.com/office/drawing/2014/main" val="784707470"/>
                    </a:ext>
                  </a:extLst>
                </a:gridCol>
                <a:gridCol w="1570250">
                  <a:extLst>
                    <a:ext uri="{9D8B030D-6E8A-4147-A177-3AD203B41FA5}">
                      <a16:colId xmlns:a16="http://schemas.microsoft.com/office/drawing/2014/main" val="3008686861"/>
                    </a:ext>
                  </a:extLst>
                </a:gridCol>
                <a:gridCol w="1570250">
                  <a:extLst>
                    <a:ext uri="{9D8B030D-6E8A-4147-A177-3AD203B41FA5}">
                      <a16:colId xmlns:a16="http://schemas.microsoft.com/office/drawing/2014/main" val="826358244"/>
                    </a:ext>
                  </a:extLst>
                </a:gridCol>
                <a:gridCol w="1570250">
                  <a:extLst>
                    <a:ext uri="{9D8B030D-6E8A-4147-A177-3AD203B41FA5}">
                      <a16:colId xmlns:a16="http://schemas.microsoft.com/office/drawing/2014/main" val="755446452"/>
                    </a:ext>
                  </a:extLst>
                </a:gridCol>
                <a:gridCol w="566098">
                  <a:extLst>
                    <a:ext uri="{9D8B030D-6E8A-4147-A177-3AD203B41FA5}">
                      <a16:colId xmlns:a16="http://schemas.microsoft.com/office/drawing/2014/main" val="777657551"/>
                    </a:ext>
                  </a:extLst>
                </a:gridCol>
                <a:gridCol w="1087268">
                  <a:extLst>
                    <a:ext uri="{9D8B030D-6E8A-4147-A177-3AD203B41FA5}">
                      <a16:colId xmlns:a16="http://schemas.microsoft.com/office/drawing/2014/main" val="1506315449"/>
                    </a:ext>
                  </a:extLst>
                </a:gridCol>
                <a:gridCol w="2974265">
                  <a:extLst>
                    <a:ext uri="{9D8B030D-6E8A-4147-A177-3AD203B41FA5}">
                      <a16:colId xmlns:a16="http://schemas.microsoft.com/office/drawing/2014/main" val="2348315409"/>
                    </a:ext>
                  </a:extLst>
                </a:gridCol>
              </a:tblGrid>
              <a:tr h="381050">
                <a:tc>
                  <a:txBody>
                    <a:bodyPr/>
                    <a:lstStyle/>
                    <a:p>
                      <a:r>
                        <a:rPr sz="80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Managed by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Target </a:t>
                      </a:r>
                      <a:r>
                        <a:rPr sz="80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974465"/>
                  </a:ext>
                </a:extLst>
              </a:tr>
              <a:tr h="381050">
                <a:tc>
                  <a:txBody>
                    <a:bodyPr/>
                    <a:lstStyle/>
                    <a:p>
                      <a:r>
                        <a:rPr sz="800" dirty="0"/>
                        <a:t>ETECTDY01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760053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ETECBIW03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ETECBIW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74854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ETECSURAPI1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040747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QISRAXTESTR3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525252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ETECAYSTGW02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Ubuntu Linux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055173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ETECBIW01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ETECBIW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133164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ETECGSBT01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ETECGSBT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389064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ETECTTPW01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ETECTTP01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459569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ETECTDY04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ETECTDY01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351394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ETECELAPT01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ETECELAPT01-f5f27c0e-34f5-4c77-b670-2f84f097b665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CentOS 8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674529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ETECJUMP23R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966573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800"/>
                        <a:t>ETECAPIT02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ETECAPI-TEST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994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6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7DA6F-A516-BA00-06F1-15CCA8F6E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312A7-EA8E-DBA6-0F41-6076C7D0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</a:t>
            </a:r>
            <a:r>
              <a:rPr lang="en-US" dirty="0"/>
              <a:t> Test and web servers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B11C9-B8DC-AD51-DE08-4E00F8A5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02D03F-ECCA-8AF8-17DD-3E4D4A5A109F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133350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9487">
                  <a:extLst>
                    <a:ext uri="{9D8B030D-6E8A-4147-A177-3AD203B41FA5}">
                      <a16:colId xmlns:a16="http://schemas.microsoft.com/office/drawing/2014/main" val="2771307546"/>
                    </a:ext>
                  </a:extLst>
                </a:gridCol>
                <a:gridCol w="1579487">
                  <a:extLst>
                    <a:ext uri="{9D8B030D-6E8A-4147-A177-3AD203B41FA5}">
                      <a16:colId xmlns:a16="http://schemas.microsoft.com/office/drawing/2014/main" val="729855913"/>
                    </a:ext>
                  </a:extLst>
                </a:gridCol>
                <a:gridCol w="1579487">
                  <a:extLst>
                    <a:ext uri="{9D8B030D-6E8A-4147-A177-3AD203B41FA5}">
                      <a16:colId xmlns:a16="http://schemas.microsoft.com/office/drawing/2014/main" val="2434913099"/>
                    </a:ext>
                  </a:extLst>
                </a:gridCol>
                <a:gridCol w="1579487">
                  <a:extLst>
                    <a:ext uri="{9D8B030D-6E8A-4147-A177-3AD203B41FA5}">
                      <a16:colId xmlns:a16="http://schemas.microsoft.com/office/drawing/2014/main" val="3696735838"/>
                    </a:ext>
                  </a:extLst>
                </a:gridCol>
                <a:gridCol w="569428">
                  <a:extLst>
                    <a:ext uri="{9D8B030D-6E8A-4147-A177-3AD203B41FA5}">
                      <a16:colId xmlns:a16="http://schemas.microsoft.com/office/drawing/2014/main" val="300881788"/>
                    </a:ext>
                  </a:extLst>
                </a:gridCol>
                <a:gridCol w="1093664">
                  <a:extLst>
                    <a:ext uri="{9D8B030D-6E8A-4147-A177-3AD203B41FA5}">
                      <a16:colId xmlns:a16="http://schemas.microsoft.com/office/drawing/2014/main" val="2523999814"/>
                    </a:ext>
                  </a:extLst>
                </a:gridCol>
                <a:gridCol w="2991760">
                  <a:extLst>
                    <a:ext uri="{9D8B030D-6E8A-4147-A177-3AD203B41FA5}">
                      <a16:colId xmlns:a16="http://schemas.microsoft.com/office/drawing/2014/main" val="2592117526"/>
                    </a:ext>
                  </a:extLst>
                </a:gridCol>
              </a:tblGrid>
              <a:tr h="279436">
                <a:tc>
                  <a:txBody>
                    <a:bodyPr/>
                    <a:lstStyle/>
                    <a:p>
                      <a:r>
                        <a:rPr sz="1050" dirty="0"/>
                        <a:t>Hostname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Server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Managed by</a:t>
                      </a:r>
                      <a:endParaRPr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OS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Server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Target </a:t>
                      </a:r>
                      <a:r>
                        <a:rPr sz="1050" dirty="0"/>
                        <a:t> OS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Improvement 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408662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1050" dirty="0"/>
                        <a:t>QISRAXDEV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Microsoft-dynamics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545229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1050" dirty="0"/>
                        <a:t>ETECDEVEEC01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TEST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74477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1050"/>
                        <a:t>ETECSEW06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ETECSEW01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006328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1050"/>
                        <a:t>ETECJUMP06R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ETECJUMPSERVER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Microsoft Windows Server 2022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Review external management efficiency and optimize costs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836709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1050"/>
                        <a:t>ETECTDY02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ETECTDY01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581310"/>
                  </a:ext>
                </a:extLst>
              </a:tr>
              <a:tr h="279436">
                <a:tc>
                  <a:txBody>
                    <a:bodyPr/>
                    <a:lstStyle/>
                    <a:p>
                      <a:r>
                        <a:rPr sz="1050"/>
                        <a:t>ETECTDY03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ETECTDY01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MANAGE BY DEEM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Microsoft Windows Server 2016 or later (64-bit)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Windows Server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dirty="0"/>
                        <a:t>Upgrade OS and ensure compatibility with modern security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81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89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74BC-1856-87D0-243F-0B049E39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9FD17-B3BD-750F-6503-BF28DB5A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ملاحظات على الوضع المستقبلي للخوادم المتشابهة و دمجها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ED7827-73EA-44F4-63FA-3D186AD82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33040-1780-5C97-488A-472B95AF5142}"/>
              </a:ext>
            </a:extLst>
          </p:cNvPr>
          <p:cNvSpPr txBox="1"/>
          <p:nvPr/>
        </p:nvSpPr>
        <p:spPr>
          <a:xfrm>
            <a:off x="1219200" y="1299411"/>
            <a:ext cx="101947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dirty="0"/>
              <a:t>ت</a:t>
            </a:r>
            <a:r>
              <a:rPr lang="ar-EG" dirty="0"/>
              <a:t>ت</a:t>
            </a:r>
            <a:r>
              <a:rPr lang="ar-SA" dirty="0"/>
              <a:t>م تنفيذ عملية الدمج بناءً على توافق بيئة التشغيل، سواء كانت </a:t>
            </a:r>
            <a:r>
              <a:rPr lang="en-US" b="1" dirty="0"/>
              <a:t>Windows</a:t>
            </a:r>
            <a:r>
              <a:rPr lang="en-US" dirty="0"/>
              <a:t> </a:t>
            </a:r>
            <a:r>
              <a:rPr lang="ar-SA" dirty="0"/>
              <a:t>أو </a:t>
            </a:r>
            <a:r>
              <a:rPr lang="en-US" b="1" dirty="0"/>
              <a:t>Linux</a:t>
            </a:r>
            <a:r>
              <a:rPr lang="en-US" dirty="0"/>
              <a:t>، </a:t>
            </a:r>
            <a:r>
              <a:rPr lang="ar-SA" dirty="0"/>
              <a:t>مع مراعاة خصوصية كل خادم واحتياجاته التشغيلية. ومع ذلك، فإن القرار النهائي يعتمد على تقييم </a:t>
            </a:r>
            <a:r>
              <a:rPr lang="ar-SA" b="1" dirty="0"/>
              <a:t>مهندس الحلول </a:t>
            </a:r>
            <a:r>
              <a:rPr lang="en-US" b="1" dirty="0"/>
              <a:t>Solution Architect</a:t>
            </a:r>
            <a:r>
              <a:rPr lang="en-US" dirty="0"/>
              <a:t>، </a:t>
            </a:r>
            <a:r>
              <a:rPr lang="ar-SA" dirty="0"/>
              <a:t>حيث قد تتطلب بعض الخوادم الفصل لضمان الأداء والأمان.</a:t>
            </a:r>
          </a:p>
          <a:p>
            <a:pPr algn="r" rtl="1"/>
            <a:r>
              <a:rPr lang="ar-SA" dirty="0"/>
              <a:t>على سبيل المثال: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QISRAADC Domain Controller</a:t>
            </a:r>
            <a:r>
              <a:rPr lang="en-US" dirty="0"/>
              <a:t> </a:t>
            </a:r>
            <a:r>
              <a:rPr lang="ar-SA" dirty="0"/>
              <a:t>لا يُنصح بدمجه مع خدمات أخرى مثل </a:t>
            </a:r>
            <a:r>
              <a:rPr lang="en-US" b="1" dirty="0"/>
              <a:t>ADFS</a:t>
            </a:r>
            <a:r>
              <a:rPr lang="en-US" dirty="0"/>
              <a:t> </a:t>
            </a:r>
            <a:r>
              <a:rPr lang="ar-SA" dirty="0"/>
              <a:t>أو </a:t>
            </a:r>
            <a:r>
              <a:rPr lang="en-US" b="1" dirty="0"/>
              <a:t>RDS</a:t>
            </a:r>
            <a:r>
              <a:rPr lang="en-US" dirty="0"/>
              <a:t>، </a:t>
            </a:r>
            <a:r>
              <a:rPr lang="ar-SA" dirty="0"/>
              <a:t>نظرًا لأهمية استقراره وأمانه. تشغيل خدمات إضافية على </a:t>
            </a:r>
            <a:r>
              <a:rPr lang="en-US" b="1" dirty="0"/>
              <a:t>DC</a:t>
            </a:r>
            <a:r>
              <a:rPr lang="en-US" dirty="0"/>
              <a:t> </a:t>
            </a:r>
            <a:r>
              <a:rPr lang="ar-SA" dirty="0"/>
              <a:t>قد يؤدي إلى مخاطر أمنية ويؤثر على أدائه.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ETECRDSS01 Remote Desktop Services - RDS</a:t>
            </a:r>
            <a:r>
              <a:rPr lang="en-US" dirty="0"/>
              <a:t> </a:t>
            </a:r>
            <a:r>
              <a:rPr lang="ar-SA" dirty="0"/>
              <a:t>هذه الخدمة تستهلك موارد كبيرة من </a:t>
            </a:r>
            <a:r>
              <a:rPr lang="ar-SA" b="1" dirty="0"/>
              <a:t>المعالج </a:t>
            </a:r>
            <a:r>
              <a:rPr lang="en-US" b="1" dirty="0"/>
              <a:t>CPU</a:t>
            </a:r>
            <a:r>
              <a:rPr lang="en-US" dirty="0"/>
              <a:t> </a:t>
            </a:r>
            <a:r>
              <a:rPr lang="ar-SA" dirty="0"/>
              <a:t>و</a:t>
            </a:r>
            <a:r>
              <a:rPr lang="ar-SA" b="1" dirty="0"/>
              <a:t>الذاكرة </a:t>
            </a:r>
            <a:r>
              <a:rPr lang="en-US" b="1" dirty="0"/>
              <a:t>RAM</a:t>
            </a:r>
            <a:r>
              <a:rPr lang="en-US" dirty="0"/>
              <a:t>، </a:t>
            </a:r>
            <a:r>
              <a:rPr lang="ar-SA" dirty="0"/>
              <a:t>لذا يُفضل فصلها عن </a:t>
            </a:r>
            <a:r>
              <a:rPr lang="en-US" b="1" dirty="0"/>
              <a:t>AD </a:t>
            </a:r>
            <a:r>
              <a:rPr lang="ar-SA" b="1" dirty="0"/>
              <a:t>و </a:t>
            </a:r>
            <a:r>
              <a:rPr lang="en-US" b="1" dirty="0"/>
              <a:t>ADFS</a:t>
            </a:r>
            <a:r>
              <a:rPr lang="en-US" dirty="0"/>
              <a:t> </a:t>
            </a:r>
            <a:r>
              <a:rPr lang="ar-SA" dirty="0"/>
              <a:t>لضمان الأداء السلس وعدم تعريض الخادم الرئيسي للضغط الزائد.</a:t>
            </a:r>
          </a:p>
          <a:p>
            <a:pPr algn="r" rtl="1"/>
            <a:r>
              <a:rPr lang="ar-SA" dirty="0"/>
              <a:t>بالتالي، يُنصح بتقييم احتياجات كل خادم بشكل منفصل، واستخدام </a:t>
            </a:r>
            <a:r>
              <a:rPr lang="ar-SA" b="1" dirty="0"/>
              <a:t>الافتراضية </a:t>
            </a:r>
            <a:r>
              <a:rPr lang="en-US" b="1" dirty="0"/>
              <a:t>Virtualization</a:t>
            </a:r>
            <a:r>
              <a:rPr lang="en-US" dirty="0"/>
              <a:t> </a:t>
            </a:r>
            <a:r>
              <a:rPr lang="ar-SA" dirty="0"/>
              <a:t>عند الحاجة لضمان التوازن بين </a:t>
            </a:r>
            <a:r>
              <a:rPr lang="ar-SA" b="1" dirty="0"/>
              <a:t>الأداء، الأمان، وإدارة الموارد</a:t>
            </a:r>
            <a:r>
              <a:rPr lang="ar-SA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EF43E-73DF-53AE-CA37-868ED68E4C58}"/>
              </a:ext>
            </a:extLst>
          </p:cNvPr>
          <p:cNvSpPr txBox="1"/>
          <p:nvPr/>
        </p:nvSpPr>
        <p:spPr>
          <a:xfrm>
            <a:off x="1219200" y="3837346"/>
            <a:ext cx="101947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/>
              <a:t>بدلاً من نشر عدد كبير من الخوادم المتطابقة على نفس السحابة لتحقيق </a:t>
            </a:r>
            <a:r>
              <a:rPr lang="ar-SA" dirty="0" err="1"/>
              <a:t>التوافرية</a:t>
            </a:r>
            <a:r>
              <a:rPr lang="ar-SA" dirty="0"/>
              <a:t>، من الأفضل </a:t>
            </a:r>
            <a:r>
              <a:rPr lang="ar-SA" b="1" dirty="0"/>
              <a:t>دمج هذه الخوادم</a:t>
            </a:r>
            <a:r>
              <a:rPr lang="ar-SA" dirty="0"/>
              <a:t> في وحدات أكثر كفاءة، مع إنشاء </a:t>
            </a:r>
            <a:r>
              <a:rPr lang="ar-SA" b="1" dirty="0"/>
              <a:t>خادم مماثل</a:t>
            </a:r>
            <a:r>
              <a:rPr lang="ar-SA" dirty="0"/>
              <a:t> على </a:t>
            </a:r>
            <a:r>
              <a:rPr lang="ar-SA" b="1" dirty="0"/>
              <a:t>سحابة مختلفة من مزود خدمة آخر</a:t>
            </a:r>
            <a:r>
              <a:rPr lang="ar-SA" dirty="0"/>
              <a:t>.</a:t>
            </a:r>
            <a:br>
              <a:rPr lang="ar-SA" dirty="0"/>
            </a:br>
            <a:r>
              <a:rPr lang="ar-SA" dirty="0"/>
              <a:t>يتيح هذا النهج </a:t>
            </a:r>
            <a:r>
              <a:rPr lang="ar-SA" b="1" dirty="0"/>
              <a:t>تحقيق </a:t>
            </a:r>
            <a:r>
              <a:rPr lang="ar-SA" b="1" dirty="0" err="1"/>
              <a:t>التوافرية</a:t>
            </a:r>
            <a:r>
              <a:rPr lang="ar-SA" b="1" dirty="0"/>
              <a:t> الحقيقية</a:t>
            </a:r>
            <a:r>
              <a:rPr lang="ar-SA" dirty="0"/>
              <a:t>، حيث يضمن استمرارية الخدمة حتى في حالة فشل مزود الخدمة الأساسي، بدلاً من مجرد توزيع الحمل داخل نفس البيئة السحابية.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24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D9056-A46A-28C4-5C63-D9080BBF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6B8E-F648-CA06-1E2A-DD356E82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A802AA-7016-3ADE-6EB2-D4558C21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69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E96111-2723-1FD2-75E0-3D01A15DCCD5}"/>
              </a:ext>
            </a:extLst>
          </p:cNvPr>
          <p:cNvSpPr txBox="1"/>
          <p:nvPr/>
        </p:nvSpPr>
        <p:spPr>
          <a:xfrm>
            <a:off x="1323475" y="1305342"/>
            <a:ext cx="97616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1. استخدام الحاويات </a:t>
            </a:r>
            <a:r>
              <a:rPr lang="en-US" b="1" dirty="0"/>
              <a:t>Containers </a:t>
            </a:r>
            <a:r>
              <a:rPr lang="ar-SA" b="1" dirty="0"/>
              <a:t>بدلاً من الخوادم الافتراضية</a:t>
            </a:r>
          </a:p>
          <a:p>
            <a:pPr algn="r" rtl="1">
              <a:buFont typeface="Arial" panose="020B0604020202020204" pitchFamily="34" charset="0"/>
              <a:buChar char="•"/>
            </a:pPr>
            <a:endParaRPr lang="ar-EG" b="1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أداء أسرع:</a:t>
            </a:r>
            <a:r>
              <a:rPr lang="ar-SA" dirty="0"/>
              <a:t> يتم تشغيل التطبيقات مباشرة فوق نواة نظام التشغيل، مما يجعلها </a:t>
            </a:r>
            <a:r>
              <a:rPr lang="ar-SA" b="1" dirty="0"/>
              <a:t>أخف وأسرع</a:t>
            </a:r>
            <a:r>
              <a:rPr lang="ar-SA" dirty="0"/>
              <a:t> من الآلات الافتراضية.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تكلفة أقل:</a:t>
            </a:r>
            <a:r>
              <a:rPr lang="ar-SA" dirty="0"/>
              <a:t> يمكن تشغيل العديد من الحاويات على نفس الجهاز بدون الحاجة إلى موارد إضافية كما في </a:t>
            </a:r>
            <a:r>
              <a:rPr lang="en-US" dirty="0"/>
              <a:t>VMs.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سهولة النشر والإدارة:</a:t>
            </a:r>
            <a:r>
              <a:rPr lang="ar-SA" dirty="0"/>
              <a:t> يمكن استخدام </a:t>
            </a:r>
            <a:r>
              <a:rPr lang="en-US" b="1" dirty="0"/>
              <a:t>Docker</a:t>
            </a:r>
            <a:r>
              <a:rPr lang="en-US" dirty="0"/>
              <a:t> </a:t>
            </a:r>
            <a:r>
              <a:rPr lang="ar-SA" dirty="0"/>
              <a:t>و</a:t>
            </a:r>
            <a:r>
              <a:rPr lang="en-US" b="1" dirty="0"/>
              <a:t>Kubernetes</a:t>
            </a:r>
            <a:r>
              <a:rPr lang="en-US" dirty="0"/>
              <a:t> </a:t>
            </a:r>
            <a:r>
              <a:rPr lang="ar-SA" dirty="0"/>
              <a:t>لإنشاء بيئات اختبار قابلة للتطوير بسهولة.</a:t>
            </a:r>
            <a:endParaRPr lang="ar-EG" dirty="0"/>
          </a:p>
          <a:p>
            <a:pPr algn="r" rtl="1">
              <a:buFont typeface="Arial" panose="020B0604020202020204" pitchFamily="34" charset="0"/>
              <a:buChar char="•"/>
            </a:pPr>
            <a:endParaRPr lang="ar-EG" dirty="0"/>
          </a:p>
          <a:p>
            <a:pPr algn="r" rtl="1">
              <a:buFont typeface="Arial" panose="020B0604020202020204" pitchFamily="34" charset="0"/>
              <a:buChar char="•"/>
            </a:pPr>
            <a:endParaRPr lang="ar-SA" dirty="0"/>
          </a:p>
          <a:p>
            <a:pPr algn="r" rtl="1"/>
            <a:r>
              <a:rPr lang="en-US" b="1" dirty="0"/>
              <a:t>🔧 </a:t>
            </a:r>
            <a:r>
              <a:rPr lang="ar-SA" b="1" dirty="0"/>
              <a:t>الأدوات المقترحة: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Docker</a:t>
            </a:r>
            <a:r>
              <a:rPr lang="en-US" dirty="0"/>
              <a:t>: </a:t>
            </a:r>
            <a:r>
              <a:rPr lang="ar-SA" dirty="0"/>
              <a:t>لإنشاء وتشغيل الحاويات بسرعة على أي جهاز محلي أو سحابي.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Kubernetes K8s</a:t>
            </a:r>
            <a:r>
              <a:rPr lang="en-US" dirty="0"/>
              <a:t>: </a:t>
            </a:r>
            <a:r>
              <a:rPr lang="ar-SA" dirty="0"/>
              <a:t>لإدارة البيئات الكبيرة والمعقدة من الحاويات.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 err="1"/>
              <a:t>Podman</a:t>
            </a:r>
            <a:r>
              <a:rPr lang="en-US" dirty="0"/>
              <a:t>: </a:t>
            </a:r>
            <a:r>
              <a:rPr lang="ar-SA" dirty="0"/>
              <a:t>بديل لـ </a:t>
            </a:r>
            <a:r>
              <a:rPr lang="en-US" dirty="0"/>
              <a:t>Docker </a:t>
            </a:r>
            <a:r>
              <a:rPr lang="ar-SA" dirty="0"/>
              <a:t>دون الحاجة إلى تشغيل </a:t>
            </a:r>
            <a:r>
              <a:rPr lang="en-US" dirty="0"/>
              <a:t>Daemon.</a:t>
            </a:r>
          </a:p>
          <a:p>
            <a:pPr algn="r" rtl="1"/>
            <a:r>
              <a:rPr lang="en-US" b="1" dirty="0"/>
              <a:t>📌 </a:t>
            </a:r>
            <a:r>
              <a:rPr lang="ar-SA" b="1" dirty="0"/>
              <a:t>مثال استخدام:</a:t>
            </a:r>
          </a:p>
          <a:p>
            <a:pPr algn="r" rtl="1"/>
            <a:r>
              <a:rPr lang="ar-SA" dirty="0"/>
              <a:t>بدلاً من تشغيل </a:t>
            </a:r>
            <a:r>
              <a:rPr lang="en-US" b="1" dirty="0"/>
              <a:t>VM </a:t>
            </a:r>
            <a:r>
              <a:rPr lang="ar-SA" b="1" dirty="0"/>
              <a:t>لكل تطبيق</a:t>
            </a:r>
            <a:r>
              <a:rPr lang="ar-SA" dirty="0"/>
              <a:t>، يمكنك تشغيل كل تطبيق في </a:t>
            </a:r>
            <a:r>
              <a:rPr lang="en-US" b="1" dirty="0"/>
              <a:t>Container </a:t>
            </a:r>
            <a:r>
              <a:rPr lang="ar-SA" b="1" dirty="0"/>
              <a:t>منفصل</a:t>
            </a:r>
            <a:r>
              <a:rPr lang="ar-SA" dirty="0"/>
              <a:t>، مما يسهل نشر التطبيقات وإدارتها بكفاءة.</a:t>
            </a:r>
          </a:p>
        </p:txBody>
      </p:sp>
    </p:spTree>
    <p:extLst>
      <p:ext uri="{BB962C8B-B14F-4D97-AF65-F5344CB8AC3E}">
        <p14:creationId xmlns:p14="http://schemas.microsoft.com/office/powerpoint/2010/main" val="91733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2E58B-7264-D513-7277-364DB2B00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F21C-E326-B2A6-1762-714C458FE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EB8F88-4E7C-6B3A-E4F8-265CD47A3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70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40F39-7A16-2AD1-48D5-06969FE08ECB}"/>
              </a:ext>
            </a:extLst>
          </p:cNvPr>
          <p:cNvSpPr txBox="1"/>
          <p:nvPr/>
        </p:nvSpPr>
        <p:spPr>
          <a:xfrm>
            <a:off x="1323475" y="1305342"/>
            <a:ext cx="97616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2. إنشاء بيئة محلية باستخدام </a:t>
            </a:r>
            <a:r>
              <a:rPr lang="en-US" b="1" dirty="0"/>
              <a:t>Hypervisor </a:t>
            </a:r>
            <a:r>
              <a:rPr lang="ar-SA" b="1" dirty="0"/>
              <a:t>مثل </a:t>
            </a:r>
            <a:r>
              <a:rPr lang="en-US" b="1" dirty="0" err="1"/>
              <a:t>Proxmox</a:t>
            </a:r>
            <a:r>
              <a:rPr lang="en-US" b="1" dirty="0"/>
              <a:t> </a:t>
            </a:r>
            <a:r>
              <a:rPr lang="ar-SA" b="1" dirty="0"/>
              <a:t>أو </a:t>
            </a:r>
            <a:r>
              <a:rPr lang="en-US" b="1" dirty="0"/>
              <a:t>VMware </a:t>
            </a:r>
            <a:r>
              <a:rPr lang="en-US" b="1" dirty="0" err="1"/>
              <a:t>ESXi</a:t>
            </a:r>
            <a:endParaRPr lang="en-US" b="1" dirty="0"/>
          </a:p>
          <a:p>
            <a:pPr algn="r" rtl="1">
              <a:buFont typeface="Arial" panose="020B0604020202020204" pitchFamily="34" charset="0"/>
              <a:buChar char="•"/>
            </a:pPr>
            <a:endParaRPr lang="ar-EG" b="1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عزل كامل عن البيئة الإنتاجية</a:t>
            </a:r>
            <a:r>
              <a:rPr lang="ar-SA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تكلفة تشغيل منخفضة مقارنة بالسحابة</a:t>
            </a:r>
            <a:r>
              <a:rPr lang="ar-SA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تحكم كامل في البنية التحتية</a:t>
            </a:r>
            <a:r>
              <a:rPr lang="ar-SA" dirty="0"/>
              <a:t>.</a:t>
            </a:r>
            <a:endParaRPr lang="ar-EG" dirty="0"/>
          </a:p>
          <a:p>
            <a:pPr algn="r" rtl="1"/>
            <a:endParaRPr lang="ar-SA" dirty="0"/>
          </a:p>
          <a:p>
            <a:pPr algn="r" rtl="1"/>
            <a:r>
              <a:rPr lang="en-US" b="1" dirty="0"/>
              <a:t>🔧 </a:t>
            </a:r>
            <a:r>
              <a:rPr lang="ar-SA" b="1" dirty="0"/>
              <a:t>الأدوات المقترحة: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 err="1"/>
              <a:t>Proxmox</a:t>
            </a:r>
            <a:r>
              <a:rPr lang="en-US" b="1" dirty="0"/>
              <a:t> VE</a:t>
            </a:r>
            <a:r>
              <a:rPr lang="en-US" dirty="0"/>
              <a:t>: </a:t>
            </a:r>
            <a:r>
              <a:rPr lang="ar-SA" dirty="0"/>
              <a:t>نظام </a:t>
            </a:r>
            <a:r>
              <a:rPr lang="ar-SA" b="1" dirty="0"/>
              <a:t>مفتوح المصدر</a:t>
            </a:r>
            <a:r>
              <a:rPr lang="ar-SA" dirty="0"/>
              <a:t> لإدارة الخوادم الافتراضية والحاويات.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VMware </a:t>
            </a:r>
            <a:r>
              <a:rPr lang="en-US" b="1" dirty="0" err="1"/>
              <a:t>ESXi</a:t>
            </a:r>
            <a:r>
              <a:rPr lang="en-US" dirty="0"/>
              <a:t>: </a:t>
            </a:r>
            <a:r>
              <a:rPr lang="ar-SA" dirty="0"/>
              <a:t>حل لإدارة البنية الافتراضية محليًا.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VirtualBox </a:t>
            </a:r>
            <a:r>
              <a:rPr lang="ar-SA" b="1" dirty="0"/>
              <a:t>أو </a:t>
            </a:r>
            <a:r>
              <a:rPr lang="en-US" b="1" dirty="0"/>
              <a:t>Hyper-V</a:t>
            </a:r>
            <a:r>
              <a:rPr lang="en-US" dirty="0"/>
              <a:t>: </a:t>
            </a:r>
            <a:r>
              <a:rPr lang="ar-SA" dirty="0"/>
              <a:t>للاختبارات على الحواسيب المكتبية.</a:t>
            </a:r>
            <a:endParaRPr lang="ar-EG" dirty="0"/>
          </a:p>
          <a:p>
            <a:pPr algn="r" rtl="1"/>
            <a:endParaRPr lang="ar-SA" dirty="0"/>
          </a:p>
          <a:p>
            <a:pPr algn="r" rtl="1"/>
            <a:r>
              <a:rPr lang="en-US" b="1" dirty="0"/>
              <a:t>📌 </a:t>
            </a:r>
            <a:r>
              <a:rPr lang="ar-SA" b="1" dirty="0"/>
              <a:t>مثال استخدام:</a:t>
            </a:r>
          </a:p>
          <a:p>
            <a:pPr algn="r" rtl="1"/>
            <a:r>
              <a:rPr lang="ar-SA" dirty="0"/>
              <a:t>بدلاً من استئجار </a:t>
            </a:r>
            <a:r>
              <a:rPr lang="ar-SA" b="1" dirty="0"/>
              <a:t>خوادم سحابية افتراضية</a:t>
            </a:r>
            <a:r>
              <a:rPr lang="ar-SA" dirty="0"/>
              <a:t>، يمكن </a:t>
            </a:r>
            <a:r>
              <a:rPr lang="ar-SA" b="1" dirty="0"/>
              <a:t>تشغيل بيئة اختبار داخلية على جهاز محلي أو خادم خاص</a:t>
            </a:r>
            <a:r>
              <a:rPr lang="ar-SA" dirty="0"/>
              <a:t> باستخدام </a:t>
            </a:r>
            <a:r>
              <a:rPr lang="en-US" dirty="0" err="1"/>
              <a:t>Proxmox</a:t>
            </a:r>
            <a:r>
              <a:rPr lang="en-US" dirty="0"/>
              <a:t> </a:t>
            </a:r>
            <a:r>
              <a:rPr lang="ar-SA" dirty="0"/>
              <a:t>أو </a:t>
            </a:r>
            <a:r>
              <a:rPr lang="en-US" dirty="0"/>
              <a:t>VMware.</a:t>
            </a:r>
          </a:p>
        </p:txBody>
      </p:sp>
    </p:spTree>
    <p:extLst>
      <p:ext uri="{BB962C8B-B14F-4D97-AF65-F5344CB8AC3E}">
        <p14:creationId xmlns:p14="http://schemas.microsoft.com/office/powerpoint/2010/main" val="376283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9ADC9-1700-31BF-2DC8-6000F1D2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41ED9-04E7-B2E2-1972-BF92DCEF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217BE-EDD4-CCAB-1390-E997BE10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71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473BF-83CB-3141-6D5B-00319B6671A6}"/>
              </a:ext>
            </a:extLst>
          </p:cNvPr>
          <p:cNvSpPr txBox="1"/>
          <p:nvPr/>
        </p:nvSpPr>
        <p:spPr>
          <a:xfrm>
            <a:off x="1323475" y="1305342"/>
            <a:ext cx="97616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3. استخدام خدمات الحوسبة بدون خوادم </a:t>
            </a:r>
            <a:r>
              <a:rPr lang="en-US" b="1" dirty="0"/>
              <a:t>Serverless</a:t>
            </a:r>
            <a:endParaRPr lang="ar-EG" b="1" dirty="0"/>
          </a:p>
          <a:p>
            <a:pPr algn="r" rtl="1"/>
            <a:r>
              <a:rPr lang="ar-SA" b="1" dirty="0"/>
              <a:t>الحوسبة بدون خوادم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أداء محسن وتكلفة منخفضة</a:t>
            </a:r>
            <a:r>
              <a:rPr lang="ar-SA" dirty="0"/>
              <a:t>: يتم تشغيل التعليمات البرمجية فقط عند الحاجة.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مناسب للاختبارات السريعة</a:t>
            </a:r>
            <a:r>
              <a:rPr lang="ar-SA" dirty="0"/>
              <a:t> دون الحاجة إلى إدارة خوادم.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قابلية التوسع التلقائي</a:t>
            </a:r>
            <a:r>
              <a:rPr lang="ar-SA" dirty="0"/>
              <a:t>.</a:t>
            </a:r>
          </a:p>
          <a:p>
            <a:pPr algn="r" rtl="1"/>
            <a:r>
              <a:rPr lang="en-US" b="1" dirty="0"/>
              <a:t>🔧 </a:t>
            </a:r>
            <a:r>
              <a:rPr lang="ar-SA" b="1" dirty="0"/>
              <a:t>الخدمات المقترحة: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Azure Functions</a:t>
            </a:r>
            <a:r>
              <a:rPr lang="en-US" dirty="0"/>
              <a:t> </a:t>
            </a:r>
            <a:r>
              <a:rPr lang="ar-SA" dirty="0"/>
              <a:t>مايكروسوفت</a:t>
            </a:r>
            <a:endParaRPr lang="ar-EG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Google Cloud Functions</a:t>
            </a:r>
            <a:r>
              <a:rPr lang="en-US" dirty="0"/>
              <a:t> </a:t>
            </a:r>
            <a:r>
              <a:rPr lang="ar-SA" dirty="0"/>
              <a:t>جوجل</a:t>
            </a:r>
          </a:p>
          <a:p>
            <a:pPr algn="r" rtl="1"/>
            <a:r>
              <a:rPr lang="en-US" b="1" dirty="0"/>
              <a:t>📌 </a:t>
            </a:r>
            <a:r>
              <a:rPr lang="ar-SA" b="1" dirty="0"/>
              <a:t>مثال استخدام:</a:t>
            </a:r>
          </a:p>
          <a:p>
            <a:pPr algn="r" rtl="1"/>
            <a:r>
              <a:rPr lang="ar-SA" dirty="0"/>
              <a:t>بدلاً من تشغيل </a:t>
            </a:r>
            <a:r>
              <a:rPr lang="ar-SA" b="1" dirty="0"/>
              <a:t>خوادم افتراضية</a:t>
            </a:r>
            <a:r>
              <a:rPr lang="ar-SA" dirty="0"/>
              <a:t> طوال الوقت، يمكنك تنفيذ الاختبارات على </a:t>
            </a:r>
            <a:r>
              <a:rPr lang="ar-SA" b="1" dirty="0"/>
              <a:t>وظائف </a:t>
            </a:r>
            <a:r>
              <a:rPr lang="en-US" b="1" dirty="0"/>
              <a:t>Serverless</a:t>
            </a:r>
            <a:r>
              <a:rPr lang="en-US" dirty="0"/>
              <a:t> </a:t>
            </a:r>
            <a:r>
              <a:rPr lang="ar-SA" dirty="0"/>
              <a:t>تدير التعليمات البرمجية تلقائيًا بدون الحاجة إلى موارد مستمرة.</a:t>
            </a:r>
          </a:p>
        </p:txBody>
      </p:sp>
    </p:spTree>
    <p:extLst>
      <p:ext uri="{BB962C8B-B14F-4D97-AF65-F5344CB8AC3E}">
        <p14:creationId xmlns:p14="http://schemas.microsoft.com/office/powerpoint/2010/main" val="227900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15D4-8B29-F2E3-7D3C-688E6773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D908-C832-27F4-FFBE-F0BAA6B62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E9389F-D8E1-0556-743F-761E741B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72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C4198-BC77-CAA2-7248-C803BF61871E}"/>
              </a:ext>
            </a:extLst>
          </p:cNvPr>
          <p:cNvSpPr txBox="1"/>
          <p:nvPr/>
        </p:nvSpPr>
        <p:spPr>
          <a:xfrm>
            <a:off x="1323475" y="1305342"/>
            <a:ext cx="97616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4. إنشاء بيئة محاكاة افتراضية باستخدام </a:t>
            </a:r>
            <a:r>
              <a:rPr lang="en-US" b="1" dirty="0" err="1"/>
              <a:t>Minikube</a:t>
            </a:r>
            <a:r>
              <a:rPr lang="en-US" b="1" dirty="0"/>
              <a:t> </a:t>
            </a:r>
            <a:r>
              <a:rPr lang="ar-SA" b="1" dirty="0"/>
              <a:t>أو </a:t>
            </a:r>
            <a:r>
              <a:rPr lang="en-US" b="1" dirty="0"/>
              <a:t>Kind</a:t>
            </a:r>
          </a:p>
          <a:p>
            <a:pPr algn="r" rtl="1">
              <a:buFont typeface="Arial" panose="020B0604020202020204" pitchFamily="34" charset="0"/>
              <a:buChar char="•"/>
            </a:pPr>
            <a:endParaRPr lang="ar-EG" b="1" dirty="0"/>
          </a:p>
          <a:p>
            <a:pPr algn="r" rtl="1">
              <a:buFont typeface="Arial" panose="020B0604020202020204" pitchFamily="34" charset="0"/>
              <a:buChar char="•"/>
            </a:pPr>
            <a:endParaRPr lang="ar-EG" b="1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اختبار سريع بدون الحاجة إلى بيئة إنتاجية كاملة</a:t>
            </a:r>
            <a:r>
              <a:rPr lang="ar-SA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تكلفة منخفضة للغاية مقارنة بالخوادم الافتراضية السحابية</a:t>
            </a:r>
            <a:r>
              <a:rPr lang="ar-SA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يتيح تشغيل خدمات مصغرة بطريقة مشابهة للبيئة الحقيقية</a:t>
            </a:r>
            <a:r>
              <a:rPr lang="ar-SA" dirty="0"/>
              <a:t>.</a:t>
            </a:r>
          </a:p>
          <a:p>
            <a:pPr algn="r" rtl="1"/>
            <a:endParaRPr lang="ar-EG" b="1" dirty="0"/>
          </a:p>
          <a:p>
            <a:pPr algn="r" rtl="1"/>
            <a:r>
              <a:rPr lang="ar-SA" b="1" dirty="0"/>
              <a:t>الأدوات المقترحة: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 err="1"/>
              <a:t>Minikube</a:t>
            </a:r>
            <a:r>
              <a:rPr lang="en-US" dirty="0"/>
              <a:t>: </a:t>
            </a:r>
            <a:r>
              <a:rPr lang="ar-SA" dirty="0"/>
              <a:t>تشغيل </a:t>
            </a:r>
            <a:r>
              <a:rPr lang="en-US" dirty="0"/>
              <a:t>Kubernetes </a:t>
            </a:r>
            <a:r>
              <a:rPr lang="ar-SA" dirty="0"/>
              <a:t>محليًا لاختبار التطبيقات.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Kind</a:t>
            </a:r>
            <a:r>
              <a:rPr lang="en-US" dirty="0"/>
              <a:t> Kubernetes in Docker: </a:t>
            </a:r>
            <a:r>
              <a:rPr lang="ar-SA" dirty="0"/>
              <a:t>تشغيل بيئة </a:t>
            </a:r>
            <a:r>
              <a:rPr lang="en-US" dirty="0"/>
              <a:t>Kubernetes </a:t>
            </a:r>
            <a:r>
              <a:rPr lang="ar-SA" dirty="0"/>
              <a:t>داخل الحاويات للاختبار.</a:t>
            </a:r>
          </a:p>
          <a:p>
            <a:pPr algn="r" rtl="1"/>
            <a:r>
              <a:rPr lang="en-US" b="1" dirty="0"/>
              <a:t>📌 </a:t>
            </a:r>
            <a:r>
              <a:rPr lang="ar-SA" b="1" dirty="0"/>
              <a:t>مثال استخدام:</a:t>
            </a:r>
          </a:p>
          <a:p>
            <a:pPr algn="r" rtl="1"/>
            <a:r>
              <a:rPr lang="ar-SA" dirty="0"/>
              <a:t>بدلاً من إنشاء </a:t>
            </a:r>
            <a:r>
              <a:rPr lang="ar-SA" b="1" dirty="0"/>
              <a:t>خوادم افتراضية في السحابة لكل تطبيق</a:t>
            </a:r>
            <a:r>
              <a:rPr lang="ar-SA" dirty="0"/>
              <a:t>، يمكنك </a:t>
            </a:r>
            <a:r>
              <a:rPr lang="ar-SA" b="1" dirty="0"/>
              <a:t>تشغيل </a:t>
            </a:r>
            <a:r>
              <a:rPr lang="en-US" b="1" dirty="0"/>
              <a:t>Kubernetes </a:t>
            </a:r>
            <a:r>
              <a:rPr lang="ar-SA" b="1" dirty="0"/>
              <a:t>محليًا عبر </a:t>
            </a:r>
            <a:r>
              <a:rPr lang="en-US" b="1" dirty="0" err="1"/>
              <a:t>Minikube</a:t>
            </a:r>
            <a:r>
              <a:rPr lang="en-US" dirty="0"/>
              <a:t>، </a:t>
            </a:r>
            <a:r>
              <a:rPr lang="ar-SA" dirty="0"/>
              <a:t>مما يتيح </a:t>
            </a:r>
            <a:r>
              <a:rPr lang="ar-SA" b="1" dirty="0"/>
              <a:t>بيئة خفيفة وقابلة للتكرار</a:t>
            </a:r>
            <a:r>
              <a:rPr lang="ar-S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850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D4C0A-D940-FF75-B7A4-8DB4A785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20C8-EBEA-8FDB-A155-4BEF30A4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3F155-CA24-0434-BFF7-B087E68D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73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B8E7D6C-B835-8200-C709-6F989ADDA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48" y="1903057"/>
            <a:ext cx="761197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A7BA5D-6645-B097-7E2E-D8FF10792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63414"/>
              </p:ext>
            </p:extLst>
          </p:nvPr>
        </p:nvGraphicFramePr>
        <p:xfrm>
          <a:off x="1540042" y="1698090"/>
          <a:ext cx="9031706" cy="2282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15853">
                  <a:extLst>
                    <a:ext uri="{9D8B030D-6E8A-4147-A177-3AD203B41FA5}">
                      <a16:colId xmlns:a16="http://schemas.microsoft.com/office/drawing/2014/main" val="3701885634"/>
                    </a:ext>
                  </a:extLst>
                </a:gridCol>
                <a:gridCol w="4515853">
                  <a:extLst>
                    <a:ext uri="{9D8B030D-6E8A-4147-A177-3AD203B41FA5}">
                      <a16:colId xmlns:a16="http://schemas.microsoft.com/office/drawing/2014/main" val="3420799426"/>
                    </a:ext>
                  </a:extLst>
                </a:gridCol>
              </a:tblGrid>
              <a:tr h="41946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حالة</a:t>
                      </a:r>
                      <a:r>
                        <a:rPr lang="en-US" sz="1100" dirty="0">
                          <a:effectLst/>
                        </a:rPr>
                        <a:t> الاستخدام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أفضل الحلول البديلة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971647"/>
                  </a:ext>
                </a:extLst>
              </a:tr>
              <a:tr h="465695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اختبار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تطبيقات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الويب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والخدمات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المصغرة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Docker + Kubernetes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122069"/>
                  </a:ext>
                </a:extLst>
              </a:tr>
              <a:tr h="465695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اختبار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البنية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التحتية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الداخلية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Proxmox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أو</a:t>
                      </a:r>
                      <a:r>
                        <a:rPr lang="en-US" sz="1100" dirty="0">
                          <a:effectLst/>
                        </a:rPr>
                        <a:t> VMware </a:t>
                      </a:r>
                      <a:r>
                        <a:rPr lang="en-US" sz="1100" dirty="0" err="1">
                          <a:effectLst/>
                        </a:rPr>
                        <a:t>ESXi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8593847"/>
                  </a:ext>
                </a:extLst>
              </a:tr>
              <a:tr h="465695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اختبار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التطبيقات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بدون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إدارة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الخوادم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Serverless </a:t>
                      </a:r>
                      <a:r>
                        <a:rPr lang="en-US" sz="1100" dirty="0" err="1">
                          <a:effectLst/>
                        </a:rPr>
                        <a:t>مثل</a:t>
                      </a:r>
                      <a:r>
                        <a:rPr lang="en-US" sz="1100" dirty="0">
                          <a:effectLst/>
                        </a:rPr>
                        <a:t> AWS Lambda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0180081"/>
                  </a:ext>
                </a:extLst>
              </a:tr>
              <a:tr h="465695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اختبار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بيئة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مصغرة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للتطبيقات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Minikube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أو</a:t>
                      </a:r>
                      <a:r>
                        <a:rPr lang="en-US" sz="1100" dirty="0">
                          <a:effectLst/>
                        </a:rPr>
                        <a:t> Kind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5602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76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9A1D-3188-BD0F-5D74-8CB8029A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05EC6-6F4F-F681-514A-AA3D39F79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الوضع المستقبلي للخوادم في البيئة الاختبارية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E0A1FD-FB44-0383-2DC2-BDF5B210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74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763F14-1D31-C503-C442-F0339C131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48" y="1903057"/>
            <a:ext cx="761197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3C9C53-6793-BD17-89CE-986A537C9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281194"/>
              </p:ext>
            </p:extLst>
          </p:nvPr>
        </p:nvGraphicFramePr>
        <p:xfrm>
          <a:off x="818148" y="1067626"/>
          <a:ext cx="10627896" cy="49738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6974">
                  <a:extLst>
                    <a:ext uri="{9D8B030D-6E8A-4147-A177-3AD203B41FA5}">
                      <a16:colId xmlns:a16="http://schemas.microsoft.com/office/drawing/2014/main" val="81573573"/>
                    </a:ext>
                  </a:extLst>
                </a:gridCol>
                <a:gridCol w="2656974">
                  <a:extLst>
                    <a:ext uri="{9D8B030D-6E8A-4147-A177-3AD203B41FA5}">
                      <a16:colId xmlns:a16="http://schemas.microsoft.com/office/drawing/2014/main" val="422930892"/>
                    </a:ext>
                  </a:extLst>
                </a:gridCol>
                <a:gridCol w="2656974">
                  <a:extLst>
                    <a:ext uri="{9D8B030D-6E8A-4147-A177-3AD203B41FA5}">
                      <a16:colId xmlns:a16="http://schemas.microsoft.com/office/drawing/2014/main" val="2781703439"/>
                    </a:ext>
                  </a:extLst>
                </a:gridCol>
                <a:gridCol w="2656974">
                  <a:extLst>
                    <a:ext uri="{9D8B030D-6E8A-4147-A177-3AD203B41FA5}">
                      <a16:colId xmlns:a16="http://schemas.microsoft.com/office/drawing/2014/main" val="3369115354"/>
                    </a:ext>
                  </a:extLst>
                </a:gridCol>
              </a:tblGrid>
              <a:tr h="17120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الخادم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الحالي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الدور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إمكانية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التحويل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إلى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حاوية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التوصية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3118375267"/>
                  </a:ext>
                </a:extLst>
              </a:tr>
              <a:tr h="358307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ETECAPI-TEST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تطبيقات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تحويل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إلى</a:t>
                      </a:r>
                      <a:r>
                        <a:rPr lang="en-US" sz="1100" dirty="0">
                          <a:effectLst/>
                        </a:rPr>
                        <a:t> Docker + Kubernetes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2432282501"/>
                  </a:ext>
                </a:extLst>
              </a:tr>
              <a:tr h="358307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ETECACPDTST01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تطبيقات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تحويل إلى Docker + Kubernetes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4082537037"/>
                  </a:ext>
                </a:extLst>
              </a:tr>
              <a:tr h="358307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ETEC_DEV_TLND01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خادم تطوير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تشغيل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في</a:t>
                      </a:r>
                      <a:r>
                        <a:rPr lang="en-US" sz="1100" dirty="0">
                          <a:effectLst/>
                        </a:rPr>
                        <a:t> Docker Compose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1273588089"/>
                  </a:ext>
                </a:extLst>
              </a:tr>
              <a:tr h="358307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ETEC_DEV_TLND02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تطوير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تشغيل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في</a:t>
                      </a:r>
                      <a:r>
                        <a:rPr lang="en-US" sz="1100" dirty="0">
                          <a:effectLst/>
                        </a:rPr>
                        <a:t> Docker Compose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1187430730"/>
                  </a:ext>
                </a:extLst>
              </a:tr>
              <a:tr h="54541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ETECAPMT01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ويب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تحويل إلى Nginx/Apache داخل Docker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281385791"/>
                  </a:ext>
                </a:extLst>
              </a:tr>
              <a:tr h="54541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ETECAPMT02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ويب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تحويل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إلى</a:t>
                      </a:r>
                      <a:r>
                        <a:rPr lang="en-US" sz="1100" dirty="0">
                          <a:effectLst/>
                        </a:rPr>
                        <a:t> Nginx/Apache </a:t>
                      </a:r>
                      <a:r>
                        <a:rPr lang="en-US" sz="1100" dirty="0" err="1">
                          <a:effectLst/>
                        </a:rPr>
                        <a:t>داخل</a:t>
                      </a:r>
                      <a:r>
                        <a:rPr lang="en-US" sz="1100" dirty="0">
                          <a:effectLst/>
                        </a:rPr>
                        <a:t> Docker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37344001"/>
                  </a:ext>
                </a:extLst>
              </a:tr>
              <a:tr h="554927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CentralDBTEST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قاعدة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بيانات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تشغيل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في</a:t>
                      </a:r>
                      <a:r>
                        <a:rPr lang="en-US" sz="1100" dirty="0">
                          <a:effectLst/>
                        </a:rPr>
                        <a:t> MySQL/PostgreSQL </a:t>
                      </a:r>
                      <a:r>
                        <a:rPr lang="en-US" sz="1100" dirty="0" err="1">
                          <a:effectLst/>
                        </a:rPr>
                        <a:t>داخل</a:t>
                      </a:r>
                      <a:r>
                        <a:rPr lang="en-US" sz="1100" dirty="0">
                          <a:effectLst/>
                        </a:rPr>
                        <a:t> Docker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1767865926"/>
                  </a:ext>
                </a:extLst>
              </a:tr>
              <a:tr h="54541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ETEC-DB-TST01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قاعدة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بيانات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تشغيل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في</a:t>
                      </a:r>
                      <a:r>
                        <a:rPr lang="en-US" sz="1100" dirty="0">
                          <a:effectLst/>
                        </a:rPr>
                        <a:t> MySQL/PostgreSQL </a:t>
                      </a:r>
                      <a:r>
                        <a:rPr lang="en-US" sz="1100" dirty="0" err="1">
                          <a:effectLst/>
                        </a:rPr>
                        <a:t>داخل</a:t>
                      </a:r>
                      <a:r>
                        <a:rPr lang="en-US" sz="1100" dirty="0">
                          <a:effectLst/>
                        </a:rPr>
                        <a:t> Docker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409999190"/>
                  </a:ext>
                </a:extLst>
              </a:tr>
              <a:tr h="17120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ETECJUMP03R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قفز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غير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استبدال</a:t>
                      </a:r>
                      <a:r>
                        <a:rPr lang="en-US" sz="1100" dirty="0">
                          <a:effectLst/>
                        </a:rPr>
                        <a:t> بـ Bastion Host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4135885312"/>
                  </a:ext>
                </a:extLst>
              </a:tr>
              <a:tr h="17120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ETECJUMP34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قفز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غير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استبدال</a:t>
                      </a:r>
                      <a:r>
                        <a:rPr lang="en-US" sz="1100" dirty="0">
                          <a:effectLst/>
                        </a:rPr>
                        <a:t> بـ Bastion Host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330500796"/>
                  </a:ext>
                </a:extLst>
              </a:tr>
              <a:tr h="17120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ETECSYS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مراقبة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وأمان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غير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الإبقاء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على</a:t>
                      </a:r>
                      <a:r>
                        <a:rPr lang="en-US" sz="1100" dirty="0">
                          <a:effectLst/>
                        </a:rPr>
                        <a:t> VMs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3946033874"/>
                  </a:ext>
                </a:extLst>
              </a:tr>
              <a:tr h="17120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ETECGSBT01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خادم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مراقبة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وأمان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غير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الإبقاء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على</a:t>
                      </a:r>
                      <a:r>
                        <a:rPr lang="en-US" sz="1100" dirty="0">
                          <a:effectLst/>
                        </a:rPr>
                        <a:t> VMs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3666861060"/>
                  </a:ext>
                </a:extLst>
              </a:tr>
              <a:tr h="17120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QISRAXDEV02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Microsoft Dynamics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غير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الإبقاء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على</a:t>
                      </a:r>
                      <a:r>
                        <a:rPr lang="en-US" sz="1100" dirty="0">
                          <a:effectLst/>
                        </a:rPr>
                        <a:t> VMs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697503040"/>
                  </a:ext>
                </a:extLst>
              </a:tr>
              <a:tr h="17120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QISRAXHCMDEV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Microsoft Dynamics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غير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ممكن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الإبقاء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على</a:t>
                      </a:r>
                      <a:r>
                        <a:rPr lang="en-US" sz="1100" dirty="0">
                          <a:effectLst/>
                        </a:rPr>
                        <a:t> VMs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6559" marR="66559" marT="0" marB="0"/>
                </a:tc>
                <a:extLst>
                  <a:ext uri="{0D108BD9-81ED-4DB2-BD59-A6C34878D82A}">
                    <a16:rowId xmlns:a16="http://schemas.microsoft.com/office/drawing/2014/main" val="722041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43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889E1-0791-8646-397E-B23961F5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37A749-6AF3-8AD8-F644-B96A93F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رؤية مستقبلية لإدارة وتأمين الشبكة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C018F-CF1B-8210-DFED-8D08F6D38F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B4CDFF-8353-8FF3-00CF-88CA8900DE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4.0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4BA337-AE78-9A92-73D9-D5E844F370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90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3168-B27F-E59A-A33C-D5276B39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42FA-0B47-0F0B-EA51-B682825F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52" y="326421"/>
            <a:ext cx="10972800" cy="666261"/>
          </a:xfrm>
        </p:spPr>
        <p:txBody>
          <a:bodyPr/>
          <a:lstStyle/>
          <a:p>
            <a:pPr rtl="0"/>
            <a:r>
              <a:rPr lang="ar-EG" sz="2400" b="1" dirty="0">
                <a:solidFill>
                  <a:schemeClr val="accent1"/>
                </a:solidFill>
                <a:latin typeface="Sakkal Majalla" panose="02000000000000000000" pitchFamily="2" charset="-78"/>
                <a:ea typeface="+mj-ea"/>
                <a:cs typeface="Sakkal Majalla" panose="02000000000000000000" pitchFamily="2" charset="-78"/>
              </a:rPr>
              <a:t>التحديات والمخاطر المحتملة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FC68A1-3418-2B46-004A-0E1A7A18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76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86DB0A-5CCD-7CE8-1BFD-EBCD0DB0B4EB}"/>
              </a:ext>
            </a:extLst>
          </p:cNvPr>
          <p:cNvSpPr txBox="1"/>
          <p:nvPr/>
        </p:nvSpPr>
        <p:spPr>
          <a:xfrm>
            <a:off x="1058827" y="1859340"/>
            <a:ext cx="103711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/>
              <a:t>⚠️ </a:t>
            </a:r>
            <a:r>
              <a:rPr lang="ar-SA" b="1" dirty="0"/>
              <a:t>التكامل بين الأنظمة</a:t>
            </a:r>
            <a:r>
              <a:rPr lang="ar-SA" dirty="0"/>
              <a:t>: تنوع </a:t>
            </a:r>
            <a:r>
              <a:rPr lang="ar-EG" dirty="0"/>
              <a:t>الموردين</a:t>
            </a:r>
            <a:r>
              <a:rPr lang="ar-SA" dirty="0"/>
              <a:t> والأنظمة قد يؤدي إلى تعقيد إدارة الأمن.</a:t>
            </a:r>
            <a:endParaRPr lang="ar-EG" dirty="0"/>
          </a:p>
          <a:p>
            <a:pPr algn="r" rtl="1"/>
            <a:r>
              <a:rPr lang="ar-SA" dirty="0"/>
              <a:t/>
            </a:r>
            <a:br>
              <a:rPr lang="ar-SA" dirty="0"/>
            </a:br>
            <a:r>
              <a:rPr lang="ar-SA" dirty="0"/>
              <a:t>⚠️ </a:t>
            </a:r>
            <a:r>
              <a:rPr lang="ar-SA" b="1" dirty="0"/>
              <a:t>غياب استراتيجية </a:t>
            </a:r>
            <a:r>
              <a:rPr lang="en-US" b="1" dirty="0"/>
              <a:t>Zero Trust </a:t>
            </a:r>
            <a:r>
              <a:rPr lang="ar-SA" b="1" dirty="0"/>
              <a:t>واضحة</a:t>
            </a:r>
            <a:r>
              <a:rPr lang="ar-SA" dirty="0"/>
              <a:t>: الحاجة إلى تعزيز </a:t>
            </a:r>
            <a:r>
              <a:rPr lang="ar-SA" b="1" dirty="0"/>
              <a:t>المصادقة الصارمة والتحقق المستمر</a:t>
            </a:r>
            <a:r>
              <a:rPr lang="ar-SA" dirty="0"/>
              <a:t>.</a:t>
            </a:r>
            <a:endParaRPr lang="ar-EG" dirty="0"/>
          </a:p>
          <a:p>
            <a:pPr algn="r" rtl="1"/>
            <a:r>
              <a:rPr lang="ar-SA" dirty="0"/>
              <a:t/>
            </a:r>
            <a:br>
              <a:rPr lang="ar-SA" dirty="0"/>
            </a:br>
            <a:r>
              <a:rPr lang="ar-SA" dirty="0"/>
              <a:t>⚠️ </a:t>
            </a:r>
            <a:r>
              <a:rPr lang="ar-SA" b="1" dirty="0"/>
              <a:t>ارتفاع عدد الأنظمة المصنفة كـ "حرجة"</a:t>
            </a:r>
            <a:r>
              <a:rPr lang="ar-SA" dirty="0"/>
              <a:t>: مما يزيد من التحديات في عمليات المراقبة والتحليل والاستجابة للحوادث.</a:t>
            </a:r>
            <a:endParaRPr lang="ar-EG" dirty="0"/>
          </a:p>
          <a:p>
            <a:pPr algn="r" rtl="1"/>
            <a:r>
              <a:rPr lang="ar-SA" dirty="0"/>
              <a:t/>
            </a:r>
            <a:br>
              <a:rPr lang="ar-SA" dirty="0"/>
            </a:br>
            <a:r>
              <a:rPr lang="ar-SA" dirty="0"/>
              <a:t>⚠️ </a:t>
            </a:r>
            <a:r>
              <a:rPr lang="ar-SA" b="1" dirty="0"/>
              <a:t>غياب أتمتة الاستجابة للحوادث </a:t>
            </a:r>
            <a:r>
              <a:rPr lang="en-US" b="1" dirty="0"/>
              <a:t>SOAR</a:t>
            </a:r>
            <a:r>
              <a:rPr lang="en-US" dirty="0"/>
              <a:t>: </a:t>
            </a:r>
            <a:r>
              <a:rPr lang="ar-SA" dirty="0"/>
              <a:t>مما قد يؤدي إلى استجابات بطيئة في حال الهجمات الكبيرة.</a:t>
            </a:r>
            <a:endParaRPr lang="ar-EG" dirty="0"/>
          </a:p>
          <a:p>
            <a:pPr algn="r" rtl="1"/>
            <a:r>
              <a:rPr lang="ar-SA" dirty="0"/>
              <a:t/>
            </a:r>
            <a:br>
              <a:rPr lang="ar-SA" dirty="0"/>
            </a:br>
            <a:r>
              <a:rPr lang="ar-SA" dirty="0"/>
              <a:t>⚠️ </a:t>
            </a:r>
            <a:r>
              <a:rPr lang="ar-SA" b="1" dirty="0"/>
              <a:t>عدم وجود برامج حماية البيانات السحابية </a:t>
            </a:r>
            <a:r>
              <a:rPr lang="en-US" b="1" dirty="0"/>
              <a:t>CSPM</a:t>
            </a:r>
            <a:r>
              <a:rPr lang="en-US" dirty="0"/>
              <a:t>: </a:t>
            </a:r>
            <a:r>
              <a:rPr lang="ar-SA" dirty="0"/>
              <a:t>لحماية الأنظمة السحابية.</a:t>
            </a:r>
            <a:endParaRPr lang="ar-EG" dirty="0"/>
          </a:p>
          <a:p>
            <a:pPr algn="r" rtl="1"/>
            <a:r>
              <a:rPr lang="ar-SA" dirty="0"/>
              <a:t/>
            </a:r>
            <a:br>
              <a:rPr lang="ar-SA" dirty="0"/>
            </a:br>
            <a:r>
              <a:rPr lang="ar-SA" dirty="0"/>
              <a:t>⚠️ </a:t>
            </a:r>
            <a:r>
              <a:rPr lang="ar-SA" b="1" dirty="0"/>
              <a:t>الحاجة إلى تحديث وتوسيع برامج التوعية الأمنية</a:t>
            </a:r>
            <a:r>
              <a:rPr lang="ar-SA" dirty="0"/>
              <a:t>: لضمان أن المستخدمين لا يزالون على دراية بأحدث التهديدات وأساليب الهجمات.</a:t>
            </a:r>
          </a:p>
        </p:txBody>
      </p:sp>
    </p:spTree>
    <p:extLst>
      <p:ext uri="{BB962C8B-B14F-4D97-AF65-F5344CB8AC3E}">
        <p14:creationId xmlns:p14="http://schemas.microsoft.com/office/powerpoint/2010/main" val="235941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7428F-46B0-9F50-75CE-4E2877F0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73AAE-D3E3-C384-21FB-99DFEDA2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52" y="326421"/>
            <a:ext cx="10972800" cy="666261"/>
          </a:xfrm>
        </p:spPr>
        <p:txBody>
          <a:bodyPr/>
          <a:lstStyle/>
          <a:p>
            <a:pPr rtl="0"/>
            <a:r>
              <a:rPr lang="ar-EG" sz="2400" b="1" dirty="0">
                <a:solidFill>
                  <a:schemeClr val="accent1"/>
                </a:solidFill>
                <a:latin typeface="Sakkal Majalla" panose="02000000000000000000" pitchFamily="2" charset="-78"/>
                <a:ea typeface="+mj-ea"/>
                <a:cs typeface="Sakkal Majalla" panose="02000000000000000000" pitchFamily="2" charset="-78"/>
              </a:rPr>
              <a:t>التصور المستقبلي الأمثل لأمان الشبكة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4CD77-682E-09DD-5895-59A287F9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77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F1AE7-935F-A651-281C-241E2C6A070A}"/>
              </a:ext>
            </a:extLst>
          </p:cNvPr>
          <p:cNvSpPr txBox="1"/>
          <p:nvPr/>
        </p:nvSpPr>
        <p:spPr>
          <a:xfrm>
            <a:off x="934273" y="1218200"/>
            <a:ext cx="107401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1. تعزيز التكامل والتنسيق الأمني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✅ </a:t>
            </a:r>
            <a:r>
              <a:rPr lang="ar-SA" b="1" dirty="0"/>
              <a:t>تنفيذ </a:t>
            </a:r>
            <a:r>
              <a:rPr lang="en-US" b="1" dirty="0"/>
              <a:t>Zero Trust Architecture ZTA</a:t>
            </a:r>
            <a:r>
              <a:rPr lang="en-US" dirty="0"/>
              <a:t> </a:t>
            </a:r>
            <a:r>
              <a:rPr lang="ar-SA" dirty="0"/>
              <a:t>حيث يتم </a:t>
            </a:r>
            <a:r>
              <a:rPr lang="ar-SA" b="1" dirty="0"/>
              <a:t>التحقق من جميع المستخدمين والأجهزة قبل السماح بالوصول</a:t>
            </a:r>
            <a:r>
              <a:rPr lang="ar-SA" dirty="0"/>
              <a:t>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تحسين إدارة الامتيازات باستخدام </a:t>
            </a:r>
            <a:r>
              <a:rPr lang="en-US" b="1" dirty="0"/>
              <a:t>Privileged Access Management PAM </a:t>
            </a:r>
            <a:r>
              <a:rPr lang="ar-SA" b="1" dirty="0"/>
              <a:t>المتقدم</a:t>
            </a:r>
            <a:r>
              <a:rPr lang="ar-SA" dirty="0"/>
              <a:t> لتقليل المخاطر المتعلقة بالحسابات الحساسة.</a:t>
            </a:r>
            <a:endParaRPr lang="ar-EG" dirty="0"/>
          </a:p>
          <a:p>
            <a:pPr algn="r" rtl="1"/>
            <a:endParaRPr lang="ar-EG" dirty="0"/>
          </a:p>
          <a:p>
            <a:pPr algn="r" rtl="1"/>
            <a:r>
              <a:rPr lang="ar-SA" b="1" dirty="0"/>
              <a:t>2. الأتمتة والاستجابة للحوادث</a:t>
            </a:r>
          </a:p>
          <a:p>
            <a:pPr algn="r" rtl="1"/>
            <a:r>
              <a:rPr lang="en-US" dirty="0"/>
              <a:t>✅ </a:t>
            </a:r>
            <a:r>
              <a:rPr lang="ar-SA" b="1" dirty="0"/>
              <a:t>تطبيق </a:t>
            </a:r>
            <a:r>
              <a:rPr lang="en-US" b="1" dirty="0"/>
              <a:t>Security Orchestration, Automation, and Response SOAR</a:t>
            </a:r>
            <a:r>
              <a:rPr lang="en-US" dirty="0"/>
              <a:t> </a:t>
            </a:r>
            <a:r>
              <a:rPr lang="ar-SA" dirty="0"/>
              <a:t>لتسريع الاستجابة للحوادث وتقليل الاعتماد على التدخل البشري.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استخدام الذكاء الاصطناعي والتعلم الآلي</a:t>
            </a:r>
            <a:r>
              <a:rPr lang="ar-SA" dirty="0"/>
              <a:t> للكشف عن السلوكيات المشبوهة وتحليلها بشكل استباقي.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نشر تقنية </a:t>
            </a:r>
            <a:r>
              <a:rPr lang="en-US" b="1" dirty="0"/>
              <a:t>Deception Technology</a:t>
            </a:r>
            <a:r>
              <a:rPr lang="en-US" dirty="0"/>
              <a:t> </a:t>
            </a:r>
            <a:r>
              <a:rPr lang="ar-SA" dirty="0"/>
              <a:t>لخداع المهاجمين وتحديد أنماط هجماتهم.</a:t>
            </a:r>
          </a:p>
          <a:p>
            <a:pPr algn="r" rtl="1"/>
            <a:endParaRPr lang="ar-EG" dirty="0"/>
          </a:p>
          <a:p>
            <a:pPr algn="r" rtl="1"/>
            <a:r>
              <a:rPr lang="ar-SA" b="1" dirty="0"/>
              <a:t>3. تحسين أمن التطبيقات والخدمات السحابية</a:t>
            </a:r>
          </a:p>
          <a:p>
            <a:pPr algn="r" rtl="1"/>
            <a:r>
              <a:rPr lang="en-US" dirty="0"/>
              <a:t>✅ </a:t>
            </a:r>
            <a:r>
              <a:rPr lang="ar-SA" b="1" dirty="0"/>
              <a:t>تطبيق </a:t>
            </a:r>
            <a:r>
              <a:rPr lang="en-US" b="1" dirty="0"/>
              <a:t>Cloud Security Posture Management CSPM</a:t>
            </a:r>
            <a:r>
              <a:rPr lang="en-US" dirty="0"/>
              <a:t> </a:t>
            </a:r>
            <a:r>
              <a:rPr lang="ar-SA" dirty="0"/>
              <a:t>لضمان الامتثال الأمني للخدمات السحابية.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تعزيز حماية التطبيقات عبر </a:t>
            </a:r>
            <a:r>
              <a:rPr lang="en-US" b="1" dirty="0"/>
              <a:t>Web Application Firewall WAF </a:t>
            </a:r>
            <a:r>
              <a:rPr lang="ar-SA" b="1" dirty="0"/>
              <a:t>أكثر تطورًا</a:t>
            </a:r>
            <a:r>
              <a:rPr lang="ar-SA" dirty="0"/>
              <a:t> لتقليل هجمات </a:t>
            </a:r>
            <a:r>
              <a:rPr lang="en-US" b="1" dirty="0"/>
              <a:t>DDoS </a:t>
            </a:r>
            <a:r>
              <a:rPr lang="ar-SA" b="1" dirty="0"/>
              <a:t>و</a:t>
            </a:r>
            <a:r>
              <a:rPr lang="en-US" b="1" dirty="0"/>
              <a:t>SQL Injection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</a:t>
            </a:r>
            <a:r>
              <a:rPr lang="ar-SA" b="1" dirty="0"/>
              <a:t>تشفير البيانات الحساسة</a:t>
            </a:r>
            <a:r>
              <a:rPr lang="ar-SA" dirty="0"/>
              <a:t> باستخدام </a:t>
            </a:r>
            <a:r>
              <a:rPr lang="en-US" b="1" dirty="0"/>
              <a:t>Data Loss Prevention DLP</a:t>
            </a:r>
            <a:r>
              <a:rPr lang="en-US" dirty="0"/>
              <a:t> </a:t>
            </a:r>
            <a:r>
              <a:rPr lang="ar-SA" dirty="0"/>
              <a:t>لتقليل مخاطر التسريب.</a:t>
            </a:r>
          </a:p>
          <a:p>
            <a:pPr algn="r" rtl="1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55954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7050-DAC0-AAA1-1685-D07FA24A6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1A59-1661-B247-E679-18B70042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52" y="326421"/>
            <a:ext cx="10972800" cy="666261"/>
          </a:xfrm>
        </p:spPr>
        <p:txBody>
          <a:bodyPr/>
          <a:lstStyle/>
          <a:p>
            <a:pPr rtl="0"/>
            <a:r>
              <a:rPr lang="ar-EG" sz="2400" b="1" dirty="0">
                <a:solidFill>
                  <a:schemeClr val="accent1"/>
                </a:solidFill>
                <a:latin typeface="Sakkal Majalla" panose="02000000000000000000" pitchFamily="2" charset="-78"/>
                <a:ea typeface="+mj-ea"/>
                <a:cs typeface="Sakkal Majalla" panose="02000000000000000000" pitchFamily="2" charset="-78"/>
              </a:rPr>
              <a:t>التصور المستقبلي الأمثل لأمان الشبكة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E155A5-6BC9-CCE3-BA8D-F52CAEE8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78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EB9B3-82C4-42AE-0146-99E0CDE1F860}"/>
              </a:ext>
            </a:extLst>
          </p:cNvPr>
          <p:cNvSpPr txBox="1"/>
          <p:nvPr/>
        </p:nvSpPr>
        <p:spPr>
          <a:xfrm>
            <a:off x="854062" y="1210179"/>
            <a:ext cx="107401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4. تطوير ممارسات الحماية للأجهزة والنقاط النهائية </a:t>
            </a:r>
            <a:r>
              <a:rPr lang="en-US" b="1" dirty="0"/>
              <a:t>Endpoints</a:t>
            </a:r>
          </a:p>
          <a:p>
            <a:pPr algn="r" rtl="1"/>
            <a:r>
              <a:rPr lang="en-US" dirty="0"/>
              <a:t>✅ </a:t>
            </a:r>
            <a:r>
              <a:rPr lang="ar-SA" b="1" dirty="0"/>
              <a:t>نشر حلول </a:t>
            </a:r>
            <a:r>
              <a:rPr lang="en-US" b="1" dirty="0"/>
              <a:t>Endpoint Detection and Response EDR </a:t>
            </a:r>
            <a:r>
              <a:rPr lang="ar-SA" b="1" dirty="0"/>
              <a:t>و </a:t>
            </a:r>
            <a:r>
              <a:rPr lang="en-US" b="1" dirty="0"/>
              <a:t>Extended Detection and Response XDR</a:t>
            </a:r>
            <a:r>
              <a:rPr lang="en-US" dirty="0"/>
              <a:t> </a:t>
            </a:r>
            <a:r>
              <a:rPr lang="ar-SA" dirty="0"/>
              <a:t>لتعزيز الرؤية والتحكم في الأجهزة النهائية.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تحسين إدارة التحديثات الأمنية وإغلاق الثغرات بسرعة عبر </a:t>
            </a:r>
            <a:r>
              <a:rPr lang="en-US" b="1" dirty="0"/>
              <a:t>Vulnerability Management Solutions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</a:t>
            </a:r>
            <a:r>
              <a:rPr lang="ar-SA" b="1" dirty="0"/>
              <a:t>فرض سياسات صارمة لكلمات المرور والمصادقة الثنائية </a:t>
            </a:r>
            <a:r>
              <a:rPr lang="en-US" b="1" dirty="0"/>
              <a:t>MFA </a:t>
            </a:r>
            <a:r>
              <a:rPr lang="ar-SA" b="1" dirty="0"/>
              <a:t>لجميع المستخدمين</a:t>
            </a:r>
            <a:r>
              <a:rPr lang="ar-SA" dirty="0"/>
              <a:t>.</a:t>
            </a:r>
          </a:p>
          <a:p>
            <a:pPr algn="r" rtl="1"/>
            <a:endParaRPr lang="ar-EG" dirty="0"/>
          </a:p>
          <a:p>
            <a:pPr algn="r" rtl="1"/>
            <a:r>
              <a:rPr lang="ar-SA" b="1" dirty="0"/>
              <a:t>5. تعزيز الوعي الأمني وتدريب الفرق</a:t>
            </a:r>
          </a:p>
          <a:p>
            <a:pPr algn="r" rtl="1"/>
            <a:r>
              <a:rPr lang="en-US" dirty="0"/>
              <a:t>✅ </a:t>
            </a:r>
            <a:r>
              <a:rPr lang="ar-SA" b="1" dirty="0"/>
              <a:t>توسيع برامج التوعية الأمنية لتشمل محاكاة هجمات التصيد الاحتيالي </a:t>
            </a:r>
            <a:r>
              <a:rPr lang="en-US" b="1" dirty="0"/>
              <a:t>Phishing Simulation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✅ </a:t>
            </a:r>
            <a:r>
              <a:rPr lang="ar-SA" b="1" dirty="0"/>
              <a:t>إجراء تدريبات دورية للفرق الفنية</a:t>
            </a:r>
            <a:r>
              <a:rPr lang="ar-SA" dirty="0"/>
              <a:t> لمواكبة التهديدات الأمنية المستجدة.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استخدام منهجية </a:t>
            </a:r>
            <a:r>
              <a:rPr lang="en-US" b="1" dirty="0"/>
              <a:t>Red Team vs. Blue Team</a:t>
            </a:r>
            <a:r>
              <a:rPr lang="en-US" dirty="0"/>
              <a:t> </a:t>
            </a:r>
            <a:r>
              <a:rPr lang="ar-SA" dirty="0"/>
              <a:t>لاختبار قدرة الفرق على التعامل مع الهجمات في بيئات محاكاة.</a:t>
            </a:r>
          </a:p>
          <a:p>
            <a:pPr algn="r" rtl="1"/>
            <a:endParaRPr lang="ar-EG" dirty="0"/>
          </a:p>
          <a:p>
            <a:pPr algn="r" rtl="1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82911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C6A0-C5C6-A4F6-0B2F-28515BE0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60D92-AE75-B898-1086-F102476BC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6593"/>
            <a:ext cx="10972800" cy="666261"/>
          </a:xfrm>
        </p:spPr>
        <p:txBody>
          <a:bodyPr/>
          <a:lstStyle/>
          <a:p>
            <a:pPr rtl="0"/>
            <a:r>
              <a:rPr lang="ar-EG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التصور المستقبلي الأمثل للشبكة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3D17D-9901-9EEF-B201-52DBC33ED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79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61B06-F7E9-8065-8F4A-64750F18AD73}"/>
              </a:ext>
            </a:extLst>
          </p:cNvPr>
          <p:cNvSpPr txBox="1"/>
          <p:nvPr/>
        </p:nvSpPr>
        <p:spPr>
          <a:xfrm>
            <a:off x="1130969" y="1042854"/>
            <a:ext cx="103150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1. التحسينات المطلوبة</a:t>
            </a:r>
          </a:p>
          <a:p>
            <a:pPr algn="r" rtl="1"/>
            <a:r>
              <a:rPr lang="ar-SA" b="1" dirty="0"/>
              <a:t>أ. تحديث الأجهزة الشبكية</a:t>
            </a:r>
          </a:p>
          <a:p>
            <a:pPr algn="r" rtl="1"/>
            <a:r>
              <a:rPr lang="en-US" dirty="0"/>
              <a:t>✅ </a:t>
            </a:r>
            <a:r>
              <a:rPr lang="ar-SA" b="1" dirty="0"/>
              <a:t>استبدال </a:t>
            </a:r>
            <a:r>
              <a:rPr lang="ar-EG" b="1" dirty="0"/>
              <a:t>الموجهات</a:t>
            </a:r>
            <a:r>
              <a:rPr lang="ar-SA" b="1" dirty="0"/>
              <a:t> القديمة بأجهزة </a:t>
            </a:r>
            <a:r>
              <a:rPr lang="en-US" b="1" dirty="0"/>
              <a:t>Cisco Catalyst 8000 Series</a:t>
            </a:r>
            <a:r>
              <a:rPr lang="en-US" dirty="0"/>
              <a:t> </a:t>
            </a:r>
            <a:r>
              <a:rPr lang="ar-SA" dirty="0"/>
              <a:t>لدعم </a:t>
            </a:r>
            <a:r>
              <a:rPr lang="en-US" dirty="0"/>
              <a:t>SD-WAN </a:t>
            </a:r>
            <a:r>
              <a:rPr lang="ar-SA" dirty="0"/>
              <a:t>وتحسين الأمان.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ترقية الموزعات إلى </a:t>
            </a:r>
            <a:r>
              <a:rPr lang="en-US" b="1" dirty="0"/>
              <a:t>Cisco Catalyst 9000 Series</a:t>
            </a:r>
            <a:r>
              <a:rPr lang="en-US" dirty="0"/>
              <a:t> </a:t>
            </a:r>
            <a:r>
              <a:rPr lang="ar-SA" dirty="0"/>
              <a:t>لدعم </a:t>
            </a:r>
            <a:r>
              <a:rPr lang="en-US" dirty="0"/>
              <a:t>SDN </a:t>
            </a:r>
            <a:r>
              <a:rPr lang="ar-SA" dirty="0"/>
              <a:t>والتحكم الذكي في الشبكة.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استخدام </a:t>
            </a:r>
            <a:r>
              <a:rPr lang="en-US" b="1" dirty="0"/>
              <a:t>Cisco Nexus 9000 </a:t>
            </a:r>
            <a:r>
              <a:rPr lang="ar-SA" b="1" dirty="0"/>
              <a:t>في مراكز البيانات</a:t>
            </a:r>
            <a:r>
              <a:rPr lang="ar-SA" dirty="0"/>
              <a:t> لتحسين الأداء ودعم الحوسبة السحابية.</a:t>
            </a:r>
          </a:p>
          <a:p>
            <a:pPr algn="r" rtl="1"/>
            <a:r>
              <a:rPr lang="ar-SA" b="1" dirty="0"/>
              <a:t>ب. تحسين إدارة الشبكة</a:t>
            </a:r>
          </a:p>
          <a:p>
            <a:pPr algn="r" rtl="1"/>
            <a:r>
              <a:rPr lang="en-US" dirty="0"/>
              <a:t>✅ </a:t>
            </a:r>
            <a:r>
              <a:rPr lang="ar-SA" b="1" dirty="0"/>
              <a:t>تطبيق </a:t>
            </a:r>
            <a:r>
              <a:rPr lang="en-US" b="1" dirty="0"/>
              <a:t>SD-WAN</a:t>
            </a:r>
            <a:r>
              <a:rPr lang="en-US" dirty="0"/>
              <a:t> </a:t>
            </a:r>
            <a:r>
              <a:rPr lang="ar-SA" dirty="0"/>
              <a:t>لتحسين الاتصال بين الفروع وإدارة الشبكة بمرونة أكبر.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تحديث </a:t>
            </a:r>
            <a:r>
              <a:rPr lang="en-US" b="1" dirty="0"/>
              <a:t>Cisco DNA Center</a:t>
            </a:r>
            <a:r>
              <a:rPr lang="en-US" dirty="0"/>
              <a:t> </a:t>
            </a:r>
            <a:r>
              <a:rPr lang="ar-SA" dirty="0"/>
              <a:t>لدمج الأتمتة وتحليل الأداء.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دمج </a:t>
            </a:r>
            <a:r>
              <a:rPr lang="en-US" b="1" dirty="0"/>
              <a:t>Cisco </a:t>
            </a:r>
            <a:r>
              <a:rPr lang="en-US" b="1" dirty="0" err="1"/>
              <a:t>ThousandEyes</a:t>
            </a:r>
            <a:r>
              <a:rPr lang="en-US" b="1" dirty="0"/>
              <a:t> </a:t>
            </a:r>
            <a:r>
              <a:rPr lang="ar-SA" b="1" dirty="0"/>
              <a:t>مع </a:t>
            </a:r>
            <a:r>
              <a:rPr lang="en-US" b="1" dirty="0"/>
              <a:t>SolarWinds</a:t>
            </a:r>
            <a:r>
              <a:rPr lang="en-US" dirty="0"/>
              <a:t> </a:t>
            </a:r>
            <a:r>
              <a:rPr lang="ar-SA" dirty="0"/>
              <a:t>للحصول على رؤية أوضح لأداء الشبكة.</a:t>
            </a:r>
          </a:p>
          <a:p>
            <a:pPr algn="r" rtl="1"/>
            <a:r>
              <a:rPr lang="ar-SA" b="1" dirty="0"/>
              <a:t>ج. تعزيز الأمان السيبراني</a:t>
            </a:r>
          </a:p>
          <a:p>
            <a:pPr algn="r" rtl="1"/>
            <a:r>
              <a:rPr lang="en-US" dirty="0"/>
              <a:t>✅ </a:t>
            </a:r>
            <a:r>
              <a:rPr lang="ar-SA" b="1" dirty="0"/>
              <a:t>إضافة </a:t>
            </a:r>
            <a:r>
              <a:rPr lang="en-US" b="1" dirty="0"/>
              <a:t>Cisco Firepower NGFW</a:t>
            </a:r>
            <a:r>
              <a:rPr lang="en-US" dirty="0"/>
              <a:t> </a:t>
            </a:r>
            <a:r>
              <a:rPr lang="ar-SA" dirty="0"/>
              <a:t>لحماية البيانات من الهجمات الإلكترونية المتقدمة.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تطبيق </a:t>
            </a:r>
            <a:r>
              <a:rPr lang="en-US" b="1" dirty="0"/>
              <a:t>Zero Trust Architecture ZTA</a:t>
            </a:r>
            <a:r>
              <a:rPr lang="en-US" dirty="0"/>
              <a:t> </a:t>
            </a:r>
            <a:r>
              <a:rPr lang="ar-SA" dirty="0"/>
              <a:t>لضمان الأمان داخل الشبكة.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تعزيز حلول الحماية السحابية باستخدام </a:t>
            </a:r>
            <a:r>
              <a:rPr lang="en-US" b="1" dirty="0"/>
              <a:t>Cisco Umbrella.</a:t>
            </a:r>
            <a:endParaRPr lang="en-US" dirty="0"/>
          </a:p>
          <a:p>
            <a:pPr algn="r" rtl="1"/>
            <a:r>
              <a:rPr lang="ar-SA" b="1" dirty="0"/>
              <a:t>د. تحسين الاتصال بين الفروع والمستخدمين</a:t>
            </a:r>
          </a:p>
          <a:p>
            <a:pPr algn="r" rtl="1"/>
            <a:r>
              <a:rPr lang="en-US" dirty="0"/>
              <a:t>✅ </a:t>
            </a:r>
            <a:r>
              <a:rPr lang="ar-SA" b="1" dirty="0"/>
              <a:t>تطبيق </a:t>
            </a:r>
            <a:r>
              <a:rPr lang="en-US" b="1" dirty="0"/>
              <a:t>SD-Access</a:t>
            </a:r>
            <a:r>
              <a:rPr lang="en-US" dirty="0"/>
              <a:t> </a:t>
            </a:r>
            <a:r>
              <a:rPr lang="ar-SA" dirty="0"/>
              <a:t>لربط الشبكة الداخلية باستخدام سياسة أمان موحدة.</a:t>
            </a:r>
            <a:br>
              <a:rPr lang="ar-SA" dirty="0"/>
            </a:br>
            <a:r>
              <a:rPr lang="en-US" dirty="0"/>
              <a:t>✅ </a:t>
            </a:r>
            <a:r>
              <a:rPr lang="ar-SA" b="1" dirty="0"/>
              <a:t>تحسين إدارة الهويات والأذونات باستخدام </a:t>
            </a:r>
            <a:r>
              <a:rPr lang="en-US" b="1" dirty="0"/>
              <a:t>Cisco ISE.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✅ </a:t>
            </a:r>
            <a:r>
              <a:rPr lang="ar-SA" b="1" dirty="0"/>
              <a:t>تحسين الاتصال اللاسلكي عبر تحديث </a:t>
            </a:r>
            <a:r>
              <a:rPr lang="en-US" b="1" dirty="0"/>
              <a:t>Cisco Wireless Controllers.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52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53E9A-BE7C-1E92-A02A-8772668D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8E04C4-9C08-5D33-908E-E4474F46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البنية المستقبلية لإدارة الشبكة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6CB936-B75F-3AAF-8101-8A802412D1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F02AD8-7C75-B255-DFA5-C9AE393DFD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5.0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3A86F1-48DE-4F4C-96D0-9394AD7E88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8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E14AE-725A-960F-2020-2664067B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77F3-59C4-DED9-FBE1-9B8B3919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6593"/>
            <a:ext cx="10972800" cy="666261"/>
          </a:xfrm>
        </p:spPr>
        <p:txBody>
          <a:bodyPr/>
          <a:lstStyle/>
          <a:p>
            <a:pPr rtl="0"/>
            <a:r>
              <a:rPr lang="ar-EG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البنية المستقبلية المقترحة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DF7D80-8C17-8061-3807-226123F33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81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8A12CE-182D-BE14-3F2C-4D9484352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732920"/>
              </p:ext>
            </p:extLst>
          </p:nvPr>
        </p:nvGraphicFramePr>
        <p:xfrm>
          <a:off x="1299410" y="1489687"/>
          <a:ext cx="10162674" cy="412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8190">
                  <a:extLst>
                    <a:ext uri="{9D8B030D-6E8A-4147-A177-3AD203B41FA5}">
                      <a16:colId xmlns:a16="http://schemas.microsoft.com/office/drawing/2014/main" val="2034426815"/>
                    </a:ext>
                  </a:extLst>
                </a:gridCol>
                <a:gridCol w="3994484">
                  <a:extLst>
                    <a:ext uri="{9D8B030D-6E8A-4147-A177-3AD203B41FA5}">
                      <a16:colId xmlns:a16="http://schemas.microsoft.com/office/drawing/2014/main" val="34639864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-EG" dirty="0"/>
                        <a:t>النوع تبعا لاستخدام المورد سيسكو العام في كافة الطبقات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dirty="0"/>
                        <a:t>المكون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88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Cisco Nexus 9000</a:t>
                      </a:r>
                      <a:endParaRPr lang="ar-EG" dirty="0"/>
                    </a:p>
                    <a:p>
                      <a:pPr algn="r" rtl="1"/>
                      <a:r>
                        <a:rPr lang="en-US" dirty="0"/>
                        <a:t> </a:t>
                      </a:r>
                      <a:r>
                        <a:rPr lang="ar-SA" dirty="0"/>
                        <a:t>في مراكز البيانات لدعم الأداء العالي.</a:t>
                      </a:r>
                      <a:endParaRPr lang="ar-EG" dirty="0"/>
                    </a:p>
                    <a:p>
                      <a:pPr algn="r" rtl="1"/>
                      <a:r>
                        <a:rPr lang="en-US" dirty="0"/>
                        <a:t>Cisco Catalyst 9500</a:t>
                      </a:r>
                      <a:endParaRPr lang="ar-EG" dirty="0"/>
                    </a:p>
                    <a:p>
                      <a:pPr algn="r" rtl="1"/>
                      <a:r>
                        <a:rPr lang="en-US" dirty="0"/>
                        <a:t> </a:t>
                      </a:r>
                      <a:r>
                        <a:rPr lang="ar-SA" dirty="0"/>
                        <a:t>للاتصالات عالية السرعة والربط بين المواقع.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EG" dirty="0"/>
                        <a:t> </a:t>
                      </a:r>
                      <a:r>
                        <a:rPr lang="en-US" dirty="0"/>
                        <a:t>Core Layer </a:t>
                      </a:r>
                      <a:r>
                        <a:rPr lang="ar-SA" dirty="0"/>
                        <a:t>الطبقة الأساسية - العمود الفقري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408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Cisco Catalyst 9300</a:t>
                      </a:r>
                      <a:endParaRPr lang="ar-EG" b="1" dirty="0"/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</a:t>
                      </a:r>
                      <a:r>
                        <a:rPr lang="ar-SA" dirty="0"/>
                        <a:t>لتوزيع البيانات ودعم </a:t>
                      </a:r>
                      <a:r>
                        <a:rPr lang="en-US" dirty="0"/>
                        <a:t>SD-Access.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Distribution 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385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Cisco Catalyst 9200 </a:t>
                      </a:r>
                      <a:r>
                        <a:rPr lang="ar-SA" dirty="0"/>
                        <a:t>للأجهزة الطرفية والاتصالات اللاسلكية.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Access Layer </a:t>
                      </a:r>
                      <a:r>
                        <a:rPr lang="ar-SA" dirty="0"/>
                        <a:t>طبقة الوصول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90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Cisco Firepower NGFW </a:t>
                      </a:r>
                      <a:r>
                        <a:rPr lang="ar-SA" dirty="0"/>
                        <a:t>لحماية الشبكة من التهديدات</a:t>
                      </a:r>
                      <a:endParaRPr lang="ar-EG" dirty="0"/>
                    </a:p>
                    <a:p>
                      <a:pPr algn="r" rtl="1"/>
                      <a:r>
                        <a:rPr lang="ar-SA" dirty="0"/>
                        <a:t>.</a:t>
                      </a:r>
                      <a:r>
                        <a:rPr lang="en-US" dirty="0"/>
                        <a:t>Cisco ISE </a:t>
                      </a:r>
                      <a:r>
                        <a:rPr lang="ar-SA" dirty="0"/>
                        <a:t>لإدارة الهوية والتحكم في الوصول</a:t>
                      </a:r>
                      <a:endParaRPr lang="ar-EG" dirty="0"/>
                    </a:p>
                    <a:p>
                      <a:pPr algn="r" rtl="1"/>
                      <a:r>
                        <a:rPr lang="ar-SA" dirty="0"/>
                        <a:t>.</a:t>
                      </a:r>
                      <a:r>
                        <a:rPr lang="en-US" dirty="0"/>
                        <a:t>Cisco Umbrella </a:t>
                      </a:r>
                      <a:r>
                        <a:rPr lang="ar-SA" dirty="0"/>
                        <a:t>لحماية الاتصال </a:t>
                      </a:r>
                      <a:r>
                        <a:rPr lang="ar-SA" dirty="0" err="1"/>
                        <a:t>السحابي</a:t>
                      </a:r>
                      <a:r>
                        <a:rPr lang="ar-SA" dirty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Security Layer </a:t>
                      </a:r>
                      <a:r>
                        <a:rPr lang="ar-SA" dirty="0"/>
                        <a:t>طبقة الأمان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576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Cisco </a:t>
                      </a:r>
                      <a:r>
                        <a:rPr lang="en-US" dirty="0" err="1"/>
                        <a:t>vManage</a:t>
                      </a:r>
                      <a:r>
                        <a:rPr lang="en-US" dirty="0"/>
                        <a:t> </a:t>
                      </a:r>
                      <a:r>
                        <a:rPr lang="ar-SA" dirty="0"/>
                        <a:t>لإدارة </a:t>
                      </a:r>
                      <a:r>
                        <a:rPr lang="en-US" dirty="0"/>
                        <a:t>SD-WAN </a:t>
                      </a:r>
                      <a:r>
                        <a:rPr lang="ar-SA" dirty="0"/>
                        <a:t>وربط الفروع بسلاسة</a:t>
                      </a:r>
                      <a:endParaRPr lang="ar-EG" dirty="0"/>
                    </a:p>
                    <a:p>
                      <a:pPr algn="r" rtl="1"/>
                      <a:r>
                        <a:rPr lang="ar-SA" dirty="0"/>
                        <a:t>.</a:t>
                      </a:r>
                      <a:r>
                        <a:rPr lang="en-US" dirty="0"/>
                        <a:t>Cisco Meraki </a:t>
                      </a:r>
                      <a:r>
                        <a:rPr lang="ar-SA" dirty="0"/>
                        <a:t>لإدارة الشبكات اللاسلكية السحابية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Cloud &amp; SD-WAN Layer </a:t>
                      </a:r>
                      <a:r>
                        <a:rPr lang="ar-SA" dirty="0"/>
                        <a:t>السحابة وإدارة الاتصال بين الفروع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701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445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235B-F6CF-8153-77FD-3D65A144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مقترح عن الموجهات الشبكية المستقبلية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6D6792-8BA1-4FE6-767D-EAF53E34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82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6DD3AF-A8EC-EB79-34C3-6443B4923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703216"/>
              </p:ext>
            </p:extLst>
          </p:nvPr>
        </p:nvGraphicFramePr>
        <p:xfrm>
          <a:off x="1267326" y="1307159"/>
          <a:ext cx="10220125" cy="481330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603966">
                  <a:extLst>
                    <a:ext uri="{9D8B030D-6E8A-4147-A177-3AD203B41FA5}">
                      <a16:colId xmlns:a16="http://schemas.microsoft.com/office/drawing/2014/main" val="241669999"/>
                    </a:ext>
                  </a:extLst>
                </a:gridCol>
                <a:gridCol w="1456786">
                  <a:extLst>
                    <a:ext uri="{9D8B030D-6E8A-4147-A177-3AD203B41FA5}">
                      <a16:colId xmlns:a16="http://schemas.microsoft.com/office/drawing/2014/main" val="1696060691"/>
                    </a:ext>
                  </a:extLst>
                </a:gridCol>
                <a:gridCol w="1210498">
                  <a:extLst>
                    <a:ext uri="{9D8B030D-6E8A-4147-A177-3AD203B41FA5}">
                      <a16:colId xmlns:a16="http://schemas.microsoft.com/office/drawing/2014/main" val="3522675175"/>
                    </a:ext>
                  </a:extLst>
                </a:gridCol>
                <a:gridCol w="661415">
                  <a:extLst>
                    <a:ext uri="{9D8B030D-6E8A-4147-A177-3AD203B41FA5}">
                      <a16:colId xmlns:a16="http://schemas.microsoft.com/office/drawing/2014/main" val="3197704992"/>
                    </a:ext>
                  </a:extLst>
                </a:gridCol>
                <a:gridCol w="1446439">
                  <a:extLst>
                    <a:ext uri="{9D8B030D-6E8A-4147-A177-3AD203B41FA5}">
                      <a16:colId xmlns:a16="http://schemas.microsoft.com/office/drawing/2014/main" val="880441887"/>
                    </a:ext>
                  </a:extLst>
                </a:gridCol>
                <a:gridCol w="846027">
                  <a:extLst>
                    <a:ext uri="{9D8B030D-6E8A-4147-A177-3AD203B41FA5}">
                      <a16:colId xmlns:a16="http://schemas.microsoft.com/office/drawing/2014/main" val="3816585529"/>
                    </a:ext>
                  </a:extLst>
                </a:gridCol>
                <a:gridCol w="900259">
                  <a:extLst>
                    <a:ext uri="{9D8B030D-6E8A-4147-A177-3AD203B41FA5}">
                      <a16:colId xmlns:a16="http://schemas.microsoft.com/office/drawing/2014/main" val="2224984177"/>
                    </a:ext>
                  </a:extLst>
                </a:gridCol>
                <a:gridCol w="984322">
                  <a:extLst>
                    <a:ext uri="{9D8B030D-6E8A-4147-A177-3AD203B41FA5}">
                      <a16:colId xmlns:a16="http://schemas.microsoft.com/office/drawing/2014/main" val="2411311211"/>
                    </a:ext>
                  </a:extLst>
                </a:gridCol>
                <a:gridCol w="1110413">
                  <a:extLst>
                    <a:ext uri="{9D8B030D-6E8A-4147-A177-3AD203B41FA5}">
                      <a16:colId xmlns:a16="http://schemas.microsoft.com/office/drawing/2014/main" val="2555401785"/>
                    </a:ext>
                  </a:extLst>
                </a:gridCol>
              </a:tblGrid>
              <a:tr h="68592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الوصف الحالي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الطراز الحالي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الطراز المستقبلي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المورد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الموقع الحالي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أولوية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العمل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الحالية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أولوية العمل المستقبلية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استراتيجية الاستبدال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الخصائص المضافة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extLst>
                  <a:ext uri="{0D108BD9-81ED-4DB2-BD59-A6C34878D82A}">
                    <a16:rowId xmlns:a16="http://schemas.microsoft.com/office/drawing/2014/main" val="1361755303"/>
                  </a:ext>
                </a:extLst>
              </a:tr>
              <a:tr h="825476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INT-R0-01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CISCO3945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 Catalyst 8300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مركز بيانات موبايلي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متوسطة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عالية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استبدال بنموذج عالي الأداء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سرعة معالجة أسرع، استهلاك طاقة أقل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extLst>
                  <a:ext uri="{0D108BD9-81ED-4DB2-BD59-A6C34878D82A}">
                    <a16:rowId xmlns:a16="http://schemas.microsoft.com/office/drawing/2014/main" val="846306834"/>
                  </a:ext>
                </a:extLst>
              </a:tr>
              <a:tr h="825476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MRS-LITE-QYS-EDGE-RO-02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CISCO2911/K9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 ISR 4461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مركز بيانات موبايلي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منخفضة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متوسطة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ترقية لدعم نطاق ترددي أعلى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دعم 5G، تحسين اتصال WAN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extLst>
                  <a:ext uri="{0D108BD9-81ED-4DB2-BD59-A6C34878D82A}">
                    <a16:rowId xmlns:a16="http://schemas.microsoft.com/office/drawing/2014/main" val="1521539398"/>
                  </a:ext>
                </a:extLst>
              </a:tr>
              <a:tr h="825476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INT-R0-02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CISCO3945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 Catalyst 8300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مركز بيانات موبايلي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متوسطة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عالية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استبدال بنموذج عالي الأداء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معالجة بيانات أسرع، تقليل التأخير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extLst>
                  <a:ext uri="{0D108BD9-81ED-4DB2-BD59-A6C34878D82A}">
                    <a16:rowId xmlns:a16="http://schemas.microsoft.com/office/drawing/2014/main" val="1778954880"/>
                  </a:ext>
                </a:extLst>
              </a:tr>
              <a:tr h="825476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ETEC-INT-RO-03.etec.gov.sa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ISR4331/K9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 ISR 4461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مركز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بيانات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موبايلي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منخفضة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متوسطة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ترقية إلى أحدث طراز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تحسين استقرار الاتصال، تقليل الأعطال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extLst>
                  <a:ext uri="{0D108BD9-81ED-4DB2-BD59-A6C34878D82A}">
                    <a16:rowId xmlns:a16="http://schemas.microsoft.com/office/drawing/2014/main" val="1365125927"/>
                  </a:ext>
                </a:extLst>
              </a:tr>
              <a:tr h="825476"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ETECGCR01.nca.local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ISR4331/K9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 Catalyst 8500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Cisco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مركز بيانات موبايلي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حرجة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حرجة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ترقية إلى جهاز توجيه أمني متقدم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جدار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ناري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مدمج</a:t>
                      </a:r>
                      <a:r>
                        <a:rPr lang="en-US" sz="1400" dirty="0">
                          <a:effectLst/>
                        </a:rPr>
                        <a:t>، </a:t>
                      </a:r>
                      <a:r>
                        <a:rPr lang="en-US" sz="1400" dirty="0" err="1">
                          <a:effectLst/>
                        </a:rPr>
                        <a:t>تحليل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حركة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المرور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9644" marR="49644" marT="0" marB="0"/>
                </a:tc>
                <a:extLst>
                  <a:ext uri="{0D108BD9-81ED-4DB2-BD59-A6C34878D82A}">
                    <a16:rowId xmlns:a16="http://schemas.microsoft.com/office/drawing/2014/main" val="162278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87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BB5A9-0D81-9AF3-B936-CBF9A7E0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2C64-CE61-452A-D6D5-1C43E8F9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مقترح عن الموزعات الشبكية المستقبلية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F91DCC-20B0-F2DC-4B04-5FDE1193E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83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839660-8FEB-6267-335C-B0B3F1A3D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808694"/>
              </p:ext>
            </p:extLst>
          </p:nvPr>
        </p:nvGraphicFramePr>
        <p:xfrm>
          <a:off x="1660358" y="1269019"/>
          <a:ext cx="9520988" cy="336499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380247">
                  <a:extLst>
                    <a:ext uri="{9D8B030D-6E8A-4147-A177-3AD203B41FA5}">
                      <a16:colId xmlns:a16="http://schemas.microsoft.com/office/drawing/2014/main" val="3741260351"/>
                    </a:ext>
                  </a:extLst>
                </a:gridCol>
                <a:gridCol w="2380247">
                  <a:extLst>
                    <a:ext uri="{9D8B030D-6E8A-4147-A177-3AD203B41FA5}">
                      <a16:colId xmlns:a16="http://schemas.microsoft.com/office/drawing/2014/main" val="1127065119"/>
                    </a:ext>
                  </a:extLst>
                </a:gridCol>
                <a:gridCol w="2380247">
                  <a:extLst>
                    <a:ext uri="{9D8B030D-6E8A-4147-A177-3AD203B41FA5}">
                      <a16:colId xmlns:a16="http://schemas.microsoft.com/office/drawing/2014/main" val="4144796665"/>
                    </a:ext>
                  </a:extLst>
                </a:gridCol>
                <a:gridCol w="2380247">
                  <a:extLst>
                    <a:ext uri="{9D8B030D-6E8A-4147-A177-3AD203B41FA5}">
                      <a16:colId xmlns:a16="http://schemas.microsoft.com/office/drawing/2014/main" val="1843672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الوصف الحالي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الطراز الحالي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الطراز المستقبلي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effectLst/>
                        </a:rPr>
                        <a:t>سبب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الترقية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7523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Campus-Core01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N77-C7706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Nexus 9800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تحسين الأداء ودعم 400GbE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941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Server-Core01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N77-C7706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Nexus 9800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effectLst/>
                        </a:rPr>
                        <a:t>دعم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أعلى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لبيئة</a:t>
                      </a:r>
                      <a:r>
                        <a:rPr lang="en-US" sz="1600" dirty="0">
                          <a:effectLst/>
                        </a:rPr>
                        <a:t> الخوادم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333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Internet SW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WS-C3650-24TS-E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C9500-48Y4C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زيادة سرعة التوجيه وأداء أعلى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6150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DMZ SW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WS-C3650-24TD-L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C9500-48Y4C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تعزيز أمان DMZ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365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WAN SW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WS-C2960S-24TD-L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C9300-48Y4C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تحسين الاتصال بخدمات WAN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2865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MGMT SW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WS-C3750X-24T-S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C9300-48Y4C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تحسين إدارة الشبكة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4208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DIST-Switch-1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WS-C3850-12XS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C9500-48Y4C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دعم سرعة أعلى وتحسين التوجيه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5601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CORE-Switch-1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WS-C4500X-32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C9500-48Y4C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دعم التوسع المستقبلي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0922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DC Switch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effectLst/>
                        </a:rPr>
                        <a:t>WS-C2960X-24TS-L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C9300-48Y4C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دعم أمن البيانات وتحسين الأداء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595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Campus-CORE-1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C9500-48Y4C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C9500-48Y4C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تحسين التغطية وتقليل التأخير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0937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Wireless Controller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AIR-CT5508-K9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Cisco Catalyst 9800-40</a:t>
                      </a:r>
                      <a:endParaRPr lang="en-US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effectLst/>
                        </a:rPr>
                        <a:t>دعم</a:t>
                      </a:r>
                      <a:r>
                        <a:rPr lang="en-US" sz="1600" dirty="0">
                          <a:effectLst/>
                        </a:rPr>
                        <a:t> Wi-Fi 6E </a:t>
                      </a:r>
                      <a:r>
                        <a:rPr lang="en-US" sz="1600" dirty="0" err="1">
                          <a:effectLst/>
                        </a:rPr>
                        <a:t>وزيادة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الأداء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1459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67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94063F-D163-2D7E-A94F-224CAF46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أدوات إدارة البنية التحتية ومراقبتها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F4591-D780-EE28-EFE4-A6D5E0800D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AECC38-3AD6-626A-2DB3-0DEBCD75EB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6.0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69F427-5BD4-F96A-4BE7-B1A064490C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2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CA112-F1F7-42A5-884A-B4A407F7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358876"/>
            <a:ext cx="10924155" cy="612001"/>
          </a:xfrm>
        </p:spPr>
        <p:txBody>
          <a:bodyPr/>
          <a:lstStyle/>
          <a:p>
            <a:r>
              <a:rPr lang="ar-SA" dirty="0"/>
              <a:t>مراقبة أداء وتوافريه البنية التحتية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A7488D-2F10-F9D5-7B8F-F65AC0199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035480"/>
              </p:ext>
            </p:extLst>
          </p:nvPr>
        </p:nvGraphicFramePr>
        <p:xfrm>
          <a:off x="477253" y="1584363"/>
          <a:ext cx="11237493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2136">
                  <a:extLst>
                    <a:ext uri="{9D8B030D-6E8A-4147-A177-3AD203B41FA5}">
                      <a16:colId xmlns:a16="http://schemas.microsoft.com/office/drawing/2014/main" val="2551402998"/>
                    </a:ext>
                  </a:extLst>
                </a:gridCol>
                <a:gridCol w="3629526">
                  <a:extLst>
                    <a:ext uri="{9D8B030D-6E8A-4147-A177-3AD203B41FA5}">
                      <a16:colId xmlns:a16="http://schemas.microsoft.com/office/drawing/2014/main" val="563430832"/>
                    </a:ext>
                  </a:extLst>
                </a:gridCol>
                <a:gridCol w="3745831">
                  <a:extLst>
                    <a:ext uri="{9D8B030D-6E8A-4147-A177-3AD203B41FA5}">
                      <a16:colId xmlns:a16="http://schemas.microsoft.com/office/drawing/2014/main" val="3638449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/>
                        <a:t>الوضع المستقبلي المحسن</a:t>
                      </a:r>
                      <a:endParaRPr lang="ar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/>
                        <a:t>الاستخدام الحالي	</a:t>
                      </a:r>
                      <a:endParaRPr lang="ar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/>
                        <a:t>الأداة</a:t>
                      </a:r>
                      <a:endParaRPr lang="ar-S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19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تكامل مع الذكاء الاصطناعي </a:t>
                      </a:r>
                      <a:r>
                        <a:rPr lang="en-US" dirty="0"/>
                        <a:t>AI</a:t>
                      </a:r>
                      <a:r>
                        <a:rPr lang="ar-SA" dirty="0"/>
                        <a:t>والتعلم الآلي لتحليل التهديدات والتنبؤ بمشكلات الشبكة قبل حدوثها، تحليل أداء المستخدم النهائي، ودعم الشبكات المعرفة بالبرمجيات </a:t>
                      </a:r>
                      <a:r>
                        <a:rPr lang="en-US" dirty="0"/>
                        <a:t>SDN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إدارة البنية التحتية للشبكة، مراقبة الأجهزة، التكوينات، وأداء الشبكة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Prime Infrastructure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2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تحليل أداء الشبكة بالذكاء الاصطناعي، تكامل مع حلول الأمان السيبراني </a:t>
                      </a:r>
                      <a:r>
                        <a:rPr lang="en-US" dirty="0"/>
                        <a:t>SIEM، </a:t>
                      </a:r>
                      <a:r>
                        <a:rPr lang="ar-SA" dirty="0"/>
                        <a:t>تحسين التنبيهات باستخدام التعلم الآلي لتقليل الإنذارات الكاذبة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مراقبة الشبكة، تحليل الأداء، إدارة التهديدات ومراقبة زمن الاستجابة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SolarWinds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9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توسيع نطاق المراقبة لتشمل الأنظمة السحابية المتعددة </a:t>
                      </a:r>
                      <a:r>
                        <a:rPr lang="en-US" dirty="0"/>
                        <a:t>Multi-Cloud، </a:t>
                      </a:r>
                      <a:r>
                        <a:rPr lang="ar-SA" dirty="0"/>
                        <a:t>دعم تحليلات أداء المستخدمين النهائيين </a:t>
                      </a:r>
                      <a:r>
                        <a:rPr lang="en-US" dirty="0"/>
                        <a:t>EUM، </a:t>
                      </a:r>
                      <a:r>
                        <a:rPr lang="ar-SA" dirty="0"/>
                        <a:t>تكامل أعمق مع </a:t>
                      </a:r>
                      <a:r>
                        <a:rPr lang="en-US" dirty="0"/>
                        <a:t>DevOps </a:t>
                      </a:r>
                      <a:r>
                        <a:rPr lang="ar-SA" dirty="0"/>
                        <a:t>وأتمتة عمليات استكشاف الأخطاء وإصلاحها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مراقبة أداء التطبيقات، تحليل حركة البيانات، تحسين زمن الاستجابة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AppDynamics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3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تعزيز المراقبة باستخدام تحليل السلوك التنبؤي للمستخدمين، دعم تحليلات الأداء في الوقت الفعلي، تكامل مع </a:t>
                      </a:r>
                      <a:r>
                        <a:rPr lang="en-US" dirty="0"/>
                        <a:t>CDN </a:t>
                      </a:r>
                      <a:r>
                        <a:rPr lang="ar-SA" dirty="0"/>
                        <a:t>و </a:t>
                      </a:r>
                      <a:r>
                        <a:rPr lang="en-US" dirty="0"/>
                        <a:t>WAF </a:t>
                      </a:r>
                      <a:r>
                        <a:rPr lang="ar-SA" dirty="0"/>
                        <a:t>لتحسين أمان وأداء المواقع الإلكترونية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مراقبة أداء المواقع الإلكترونية، قياس زمن استجابة الخوادم، التحقق من حالة خدمات الويب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Manage Engine Site 24x7 Website Monitoring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877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70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EA09-8596-0496-7B7C-A222619A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A298-5428-A3CF-A443-6065C24F8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358876"/>
            <a:ext cx="10924155" cy="612001"/>
          </a:xfrm>
        </p:spPr>
        <p:txBody>
          <a:bodyPr/>
          <a:lstStyle/>
          <a:p>
            <a:r>
              <a:rPr lang="ar-SA" dirty="0"/>
              <a:t>إدارة تكوين الخوادم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B7D5D6C-E224-D8AD-E94B-1ED1D3A1D477}"/>
              </a:ext>
            </a:extLst>
          </p:cNvPr>
          <p:cNvGraphicFramePr>
            <a:graphicFrameLocks noGrp="1"/>
          </p:cNvGraphicFramePr>
          <p:nvPr/>
        </p:nvGraphicFramePr>
        <p:xfrm>
          <a:off x="477253" y="1584363"/>
          <a:ext cx="11237493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2136">
                  <a:extLst>
                    <a:ext uri="{9D8B030D-6E8A-4147-A177-3AD203B41FA5}">
                      <a16:colId xmlns:a16="http://schemas.microsoft.com/office/drawing/2014/main" val="2551402998"/>
                    </a:ext>
                  </a:extLst>
                </a:gridCol>
                <a:gridCol w="3629526">
                  <a:extLst>
                    <a:ext uri="{9D8B030D-6E8A-4147-A177-3AD203B41FA5}">
                      <a16:colId xmlns:a16="http://schemas.microsoft.com/office/drawing/2014/main" val="563430832"/>
                    </a:ext>
                  </a:extLst>
                </a:gridCol>
                <a:gridCol w="3745831">
                  <a:extLst>
                    <a:ext uri="{9D8B030D-6E8A-4147-A177-3AD203B41FA5}">
                      <a16:colId xmlns:a16="http://schemas.microsoft.com/office/drawing/2014/main" val="3638449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/>
                        <a:t>الوضع المستقبلي المحسن</a:t>
                      </a:r>
                      <a:endParaRPr lang="ar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/>
                        <a:t>الاستخدام الحالي	</a:t>
                      </a:r>
                      <a:endParaRPr lang="ar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/>
                        <a:t>الأداة</a:t>
                      </a:r>
                      <a:endParaRPr lang="ar-S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19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التوسع ليشمل إدارة الشبكات المعرفة بالبرمجيات </a:t>
                      </a:r>
                      <a:r>
                        <a:rPr lang="en-US" dirty="0"/>
                        <a:t>SDN، </a:t>
                      </a:r>
                      <a:r>
                        <a:rPr lang="ar-SA" dirty="0"/>
                        <a:t>تحسين التحليلات الذكية باستخدام </a:t>
                      </a:r>
                      <a:r>
                        <a:rPr lang="en-US" dirty="0"/>
                        <a:t>AI/ML، </a:t>
                      </a:r>
                      <a:r>
                        <a:rPr lang="ar-SA" dirty="0"/>
                        <a:t>دعم المراقبة الاستباقية وتحليل السلوك الأمني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إدارة الشبكة، مراقبة الأداء، إدارة التهيئة والتحديثات، دعم الشبكات السلكية واللاسلكية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Prime Infrastructure 3.x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2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أتمتة عمليات التحديث والتصحيح، تحليل المخاطر الأمنية المرتبطة بتحديثات البرمجيات، التكامل مع أنظمة الذكاء الاصطناعي لتوقع الأعطال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إدارة دورة حياة الأجهزة والبرمجيات، تتبع التحديثات والصيانة الدورية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Lifecycle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9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تعزيز الأمان باستخدام </a:t>
                      </a:r>
                      <a:r>
                        <a:rPr lang="en-US" dirty="0"/>
                        <a:t>Zero Trust Security، </a:t>
                      </a:r>
                      <a:r>
                        <a:rPr lang="ar-SA" dirty="0"/>
                        <a:t>تكامل مع </a:t>
                      </a:r>
                      <a:r>
                        <a:rPr lang="en-US" dirty="0"/>
                        <a:t>SIEM </a:t>
                      </a:r>
                      <a:r>
                        <a:rPr lang="ar-SA" dirty="0"/>
                        <a:t>لتحليل الأحداث الأمنية، تطبيق سياسات أمان ديناميكية استنادًا إلى تحليل التهديدات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إدارة إعدادات الأمان، تطبيق السياسات الأمنية، فحص الامتثال للمعايير الأمنية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Content Security Management Config Manager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3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دعم تحليل البيانات الضخمة </a:t>
                      </a:r>
                      <a:r>
                        <a:rPr lang="en-US" dirty="0"/>
                        <a:t>Big Data Analytics </a:t>
                      </a:r>
                      <a:r>
                        <a:rPr lang="ar-SA" dirty="0"/>
                        <a:t>لتحسين أداء الشبكة، تحليل التهديدات التنبؤية باستخدام </a:t>
                      </a:r>
                      <a:r>
                        <a:rPr lang="en-US" dirty="0"/>
                        <a:t>AI/ML، </a:t>
                      </a:r>
                      <a:r>
                        <a:rPr lang="ar-SA" dirty="0"/>
                        <a:t>تحسين تكامل إنترنت الأشياء </a:t>
                      </a:r>
                      <a:r>
                        <a:rPr lang="en-US" dirty="0"/>
                        <a:t>IoT </a:t>
                      </a:r>
                      <a:r>
                        <a:rPr lang="ar-SA" dirty="0"/>
                        <a:t>عبر الشبكة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إدارة الشبكة القائمة على الذكاء الاصطناعي، أتمتة العمليات، تعزيز الأمان، مراقبة الشبكة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DNAC Gen2 Appliance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877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05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FE89B-EFDC-7FA2-3B2A-5BD6FC17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D2E6-E73C-DEFE-CF60-9E4BE19AF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358876"/>
            <a:ext cx="10924155" cy="612001"/>
          </a:xfrm>
        </p:spPr>
        <p:txBody>
          <a:bodyPr/>
          <a:lstStyle/>
          <a:p>
            <a:r>
              <a:rPr lang="ar-SA" dirty="0"/>
              <a:t>إدارة تحديثات وتكوينات نقاط النهاية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5E6B7A-BDE6-1188-8E54-ABCEF881C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648592"/>
              </p:ext>
            </p:extLst>
          </p:nvPr>
        </p:nvGraphicFramePr>
        <p:xfrm>
          <a:off x="477253" y="1584363"/>
          <a:ext cx="11237493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2136">
                  <a:extLst>
                    <a:ext uri="{9D8B030D-6E8A-4147-A177-3AD203B41FA5}">
                      <a16:colId xmlns:a16="http://schemas.microsoft.com/office/drawing/2014/main" val="2551402998"/>
                    </a:ext>
                  </a:extLst>
                </a:gridCol>
                <a:gridCol w="3629526">
                  <a:extLst>
                    <a:ext uri="{9D8B030D-6E8A-4147-A177-3AD203B41FA5}">
                      <a16:colId xmlns:a16="http://schemas.microsoft.com/office/drawing/2014/main" val="563430832"/>
                    </a:ext>
                  </a:extLst>
                </a:gridCol>
                <a:gridCol w="3745831">
                  <a:extLst>
                    <a:ext uri="{9D8B030D-6E8A-4147-A177-3AD203B41FA5}">
                      <a16:colId xmlns:a16="http://schemas.microsoft.com/office/drawing/2014/main" val="3638449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/>
                        <a:t>الوضع المستقبلي المحسن</a:t>
                      </a:r>
                      <a:endParaRPr lang="ar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/>
                        <a:t>الاستخدام الحالي	</a:t>
                      </a:r>
                      <a:endParaRPr lang="ar-S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b="1" dirty="0"/>
                        <a:t>الأداة</a:t>
                      </a:r>
                      <a:endParaRPr lang="ar-S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19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تكامل مع الذكاء الاصطناعي والتعلم الآلي لتحليل التهديدات، تعزيز المراقبة الاستباقية، دعم التحليلات السلوكية التنبؤية للشبكة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إدارة الشبكة، مراقبة الأداء، إدارة التهيئة والتحديثات، دعم الشبكات السلكية واللاسلكية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SolarWinds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2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دمج مع تحليلات الأداء السحابية، دعم تحليل تجربة المستخدم النهائي </a:t>
                      </a:r>
                      <a:r>
                        <a:rPr lang="en-US" dirty="0"/>
                        <a:t>EUE، </a:t>
                      </a:r>
                      <a:r>
                        <a:rPr lang="ar-SA" dirty="0"/>
                        <a:t>توفير تقارير أعمق لتحليل الأعطال وتحسين استكشاف الأخطاء وإصلاحها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إدارة دورة حياة الأجهزة والبرمجيات، تتبع التحديثات والصيانة الدورية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 Thousand Eyes Enterprise Agent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9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تكامل مع </a:t>
                      </a:r>
                      <a:r>
                        <a:rPr lang="en-US" dirty="0"/>
                        <a:t>XDR </a:t>
                      </a:r>
                      <a:r>
                        <a:rPr lang="ar-SA" dirty="0"/>
                        <a:t>للتحليل الموسّع، أتمتة استجابة التهديدات باستخدام </a:t>
                      </a:r>
                      <a:r>
                        <a:rPr lang="en-US" dirty="0"/>
                        <a:t>SOAR، </a:t>
                      </a:r>
                      <a:r>
                        <a:rPr lang="ar-SA" dirty="0"/>
                        <a:t>تحليل البيانات الضخمة لاكتشاف التهديدات المتقدمة </a:t>
                      </a:r>
                      <a:r>
                        <a:rPr lang="en-US" dirty="0"/>
                        <a:t>APT، </a:t>
                      </a:r>
                      <a:r>
                        <a:rPr lang="ar-SA" dirty="0"/>
                        <a:t>تعزيز مراقبة الأنشطة المشبوهة باستخدام تقنيات السلوك التكيفي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إدارة إعدادات الأمان، تطبيق السياسات الأمنية، فحص الامتثال للمعايير الأمنية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Content Security Management Centralized Tracking EDR , NDR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39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0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19AC4-FCDB-2C2B-8103-0E0EC685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E54C-FD31-5B2B-7FFE-A834A74B1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358876"/>
            <a:ext cx="10924155" cy="612001"/>
          </a:xfrm>
        </p:spPr>
        <p:txBody>
          <a:bodyPr/>
          <a:lstStyle/>
          <a:p>
            <a:r>
              <a:rPr lang="ar-SA" dirty="0"/>
              <a:t>إدارة مرافق مركز البيانات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0DDF4D-7613-59E5-E610-456943F41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889955"/>
              </p:ext>
            </p:extLst>
          </p:nvPr>
        </p:nvGraphicFramePr>
        <p:xfrm>
          <a:off x="477253" y="1399878"/>
          <a:ext cx="11237493" cy="506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4347">
                  <a:extLst>
                    <a:ext uri="{9D8B030D-6E8A-4147-A177-3AD203B41FA5}">
                      <a16:colId xmlns:a16="http://schemas.microsoft.com/office/drawing/2014/main" val="2551402998"/>
                    </a:ext>
                  </a:extLst>
                </a:gridCol>
                <a:gridCol w="3673642">
                  <a:extLst>
                    <a:ext uri="{9D8B030D-6E8A-4147-A177-3AD203B41FA5}">
                      <a16:colId xmlns:a16="http://schemas.microsoft.com/office/drawing/2014/main" val="563430832"/>
                    </a:ext>
                  </a:extLst>
                </a:gridCol>
                <a:gridCol w="2859504">
                  <a:extLst>
                    <a:ext uri="{9D8B030D-6E8A-4147-A177-3AD203B41FA5}">
                      <a16:colId xmlns:a16="http://schemas.microsoft.com/office/drawing/2014/main" val="3638449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الوضع المستقبلي المحسن</a:t>
                      </a:r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الاستخدام الحالي	</a:t>
                      </a:r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الأداة</a:t>
                      </a:r>
                      <a:endParaRPr lang="ar-SA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19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دمج نظام التحكم في الوصول </a:t>
                      </a:r>
                      <a:r>
                        <a:rPr lang="ar-SA" sz="1600" dirty="0" err="1"/>
                        <a:t>البيومتري</a:t>
                      </a:r>
                      <a:r>
                        <a:rPr lang="ar-SA" sz="1600" dirty="0"/>
                        <a:t> والذكاء الاصطناعي، تطبيق نموذج الأمان الصفري </a:t>
                      </a:r>
                      <a:r>
                        <a:rPr lang="en-US" sz="1600" dirty="0"/>
                        <a:t>Zero Trust Security، </a:t>
                      </a:r>
                      <a:r>
                        <a:rPr lang="ar-SA" sz="1600" dirty="0"/>
                        <a:t>استخدام التعرف على الوجه وتقنيات التحقق المتعدد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أنظمة التحكم في الدخول، ضمان بيئة تشغيل آمنة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إدارة مرافق مركز البيانات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2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اعتماد نظام تبريد ذكي يعتمد على الذكاء الاصطناعي </a:t>
                      </a:r>
                      <a:r>
                        <a:rPr lang="en-US" sz="1600" dirty="0"/>
                        <a:t>AI-based Cooling، </a:t>
                      </a:r>
                      <a:r>
                        <a:rPr lang="ar-SA" sz="1600" dirty="0"/>
                        <a:t>استخدام التبريد السائل لتوفير الطاقة، تطبيق تقنيات التبريد الذاتي استنادًا إلى البيانات الحية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تبريد مراكز البيانات، أنظمة التهوية والتحكم في الحرارة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Cooling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9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تطوير أنظمة إطفاء ذكية تعتمد على إنترنت الأشياء </a:t>
                      </a:r>
                      <a:r>
                        <a:rPr lang="en-US" sz="1600" dirty="0"/>
                        <a:t>IoT، </a:t>
                      </a:r>
                      <a:r>
                        <a:rPr lang="ar-SA" sz="1600" dirty="0"/>
                        <a:t>دعم الاستجابة التلقائية للحوادث، تكامل مع نظم الإنذار المبكر بالحرائق المعتمدة على الذكاء الاصطناعي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أنظمة مكافحة الحرائق، أجهزة الإنذار، طفايات الحريق التقليدية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Fire Fighting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3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تحليل البيانات بالذكاء الاصطناعي للكشف عن المخاطر المحتملة، استخدام أجهزة استشعار ذكية متصلة بأنظمة التحكم المركزية، دعم التنبيهات التلقائية والتفاعل في الوقت الحقيقي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كشف درجات الحرارة، تسريبات السوائل، التغيرات البيئية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Detection System Temp, Liquid, 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10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استخدام تحليل الفيديو بالذكاء الاصطناعي للكشف عن التهديدات تلقائيًا، تكامل مع أنظمة التعرف على الوجوه، دعم التخزين </a:t>
                      </a:r>
                      <a:r>
                        <a:rPr lang="ar-SA" sz="1600" dirty="0" err="1"/>
                        <a:t>السحابي</a:t>
                      </a:r>
                      <a:r>
                        <a:rPr lang="ar-SA" sz="1600" dirty="0"/>
                        <a:t> والقدرة على البحث الذكي في التسجيلات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أنظمة مراقبة بالفيديو، تسجيل الأحداث، مراقبة الأمان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CCTV Monitoring and Recording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27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تطبيق إدارة الطاقة الذكية بتقنيات الذكاء الاصطناعي، دعم التوليد الذاتي للطاقة باستخدام مصادر متجددة، تحليل استهلاك الطاقة وتحسين الكفاءة التشغيلية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أنظمة الطاقة غير المنقطعة </a:t>
                      </a:r>
                      <a:r>
                        <a:rPr lang="en-US" sz="1600" dirty="0"/>
                        <a:t>UPS، </a:t>
                      </a:r>
                      <a:r>
                        <a:rPr lang="ar-SA" sz="1600" dirty="0"/>
                        <a:t>إدارة توزيع الطاقة، تقليل الانقطاعات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UPS &amp; Power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34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63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FE22A-D43C-C7AB-C0F2-27D2932A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B31F-D514-FFC8-C7CC-5EDA1579D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358876"/>
            <a:ext cx="10924155" cy="612001"/>
          </a:xfrm>
        </p:spPr>
        <p:txBody>
          <a:bodyPr/>
          <a:lstStyle/>
          <a:p>
            <a:r>
              <a:rPr lang="ar-SA" dirty="0"/>
              <a:t>إدارة حزم التحديثات والإصلاحات الأمنية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D887965-E508-8A9E-B6CE-4A196B789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635055"/>
              </p:ext>
            </p:extLst>
          </p:nvPr>
        </p:nvGraphicFramePr>
        <p:xfrm>
          <a:off x="477253" y="1582878"/>
          <a:ext cx="11237493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4347">
                  <a:extLst>
                    <a:ext uri="{9D8B030D-6E8A-4147-A177-3AD203B41FA5}">
                      <a16:colId xmlns:a16="http://schemas.microsoft.com/office/drawing/2014/main" val="2551402998"/>
                    </a:ext>
                  </a:extLst>
                </a:gridCol>
                <a:gridCol w="3673642">
                  <a:extLst>
                    <a:ext uri="{9D8B030D-6E8A-4147-A177-3AD203B41FA5}">
                      <a16:colId xmlns:a16="http://schemas.microsoft.com/office/drawing/2014/main" val="563430832"/>
                    </a:ext>
                  </a:extLst>
                </a:gridCol>
                <a:gridCol w="2859504">
                  <a:extLst>
                    <a:ext uri="{9D8B030D-6E8A-4147-A177-3AD203B41FA5}">
                      <a16:colId xmlns:a16="http://schemas.microsoft.com/office/drawing/2014/main" val="3638449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الوضع المستقبلي المحسن</a:t>
                      </a:r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الاستخدام الحالي	</a:t>
                      </a:r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الأداة</a:t>
                      </a:r>
                      <a:endParaRPr lang="ar-SA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19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تحسين تحليل البيانات باستخدام الذكاء الاصطناعي </a:t>
                      </a:r>
                      <a:r>
                        <a:rPr lang="en-US" sz="1600" dirty="0"/>
                        <a:t>AI-Driven Threat Intelligence، </a:t>
                      </a:r>
                      <a:r>
                        <a:rPr lang="ar-SA" sz="1600" dirty="0"/>
                        <a:t>أتمتة التقارير الأمنية وتوليد التحليلات التنبؤية، التكامل مع أنظمة </a:t>
                      </a:r>
                      <a:r>
                        <a:rPr lang="en-US" sz="1600" dirty="0"/>
                        <a:t>SOAR </a:t>
                      </a:r>
                      <a:r>
                        <a:rPr lang="ar-SA" sz="1600" dirty="0"/>
                        <a:t>لتحليل الحوادث الأمنية والاستجابة التلقائية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dirty="0"/>
                        <a:t>التقارير الأمنية المركزية، رصد التهديدات، تحليل الامتثال الأمني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Content Security Management Centralized Reporting</a:t>
                      </a:r>
                      <a:endParaRPr lang="ar-S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2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دمج </a:t>
                      </a:r>
                      <a:r>
                        <a:rPr lang="en-US" sz="1600" dirty="0"/>
                        <a:t>EDR/NDR/XDR </a:t>
                      </a:r>
                      <a:r>
                        <a:rPr lang="ar-SA" sz="1600" dirty="0"/>
                        <a:t>لتحليل التهديدات بشكل أعمق، تحسين التكامل مع </a:t>
                      </a:r>
                      <a:r>
                        <a:rPr lang="en-US" sz="1600" dirty="0"/>
                        <a:t>SIEM </a:t>
                      </a:r>
                      <a:r>
                        <a:rPr lang="ar-SA" sz="1600" dirty="0"/>
                        <a:t>لإدارة الحوادث الأمنية بشكل تلقائي، تحليل سلوك المستخدم للكشف عن الأنشطة المشبوهة </a:t>
                      </a:r>
                      <a:r>
                        <a:rPr lang="en-US" sz="1600" dirty="0"/>
                        <a:t>UEBA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dirty="0"/>
                        <a:t>تتبع الأنشطة الأمنية، مراقبة الامتثال الأمني، التحقق من الحوادث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Content Security Management Centralized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9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تطوير قدرات الذكاء الاصطناعي لتحليل أداء الشبكات وإدارة المشاكل تلقائيًا، دعم التشغيل التلقائي للشبكات المعرفة بالبرمجيات </a:t>
                      </a:r>
                      <a:r>
                        <a:rPr lang="en-US" sz="1600" dirty="0"/>
                        <a:t>SDN، </a:t>
                      </a:r>
                      <a:r>
                        <a:rPr lang="ar-SA" sz="1600" dirty="0"/>
                        <a:t>تكامل مع الأنظمة السحابية </a:t>
                      </a:r>
                      <a:r>
                        <a:rPr lang="en-US" sz="1600" dirty="0"/>
                        <a:t>Cloud-based Networking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مراقبة الشبكات، إدارة التكوينات، تحليل الأداء	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Prime Infrastructure 3.x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3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تعزيز الحماية باستخدام تحليلات الذكاء الاصطناعي للكشف عن التصيد الاحتيالي والبرمجيات الضارة، تحليل سلوك المستخدم للتعرف على التهديدات الجديدة، تكامل مع حلول الأمن السيبراني الشامل </a:t>
                      </a:r>
                      <a:r>
                        <a:rPr lang="en-US" sz="1600" dirty="0"/>
                        <a:t>XDR/SIEM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حماية البريد الإلكتروني من البرمجيات الضارة، فحص التهديدات المتقدمة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Email Security Appliance Advanced Malware Protection Add-On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58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دعم مراقبة الأداء في الوقت الفعلي مع تحليل جودة تجربة المستخدم </a:t>
                      </a:r>
                      <a:r>
                        <a:rPr lang="en-US" sz="1600" dirty="0" err="1"/>
                        <a:t>QoE</a:t>
                      </a:r>
                      <a:r>
                        <a:rPr lang="en-US" sz="1600" dirty="0"/>
                        <a:t>، </a:t>
                      </a:r>
                      <a:r>
                        <a:rPr lang="ar-SA" sz="1600" dirty="0"/>
                        <a:t>تحليل أداء الخدمات السحابية </a:t>
                      </a:r>
                      <a:r>
                        <a:rPr lang="en-US" sz="1600" dirty="0"/>
                        <a:t>Multi-Cloud Performance Testing، </a:t>
                      </a:r>
                      <a:r>
                        <a:rPr lang="ar-SA" sz="1600" dirty="0"/>
                        <a:t>تحسين الاستجابة التلقائية لانقطاع الشبكة باستخدام الذكاء الاصطناعي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اختبار أداء الشبكة، مراقبة استقرار الاتصالات، قياس جودة الاتصال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Thousand Eyes Enterprise Agent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40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3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80F5A-7D73-7FA1-FEE7-951E46D1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C00B-2B2C-80D0-7A0D-E94CD97F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358876"/>
            <a:ext cx="10924155" cy="612001"/>
          </a:xfrm>
        </p:spPr>
        <p:txBody>
          <a:bodyPr/>
          <a:lstStyle/>
          <a:p>
            <a:r>
              <a:rPr lang="ar-SA" dirty="0"/>
              <a:t>إدارة الأصول التقنية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127028-0381-89B6-30EA-E636DC53E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63176"/>
              </p:ext>
            </p:extLst>
          </p:nvPr>
        </p:nvGraphicFramePr>
        <p:xfrm>
          <a:off x="477253" y="1582878"/>
          <a:ext cx="11237493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4347">
                  <a:extLst>
                    <a:ext uri="{9D8B030D-6E8A-4147-A177-3AD203B41FA5}">
                      <a16:colId xmlns:a16="http://schemas.microsoft.com/office/drawing/2014/main" val="2551402998"/>
                    </a:ext>
                  </a:extLst>
                </a:gridCol>
                <a:gridCol w="3673642">
                  <a:extLst>
                    <a:ext uri="{9D8B030D-6E8A-4147-A177-3AD203B41FA5}">
                      <a16:colId xmlns:a16="http://schemas.microsoft.com/office/drawing/2014/main" val="563430832"/>
                    </a:ext>
                  </a:extLst>
                </a:gridCol>
                <a:gridCol w="2859504">
                  <a:extLst>
                    <a:ext uri="{9D8B030D-6E8A-4147-A177-3AD203B41FA5}">
                      <a16:colId xmlns:a16="http://schemas.microsoft.com/office/drawing/2014/main" val="3638449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الوضع المستقبلي المحسن</a:t>
                      </a:r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الاستخدام الحالي	</a:t>
                      </a:r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الأداة</a:t>
                      </a:r>
                      <a:endParaRPr lang="ar-SA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19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أتمتة إدارة الأصول التقنية باستخدام الذكاء الاصطناعي </a:t>
                      </a:r>
                      <a:r>
                        <a:rPr lang="en-US" sz="1600" dirty="0"/>
                        <a:t>AI/ML، </a:t>
                      </a:r>
                      <a:r>
                        <a:rPr lang="ar-SA" sz="1600" dirty="0"/>
                        <a:t>تكامل مع إنترنت الأشياء </a:t>
                      </a:r>
                      <a:r>
                        <a:rPr lang="en-US" sz="1600" dirty="0"/>
                        <a:t>IoT </a:t>
                      </a:r>
                      <a:r>
                        <a:rPr lang="ar-SA" sz="1600" dirty="0"/>
                        <a:t>لتتبع الأصول الحي، تحسين إدارة دورة حياة الأصول </a:t>
                      </a:r>
                      <a:r>
                        <a:rPr lang="en-US" sz="1600" dirty="0"/>
                        <a:t>Lifecycle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dirty="0"/>
                        <a:t>تتبع الأصول التقنية يدويًا، إدارة المخزون التقليدية، تحديث البيانات بشكل متقطع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إدارة الأصول التقنية </a:t>
                      </a:r>
                      <a:r>
                        <a:rPr lang="fr-FR" sz="1600" dirty="0"/>
                        <a:t>ITAM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2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تكامل مع </a:t>
                      </a:r>
                      <a:r>
                        <a:rPr lang="en-US" sz="1600" dirty="0"/>
                        <a:t>RFID </a:t>
                      </a:r>
                      <a:r>
                        <a:rPr lang="ar-SA" sz="1600" dirty="0"/>
                        <a:t>و </a:t>
                      </a:r>
                      <a:r>
                        <a:rPr lang="en-US" sz="1600" dirty="0"/>
                        <a:t>GPS </a:t>
                      </a:r>
                      <a:r>
                        <a:rPr lang="ar-SA" sz="1600" dirty="0"/>
                        <a:t>لمتابعة الأصول في الوقت الفعلي، دعم إشعارات تنبيهية عند حدوث تغيرات غير مصرح بها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dirty="0"/>
                        <a:t>استخدام قواعد بيانات يدوية، تقارير دورية لتحديث مواقع الأصول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تحديد المواقع وتتبع الأصول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9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أتمتة تتبع التراخيص وتحليل الامتثال للبرمجيات، التكامل مع أنظمة </a:t>
                      </a:r>
                      <a:r>
                        <a:rPr lang="en-US" sz="1600" dirty="0"/>
                        <a:t>SaaS License Management </a:t>
                      </a:r>
                      <a:r>
                        <a:rPr lang="ar-SA" sz="1600" dirty="0"/>
                        <a:t>لمنع التجاوزات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تتبع يدوي للترخيص، احتمال وجود برمجيات غير مرخصة، مشاكل الامتثال	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إدارة تراخيص البرمجيات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539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تحليل استخدام الأصول بواسطة الذكاء الاصطناعي لتحديد الأصول غير المستغلة وتحسين تخصيص الموارد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مراجعة بيانات الاستخدام بشكل يدوي، ضعف التوقعات المستقبلية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تحليل استخدام الأصول التقنية	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58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تحليل دورة حياة الأصول لتحديد أفضل توقيت للاستبدال أو إعادة الاستخدام، دعم الممارسات الخضراء لتوفير الطاقة وخفض التكاليف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عدم وجود رؤية واضحة لاستبدال الأجهزة أو تحسين استهلاك الطاقة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إدارة الأصول المستدامة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540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55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6B9E-C48D-B048-3D3F-7E53830A9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5BC1-553B-226A-5184-2C9180B8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75" y="358876"/>
            <a:ext cx="10924155" cy="612001"/>
          </a:xfrm>
        </p:spPr>
        <p:txBody>
          <a:bodyPr/>
          <a:lstStyle/>
          <a:p>
            <a:r>
              <a:rPr lang="ar-SA" dirty="0"/>
              <a:t>إدارة التغييرات التقنية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E341561-1B39-7D81-F455-889E34A3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811303"/>
              </p:ext>
            </p:extLst>
          </p:nvPr>
        </p:nvGraphicFramePr>
        <p:xfrm>
          <a:off x="477253" y="1582878"/>
          <a:ext cx="11237493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4347">
                  <a:extLst>
                    <a:ext uri="{9D8B030D-6E8A-4147-A177-3AD203B41FA5}">
                      <a16:colId xmlns:a16="http://schemas.microsoft.com/office/drawing/2014/main" val="2551402998"/>
                    </a:ext>
                  </a:extLst>
                </a:gridCol>
                <a:gridCol w="3673642">
                  <a:extLst>
                    <a:ext uri="{9D8B030D-6E8A-4147-A177-3AD203B41FA5}">
                      <a16:colId xmlns:a16="http://schemas.microsoft.com/office/drawing/2014/main" val="563430832"/>
                    </a:ext>
                  </a:extLst>
                </a:gridCol>
                <a:gridCol w="2859504">
                  <a:extLst>
                    <a:ext uri="{9D8B030D-6E8A-4147-A177-3AD203B41FA5}">
                      <a16:colId xmlns:a16="http://schemas.microsoft.com/office/drawing/2014/main" val="3638449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الوضع المستقبلي المحسن</a:t>
                      </a:r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الاستخدام الحالي	</a:t>
                      </a:r>
                      <a:endParaRPr lang="ar-SA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600" b="1" dirty="0"/>
                        <a:t>الأداة</a:t>
                      </a:r>
                      <a:endParaRPr lang="ar-SA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19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تحسين معالجة البيانات باستخدام الذكاء الاصطناعي والتعلم الآلي </a:t>
                      </a:r>
                      <a:r>
                        <a:rPr lang="en-US" sz="1600" dirty="0"/>
                        <a:t>AI/ML، </a:t>
                      </a:r>
                      <a:r>
                        <a:rPr lang="ar-SA" sz="1600" dirty="0"/>
                        <a:t>دعم تحليلات البيانات الضخمة </a:t>
                      </a:r>
                      <a:r>
                        <a:rPr lang="en-US" sz="1600" dirty="0"/>
                        <a:t>Big Data Analytics، </a:t>
                      </a:r>
                      <a:r>
                        <a:rPr lang="ar-SA" sz="1600" dirty="0"/>
                        <a:t>تعزيز أمان البيانات والتكامل مع حلول الأمن السيبراني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dirty="0"/>
                        <a:t>إدارة البيانات، تحليل البيانات، تكامل البيانات عبر الأنظمة المختلفة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Talend Data Management Platform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52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ar-SA" sz="1600" dirty="0"/>
                        <a:t>تحليل تجربة المستخدم النهائي </a:t>
                      </a:r>
                      <a:r>
                        <a:rPr lang="en-US" sz="1600" dirty="0"/>
                        <a:t>End User Experience Monitoring - EUM، </a:t>
                      </a:r>
                      <a:r>
                        <a:rPr lang="ar-SA" sz="1600" dirty="0"/>
                        <a:t>تحسين الأداء عبر البيئات السحابية والهجينة، التكامل مع </a:t>
                      </a:r>
                      <a:r>
                        <a:rPr lang="en-US" sz="1600" dirty="0"/>
                        <a:t>DevOps </a:t>
                      </a:r>
                      <a:r>
                        <a:rPr lang="ar-SA" sz="1600" dirty="0"/>
                        <a:t>لتعزيز المرونة التشغيلية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EG" sz="1600" dirty="0"/>
                        <a:t>مراقبة أداء التطبيقات، تحليل حركة البيانات، تحسين زمن الاستجابة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/>
                        <a:t>AppDynamics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91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56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D819A0-9B0F-BB01-7E25-C577C13F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الرؤية المستقبلية للرخص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957614-DD35-A76D-8DC6-D0C0CC7616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EB3746-D80B-9CB7-E946-166EED9FE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7.0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F4AC2C-E972-7047-6227-F697BAC33D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53FD7-01A6-D525-1F06-15970971E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65" y="577052"/>
            <a:ext cx="10972800" cy="666261"/>
          </a:xfrm>
        </p:spPr>
        <p:txBody>
          <a:bodyPr/>
          <a:lstStyle/>
          <a:p>
            <a:r>
              <a:rPr lang="ar-EG" dirty="0"/>
              <a:t>الرخص</a:t>
            </a:r>
            <a:r>
              <a:rPr lang="en-US" dirty="0"/>
              <a:t/>
            </a:r>
            <a:br>
              <a:rPr lang="en-US" dirty="0"/>
            </a:br>
            <a:r>
              <a:rPr lang="ar-EG" sz="2000" dirty="0"/>
              <a:t>نظرة على الوضع الحالي للرخص 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DFDC8C-5096-102B-EAC5-E8254500E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93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947D9-6615-1C85-EAB4-1D9AE4677C80}"/>
              </a:ext>
            </a:extLst>
          </p:cNvPr>
          <p:cNvSpPr txBox="1"/>
          <p:nvPr/>
        </p:nvSpPr>
        <p:spPr>
          <a:xfrm>
            <a:off x="920350" y="1367370"/>
            <a:ext cx="106038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b="1" dirty="0"/>
              <a:t>🔹 </a:t>
            </a:r>
            <a:r>
              <a:rPr lang="ar-SA" b="1" dirty="0"/>
              <a:t>تحليل الوضع الحالي لرخص البرمجيات والأنظمة</a:t>
            </a:r>
          </a:p>
          <a:p>
            <a:pPr algn="r" rtl="1"/>
            <a:r>
              <a:rPr lang="ar-SA" dirty="0"/>
              <a:t>الرخص تشمل </a:t>
            </a:r>
            <a:r>
              <a:rPr lang="ar-SA" b="1" dirty="0"/>
              <a:t>عدة مجالات رئيسية</a:t>
            </a:r>
            <a:r>
              <a:rPr lang="ar-SA" dirty="0"/>
              <a:t>، وهي:</a:t>
            </a:r>
          </a:p>
          <a:p>
            <a:pPr algn="r" rtl="1"/>
            <a:r>
              <a:rPr lang="ar-SA" b="1" dirty="0"/>
              <a:t>1️⃣ رخص أنظمة الاتصال والإدارة </a:t>
            </a:r>
            <a:r>
              <a:rPr lang="en-US" b="1" dirty="0"/>
              <a:t>Cisco &amp; Unified Communications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 err="1"/>
              <a:t>WebEx</a:t>
            </a:r>
            <a:r>
              <a:rPr lang="en-US" b="1" dirty="0"/>
              <a:t> Suite, Call Manager, Cisco Expressway, UC Manager, SRST Endpoint, Emergency Responder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CUBE, Cisco Spaces, Cisco Prime Infrastructure, Cisco DNA Advantage, Secure Web Appliance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 err="1"/>
              <a:t>ThousandEyes</a:t>
            </a:r>
            <a:r>
              <a:rPr lang="en-US" b="1" dirty="0"/>
              <a:t>, AppDynamics, SolarWinds, ManageEngine</a:t>
            </a:r>
            <a:endParaRPr lang="en-US" dirty="0"/>
          </a:p>
          <a:p>
            <a:pPr algn="r" rtl="1"/>
            <a:r>
              <a:rPr lang="ar-SA" b="1" u="sng" dirty="0"/>
              <a:t>الوضع الحالي:</a:t>
            </a:r>
            <a:endParaRPr lang="ar-SA" u="sng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استخدام رخص قديمة وإصدارات تحتاج إلى تحديثات متكررة.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بعض الحلول تحتاج إلى </a:t>
            </a:r>
            <a:r>
              <a:rPr lang="ar-SA" b="1" dirty="0"/>
              <a:t>تكامل أفضل</a:t>
            </a:r>
            <a:r>
              <a:rPr lang="ar-SA" dirty="0"/>
              <a:t> بين </a:t>
            </a:r>
            <a:r>
              <a:rPr lang="en-US" dirty="0"/>
              <a:t>Cisco Webex </a:t>
            </a:r>
            <a:r>
              <a:rPr lang="ar-SA" dirty="0"/>
              <a:t>و</a:t>
            </a:r>
            <a:r>
              <a:rPr lang="en-US" dirty="0"/>
              <a:t>Microsoft Teams.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الحاجة إلى إدارة أسهل للرخص من خلال </a:t>
            </a:r>
            <a:r>
              <a:rPr lang="en-US" b="1" dirty="0"/>
              <a:t>Cisco DNA Center</a:t>
            </a:r>
            <a:r>
              <a:rPr lang="en-US" dirty="0"/>
              <a:t>.</a:t>
            </a:r>
            <a:endParaRPr lang="ar-EG" dirty="0"/>
          </a:p>
          <a:p>
            <a:pPr algn="r" rtl="1">
              <a:buFont typeface="Arial" panose="020B0604020202020204" pitchFamily="34" charset="0"/>
              <a:buChar char="•"/>
            </a:pPr>
            <a:endParaRPr lang="ar-EG" b="1" dirty="0"/>
          </a:p>
          <a:p>
            <a:pPr algn="r" rtl="1"/>
            <a:r>
              <a:rPr lang="ar-SA" b="1" u="sng" dirty="0"/>
              <a:t>الوضع المستقبلي المقترح:</a:t>
            </a:r>
            <a:endParaRPr lang="ar-SA" u="sng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تحويل </a:t>
            </a:r>
            <a:r>
              <a:rPr lang="en-US" b="1" dirty="0"/>
              <a:t>Webex Suite </a:t>
            </a:r>
            <a:r>
              <a:rPr lang="ar-SA" b="1" dirty="0"/>
              <a:t>إلى </a:t>
            </a:r>
            <a:r>
              <a:rPr lang="en-US" b="1" dirty="0"/>
              <a:t>Webex Cloud Suite</a:t>
            </a:r>
            <a:r>
              <a:rPr lang="en-US" dirty="0"/>
              <a:t> </a:t>
            </a:r>
            <a:r>
              <a:rPr lang="ar-EG" dirty="0"/>
              <a:t>  </a:t>
            </a:r>
            <a:r>
              <a:rPr lang="ar-SA" dirty="0"/>
              <a:t>لتحسين </a:t>
            </a:r>
            <a:r>
              <a:rPr lang="ar-SA" b="1" dirty="0"/>
              <a:t>التكامل مع التطبيقات السحابية</a:t>
            </a:r>
            <a:r>
              <a:rPr lang="ar-SA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الانتقال إلى </a:t>
            </a:r>
            <a:r>
              <a:rPr lang="en-US" b="1" dirty="0"/>
              <a:t>Cisco DNA Center </a:t>
            </a:r>
            <a:r>
              <a:rPr lang="ar-SA" b="1" dirty="0"/>
              <a:t>بالكامل</a:t>
            </a:r>
            <a:r>
              <a:rPr lang="ar-SA" dirty="0"/>
              <a:t> لمراقبة وإدارة الشبكة بشكل </a:t>
            </a:r>
            <a:r>
              <a:rPr lang="ar-SA" b="1" dirty="0"/>
              <a:t>أكثر كفاءة</a:t>
            </a:r>
            <a:r>
              <a:rPr lang="ar-SA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تحسين التكامل بين </a:t>
            </a:r>
            <a:r>
              <a:rPr lang="en-US" b="1" dirty="0"/>
              <a:t>Cisco </a:t>
            </a:r>
            <a:r>
              <a:rPr lang="ar-SA" b="1" dirty="0"/>
              <a:t>و</a:t>
            </a:r>
            <a:r>
              <a:rPr lang="en-US" b="1" dirty="0"/>
              <a:t>Microsoft Teams</a:t>
            </a:r>
            <a:r>
              <a:rPr lang="en-US" dirty="0"/>
              <a:t> </a:t>
            </a:r>
            <a:r>
              <a:rPr lang="ar-SA" dirty="0"/>
              <a:t>لتجنب ازدواجية الأدوات.</a:t>
            </a:r>
          </a:p>
        </p:txBody>
      </p:sp>
    </p:spTree>
    <p:extLst>
      <p:ext uri="{BB962C8B-B14F-4D97-AF65-F5344CB8AC3E}">
        <p14:creationId xmlns:p14="http://schemas.microsoft.com/office/powerpoint/2010/main" val="317416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2545-EF79-B19E-9273-12430D37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FCC6-FA66-1B6D-A2A9-1D4F2DCD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sz="2800" dirty="0"/>
              <a:t>الرخص</a:t>
            </a:r>
            <a:br>
              <a:rPr lang="ar-EG" sz="2800" dirty="0"/>
            </a:br>
            <a:r>
              <a:rPr lang="ar-EG" sz="2000" dirty="0"/>
              <a:t>نظرة على الوضع الحالي للرخص 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84DF83-B58E-1621-29E4-32F03DD6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94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3B06D6-E389-82AF-8114-6CF4EA3CBFEB}"/>
              </a:ext>
            </a:extLst>
          </p:cNvPr>
          <p:cNvSpPr txBox="1"/>
          <p:nvPr/>
        </p:nvSpPr>
        <p:spPr>
          <a:xfrm>
            <a:off x="920350" y="1367370"/>
            <a:ext cx="106038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2️⃣ رخص الحماية الإلكترونية والبنية التحتية </a:t>
            </a:r>
            <a:r>
              <a:rPr lang="en-US" b="1" dirty="0"/>
              <a:t>Security &amp; Network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Cisco Email Security Appliance, Secure Web Appliance, Cisco Spaces, Cloudflare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AWS Security, WS02 Identity Server, Firewall Licenses, Endpoint Protection Solutions</a:t>
            </a:r>
            <a:endParaRPr lang="en-US" dirty="0"/>
          </a:p>
          <a:p>
            <a:pPr algn="r" rtl="1"/>
            <a:r>
              <a:rPr lang="ar-SA" b="1" dirty="0"/>
              <a:t>الوضع الحالي:</a:t>
            </a:r>
            <a:endParaRPr lang="ar-SA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الاعتماد على </a:t>
            </a:r>
            <a:r>
              <a:rPr lang="ar-SA" b="1" dirty="0"/>
              <a:t>عدة حلول حماية غير موحدة</a:t>
            </a:r>
            <a:r>
              <a:rPr lang="ar-SA" dirty="0"/>
              <a:t> </a:t>
            </a:r>
            <a:r>
              <a:rPr lang="en-US" dirty="0"/>
              <a:t>Cisco, Cloudflare, AWS Security.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الحاجة إلى </a:t>
            </a:r>
            <a:r>
              <a:rPr lang="ar-SA" b="1" dirty="0"/>
              <a:t>تقليل التعقيد</a:t>
            </a:r>
            <a:r>
              <a:rPr lang="ar-SA" dirty="0"/>
              <a:t> وتحسين الإدارة الأمنية باستخدام </a:t>
            </a:r>
            <a:r>
              <a:rPr lang="en-US" b="1" dirty="0"/>
              <a:t>XDR Extended Detection &amp; Response</a:t>
            </a:r>
            <a:r>
              <a:rPr lang="en-US" dirty="0"/>
              <a:t>.</a:t>
            </a:r>
          </a:p>
          <a:p>
            <a:pPr algn="r" rtl="1"/>
            <a:r>
              <a:rPr lang="ar-SA" b="1" dirty="0"/>
              <a:t>الوضع المستقبلي المقترح:</a:t>
            </a:r>
            <a:endParaRPr lang="ar-SA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دمج حلول الحماية</a:t>
            </a:r>
            <a:r>
              <a:rPr lang="ar-SA" dirty="0"/>
              <a:t> من خلال </a:t>
            </a:r>
            <a:r>
              <a:rPr lang="en-US" b="1" dirty="0"/>
              <a:t>Cisco XDR </a:t>
            </a:r>
            <a:r>
              <a:rPr lang="ar-SA" b="1" dirty="0"/>
              <a:t>أو </a:t>
            </a:r>
            <a:r>
              <a:rPr lang="en-US" b="1" dirty="0"/>
              <a:t>Palo Alto Cortex XDR</a:t>
            </a:r>
            <a:r>
              <a:rPr lang="en-US" dirty="0"/>
              <a:t> </a:t>
            </a:r>
            <a:r>
              <a:rPr lang="ar-SA" dirty="0"/>
              <a:t>لتحسين </a:t>
            </a:r>
            <a:r>
              <a:rPr lang="ar-SA" b="1" dirty="0"/>
              <a:t>الكشف والاستجابة الأمنية</a:t>
            </a:r>
            <a:r>
              <a:rPr lang="ar-SA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استخدام </a:t>
            </a:r>
            <a:r>
              <a:rPr lang="en-US" b="1" dirty="0"/>
              <a:t>Cisco Secure Access &amp; Cisco Zero Trust</a:t>
            </a:r>
            <a:r>
              <a:rPr lang="en-US" dirty="0"/>
              <a:t> </a:t>
            </a:r>
            <a:r>
              <a:rPr lang="ar-SA" dirty="0"/>
              <a:t>بدلاً من الحلول المتفرقة.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تحويل نظام </a:t>
            </a:r>
            <a:r>
              <a:rPr lang="en-US" b="1" dirty="0"/>
              <a:t>DNS Protection </a:t>
            </a:r>
            <a:r>
              <a:rPr lang="ar-SA" b="1" dirty="0"/>
              <a:t>إلى </a:t>
            </a:r>
            <a:r>
              <a:rPr lang="en-US" b="1" dirty="0"/>
              <a:t>Cisco Umbrella</a:t>
            </a:r>
            <a:r>
              <a:rPr lang="en-US" dirty="0"/>
              <a:t> </a:t>
            </a:r>
            <a:r>
              <a:rPr lang="ar-SA" dirty="0"/>
              <a:t>لتأمين الاتصالات السحابية بشكل </a:t>
            </a:r>
            <a:r>
              <a:rPr lang="ar-SA" b="1" dirty="0"/>
              <a:t>أكثر كفاءة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1737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30854-D6DF-0FE8-6AEA-EFE0E9AA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E95F1-1DD6-D94E-2BF5-541F4E6E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الرخص</a:t>
            </a:r>
            <a:r>
              <a:rPr lang="en-US" dirty="0"/>
              <a:t/>
            </a:r>
            <a:br>
              <a:rPr lang="en-US" dirty="0"/>
            </a:br>
            <a:r>
              <a:rPr lang="ar-EG" sz="2000" dirty="0"/>
              <a:t>الوضع الحالي للرخص كما هو في الهيئة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BCB97A-94FC-5C9F-8197-00FCC4F4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95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60488-FE97-3843-EC15-6E5365789E2F}"/>
              </a:ext>
            </a:extLst>
          </p:cNvPr>
          <p:cNvSpPr txBox="1"/>
          <p:nvPr/>
        </p:nvSpPr>
        <p:spPr>
          <a:xfrm>
            <a:off x="1917032" y="1474330"/>
            <a:ext cx="94728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3️⃣ رخص تحليل البيانات والإحصائيات</a:t>
            </a:r>
            <a:r>
              <a:rPr lang="ar-EG" b="1" dirty="0"/>
              <a:t> </a:t>
            </a:r>
            <a:r>
              <a:rPr lang="en-US" b="1" dirty="0"/>
              <a:t>Analytics &amp; BI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SPSS, SAS, R Studio, Tableau, Stata, NVivo, Power BI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Talend Data Management, Alteryx, </a:t>
            </a:r>
            <a:r>
              <a:rPr lang="en-US" b="1" dirty="0" err="1"/>
              <a:t>MaxQDA</a:t>
            </a:r>
            <a:r>
              <a:rPr lang="en-US" b="1" dirty="0"/>
              <a:t>, Text Inspector, Sketch Engine</a:t>
            </a:r>
            <a:endParaRPr lang="en-US" dirty="0"/>
          </a:p>
          <a:p>
            <a:pPr algn="r" rtl="1"/>
            <a:r>
              <a:rPr lang="en-US" dirty="0"/>
              <a:t>✅ </a:t>
            </a:r>
            <a:r>
              <a:rPr lang="ar-SA" b="1" dirty="0"/>
              <a:t>الوضع الحالي:</a:t>
            </a:r>
            <a:endParaRPr lang="ar-SA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وجود </a:t>
            </a:r>
            <a:r>
              <a:rPr lang="ar-SA" b="1" dirty="0"/>
              <a:t>تكرار كبير</a:t>
            </a:r>
            <a:r>
              <a:rPr lang="ar-SA" dirty="0"/>
              <a:t> في أدوات التحليل مثل </a:t>
            </a:r>
            <a:r>
              <a:rPr lang="en-US" b="1" dirty="0"/>
              <a:t>SPSS, SAS, Stata, R Studio</a:t>
            </a:r>
            <a:r>
              <a:rPr lang="en-US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الحاجة إلى </a:t>
            </a:r>
            <a:r>
              <a:rPr lang="ar-SA" b="1" dirty="0"/>
              <a:t>دمج الأدوات</a:t>
            </a:r>
            <a:r>
              <a:rPr lang="ar-SA" dirty="0"/>
              <a:t> وتقليل التكلفة التشغيلية.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بعض الأدوات تحتاج إلى </a:t>
            </a:r>
            <a:r>
              <a:rPr lang="ar-SA" b="1" dirty="0"/>
              <a:t>تحسين في التكامل مع الحوسبة السحابية</a:t>
            </a:r>
            <a:r>
              <a:rPr lang="ar-SA" dirty="0"/>
              <a:t>.</a:t>
            </a:r>
          </a:p>
          <a:p>
            <a:pPr algn="r" rtl="1"/>
            <a:r>
              <a:rPr lang="en-US" dirty="0"/>
              <a:t>🚀 </a:t>
            </a:r>
            <a:r>
              <a:rPr lang="ar-SA" b="1" dirty="0"/>
              <a:t>الوضع المستقبلي المقترح:</a:t>
            </a:r>
            <a:endParaRPr lang="ar-SA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توحيد أدوات التحليل إلى </a:t>
            </a:r>
            <a:r>
              <a:rPr lang="en-US" b="1" dirty="0"/>
              <a:t>Power BI + Python + R Studio</a:t>
            </a:r>
            <a:r>
              <a:rPr lang="en-US" dirty="0"/>
              <a:t> </a:t>
            </a:r>
            <a:r>
              <a:rPr lang="ar-SA" dirty="0"/>
              <a:t>لتحسين التكامل والتكلفة.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تحويل إدارة البيانات إلى </a:t>
            </a:r>
            <a:r>
              <a:rPr lang="en-US" b="1" dirty="0"/>
              <a:t>Talend Cloud</a:t>
            </a:r>
            <a:r>
              <a:rPr lang="en-US" dirty="0"/>
              <a:t> </a:t>
            </a:r>
            <a:r>
              <a:rPr lang="ar-SA" dirty="0"/>
              <a:t>بدلاً من تشغيل </a:t>
            </a:r>
            <a:r>
              <a:rPr lang="en-US" dirty="0"/>
              <a:t>Talend On-Premise.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الانتقال إلى </a:t>
            </a:r>
            <a:r>
              <a:rPr lang="en-US" b="1" dirty="0"/>
              <a:t>Tableau Cloud </a:t>
            </a:r>
            <a:r>
              <a:rPr lang="ar-SA" b="1" dirty="0"/>
              <a:t>بدلاً من </a:t>
            </a:r>
            <a:r>
              <a:rPr lang="en-US" b="1" dirty="0"/>
              <a:t>Tableau Server</a:t>
            </a:r>
            <a:r>
              <a:rPr lang="en-US" dirty="0"/>
              <a:t> </a:t>
            </a:r>
            <a:r>
              <a:rPr lang="ar-SA" dirty="0"/>
              <a:t>لتقليل تعقيد الصيانة.</a:t>
            </a:r>
          </a:p>
        </p:txBody>
      </p:sp>
    </p:spTree>
    <p:extLst>
      <p:ext uri="{BB962C8B-B14F-4D97-AF65-F5344CB8AC3E}">
        <p14:creationId xmlns:p14="http://schemas.microsoft.com/office/powerpoint/2010/main" val="37479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5774E-A2B8-C561-EB91-0E3144F8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55B6-10F2-AC88-9AC1-01D5F4BB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الرخص</a:t>
            </a:r>
            <a:r>
              <a:rPr lang="en-US" dirty="0"/>
              <a:t/>
            </a:r>
            <a:br>
              <a:rPr lang="en-US" dirty="0"/>
            </a:br>
            <a:r>
              <a:rPr lang="ar-EG" sz="2000" dirty="0"/>
              <a:t>الوضع الحالي للرخص كما هو في الهيئة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36624-4172-1192-B7BB-0A194DC7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96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E69BF-D5C3-47AF-5DFF-2B17A0ADE736}"/>
              </a:ext>
            </a:extLst>
          </p:cNvPr>
          <p:cNvSpPr txBox="1"/>
          <p:nvPr/>
        </p:nvSpPr>
        <p:spPr>
          <a:xfrm>
            <a:off x="1917032" y="1474330"/>
            <a:ext cx="94728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dirty="0"/>
              <a:t>4️⃣ رخص الإنتاجية والتصميم </a:t>
            </a:r>
            <a:r>
              <a:rPr lang="en-US" b="1" dirty="0"/>
              <a:t>Productivity &amp; Creative Licenses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Adobe Suite Photoshop, Illustrator, InDesign, XD, Acrobat</a:t>
            </a:r>
            <a:endParaRPr lang="en-US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b="1" dirty="0"/>
              <a:t>Corel Draw, Sketch Engine, Figma, Shutter Stock, </a:t>
            </a:r>
            <a:r>
              <a:rPr lang="en-US" b="1" dirty="0" err="1"/>
              <a:t>Envato</a:t>
            </a:r>
            <a:r>
              <a:rPr lang="en-US" b="1" dirty="0"/>
              <a:t> Elements, </a:t>
            </a:r>
            <a:r>
              <a:rPr lang="en-US" b="1" dirty="0" err="1"/>
              <a:t>Flaticon</a:t>
            </a:r>
            <a:endParaRPr lang="en-US" dirty="0"/>
          </a:p>
          <a:p>
            <a:pPr algn="r" rtl="1"/>
            <a:r>
              <a:rPr lang="en-US" dirty="0"/>
              <a:t>✅ </a:t>
            </a:r>
            <a:r>
              <a:rPr lang="ar-SA" b="1" dirty="0"/>
              <a:t>الوضع الحالي:</a:t>
            </a:r>
            <a:endParaRPr lang="ar-SA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استخدام </a:t>
            </a:r>
            <a:r>
              <a:rPr lang="ar-SA" b="1" dirty="0"/>
              <a:t>عدة منصات تصميم</a:t>
            </a:r>
            <a:r>
              <a:rPr lang="ar-SA" dirty="0"/>
              <a:t> دون توحيد الاستخدام.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الحاجة إلى </a:t>
            </a:r>
            <a:r>
              <a:rPr lang="ar-SA" b="1" dirty="0"/>
              <a:t>نقل الرخص إلى نموذج الاشتراك </a:t>
            </a:r>
            <a:r>
              <a:rPr lang="ar-SA" b="1" dirty="0" err="1"/>
              <a:t>السحابي</a:t>
            </a:r>
            <a:r>
              <a:rPr lang="ar-SA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بعض الأدوات مثل </a:t>
            </a:r>
            <a:r>
              <a:rPr lang="en-US" b="1" dirty="0"/>
              <a:t>Corel Draw </a:t>
            </a:r>
            <a:r>
              <a:rPr lang="ar-SA" b="1" dirty="0"/>
              <a:t>و</a:t>
            </a:r>
            <a:r>
              <a:rPr lang="en-US" b="1" dirty="0"/>
              <a:t>Sketch Engine</a:t>
            </a:r>
            <a:r>
              <a:rPr lang="en-US" dirty="0"/>
              <a:t> </a:t>
            </a:r>
            <a:r>
              <a:rPr lang="ar-SA" dirty="0"/>
              <a:t>ليست مستخدمة على نطاق واسع.</a:t>
            </a:r>
          </a:p>
          <a:p>
            <a:pPr algn="r" rtl="1"/>
            <a:r>
              <a:rPr lang="en-US" dirty="0"/>
              <a:t>🚀 </a:t>
            </a:r>
            <a:r>
              <a:rPr lang="ar-SA" b="1" dirty="0"/>
              <a:t>الوضع المستقبلي المقترح:</a:t>
            </a:r>
            <a:endParaRPr lang="ar-SA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تحويل جميع رخص </a:t>
            </a:r>
            <a:r>
              <a:rPr lang="en-US" b="1" dirty="0"/>
              <a:t>Adobe </a:t>
            </a:r>
            <a:r>
              <a:rPr lang="ar-SA" b="1" dirty="0"/>
              <a:t>إلى </a:t>
            </a:r>
            <a:r>
              <a:rPr lang="en-US" b="1" dirty="0"/>
              <a:t>Creative Cloud Subscription</a:t>
            </a:r>
            <a:r>
              <a:rPr lang="en-US" dirty="0"/>
              <a:t> </a:t>
            </a:r>
            <a:r>
              <a:rPr lang="ar-SA" dirty="0"/>
              <a:t>لتحديث البرامج تلقائيًا.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استبدال </a:t>
            </a:r>
            <a:r>
              <a:rPr lang="en-US" b="1" dirty="0"/>
              <a:t>Corel Draw </a:t>
            </a:r>
            <a:r>
              <a:rPr lang="ar-SA" b="1" dirty="0"/>
              <a:t>بـ </a:t>
            </a:r>
            <a:r>
              <a:rPr lang="en-US" b="1" dirty="0"/>
              <a:t>Adobe Illustrator </a:t>
            </a:r>
            <a:r>
              <a:rPr lang="ar-SA" b="1" dirty="0"/>
              <a:t>و</a:t>
            </a:r>
            <a:r>
              <a:rPr lang="en-US" b="1" dirty="0"/>
              <a:t>Figma</a:t>
            </a:r>
            <a:r>
              <a:rPr lang="en-US" dirty="0"/>
              <a:t> </a:t>
            </a:r>
            <a:r>
              <a:rPr lang="ar-SA" dirty="0"/>
              <a:t>لتقليل التكلفة.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الاعتماد على </a:t>
            </a:r>
            <a:r>
              <a:rPr lang="en-US" b="1" dirty="0" err="1"/>
              <a:t>Envato</a:t>
            </a:r>
            <a:r>
              <a:rPr lang="en-US" b="1" dirty="0"/>
              <a:t> Elements </a:t>
            </a:r>
            <a:r>
              <a:rPr lang="ar-SA" b="1" dirty="0"/>
              <a:t>و</a:t>
            </a:r>
            <a:r>
              <a:rPr lang="en-US" b="1" dirty="0"/>
              <a:t>Adobe Stock </a:t>
            </a:r>
            <a:r>
              <a:rPr lang="ar-SA" b="1" dirty="0"/>
              <a:t>بدلاً من تعدد مصادر الصور</a:t>
            </a:r>
            <a:r>
              <a:rPr lang="ar-S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239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9140-83AA-3CAE-4583-3A2A97CF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9D7C-1463-3C9A-BF19-67408C73A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الرخص</a:t>
            </a:r>
            <a:r>
              <a:rPr lang="en-US" dirty="0"/>
              <a:t/>
            </a:r>
            <a:br>
              <a:rPr lang="en-US" dirty="0"/>
            </a:br>
            <a:r>
              <a:rPr lang="ar-EG" sz="2000" dirty="0"/>
              <a:t>التحسينات المستقبلية للرخص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E48CB3-432F-605B-E90F-5BCD1655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97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566F21-67D2-3F82-96D2-B7FB544DD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895277"/>
              </p:ext>
            </p:extLst>
          </p:nvPr>
        </p:nvGraphicFramePr>
        <p:xfrm>
          <a:off x="1660358" y="1604211"/>
          <a:ext cx="9055767" cy="4114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18589">
                  <a:extLst>
                    <a:ext uri="{9D8B030D-6E8A-4147-A177-3AD203B41FA5}">
                      <a16:colId xmlns:a16="http://schemas.microsoft.com/office/drawing/2014/main" val="242775847"/>
                    </a:ext>
                  </a:extLst>
                </a:gridCol>
                <a:gridCol w="3018589">
                  <a:extLst>
                    <a:ext uri="{9D8B030D-6E8A-4147-A177-3AD203B41FA5}">
                      <a16:colId xmlns:a16="http://schemas.microsoft.com/office/drawing/2014/main" val="1729080465"/>
                    </a:ext>
                  </a:extLst>
                </a:gridCol>
                <a:gridCol w="3018589">
                  <a:extLst>
                    <a:ext uri="{9D8B030D-6E8A-4147-A177-3AD203B41FA5}">
                      <a16:colId xmlns:a16="http://schemas.microsoft.com/office/drawing/2014/main" val="5919483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سبب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التغيير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الرخصة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المستقبلية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المقترحة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الرخصة الحالية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611195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تحسين التكامل السحابي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WebEx Cloud Suite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Cisco WebEx Suite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562985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أمنة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وإدارة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الشبكة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Cisco DNA Center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Cisco Prime Infrastructure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959406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تحسين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الاتصالات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الموحدة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Cisco Cloud Calling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Call Manager BE7KH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0613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تحسين الأمن السحابي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Cisco Umbrella DNS Protection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Cloudflare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89788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توحيد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التحليل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الإحصائي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Power BI + Python + R Studio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SPSS, SAS, Stata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099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تحسين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التكامل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السحابي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Tableau Cloud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Tableau Server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016696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تقليل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التكاليف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Adobe Illustrator + Figma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Corel Draw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769763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تبسيط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إدارة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الشبكات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Cisco DNA Assurance + ThousandEyes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ManageEngine + SolarWinds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935474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effectLst/>
                        </a:rPr>
                        <a:t>تحسين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تحليل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تجربة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المستخدم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FullStory + Pendo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</a:rPr>
                        <a:t>Hotjar + Web Accessibility Widget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1329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49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79613F-830A-98E8-A044-BFDB230D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الرؤية المستقبلية للأنظمة الحالية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4EF6A8-88E0-A0BF-30C9-41A9C87B11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EEBE70-6D59-63C3-0B72-1B1D7CD92A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8.0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E21C7-83BE-E7F2-8659-A4C96B9F5F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3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2095-F7BB-5A2F-5168-BFFAC050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الأنظمة القائمة حاليا في الهيئة و كيفية تطويرها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D2B95B-24C0-33A6-A649-95864AC5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99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2B25C0-7877-3438-8EA2-F94E1F573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33707"/>
              </p:ext>
            </p:extLst>
          </p:nvPr>
        </p:nvGraphicFramePr>
        <p:xfrm>
          <a:off x="621452" y="1124386"/>
          <a:ext cx="11081262" cy="5013684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3693754">
                  <a:extLst>
                    <a:ext uri="{9D8B030D-6E8A-4147-A177-3AD203B41FA5}">
                      <a16:colId xmlns:a16="http://schemas.microsoft.com/office/drawing/2014/main" val="2536781336"/>
                    </a:ext>
                  </a:extLst>
                </a:gridCol>
                <a:gridCol w="3693754">
                  <a:extLst>
                    <a:ext uri="{9D8B030D-6E8A-4147-A177-3AD203B41FA5}">
                      <a16:colId xmlns:a16="http://schemas.microsoft.com/office/drawing/2014/main" val="1320434362"/>
                    </a:ext>
                  </a:extLst>
                </a:gridCol>
                <a:gridCol w="3693754">
                  <a:extLst>
                    <a:ext uri="{9D8B030D-6E8A-4147-A177-3AD203B41FA5}">
                      <a16:colId xmlns:a16="http://schemas.microsoft.com/office/drawing/2014/main" val="2315370491"/>
                    </a:ext>
                  </a:extLst>
                </a:gridCol>
              </a:tblGrid>
              <a:tr h="105175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 err="1">
                          <a:effectLst/>
                        </a:rPr>
                        <a:t>الوضع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الحالي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الوضع المستقبلي المقترح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سبب التغيير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258697172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Server 2012 R2 Standard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Windows Server 2022 Standard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تحسين الأمان والدعم الفني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1630889430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Server 2016 Standard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Windows Server 2022 Standard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تحديث الأداء والتوافق مع التقنيات الحديثة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2013028193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Server 2019 Standard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Windows Server 2022 Standard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تحديث الحماية وتعزيز الميزات الجديدة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1469849749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Server 2016 Datacenter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Windows Server 2022 Datacenter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تحسين إدارة البيانات الافتراضية والسحابية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3120709227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Server 2019 Datacenter Evaluation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Windows Server 2022 Datacenter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ترقية إلى نسخة مدعومة للإنتاج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1011559674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 Embedded Standard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Windows IoT Enterprise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 err="1">
                          <a:effectLst/>
                        </a:rPr>
                        <a:t>توفير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دعم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متقدم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للأجهزة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المدمجة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1518516764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 Identity Services Engine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Cisco ISE Latest Version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الحصول على تحديثات الأمان والوظائف الجديدة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511442095"/>
                  </a:ext>
                </a:extLst>
              </a:tr>
              <a:tr h="105175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Pulse Connect Secure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Cisco Secure Access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 err="1">
                          <a:effectLst/>
                        </a:rPr>
                        <a:t>توفير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حلول</a:t>
                      </a:r>
                      <a:r>
                        <a:rPr lang="en-US" sz="1000" dirty="0">
                          <a:effectLst/>
                        </a:rPr>
                        <a:t> VPN </a:t>
                      </a:r>
                      <a:r>
                        <a:rPr lang="en-US" sz="1000" dirty="0" err="1">
                          <a:effectLst/>
                        </a:rPr>
                        <a:t>متكاملة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وأكثر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أمانًا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2967035043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 Windows Server 2019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Microsoft Windows Server 2022 64-bit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تحسين الأداء والأمان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3910424440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 Hat Enterprise Linux 9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Red Hat Enterprise Linux 10 64-bit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التحضير للتحديث القادم وتوفير أحدث الميزات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3544871095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 Hat Enterprise Linux 8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Red Hat Enterprise Linux 9 64-bit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ضمان الدعم الفني والتحديثات الأمنية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719912291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Ubuntu Linux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Ubuntu 24.04 LTS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استخدام أحدث إصدار مع دعم طويل الأمد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2619934502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CentOS 8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 err="1">
                          <a:effectLst/>
                        </a:rPr>
                        <a:t>AlmaLinux</a:t>
                      </a:r>
                      <a:r>
                        <a:rPr lang="en-US" sz="1000" dirty="0">
                          <a:effectLst/>
                        </a:rPr>
                        <a:t> 9 / Rocky Linux 9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استبدال CentOS بعد إيقاف دعمه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559488777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CentOS 7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AlmaLinux 8 / Rocky Linux 8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ضمان استمرارية الدعم الأمني بعد انتهاء دعم CentOS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3230563395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 Windows Server 2022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بدون تغيير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أحدث إصدار متوفر بالفعل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947532264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 Windows Server 2012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Microsoft Windows Server 2022 64-bit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إيقاف الدعم من مايكروسوفت يتطلب التحديث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3420986034"/>
                  </a:ext>
                </a:extLst>
              </a:tr>
              <a:tr h="105175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 Linux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Ubuntu LTS / RHEL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استخدام أنظمة مدعومة واسعة الانتشار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62308882"/>
                  </a:ext>
                </a:extLst>
              </a:tr>
              <a:tr h="105175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 2.6.x Linux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Debian 12 / Ubuntu 24.04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التحول إلى إصدارات أكثر حداثة وأمانًا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1247331832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FreeBSD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FreeBSD Latest Version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تحديث النظام للحصول على أحدث التحسينات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1888907212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 Windows 10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Microsoft Windows 11 64-bit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التحديث للحصول على ميزات جديدة وتحسين الأمان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1301055295"/>
                  </a:ext>
                </a:extLst>
              </a:tr>
              <a:tr h="105175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Oracle Linux 8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Oracle Linux 9 64-bit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ترقية للأحدث لدعم أكبر وأمان محسن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654194610"/>
                  </a:ext>
                </a:extLst>
              </a:tr>
              <a:tr h="220118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Ubuntu Linux 32-bit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Ubuntu 64-bit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التخلص من الأنظمة 32 بت بسبب ضعف الدعم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1290079096"/>
                  </a:ext>
                </a:extLst>
              </a:tr>
              <a:tr h="105175"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CentOS 4/5 64-bit</a:t>
                      </a:r>
                    </a:p>
                  </a:txBody>
                  <a:tcPr marL="40889" marR="40889" marT="0" marB="0">
                    <a:solidFill>
                      <a:srgbClr val="D0CE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>
                          <a:effectLst/>
                        </a:rPr>
                        <a:t>AlmaLinux / Rocky Linux</a:t>
                      </a:r>
                      <a:endParaRPr lang="en-US" sz="1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dirty="0" err="1">
                          <a:effectLst/>
                        </a:rPr>
                        <a:t>التحديث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لأنظمة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مدعومة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أكثر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أمانًا</a:t>
                      </a:r>
                      <a:endParaRPr lang="en-US" sz="1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40889" marR="40889" marT="0" marB="0"/>
                </a:tc>
                <a:extLst>
                  <a:ext uri="{0D108BD9-81ED-4DB2-BD59-A6C34878D82A}">
                    <a16:rowId xmlns:a16="http://schemas.microsoft.com/office/drawing/2014/main" val="1878999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52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334B9-F49E-806D-A18B-D1E4D778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C121AA-0AA9-BEE8-DD11-1ABACE63C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الرؤية المستقبلية لمرافق مركز البيانات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7FE49-BA23-0F1A-BE4A-5B2386CC63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ACABE1-F022-71B7-D03C-310D0229E0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9.0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A70A7D-F261-4A4A-1DB3-675DBCA34B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4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4AD5-AFBA-992B-D337-051A7C12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الأنظمة الواجب توافرها في مراكز البيانات الخاصة بالهيئة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026A86-B632-4DF6-CD8D-EA3CDCE3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101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16039-E47A-DD99-CFD5-411D195E521C}"/>
              </a:ext>
            </a:extLst>
          </p:cNvPr>
          <p:cNvSpPr txBox="1"/>
          <p:nvPr/>
        </p:nvSpPr>
        <p:spPr>
          <a:xfrm>
            <a:off x="1459832" y="1305341"/>
            <a:ext cx="976964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u="sng" dirty="0"/>
              <a:t>1. أنظمة التبريد </a:t>
            </a:r>
            <a:r>
              <a:rPr lang="en-US" b="1" u="sng" dirty="0"/>
              <a:t>Cooling Systems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التكييف الدقيق </a:t>
            </a:r>
            <a:r>
              <a:rPr lang="en-US" b="1" dirty="0"/>
              <a:t>Precision Air Conditioning - PAC</a:t>
            </a:r>
            <a:r>
              <a:rPr lang="en-US" dirty="0"/>
              <a:t>: </a:t>
            </a:r>
            <a:r>
              <a:rPr lang="ar-SA" dirty="0"/>
              <a:t>للحفاظ على درجة الحرارة والرطوبة المناسبة للخوادم.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التبريد السائل </a:t>
            </a:r>
            <a:r>
              <a:rPr lang="en-US" b="1" dirty="0"/>
              <a:t>Liquid Cooling</a:t>
            </a:r>
            <a:r>
              <a:rPr lang="en-US" dirty="0"/>
              <a:t>: </a:t>
            </a:r>
            <a:r>
              <a:rPr lang="ar-SA" dirty="0"/>
              <a:t>يستخدم في مراكز البيانات ذات الأحمال العالية.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التبريد بالمياه المبردة </a:t>
            </a:r>
            <a:r>
              <a:rPr lang="en-US" b="1" dirty="0"/>
              <a:t>Chilled Water Cooling</a:t>
            </a:r>
            <a:r>
              <a:rPr lang="en-US" dirty="0"/>
              <a:t>: </a:t>
            </a:r>
            <a:r>
              <a:rPr lang="ar-SA" dirty="0"/>
              <a:t>أنظمة تعتمد على مياه مبردة تدور في أنابيب خاصة.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التحكم في تدفق الهواء </a:t>
            </a:r>
            <a:r>
              <a:rPr lang="en-US" b="1" dirty="0"/>
              <a:t>Airflow Management</a:t>
            </a:r>
            <a:r>
              <a:rPr lang="en-US" dirty="0"/>
              <a:t>: </a:t>
            </a:r>
            <a:r>
              <a:rPr lang="ar-SA" dirty="0"/>
              <a:t>عبر استخدام الألواح المثقبة والممرات الباردة والساخنة.</a:t>
            </a:r>
            <a:endParaRPr lang="ar-EG" dirty="0"/>
          </a:p>
          <a:p>
            <a:pPr algn="r" rtl="1">
              <a:buFont typeface="Arial" panose="020B0604020202020204" pitchFamily="34" charset="0"/>
              <a:buChar char="•"/>
            </a:pPr>
            <a:endParaRPr lang="ar-SA" dirty="0"/>
          </a:p>
          <a:p>
            <a:pPr algn="r" rtl="1"/>
            <a:r>
              <a:rPr lang="ar-SA" b="1" u="sng" dirty="0"/>
              <a:t>2. أنظمة كشف وإطفاء الحرائق </a:t>
            </a:r>
            <a:r>
              <a:rPr lang="en-US" b="1" u="sng" dirty="0"/>
              <a:t>Fire Detection &amp; Suppression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أجهزة كشف الدخان والحرارة</a:t>
            </a:r>
            <a:r>
              <a:rPr lang="ar-SA" dirty="0"/>
              <a:t>: أنظمة متقدمة تعتمد على </a:t>
            </a:r>
            <a:r>
              <a:rPr lang="ar-SA" b="1" dirty="0"/>
              <a:t>أجهزة استشعار ذكية</a:t>
            </a:r>
            <a:r>
              <a:rPr lang="ar-SA" dirty="0"/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أنظمة إطفاء الغازية </a:t>
            </a:r>
            <a:r>
              <a:rPr lang="en-US" b="1" dirty="0"/>
              <a:t>Gas-based Fire Suppression</a:t>
            </a:r>
            <a:r>
              <a:rPr lang="en-US" dirty="0"/>
              <a:t>: </a:t>
            </a:r>
            <a:r>
              <a:rPr lang="ar-SA" dirty="0"/>
              <a:t>مثل </a:t>
            </a:r>
            <a:r>
              <a:rPr lang="en-US" dirty="0"/>
              <a:t>FM-200 </a:t>
            </a:r>
            <a:r>
              <a:rPr lang="ar-SA" dirty="0"/>
              <a:t>أو </a:t>
            </a:r>
            <a:r>
              <a:rPr lang="en-US" dirty="0"/>
              <a:t>NOVEC 1230، </a:t>
            </a:r>
            <a:r>
              <a:rPr lang="ar-SA" dirty="0"/>
              <a:t>التي لا تضر بالمعدات الإلكترونية.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أنظمة إنذار الحرائق</a:t>
            </a:r>
            <a:r>
              <a:rPr lang="ar-SA" dirty="0"/>
              <a:t>: ل</a:t>
            </a:r>
            <a:r>
              <a:rPr lang="ar-EG" dirty="0"/>
              <a:t>ل</a:t>
            </a:r>
            <a:r>
              <a:rPr lang="ar-SA" dirty="0"/>
              <a:t>تنبيه في حالة الطوارئ.</a:t>
            </a:r>
            <a:endParaRPr lang="ar-EG" dirty="0"/>
          </a:p>
          <a:p>
            <a:pPr algn="r" rtl="1">
              <a:buFont typeface="Arial" panose="020B0604020202020204" pitchFamily="34" charset="0"/>
              <a:buChar char="•"/>
            </a:pPr>
            <a:endParaRPr lang="ar-SA" dirty="0"/>
          </a:p>
          <a:p>
            <a:pPr algn="r" rtl="1"/>
            <a:r>
              <a:rPr lang="ar-SA" b="1" dirty="0"/>
              <a:t>3. أنظمة كشف التسربات </a:t>
            </a:r>
            <a:r>
              <a:rPr lang="en-US" b="1" dirty="0"/>
              <a:t>Leak Detection Systems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كواشف تسرب السوائل</a:t>
            </a:r>
            <a:r>
              <a:rPr lang="ar-SA" dirty="0"/>
              <a:t>: أنظمة تعتمد على </a:t>
            </a:r>
            <a:r>
              <a:rPr lang="ar-SA" b="1" dirty="0"/>
              <a:t>أجهزة استشعار</a:t>
            </a:r>
            <a:r>
              <a:rPr lang="ar-SA" dirty="0"/>
              <a:t> تعمل على اكتشاف أي تسرب للمياه أو المبردات.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أجهزة استشعار الرطوبة</a:t>
            </a:r>
            <a:r>
              <a:rPr lang="ar-SA" dirty="0"/>
              <a:t>: تمنع تراكم الرطوبة داخل المركز.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مراقبة الأنابيب والتوصيلات</a:t>
            </a:r>
            <a:r>
              <a:rPr lang="ar-SA" dirty="0"/>
              <a:t>: لمنع التسربات المفاجئة.</a:t>
            </a:r>
          </a:p>
        </p:txBody>
      </p:sp>
    </p:spTree>
    <p:extLst>
      <p:ext uri="{BB962C8B-B14F-4D97-AF65-F5344CB8AC3E}">
        <p14:creationId xmlns:p14="http://schemas.microsoft.com/office/powerpoint/2010/main" val="143320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6169-AA2F-A0A4-BE8B-6015FAD8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41A3-0E69-39AC-1FDC-5C27F169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الأنظمة الواجب توافرها في مراكز البيانات الخاصة بالهيئة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BF5F0-DE68-E21B-3D4A-B8255BA84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102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FA938-C0F5-9C28-8B30-C0173DA9ADCF}"/>
              </a:ext>
            </a:extLst>
          </p:cNvPr>
          <p:cNvSpPr txBox="1"/>
          <p:nvPr/>
        </p:nvSpPr>
        <p:spPr>
          <a:xfrm>
            <a:off x="1459832" y="1305341"/>
            <a:ext cx="976964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b="1" u="sng" dirty="0"/>
              <a:t>4. أنظمة الطاقة </a:t>
            </a:r>
            <a:r>
              <a:rPr lang="en-US" b="1" u="sng" dirty="0"/>
              <a:t>Power Systems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مزودات الطاقة غير المنقطعة </a:t>
            </a:r>
            <a:r>
              <a:rPr lang="en-US" b="1" dirty="0"/>
              <a:t>UPS - Uninterruptible Power Supply</a:t>
            </a:r>
            <a:r>
              <a:rPr lang="en-US" dirty="0"/>
              <a:t>: </a:t>
            </a:r>
            <a:r>
              <a:rPr lang="ar-SA" dirty="0"/>
              <a:t>لضمان استمرار تشغيل الخوادم في حالة انقطاع الكهرباء.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المولدات الاحتياطية </a:t>
            </a:r>
            <a:r>
              <a:rPr lang="en-US" b="1" dirty="0"/>
              <a:t>Backup Generators</a:t>
            </a:r>
            <a:r>
              <a:rPr lang="en-US" dirty="0"/>
              <a:t>: </a:t>
            </a:r>
            <a:r>
              <a:rPr lang="ar-SA" dirty="0"/>
              <a:t>تعمل بالديزل أو الغاز في حالات الطوارئ.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أنظمة توزيع الطاقة </a:t>
            </a:r>
            <a:r>
              <a:rPr lang="en-US" b="1" dirty="0"/>
              <a:t>Power Distribution Units - PDUs</a:t>
            </a:r>
            <a:r>
              <a:rPr lang="en-US" dirty="0"/>
              <a:t>: </a:t>
            </a:r>
            <a:r>
              <a:rPr lang="ar-SA" dirty="0"/>
              <a:t>لتوزيع الطاقة بذكاء بين الأجهزة.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إدارة الطاقة الذكية</a:t>
            </a:r>
            <a:r>
              <a:rPr lang="ar-SA" dirty="0"/>
              <a:t>: لرصد استهلاك الطاقة وتحسين كفاءة التشغيل.</a:t>
            </a:r>
            <a:endParaRPr lang="ar-EG" dirty="0"/>
          </a:p>
          <a:p>
            <a:pPr algn="r" rtl="1"/>
            <a:endParaRPr lang="ar-SA" dirty="0"/>
          </a:p>
          <a:p>
            <a:pPr algn="r" rtl="1"/>
            <a:r>
              <a:rPr lang="ar-SA" b="1" u="sng" dirty="0"/>
              <a:t>5. أنظمة الأمان والمراقبة </a:t>
            </a:r>
            <a:r>
              <a:rPr lang="en-US" b="1" u="sng" dirty="0"/>
              <a:t>Security &amp; Monitoring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كاميرات المراقبة </a:t>
            </a:r>
            <a:r>
              <a:rPr lang="en-US" b="1" dirty="0"/>
              <a:t>CCTV Systems</a:t>
            </a:r>
            <a:r>
              <a:rPr lang="en-US" dirty="0"/>
              <a:t>: </a:t>
            </a:r>
            <a:r>
              <a:rPr lang="ar-SA" dirty="0"/>
              <a:t>لمراقبة جميع المناطق داخل وخارج مركز البيانات.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نظم التحكم في الدخول </a:t>
            </a:r>
            <a:r>
              <a:rPr lang="en-US" b="1" dirty="0"/>
              <a:t>Access Control Systems</a:t>
            </a:r>
            <a:r>
              <a:rPr lang="en-US" dirty="0"/>
              <a:t>: </a:t>
            </a:r>
            <a:r>
              <a:rPr lang="ar-SA" dirty="0"/>
              <a:t>مثل بصمات الأصابع أو بطاقات التعريف الذكية.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أنظمة مراقبة البيئة </a:t>
            </a:r>
            <a:r>
              <a:rPr lang="en-US" b="1" dirty="0"/>
              <a:t>Environmental Monitoring Systems</a:t>
            </a:r>
            <a:r>
              <a:rPr lang="en-US" dirty="0"/>
              <a:t>: </a:t>
            </a:r>
            <a:r>
              <a:rPr lang="ar-SA" dirty="0"/>
              <a:t>تراقب درجات الحرارة والرطوبة والطاقة والاهتزازات.</a:t>
            </a:r>
            <a:endParaRPr lang="ar-EG" dirty="0"/>
          </a:p>
          <a:p>
            <a:pPr algn="r" rtl="1">
              <a:buFont typeface="Arial" panose="020B0604020202020204" pitchFamily="34" charset="0"/>
              <a:buChar char="•"/>
            </a:pPr>
            <a:endParaRPr lang="ar-EG" dirty="0"/>
          </a:p>
          <a:p>
            <a:pPr algn="r" rtl="1"/>
            <a:endParaRPr lang="ar-SA" dirty="0"/>
          </a:p>
          <a:p>
            <a:pPr algn="r" rtl="1"/>
            <a:r>
              <a:rPr lang="ar-SA" b="1" u="sng" dirty="0"/>
              <a:t>6. أنظمة إدارة مركز البيانات </a:t>
            </a:r>
            <a:r>
              <a:rPr lang="en-US" b="1" u="sng" dirty="0"/>
              <a:t>Data Center Infrastructure Management - DCIM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أدوات تحليل البيانات ومراقبة الأداء</a:t>
            </a:r>
            <a:r>
              <a:rPr lang="ar-SA" dirty="0"/>
              <a:t>: تتيح التحكم في استهلاك الطاقة، التبريد، وسعة التخزين.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b="1" dirty="0"/>
              <a:t>أنظمة الإنذار وإرسال التنبيهات</a:t>
            </a:r>
            <a:r>
              <a:rPr lang="ar-SA" dirty="0"/>
              <a:t>: عند حدوث أعطال أو ارتفاع درجة الحرارة أو استهلاك زائد للطاقة.</a:t>
            </a:r>
          </a:p>
        </p:txBody>
      </p:sp>
    </p:spTree>
    <p:extLst>
      <p:ext uri="{BB962C8B-B14F-4D97-AF65-F5344CB8AC3E}">
        <p14:creationId xmlns:p14="http://schemas.microsoft.com/office/powerpoint/2010/main" val="182515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4E4E9-533A-7C45-06A5-B068A6C3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8D815F-1C1A-4D8C-9F8C-E6F1C3F7F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2169" y="6413168"/>
            <a:ext cx="644507" cy="203942"/>
          </a:xfrm>
        </p:spPr>
        <p:txBody>
          <a:bodyPr/>
          <a:lstStyle/>
          <a:p>
            <a:fld id="{0BE4EC83-A869-464E-AE9F-881796FB085E}" type="slidenum">
              <a:rPr lang="en-US" smtClean="0"/>
              <a:t>103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C95215-92A8-9FFA-D035-94BFEB181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6606" y="330920"/>
            <a:ext cx="3087673" cy="435288"/>
          </a:xfrm>
        </p:spPr>
        <p:txBody>
          <a:bodyPr/>
          <a:lstStyle/>
          <a:p>
            <a:r>
              <a:rPr lang="ar-SA" sz="2800" dirty="0"/>
              <a:t>مرافق مركز البيانات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4C5D43-634F-D01D-852D-55E002A1107E}"/>
              </a:ext>
            </a:extLst>
          </p:cNvPr>
          <p:cNvSpPr txBox="1">
            <a:spLocks/>
          </p:cNvSpPr>
          <p:nvPr/>
        </p:nvSpPr>
        <p:spPr>
          <a:xfrm>
            <a:off x="5229726" y="766208"/>
            <a:ext cx="6204553" cy="435288"/>
          </a:xfrm>
          <a:prstGeom prst="rect">
            <a:avLst/>
          </a:prstGeom>
        </p:spPr>
        <p:txBody>
          <a:bodyPr vert="horz" lIns="91440" tIns="45720" rIns="0" bIns="45720" rtlCol="0" anchor="ctr" anchorCtr="0">
            <a:noAutofit/>
          </a:bodyPr>
          <a:lstStyle>
            <a:lvl1pPr algn="r" defTabSz="914400" rtl="1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2000" dirty="0">
                <a:latin typeface="Sakkal Majalla" panose="02000000000000000000" pitchFamily="2" charset="-78"/>
              </a:rPr>
              <a:t>الوضع المستقبلي لكافة مراكز البيانات في الهيئة  ندى – موبايلي – برج الرياض </a:t>
            </a:r>
            <a:endParaRPr lang="ar-SA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4787BE8-9A76-3C8E-2057-DE258D90E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117436"/>
              </p:ext>
            </p:extLst>
          </p:nvPr>
        </p:nvGraphicFramePr>
        <p:xfrm>
          <a:off x="944421" y="1470661"/>
          <a:ext cx="10678083" cy="4221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547">
                  <a:extLst>
                    <a:ext uri="{9D8B030D-6E8A-4147-A177-3AD203B41FA5}">
                      <a16:colId xmlns:a16="http://schemas.microsoft.com/office/drawing/2014/main" val="252541281"/>
                    </a:ext>
                  </a:extLst>
                </a:gridCol>
                <a:gridCol w="2109536">
                  <a:extLst>
                    <a:ext uri="{9D8B030D-6E8A-4147-A177-3AD203B41FA5}">
                      <a16:colId xmlns:a16="http://schemas.microsoft.com/office/drawing/2014/main" val="226444367"/>
                    </a:ext>
                  </a:extLst>
                </a:gridCol>
              </a:tblGrid>
              <a:tr h="5648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Unit/ System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Available yes/ no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77400947"/>
                  </a:ext>
                </a:extLst>
              </a:tr>
              <a:tr h="69152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 System &amp; Safe Operational Environment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yes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59181278"/>
                  </a:ext>
                </a:extLst>
              </a:tr>
              <a:tr h="465624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Cooling System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6814562"/>
                  </a:ext>
                </a:extLst>
              </a:tr>
              <a:tr h="47671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Fire Fighting System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8311000"/>
                  </a:ext>
                </a:extLst>
              </a:tr>
              <a:tr h="47671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Detection System Temp, Liquid, ...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064512"/>
                  </a:ext>
                </a:extLst>
              </a:tr>
              <a:tr h="56734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CCTV Monitoring and recording system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1675818"/>
                  </a:ext>
                </a:extLst>
              </a:tr>
              <a:tr h="97872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UPS &amp; Power management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yes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5578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79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5C75-BD32-417B-C223-09BB74E8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2E77B1-A994-DF27-E5B6-3AAE06A8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دليل الخدمات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EA60C-B95A-3AEB-4B8F-17F7E32C7A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03FC76-1456-D0F7-6158-AABFFFB14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sz="6600" dirty="0"/>
              <a:t>10.0</a:t>
            </a:r>
            <a:endParaRPr lang="en-US" sz="6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6B62D8-B26B-45B9-68F3-53CDC719DF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5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60B4EA-1B63-A78E-31BE-8CB9F7E19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الخدمات الحالية و الرؤية المستقبلية لها 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E0A115-93F9-01ED-54DB-FDBBCD083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347084"/>
              </p:ext>
            </p:extLst>
          </p:nvPr>
        </p:nvGraphicFramePr>
        <p:xfrm>
          <a:off x="1018674" y="1123295"/>
          <a:ext cx="10499556" cy="5249931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624889">
                  <a:extLst>
                    <a:ext uri="{9D8B030D-6E8A-4147-A177-3AD203B41FA5}">
                      <a16:colId xmlns:a16="http://schemas.microsoft.com/office/drawing/2014/main" val="667932781"/>
                    </a:ext>
                  </a:extLst>
                </a:gridCol>
                <a:gridCol w="2624889">
                  <a:extLst>
                    <a:ext uri="{9D8B030D-6E8A-4147-A177-3AD203B41FA5}">
                      <a16:colId xmlns:a16="http://schemas.microsoft.com/office/drawing/2014/main" val="2496506662"/>
                    </a:ext>
                  </a:extLst>
                </a:gridCol>
                <a:gridCol w="2624889">
                  <a:extLst>
                    <a:ext uri="{9D8B030D-6E8A-4147-A177-3AD203B41FA5}">
                      <a16:colId xmlns:a16="http://schemas.microsoft.com/office/drawing/2014/main" val="665660766"/>
                    </a:ext>
                  </a:extLst>
                </a:gridCol>
                <a:gridCol w="2624889">
                  <a:extLst>
                    <a:ext uri="{9D8B030D-6E8A-4147-A177-3AD203B41FA5}">
                      <a16:colId xmlns:a16="http://schemas.microsoft.com/office/drawing/2014/main" val="814800223"/>
                    </a:ext>
                  </a:extLst>
                </a:gridCol>
              </a:tblGrid>
              <a:tr h="14138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الخدمة الحالية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الخدمة المستقبلية المقترحة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سبب التغيير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خدمات إضافية مستقبلية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4143378442"/>
                  </a:ext>
                </a:extLst>
              </a:tr>
              <a:tr h="604945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Email - qisremb01, qisremb02, etecemb03, ETEC-EXCH01/02/03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Microsoft 365 Exchange Online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تحسين الأداء، الأمان، وتقليل الحاجة إلى الصيانة المحلية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دمج الذكاء الاصطناعي في تحليل البريد الإلكتروني لاكتشاف الهجمات السيبرانية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935898696"/>
                  </a:ext>
                </a:extLst>
              </a:tr>
              <a:tr h="604945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NCA AD &amp; DNS - ETECDCGC01/02/03/04/05, qisrdc01/02/03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Azure Active Directory + DNS Cloud Services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زيادة الأمان والمرونة في إدارة الهوية وتقليل الحمل على الأنظمة المحلية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استخدام تقنيات Zero Trust لتعزيز حماية الهوية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3941956974"/>
                  </a:ext>
                </a:extLst>
              </a:tr>
              <a:tr h="45042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LAbs AD &amp; DNS - QisrLabsDC01, QisrLabsDC03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Hybrid Active Directory with Cloud Sync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دعم التكامل السحابي وتحسين توفر الخدمة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إضافة حلول IAM لإدارة الأذونات تلقائيًا وتحسين الأمان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2540081848"/>
                  </a:ext>
                </a:extLst>
              </a:tr>
              <a:tr h="45042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SSO - ETECADFS01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Azure AD Single Sign-On (SSO)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تحسين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تجربة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تسجيل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الدخول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وتقليل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مخاطر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الهجمات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دعم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المصادقة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البيومترية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لزيادة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مستوى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الأمان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459021360"/>
                  </a:ext>
                </a:extLst>
              </a:tr>
              <a:tr h="45042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sccm - QISRSCCM01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Microsoft Endpoint Manager (Intune + SCCM Hybrid)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تحسين إدارة الأجهزة والتطبيقات بمرونة أعلى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أتمتة تحديثات الأنظمة وتحليل الامتثال باستخدام الذكاء الاصطناعي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3088694846"/>
                  </a:ext>
                </a:extLst>
              </a:tr>
              <a:tr h="45042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reset password service - ETECADSS01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Self-Service Password Reset (SSPR)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تمكين المستخدمين من إعادة تعيين كلمات المرور دون الحاجة إلى دعم فني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إضافة حلول اكتشاف محاولات الاختراق بناءً على سلوك المستخدم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3453667694"/>
                  </a:ext>
                </a:extLst>
              </a:tr>
              <a:tr h="45042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File Sharing - ETECFS01, ETECNS01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OneDrive for Business + SharePoint Online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تحسين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التعاون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بين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الفرق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وتقليل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الاعتماد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على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التخزين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المحلي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تفعيل حلول تأمين البيانات باستخدام التشفير المتقدم وتقنيات DRM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3161033566"/>
                  </a:ext>
                </a:extLst>
              </a:tr>
              <a:tr h="604945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-New Service 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-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إطلاق منصة مراقبة متقدمة تعتمد على الذكاء الاصطناعي لتحليل أداء الشبكة والأنظمة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1393907720"/>
                  </a:ext>
                </a:extLst>
              </a:tr>
              <a:tr h="604945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--New Service 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-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-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 dirty="0" err="1">
                          <a:effectLst/>
                        </a:rPr>
                        <a:t>إدارة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مركز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البيانات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عبر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حلول</a:t>
                      </a:r>
                      <a:r>
                        <a:rPr lang="en-US" sz="1400" dirty="0">
                          <a:effectLst/>
                        </a:rPr>
                        <a:t> DCIM </a:t>
                      </a:r>
                      <a:r>
                        <a:rPr lang="en-US" sz="1400" dirty="0" err="1">
                          <a:effectLst/>
                        </a:rPr>
                        <a:t>لمراقبة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الطاقة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والتبريد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وتحسين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الكفاءة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التشغيلية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967" marR="54967" marT="0" marB="0"/>
                </a:tc>
                <a:extLst>
                  <a:ext uri="{0D108BD9-81ED-4DB2-BD59-A6C34878D82A}">
                    <a16:rowId xmlns:a16="http://schemas.microsoft.com/office/drawing/2014/main" val="2177632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49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77E02C-1C6F-E3B8-FB60-1B56DF6D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ملخص بالفجوات التي جرى سردها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50BEA-9D61-F87E-CC44-55146BF1EA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A6EA93-03D3-3056-0913-20C608B020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11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A05799-931E-E0AF-0137-F934587EE6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4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8B28-C802-E91C-6D36-0CD16189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ملخص بالفجوات التي جرى سردها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7E9937-8F15-3116-2C9E-FFE503AE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107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4C83B6-DFD8-E7ED-14CE-37A01B47C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437392"/>
              </p:ext>
            </p:extLst>
          </p:nvPr>
        </p:nvGraphicFramePr>
        <p:xfrm>
          <a:off x="818147" y="1227339"/>
          <a:ext cx="10667999" cy="4466073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175210">
                  <a:extLst>
                    <a:ext uri="{9D8B030D-6E8A-4147-A177-3AD203B41FA5}">
                      <a16:colId xmlns:a16="http://schemas.microsoft.com/office/drawing/2014/main" val="3510221006"/>
                    </a:ext>
                  </a:extLst>
                </a:gridCol>
                <a:gridCol w="3091989">
                  <a:extLst>
                    <a:ext uri="{9D8B030D-6E8A-4147-A177-3AD203B41FA5}">
                      <a16:colId xmlns:a16="http://schemas.microsoft.com/office/drawing/2014/main" val="327059541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24000355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16723493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825343272"/>
                    </a:ext>
                  </a:extLst>
                </a:gridCol>
              </a:tblGrid>
              <a:tr h="13319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رمز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الفجوة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الفجوة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حرجية الفجوة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الحل المقترح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الأثر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بعد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الحل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1742444123"/>
                  </a:ext>
                </a:extLst>
              </a:tr>
              <a:tr h="56990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GAP-T-1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عدم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وجود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تقسيم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واضح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للأدوار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والمسؤوليات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عالية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إعداد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هيكل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تنظيمي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واضح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يحدد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المسؤوليات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داخل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NOC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تحسين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كفاءة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العمل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وتقليل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الازدواجية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2554154383"/>
                  </a:ext>
                </a:extLst>
              </a:tr>
              <a:tr h="42433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GAP-T-2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غياب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برامج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تدريبية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دورية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للموظفين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متوسطة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تصميم وتنفيذ برامج تدريبية دورية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رفع مستوى الكفاءة وزيادة الجاهزية للموظفين</a:t>
                      </a: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2965337615"/>
                  </a:ext>
                </a:extLst>
              </a:tr>
              <a:tr h="42433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GAP-T-3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عدم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وجود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تكامل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مع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مركز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الأمن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السيبراني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(SOC)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عالية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دمج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NOC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مع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SOC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لتعزيز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الأمن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السيبراني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تحسين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الاستجابة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للهجمات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وتقليل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المخاطر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الأمنية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1275094333"/>
                  </a:ext>
                </a:extLst>
              </a:tr>
              <a:tr h="56990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GAP-T-4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غياب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أدوات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E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اخذ القرار </a:t>
                      </a:r>
                      <a:r>
                        <a:rPr lang="ar-EG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تلقاءيا</a:t>
                      </a:r>
                      <a:r>
                        <a:rPr lang="ar-E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بعد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تحليل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حركة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المرور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واكتشاف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الأنماط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المشبوهة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عالية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تطبيق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أدوات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متقدمة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لتحليل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حركة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المرور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تحسين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اكتشاف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التهديدات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وتعزيز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الأمان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1526201716"/>
                  </a:ext>
                </a:extLst>
              </a:tr>
              <a:tr h="42433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GAP-T-5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عدم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توفر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إجراءات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واضحة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لاستجابة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الحوادث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الأمنية</a:t>
                      </a:r>
                      <a:r>
                        <a:rPr lang="ar-E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وعمل سيناريو لعمليات الانقطاع بصورة دورية و موثقة 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عالية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وضع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إجراءات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استجابة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موثقة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وربطها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بـ SOC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تقليل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وقت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الاستجابة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وتحسين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التعامل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مع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الحوادث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3028250683"/>
                  </a:ext>
                </a:extLst>
              </a:tr>
              <a:tr h="42433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GAP-T-6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عدم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وجود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مستودع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معرفة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لتوثيق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حلول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المشاكل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الشائعة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متوسطة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إنشاء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قاعدة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بيانات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معرفية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لحلول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المشاكل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الشائعة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تسريع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حل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المشاكل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وتقليل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وقت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التوقف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2120855294"/>
                  </a:ext>
                </a:extLst>
              </a:tr>
              <a:tr h="42433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GAP-T-7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نقص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الأدوات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التلقائية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لمراقبة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اختناقات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الأداء</a:t>
                      </a:r>
                      <a:r>
                        <a:rPr lang="ar-E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على مستوي ال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 </a:t>
                      </a:r>
                      <a:r>
                        <a:rPr lang="ar-E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ولكن يتوافر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thousand eyes </a:t>
                      </a:r>
                      <a:r>
                        <a:rPr lang="ar-E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على مستوي ال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WAN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متوسطة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إدخال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أدوات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تحليل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الأداء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لاكتشاف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الاختناقات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تحسين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أداء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الشبكة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وتوفير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تجربة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أفضل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للمستخدم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4241376576"/>
                  </a:ext>
                </a:extLst>
              </a:tr>
              <a:tr h="42433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GAP-T-8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عدم وجود أهداف موثقة لمؤشرات RTO/RPO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عالية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تحديد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وتوثيق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أهداف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RTO/RPO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تحسين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استمرارية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الأعمال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والتخطيط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لاستعادة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الخدمة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1053933986"/>
                  </a:ext>
                </a:extLst>
              </a:tr>
              <a:tr h="56990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GAP-T-9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نقص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الأدوات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المخصصة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لتحليل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وتحسين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الامتثال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لاتفاقيات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SLAs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متوسطة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تطبيق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أدوات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تحليل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لتحسين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التوافق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مع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SLAs</a:t>
                      </a:r>
                    </a:p>
                  </a:txBody>
                  <a:tcPr marL="51784" marR="51784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تحسين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الالتزام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بالاتفاقيات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وتعزيز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ثقة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المستخدمين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784" marR="51784" marT="0" marB="0"/>
                </a:tc>
                <a:extLst>
                  <a:ext uri="{0D108BD9-81ED-4DB2-BD59-A6C34878D82A}">
                    <a16:rowId xmlns:a16="http://schemas.microsoft.com/office/drawing/2014/main" val="3731281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93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3671-2859-90F7-C8B9-3D3037D40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CC90-70AC-EEC8-E852-FA2422A40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ملخص بالفجوات التي جرى سردها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B57065-E557-405D-22A7-8DAAB9FD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108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DCAAFE-EAEB-1F1F-06E4-DDA51BAE6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413854"/>
              </p:ext>
            </p:extLst>
          </p:nvPr>
        </p:nvGraphicFramePr>
        <p:xfrm>
          <a:off x="1405371" y="1169575"/>
          <a:ext cx="9877170" cy="4745949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968768">
                  <a:extLst>
                    <a:ext uri="{9D8B030D-6E8A-4147-A177-3AD203B41FA5}">
                      <a16:colId xmlns:a16="http://schemas.microsoft.com/office/drawing/2014/main" val="1507829404"/>
                    </a:ext>
                  </a:extLst>
                </a:gridCol>
                <a:gridCol w="3501081">
                  <a:extLst>
                    <a:ext uri="{9D8B030D-6E8A-4147-A177-3AD203B41FA5}">
                      <a16:colId xmlns:a16="http://schemas.microsoft.com/office/drawing/2014/main" val="1616686432"/>
                    </a:ext>
                  </a:extLst>
                </a:gridCol>
                <a:gridCol w="1456453">
                  <a:extLst>
                    <a:ext uri="{9D8B030D-6E8A-4147-A177-3AD203B41FA5}">
                      <a16:colId xmlns:a16="http://schemas.microsoft.com/office/drawing/2014/main" val="3144398232"/>
                    </a:ext>
                  </a:extLst>
                </a:gridCol>
                <a:gridCol w="1975434">
                  <a:extLst>
                    <a:ext uri="{9D8B030D-6E8A-4147-A177-3AD203B41FA5}">
                      <a16:colId xmlns:a16="http://schemas.microsoft.com/office/drawing/2014/main" val="1079806587"/>
                    </a:ext>
                  </a:extLst>
                </a:gridCol>
                <a:gridCol w="1975434">
                  <a:extLst>
                    <a:ext uri="{9D8B030D-6E8A-4147-A177-3AD203B41FA5}">
                      <a16:colId xmlns:a16="http://schemas.microsoft.com/office/drawing/2014/main" val="382664363"/>
                    </a:ext>
                  </a:extLst>
                </a:gridCol>
              </a:tblGrid>
              <a:tr h="1369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رمز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الفجوة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الفجوة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حرجية الفجوة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الحل المقترح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الأثر بعد الحل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2437098971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GAP-T10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تنوع أنظمة التشغيل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متوسطة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توحيد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بيئة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التشغيل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لأنظمة</a:t>
                      </a:r>
                      <a:r>
                        <a:rPr lang="en-US" sz="1200" dirty="0">
                          <a:effectLst/>
                        </a:rPr>
                        <a:t> الخوادم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تحسين التوافقية وتقليل مشاكل الدعم الفني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2131835279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GAP-T11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تفاوت في مواصفات الأجهزة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متوسطة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وضع معايير موحدة لمواصفات الأجهزة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تحسين الأداء وتقليل التعقيدات التشغيلية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3540756371"/>
                  </a:ext>
                </a:extLst>
              </a:tr>
              <a:tr h="43641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GAP-T12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وجود أنظمة منتهية الدعم او على وشك الانتهاء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عالية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ترقية الأنظمة أو استبدالها بأخرى مدعومة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تقليل المخاطر الأمنية وزيادة استقرار الأنظمة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2610452930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GAP-T13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عدم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التوثيق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الكامل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لبعض</a:t>
                      </a:r>
                      <a:r>
                        <a:rPr lang="en-US" sz="1200" dirty="0">
                          <a:effectLst/>
                        </a:rPr>
                        <a:t> الخوادم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عالية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إعداد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وثائق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شاملة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لكل</a:t>
                      </a:r>
                      <a:r>
                        <a:rPr lang="en-US" sz="1200" dirty="0">
                          <a:effectLst/>
                        </a:rPr>
                        <a:t> الخوادم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تحسين الصيانة وتقليل أخطاء التشغيل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1528708624"/>
                  </a:ext>
                </a:extLst>
              </a:tr>
              <a:tr h="735842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GAP-T14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عدم دورة حياة واضحة للخوادم واستراتيجية لإعادة التدوير أو التحديث المستمر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عالية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إنشاء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سياسة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واضحة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لدورة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حياة</a:t>
                      </a:r>
                      <a:r>
                        <a:rPr lang="en-US" sz="1200" dirty="0">
                          <a:effectLst/>
                        </a:rPr>
                        <a:t> الخوادم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تحسين الاستدامة وإدارة الأصول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166677197"/>
                  </a:ext>
                </a:extLst>
              </a:tr>
              <a:tr h="610962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GAP-T15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تكرار</a:t>
                      </a:r>
                      <a:r>
                        <a:rPr lang="en-US" sz="1200" dirty="0">
                          <a:effectLst/>
                        </a:rPr>
                        <a:t> الخوادم </a:t>
                      </a:r>
                      <a:r>
                        <a:rPr lang="en-US" sz="1200" dirty="0" err="1">
                          <a:effectLst/>
                        </a:rPr>
                        <a:t>على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نفس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السحابة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مما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يحقق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توافرية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في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حالة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عمل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السحابة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ولا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توجد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هذه</a:t>
                      </a:r>
                      <a:r>
                        <a:rPr lang="en-US" sz="1200" dirty="0">
                          <a:effectLst/>
                        </a:rPr>
                        <a:t> الخوادم </a:t>
                      </a:r>
                      <a:r>
                        <a:rPr lang="en-US" sz="1200" dirty="0" err="1">
                          <a:effectLst/>
                        </a:rPr>
                        <a:t>على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سحابة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أخرى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عالية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توزيع</a:t>
                      </a:r>
                      <a:r>
                        <a:rPr lang="en-US" sz="1200" dirty="0">
                          <a:effectLst/>
                        </a:rPr>
                        <a:t> الخوادم </a:t>
                      </a:r>
                      <a:r>
                        <a:rPr lang="en-US" sz="1200" dirty="0" err="1">
                          <a:effectLst/>
                        </a:rPr>
                        <a:t>عبر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بيئات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سحابية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متعددة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تحسين التوافرية والتقليل من نقطة الفشل الواحدة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327688261"/>
                  </a:ext>
                </a:extLst>
              </a:tr>
              <a:tr h="436416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GAP-T16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لا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يوجد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استخدام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تقنية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الحاويات</a:t>
                      </a:r>
                      <a:r>
                        <a:rPr lang="en-US" sz="1200" dirty="0">
                          <a:effectLst/>
                        </a:rPr>
                        <a:t> Containers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متوسطة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اعتماد تقنية الحاويات لتحسين إدارة التطبيقات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تعزيز المرونة وسرعة نشر التطبيقات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1107397981"/>
                  </a:ext>
                </a:extLst>
              </a:tr>
              <a:tr h="586129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GAP-T17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عدم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وجود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أتمتة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متكاملة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عبر</a:t>
                      </a:r>
                      <a:r>
                        <a:rPr lang="en-US" sz="1200" dirty="0">
                          <a:effectLst/>
                        </a:rPr>
                        <a:t> SDN </a:t>
                      </a:r>
                      <a:r>
                        <a:rPr lang="en-US" sz="1200" dirty="0" err="1">
                          <a:effectLst/>
                        </a:rPr>
                        <a:t>للتحكم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الذكي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في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الشبكة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عالية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تطبيق SDN لإدارة الشبكات بشكل ذكي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تحسين كفاءة وأمان الشبكة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2826095591"/>
                  </a:ext>
                </a:extLst>
              </a:tr>
              <a:tr h="735842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GAP-T18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عدم استخدام تقنيات SOAR (تنسيق الأمان والتشغيل الآلي والاستجابة) داخل SOC.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عالية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تطبيق منصة SOAR داخل SOC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تسريع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الاستجابة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للحوادث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الأمنية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وتقليل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الأعباء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التشغيلية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2631053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65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A213-C152-885A-8155-BB7474FC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D384-458C-9BB3-D406-9036AD88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ملخص بالفجوات التي جرى سردها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D6648-CD11-4DD0-277B-C6D07E8DF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4EC83-A869-464E-AE9F-881796FB085E}" type="slidenum">
              <a:rPr lang="en-US" smtClean="0"/>
              <a:t>109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6544D0-189C-E47B-BB99-0A6AE0A5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338161"/>
              </p:ext>
            </p:extLst>
          </p:nvPr>
        </p:nvGraphicFramePr>
        <p:xfrm>
          <a:off x="1405370" y="1169575"/>
          <a:ext cx="10088797" cy="170122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989525">
                  <a:extLst>
                    <a:ext uri="{9D8B030D-6E8A-4147-A177-3AD203B41FA5}">
                      <a16:colId xmlns:a16="http://schemas.microsoft.com/office/drawing/2014/main" val="1507829404"/>
                    </a:ext>
                  </a:extLst>
                </a:gridCol>
                <a:gridCol w="3946326">
                  <a:extLst>
                    <a:ext uri="{9D8B030D-6E8A-4147-A177-3AD203B41FA5}">
                      <a16:colId xmlns:a16="http://schemas.microsoft.com/office/drawing/2014/main" val="1616686432"/>
                    </a:ext>
                  </a:extLst>
                </a:gridCol>
                <a:gridCol w="1117428">
                  <a:extLst>
                    <a:ext uri="{9D8B030D-6E8A-4147-A177-3AD203B41FA5}">
                      <a16:colId xmlns:a16="http://schemas.microsoft.com/office/drawing/2014/main" val="3144398232"/>
                    </a:ext>
                  </a:extLst>
                </a:gridCol>
                <a:gridCol w="2017759">
                  <a:extLst>
                    <a:ext uri="{9D8B030D-6E8A-4147-A177-3AD203B41FA5}">
                      <a16:colId xmlns:a16="http://schemas.microsoft.com/office/drawing/2014/main" val="1079806587"/>
                    </a:ext>
                  </a:extLst>
                </a:gridCol>
                <a:gridCol w="2017759">
                  <a:extLst>
                    <a:ext uri="{9D8B030D-6E8A-4147-A177-3AD203B41FA5}">
                      <a16:colId xmlns:a16="http://schemas.microsoft.com/office/drawing/2014/main" val="382664363"/>
                    </a:ext>
                  </a:extLst>
                </a:gridCol>
              </a:tblGrid>
              <a:tr h="1369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رمز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الفجوة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الفجوة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حرجية الفجوة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الحل المقترح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الأثر بعد الحل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2437098971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GAP-T19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E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وجود بعض مراكز البيانات لا تدعم المرافق الأساسية 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متوسطة</a:t>
                      </a: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توحيد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بيئة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التشغيل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لأنظمة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الخوادم</a:t>
                      </a: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تحسين التوافقية وتقليل مشاكل الدعم الفني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2131835279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GAP-T20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E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عدم توفر خدمة نشر وإدارة التكوين التلقائي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Automation </a:t>
                      </a:r>
                      <a:r>
                        <a:rPr lang="ar-E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مما يؤدي إلى تباطؤ عمليات النشر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عالية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تطبيق أدوات الأتمتة مثل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Ansible, Puppet, </a:t>
                      </a: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و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TFS </a:t>
                      </a: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لتحسين كفاءة عمليات النشر والإدارة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 defTabSz="914400" rtl="1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تقليل الأخطاء اليدوية، تسريع عمليات النشر، وتحسين استقرار الأنظمة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756371"/>
                  </a:ext>
                </a:extLst>
              </a:tr>
              <a:tr h="481831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GAP-T21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عدم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دورة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حياة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واضحة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للخوادم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واستراتيجية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لإعادة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التدوير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أو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التحديث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المستمر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عالية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إنشاء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سياسة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واضحة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لدورة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حياة</a:t>
                      </a:r>
                      <a:r>
                        <a:rPr lang="en-US" sz="1200" dirty="0">
                          <a:effectLst/>
                        </a:rPr>
                        <a:t> الخوادم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تحسين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الاستدامة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وإدارة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الأصول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3258" marR="53258" marT="0" marB="0"/>
                </a:tc>
                <a:extLst>
                  <a:ext uri="{0D108BD9-81ED-4DB2-BD59-A6C34878D82A}">
                    <a16:rowId xmlns:a16="http://schemas.microsoft.com/office/drawing/2014/main" val="166677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89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459C-7702-232D-A8C9-7137E24B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z="4000" dirty="0"/>
              <a:t>المراجعة والاعتماد</a:t>
            </a:r>
            <a:endParaRPr lang="en-US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92D97-94FC-9B5C-E87D-69281B2CC1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6C9F8-51D2-D82C-4AEB-8D918730D1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ar-EG" dirty="0"/>
              <a:t>12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D7F8272-3DB1-2953-72F5-05ABBCC82983}"/>
              </a:ext>
            </a:extLst>
          </p:cNvPr>
          <p:cNvSpPr txBox="1">
            <a:spLocks/>
          </p:cNvSpPr>
          <p:nvPr/>
        </p:nvSpPr>
        <p:spPr>
          <a:xfrm>
            <a:off x="8900160" y="3430451"/>
            <a:ext cx="2400300" cy="511629"/>
          </a:xfrm>
          <a:prstGeom prst="rect">
            <a:avLst/>
          </a:prstGeom>
        </p:spPr>
        <p:txBody>
          <a:bodyPr/>
          <a:lstStyle>
            <a:lvl1pPr marL="0" indent="0" algn="r" defTabSz="914400" rtl="1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80000"/>
              <a:buFont typeface="Arial" panose="020B0604020202020204" pitchFamily="34" charset="0"/>
              <a:buNone/>
              <a:defRPr sz="20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1pPr>
            <a:lvl2pPr marL="288925" indent="0" algn="r" defTabSz="914400" rt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2pPr>
            <a:lvl3pPr marL="571500" indent="0" algn="r" defTabSz="914400" rt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3pPr>
            <a:lvl4pPr marL="857250" indent="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None/>
              <a:defRPr sz="14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4pPr>
            <a:lvl5pPr marL="1085850" indent="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accent2">
                    <a:lumMod val="75000"/>
                  </a:schemeClr>
                </a:solidFill>
                <a:latin typeface="Tajawal" panose="00000500000000000000" pitchFamily="2" charset="-78"/>
                <a:ea typeface="+mn-ea"/>
                <a:cs typeface="Tajawal" panose="00000500000000000000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b="1" dirty="0">
              <a:solidFill>
                <a:schemeClr val="accent1"/>
              </a:solidFill>
              <a:latin typeface="Sakkal Majalla" panose="02000000000000000000" pitchFamily="2" charset="-78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81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r-SA" dirty="0"/>
              <a:t>المراجعة والاعتماد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ED4050-B664-1CC2-94AC-2F0CA9B9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" y="6567058"/>
            <a:ext cx="466470" cy="290942"/>
          </a:xfrm>
        </p:spPr>
        <p:txBody>
          <a:bodyPr/>
          <a:lstStyle/>
          <a:p>
            <a:fld id="{0BE4EC83-A869-464E-AE9F-881796FB085E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8EC52-B253-D965-ED03-3F02166FB627}"/>
              </a:ext>
            </a:extLst>
          </p:cNvPr>
          <p:cNvSpPr txBox="1"/>
          <p:nvPr/>
        </p:nvSpPr>
        <p:spPr>
          <a:xfrm>
            <a:off x="5576381" y="354589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spcBef>
                <a:spcPts val="0"/>
              </a:spcBef>
              <a:spcAft>
                <a:spcPts val="2400"/>
              </a:spcAft>
            </a:pPr>
            <a:r>
              <a:rPr lang="ar-EG" sz="1800" b="1" dirty="0">
                <a:solidFill>
                  <a:schemeClr val="accent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الاعتماد</a:t>
            </a:r>
            <a:endParaRPr lang="en-US" sz="1800" b="1" dirty="0">
              <a:solidFill>
                <a:schemeClr val="accent1"/>
              </a:solidFill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166A2B-84FC-0491-7EEC-4A2BF67BB972}"/>
              </a:ext>
            </a:extLst>
          </p:cNvPr>
          <p:cNvSpPr txBox="1"/>
          <p:nvPr/>
        </p:nvSpPr>
        <p:spPr>
          <a:xfrm>
            <a:off x="5576381" y="1209934"/>
            <a:ext cx="6094378" cy="410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EG" b="1" dirty="0">
                <a:solidFill>
                  <a:schemeClr val="accent1"/>
                </a:solidFill>
                <a:latin typeface="Sakkal Majalla" panose="02000000000000000000" pitchFamily="2" charset="-78"/>
                <a:ea typeface="Sakkal Majalla" panose="02000000000000000000" pitchFamily="2" charset="-78"/>
                <a:cs typeface="Sakkal Majalla" panose="02000000000000000000" pitchFamily="2" charset="-78"/>
              </a:rPr>
              <a:t>المراجعة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9599" y="3915223"/>
          <a:ext cx="10972799" cy="1463040"/>
        </p:xfrm>
        <a:graphic>
          <a:graphicData uri="http://schemas.openxmlformats.org/drawingml/2006/table">
            <a:tbl>
              <a:tblPr rtl="1" firstRow="1" firstCol="1">
                <a:tableStyleId>{B301B821-A1FF-4177-AEE7-76D212191A09}</a:tableStyleId>
              </a:tblPr>
              <a:tblGrid>
                <a:gridCol w="1956625">
                  <a:extLst>
                    <a:ext uri="{9D8B030D-6E8A-4147-A177-3AD203B41FA5}">
                      <a16:colId xmlns:a16="http://schemas.microsoft.com/office/drawing/2014/main" val="409797911"/>
                    </a:ext>
                  </a:extLst>
                </a:gridCol>
                <a:gridCol w="2554482">
                  <a:extLst>
                    <a:ext uri="{9D8B030D-6E8A-4147-A177-3AD203B41FA5}">
                      <a16:colId xmlns:a16="http://schemas.microsoft.com/office/drawing/2014/main" val="3788268886"/>
                    </a:ext>
                  </a:extLst>
                </a:gridCol>
                <a:gridCol w="2554482">
                  <a:extLst>
                    <a:ext uri="{9D8B030D-6E8A-4147-A177-3AD203B41FA5}">
                      <a16:colId xmlns:a16="http://schemas.microsoft.com/office/drawing/2014/main" val="3128188203"/>
                    </a:ext>
                  </a:extLst>
                </a:gridCol>
                <a:gridCol w="1953001">
                  <a:extLst>
                    <a:ext uri="{9D8B030D-6E8A-4147-A177-3AD203B41FA5}">
                      <a16:colId xmlns:a16="http://schemas.microsoft.com/office/drawing/2014/main" val="4053606897"/>
                    </a:ext>
                  </a:extLst>
                </a:gridCol>
                <a:gridCol w="1954209">
                  <a:extLst>
                    <a:ext uri="{9D8B030D-6E8A-4147-A177-3AD203B41FA5}">
                      <a16:colId xmlns:a16="http://schemas.microsoft.com/office/drawing/2014/main" val="35252600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solidFill>
                            <a:srgbClr val="FFFFFF"/>
                          </a:solidFill>
                          <a:effectLst/>
                        </a:rPr>
                        <a:t>الاسم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solidFill>
                            <a:srgbClr val="FFFFFF"/>
                          </a:solidFill>
                          <a:effectLst/>
                        </a:rPr>
                        <a:t>المسمى الوظيفي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solidFill>
                            <a:srgbClr val="FFFFFF"/>
                          </a:solidFill>
                          <a:effectLst/>
                        </a:rPr>
                        <a:t>التوقيع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solidFill>
                            <a:srgbClr val="FFFFFF"/>
                          </a:solidFill>
                          <a:effectLst/>
                        </a:rPr>
                        <a:t>التاريخ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58107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effectLst/>
                        </a:rPr>
                        <a:t>اعتمدت بواسطة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25171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effectLst/>
                        </a:rPr>
                        <a:t>اعتمدت بواسطة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9311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effectLst/>
                        </a:rPr>
                        <a:t>اعتمدت بواسطة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092597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346955"/>
              </p:ext>
            </p:extLst>
          </p:nvPr>
        </p:nvGraphicFramePr>
        <p:xfrm>
          <a:off x="609600" y="1620816"/>
          <a:ext cx="10972799" cy="1938528"/>
        </p:xfrm>
        <a:graphic>
          <a:graphicData uri="http://schemas.openxmlformats.org/drawingml/2006/table">
            <a:tbl>
              <a:tblPr rtl="1" firstRow="1" firstCol="1">
                <a:tableStyleId>{B301B821-A1FF-4177-AEE7-76D212191A09}</a:tableStyleId>
              </a:tblPr>
              <a:tblGrid>
                <a:gridCol w="1956625">
                  <a:extLst>
                    <a:ext uri="{9D8B030D-6E8A-4147-A177-3AD203B41FA5}">
                      <a16:colId xmlns:a16="http://schemas.microsoft.com/office/drawing/2014/main" val="1980539937"/>
                    </a:ext>
                  </a:extLst>
                </a:gridCol>
                <a:gridCol w="2554482">
                  <a:extLst>
                    <a:ext uri="{9D8B030D-6E8A-4147-A177-3AD203B41FA5}">
                      <a16:colId xmlns:a16="http://schemas.microsoft.com/office/drawing/2014/main" val="1643949287"/>
                    </a:ext>
                  </a:extLst>
                </a:gridCol>
                <a:gridCol w="2554482">
                  <a:extLst>
                    <a:ext uri="{9D8B030D-6E8A-4147-A177-3AD203B41FA5}">
                      <a16:colId xmlns:a16="http://schemas.microsoft.com/office/drawing/2014/main" val="4015091623"/>
                    </a:ext>
                  </a:extLst>
                </a:gridCol>
                <a:gridCol w="1953001">
                  <a:extLst>
                    <a:ext uri="{9D8B030D-6E8A-4147-A177-3AD203B41FA5}">
                      <a16:colId xmlns:a16="http://schemas.microsoft.com/office/drawing/2014/main" val="3568119992"/>
                    </a:ext>
                  </a:extLst>
                </a:gridCol>
                <a:gridCol w="1954209">
                  <a:extLst>
                    <a:ext uri="{9D8B030D-6E8A-4147-A177-3AD203B41FA5}">
                      <a16:colId xmlns:a16="http://schemas.microsoft.com/office/drawing/2014/main" val="383034606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solidFill>
                            <a:srgbClr val="FFFFFF"/>
                          </a:solidFill>
                          <a:effectLst/>
                        </a:rPr>
                        <a:t>الاسم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solidFill>
                            <a:srgbClr val="FFFFFF"/>
                          </a:solidFill>
                          <a:effectLst/>
                        </a:rPr>
                        <a:t>المسمى الوظيفي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solidFill>
                            <a:srgbClr val="FFFFFF"/>
                          </a:solidFill>
                          <a:effectLst/>
                        </a:rPr>
                        <a:t>التوقيع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solidFill>
                            <a:srgbClr val="FFFFFF"/>
                          </a:solidFill>
                          <a:effectLst/>
                        </a:rPr>
                        <a:t>التاريخ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374339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effectLst/>
                        </a:rPr>
                        <a:t>معد الوثيقة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53973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effectLst/>
                        </a:rPr>
                        <a:t>رُوجعت بواسطة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روان نايف العنزي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dirty="0" smtClean="0">
                          <a:effectLst/>
                          <a:latin typeface="Sakkal Majalla" panose="02000000000000000000" pitchFamily="2" charset="-78"/>
                          <a:ea typeface="Sakkal Majalla" panose="02000000000000000000" pitchFamily="2" charset="-78"/>
                          <a:cs typeface="Sakkal Majalla" panose="02000000000000000000" pitchFamily="2" charset="-78"/>
                        </a:rPr>
                        <a:t>مشغل أنظمة 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effectLst/>
                          <a:latin typeface="Sakkal Majalla" panose="02000000000000000000" pitchFamily="2" charset="-78"/>
                          <a:ea typeface="Sakkal Majalla" panose="02000000000000000000" pitchFamily="2" charset="-78"/>
                          <a:cs typeface="Sakkal Majalla" panose="02000000000000000000" pitchFamily="2" charset="-78"/>
                        </a:rPr>
                        <a:t>6/4/2025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93023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600" b="1" dirty="0">
                          <a:effectLst/>
                        </a:rPr>
                        <a:t>رُوجعت بواسطة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Sakkal Majalla" panose="02000000000000000000" pitchFamily="2" charset="-78"/>
                        <a:ea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2920422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960" y="2454637"/>
            <a:ext cx="720895" cy="54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9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946134-1FB2-2DA4-AA5B-126D14B331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7938"/>
            <a:ext cx="438150" cy="320675"/>
          </a:xfrm>
        </p:spPr>
        <p:txBody>
          <a:bodyPr/>
          <a:lstStyle/>
          <a:p>
            <a:fld id="{0BE4EC83-A869-464E-AE9F-881796FB085E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3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7UrMshT4KqzQk2WlF2JQ"/>
</p:tagLst>
</file>

<file path=ppt/theme/theme1.xml><?xml version="1.0" encoding="utf-8"?>
<a:theme xmlns:a="http://schemas.openxmlformats.org/drawingml/2006/main" name="Office Theme">
  <a:themeElements>
    <a:clrScheme name="هيئة تقويم التعليم والتدري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C3C8D"/>
      </a:accent1>
      <a:accent2>
        <a:srgbClr val="3FA0D9"/>
      </a:accent2>
      <a:accent3>
        <a:srgbClr val="F5A053"/>
      </a:accent3>
      <a:accent4>
        <a:srgbClr val="44AC52"/>
      </a:accent4>
      <a:accent5>
        <a:srgbClr val="5C79B9"/>
      </a:accent5>
      <a:accent6>
        <a:srgbClr val="8C493C"/>
      </a:accent6>
      <a:hlink>
        <a:srgbClr val="0563C1"/>
      </a:hlink>
      <a:folHlink>
        <a:srgbClr val="954F72"/>
      </a:folHlink>
    </a:clrScheme>
    <a:fontScheme name="Custom 1">
      <a:majorFont>
        <a:latin typeface="Sakkal Majalla"/>
        <a:ea typeface=""/>
        <a:cs typeface="Sakkal Majalla"/>
      </a:majorFont>
      <a:minorFont>
        <a:latin typeface="Sakkal Majalla"/>
        <a:ea typeface=""/>
        <a:cs typeface="Sakkal Majall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قالب هيئة تقويم التعليم والتدريب" id="{9A6817DC-B17F-4D1B-B5C7-111B32FC2AAE}" vid="{4B21A0E3-9419-4B4C-8023-7E7AF5CFDC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قالب هيئة تقويم التعليم والتدريب</Template>
  <TotalTime>115725</TotalTime>
  <Words>26609</Words>
  <Application>Microsoft Office PowerPoint</Application>
  <PresentationFormat>Widescreen</PresentationFormat>
  <Paragraphs>5279</Paragraphs>
  <Slides>112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3" baseType="lpstr">
      <vt:lpstr>MS Mincho</vt:lpstr>
      <vt:lpstr>Open Sans</vt:lpstr>
      <vt:lpstr>DIN Next LT Arabic</vt:lpstr>
      <vt:lpstr>Wingdings</vt:lpstr>
      <vt:lpstr>Times New Roman</vt:lpstr>
      <vt:lpstr>Arial</vt:lpstr>
      <vt:lpstr>Cambria</vt:lpstr>
      <vt:lpstr>Sakkal Majalla</vt:lpstr>
      <vt:lpstr>Calibri</vt:lpstr>
      <vt:lpstr>Office Theme</vt:lpstr>
      <vt:lpstr>think-cell Slide</vt:lpstr>
      <vt:lpstr>الوضع المستقبلي لبنية التقنية</vt:lpstr>
      <vt:lpstr>PowerPoint Presentation</vt:lpstr>
      <vt:lpstr>مقدمة</vt:lpstr>
      <vt:lpstr>جدول المصطلحات </vt:lpstr>
      <vt:lpstr>المصطلحات</vt:lpstr>
      <vt:lpstr>المصطلحات</vt:lpstr>
      <vt:lpstr> نظرة عامة على بنية التقنية </vt:lpstr>
      <vt:lpstr> نظرة عامة على البنية التحتية للهيئة والتصور المستقبلي لها</vt:lpstr>
      <vt:lpstr> نظرة عامة على البنية التحتية للهيئة</vt:lpstr>
      <vt:lpstr>قدرات البنية  التقنية التحتية المستقبلية في الهيئة </vt:lpstr>
      <vt:lpstr>مشاهدات بنية التقنية الحالية</vt:lpstr>
      <vt:lpstr>مشاهدات على الخوادم الخاصة بالهيئة كما في الوضع الحالي</vt:lpstr>
      <vt:lpstr>مشاهدات على الخوادم الخاصة بالهيئة كما في الوضع الحالي</vt:lpstr>
      <vt:lpstr> مشاهدات على إدارة وتأمين الشبكة في الوضع الحالي</vt:lpstr>
      <vt:lpstr>نقاط القوة في الوضع الحالي بالنسبة لإدارة وتأمين الشبكة في الوضع الحالي</vt:lpstr>
      <vt:lpstr>مشاهدات على الشبكات في الوضع الحالي</vt:lpstr>
      <vt:lpstr>مشاهدات على الشبكات في الوضع الحالي</vt:lpstr>
      <vt:lpstr>مشاهدات على الشبكات في الوضع الحالي</vt:lpstr>
      <vt:lpstr>نقاط الضعف والتحديات</vt:lpstr>
      <vt:lpstr>التوجهات المستقبلية للبنية التقنية</vt:lpstr>
      <vt:lpstr>رؤية للخوادم المستقبلية</vt:lpstr>
      <vt:lpstr>تصور الوضع المستقبلي للخوادم - البنية المستهدفة</vt:lpstr>
      <vt:lpstr>تصور الوضع المستقبلي للخوادم - البنية المستهدفة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 BD</vt:lpstr>
      <vt:lpstr>الوضع المستقبلي للخوادم BD</vt:lpstr>
      <vt:lpstr>الوضع المستقبلي للخوادم DMZ</vt:lpstr>
      <vt:lpstr>الوضع المستقبلي للخوادم DMZ</vt:lpstr>
      <vt:lpstr>الوضع المستقبلي للخوادم DMZ</vt:lpstr>
      <vt:lpstr>الوضع المستقبلي للخوادم  Management servers </vt:lpstr>
      <vt:lpstr>الوضع المستقبلي للخوادم  Management servers 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Test and web servers</vt:lpstr>
      <vt:lpstr>الوضع المستقبلي للخوادم  Test and web servers</vt:lpstr>
      <vt:lpstr>ملاحظات على الوضع المستقبلي للخوادم المتشابهة و دمجها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</vt:lpstr>
      <vt:lpstr>الوضع المستقبلي للخوادم في البيئة الاختبارية</vt:lpstr>
      <vt:lpstr>رؤية مستقبلية لإدارة وتأمين الشبكة</vt:lpstr>
      <vt:lpstr>التحديات والمخاطر المحتملة</vt:lpstr>
      <vt:lpstr>التصور المستقبلي الأمثل لأمان الشبكة</vt:lpstr>
      <vt:lpstr>التصور المستقبلي الأمثل لأمان الشبكة</vt:lpstr>
      <vt:lpstr>التصور المستقبلي الأمثل للشبكة</vt:lpstr>
      <vt:lpstr>البنية المستقبلية لإدارة الشبكة</vt:lpstr>
      <vt:lpstr>البنية المستقبلية المقترحة </vt:lpstr>
      <vt:lpstr>مقترح عن الموجهات الشبكية المستقبلية</vt:lpstr>
      <vt:lpstr>مقترح عن الموزعات الشبكية المستقبلية</vt:lpstr>
      <vt:lpstr>أدوات إدارة البنية التحتية ومراقبتها</vt:lpstr>
      <vt:lpstr>مراقبة أداء وتوافريه البنية التحتية</vt:lpstr>
      <vt:lpstr>إدارة تكوين الخوادم</vt:lpstr>
      <vt:lpstr>إدارة تحديثات وتكوينات نقاط النهاية</vt:lpstr>
      <vt:lpstr>إدارة مرافق مركز البيانات</vt:lpstr>
      <vt:lpstr>إدارة حزم التحديثات والإصلاحات الأمنية</vt:lpstr>
      <vt:lpstr>إدارة الأصول التقنية</vt:lpstr>
      <vt:lpstr>إدارة التغييرات التقنية</vt:lpstr>
      <vt:lpstr>الرؤية المستقبلية للرخص</vt:lpstr>
      <vt:lpstr>الرخص نظرة على الوضع الحالي للرخص  </vt:lpstr>
      <vt:lpstr>الرخص نظرة على الوضع الحالي للرخص </vt:lpstr>
      <vt:lpstr>الرخص الوضع الحالي للرخص كما هو في الهيئة </vt:lpstr>
      <vt:lpstr>الرخص الوضع الحالي للرخص كما هو في الهيئة </vt:lpstr>
      <vt:lpstr>الرخص التحسينات المستقبلية للرخص</vt:lpstr>
      <vt:lpstr>الرؤية المستقبلية للأنظمة الحالية</vt:lpstr>
      <vt:lpstr>الأنظمة القائمة حاليا في الهيئة و كيفية تطويرها </vt:lpstr>
      <vt:lpstr>الرؤية المستقبلية لمرافق مركز البيانات</vt:lpstr>
      <vt:lpstr>الأنظمة الواجب توافرها في مراكز البيانات الخاصة بالهيئة </vt:lpstr>
      <vt:lpstr>الأنظمة الواجب توافرها في مراكز البيانات الخاصة بالهيئة </vt:lpstr>
      <vt:lpstr>مرافق مركز البيانات</vt:lpstr>
      <vt:lpstr>دليل الخدمات</vt:lpstr>
      <vt:lpstr>الخدمات الحالية و الرؤية المستقبلية لها </vt:lpstr>
      <vt:lpstr>ملخص بالفجوات التي جرى سردها</vt:lpstr>
      <vt:lpstr>ملخص بالفجوات التي جرى سردها </vt:lpstr>
      <vt:lpstr>ملخص بالفجوات التي جرى سردها </vt:lpstr>
      <vt:lpstr>ملخص بالفجوات التي جرى سردها </vt:lpstr>
      <vt:lpstr>المراجعة والاعتماد</vt:lpstr>
      <vt:lpstr>المراجعة والاعتماد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اجتماع إطلاق مشروع</dc:title>
  <dc:creator>ashawky</dc:creator>
  <cp:lastModifiedBy>Rawan Naif. Alanazi</cp:lastModifiedBy>
  <cp:revision>1482</cp:revision>
  <dcterms:created xsi:type="dcterms:W3CDTF">2024-05-29T18:26:52Z</dcterms:created>
  <dcterms:modified xsi:type="dcterms:W3CDTF">2025-04-06T08:53:00Z</dcterms:modified>
</cp:coreProperties>
</file>