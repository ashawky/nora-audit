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rtl="1" embedTrueTypeFonts="1" saveSubsetFonts="1">
  <p:sldMasterIdLst>
    <p:sldMasterId id="2147483702" r:id="rId1"/>
  </p:sldMasterIdLst>
  <p:notesMasterIdLst>
    <p:notesMasterId r:id="rId43"/>
  </p:notesMasterIdLst>
  <p:handoutMasterIdLst>
    <p:handoutMasterId r:id="rId44"/>
  </p:handoutMasterIdLst>
  <p:sldIdLst>
    <p:sldId id="542" r:id="rId2"/>
    <p:sldId id="576" r:id="rId3"/>
    <p:sldId id="577" r:id="rId4"/>
    <p:sldId id="578" r:id="rId5"/>
    <p:sldId id="2147476352" r:id="rId6"/>
    <p:sldId id="634" r:id="rId7"/>
    <p:sldId id="2146847216" r:id="rId8"/>
    <p:sldId id="2147476629" r:id="rId9"/>
    <p:sldId id="2147476810" r:id="rId10"/>
    <p:sldId id="780" r:id="rId11"/>
    <p:sldId id="781" r:id="rId12"/>
    <p:sldId id="783" r:id="rId13"/>
    <p:sldId id="784" r:id="rId14"/>
    <p:sldId id="786" r:id="rId15"/>
    <p:sldId id="2147476618" r:id="rId16"/>
    <p:sldId id="2147476619" r:id="rId17"/>
    <p:sldId id="2147476620" r:id="rId18"/>
    <p:sldId id="2147476811" r:id="rId19"/>
    <p:sldId id="2147476621" r:id="rId20"/>
    <p:sldId id="2147476622" r:id="rId21"/>
    <p:sldId id="2147476623" r:id="rId22"/>
    <p:sldId id="2147476624" r:id="rId23"/>
    <p:sldId id="2147477415" r:id="rId24"/>
    <p:sldId id="2147477416" r:id="rId25"/>
    <p:sldId id="2147478507" r:id="rId26"/>
    <p:sldId id="2147478509" r:id="rId27"/>
    <p:sldId id="704" r:id="rId28"/>
    <p:sldId id="2147476803" r:id="rId29"/>
    <p:sldId id="2147476804" r:id="rId30"/>
    <p:sldId id="2147476806" r:id="rId31"/>
    <p:sldId id="2147476805" r:id="rId32"/>
    <p:sldId id="2147478510" r:id="rId33"/>
    <p:sldId id="5199" r:id="rId34"/>
    <p:sldId id="5196" r:id="rId35"/>
    <p:sldId id="5201" r:id="rId36"/>
    <p:sldId id="5202" r:id="rId37"/>
    <p:sldId id="5203" r:id="rId38"/>
    <p:sldId id="5204" r:id="rId39"/>
    <p:sldId id="2147476727" r:id="rId40"/>
    <p:sldId id="2147476728" r:id="rId41"/>
    <p:sldId id="2147476729" r:id="rId42"/>
  </p:sldIdLst>
  <p:sldSz cx="12192000" cy="6858000"/>
  <p:notesSz cx="6858000" cy="9144000"/>
  <p:embeddedFontLst>
    <p:embeddedFont>
      <p:font typeface="Aptos Narrow" panose="020B0004020202020204" pitchFamily="34" charset="0"/>
      <p:regular r:id="rId45"/>
      <p:bold r:id="rId46"/>
      <p:italic r:id="rId47"/>
      <p:boldItalic r:id="rId48"/>
    </p:embeddedFont>
    <p:embeddedFont>
      <p:font typeface="Cambria" panose="02040503050406030204" pitchFamily="18" charset="0"/>
      <p:regular r:id="rId49"/>
      <p:bold r:id="rId50"/>
      <p:italic r:id="rId51"/>
      <p:boldItalic r:id="rId52"/>
    </p:embeddedFont>
    <p:embeddedFont>
      <p:font typeface="DIN Next LT Arabic" panose="020B0503020203050203" pitchFamily="34" charset="-78"/>
      <p:regular r:id="rId53"/>
    </p:embeddedFont>
    <p:embeddedFont>
      <p:font typeface="Sakkal Majalla" panose="02000000000000000000" pitchFamily="2" charset="-78"/>
      <p:regular r:id="rId54"/>
      <p:bold r:id="rId55"/>
    </p:embeddedFont>
    <p:embeddedFont>
      <p:font typeface="Tajawal" panose="00000500000000000000" pitchFamily="2" charset="-78"/>
      <p:regular r:id="rId56"/>
      <p:bold r:id="rId57"/>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وثيقة النموذج التشغيلي للبنية المؤسسية" id="{25F21764-0714-46C5-BF30-1F77E71FBBCD}">
          <p14:sldIdLst>
            <p14:sldId id="542"/>
            <p14:sldId id="576"/>
            <p14:sldId id="577"/>
            <p14:sldId id="578"/>
          </p14:sldIdLst>
        </p14:section>
        <p14:section name="المقدمة" id="{A060062B-9902-4DB3-AC62-D6F752DBB443}">
          <p14:sldIdLst>
            <p14:sldId id="2147476352"/>
            <p14:sldId id="634"/>
            <p14:sldId id="2146847216"/>
          </p14:sldIdLst>
        </p14:section>
        <p14:section name="تحليل فجوات البنية المؤسسية" id="{2B316642-EF97-4460-8810-ADEF618C7914}">
          <p14:sldIdLst>
            <p14:sldId id="2147476629"/>
            <p14:sldId id="2147476810"/>
            <p14:sldId id="780"/>
            <p14:sldId id="781"/>
            <p14:sldId id="783"/>
            <p14:sldId id="784"/>
            <p14:sldId id="786"/>
            <p14:sldId id="2147476618"/>
            <p14:sldId id="2147476619"/>
            <p14:sldId id="2147476620"/>
            <p14:sldId id="2147476811"/>
            <p14:sldId id="2147476621"/>
            <p14:sldId id="2147476622"/>
            <p14:sldId id="2147476623"/>
            <p14:sldId id="2147476624"/>
            <p14:sldId id="2147477415"/>
            <p14:sldId id="2147477416"/>
            <p14:sldId id="2147478507"/>
            <p14:sldId id="2147478509"/>
            <p14:sldId id="704"/>
            <p14:sldId id="2147476803"/>
            <p14:sldId id="2147476804"/>
            <p14:sldId id="2147476806"/>
            <p14:sldId id="2147476805"/>
            <p14:sldId id="2147478510"/>
            <p14:sldId id="5199"/>
            <p14:sldId id="5196"/>
            <p14:sldId id="5201"/>
            <p14:sldId id="5202"/>
            <p14:sldId id="5203"/>
            <p14:sldId id="5204"/>
            <p14:sldId id="2147476727"/>
            <p14:sldId id="2147476728"/>
            <p14:sldId id="2147476729"/>
          </p14:sldIdLst>
        </p14:section>
      </p14:sectionLst>
    </p:ext>
    <p:ext uri="{EFAFB233-063F-42B5-8137-9DF3F51BA10A}">
      <p15:sldGuideLst xmlns:p15="http://schemas.microsoft.com/office/powerpoint/2012/main"/>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Dana  Alghadhban" initials="DA" lastIdx="10" clrIdx="0">
    <p:extLst>
      <p:ext uri="{19B8F6BF-5375-455C-9EA6-DF929625EA0E}">
        <p15:presenceInfo xmlns:p15="http://schemas.microsoft.com/office/powerpoint/2012/main" userId="S-1-5-21-2411063874-488449627-3027057399-11734" providerId="AD"/>
      </p:ext>
    </p:extLst>
  </p:cmAuthor>
  <p:cmAuthor id="2" name="Ahmed Shawky" initials="A" lastIdx="2" clrIdx="1">
    <p:extLst>
      <p:ext uri="{19B8F6BF-5375-455C-9EA6-DF929625EA0E}">
        <p15:presenceInfo xmlns:p15="http://schemas.microsoft.com/office/powerpoint/2012/main" userId="Ahmed Shawky" providerId="None"/>
      </p:ext>
    </p:extLst>
  </p:cmAuthor>
  <p:cmAuthor id="3" name="Ahmed Shawky" initials="AS" lastIdx="18" clrIdx="2">
    <p:extLst>
      <p:ext uri="{19B8F6BF-5375-455C-9EA6-DF929625EA0E}">
        <p15:presenceInfo xmlns:p15="http://schemas.microsoft.com/office/powerpoint/2012/main" userId="S::a.shawky@rmg-sa.com::e8ca3da9-d268-4851-a55d-39b83f2b78e7"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4C3C8D"/>
    <a:srgbClr val="F2F2F2"/>
    <a:srgbClr val="FFBA2F"/>
    <a:srgbClr val="D952E0"/>
    <a:srgbClr val="FF5050"/>
    <a:srgbClr val="45EDE1"/>
    <a:srgbClr val="C525CE"/>
    <a:srgbClr val="FF0000"/>
    <a:srgbClr val="14C9BE"/>
    <a:srgbClr val="FFA8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D27102A9-8310-4765-A935-A1911B00CA55}" styleName="Light Style 1 - Accent 4">
    <a:wholeTbl>
      <a:tcTxStyle>
        <a:fontRef idx="minor">
          <a:scrgbClr r="0" g="0" b="0"/>
        </a:fontRef>
        <a:schemeClr val="tx1"/>
      </a:tcTxStyle>
      <a:tcStyle>
        <a:tcBdr>
          <a:left>
            <a:ln>
              <a:noFill/>
            </a:ln>
          </a:left>
          <a:right>
            <a:ln>
              <a:noFill/>
            </a:ln>
          </a:right>
          <a:top>
            <a:ln w="12700" cmpd="sng">
              <a:solidFill>
                <a:schemeClr val="accent4"/>
              </a:solidFill>
            </a:ln>
          </a:top>
          <a:bottom>
            <a:ln w="12700" cmpd="sng">
              <a:solidFill>
                <a:schemeClr val="accent4"/>
              </a:solidFill>
            </a:ln>
          </a:bottom>
          <a:insideH>
            <a:ln>
              <a:noFill/>
            </a:ln>
          </a:insideH>
          <a:insideV>
            <a:ln>
              <a:noFill/>
            </a:ln>
          </a:insideV>
        </a:tcBdr>
        <a:fill>
          <a:noFill/>
        </a:fill>
      </a:tcStyle>
    </a:wholeTbl>
    <a:band1H>
      <a:tcStyle>
        <a:tcBdr/>
        <a:fill>
          <a:solidFill>
            <a:schemeClr val="accent4">
              <a:alpha val="20000"/>
            </a:schemeClr>
          </a:solidFill>
        </a:fill>
      </a:tcStyle>
    </a:band1H>
    <a:band2H>
      <a:tcStyle>
        <a:tcBdr/>
      </a:tcStyle>
    </a:band2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12700" cmpd="sng">
              <a:solidFill>
                <a:schemeClr val="accent4"/>
              </a:solidFill>
            </a:ln>
          </a:top>
        </a:tcBdr>
        <a:fill>
          <a:noFill/>
        </a:fill>
      </a:tcStyle>
    </a:lastRow>
    <a:firstRow>
      <a:tcTxStyle b="on"/>
      <a:tcStyle>
        <a:tcBdr>
          <a:bottom>
            <a:ln w="12700" cmpd="sng">
              <a:solidFill>
                <a:schemeClr val="accent4"/>
              </a:solidFill>
            </a:ln>
          </a:bottom>
        </a:tcBdr>
        <a:fill>
          <a:no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81321" autoAdjust="0"/>
    <p:restoredTop sz="83630" autoAdjust="0"/>
  </p:normalViewPr>
  <p:slideViewPr>
    <p:cSldViewPr snapToGrid="0">
      <p:cViewPr varScale="1">
        <p:scale>
          <a:sx n="57" d="100"/>
          <a:sy n="57" d="100"/>
        </p:scale>
        <p:origin x="828" y="36"/>
      </p:cViewPr>
      <p:guideLst/>
    </p:cSldViewPr>
  </p:slideViewPr>
  <p:outlineViewPr>
    <p:cViewPr>
      <p:scale>
        <a:sx n="33" d="100"/>
        <a:sy n="33" d="100"/>
      </p:scale>
      <p:origin x="0" y="-2107"/>
    </p:cViewPr>
  </p:outlineViewPr>
  <p:notesTextViewPr>
    <p:cViewPr>
      <p:scale>
        <a:sx n="100" d="100"/>
        <a:sy n="100" d="100"/>
      </p:scale>
      <p:origin x="0" y="0"/>
    </p:cViewPr>
  </p:notesTextViewPr>
  <p:notesViewPr>
    <p:cSldViewPr snapToGrid="0" showGuides="1">
      <p:cViewPr varScale="1">
        <p:scale>
          <a:sx n="82" d="100"/>
          <a:sy n="82" d="100"/>
        </p:scale>
        <p:origin x="3156" y="90"/>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font" Target="fonts/font3.fntdata"/><Relationship Id="rId50" Type="http://schemas.openxmlformats.org/officeDocument/2006/relationships/font" Target="fonts/font6.fntdata"/><Relationship Id="rId55" Type="http://schemas.openxmlformats.org/officeDocument/2006/relationships/font" Target="fonts/font11.fntdata"/><Relationship Id="rId63" Type="http://schemas.microsoft.com/office/2016/11/relationships/changesInfo" Target="changesInfos/changesInfo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font" Target="fonts/font1.fntdata"/><Relationship Id="rId53" Type="http://schemas.openxmlformats.org/officeDocument/2006/relationships/font" Target="fonts/font9.fntdata"/><Relationship Id="rId58" Type="http://schemas.openxmlformats.org/officeDocument/2006/relationships/commentAuthors" Target="commentAuthors.xml"/><Relationship Id="rId5" Type="http://schemas.openxmlformats.org/officeDocument/2006/relationships/slide" Target="slides/slide4.xml"/><Relationship Id="rId61" Type="http://schemas.openxmlformats.org/officeDocument/2006/relationships/theme" Target="theme/theme1.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notesMaster" Target="notesMasters/notesMaster1.xml"/><Relationship Id="rId48" Type="http://schemas.openxmlformats.org/officeDocument/2006/relationships/font" Target="fonts/font4.fntdata"/><Relationship Id="rId56" Type="http://schemas.openxmlformats.org/officeDocument/2006/relationships/font" Target="fonts/font12.fntdata"/><Relationship Id="rId8" Type="http://schemas.openxmlformats.org/officeDocument/2006/relationships/slide" Target="slides/slide7.xml"/><Relationship Id="rId51" Type="http://schemas.openxmlformats.org/officeDocument/2006/relationships/font" Target="fonts/font7.fntdata"/><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font" Target="fonts/font2.fntdata"/><Relationship Id="rId59" Type="http://schemas.openxmlformats.org/officeDocument/2006/relationships/presProps" Target="presProp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font" Target="fonts/font10.fntdata"/><Relationship Id="rId62"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font" Target="fonts/font5.fntdata"/><Relationship Id="rId57" Type="http://schemas.openxmlformats.org/officeDocument/2006/relationships/font" Target="fonts/font13.fntdata"/><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handoutMaster" Target="handoutMasters/handoutMaster1.xml"/><Relationship Id="rId52" Type="http://schemas.openxmlformats.org/officeDocument/2006/relationships/font" Target="fonts/font8.fntdata"/><Relationship Id="rId6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ami Elkady" userId="1c0c0d98-285f-4e29-b85e-1751cc09e2e2" providerId="ADAL" clId="{F27A76C9-B088-4336-A6A0-38CF885274C2}"/>
    <pc:docChg chg="undo custSel modSld">
      <pc:chgData name="Sami Elkady" userId="1c0c0d98-285f-4e29-b85e-1751cc09e2e2" providerId="ADAL" clId="{F27A76C9-B088-4336-A6A0-38CF885274C2}" dt="2025-04-13T07:59:09.525" v="24" actId="20577"/>
      <pc:docMkLst>
        <pc:docMk/>
      </pc:docMkLst>
      <pc:sldChg chg="modSp mod">
        <pc:chgData name="Sami Elkady" userId="1c0c0d98-285f-4e29-b85e-1751cc09e2e2" providerId="ADAL" clId="{F27A76C9-B088-4336-A6A0-38CF885274C2}" dt="2025-04-13T07:57:27.838" v="16" actId="20577"/>
        <pc:sldMkLst>
          <pc:docMk/>
          <pc:sldMk cId="2428133689" sldId="542"/>
        </pc:sldMkLst>
        <pc:spChg chg="mod">
          <ac:chgData name="Sami Elkady" userId="1c0c0d98-285f-4e29-b85e-1751cc09e2e2" providerId="ADAL" clId="{F27A76C9-B088-4336-A6A0-38CF885274C2}" dt="2025-04-13T07:57:27.838" v="16" actId="20577"/>
          <ac:spMkLst>
            <pc:docMk/>
            <pc:sldMk cId="2428133689" sldId="542"/>
            <ac:spMk id="2" creationId="{00000000-0000-0000-0000-000000000000}"/>
          </ac:spMkLst>
        </pc:spChg>
      </pc:sldChg>
      <pc:sldChg chg="modSp mod">
        <pc:chgData name="Sami Elkady" userId="1c0c0d98-285f-4e29-b85e-1751cc09e2e2" providerId="ADAL" clId="{F27A76C9-B088-4336-A6A0-38CF885274C2}" dt="2025-04-13T07:59:09.525" v="24" actId="20577"/>
        <pc:sldMkLst>
          <pc:docMk/>
          <pc:sldMk cId="2854880085" sldId="577"/>
        </pc:sldMkLst>
        <pc:graphicFrameChg chg="modGraphic">
          <ac:chgData name="Sami Elkady" userId="1c0c0d98-285f-4e29-b85e-1751cc09e2e2" providerId="ADAL" clId="{F27A76C9-B088-4336-A6A0-38CF885274C2}" dt="2025-04-13T07:59:09.525" v="24" actId="20577"/>
          <ac:graphicFrameMkLst>
            <pc:docMk/>
            <pc:sldMk cId="2854880085" sldId="577"/>
            <ac:graphicFrameMk id="4" creationId="{6FA04D80-D8DF-52E7-5CB9-2E1E837D6047}"/>
          </ac:graphicFrameMkLst>
        </pc:graphicFrame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23F3CCF8-5C26-4AF6-B7BA-B28572CBB7B8}" type="datetimeFigureOut">
              <a:rPr lang="en-US" smtClean="0"/>
              <a:t>5/14/2025</a:t>
            </a:fld>
            <a:endParaRPr lang="en-US"/>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3212BC3B-B80E-4787-98A9-8276652C0984}" type="slidenum">
              <a:rPr lang="en-US" smtClean="0"/>
              <a:t>‹#›</a:t>
            </a:fld>
            <a:endParaRPr lang="en-US"/>
          </a:p>
        </p:txBody>
      </p:sp>
    </p:spTree>
    <p:extLst>
      <p:ext uri="{BB962C8B-B14F-4D97-AF65-F5344CB8AC3E}">
        <p14:creationId xmlns:p14="http://schemas.microsoft.com/office/powerpoint/2010/main" val="291271176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4A18F3E-C117-429A-B1A6-546895907122}" type="datetimeFigureOut">
              <a:rPr lang="en-US" smtClean="0"/>
              <a:t>5/14/2025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97FDBCA-D751-4A03-819B-45597328ED86}" type="slidenum">
              <a:rPr lang="en-US" smtClean="0"/>
              <a:t>‹#›</a:t>
            </a:fld>
            <a:endParaRPr lang="en-US"/>
          </a:p>
        </p:txBody>
      </p:sp>
    </p:spTree>
    <p:extLst>
      <p:ext uri="{BB962C8B-B14F-4D97-AF65-F5344CB8AC3E}">
        <p14:creationId xmlns:p14="http://schemas.microsoft.com/office/powerpoint/2010/main" val="387224392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85750" indent="-285750" algn="r" rtl="1">
              <a:buFont typeface="Arial" panose="020B0604020202020204" pitchFamily="34" charset="0"/>
              <a:buChar char="•"/>
            </a:pPr>
            <a:endParaRPr lang="ar-EG" dirty="0"/>
          </a:p>
        </p:txBody>
      </p:sp>
      <p:sp>
        <p:nvSpPr>
          <p:cNvPr id="4" name="Slide Number Placeholder 3"/>
          <p:cNvSpPr>
            <a:spLocks noGrp="1"/>
          </p:cNvSpPr>
          <p:nvPr>
            <p:ph type="sldNum" sz="quarter" idx="5"/>
          </p:nvPr>
        </p:nvSpPr>
        <p:spPr/>
        <p:txBody>
          <a:bodyPr/>
          <a:lstStyle/>
          <a:p>
            <a:fld id="{B97FDBCA-D751-4A03-819B-45597328ED86}" type="slidenum">
              <a:rPr lang="en-US" smtClean="0"/>
              <a:t>1</a:t>
            </a:fld>
            <a:endParaRPr lang="en-US"/>
          </a:p>
        </p:txBody>
      </p:sp>
    </p:spTree>
    <p:extLst>
      <p:ext uri="{BB962C8B-B14F-4D97-AF65-F5344CB8AC3E}">
        <p14:creationId xmlns:p14="http://schemas.microsoft.com/office/powerpoint/2010/main" val="380032695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r" rtl="1"/>
            <a:endParaRPr lang="en-US" dirty="0"/>
          </a:p>
        </p:txBody>
      </p:sp>
      <p:sp>
        <p:nvSpPr>
          <p:cNvPr id="4" name="Slide Number Placeholder 3"/>
          <p:cNvSpPr>
            <a:spLocks noGrp="1"/>
          </p:cNvSpPr>
          <p:nvPr>
            <p:ph type="sldNum" sz="quarter" idx="5"/>
          </p:nvPr>
        </p:nvSpPr>
        <p:spPr/>
        <p:txBody>
          <a:bodyPr/>
          <a:lstStyle/>
          <a:p>
            <a:fld id="{B97FDBCA-D751-4A03-819B-45597328ED86}" type="slidenum">
              <a:rPr lang="en-US" smtClean="0"/>
              <a:t>2</a:t>
            </a:fld>
            <a:endParaRPr lang="en-US"/>
          </a:p>
        </p:txBody>
      </p:sp>
    </p:spTree>
    <p:extLst>
      <p:ext uri="{BB962C8B-B14F-4D97-AF65-F5344CB8AC3E}">
        <p14:creationId xmlns:p14="http://schemas.microsoft.com/office/powerpoint/2010/main" val="96264621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r" rtl="1"/>
            <a:endParaRPr lang="en-US" dirty="0"/>
          </a:p>
        </p:txBody>
      </p:sp>
      <p:sp>
        <p:nvSpPr>
          <p:cNvPr id="4" name="Slide Number Placeholder 3"/>
          <p:cNvSpPr>
            <a:spLocks noGrp="1"/>
          </p:cNvSpPr>
          <p:nvPr>
            <p:ph type="sldNum" sz="quarter" idx="5"/>
          </p:nvPr>
        </p:nvSpPr>
        <p:spPr/>
        <p:txBody>
          <a:bodyPr/>
          <a:lstStyle/>
          <a:p>
            <a:fld id="{B97FDBCA-D751-4A03-819B-45597328ED86}" type="slidenum">
              <a:rPr lang="en-US" smtClean="0"/>
              <a:t>3</a:t>
            </a:fld>
            <a:endParaRPr lang="en-US"/>
          </a:p>
        </p:txBody>
      </p:sp>
    </p:spTree>
    <p:extLst>
      <p:ext uri="{BB962C8B-B14F-4D97-AF65-F5344CB8AC3E}">
        <p14:creationId xmlns:p14="http://schemas.microsoft.com/office/powerpoint/2010/main" val="350616694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r" rtl="1"/>
            <a:endParaRPr lang="en-US" dirty="0"/>
          </a:p>
        </p:txBody>
      </p:sp>
      <p:sp>
        <p:nvSpPr>
          <p:cNvPr id="4" name="Slide Number Placeholder 3"/>
          <p:cNvSpPr>
            <a:spLocks noGrp="1"/>
          </p:cNvSpPr>
          <p:nvPr>
            <p:ph type="sldNum" sz="quarter" idx="5"/>
          </p:nvPr>
        </p:nvSpPr>
        <p:spPr/>
        <p:txBody>
          <a:bodyPr/>
          <a:lstStyle/>
          <a:p>
            <a:fld id="{B97FDBCA-D751-4A03-819B-45597328ED86}" type="slidenum">
              <a:rPr lang="en-US" smtClean="0"/>
              <a:t>4</a:t>
            </a:fld>
            <a:endParaRPr lang="en-US"/>
          </a:p>
        </p:txBody>
      </p:sp>
    </p:spTree>
    <p:extLst>
      <p:ext uri="{BB962C8B-B14F-4D97-AF65-F5344CB8AC3E}">
        <p14:creationId xmlns:p14="http://schemas.microsoft.com/office/powerpoint/2010/main" val="202290323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r" rtl="1"/>
            <a:endParaRPr lang="en-US" dirty="0"/>
          </a:p>
        </p:txBody>
      </p:sp>
      <p:sp>
        <p:nvSpPr>
          <p:cNvPr id="4" name="Slide Number Placeholder 3"/>
          <p:cNvSpPr>
            <a:spLocks noGrp="1"/>
          </p:cNvSpPr>
          <p:nvPr>
            <p:ph type="sldNum" sz="quarter" idx="5"/>
          </p:nvPr>
        </p:nvSpPr>
        <p:spPr/>
        <p:txBody>
          <a:bodyPr/>
          <a:lstStyle/>
          <a:p>
            <a:fld id="{B97FDBCA-D751-4A03-819B-45597328ED86}" type="slidenum">
              <a:rPr lang="en-US" smtClean="0"/>
              <a:t>6</a:t>
            </a:fld>
            <a:endParaRPr lang="en-US"/>
          </a:p>
        </p:txBody>
      </p:sp>
    </p:spTree>
    <p:extLst>
      <p:ext uri="{BB962C8B-B14F-4D97-AF65-F5344CB8AC3E}">
        <p14:creationId xmlns:p14="http://schemas.microsoft.com/office/powerpoint/2010/main" val="337920907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97FDBCA-D751-4A03-819B-45597328ED86}" type="slidenum">
              <a:rPr lang="en-US" smtClean="0"/>
              <a:t>29</a:t>
            </a:fld>
            <a:endParaRPr lang="en-US"/>
          </a:p>
        </p:txBody>
      </p:sp>
    </p:spTree>
    <p:extLst>
      <p:ext uri="{BB962C8B-B14F-4D97-AF65-F5344CB8AC3E}">
        <p14:creationId xmlns:p14="http://schemas.microsoft.com/office/powerpoint/2010/main" val="58669678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BFEA5E-CF66-AF65-BEEF-DED6FFE05EE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BE654B2-C252-494E-C0A3-13209527F82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B92B923-FC4D-9617-C785-46076E9B767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9CAE92E-A5D2-B4BB-8F0D-5C883B08A75C}"/>
              </a:ext>
            </a:extLst>
          </p:cNvPr>
          <p:cNvSpPr>
            <a:spLocks noGrp="1"/>
          </p:cNvSpPr>
          <p:nvPr>
            <p:ph type="sldNum" sz="quarter" idx="5"/>
          </p:nvPr>
        </p:nvSpPr>
        <p:spPr/>
        <p:txBody>
          <a:bodyPr/>
          <a:lstStyle/>
          <a:p>
            <a:fld id="{B97FDBCA-D751-4A03-819B-45597328ED86}" type="slidenum">
              <a:rPr lang="en-US" smtClean="0"/>
              <a:t>30</a:t>
            </a:fld>
            <a:endParaRPr lang="en-US"/>
          </a:p>
        </p:txBody>
      </p:sp>
    </p:spTree>
    <p:extLst>
      <p:ext uri="{BB962C8B-B14F-4D97-AF65-F5344CB8AC3E}">
        <p14:creationId xmlns:p14="http://schemas.microsoft.com/office/powerpoint/2010/main" val="141526884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863896-830C-4140-7142-370A4562B72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2EA0828-FF39-0964-3540-0A10BE5FE86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57F1239-4BF6-CC97-E4E3-F8E3813E227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C9ADE93-F713-14EE-F927-A972C981002B}"/>
              </a:ext>
            </a:extLst>
          </p:cNvPr>
          <p:cNvSpPr>
            <a:spLocks noGrp="1"/>
          </p:cNvSpPr>
          <p:nvPr>
            <p:ph type="sldNum" sz="quarter" idx="5"/>
          </p:nvPr>
        </p:nvSpPr>
        <p:spPr/>
        <p:txBody>
          <a:bodyPr/>
          <a:lstStyle/>
          <a:p>
            <a:fld id="{B97FDBCA-D751-4A03-819B-45597328ED86}" type="slidenum">
              <a:rPr lang="en-US" smtClean="0"/>
              <a:t>31</a:t>
            </a:fld>
            <a:endParaRPr lang="en-US"/>
          </a:p>
        </p:txBody>
      </p:sp>
    </p:spTree>
    <p:extLst>
      <p:ext uri="{BB962C8B-B14F-4D97-AF65-F5344CB8AC3E}">
        <p14:creationId xmlns:p14="http://schemas.microsoft.com/office/powerpoint/2010/main" val="2377390539"/>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showMasterPhAnim="0" preserve="1" userDrawn="1">
  <p:cSld name="Title Slide">
    <p:spTree>
      <p:nvGrpSpPr>
        <p:cNvPr id="1" name=""/>
        <p:cNvGrpSpPr/>
        <p:nvPr/>
      </p:nvGrpSpPr>
      <p:grpSpPr>
        <a:xfrm>
          <a:off x="0" y="0"/>
          <a:ext cx="0" cy="0"/>
          <a:chOff x="0" y="0"/>
          <a:chExt cx="0" cy="0"/>
        </a:xfrm>
      </p:grpSpPr>
      <p:pic>
        <p:nvPicPr>
          <p:cNvPr id="56" name="Picture 55" descr="A purple and white background&#10;&#10;Description automatically generated">
            <a:extLst>
              <a:ext uri="{FF2B5EF4-FFF2-40B4-BE49-F238E27FC236}">
                <a16:creationId xmlns:a16="http://schemas.microsoft.com/office/drawing/2014/main" id="{1008D6FD-44B1-6442-D7E1-6FD1426D8DDB}"/>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51" name="Title 4">
            <a:extLst>
              <a:ext uri="{FF2B5EF4-FFF2-40B4-BE49-F238E27FC236}">
                <a16:creationId xmlns:a16="http://schemas.microsoft.com/office/drawing/2014/main" id="{C1AB8D8F-867E-9D96-D014-2635FC5416F7}"/>
              </a:ext>
            </a:extLst>
          </p:cNvPr>
          <p:cNvSpPr>
            <a:spLocks noGrp="1"/>
          </p:cNvSpPr>
          <p:nvPr>
            <p:ph type="title" hasCustomPrompt="1"/>
          </p:nvPr>
        </p:nvSpPr>
        <p:spPr>
          <a:xfrm>
            <a:off x="7726527" y="3749232"/>
            <a:ext cx="3855873" cy="1204833"/>
          </a:xfrm>
        </p:spPr>
        <p:txBody>
          <a:bodyPr anchor="b" anchorCtr="0"/>
          <a:lstStyle>
            <a:lvl1pPr>
              <a:lnSpc>
                <a:spcPct val="80000"/>
              </a:lnSpc>
              <a:defRPr sz="2800" baseline="0">
                <a:solidFill>
                  <a:schemeClr val="accent3"/>
                </a:solidFill>
                <a:latin typeface="DIN Next LT Arabic" panose="020B0503020203050203" pitchFamily="34" charset="-78"/>
                <a:ea typeface="DIN Next LT Arabic" panose="020B0503020203050203" pitchFamily="34" charset="-78"/>
                <a:cs typeface="DIN Next LT Arabic" panose="020B0503020203050203" pitchFamily="34" charset="-78"/>
              </a:defRPr>
            </a:lvl1pPr>
          </a:lstStyle>
          <a:p>
            <a:r>
              <a:rPr lang="ar-EG" dirty="0"/>
              <a:t>استبدل هذا العنوان بعنوان المستند المراد</a:t>
            </a:r>
          </a:p>
        </p:txBody>
      </p:sp>
      <p:sp>
        <p:nvSpPr>
          <p:cNvPr id="52" name="Subtitle 2">
            <a:extLst>
              <a:ext uri="{FF2B5EF4-FFF2-40B4-BE49-F238E27FC236}">
                <a16:creationId xmlns:a16="http://schemas.microsoft.com/office/drawing/2014/main" id="{83890CF7-C10F-BB3C-914C-AF80ABF44952}"/>
              </a:ext>
            </a:extLst>
          </p:cNvPr>
          <p:cNvSpPr>
            <a:spLocks noGrp="1"/>
          </p:cNvSpPr>
          <p:nvPr>
            <p:ph type="subTitle" idx="1" hasCustomPrompt="1"/>
          </p:nvPr>
        </p:nvSpPr>
        <p:spPr>
          <a:xfrm>
            <a:off x="7726527" y="5000247"/>
            <a:ext cx="3855873" cy="369332"/>
          </a:xfrm>
        </p:spPr>
        <p:txBody>
          <a:bodyPr wrap="square">
            <a:spAutoFit/>
          </a:bodyPr>
          <a:lstStyle>
            <a:lvl1pPr algn="r">
              <a:defRPr lang="en-US" sz="1800" baseline="0">
                <a:solidFill>
                  <a:schemeClr val="bg1"/>
                </a:solidFill>
                <a:latin typeface="DIN Next LT Arabic" panose="020B0503020203050203" pitchFamily="34" charset="-78"/>
                <a:ea typeface="DIN Next LT Arabic" panose="020B0503020203050203" pitchFamily="34" charset="-78"/>
                <a:cs typeface="DIN Next LT Arabic" panose="020B0503020203050203" pitchFamily="34" charset="-78"/>
              </a:defRPr>
            </a:lvl1pPr>
          </a:lstStyle>
          <a:p>
            <a:pPr lvl="0"/>
            <a:r>
              <a:rPr lang="ar-EG" dirty="0"/>
              <a:t>عنوان فرعي</a:t>
            </a:r>
          </a:p>
        </p:txBody>
      </p:sp>
    </p:spTree>
    <p:extLst>
      <p:ext uri="{BB962C8B-B14F-4D97-AF65-F5344CB8AC3E}">
        <p14:creationId xmlns:p14="http://schemas.microsoft.com/office/powerpoint/2010/main" val="826968348"/>
      </p:ext>
    </p:extLst>
  </p:cSld>
  <p:clrMapOvr>
    <a:masterClrMapping/>
  </p:clrMapOvr>
  <mc:AlternateContent xmlns:mc="http://schemas.openxmlformats.org/markup-compatibility/2006" xmlns:p14="http://schemas.microsoft.com/office/powerpoint/2010/main">
    <mc:Choice Requires="p14">
      <p:transition spd="slow" p14:dur="1750">
        <p14:reveal thruBlk="1" dir="r"/>
      </p:transition>
    </mc:Choice>
    <mc:Fallback xmlns="">
      <p:transition spd="slow">
        <p:fade/>
      </p:transition>
    </mc:Fallback>
  </mc:AlternateContent>
  <p:extLst>
    <p:ext uri="{DCECCB84-F9BA-43D5-87BE-67443E8EF086}">
      <p15:sldGuideLst xmlns:p15="http://schemas.microsoft.com/office/powerpoint/2012/main">
        <p15:guide id="1" orient="horz" pos="3288" userDrawn="1">
          <p15:clr>
            <a:srgbClr val="FBAE40"/>
          </p15:clr>
        </p15:guide>
        <p15:guide id="2" pos="3336" userDrawn="1">
          <p15:clr>
            <a:srgbClr val="FBAE40"/>
          </p15:clr>
        </p15:guide>
        <p15:guide id="3" pos="708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showMasterPhAnim="0" preserve="1" userDrawn="1">
  <p:cSld name="Agenda (big)">
    <p:spTree>
      <p:nvGrpSpPr>
        <p:cNvPr id="1" name=""/>
        <p:cNvGrpSpPr/>
        <p:nvPr/>
      </p:nvGrpSpPr>
      <p:grpSpPr>
        <a:xfrm>
          <a:off x="0" y="0"/>
          <a:ext cx="0" cy="0"/>
          <a:chOff x="0" y="0"/>
          <a:chExt cx="0" cy="0"/>
        </a:xfrm>
      </p:grpSpPr>
      <p:sp>
        <p:nvSpPr>
          <p:cNvPr id="53" name="Rectangle 52"/>
          <p:cNvSpPr/>
          <p:nvPr userDrawn="1"/>
        </p:nvSpPr>
        <p:spPr>
          <a:xfrm>
            <a:off x="9003322" y="0"/>
            <a:ext cx="3188677" cy="6858000"/>
          </a:xfrm>
          <a:prstGeom prst="rect">
            <a:avLst/>
          </a:prstGeom>
          <a:gradFill>
            <a:gsLst>
              <a:gs pos="0">
                <a:schemeClr val="accent2"/>
              </a:gs>
              <a:gs pos="46000">
                <a:schemeClr val="accent1"/>
              </a:gs>
            </a:gsLst>
            <a:lin ang="12000000" scaled="0"/>
          </a:gradFill>
          <a:ln w="0">
            <a:noFill/>
            <a:prstDash val="solid"/>
            <a:round/>
            <a:headEnd/>
            <a:tailEnd/>
          </a:ln>
        </p:spPr>
        <p:txBody>
          <a:bodyPr vert="horz" wrap="square" lIns="91440" tIns="45720" rIns="91440" bIns="45720" numCol="1" anchor="t" anchorCtr="0" compatLnSpc="1">
            <a:prstTxWarp prst="textNoShape">
              <a:avLst/>
            </a:prstTxWarp>
            <a:noAutofit/>
          </a:bodyPr>
          <a:lstStyle/>
          <a:p>
            <a:pPr lvl="0"/>
            <a:endParaRPr lang="en-US">
              <a:solidFill>
                <a:schemeClr val="tx1"/>
              </a:solidFill>
            </a:endParaRPr>
          </a:p>
        </p:txBody>
      </p:sp>
      <p:sp>
        <p:nvSpPr>
          <p:cNvPr id="2" name="Title 1"/>
          <p:cNvSpPr>
            <a:spLocks noGrp="1"/>
          </p:cNvSpPr>
          <p:nvPr>
            <p:ph type="title" hasCustomPrompt="1"/>
          </p:nvPr>
        </p:nvSpPr>
        <p:spPr>
          <a:xfrm>
            <a:off x="9422421" y="923909"/>
            <a:ext cx="2350478" cy="5010182"/>
          </a:xfrm>
        </p:spPr>
        <p:txBody>
          <a:bodyPr vert="horz" lIns="91440" tIns="45720" rIns="91440" bIns="45720" rtlCol="0" anchor="ctr" anchorCtr="0">
            <a:normAutofit/>
          </a:bodyPr>
          <a:lstStyle>
            <a:lvl1pPr>
              <a:defRPr lang="en-US" dirty="0">
                <a:ln>
                  <a:noFill/>
                </a:ln>
                <a:solidFill>
                  <a:schemeClr val="bg1"/>
                </a:solidFill>
              </a:defRPr>
            </a:lvl1pPr>
          </a:lstStyle>
          <a:p>
            <a:pPr marL="0" lvl="0"/>
            <a:r>
              <a:rPr lang="ar-EG" dirty="0"/>
              <a:t>جدول المحتويات</a:t>
            </a:r>
            <a:endParaRPr lang="en-US" dirty="0"/>
          </a:p>
        </p:txBody>
      </p:sp>
      <p:sp>
        <p:nvSpPr>
          <p:cNvPr id="3" name="Date Placeholder 2"/>
          <p:cNvSpPr>
            <a:spLocks noGrp="1"/>
          </p:cNvSpPr>
          <p:nvPr>
            <p:ph type="dt" sz="half" idx="10"/>
          </p:nvPr>
        </p:nvSpPr>
        <p:spPr>
          <a:xfrm>
            <a:off x="1126155" y="6372408"/>
            <a:ext cx="1875631" cy="365125"/>
          </a:xfrm>
          <a:prstGeom prst="rect">
            <a:avLst/>
          </a:prstGeom>
        </p:spPr>
        <p:txBody>
          <a:bodyPr/>
          <a:lstStyle>
            <a:lvl1pPr algn="r" rtl="1">
              <a:defRPr/>
            </a:lvl1pPr>
          </a:lstStyle>
          <a:p>
            <a:fld id="{D07F32C4-027C-41E7-9CB9-C0506AA6389A}" type="datetime1">
              <a:rPr lang="en-US" smtClean="0"/>
              <a:pPr/>
              <a:t>5/14/2025</a:t>
            </a:fld>
            <a:endParaRPr lang="en-US"/>
          </a:p>
        </p:txBody>
      </p:sp>
      <p:sp>
        <p:nvSpPr>
          <p:cNvPr id="4" name="Footer Placeholder 3"/>
          <p:cNvSpPr>
            <a:spLocks noGrp="1"/>
          </p:cNvSpPr>
          <p:nvPr>
            <p:ph type="ftr" sz="quarter" idx="11"/>
          </p:nvPr>
        </p:nvSpPr>
        <p:spPr>
          <a:xfrm>
            <a:off x="4389600" y="6367630"/>
            <a:ext cx="3691931" cy="365125"/>
          </a:xfrm>
          <a:prstGeom prst="rect">
            <a:avLst/>
          </a:prstGeom>
        </p:spPr>
        <p:txBody>
          <a:bodyPr/>
          <a:lstStyle>
            <a:lvl1pPr rtl="1">
              <a:defRPr/>
            </a:lvl1pPr>
          </a:lstStyle>
          <a:p>
            <a:endParaRPr lang="en-US" dirty="0"/>
          </a:p>
        </p:txBody>
      </p:sp>
      <p:sp>
        <p:nvSpPr>
          <p:cNvPr id="16" name="Text Placeholder 11"/>
          <p:cNvSpPr>
            <a:spLocks noGrp="1"/>
          </p:cNvSpPr>
          <p:nvPr>
            <p:ph type="body" sz="quarter" idx="23" hasCustomPrompt="1"/>
          </p:nvPr>
        </p:nvSpPr>
        <p:spPr>
          <a:xfrm>
            <a:off x="4664387" y="2757873"/>
            <a:ext cx="2754247" cy="228600"/>
          </a:xfrm>
        </p:spPr>
        <p:txBody>
          <a:bodyPr lIns="0" tIns="0" rIns="0" bIns="0">
            <a:noAutofit/>
          </a:bodyPr>
          <a:lstStyle>
            <a:lvl1pPr marL="0" indent="0" algn="r" rtl="1">
              <a:buNone/>
              <a:defRPr sz="1800" b="1">
                <a:solidFill>
                  <a:schemeClr val="accent2">
                    <a:lumMod val="75000"/>
                  </a:schemeClr>
                </a:solidFill>
              </a:defRPr>
            </a:lvl1pPr>
          </a:lstStyle>
          <a:p>
            <a:pPr lvl="0"/>
            <a:r>
              <a:rPr lang="ar-EG" dirty="0"/>
              <a:t>العنوان</a:t>
            </a:r>
            <a:endParaRPr lang="en-US" dirty="0"/>
          </a:p>
        </p:txBody>
      </p:sp>
      <p:sp>
        <p:nvSpPr>
          <p:cNvPr id="17" name="Text Placeholder 11"/>
          <p:cNvSpPr>
            <a:spLocks noGrp="1"/>
          </p:cNvSpPr>
          <p:nvPr>
            <p:ph type="body" sz="quarter" idx="24" hasCustomPrompt="1"/>
          </p:nvPr>
        </p:nvSpPr>
        <p:spPr>
          <a:xfrm>
            <a:off x="4661165" y="3012507"/>
            <a:ext cx="2766892" cy="270175"/>
          </a:xfrm>
        </p:spPr>
        <p:txBody>
          <a:bodyPr lIns="0" tIns="0" rIns="0" bIns="0">
            <a:noAutofit/>
          </a:bodyPr>
          <a:lstStyle>
            <a:lvl1pPr marL="0" marR="0" indent="0" algn="r" defTabSz="914400" rtl="1" eaLnBrk="1" fontAlgn="auto" latinLnBrk="0" hangingPunct="1">
              <a:lnSpc>
                <a:spcPct val="90000"/>
              </a:lnSpc>
              <a:spcBef>
                <a:spcPts val="1000"/>
              </a:spcBef>
              <a:spcAft>
                <a:spcPts val="0"/>
              </a:spcAft>
              <a:buClrTx/>
              <a:buSzTx/>
              <a:buFont typeface="Arial" panose="020B0604020202020204" pitchFamily="34" charset="0"/>
              <a:buNone/>
              <a:tabLst/>
              <a:defRPr sz="1600" b="0" baseline="0">
                <a:solidFill>
                  <a:schemeClr val="tx1">
                    <a:lumMod val="50000"/>
                    <a:lumOff val="50000"/>
                  </a:schemeClr>
                </a:solidFill>
              </a:defRPr>
            </a:lvl1pPr>
          </a:lstStyle>
          <a:p>
            <a:pPr lvl="0"/>
            <a:r>
              <a:rPr lang="ar-EG" dirty="0"/>
              <a:t>تعديل النص</a:t>
            </a:r>
            <a:endParaRPr lang="en-US" dirty="0"/>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lang="en-US" dirty="0"/>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lang="en-US" dirty="0"/>
          </a:p>
          <a:p>
            <a:pPr lvl="0"/>
            <a:endParaRPr lang="en-US" dirty="0"/>
          </a:p>
        </p:txBody>
      </p:sp>
      <p:sp>
        <p:nvSpPr>
          <p:cNvPr id="50" name="Text Placeholder 6"/>
          <p:cNvSpPr>
            <a:spLocks noGrp="1"/>
          </p:cNvSpPr>
          <p:nvPr>
            <p:ph type="body" sz="quarter" idx="57" hasCustomPrompt="1"/>
          </p:nvPr>
        </p:nvSpPr>
        <p:spPr>
          <a:xfrm>
            <a:off x="7715771" y="2672766"/>
            <a:ext cx="365760" cy="365760"/>
          </a:xfrm>
          <a:prstGeom prst="rect">
            <a:avLst/>
          </a:prstGeom>
          <a:solidFill>
            <a:schemeClr val="accent2"/>
          </a:solidFill>
          <a:ln w="15875">
            <a:noFill/>
          </a:ln>
        </p:spPr>
        <p:txBody>
          <a:bodyPr wrap="square" lIns="0" tIns="64008" rIns="0" bIns="0" anchor="ctr" anchorCtr="0">
            <a:noAutofit/>
          </a:bodyPr>
          <a:lstStyle>
            <a:lvl1pPr marL="0" indent="0" algn="ctr" rtl="1">
              <a:lnSpc>
                <a:spcPct val="100000"/>
              </a:lnSpc>
              <a:spcBef>
                <a:spcPts val="0"/>
              </a:spcBef>
              <a:buNone/>
              <a:defRPr sz="2000" b="1" kern="0" baseline="0">
                <a:solidFill>
                  <a:schemeClr val="bg1"/>
                </a:solidFill>
              </a:defRPr>
            </a:lvl1pPr>
          </a:lstStyle>
          <a:p>
            <a:pPr lvl="0"/>
            <a:r>
              <a:rPr lang="en-US" dirty="0"/>
              <a:t>#</a:t>
            </a:r>
          </a:p>
        </p:txBody>
      </p:sp>
      <p:sp>
        <p:nvSpPr>
          <p:cNvPr id="39" name="Text Placeholder 11"/>
          <p:cNvSpPr>
            <a:spLocks noGrp="1"/>
          </p:cNvSpPr>
          <p:nvPr>
            <p:ph type="body" sz="quarter" idx="58" hasCustomPrompt="1"/>
          </p:nvPr>
        </p:nvSpPr>
        <p:spPr>
          <a:xfrm>
            <a:off x="4664387" y="3531718"/>
            <a:ext cx="2754247" cy="228600"/>
          </a:xfrm>
        </p:spPr>
        <p:txBody>
          <a:bodyPr lIns="0" tIns="0" rIns="0" bIns="0">
            <a:noAutofit/>
          </a:bodyPr>
          <a:lstStyle>
            <a:lvl1pPr marL="0" indent="0" algn="r" rtl="1">
              <a:buNone/>
              <a:defRPr sz="1800" b="1">
                <a:solidFill>
                  <a:schemeClr val="accent1"/>
                </a:solidFill>
              </a:defRPr>
            </a:lvl1pPr>
          </a:lstStyle>
          <a:p>
            <a:pPr lvl="0"/>
            <a:r>
              <a:rPr lang="ar-EG" dirty="0"/>
              <a:t>العنوان</a:t>
            </a:r>
            <a:endParaRPr lang="en-US" dirty="0"/>
          </a:p>
        </p:txBody>
      </p:sp>
      <p:sp>
        <p:nvSpPr>
          <p:cNvPr id="40" name="Text Placeholder 11"/>
          <p:cNvSpPr>
            <a:spLocks noGrp="1"/>
          </p:cNvSpPr>
          <p:nvPr>
            <p:ph type="body" sz="quarter" idx="59" hasCustomPrompt="1"/>
          </p:nvPr>
        </p:nvSpPr>
        <p:spPr>
          <a:xfrm>
            <a:off x="4661165" y="3786352"/>
            <a:ext cx="2766892" cy="270175"/>
          </a:xfrm>
        </p:spPr>
        <p:txBody>
          <a:bodyPr lIns="0" tIns="0" rIns="0" bIns="0">
            <a:noAutofit/>
          </a:bodyPr>
          <a:lstStyle>
            <a:lvl1pPr marL="0" marR="0" indent="0" algn="r" defTabSz="914400" rtl="1" eaLnBrk="1" fontAlgn="auto" latinLnBrk="0" hangingPunct="1">
              <a:lnSpc>
                <a:spcPct val="90000"/>
              </a:lnSpc>
              <a:spcBef>
                <a:spcPts val="1000"/>
              </a:spcBef>
              <a:spcAft>
                <a:spcPts val="0"/>
              </a:spcAft>
              <a:buClrTx/>
              <a:buSzTx/>
              <a:buFont typeface="Arial" panose="020B0604020202020204" pitchFamily="34" charset="0"/>
              <a:buNone/>
              <a:tabLst/>
              <a:defRPr sz="1600" b="0" baseline="0">
                <a:solidFill>
                  <a:schemeClr val="tx1">
                    <a:lumMod val="50000"/>
                    <a:lumOff val="50000"/>
                  </a:schemeClr>
                </a:solidFill>
              </a:defRPr>
            </a:lvl1pPr>
          </a:lstStyle>
          <a:p>
            <a:pPr lvl="0"/>
            <a:r>
              <a:rPr lang="ar-EG" dirty="0"/>
              <a:t>تعديل النص</a:t>
            </a:r>
            <a:endParaRPr lang="en-US" dirty="0"/>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lang="en-US" dirty="0"/>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lang="en-US" dirty="0"/>
          </a:p>
          <a:p>
            <a:pPr lvl="0"/>
            <a:endParaRPr lang="en-US" dirty="0"/>
          </a:p>
        </p:txBody>
      </p:sp>
      <p:sp>
        <p:nvSpPr>
          <p:cNvPr id="41" name="Text Placeholder 6"/>
          <p:cNvSpPr>
            <a:spLocks noGrp="1"/>
          </p:cNvSpPr>
          <p:nvPr>
            <p:ph type="body" sz="quarter" idx="60" hasCustomPrompt="1"/>
          </p:nvPr>
        </p:nvSpPr>
        <p:spPr>
          <a:xfrm>
            <a:off x="7715771" y="3446611"/>
            <a:ext cx="365760" cy="365760"/>
          </a:xfrm>
          <a:prstGeom prst="rect">
            <a:avLst/>
          </a:prstGeom>
          <a:solidFill>
            <a:schemeClr val="accent1"/>
          </a:solidFill>
          <a:ln w="15875">
            <a:noFill/>
          </a:ln>
        </p:spPr>
        <p:txBody>
          <a:bodyPr wrap="square" lIns="0" tIns="64008" rIns="0" bIns="0" anchor="ctr" anchorCtr="0">
            <a:noAutofit/>
          </a:bodyPr>
          <a:lstStyle>
            <a:lvl1pPr marL="0" indent="0" algn="ctr" rtl="1">
              <a:lnSpc>
                <a:spcPct val="100000"/>
              </a:lnSpc>
              <a:spcBef>
                <a:spcPts val="0"/>
              </a:spcBef>
              <a:buNone/>
              <a:defRPr sz="2000" b="1" kern="0" baseline="0">
                <a:solidFill>
                  <a:schemeClr val="bg1"/>
                </a:solidFill>
              </a:defRPr>
            </a:lvl1pPr>
          </a:lstStyle>
          <a:p>
            <a:pPr lvl="0"/>
            <a:r>
              <a:rPr lang="en-US" dirty="0"/>
              <a:t>#</a:t>
            </a:r>
          </a:p>
        </p:txBody>
      </p:sp>
      <p:sp>
        <p:nvSpPr>
          <p:cNvPr id="42" name="Text Placeholder 11"/>
          <p:cNvSpPr>
            <a:spLocks noGrp="1"/>
          </p:cNvSpPr>
          <p:nvPr>
            <p:ph type="body" sz="quarter" idx="61" hasCustomPrompt="1"/>
          </p:nvPr>
        </p:nvSpPr>
        <p:spPr>
          <a:xfrm>
            <a:off x="4664387" y="4305563"/>
            <a:ext cx="2754247" cy="228600"/>
          </a:xfrm>
        </p:spPr>
        <p:txBody>
          <a:bodyPr lIns="0" tIns="0" rIns="0" bIns="0">
            <a:noAutofit/>
          </a:bodyPr>
          <a:lstStyle>
            <a:lvl1pPr marL="0" indent="0" algn="r" rtl="1">
              <a:buNone/>
              <a:defRPr sz="1800" b="1">
                <a:solidFill>
                  <a:schemeClr val="accent2">
                    <a:lumMod val="75000"/>
                  </a:schemeClr>
                </a:solidFill>
              </a:defRPr>
            </a:lvl1pPr>
          </a:lstStyle>
          <a:p>
            <a:pPr lvl="0"/>
            <a:r>
              <a:rPr lang="ar-EG" dirty="0"/>
              <a:t>العنوان</a:t>
            </a:r>
            <a:endParaRPr lang="en-US" dirty="0"/>
          </a:p>
        </p:txBody>
      </p:sp>
      <p:sp>
        <p:nvSpPr>
          <p:cNvPr id="43" name="Text Placeholder 11"/>
          <p:cNvSpPr>
            <a:spLocks noGrp="1"/>
          </p:cNvSpPr>
          <p:nvPr>
            <p:ph type="body" sz="quarter" idx="62" hasCustomPrompt="1"/>
          </p:nvPr>
        </p:nvSpPr>
        <p:spPr>
          <a:xfrm>
            <a:off x="4661165" y="4560197"/>
            <a:ext cx="2766892" cy="270175"/>
          </a:xfrm>
        </p:spPr>
        <p:txBody>
          <a:bodyPr lIns="0" tIns="0" rIns="0" bIns="0">
            <a:noAutofit/>
          </a:bodyPr>
          <a:lstStyle>
            <a:lvl1pPr marL="0" marR="0" indent="0" algn="r" defTabSz="914400" rtl="1" eaLnBrk="1" fontAlgn="auto" latinLnBrk="0" hangingPunct="1">
              <a:lnSpc>
                <a:spcPct val="90000"/>
              </a:lnSpc>
              <a:spcBef>
                <a:spcPts val="1000"/>
              </a:spcBef>
              <a:spcAft>
                <a:spcPts val="0"/>
              </a:spcAft>
              <a:buClrTx/>
              <a:buSzTx/>
              <a:buFont typeface="Arial" panose="020B0604020202020204" pitchFamily="34" charset="0"/>
              <a:buNone/>
              <a:tabLst/>
              <a:defRPr sz="1600" b="0" baseline="0">
                <a:solidFill>
                  <a:schemeClr val="tx1">
                    <a:lumMod val="50000"/>
                    <a:lumOff val="50000"/>
                  </a:schemeClr>
                </a:solidFill>
              </a:defRPr>
            </a:lvl1pPr>
          </a:lstStyle>
          <a:p>
            <a:pPr lvl="0"/>
            <a:r>
              <a:rPr lang="ar-EG" dirty="0"/>
              <a:t>تعديل النص</a:t>
            </a:r>
            <a:endParaRPr lang="en-US" dirty="0"/>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lang="en-US" dirty="0"/>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lang="en-US" dirty="0"/>
          </a:p>
          <a:p>
            <a:pPr lvl="0"/>
            <a:endParaRPr lang="en-US" dirty="0"/>
          </a:p>
        </p:txBody>
      </p:sp>
      <p:sp>
        <p:nvSpPr>
          <p:cNvPr id="45" name="Text Placeholder 6"/>
          <p:cNvSpPr>
            <a:spLocks noGrp="1"/>
          </p:cNvSpPr>
          <p:nvPr>
            <p:ph type="body" sz="quarter" idx="63" hasCustomPrompt="1"/>
          </p:nvPr>
        </p:nvSpPr>
        <p:spPr>
          <a:xfrm>
            <a:off x="7715771" y="4220456"/>
            <a:ext cx="365760" cy="365760"/>
          </a:xfrm>
          <a:prstGeom prst="rect">
            <a:avLst/>
          </a:prstGeom>
          <a:solidFill>
            <a:schemeClr val="accent2"/>
          </a:solidFill>
          <a:ln w="15875">
            <a:noFill/>
          </a:ln>
        </p:spPr>
        <p:txBody>
          <a:bodyPr wrap="square" lIns="0" tIns="64008" rIns="0" bIns="0" anchor="ctr" anchorCtr="0">
            <a:noAutofit/>
          </a:bodyPr>
          <a:lstStyle>
            <a:lvl1pPr marL="0" indent="0" algn="ctr" rtl="1">
              <a:lnSpc>
                <a:spcPct val="100000"/>
              </a:lnSpc>
              <a:spcBef>
                <a:spcPts val="0"/>
              </a:spcBef>
              <a:buNone/>
              <a:defRPr sz="2000" b="1" kern="0" baseline="0">
                <a:solidFill>
                  <a:schemeClr val="bg1"/>
                </a:solidFill>
              </a:defRPr>
            </a:lvl1pPr>
          </a:lstStyle>
          <a:p>
            <a:pPr lvl="0"/>
            <a:r>
              <a:rPr lang="en-US" dirty="0"/>
              <a:t>#</a:t>
            </a:r>
          </a:p>
        </p:txBody>
      </p:sp>
      <p:sp>
        <p:nvSpPr>
          <p:cNvPr id="46" name="Text Placeholder 11"/>
          <p:cNvSpPr>
            <a:spLocks noGrp="1"/>
          </p:cNvSpPr>
          <p:nvPr>
            <p:ph type="body" sz="quarter" idx="64" hasCustomPrompt="1"/>
          </p:nvPr>
        </p:nvSpPr>
        <p:spPr>
          <a:xfrm>
            <a:off x="4664387" y="5079408"/>
            <a:ext cx="2754247" cy="228600"/>
          </a:xfrm>
        </p:spPr>
        <p:txBody>
          <a:bodyPr lIns="0" tIns="0" rIns="0" bIns="0">
            <a:noAutofit/>
          </a:bodyPr>
          <a:lstStyle>
            <a:lvl1pPr marL="0" indent="0" algn="r" rtl="0">
              <a:buNone/>
              <a:defRPr sz="1800" b="1">
                <a:solidFill>
                  <a:schemeClr val="accent1"/>
                </a:solidFill>
              </a:defRPr>
            </a:lvl1pPr>
          </a:lstStyle>
          <a:p>
            <a:pPr lvl="0"/>
            <a:r>
              <a:rPr lang="ar-EG" dirty="0"/>
              <a:t>العنوان</a:t>
            </a:r>
            <a:endParaRPr lang="en-US" dirty="0"/>
          </a:p>
        </p:txBody>
      </p:sp>
      <p:sp>
        <p:nvSpPr>
          <p:cNvPr id="48" name="Text Placeholder 11"/>
          <p:cNvSpPr>
            <a:spLocks noGrp="1"/>
          </p:cNvSpPr>
          <p:nvPr>
            <p:ph type="body" sz="quarter" idx="65" hasCustomPrompt="1"/>
          </p:nvPr>
        </p:nvSpPr>
        <p:spPr>
          <a:xfrm>
            <a:off x="4661165" y="5334042"/>
            <a:ext cx="2766892" cy="270175"/>
          </a:xfrm>
        </p:spPr>
        <p:txBody>
          <a:bodyPr lIns="0" tIns="0" rIns="0" bIns="0">
            <a:noAutofit/>
          </a:bodyPr>
          <a:lstStyle>
            <a:lvl1pPr marL="0" marR="0" indent="0" algn="r" defTabSz="914400" rtl="0" eaLnBrk="1" fontAlgn="auto" latinLnBrk="0" hangingPunct="1">
              <a:lnSpc>
                <a:spcPct val="90000"/>
              </a:lnSpc>
              <a:spcBef>
                <a:spcPts val="1000"/>
              </a:spcBef>
              <a:spcAft>
                <a:spcPts val="0"/>
              </a:spcAft>
              <a:buClrTx/>
              <a:buSzTx/>
              <a:buFont typeface="Arial" panose="020B0604020202020204" pitchFamily="34" charset="0"/>
              <a:buNone/>
              <a:tabLst/>
              <a:defRPr sz="1600" b="0" baseline="0">
                <a:solidFill>
                  <a:schemeClr val="tx1">
                    <a:lumMod val="50000"/>
                    <a:lumOff val="50000"/>
                  </a:schemeClr>
                </a:solidFill>
              </a:defRPr>
            </a:lvl1pPr>
          </a:lstStyle>
          <a:p>
            <a:pPr lvl="0"/>
            <a:r>
              <a:rPr lang="ar-EG" dirty="0"/>
              <a:t>تعديل النص</a:t>
            </a:r>
            <a:endParaRPr lang="en-US" dirty="0"/>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lang="en-US" dirty="0"/>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lang="en-US" dirty="0"/>
          </a:p>
          <a:p>
            <a:pPr lvl="0"/>
            <a:endParaRPr lang="en-US" dirty="0"/>
          </a:p>
        </p:txBody>
      </p:sp>
      <p:sp>
        <p:nvSpPr>
          <p:cNvPr id="49" name="Text Placeholder 6"/>
          <p:cNvSpPr>
            <a:spLocks noGrp="1"/>
          </p:cNvSpPr>
          <p:nvPr>
            <p:ph type="body" sz="quarter" idx="66" hasCustomPrompt="1"/>
          </p:nvPr>
        </p:nvSpPr>
        <p:spPr>
          <a:xfrm>
            <a:off x="7715771" y="4994301"/>
            <a:ext cx="365760" cy="365760"/>
          </a:xfrm>
          <a:prstGeom prst="rect">
            <a:avLst/>
          </a:prstGeom>
          <a:solidFill>
            <a:schemeClr val="accent1"/>
          </a:solidFill>
          <a:ln w="15875">
            <a:noFill/>
          </a:ln>
        </p:spPr>
        <p:txBody>
          <a:bodyPr wrap="square" lIns="0" tIns="64008" rIns="0" bIns="0" anchor="ctr" anchorCtr="0">
            <a:noAutofit/>
          </a:bodyPr>
          <a:lstStyle>
            <a:lvl1pPr marL="0" indent="0" algn="ctr" rtl="0">
              <a:lnSpc>
                <a:spcPct val="100000"/>
              </a:lnSpc>
              <a:spcBef>
                <a:spcPts val="0"/>
              </a:spcBef>
              <a:buNone/>
              <a:defRPr sz="2000" b="1" kern="0" baseline="0">
                <a:solidFill>
                  <a:schemeClr val="bg1"/>
                </a:solidFill>
              </a:defRPr>
            </a:lvl1pPr>
          </a:lstStyle>
          <a:p>
            <a:pPr lvl="0"/>
            <a:r>
              <a:rPr lang="en-US" dirty="0"/>
              <a:t>#</a:t>
            </a:r>
          </a:p>
        </p:txBody>
      </p:sp>
      <p:sp>
        <p:nvSpPr>
          <p:cNvPr id="51" name="Text Placeholder 11"/>
          <p:cNvSpPr>
            <a:spLocks noGrp="1"/>
          </p:cNvSpPr>
          <p:nvPr>
            <p:ph type="body" sz="quarter" idx="67" hasCustomPrompt="1"/>
          </p:nvPr>
        </p:nvSpPr>
        <p:spPr>
          <a:xfrm>
            <a:off x="830980" y="2757873"/>
            <a:ext cx="2754247" cy="228600"/>
          </a:xfrm>
        </p:spPr>
        <p:txBody>
          <a:bodyPr lIns="0" tIns="0" rIns="0" bIns="0">
            <a:noAutofit/>
          </a:bodyPr>
          <a:lstStyle>
            <a:lvl1pPr marL="0" indent="0" algn="r" rtl="1">
              <a:buNone/>
              <a:defRPr sz="1800" b="1">
                <a:solidFill>
                  <a:schemeClr val="accent2">
                    <a:lumMod val="75000"/>
                  </a:schemeClr>
                </a:solidFill>
              </a:defRPr>
            </a:lvl1pPr>
          </a:lstStyle>
          <a:p>
            <a:pPr lvl="0"/>
            <a:r>
              <a:rPr lang="ar-EG" dirty="0"/>
              <a:t>العنوان</a:t>
            </a:r>
            <a:endParaRPr lang="en-US" dirty="0"/>
          </a:p>
        </p:txBody>
      </p:sp>
      <p:sp>
        <p:nvSpPr>
          <p:cNvPr id="52" name="Text Placeholder 11"/>
          <p:cNvSpPr>
            <a:spLocks noGrp="1"/>
          </p:cNvSpPr>
          <p:nvPr>
            <p:ph type="body" sz="quarter" idx="68" hasCustomPrompt="1"/>
          </p:nvPr>
        </p:nvSpPr>
        <p:spPr>
          <a:xfrm>
            <a:off x="827758" y="3012507"/>
            <a:ext cx="2766892" cy="270175"/>
          </a:xfrm>
        </p:spPr>
        <p:txBody>
          <a:bodyPr lIns="0" tIns="0" rIns="0" bIns="0">
            <a:noAutofit/>
          </a:bodyPr>
          <a:lstStyle>
            <a:lvl1pPr marL="0" marR="0" indent="0" algn="r" defTabSz="914400" rtl="1" eaLnBrk="1" fontAlgn="auto" latinLnBrk="0" hangingPunct="1">
              <a:lnSpc>
                <a:spcPct val="90000"/>
              </a:lnSpc>
              <a:spcBef>
                <a:spcPts val="1000"/>
              </a:spcBef>
              <a:spcAft>
                <a:spcPts val="0"/>
              </a:spcAft>
              <a:buClrTx/>
              <a:buSzTx/>
              <a:buFont typeface="Arial" panose="020B0604020202020204" pitchFamily="34" charset="0"/>
              <a:buNone/>
              <a:tabLst/>
              <a:defRPr sz="1600" b="0" baseline="0">
                <a:solidFill>
                  <a:schemeClr val="tx1">
                    <a:lumMod val="50000"/>
                    <a:lumOff val="50000"/>
                  </a:schemeClr>
                </a:solidFill>
              </a:defRPr>
            </a:lvl1pPr>
          </a:lstStyle>
          <a:p>
            <a:pPr lvl="0"/>
            <a:r>
              <a:rPr lang="ar-EG" dirty="0"/>
              <a:t>تعديل النص</a:t>
            </a:r>
            <a:endParaRPr lang="en-US" dirty="0"/>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lang="en-US" dirty="0"/>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lang="en-US" dirty="0"/>
          </a:p>
          <a:p>
            <a:pPr lvl="0"/>
            <a:endParaRPr lang="en-US" dirty="0"/>
          </a:p>
        </p:txBody>
      </p:sp>
      <p:sp>
        <p:nvSpPr>
          <p:cNvPr id="65" name="Text Placeholder 6"/>
          <p:cNvSpPr>
            <a:spLocks noGrp="1"/>
          </p:cNvSpPr>
          <p:nvPr>
            <p:ph type="body" sz="quarter" idx="69" hasCustomPrompt="1"/>
          </p:nvPr>
        </p:nvSpPr>
        <p:spPr>
          <a:xfrm>
            <a:off x="3882364" y="2672766"/>
            <a:ext cx="365760" cy="365760"/>
          </a:xfrm>
          <a:prstGeom prst="rect">
            <a:avLst/>
          </a:prstGeom>
          <a:solidFill>
            <a:schemeClr val="accent2"/>
          </a:solidFill>
          <a:ln w="15875">
            <a:noFill/>
          </a:ln>
        </p:spPr>
        <p:txBody>
          <a:bodyPr wrap="square" lIns="0" tIns="64008" rIns="0" bIns="0" anchor="ctr" anchorCtr="0">
            <a:noAutofit/>
          </a:bodyPr>
          <a:lstStyle>
            <a:lvl1pPr marL="0" indent="0" algn="ctr" rtl="1">
              <a:lnSpc>
                <a:spcPct val="100000"/>
              </a:lnSpc>
              <a:spcBef>
                <a:spcPts val="0"/>
              </a:spcBef>
              <a:buNone/>
              <a:defRPr sz="2000" b="1" kern="0" baseline="0">
                <a:solidFill>
                  <a:schemeClr val="bg1"/>
                </a:solidFill>
              </a:defRPr>
            </a:lvl1pPr>
          </a:lstStyle>
          <a:p>
            <a:pPr lvl="0"/>
            <a:r>
              <a:rPr lang="en-US" dirty="0"/>
              <a:t>#</a:t>
            </a:r>
          </a:p>
        </p:txBody>
      </p:sp>
      <p:sp>
        <p:nvSpPr>
          <p:cNvPr id="66" name="Text Placeholder 11"/>
          <p:cNvSpPr>
            <a:spLocks noGrp="1"/>
          </p:cNvSpPr>
          <p:nvPr>
            <p:ph type="body" sz="quarter" idx="70" hasCustomPrompt="1"/>
          </p:nvPr>
        </p:nvSpPr>
        <p:spPr>
          <a:xfrm>
            <a:off x="830980" y="3531718"/>
            <a:ext cx="2754247" cy="228600"/>
          </a:xfrm>
        </p:spPr>
        <p:txBody>
          <a:bodyPr lIns="0" tIns="0" rIns="0" bIns="0">
            <a:noAutofit/>
          </a:bodyPr>
          <a:lstStyle>
            <a:lvl1pPr marL="0" indent="0" algn="r" rtl="1">
              <a:buNone/>
              <a:defRPr sz="1800" b="1">
                <a:solidFill>
                  <a:schemeClr val="accent1"/>
                </a:solidFill>
              </a:defRPr>
            </a:lvl1pPr>
          </a:lstStyle>
          <a:p>
            <a:pPr lvl="0"/>
            <a:r>
              <a:rPr lang="ar-EG" dirty="0"/>
              <a:t>العنوان</a:t>
            </a:r>
            <a:endParaRPr lang="en-US" dirty="0"/>
          </a:p>
        </p:txBody>
      </p:sp>
      <p:sp>
        <p:nvSpPr>
          <p:cNvPr id="67" name="Text Placeholder 11"/>
          <p:cNvSpPr>
            <a:spLocks noGrp="1"/>
          </p:cNvSpPr>
          <p:nvPr>
            <p:ph type="body" sz="quarter" idx="71" hasCustomPrompt="1"/>
          </p:nvPr>
        </p:nvSpPr>
        <p:spPr>
          <a:xfrm>
            <a:off x="827758" y="3786352"/>
            <a:ext cx="2766892" cy="270175"/>
          </a:xfrm>
        </p:spPr>
        <p:txBody>
          <a:bodyPr lIns="0" tIns="0" rIns="0" bIns="0">
            <a:noAutofit/>
          </a:bodyPr>
          <a:lstStyle>
            <a:lvl1pPr marL="0" marR="0" indent="0" algn="r" defTabSz="914400" rtl="1" eaLnBrk="1" fontAlgn="auto" latinLnBrk="0" hangingPunct="1">
              <a:lnSpc>
                <a:spcPct val="90000"/>
              </a:lnSpc>
              <a:spcBef>
                <a:spcPts val="1000"/>
              </a:spcBef>
              <a:spcAft>
                <a:spcPts val="0"/>
              </a:spcAft>
              <a:buClrTx/>
              <a:buSzTx/>
              <a:buFont typeface="Arial" panose="020B0604020202020204" pitchFamily="34" charset="0"/>
              <a:buNone/>
              <a:tabLst/>
              <a:defRPr sz="1600" b="0" baseline="0">
                <a:solidFill>
                  <a:schemeClr val="tx1">
                    <a:lumMod val="50000"/>
                    <a:lumOff val="50000"/>
                  </a:schemeClr>
                </a:solidFill>
              </a:defRPr>
            </a:lvl1pPr>
          </a:lstStyle>
          <a:p>
            <a:pPr lvl="0"/>
            <a:r>
              <a:rPr lang="ar-EG" dirty="0"/>
              <a:t>تعديل النص</a:t>
            </a:r>
            <a:endParaRPr lang="en-US" dirty="0"/>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lang="en-US" dirty="0"/>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lang="en-US" dirty="0"/>
          </a:p>
          <a:p>
            <a:pPr lvl="0"/>
            <a:endParaRPr lang="en-US" dirty="0"/>
          </a:p>
        </p:txBody>
      </p:sp>
      <p:sp>
        <p:nvSpPr>
          <p:cNvPr id="68" name="Text Placeholder 6"/>
          <p:cNvSpPr>
            <a:spLocks noGrp="1"/>
          </p:cNvSpPr>
          <p:nvPr>
            <p:ph type="body" sz="quarter" idx="72" hasCustomPrompt="1"/>
          </p:nvPr>
        </p:nvSpPr>
        <p:spPr>
          <a:xfrm>
            <a:off x="3882364" y="3446611"/>
            <a:ext cx="365760" cy="365760"/>
          </a:xfrm>
          <a:prstGeom prst="rect">
            <a:avLst/>
          </a:prstGeom>
          <a:solidFill>
            <a:schemeClr val="accent1"/>
          </a:solidFill>
          <a:ln w="15875">
            <a:noFill/>
          </a:ln>
        </p:spPr>
        <p:txBody>
          <a:bodyPr wrap="square" lIns="0" tIns="64008" rIns="0" bIns="0" anchor="ctr" anchorCtr="0">
            <a:noAutofit/>
          </a:bodyPr>
          <a:lstStyle>
            <a:lvl1pPr marL="0" indent="0" algn="ctr" rtl="1">
              <a:lnSpc>
                <a:spcPct val="100000"/>
              </a:lnSpc>
              <a:spcBef>
                <a:spcPts val="0"/>
              </a:spcBef>
              <a:buNone/>
              <a:defRPr sz="2000" b="1" kern="0" baseline="0">
                <a:solidFill>
                  <a:schemeClr val="bg1"/>
                </a:solidFill>
              </a:defRPr>
            </a:lvl1pPr>
          </a:lstStyle>
          <a:p>
            <a:pPr lvl="0"/>
            <a:r>
              <a:rPr lang="en-US" dirty="0"/>
              <a:t>#</a:t>
            </a:r>
          </a:p>
        </p:txBody>
      </p:sp>
      <p:sp>
        <p:nvSpPr>
          <p:cNvPr id="69" name="Text Placeholder 11"/>
          <p:cNvSpPr>
            <a:spLocks noGrp="1"/>
          </p:cNvSpPr>
          <p:nvPr>
            <p:ph type="body" sz="quarter" idx="73" hasCustomPrompt="1"/>
          </p:nvPr>
        </p:nvSpPr>
        <p:spPr>
          <a:xfrm>
            <a:off x="830980" y="4305563"/>
            <a:ext cx="2754247" cy="228600"/>
          </a:xfrm>
        </p:spPr>
        <p:txBody>
          <a:bodyPr lIns="0" tIns="0" rIns="0" bIns="0">
            <a:noAutofit/>
          </a:bodyPr>
          <a:lstStyle>
            <a:lvl1pPr marL="0" indent="0" algn="r" rtl="1">
              <a:buNone/>
              <a:defRPr sz="1800" b="1">
                <a:solidFill>
                  <a:schemeClr val="accent2">
                    <a:lumMod val="75000"/>
                  </a:schemeClr>
                </a:solidFill>
              </a:defRPr>
            </a:lvl1pPr>
          </a:lstStyle>
          <a:p>
            <a:pPr lvl="0"/>
            <a:r>
              <a:rPr lang="ar-EG" dirty="0"/>
              <a:t>العنوان</a:t>
            </a:r>
            <a:endParaRPr lang="en-US" dirty="0"/>
          </a:p>
        </p:txBody>
      </p:sp>
      <p:sp>
        <p:nvSpPr>
          <p:cNvPr id="70" name="Text Placeholder 11"/>
          <p:cNvSpPr>
            <a:spLocks noGrp="1"/>
          </p:cNvSpPr>
          <p:nvPr>
            <p:ph type="body" sz="quarter" idx="74" hasCustomPrompt="1"/>
          </p:nvPr>
        </p:nvSpPr>
        <p:spPr>
          <a:xfrm>
            <a:off x="827758" y="4560197"/>
            <a:ext cx="2766892" cy="270175"/>
          </a:xfrm>
        </p:spPr>
        <p:txBody>
          <a:bodyPr lIns="0" tIns="0" rIns="0" bIns="0">
            <a:noAutofit/>
          </a:bodyPr>
          <a:lstStyle>
            <a:lvl1pPr marL="0" marR="0" indent="0" algn="r" defTabSz="914400" rtl="1" eaLnBrk="1" fontAlgn="auto" latinLnBrk="0" hangingPunct="1">
              <a:lnSpc>
                <a:spcPct val="90000"/>
              </a:lnSpc>
              <a:spcBef>
                <a:spcPts val="1000"/>
              </a:spcBef>
              <a:spcAft>
                <a:spcPts val="0"/>
              </a:spcAft>
              <a:buClrTx/>
              <a:buSzTx/>
              <a:buFont typeface="Arial" panose="020B0604020202020204" pitchFamily="34" charset="0"/>
              <a:buNone/>
              <a:tabLst/>
              <a:defRPr sz="1600" b="0" baseline="0">
                <a:solidFill>
                  <a:schemeClr val="tx1">
                    <a:lumMod val="50000"/>
                    <a:lumOff val="50000"/>
                  </a:schemeClr>
                </a:solidFill>
              </a:defRPr>
            </a:lvl1pPr>
          </a:lstStyle>
          <a:p>
            <a:pPr lvl="0"/>
            <a:r>
              <a:rPr lang="ar-EG" dirty="0"/>
              <a:t>تعديل النص</a:t>
            </a:r>
            <a:endParaRPr lang="en-US" dirty="0"/>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lang="en-US" dirty="0"/>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lang="en-US" dirty="0"/>
          </a:p>
          <a:p>
            <a:pPr lvl="0"/>
            <a:endParaRPr lang="en-US" dirty="0"/>
          </a:p>
        </p:txBody>
      </p:sp>
      <p:sp>
        <p:nvSpPr>
          <p:cNvPr id="71" name="Text Placeholder 6"/>
          <p:cNvSpPr>
            <a:spLocks noGrp="1"/>
          </p:cNvSpPr>
          <p:nvPr>
            <p:ph type="body" sz="quarter" idx="75" hasCustomPrompt="1"/>
          </p:nvPr>
        </p:nvSpPr>
        <p:spPr>
          <a:xfrm>
            <a:off x="3882364" y="4220456"/>
            <a:ext cx="365760" cy="365760"/>
          </a:xfrm>
          <a:prstGeom prst="rect">
            <a:avLst/>
          </a:prstGeom>
          <a:solidFill>
            <a:schemeClr val="accent2"/>
          </a:solidFill>
          <a:ln w="15875">
            <a:noFill/>
          </a:ln>
        </p:spPr>
        <p:txBody>
          <a:bodyPr wrap="square" lIns="0" tIns="64008" rIns="0" bIns="0" anchor="ctr" anchorCtr="0">
            <a:noAutofit/>
          </a:bodyPr>
          <a:lstStyle>
            <a:lvl1pPr marL="0" indent="0" algn="ctr" rtl="1">
              <a:lnSpc>
                <a:spcPct val="100000"/>
              </a:lnSpc>
              <a:spcBef>
                <a:spcPts val="0"/>
              </a:spcBef>
              <a:buNone/>
              <a:defRPr sz="2000" b="1" kern="0" baseline="0">
                <a:solidFill>
                  <a:schemeClr val="bg1"/>
                </a:solidFill>
              </a:defRPr>
            </a:lvl1pPr>
          </a:lstStyle>
          <a:p>
            <a:pPr lvl="0"/>
            <a:r>
              <a:rPr lang="en-US" dirty="0"/>
              <a:t>#</a:t>
            </a:r>
          </a:p>
        </p:txBody>
      </p:sp>
      <p:sp>
        <p:nvSpPr>
          <p:cNvPr id="72" name="Text Placeholder 11"/>
          <p:cNvSpPr>
            <a:spLocks noGrp="1"/>
          </p:cNvSpPr>
          <p:nvPr>
            <p:ph type="body" sz="quarter" idx="76" hasCustomPrompt="1"/>
          </p:nvPr>
        </p:nvSpPr>
        <p:spPr>
          <a:xfrm>
            <a:off x="830980" y="5079408"/>
            <a:ext cx="2754247" cy="228600"/>
          </a:xfrm>
        </p:spPr>
        <p:txBody>
          <a:bodyPr lIns="0" tIns="0" rIns="0" bIns="0">
            <a:noAutofit/>
          </a:bodyPr>
          <a:lstStyle>
            <a:lvl1pPr marL="0" indent="0" algn="r" rtl="0">
              <a:buNone/>
              <a:defRPr sz="1800" b="1">
                <a:solidFill>
                  <a:schemeClr val="accent1"/>
                </a:solidFill>
              </a:defRPr>
            </a:lvl1pPr>
          </a:lstStyle>
          <a:p>
            <a:pPr lvl="0"/>
            <a:r>
              <a:rPr lang="ar-EG" dirty="0"/>
              <a:t>العنوان</a:t>
            </a:r>
            <a:endParaRPr lang="en-US" dirty="0"/>
          </a:p>
        </p:txBody>
      </p:sp>
      <p:sp>
        <p:nvSpPr>
          <p:cNvPr id="74" name="Text Placeholder 6"/>
          <p:cNvSpPr>
            <a:spLocks noGrp="1"/>
          </p:cNvSpPr>
          <p:nvPr>
            <p:ph type="body" sz="quarter" idx="78" hasCustomPrompt="1"/>
          </p:nvPr>
        </p:nvSpPr>
        <p:spPr>
          <a:xfrm>
            <a:off x="3882364" y="4994301"/>
            <a:ext cx="365760" cy="365760"/>
          </a:xfrm>
          <a:prstGeom prst="rect">
            <a:avLst/>
          </a:prstGeom>
          <a:solidFill>
            <a:schemeClr val="accent1"/>
          </a:solidFill>
          <a:ln w="15875">
            <a:noFill/>
          </a:ln>
        </p:spPr>
        <p:txBody>
          <a:bodyPr wrap="square" lIns="0" tIns="64008" rIns="0" bIns="0" anchor="ctr" anchorCtr="0">
            <a:noAutofit/>
          </a:bodyPr>
          <a:lstStyle>
            <a:lvl1pPr marL="0" indent="0" algn="ctr" rtl="0">
              <a:lnSpc>
                <a:spcPct val="100000"/>
              </a:lnSpc>
              <a:spcBef>
                <a:spcPts val="0"/>
              </a:spcBef>
              <a:buNone/>
              <a:defRPr sz="2000" b="1" kern="0" baseline="0">
                <a:solidFill>
                  <a:schemeClr val="bg1"/>
                </a:solidFill>
              </a:defRPr>
            </a:lvl1pPr>
          </a:lstStyle>
          <a:p>
            <a:pPr lvl="0"/>
            <a:r>
              <a:rPr lang="en-US" dirty="0"/>
              <a:t>#</a:t>
            </a:r>
          </a:p>
        </p:txBody>
      </p:sp>
      <p:sp>
        <p:nvSpPr>
          <p:cNvPr id="44" name="Text Placeholder 11"/>
          <p:cNvSpPr>
            <a:spLocks noGrp="1"/>
          </p:cNvSpPr>
          <p:nvPr>
            <p:ph type="body" sz="quarter" idx="79" hasCustomPrompt="1"/>
          </p:nvPr>
        </p:nvSpPr>
        <p:spPr>
          <a:xfrm>
            <a:off x="824657" y="5334042"/>
            <a:ext cx="2766892" cy="270175"/>
          </a:xfrm>
        </p:spPr>
        <p:txBody>
          <a:bodyPr lIns="0" tIns="0" rIns="0" bIns="0">
            <a:noAutofit/>
          </a:bodyPr>
          <a:lstStyle>
            <a:lvl1pPr marL="0" marR="0" indent="0" algn="r" defTabSz="914400" rtl="0" eaLnBrk="1" fontAlgn="auto" latinLnBrk="0" hangingPunct="1">
              <a:lnSpc>
                <a:spcPct val="90000"/>
              </a:lnSpc>
              <a:spcBef>
                <a:spcPts val="1000"/>
              </a:spcBef>
              <a:spcAft>
                <a:spcPts val="0"/>
              </a:spcAft>
              <a:buClrTx/>
              <a:buSzTx/>
              <a:buFont typeface="Arial" panose="020B0604020202020204" pitchFamily="34" charset="0"/>
              <a:buNone/>
              <a:tabLst/>
              <a:defRPr sz="1600" b="0" baseline="0">
                <a:solidFill>
                  <a:schemeClr val="tx1">
                    <a:lumMod val="50000"/>
                    <a:lumOff val="50000"/>
                  </a:schemeClr>
                </a:solidFill>
              </a:defRPr>
            </a:lvl1pPr>
          </a:lstStyle>
          <a:p>
            <a:pPr lvl="0"/>
            <a:r>
              <a:rPr lang="ar-EG" dirty="0"/>
              <a:t>تعديل النص</a:t>
            </a:r>
            <a:endParaRPr lang="en-US" dirty="0"/>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lang="en-US" dirty="0"/>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lang="en-US" dirty="0"/>
          </a:p>
          <a:p>
            <a:pPr lvl="0"/>
            <a:endParaRPr lang="en-US" dirty="0"/>
          </a:p>
        </p:txBody>
      </p:sp>
      <p:sp>
        <p:nvSpPr>
          <p:cNvPr id="61" name="Text Placeholder 11"/>
          <p:cNvSpPr>
            <a:spLocks noGrp="1"/>
          </p:cNvSpPr>
          <p:nvPr>
            <p:ph type="body" sz="quarter" idx="86" hasCustomPrompt="1"/>
          </p:nvPr>
        </p:nvSpPr>
        <p:spPr>
          <a:xfrm>
            <a:off x="4664387" y="1982676"/>
            <a:ext cx="2754247" cy="228600"/>
          </a:xfrm>
        </p:spPr>
        <p:txBody>
          <a:bodyPr lIns="0" tIns="0" rIns="0" bIns="0">
            <a:noAutofit/>
          </a:bodyPr>
          <a:lstStyle>
            <a:lvl1pPr marL="0" indent="0" algn="r" rtl="1">
              <a:buNone/>
              <a:defRPr sz="1800" b="1">
                <a:solidFill>
                  <a:schemeClr val="accent1"/>
                </a:solidFill>
              </a:defRPr>
            </a:lvl1pPr>
          </a:lstStyle>
          <a:p>
            <a:pPr lvl="0"/>
            <a:r>
              <a:rPr lang="ar-EG" dirty="0"/>
              <a:t>العنوان</a:t>
            </a:r>
            <a:endParaRPr lang="en-US" dirty="0"/>
          </a:p>
        </p:txBody>
      </p:sp>
      <p:sp>
        <p:nvSpPr>
          <p:cNvPr id="62" name="Text Placeholder 11"/>
          <p:cNvSpPr>
            <a:spLocks noGrp="1"/>
          </p:cNvSpPr>
          <p:nvPr>
            <p:ph type="body" sz="quarter" idx="87" hasCustomPrompt="1"/>
          </p:nvPr>
        </p:nvSpPr>
        <p:spPr>
          <a:xfrm>
            <a:off x="4661165" y="2237310"/>
            <a:ext cx="2766892" cy="270175"/>
          </a:xfrm>
        </p:spPr>
        <p:txBody>
          <a:bodyPr lIns="0" tIns="0" rIns="0" bIns="0">
            <a:noAutofit/>
          </a:bodyPr>
          <a:lstStyle>
            <a:lvl1pPr marL="0" marR="0" indent="0" algn="r" defTabSz="914400" rtl="1" eaLnBrk="1" fontAlgn="auto" latinLnBrk="0" hangingPunct="1">
              <a:lnSpc>
                <a:spcPct val="90000"/>
              </a:lnSpc>
              <a:spcBef>
                <a:spcPts val="1000"/>
              </a:spcBef>
              <a:spcAft>
                <a:spcPts val="0"/>
              </a:spcAft>
              <a:buClrTx/>
              <a:buSzTx/>
              <a:buFont typeface="Arial" panose="020B0604020202020204" pitchFamily="34" charset="0"/>
              <a:buNone/>
              <a:tabLst/>
              <a:defRPr sz="1600" b="0" baseline="0">
                <a:solidFill>
                  <a:schemeClr val="tx1">
                    <a:lumMod val="50000"/>
                    <a:lumOff val="50000"/>
                  </a:schemeClr>
                </a:solidFill>
              </a:defRPr>
            </a:lvl1pPr>
          </a:lstStyle>
          <a:p>
            <a:pPr lvl="0"/>
            <a:r>
              <a:rPr lang="ar-EG" dirty="0"/>
              <a:t>تعديل النص</a:t>
            </a:r>
            <a:endParaRPr lang="en-US" dirty="0"/>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lang="en-US" dirty="0"/>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lang="en-US" dirty="0"/>
          </a:p>
          <a:p>
            <a:pPr lvl="0"/>
            <a:endParaRPr lang="en-US" dirty="0"/>
          </a:p>
        </p:txBody>
      </p:sp>
      <p:sp>
        <p:nvSpPr>
          <p:cNvPr id="63" name="Text Placeholder 6"/>
          <p:cNvSpPr>
            <a:spLocks noGrp="1"/>
          </p:cNvSpPr>
          <p:nvPr>
            <p:ph type="body" sz="quarter" idx="88" hasCustomPrompt="1"/>
          </p:nvPr>
        </p:nvSpPr>
        <p:spPr>
          <a:xfrm>
            <a:off x="7715771" y="1897569"/>
            <a:ext cx="365760" cy="365760"/>
          </a:xfrm>
          <a:prstGeom prst="rect">
            <a:avLst/>
          </a:prstGeom>
          <a:solidFill>
            <a:schemeClr val="accent1"/>
          </a:solidFill>
          <a:ln w="15875">
            <a:noFill/>
          </a:ln>
        </p:spPr>
        <p:txBody>
          <a:bodyPr wrap="square" lIns="0" tIns="64008" rIns="0" bIns="0" anchor="ctr" anchorCtr="0">
            <a:noAutofit/>
          </a:bodyPr>
          <a:lstStyle>
            <a:lvl1pPr marL="0" indent="0" algn="ctr" rtl="1">
              <a:lnSpc>
                <a:spcPct val="100000"/>
              </a:lnSpc>
              <a:spcBef>
                <a:spcPts val="0"/>
              </a:spcBef>
              <a:buNone/>
              <a:defRPr sz="2000" b="1" kern="0" baseline="0">
                <a:solidFill>
                  <a:schemeClr val="bg1"/>
                </a:solidFill>
              </a:defRPr>
            </a:lvl1pPr>
          </a:lstStyle>
          <a:p>
            <a:pPr lvl="0"/>
            <a:r>
              <a:rPr lang="en-US" dirty="0"/>
              <a:t>#</a:t>
            </a:r>
          </a:p>
        </p:txBody>
      </p:sp>
      <p:sp>
        <p:nvSpPr>
          <p:cNvPr id="64" name="Text Placeholder 11"/>
          <p:cNvSpPr>
            <a:spLocks noGrp="1"/>
          </p:cNvSpPr>
          <p:nvPr>
            <p:ph type="body" sz="quarter" idx="89" hasCustomPrompt="1"/>
          </p:nvPr>
        </p:nvSpPr>
        <p:spPr>
          <a:xfrm>
            <a:off x="4664387" y="1208831"/>
            <a:ext cx="2754247" cy="228600"/>
          </a:xfrm>
        </p:spPr>
        <p:txBody>
          <a:bodyPr lIns="0" tIns="0" rIns="0" bIns="0">
            <a:noAutofit/>
          </a:bodyPr>
          <a:lstStyle>
            <a:lvl1pPr marL="0" indent="0" algn="r" rtl="1">
              <a:buNone/>
              <a:defRPr sz="1800" b="1">
                <a:solidFill>
                  <a:schemeClr val="accent2">
                    <a:lumMod val="75000"/>
                  </a:schemeClr>
                </a:solidFill>
              </a:defRPr>
            </a:lvl1pPr>
          </a:lstStyle>
          <a:p>
            <a:pPr lvl="0"/>
            <a:r>
              <a:rPr lang="ar-EG" dirty="0"/>
              <a:t>العنوان</a:t>
            </a:r>
            <a:endParaRPr lang="en-US" dirty="0"/>
          </a:p>
        </p:txBody>
      </p:sp>
      <p:sp>
        <p:nvSpPr>
          <p:cNvPr id="73" name="Text Placeholder 11"/>
          <p:cNvSpPr>
            <a:spLocks noGrp="1"/>
          </p:cNvSpPr>
          <p:nvPr>
            <p:ph type="body" sz="quarter" idx="90" hasCustomPrompt="1"/>
          </p:nvPr>
        </p:nvSpPr>
        <p:spPr>
          <a:xfrm>
            <a:off x="4661165" y="1463465"/>
            <a:ext cx="2766892" cy="270175"/>
          </a:xfrm>
        </p:spPr>
        <p:txBody>
          <a:bodyPr lIns="0" tIns="0" rIns="0" bIns="0">
            <a:noAutofit/>
          </a:bodyPr>
          <a:lstStyle>
            <a:lvl1pPr marL="0" marR="0" indent="0" algn="r" defTabSz="914400" rtl="1" eaLnBrk="1" fontAlgn="auto" latinLnBrk="0" hangingPunct="1">
              <a:lnSpc>
                <a:spcPct val="90000"/>
              </a:lnSpc>
              <a:spcBef>
                <a:spcPts val="1000"/>
              </a:spcBef>
              <a:spcAft>
                <a:spcPts val="0"/>
              </a:spcAft>
              <a:buClrTx/>
              <a:buSzTx/>
              <a:buFont typeface="Arial" panose="020B0604020202020204" pitchFamily="34" charset="0"/>
              <a:buNone/>
              <a:tabLst/>
              <a:defRPr sz="1600" b="0" baseline="0">
                <a:solidFill>
                  <a:schemeClr val="tx1">
                    <a:lumMod val="50000"/>
                    <a:lumOff val="50000"/>
                  </a:schemeClr>
                </a:solidFill>
              </a:defRPr>
            </a:lvl1pPr>
          </a:lstStyle>
          <a:p>
            <a:pPr lvl="0"/>
            <a:r>
              <a:rPr lang="ar-EG" dirty="0"/>
              <a:t>تعديل النص</a:t>
            </a:r>
            <a:endParaRPr lang="en-US" dirty="0"/>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lang="en-US" dirty="0"/>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lang="en-US" dirty="0"/>
          </a:p>
          <a:p>
            <a:pPr lvl="0"/>
            <a:endParaRPr lang="en-US" dirty="0"/>
          </a:p>
        </p:txBody>
      </p:sp>
      <p:sp>
        <p:nvSpPr>
          <p:cNvPr id="75" name="Text Placeholder 6"/>
          <p:cNvSpPr>
            <a:spLocks noGrp="1"/>
          </p:cNvSpPr>
          <p:nvPr>
            <p:ph type="body" sz="quarter" idx="91" hasCustomPrompt="1"/>
          </p:nvPr>
        </p:nvSpPr>
        <p:spPr>
          <a:xfrm>
            <a:off x="7715771" y="1123724"/>
            <a:ext cx="365760" cy="365760"/>
          </a:xfrm>
          <a:prstGeom prst="rect">
            <a:avLst/>
          </a:prstGeom>
          <a:solidFill>
            <a:schemeClr val="accent2"/>
          </a:solidFill>
          <a:ln w="15875">
            <a:noFill/>
          </a:ln>
        </p:spPr>
        <p:txBody>
          <a:bodyPr wrap="square" lIns="0" tIns="64008" rIns="0" bIns="0" anchor="ctr" anchorCtr="0">
            <a:noAutofit/>
          </a:bodyPr>
          <a:lstStyle>
            <a:lvl1pPr marL="0" indent="0" algn="ctr" rtl="1">
              <a:lnSpc>
                <a:spcPct val="100000"/>
              </a:lnSpc>
              <a:spcBef>
                <a:spcPts val="0"/>
              </a:spcBef>
              <a:buNone/>
              <a:defRPr sz="2000" b="1" kern="0" baseline="0">
                <a:solidFill>
                  <a:schemeClr val="bg1"/>
                </a:solidFill>
              </a:defRPr>
            </a:lvl1pPr>
          </a:lstStyle>
          <a:p>
            <a:pPr lvl="0"/>
            <a:r>
              <a:rPr lang="en-US" dirty="0"/>
              <a:t>#</a:t>
            </a:r>
          </a:p>
        </p:txBody>
      </p:sp>
      <p:sp>
        <p:nvSpPr>
          <p:cNvPr id="76" name="Text Placeholder 11"/>
          <p:cNvSpPr>
            <a:spLocks noGrp="1"/>
          </p:cNvSpPr>
          <p:nvPr>
            <p:ph type="body" sz="quarter" idx="92" hasCustomPrompt="1"/>
          </p:nvPr>
        </p:nvSpPr>
        <p:spPr>
          <a:xfrm>
            <a:off x="4664387" y="5853253"/>
            <a:ext cx="2754247" cy="228600"/>
          </a:xfrm>
        </p:spPr>
        <p:txBody>
          <a:bodyPr lIns="0" tIns="0" rIns="0" bIns="0">
            <a:noAutofit/>
          </a:bodyPr>
          <a:lstStyle>
            <a:lvl1pPr marL="0" indent="0" algn="r" rtl="1">
              <a:buNone/>
              <a:defRPr sz="1800" b="1">
                <a:solidFill>
                  <a:schemeClr val="accent2">
                    <a:lumMod val="75000"/>
                  </a:schemeClr>
                </a:solidFill>
              </a:defRPr>
            </a:lvl1pPr>
          </a:lstStyle>
          <a:p>
            <a:pPr lvl="0"/>
            <a:r>
              <a:rPr lang="ar-EG" dirty="0"/>
              <a:t>العنوان</a:t>
            </a:r>
            <a:endParaRPr lang="en-US" dirty="0"/>
          </a:p>
        </p:txBody>
      </p:sp>
      <p:sp>
        <p:nvSpPr>
          <p:cNvPr id="77" name="Text Placeholder 11"/>
          <p:cNvSpPr>
            <a:spLocks noGrp="1"/>
          </p:cNvSpPr>
          <p:nvPr>
            <p:ph type="body" sz="quarter" idx="93" hasCustomPrompt="1"/>
          </p:nvPr>
        </p:nvSpPr>
        <p:spPr>
          <a:xfrm>
            <a:off x="4661165" y="6107887"/>
            <a:ext cx="2766892" cy="270175"/>
          </a:xfrm>
        </p:spPr>
        <p:txBody>
          <a:bodyPr lIns="0" tIns="0" rIns="0" bIns="0">
            <a:noAutofit/>
          </a:bodyPr>
          <a:lstStyle>
            <a:lvl1pPr marL="0" marR="0" indent="0" algn="r" defTabSz="914400" rtl="1" eaLnBrk="1" fontAlgn="auto" latinLnBrk="0" hangingPunct="1">
              <a:lnSpc>
                <a:spcPct val="90000"/>
              </a:lnSpc>
              <a:spcBef>
                <a:spcPts val="1000"/>
              </a:spcBef>
              <a:spcAft>
                <a:spcPts val="0"/>
              </a:spcAft>
              <a:buClrTx/>
              <a:buSzTx/>
              <a:buFont typeface="Arial" panose="020B0604020202020204" pitchFamily="34" charset="0"/>
              <a:buNone/>
              <a:tabLst/>
              <a:defRPr sz="1600" b="0" baseline="0">
                <a:solidFill>
                  <a:schemeClr val="tx1">
                    <a:lumMod val="50000"/>
                    <a:lumOff val="50000"/>
                  </a:schemeClr>
                </a:solidFill>
              </a:defRPr>
            </a:lvl1pPr>
          </a:lstStyle>
          <a:p>
            <a:pPr lvl="0"/>
            <a:r>
              <a:rPr lang="ar-EG" dirty="0"/>
              <a:t>تعديل النص</a:t>
            </a:r>
            <a:endParaRPr lang="en-US" dirty="0"/>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lang="en-US" dirty="0"/>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lang="en-US" dirty="0"/>
          </a:p>
          <a:p>
            <a:pPr lvl="0"/>
            <a:endParaRPr lang="en-US" dirty="0"/>
          </a:p>
        </p:txBody>
      </p:sp>
      <p:sp>
        <p:nvSpPr>
          <p:cNvPr id="78" name="Text Placeholder 6"/>
          <p:cNvSpPr>
            <a:spLocks noGrp="1"/>
          </p:cNvSpPr>
          <p:nvPr>
            <p:ph type="body" sz="quarter" idx="94" hasCustomPrompt="1"/>
          </p:nvPr>
        </p:nvSpPr>
        <p:spPr>
          <a:xfrm>
            <a:off x="7715771" y="5768146"/>
            <a:ext cx="365760" cy="365760"/>
          </a:xfrm>
          <a:prstGeom prst="rect">
            <a:avLst/>
          </a:prstGeom>
          <a:solidFill>
            <a:schemeClr val="accent2"/>
          </a:solidFill>
          <a:ln w="15875">
            <a:noFill/>
          </a:ln>
        </p:spPr>
        <p:txBody>
          <a:bodyPr wrap="square" lIns="0" tIns="64008" rIns="0" bIns="0" anchor="ctr" anchorCtr="0">
            <a:noAutofit/>
          </a:bodyPr>
          <a:lstStyle>
            <a:lvl1pPr marL="0" indent="0" algn="ctr" rtl="1">
              <a:lnSpc>
                <a:spcPct val="100000"/>
              </a:lnSpc>
              <a:spcBef>
                <a:spcPts val="0"/>
              </a:spcBef>
              <a:buNone/>
              <a:defRPr sz="2000" b="1" kern="0" baseline="0">
                <a:solidFill>
                  <a:schemeClr val="bg1"/>
                </a:solidFill>
              </a:defRPr>
            </a:lvl1pPr>
          </a:lstStyle>
          <a:p>
            <a:pPr lvl="0"/>
            <a:r>
              <a:rPr lang="en-US" dirty="0"/>
              <a:t>#</a:t>
            </a:r>
          </a:p>
        </p:txBody>
      </p:sp>
      <p:sp>
        <p:nvSpPr>
          <p:cNvPr id="79" name="Text Placeholder 11"/>
          <p:cNvSpPr>
            <a:spLocks noGrp="1"/>
          </p:cNvSpPr>
          <p:nvPr>
            <p:ph type="body" sz="quarter" idx="95" hasCustomPrompt="1"/>
          </p:nvPr>
        </p:nvSpPr>
        <p:spPr>
          <a:xfrm>
            <a:off x="830980" y="1982676"/>
            <a:ext cx="2754247" cy="228600"/>
          </a:xfrm>
        </p:spPr>
        <p:txBody>
          <a:bodyPr lIns="0" tIns="0" rIns="0" bIns="0">
            <a:noAutofit/>
          </a:bodyPr>
          <a:lstStyle>
            <a:lvl1pPr marL="0" indent="0" algn="r" rtl="1">
              <a:buNone/>
              <a:defRPr sz="1800" b="1">
                <a:solidFill>
                  <a:schemeClr val="accent1"/>
                </a:solidFill>
              </a:defRPr>
            </a:lvl1pPr>
          </a:lstStyle>
          <a:p>
            <a:pPr lvl="0"/>
            <a:r>
              <a:rPr lang="ar-EG" dirty="0"/>
              <a:t>العنوان</a:t>
            </a:r>
            <a:endParaRPr lang="en-US" dirty="0"/>
          </a:p>
        </p:txBody>
      </p:sp>
      <p:sp>
        <p:nvSpPr>
          <p:cNvPr id="80" name="Text Placeholder 11"/>
          <p:cNvSpPr>
            <a:spLocks noGrp="1"/>
          </p:cNvSpPr>
          <p:nvPr>
            <p:ph type="body" sz="quarter" idx="96" hasCustomPrompt="1"/>
          </p:nvPr>
        </p:nvSpPr>
        <p:spPr>
          <a:xfrm>
            <a:off x="827758" y="2237310"/>
            <a:ext cx="2766892" cy="270175"/>
          </a:xfrm>
        </p:spPr>
        <p:txBody>
          <a:bodyPr lIns="0" tIns="0" rIns="0" bIns="0">
            <a:noAutofit/>
          </a:bodyPr>
          <a:lstStyle>
            <a:lvl1pPr marL="0" marR="0" indent="0" algn="r" defTabSz="914400" rtl="1" eaLnBrk="1" fontAlgn="auto" latinLnBrk="0" hangingPunct="1">
              <a:lnSpc>
                <a:spcPct val="90000"/>
              </a:lnSpc>
              <a:spcBef>
                <a:spcPts val="1000"/>
              </a:spcBef>
              <a:spcAft>
                <a:spcPts val="0"/>
              </a:spcAft>
              <a:buClrTx/>
              <a:buSzTx/>
              <a:buFont typeface="Arial" panose="020B0604020202020204" pitchFamily="34" charset="0"/>
              <a:buNone/>
              <a:tabLst/>
              <a:defRPr sz="1600" b="0" baseline="0">
                <a:solidFill>
                  <a:schemeClr val="tx1">
                    <a:lumMod val="50000"/>
                    <a:lumOff val="50000"/>
                  </a:schemeClr>
                </a:solidFill>
              </a:defRPr>
            </a:lvl1pPr>
          </a:lstStyle>
          <a:p>
            <a:pPr lvl="0"/>
            <a:r>
              <a:rPr lang="ar-EG" dirty="0"/>
              <a:t>تعديل النص</a:t>
            </a:r>
            <a:endParaRPr lang="en-US" dirty="0"/>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lang="en-US" dirty="0"/>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lang="en-US" dirty="0"/>
          </a:p>
          <a:p>
            <a:pPr lvl="0"/>
            <a:endParaRPr lang="en-US" dirty="0"/>
          </a:p>
        </p:txBody>
      </p:sp>
      <p:sp>
        <p:nvSpPr>
          <p:cNvPr id="81" name="Text Placeholder 6"/>
          <p:cNvSpPr>
            <a:spLocks noGrp="1"/>
          </p:cNvSpPr>
          <p:nvPr>
            <p:ph type="body" sz="quarter" idx="97" hasCustomPrompt="1"/>
          </p:nvPr>
        </p:nvSpPr>
        <p:spPr>
          <a:xfrm>
            <a:off x="3882364" y="1897569"/>
            <a:ext cx="365760" cy="365760"/>
          </a:xfrm>
          <a:prstGeom prst="rect">
            <a:avLst/>
          </a:prstGeom>
          <a:solidFill>
            <a:schemeClr val="accent1"/>
          </a:solidFill>
          <a:ln w="15875">
            <a:noFill/>
          </a:ln>
        </p:spPr>
        <p:txBody>
          <a:bodyPr wrap="square" lIns="0" tIns="64008" rIns="0" bIns="0" anchor="ctr" anchorCtr="0">
            <a:noAutofit/>
          </a:bodyPr>
          <a:lstStyle>
            <a:lvl1pPr marL="0" indent="0" algn="ctr" rtl="1">
              <a:lnSpc>
                <a:spcPct val="100000"/>
              </a:lnSpc>
              <a:spcBef>
                <a:spcPts val="0"/>
              </a:spcBef>
              <a:buNone/>
              <a:defRPr sz="2000" b="1" kern="0" baseline="0">
                <a:solidFill>
                  <a:schemeClr val="bg1"/>
                </a:solidFill>
              </a:defRPr>
            </a:lvl1pPr>
          </a:lstStyle>
          <a:p>
            <a:pPr lvl="0"/>
            <a:r>
              <a:rPr lang="en-US" dirty="0"/>
              <a:t>#</a:t>
            </a:r>
          </a:p>
        </p:txBody>
      </p:sp>
      <p:sp>
        <p:nvSpPr>
          <p:cNvPr id="82" name="Text Placeholder 11"/>
          <p:cNvSpPr>
            <a:spLocks noGrp="1"/>
          </p:cNvSpPr>
          <p:nvPr>
            <p:ph type="body" sz="quarter" idx="98" hasCustomPrompt="1"/>
          </p:nvPr>
        </p:nvSpPr>
        <p:spPr>
          <a:xfrm>
            <a:off x="830980" y="1208831"/>
            <a:ext cx="2754247" cy="228600"/>
          </a:xfrm>
        </p:spPr>
        <p:txBody>
          <a:bodyPr lIns="0" tIns="0" rIns="0" bIns="0">
            <a:noAutofit/>
          </a:bodyPr>
          <a:lstStyle>
            <a:lvl1pPr marL="0" indent="0" algn="r" rtl="1">
              <a:buNone/>
              <a:defRPr sz="1800" b="1">
                <a:solidFill>
                  <a:schemeClr val="accent2">
                    <a:lumMod val="75000"/>
                  </a:schemeClr>
                </a:solidFill>
              </a:defRPr>
            </a:lvl1pPr>
          </a:lstStyle>
          <a:p>
            <a:pPr lvl="0"/>
            <a:r>
              <a:rPr lang="ar-EG" dirty="0"/>
              <a:t>العنوان</a:t>
            </a:r>
            <a:endParaRPr lang="en-US" dirty="0"/>
          </a:p>
        </p:txBody>
      </p:sp>
      <p:sp>
        <p:nvSpPr>
          <p:cNvPr id="83" name="Text Placeholder 11"/>
          <p:cNvSpPr>
            <a:spLocks noGrp="1"/>
          </p:cNvSpPr>
          <p:nvPr>
            <p:ph type="body" sz="quarter" idx="99" hasCustomPrompt="1"/>
          </p:nvPr>
        </p:nvSpPr>
        <p:spPr>
          <a:xfrm>
            <a:off x="827758" y="1463465"/>
            <a:ext cx="2766892" cy="270175"/>
          </a:xfrm>
        </p:spPr>
        <p:txBody>
          <a:bodyPr lIns="0" tIns="0" rIns="0" bIns="0">
            <a:noAutofit/>
          </a:bodyPr>
          <a:lstStyle>
            <a:lvl1pPr marL="0" marR="0" indent="0" algn="r" defTabSz="914400" rtl="1" eaLnBrk="1" fontAlgn="auto" latinLnBrk="0" hangingPunct="1">
              <a:lnSpc>
                <a:spcPct val="90000"/>
              </a:lnSpc>
              <a:spcBef>
                <a:spcPts val="1000"/>
              </a:spcBef>
              <a:spcAft>
                <a:spcPts val="0"/>
              </a:spcAft>
              <a:buClrTx/>
              <a:buSzTx/>
              <a:buFont typeface="Arial" panose="020B0604020202020204" pitchFamily="34" charset="0"/>
              <a:buNone/>
              <a:tabLst/>
              <a:defRPr sz="1600" b="0" baseline="0">
                <a:solidFill>
                  <a:schemeClr val="tx1">
                    <a:lumMod val="50000"/>
                    <a:lumOff val="50000"/>
                  </a:schemeClr>
                </a:solidFill>
              </a:defRPr>
            </a:lvl1pPr>
          </a:lstStyle>
          <a:p>
            <a:pPr lvl="0"/>
            <a:r>
              <a:rPr lang="ar-EG" dirty="0"/>
              <a:t>تعديل النص</a:t>
            </a:r>
            <a:endParaRPr lang="en-US" dirty="0"/>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lang="en-US" dirty="0"/>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lang="en-US" dirty="0"/>
          </a:p>
          <a:p>
            <a:pPr lvl="0"/>
            <a:endParaRPr lang="en-US" dirty="0"/>
          </a:p>
        </p:txBody>
      </p:sp>
      <p:sp>
        <p:nvSpPr>
          <p:cNvPr id="84" name="Text Placeholder 6"/>
          <p:cNvSpPr>
            <a:spLocks noGrp="1"/>
          </p:cNvSpPr>
          <p:nvPr>
            <p:ph type="body" sz="quarter" idx="100" hasCustomPrompt="1"/>
          </p:nvPr>
        </p:nvSpPr>
        <p:spPr>
          <a:xfrm>
            <a:off x="3882364" y="1123724"/>
            <a:ext cx="365760" cy="365760"/>
          </a:xfrm>
          <a:prstGeom prst="rect">
            <a:avLst/>
          </a:prstGeom>
          <a:solidFill>
            <a:schemeClr val="accent2"/>
          </a:solidFill>
          <a:ln w="15875">
            <a:noFill/>
          </a:ln>
        </p:spPr>
        <p:txBody>
          <a:bodyPr wrap="square" lIns="0" tIns="64008" rIns="0" bIns="0" anchor="ctr" anchorCtr="0">
            <a:noAutofit/>
          </a:bodyPr>
          <a:lstStyle>
            <a:lvl1pPr marL="0" indent="0" algn="ctr" rtl="1">
              <a:lnSpc>
                <a:spcPct val="100000"/>
              </a:lnSpc>
              <a:spcBef>
                <a:spcPts val="0"/>
              </a:spcBef>
              <a:buNone/>
              <a:defRPr sz="2000" b="1" kern="0" baseline="0">
                <a:solidFill>
                  <a:schemeClr val="bg1"/>
                </a:solidFill>
              </a:defRPr>
            </a:lvl1pPr>
          </a:lstStyle>
          <a:p>
            <a:pPr lvl="0"/>
            <a:r>
              <a:rPr lang="en-US" dirty="0"/>
              <a:t>#</a:t>
            </a:r>
          </a:p>
        </p:txBody>
      </p:sp>
      <p:sp>
        <p:nvSpPr>
          <p:cNvPr id="85" name="Text Placeholder 11"/>
          <p:cNvSpPr>
            <a:spLocks noGrp="1"/>
          </p:cNvSpPr>
          <p:nvPr>
            <p:ph type="body" sz="quarter" idx="101" hasCustomPrompt="1"/>
          </p:nvPr>
        </p:nvSpPr>
        <p:spPr>
          <a:xfrm>
            <a:off x="830980" y="5853253"/>
            <a:ext cx="2754247" cy="228600"/>
          </a:xfrm>
        </p:spPr>
        <p:txBody>
          <a:bodyPr lIns="0" tIns="0" rIns="0" bIns="0">
            <a:noAutofit/>
          </a:bodyPr>
          <a:lstStyle>
            <a:lvl1pPr marL="0" indent="0" algn="r" rtl="1">
              <a:buNone/>
              <a:defRPr sz="1800" b="1">
                <a:solidFill>
                  <a:schemeClr val="accent2">
                    <a:lumMod val="75000"/>
                  </a:schemeClr>
                </a:solidFill>
              </a:defRPr>
            </a:lvl1pPr>
          </a:lstStyle>
          <a:p>
            <a:pPr lvl="0"/>
            <a:r>
              <a:rPr lang="ar-EG" dirty="0"/>
              <a:t>العنوان</a:t>
            </a:r>
            <a:endParaRPr lang="en-US" dirty="0"/>
          </a:p>
        </p:txBody>
      </p:sp>
      <p:sp>
        <p:nvSpPr>
          <p:cNvPr id="86" name="Text Placeholder 11"/>
          <p:cNvSpPr>
            <a:spLocks noGrp="1"/>
          </p:cNvSpPr>
          <p:nvPr>
            <p:ph type="body" sz="quarter" idx="102" hasCustomPrompt="1"/>
          </p:nvPr>
        </p:nvSpPr>
        <p:spPr>
          <a:xfrm>
            <a:off x="827758" y="6107887"/>
            <a:ext cx="2766892" cy="270175"/>
          </a:xfrm>
        </p:spPr>
        <p:txBody>
          <a:bodyPr lIns="0" tIns="0" rIns="0" bIns="0">
            <a:noAutofit/>
          </a:bodyPr>
          <a:lstStyle>
            <a:lvl1pPr marL="0" marR="0" indent="0" algn="r" defTabSz="914400" rtl="1" eaLnBrk="1" fontAlgn="auto" latinLnBrk="0" hangingPunct="1">
              <a:lnSpc>
                <a:spcPct val="90000"/>
              </a:lnSpc>
              <a:spcBef>
                <a:spcPts val="1000"/>
              </a:spcBef>
              <a:spcAft>
                <a:spcPts val="0"/>
              </a:spcAft>
              <a:buClrTx/>
              <a:buSzTx/>
              <a:buFont typeface="Arial" panose="020B0604020202020204" pitchFamily="34" charset="0"/>
              <a:buNone/>
              <a:tabLst/>
              <a:defRPr sz="1600" b="0" baseline="0">
                <a:solidFill>
                  <a:schemeClr val="tx1">
                    <a:lumMod val="50000"/>
                    <a:lumOff val="50000"/>
                  </a:schemeClr>
                </a:solidFill>
              </a:defRPr>
            </a:lvl1pPr>
          </a:lstStyle>
          <a:p>
            <a:pPr lvl="0"/>
            <a:r>
              <a:rPr lang="ar-EG" dirty="0"/>
              <a:t>تعديل النص</a:t>
            </a:r>
            <a:endParaRPr lang="en-US" dirty="0"/>
          </a:p>
        </p:txBody>
      </p:sp>
      <p:sp>
        <p:nvSpPr>
          <p:cNvPr id="87" name="Text Placeholder 6"/>
          <p:cNvSpPr>
            <a:spLocks noGrp="1"/>
          </p:cNvSpPr>
          <p:nvPr>
            <p:ph type="body" sz="quarter" idx="103" hasCustomPrompt="1"/>
          </p:nvPr>
        </p:nvSpPr>
        <p:spPr>
          <a:xfrm>
            <a:off x="3882364" y="5768146"/>
            <a:ext cx="365760" cy="365760"/>
          </a:xfrm>
          <a:prstGeom prst="rect">
            <a:avLst/>
          </a:prstGeom>
          <a:solidFill>
            <a:schemeClr val="accent2"/>
          </a:solidFill>
          <a:ln w="15875">
            <a:noFill/>
          </a:ln>
        </p:spPr>
        <p:txBody>
          <a:bodyPr wrap="square" lIns="0" tIns="64008" rIns="0" bIns="0" anchor="ctr" anchorCtr="0">
            <a:noAutofit/>
          </a:bodyPr>
          <a:lstStyle>
            <a:lvl1pPr marL="0" indent="0" algn="ctr" rtl="1">
              <a:lnSpc>
                <a:spcPct val="100000"/>
              </a:lnSpc>
              <a:spcBef>
                <a:spcPts val="0"/>
              </a:spcBef>
              <a:buNone/>
              <a:defRPr sz="2000" b="1" kern="0" baseline="0">
                <a:solidFill>
                  <a:schemeClr val="bg1"/>
                </a:solidFill>
              </a:defRPr>
            </a:lvl1pPr>
          </a:lstStyle>
          <a:p>
            <a:pPr lvl="0"/>
            <a:r>
              <a:rPr lang="en-US" dirty="0"/>
              <a:t>#</a:t>
            </a:r>
          </a:p>
        </p:txBody>
      </p:sp>
      <p:sp>
        <p:nvSpPr>
          <p:cNvPr id="129" name="Slide Number Placeholder 5"/>
          <p:cNvSpPr>
            <a:spLocks noGrp="1"/>
          </p:cNvSpPr>
          <p:nvPr>
            <p:ph type="sldNum" sz="quarter" idx="4"/>
          </p:nvPr>
        </p:nvSpPr>
        <p:spPr>
          <a:xfrm>
            <a:off x="621452" y="6335328"/>
            <a:ext cx="439703" cy="320040"/>
          </a:xfrm>
          <a:prstGeom prst="rect">
            <a:avLst/>
          </a:prstGeom>
          <a:noFill/>
          <a:ln>
            <a:noFill/>
          </a:ln>
        </p:spPr>
        <p:txBody>
          <a:bodyPr vert="horz" lIns="0" tIns="0" rIns="0" bIns="0" rtlCol="0" anchor="ctr"/>
          <a:lstStyle>
            <a:lvl1pPr algn="l">
              <a:defRPr lang="en-US" sz="1400" b="1" smtClean="0">
                <a:solidFill>
                  <a:schemeClr val="accent1"/>
                </a:solidFill>
              </a:defRPr>
            </a:lvl1pPr>
          </a:lstStyle>
          <a:p>
            <a:pPr rtl="1"/>
            <a:r>
              <a:rPr lang="en-US"/>
              <a:t>#</a:t>
            </a:r>
            <a:endParaRPr lang="en-US" dirty="0"/>
          </a:p>
        </p:txBody>
      </p:sp>
      <p:pic>
        <p:nvPicPr>
          <p:cNvPr id="5" name="Picture 4">
            <a:extLst>
              <a:ext uri="{FF2B5EF4-FFF2-40B4-BE49-F238E27FC236}">
                <a16:creationId xmlns:a16="http://schemas.microsoft.com/office/drawing/2014/main" id="{4075B88D-BA01-1F9E-6243-DA286D73D28B}"/>
              </a:ext>
            </a:extLst>
          </p:cNvPr>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621452" y="277136"/>
            <a:ext cx="2464906" cy="36576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19418984"/>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drape" invX="1"/>
      </p:transition>
    </mc:Choice>
    <mc:Fallback xmlns="">
      <p:transition spd="slow">
        <p:fade/>
      </p:transition>
    </mc:Fallback>
  </mc:AlternateContent>
  <p:extLst>
    <p:ext uri="{DCECCB84-F9BA-43D5-87BE-67443E8EF086}">
      <p15:sldGuideLst xmlns:p15="http://schemas.microsoft.com/office/powerpoint/2012/main">
        <p15:guide id="1" pos="960">
          <p15:clr>
            <a:srgbClr val="FBAE40"/>
          </p15:clr>
        </p15:guide>
        <p15:guide id="2" pos="6720">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showMasterPhAnim="0" preserve="1" userDrawn="1">
  <p:cSld name="1_Agenda (bi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CF56EA63-0ACA-2641-5B9B-A593E15C93E8}"/>
              </a:ext>
            </a:extLst>
          </p:cNvPr>
          <p:cNvSpPr/>
          <p:nvPr userDrawn="1"/>
        </p:nvSpPr>
        <p:spPr>
          <a:xfrm>
            <a:off x="9003322" y="0"/>
            <a:ext cx="3188677" cy="6858000"/>
          </a:xfrm>
          <a:prstGeom prst="rect">
            <a:avLst/>
          </a:prstGeom>
          <a:gradFill>
            <a:gsLst>
              <a:gs pos="0">
                <a:schemeClr val="accent2"/>
              </a:gs>
              <a:gs pos="46000">
                <a:schemeClr val="accent1"/>
              </a:gs>
            </a:gsLst>
            <a:lin ang="12000000" scaled="0"/>
          </a:gradFill>
          <a:ln w="0">
            <a:noFill/>
            <a:prstDash val="solid"/>
            <a:round/>
            <a:headEnd/>
            <a:tailEnd/>
          </a:ln>
        </p:spPr>
        <p:txBody>
          <a:bodyPr vert="horz" wrap="square" lIns="91440" tIns="45720" rIns="91440" bIns="45720" numCol="1" anchor="t" anchorCtr="0" compatLnSpc="1">
            <a:prstTxWarp prst="textNoShape">
              <a:avLst/>
            </a:prstTxWarp>
            <a:noAutofit/>
          </a:bodyPr>
          <a:lstStyle/>
          <a:p>
            <a:pPr lvl="0"/>
            <a:endParaRPr lang="en-US">
              <a:solidFill>
                <a:schemeClr val="tx1"/>
              </a:solidFill>
            </a:endParaRPr>
          </a:p>
        </p:txBody>
      </p:sp>
      <p:sp>
        <p:nvSpPr>
          <p:cNvPr id="179" name="Date Placeholder 2"/>
          <p:cNvSpPr>
            <a:spLocks noGrp="1"/>
          </p:cNvSpPr>
          <p:nvPr>
            <p:ph type="dt" sz="half" idx="10"/>
          </p:nvPr>
        </p:nvSpPr>
        <p:spPr>
          <a:xfrm>
            <a:off x="1126155" y="6372408"/>
            <a:ext cx="1875631" cy="365125"/>
          </a:xfrm>
          <a:prstGeom prst="rect">
            <a:avLst/>
          </a:prstGeom>
        </p:spPr>
        <p:txBody>
          <a:bodyPr/>
          <a:lstStyle>
            <a:lvl1pPr algn="r" rtl="1">
              <a:defRPr/>
            </a:lvl1pPr>
          </a:lstStyle>
          <a:p>
            <a:fld id="{D07F32C4-027C-41E7-9CB9-C0506AA6389A}" type="datetime1">
              <a:rPr lang="en-US" smtClean="0"/>
              <a:pPr/>
              <a:t>5/14/2025</a:t>
            </a:fld>
            <a:endParaRPr lang="en-US"/>
          </a:p>
        </p:txBody>
      </p:sp>
      <p:sp>
        <p:nvSpPr>
          <p:cNvPr id="180" name="Footer Placeholder 3"/>
          <p:cNvSpPr>
            <a:spLocks noGrp="1"/>
          </p:cNvSpPr>
          <p:nvPr>
            <p:ph type="ftr" sz="quarter" idx="11"/>
          </p:nvPr>
        </p:nvSpPr>
        <p:spPr>
          <a:xfrm>
            <a:off x="4389600" y="6367630"/>
            <a:ext cx="3691931" cy="365125"/>
          </a:xfrm>
          <a:prstGeom prst="rect">
            <a:avLst/>
          </a:prstGeom>
        </p:spPr>
        <p:txBody>
          <a:bodyPr/>
          <a:lstStyle>
            <a:lvl1pPr rtl="1">
              <a:defRPr/>
            </a:lvl1pPr>
          </a:lstStyle>
          <a:p>
            <a:endParaRPr lang="en-US" dirty="0"/>
          </a:p>
        </p:txBody>
      </p:sp>
      <p:sp>
        <p:nvSpPr>
          <p:cNvPr id="181" name="Slide Number Placeholder 4"/>
          <p:cNvSpPr>
            <a:spLocks noGrp="1"/>
          </p:cNvSpPr>
          <p:nvPr>
            <p:ph type="sldNum" sz="quarter" idx="12"/>
          </p:nvPr>
        </p:nvSpPr>
        <p:spPr>
          <a:xfrm>
            <a:off x="621452" y="6335328"/>
            <a:ext cx="439703" cy="320040"/>
          </a:xfrm>
        </p:spPr>
        <p:txBody>
          <a:bodyPr/>
          <a:lstStyle>
            <a:lvl1pPr algn="l" rtl="1">
              <a:defRPr sz="1200">
                <a:solidFill>
                  <a:schemeClr val="accent1"/>
                </a:solidFill>
              </a:defRPr>
            </a:lvl1pPr>
          </a:lstStyle>
          <a:p>
            <a:fld id="{46ED658E-7B78-4C3F-B2D4-66856F143B40}" type="slidenum">
              <a:rPr lang="en-US" smtClean="0"/>
              <a:pPr/>
              <a:t>‹#›</a:t>
            </a:fld>
            <a:endParaRPr lang="en-US" dirty="0"/>
          </a:p>
        </p:txBody>
      </p:sp>
      <p:sp>
        <p:nvSpPr>
          <p:cNvPr id="182" name="Title 1"/>
          <p:cNvSpPr>
            <a:spLocks noGrp="1"/>
          </p:cNvSpPr>
          <p:nvPr>
            <p:ph type="title" hasCustomPrompt="1"/>
          </p:nvPr>
        </p:nvSpPr>
        <p:spPr>
          <a:xfrm>
            <a:off x="9207769" y="3185566"/>
            <a:ext cx="2779783" cy="486869"/>
          </a:xfrm>
        </p:spPr>
        <p:txBody>
          <a:bodyPr>
            <a:noAutofit/>
          </a:bodyPr>
          <a:lstStyle>
            <a:lvl1pPr algn="ctr">
              <a:defRPr sz="3600" spc="200" baseline="0">
                <a:solidFill>
                  <a:schemeClr val="bg1"/>
                </a:solidFill>
              </a:defRPr>
            </a:lvl1pPr>
          </a:lstStyle>
          <a:p>
            <a:r>
              <a:rPr lang="ar-EG" dirty="0"/>
              <a:t>جدول المحتويات</a:t>
            </a:r>
            <a:endParaRPr lang="en-US" dirty="0"/>
          </a:p>
        </p:txBody>
      </p:sp>
      <p:sp>
        <p:nvSpPr>
          <p:cNvPr id="183" name="Text Placeholder 11"/>
          <p:cNvSpPr>
            <a:spLocks noGrp="1"/>
          </p:cNvSpPr>
          <p:nvPr>
            <p:ph type="body" sz="quarter" idx="20" hasCustomPrompt="1"/>
          </p:nvPr>
        </p:nvSpPr>
        <p:spPr>
          <a:xfrm>
            <a:off x="1307048" y="1477694"/>
            <a:ext cx="2413319" cy="228600"/>
          </a:xfrm>
        </p:spPr>
        <p:txBody>
          <a:bodyPr vert="horz" lIns="0" tIns="0" rIns="0" bIns="0" rtlCol="0">
            <a:noAutofit/>
          </a:bodyPr>
          <a:lstStyle>
            <a:lvl1pPr>
              <a:defRPr lang="en-US" sz="1800" b="1" dirty="0">
                <a:solidFill>
                  <a:schemeClr val="accent2"/>
                </a:solidFill>
              </a:defRPr>
            </a:lvl1pPr>
          </a:lstStyle>
          <a:p>
            <a:pPr lvl="0"/>
            <a:r>
              <a:rPr lang="ar-EG" dirty="0"/>
              <a:t>العنوان</a:t>
            </a:r>
            <a:endParaRPr lang="en-US" dirty="0"/>
          </a:p>
        </p:txBody>
      </p:sp>
      <p:sp>
        <p:nvSpPr>
          <p:cNvPr id="184" name="Text Placeholder 11"/>
          <p:cNvSpPr>
            <a:spLocks noGrp="1"/>
          </p:cNvSpPr>
          <p:nvPr>
            <p:ph type="body" sz="quarter" idx="23" hasCustomPrompt="1"/>
          </p:nvPr>
        </p:nvSpPr>
        <p:spPr>
          <a:xfrm>
            <a:off x="4980125" y="1477694"/>
            <a:ext cx="2413319" cy="228600"/>
          </a:xfrm>
        </p:spPr>
        <p:txBody>
          <a:bodyPr vert="horz" lIns="0" tIns="0" rIns="0" bIns="0" rtlCol="0">
            <a:noAutofit/>
          </a:bodyPr>
          <a:lstStyle>
            <a:lvl1pPr>
              <a:defRPr lang="en-US" sz="1800" b="1" dirty="0">
                <a:solidFill>
                  <a:schemeClr val="accent2"/>
                </a:solidFill>
              </a:defRPr>
            </a:lvl1pPr>
          </a:lstStyle>
          <a:p>
            <a:pPr lvl="0"/>
            <a:r>
              <a:rPr lang="ar-EG" dirty="0"/>
              <a:t>العنوان</a:t>
            </a:r>
            <a:endParaRPr lang="en-US" dirty="0"/>
          </a:p>
        </p:txBody>
      </p:sp>
      <p:sp>
        <p:nvSpPr>
          <p:cNvPr id="185" name="Text Placeholder 11"/>
          <p:cNvSpPr>
            <a:spLocks noGrp="1"/>
          </p:cNvSpPr>
          <p:nvPr>
            <p:ph type="body" sz="quarter" idx="32" hasCustomPrompt="1"/>
          </p:nvPr>
        </p:nvSpPr>
        <p:spPr>
          <a:xfrm>
            <a:off x="1307048" y="2304763"/>
            <a:ext cx="2413319" cy="228600"/>
          </a:xfrm>
        </p:spPr>
        <p:txBody>
          <a:bodyPr vert="horz" lIns="0" tIns="0" rIns="0" bIns="0" rtlCol="0">
            <a:noAutofit/>
          </a:bodyPr>
          <a:lstStyle>
            <a:lvl1pPr>
              <a:defRPr lang="en-US" sz="1800" b="1" dirty="0">
                <a:solidFill>
                  <a:schemeClr val="accent1"/>
                </a:solidFill>
              </a:defRPr>
            </a:lvl1pPr>
          </a:lstStyle>
          <a:p>
            <a:pPr lvl="0"/>
            <a:r>
              <a:rPr lang="ar-EG" dirty="0"/>
              <a:t>العنوان</a:t>
            </a:r>
            <a:endParaRPr lang="en-US" dirty="0"/>
          </a:p>
        </p:txBody>
      </p:sp>
      <p:sp>
        <p:nvSpPr>
          <p:cNvPr id="186" name="Text Placeholder 11"/>
          <p:cNvSpPr>
            <a:spLocks noGrp="1"/>
          </p:cNvSpPr>
          <p:nvPr>
            <p:ph type="body" sz="quarter" idx="35" hasCustomPrompt="1"/>
          </p:nvPr>
        </p:nvSpPr>
        <p:spPr>
          <a:xfrm>
            <a:off x="4980125" y="2304763"/>
            <a:ext cx="2413319" cy="228600"/>
          </a:xfrm>
        </p:spPr>
        <p:txBody>
          <a:bodyPr vert="horz" lIns="0" tIns="0" rIns="0" bIns="0" rtlCol="0">
            <a:noAutofit/>
          </a:bodyPr>
          <a:lstStyle>
            <a:lvl1pPr>
              <a:defRPr lang="en-US" sz="1800" b="1" dirty="0">
                <a:solidFill>
                  <a:schemeClr val="accent1"/>
                </a:solidFill>
              </a:defRPr>
            </a:lvl1pPr>
          </a:lstStyle>
          <a:p>
            <a:pPr lvl="0"/>
            <a:r>
              <a:rPr lang="ar-EG" dirty="0"/>
              <a:t>العنوان</a:t>
            </a:r>
            <a:endParaRPr lang="en-US" dirty="0"/>
          </a:p>
        </p:txBody>
      </p:sp>
      <p:sp>
        <p:nvSpPr>
          <p:cNvPr id="187" name="Text Placeholder 11"/>
          <p:cNvSpPr>
            <a:spLocks noGrp="1"/>
          </p:cNvSpPr>
          <p:nvPr>
            <p:ph type="body" sz="quarter" idx="44" hasCustomPrompt="1"/>
          </p:nvPr>
        </p:nvSpPr>
        <p:spPr>
          <a:xfrm>
            <a:off x="1307048" y="3131832"/>
            <a:ext cx="2413319" cy="228600"/>
          </a:xfrm>
        </p:spPr>
        <p:txBody>
          <a:bodyPr vert="horz" lIns="0" tIns="0" rIns="0" bIns="0" rtlCol="0">
            <a:noAutofit/>
          </a:bodyPr>
          <a:lstStyle>
            <a:lvl1pPr>
              <a:defRPr lang="en-US" sz="1800" b="1" dirty="0">
                <a:solidFill>
                  <a:schemeClr val="accent2"/>
                </a:solidFill>
              </a:defRPr>
            </a:lvl1pPr>
          </a:lstStyle>
          <a:p>
            <a:pPr lvl="0"/>
            <a:r>
              <a:rPr lang="ar-EG" dirty="0"/>
              <a:t>العنوان</a:t>
            </a:r>
            <a:endParaRPr lang="en-US" dirty="0"/>
          </a:p>
        </p:txBody>
      </p:sp>
      <p:sp>
        <p:nvSpPr>
          <p:cNvPr id="188" name="Text Placeholder 11"/>
          <p:cNvSpPr>
            <a:spLocks noGrp="1"/>
          </p:cNvSpPr>
          <p:nvPr>
            <p:ph type="body" sz="quarter" idx="47" hasCustomPrompt="1"/>
          </p:nvPr>
        </p:nvSpPr>
        <p:spPr>
          <a:xfrm>
            <a:off x="4980125" y="3131832"/>
            <a:ext cx="2413319" cy="228600"/>
          </a:xfrm>
        </p:spPr>
        <p:txBody>
          <a:bodyPr vert="horz" lIns="0" tIns="0" rIns="0" bIns="0" rtlCol="0">
            <a:noAutofit/>
          </a:bodyPr>
          <a:lstStyle>
            <a:lvl1pPr>
              <a:defRPr lang="en-US" sz="1800" b="1" dirty="0">
                <a:solidFill>
                  <a:schemeClr val="accent2"/>
                </a:solidFill>
              </a:defRPr>
            </a:lvl1pPr>
          </a:lstStyle>
          <a:p>
            <a:pPr lvl="0"/>
            <a:r>
              <a:rPr lang="ar-EG" dirty="0"/>
              <a:t>العنوان</a:t>
            </a:r>
            <a:endParaRPr lang="en-US" dirty="0"/>
          </a:p>
        </p:txBody>
      </p:sp>
      <p:sp>
        <p:nvSpPr>
          <p:cNvPr id="189" name="Text Placeholder 6"/>
          <p:cNvSpPr>
            <a:spLocks noGrp="1"/>
          </p:cNvSpPr>
          <p:nvPr>
            <p:ph type="body" sz="quarter" idx="54" hasCustomPrompt="1"/>
          </p:nvPr>
        </p:nvSpPr>
        <p:spPr>
          <a:xfrm>
            <a:off x="4038533" y="1386812"/>
            <a:ext cx="365760" cy="365760"/>
          </a:xfrm>
          <a:prstGeom prst="rect">
            <a:avLst/>
          </a:prstGeom>
          <a:solidFill>
            <a:schemeClr val="accent2"/>
          </a:solidFill>
          <a:ln w="15875">
            <a:noFill/>
          </a:ln>
        </p:spPr>
        <p:txBody>
          <a:bodyPr vert="horz" wrap="square" lIns="0" tIns="64008" rIns="0" bIns="0" rtlCol="0" anchor="ctr" anchorCtr="0">
            <a:noAutofit/>
          </a:bodyPr>
          <a:lstStyle>
            <a:lvl1pPr algn="ctr">
              <a:defRPr lang="en-US" sz="2000" b="1" kern="0" baseline="0" dirty="0">
                <a:solidFill>
                  <a:schemeClr val="bg1"/>
                </a:solidFill>
              </a:defRPr>
            </a:lvl1pPr>
          </a:lstStyle>
          <a:p>
            <a:pPr lvl="0" algn="ctr">
              <a:spcBef>
                <a:spcPts val="0"/>
              </a:spcBef>
            </a:pPr>
            <a:r>
              <a:rPr lang="en-US" dirty="0"/>
              <a:t>#</a:t>
            </a:r>
          </a:p>
        </p:txBody>
      </p:sp>
      <p:sp>
        <p:nvSpPr>
          <p:cNvPr id="190" name="Text Placeholder 6"/>
          <p:cNvSpPr>
            <a:spLocks noGrp="1"/>
          </p:cNvSpPr>
          <p:nvPr>
            <p:ph type="body" sz="quarter" idx="55" hasCustomPrompt="1"/>
          </p:nvPr>
        </p:nvSpPr>
        <p:spPr>
          <a:xfrm>
            <a:off x="4038533" y="2216904"/>
            <a:ext cx="365760" cy="365760"/>
          </a:xfrm>
          <a:prstGeom prst="rect">
            <a:avLst/>
          </a:prstGeom>
          <a:solidFill>
            <a:schemeClr val="accent1"/>
          </a:solidFill>
          <a:ln w="15875">
            <a:noFill/>
          </a:ln>
        </p:spPr>
        <p:txBody>
          <a:bodyPr vert="horz" wrap="square" lIns="0" tIns="64008" rIns="0" bIns="0" rtlCol="0" anchor="ctr" anchorCtr="0">
            <a:noAutofit/>
          </a:bodyPr>
          <a:lstStyle>
            <a:lvl1pPr algn="ctr">
              <a:defRPr lang="en-US" sz="2000" b="1" kern="0" baseline="0" dirty="0">
                <a:solidFill>
                  <a:schemeClr val="bg1"/>
                </a:solidFill>
              </a:defRPr>
            </a:lvl1pPr>
          </a:lstStyle>
          <a:p>
            <a:pPr lvl="0" algn="ctr">
              <a:spcBef>
                <a:spcPts val="0"/>
              </a:spcBef>
            </a:pPr>
            <a:r>
              <a:rPr lang="en-US" dirty="0"/>
              <a:t>#</a:t>
            </a:r>
          </a:p>
        </p:txBody>
      </p:sp>
      <p:sp>
        <p:nvSpPr>
          <p:cNvPr id="191" name="Text Placeholder 6"/>
          <p:cNvSpPr>
            <a:spLocks noGrp="1"/>
          </p:cNvSpPr>
          <p:nvPr>
            <p:ph type="body" sz="quarter" idx="56" hasCustomPrompt="1"/>
          </p:nvPr>
        </p:nvSpPr>
        <p:spPr>
          <a:xfrm>
            <a:off x="4038533" y="3046996"/>
            <a:ext cx="365760" cy="365760"/>
          </a:xfrm>
          <a:prstGeom prst="rect">
            <a:avLst/>
          </a:prstGeom>
          <a:solidFill>
            <a:schemeClr val="accent2"/>
          </a:solidFill>
          <a:ln w="15875">
            <a:noFill/>
          </a:ln>
        </p:spPr>
        <p:txBody>
          <a:bodyPr vert="horz" wrap="square" lIns="0" tIns="64008" rIns="0" bIns="0" rtlCol="0" anchor="ctr" anchorCtr="0">
            <a:noAutofit/>
          </a:bodyPr>
          <a:lstStyle>
            <a:lvl1pPr algn="ctr">
              <a:defRPr lang="en-US" sz="2000" b="1" kern="0" baseline="0" dirty="0">
                <a:solidFill>
                  <a:schemeClr val="bg1"/>
                </a:solidFill>
              </a:defRPr>
            </a:lvl1pPr>
          </a:lstStyle>
          <a:p>
            <a:pPr lvl="0" algn="ctr">
              <a:spcBef>
                <a:spcPts val="0"/>
              </a:spcBef>
            </a:pPr>
            <a:r>
              <a:rPr lang="en-US" dirty="0"/>
              <a:t>#</a:t>
            </a:r>
          </a:p>
        </p:txBody>
      </p:sp>
      <p:sp>
        <p:nvSpPr>
          <p:cNvPr id="192" name="Text Placeholder 6"/>
          <p:cNvSpPr>
            <a:spLocks noGrp="1"/>
          </p:cNvSpPr>
          <p:nvPr>
            <p:ph type="body" sz="quarter" idx="57" hasCustomPrompt="1"/>
          </p:nvPr>
        </p:nvSpPr>
        <p:spPr>
          <a:xfrm>
            <a:off x="7715771" y="1386812"/>
            <a:ext cx="365760" cy="365760"/>
          </a:xfrm>
          <a:prstGeom prst="rect">
            <a:avLst/>
          </a:prstGeom>
          <a:solidFill>
            <a:schemeClr val="accent2"/>
          </a:solidFill>
          <a:ln w="15875">
            <a:noFill/>
          </a:ln>
        </p:spPr>
        <p:txBody>
          <a:bodyPr vert="horz" wrap="square" lIns="0" tIns="64008" rIns="0" bIns="0" rtlCol="0" anchor="ctr" anchorCtr="0">
            <a:noAutofit/>
          </a:bodyPr>
          <a:lstStyle>
            <a:lvl1pPr algn="ctr">
              <a:defRPr lang="en-US" sz="2000" b="1" kern="0" baseline="0" dirty="0">
                <a:solidFill>
                  <a:schemeClr val="bg1"/>
                </a:solidFill>
              </a:defRPr>
            </a:lvl1pPr>
          </a:lstStyle>
          <a:p>
            <a:pPr lvl="0" algn="ctr">
              <a:spcBef>
                <a:spcPts val="0"/>
              </a:spcBef>
            </a:pPr>
            <a:r>
              <a:rPr lang="en-US" dirty="0"/>
              <a:t>#</a:t>
            </a:r>
          </a:p>
        </p:txBody>
      </p:sp>
      <p:sp>
        <p:nvSpPr>
          <p:cNvPr id="193" name="Text Placeholder 6"/>
          <p:cNvSpPr>
            <a:spLocks noGrp="1"/>
          </p:cNvSpPr>
          <p:nvPr>
            <p:ph type="body" sz="quarter" idx="58" hasCustomPrompt="1"/>
          </p:nvPr>
        </p:nvSpPr>
        <p:spPr>
          <a:xfrm>
            <a:off x="7715771" y="2216904"/>
            <a:ext cx="365760" cy="365760"/>
          </a:xfrm>
          <a:prstGeom prst="rect">
            <a:avLst/>
          </a:prstGeom>
          <a:solidFill>
            <a:schemeClr val="accent1"/>
          </a:solidFill>
          <a:ln w="15875">
            <a:noFill/>
          </a:ln>
        </p:spPr>
        <p:txBody>
          <a:bodyPr vert="horz" wrap="square" lIns="0" tIns="64008" rIns="0" bIns="0" rtlCol="0" anchor="ctr" anchorCtr="0">
            <a:noAutofit/>
          </a:bodyPr>
          <a:lstStyle>
            <a:lvl1pPr algn="ctr">
              <a:defRPr lang="en-US" sz="2000" b="1" kern="0" baseline="0" dirty="0">
                <a:solidFill>
                  <a:schemeClr val="bg1"/>
                </a:solidFill>
              </a:defRPr>
            </a:lvl1pPr>
          </a:lstStyle>
          <a:p>
            <a:pPr lvl="0" algn="ctr">
              <a:spcBef>
                <a:spcPts val="0"/>
              </a:spcBef>
            </a:pPr>
            <a:r>
              <a:rPr lang="en-US" dirty="0"/>
              <a:t>#</a:t>
            </a:r>
          </a:p>
        </p:txBody>
      </p:sp>
      <p:sp>
        <p:nvSpPr>
          <p:cNvPr id="194" name="Text Placeholder 6"/>
          <p:cNvSpPr>
            <a:spLocks noGrp="1"/>
          </p:cNvSpPr>
          <p:nvPr>
            <p:ph type="body" sz="quarter" idx="59" hasCustomPrompt="1"/>
          </p:nvPr>
        </p:nvSpPr>
        <p:spPr>
          <a:xfrm>
            <a:off x="7715771" y="3046996"/>
            <a:ext cx="365760" cy="365760"/>
          </a:xfrm>
          <a:prstGeom prst="rect">
            <a:avLst/>
          </a:prstGeom>
          <a:solidFill>
            <a:schemeClr val="accent2"/>
          </a:solidFill>
          <a:ln w="15875">
            <a:noFill/>
          </a:ln>
        </p:spPr>
        <p:txBody>
          <a:bodyPr vert="horz" wrap="square" lIns="0" tIns="64008" rIns="0" bIns="0" rtlCol="0" anchor="ctr" anchorCtr="0">
            <a:noAutofit/>
          </a:bodyPr>
          <a:lstStyle>
            <a:lvl1pPr algn="ctr">
              <a:defRPr lang="en-US" sz="2000" b="1" kern="0" baseline="0" dirty="0">
                <a:solidFill>
                  <a:schemeClr val="bg1"/>
                </a:solidFill>
              </a:defRPr>
            </a:lvl1pPr>
          </a:lstStyle>
          <a:p>
            <a:pPr lvl="0" algn="ctr">
              <a:spcBef>
                <a:spcPts val="0"/>
              </a:spcBef>
            </a:pPr>
            <a:r>
              <a:rPr lang="en-US" dirty="0"/>
              <a:t>#</a:t>
            </a:r>
          </a:p>
        </p:txBody>
      </p:sp>
      <p:sp>
        <p:nvSpPr>
          <p:cNvPr id="195" name="Text Placeholder 11"/>
          <p:cNvSpPr>
            <a:spLocks noGrp="1"/>
          </p:cNvSpPr>
          <p:nvPr>
            <p:ph type="body" sz="quarter" idx="60" hasCustomPrompt="1"/>
          </p:nvPr>
        </p:nvSpPr>
        <p:spPr>
          <a:xfrm>
            <a:off x="1307048" y="3968953"/>
            <a:ext cx="2413319" cy="228600"/>
          </a:xfrm>
        </p:spPr>
        <p:txBody>
          <a:bodyPr vert="horz" lIns="0" tIns="0" rIns="0" bIns="0" rtlCol="0">
            <a:noAutofit/>
          </a:bodyPr>
          <a:lstStyle>
            <a:lvl1pPr>
              <a:defRPr lang="en-US" sz="1800" b="1" dirty="0">
                <a:solidFill>
                  <a:schemeClr val="accent1"/>
                </a:solidFill>
              </a:defRPr>
            </a:lvl1pPr>
          </a:lstStyle>
          <a:p>
            <a:pPr lvl="0"/>
            <a:r>
              <a:rPr lang="ar-EG" dirty="0"/>
              <a:t>العنوان</a:t>
            </a:r>
            <a:endParaRPr lang="en-US" dirty="0"/>
          </a:p>
        </p:txBody>
      </p:sp>
      <p:sp>
        <p:nvSpPr>
          <p:cNvPr id="196" name="Text Placeholder 11"/>
          <p:cNvSpPr>
            <a:spLocks noGrp="1"/>
          </p:cNvSpPr>
          <p:nvPr>
            <p:ph type="body" sz="quarter" idx="61" hasCustomPrompt="1"/>
          </p:nvPr>
        </p:nvSpPr>
        <p:spPr>
          <a:xfrm>
            <a:off x="4980125" y="3968953"/>
            <a:ext cx="2413319" cy="228600"/>
          </a:xfrm>
        </p:spPr>
        <p:txBody>
          <a:bodyPr vert="horz" lIns="0" tIns="0" rIns="0" bIns="0" rtlCol="0">
            <a:noAutofit/>
          </a:bodyPr>
          <a:lstStyle>
            <a:lvl1pPr>
              <a:defRPr lang="en-US" sz="1800" b="1" dirty="0">
                <a:solidFill>
                  <a:schemeClr val="accent1"/>
                </a:solidFill>
              </a:defRPr>
            </a:lvl1pPr>
          </a:lstStyle>
          <a:p>
            <a:pPr lvl="0"/>
            <a:r>
              <a:rPr lang="ar-EG" dirty="0"/>
              <a:t>العنوان</a:t>
            </a:r>
            <a:endParaRPr lang="en-US" dirty="0"/>
          </a:p>
        </p:txBody>
      </p:sp>
      <p:sp>
        <p:nvSpPr>
          <p:cNvPr id="197" name="Text Placeholder 11"/>
          <p:cNvSpPr>
            <a:spLocks noGrp="1"/>
          </p:cNvSpPr>
          <p:nvPr>
            <p:ph type="body" sz="quarter" idx="62" hasCustomPrompt="1"/>
          </p:nvPr>
        </p:nvSpPr>
        <p:spPr>
          <a:xfrm>
            <a:off x="1307048" y="4796022"/>
            <a:ext cx="2413319" cy="228600"/>
          </a:xfrm>
        </p:spPr>
        <p:txBody>
          <a:bodyPr vert="horz" lIns="0" tIns="0" rIns="0" bIns="0" rtlCol="0">
            <a:noAutofit/>
          </a:bodyPr>
          <a:lstStyle>
            <a:lvl1pPr>
              <a:defRPr lang="en-US" sz="1800" b="1" dirty="0">
                <a:solidFill>
                  <a:schemeClr val="accent2"/>
                </a:solidFill>
              </a:defRPr>
            </a:lvl1pPr>
          </a:lstStyle>
          <a:p>
            <a:pPr lvl="0"/>
            <a:r>
              <a:rPr lang="ar-EG" dirty="0"/>
              <a:t>العنوان</a:t>
            </a:r>
            <a:endParaRPr lang="en-US" dirty="0"/>
          </a:p>
        </p:txBody>
      </p:sp>
      <p:sp>
        <p:nvSpPr>
          <p:cNvPr id="198" name="Text Placeholder 11"/>
          <p:cNvSpPr>
            <a:spLocks noGrp="1"/>
          </p:cNvSpPr>
          <p:nvPr>
            <p:ph type="body" sz="quarter" idx="63" hasCustomPrompt="1"/>
          </p:nvPr>
        </p:nvSpPr>
        <p:spPr>
          <a:xfrm>
            <a:off x="4980125" y="4796022"/>
            <a:ext cx="2413319" cy="228600"/>
          </a:xfrm>
        </p:spPr>
        <p:txBody>
          <a:bodyPr vert="horz" lIns="0" tIns="0" rIns="0" bIns="0" rtlCol="0">
            <a:noAutofit/>
          </a:bodyPr>
          <a:lstStyle>
            <a:lvl1pPr>
              <a:defRPr lang="en-US" sz="1800" b="1" dirty="0">
                <a:solidFill>
                  <a:schemeClr val="accent2"/>
                </a:solidFill>
              </a:defRPr>
            </a:lvl1pPr>
          </a:lstStyle>
          <a:p>
            <a:pPr lvl="0"/>
            <a:r>
              <a:rPr lang="ar-EG" dirty="0"/>
              <a:t>العنوان</a:t>
            </a:r>
            <a:endParaRPr lang="en-US" dirty="0"/>
          </a:p>
        </p:txBody>
      </p:sp>
      <p:sp>
        <p:nvSpPr>
          <p:cNvPr id="199" name="Text Placeholder 11"/>
          <p:cNvSpPr>
            <a:spLocks noGrp="1"/>
          </p:cNvSpPr>
          <p:nvPr>
            <p:ph type="body" sz="quarter" idx="64" hasCustomPrompt="1"/>
          </p:nvPr>
        </p:nvSpPr>
        <p:spPr>
          <a:xfrm>
            <a:off x="1307048" y="5623091"/>
            <a:ext cx="2413319" cy="228600"/>
          </a:xfrm>
        </p:spPr>
        <p:txBody>
          <a:bodyPr vert="horz" lIns="0" tIns="0" rIns="0" bIns="0" rtlCol="0">
            <a:noAutofit/>
          </a:bodyPr>
          <a:lstStyle>
            <a:lvl1pPr>
              <a:defRPr lang="en-US" sz="1800" b="1" dirty="0">
                <a:solidFill>
                  <a:schemeClr val="accent1"/>
                </a:solidFill>
              </a:defRPr>
            </a:lvl1pPr>
          </a:lstStyle>
          <a:p>
            <a:pPr lvl="0"/>
            <a:r>
              <a:rPr lang="ar-EG" dirty="0"/>
              <a:t>العنوان</a:t>
            </a:r>
            <a:endParaRPr lang="en-US" dirty="0"/>
          </a:p>
        </p:txBody>
      </p:sp>
      <p:sp>
        <p:nvSpPr>
          <p:cNvPr id="200" name="Text Placeholder 11"/>
          <p:cNvSpPr>
            <a:spLocks noGrp="1"/>
          </p:cNvSpPr>
          <p:nvPr>
            <p:ph type="body" sz="quarter" idx="65" hasCustomPrompt="1"/>
          </p:nvPr>
        </p:nvSpPr>
        <p:spPr>
          <a:xfrm>
            <a:off x="4980125" y="5623091"/>
            <a:ext cx="2413319" cy="228600"/>
          </a:xfrm>
        </p:spPr>
        <p:txBody>
          <a:bodyPr vert="horz" lIns="0" tIns="0" rIns="0" bIns="0" rtlCol="0">
            <a:noAutofit/>
          </a:bodyPr>
          <a:lstStyle>
            <a:lvl1pPr>
              <a:defRPr lang="en-US" sz="1800" b="1" dirty="0">
                <a:solidFill>
                  <a:schemeClr val="accent1"/>
                </a:solidFill>
              </a:defRPr>
            </a:lvl1pPr>
          </a:lstStyle>
          <a:p>
            <a:pPr lvl="0"/>
            <a:r>
              <a:rPr lang="ar-EG" dirty="0"/>
              <a:t>العنوان</a:t>
            </a:r>
            <a:endParaRPr lang="en-US" dirty="0"/>
          </a:p>
        </p:txBody>
      </p:sp>
      <p:sp>
        <p:nvSpPr>
          <p:cNvPr id="201" name="Text Placeholder 6"/>
          <p:cNvSpPr>
            <a:spLocks noGrp="1"/>
          </p:cNvSpPr>
          <p:nvPr>
            <p:ph type="body" sz="quarter" idx="66" hasCustomPrompt="1"/>
          </p:nvPr>
        </p:nvSpPr>
        <p:spPr>
          <a:xfrm>
            <a:off x="4038533" y="3878071"/>
            <a:ext cx="365760" cy="365760"/>
          </a:xfrm>
          <a:prstGeom prst="rect">
            <a:avLst/>
          </a:prstGeom>
          <a:solidFill>
            <a:schemeClr val="accent1"/>
          </a:solidFill>
          <a:ln w="15875">
            <a:noFill/>
          </a:ln>
        </p:spPr>
        <p:txBody>
          <a:bodyPr vert="horz" wrap="square" lIns="0" tIns="64008" rIns="0" bIns="0" rtlCol="0" anchor="ctr" anchorCtr="0">
            <a:noAutofit/>
          </a:bodyPr>
          <a:lstStyle>
            <a:lvl1pPr algn="ctr">
              <a:defRPr lang="en-US" sz="2000" b="1" kern="0" baseline="0" dirty="0">
                <a:solidFill>
                  <a:schemeClr val="bg1"/>
                </a:solidFill>
              </a:defRPr>
            </a:lvl1pPr>
          </a:lstStyle>
          <a:p>
            <a:pPr lvl="0" algn="ctr">
              <a:spcBef>
                <a:spcPts val="0"/>
              </a:spcBef>
            </a:pPr>
            <a:r>
              <a:rPr lang="en-US" dirty="0"/>
              <a:t>#</a:t>
            </a:r>
          </a:p>
        </p:txBody>
      </p:sp>
      <p:sp>
        <p:nvSpPr>
          <p:cNvPr id="202" name="Text Placeholder 6"/>
          <p:cNvSpPr>
            <a:spLocks noGrp="1"/>
          </p:cNvSpPr>
          <p:nvPr>
            <p:ph type="body" sz="quarter" idx="67" hasCustomPrompt="1"/>
          </p:nvPr>
        </p:nvSpPr>
        <p:spPr>
          <a:xfrm>
            <a:off x="4038533" y="4708163"/>
            <a:ext cx="365760" cy="365760"/>
          </a:xfrm>
          <a:prstGeom prst="rect">
            <a:avLst/>
          </a:prstGeom>
          <a:solidFill>
            <a:schemeClr val="accent2"/>
          </a:solidFill>
          <a:ln w="15875">
            <a:noFill/>
          </a:ln>
        </p:spPr>
        <p:txBody>
          <a:bodyPr vert="horz" wrap="square" lIns="0" tIns="64008" rIns="0" bIns="0" rtlCol="0" anchor="ctr" anchorCtr="0">
            <a:noAutofit/>
          </a:bodyPr>
          <a:lstStyle>
            <a:lvl1pPr algn="ctr">
              <a:defRPr lang="en-US" sz="2000" b="1" kern="0" baseline="0" dirty="0">
                <a:solidFill>
                  <a:schemeClr val="bg1"/>
                </a:solidFill>
              </a:defRPr>
            </a:lvl1pPr>
          </a:lstStyle>
          <a:p>
            <a:pPr lvl="0" algn="ctr">
              <a:spcBef>
                <a:spcPts val="0"/>
              </a:spcBef>
            </a:pPr>
            <a:r>
              <a:rPr lang="en-US" dirty="0"/>
              <a:t>#</a:t>
            </a:r>
          </a:p>
        </p:txBody>
      </p:sp>
      <p:sp>
        <p:nvSpPr>
          <p:cNvPr id="203" name="Text Placeholder 6"/>
          <p:cNvSpPr>
            <a:spLocks noGrp="1"/>
          </p:cNvSpPr>
          <p:nvPr>
            <p:ph type="body" sz="quarter" idx="68" hasCustomPrompt="1"/>
          </p:nvPr>
        </p:nvSpPr>
        <p:spPr>
          <a:xfrm>
            <a:off x="4038533" y="5538255"/>
            <a:ext cx="365760" cy="365760"/>
          </a:xfrm>
          <a:prstGeom prst="rect">
            <a:avLst/>
          </a:prstGeom>
          <a:solidFill>
            <a:schemeClr val="accent1"/>
          </a:solidFill>
          <a:ln w="15875">
            <a:noFill/>
          </a:ln>
        </p:spPr>
        <p:txBody>
          <a:bodyPr vert="horz" wrap="square" lIns="0" tIns="64008" rIns="0" bIns="0" rtlCol="0" anchor="ctr" anchorCtr="0">
            <a:noAutofit/>
          </a:bodyPr>
          <a:lstStyle>
            <a:lvl1pPr algn="ctr">
              <a:defRPr lang="en-US" sz="2000" b="1" kern="0" baseline="0" dirty="0">
                <a:solidFill>
                  <a:schemeClr val="bg1"/>
                </a:solidFill>
              </a:defRPr>
            </a:lvl1pPr>
          </a:lstStyle>
          <a:p>
            <a:pPr lvl="0" algn="ctr">
              <a:spcBef>
                <a:spcPts val="0"/>
              </a:spcBef>
            </a:pPr>
            <a:r>
              <a:rPr lang="en-US" dirty="0"/>
              <a:t>#</a:t>
            </a:r>
          </a:p>
        </p:txBody>
      </p:sp>
      <p:sp>
        <p:nvSpPr>
          <p:cNvPr id="204" name="Text Placeholder 6"/>
          <p:cNvSpPr>
            <a:spLocks noGrp="1"/>
          </p:cNvSpPr>
          <p:nvPr>
            <p:ph type="body" sz="quarter" idx="69" hasCustomPrompt="1"/>
          </p:nvPr>
        </p:nvSpPr>
        <p:spPr>
          <a:xfrm>
            <a:off x="7715771" y="3878071"/>
            <a:ext cx="365760" cy="365760"/>
          </a:xfrm>
          <a:prstGeom prst="rect">
            <a:avLst/>
          </a:prstGeom>
          <a:solidFill>
            <a:schemeClr val="accent1"/>
          </a:solidFill>
          <a:ln w="15875">
            <a:noFill/>
          </a:ln>
        </p:spPr>
        <p:txBody>
          <a:bodyPr vert="horz" wrap="square" lIns="0" tIns="64008" rIns="0" bIns="0" rtlCol="0" anchor="ctr" anchorCtr="0">
            <a:noAutofit/>
          </a:bodyPr>
          <a:lstStyle>
            <a:lvl1pPr algn="ctr">
              <a:defRPr lang="en-US" sz="2000" b="1" kern="0" baseline="0" dirty="0">
                <a:solidFill>
                  <a:schemeClr val="bg1"/>
                </a:solidFill>
              </a:defRPr>
            </a:lvl1pPr>
          </a:lstStyle>
          <a:p>
            <a:pPr lvl="0" algn="ctr">
              <a:spcBef>
                <a:spcPts val="0"/>
              </a:spcBef>
            </a:pPr>
            <a:r>
              <a:rPr lang="en-US" dirty="0"/>
              <a:t>#</a:t>
            </a:r>
          </a:p>
        </p:txBody>
      </p:sp>
      <p:sp>
        <p:nvSpPr>
          <p:cNvPr id="205" name="Text Placeholder 6"/>
          <p:cNvSpPr>
            <a:spLocks noGrp="1"/>
          </p:cNvSpPr>
          <p:nvPr>
            <p:ph type="body" sz="quarter" idx="70" hasCustomPrompt="1"/>
          </p:nvPr>
        </p:nvSpPr>
        <p:spPr>
          <a:xfrm>
            <a:off x="7715771" y="4708163"/>
            <a:ext cx="365760" cy="365760"/>
          </a:xfrm>
          <a:prstGeom prst="rect">
            <a:avLst/>
          </a:prstGeom>
          <a:solidFill>
            <a:schemeClr val="accent2"/>
          </a:solidFill>
          <a:ln w="15875">
            <a:noFill/>
          </a:ln>
        </p:spPr>
        <p:txBody>
          <a:bodyPr vert="horz" wrap="square" lIns="0" tIns="64008" rIns="0" bIns="0" rtlCol="0" anchor="ctr" anchorCtr="0">
            <a:noAutofit/>
          </a:bodyPr>
          <a:lstStyle>
            <a:lvl1pPr algn="ctr">
              <a:defRPr lang="en-US" sz="2000" b="1" kern="0" baseline="0" dirty="0">
                <a:solidFill>
                  <a:schemeClr val="bg1"/>
                </a:solidFill>
              </a:defRPr>
            </a:lvl1pPr>
          </a:lstStyle>
          <a:p>
            <a:pPr lvl="0" algn="ctr">
              <a:spcBef>
                <a:spcPts val="0"/>
              </a:spcBef>
            </a:pPr>
            <a:r>
              <a:rPr lang="en-US" dirty="0"/>
              <a:t>#</a:t>
            </a:r>
          </a:p>
        </p:txBody>
      </p:sp>
      <p:sp>
        <p:nvSpPr>
          <p:cNvPr id="206" name="Text Placeholder 6"/>
          <p:cNvSpPr>
            <a:spLocks noGrp="1"/>
          </p:cNvSpPr>
          <p:nvPr>
            <p:ph type="body" sz="quarter" idx="71" hasCustomPrompt="1"/>
          </p:nvPr>
        </p:nvSpPr>
        <p:spPr>
          <a:xfrm>
            <a:off x="7715771" y="5538255"/>
            <a:ext cx="365760" cy="365760"/>
          </a:xfrm>
          <a:prstGeom prst="rect">
            <a:avLst/>
          </a:prstGeom>
          <a:solidFill>
            <a:schemeClr val="accent1"/>
          </a:solidFill>
          <a:ln w="15875">
            <a:noFill/>
          </a:ln>
        </p:spPr>
        <p:txBody>
          <a:bodyPr vert="horz" wrap="square" lIns="0" tIns="64008" rIns="0" bIns="0" rtlCol="0" anchor="ctr" anchorCtr="0">
            <a:noAutofit/>
          </a:bodyPr>
          <a:lstStyle>
            <a:lvl1pPr algn="ctr">
              <a:defRPr lang="en-US" sz="2000" b="1" kern="0" baseline="0" dirty="0">
                <a:solidFill>
                  <a:schemeClr val="bg1"/>
                </a:solidFill>
              </a:defRPr>
            </a:lvl1pPr>
          </a:lstStyle>
          <a:p>
            <a:pPr lvl="0" algn="ctr">
              <a:spcBef>
                <a:spcPts val="0"/>
              </a:spcBef>
            </a:pPr>
            <a:r>
              <a:rPr lang="en-US" dirty="0"/>
              <a:t>#</a:t>
            </a:r>
          </a:p>
        </p:txBody>
      </p:sp>
      <p:pic>
        <p:nvPicPr>
          <p:cNvPr id="3" name="Picture 2">
            <a:extLst>
              <a:ext uri="{FF2B5EF4-FFF2-40B4-BE49-F238E27FC236}">
                <a16:creationId xmlns:a16="http://schemas.microsoft.com/office/drawing/2014/main" id="{BDE1AC8B-C2AF-7EC8-8BD1-AD35C320C96E}"/>
              </a:ext>
            </a:extLst>
          </p:cNvPr>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621452" y="277136"/>
            <a:ext cx="2464906" cy="36576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76703785"/>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drape" invX="1"/>
      </p:transition>
    </mc:Choice>
    <mc:Fallback xmlns="">
      <p:transition spd="slow">
        <p:fade/>
      </p:transition>
    </mc:Fallback>
  </mc:AlternateContent>
  <p:extLst>
    <p:ext uri="{DCECCB84-F9BA-43D5-87BE-67443E8EF086}">
      <p15:sldGuideLst xmlns:p15="http://schemas.microsoft.com/office/powerpoint/2012/main">
        <p15:guide id="1" pos="960">
          <p15:clr>
            <a:srgbClr val="FBAE40"/>
          </p15:clr>
        </p15:guide>
        <p15:guide id="2" pos="6720">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showMasterPhAnim="0" preserve="1" userDrawn="1">
  <p:cSld name="1_Agenda">
    <p:spTree>
      <p:nvGrpSpPr>
        <p:cNvPr id="1" name=""/>
        <p:cNvGrpSpPr/>
        <p:nvPr/>
      </p:nvGrpSpPr>
      <p:grpSpPr>
        <a:xfrm>
          <a:off x="0" y="0"/>
          <a:ext cx="0" cy="0"/>
          <a:chOff x="0" y="0"/>
          <a:chExt cx="0" cy="0"/>
        </a:xfrm>
      </p:grpSpPr>
      <p:sp>
        <p:nvSpPr>
          <p:cNvPr id="6" name="Rectangle 5"/>
          <p:cNvSpPr/>
          <p:nvPr userDrawn="1"/>
        </p:nvSpPr>
        <p:spPr>
          <a:xfrm>
            <a:off x="8153400" y="1352939"/>
            <a:ext cx="4038600" cy="5505061"/>
          </a:xfrm>
          <a:prstGeom prst="rect">
            <a:avLst/>
          </a:prstGeom>
          <a:gradFill>
            <a:gsLst>
              <a:gs pos="100000">
                <a:schemeClr val="accent1"/>
              </a:gs>
              <a:gs pos="0">
                <a:schemeClr val="accent1"/>
              </a:gs>
            </a:gsLst>
            <a:lin ang="3000000" scaled="0"/>
          </a:gradFill>
          <a:ln>
            <a:noFill/>
          </a:ln>
        </p:spPr>
        <p:txBody>
          <a:bodyPr vert="horz" wrap="square" lIns="91440" tIns="45720" rIns="91440" bIns="45720" numCol="1" anchor="t" anchorCtr="0" compatLnSpc="1">
            <a:prstTxWarp prst="textNoShape">
              <a:avLst/>
            </a:prstTxWarp>
          </a:bodyPr>
          <a:lstStyle/>
          <a:p>
            <a:pPr lvl="0"/>
            <a:endParaRPr lang="en-US">
              <a:solidFill>
                <a:schemeClr val="tx1"/>
              </a:solidFill>
            </a:endParaRPr>
          </a:p>
        </p:txBody>
      </p:sp>
      <p:sp>
        <p:nvSpPr>
          <p:cNvPr id="7" name="Rectangle 6"/>
          <p:cNvSpPr/>
          <p:nvPr userDrawn="1"/>
        </p:nvSpPr>
        <p:spPr>
          <a:xfrm>
            <a:off x="8153400" y="-373"/>
            <a:ext cx="4038600" cy="621792"/>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userDrawn="1"/>
        </p:nvSpPr>
        <p:spPr>
          <a:xfrm>
            <a:off x="8153400" y="621419"/>
            <a:ext cx="4038600" cy="73152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a:p>
        </p:txBody>
      </p:sp>
      <p:sp>
        <p:nvSpPr>
          <p:cNvPr id="2" name="Title 1"/>
          <p:cNvSpPr>
            <a:spLocks noGrp="1"/>
          </p:cNvSpPr>
          <p:nvPr>
            <p:ph type="title" hasCustomPrompt="1"/>
          </p:nvPr>
        </p:nvSpPr>
        <p:spPr>
          <a:xfrm>
            <a:off x="8308759" y="621420"/>
            <a:ext cx="3727882" cy="731519"/>
          </a:xfrm>
        </p:spPr>
        <p:txBody>
          <a:bodyPr anchor="ctr" anchorCtr="0"/>
          <a:lstStyle>
            <a:lvl1pPr algn="ctr">
              <a:defRPr sz="4000">
                <a:solidFill>
                  <a:schemeClr val="accent1"/>
                </a:solidFill>
              </a:defRPr>
            </a:lvl1pPr>
          </a:lstStyle>
          <a:p>
            <a:r>
              <a:rPr lang="ar-EG" dirty="0"/>
              <a:t>جدول المحتويات</a:t>
            </a:r>
            <a:endParaRPr lang="en-US" dirty="0"/>
          </a:p>
        </p:txBody>
      </p:sp>
      <p:sp>
        <p:nvSpPr>
          <p:cNvPr id="28" name="Text Placeholder 27"/>
          <p:cNvSpPr>
            <a:spLocks noGrp="1"/>
          </p:cNvSpPr>
          <p:nvPr>
            <p:ph type="body" sz="quarter" idx="13"/>
          </p:nvPr>
        </p:nvSpPr>
        <p:spPr>
          <a:xfrm>
            <a:off x="3196257" y="1604963"/>
            <a:ext cx="4748213" cy="354012"/>
          </a:xfrm>
        </p:spPr>
        <p:txBody>
          <a:bodyPr anchor="ctr" anchorCtr="0">
            <a:noAutofit/>
          </a:bodyPr>
          <a:lstStyle>
            <a:lvl1pPr marL="0" indent="0" algn="r" rtl="1">
              <a:buNone/>
              <a:defRPr sz="1800">
                <a:solidFill>
                  <a:schemeClr val="accent1"/>
                </a:solidFill>
              </a:defRPr>
            </a:lvl1pPr>
          </a:lstStyle>
          <a:p>
            <a:pPr lvl="0"/>
            <a:r>
              <a:rPr lang="en-US"/>
              <a:t>Click to edit Master text styles</a:t>
            </a:r>
          </a:p>
        </p:txBody>
      </p:sp>
      <p:sp>
        <p:nvSpPr>
          <p:cNvPr id="63" name="Text Placeholder 27"/>
          <p:cNvSpPr>
            <a:spLocks noGrp="1"/>
          </p:cNvSpPr>
          <p:nvPr>
            <p:ph type="body" sz="quarter" idx="14"/>
          </p:nvPr>
        </p:nvSpPr>
        <p:spPr>
          <a:xfrm>
            <a:off x="3196257" y="2010050"/>
            <a:ext cx="4748213" cy="354012"/>
          </a:xfrm>
        </p:spPr>
        <p:txBody>
          <a:bodyPr anchor="ctr" anchorCtr="0">
            <a:noAutofit/>
          </a:bodyPr>
          <a:lstStyle>
            <a:lvl1pPr marL="0" indent="0" algn="r" rtl="1">
              <a:buNone/>
              <a:defRPr sz="1800">
                <a:solidFill>
                  <a:schemeClr val="accent1"/>
                </a:solidFill>
              </a:defRPr>
            </a:lvl1pPr>
          </a:lstStyle>
          <a:p>
            <a:pPr lvl="0"/>
            <a:r>
              <a:rPr lang="en-US"/>
              <a:t>Click to edit Master text styles</a:t>
            </a:r>
          </a:p>
        </p:txBody>
      </p:sp>
      <p:sp>
        <p:nvSpPr>
          <p:cNvPr id="66" name="Text Placeholder 27"/>
          <p:cNvSpPr>
            <a:spLocks noGrp="1"/>
          </p:cNvSpPr>
          <p:nvPr>
            <p:ph type="body" sz="quarter" idx="15"/>
          </p:nvPr>
        </p:nvSpPr>
        <p:spPr>
          <a:xfrm>
            <a:off x="3196257" y="2415137"/>
            <a:ext cx="4748213" cy="354012"/>
          </a:xfrm>
        </p:spPr>
        <p:txBody>
          <a:bodyPr anchor="ctr" anchorCtr="0">
            <a:noAutofit/>
          </a:bodyPr>
          <a:lstStyle>
            <a:lvl1pPr marL="0" indent="0" algn="r" rtl="1">
              <a:buNone/>
              <a:defRPr sz="1800">
                <a:solidFill>
                  <a:schemeClr val="accent1"/>
                </a:solidFill>
              </a:defRPr>
            </a:lvl1pPr>
          </a:lstStyle>
          <a:p>
            <a:pPr lvl="0"/>
            <a:r>
              <a:rPr lang="en-US"/>
              <a:t>Click to edit Master text styles</a:t>
            </a:r>
          </a:p>
        </p:txBody>
      </p:sp>
      <p:sp>
        <p:nvSpPr>
          <p:cNvPr id="69" name="Text Placeholder 27"/>
          <p:cNvSpPr>
            <a:spLocks noGrp="1"/>
          </p:cNvSpPr>
          <p:nvPr>
            <p:ph type="body" sz="quarter" idx="16"/>
          </p:nvPr>
        </p:nvSpPr>
        <p:spPr>
          <a:xfrm>
            <a:off x="3196257" y="2820224"/>
            <a:ext cx="4748213" cy="354012"/>
          </a:xfrm>
        </p:spPr>
        <p:txBody>
          <a:bodyPr anchor="ctr" anchorCtr="0">
            <a:noAutofit/>
          </a:bodyPr>
          <a:lstStyle>
            <a:lvl1pPr marL="0" indent="0" algn="r" rtl="1">
              <a:buNone/>
              <a:defRPr sz="1800">
                <a:solidFill>
                  <a:schemeClr val="accent1"/>
                </a:solidFill>
              </a:defRPr>
            </a:lvl1pPr>
          </a:lstStyle>
          <a:p>
            <a:pPr lvl="0"/>
            <a:r>
              <a:rPr lang="en-US"/>
              <a:t>Click to edit Master text styles</a:t>
            </a:r>
          </a:p>
        </p:txBody>
      </p:sp>
      <p:sp>
        <p:nvSpPr>
          <p:cNvPr id="72" name="Text Placeholder 27"/>
          <p:cNvSpPr>
            <a:spLocks noGrp="1"/>
          </p:cNvSpPr>
          <p:nvPr>
            <p:ph type="body" sz="quarter" idx="17"/>
          </p:nvPr>
        </p:nvSpPr>
        <p:spPr>
          <a:xfrm>
            <a:off x="3196257" y="3225311"/>
            <a:ext cx="4748213" cy="354012"/>
          </a:xfrm>
        </p:spPr>
        <p:txBody>
          <a:bodyPr anchor="ctr" anchorCtr="0">
            <a:noAutofit/>
          </a:bodyPr>
          <a:lstStyle>
            <a:lvl1pPr marL="0" indent="0" algn="r" rtl="1">
              <a:buNone/>
              <a:defRPr sz="1800">
                <a:solidFill>
                  <a:schemeClr val="accent1"/>
                </a:solidFill>
              </a:defRPr>
            </a:lvl1pPr>
          </a:lstStyle>
          <a:p>
            <a:pPr lvl="0"/>
            <a:r>
              <a:rPr lang="en-US"/>
              <a:t>Click to edit Master text styles</a:t>
            </a:r>
          </a:p>
        </p:txBody>
      </p:sp>
      <p:sp>
        <p:nvSpPr>
          <p:cNvPr id="75" name="Text Placeholder 27"/>
          <p:cNvSpPr>
            <a:spLocks noGrp="1"/>
          </p:cNvSpPr>
          <p:nvPr>
            <p:ph type="body" sz="quarter" idx="18"/>
          </p:nvPr>
        </p:nvSpPr>
        <p:spPr>
          <a:xfrm>
            <a:off x="3196257" y="3630398"/>
            <a:ext cx="4748213" cy="354012"/>
          </a:xfrm>
        </p:spPr>
        <p:txBody>
          <a:bodyPr anchor="ctr" anchorCtr="0">
            <a:noAutofit/>
          </a:bodyPr>
          <a:lstStyle>
            <a:lvl1pPr marL="0" indent="0" algn="r" rtl="1">
              <a:buNone/>
              <a:defRPr sz="1800">
                <a:solidFill>
                  <a:schemeClr val="accent1"/>
                </a:solidFill>
              </a:defRPr>
            </a:lvl1pPr>
          </a:lstStyle>
          <a:p>
            <a:pPr lvl="0"/>
            <a:r>
              <a:rPr lang="en-US"/>
              <a:t>Click to edit Master text styles</a:t>
            </a:r>
          </a:p>
        </p:txBody>
      </p:sp>
      <p:sp>
        <p:nvSpPr>
          <p:cNvPr id="78" name="Text Placeholder 27"/>
          <p:cNvSpPr>
            <a:spLocks noGrp="1"/>
          </p:cNvSpPr>
          <p:nvPr>
            <p:ph type="body" sz="quarter" idx="19"/>
          </p:nvPr>
        </p:nvSpPr>
        <p:spPr>
          <a:xfrm>
            <a:off x="3196257" y="4035485"/>
            <a:ext cx="4748213" cy="354012"/>
          </a:xfrm>
        </p:spPr>
        <p:txBody>
          <a:bodyPr anchor="ctr" anchorCtr="0">
            <a:noAutofit/>
          </a:bodyPr>
          <a:lstStyle>
            <a:lvl1pPr marL="0" indent="0" algn="r" rtl="1">
              <a:buNone/>
              <a:defRPr sz="1800">
                <a:solidFill>
                  <a:schemeClr val="accent1"/>
                </a:solidFill>
              </a:defRPr>
            </a:lvl1pPr>
          </a:lstStyle>
          <a:p>
            <a:pPr lvl="0"/>
            <a:r>
              <a:rPr lang="en-US"/>
              <a:t>Click to edit Master text styles</a:t>
            </a:r>
          </a:p>
        </p:txBody>
      </p:sp>
      <p:sp>
        <p:nvSpPr>
          <p:cNvPr id="81" name="Text Placeholder 27"/>
          <p:cNvSpPr>
            <a:spLocks noGrp="1"/>
          </p:cNvSpPr>
          <p:nvPr>
            <p:ph type="body" sz="quarter" idx="20"/>
          </p:nvPr>
        </p:nvSpPr>
        <p:spPr>
          <a:xfrm>
            <a:off x="3196257" y="4440572"/>
            <a:ext cx="4748213" cy="354012"/>
          </a:xfrm>
        </p:spPr>
        <p:txBody>
          <a:bodyPr anchor="ctr" anchorCtr="0">
            <a:noAutofit/>
          </a:bodyPr>
          <a:lstStyle>
            <a:lvl1pPr marL="0" indent="0" algn="r" rtl="1">
              <a:buNone/>
              <a:defRPr sz="1800">
                <a:solidFill>
                  <a:schemeClr val="accent1"/>
                </a:solidFill>
              </a:defRPr>
            </a:lvl1pPr>
          </a:lstStyle>
          <a:p>
            <a:pPr lvl="0"/>
            <a:r>
              <a:rPr lang="en-US"/>
              <a:t>Click to edit Master text styles</a:t>
            </a:r>
          </a:p>
        </p:txBody>
      </p:sp>
      <p:sp>
        <p:nvSpPr>
          <p:cNvPr id="84" name="Text Placeholder 27"/>
          <p:cNvSpPr>
            <a:spLocks noGrp="1"/>
          </p:cNvSpPr>
          <p:nvPr>
            <p:ph type="body" sz="quarter" idx="21"/>
          </p:nvPr>
        </p:nvSpPr>
        <p:spPr>
          <a:xfrm>
            <a:off x="3196257" y="4845659"/>
            <a:ext cx="4748213" cy="354012"/>
          </a:xfrm>
        </p:spPr>
        <p:txBody>
          <a:bodyPr anchor="ctr" anchorCtr="0">
            <a:noAutofit/>
          </a:bodyPr>
          <a:lstStyle>
            <a:lvl1pPr marL="0" indent="0" algn="r" rtl="1">
              <a:buNone/>
              <a:defRPr sz="1800">
                <a:solidFill>
                  <a:schemeClr val="accent1"/>
                </a:solidFill>
              </a:defRPr>
            </a:lvl1pPr>
          </a:lstStyle>
          <a:p>
            <a:pPr lvl="0"/>
            <a:r>
              <a:rPr lang="en-US"/>
              <a:t>Click to edit Master text styles</a:t>
            </a:r>
          </a:p>
        </p:txBody>
      </p:sp>
      <p:sp>
        <p:nvSpPr>
          <p:cNvPr id="87" name="Text Placeholder 27"/>
          <p:cNvSpPr>
            <a:spLocks noGrp="1"/>
          </p:cNvSpPr>
          <p:nvPr>
            <p:ph type="body" sz="quarter" idx="22"/>
          </p:nvPr>
        </p:nvSpPr>
        <p:spPr>
          <a:xfrm>
            <a:off x="3196257" y="5250746"/>
            <a:ext cx="4748213" cy="354012"/>
          </a:xfrm>
        </p:spPr>
        <p:txBody>
          <a:bodyPr anchor="ctr" anchorCtr="0">
            <a:noAutofit/>
          </a:bodyPr>
          <a:lstStyle>
            <a:lvl1pPr marL="0" indent="0" algn="r" rtl="1">
              <a:buNone/>
              <a:defRPr sz="1800">
                <a:solidFill>
                  <a:schemeClr val="accent1"/>
                </a:solidFill>
              </a:defRPr>
            </a:lvl1pPr>
          </a:lstStyle>
          <a:p>
            <a:pPr lvl="0"/>
            <a:r>
              <a:rPr lang="en-US"/>
              <a:t>Click to edit Master text styles</a:t>
            </a:r>
          </a:p>
        </p:txBody>
      </p:sp>
      <p:sp>
        <p:nvSpPr>
          <p:cNvPr id="90" name="Text Placeholder 27"/>
          <p:cNvSpPr>
            <a:spLocks noGrp="1"/>
          </p:cNvSpPr>
          <p:nvPr>
            <p:ph type="body" sz="quarter" idx="23"/>
          </p:nvPr>
        </p:nvSpPr>
        <p:spPr>
          <a:xfrm>
            <a:off x="3196257" y="5655833"/>
            <a:ext cx="4748213" cy="354012"/>
          </a:xfrm>
        </p:spPr>
        <p:txBody>
          <a:bodyPr anchor="ctr" anchorCtr="0">
            <a:noAutofit/>
          </a:bodyPr>
          <a:lstStyle>
            <a:lvl1pPr marL="0" indent="0" algn="r" rtl="1">
              <a:buNone/>
              <a:defRPr sz="1800">
                <a:solidFill>
                  <a:schemeClr val="accent1"/>
                </a:solidFill>
              </a:defRPr>
            </a:lvl1pPr>
          </a:lstStyle>
          <a:p>
            <a:pPr lvl="0"/>
            <a:r>
              <a:rPr lang="en-US"/>
              <a:t>Click to edit Master text styles</a:t>
            </a:r>
          </a:p>
        </p:txBody>
      </p:sp>
      <p:sp>
        <p:nvSpPr>
          <p:cNvPr id="93" name="Text Placeholder 27"/>
          <p:cNvSpPr>
            <a:spLocks noGrp="1"/>
          </p:cNvSpPr>
          <p:nvPr>
            <p:ph type="body" sz="quarter" idx="24"/>
          </p:nvPr>
        </p:nvSpPr>
        <p:spPr>
          <a:xfrm>
            <a:off x="3196257" y="6060918"/>
            <a:ext cx="4748213" cy="354012"/>
          </a:xfrm>
        </p:spPr>
        <p:txBody>
          <a:bodyPr anchor="ctr" anchorCtr="0">
            <a:noAutofit/>
          </a:bodyPr>
          <a:lstStyle>
            <a:lvl1pPr marL="0" indent="0" algn="r" rtl="1">
              <a:buNone/>
              <a:defRPr sz="1800">
                <a:solidFill>
                  <a:schemeClr val="accent1"/>
                </a:solidFill>
              </a:defRPr>
            </a:lvl1pPr>
          </a:lstStyle>
          <a:p>
            <a:pPr lvl="0"/>
            <a:r>
              <a:rPr lang="en-US"/>
              <a:t>Click to edit Master text styles</a:t>
            </a:r>
          </a:p>
        </p:txBody>
      </p:sp>
      <p:sp>
        <p:nvSpPr>
          <p:cNvPr id="82" name="TextBox 81"/>
          <p:cNvSpPr txBox="1"/>
          <p:nvPr userDrawn="1"/>
        </p:nvSpPr>
        <p:spPr>
          <a:xfrm>
            <a:off x="2214857" y="2716272"/>
            <a:ext cx="1344317" cy="338554"/>
          </a:xfrm>
          <a:prstGeom prst="rect">
            <a:avLst/>
          </a:prstGeom>
          <a:noFill/>
        </p:spPr>
        <p:txBody>
          <a:bodyPr wrap="square" rtlCol="0" anchor="ctr">
            <a:spAutoFit/>
          </a:bodyPr>
          <a:lstStyle/>
          <a:p>
            <a:pPr algn="r" fontAlgn="base"/>
            <a:r>
              <a:rPr lang="en-US" sz="1600" b="1" dirty="0">
                <a:solidFill>
                  <a:schemeClr val="bg1"/>
                </a:solidFill>
                <a:latin typeface="+mj-lt"/>
                <a:ea typeface="Open Sans" panose="020B0606030504020204" pitchFamily="34" charset="0"/>
                <a:cs typeface="Open Sans" panose="020B0606030504020204" pitchFamily="34" charset="0"/>
              </a:rPr>
              <a:t>01</a:t>
            </a:r>
          </a:p>
        </p:txBody>
      </p:sp>
      <p:sp>
        <p:nvSpPr>
          <p:cNvPr id="23" name="Slide Number Placeholder 5"/>
          <p:cNvSpPr>
            <a:spLocks noGrp="1"/>
          </p:cNvSpPr>
          <p:nvPr>
            <p:ph type="sldNum" sz="quarter" idx="4"/>
          </p:nvPr>
        </p:nvSpPr>
        <p:spPr>
          <a:xfrm>
            <a:off x="621452" y="6335328"/>
            <a:ext cx="439703" cy="320040"/>
          </a:xfrm>
          <a:prstGeom prst="rect">
            <a:avLst/>
          </a:prstGeom>
          <a:noFill/>
          <a:ln>
            <a:noFill/>
          </a:ln>
        </p:spPr>
        <p:txBody>
          <a:bodyPr vert="horz" lIns="0" tIns="0" rIns="0" bIns="0" rtlCol="0" anchor="ctr"/>
          <a:lstStyle>
            <a:lvl1pPr algn="l">
              <a:defRPr lang="en-US" sz="1400" b="1" smtClean="0">
                <a:solidFill>
                  <a:schemeClr val="accent1"/>
                </a:solidFill>
              </a:defRPr>
            </a:lvl1pPr>
          </a:lstStyle>
          <a:p>
            <a:pPr rtl="1"/>
            <a:r>
              <a:rPr lang="en-US"/>
              <a:t>#</a:t>
            </a:r>
            <a:endParaRPr lang="en-US" dirty="0"/>
          </a:p>
        </p:txBody>
      </p:sp>
      <p:pic>
        <p:nvPicPr>
          <p:cNvPr id="3" name="Picture 2">
            <a:extLst>
              <a:ext uri="{FF2B5EF4-FFF2-40B4-BE49-F238E27FC236}">
                <a16:creationId xmlns:a16="http://schemas.microsoft.com/office/drawing/2014/main" id="{B100176E-CEC2-70DC-C086-2D881B34126F}"/>
              </a:ext>
            </a:extLst>
          </p:cNvPr>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621452" y="277136"/>
            <a:ext cx="2464906" cy="36576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62543427"/>
      </p:ext>
    </p:extLst>
  </p:cSld>
  <p:clrMapOvr>
    <a:masterClrMapping/>
  </p:clrMapOvr>
  <mc:AlternateContent xmlns:mc="http://schemas.openxmlformats.org/markup-compatibility/2006" xmlns:p14="http://schemas.microsoft.com/office/powerpoint/2010/main">
    <mc:Choice Requires="p14">
      <p:transition spd="slow" p14:dur="1300">
        <p14:pan dir="r"/>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8">
                                            <p:txEl>
                                              <p:pRg st="0" end="0"/>
                                            </p:txEl>
                                          </p:spTgt>
                                        </p:tgtEl>
                                        <p:attrNameLst>
                                          <p:attrName>style.visibility</p:attrName>
                                        </p:attrNameLst>
                                      </p:cBhvr>
                                      <p:to>
                                        <p:strVal val="visible"/>
                                      </p:to>
                                    </p:set>
                                    <p:animEffect transition="in" filter="fade">
                                      <p:cBhvr>
                                        <p:cTn id="7" dur="500"/>
                                        <p:tgtEl>
                                          <p:spTgt spid="28">
                                            <p:txEl>
                                              <p:pRg st="0" end="0"/>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3">
                                            <p:txEl>
                                              <p:pRg st="0" end="0"/>
                                            </p:txEl>
                                          </p:spTgt>
                                        </p:tgtEl>
                                        <p:attrNameLst>
                                          <p:attrName>style.visibility</p:attrName>
                                        </p:attrNameLst>
                                      </p:cBhvr>
                                      <p:to>
                                        <p:strVal val="visible"/>
                                      </p:to>
                                    </p:set>
                                    <p:animEffect transition="in" filter="fade">
                                      <p:cBhvr>
                                        <p:cTn id="10" dur="500"/>
                                        <p:tgtEl>
                                          <p:spTgt spid="63">
                                            <p:txEl>
                                              <p:pRg st="0" end="0"/>
                                            </p:txEl>
                                          </p:spTgt>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66">
                                            <p:txEl>
                                              <p:pRg st="0" end="0"/>
                                            </p:txEl>
                                          </p:spTgt>
                                        </p:tgtEl>
                                        <p:attrNameLst>
                                          <p:attrName>style.visibility</p:attrName>
                                        </p:attrNameLst>
                                      </p:cBhvr>
                                      <p:to>
                                        <p:strVal val="visible"/>
                                      </p:to>
                                    </p:set>
                                    <p:animEffect transition="in" filter="fade">
                                      <p:cBhvr>
                                        <p:cTn id="13" dur="500"/>
                                        <p:tgtEl>
                                          <p:spTgt spid="66">
                                            <p:txEl>
                                              <p:pRg st="0" end="0"/>
                                            </p:txEl>
                                          </p:spTgt>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69">
                                            <p:txEl>
                                              <p:pRg st="0" end="0"/>
                                            </p:txEl>
                                          </p:spTgt>
                                        </p:tgtEl>
                                        <p:attrNameLst>
                                          <p:attrName>style.visibility</p:attrName>
                                        </p:attrNameLst>
                                      </p:cBhvr>
                                      <p:to>
                                        <p:strVal val="visible"/>
                                      </p:to>
                                    </p:set>
                                    <p:animEffect transition="in" filter="fade">
                                      <p:cBhvr>
                                        <p:cTn id="16" dur="500"/>
                                        <p:tgtEl>
                                          <p:spTgt spid="69">
                                            <p:txEl>
                                              <p:pRg st="0" end="0"/>
                                            </p:txEl>
                                          </p:spTgt>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72">
                                            <p:txEl>
                                              <p:pRg st="0" end="0"/>
                                            </p:txEl>
                                          </p:spTgt>
                                        </p:tgtEl>
                                        <p:attrNameLst>
                                          <p:attrName>style.visibility</p:attrName>
                                        </p:attrNameLst>
                                      </p:cBhvr>
                                      <p:to>
                                        <p:strVal val="visible"/>
                                      </p:to>
                                    </p:set>
                                    <p:animEffect transition="in" filter="fade">
                                      <p:cBhvr>
                                        <p:cTn id="19" dur="500"/>
                                        <p:tgtEl>
                                          <p:spTgt spid="72">
                                            <p:txEl>
                                              <p:pRg st="0" end="0"/>
                                            </p:txEl>
                                          </p:spTgt>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75">
                                            <p:txEl>
                                              <p:pRg st="0" end="0"/>
                                            </p:txEl>
                                          </p:spTgt>
                                        </p:tgtEl>
                                        <p:attrNameLst>
                                          <p:attrName>style.visibility</p:attrName>
                                        </p:attrNameLst>
                                      </p:cBhvr>
                                      <p:to>
                                        <p:strVal val="visible"/>
                                      </p:to>
                                    </p:set>
                                    <p:animEffect transition="in" filter="fade">
                                      <p:cBhvr>
                                        <p:cTn id="22" dur="500"/>
                                        <p:tgtEl>
                                          <p:spTgt spid="75">
                                            <p:txEl>
                                              <p:pRg st="0" end="0"/>
                                            </p:txEl>
                                          </p:spTgt>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78">
                                            <p:txEl>
                                              <p:pRg st="0" end="0"/>
                                            </p:txEl>
                                          </p:spTgt>
                                        </p:tgtEl>
                                        <p:attrNameLst>
                                          <p:attrName>style.visibility</p:attrName>
                                        </p:attrNameLst>
                                      </p:cBhvr>
                                      <p:to>
                                        <p:strVal val="visible"/>
                                      </p:to>
                                    </p:set>
                                    <p:animEffect transition="in" filter="fade">
                                      <p:cBhvr>
                                        <p:cTn id="25" dur="500"/>
                                        <p:tgtEl>
                                          <p:spTgt spid="78">
                                            <p:txEl>
                                              <p:pRg st="0" end="0"/>
                                            </p:txEl>
                                          </p:spTgt>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81">
                                            <p:txEl>
                                              <p:pRg st="0" end="0"/>
                                            </p:txEl>
                                          </p:spTgt>
                                        </p:tgtEl>
                                        <p:attrNameLst>
                                          <p:attrName>style.visibility</p:attrName>
                                        </p:attrNameLst>
                                      </p:cBhvr>
                                      <p:to>
                                        <p:strVal val="visible"/>
                                      </p:to>
                                    </p:set>
                                    <p:animEffect transition="in" filter="fade">
                                      <p:cBhvr>
                                        <p:cTn id="28" dur="500"/>
                                        <p:tgtEl>
                                          <p:spTgt spid="81">
                                            <p:txEl>
                                              <p:pRg st="0" end="0"/>
                                            </p:txEl>
                                          </p:spTgt>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84">
                                            <p:txEl>
                                              <p:pRg st="0" end="0"/>
                                            </p:txEl>
                                          </p:spTgt>
                                        </p:tgtEl>
                                        <p:attrNameLst>
                                          <p:attrName>style.visibility</p:attrName>
                                        </p:attrNameLst>
                                      </p:cBhvr>
                                      <p:to>
                                        <p:strVal val="visible"/>
                                      </p:to>
                                    </p:set>
                                    <p:animEffect transition="in" filter="fade">
                                      <p:cBhvr>
                                        <p:cTn id="31" dur="500"/>
                                        <p:tgtEl>
                                          <p:spTgt spid="84">
                                            <p:txEl>
                                              <p:pRg st="0" end="0"/>
                                            </p:txEl>
                                          </p:spTgt>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87">
                                            <p:txEl>
                                              <p:pRg st="0" end="0"/>
                                            </p:txEl>
                                          </p:spTgt>
                                        </p:tgtEl>
                                        <p:attrNameLst>
                                          <p:attrName>style.visibility</p:attrName>
                                        </p:attrNameLst>
                                      </p:cBhvr>
                                      <p:to>
                                        <p:strVal val="visible"/>
                                      </p:to>
                                    </p:set>
                                    <p:animEffect transition="in" filter="fade">
                                      <p:cBhvr>
                                        <p:cTn id="34" dur="500"/>
                                        <p:tgtEl>
                                          <p:spTgt spid="87">
                                            <p:txEl>
                                              <p:pRg st="0" end="0"/>
                                            </p:txEl>
                                          </p:spTgt>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90">
                                            <p:txEl>
                                              <p:pRg st="0" end="0"/>
                                            </p:txEl>
                                          </p:spTgt>
                                        </p:tgtEl>
                                        <p:attrNameLst>
                                          <p:attrName>style.visibility</p:attrName>
                                        </p:attrNameLst>
                                      </p:cBhvr>
                                      <p:to>
                                        <p:strVal val="visible"/>
                                      </p:to>
                                    </p:set>
                                    <p:animEffect transition="in" filter="fade">
                                      <p:cBhvr>
                                        <p:cTn id="37" dur="500"/>
                                        <p:tgtEl>
                                          <p:spTgt spid="90">
                                            <p:txEl>
                                              <p:pRg st="0" end="0"/>
                                            </p:txEl>
                                          </p:spTgt>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93">
                                            <p:txEl>
                                              <p:pRg st="0" end="0"/>
                                            </p:txEl>
                                          </p:spTgt>
                                        </p:tgtEl>
                                        <p:attrNameLst>
                                          <p:attrName>style.visibility</p:attrName>
                                        </p:attrNameLst>
                                      </p:cBhvr>
                                      <p:to>
                                        <p:strVal val="visible"/>
                                      </p:to>
                                    </p:set>
                                    <p:animEffect transition="in" filter="fade">
                                      <p:cBhvr>
                                        <p:cTn id="40" dur="500"/>
                                        <p:tgtEl>
                                          <p:spTgt spid="9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 grpId="0" build="allAtOnce">
        <p:tmplLst>
          <p:tmpl lvl="1">
            <p:tnLst>
              <p:par>
                <p:cTn presetID="10" presetClass="entr" presetSubtype="0" fill="hold" nodeType="withEffect">
                  <p:stCondLst>
                    <p:cond delay="0"/>
                  </p:stCondLst>
                  <p:childTnLst>
                    <p:set>
                      <p:cBhvr>
                        <p:cTn dur="1" fill="hold">
                          <p:stCondLst>
                            <p:cond delay="0"/>
                          </p:stCondLst>
                        </p:cTn>
                        <p:tgtEl>
                          <p:spTgt spid="28"/>
                        </p:tgtEl>
                        <p:attrNameLst>
                          <p:attrName>style.visibility</p:attrName>
                        </p:attrNameLst>
                      </p:cBhvr>
                      <p:to>
                        <p:strVal val="visible"/>
                      </p:to>
                    </p:set>
                    <p:animEffect transition="in" filter="fade">
                      <p:cBhvr>
                        <p:cTn dur="500"/>
                        <p:tgtEl>
                          <p:spTgt spid="28"/>
                        </p:tgtEl>
                      </p:cBhvr>
                    </p:animEffect>
                  </p:childTnLst>
                </p:cTn>
              </p:par>
            </p:tnLst>
          </p:tmpl>
        </p:tmplLst>
      </p:bldP>
      <p:bldP spid="63" grpId="0" build="allAtOnce">
        <p:tmplLst>
          <p:tmpl lvl="1">
            <p:tnLst>
              <p:par>
                <p:cTn presetID="10" presetClass="entr" presetSubtype="0" fill="hold" nodeType="withEffect">
                  <p:stCondLst>
                    <p:cond delay="0"/>
                  </p:stCondLst>
                  <p:childTnLst>
                    <p:set>
                      <p:cBhvr>
                        <p:cTn dur="1" fill="hold">
                          <p:stCondLst>
                            <p:cond delay="0"/>
                          </p:stCondLst>
                        </p:cTn>
                        <p:tgtEl>
                          <p:spTgt spid="63"/>
                        </p:tgtEl>
                        <p:attrNameLst>
                          <p:attrName>style.visibility</p:attrName>
                        </p:attrNameLst>
                      </p:cBhvr>
                      <p:to>
                        <p:strVal val="visible"/>
                      </p:to>
                    </p:set>
                    <p:animEffect transition="in" filter="fade">
                      <p:cBhvr>
                        <p:cTn dur="500"/>
                        <p:tgtEl>
                          <p:spTgt spid="63"/>
                        </p:tgtEl>
                      </p:cBhvr>
                    </p:animEffect>
                  </p:childTnLst>
                </p:cTn>
              </p:par>
            </p:tnLst>
          </p:tmpl>
        </p:tmplLst>
      </p:bldP>
      <p:bldP spid="66" grpId="0" build="allAtOnce">
        <p:tmplLst>
          <p:tmpl lvl="1">
            <p:tnLst>
              <p:par>
                <p:cTn presetID="10" presetClass="entr" presetSubtype="0" fill="hold" nodeType="withEffect">
                  <p:stCondLst>
                    <p:cond delay="0"/>
                  </p:stCondLst>
                  <p:childTnLst>
                    <p:set>
                      <p:cBhvr>
                        <p:cTn dur="1" fill="hold">
                          <p:stCondLst>
                            <p:cond delay="0"/>
                          </p:stCondLst>
                        </p:cTn>
                        <p:tgtEl>
                          <p:spTgt spid="66"/>
                        </p:tgtEl>
                        <p:attrNameLst>
                          <p:attrName>style.visibility</p:attrName>
                        </p:attrNameLst>
                      </p:cBhvr>
                      <p:to>
                        <p:strVal val="visible"/>
                      </p:to>
                    </p:set>
                    <p:animEffect transition="in" filter="fade">
                      <p:cBhvr>
                        <p:cTn dur="500"/>
                        <p:tgtEl>
                          <p:spTgt spid="66"/>
                        </p:tgtEl>
                      </p:cBhvr>
                    </p:animEffect>
                  </p:childTnLst>
                </p:cTn>
              </p:par>
            </p:tnLst>
          </p:tmpl>
        </p:tmplLst>
      </p:bldP>
      <p:bldP spid="69" grpId="0" build="allAtOnce">
        <p:tmplLst>
          <p:tmpl lvl="1">
            <p:tnLst>
              <p:par>
                <p:cTn presetID="10" presetClass="entr" presetSubtype="0" fill="hold" nodeType="withEffect">
                  <p:stCondLst>
                    <p:cond delay="0"/>
                  </p:stCondLst>
                  <p:childTnLst>
                    <p:set>
                      <p:cBhvr>
                        <p:cTn dur="1" fill="hold">
                          <p:stCondLst>
                            <p:cond delay="0"/>
                          </p:stCondLst>
                        </p:cTn>
                        <p:tgtEl>
                          <p:spTgt spid="69"/>
                        </p:tgtEl>
                        <p:attrNameLst>
                          <p:attrName>style.visibility</p:attrName>
                        </p:attrNameLst>
                      </p:cBhvr>
                      <p:to>
                        <p:strVal val="visible"/>
                      </p:to>
                    </p:set>
                    <p:animEffect transition="in" filter="fade">
                      <p:cBhvr>
                        <p:cTn dur="500"/>
                        <p:tgtEl>
                          <p:spTgt spid="69"/>
                        </p:tgtEl>
                      </p:cBhvr>
                    </p:animEffect>
                  </p:childTnLst>
                </p:cTn>
              </p:par>
            </p:tnLst>
          </p:tmpl>
        </p:tmplLst>
      </p:bldP>
      <p:bldP spid="72" grpId="0" build="allAtOnce">
        <p:tmplLst>
          <p:tmpl lvl="1">
            <p:tnLst>
              <p:par>
                <p:cTn presetID="10" presetClass="entr" presetSubtype="0" fill="hold" nodeType="withEffect">
                  <p:stCondLst>
                    <p:cond delay="0"/>
                  </p:stCondLst>
                  <p:childTnLst>
                    <p:set>
                      <p:cBhvr>
                        <p:cTn dur="1" fill="hold">
                          <p:stCondLst>
                            <p:cond delay="0"/>
                          </p:stCondLst>
                        </p:cTn>
                        <p:tgtEl>
                          <p:spTgt spid="72"/>
                        </p:tgtEl>
                        <p:attrNameLst>
                          <p:attrName>style.visibility</p:attrName>
                        </p:attrNameLst>
                      </p:cBhvr>
                      <p:to>
                        <p:strVal val="visible"/>
                      </p:to>
                    </p:set>
                    <p:animEffect transition="in" filter="fade">
                      <p:cBhvr>
                        <p:cTn dur="500"/>
                        <p:tgtEl>
                          <p:spTgt spid="72"/>
                        </p:tgtEl>
                      </p:cBhvr>
                    </p:animEffect>
                  </p:childTnLst>
                </p:cTn>
              </p:par>
            </p:tnLst>
          </p:tmpl>
        </p:tmplLst>
      </p:bldP>
      <p:bldP spid="75" grpId="0" build="allAtOnce">
        <p:tmplLst>
          <p:tmpl lvl="1">
            <p:tnLst>
              <p:par>
                <p:cTn presetID="10" presetClass="entr" presetSubtype="0" fill="hold" nodeType="withEffect">
                  <p:stCondLst>
                    <p:cond delay="0"/>
                  </p:stCondLst>
                  <p:childTnLst>
                    <p:set>
                      <p:cBhvr>
                        <p:cTn dur="1" fill="hold">
                          <p:stCondLst>
                            <p:cond delay="0"/>
                          </p:stCondLst>
                        </p:cTn>
                        <p:tgtEl>
                          <p:spTgt spid="75"/>
                        </p:tgtEl>
                        <p:attrNameLst>
                          <p:attrName>style.visibility</p:attrName>
                        </p:attrNameLst>
                      </p:cBhvr>
                      <p:to>
                        <p:strVal val="visible"/>
                      </p:to>
                    </p:set>
                    <p:animEffect transition="in" filter="fade">
                      <p:cBhvr>
                        <p:cTn dur="500"/>
                        <p:tgtEl>
                          <p:spTgt spid="75"/>
                        </p:tgtEl>
                      </p:cBhvr>
                    </p:animEffect>
                  </p:childTnLst>
                </p:cTn>
              </p:par>
            </p:tnLst>
          </p:tmpl>
        </p:tmplLst>
      </p:bldP>
      <p:bldP spid="78" grpId="0" build="allAtOnce">
        <p:tmplLst>
          <p:tmpl lvl="1">
            <p:tnLst>
              <p:par>
                <p:cTn presetID="10" presetClass="entr" presetSubtype="0" fill="hold" nodeType="withEffect">
                  <p:stCondLst>
                    <p:cond delay="0"/>
                  </p:stCondLst>
                  <p:childTnLst>
                    <p:set>
                      <p:cBhvr>
                        <p:cTn dur="1" fill="hold">
                          <p:stCondLst>
                            <p:cond delay="0"/>
                          </p:stCondLst>
                        </p:cTn>
                        <p:tgtEl>
                          <p:spTgt spid="78"/>
                        </p:tgtEl>
                        <p:attrNameLst>
                          <p:attrName>style.visibility</p:attrName>
                        </p:attrNameLst>
                      </p:cBhvr>
                      <p:to>
                        <p:strVal val="visible"/>
                      </p:to>
                    </p:set>
                    <p:animEffect transition="in" filter="fade">
                      <p:cBhvr>
                        <p:cTn dur="500"/>
                        <p:tgtEl>
                          <p:spTgt spid="78"/>
                        </p:tgtEl>
                      </p:cBhvr>
                    </p:animEffect>
                  </p:childTnLst>
                </p:cTn>
              </p:par>
            </p:tnLst>
          </p:tmpl>
        </p:tmplLst>
      </p:bldP>
      <p:bldP spid="81" grpId="0" build="allAtOnce">
        <p:tmplLst>
          <p:tmpl lvl="1">
            <p:tnLst>
              <p:par>
                <p:cTn presetID="10" presetClass="entr" presetSubtype="0" fill="hold" nodeType="withEffect">
                  <p:stCondLst>
                    <p:cond delay="0"/>
                  </p:stCondLst>
                  <p:childTnLst>
                    <p:set>
                      <p:cBhvr>
                        <p:cTn dur="1" fill="hold">
                          <p:stCondLst>
                            <p:cond delay="0"/>
                          </p:stCondLst>
                        </p:cTn>
                        <p:tgtEl>
                          <p:spTgt spid="81"/>
                        </p:tgtEl>
                        <p:attrNameLst>
                          <p:attrName>style.visibility</p:attrName>
                        </p:attrNameLst>
                      </p:cBhvr>
                      <p:to>
                        <p:strVal val="visible"/>
                      </p:to>
                    </p:set>
                    <p:animEffect transition="in" filter="fade">
                      <p:cBhvr>
                        <p:cTn dur="500"/>
                        <p:tgtEl>
                          <p:spTgt spid="81"/>
                        </p:tgtEl>
                      </p:cBhvr>
                    </p:animEffect>
                  </p:childTnLst>
                </p:cTn>
              </p:par>
            </p:tnLst>
          </p:tmpl>
        </p:tmplLst>
      </p:bldP>
      <p:bldP spid="84" grpId="0" build="allAtOnce">
        <p:tmplLst>
          <p:tmpl lvl="1">
            <p:tnLst>
              <p:par>
                <p:cTn presetID="10" presetClass="entr" presetSubtype="0" fill="hold" nodeType="withEffect">
                  <p:stCondLst>
                    <p:cond delay="0"/>
                  </p:stCondLst>
                  <p:childTnLst>
                    <p:set>
                      <p:cBhvr>
                        <p:cTn dur="1" fill="hold">
                          <p:stCondLst>
                            <p:cond delay="0"/>
                          </p:stCondLst>
                        </p:cTn>
                        <p:tgtEl>
                          <p:spTgt spid="84"/>
                        </p:tgtEl>
                        <p:attrNameLst>
                          <p:attrName>style.visibility</p:attrName>
                        </p:attrNameLst>
                      </p:cBhvr>
                      <p:to>
                        <p:strVal val="visible"/>
                      </p:to>
                    </p:set>
                    <p:animEffect transition="in" filter="fade">
                      <p:cBhvr>
                        <p:cTn dur="500"/>
                        <p:tgtEl>
                          <p:spTgt spid="84"/>
                        </p:tgtEl>
                      </p:cBhvr>
                    </p:animEffect>
                  </p:childTnLst>
                </p:cTn>
              </p:par>
            </p:tnLst>
          </p:tmpl>
        </p:tmplLst>
      </p:bldP>
      <p:bldP spid="87" grpId="0" build="allAtOnce">
        <p:tmplLst>
          <p:tmpl lvl="1">
            <p:tnLst>
              <p:par>
                <p:cTn presetID="10" presetClass="entr" presetSubtype="0" fill="hold" nodeType="withEffect">
                  <p:stCondLst>
                    <p:cond delay="0"/>
                  </p:stCondLst>
                  <p:childTnLst>
                    <p:set>
                      <p:cBhvr>
                        <p:cTn dur="1" fill="hold">
                          <p:stCondLst>
                            <p:cond delay="0"/>
                          </p:stCondLst>
                        </p:cTn>
                        <p:tgtEl>
                          <p:spTgt spid="87"/>
                        </p:tgtEl>
                        <p:attrNameLst>
                          <p:attrName>style.visibility</p:attrName>
                        </p:attrNameLst>
                      </p:cBhvr>
                      <p:to>
                        <p:strVal val="visible"/>
                      </p:to>
                    </p:set>
                    <p:animEffect transition="in" filter="fade">
                      <p:cBhvr>
                        <p:cTn dur="500"/>
                        <p:tgtEl>
                          <p:spTgt spid="87"/>
                        </p:tgtEl>
                      </p:cBhvr>
                    </p:animEffect>
                  </p:childTnLst>
                </p:cTn>
              </p:par>
            </p:tnLst>
          </p:tmpl>
        </p:tmplLst>
      </p:bldP>
      <p:bldP spid="90" grpId="0" build="allAtOnce">
        <p:tmplLst>
          <p:tmpl lvl="1">
            <p:tnLst>
              <p:par>
                <p:cTn presetID="10" presetClass="entr" presetSubtype="0" fill="hold" nodeType="withEffect">
                  <p:stCondLst>
                    <p:cond delay="0"/>
                  </p:stCondLst>
                  <p:childTnLst>
                    <p:set>
                      <p:cBhvr>
                        <p:cTn dur="1" fill="hold">
                          <p:stCondLst>
                            <p:cond delay="0"/>
                          </p:stCondLst>
                        </p:cTn>
                        <p:tgtEl>
                          <p:spTgt spid="90"/>
                        </p:tgtEl>
                        <p:attrNameLst>
                          <p:attrName>style.visibility</p:attrName>
                        </p:attrNameLst>
                      </p:cBhvr>
                      <p:to>
                        <p:strVal val="visible"/>
                      </p:to>
                    </p:set>
                    <p:animEffect transition="in" filter="fade">
                      <p:cBhvr>
                        <p:cTn dur="500"/>
                        <p:tgtEl>
                          <p:spTgt spid="90"/>
                        </p:tgtEl>
                      </p:cBhvr>
                    </p:animEffect>
                  </p:childTnLst>
                </p:cTn>
              </p:par>
            </p:tnLst>
          </p:tmpl>
        </p:tmplLst>
      </p:bldP>
      <p:bldP spid="93" grpId="0" build="allAtOnce">
        <p:tmplLst>
          <p:tmpl lvl="1">
            <p:tnLst>
              <p:par>
                <p:cTn presetID="10" presetClass="entr" presetSubtype="0" fill="hold" nodeType="withEffect">
                  <p:stCondLst>
                    <p:cond delay="0"/>
                  </p:stCondLst>
                  <p:childTnLst>
                    <p:set>
                      <p:cBhvr>
                        <p:cTn dur="1" fill="hold">
                          <p:stCondLst>
                            <p:cond delay="0"/>
                          </p:stCondLst>
                        </p:cTn>
                        <p:tgtEl>
                          <p:spTgt spid="93"/>
                        </p:tgtEl>
                        <p:attrNameLst>
                          <p:attrName>style.visibility</p:attrName>
                        </p:attrNameLst>
                      </p:cBhvr>
                      <p:to>
                        <p:strVal val="visible"/>
                      </p:to>
                    </p:set>
                    <p:animEffect transition="in" filter="fade">
                      <p:cBhvr>
                        <p:cTn dur="500"/>
                        <p:tgtEl>
                          <p:spTgt spid="93"/>
                        </p:tgtEl>
                      </p:cBhvr>
                    </p:animEffect>
                  </p:childTnLst>
                </p:cTn>
              </p:par>
            </p:tnLst>
          </p:tmpl>
        </p:tmplLst>
      </p:bldP>
    </p:bld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p>
            <a:r>
              <a:rPr lang="ar-EG" dirty="0"/>
              <a:t>اضغط لتغيير العنوان</a:t>
            </a:r>
            <a:endParaRPr lang="en-US" dirty="0"/>
          </a:p>
        </p:txBody>
      </p:sp>
      <p:sp>
        <p:nvSpPr>
          <p:cNvPr id="3" name="Date Placeholder 2"/>
          <p:cNvSpPr>
            <a:spLocks noGrp="1"/>
          </p:cNvSpPr>
          <p:nvPr>
            <p:ph type="dt" sz="half" idx="10"/>
          </p:nvPr>
        </p:nvSpPr>
        <p:spPr>
          <a:xfrm>
            <a:off x="1126155" y="6372408"/>
            <a:ext cx="1875631" cy="365125"/>
          </a:xfrm>
          <a:prstGeom prst="rect">
            <a:avLst/>
          </a:prstGeom>
        </p:spPr>
        <p:txBody>
          <a:bodyPr/>
          <a:lstStyle/>
          <a:p>
            <a:fld id="{84913560-8229-45AB-89CF-A554C7EFF781}" type="datetime1">
              <a:rPr lang="en-US" smtClean="0"/>
              <a:t>5/14/2025</a:t>
            </a:fld>
            <a:endParaRPr lang="en-US"/>
          </a:p>
        </p:txBody>
      </p:sp>
      <p:sp>
        <p:nvSpPr>
          <p:cNvPr id="4" name="Footer Placeholder 3"/>
          <p:cNvSpPr>
            <a:spLocks noGrp="1"/>
          </p:cNvSpPr>
          <p:nvPr>
            <p:ph type="ftr" sz="quarter" idx="11"/>
          </p:nvPr>
        </p:nvSpPr>
        <p:spPr>
          <a:xfrm>
            <a:off x="4400233" y="6367630"/>
            <a:ext cx="3691931" cy="365125"/>
          </a:xfrm>
          <a:prstGeom prst="rect">
            <a:avLst/>
          </a:prstGeom>
        </p:spPr>
        <p:txBody>
          <a:bodyPr/>
          <a:lstStyle/>
          <a:p>
            <a:endParaRPr lang="en-US"/>
          </a:p>
        </p:txBody>
      </p:sp>
      <p:sp>
        <p:nvSpPr>
          <p:cNvPr id="5" name="Slide Number Placeholder 4"/>
          <p:cNvSpPr>
            <a:spLocks noGrp="1"/>
          </p:cNvSpPr>
          <p:nvPr>
            <p:ph type="sldNum" sz="quarter" idx="12"/>
          </p:nvPr>
        </p:nvSpPr>
        <p:spPr/>
        <p:txBody>
          <a:bodyPr/>
          <a:lstStyle/>
          <a:p>
            <a:fld id="{0BE4EC83-A869-464E-AE9F-881796FB085E}" type="slidenum">
              <a:rPr lang="en-US" smtClean="0"/>
              <a:t>‹#›</a:t>
            </a:fld>
            <a:endParaRPr lang="en-US"/>
          </a:p>
        </p:txBody>
      </p:sp>
    </p:spTree>
    <p:extLst>
      <p:ext uri="{BB962C8B-B14F-4D97-AF65-F5344CB8AC3E}">
        <p14:creationId xmlns:p14="http://schemas.microsoft.com/office/powerpoint/2010/main" val="292435601"/>
      </p:ext>
    </p:extLst>
  </p:cSld>
  <p:clrMapOvr>
    <a:masterClrMapping/>
  </p:clrMapOvr>
  <mc:AlternateContent xmlns:mc="http://schemas.openxmlformats.org/markup-compatibility/2006" xmlns:p14="http://schemas.microsoft.com/office/powerpoint/2010/main">
    <mc:Choice Requires="p14">
      <p:transition spd="slow" p14:dur="1300">
        <p14:pan dir="r"/>
      </p:transition>
    </mc:Choice>
    <mc:Fallback xmlns="">
      <p:transition spd="slow">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1_Title Only">
    <p:spTree>
      <p:nvGrpSpPr>
        <p:cNvPr id="1" name=""/>
        <p:cNvGrpSpPr/>
        <p:nvPr/>
      </p:nvGrpSpPr>
      <p:grpSpPr>
        <a:xfrm>
          <a:off x="0" y="0"/>
          <a:ext cx="0" cy="0"/>
          <a:chOff x="0" y="0"/>
          <a:chExt cx="0" cy="0"/>
        </a:xfrm>
      </p:grpSpPr>
      <p:sp>
        <p:nvSpPr>
          <p:cNvPr id="10" name="Picture Placeholder 9"/>
          <p:cNvSpPr>
            <a:spLocks noGrp="1"/>
          </p:cNvSpPr>
          <p:nvPr>
            <p:ph type="pic" sz="quarter" idx="13"/>
          </p:nvPr>
        </p:nvSpPr>
        <p:spPr>
          <a:xfrm>
            <a:off x="7489825" y="0"/>
            <a:ext cx="4702175" cy="6858000"/>
          </a:xfrm>
        </p:spPr>
        <p:txBody>
          <a:bodyPr/>
          <a:lstStyle/>
          <a:p>
            <a:r>
              <a:rPr lang="en-US"/>
              <a:t>Click icon to add picture</a:t>
            </a:r>
          </a:p>
        </p:txBody>
      </p:sp>
      <p:sp>
        <p:nvSpPr>
          <p:cNvPr id="2" name="Title 1"/>
          <p:cNvSpPr>
            <a:spLocks noGrp="1"/>
          </p:cNvSpPr>
          <p:nvPr>
            <p:ph type="title" hasCustomPrompt="1"/>
          </p:nvPr>
        </p:nvSpPr>
        <p:spPr>
          <a:xfrm>
            <a:off x="838200" y="475918"/>
            <a:ext cx="6115756" cy="666261"/>
          </a:xfrm>
        </p:spPr>
        <p:txBody>
          <a:bodyPr/>
          <a:lstStyle/>
          <a:p>
            <a:r>
              <a:rPr lang="ar-EG" dirty="0"/>
              <a:t>اضغط لتغيير العنوان</a:t>
            </a:r>
            <a:endParaRPr lang="en-US" dirty="0"/>
          </a:p>
        </p:txBody>
      </p:sp>
      <p:sp>
        <p:nvSpPr>
          <p:cNvPr id="3" name="Date Placeholder 2"/>
          <p:cNvSpPr>
            <a:spLocks noGrp="1"/>
          </p:cNvSpPr>
          <p:nvPr>
            <p:ph type="dt" sz="half" idx="10"/>
          </p:nvPr>
        </p:nvSpPr>
        <p:spPr>
          <a:xfrm>
            <a:off x="1126155" y="6372408"/>
            <a:ext cx="1875631" cy="365125"/>
          </a:xfrm>
          <a:prstGeom prst="rect">
            <a:avLst/>
          </a:prstGeom>
        </p:spPr>
        <p:txBody>
          <a:bodyPr/>
          <a:lstStyle/>
          <a:p>
            <a:fld id="{84913560-8229-45AB-89CF-A554C7EFF781}" type="datetime1">
              <a:rPr lang="en-US" smtClean="0"/>
              <a:t>5/14/2025</a:t>
            </a:fld>
            <a:endParaRPr lang="en-US"/>
          </a:p>
        </p:txBody>
      </p:sp>
      <p:sp>
        <p:nvSpPr>
          <p:cNvPr id="4" name="Footer Placeholder 3"/>
          <p:cNvSpPr>
            <a:spLocks noGrp="1"/>
          </p:cNvSpPr>
          <p:nvPr>
            <p:ph type="ftr" sz="quarter" idx="11"/>
          </p:nvPr>
        </p:nvSpPr>
        <p:spPr>
          <a:xfrm>
            <a:off x="4400233" y="6367630"/>
            <a:ext cx="3691931" cy="365125"/>
          </a:xfrm>
          <a:prstGeom prst="rect">
            <a:avLst/>
          </a:prstGeom>
        </p:spPr>
        <p:txBody>
          <a:bodyPr/>
          <a:lstStyle/>
          <a:p>
            <a:endParaRPr lang="en-US"/>
          </a:p>
        </p:txBody>
      </p:sp>
      <p:sp>
        <p:nvSpPr>
          <p:cNvPr id="5" name="Slide Number Placeholder 4"/>
          <p:cNvSpPr>
            <a:spLocks noGrp="1"/>
          </p:cNvSpPr>
          <p:nvPr>
            <p:ph type="sldNum" sz="quarter" idx="12"/>
          </p:nvPr>
        </p:nvSpPr>
        <p:spPr/>
        <p:txBody>
          <a:bodyPr/>
          <a:lstStyle/>
          <a:p>
            <a:fld id="{0BE4EC83-A869-464E-AE9F-881796FB085E}" type="slidenum">
              <a:rPr lang="en-US" smtClean="0"/>
              <a:t>‹#›</a:t>
            </a:fld>
            <a:endParaRPr lang="en-US"/>
          </a:p>
        </p:txBody>
      </p:sp>
    </p:spTree>
    <p:extLst>
      <p:ext uri="{BB962C8B-B14F-4D97-AF65-F5344CB8AC3E}">
        <p14:creationId xmlns:p14="http://schemas.microsoft.com/office/powerpoint/2010/main" val="3793414137"/>
      </p:ext>
    </p:extLst>
  </p:cSld>
  <p:clrMapOvr>
    <a:masterClrMapping/>
  </p:clrMapOvr>
  <mc:AlternateContent xmlns:mc="http://schemas.openxmlformats.org/markup-compatibility/2006" xmlns:p14="http://schemas.microsoft.com/office/powerpoint/2010/main">
    <mc:Choice Requires="p14">
      <p:transition spd="slow" p14:dur="1300">
        <p14:pan dir="r"/>
      </p:transition>
    </mc:Choice>
    <mc:Fallback xmlns="">
      <p:transition spd="slow">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3" name="Content Placeholder 2"/>
          <p:cNvSpPr>
            <a:spLocks noGrp="1"/>
          </p:cNvSpPr>
          <p:nvPr>
            <p:ph idx="1" hasCustomPrompt="1"/>
          </p:nvPr>
        </p:nvSpPr>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ar-EG" dirty="0"/>
              <a:t>تعديل النص</a:t>
            </a:r>
            <a:endParaRPr lang="en-US" dirty="0"/>
          </a:p>
          <a:p>
            <a:pPr lvl="1"/>
            <a:r>
              <a:rPr lang="ar-EG" dirty="0"/>
              <a:t>المستوى الثاني</a:t>
            </a:r>
            <a:endParaRPr lang="en-US" dirty="0"/>
          </a:p>
          <a:p>
            <a:pPr lvl="2"/>
            <a:r>
              <a:rPr lang="ar-EG" dirty="0"/>
              <a:t>المستوى الثالث</a:t>
            </a:r>
            <a:endParaRPr lang="en-US" dirty="0"/>
          </a:p>
          <a:p>
            <a:pPr lvl="3"/>
            <a:r>
              <a:rPr lang="ar-EG" dirty="0"/>
              <a:t>المستوى الرابع</a:t>
            </a:r>
            <a:endParaRPr lang="en-US" dirty="0"/>
          </a:p>
          <a:p>
            <a:pPr lvl="4"/>
            <a:r>
              <a:rPr lang="ar-EG" dirty="0"/>
              <a:t>المستوى الخامس</a:t>
            </a:r>
            <a:endParaRPr lang="en-US" dirty="0"/>
          </a:p>
        </p:txBody>
      </p:sp>
      <p:sp>
        <p:nvSpPr>
          <p:cNvPr id="4" name="Date Placeholder 3"/>
          <p:cNvSpPr>
            <a:spLocks noGrp="1"/>
          </p:cNvSpPr>
          <p:nvPr>
            <p:ph type="dt" sz="half" idx="10"/>
          </p:nvPr>
        </p:nvSpPr>
        <p:spPr>
          <a:xfrm>
            <a:off x="1126155" y="6372408"/>
            <a:ext cx="1875631" cy="365125"/>
          </a:xfrm>
          <a:prstGeom prst="rect">
            <a:avLst/>
          </a:prstGeom>
        </p:spPr>
        <p:txBody>
          <a:bodyPr/>
          <a:lstStyle/>
          <a:p>
            <a:fld id="{F2A58179-A128-427D-87DD-C6A55F04E0A8}" type="datetime1">
              <a:rPr lang="en-US" smtClean="0"/>
              <a:t>5/14/2025</a:t>
            </a:fld>
            <a:endParaRPr lang="en-US"/>
          </a:p>
        </p:txBody>
      </p:sp>
      <p:sp>
        <p:nvSpPr>
          <p:cNvPr id="5" name="Footer Placeholder 4"/>
          <p:cNvSpPr>
            <a:spLocks noGrp="1"/>
          </p:cNvSpPr>
          <p:nvPr>
            <p:ph type="ftr" sz="quarter" idx="11"/>
          </p:nvPr>
        </p:nvSpPr>
        <p:spPr>
          <a:xfrm>
            <a:off x="4250035" y="6367630"/>
            <a:ext cx="3691931" cy="365125"/>
          </a:xfrm>
          <a:prstGeom prst="rect">
            <a:avLst/>
          </a:prstGeom>
        </p:spPr>
        <p:txBody>
          <a:bodyPr/>
          <a:lstStyle/>
          <a:p>
            <a:endParaRPr lang="en-US"/>
          </a:p>
        </p:txBody>
      </p:sp>
      <p:sp>
        <p:nvSpPr>
          <p:cNvPr id="6" name="Slide Number Placeholder 5"/>
          <p:cNvSpPr>
            <a:spLocks noGrp="1"/>
          </p:cNvSpPr>
          <p:nvPr>
            <p:ph type="sldNum" sz="quarter" idx="12"/>
          </p:nvPr>
        </p:nvSpPr>
        <p:spPr/>
        <p:txBody>
          <a:bodyPr/>
          <a:lstStyle/>
          <a:p>
            <a:fld id="{0BE4EC83-A869-464E-AE9F-881796FB085E}" type="slidenum">
              <a:rPr lang="en-US" smtClean="0"/>
              <a:t>‹#›</a:t>
            </a:fld>
            <a:endParaRPr lang="en-US"/>
          </a:p>
        </p:txBody>
      </p:sp>
      <p:sp>
        <p:nvSpPr>
          <p:cNvPr id="7" name="Title 6"/>
          <p:cNvSpPr>
            <a:spLocks noGrp="1"/>
          </p:cNvSpPr>
          <p:nvPr>
            <p:ph type="title" hasCustomPrompt="1"/>
          </p:nvPr>
        </p:nvSpPr>
        <p:spPr/>
        <p:txBody>
          <a:bodyPr/>
          <a:lstStyle/>
          <a:p>
            <a:r>
              <a:rPr lang="ar-EG" dirty="0"/>
              <a:t>اضغط لتغيير العنوان</a:t>
            </a:r>
            <a:endParaRPr lang="en-US" dirty="0"/>
          </a:p>
        </p:txBody>
      </p:sp>
    </p:spTree>
    <p:extLst>
      <p:ext uri="{BB962C8B-B14F-4D97-AF65-F5344CB8AC3E}">
        <p14:creationId xmlns:p14="http://schemas.microsoft.com/office/powerpoint/2010/main" val="1320834011"/>
      </p:ext>
    </p:extLst>
  </p:cSld>
  <p:clrMapOvr>
    <a:masterClrMapping/>
  </p:clrMapOvr>
  <mc:AlternateContent xmlns:mc="http://schemas.openxmlformats.org/markup-compatibility/2006" xmlns:p14="http://schemas.microsoft.com/office/powerpoint/2010/main">
    <mc:Choice Requires="p14">
      <p:transition spd="slow" p14:dur="1300">
        <p14:pan dir="r"/>
      </p:transition>
    </mc:Choice>
    <mc:Fallback xmlns="">
      <p:transition spd="slow">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Section Header">
    <p:bg>
      <p:bgPr>
        <a:solidFill>
          <a:schemeClr val="bg1"/>
        </a:solidFill>
        <a:effectLst/>
      </p:bgPr>
    </p:bg>
    <p:spTree>
      <p:nvGrpSpPr>
        <p:cNvPr id="1" name=""/>
        <p:cNvGrpSpPr/>
        <p:nvPr/>
      </p:nvGrpSpPr>
      <p:grpSpPr>
        <a:xfrm>
          <a:off x="0" y="0"/>
          <a:ext cx="0" cy="0"/>
          <a:chOff x="0" y="0"/>
          <a:chExt cx="0" cy="0"/>
        </a:xfrm>
      </p:grpSpPr>
      <p:pic>
        <p:nvPicPr>
          <p:cNvPr id="6" name="Picture 5" descr="A purple and white rectangle&#10;&#10;Description automatically generated">
            <a:extLst>
              <a:ext uri="{FF2B5EF4-FFF2-40B4-BE49-F238E27FC236}">
                <a16:creationId xmlns:a16="http://schemas.microsoft.com/office/drawing/2014/main" id="{5D8E7D26-4E4F-35D7-4CE8-4428C2B6C89C}"/>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hasCustomPrompt="1"/>
          </p:nvPr>
        </p:nvSpPr>
        <p:spPr>
          <a:xfrm>
            <a:off x="5928634" y="3925452"/>
            <a:ext cx="5615666" cy="641639"/>
          </a:xfrm>
          <a:noFill/>
        </p:spPr>
        <p:txBody>
          <a:bodyPr lIns="0" rIns="0" anchor="t" anchorCtr="0">
            <a:noAutofit/>
          </a:bodyPr>
          <a:lstStyle>
            <a:lvl1pPr algn="r">
              <a:defRPr sz="3600">
                <a:solidFill>
                  <a:schemeClr val="bg1"/>
                </a:solidFill>
                <a:latin typeface="DIN Next LT Arabic" panose="020B0503020203050203" pitchFamily="34" charset="-78"/>
                <a:cs typeface="DIN Next LT Arabic" panose="020B0503020203050203" pitchFamily="34" charset="-78"/>
              </a:defRPr>
            </a:lvl1pPr>
          </a:lstStyle>
          <a:p>
            <a:r>
              <a:rPr lang="ar-EG" dirty="0"/>
              <a:t>اضغط لتغيير العنوان</a:t>
            </a:r>
            <a:endParaRPr lang="en-US" dirty="0"/>
          </a:p>
        </p:txBody>
      </p:sp>
      <p:sp>
        <p:nvSpPr>
          <p:cNvPr id="9" name="Text Placeholder 3"/>
          <p:cNvSpPr>
            <a:spLocks noGrp="1"/>
          </p:cNvSpPr>
          <p:nvPr>
            <p:ph type="body" sz="quarter" idx="12"/>
          </p:nvPr>
        </p:nvSpPr>
        <p:spPr>
          <a:xfrm>
            <a:off x="7292975" y="7016661"/>
            <a:ext cx="4251325" cy="865187"/>
          </a:xfrm>
        </p:spPr>
        <p:txBody>
          <a:bodyPr>
            <a:normAutofit/>
          </a:bodyPr>
          <a:lstStyle>
            <a:lvl1pPr marL="0" indent="0" algn="ctr">
              <a:buNone/>
              <a:defRPr sz="1600">
                <a:solidFill>
                  <a:srgbClr val="E6E6E6"/>
                </a:solidFill>
              </a:defRPr>
            </a:lvl1pPr>
          </a:lstStyle>
          <a:p>
            <a:pPr lvl="0"/>
            <a:r>
              <a:rPr lang="en-US"/>
              <a:t>Click to edit Master text styles</a:t>
            </a:r>
          </a:p>
        </p:txBody>
      </p:sp>
      <p:sp>
        <p:nvSpPr>
          <p:cNvPr id="18" name="Text Placeholder 4"/>
          <p:cNvSpPr>
            <a:spLocks noGrp="1"/>
          </p:cNvSpPr>
          <p:nvPr>
            <p:ph type="body" sz="quarter" idx="14" hasCustomPrompt="1"/>
          </p:nvPr>
        </p:nvSpPr>
        <p:spPr>
          <a:xfrm>
            <a:off x="9601626" y="2343256"/>
            <a:ext cx="1942674" cy="1181919"/>
          </a:xfrm>
          <a:noFill/>
        </p:spPr>
        <p:txBody>
          <a:bodyPr lIns="0" tIns="0" bIns="0" anchor="ctr" anchorCtr="0">
            <a:noAutofit/>
          </a:bodyPr>
          <a:lstStyle>
            <a:lvl1pPr marL="0" indent="0" algn="ctr">
              <a:buNone/>
              <a:defRPr sz="8800" b="1">
                <a:ln w="19050">
                  <a:solidFill>
                    <a:schemeClr val="accent1"/>
                  </a:solidFill>
                </a:ln>
                <a:solidFill>
                  <a:schemeClr val="accent1"/>
                </a:solidFill>
                <a:latin typeface="Arial" panose="020B0604020202020204" pitchFamily="34" charset="0"/>
                <a:cs typeface="Arial" panose="020B0604020202020204" pitchFamily="34" charset="0"/>
              </a:defRPr>
            </a:lvl1pPr>
          </a:lstStyle>
          <a:p>
            <a:pPr lvl="0"/>
            <a:r>
              <a:rPr lang="ar-EG" dirty="0"/>
              <a:t>#</a:t>
            </a:r>
            <a:endParaRPr lang="en-US" dirty="0"/>
          </a:p>
        </p:txBody>
      </p:sp>
    </p:spTree>
    <p:extLst>
      <p:ext uri="{BB962C8B-B14F-4D97-AF65-F5344CB8AC3E}">
        <p14:creationId xmlns:p14="http://schemas.microsoft.com/office/powerpoint/2010/main" val="3162891222"/>
      </p:ext>
    </p:extLst>
  </p:cSld>
  <p:clrMapOvr>
    <a:masterClrMapping/>
  </p:clrMapOvr>
  <mc:AlternateContent xmlns:mc="http://schemas.openxmlformats.org/markup-compatibility/2006" xmlns:p14="http://schemas.microsoft.com/office/powerpoint/2010/main">
    <mc:Choice Requires="p14">
      <p:transition spd="slow">
        <p14:pan dir="u"/>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9">
                                            <p:txEl>
                                              <p:pRg st="0" end="0"/>
                                            </p:txEl>
                                          </p:spTgt>
                                        </p:tgtEl>
                                        <p:attrNameLst>
                                          <p:attrName>style.visibility</p:attrName>
                                        </p:attrNameLst>
                                      </p:cBhvr>
                                      <p:to>
                                        <p:strVal val="visible"/>
                                      </p:to>
                                    </p:set>
                                    <p:animEffect transition="in" filter="fade">
                                      <p:cBhvr>
                                        <p:cTn id="7" dur="500"/>
                                        <p:tgtEl>
                                          <p:spTgt spid="9">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build="p">
        <p:tmplLst>
          <p:tmpl lvl="1">
            <p:tnLst>
              <p:par>
                <p:cTn presetID="10" presetClass="entr" presetSubtype="0" fill="hold" nodeType="afterEffect">
                  <p:stCondLst>
                    <p:cond delay="0"/>
                  </p:stCondLst>
                  <p:childTnLst>
                    <p:set>
                      <p:cBhvr>
                        <p:cTn dur="1" fill="hold">
                          <p:stCondLst>
                            <p:cond delay="0"/>
                          </p:stCondLst>
                        </p:cTn>
                        <p:tgtEl>
                          <p:spTgt spid="9"/>
                        </p:tgtEl>
                        <p:attrNameLst>
                          <p:attrName>style.visibility</p:attrName>
                        </p:attrNameLst>
                      </p:cBhvr>
                      <p:to>
                        <p:strVal val="visible"/>
                      </p:to>
                    </p:set>
                    <p:animEffect transition="in" filter="fade">
                      <p:cBhvr>
                        <p:cTn dur="500"/>
                        <p:tgtEl>
                          <p:spTgt spid="9"/>
                        </p:tgtEl>
                      </p:cBhvr>
                    </p:animEffect>
                  </p:childTnLst>
                </p:cTn>
              </p:par>
            </p:tnLst>
          </p:tmpl>
        </p:tmplLst>
      </p:bldP>
    </p:bldLst>
  </p:timing>
  <p:hf sldNum="0" hdr="0" ftr="0" dt="0"/>
  <p:extLst>
    <p:ext uri="{DCECCB84-F9BA-43D5-87BE-67443E8EF086}">
      <p15:sldGuideLst xmlns:p15="http://schemas.microsoft.com/office/powerpoint/2012/main">
        <p15:guide id="1" pos="7272" userDrawn="1">
          <p15:clr>
            <a:srgbClr val="FBAE40"/>
          </p15:clr>
        </p15:guide>
        <p15:guide id="2" pos="6840">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2 Pictures with caption">
    <p:spTree>
      <p:nvGrpSpPr>
        <p:cNvPr id="1" name=""/>
        <p:cNvGrpSpPr/>
        <p:nvPr/>
      </p:nvGrpSpPr>
      <p:grpSpPr>
        <a:xfrm>
          <a:off x="0" y="0"/>
          <a:ext cx="0" cy="0"/>
          <a:chOff x="0" y="0"/>
          <a:chExt cx="0" cy="0"/>
        </a:xfrm>
      </p:grpSpPr>
      <p:sp>
        <p:nvSpPr>
          <p:cNvPr id="3" name="Date Placeholder 2"/>
          <p:cNvSpPr>
            <a:spLocks noGrp="1"/>
          </p:cNvSpPr>
          <p:nvPr>
            <p:ph type="dt" sz="half" idx="10"/>
          </p:nvPr>
        </p:nvSpPr>
        <p:spPr>
          <a:xfrm>
            <a:off x="1126155" y="6372408"/>
            <a:ext cx="1875631" cy="365125"/>
          </a:xfrm>
          <a:prstGeom prst="rect">
            <a:avLst/>
          </a:prstGeom>
        </p:spPr>
        <p:txBody>
          <a:bodyPr/>
          <a:lstStyle/>
          <a:p>
            <a:fld id="{49C7275D-5BB8-4235-AA87-2A9EA75815F5}" type="datetimeFigureOut">
              <a:rPr lang="en-US" smtClean="0"/>
              <a:t>5/14/2025</a:t>
            </a:fld>
            <a:endParaRPr lang="en-US"/>
          </a:p>
        </p:txBody>
      </p:sp>
      <p:sp>
        <p:nvSpPr>
          <p:cNvPr id="4" name="Footer Placeholder 3"/>
          <p:cNvSpPr>
            <a:spLocks noGrp="1"/>
          </p:cNvSpPr>
          <p:nvPr>
            <p:ph type="ftr" sz="quarter" idx="11"/>
          </p:nvPr>
        </p:nvSpPr>
        <p:spPr>
          <a:xfrm>
            <a:off x="4400233" y="6367630"/>
            <a:ext cx="3691931" cy="365125"/>
          </a:xfrm>
          <a:prstGeom prst="rect">
            <a:avLst/>
          </a:prstGeom>
        </p:spPr>
        <p:txBody>
          <a:bodyPr/>
          <a:lstStyle/>
          <a:p>
            <a:endParaRPr lang="en-US"/>
          </a:p>
        </p:txBody>
      </p:sp>
      <p:sp>
        <p:nvSpPr>
          <p:cNvPr id="5" name="Slide Number Placeholder 4"/>
          <p:cNvSpPr>
            <a:spLocks noGrp="1"/>
          </p:cNvSpPr>
          <p:nvPr>
            <p:ph type="sldNum" sz="quarter" idx="12"/>
          </p:nvPr>
        </p:nvSpPr>
        <p:spPr/>
        <p:txBody>
          <a:bodyPr/>
          <a:lstStyle/>
          <a:p>
            <a:fld id="{05613CAB-C57B-49C6-A95E-89979DFB2EF7}" type="slidenum">
              <a:rPr lang="en-US" smtClean="0"/>
              <a:pPr/>
              <a:t>‹#›</a:t>
            </a:fld>
            <a:endParaRPr lang="en-US"/>
          </a:p>
        </p:txBody>
      </p:sp>
      <p:sp>
        <p:nvSpPr>
          <p:cNvPr id="7" name="Picture Placeholder 6"/>
          <p:cNvSpPr>
            <a:spLocks noGrp="1"/>
          </p:cNvSpPr>
          <p:nvPr>
            <p:ph type="pic" sz="quarter" idx="13" hasCustomPrompt="1"/>
          </p:nvPr>
        </p:nvSpPr>
        <p:spPr>
          <a:xfrm>
            <a:off x="6197600" y="1447799"/>
            <a:ext cx="5156200" cy="3037381"/>
          </a:xfrm>
        </p:spPr>
        <p:txBody>
          <a:bodyPr/>
          <a:lstStyle/>
          <a:p>
            <a:r>
              <a:rPr lang="ar-EG" dirty="0"/>
              <a:t>اضغط على الأيقونة لإضافة صورة</a:t>
            </a:r>
            <a:endParaRPr lang="en-US" dirty="0"/>
          </a:p>
        </p:txBody>
      </p:sp>
      <p:sp>
        <p:nvSpPr>
          <p:cNvPr id="16" name="Text Placeholder 15"/>
          <p:cNvSpPr>
            <a:spLocks noGrp="1"/>
          </p:cNvSpPr>
          <p:nvPr>
            <p:ph type="body" sz="quarter" idx="14" hasCustomPrompt="1"/>
          </p:nvPr>
        </p:nvSpPr>
        <p:spPr>
          <a:xfrm>
            <a:off x="6197600" y="4538892"/>
            <a:ext cx="5156200" cy="469900"/>
          </a:xfrm>
        </p:spPr>
        <p:txBody>
          <a:bodyPr anchor="b" anchorCtr="0">
            <a:normAutofit/>
          </a:bodyPr>
          <a:lstStyle>
            <a:lvl1pPr marL="0" indent="0">
              <a:buNone/>
              <a:defRPr sz="2000" b="0">
                <a:solidFill>
                  <a:schemeClr val="accent1"/>
                </a:solidFill>
              </a:defRPr>
            </a:lvl1pPr>
            <a:lvl2pPr marL="457200" indent="0">
              <a:buNone/>
              <a:defRPr/>
            </a:lvl2pPr>
            <a:lvl3pPr marL="914400" indent="0">
              <a:buNone/>
              <a:defRPr/>
            </a:lvl3pPr>
            <a:lvl4pPr marL="1371600" indent="0">
              <a:buNone/>
              <a:defRPr/>
            </a:lvl4pPr>
            <a:lvl5pPr marL="1828800" indent="0">
              <a:buNone/>
              <a:defRPr/>
            </a:lvl5pPr>
          </a:lstStyle>
          <a:p>
            <a:pPr lvl="0"/>
            <a:r>
              <a:rPr lang="ar-EG" dirty="0"/>
              <a:t>اضغط لتغيير العنوان</a:t>
            </a:r>
            <a:endParaRPr lang="en-US" dirty="0"/>
          </a:p>
        </p:txBody>
      </p:sp>
      <p:sp>
        <p:nvSpPr>
          <p:cNvPr id="17" name="Text Placeholder 15"/>
          <p:cNvSpPr>
            <a:spLocks noGrp="1"/>
          </p:cNvSpPr>
          <p:nvPr>
            <p:ph type="body" sz="quarter" idx="15" hasCustomPrompt="1"/>
          </p:nvPr>
        </p:nvSpPr>
        <p:spPr>
          <a:xfrm>
            <a:off x="838200" y="5115084"/>
            <a:ext cx="5156200" cy="725416"/>
          </a:xfrm>
        </p:spPr>
        <p:txBody>
          <a:bodyPr>
            <a:normAutofit/>
          </a:bodyPr>
          <a:lstStyle>
            <a:lvl1pPr marL="0" indent="0">
              <a:buNone/>
              <a:defRPr sz="1800" b="0"/>
            </a:lvl1pPr>
            <a:lvl2pPr marL="457200" indent="0">
              <a:buNone/>
              <a:defRPr/>
            </a:lvl2pPr>
            <a:lvl3pPr marL="914400" indent="0">
              <a:buNone/>
              <a:defRPr/>
            </a:lvl3pPr>
            <a:lvl4pPr marL="1371600" indent="0">
              <a:buNone/>
              <a:defRPr/>
            </a:lvl4pPr>
            <a:lvl5pPr marL="1828800" indent="0">
              <a:buNone/>
              <a:defRPr/>
            </a:lvl5pPr>
          </a:lstStyle>
          <a:p>
            <a:pPr lvl="0"/>
            <a:r>
              <a:rPr lang="ar-EG" dirty="0"/>
              <a:t>تعديل النص</a:t>
            </a:r>
          </a:p>
        </p:txBody>
      </p:sp>
      <p:sp>
        <p:nvSpPr>
          <p:cNvPr id="18" name="Text Placeholder 15"/>
          <p:cNvSpPr>
            <a:spLocks noGrp="1"/>
          </p:cNvSpPr>
          <p:nvPr>
            <p:ph type="body" sz="quarter" idx="16" hasCustomPrompt="1"/>
          </p:nvPr>
        </p:nvSpPr>
        <p:spPr>
          <a:xfrm>
            <a:off x="6197600" y="5115084"/>
            <a:ext cx="5156200" cy="725416"/>
          </a:xfrm>
        </p:spPr>
        <p:txBody>
          <a:bodyPr>
            <a:normAutofit/>
          </a:bodyPr>
          <a:lstStyle>
            <a:lvl1pPr marL="0" indent="0">
              <a:buNone/>
              <a:defRPr sz="1800" b="0"/>
            </a:lvl1pPr>
            <a:lvl2pPr marL="457200" indent="0">
              <a:buNone/>
              <a:defRPr/>
            </a:lvl2pPr>
            <a:lvl3pPr marL="914400" indent="0">
              <a:buNone/>
              <a:defRPr/>
            </a:lvl3pPr>
            <a:lvl4pPr marL="1371600" indent="0">
              <a:buNone/>
              <a:defRPr/>
            </a:lvl4pPr>
            <a:lvl5pPr marL="1828800" indent="0">
              <a:buNone/>
              <a:defRPr/>
            </a:lvl5pPr>
          </a:lstStyle>
          <a:p>
            <a:pPr lvl="0"/>
            <a:r>
              <a:rPr lang="ar-EG" dirty="0"/>
              <a:t>تعديل النص</a:t>
            </a:r>
            <a:endParaRPr lang="en-US" dirty="0"/>
          </a:p>
        </p:txBody>
      </p:sp>
      <p:sp>
        <p:nvSpPr>
          <p:cNvPr id="2" name="Title 1"/>
          <p:cNvSpPr>
            <a:spLocks noGrp="1"/>
          </p:cNvSpPr>
          <p:nvPr>
            <p:ph type="title" hasCustomPrompt="1"/>
          </p:nvPr>
        </p:nvSpPr>
        <p:spPr/>
        <p:txBody>
          <a:bodyPr/>
          <a:lstStyle/>
          <a:p>
            <a:r>
              <a:rPr lang="ar-EG" dirty="0"/>
              <a:t>اضغط لتغيير العنوان</a:t>
            </a:r>
            <a:endParaRPr lang="en-US" dirty="0"/>
          </a:p>
        </p:txBody>
      </p:sp>
      <p:sp>
        <p:nvSpPr>
          <p:cNvPr id="10" name="Text Placeholder 15"/>
          <p:cNvSpPr>
            <a:spLocks noGrp="1"/>
          </p:cNvSpPr>
          <p:nvPr>
            <p:ph type="body" sz="quarter" idx="17" hasCustomPrompt="1"/>
          </p:nvPr>
        </p:nvSpPr>
        <p:spPr>
          <a:xfrm>
            <a:off x="838200" y="4538892"/>
            <a:ext cx="5156200" cy="469900"/>
          </a:xfrm>
        </p:spPr>
        <p:txBody>
          <a:bodyPr anchor="b" anchorCtr="0">
            <a:normAutofit/>
          </a:bodyPr>
          <a:lstStyle>
            <a:lvl1pPr marL="0" indent="0">
              <a:buNone/>
              <a:defRPr sz="2000" b="0">
                <a:solidFill>
                  <a:schemeClr val="accent1"/>
                </a:solidFill>
              </a:defRPr>
            </a:lvl1pPr>
            <a:lvl2pPr marL="457200" indent="0">
              <a:buNone/>
              <a:defRPr/>
            </a:lvl2pPr>
            <a:lvl3pPr marL="914400" indent="0">
              <a:buNone/>
              <a:defRPr/>
            </a:lvl3pPr>
            <a:lvl4pPr marL="1371600" indent="0">
              <a:buNone/>
              <a:defRPr/>
            </a:lvl4pPr>
            <a:lvl5pPr marL="1828800" indent="0">
              <a:buNone/>
              <a:defRPr/>
            </a:lvl5pPr>
          </a:lstStyle>
          <a:p>
            <a:pPr lvl="0"/>
            <a:r>
              <a:rPr lang="ar-EG" dirty="0"/>
              <a:t>اضغط لتغيير العنوان</a:t>
            </a:r>
            <a:endParaRPr lang="en-US" dirty="0"/>
          </a:p>
        </p:txBody>
      </p:sp>
      <p:sp>
        <p:nvSpPr>
          <p:cNvPr id="11" name="Picture Placeholder 6"/>
          <p:cNvSpPr>
            <a:spLocks noGrp="1"/>
          </p:cNvSpPr>
          <p:nvPr>
            <p:ph type="pic" sz="quarter" idx="18" hasCustomPrompt="1"/>
          </p:nvPr>
        </p:nvSpPr>
        <p:spPr>
          <a:xfrm>
            <a:off x="838200" y="1447799"/>
            <a:ext cx="5156200" cy="3037381"/>
          </a:xfrm>
        </p:spPr>
        <p:txBody>
          <a:bodyPr/>
          <a:lstStyle/>
          <a:p>
            <a:r>
              <a:rPr lang="ar-EG" dirty="0"/>
              <a:t>اضغط على الأيقونة لإضافة صورة</a:t>
            </a:r>
            <a:endParaRPr lang="en-US" dirty="0"/>
          </a:p>
        </p:txBody>
      </p:sp>
      <p:cxnSp>
        <p:nvCxnSpPr>
          <p:cNvPr id="8" name="Straight Connector 7"/>
          <p:cNvCxnSpPr/>
          <p:nvPr userDrawn="1"/>
        </p:nvCxnSpPr>
        <p:spPr>
          <a:xfrm>
            <a:off x="838200" y="4512036"/>
            <a:ext cx="515620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4" name="Straight Connector 13"/>
          <p:cNvCxnSpPr/>
          <p:nvPr userDrawn="1"/>
        </p:nvCxnSpPr>
        <p:spPr>
          <a:xfrm>
            <a:off x="6197600" y="4512036"/>
            <a:ext cx="515620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5" name="Straight Connector 14"/>
          <p:cNvCxnSpPr/>
          <p:nvPr userDrawn="1"/>
        </p:nvCxnSpPr>
        <p:spPr>
          <a:xfrm>
            <a:off x="838200" y="5846160"/>
            <a:ext cx="5156200"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19" name="Straight Connector 18"/>
          <p:cNvCxnSpPr/>
          <p:nvPr userDrawn="1"/>
        </p:nvCxnSpPr>
        <p:spPr>
          <a:xfrm>
            <a:off x="6197600" y="5846160"/>
            <a:ext cx="5156200" cy="0"/>
          </a:xfrm>
          <a:prstGeom prst="line">
            <a:avLst/>
          </a:prstGeom>
          <a:ln w="1905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605237562"/>
      </p:ext>
    </p:extLst>
  </p:cSld>
  <p:clrMapOvr>
    <a:masterClrMapping/>
  </p:clrMapOvr>
  <mc:AlternateContent xmlns:mc="http://schemas.openxmlformats.org/markup-compatibility/2006" xmlns:p14="http://schemas.microsoft.com/office/powerpoint/2010/main">
    <mc:Choice Requires="p14">
      <p:transition spd="slow" p14:dur="1300">
        <p14:pan dir="r"/>
      </p:transition>
    </mc:Choice>
    <mc:Fallback xmlns="">
      <p:transition spd="slow">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2 Contents with caption">
    <p:spTree>
      <p:nvGrpSpPr>
        <p:cNvPr id="1" name=""/>
        <p:cNvGrpSpPr/>
        <p:nvPr/>
      </p:nvGrpSpPr>
      <p:grpSpPr>
        <a:xfrm>
          <a:off x="0" y="0"/>
          <a:ext cx="0" cy="0"/>
          <a:chOff x="0" y="0"/>
          <a:chExt cx="0" cy="0"/>
        </a:xfrm>
      </p:grpSpPr>
      <p:sp>
        <p:nvSpPr>
          <p:cNvPr id="3" name="Date Placeholder 2"/>
          <p:cNvSpPr>
            <a:spLocks noGrp="1"/>
          </p:cNvSpPr>
          <p:nvPr>
            <p:ph type="dt" sz="half" idx="10"/>
          </p:nvPr>
        </p:nvSpPr>
        <p:spPr>
          <a:xfrm>
            <a:off x="1126155" y="6372408"/>
            <a:ext cx="1875631" cy="365125"/>
          </a:xfrm>
          <a:prstGeom prst="rect">
            <a:avLst/>
          </a:prstGeom>
        </p:spPr>
        <p:txBody>
          <a:bodyPr/>
          <a:lstStyle/>
          <a:p>
            <a:fld id="{49C7275D-5BB8-4235-AA87-2A9EA75815F5}" type="datetimeFigureOut">
              <a:rPr lang="en-US" smtClean="0"/>
              <a:t>5/14/2025</a:t>
            </a:fld>
            <a:endParaRPr lang="en-US"/>
          </a:p>
        </p:txBody>
      </p:sp>
      <p:sp>
        <p:nvSpPr>
          <p:cNvPr id="4" name="Footer Placeholder 3"/>
          <p:cNvSpPr>
            <a:spLocks noGrp="1"/>
          </p:cNvSpPr>
          <p:nvPr>
            <p:ph type="ftr" sz="quarter" idx="11"/>
          </p:nvPr>
        </p:nvSpPr>
        <p:spPr>
          <a:xfrm>
            <a:off x="4400233" y="6367630"/>
            <a:ext cx="3691931" cy="365125"/>
          </a:xfrm>
          <a:prstGeom prst="rect">
            <a:avLst/>
          </a:prstGeom>
        </p:spPr>
        <p:txBody>
          <a:bodyPr/>
          <a:lstStyle/>
          <a:p>
            <a:endParaRPr lang="en-US"/>
          </a:p>
        </p:txBody>
      </p:sp>
      <p:sp>
        <p:nvSpPr>
          <p:cNvPr id="5" name="Slide Number Placeholder 4"/>
          <p:cNvSpPr>
            <a:spLocks noGrp="1"/>
          </p:cNvSpPr>
          <p:nvPr>
            <p:ph type="sldNum" sz="quarter" idx="12"/>
          </p:nvPr>
        </p:nvSpPr>
        <p:spPr/>
        <p:txBody>
          <a:bodyPr/>
          <a:lstStyle/>
          <a:p>
            <a:fld id="{05613CAB-C57B-49C6-A95E-89979DFB2EF7}" type="slidenum">
              <a:rPr lang="en-US" smtClean="0"/>
              <a:pPr/>
              <a:t>‹#›</a:t>
            </a:fld>
            <a:endParaRPr lang="en-US"/>
          </a:p>
        </p:txBody>
      </p:sp>
      <p:sp>
        <p:nvSpPr>
          <p:cNvPr id="16" name="Text Placeholder 15"/>
          <p:cNvSpPr>
            <a:spLocks noGrp="1"/>
          </p:cNvSpPr>
          <p:nvPr>
            <p:ph type="body" sz="quarter" idx="14" hasCustomPrompt="1"/>
          </p:nvPr>
        </p:nvSpPr>
        <p:spPr>
          <a:xfrm>
            <a:off x="6197600" y="4538892"/>
            <a:ext cx="5156200" cy="469900"/>
          </a:xfrm>
        </p:spPr>
        <p:txBody>
          <a:bodyPr anchor="b" anchorCtr="0">
            <a:normAutofit/>
          </a:bodyPr>
          <a:lstStyle>
            <a:lvl1pPr marL="0" indent="0">
              <a:buNone/>
              <a:defRPr sz="2000" b="0">
                <a:solidFill>
                  <a:schemeClr val="accent1"/>
                </a:solidFill>
              </a:defRPr>
            </a:lvl1pPr>
            <a:lvl2pPr marL="457200" indent="0">
              <a:buNone/>
              <a:defRPr/>
            </a:lvl2pPr>
            <a:lvl3pPr marL="914400" indent="0">
              <a:buNone/>
              <a:defRPr/>
            </a:lvl3pPr>
            <a:lvl4pPr marL="1371600" indent="0">
              <a:buNone/>
              <a:defRPr/>
            </a:lvl4pPr>
            <a:lvl5pPr marL="1828800" indent="0">
              <a:buNone/>
              <a:defRPr/>
            </a:lvl5pPr>
          </a:lstStyle>
          <a:p>
            <a:pPr lvl="0"/>
            <a:r>
              <a:rPr lang="ar-EG" dirty="0"/>
              <a:t>اضغط لتغيير العنوان</a:t>
            </a:r>
            <a:endParaRPr lang="en-US" dirty="0"/>
          </a:p>
        </p:txBody>
      </p:sp>
      <p:sp>
        <p:nvSpPr>
          <p:cNvPr id="17" name="Text Placeholder 15"/>
          <p:cNvSpPr>
            <a:spLocks noGrp="1"/>
          </p:cNvSpPr>
          <p:nvPr>
            <p:ph type="body" sz="quarter" idx="15" hasCustomPrompt="1"/>
          </p:nvPr>
        </p:nvSpPr>
        <p:spPr>
          <a:xfrm>
            <a:off x="838200" y="5115084"/>
            <a:ext cx="5156200" cy="725416"/>
          </a:xfrm>
        </p:spPr>
        <p:txBody>
          <a:bodyPr>
            <a:normAutofit/>
          </a:bodyPr>
          <a:lstStyle>
            <a:lvl1pPr marL="0" indent="0">
              <a:buNone/>
              <a:defRPr sz="1800" b="0"/>
            </a:lvl1pPr>
            <a:lvl2pPr marL="457200" indent="0">
              <a:buNone/>
              <a:defRPr/>
            </a:lvl2pPr>
            <a:lvl3pPr marL="914400" indent="0">
              <a:buNone/>
              <a:defRPr/>
            </a:lvl3pPr>
            <a:lvl4pPr marL="1371600" indent="0">
              <a:buNone/>
              <a:defRPr/>
            </a:lvl4pPr>
            <a:lvl5pPr marL="1828800" indent="0">
              <a:buNone/>
              <a:defRPr/>
            </a:lvl5pPr>
          </a:lstStyle>
          <a:p>
            <a:pPr lvl="0"/>
            <a:r>
              <a:rPr lang="ar-EG" dirty="0"/>
              <a:t>تعديل النص</a:t>
            </a:r>
          </a:p>
        </p:txBody>
      </p:sp>
      <p:sp>
        <p:nvSpPr>
          <p:cNvPr id="18" name="Text Placeholder 15"/>
          <p:cNvSpPr>
            <a:spLocks noGrp="1"/>
          </p:cNvSpPr>
          <p:nvPr>
            <p:ph type="body" sz="quarter" idx="16" hasCustomPrompt="1"/>
          </p:nvPr>
        </p:nvSpPr>
        <p:spPr>
          <a:xfrm>
            <a:off x="6197600" y="5115084"/>
            <a:ext cx="5156200" cy="725416"/>
          </a:xfrm>
        </p:spPr>
        <p:txBody>
          <a:bodyPr>
            <a:normAutofit/>
          </a:bodyPr>
          <a:lstStyle>
            <a:lvl1pPr marL="0" indent="0">
              <a:buNone/>
              <a:defRPr sz="1800" b="0"/>
            </a:lvl1pPr>
            <a:lvl2pPr marL="457200" indent="0">
              <a:buNone/>
              <a:defRPr/>
            </a:lvl2pPr>
            <a:lvl3pPr marL="914400" indent="0">
              <a:buNone/>
              <a:defRPr/>
            </a:lvl3pPr>
            <a:lvl4pPr marL="1371600" indent="0">
              <a:buNone/>
              <a:defRPr/>
            </a:lvl4pPr>
            <a:lvl5pPr marL="1828800" indent="0">
              <a:buNone/>
              <a:defRPr/>
            </a:lvl5pPr>
          </a:lstStyle>
          <a:p>
            <a:pPr lvl="0"/>
            <a:r>
              <a:rPr lang="ar-EG" dirty="0"/>
              <a:t>تعديل النص</a:t>
            </a:r>
            <a:endParaRPr lang="en-US" dirty="0"/>
          </a:p>
        </p:txBody>
      </p:sp>
      <p:sp>
        <p:nvSpPr>
          <p:cNvPr id="2" name="Title 1"/>
          <p:cNvSpPr>
            <a:spLocks noGrp="1"/>
          </p:cNvSpPr>
          <p:nvPr>
            <p:ph type="title" hasCustomPrompt="1"/>
          </p:nvPr>
        </p:nvSpPr>
        <p:spPr/>
        <p:txBody>
          <a:bodyPr/>
          <a:lstStyle/>
          <a:p>
            <a:r>
              <a:rPr lang="ar-EG" dirty="0"/>
              <a:t>اضغط لتغيير العنوان</a:t>
            </a:r>
            <a:endParaRPr lang="en-US" dirty="0"/>
          </a:p>
        </p:txBody>
      </p:sp>
      <p:sp>
        <p:nvSpPr>
          <p:cNvPr id="10" name="Text Placeholder 15"/>
          <p:cNvSpPr>
            <a:spLocks noGrp="1"/>
          </p:cNvSpPr>
          <p:nvPr>
            <p:ph type="body" sz="quarter" idx="17" hasCustomPrompt="1"/>
          </p:nvPr>
        </p:nvSpPr>
        <p:spPr>
          <a:xfrm>
            <a:off x="838200" y="4538892"/>
            <a:ext cx="5156200" cy="469900"/>
          </a:xfrm>
        </p:spPr>
        <p:txBody>
          <a:bodyPr anchor="b" anchorCtr="0">
            <a:normAutofit/>
          </a:bodyPr>
          <a:lstStyle>
            <a:lvl1pPr marL="0" indent="0">
              <a:buNone/>
              <a:defRPr sz="2000" b="0">
                <a:solidFill>
                  <a:schemeClr val="accent1"/>
                </a:solidFill>
              </a:defRPr>
            </a:lvl1pPr>
            <a:lvl2pPr marL="457200" indent="0">
              <a:buNone/>
              <a:defRPr/>
            </a:lvl2pPr>
            <a:lvl3pPr marL="914400" indent="0">
              <a:buNone/>
              <a:defRPr/>
            </a:lvl3pPr>
            <a:lvl4pPr marL="1371600" indent="0">
              <a:buNone/>
              <a:defRPr/>
            </a:lvl4pPr>
            <a:lvl5pPr marL="1828800" indent="0">
              <a:buNone/>
              <a:defRPr/>
            </a:lvl5pPr>
          </a:lstStyle>
          <a:p>
            <a:pPr lvl="0"/>
            <a:r>
              <a:rPr lang="ar-EG" dirty="0"/>
              <a:t>اضغط لتغيير العنوان</a:t>
            </a:r>
            <a:endParaRPr lang="en-US" dirty="0"/>
          </a:p>
        </p:txBody>
      </p:sp>
      <p:cxnSp>
        <p:nvCxnSpPr>
          <p:cNvPr id="8" name="Straight Connector 7"/>
          <p:cNvCxnSpPr/>
          <p:nvPr userDrawn="1"/>
        </p:nvCxnSpPr>
        <p:spPr>
          <a:xfrm>
            <a:off x="838200" y="4512036"/>
            <a:ext cx="515620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4" name="Straight Connector 13"/>
          <p:cNvCxnSpPr/>
          <p:nvPr userDrawn="1"/>
        </p:nvCxnSpPr>
        <p:spPr>
          <a:xfrm>
            <a:off x="6197600" y="4512036"/>
            <a:ext cx="515620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5" name="Straight Connector 14"/>
          <p:cNvCxnSpPr/>
          <p:nvPr userDrawn="1"/>
        </p:nvCxnSpPr>
        <p:spPr>
          <a:xfrm>
            <a:off x="838200" y="5846160"/>
            <a:ext cx="5156200"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19" name="Straight Connector 18"/>
          <p:cNvCxnSpPr/>
          <p:nvPr userDrawn="1"/>
        </p:nvCxnSpPr>
        <p:spPr>
          <a:xfrm>
            <a:off x="6197600" y="5846160"/>
            <a:ext cx="5156200" cy="0"/>
          </a:xfrm>
          <a:prstGeom prst="line">
            <a:avLst/>
          </a:prstGeom>
          <a:ln w="19050"/>
        </p:spPr>
        <p:style>
          <a:lnRef idx="1">
            <a:schemeClr val="accent1"/>
          </a:lnRef>
          <a:fillRef idx="0">
            <a:schemeClr val="accent1"/>
          </a:fillRef>
          <a:effectRef idx="0">
            <a:schemeClr val="accent1"/>
          </a:effectRef>
          <a:fontRef idx="minor">
            <a:schemeClr val="tx1"/>
          </a:fontRef>
        </p:style>
      </p:cxnSp>
      <p:sp>
        <p:nvSpPr>
          <p:cNvPr id="9" name="Content Placeholder 8"/>
          <p:cNvSpPr>
            <a:spLocks noGrp="1"/>
          </p:cNvSpPr>
          <p:nvPr>
            <p:ph sz="quarter" idx="19" hasCustomPrompt="1"/>
          </p:nvPr>
        </p:nvSpPr>
        <p:spPr>
          <a:xfrm>
            <a:off x="6197600" y="1470188"/>
            <a:ext cx="5156200" cy="3063044"/>
          </a:xfrm>
        </p:spPr>
        <p:txBody>
          <a:bodyPr/>
          <a:lstStyle>
            <a:lvl1pPr>
              <a:defRPr baseline="0"/>
            </a:lvl1pPr>
          </a:lstStyle>
          <a:p>
            <a:pPr lvl="0"/>
            <a:r>
              <a:rPr lang="ar-EG" dirty="0"/>
              <a:t>تعديل النص</a:t>
            </a:r>
            <a:endParaRPr lang="en-US" dirty="0"/>
          </a:p>
          <a:p>
            <a:pPr lvl="1"/>
            <a:r>
              <a:rPr lang="ar-EG" dirty="0"/>
              <a:t>مستوى ثان</a:t>
            </a:r>
            <a:endParaRPr lang="en-US" dirty="0"/>
          </a:p>
          <a:p>
            <a:pPr lvl="2"/>
            <a:r>
              <a:rPr lang="ar-EG" dirty="0"/>
              <a:t>مستوى ثالث</a:t>
            </a:r>
            <a:endParaRPr lang="en-US" dirty="0"/>
          </a:p>
          <a:p>
            <a:pPr lvl="3"/>
            <a:r>
              <a:rPr lang="ar-EG" dirty="0"/>
              <a:t>مستوى رابع</a:t>
            </a:r>
            <a:endParaRPr lang="en-US" dirty="0"/>
          </a:p>
          <a:p>
            <a:pPr lvl="4"/>
            <a:r>
              <a:rPr lang="ar-EG" dirty="0"/>
              <a:t>مستوى خامس</a:t>
            </a:r>
            <a:endParaRPr lang="en-US" dirty="0"/>
          </a:p>
        </p:txBody>
      </p:sp>
      <p:sp>
        <p:nvSpPr>
          <p:cNvPr id="21" name="Content Placeholder 8"/>
          <p:cNvSpPr>
            <a:spLocks noGrp="1"/>
          </p:cNvSpPr>
          <p:nvPr>
            <p:ph sz="quarter" idx="20" hasCustomPrompt="1"/>
          </p:nvPr>
        </p:nvSpPr>
        <p:spPr>
          <a:xfrm>
            <a:off x="838200" y="1470188"/>
            <a:ext cx="5156200" cy="3063044"/>
          </a:xfrm>
        </p:spPr>
        <p:txBody>
          <a:bodyPr/>
          <a:lstStyle>
            <a:lvl1pPr>
              <a:defRPr baseline="0"/>
            </a:lvl1pPr>
          </a:lstStyle>
          <a:p>
            <a:pPr lvl="0"/>
            <a:r>
              <a:rPr lang="ar-EG" dirty="0"/>
              <a:t>تعديل النص</a:t>
            </a:r>
            <a:endParaRPr lang="en-US" dirty="0"/>
          </a:p>
          <a:p>
            <a:pPr lvl="1"/>
            <a:r>
              <a:rPr lang="ar-EG" dirty="0"/>
              <a:t>مستوى ثان</a:t>
            </a:r>
            <a:endParaRPr lang="en-US" dirty="0"/>
          </a:p>
          <a:p>
            <a:pPr lvl="2"/>
            <a:r>
              <a:rPr lang="ar-EG" dirty="0"/>
              <a:t>مستوى ثالث</a:t>
            </a:r>
            <a:endParaRPr lang="en-US" dirty="0"/>
          </a:p>
          <a:p>
            <a:pPr lvl="3"/>
            <a:r>
              <a:rPr lang="ar-EG" dirty="0"/>
              <a:t>مستوى رابع</a:t>
            </a:r>
            <a:endParaRPr lang="en-US" dirty="0"/>
          </a:p>
          <a:p>
            <a:pPr lvl="4"/>
            <a:r>
              <a:rPr lang="ar-EG" dirty="0"/>
              <a:t>مستوى خامس</a:t>
            </a:r>
            <a:endParaRPr lang="en-US" dirty="0"/>
          </a:p>
        </p:txBody>
      </p:sp>
    </p:spTree>
    <p:extLst>
      <p:ext uri="{BB962C8B-B14F-4D97-AF65-F5344CB8AC3E}">
        <p14:creationId xmlns:p14="http://schemas.microsoft.com/office/powerpoint/2010/main" val="787946525"/>
      </p:ext>
    </p:extLst>
  </p:cSld>
  <p:clrMapOvr>
    <a:masterClrMapping/>
  </p:clrMapOvr>
  <mc:AlternateContent xmlns:mc="http://schemas.openxmlformats.org/markup-compatibility/2006" xmlns:p14="http://schemas.microsoft.com/office/powerpoint/2010/main">
    <mc:Choice Requires="p14">
      <p:transition spd="slow" p14:dur="1300">
        <p14:pan dir="r"/>
      </p:transition>
    </mc:Choice>
    <mc:Fallback xmlns="">
      <p:transition spd="slow">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2 Text with Titles">
    <p:spTree>
      <p:nvGrpSpPr>
        <p:cNvPr id="1" name=""/>
        <p:cNvGrpSpPr/>
        <p:nvPr/>
      </p:nvGrpSpPr>
      <p:grpSpPr>
        <a:xfrm>
          <a:off x="0" y="0"/>
          <a:ext cx="0" cy="0"/>
          <a:chOff x="0" y="0"/>
          <a:chExt cx="0" cy="0"/>
        </a:xfrm>
      </p:grpSpPr>
      <p:sp>
        <p:nvSpPr>
          <p:cNvPr id="3" name="Date Placeholder 2"/>
          <p:cNvSpPr>
            <a:spLocks noGrp="1"/>
          </p:cNvSpPr>
          <p:nvPr>
            <p:ph type="dt" sz="half" idx="10"/>
          </p:nvPr>
        </p:nvSpPr>
        <p:spPr>
          <a:xfrm>
            <a:off x="1126155" y="6372408"/>
            <a:ext cx="1875631" cy="365125"/>
          </a:xfrm>
          <a:prstGeom prst="rect">
            <a:avLst/>
          </a:prstGeom>
        </p:spPr>
        <p:txBody>
          <a:bodyPr/>
          <a:lstStyle/>
          <a:p>
            <a:fld id="{49C7275D-5BB8-4235-AA87-2A9EA75815F5}" type="datetimeFigureOut">
              <a:rPr lang="en-US" smtClean="0"/>
              <a:t>5/14/2025</a:t>
            </a:fld>
            <a:endParaRPr lang="en-US"/>
          </a:p>
        </p:txBody>
      </p:sp>
      <p:sp>
        <p:nvSpPr>
          <p:cNvPr id="4" name="Footer Placeholder 3"/>
          <p:cNvSpPr>
            <a:spLocks noGrp="1"/>
          </p:cNvSpPr>
          <p:nvPr>
            <p:ph type="ftr" sz="quarter" idx="11"/>
          </p:nvPr>
        </p:nvSpPr>
        <p:spPr>
          <a:xfrm>
            <a:off x="4400233" y="6367630"/>
            <a:ext cx="3691931" cy="365125"/>
          </a:xfrm>
          <a:prstGeom prst="rect">
            <a:avLst/>
          </a:prstGeom>
        </p:spPr>
        <p:txBody>
          <a:bodyPr/>
          <a:lstStyle/>
          <a:p>
            <a:endParaRPr lang="en-US"/>
          </a:p>
        </p:txBody>
      </p:sp>
      <p:sp>
        <p:nvSpPr>
          <p:cNvPr id="5" name="Slide Number Placeholder 4"/>
          <p:cNvSpPr>
            <a:spLocks noGrp="1"/>
          </p:cNvSpPr>
          <p:nvPr>
            <p:ph type="sldNum" sz="quarter" idx="12"/>
          </p:nvPr>
        </p:nvSpPr>
        <p:spPr/>
        <p:txBody>
          <a:bodyPr/>
          <a:lstStyle/>
          <a:p>
            <a:fld id="{05613CAB-C57B-49C6-A95E-89979DFB2EF7}" type="slidenum">
              <a:rPr lang="en-US" smtClean="0"/>
              <a:pPr/>
              <a:t>‹#›</a:t>
            </a:fld>
            <a:endParaRPr lang="en-US"/>
          </a:p>
        </p:txBody>
      </p:sp>
      <p:sp>
        <p:nvSpPr>
          <p:cNvPr id="16" name="Text Placeholder 15"/>
          <p:cNvSpPr>
            <a:spLocks noGrp="1"/>
          </p:cNvSpPr>
          <p:nvPr>
            <p:ph type="body" sz="quarter" idx="14" hasCustomPrompt="1"/>
          </p:nvPr>
        </p:nvSpPr>
        <p:spPr>
          <a:xfrm>
            <a:off x="6096000" y="1454189"/>
            <a:ext cx="5257800" cy="469900"/>
          </a:xfrm>
          <a:solidFill>
            <a:schemeClr val="accent1"/>
          </a:solidFill>
          <a:ln>
            <a:solidFill>
              <a:schemeClr val="bg1"/>
            </a:solidFill>
          </a:ln>
        </p:spPr>
        <p:txBody>
          <a:bodyPr anchor="b" anchorCtr="0">
            <a:normAutofit/>
          </a:bodyPr>
          <a:lstStyle>
            <a:lvl1pPr marL="0" indent="0" algn="ctr">
              <a:buNone/>
              <a:defRPr sz="2000" b="1">
                <a:solidFill>
                  <a:schemeClr val="bg1"/>
                </a:solidFill>
              </a:defRPr>
            </a:lvl1pPr>
            <a:lvl2pPr marL="457200" indent="0">
              <a:buNone/>
              <a:defRPr/>
            </a:lvl2pPr>
            <a:lvl3pPr marL="914400" indent="0">
              <a:buNone/>
              <a:defRPr/>
            </a:lvl3pPr>
            <a:lvl4pPr marL="1371600" indent="0">
              <a:buNone/>
              <a:defRPr/>
            </a:lvl4pPr>
            <a:lvl5pPr marL="1828800" indent="0">
              <a:buNone/>
              <a:defRPr/>
            </a:lvl5pPr>
          </a:lstStyle>
          <a:p>
            <a:pPr lvl="0"/>
            <a:r>
              <a:rPr lang="ar-EG" dirty="0"/>
              <a:t>اضغط لتغيير العنوان</a:t>
            </a:r>
            <a:endParaRPr lang="en-US" dirty="0"/>
          </a:p>
        </p:txBody>
      </p:sp>
      <p:sp>
        <p:nvSpPr>
          <p:cNvPr id="2" name="Title 1"/>
          <p:cNvSpPr>
            <a:spLocks noGrp="1"/>
          </p:cNvSpPr>
          <p:nvPr>
            <p:ph type="title" hasCustomPrompt="1"/>
          </p:nvPr>
        </p:nvSpPr>
        <p:spPr/>
        <p:txBody>
          <a:bodyPr/>
          <a:lstStyle/>
          <a:p>
            <a:r>
              <a:rPr lang="ar-EG" dirty="0"/>
              <a:t>اضغط لتغيير العنوان</a:t>
            </a:r>
            <a:endParaRPr lang="en-US" dirty="0"/>
          </a:p>
        </p:txBody>
      </p:sp>
      <p:sp>
        <p:nvSpPr>
          <p:cNvPr id="7" name="Text Placeholder 6"/>
          <p:cNvSpPr>
            <a:spLocks noGrp="1"/>
          </p:cNvSpPr>
          <p:nvPr>
            <p:ph type="body" sz="quarter" idx="26" hasCustomPrompt="1"/>
          </p:nvPr>
        </p:nvSpPr>
        <p:spPr>
          <a:xfrm>
            <a:off x="6096000" y="1924089"/>
            <a:ext cx="5257800" cy="4160520"/>
          </a:xfrm>
          <a:solidFill>
            <a:schemeClr val="bg1">
              <a:lumMod val="95000"/>
            </a:schemeClr>
          </a:solidFill>
          <a:ln>
            <a:solidFill>
              <a:schemeClr val="bg1"/>
            </a:solidFill>
          </a:ln>
        </p:spPr>
        <p:txBody>
          <a:bodyPr lIns="182880" tIns="182880" rIns="182880">
            <a:normAutofit/>
          </a:bodyPr>
          <a:lstStyle>
            <a:lvl1pPr>
              <a:defRPr sz="1600">
                <a:solidFill>
                  <a:schemeClr val="tx1">
                    <a:lumMod val="75000"/>
                    <a:lumOff val="25000"/>
                  </a:schemeClr>
                </a:solidFill>
              </a:defRPr>
            </a:lvl1pPr>
            <a:lvl2pPr>
              <a:defRPr sz="1400">
                <a:solidFill>
                  <a:schemeClr val="tx1">
                    <a:lumMod val="75000"/>
                    <a:lumOff val="25000"/>
                  </a:schemeClr>
                </a:solidFill>
              </a:defRPr>
            </a:lvl2pPr>
            <a:lvl3pPr>
              <a:defRPr sz="1200">
                <a:solidFill>
                  <a:schemeClr val="tx1">
                    <a:lumMod val="75000"/>
                    <a:lumOff val="25000"/>
                  </a:schemeClr>
                </a:solidFill>
              </a:defRPr>
            </a:lvl3pPr>
            <a:lvl4pPr>
              <a:defRPr sz="1100">
                <a:solidFill>
                  <a:schemeClr val="tx1">
                    <a:lumMod val="75000"/>
                    <a:lumOff val="25000"/>
                  </a:schemeClr>
                </a:solidFill>
              </a:defRPr>
            </a:lvl4pPr>
            <a:lvl5pPr>
              <a:defRPr sz="1100">
                <a:solidFill>
                  <a:schemeClr val="tx1">
                    <a:lumMod val="75000"/>
                    <a:lumOff val="25000"/>
                  </a:schemeClr>
                </a:solidFill>
              </a:defRPr>
            </a:lvl5pPr>
          </a:lstStyle>
          <a:p>
            <a:pPr lvl="0"/>
            <a:r>
              <a:rPr lang="ar-EG" dirty="0"/>
              <a:t>تعديل النص</a:t>
            </a:r>
            <a:endParaRPr lang="en-US" dirty="0"/>
          </a:p>
          <a:p>
            <a:pPr lvl="1"/>
            <a:r>
              <a:rPr lang="ar-EG" dirty="0"/>
              <a:t>مستوى ثان</a:t>
            </a:r>
            <a:endParaRPr lang="en-US" dirty="0"/>
          </a:p>
          <a:p>
            <a:pPr lvl="2"/>
            <a:r>
              <a:rPr lang="ar-EG" dirty="0"/>
              <a:t>مستوى ثالث</a:t>
            </a:r>
            <a:endParaRPr lang="en-US" dirty="0"/>
          </a:p>
          <a:p>
            <a:pPr lvl="3"/>
            <a:r>
              <a:rPr lang="ar-EG" dirty="0"/>
              <a:t>مستوى رابع</a:t>
            </a:r>
            <a:endParaRPr lang="en-US" dirty="0"/>
          </a:p>
          <a:p>
            <a:pPr lvl="4"/>
            <a:r>
              <a:rPr lang="ar-EG" dirty="0"/>
              <a:t>مستوى خامس</a:t>
            </a:r>
            <a:endParaRPr lang="en-US" dirty="0"/>
          </a:p>
        </p:txBody>
      </p:sp>
      <p:sp>
        <p:nvSpPr>
          <p:cNvPr id="22" name="Text Placeholder 15"/>
          <p:cNvSpPr>
            <a:spLocks noGrp="1"/>
          </p:cNvSpPr>
          <p:nvPr>
            <p:ph type="body" sz="quarter" idx="27" hasCustomPrompt="1"/>
          </p:nvPr>
        </p:nvSpPr>
        <p:spPr>
          <a:xfrm>
            <a:off x="838169" y="1454189"/>
            <a:ext cx="5257800" cy="469900"/>
          </a:xfrm>
          <a:solidFill>
            <a:schemeClr val="accent2"/>
          </a:solidFill>
          <a:ln>
            <a:solidFill>
              <a:schemeClr val="bg1"/>
            </a:solidFill>
          </a:ln>
        </p:spPr>
        <p:txBody>
          <a:bodyPr anchor="b" anchorCtr="0">
            <a:normAutofit/>
          </a:bodyPr>
          <a:lstStyle>
            <a:lvl1pPr marL="0" indent="0" algn="ctr">
              <a:buNone/>
              <a:defRPr sz="2000" b="1">
                <a:solidFill>
                  <a:schemeClr val="bg1"/>
                </a:solidFill>
              </a:defRPr>
            </a:lvl1pPr>
            <a:lvl2pPr marL="457200" indent="0">
              <a:buNone/>
              <a:defRPr/>
            </a:lvl2pPr>
            <a:lvl3pPr marL="914400" indent="0">
              <a:buNone/>
              <a:defRPr/>
            </a:lvl3pPr>
            <a:lvl4pPr marL="1371600" indent="0">
              <a:buNone/>
              <a:defRPr/>
            </a:lvl4pPr>
            <a:lvl5pPr marL="1828800" indent="0">
              <a:buNone/>
              <a:defRPr/>
            </a:lvl5pPr>
          </a:lstStyle>
          <a:p>
            <a:pPr lvl="0"/>
            <a:r>
              <a:rPr lang="ar-EG" dirty="0"/>
              <a:t>اضغط لتغيير العنوان</a:t>
            </a:r>
            <a:endParaRPr lang="en-US" dirty="0"/>
          </a:p>
        </p:txBody>
      </p:sp>
      <p:sp>
        <p:nvSpPr>
          <p:cNvPr id="23" name="Text Placeholder 6"/>
          <p:cNvSpPr>
            <a:spLocks noGrp="1"/>
          </p:cNvSpPr>
          <p:nvPr>
            <p:ph type="body" sz="quarter" idx="28" hasCustomPrompt="1"/>
          </p:nvPr>
        </p:nvSpPr>
        <p:spPr>
          <a:xfrm>
            <a:off x="838169" y="1924089"/>
            <a:ext cx="5257800" cy="4160520"/>
          </a:xfrm>
          <a:solidFill>
            <a:schemeClr val="bg1">
              <a:lumMod val="95000"/>
            </a:schemeClr>
          </a:solidFill>
          <a:ln>
            <a:solidFill>
              <a:schemeClr val="bg1"/>
            </a:solidFill>
          </a:ln>
        </p:spPr>
        <p:txBody>
          <a:bodyPr lIns="182880" tIns="182880" rIns="182880">
            <a:normAutofit/>
          </a:bodyPr>
          <a:lstStyle>
            <a:lvl1pPr>
              <a:defRPr sz="1600">
                <a:solidFill>
                  <a:schemeClr val="tx1">
                    <a:lumMod val="75000"/>
                    <a:lumOff val="25000"/>
                  </a:schemeClr>
                </a:solidFill>
              </a:defRPr>
            </a:lvl1pPr>
            <a:lvl2pPr>
              <a:defRPr sz="1400">
                <a:solidFill>
                  <a:schemeClr val="tx1">
                    <a:lumMod val="75000"/>
                    <a:lumOff val="25000"/>
                  </a:schemeClr>
                </a:solidFill>
              </a:defRPr>
            </a:lvl2pPr>
            <a:lvl3pPr>
              <a:defRPr sz="1200">
                <a:solidFill>
                  <a:schemeClr val="tx1">
                    <a:lumMod val="75000"/>
                    <a:lumOff val="25000"/>
                  </a:schemeClr>
                </a:solidFill>
              </a:defRPr>
            </a:lvl3pPr>
            <a:lvl4pPr>
              <a:defRPr sz="1100">
                <a:solidFill>
                  <a:schemeClr val="tx1">
                    <a:lumMod val="75000"/>
                    <a:lumOff val="25000"/>
                  </a:schemeClr>
                </a:solidFill>
              </a:defRPr>
            </a:lvl4pPr>
            <a:lvl5pPr>
              <a:defRPr sz="1100">
                <a:solidFill>
                  <a:schemeClr val="tx1">
                    <a:lumMod val="75000"/>
                    <a:lumOff val="25000"/>
                  </a:schemeClr>
                </a:solidFill>
              </a:defRPr>
            </a:lvl5pPr>
          </a:lstStyle>
          <a:p>
            <a:pPr lvl="0"/>
            <a:r>
              <a:rPr lang="ar-EG" dirty="0"/>
              <a:t>تعديل النص</a:t>
            </a:r>
            <a:endParaRPr lang="en-US" dirty="0"/>
          </a:p>
          <a:p>
            <a:pPr lvl="1"/>
            <a:r>
              <a:rPr lang="ar-EG" dirty="0"/>
              <a:t>مستوى ثان</a:t>
            </a:r>
            <a:endParaRPr lang="en-US" dirty="0"/>
          </a:p>
          <a:p>
            <a:pPr lvl="2"/>
            <a:r>
              <a:rPr lang="ar-EG" dirty="0"/>
              <a:t>مستوى ثالث</a:t>
            </a:r>
            <a:endParaRPr lang="en-US" dirty="0"/>
          </a:p>
          <a:p>
            <a:pPr lvl="3"/>
            <a:r>
              <a:rPr lang="ar-EG" dirty="0"/>
              <a:t>مستوى رابع</a:t>
            </a:r>
            <a:endParaRPr lang="en-US" dirty="0"/>
          </a:p>
          <a:p>
            <a:pPr lvl="4"/>
            <a:r>
              <a:rPr lang="ar-EG" dirty="0"/>
              <a:t>مستوى خامس</a:t>
            </a:r>
            <a:endParaRPr lang="en-US" dirty="0"/>
          </a:p>
        </p:txBody>
      </p:sp>
      <p:cxnSp>
        <p:nvCxnSpPr>
          <p:cNvPr id="10" name="Straight Connector 9"/>
          <p:cNvCxnSpPr/>
          <p:nvPr userDrawn="1"/>
        </p:nvCxnSpPr>
        <p:spPr>
          <a:xfrm>
            <a:off x="6095971" y="6096000"/>
            <a:ext cx="5257800"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31" name="Straight Connector 30"/>
          <p:cNvCxnSpPr/>
          <p:nvPr userDrawn="1"/>
        </p:nvCxnSpPr>
        <p:spPr>
          <a:xfrm flipV="1">
            <a:off x="838171" y="6095999"/>
            <a:ext cx="5257800" cy="3"/>
          </a:xfrm>
          <a:prstGeom prst="line">
            <a:avLst/>
          </a:prstGeom>
          <a:ln w="19050">
            <a:solidFill>
              <a:schemeClr val="accent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791145248"/>
      </p:ext>
    </p:extLst>
  </p:cSld>
  <p:clrMapOvr>
    <a:masterClrMapping/>
  </p:clrMapOvr>
  <mc:AlternateContent xmlns:mc="http://schemas.openxmlformats.org/markup-compatibility/2006" xmlns:p14="http://schemas.microsoft.com/office/powerpoint/2010/main">
    <mc:Choice Requires="p14">
      <p:transition spd="slow" p14:dur="1300">
        <p14:pan dir="r"/>
      </p:transition>
    </mc:Choice>
    <mc:Fallback xmlns="">
      <p:transition spd="slow">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4 Text with Titles">
    <p:spTree>
      <p:nvGrpSpPr>
        <p:cNvPr id="1" name=""/>
        <p:cNvGrpSpPr/>
        <p:nvPr/>
      </p:nvGrpSpPr>
      <p:grpSpPr>
        <a:xfrm>
          <a:off x="0" y="0"/>
          <a:ext cx="0" cy="0"/>
          <a:chOff x="0" y="0"/>
          <a:chExt cx="0" cy="0"/>
        </a:xfrm>
      </p:grpSpPr>
      <p:sp>
        <p:nvSpPr>
          <p:cNvPr id="3" name="Date Placeholder 2"/>
          <p:cNvSpPr>
            <a:spLocks noGrp="1"/>
          </p:cNvSpPr>
          <p:nvPr>
            <p:ph type="dt" sz="half" idx="10"/>
          </p:nvPr>
        </p:nvSpPr>
        <p:spPr>
          <a:xfrm>
            <a:off x="1126155" y="6372408"/>
            <a:ext cx="1875631" cy="365125"/>
          </a:xfrm>
          <a:prstGeom prst="rect">
            <a:avLst/>
          </a:prstGeom>
        </p:spPr>
        <p:txBody>
          <a:bodyPr/>
          <a:lstStyle/>
          <a:p>
            <a:fld id="{49C7275D-5BB8-4235-AA87-2A9EA75815F5}" type="datetimeFigureOut">
              <a:rPr lang="en-US" smtClean="0"/>
              <a:t>5/14/2025</a:t>
            </a:fld>
            <a:endParaRPr lang="en-US"/>
          </a:p>
        </p:txBody>
      </p:sp>
      <p:sp>
        <p:nvSpPr>
          <p:cNvPr id="4" name="Footer Placeholder 3"/>
          <p:cNvSpPr>
            <a:spLocks noGrp="1"/>
          </p:cNvSpPr>
          <p:nvPr>
            <p:ph type="ftr" sz="quarter" idx="11"/>
          </p:nvPr>
        </p:nvSpPr>
        <p:spPr>
          <a:xfrm>
            <a:off x="4400233" y="6367630"/>
            <a:ext cx="3691931" cy="365125"/>
          </a:xfrm>
          <a:prstGeom prst="rect">
            <a:avLst/>
          </a:prstGeom>
        </p:spPr>
        <p:txBody>
          <a:bodyPr/>
          <a:lstStyle/>
          <a:p>
            <a:endParaRPr lang="en-US"/>
          </a:p>
        </p:txBody>
      </p:sp>
      <p:sp>
        <p:nvSpPr>
          <p:cNvPr id="5" name="Slide Number Placeholder 4"/>
          <p:cNvSpPr>
            <a:spLocks noGrp="1"/>
          </p:cNvSpPr>
          <p:nvPr>
            <p:ph type="sldNum" sz="quarter" idx="12"/>
          </p:nvPr>
        </p:nvSpPr>
        <p:spPr/>
        <p:txBody>
          <a:bodyPr/>
          <a:lstStyle/>
          <a:p>
            <a:fld id="{05613CAB-C57B-49C6-A95E-89979DFB2EF7}" type="slidenum">
              <a:rPr lang="en-US" smtClean="0"/>
              <a:pPr/>
              <a:t>‹#›</a:t>
            </a:fld>
            <a:endParaRPr lang="en-US"/>
          </a:p>
        </p:txBody>
      </p:sp>
      <p:sp>
        <p:nvSpPr>
          <p:cNvPr id="16" name="Text Placeholder 15"/>
          <p:cNvSpPr>
            <a:spLocks noGrp="1"/>
          </p:cNvSpPr>
          <p:nvPr>
            <p:ph type="body" sz="quarter" idx="14" hasCustomPrompt="1"/>
          </p:nvPr>
        </p:nvSpPr>
        <p:spPr>
          <a:xfrm>
            <a:off x="8719767" y="1465912"/>
            <a:ext cx="2624328" cy="469900"/>
          </a:xfrm>
          <a:solidFill>
            <a:schemeClr val="accent1"/>
          </a:solidFill>
          <a:ln>
            <a:solidFill>
              <a:schemeClr val="bg1"/>
            </a:solidFill>
          </a:ln>
        </p:spPr>
        <p:txBody>
          <a:bodyPr anchor="b" anchorCtr="0">
            <a:normAutofit/>
          </a:bodyPr>
          <a:lstStyle>
            <a:lvl1pPr marL="0" indent="0" algn="ctr">
              <a:buNone/>
              <a:defRPr sz="2000" b="1">
                <a:solidFill>
                  <a:schemeClr val="bg1"/>
                </a:solidFill>
              </a:defRPr>
            </a:lvl1pPr>
            <a:lvl2pPr marL="457200" indent="0">
              <a:buNone/>
              <a:defRPr/>
            </a:lvl2pPr>
            <a:lvl3pPr marL="914400" indent="0">
              <a:buNone/>
              <a:defRPr/>
            </a:lvl3pPr>
            <a:lvl4pPr marL="1371600" indent="0">
              <a:buNone/>
              <a:defRPr/>
            </a:lvl4pPr>
            <a:lvl5pPr marL="1828800" indent="0">
              <a:buNone/>
              <a:defRPr/>
            </a:lvl5pPr>
          </a:lstStyle>
          <a:p>
            <a:pPr lvl="0"/>
            <a:r>
              <a:rPr lang="ar-EG" dirty="0"/>
              <a:t>اضغط لتغيير العنوان</a:t>
            </a:r>
            <a:endParaRPr lang="en-US" dirty="0"/>
          </a:p>
        </p:txBody>
      </p:sp>
      <p:sp>
        <p:nvSpPr>
          <p:cNvPr id="2" name="Title 1"/>
          <p:cNvSpPr>
            <a:spLocks noGrp="1"/>
          </p:cNvSpPr>
          <p:nvPr>
            <p:ph type="title" hasCustomPrompt="1"/>
          </p:nvPr>
        </p:nvSpPr>
        <p:spPr/>
        <p:txBody>
          <a:bodyPr/>
          <a:lstStyle/>
          <a:p>
            <a:r>
              <a:rPr lang="ar-EG" dirty="0"/>
              <a:t>اضغط لتغيير العنوان</a:t>
            </a:r>
            <a:endParaRPr lang="en-US" dirty="0"/>
          </a:p>
        </p:txBody>
      </p:sp>
      <p:sp>
        <p:nvSpPr>
          <p:cNvPr id="7" name="Text Placeholder 6"/>
          <p:cNvSpPr>
            <a:spLocks noGrp="1"/>
          </p:cNvSpPr>
          <p:nvPr>
            <p:ph type="body" sz="quarter" idx="26" hasCustomPrompt="1"/>
          </p:nvPr>
        </p:nvSpPr>
        <p:spPr>
          <a:xfrm>
            <a:off x="8719767" y="1935163"/>
            <a:ext cx="2624328" cy="4160837"/>
          </a:xfrm>
          <a:solidFill>
            <a:schemeClr val="bg1">
              <a:lumMod val="95000"/>
            </a:schemeClr>
          </a:solidFill>
          <a:ln>
            <a:solidFill>
              <a:schemeClr val="bg1"/>
            </a:solidFill>
          </a:ln>
        </p:spPr>
        <p:txBody>
          <a:bodyPr tIns="91440" rIns="91440">
            <a:normAutofit/>
          </a:bodyPr>
          <a:lstStyle>
            <a:lvl1pPr marL="285750" indent="-285750">
              <a:lnSpc>
                <a:spcPct val="150000"/>
              </a:lnSpc>
              <a:buClr>
                <a:schemeClr val="accent1"/>
              </a:buClr>
              <a:buFont typeface="Arial" panose="020B0604020202020204" pitchFamily="34" charset="0"/>
              <a:buChar char="•"/>
              <a:defRPr sz="1600">
                <a:solidFill>
                  <a:schemeClr val="tx1">
                    <a:lumMod val="75000"/>
                    <a:lumOff val="25000"/>
                  </a:schemeClr>
                </a:solidFill>
              </a:defRPr>
            </a:lvl1pPr>
            <a:lvl2pPr marL="288925" indent="0">
              <a:buNone/>
              <a:defRPr sz="1200"/>
            </a:lvl2pPr>
            <a:lvl3pPr marL="571500" indent="0">
              <a:buNone/>
              <a:defRPr sz="1100"/>
            </a:lvl3pPr>
            <a:lvl4pPr marL="857250" indent="0">
              <a:buNone/>
              <a:defRPr sz="1050"/>
            </a:lvl4pPr>
            <a:lvl5pPr marL="1085850" indent="0">
              <a:buNone/>
              <a:defRPr sz="1050"/>
            </a:lvl5pPr>
          </a:lstStyle>
          <a:p>
            <a:pPr lvl="0"/>
            <a:r>
              <a:rPr lang="ar-EG" dirty="0"/>
              <a:t>تعديل النص</a:t>
            </a:r>
            <a:endParaRPr lang="en-US" dirty="0"/>
          </a:p>
        </p:txBody>
      </p:sp>
      <p:sp>
        <p:nvSpPr>
          <p:cNvPr id="22" name="Text Placeholder 15"/>
          <p:cNvSpPr>
            <a:spLocks noGrp="1"/>
          </p:cNvSpPr>
          <p:nvPr>
            <p:ph type="body" sz="quarter" idx="27" hasCustomPrompt="1"/>
          </p:nvPr>
        </p:nvSpPr>
        <p:spPr>
          <a:xfrm>
            <a:off x="6098798" y="1465912"/>
            <a:ext cx="2624328" cy="469900"/>
          </a:xfrm>
          <a:solidFill>
            <a:schemeClr val="accent2"/>
          </a:solidFill>
          <a:ln>
            <a:solidFill>
              <a:schemeClr val="bg1"/>
            </a:solidFill>
          </a:ln>
        </p:spPr>
        <p:txBody>
          <a:bodyPr anchor="b" anchorCtr="0">
            <a:normAutofit/>
          </a:bodyPr>
          <a:lstStyle>
            <a:lvl1pPr marL="0" indent="0" algn="ctr">
              <a:buNone/>
              <a:defRPr sz="2000" b="1">
                <a:solidFill>
                  <a:schemeClr val="bg1"/>
                </a:solidFill>
              </a:defRPr>
            </a:lvl1pPr>
            <a:lvl2pPr marL="457200" indent="0">
              <a:buNone/>
              <a:defRPr/>
            </a:lvl2pPr>
            <a:lvl3pPr marL="914400" indent="0">
              <a:buNone/>
              <a:defRPr/>
            </a:lvl3pPr>
            <a:lvl4pPr marL="1371600" indent="0">
              <a:buNone/>
              <a:defRPr/>
            </a:lvl4pPr>
            <a:lvl5pPr marL="1828800" indent="0">
              <a:buNone/>
              <a:defRPr/>
            </a:lvl5pPr>
          </a:lstStyle>
          <a:p>
            <a:pPr lvl="0"/>
            <a:r>
              <a:rPr lang="ar-EG" dirty="0"/>
              <a:t>اضغط لتغيير العنوان</a:t>
            </a:r>
            <a:endParaRPr lang="en-US" dirty="0"/>
          </a:p>
        </p:txBody>
      </p:sp>
      <p:sp>
        <p:nvSpPr>
          <p:cNvPr id="23" name="Text Placeholder 6"/>
          <p:cNvSpPr>
            <a:spLocks noGrp="1"/>
          </p:cNvSpPr>
          <p:nvPr>
            <p:ph type="body" sz="quarter" idx="28" hasCustomPrompt="1"/>
          </p:nvPr>
        </p:nvSpPr>
        <p:spPr>
          <a:xfrm>
            <a:off x="6098798" y="1935163"/>
            <a:ext cx="2624328" cy="4160837"/>
          </a:xfrm>
          <a:solidFill>
            <a:schemeClr val="bg1">
              <a:lumMod val="95000"/>
            </a:schemeClr>
          </a:solidFill>
          <a:ln>
            <a:solidFill>
              <a:schemeClr val="bg1"/>
            </a:solidFill>
          </a:ln>
        </p:spPr>
        <p:txBody>
          <a:bodyPr tIns="91440" rIns="91440">
            <a:normAutofit/>
          </a:bodyPr>
          <a:lstStyle>
            <a:lvl1pPr marL="285750" indent="-285750">
              <a:lnSpc>
                <a:spcPct val="150000"/>
              </a:lnSpc>
              <a:buClr>
                <a:schemeClr val="accent2"/>
              </a:buClr>
              <a:buFont typeface="Arial" panose="020B0604020202020204" pitchFamily="34" charset="0"/>
              <a:buChar char="•"/>
              <a:defRPr sz="1600">
                <a:solidFill>
                  <a:schemeClr val="tx1">
                    <a:lumMod val="75000"/>
                    <a:lumOff val="25000"/>
                  </a:schemeClr>
                </a:solidFill>
              </a:defRPr>
            </a:lvl1pPr>
            <a:lvl2pPr marL="288925" indent="0">
              <a:buNone/>
              <a:defRPr sz="1200"/>
            </a:lvl2pPr>
            <a:lvl3pPr marL="571500" indent="0">
              <a:buNone/>
              <a:defRPr sz="1100"/>
            </a:lvl3pPr>
            <a:lvl4pPr marL="857250" indent="0">
              <a:buNone/>
              <a:defRPr sz="1050"/>
            </a:lvl4pPr>
            <a:lvl5pPr marL="1085850" indent="0">
              <a:buNone/>
              <a:defRPr sz="1050"/>
            </a:lvl5pPr>
          </a:lstStyle>
          <a:p>
            <a:pPr lvl="0"/>
            <a:r>
              <a:rPr lang="ar-EG" dirty="0"/>
              <a:t>تعديل النص</a:t>
            </a:r>
            <a:endParaRPr lang="en-US" dirty="0"/>
          </a:p>
        </p:txBody>
      </p:sp>
      <p:sp>
        <p:nvSpPr>
          <p:cNvPr id="24" name="Text Placeholder 15"/>
          <p:cNvSpPr>
            <a:spLocks noGrp="1"/>
          </p:cNvSpPr>
          <p:nvPr>
            <p:ph type="body" sz="quarter" idx="29" hasCustomPrompt="1"/>
          </p:nvPr>
        </p:nvSpPr>
        <p:spPr>
          <a:xfrm>
            <a:off x="3477830" y="1465912"/>
            <a:ext cx="2624328" cy="469900"/>
          </a:xfrm>
          <a:solidFill>
            <a:schemeClr val="accent1"/>
          </a:solidFill>
          <a:ln>
            <a:solidFill>
              <a:schemeClr val="bg1"/>
            </a:solidFill>
          </a:ln>
        </p:spPr>
        <p:txBody>
          <a:bodyPr anchor="b" anchorCtr="0">
            <a:normAutofit/>
          </a:bodyPr>
          <a:lstStyle>
            <a:lvl1pPr marL="0" indent="0" algn="ctr" rtl="1">
              <a:buNone/>
              <a:defRPr sz="2000" b="1">
                <a:solidFill>
                  <a:schemeClr val="bg1"/>
                </a:solidFill>
              </a:defRPr>
            </a:lvl1pPr>
            <a:lvl2pPr marL="457200" indent="0">
              <a:buNone/>
              <a:defRPr/>
            </a:lvl2pPr>
            <a:lvl3pPr marL="914400" indent="0">
              <a:buNone/>
              <a:defRPr/>
            </a:lvl3pPr>
            <a:lvl4pPr marL="1371600" indent="0">
              <a:buNone/>
              <a:defRPr/>
            </a:lvl4pPr>
            <a:lvl5pPr marL="1828800" indent="0">
              <a:buNone/>
              <a:defRPr/>
            </a:lvl5pPr>
          </a:lstStyle>
          <a:p>
            <a:pPr lvl="0"/>
            <a:r>
              <a:rPr lang="ar-EG" dirty="0"/>
              <a:t>اضغط لتغيير العنوان</a:t>
            </a:r>
            <a:endParaRPr lang="en-US" dirty="0"/>
          </a:p>
        </p:txBody>
      </p:sp>
      <p:sp>
        <p:nvSpPr>
          <p:cNvPr id="25" name="Text Placeholder 6"/>
          <p:cNvSpPr>
            <a:spLocks noGrp="1"/>
          </p:cNvSpPr>
          <p:nvPr>
            <p:ph type="body" sz="quarter" idx="30" hasCustomPrompt="1"/>
          </p:nvPr>
        </p:nvSpPr>
        <p:spPr>
          <a:xfrm>
            <a:off x="3477830" y="1935163"/>
            <a:ext cx="2624328" cy="4160837"/>
          </a:xfrm>
          <a:solidFill>
            <a:schemeClr val="bg1">
              <a:lumMod val="95000"/>
            </a:schemeClr>
          </a:solidFill>
          <a:ln>
            <a:solidFill>
              <a:schemeClr val="bg1"/>
            </a:solidFill>
          </a:ln>
        </p:spPr>
        <p:txBody>
          <a:bodyPr tIns="91440" rIns="91440">
            <a:normAutofit/>
          </a:bodyPr>
          <a:lstStyle>
            <a:lvl1pPr marL="285750" indent="-285750" algn="r" rtl="1">
              <a:lnSpc>
                <a:spcPct val="150000"/>
              </a:lnSpc>
              <a:buClr>
                <a:schemeClr val="accent1"/>
              </a:buClr>
              <a:buFont typeface="Arial" panose="020B0604020202020204" pitchFamily="34" charset="0"/>
              <a:buChar char="•"/>
              <a:defRPr sz="1600">
                <a:solidFill>
                  <a:schemeClr val="tx1">
                    <a:lumMod val="75000"/>
                    <a:lumOff val="25000"/>
                  </a:schemeClr>
                </a:solidFill>
              </a:defRPr>
            </a:lvl1pPr>
            <a:lvl2pPr marL="288925" indent="0" algn="r" rtl="1">
              <a:buNone/>
              <a:defRPr sz="1200"/>
            </a:lvl2pPr>
            <a:lvl3pPr marL="571500" indent="0" algn="r" rtl="1">
              <a:buNone/>
              <a:defRPr sz="1100"/>
            </a:lvl3pPr>
            <a:lvl4pPr marL="857250" indent="0" algn="r" rtl="1">
              <a:buNone/>
              <a:defRPr sz="1050"/>
            </a:lvl4pPr>
            <a:lvl5pPr marL="1085850" indent="0" algn="r" rtl="1">
              <a:buNone/>
              <a:defRPr sz="1050"/>
            </a:lvl5pPr>
          </a:lstStyle>
          <a:p>
            <a:pPr lvl="0"/>
            <a:r>
              <a:rPr lang="ar-EG" dirty="0"/>
              <a:t>تعديل النص</a:t>
            </a:r>
            <a:endParaRPr lang="en-US" dirty="0"/>
          </a:p>
        </p:txBody>
      </p:sp>
      <p:sp>
        <p:nvSpPr>
          <p:cNvPr id="26" name="Text Placeholder 15"/>
          <p:cNvSpPr>
            <a:spLocks noGrp="1"/>
          </p:cNvSpPr>
          <p:nvPr>
            <p:ph type="body" sz="quarter" idx="31" hasCustomPrompt="1"/>
          </p:nvPr>
        </p:nvSpPr>
        <p:spPr>
          <a:xfrm>
            <a:off x="856862" y="1465912"/>
            <a:ext cx="2624328" cy="469900"/>
          </a:xfrm>
          <a:solidFill>
            <a:schemeClr val="accent2"/>
          </a:solidFill>
          <a:ln>
            <a:solidFill>
              <a:schemeClr val="bg1"/>
            </a:solidFill>
          </a:ln>
        </p:spPr>
        <p:txBody>
          <a:bodyPr anchor="b" anchorCtr="0">
            <a:normAutofit/>
          </a:bodyPr>
          <a:lstStyle>
            <a:lvl1pPr marL="0" indent="0" algn="ctr" rtl="1">
              <a:buNone/>
              <a:defRPr sz="2000" b="1">
                <a:solidFill>
                  <a:schemeClr val="bg1"/>
                </a:solidFill>
              </a:defRPr>
            </a:lvl1pPr>
            <a:lvl2pPr marL="457200" indent="0">
              <a:buNone/>
              <a:defRPr/>
            </a:lvl2pPr>
            <a:lvl3pPr marL="914400" indent="0">
              <a:buNone/>
              <a:defRPr/>
            </a:lvl3pPr>
            <a:lvl4pPr marL="1371600" indent="0">
              <a:buNone/>
              <a:defRPr/>
            </a:lvl4pPr>
            <a:lvl5pPr marL="1828800" indent="0">
              <a:buNone/>
              <a:defRPr/>
            </a:lvl5pPr>
          </a:lstStyle>
          <a:p>
            <a:pPr lvl="0"/>
            <a:r>
              <a:rPr lang="ar-EG" dirty="0"/>
              <a:t>اضغط لتغيير العنوان</a:t>
            </a:r>
            <a:endParaRPr lang="en-US" dirty="0"/>
          </a:p>
        </p:txBody>
      </p:sp>
      <p:sp>
        <p:nvSpPr>
          <p:cNvPr id="27" name="Text Placeholder 6"/>
          <p:cNvSpPr>
            <a:spLocks noGrp="1"/>
          </p:cNvSpPr>
          <p:nvPr>
            <p:ph type="body" sz="quarter" idx="32" hasCustomPrompt="1"/>
          </p:nvPr>
        </p:nvSpPr>
        <p:spPr>
          <a:xfrm>
            <a:off x="856862" y="1935163"/>
            <a:ext cx="2624328" cy="4160837"/>
          </a:xfrm>
          <a:solidFill>
            <a:schemeClr val="bg1">
              <a:lumMod val="95000"/>
            </a:schemeClr>
          </a:solidFill>
          <a:ln>
            <a:solidFill>
              <a:schemeClr val="bg1"/>
            </a:solidFill>
          </a:ln>
        </p:spPr>
        <p:txBody>
          <a:bodyPr tIns="91440" rIns="91440">
            <a:normAutofit/>
          </a:bodyPr>
          <a:lstStyle>
            <a:lvl1pPr marL="285750" indent="-285750" algn="r" rtl="1">
              <a:lnSpc>
                <a:spcPct val="150000"/>
              </a:lnSpc>
              <a:buClr>
                <a:schemeClr val="accent2"/>
              </a:buClr>
              <a:buFont typeface="Arial" panose="020B0604020202020204" pitchFamily="34" charset="0"/>
              <a:buChar char="•"/>
              <a:defRPr sz="1600">
                <a:solidFill>
                  <a:schemeClr val="tx1">
                    <a:lumMod val="75000"/>
                    <a:lumOff val="25000"/>
                  </a:schemeClr>
                </a:solidFill>
              </a:defRPr>
            </a:lvl1pPr>
            <a:lvl2pPr marL="288925" indent="0" algn="r" rtl="1">
              <a:buNone/>
              <a:defRPr sz="1200"/>
            </a:lvl2pPr>
            <a:lvl3pPr marL="571500" indent="0" algn="r" rtl="1">
              <a:buNone/>
              <a:defRPr sz="1100"/>
            </a:lvl3pPr>
            <a:lvl4pPr marL="857250" indent="0" algn="r" rtl="1">
              <a:buNone/>
              <a:defRPr sz="1050"/>
            </a:lvl4pPr>
            <a:lvl5pPr marL="1085850" indent="0" algn="r" rtl="1">
              <a:buNone/>
              <a:defRPr sz="1050"/>
            </a:lvl5pPr>
          </a:lstStyle>
          <a:p>
            <a:pPr lvl="0"/>
            <a:r>
              <a:rPr lang="ar-EG" dirty="0"/>
              <a:t>تعديل النص</a:t>
            </a:r>
            <a:endParaRPr lang="en-US" dirty="0"/>
          </a:p>
        </p:txBody>
      </p:sp>
      <p:cxnSp>
        <p:nvCxnSpPr>
          <p:cNvPr id="10" name="Straight Connector 9"/>
          <p:cNvCxnSpPr/>
          <p:nvPr userDrawn="1"/>
        </p:nvCxnSpPr>
        <p:spPr>
          <a:xfrm>
            <a:off x="10060884" y="6096000"/>
            <a:ext cx="274320"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31" name="Straight Connector 30"/>
          <p:cNvCxnSpPr/>
          <p:nvPr userDrawn="1"/>
        </p:nvCxnSpPr>
        <p:spPr>
          <a:xfrm>
            <a:off x="7323667" y="6096000"/>
            <a:ext cx="274320" cy="0"/>
          </a:xfrm>
          <a:prstGeom prst="line">
            <a:avLst/>
          </a:prstGeom>
          <a:ln w="1905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32" name="Straight Connector 31"/>
          <p:cNvCxnSpPr/>
          <p:nvPr userDrawn="1"/>
        </p:nvCxnSpPr>
        <p:spPr>
          <a:xfrm>
            <a:off x="4586451" y="6096000"/>
            <a:ext cx="274320"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42" name="Straight Connector 41"/>
          <p:cNvCxnSpPr/>
          <p:nvPr userDrawn="1"/>
        </p:nvCxnSpPr>
        <p:spPr>
          <a:xfrm>
            <a:off x="1849235" y="6096000"/>
            <a:ext cx="274320" cy="0"/>
          </a:xfrm>
          <a:prstGeom prst="line">
            <a:avLst/>
          </a:prstGeom>
          <a:ln w="19050">
            <a:solidFill>
              <a:schemeClr val="accent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045045014"/>
      </p:ext>
    </p:extLst>
  </p:cSld>
  <p:clrMapOvr>
    <a:masterClrMapping/>
  </p:clrMapOvr>
  <mc:AlternateContent xmlns:mc="http://schemas.openxmlformats.org/markup-compatibility/2006" xmlns:p14="http://schemas.microsoft.com/office/powerpoint/2010/main">
    <mc:Choice Requires="p14">
      <p:transition spd="slow" p14:dur="1300">
        <p14:pan dir="r"/>
      </p:transition>
    </mc:Choice>
    <mc:Fallback xmlns="">
      <p:transition spd="slow">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4 text with titles2">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p>
            <a:r>
              <a:rPr lang="ar-EG" dirty="0"/>
              <a:t>اضغط لتغيير العنوان</a:t>
            </a:r>
            <a:endParaRPr lang="en-US" dirty="0"/>
          </a:p>
        </p:txBody>
      </p:sp>
      <p:sp>
        <p:nvSpPr>
          <p:cNvPr id="3" name="Date Placeholder 2"/>
          <p:cNvSpPr>
            <a:spLocks noGrp="1"/>
          </p:cNvSpPr>
          <p:nvPr>
            <p:ph type="dt" sz="half" idx="10"/>
          </p:nvPr>
        </p:nvSpPr>
        <p:spPr>
          <a:xfrm>
            <a:off x="1126155" y="6372408"/>
            <a:ext cx="1875631" cy="365125"/>
          </a:xfrm>
          <a:prstGeom prst="rect">
            <a:avLst/>
          </a:prstGeom>
        </p:spPr>
        <p:txBody>
          <a:bodyPr/>
          <a:lstStyle/>
          <a:p>
            <a:fld id="{84913560-8229-45AB-89CF-A554C7EFF781}" type="datetime1">
              <a:rPr lang="en-US" smtClean="0"/>
              <a:t>5/14/2025</a:t>
            </a:fld>
            <a:endParaRPr lang="en-US"/>
          </a:p>
        </p:txBody>
      </p:sp>
      <p:sp>
        <p:nvSpPr>
          <p:cNvPr id="4" name="Footer Placeholder 3"/>
          <p:cNvSpPr>
            <a:spLocks noGrp="1"/>
          </p:cNvSpPr>
          <p:nvPr>
            <p:ph type="ftr" sz="quarter" idx="11"/>
          </p:nvPr>
        </p:nvSpPr>
        <p:spPr>
          <a:xfrm>
            <a:off x="4400233" y="6367630"/>
            <a:ext cx="3691931" cy="365125"/>
          </a:xfrm>
          <a:prstGeom prst="rect">
            <a:avLst/>
          </a:prstGeom>
        </p:spPr>
        <p:txBody>
          <a:bodyPr/>
          <a:lstStyle/>
          <a:p>
            <a:endParaRPr lang="en-US"/>
          </a:p>
        </p:txBody>
      </p:sp>
      <p:sp>
        <p:nvSpPr>
          <p:cNvPr id="5" name="Slide Number Placeholder 4"/>
          <p:cNvSpPr>
            <a:spLocks noGrp="1"/>
          </p:cNvSpPr>
          <p:nvPr>
            <p:ph type="sldNum" sz="quarter" idx="12"/>
          </p:nvPr>
        </p:nvSpPr>
        <p:spPr/>
        <p:txBody>
          <a:bodyPr/>
          <a:lstStyle/>
          <a:p>
            <a:fld id="{0BE4EC83-A869-464E-AE9F-881796FB085E}" type="slidenum">
              <a:rPr lang="en-US" smtClean="0"/>
              <a:t>‹#›</a:t>
            </a:fld>
            <a:endParaRPr lang="en-US"/>
          </a:p>
        </p:txBody>
      </p:sp>
      <p:sp>
        <p:nvSpPr>
          <p:cNvPr id="6" name="Text Placeholder 8"/>
          <p:cNvSpPr>
            <a:spLocks noGrp="1"/>
          </p:cNvSpPr>
          <p:nvPr>
            <p:ph type="body" sz="quarter" idx="13" hasCustomPrompt="1"/>
          </p:nvPr>
        </p:nvSpPr>
        <p:spPr>
          <a:xfrm>
            <a:off x="845580" y="1652041"/>
            <a:ext cx="5099828" cy="354790"/>
          </a:xfrm>
        </p:spPr>
        <p:txBody>
          <a:bodyPr>
            <a:normAutofit/>
          </a:bodyPr>
          <a:lstStyle>
            <a:lvl1pPr marL="0" indent="0">
              <a:buNone/>
              <a:defRPr sz="1800" b="1">
                <a:solidFill>
                  <a:schemeClr val="accent1"/>
                </a:solidFill>
              </a:defRPr>
            </a:lvl1pPr>
          </a:lstStyle>
          <a:p>
            <a:pPr lvl="0"/>
            <a:r>
              <a:rPr lang="ar-EG" dirty="0"/>
              <a:t>ادخل النص المناسب هنا</a:t>
            </a:r>
          </a:p>
        </p:txBody>
      </p:sp>
      <p:sp>
        <p:nvSpPr>
          <p:cNvPr id="7" name="Text Placeholder 8"/>
          <p:cNvSpPr>
            <a:spLocks noGrp="1"/>
          </p:cNvSpPr>
          <p:nvPr>
            <p:ph type="body" sz="quarter" idx="14" hasCustomPrompt="1"/>
          </p:nvPr>
        </p:nvSpPr>
        <p:spPr>
          <a:xfrm>
            <a:off x="845580" y="2203539"/>
            <a:ext cx="5099828" cy="1381156"/>
          </a:xfrm>
        </p:spPr>
        <p:txBody>
          <a:bodyPr>
            <a:normAutofit/>
          </a:bodyPr>
          <a:lstStyle>
            <a:lvl1pPr marL="0" indent="0" rtl="0">
              <a:buNone/>
              <a:defRPr sz="1600"/>
            </a:lvl1pPr>
          </a:lstStyle>
          <a:p>
            <a:pPr lvl="0"/>
            <a:r>
              <a:rPr lang="ar-EG" dirty="0"/>
              <a:t>ادخل النص المناسب هنا</a:t>
            </a:r>
          </a:p>
        </p:txBody>
      </p:sp>
      <p:cxnSp>
        <p:nvCxnSpPr>
          <p:cNvPr id="8" name="Straight Connector 7"/>
          <p:cNvCxnSpPr/>
          <p:nvPr userDrawn="1"/>
        </p:nvCxnSpPr>
        <p:spPr>
          <a:xfrm>
            <a:off x="5396768" y="2053486"/>
            <a:ext cx="548640" cy="0"/>
          </a:xfrm>
          <a:prstGeom prst="line">
            <a:avLst/>
          </a:prstGeom>
          <a:ln w="38100">
            <a:solidFill>
              <a:schemeClr val="accent2"/>
            </a:solidFill>
          </a:ln>
        </p:spPr>
        <p:style>
          <a:lnRef idx="1">
            <a:schemeClr val="accent1"/>
          </a:lnRef>
          <a:fillRef idx="0">
            <a:schemeClr val="accent1"/>
          </a:fillRef>
          <a:effectRef idx="0">
            <a:schemeClr val="accent1"/>
          </a:effectRef>
          <a:fontRef idx="minor">
            <a:schemeClr val="tx1"/>
          </a:fontRef>
        </p:style>
      </p:cxnSp>
      <p:sp>
        <p:nvSpPr>
          <p:cNvPr id="9" name="Text Placeholder 8"/>
          <p:cNvSpPr>
            <a:spLocks noGrp="1"/>
          </p:cNvSpPr>
          <p:nvPr>
            <p:ph type="body" sz="quarter" idx="15" hasCustomPrompt="1"/>
          </p:nvPr>
        </p:nvSpPr>
        <p:spPr>
          <a:xfrm>
            <a:off x="6253972" y="1652041"/>
            <a:ext cx="5099828" cy="354790"/>
          </a:xfrm>
        </p:spPr>
        <p:txBody>
          <a:bodyPr>
            <a:normAutofit/>
          </a:bodyPr>
          <a:lstStyle>
            <a:lvl1pPr marL="0" indent="0">
              <a:buNone/>
              <a:defRPr sz="1800" b="1">
                <a:solidFill>
                  <a:schemeClr val="accent1"/>
                </a:solidFill>
              </a:defRPr>
            </a:lvl1pPr>
          </a:lstStyle>
          <a:p>
            <a:pPr lvl="0"/>
            <a:r>
              <a:rPr lang="ar-EG" dirty="0"/>
              <a:t>ادخل النص المناسب هنا</a:t>
            </a:r>
            <a:endParaRPr lang="en-US" dirty="0"/>
          </a:p>
        </p:txBody>
      </p:sp>
      <p:sp>
        <p:nvSpPr>
          <p:cNvPr id="10" name="Text Placeholder 8"/>
          <p:cNvSpPr>
            <a:spLocks noGrp="1"/>
          </p:cNvSpPr>
          <p:nvPr>
            <p:ph type="body" sz="quarter" idx="16" hasCustomPrompt="1"/>
          </p:nvPr>
        </p:nvSpPr>
        <p:spPr>
          <a:xfrm>
            <a:off x="6253972" y="2203539"/>
            <a:ext cx="5099828" cy="1381156"/>
          </a:xfrm>
        </p:spPr>
        <p:txBody>
          <a:bodyPr>
            <a:normAutofit/>
          </a:bodyPr>
          <a:lstStyle>
            <a:lvl1pPr marL="0" indent="0" rtl="0">
              <a:buNone/>
              <a:defRPr sz="1600"/>
            </a:lvl1pPr>
          </a:lstStyle>
          <a:p>
            <a:pPr lvl="0"/>
            <a:r>
              <a:rPr lang="ar-EG" dirty="0"/>
              <a:t>ادخل النص المناسب هنا</a:t>
            </a:r>
          </a:p>
        </p:txBody>
      </p:sp>
      <p:cxnSp>
        <p:nvCxnSpPr>
          <p:cNvPr id="11" name="Straight Connector 10"/>
          <p:cNvCxnSpPr/>
          <p:nvPr userDrawn="1"/>
        </p:nvCxnSpPr>
        <p:spPr>
          <a:xfrm>
            <a:off x="10805160" y="2053486"/>
            <a:ext cx="548640" cy="0"/>
          </a:xfrm>
          <a:prstGeom prst="line">
            <a:avLst/>
          </a:prstGeom>
          <a:ln w="38100">
            <a:solidFill>
              <a:schemeClr val="accent2"/>
            </a:solidFill>
          </a:ln>
        </p:spPr>
        <p:style>
          <a:lnRef idx="1">
            <a:schemeClr val="accent1"/>
          </a:lnRef>
          <a:fillRef idx="0">
            <a:schemeClr val="accent1"/>
          </a:fillRef>
          <a:effectRef idx="0">
            <a:schemeClr val="accent1"/>
          </a:effectRef>
          <a:fontRef idx="minor">
            <a:schemeClr val="tx1"/>
          </a:fontRef>
        </p:style>
      </p:cxnSp>
      <p:sp>
        <p:nvSpPr>
          <p:cNvPr id="12" name="Text Placeholder 8"/>
          <p:cNvSpPr>
            <a:spLocks noGrp="1"/>
          </p:cNvSpPr>
          <p:nvPr>
            <p:ph type="body" sz="quarter" idx="17" hasCustomPrompt="1"/>
          </p:nvPr>
        </p:nvSpPr>
        <p:spPr>
          <a:xfrm>
            <a:off x="845580" y="3841385"/>
            <a:ext cx="5099828" cy="354790"/>
          </a:xfrm>
        </p:spPr>
        <p:txBody>
          <a:bodyPr>
            <a:normAutofit/>
          </a:bodyPr>
          <a:lstStyle>
            <a:lvl1pPr marL="0" indent="0">
              <a:buNone/>
              <a:defRPr sz="1800" b="1">
                <a:solidFill>
                  <a:schemeClr val="accent1"/>
                </a:solidFill>
              </a:defRPr>
            </a:lvl1pPr>
          </a:lstStyle>
          <a:p>
            <a:pPr lvl="0"/>
            <a:r>
              <a:rPr lang="ar-EG" dirty="0"/>
              <a:t>ادخل النص المناسب هنا</a:t>
            </a:r>
          </a:p>
        </p:txBody>
      </p:sp>
      <p:sp>
        <p:nvSpPr>
          <p:cNvPr id="13" name="Text Placeholder 8"/>
          <p:cNvSpPr>
            <a:spLocks noGrp="1"/>
          </p:cNvSpPr>
          <p:nvPr>
            <p:ph type="body" sz="quarter" idx="18" hasCustomPrompt="1"/>
          </p:nvPr>
        </p:nvSpPr>
        <p:spPr>
          <a:xfrm>
            <a:off x="845580" y="4392883"/>
            <a:ext cx="5099828" cy="1381156"/>
          </a:xfrm>
        </p:spPr>
        <p:txBody>
          <a:bodyPr>
            <a:normAutofit/>
          </a:bodyPr>
          <a:lstStyle>
            <a:lvl1pPr marL="0" indent="0" rtl="0">
              <a:buNone/>
              <a:defRPr sz="1600"/>
            </a:lvl1pPr>
          </a:lstStyle>
          <a:p>
            <a:pPr lvl="0"/>
            <a:r>
              <a:rPr lang="ar-EG" dirty="0"/>
              <a:t>ادخل النص المناسب هنا</a:t>
            </a:r>
          </a:p>
        </p:txBody>
      </p:sp>
      <p:cxnSp>
        <p:nvCxnSpPr>
          <p:cNvPr id="14" name="Straight Connector 13"/>
          <p:cNvCxnSpPr/>
          <p:nvPr userDrawn="1"/>
        </p:nvCxnSpPr>
        <p:spPr>
          <a:xfrm>
            <a:off x="5396768" y="4242830"/>
            <a:ext cx="548640" cy="0"/>
          </a:xfrm>
          <a:prstGeom prst="line">
            <a:avLst/>
          </a:prstGeom>
          <a:ln w="38100">
            <a:solidFill>
              <a:schemeClr val="accent2"/>
            </a:solidFill>
          </a:ln>
        </p:spPr>
        <p:style>
          <a:lnRef idx="1">
            <a:schemeClr val="accent1"/>
          </a:lnRef>
          <a:fillRef idx="0">
            <a:schemeClr val="accent1"/>
          </a:fillRef>
          <a:effectRef idx="0">
            <a:schemeClr val="accent1"/>
          </a:effectRef>
          <a:fontRef idx="minor">
            <a:schemeClr val="tx1"/>
          </a:fontRef>
        </p:style>
      </p:cxnSp>
      <p:sp>
        <p:nvSpPr>
          <p:cNvPr id="15" name="Text Placeholder 8"/>
          <p:cNvSpPr>
            <a:spLocks noGrp="1"/>
          </p:cNvSpPr>
          <p:nvPr>
            <p:ph type="body" sz="quarter" idx="19" hasCustomPrompt="1"/>
          </p:nvPr>
        </p:nvSpPr>
        <p:spPr>
          <a:xfrm>
            <a:off x="6253972" y="3841385"/>
            <a:ext cx="5099828" cy="354790"/>
          </a:xfrm>
        </p:spPr>
        <p:txBody>
          <a:bodyPr>
            <a:normAutofit/>
          </a:bodyPr>
          <a:lstStyle>
            <a:lvl1pPr marL="0" indent="0">
              <a:buNone/>
              <a:defRPr sz="1800" b="1">
                <a:solidFill>
                  <a:schemeClr val="accent1"/>
                </a:solidFill>
              </a:defRPr>
            </a:lvl1pPr>
          </a:lstStyle>
          <a:p>
            <a:pPr lvl="0"/>
            <a:r>
              <a:rPr lang="ar-EG" dirty="0"/>
              <a:t>ادخل النص المناسب هنا</a:t>
            </a:r>
          </a:p>
        </p:txBody>
      </p:sp>
      <p:sp>
        <p:nvSpPr>
          <p:cNvPr id="16" name="Text Placeholder 8"/>
          <p:cNvSpPr>
            <a:spLocks noGrp="1"/>
          </p:cNvSpPr>
          <p:nvPr>
            <p:ph type="body" sz="quarter" idx="20" hasCustomPrompt="1"/>
          </p:nvPr>
        </p:nvSpPr>
        <p:spPr>
          <a:xfrm>
            <a:off x="6253972" y="4392883"/>
            <a:ext cx="5099828" cy="1381156"/>
          </a:xfrm>
        </p:spPr>
        <p:txBody>
          <a:bodyPr>
            <a:normAutofit/>
          </a:bodyPr>
          <a:lstStyle>
            <a:lvl1pPr marL="0" indent="0" rtl="0">
              <a:buNone/>
              <a:defRPr sz="1600"/>
            </a:lvl1pPr>
          </a:lstStyle>
          <a:p>
            <a:pPr lvl="0"/>
            <a:r>
              <a:rPr lang="ar-EG" dirty="0"/>
              <a:t>ادخل النص المناسب هنا</a:t>
            </a:r>
          </a:p>
        </p:txBody>
      </p:sp>
      <p:cxnSp>
        <p:nvCxnSpPr>
          <p:cNvPr id="17" name="Straight Connector 16"/>
          <p:cNvCxnSpPr/>
          <p:nvPr userDrawn="1"/>
        </p:nvCxnSpPr>
        <p:spPr>
          <a:xfrm>
            <a:off x="10805160" y="4242830"/>
            <a:ext cx="548640" cy="0"/>
          </a:xfrm>
          <a:prstGeom prst="line">
            <a:avLst/>
          </a:prstGeom>
          <a:ln w="38100">
            <a:solidFill>
              <a:schemeClr val="accent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928425459"/>
      </p:ext>
    </p:extLst>
  </p:cSld>
  <p:clrMapOvr>
    <a:masterClrMapping/>
  </p:clrMapOvr>
  <mc:AlternateContent xmlns:mc="http://schemas.openxmlformats.org/markup-compatibility/2006" xmlns:p14="http://schemas.microsoft.com/office/powerpoint/2010/main">
    <mc:Choice Requires="p14">
      <p:transition spd="slow" p14:dur="1300">
        <p14:pan dir="r"/>
      </p:transition>
    </mc:Choice>
    <mc:Fallback xmlns="">
      <p:transition spd="slow">
        <p:fade/>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hree Columns Text">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p>
            <a:r>
              <a:rPr lang="ar-EG" dirty="0"/>
              <a:t>اضغط لتغيير العنوان</a:t>
            </a:r>
            <a:endParaRPr lang="en-US" dirty="0"/>
          </a:p>
        </p:txBody>
      </p:sp>
      <p:sp>
        <p:nvSpPr>
          <p:cNvPr id="3" name="Date Placeholder 2"/>
          <p:cNvSpPr>
            <a:spLocks noGrp="1"/>
          </p:cNvSpPr>
          <p:nvPr>
            <p:ph type="dt" sz="half" idx="10"/>
          </p:nvPr>
        </p:nvSpPr>
        <p:spPr>
          <a:xfrm>
            <a:off x="1126155" y="6372408"/>
            <a:ext cx="1875631" cy="365125"/>
          </a:xfrm>
          <a:prstGeom prst="rect">
            <a:avLst/>
          </a:prstGeom>
        </p:spPr>
        <p:txBody>
          <a:bodyPr/>
          <a:lstStyle/>
          <a:p>
            <a:fld id="{84913560-8229-45AB-89CF-A554C7EFF781}" type="datetime1">
              <a:rPr lang="en-US" smtClean="0"/>
              <a:t>5/14/2025</a:t>
            </a:fld>
            <a:endParaRPr lang="en-US"/>
          </a:p>
        </p:txBody>
      </p:sp>
      <p:sp>
        <p:nvSpPr>
          <p:cNvPr id="4" name="Footer Placeholder 3"/>
          <p:cNvSpPr>
            <a:spLocks noGrp="1"/>
          </p:cNvSpPr>
          <p:nvPr>
            <p:ph type="ftr" sz="quarter" idx="11"/>
          </p:nvPr>
        </p:nvSpPr>
        <p:spPr>
          <a:xfrm>
            <a:off x="4400233" y="6367630"/>
            <a:ext cx="3691931" cy="365125"/>
          </a:xfrm>
          <a:prstGeom prst="rect">
            <a:avLst/>
          </a:prstGeom>
        </p:spPr>
        <p:txBody>
          <a:bodyPr/>
          <a:lstStyle/>
          <a:p>
            <a:endParaRPr lang="en-US"/>
          </a:p>
        </p:txBody>
      </p:sp>
      <p:sp>
        <p:nvSpPr>
          <p:cNvPr id="5" name="Slide Number Placeholder 4"/>
          <p:cNvSpPr>
            <a:spLocks noGrp="1"/>
          </p:cNvSpPr>
          <p:nvPr>
            <p:ph type="sldNum" sz="quarter" idx="12"/>
          </p:nvPr>
        </p:nvSpPr>
        <p:spPr/>
        <p:txBody>
          <a:bodyPr/>
          <a:lstStyle/>
          <a:p>
            <a:fld id="{0BE4EC83-A869-464E-AE9F-881796FB085E}" type="slidenum">
              <a:rPr lang="en-US" smtClean="0"/>
              <a:t>‹#›</a:t>
            </a:fld>
            <a:endParaRPr lang="en-US"/>
          </a:p>
        </p:txBody>
      </p:sp>
      <p:sp>
        <p:nvSpPr>
          <p:cNvPr id="8" name="Text Placeholder 6"/>
          <p:cNvSpPr>
            <a:spLocks noGrp="1"/>
          </p:cNvSpPr>
          <p:nvPr>
            <p:ph type="body" sz="quarter" idx="14" hasCustomPrompt="1"/>
          </p:nvPr>
        </p:nvSpPr>
        <p:spPr>
          <a:xfrm>
            <a:off x="850190" y="1447800"/>
            <a:ext cx="3092223" cy="4638675"/>
          </a:xfrm>
        </p:spPr>
        <p:txBody>
          <a:bodyPr>
            <a:normAutofit/>
          </a:bodyPr>
          <a:lstStyle>
            <a:lvl1pPr marL="0" indent="0">
              <a:buNone/>
              <a:defRPr sz="2000" baseline="0"/>
            </a:lvl1pPr>
          </a:lstStyle>
          <a:p>
            <a:pPr lvl="0"/>
            <a:r>
              <a:rPr lang="ar-EG" dirty="0"/>
              <a:t>تعديل النص</a:t>
            </a:r>
            <a:endParaRPr lang="en-US" dirty="0"/>
          </a:p>
        </p:txBody>
      </p:sp>
      <p:sp>
        <p:nvSpPr>
          <p:cNvPr id="11" name="Text Placeholder 6"/>
          <p:cNvSpPr>
            <a:spLocks noGrp="1"/>
          </p:cNvSpPr>
          <p:nvPr>
            <p:ph type="body" sz="quarter" idx="15" hasCustomPrompt="1"/>
          </p:nvPr>
        </p:nvSpPr>
        <p:spPr>
          <a:xfrm>
            <a:off x="8261577" y="1447800"/>
            <a:ext cx="3092223" cy="4638675"/>
          </a:xfrm>
        </p:spPr>
        <p:txBody>
          <a:bodyPr>
            <a:normAutofit/>
          </a:bodyPr>
          <a:lstStyle>
            <a:lvl1pPr marL="0" indent="0">
              <a:buNone/>
              <a:defRPr sz="2000" baseline="0"/>
            </a:lvl1pPr>
          </a:lstStyle>
          <a:p>
            <a:pPr lvl="0"/>
            <a:r>
              <a:rPr lang="ar-EG" dirty="0"/>
              <a:t>تعديل النص</a:t>
            </a:r>
            <a:endParaRPr lang="en-US" dirty="0"/>
          </a:p>
        </p:txBody>
      </p:sp>
      <p:sp>
        <p:nvSpPr>
          <p:cNvPr id="12" name="Text Placeholder 6"/>
          <p:cNvSpPr>
            <a:spLocks noGrp="1"/>
          </p:cNvSpPr>
          <p:nvPr>
            <p:ph type="body" sz="quarter" idx="16" hasCustomPrompt="1"/>
          </p:nvPr>
        </p:nvSpPr>
        <p:spPr>
          <a:xfrm>
            <a:off x="4572870" y="1447800"/>
            <a:ext cx="3092223" cy="4638675"/>
          </a:xfrm>
        </p:spPr>
        <p:txBody>
          <a:bodyPr>
            <a:normAutofit/>
          </a:bodyPr>
          <a:lstStyle>
            <a:lvl1pPr marL="0" indent="0">
              <a:buNone/>
              <a:defRPr sz="2000" baseline="0"/>
            </a:lvl1pPr>
          </a:lstStyle>
          <a:p>
            <a:pPr lvl="0"/>
            <a:r>
              <a:rPr lang="ar-EG" dirty="0"/>
              <a:t>تعديل النص</a:t>
            </a:r>
            <a:endParaRPr lang="en-US" dirty="0"/>
          </a:p>
        </p:txBody>
      </p:sp>
    </p:spTree>
    <p:extLst>
      <p:ext uri="{BB962C8B-B14F-4D97-AF65-F5344CB8AC3E}">
        <p14:creationId xmlns:p14="http://schemas.microsoft.com/office/powerpoint/2010/main" val="2993102699"/>
      </p:ext>
    </p:extLst>
  </p:cSld>
  <p:clrMapOvr>
    <a:masterClrMapping/>
  </p:clrMapOvr>
  <mc:AlternateContent xmlns:mc="http://schemas.openxmlformats.org/markup-compatibility/2006" xmlns:p14="http://schemas.microsoft.com/office/powerpoint/2010/main">
    <mc:Choice Requires="p14">
      <p:transition spd="slow" p14:dur="1300">
        <p14:pan dir="r"/>
      </p:transition>
    </mc:Choice>
    <mc:Fallback xmlns="">
      <p:transition spd="slow">
        <p:fade/>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wo Columns Text">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p>
            <a:r>
              <a:rPr lang="ar-EG" dirty="0"/>
              <a:t>اضغط لتغيير العنوان</a:t>
            </a:r>
            <a:endParaRPr lang="en-US" dirty="0"/>
          </a:p>
        </p:txBody>
      </p:sp>
      <p:sp>
        <p:nvSpPr>
          <p:cNvPr id="3" name="Date Placeholder 2"/>
          <p:cNvSpPr>
            <a:spLocks noGrp="1"/>
          </p:cNvSpPr>
          <p:nvPr>
            <p:ph type="dt" sz="half" idx="10"/>
          </p:nvPr>
        </p:nvSpPr>
        <p:spPr>
          <a:xfrm>
            <a:off x="1126155" y="6372408"/>
            <a:ext cx="1875631" cy="365125"/>
          </a:xfrm>
          <a:prstGeom prst="rect">
            <a:avLst/>
          </a:prstGeom>
        </p:spPr>
        <p:txBody>
          <a:bodyPr/>
          <a:lstStyle/>
          <a:p>
            <a:fld id="{84913560-8229-45AB-89CF-A554C7EFF781}" type="datetime1">
              <a:rPr lang="en-US" smtClean="0"/>
              <a:t>5/14/2025</a:t>
            </a:fld>
            <a:endParaRPr lang="en-US"/>
          </a:p>
        </p:txBody>
      </p:sp>
      <p:sp>
        <p:nvSpPr>
          <p:cNvPr id="4" name="Footer Placeholder 3"/>
          <p:cNvSpPr>
            <a:spLocks noGrp="1"/>
          </p:cNvSpPr>
          <p:nvPr>
            <p:ph type="ftr" sz="quarter" idx="11"/>
          </p:nvPr>
        </p:nvSpPr>
        <p:spPr>
          <a:xfrm>
            <a:off x="4400233" y="6367630"/>
            <a:ext cx="3691931" cy="365125"/>
          </a:xfrm>
          <a:prstGeom prst="rect">
            <a:avLst/>
          </a:prstGeom>
        </p:spPr>
        <p:txBody>
          <a:bodyPr/>
          <a:lstStyle/>
          <a:p>
            <a:endParaRPr lang="en-US"/>
          </a:p>
        </p:txBody>
      </p:sp>
      <p:sp>
        <p:nvSpPr>
          <p:cNvPr id="5" name="Slide Number Placeholder 4"/>
          <p:cNvSpPr>
            <a:spLocks noGrp="1"/>
          </p:cNvSpPr>
          <p:nvPr>
            <p:ph type="sldNum" sz="quarter" idx="12"/>
          </p:nvPr>
        </p:nvSpPr>
        <p:spPr/>
        <p:txBody>
          <a:bodyPr/>
          <a:lstStyle/>
          <a:p>
            <a:fld id="{0BE4EC83-A869-464E-AE9F-881796FB085E}" type="slidenum">
              <a:rPr lang="en-US" smtClean="0"/>
              <a:t>‹#›</a:t>
            </a:fld>
            <a:endParaRPr lang="en-US"/>
          </a:p>
        </p:txBody>
      </p:sp>
      <p:sp>
        <p:nvSpPr>
          <p:cNvPr id="8" name="Text Placeholder 6"/>
          <p:cNvSpPr>
            <a:spLocks noGrp="1"/>
          </p:cNvSpPr>
          <p:nvPr>
            <p:ph type="body" sz="quarter" idx="14" hasCustomPrompt="1"/>
          </p:nvPr>
        </p:nvSpPr>
        <p:spPr>
          <a:xfrm>
            <a:off x="850190" y="1447800"/>
            <a:ext cx="4831419" cy="4638675"/>
          </a:xfrm>
        </p:spPr>
        <p:txBody>
          <a:bodyPr>
            <a:normAutofit/>
          </a:bodyPr>
          <a:lstStyle>
            <a:lvl1pPr marL="0" indent="0">
              <a:buNone/>
              <a:defRPr sz="2000" baseline="0"/>
            </a:lvl1pPr>
          </a:lstStyle>
          <a:p>
            <a:pPr lvl="0"/>
            <a:r>
              <a:rPr lang="ar-EG" dirty="0"/>
              <a:t>تعديل النص</a:t>
            </a:r>
            <a:endParaRPr lang="en-US" dirty="0"/>
          </a:p>
        </p:txBody>
      </p:sp>
      <p:sp>
        <p:nvSpPr>
          <p:cNvPr id="9" name="Text Placeholder 6"/>
          <p:cNvSpPr>
            <a:spLocks noGrp="1"/>
          </p:cNvSpPr>
          <p:nvPr>
            <p:ph type="body" sz="quarter" idx="15" hasCustomPrompt="1"/>
          </p:nvPr>
        </p:nvSpPr>
        <p:spPr>
          <a:xfrm>
            <a:off x="6522381" y="1447800"/>
            <a:ext cx="4831419" cy="4638675"/>
          </a:xfrm>
        </p:spPr>
        <p:txBody>
          <a:bodyPr>
            <a:normAutofit/>
          </a:bodyPr>
          <a:lstStyle>
            <a:lvl1pPr marL="0" indent="0">
              <a:buNone/>
              <a:defRPr sz="2000" baseline="0"/>
            </a:lvl1pPr>
          </a:lstStyle>
          <a:p>
            <a:pPr lvl="0"/>
            <a:r>
              <a:rPr lang="ar-EG" dirty="0"/>
              <a:t>تعديل النص</a:t>
            </a:r>
            <a:endParaRPr lang="en-US" dirty="0"/>
          </a:p>
        </p:txBody>
      </p:sp>
    </p:spTree>
    <p:extLst>
      <p:ext uri="{BB962C8B-B14F-4D97-AF65-F5344CB8AC3E}">
        <p14:creationId xmlns:p14="http://schemas.microsoft.com/office/powerpoint/2010/main" val="2379145943"/>
      </p:ext>
    </p:extLst>
  </p:cSld>
  <p:clrMapOvr>
    <a:masterClrMapping/>
  </p:clrMapOvr>
  <mc:AlternateContent xmlns:mc="http://schemas.openxmlformats.org/markup-compatibility/2006" xmlns:p14="http://schemas.microsoft.com/office/powerpoint/2010/main">
    <mc:Choice Requires="p14">
      <p:transition spd="slow" p14:dur="1300">
        <p14:pan dir="r"/>
      </p:transition>
    </mc:Choice>
    <mc:Fallback xmlns="">
      <p:transition spd="slow">
        <p:fade/>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Portfolio/4 column">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p>
            <a:r>
              <a:rPr lang="ar-EG" dirty="0"/>
              <a:t>اضغط لتغيير العنوان</a:t>
            </a:r>
            <a:endParaRPr lang="en-US" dirty="0"/>
          </a:p>
        </p:txBody>
      </p:sp>
      <p:sp>
        <p:nvSpPr>
          <p:cNvPr id="3" name="Date Placeholder 2"/>
          <p:cNvSpPr>
            <a:spLocks noGrp="1"/>
          </p:cNvSpPr>
          <p:nvPr>
            <p:ph type="dt" sz="half" idx="10"/>
          </p:nvPr>
        </p:nvSpPr>
        <p:spPr>
          <a:xfrm>
            <a:off x="1126155" y="6372408"/>
            <a:ext cx="1875631" cy="365125"/>
          </a:xfrm>
          <a:prstGeom prst="rect">
            <a:avLst/>
          </a:prstGeom>
        </p:spPr>
        <p:txBody>
          <a:bodyPr/>
          <a:lstStyle/>
          <a:p>
            <a:fld id="{D07F32C4-027C-41E7-9CB9-C0506AA6389A}" type="datetime1">
              <a:rPr lang="en-US" smtClean="0"/>
              <a:t>5/14/2025</a:t>
            </a:fld>
            <a:endParaRPr lang="en-US"/>
          </a:p>
        </p:txBody>
      </p:sp>
      <p:sp>
        <p:nvSpPr>
          <p:cNvPr id="4" name="Footer Placeholder 3"/>
          <p:cNvSpPr>
            <a:spLocks noGrp="1"/>
          </p:cNvSpPr>
          <p:nvPr>
            <p:ph type="ftr" sz="quarter" idx="11"/>
          </p:nvPr>
        </p:nvSpPr>
        <p:spPr>
          <a:xfrm>
            <a:off x="4400233" y="6367630"/>
            <a:ext cx="3691931" cy="365125"/>
          </a:xfrm>
          <a:prstGeom prst="rect">
            <a:avLst/>
          </a:prstGeom>
        </p:spPr>
        <p:txBody>
          <a:bodyPr/>
          <a:lstStyle/>
          <a:p>
            <a:endParaRPr lang="en-US" dirty="0"/>
          </a:p>
        </p:txBody>
      </p:sp>
      <p:sp>
        <p:nvSpPr>
          <p:cNvPr id="5" name="Slide Number Placeholder 4"/>
          <p:cNvSpPr>
            <a:spLocks noGrp="1"/>
          </p:cNvSpPr>
          <p:nvPr>
            <p:ph type="sldNum" sz="quarter" idx="12"/>
          </p:nvPr>
        </p:nvSpPr>
        <p:spPr/>
        <p:txBody>
          <a:bodyPr/>
          <a:lstStyle/>
          <a:p>
            <a:fld id="{46ED658E-7B78-4C3F-B2D4-66856F143B40}" type="slidenum">
              <a:rPr lang="en-US" smtClean="0"/>
              <a:pPr/>
              <a:t>‹#›</a:t>
            </a:fld>
            <a:endParaRPr lang="en-US"/>
          </a:p>
        </p:txBody>
      </p:sp>
      <p:sp>
        <p:nvSpPr>
          <p:cNvPr id="7" name="Picture Placeholder 10">
            <a:extLst>
              <a:ext uri="{FF2B5EF4-FFF2-40B4-BE49-F238E27FC236}">
                <a16:creationId xmlns:a16="http://schemas.microsoft.com/office/drawing/2014/main" id="{1ED86105-1558-4D32-B1A9-5F4D28811B51}"/>
              </a:ext>
            </a:extLst>
          </p:cNvPr>
          <p:cNvSpPr>
            <a:spLocks noGrp="1"/>
          </p:cNvSpPr>
          <p:nvPr>
            <p:ph type="pic" sz="quarter" idx="13" hasCustomPrompt="1"/>
          </p:nvPr>
        </p:nvSpPr>
        <p:spPr>
          <a:xfrm>
            <a:off x="853836" y="1547024"/>
            <a:ext cx="2192643" cy="3051722"/>
          </a:xfrm>
          <a:prstGeom prst="rect">
            <a:avLst/>
          </a:prstGeom>
        </p:spPr>
        <p:txBody>
          <a:bodyPr wrap="square">
            <a:noAutofit/>
          </a:bodyPr>
          <a:lstStyle>
            <a:lvl1pPr>
              <a:defRPr sz="2000"/>
            </a:lvl1pPr>
          </a:lstStyle>
          <a:p>
            <a:r>
              <a:rPr lang="ar-EG" dirty="0"/>
              <a:t>اضغط على الأيقونة لإضافة صورة</a:t>
            </a:r>
            <a:endParaRPr lang="en-US" dirty="0"/>
          </a:p>
        </p:txBody>
      </p:sp>
      <p:sp>
        <p:nvSpPr>
          <p:cNvPr id="8" name="Picture Placeholder 12">
            <a:extLst>
              <a:ext uri="{FF2B5EF4-FFF2-40B4-BE49-F238E27FC236}">
                <a16:creationId xmlns:a16="http://schemas.microsoft.com/office/drawing/2014/main" id="{AD11BF4A-2489-4211-84F8-479B8880D427}"/>
              </a:ext>
            </a:extLst>
          </p:cNvPr>
          <p:cNvSpPr>
            <a:spLocks noGrp="1"/>
          </p:cNvSpPr>
          <p:nvPr>
            <p:ph type="pic" sz="quarter" idx="15" hasCustomPrompt="1"/>
          </p:nvPr>
        </p:nvSpPr>
        <p:spPr>
          <a:xfrm>
            <a:off x="9179225" y="1547024"/>
            <a:ext cx="2175731" cy="3051722"/>
          </a:xfrm>
          <a:prstGeom prst="rect">
            <a:avLst/>
          </a:prstGeom>
        </p:spPr>
        <p:txBody>
          <a:bodyPr wrap="square">
            <a:noAutofit/>
          </a:bodyPr>
          <a:lstStyle>
            <a:lvl1pPr>
              <a:defRPr sz="2000"/>
            </a:lvl1pPr>
          </a:lstStyle>
          <a:p>
            <a:r>
              <a:rPr lang="ar-EG" dirty="0"/>
              <a:t>اضغط على الأيقونة لإضافة صورة</a:t>
            </a:r>
            <a:endParaRPr lang="en-US" dirty="0"/>
          </a:p>
        </p:txBody>
      </p:sp>
      <p:sp>
        <p:nvSpPr>
          <p:cNvPr id="9" name="Text Placeholder 21"/>
          <p:cNvSpPr>
            <a:spLocks noGrp="1"/>
          </p:cNvSpPr>
          <p:nvPr>
            <p:ph type="body" sz="quarter" idx="16" hasCustomPrompt="1"/>
          </p:nvPr>
        </p:nvSpPr>
        <p:spPr>
          <a:xfrm>
            <a:off x="846596" y="4793469"/>
            <a:ext cx="2207123" cy="368300"/>
          </a:xfrm>
        </p:spPr>
        <p:txBody>
          <a:bodyPr>
            <a:normAutofit/>
          </a:bodyPr>
          <a:lstStyle>
            <a:lvl1pPr marL="0" indent="0" algn="ctr">
              <a:buNone/>
              <a:defRPr sz="2000" b="1" baseline="0">
                <a:solidFill>
                  <a:schemeClr val="accent1"/>
                </a:solidFill>
              </a:defRPr>
            </a:lvl1pPr>
          </a:lstStyle>
          <a:p>
            <a:pPr lvl="0"/>
            <a:r>
              <a:rPr lang="ar-EG" dirty="0"/>
              <a:t>عنوان 4</a:t>
            </a:r>
            <a:endParaRPr lang="en-US" dirty="0"/>
          </a:p>
        </p:txBody>
      </p:sp>
      <p:sp>
        <p:nvSpPr>
          <p:cNvPr id="11" name="Text Placeholder 21"/>
          <p:cNvSpPr>
            <a:spLocks noGrp="1"/>
          </p:cNvSpPr>
          <p:nvPr>
            <p:ph type="body" sz="quarter" idx="18" hasCustomPrompt="1"/>
          </p:nvPr>
        </p:nvSpPr>
        <p:spPr>
          <a:xfrm>
            <a:off x="3644019" y="4793469"/>
            <a:ext cx="2192642" cy="368300"/>
          </a:xfrm>
        </p:spPr>
        <p:txBody>
          <a:bodyPr>
            <a:normAutofit/>
          </a:bodyPr>
          <a:lstStyle>
            <a:lvl1pPr marL="0" indent="0" algn="ctr">
              <a:buNone/>
              <a:defRPr sz="2000" b="1">
                <a:solidFill>
                  <a:schemeClr val="accent1"/>
                </a:solidFill>
              </a:defRPr>
            </a:lvl1pPr>
          </a:lstStyle>
          <a:p>
            <a:pPr lvl="0"/>
            <a:r>
              <a:rPr lang="ar-EG" dirty="0"/>
              <a:t>عنوان 3</a:t>
            </a:r>
            <a:endParaRPr lang="en-US" dirty="0"/>
          </a:p>
        </p:txBody>
      </p:sp>
      <p:sp>
        <p:nvSpPr>
          <p:cNvPr id="13" name="Text Placeholder 21"/>
          <p:cNvSpPr>
            <a:spLocks noGrp="1"/>
          </p:cNvSpPr>
          <p:nvPr>
            <p:ph type="body" sz="quarter" idx="20" hasCustomPrompt="1"/>
          </p:nvPr>
        </p:nvSpPr>
        <p:spPr>
          <a:xfrm>
            <a:off x="9179225" y="4793469"/>
            <a:ext cx="2175731" cy="368300"/>
          </a:xfrm>
        </p:spPr>
        <p:txBody>
          <a:bodyPr>
            <a:normAutofit/>
          </a:bodyPr>
          <a:lstStyle>
            <a:lvl1pPr marL="0" indent="0" algn="ctr">
              <a:buNone/>
              <a:defRPr sz="2000" b="1">
                <a:solidFill>
                  <a:schemeClr val="accent1"/>
                </a:solidFill>
              </a:defRPr>
            </a:lvl1pPr>
          </a:lstStyle>
          <a:p>
            <a:pPr lvl="0"/>
            <a:r>
              <a:rPr lang="ar-EG" dirty="0"/>
              <a:t>عنوان 1</a:t>
            </a:r>
            <a:endParaRPr lang="en-US" dirty="0"/>
          </a:p>
        </p:txBody>
      </p:sp>
      <p:sp>
        <p:nvSpPr>
          <p:cNvPr id="15" name="Picture Placeholder 10">
            <a:extLst>
              <a:ext uri="{FF2B5EF4-FFF2-40B4-BE49-F238E27FC236}">
                <a16:creationId xmlns:a16="http://schemas.microsoft.com/office/drawing/2014/main" id="{1ED86105-1558-4D32-B1A9-5F4D28811B51}"/>
              </a:ext>
            </a:extLst>
          </p:cNvPr>
          <p:cNvSpPr>
            <a:spLocks noGrp="1"/>
          </p:cNvSpPr>
          <p:nvPr>
            <p:ph type="pic" sz="quarter" idx="23" hasCustomPrompt="1"/>
          </p:nvPr>
        </p:nvSpPr>
        <p:spPr>
          <a:xfrm>
            <a:off x="3644019" y="1547024"/>
            <a:ext cx="2192643" cy="3051722"/>
          </a:xfrm>
          <a:prstGeom prst="rect">
            <a:avLst/>
          </a:prstGeom>
        </p:spPr>
        <p:txBody>
          <a:bodyPr wrap="square">
            <a:noAutofit/>
          </a:bodyPr>
          <a:lstStyle>
            <a:lvl1pPr>
              <a:defRPr sz="2000"/>
            </a:lvl1pPr>
          </a:lstStyle>
          <a:p>
            <a:r>
              <a:rPr lang="ar-EG" dirty="0"/>
              <a:t>اضغط على الأيقونة لإضافة صورة</a:t>
            </a:r>
            <a:endParaRPr lang="en-US" dirty="0"/>
          </a:p>
        </p:txBody>
      </p:sp>
      <p:sp>
        <p:nvSpPr>
          <p:cNvPr id="16" name="Picture Placeholder 10">
            <a:extLst>
              <a:ext uri="{FF2B5EF4-FFF2-40B4-BE49-F238E27FC236}">
                <a16:creationId xmlns:a16="http://schemas.microsoft.com/office/drawing/2014/main" id="{1ED86105-1558-4D32-B1A9-5F4D28811B51}"/>
              </a:ext>
            </a:extLst>
          </p:cNvPr>
          <p:cNvSpPr>
            <a:spLocks noGrp="1"/>
          </p:cNvSpPr>
          <p:nvPr>
            <p:ph type="pic" sz="quarter" idx="24" hasCustomPrompt="1"/>
          </p:nvPr>
        </p:nvSpPr>
        <p:spPr>
          <a:xfrm>
            <a:off x="6419301" y="1547024"/>
            <a:ext cx="2192643" cy="3051722"/>
          </a:xfrm>
          <a:prstGeom prst="rect">
            <a:avLst/>
          </a:prstGeom>
        </p:spPr>
        <p:txBody>
          <a:bodyPr wrap="square">
            <a:noAutofit/>
          </a:bodyPr>
          <a:lstStyle>
            <a:lvl1pPr>
              <a:defRPr sz="2000"/>
            </a:lvl1pPr>
          </a:lstStyle>
          <a:p>
            <a:r>
              <a:rPr lang="ar-EG" dirty="0"/>
              <a:t>اضغط على الأيقونة لإضافة صورة</a:t>
            </a:r>
            <a:endParaRPr lang="en-US" dirty="0"/>
          </a:p>
        </p:txBody>
      </p:sp>
      <p:sp>
        <p:nvSpPr>
          <p:cNvPr id="17" name="Text Placeholder 21"/>
          <p:cNvSpPr>
            <a:spLocks noGrp="1"/>
          </p:cNvSpPr>
          <p:nvPr>
            <p:ph type="body" sz="quarter" idx="25" hasCustomPrompt="1"/>
          </p:nvPr>
        </p:nvSpPr>
        <p:spPr>
          <a:xfrm>
            <a:off x="6418380" y="4793469"/>
            <a:ext cx="2194484" cy="368300"/>
          </a:xfrm>
        </p:spPr>
        <p:txBody>
          <a:bodyPr>
            <a:normAutofit/>
          </a:bodyPr>
          <a:lstStyle>
            <a:lvl1pPr marL="0" marR="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sz="2000" b="1">
                <a:solidFill>
                  <a:schemeClr val="accent1"/>
                </a:solidFill>
              </a:defRPr>
            </a:lvl1pPr>
          </a:lstStyle>
          <a:p>
            <a:pPr lvl="0"/>
            <a:r>
              <a:rPr lang="ar-EG" dirty="0"/>
              <a:t>عنوان 2</a:t>
            </a:r>
            <a:endParaRPr lang="en-US" dirty="0"/>
          </a:p>
        </p:txBody>
      </p:sp>
      <p:sp>
        <p:nvSpPr>
          <p:cNvPr id="20" name="Text Placeholder 19"/>
          <p:cNvSpPr>
            <a:spLocks noGrp="1"/>
          </p:cNvSpPr>
          <p:nvPr>
            <p:ph type="body" sz="quarter" idx="26" hasCustomPrompt="1"/>
          </p:nvPr>
        </p:nvSpPr>
        <p:spPr>
          <a:xfrm>
            <a:off x="846845" y="5161763"/>
            <a:ext cx="2206625" cy="728662"/>
          </a:xfrm>
        </p:spPr>
        <p:txBody>
          <a:bodyPr>
            <a:normAutofit/>
          </a:bodyPr>
          <a:lstStyle>
            <a:lvl1pPr marL="0" indent="0" algn="ctr">
              <a:buNone/>
              <a:defRPr sz="1600"/>
            </a:lvl1pPr>
          </a:lstStyle>
          <a:p>
            <a:pPr lvl="0"/>
            <a:r>
              <a:rPr lang="ar-EG" dirty="0"/>
              <a:t>تعديل النص</a:t>
            </a:r>
            <a:endParaRPr lang="en-US" dirty="0"/>
          </a:p>
        </p:txBody>
      </p:sp>
      <p:sp>
        <p:nvSpPr>
          <p:cNvPr id="21" name="Text Placeholder 19"/>
          <p:cNvSpPr>
            <a:spLocks noGrp="1"/>
          </p:cNvSpPr>
          <p:nvPr>
            <p:ph type="body" sz="quarter" idx="27" hasCustomPrompt="1"/>
          </p:nvPr>
        </p:nvSpPr>
        <p:spPr>
          <a:xfrm>
            <a:off x="3637028" y="5161763"/>
            <a:ext cx="2206625" cy="728662"/>
          </a:xfrm>
        </p:spPr>
        <p:txBody>
          <a:bodyPr>
            <a:normAutofit/>
          </a:bodyPr>
          <a:lstStyle>
            <a:lvl1pPr marL="0" indent="0" algn="ctr">
              <a:buNone/>
              <a:defRPr sz="1600"/>
            </a:lvl1pPr>
          </a:lstStyle>
          <a:p>
            <a:pPr lvl="0"/>
            <a:r>
              <a:rPr lang="ar-EG" dirty="0"/>
              <a:t>تعديل النص</a:t>
            </a:r>
            <a:endParaRPr lang="en-US" dirty="0"/>
          </a:p>
        </p:txBody>
      </p:sp>
      <p:sp>
        <p:nvSpPr>
          <p:cNvPr id="22" name="Text Placeholder 19"/>
          <p:cNvSpPr>
            <a:spLocks noGrp="1"/>
          </p:cNvSpPr>
          <p:nvPr>
            <p:ph type="body" sz="quarter" idx="28" hasCustomPrompt="1"/>
          </p:nvPr>
        </p:nvSpPr>
        <p:spPr>
          <a:xfrm>
            <a:off x="6421014" y="5161763"/>
            <a:ext cx="2189217" cy="728662"/>
          </a:xfrm>
        </p:spPr>
        <p:txBody>
          <a:bodyPr>
            <a:normAutofit/>
          </a:bodyPr>
          <a:lstStyle>
            <a:lvl1pPr marL="0" indent="0" algn="ctr">
              <a:buNone/>
              <a:defRPr sz="1600"/>
            </a:lvl1pPr>
          </a:lstStyle>
          <a:p>
            <a:pPr lvl="0"/>
            <a:r>
              <a:rPr lang="ar-EG" dirty="0"/>
              <a:t>تعديل النص</a:t>
            </a:r>
            <a:endParaRPr lang="en-US" dirty="0"/>
          </a:p>
        </p:txBody>
      </p:sp>
      <p:sp>
        <p:nvSpPr>
          <p:cNvPr id="23" name="Text Placeholder 19"/>
          <p:cNvSpPr>
            <a:spLocks noGrp="1"/>
          </p:cNvSpPr>
          <p:nvPr>
            <p:ph type="body" sz="quarter" idx="29" hasCustomPrompt="1"/>
          </p:nvPr>
        </p:nvSpPr>
        <p:spPr>
          <a:xfrm>
            <a:off x="9183408" y="5161763"/>
            <a:ext cx="2167364" cy="728662"/>
          </a:xfrm>
        </p:spPr>
        <p:txBody>
          <a:bodyPr>
            <a:normAutofit/>
          </a:bodyPr>
          <a:lstStyle>
            <a:lvl1pPr marL="0" indent="0" algn="ctr">
              <a:buNone/>
              <a:defRPr sz="1600"/>
            </a:lvl1pPr>
          </a:lstStyle>
          <a:p>
            <a:pPr lvl="0"/>
            <a:r>
              <a:rPr lang="ar-EG" dirty="0"/>
              <a:t>تعديل النص</a:t>
            </a:r>
            <a:endParaRPr lang="en-US" dirty="0"/>
          </a:p>
        </p:txBody>
      </p:sp>
      <p:sp>
        <p:nvSpPr>
          <p:cNvPr id="27" name="Rectangle 26"/>
          <p:cNvSpPr/>
          <p:nvPr userDrawn="1"/>
        </p:nvSpPr>
        <p:spPr>
          <a:xfrm>
            <a:off x="9809890" y="5143475"/>
            <a:ext cx="914400" cy="18288"/>
          </a:xfrm>
          <a:prstGeom prst="rect">
            <a:avLst/>
          </a:prstGeom>
          <a:solidFill>
            <a:schemeClr val="accent1"/>
          </a:solidFill>
          <a:ln>
            <a:solidFill>
              <a:schemeClr val="accent2"/>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dirty="0"/>
          </a:p>
        </p:txBody>
      </p:sp>
      <p:sp>
        <p:nvSpPr>
          <p:cNvPr id="28" name="Rectangle 27"/>
          <p:cNvSpPr/>
          <p:nvPr userDrawn="1"/>
        </p:nvSpPr>
        <p:spPr>
          <a:xfrm>
            <a:off x="7058422" y="5143475"/>
            <a:ext cx="914400" cy="18288"/>
          </a:xfrm>
          <a:prstGeom prst="rect">
            <a:avLst/>
          </a:prstGeom>
          <a:solidFill>
            <a:schemeClr val="accent1"/>
          </a:solidFill>
          <a:ln>
            <a:solidFill>
              <a:schemeClr val="accent2"/>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dirty="0"/>
          </a:p>
        </p:txBody>
      </p:sp>
      <p:sp>
        <p:nvSpPr>
          <p:cNvPr id="29" name="Rectangle 28"/>
          <p:cNvSpPr/>
          <p:nvPr userDrawn="1"/>
        </p:nvSpPr>
        <p:spPr>
          <a:xfrm>
            <a:off x="4283140" y="5143475"/>
            <a:ext cx="914400" cy="18288"/>
          </a:xfrm>
          <a:prstGeom prst="rect">
            <a:avLst/>
          </a:prstGeom>
          <a:solidFill>
            <a:schemeClr val="accent1"/>
          </a:solidFill>
          <a:ln>
            <a:solidFill>
              <a:schemeClr val="accent2"/>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dirty="0"/>
          </a:p>
        </p:txBody>
      </p:sp>
      <p:sp>
        <p:nvSpPr>
          <p:cNvPr id="30" name="Rectangle 29"/>
          <p:cNvSpPr/>
          <p:nvPr userDrawn="1"/>
        </p:nvSpPr>
        <p:spPr>
          <a:xfrm>
            <a:off x="1492957" y="5143475"/>
            <a:ext cx="914400" cy="18288"/>
          </a:xfrm>
          <a:prstGeom prst="rect">
            <a:avLst/>
          </a:prstGeom>
          <a:solidFill>
            <a:schemeClr val="accent1"/>
          </a:solidFill>
          <a:ln>
            <a:solidFill>
              <a:schemeClr val="accent2"/>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dirty="0"/>
          </a:p>
        </p:txBody>
      </p:sp>
    </p:spTree>
    <p:extLst>
      <p:ext uri="{BB962C8B-B14F-4D97-AF65-F5344CB8AC3E}">
        <p14:creationId xmlns:p14="http://schemas.microsoft.com/office/powerpoint/2010/main" val="1514552692"/>
      </p:ext>
    </p:extLst>
  </p:cSld>
  <p:clrMapOvr>
    <a:masterClrMapping/>
  </p:clrMapOvr>
  <mc:AlternateContent xmlns:mc="http://schemas.openxmlformats.org/markup-compatibility/2006" xmlns:p14="http://schemas.microsoft.com/office/powerpoint/2010/main">
    <mc:Choice Requires="p14">
      <p:transition spd="slow" p14:dur="1300">
        <p14:pan dir="r"/>
      </p:transition>
    </mc:Choice>
    <mc:Fallback xmlns="">
      <p:transition spd="slow">
        <p:fade/>
      </p:transition>
    </mc:Fallback>
  </mc:AlternateContent>
</p:sldLayout>
</file>

<file path=ppt/slideLayouts/slideLayout17.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p>
            <a:r>
              <a:rPr lang="ar-EG" dirty="0"/>
              <a:t>اضغط لتغيير العنوان</a:t>
            </a:r>
            <a:endParaRPr lang="en-US" dirty="0"/>
          </a:p>
        </p:txBody>
      </p:sp>
      <p:sp>
        <p:nvSpPr>
          <p:cNvPr id="3" name="Content Placeholder 2"/>
          <p:cNvSpPr>
            <a:spLocks noGrp="1"/>
          </p:cNvSpPr>
          <p:nvPr>
            <p:ph sz="half" idx="1" hasCustomPrompt="1"/>
          </p:nvPr>
        </p:nvSpPr>
        <p:spPr>
          <a:xfrm>
            <a:off x="838200" y="1447801"/>
            <a:ext cx="5181600" cy="4648200"/>
          </a:xfrm>
        </p:spPr>
        <p:txBody>
          <a:bodyPr/>
          <a:lstStyle/>
          <a:p>
            <a:pPr lvl="0"/>
            <a:r>
              <a:rPr lang="ar-EG" dirty="0"/>
              <a:t>تعديل النص</a:t>
            </a:r>
            <a:endParaRPr lang="en-US" dirty="0"/>
          </a:p>
          <a:p>
            <a:pPr lvl="1"/>
            <a:r>
              <a:rPr lang="ar-EG" dirty="0"/>
              <a:t>المستوى الثاني</a:t>
            </a:r>
            <a:endParaRPr lang="en-US" dirty="0"/>
          </a:p>
          <a:p>
            <a:pPr lvl="2"/>
            <a:r>
              <a:rPr lang="ar-EG" dirty="0"/>
              <a:t>المستوى الثالث</a:t>
            </a:r>
            <a:endParaRPr lang="en-US" dirty="0"/>
          </a:p>
          <a:p>
            <a:pPr lvl="3"/>
            <a:r>
              <a:rPr lang="ar-EG" dirty="0"/>
              <a:t>المستوى الرابع</a:t>
            </a:r>
            <a:endParaRPr lang="en-US" dirty="0"/>
          </a:p>
          <a:p>
            <a:pPr lvl="4"/>
            <a:r>
              <a:rPr lang="ar-EG" dirty="0"/>
              <a:t>المستوى الخامس</a:t>
            </a:r>
            <a:endParaRPr lang="en-US" dirty="0"/>
          </a:p>
        </p:txBody>
      </p:sp>
      <p:sp>
        <p:nvSpPr>
          <p:cNvPr id="4" name="Content Placeholder 3"/>
          <p:cNvSpPr>
            <a:spLocks noGrp="1"/>
          </p:cNvSpPr>
          <p:nvPr>
            <p:ph sz="half" idx="2" hasCustomPrompt="1"/>
          </p:nvPr>
        </p:nvSpPr>
        <p:spPr>
          <a:xfrm>
            <a:off x="6172200" y="1447801"/>
            <a:ext cx="5181600" cy="4648200"/>
          </a:xfrm>
        </p:spPr>
        <p:txBody>
          <a:bodyPr/>
          <a:lstStyle/>
          <a:p>
            <a:pPr lvl="0"/>
            <a:r>
              <a:rPr lang="ar-EG" dirty="0"/>
              <a:t>تعديل النص</a:t>
            </a:r>
            <a:endParaRPr lang="en-US" dirty="0"/>
          </a:p>
          <a:p>
            <a:pPr lvl="1"/>
            <a:r>
              <a:rPr lang="ar-EG" dirty="0"/>
              <a:t>المستوى الثاني</a:t>
            </a:r>
            <a:endParaRPr lang="en-US" dirty="0"/>
          </a:p>
          <a:p>
            <a:pPr lvl="2"/>
            <a:r>
              <a:rPr lang="ar-EG" dirty="0"/>
              <a:t>المستوى الثالث</a:t>
            </a:r>
            <a:endParaRPr lang="en-US" dirty="0"/>
          </a:p>
          <a:p>
            <a:pPr lvl="3"/>
            <a:r>
              <a:rPr lang="ar-EG" dirty="0"/>
              <a:t>المستوى الرابع</a:t>
            </a:r>
            <a:endParaRPr lang="en-US" dirty="0"/>
          </a:p>
          <a:p>
            <a:pPr lvl="4"/>
            <a:r>
              <a:rPr lang="ar-EG" dirty="0"/>
              <a:t>المستوى الخامس</a:t>
            </a:r>
            <a:endParaRPr lang="en-US" dirty="0"/>
          </a:p>
        </p:txBody>
      </p:sp>
      <p:sp>
        <p:nvSpPr>
          <p:cNvPr id="5" name="Date Placeholder 4"/>
          <p:cNvSpPr>
            <a:spLocks noGrp="1"/>
          </p:cNvSpPr>
          <p:nvPr>
            <p:ph type="dt" sz="half" idx="10"/>
          </p:nvPr>
        </p:nvSpPr>
        <p:spPr>
          <a:xfrm>
            <a:off x="1126155" y="6372408"/>
            <a:ext cx="1875631" cy="365125"/>
          </a:xfrm>
          <a:prstGeom prst="rect">
            <a:avLst/>
          </a:prstGeom>
        </p:spPr>
        <p:txBody>
          <a:bodyPr/>
          <a:lstStyle/>
          <a:p>
            <a:fld id="{35BB4A2A-1A89-4F2B-96A8-6DC5A8475B0F}" type="datetime1">
              <a:rPr lang="en-US" smtClean="0"/>
              <a:t>5/14/2025</a:t>
            </a:fld>
            <a:endParaRPr lang="en-US"/>
          </a:p>
        </p:txBody>
      </p:sp>
      <p:sp>
        <p:nvSpPr>
          <p:cNvPr id="6" name="Footer Placeholder 5"/>
          <p:cNvSpPr>
            <a:spLocks noGrp="1"/>
          </p:cNvSpPr>
          <p:nvPr>
            <p:ph type="ftr" sz="quarter" idx="11"/>
          </p:nvPr>
        </p:nvSpPr>
        <p:spPr>
          <a:xfrm>
            <a:off x="4400233" y="6367630"/>
            <a:ext cx="3691931" cy="365125"/>
          </a:xfrm>
          <a:prstGeom prst="rect">
            <a:avLst/>
          </a:prstGeom>
        </p:spPr>
        <p:txBody>
          <a:bodyPr/>
          <a:lstStyle/>
          <a:p>
            <a:endParaRPr lang="en-US"/>
          </a:p>
        </p:txBody>
      </p:sp>
      <p:sp>
        <p:nvSpPr>
          <p:cNvPr id="7" name="Slide Number Placeholder 6"/>
          <p:cNvSpPr>
            <a:spLocks noGrp="1"/>
          </p:cNvSpPr>
          <p:nvPr>
            <p:ph type="sldNum" sz="quarter" idx="12"/>
          </p:nvPr>
        </p:nvSpPr>
        <p:spPr/>
        <p:txBody>
          <a:bodyPr/>
          <a:lstStyle/>
          <a:p>
            <a:fld id="{0BE4EC83-A869-464E-AE9F-881796FB085E}" type="slidenum">
              <a:rPr lang="en-US" smtClean="0"/>
              <a:t>‹#›</a:t>
            </a:fld>
            <a:endParaRPr lang="en-US" dirty="0"/>
          </a:p>
        </p:txBody>
      </p:sp>
    </p:spTree>
    <p:extLst>
      <p:ext uri="{BB962C8B-B14F-4D97-AF65-F5344CB8AC3E}">
        <p14:creationId xmlns:p14="http://schemas.microsoft.com/office/powerpoint/2010/main" val="553776341"/>
      </p:ext>
    </p:extLst>
  </p:cSld>
  <p:clrMapOvr>
    <a:masterClrMapping/>
  </p:clrMapOvr>
  <mc:AlternateContent xmlns:mc="http://schemas.openxmlformats.org/markup-compatibility/2006" xmlns:p14="http://schemas.microsoft.com/office/powerpoint/2010/main">
    <mc:Choice Requires="p14">
      <p:transition spd="slow" p14:dur="1300">
        <p14:pan dir="r"/>
      </p:transition>
    </mc:Choice>
    <mc:Fallback xmlns="">
      <p:transition spd="slow">
        <p:fade/>
      </p:transition>
    </mc:Fallback>
  </mc:AlternateContent>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3" name="Footer Placeholder 2"/>
          <p:cNvSpPr>
            <a:spLocks noGrp="1"/>
          </p:cNvSpPr>
          <p:nvPr>
            <p:ph type="ftr" sz="quarter" idx="11"/>
          </p:nvPr>
        </p:nvSpPr>
        <p:spPr>
          <a:xfrm>
            <a:off x="4400233" y="6367630"/>
            <a:ext cx="3691931" cy="365125"/>
          </a:xfrm>
          <a:prstGeom prst="rect">
            <a:avLst/>
          </a:prstGeom>
        </p:spPr>
        <p:txBody>
          <a:bodyPr/>
          <a:lstStyle/>
          <a:p>
            <a:endParaRPr lang="en-US"/>
          </a:p>
        </p:txBody>
      </p:sp>
      <p:sp>
        <p:nvSpPr>
          <p:cNvPr id="4" name="Slide Number Placeholder 6"/>
          <p:cNvSpPr>
            <a:spLocks noGrp="1"/>
          </p:cNvSpPr>
          <p:nvPr>
            <p:ph type="sldNum" sz="quarter" idx="12"/>
          </p:nvPr>
        </p:nvSpPr>
        <p:spPr>
          <a:xfrm>
            <a:off x="621453" y="6390919"/>
            <a:ext cx="320040" cy="320040"/>
          </a:xfrm>
        </p:spPr>
        <p:txBody>
          <a:bodyPr/>
          <a:lstStyle/>
          <a:p>
            <a:fld id="{0BE4EC83-A869-464E-AE9F-881796FB085E}" type="slidenum">
              <a:rPr lang="en-US" smtClean="0"/>
              <a:t>‹#›</a:t>
            </a:fld>
            <a:endParaRPr lang="en-US" dirty="0"/>
          </a:p>
        </p:txBody>
      </p:sp>
    </p:spTree>
    <p:extLst>
      <p:ext uri="{BB962C8B-B14F-4D97-AF65-F5344CB8AC3E}">
        <p14:creationId xmlns:p14="http://schemas.microsoft.com/office/powerpoint/2010/main" val="1625292832"/>
      </p:ext>
    </p:extLst>
  </p:cSld>
  <p:clrMapOvr>
    <a:masterClrMapping/>
  </p:clrMapOvr>
  <mc:AlternateContent xmlns:mc="http://schemas.openxmlformats.org/markup-compatibility/2006" xmlns:p14="http://schemas.microsoft.com/office/powerpoint/2010/main">
    <mc:Choice Requires="p14">
      <p:transition spd="slow" p14:dur="1300">
        <p14:pan dir="r"/>
      </p:transition>
    </mc:Choice>
    <mc:Fallback xmlns="">
      <p:transition spd="slow">
        <p:fade/>
      </p:transition>
    </mc:Fallback>
  </mc:AlternateContent>
  <p:hf hdr="0" ftr="0" dt="0"/>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preserve="1" userDrawn="1">
  <p:cSld name="Blank Absolute">
    <p:spTree>
      <p:nvGrpSpPr>
        <p:cNvPr id="1" name=""/>
        <p:cNvGrpSpPr/>
        <p:nvPr/>
      </p:nvGrpSpPr>
      <p:grpSpPr>
        <a:xfrm>
          <a:off x="0" y="0"/>
          <a:ext cx="0" cy="0"/>
          <a:chOff x="0" y="0"/>
          <a:chExt cx="0" cy="0"/>
        </a:xfrm>
      </p:grpSpPr>
    </p:spTree>
    <p:extLst>
      <p:ext uri="{BB962C8B-B14F-4D97-AF65-F5344CB8AC3E}">
        <p14:creationId xmlns:p14="http://schemas.microsoft.com/office/powerpoint/2010/main" val="835958627"/>
      </p:ext>
    </p:extLst>
  </p:cSld>
  <p:clrMapOvr>
    <a:masterClrMapping/>
  </p:clrMapOvr>
  <mc:AlternateContent xmlns:mc="http://schemas.openxmlformats.org/markup-compatibility/2006" xmlns:p14="http://schemas.microsoft.com/office/powerpoint/2010/main">
    <mc:Choice Requires="p14">
      <p:transition spd="slow" p14:dur="1300">
        <p14:pan dir="r"/>
      </p:transition>
    </mc:Choice>
    <mc:Fallback xmlns="">
      <p:transition spd="slow">
        <p:fade/>
      </p:transition>
    </mc:Fallback>
  </mc:AlternateContent>
  <p:hf sldNum="0" hdr="0" ftr="0" dt="0"/>
</p:sldLayout>
</file>

<file path=ppt/slideLayouts/slideLayout2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7428796" y="979084"/>
            <a:ext cx="3932237" cy="1078316"/>
          </a:xfrm>
        </p:spPr>
        <p:txBody>
          <a:bodyPr anchor="b"/>
          <a:lstStyle>
            <a:lvl1pPr algn="r">
              <a:defRPr sz="3200"/>
            </a:lvl1pPr>
          </a:lstStyle>
          <a:p>
            <a:r>
              <a:rPr lang="ar-EG" dirty="0"/>
              <a:t>اضغط لتغيير العنوان</a:t>
            </a:r>
            <a:endParaRPr lang="en-US" dirty="0"/>
          </a:p>
        </p:txBody>
      </p:sp>
      <p:sp>
        <p:nvSpPr>
          <p:cNvPr id="3" name="Content Placeholder 2"/>
          <p:cNvSpPr>
            <a:spLocks noGrp="1"/>
          </p:cNvSpPr>
          <p:nvPr>
            <p:ph idx="1" hasCustomPrompt="1"/>
          </p:nvPr>
        </p:nvSpPr>
        <p:spPr>
          <a:xfrm>
            <a:off x="838200"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ar-EG" dirty="0"/>
              <a:t>تعديل النص</a:t>
            </a:r>
            <a:endParaRPr lang="en-US" dirty="0"/>
          </a:p>
          <a:p>
            <a:pPr lvl="1"/>
            <a:r>
              <a:rPr lang="ar-EG" dirty="0"/>
              <a:t>المستوى الثاني</a:t>
            </a:r>
            <a:endParaRPr lang="en-US" dirty="0"/>
          </a:p>
          <a:p>
            <a:pPr lvl="2"/>
            <a:r>
              <a:rPr lang="ar-EG" dirty="0"/>
              <a:t>المستوى الثالث</a:t>
            </a:r>
            <a:endParaRPr lang="en-US" dirty="0"/>
          </a:p>
          <a:p>
            <a:pPr lvl="3"/>
            <a:r>
              <a:rPr lang="ar-EG" dirty="0"/>
              <a:t>المستوى الرابع</a:t>
            </a:r>
            <a:endParaRPr lang="en-US" dirty="0"/>
          </a:p>
          <a:p>
            <a:pPr lvl="4"/>
            <a:r>
              <a:rPr lang="ar-EG" dirty="0"/>
              <a:t>المستوى الخامس</a:t>
            </a:r>
            <a:endParaRPr lang="en-US" dirty="0"/>
          </a:p>
        </p:txBody>
      </p:sp>
      <p:sp>
        <p:nvSpPr>
          <p:cNvPr id="4" name="Text Placeholder 3"/>
          <p:cNvSpPr>
            <a:spLocks noGrp="1"/>
          </p:cNvSpPr>
          <p:nvPr>
            <p:ph type="body" sz="half" idx="2" hasCustomPrompt="1"/>
          </p:nvPr>
        </p:nvSpPr>
        <p:spPr>
          <a:xfrm>
            <a:off x="7428796"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ar-EG" dirty="0"/>
              <a:t>تعديل النص</a:t>
            </a:r>
            <a:endParaRPr lang="en-US" dirty="0"/>
          </a:p>
        </p:txBody>
      </p:sp>
      <p:sp>
        <p:nvSpPr>
          <p:cNvPr id="5" name="Date Placeholder 4"/>
          <p:cNvSpPr>
            <a:spLocks noGrp="1"/>
          </p:cNvSpPr>
          <p:nvPr>
            <p:ph type="dt" sz="half" idx="10"/>
          </p:nvPr>
        </p:nvSpPr>
        <p:spPr>
          <a:xfrm>
            <a:off x="1126155" y="6372408"/>
            <a:ext cx="1875631" cy="365125"/>
          </a:xfrm>
          <a:prstGeom prst="rect">
            <a:avLst/>
          </a:prstGeom>
        </p:spPr>
        <p:txBody>
          <a:bodyPr/>
          <a:lstStyle/>
          <a:p>
            <a:fld id="{DD6CC213-28D1-4DA6-A99B-8EB8EB359378}" type="datetime1">
              <a:rPr lang="en-US" smtClean="0"/>
              <a:t>5/14/2025</a:t>
            </a:fld>
            <a:endParaRPr lang="en-US"/>
          </a:p>
        </p:txBody>
      </p:sp>
      <p:sp>
        <p:nvSpPr>
          <p:cNvPr id="6" name="Footer Placeholder 5"/>
          <p:cNvSpPr>
            <a:spLocks noGrp="1"/>
          </p:cNvSpPr>
          <p:nvPr>
            <p:ph type="ftr" sz="quarter" idx="11"/>
          </p:nvPr>
        </p:nvSpPr>
        <p:spPr>
          <a:xfrm>
            <a:off x="4400233" y="6367630"/>
            <a:ext cx="3691931" cy="365125"/>
          </a:xfrm>
          <a:prstGeom prst="rect">
            <a:avLst/>
          </a:prstGeom>
        </p:spPr>
        <p:txBody>
          <a:bodyPr/>
          <a:lstStyle/>
          <a:p>
            <a:endParaRPr lang="en-US"/>
          </a:p>
        </p:txBody>
      </p:sp>
      <p:sp>
        <p:nvSpPr>
          <p:cNvPr id="7" name="Slide Number Placeholder 6"/>
          <p:cNvSpPr>
            <a:spLocks noGrp="1"/>
          </p:cNvSpPr>
          <p:nvPr>
            <p:ph type="sldNum" sz="quarter" idx="12"/>
          </p:nvPr>
        </p:nvSpPr>
        <p:spPr/>
        <p:txBody>
          <a:bodyPr/>
          <a:lstStyle/>
          <a:p>
            <a:fld id="{0BE4EC83-A869-464E-AE9F-881796FB085E}" type="slidenum">
              <a:rPr lang="en-US" smtClean="0"/>
              <a:t>‹#›</a:t>
            </a:fld>
            <a:endParaRPr lang="en-US"/>
          </a:p>
        </p:txBody>
      </p:sp>
    </p:spTree>
    <p:extLst>
      <p:ext uri="{BB962C8B-B14F-4D97-AF65-F5344CB8AC3E}">
        <p14:creationId xmlns:p14="http://schemas.microsoft.com/office/powerpoint/2010/main" val="3967040814"/>
      </p:ext>
    </p:extLst>
  </p:cSld>
  <p:clrMapOvr>
    <a:masterClrMapping/>
  </p:clrMapOvr>
  <mc:AlternateContent xmlns:mc="http://schemas.openxmlformats.org/markup-compatibility/2006" xmlns:p14="http://schemas.microsoft.com/office/powerpoint/2010/main">
    <mc:Choice Requires="p14">
      <p:transition spd="slow" p14:dur="1300">
        <p14:pan dir="r"/>
      </p:transition>
    </mc:Choice>
    <mc:Fallback xmlns="">
      <p:transition spd="slow">
        <p:fade/>
      </p:transition>
    </mc:Fallback>
  </mc:AlternateContent>
</p:sldLayout>
</file>

<file path=ppt/slideLayouts/slideLayout2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7428852" y="1002415"/>
            <a:ext cx="3932237" cy="1010014"/>
          </a:xfrm>
        </p:spPr>
        <p:txBody>
          <a:bodyPr anchor="b" anchorCtr="0"/>
          <a:lstStyle>
            <a:lvl1pPr algn="r">
              <a:defRPr sz="3200"/>
            </a:lvl1pPr>
          </a:lstStyle>
          <a:p>
            <a:r>
              <a:rPr lang="ar-EG" dirty="0"/>
              <a:t>اضغط لتغيير العنوان</a:t>
            </a:r>
            <a:endParaRPr lang="en-US" dirty="0"/>
          </a:p>
        </p:txBody>
      </p:sp>
      <p:sp>
        <p:nvSpPr>
          <p:cNvPr id="3" name="Picture Placeholder 2"/>
          <p:cNvSpPr>
            <a:spLocks noGrp="1"/>
          </p:cNvSpPr>
          <p:nvPr>
            <p:ph type="pic" idx="1" hasCustomPrompt="1"/>
          </p:nvPr>
        </p:nvSpPr>
        <p:spPr>
          <a:xfrm>
            <a:off x="851806"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ar-EG" dirty="0"/>
              <a:t>اضغط على الأيقونة لإضافة صورة</a:t>
            </a:r>
            <a:endParaRPr lang="en-US" dirty="0"/>
          </a:p>
        </p:txBody>
      </p:sp>
      <p:sp>
        <p:nvSpPr>
          <p:cNvPr id="4" name="Text Placeholder 3"/>
          <p:cNvSpPr>
            <a:spLocks noGrp="1"/>
          </p:cNvSpPr>
          <p:nvPr>
            <p:ph type="body" sz="half" idx="2" hasCustomPrompt="1"/>
          </p:nvPr>
        </p:nvSpPr>
        <p:spPr>
          <a:xfrm>
            <a:off x="7428852" y="2057400"/>
            <a:ext cx="391724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ar-EG" dirty="0"/>
              <a:t>تعديل النص</a:t>
            </a:r>
            <a:endParaRPr lang="en-US" dirty="0"/>
          </a:p>
        </p:txBody>
      </p:sp>
      <p:sp>
        <p:nvSpPr>
          <p:cNvPr id="5" name="Date Placeholder 4"/>
          <p:cNvSpPr>
            <a:spLocks noGrp="1"/>
          </p:cNvSpPr>
          <p:nvPr>
            <p:ph type="dt" sz="half" idx="10"/>
          </p:nvPr>
        </p:nvSpPr>
        <p:spPr>
          <a:xfrm>
            <a:off x="1126155" y="6372408"/>
            <a:ext cx="1875631" cy="365125"/>
          </a:xfrm>
          <a:prstGeom prst="rect">
            <a:avLst/>
          </a:prstGeom>
        </p:spPr>
        <p:txBody>
          <a:bodyPr/>
          <a:lstStyle/>
          <a:p>
            <a:fld id="{DF371FAE-8BEF-45E3-BB4F-0DA630E7BA88}" type="datetime1">
              <a:rPr lang="en-US" smtClean="0"/>
              <a:t>5/14/2025</a:t>
            </a:fld>
            <a:endParaRPr lang="en-US"/>
          </a:p>
        </p:txBody>
      </p:sp>
      <p:sp>
        <p:nvSpPr>
          <p:cNvPr id="6" name="Footer Placeholder 5"/>
          <p:cNvSpPr>
            <a:spLocks noGrp="1"/>
          </p:cNvSpPr>
          <p:nvPr>
            <p:ph type="ftr" sz="quarter" idx="11"/>
          </p:nvPr>
        </p:nvSpPr>
        <p:spPr>
          <a:xfrm>
            <a:off x="4400233" y="6367630"/>
            <a:ext cx="3691931" cy="365125"/>
          </a:xfrm>
          <a:prstGeom prst="rect">
            <a:avLst/>
          </a:prstGeom>
        </p:spPr>
        <p:txBody>
          <a:bodyPr/>
          <a:lstStyle/>
          <a:p>
            <a:endParaRPr lang="en-US"/>
          </a:p>
        </p:txBody>
      </p:sp>
      <p:sp>
        <p:nvSpPr>
          <p:cNvPr id="7" name="Slide Number Placeholder 6"/>
          <p:cNvSpPr>
            <a:spLocks noGrp="1"/>
          </p:cNvSpPr>
          <p:nvPr>
            <p:ph type="sldNum" sz="quarter" idx="12"/>
          </p:nvPr>
        </p:nvSpPr>
        <p:spPr/>
        <p:txBody>
          <a:bodyPr/>
          <a:lstStyle/>
          <a:p>
            <a:fld id="{0BE4EC83-A869-464E-AE9F-881796FB085E}" type="slidenum">
              <a:rPr lang="en-US" smtClean="0"/>
              <a:t>‹#›</a:t>
            </a:fld>
            <a:endParaRPr lang="en-US" dirty="0"/>
          </a:p>
        </p:txBody>
      </p:sp>
    </p:spTree>
    <p:extLst>
      <p:ext uri="{BB962C8B-B14F-4D97-AF65-F5344CB8AC3E}">
        <p14:creationId xmlns:p14="http://schemas.microsoft.com/office/powerpoint/2010/main" val="2860816287"/>
      </p:ext>
    </p:extLst>
  </p:cSld>
  <p:clrMapOvr>
    <a:masterClrMapping/>
  </p:clrMapOvr>
  <mc:AlternateContent xmlns:mc="http://schemas.openxmlformats.org/markup-compatibility/2006" xmlns:p14="http://schemas.microsoft.com/office/powerpoint/2010/main">
    <mc:Choice Requires="p14">
      <p:transition spd="slow" p14:dur="1300">
        <p14:pan dir="r"/>
      </p:transition>
    </mc:Choice>
    <mc:Fallback xmlns="">
      <p:transition spd="slow">
        <p:fade/>
      </p:transition>
    </mc:Fallback>
  </mc:AlternateContent>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preserve="1" userDrawn="1">
  <p:cSld name="Thank You">
    <p:bg>
      <p:bgPr>
        <a:solidFill>
          <a:schemeClr val="bg1"/>
        </a:solidFill>
        <a:effectLst/>
      </p:bgPr>
    </p:bg>
    <p:spTree>
      <p:nvGrpSpPr>
        <p:cNvPr id="1" name=""/>
        <p:cNvGrpSpPr/>
        <p:nvPr/>
      </p:nvGrpSpPr>
      <p:grpSpPr>
        <a:xfrm>
          <a:off x="0" y="0"/>
          <a:ext cx="0" cy="0"/>
          <a:chOff x="0" y="0"/>
          <a:chExt cx="0" cy="0"/>
        </a:xfrm>
      </p:grpSpPr>
      <p:pic>
        <p:nvPicPr>
          <p:cNvPr id="17" name="Picture 16" descr="A blue square with white and blue text&#10;&#10;Description automatically generated">
            <a:extLst>
              <a:ext uri="{FF2B5EF4-FFF2-40B4-BE49-F238E27FC236}">
                <a16:creationId xmlns:a16="http://schemas.microsoft.com/office/drawing/2014/main" id="{06F6661A-8164-8ED8-2B47-BE9067356509}"/>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Tree>
    <p:extLst>
      <p:ext uri="{BB962C8B-B14F-4D97-AF65-F5344CB8AC3E}">
        <p14:creationId xmlns:p14="http://schemas.microsoft.com/office/powerpoint/2010/main" val="853561606"/>
      </p:ext>
    </p:extLst>
  </p:cSld>
  <p:clrMapOvr>
    <a:masterClrMapping/>
  </p:clrMapOvr>
  <mc:AlternateContent xmlns:mc="http://schemas.openxmlformats.org/markup-compatibility/2006" xmlns:p14="http://schemas.microsoft.com/office/powerpoint/2010/main">
    <mc:Choice Requires="p14">
      <p:transition spd="slow" p14:dur="1300">
        <p14:pan dir="u"/>
      </p:transition>
    </mc:Choice>
    <mc:Fallback xmlns="">
      <p:transition spd="slow">
        <p:fade/>
      </p:transition>
    </mc:Fallback>
  </mc:AlternateContent>
  <p:hf sldNum="0" hdr="0" ftr="0" dt="0"/>
  <p:extLst>
    <p:ext uri="{DCECCB84-F9BA-43D5-87BE-67443E8EF086}">
      <p15:sldGuideLst xmlns:p15="http://schemas.microsoft.com/office/powerpoint/2012/main">
        <p15:guide id="1" pos="5568">
          <p15:clr>
            <a:srgbClr val="FBAE40"/>
          </p15:clr>
        </p15:guide>
        <p15:guide id="2" pos="2112">
          <p15:clr>
            <a:srgbClr val="FBAE40"/>
          </p15:clr>
        </p15:guide>
        <p15:guide id="3" orient="horz" pos="1992" userDrawn="1">
          <p15:clr>
            <a:srgbClr val="FBAE40"/>
          </p15:clr>
        </p15:guide>
        <p15:guide id="4" orient="horz" pos="2280" userDrawn="1">
          <p15:clr>
            <a:srgbClr val="FBAE4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showMasterPhAnim="0" userDrawn="1">
  <p:cSld name="Agenda">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p>
            <a:fld id="{F5F7D61A-6C44-4E8C-A1C7-F1EFB617438C}" type="datetime1">
              <a:rPr lang="en-US" smtClean="0"/>
              <a:t>5/14/2025</a:t>
            </a:fld>
            <a:endParaRPr lang="en-US" dirty="0"/>
          </a:p>
        </p:txBody>
      </p:sp>
      <p:sp>
        <p:nvSpPr>
          <p:cNvPr id="5" name="Slide Number Placeholder 4"/>
          <p:cNvSpPr>
            <a:spLocks noGrp="1"/>
          </p:cNvSpPr>
          <p:nvPr>
            <p:ph type="sldNum" sz="quarter" idx="12"/>
          </p:nvPr>
        </p:nvSpPr>
        <p:spPr>
          <a:noFill/>
        </p:spPr>
        <p:txBody>
          <a:bodyPr/>
          <a:lstStyle>
            <a:lvl1pPr>
              <a:defRPr b="1">
                <a:solidFill>
                  <a:schemeClr val="accent1"/>
                </a:solidFill>
              </a:defRPr>
            </a:lvl1pPr>
          </a:lstStyle>
          <a:p>
            <a:fld id="{DDD5CA0A-B06D-4E82-8302-7CFD4E968F74}" type="slidenum">
              <a:rPr lang="en-US" smtClean="0"/>
              <a:pPr/>
              <a:t>‹#›</a:t>
            </a:fld>
            <a:endParaRPr lang="en-US" dirty="0"/>
          </a:p>
        </p:txBody>
      </p:sp>
      <p:sp>
        <p:nvSpPr>
          <p:cNvPr id="6" name="Rectangle 5"/>
          <p:cNvSpPr/>
          <p:nvPr userDrawn="1"/>
        </p:nvSpPr>
        <p:spPr>
          <a:xfrm>
            <a:off x="8153400" y="1352939"/>
            <a:ext cx="4038600" cy="5505061"/>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Rectangle 6"/>
          <p:cNvSpPr/>
          <p:nvPr userDrawn="1"/>
        </p:nvSpPr>
        <p:spPr>
          <a:xfrm>
            <a:off x="8153400" y="-373"/>
            <a:ext cx="4038600" cy="621792"/>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8" name="Text Placeholder 27"/>
          <p:cNvSpPr>
            <a:spLocks noGrp="1"/>
          </p:cNvSpPr>
          <p:nvPr>
            <p:ph type="body" sz="quarter" idx="13"/>
          </p:nvPr>
        </p:nvSpPr>
        <p:spPr>
          <a:xfrm>
            <a:off x="3196257" y="1604963"/>
            <a:ext cx="4748213" cy="354012"/>
          </a:xfrm>
        </p:spPr>
        <p:txBody>
          <a:bodyPr anchor="ctr" anchorCtr="0">
            <a:normAutofit/>
          </a:bodyPr>
          <a:lstStyle>
            <a:lvl1pPr marL="0" indent="0" algn="r" rtl="1">
              <a:buNone/>
              <a:defRPr sz="1600">
                <a:solidFill>
                  <a:schemeClr val="accent1"/>
                </a:solidFill>
              </a:defRPr>
            </a:lvl1pPr>
          </a:lstStyle>
          <a:p>
            <a:pPr lvl="0"/>
            <a:r>
              <a:rPr lang="en-US" dirty="0"/>
              <a:t>Edit Master text styles</a:t>
            </a:r>
          </a:p>
        </p:txBody>
      </p:sp>
      <p:sp>
        <p:nvSpPr>
          <p:cNvPr id="63" name="Text Placeholder 27"/>
          <p:cNvSpPr>
            <a:spLocks noGrp="1"/>
          </p:cNvSpPr>
          <p:nvPr>
            <p:ph type="body" sz="quarter" idx="14"/>
          </p:nvPr>
        </p:nvSpPr>
        <p:spPr>
          <a:xfrm>
            <a:off x="3196257" y="2010050"/>
            <a:ext cx="4748213" cy="354012"/>
          </a:xfrm>
        </p:spPr>
        <p:txBody>
          <a:bodyPr anchor="ctr" anchorCtr="0">
            <a:normAutofit/>
          </a:bodyPr>
          <a:lstStyle>
            <a:lvl1pPr marL="0" indent="0" algn="r" rtl="1">
              <a:buNone/>
              <a:defRPr sz="1600">
                <a:solidFill>
                  <a:schemeClr val="accent1"/>
                </a:solidFill>
              </a:defRPr>
            </a:lvl1pPr>
          </a:lstStyle>
          <a:p>
            <a:pPr lvl="0"/>
            <a:r>
              <a:rPr lang="en-US"/>
              <a:t>Edit Master text styles</a:t>
            </a:r>
          </a:p>
        </p:txBody>
      </p:sp>
      <p:sp>
        <p:nvSpPr>
          <p:cNvPr id="66" name="Text Placeholder 27"/>
          <p:cNvSpPr>
            <a:spLocks noGrp="1"/>
          </p:cNvSpPr>
          <p:nvPr>
            <p:ph type="body" sz="quarter" idx="15"/>
          </p:nvPr>
        </p:nvSpPr>
        <p:spPr>
          <a:xfrm>
            <a:off x="3196257" y="2415137"/>
            <a:ext cx="4748213" cy="354012"/>
          </a:xfrm>
        </p:spPr>
        <p:txBody>
          <a:bodyPr anchor="ctr" anchorCtr="0">
            <a:normAutofit/>
          </a:bodyPr>
          <a:lstStyle>
            <a:lvl1pPr marL="0" indent="0" algn="r" rtl="1">
              <a:buNone/>
              <a:defRPr sz="1600">
                <a:solidFill>
                  <a:schemeClr val="accent1"/>
                </a:solidFill>
              </a:defRPr>
            </a:lvl1pPr>
          </a:lstStyle>
          <a:p>
            <a:pPr lvl="0"/>
            <a:r>
              <a:rPr lang="en-US"/>
              <a:t>Edit Master text styles</a:t>
            </a:r>
          </a:p>
        </p:txBody>
      </p:sp>
      <p:sp>
        <p:nvSpPr>
          <p:cNvPr id="69" name="Text Placeholder 27"/>
          <p:cNvSpPr>
            <a:spLocks noGrp="1"/>
          </p:cNvSpPr>
          <p:nvPr>
            <p:ph type="body" sz="quarter" idx="16"/>
          </p:nvPr>
        </p:nvSpPr>
        <p:spPr>
          <a:xfrm>
            <a:off x="3196257" y="2820224"/>
            <a:ext cx="4748213" cy="354012"/>
          </a:xfrm>
        </p:spPr>
        <p:txBody>
          <a:bodyPr anchor="ctr" anchorCtr="0">
            <a:normAutofit/>
          </a:bodyPr>
          <a:lstStyle>
            <a:lvl1pPr marL="0" indent="0" algn="r" rtl="1">
              <a:buNone/>
              <a:defRPr sz="1600">
                <a:solidFill>
                  <a:schemeClr val="accent1"/>
                </a:solidFill>
              </a:defRPr>
            </a:lvl1pPr>
          </a:lstStyle>
          <a:p>
            <a:pPr lvl="0"/>
            <a:r>
              <a:rPr lang="en-US"/>
              <a:t>Edit Master text styles</a:t>
            </a:r>
          </a:p>
        </p:txBody>
      </p:sp>
      <p:sp>
        <p:nvSpPr>
          <p:cNvPr id="72" name="Text Placeholder 27"/>
          <p:cNvSpPr>
            <a:spLocks noGrp="1"/>
          </p:cNvSpPr>
          <p:nvPr>
            <p:ph type="body" sz="quarter" idx="17"/>
          </p:nvPr>
        </p:nvSpPr>
        <p:spPr>
          <a:xfrm>
            <a:off x="3196257" y="3225311"/>
            <a:ext cx="4748213" cy="354012"/>
          </a:xfrm>
        </p:spPr>
        <p:txBody>
          <a:bodyPr anchor="ctr" anchorCtr="0">
            <a:normAutofit/>
          </a:bodyPr>
          <a:lstStyle>
            <a:lvl1pPr marL="0" indent="0" algn="r" rtl="1">
              <a:buNone/>
              <a:defRPr sz="1600">
                <a:solidFill>
                  <a:schemeClr val="accent1"/>
                </a:solidFill>
              </a:defRPr>
            </a:lvl1pPr>
          </a:lstStyle>
          <a:p>
            <a:pPr lvl="0"/>
            <a:r>
              <a:rPr lang="en-US"/>
              <a:t>Edit Master text styles</a:t>
            </a:r>
          </a:p>
        </p:txBody>
      </p:sp>
      <p:sp>
        <p:nvSpPr>
          <p:cNvPr id="75" name="Text Placeholder 27"/>
          <p:cNvSpPr>
            <a:spLocks noGrp="1"/>
          </p:cNvSpPr>
          <p:nvPr>
            <p:ph type="body" sz="quarter" idx="18"/>
          </p:nvPr>
        </p:nvSpPr>
        <p:spPr>
          <a:xfrm>
            <a:off x="3196257" y="3630398"/>
            <a:ext cx="4748213" cy="354012"/>
          </a:xfrm>
        </p:spPr>
        <p:txBody>
          <a:bodyPr anchor="ctr" anchorCtr="0">
            <a:normAutofit/>
          </a:bodyPr>
          <a:lstStyle>
            <a:lvl1pPr marL="0" indent="0" algn="r" rtl="1">
              <a:buNone/>
              <a:defRPr sz="1600">
                <a:solidFill>
                  <a:schemeClr val="accent1"/>
                </a:solidFill>
              </a:defRPr>
            </a:lvl1pPr>
          </a:lstStyle>
          <a:p>
            <a:pPr lvl="0"/>
            <a:r>
              <a:rPr lang="en-US"/>
              <a:t>Edit Master text styles</a:t>
            </a:r>
          </a:p>
        </p:txBody>
      </p:sp>
      <p:sp>
        <p:nvSpPr>
          <p:cNvPr id="78" name="Text Placeholder 27"/>
          <p:cNvSpPr>
            <a:spLocks noGrp="1"/>
          </p:cNvSpPr>
          <p:nvPr>
            <p:ph type="body" sz="quarter" idx="19"/>
          </p:nvPr>
        </p:nvSpPr>
        <p:spPr>
          <a:xfrm>
            <a:off x="3196257" y="4035485"/>
            <a:ext cx="4748213" cy="354012"/>
          </a:xfrm>
        </p:spPr>
        <p:txBody>
          <a:bodyPr anchor="ctr" anchorCtr="0">
            <a:normAutofit/>
          </a:bodyPr>
          <a:lstStyle>
            <a:lvl1pPr marL="0" indent="0" algn="r" rtl="1">
              <a:buNone/>
              <a:defRPr sz="1600">
                <a:solidFill>
                  <a:schemeClr val="accent1"/>
                </a:solidFill>
              </a:defRPr>
            </a:lvl1pPr>
          </a:lstStyle>
          <a:p>
            <a:pPr lvl="0"/>
            <a:r>
              <a:rPr lang="en-US"/>
              <a:t>Edit Master text styles</a:t>
            </a:r>
          </a:p>
        </p:txBody>
      </p:sp>
      <p:sp>
        <p:nvSpPr>
          <p:cNvPr id="81" name="Text Placeholder 27"/>
          <p:cNvSpPr>
            <a:spLocks noGrp="1"/>
          </p:cNvSpPr>
          <p:nvPr>
            <p:ph type="body" sz="quarter" idx="20"/>
          </p:nvPr>
        </p:nvSpPr>
        <p:spPr>
          <a:xfrm>
            <a:off x="3196257" y="4440572"/>
            <a:ext cx="4748213" cy="354012"/>
          </a:xfrm>
        </p:spPr>
        <p:txBody>
          <a:bodyPr anchor="ctr" anchorCtr="0">
            <a:normAutofit/>
          </a:bodyPr>
          <a:lstStyle>
            <a:lvl1pPr marL="0" indent="0" algn="r" rtl="1">
              <a:buNone/>
              <a:defRPr sz="1600">
                <a:solidFill>
                  <a:schemeClr val="accent1"/>
                </a:solidFill>
              </a:defRPr>
            </a:lvl1pPr>
          </a:lstStyle>
          <a:p>
            <a:pPr lvl="0"/>
            <a:r>
              <a:rPr lang="en-US"/>
              <a:t>Edit Master text styles</a:t>
            </a:r>
          </a:p>
        </p:txBody>
      </p:sp>
      <p:sp>
        <p:nvSpPr>
          <p:cNvPr id="84" name="Text Placeholder 27"/>
          <p:cNvSpPr>
            <a:spLocks noGrp="1"/>
          </p:cNvSpPr>
          <p:nvPr>
            <p:ph type="body" sz="quarter" idx="21"/>
          </p:nvPr>
        </p:nvSpPr>
        <p:spPr>
          <a:xfrm>
            <a:off x="3196257" y="4845659"/>
            <a:ext cx="4748213" cy="354012"/>
          </a:xfrm>
        </p:spPr>
        <p:txBody>
          <a:bodyPr anchor="ctr" anchorCtr="0">
            <a:normAutofit/>
          </a:bodyPr>
          <a:lstStyle>
            <a:lvl1pPr marL="0" indent="0" algn="r" rtl="1">
              <a:buNone/>
              <a:defRPr sz="1600">
                <a:solidFill>
                  <a:schemeClr val="accent1"/>
                </a:solidFill>
              </a:defRPr>
            </a:lvl1pPr>
          </a:lstStyle>
          <a:p>
            <a:pPr lvl="0"/>
            <a:r>
              <a:rPr lang="en-US"/>
              <a:t>Edit Master text styles</a:t>
            </a:r>
          </a:p>
        </p:txBody>
      </p:sp>
      <p:sp>
        <p:nvSpPr>
          <p:cNvPr id="87" name="Text Placeholder 27"/>
          <p:cNvSpPr>
            <a:spLocks noGrp="1"/>
          </p:cNvSpPr>
          <p:nvPr>
            <p:ph type="body" sz="quarter" idx="22"/>
          </p:nvPr>
        </p:nvSpPr>
        <p:spPr>
          <a:xfrm>
            <a:off x="3196257" y="5250746"/>
            <a:ext cx="4748213" cy="354012"/>
          </a:xfrm>
        </p:spPr>
        <p:txBody>
          <a:bodyPr anchor="ctr" anchorCtr="0">
            <a:normAutofit/>
          </a:bodyPr>
          <a:lstStyle>
            <a:lvl1pPr marL="0" indent="0" algn="r" rtl="1">
              <a:buNone/>
              <a:defRPr sz="1600">
                <a:solidFill>
                  <a:schemeClr val="accent1"/>
                </a:solidFill>
              </a:defRPr>
            </a:lvl1pPr>
          </a:lstStyle>
          <a:p>
            <a:pPr lvl="0"/>
            <a:r>
              <a:rPr lang="en-US"/>
              <a:t>Edit Master text styles</a:t>
            </a:r>
          </a:p>
        </p:txBody>
      </p:sp>
      <p:sp>
        <p:nvSpPr>
          <p:cNvPr id="90" name="Text Placeholder 27"/>
          <p:cNvSpPr>
            <a:spLocks noGrp="1"/>
          </p:cNvSpPr>
          <p:nvPr>
            <p:ph type="body" sz="quarter" idx="23"/>
          </p:nvPr>
        </p:nvSpPr>
        <p:spPr>
          <a:xfrm>
            <a:off x="3196257" y="5655833"/>
            <a:ext cx="4748213" cy="354012"/>
          </a:xfrm>
        </p:spPr>
        <p:txBody>
          <a:bodyPr anchor="ctr" anchorCtr="0">
            <a:normAutofit/>
          </a:bodyPr>
          <a:lstStyle>
            <a:lvl1pPr marL="0" indent="0" algn="r" rtl="1">
              <a:buNone/>
              <a:defRPr sz="1600">
                <a:solidFill>
                  <a:schemeClr val="accent1"/>
                </a:solidFill>
              </a:defRPr>
            </a:lvl1pPr>
          </a:lstStyle>
          <a:p>
            <a:pPr lvl="0"/>
            <a:r>
              <a:rPr lang="en-US"/>
              <a:t>Edit Master text styles</a:t>
            </a:r>
          </a:p>
        </p:txBody>
      </p:sp>
      <p:sp>
        <p:nvSpPr>
          <p:cNvPr id="93" name="Text Placeholder 27"/>
          <p:cNvSpPr>
            <a:spLocks noGrp="1"/>
          </p:cNvSpPr>
          <p:nvPr>
            <p:ph type="body" sz="quarter" idx="24"/>
          </p:nvPr>
        </p:nvSpPr>
        <p:spPr>
          <a:xfrm>
            <a:off x="3196257" y="6060918"/>
            <a:ext cx="4748213" cy="354012"/>
          </a:xfrm>
        </p:spPr>
        <p:txBody>
          <a:bodyPr anchor="ctr" anchorCtr="0">
            <a:normAutofit/>
          </a:bodyPr>
          <a:lstStyle>
            <a:lvl1pPr marL="0" indent="0" algn="r" rtl="1">
              <a:buNone/>
              <a:defRPr sz="1600">
                <a:solidFill>
                  <a:schemeClr val="accent1"/>
                </a:solidFill>
              </a:defRPr>
            </a:lvl1pPr>
          </a:lstStyle>
          <a:p>
            <a:pPr lvl="0"/>
            <a:r>
              <a:rPr lang="en-US"/>
              <a:t>Edit Master text styles</a:t>
            </a:r>
          </a:p>
        </p:txBody>
      </p:sp>
      <p:sp>
        <p:nvSpPr>
          <p:cNvPr id="82" name="TextBox 81"/>
          <p:cNvSpPr txBox="1"/>
          <p:nvPr userDrawn="1"/>
        </p:nvSpPr>
        <p:spPr>
          <a:xfrm>
            <a:off x="2214857" y="2716272"/>
            <a:ext cx="1344317" cy="338554"/>
          </a:xfrm>
          <a:prstGeom prst="rect">
            <a:avLst/>
          </a:prstGeom>
          <a:noFill/>
        </p:spPr>
        <p:txBody>
          <a:bodyPr wrap="square" rtlCol="0" anchor="ctr">
            <a:spAutoFit/>
          </a:bodyPr>
          <a:lstStyle/>
          <a:p>
            <a:pPr algn="r" fontAlgn="base"/>
            <a:r>
              <a:rPr lang="en-US" sz="1600" b="1" dirty="0">
                <a:solidFill>
                  <a:schemeClr val="bg1"/>
                </a:solidFill>
                <a:latin typeface="+mj-lt"/>
                <a:ea typeface="Open Sans" panose="020B0606030504020204" pitchFamily="34" charset="0"/>
                <a:cs typeface="Open Sans" panose="020B0606030504020204" pitchFamily="34" charset="0"/>
              </a:rPr>
              <a:t>01</a:t>
            </a:r>
          </a:p>
        </p:txBody>
      </p:sp>
      <p:sp>
        <p:nvSpPr>
          <p:cNvPr id="22" name="Freeform 21">
            <a:extLst>
              <a:ext uri="{FF2B5EF4-FFF2-40B4-BE49-F238E27FC236}">
                <a16:creationId xmlns:a16="http://schemas.microsoft.com/office/drawing/2014/main" id="{983D11CA-EF87-0A2A-4B05-344E40272821}"/>
              </a:ext>
            </a:extLst>
          </p:cNvPr>
          <p:cNvSpPr/>
          <p:nvPr userDrawn="1"/>
        </p:nvSpPr>
        <p:spPr>
          <a:xfrm>
            <a:off x="8150352" y="621419"/>
            <a:ext cx="4041648" cy="731520"/>
          </a:xfrm>
          <a:custGeom>
            <a:avLst/>
            <a:gdLst>
              <a:gd name="connsiteX0" fmla="*/ 0 w 12223165"/>
              <a:gd name="connsiteY0" fmla="*/ 0 h 1027456"/>
              <a:gd name="connsiteX1" fmla="*/ 12223165 w 12223165"/>
              <a:gd name="connsiteY1" fmla="*/ 0 h 1027456"/>
              <a:gd name="connsiteX2" fmla="*/ 12223165 w 12223165"/>
              <a:gd name="connsiteY2" fmla="*/ 1027456 h 1027456"/>
              <a:gd name="connsiteX3" fmla="*/ 0 w 12223165"/>
              <a:gd name="connsiteY3" fmla="*/ 1027456 h 1027456"/>
            </a:gdLst>
            <a:ahLst/>
            <a:cxnLst>
              <a:cxn ang="0">
                <a:pos x="connsiteX0" y="connsiteY0"/>
              </a:cxn>
              <a:cxn ang="0">
                <a:pos x="connsiteX1" y="connsiteY1"/>
              </a:cxn>
              <a:cxn ang="0">
                <a:pos x="connsiteX2" y="connsiteY2"/>
              </a:cxn>
              <a:cxn ang="0">
                <a:pos x="connsiteX3" y="connsiteY3"/>
              </a:cxn>
            </a:cxnLst>
            <a:rect l="l" t="t" r="r" b="b"/>
            <a:pathLst>
              <a:path w="12223165" h="1027456">
                <a:moveTo>
                  <a:pt x="0" y="0"/>
                </a:moveTo>
                <a:lnTo>
                  <a:pt x="12223165" y="0"/>
                </a:lnTo>
                <a:lnTo>
                  <a:pt x="12223165" y="1027456"/>
                </a:lnTo>
                <a:lnTo>
                  <a:pt x="0" y="1027456"/>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l"/>
            <a:endParaRPr lang="en-US" dirty="0"/>
          </a:p>
        </p:txBody>
      </p:sp>
      <p:sp>
        <p:nvSpPr>
          <p:cNvPr id="2" name="Title 1"/>
          <p:cNvSpPr>
            <a:spLocks noGrp="1"/>
          </p:cNvSpPr>
          <p:nvPr>
            <p:ph type="title" hasCustomPrompt="1"/>
          </p:nvPr>
        </p:nvSpPr>
        <p:spPr>
          <a:xfrm>
            <a:off x="8410574" y="621420"/>
            <a:ext cx="3524252" cy="731519"/>
          </a:xfrm>
        </p:spPr>
        <p:txBody>
          <a:bodyPr anchor="ctr" anchorCtr="0"/>
          <a:lstStyle>
            <a:lvl1pPr algn="ctr">
              <a:defRPr>
                <a:solidFill>
                  <a:schemeClr val="accent1"/>
                </a:solidFill>
              </a:defRPr>
            </a:lvl1pPr>
          </a:lstStyle>
          <a:p>
            <a:r>
              <a:rPr lang="en-US" dirty="0"/>
              <a:t>Table of contents</a:t>
            </a:r>
          </a:p>
        </p:txBody>
      </p:sp>
    </p:spTree>
    <p:extLst>
      <p:ext uri="{BB962C8B-B14F-4D97-AF65-F5344CB8AC3E}">
        <p14:creationId xmlns:p14="http://schemas.microsoft.com/office/powerpoint/2010/main" val="2434384281"/>
      </p:ext>
    </p:extLst>
  </p:cSld>
  <p:clrMapOvr>
    <a:masterClrMapping/>
  </p:clrMapOvr>
  <mc:AlternateContent xmlns:mc="http://schemas.openxmlformats.org/markup-compatibility/2006" xmlns:p14="http://schemas.microsoft.com/office/powerpoint/2010/main">
    <mc:Choice Requires="p14">
      <p:transition spd="slow" p14:dur="1300">
        <p14:pan dir="r"/>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8">
                                            <p:txEl>
                                              <p:pRg st="0" end="0"/>
                                            </p:txEl>
                                          </p:spTgt>
                                        </p:tgtEl>
                                        <p:attrNameLst>
                                          <p:attrName>style.visibility</p:attrName>
                                        </p:attrNameLst>
                                      </p:cBhvr>
                                      <p:to>
                                        <p:strVal val="visible"/>
                                      </p:to>
                                    </p:set>
                                    <p:animEffect transition="in" filter="fade">
                                      <p:cBhvr>
                                        <p:cTn id="7" dur="500"/>
                                        <p:tgtEl>
                                          <p:spTgt spid="28">
                                            <p:txEl>
                                              <p:pRg st="0" end="0"/>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3">
                                            <p:txEl>
                                              <p:pRg st="0" end="0"/>
                                            </p:txEl>
                                          </p:spTgt>
                                        </p:tgtEl>
                                        <p:attrNameLst>
                                          <p:attrName>style.visibility</p:attrName>
                                        </p:attrNameLst>
                                      </p:cBhvr>
                                      <p:to>
                                        <p:strVal val="visible"/>
                                      </p:to>
                                    </p:set>
                                    <p:animEffect transition="in" filter="fade">
                                      <p:cBhvr>
                                        <p:cTn id="10" dur="500"/>
                                        <p:tgtEl>
                                          <p:spTgt spid="63">
                                            <p:txEl>
                                              <p:pRg st="0" end="0"/>
                                            </p:txEl>
                                          </p:spTgt>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66">
                                            <p:txEl>
                                              <p:pRg st="0" end="0"/>
                                            </p:txEl>
                                          </p:spTgt>
                                        </p:tgtEl>
                                        <p:attrNameLst>
                                          <p:attrName>style.visibility</p:attrName>
                                        </p:attrNameLst>
                                      </p:cBhvr>
                                      <p:to>
                                        <p:strVal val="visible"/>
                                      </p:to>
                                    </p:set>
                                    <p:animEffect transition="in" filter="fade">
                                      <p:cBhvr>
                                        <p:cTn id="13" dur="500"/>
                                        <p:tgtEl>
                                          <p:spTgt spid="66">
                                            <p:txEl>
                                              <p:pRg st="0" end="0"/>
                                            </p:txEl>
                                          </p:spTgt>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69">
                                            <p:txEl>
                                              <p:pRg st="0" end="0"/>
                                            </p:txEl>
                                          </p:spTgt>
                                        </p:tgtEl>
                                        <p:attrNameLst>
                                          <p:attrName>style.visibility</p:attrName>
                                        </p:attrNameLst>
                                      </p:cBhvr>
                                      <p:to>
                                        <p:strVal val="visible"/>
                                      </p:to>
                                    </p:set>
                                    <p:animEffect transition="in" filter="fade">
                                      <p:cBhvr>
                                        <p:cTn id="16" dur="500"/>
                                        <p:tgtEl>
                                          <p:spTgt spid="69">
                                            <p:txEl>
                                              <p:pRg st="0" end="0"/>
                                            </p:txEl>
                                          </p:spTgt>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72">
                                            <p:txEl>
                                              <p:pRg st="0" end="0"/>
                                            </p:txEl>
                                          </p:spTgt>
                                        </p:tgtEl>
                                        <p:attrNameLst>
                                          <p:attrName>style.visibility</p:attrName>
                                        </p:attrNameLst>
                                      </p:cBhvr>
                                      <p:to>
                                        <p:strVal val="visible"/>
                                      </p:to>
                                    </p:set>
                                    <p:animEffect transition="in" filter="fade">
                                      <p:cBhvr>
                                        <p:cTn id="19" dur="500"/>
                                        <p:tgtEl>
                                          <p:spTgt spid="72">
                                            <p:txEl>
                                              <p:pRg st="0" end="0"/>
                                            </p:txEl>
                                          </p:spTgt>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75">
                                            <p:txEl>
                                              <p:pRg st="0" end="0"/>
                                            </p:txEl>
                                          </p:spTgt>
                                        </p:tgtEl>
                                        <p:attrNameLst>
                                          <p:attrName>style.visibility</p:attrName>
                                        </p:attrNameLst>
                                      </p:cBhvr>
                                      <p:to>
                                        <p:strVal val="visible"/>
                                      </p:to>
                                    </p:set>
                                    <p:animEffect transition="in" filter="fade">
                                      <p:cBhvr>
                                        <p:cTn id="22" dur="500"/>
                                        <p:tgtEl>
                                          <p:spTgt spid="75">
                                            <p:txEl>
                                              <p:pRg st="0" end="0"/>
                                            </p:txEl>
                                          </p:spTgt>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78">
                                            <p:txEl>
                                              <p:pRg st="0" end="0"/>
                                            </p:txEl>
                                          </p:spTgt>
                                        </p:tgtEl>
                                        <p:attrNameLst>
                                          <p:attrName>style.visibility</p:attrName>
                                        </p:attrNameLst>
                                      </p:cBhvr>
                                      <p:to>
                                        <p:strVal val="visible"/>
                                      </p:to>
                                    </p:set>
                                    <p:animEffect transition="in" filter="fade">
                                      <p:cBhvr>
                                        <p:cTn id="25" dur="500"/>
                                        <p:tgtEl>
                                          <p:spTgt spid="78">
                                            <p:txEl>
                                              <p:pRg st="0" end="0"/>
                                            </p:txEl>
                                          </p:spTgt>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81">
                                            <p:txEl>
                                              <p:pRg st="0" end="0"/>
                                            </p:txEl>
                                          </p:spTgt>
                                        </p:tgtEl>
                                        <p:attrNameLst>
                                          <p:attrName>style.visibility</p:attrName>
                                        </p:attrNameLst>
                                      </p:cBhvr>
                                      <p:to>
                                        <p:strVal val="visible"/>
                                      </p:to>
                                    </p:set>
                                    <p:animEffect transition="in" filter="fade">
                                      <p:cBhvr>
                                        <p:cTn id="28" dur="500"/>
                                        <p:tgtEl>
                                          <p:spTgt spid="81">
                                            <p:txEl>
                                              <p:pRg st="0" end="0"/>
                                            </p:txEl>
                                          </p:spTgt>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84">
                                            <p:txEl>
                                              <p:pRg st="0" end="0"/>
                                            </p:txEl>
                                          </p:spTgt>
                                        </p:tgtEl>
                                        <p:attrNameLst>
                                          <p:attrName>style.visibility</p:attrName>
                                        </p:attrNameLst>
                                      </p:cBhvr>
                                      <p:to>
                                        <p:strVal val="visible"/>
                                      </p:to>
                                    </p:set>
                                    <p:animEffect transition="in" filter="fade">
                                      <p:cBhvr>
                                        <p:cTn id="31" dur="500"/>
                                        <p:tgtEl>
                                          <p:spTgt spid="84">
                                            <p:txEl>
                                              <p:pRg st="0" end="0"/>
                                            </p:txEl>
                                          </p:spTgt>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87">
                                            <p:txEl>
                                              <p:pRg st="0" end="0"/>
                                            </p:txEl>
                                          </p:spTgt>
                                        </p:tgtEl>
                                        <p:attrNameLst>
                                          <p:attrName>style.visibility</p:attrName>
                                        </p:attrNameLst>
                                      </p:cBhvr>
                                      <p:to>
                                        <p:strVal val="visible"/>
                                      </p:to>
                                    </p:set>
                                    <p:animEffect transition="in" filter="fade">
                                      <p:cBhvr>
                                        <p:cTn id="34" dur="500"/>
                                        <p:tgtEl>
                                          <p:spTgt spid="87">
                                            <p:txEl>
                                              <p:pRg st="0" end="0"/>
                                            </p:txEl>
                                          </p:spTgt>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90">
                                            <p:txEl>
                                              <p:pRg st="0" end="0"/>
                                            </p:txEl>
                                          </p:spTgt>
                                        </p:tgtEl>
                                        <p:attrNameLst>
                                          <p:attrName>style.visibility</p:attrName>
                                        </p:attrNameLst>
                                      </p:cBhvr>
                                      <p:to>
                                        <p:strVal val="visible"/>
                                      </p:to>
                                    </p:set>
                                    <p:animEffect transition="in" filter="fade">
                                      <p:cBhvr>
                                        <p:cTn id="37" dur="500"/>
                                        <p:tgtEl>
                                          <p:spTgt spid="90">
                                            <p:txEl>
                                              <p:pRg st="0" end="0"/>
                                            </p:txEl>
                                          </p:spTgt>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93">
                                            <p:txEl>
                                              <p:pRg st="0" end="0"/>
                                            </p:txEl>
                                          </p:spTgt>
                                        </p:tgtEl>
                                        <p:attrNameLst>
                                          <p:attrName>style.visibility</p:attrName>
                                        </p:attrNameLst>
                                      </p:cBhvr>
                                      <p:to>
                                        <p:strVal val="visible"/>
                                      </p:to>
                                    </p:set>
                                    <p:animEffect transition="in" filter="fade">
                                      <p:cBhvr>
                                        <p:cTn id="40" dur="500"/>
                                        <p:tgtEl>
                                          <p:spTgt spid="9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 grpId="0" build="allAtOnce">
        <p:tmplLst>
          <p:tmpl lvl="1">
            <p:tnLst>
              <p:par>
                <p:cTn presetID="10" presetClass="entr" presetSubtype="0" fill="hold" nodeType="withEffect">
                  <p:stCondLst>
                    <p:cond delay="0"/>
                  </p:stCondLst>
                  <p:childTnLst>
                    <p:set>
                      <p:cBhvr>
                        <p:cTn dur="1" fill="hold">
                          <p:stCondLst>
                            <p:cond delay="0"/>
                          </p:stCondLst>
                        </p:cTn>
                        <p:tgtEl>
                          <p:spTgt spid="28"/>
                        </p:tgtEl>
                        <p:attrNameLst>
                          <p:attrName>style.visibility</p:attrName>
                        </p:attrNameLst>
                      </p:cBhvr>
                      <p:to>
                        <p:strVal val="visible"/>
                      </p:to>
                    </p:set>
                    <p:animEffect transition="in" filter="fade">
                      <p:cBhvr>
                        <p:cTn dur="500"/>
                        <p:tgtEl>
                          <p:spTgt spid="28"/>
                        </p:tgtEl>
                      </p:cBhvr>
                    </p:animEffect>
                  </p:childTnLst>
                </p:cTn>
              </p:par>
            </p:tnLst>
          </p:tmpl>
        </p:tmplLst>
      </p:bldP>
      <p:bldP spid="63" grpId="0" build="allAtOnce">
        <p:tmplLst>
          <p:tmpl lvl="1">
            <p:tnLst>
              <p:par>
                <p:cTn presetID="10" presetClass="entr" presetSubtype="0" fill="hold" nodeType="withEffect">
                  <p:stCondLst>
                    <p:cond delay="0"/>
                  </p:stCondLst>
                  <p:childTnLst>
                    <p:set>
                      <p:cBhvr>
                        <p:cTn dur="1" fill="hold">
                          <p:stCondLst>
                            <p:cond delay="0"/>
                          </p:stCondLst>
                        </p:cTn>
                        <p:tgtEl>
                          <p:spTgt spid="63"/>
                        </p:tgtEl>
                        <p:attrNameLst>
                          <p:attrName>style.visibility</p:attrName>
                        </p:attrNameLst>
                      </p:cBhvr>
                      <p:to>
                        <p:strVal val="visible"/>
                      </p:to>
                    </p:set>
                    <p:animEffect transition="in" filter="fade">
                      <p:cBhvr>
                        <p:cTn dur="500"/>
                        <p:tgtEl>
                          <p:spTgt spid="63"/>
                        </p:tgtEl>
                      </p:cBhvr>
                    </p:animEffect>
                  </p:childTnLst>
                </p:cTn>
              </p:par>
            </p:tnLst>
          </p:tmpl>
        </p:tmplLst>
      </p:bldP>
      <p:bldP spid="66" grpId="0" build="allAtOnce">
        <p:tmplLst>
          <p:tmpl lvl="1">
            <p:tnLst>
              <p:par>
                <p:cTn presetID="10" presetClass="entr" presetSubtype="0" fill="hold" nodeType="withEffect">
                  <p:stCondLst>
                    <p:cond delay="0"/>
                  </p:stCondLst>
                  <p:childTnLst>
                    <p:set>
                      <p:cBhvr>
                        <p:cTn dur="1" fill="hold">
                          <p:stCondLst>
                            <p:cond delay="0"/>
                          </p:stCondLst>
                        </p:cTn>
                        <p:tgtEl>
                          <p:spTgt spid="66"/>
                        </p:tgtEl>
                        <p:attrNameLst>
                          <p:attrName>style.visibility</p:attrName>
                        </p:attrNameLst>
                      </p:cBhvr>
                      <p:to>
                        <p:strVal val="visible"/>
                      </p:to>
                    </p:set>
                    <p:animEffect transition="in" filter="fade">
                      <p:cBhvr>
                        <p:cTn dur="500"/>
                        <p:tgtEl>
                          <p:spTgt spid="66"/>
                        </p:tgtEl>
                      </p:cBhvr>
                    </p:animEffect>
                  </p:childTnLst>
                </p:cTn>
              </p:par>
            </p:tnLst>
          </p:tmpl>
        </p:tmplLst>
      </p:bldP>
      <p:bldP spid="69" grpId="0" build="allAtOnce">
        <p:tmplLst>
          <p:tmpl lvl="1">
            <p:tnLst>
              <p:par>
                <p:cTn presetID="10" presetClass="entr" presetSubtype="0" fill="hold" nodeType="withEffect">
                  <p:stCondLst>
                    <p:cond delay="0"/>
                  </p:stCondLst>
                  <p:childTnLst>
                    <p:set>
                      <p:cBhvr>
                        <p:cTn dur="1" fill="hold">
                          <p:stCondLst>
                            <p:cond delay="0"/>
                          </p:stCondLst>
                        </p:cTn>
                        <p:tgtEl>
                          <p:spTgt spid="69"/>
                        </p:tgtEl>
                        <p:attrNameLst>
                          <p:attrName>style.visibility</p:attrName>
                        </p:attrNameLst>
                      </p:cBhvr>
                      <p:to>
                        <p:strVal val="visible"/>
                      </p:to>
                    </p:set>
                    <p:animEffect transition="in" filter="fade">
                      <p:cBhvr>
                        <p:cTn dur="500"/>
                        <p:tgtEl>
                          <p:spTgt spid="69"/>
                        </p:tgtEl>
                      </p:cBhvr>
                    </p:animEffect>
                  </p:childTnLst>
                </p:cTn>
              </p:par>
            </p:tnLst>
          </p:tmpl>
        </p:tmplLst>
      </p:bldP>
      <p:bldP spid="72" grpId="0" build="allAtOnce">
        <p:tmplLst>
          <p:tmpl lvl="1">
            <p:tnLst>
              <p:par>
                <p:cTn presetID="10" presetClass="entr" presetSubtype="0" fill="hold" nodeType="withEffect">
                  <p:stCondLst>
                    <p:cond delay="0"/>
                  </p:stCondLst>
                  <p:childTnLst>
                    <p:set>
                      <p:cBhvr>
                        <p:cTn dur="1" fill="hold">
                          <p:stCondLst>
                            <p:cond delay="0"/>
                          </p:stCondLst>
                        </p:cTn>
                        <p:tgtEl>
                          <p:spTgt spid="72"/>
                        </p:tgtEl>
                        <p:attrNameLst>
                          <p:attrName>style.visibility</p:attrName>
                        </p:attrNameLst>
                      </p:cBhvr>
                      <p:to>
                        <p:strVal val="visible"/>
                      </p:to>
                    </p:set>
                    <p:animEffect transition="in" filter="fade">
                      <p:cBhvr>
                        <p:cTn dur="500"/>
                        <p:tgtEl>
                          <p:spTgt spid="72"/>
                        </p:tgtEl>
                      </p:cBhvr>
                    </p:animEffect>
                  </p:childTnLst>
                </p:cTn>
              </p:par>
            </p:tnLst>
          </p:tmpl>
        </p:tmplLst>
      </p:bldP>
      <p:bldP spid="75" grpId="0" build="allAtOnce">
        <p:tmplLst>
          <p:tmpl lvl="1">
            <p:tnLst>
              <p:par>
                <p:cTn presetID="10" presetClass="entr" presetSubtype="0" fill="hold" nodeType="withEffect">
                  <p:stCondLst>
                    <p:cond delay="0"/>
                  </p:stCondLst>
                  <p:childTnLst>
                    <p:set>
                      <p:cBhvr>
                        <p:cTn dur="1" fill="hold">
                          <p:stCondLst>
                            <p:cond delay="0"/>
                          </p:stCondLst>
                        </p:cTn>
                        <p:tgtEl>
                          <p:spTgt spid="75"/>
                        </p:tgtEl>
                        <p:attrNameLst>
                          <p:attrName>style.visibility</p:attrName>
                        </p:attrNameLst>
                      </p:cBhvr>
                      <p:to>
                        <p:strVal val="visible"/>
                      </p:to>
                    </p:set>
                    <p:animEffect transition="in" filter="fade">
                      <p:cBhvr>
                        <p:cTn dur="500"/>
                        <p:tgtEl>
                          <p:spTgt spid="75"/>
                        </p:tgtEl>
                      </p:cBhvr>
                    </p:animEffect>
                  </p:childTnLst>
                </p:cTn>
              </p:par>
            </p:tnLst>
          </p:tmpl>
        </p:tmplLst>
      </p:bldP>
      <p:bldP spid="78" grpId="0" build="allAtOnce">
        <p:tmplLst>
          <p:tmpl lvl="1">
            <p:tnLst>
              <p:par>
                <p:cTn presetID="10" presetClass="entr" presetSubtype="0" fill="hold" nodeType="withEffect">
                  <p:stCondLst>
                    <p:cond delay="0"/>
                  </p:stCondLst>
                  <p:childTnLst>
                    <p:set>
                      <p:cBhvr>
                        <p:cTn dur="1" fill="hold">
                          <p:stCondLst>
                            <p:cond delay="0"/>
                          </p:stCondLst>
                        </p:cTn>
                        <p:tgtEl>
                          <p:spTgt spid="78"/>
                        </p:tgtEl>
                        <p:attrNameLst>
                          <p:attrName>style.visibility</p:attrName>
                        </p:attrNameLst>
                      </p:cBhvr>
                      <p:to>
                        <p:strVal val="visible"/>
                      </p:to>
                    </p:set>
                    <p:animEffect transition="in" filter="fade">
                      <p:cBhvr>
                        <p:cTn dur="500"/>
                        <p:tgtEl>
                          <p:spTgt spid="78"/>
                        </p:tgtEl>
                      </p:cBhvr>
                    </p:animEffect>
                  </p:childTnLst>
                </p:cTn>
              </p:par>
            </p:tnLst>
          </p:tmpl>
        </p:tmplLst>
      </p:bldP>
      <p:bldP spid="81" grpId="0" build="allAtOnce">
        <p:tmplLst>
          <p:tmpl lvl="1">
            <p:tnLst>
              <p:par>
                <p:cTn presetID="10" presetClass="entr" presetSubtype="0" fill="hold" nodeType="withEffect">
                  <p:stCondLst>
                    <p:cond delay="0"/>
                  </p:stCondLst>
                  <p:childTnLst>
                    <p:set>
                      <p:cBhvr>
                        <p:cTn dur="1" fill="hold">
                          <p:stCondLst>
                            <p:cond delay="0"/>
                          </p:stCondLst>
                        </p:cTn>
                        <p:tgtEl>
                          <p:spTgt spid="81"/>
                        </p:tgtEl>
                        <p:attrNameLst>
                          <p:attrName>style.visibility</p:attrName>
                        </p:attrNameLst>
                      </p:cBhvr>
                      <p:to>
                        <p:strVal val="visible"/>
                      </p:to>
                    </p:set>
                    <p:animEffect transition="in" filter="fade">
                      <p:cBhvr>
                        <p:cTn dur="500"/>
                        <p:tgtEl>
                          <p:spTgt spid="81"/>
                        </p:tgtEl>
                      </p:cBhvr>
                    </p:animEffect>
                  </p:childTnLst>
                </p:cTn>
              </p:par>
            </p:tnLst>
          </p:tmpl>
        </p:tmplLst>
      </p:bldP>
      <p:bldP spid="84" grpId="0" build="allAtOnce">
        <p:tmplLst>
          <p:tmpl lvl="1">
            <p:tnLst>
              <p:par>
                <p:cTn presetID="10" presetClass="entr" presetSubtype="0" fill="hold" nodeType="withEffect">
                  <p:stCondLst>
                    <p:cond delay="0"/>
                  </p:stCondLst>
                  <p:childTnLst>
                    <p:set>
                      <p:cBhvr>
                        <p:cTn dur="1" fill="hold">
                          <p:stCondLst>
                            <p:cond delay="0"/>
                          </p:stCondLst>
                        </p:cTn>
                        <p:tgtEl>
                          <p:spTgt spid="84"/>
                        </p:tgtEl>
                        <p:attrNameLst>
                          <p:attrName>style.visibility</p:attrName>
                        </p:attrNameLst>
                      </p:cBhvr>
                      <p:to>
                        <p:strVal val="visible"/>
                      </p:to>
                    </p:set>
                    <p:animEffect transition="in" filter="fade">
                      <p:cBhvr>
                        <p:cTn dur="500"/>
                        <p:tgtEl>
                          <p:spTgt spid="84"/>
                        </p:tgtEl>
                      </p:cBhvr>
                    </p:animEffect>
                  </p:childTnLst>
                </p:cTn>
              </p:par>
            </p:tnLst>
          </p:tmpl>
        </p:tmplLst>
      </p:bldP>
      <p:bldP spid="87" grpId="0" build="allAtOnce">
        <p:tmplLst>
          <p:tmpl lvl="1">
            <p:tnLst>
              <p:par>
                <p:cTn presetID="10" presetClass="entr" presetSubtype="0" fill="hold" nodeType="withEffect">
                  <p:stCondLst>
                    <p:cond delay="0"/>
                  </p:stCondLst>
                  <p:childTnLst>
                    <p:set>
                      <p:cBhvr>
                        <p:cTn dur="1" fill="hold">
                          <p:stCondLst>
                            <p:cond delay="0"/>
                          </p:stCondLst>
                        </p:cTn>
                        <p:tgtEl>
                          <p:spTgt spid="87"/>
                        </p:tgtEl>
                        <p:attrNameLst>
                          <p:attrName>style.visibility</p:attrName>
                        </p:attrNameLst>
                      </p:cBhvr>
                      <p:to>
                        <p:strVal val="visible"/>
                      </p:to>
                    </p:set>
                    <p:animEffect transition="in" filter="fade">
                      <p:cBhvr>
                        <p:cTn dur="500"/>
                        <p:tgtEl>
                          <p:spTgt spid="87"/>
                        </p:tgtEl>
                      </p:cBhvr>
                    </p:animEffect>
                  </p:childTnLst>
                </p:cTn>
              </p:par>
            </p:tnLst>
          </p:tmpl>
        </p:tmplLst>
      </p:bldP>
      <p:bldP spid="90" grpId="0" build="allAtOnce">
        <p:tmplLst>
          <p:tmpl lvl="1">
            <p:tnLst>
              <p:par>
                <p:cTn presetID="10" presetClass="entr" presetSubtype="0" fill="hold" nodeType="withEffect">
                  <p:stCondLst>
                    <p:cond delay="0"/>
                  </p:stCondLst>
                  <p:childTnLst>
                    <p:set>
                      <p:cBhvr>
                        <p:cTn dur="1" fill="hold">
                          <p:stCondLst>
                            <p:cond delay="0"/>
                          </p:stCondLst>
                        </p:cTn>
                        <p:tgtEl>
                          <p:spTgt spid="90"/>
                        </p:tgtEl>
                        <p:attrNameLst>
                          <p:attrName>style.visibility</p:attrName>
                        </p:attrNameLst>
                      </p:cBhvr>
                      <p:to>
                        <p:strVal val="visible"/>
                      </p:to>
                    </p:set>
                    <p:animEffect transition="in" filter="fade">
                      <p:cBhvr>
                        <p:cTn dur="500"/>
                        <p:tgtEl>
                          <p:spTgt spid="90"/>
                        </p:tgtEl>
                      </p:cBhvr>
                    </p:animEffect>
                  </p:childTnLst>
                </p:cTn>
              </p:par>
            </p:tnLst>
          </p:tmpl>
        </p:tmplLst>
      </p:bldP>
      <p:bldP spid="93" grpId="0" build="allAtOnce">
        <p:tmplLst>
          <p:tmpl lvl="1">
            <p:tnLst>
              <p:par>
                <p:cTn presetID="10" presetClass="entr" presetSubtype="0" fill="hold" nodeType="withEffect">
                  <p:stCondLst>
                    <p:cond delay="0"/>
                  </p:stCondLst>
                  <p:childTnLst>
                    <p:set>
                      <p:cBhvr>
                        <p:cTn dur="1" fill="hold">
                          <p:stCondLst>
                            <p:cond delay="0"/>
                          </p:stCondLst>
                        </p:cTn>
                        <p:tgtEl>
                          <p:spTgt spid="93"/>
                        </p:tgtEl>
                        <p:attrNameLst>
                          <p:attrName>style.visibility</p:attrName>
                        </p:attrNameLst>
                      </p:cBhvr>
                      <p:to>
                        <p:strVal val="visible"/>
                      </p:to>
                    </p:set>
                    <p:animEffect transition="in" filter="fade">
                      <p:cBhvr>
                        <p:cTn dur="500"/>
                        <p:tgtEl>
                          <p:spTgt spid="93"/>
                        </p:tgtEl>
                      </p:cBhvr>
                    </p:animEffect>
                  </p:childTnLst>
                </p:cTn>
              </p:par>
            </p:tnLst>
          </p:tmpl>
        </p:tmplLst>
      </p:bldP>
    </p:bldLst>
  </p:timing>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image" Target="../media/image1.png"/><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theme" Target="../theme/theme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32" name="Rectangle 31">
            <a:extLst>
              <a:ext uri="{FF2B5EF4-FFF2-40B4-BE49-F238E27FC236}">
                <a16:creationId xmlns:a16="http://schemas.microsoft.com/office/drawing/2014/main" id="{942982A0-0E12-0CD0-BD26-CCB3496D9500}"/>
              </a:ext>
            </a:extLst>
          </p:cNvPr>
          <p:cNvSpPr/>
          <p:nvPr userDrawn="1"/>
        </p:nvSpPr>
        <p:spPr>
          <a:xfrm>
            <a:off x="426720" y="377261"/>
            <a:ext cx="11338560" cy="5769008"/>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3" name="Freeform: Shape 32">
            <a:extLst>
              <a:ext uri="{FF2B5EF4-FFF2-40B4-BE49-F238E27FC236}">
                <a16:creationId xmlns:a16="http://schemas.microsoft.com/office/drawing/2014/main" id="{54EA71BE-3CCC-4CFA-DB3E-DFC159419FAF}"/>
              </a:ext>
            </a:extLst>
          </p:cNvPr>
          <p:cNvSpPr/>
          <p:nvPr userDrawn="1"/>
        </p:nvSpPr>
        <p:spPr>
          <a:xfrm rot="10800000" flipV="1">
            <a:off x="619123" y="216443"/>
            <a:ext cx="439704" cy="531176"/>
          </a:xfrm>
          <a:custGeom>
            <a:avLst/>
            <a:gdLst>
              <a:gd name="connsiteX0" fmla="*/ 0 w 439704"/>
              <a:gd name="connsiteY0" fmla="*/ 531176 h 531176"/>
              <a:gd name="connsiteX1" fmla="*/ 439704 w 439704"/>
              <a:gd name="connsiteY1" fmla="*/ 388308 h 531176"/>
              <a:gd name="connsiteX2" fmla="*/ 439704 w 439704"/>
              <a:gd name="connsiteY2" fmla="*/ 0 h 531176"/>
              <a:gd name="connsiteX3" fmla="*/ 0 w 439704"/>
              <a:gd name="connsiteY3" fmla="*/ 0 h 531176"/>
            </a:gdLst>
            <a:ahLst/>
            <a:cxnLst>
              <a:cxn ang="0">
                <a:pos x="connsiteX0" y="connsiteY0"/>
              </a:cxn>
              <a:cxn ang="0">
                <a:pos x="connsiteX1" y="connsiteY1"/>
              </a:cxn>
              <a:cxn ang="0">
                <a:pos x="connsiteX2" y="connsiteY2"/>
              </a:cxn>
              <a:cxn ang="0">
                <a:pos x="connsiteX3" y="connsiteY3"/>
              </a:cxn>
            </a:cxnLst>
            <a:rect l="l" t="t" r="r" b="b"/>
            <a:pathLst>
              <a:path w="439704" h="531176">
                <a:moveTo>
                  <a:pt x="0" y="531176"/>
                </a:moveTo>
                <a:lnTo>
                  <a:pt x="439704" y="388308"/>
                </a:lnTo>
                <a:lnTo>
                  <a:pt x="439704" y="0"/>
                </a:lnTo>
                <a:lnTo>
                  <a:pt x="0" y="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rtl="0"/>
            <a:endParaRPr lang="en-US"/>
          </a:p>
        </p:txBody>
      </p:sp>
      <p:sp>
        <p:nvSpPr>
          <p:cNvPr id="2" name="Title Placeholder 1"/>
          <p:cNvSpPr>
            <a:spLocks noGrp="1"/>
          </p:cNvSpPr>
          <p:nvPr userDrawn="1">
            <p:ph type="title"/>
          </p:nvPr>
        </p:nvSpPr>
        <p:spPr>
          <a:xfrm>
            <a:off x="609601" y="561078"/>
            <a:ext cx="10972800" cy="666261"/>
          </a:xfrm>
          <a:prstGeom prst="rect">
            <a:avLst/>
          </a:prstGeom>
        </p:spPr>
        <p:txBody>
          <a:bodyPr vert="horz" lIns="91440" tIns="45720" rIns="0" bIns="45720" rtlCol="0" anchor="ctr" anchorCtr="0">
            <a:noAutofit/>
          </a:bodyPr>
          <a:lstStyle/>
          <a:p>
            <a:r>
              <a:rPr lang="ar-EG" dirty="0"/>
              <a:t>اضغط لتغيير العنوان</a:t>
            </a:r>
            <a:endParaRPr lang="en-US" dirty="0"/>
          </a:p>
        </p:txBody>
      </p:sp>
      <p:sp>
        <p:nvSpPr>
          <p:cNvPr id="3" name="Text Placeholder 2"/>
          <p:cNvSpPr>
            <a:spLocks noGrp="1"/>
          </p:cNvSpPr>
          <p:nvPr userDrawn="1">
            <p:ph type="body" idx="1"/>
          </p:nvPr>
        </p:nvSpPr>
        <p:spPr>
          <a:xfrm>
            <a:off x="609600" y="1333501"/>
            <a:ext cx="10972800" cy="4812768"/>
          </a:xfrm>
          <a:prstGeom prst="rect">
            <a:avLst/>
          </a:prstGeom>
        </p:spPr>
        <p:txBody>
          <a:bodyPr vert="horz" lIns="91440" tIns="45720" rIns="0" bIns="45720" rtlCol="0">
            <a:normAutofit/>
          </a:bodyPr>
          <a:lstStyle/>
          <a:p>
            <a:pPr lvl="0"/>
            <a:r>
              <a:rPr lang="ar-EG" dirty="0"/>
              <a:t>تعديل النص</a:t>
            </a:r>
            <a:endParaRPr lang="en-US" dirty="0"/>
          </a:p>
          <a:p>
            <a:pPr lvl="1"/>
            <a:r>
              <a:rPr lang="ar-EG" dirty="0"/>
              <a:t>المستوى الثاني</a:t>
            </a:r>
            <a:endParaRPr lang="en-US" dirty="0"/>
          </a:p>
          <a:p>
            <a:pPr lvl="2"/>
            <a:r>
              <a:rPr lang="ar-EG" dirty="0"/>
              <a:t>المستوى الثالث</a:t>
            </a:r>
            <a:endParaRPr lang="en-US" dirty="0"/>
          </a:p>
          <a:p>
            <a:pPr lvl="3"/>
            <a:r>
              <a:rPr lang="ar-EG" dirty="0"/>
              <a:t>المستوى الرابع</a:t>
            </a:r>
            <a:endParaRPr lang="en-US" dirty="0"/>
          </a:p>
          <a:p>
            <a:pPr lvl="4"/>
            <a:r>
              <a:rPr lang="ar-EG" dirty="0"/>
              <a:t>المستوى الخامس</a:t>
            </a:r>
            <a:endParaRPr lang="en-US" dirty="0"/>
          </a:p>
        </p:txBody>
      </p:sp>
      <p:pic>
        <p:nvPicPr>
          <p:cNvPr id="5" name="Picture 4">
            <a:extLst>
              <a:ext uri="{FF2B5EF4-FFF2-40B4-BE49-F238E27FC236}">
                <a16:creationId xmlns:a16="http://schemas.microsoft.com/office/drawing/2014/main" id="{A0BE4E69-AE0B-085D-5A16-9A00D7D75383}"/>
              </a:ext>
            </a:extLst>
          </p:cNvPr>
          <p:cNvPicPr>
            <a:picLocks noChangeAspect="1" noChangeArrowheads="1"/>
          </p:cNvPicPr>
          <p:nvPr userDrawn="1"/>
        </p:nvPicPr>
        <p:blipFill>
          <a:blip r:embed="rId25" cstate="print">
            <a:extLst>
              <a:ext uri="{28A0092B-C50C-407E-A947-70E740481C1C}">
                <a14:useLocalDpi xmlns:a14="http://schemas.microsoft.com/office/drawing/2010/main" val="0"/>
              </a:ext>
            </a:extLst>
          </a:blip>
          <a:srcRect/>
          <a:stretch>
            <a:fillRect/>
          </a:stretch>
        </p:blipFill>
        <p:spPr bwMode="auto">
          <a:xfrm>
            <a:off x="9105642" y="6335328"/>
            <a:ext cx="2464906" cy="365760"/>
          </a:xfrm>
          <a:prstGeom prst="rect">
            <a:avLst/>
          </a:prstGeom>
          <a:noFill/>
          <a:extLst>
            <a:ext uri="{909E8E84-426E-40DD-AFC4-6F175D3DCCD1}">
              <a14:hiddenFill xmlns:a14="http://schemas.microsoft.com/office/drawing/2010/main">
                <a:solidFill>
                  <a:srgbClr val="FFFFFF"/>
                </a:solidFill>
              </a14:hiddenFill>
            </a:ext>
          </a:extLst>
        </p:spPr>
      </p:pic>
      <p:sp>
        <p:nvSpPr>
          <p:cNvPr id="6" name="Slide Number Placeholder 5"/>
          <p:cNvSpPr>
            <a:spLocks noGrp="1"/>
          </p:cNvSpPr>
          <p:nvPr userDrawn="1">
            <p:ph type="sldNum" sz="quarter" idx="4"/>
          </p:nvPr>
        </p:nvSpPr>
        <p:spPr>
          <a:xfrm>
            <a:off x="621452" y="6358188"/>
            <a:ext cx="437375" cy="320040"/>
          </a:xfrm>
          <a:prstGeom prst="rect">
            <a:avLst/>
          </a:prstGeom>
          <a:noFill/>
          <a:ln>
            <a:noFill/>
          </a:ln>
        </p:spPr>
        <p:txBody>
          <a:bodyPr vert="horz" lIns="0" tIns="0" rIns="0" bIns="0" rtlCol="0" anchor="ctr"/>
          <a:lstStyle>
            <a:lvl1pPr algn="ctr">
              <a:defRPr lang="en-US" sz="1400" b="1" smtClean="0">
                <a:solidFill>
                  <a:schemeClr val="accent1"/>
                </a:solidFill>
              </a:defRPr>
            </a:lvl1pPr>
          </a:lstStyle>
          <a:p>
            <a:pPr rtl="1"/>
            <a:r>
              <a:rPr lang="en-GB"/>
              <a:t>#</a:t>
            </a:r>
            <a:endParaRPr lang="en-GB" dirty="0"/>
          </a:p>
        </p:txBody>
      </p:sp>
    </p:spTree>
    <p:extLst>
      <p:ext uri="{BB962C8B-B14F-4D97-AF65-F5344CB8AC3E}">
        <p14:creationId xmlns:p14="http://schemas.microsoft.com/office/powerpoint/2010/main" val="1743026089"/>
      </p:ext>
    </p:extLst>
  </p:cSld>
  <p:clrMap bg1="lt1" tx1="dk1" bg2="lt2" tx2="dk2" accent1="accent1" accent2="accent2" accent3="accent3" accent4="accent4" accent5="accent5" accent6="accent6" hlink="hlink" folHlink="folHlink"/>
  <p:sldLayoutIdLst>
    <p:sldLayoutId id="2147483742" r:id="rId1"/>
    <p:sldLayoutId id="2147483705" r:id="rId2"/>
    <p:sldLayoutId id="2147483749" r:id="rId3"/>
    <p:sldLayoutId id="2147483744" r:id="rId4"/>
    <p:sldLayoutId id="2147483730" r:id="rId5"/>
    <p:sldLayoutId id="2147483741" r:id="rId6"/>
    <p:sldLayoutId id="2147483707" r:id="rId7"/>
    <p:sldLayoutId id="2147483710" r:id="rId8"/>
    <p:sldLayoutId id="2147483711" r:id="rId9"/>
    <p:sldLayoutId id="2147483712" r:id="rId10"/>
    <p:sldLayoutId id="2147483713" r:id="rId11"/>
    <p:sldLayoutId id="2147483715" r:id="rId12"/>
    <p:sldLayoutId id="2147483740" r:id="rId13"/>
    <p:sldLayoutId id="2147483718" r:id="rId14"/>
    <p:sldLayoutId id="2147483719" r:id="rId15"/>
    <p:sldLayoutId id="2147483725" r:id="rId16"/>
    <p:sldLayoutId id="2147483728" r:id="rId17"/>
    <p:sldLayoutId id="2147483735" r:id="rId18"/>
    <p:sldLayoutId id="2147483736" r:id="rId19"/>
    <p:sldLayoutId id="2147483737" r:id="rId20"/>
    <p:sldLayoutId id="2147483738" r:id="rId21"/>
    <p:sldLayoutId id="2147483739" r:id="rId22"/>
    <p:sldLayoutId id="2147483751" r:id="rId23"/>
  </p:sldLayoutIdLs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25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hf hdr="0" ftr="0" dt="0"/>
  <p:txStyles>
    <p:titleStyle>
      <a:lvl1pPr algn="r" defTabSz="914400" rtl="1" eaLnBrk="1" latinLnBrk="0" hangingPunct="1">
        <a:lnSpc>
          <a:spcPct val="100000"/>
        </a:lnSpc>
        <a:spcBef>
          <a:spcPct val="0"/>
        </a:spcBef>
        <a:buNone/>
        <a:defRPr sz="3200" b="1" kern="1200">
          <a:solidFill>
            <a:schemeClr val="accent1"/>
          </a:solidFill>
          <a:latin typeface="+mj-lt"/>
          <a:ea typeface="+mj-ea"/>
          <a:cs typeface="+mj-cs"/>
        </a:defRPr>
      </a:lvl1pPr>
    </p:titleStyle>
    <p:bodyStyle>
      <a:lvl1pPr marL="0" indent="0" algn="r" defTabSz="914400" rtl="1" eaLnBrk="1" latinLnBrk="0" hangingPunct="1">
        <a:lnSpc>
          <a:spcPct val="100000"/>
        </a:lnSpc>
        <a:spcBef>
          <a:spcPts val="1200"/>
        </a:spcBef>
        <a:spcAft>
          <a:spcPts val="1200"/>
        </a:spcAft>
        <a:buSzPct val="80000"/>
        <a:buFont typeface="Arial" panose="020B0604020202020204" pitchFamily="34" charset="0"/>
        <a:buNone/>
        <a:defRPr sz="2000" kern="1200">
          <a:solidFill>
            <a:schemeClr val="tx1">
              <a:lumMod val="85000"/>
              <a:lumOff val="15000"/>
            </a:schemeClr>
          </a:solidFill>
          <a:latin typeface="+mn-lt"/>
          <a:ea typeface="+mn-ea"/>
          <a:cs typeface="+mn-cs"/>
        </a:defRPr>
      </a:lvl1pPr>
      <a:lvl2pPr marL="288925" indent="0" algn="r" defTabSz="914400" rtl="1" eaLnBrk="1" latinLnBrk="0" hangingPunct="1">
        <a:lnSpc>
          <a:spcPct val="100000"/>
        </a:lnSpc>
        <a:spcBef>
          <a:spcPts val="600"/>
        </a:spcBef>
        <a:spcAft>
          <a:spcPts val="600"/>
        </a:spcAft>
        <a:buSzPct val="80000"/>
        <a:buFont typeface="Arial" panose="020B0604020202020204" pitchFamily="34" charset="0"/>
        <a:buNone/>
        <a:defRPr sz="1800" kern="1200">
          <a:solidFill>
            <a:schemeClr val="tx1">
              <a:lumMod val="85000"/>
              <a:lumOff val="15000"/>
            </a:schemeClr>
          </a:solidFill>
          <a:latin typeface="+mn-lt"/>
          <a:ea typeface="+mn-ea"/>
          <a:cs typeface="+mn-cs"/>
        </a:defRPr>
      </a:lvl2pPr>
      <a:lvl3pPr marL="571500" indent="0" algn="r" defTabSz="914400" rtl="1" eaLnBrk="1" latinLnBrk="0" hangingPunct="1">
        <a:lnSpc>
          <a:spcPct val="100000"/>
        </a:lnSpc>
        <a:spcBef>
          <a:spcPts val="600"/>
        </a:spcBef>
        <a:spcAft>
          <a:spcPts val="600"/>
        </a:spcAft>
        <a:buSzPct val="80000"/>
        <a:buFont typeface="Wingdings" panose="05000000000000000000" pitchFamily="2" charset="2"/>
        <a:buNone/>
        <a:defRPr sz="1600" kern="1200">
          <a:solidFill>
            <a:schemeClr val="tx1">
              <a:lumMod val="85000"/>
              <a:lumOff val="15000"/>
            </a:schemeClr>
          </a:solidFill>
          <a:latin typeface="+mn-lt"/>
          <a:ea typeface="+mn-ea"/>
          <a:cs typeface="+mn-cs"/>
        </a:defRPr>
      </a:lvl3pPr>
      <a:lvl4pPr marL="857250" indent="0" algn="r" defTabSz="914400" rtl="1" eaLnBrk="1" latinLnBrk="0" hangingPunct="1">
        <a:lnSpc>
          <a:spcPct val="90000"/>
        </a:lnSpc>
        <a:spcBef>
          <a:spcPts val="500"/>
        </a:spcBef>
        <a:buClr>
          <a:schemeClr val="accent2">
            <a:lumMod val="75000"/>
          </a:schemeClr>
        </a:buClr>
        <a:buSzPct val="80000"/>
        <a:buFont typeface="Wingdings" panose="05000000000000000000" pitchFamily="2" charset="2"/>
        <a:buNone/>
        <a:defRPr sz="1400" kern="1200">
          <a:solidFill>
            <a:schemeClr val="tx1">
              <a:lumMod val="85000"/>
              <a:lumOff val="15000"/>
            </a:schemeClr>
          </a:solidFill>
          <a:latin typeface="+mn-lt"/>
          <a:ea typeface="+mn-ea"/>
          <a:cs typeface="+mn-cs"/>
        </a:defRPr>
      </a:lvl4pPr>
      <a:lvl5pPr marL="1085850" indent="0" algn="r" defTabSz="914400" rtl="1" eaLnBrk="1" latinLnBrk="0" hangingPunct="1">
        <a:lnSpc>
          <a:spcPct val="90000"/>
        </a:lnSpc>
        <a:spcBef>
          <a:spcPts val="500"/>
        </a:spcBef>
        <a:buFont typeface="Arial" panose="020B0604020202020204" pitchFamily="34" charset="0"/>
        <a:buNone/>
        <a:defRPr sz="1400" kern="1200">
          <a:solidFill>
            <a:schemeClr val="tx1">
              <a:lumMod val="85000"/>
              <a:lumOff val="1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2" pos="3840">
          <p15:clr>
            <a:srgbClr val="F26B43"/>
          </p15:clr>
        </p15:guide>
        <p15:guide id="6" pos="7296" userDrawn="1">
          <p15:clr>
            <a:srgbClr val="F26B43"/>
          </p15:clr>
        </p15:guide>
        <p15:guide id="7" orient="horz" pos="840" userDrawn="1">
          <p15:clr>
            <a:srgbClr val="F26B43"/>
          </p15:clr>
        </p15:guide>
        <p15:guide id="10" pos="384" userDrawn="1">
          <p15:clr>
            <a:srgbClr val="F26B43"/>
          </p15:clr>
        </p15:guide>
        <p15:guide id="11" orient="horz" pos="3864" userDrawn="1">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5.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5.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5.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559827" y="3749232"/>
            <a:ext cx="5022574" cy="1204833"/>
          </a:xfrm>
        </p:spPr>
        <p:txBody>
          <a:bodyPr/>
          <a:lstStyle/>
          <a:p>
            <a:pPr>
              <a:lnSpc>
                <a:spcPct val="125000"/>
              </a:lnSpc>
            </a:pPr>
            <a:r>
              <a:rPr lang="ar-SA" noProof="0" dirty="0"/>
              <a:t>فجوات البنية المؤسسية</a:t>
            </a:r>
          </a:p>
        </p:txBody>
      </p:sp>
      <p:sp>
        <p:nvSpPr>
          <p:cNvPr id="3" name="Subtitle 2"/>
          <p:cNvSpPr>
            <a:spLocks noGrp="1"/>
          </p:cNvSpPr>
          <p:nvPr>
            <p:ph type="subTitle" idx="1"/>
          </p:nvPr>
        </p:nvSpPr>
        <p:spPr/>
        <p:txBody>
          <a:bodyPr>
            <a:normAutofit/>
          </a:bodyPr>
          <a:lstStyle/>
          <a:p>
            <a:r>
              <a:rPr lang="ar-SA" noProof="0" dirty="0"/>
              <a:t>النسخة </a:t>
            </a:r>
            <a:r>
              <a:rPr lang="en-US" noProof="0"/>
              <a:t>2.0</a:t>
            </a:r>
            <a:endParaRPr lang="ar-SA" noProof="0" dirty="0"/>
          </a:p>
        </p:txBody>
      </p:sp>
    </p:spTree>
    <p:extLst>
      <p:ext uri="{BB962C8B-B14F-4D97-AF65-F5344CB8AC3E}">
        <p14:creationId xmlns:p14="http://schemas.microsoft.com/office/powerpoint/2010/main" val="2428133689"/>
      </p:ext>
    </p:extLst>
  </p:cSld>
  <p:clrMapOvr>
    <a:masterClrMapping/>
  </p:clrMapOvr>
  <mc:AlternateContent xmlns:mc="http://schemas.openxmlformats.org/markup-compatibility/2006" xmlns:p14="http://schemas.microsoft.com/office/powerpoint/2010/main">
    <mc:Choice Requires="p14">
      <p:transition spd="slow" p14:dur="1750">
        <p14:reveal thruBlk="1" dir="r"/>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TextBox 24">
            <a:extLst>
              <a:ext uri="{FF2B5EF4-FFF2-40B4-BE49-F238E27FC236}">
                <a16:creationId xmlns:a16="http://schemas.microsoft.com/office/drawing/2014/main" id="{5B6CBF3A-AED2-428B-8E54-ECD96E40BAAD}"/>
              </a:ext>
            </a:extLst>
          </p:cNvPr>
          <p:cNvSpPr txBox="1"/>
          <p:nvPr/>
        </p:nvSpPr>
        <p:spPr>
          <a:xfrm>
            <a:off x="833442" y="6395664"/>
            <a:ext cx="6097604" cy="307777"/>
          </a:xfrm>
          <a:prstGeom prst="rect">
            <a:avLst/>
          </a:prstGeom>
          <a:noFill/>
        </p:spPr>
        <p:txBody>
          <a:bodyPr wrap="square">
            <a:spAutoFit/>
          </a:bodyPr>
          <a:lstStyle/>
          <a:p>
            <a:fld id="{008E1BDA-5E07-414A-8101-29DABEB15B19}" type="slidenum">
              <a:rPr lang="ar-SA" sz="1400" b="1" noProof="0" smtClean="0">
                <a:solidFill>
                  <a:schemeClr val="accent1"/>
                </a:solidFill>
              </a:rPr>
              <a:pPr/>
              <a:t>2</a:t>
            </a:fld>
            <a:endParaRPr lang="ar-SA" sz="1400" b="1" noProof="0" dirty="0">
              <a:solidFill>
                <a:schemeClr val="accent1"/>
              </a:solidFill>
            </a:endParaRPr>
          </a:p>
        </p:txBody>
      </p:sp>
      <p:sp>
        <p:nvSpPr>
          <p:cNvPr id="2" name="Title 1">
            <a:extLst>
              <a:ext uri="{FF2B5EF4-FFF2-40B4-BE49-F238E27FC236}">
                <a16:creationId xmlns:a16="http://schemas.microsoft.com/office/drawing/2014/main" id="{336A4A4A-AA0F-4470-93D7-AFEC527BCD12}"/>
              </a:ext>
            </a:extLst>
          </p:cNvPr>
          <p:cNvSpPr txBox="1">
            <a:spLocks/>
          </p:cNvSpPr>
          <p:nvPr/>
        </p:nvSpPr>
        <p:spPr>
          <a:xfrm>
            <a:off x="2670048" y="408242"/>
            <a:ext cx="8683752" cy="639350"/>
          </a:xfrm>
          <a:prstGeom prst="rect">
            <a:avLst/>
          </a:prstGeom>
        </p:spPr>
        <p:txBody>
          <a:bodyPr vert="horz" lIns="91440" tIns="45720" rIns="0" bIns="45720" rtlCol="0" anchor="ctr" anchorCtr="0">
            <a:noAutofit/>
          </a:bodyPr>
          <a:lstStyle>
            <a:lvl1pPr algn="r" defTabSz="914400" rtl="1" eaLnBrk="1" latinLnBrk="0" hangingPunct="1">
              <a:lnSpc>
                <a:spcPct val="100000"/>
              </a:lnSpc>
              <a:spcBef>
                <a:spcPct val="0"/>
              </a:spcBef>
              <a:buNone/>
              <a:defRPr sz="3200" b="1" kern="1200">
                <a:solidFill>
                  <a:schemeClr val="accent1"/>
                </a:solidFill>
                <a:latin typeface="+mj-lt"/>
                <a:ea typeface="+mj-ea"/>
                <a:cs typeface="+mj-cs"/>
              </a:defRPr>
            </a:lvl1pPr>
          </a:lstStyle>
          <a:p>
            <a:r>
              <a:rPr lang="ar-SA" noProof="0" dirty="0"/>
              <a:t>شروط استخدام الوثيقة</a:t>
            </a:r>
          </a:p>
        </p:txBody>
      </p:sp>
      <p:sp>
        <p:nvSpPr>
          <p:cNvPr id="15" name="Rectangle 14">
            <a:extLst>
              <a:ext uri="{FF2B5EF4-FFF2-40B4-BE49-F238E27FC236}">
                <a16:creationId xmlns:a16="http://schemas.microsoft.com/office/drawing/2014/main" id="{7B21A5CB-82AC-F540-2F06-31E6BF4F283A}"/>
              </a:ext>
            </a:extLst>
          </p:cNvPr>
          <p:cNvSpPr/>
          <p:nvPr/>
        </p:nvSpPr>
        <p:spPr>
          <a:xfrm>
            <a:off x="2011680" y="2396756"/>
            <a:ext cx="7202276" cy="1730999"/>
          </a:xfrm>
          <a:prstGeom prst="rect">
            <a:avLst/>
          </a:prstGeom>
        </p:spPr>
        <p:txBody>
          <a:bodyPr anchor="ctr" anchorCtr="0">
            <a:normAutofit/>
          </a:bodyPr>
          <a:lstStyle/>
          <a:p>
            <a:pPr algn="r" rtl="1">
              <a:lnSpc>
                <a:spcPct val="150000"/>
              </a:lnSpc>
              <a:spcAft>
                <a:spcPts val="1200"/>
              </a:spcAft>
            </a:pPr>
            <a:r>
              <a:rPr lang="ar-SA" sz="2400" noProof="0" dirty="0"/>
              <a:t>إن هذه الوثيقة ومحتوياتها هي ملك لهيئة تقويم التعليم والتدريب ولا يجوز نسخها أو الكشف عنها أو تداولها دون الحصول على موافقة كتابية محددة من الهيئة، ويحظر تماما أي استخدام آخر غير الغرض الذي تم إعدادها من أجله.</a:t>
            </a:r>
          </a:p>
        </p:txBody>
      </p:sp>
      <p:grpSp>
        <p:nvGrpSpPr>
          <p:cNvPr id="28" name="Group 27">
            <a:extLst>
              <a:ext uri="{FF2B5EF4-FFF2-40B4-BE49-F238E27FC236}">
                <a16:creationId xmlns:a16="http://schemas.microsoft.com/office/drawing/2014/main" id="{D7350C88-B1EB-C1D4-7BA4-A1A2D371B40C}"/>
              </a:ext>
            </a:extLst>
          </p:cNvPr>
          <p:cNvGrpSpPr>
            <a:grpSpLocks noChangeAspect="1"/>
          </p:cNvGrpSpPr>
          <p:nvPr/>
        </p:nvGrpSpPr>
        <p:grpSpPr>
          <a:xfrm>
            <a:off x="9864957" y="2512209"/>
            <a:ext cx="1256429" cy="1483283"/>
            <a:chOff x="3290888" y="152400"/>
            <a:chExt cx="1600201" cy="1889125"/>
          </a:xfrm>
          <a:solidFill>
            <a:schemeClr val="accent1"/>
          </a:solidFill>
        </p:grpSpPr>
        <p:sp>
          <p:nvSpPr>
            <p:cNvPr id="29" name="Freeform 191">
              <a:extLst>
                <a:ext uri="{FF2B5EF4-FFF2-40B4-BE49-F238E27FC236}">
                  <a16:creationId xmlns:a16="http://schemas.microsoft.com/office/drawing/2014/main" id="{13DD340A-D508-6019-028E-387DF741F95E}"/>
                </a:ext>
              </a:extLst>
            </p:cNvPr>
            <p:cNvSpPr>
              <a:spLocks noEditPoints="1"/>
            </p:cNvSpPr>
            <p:nvPr/>
          </p:nvSpPr>
          <p:spPr bwMode="auto">
            <a:xfrm>
              <a:off x="3290888" y="152400"/>
              <a:ext cx="1427163" cy="1889125"/>
            </a:xfrm>
            <a:custGeom>
              <a:avLst/>
              <a:gdLst>
                <a:gd name="T0" fmla="*/ 320 w 6064"/>
                <a:gd name="T1" fmla="*/ 57 h 8032"/>
                <a:gd name="T2" fmla="*/ 157 w 6064"/>
                <a:gd name="T3" fmla="*/ 172 h 8032"/>
                <a:gd name="T4" fmla="*/ 44 w 6064"/>
                <a:gd name="T5" fmla="*/ 335 h 8032"/>
                <a:gd name="T6" fmla="*/ 17 w 6064"/>
                <a:gd name="T7" fmla="*/ 432 h 8032"/>
                <a:gd name="T8" fmla="*/ 0 w 6064"/>
                <a:gd name="T9" fmla="*/ 4016 h 8032"/>
                <a:gd name="T10" fmla="*/ 10 w 6064"/>
                <a:gd name="T11" fmla="*/ 7503 h 8032"/>
                <a:gd name="T12" fmla="*/ 33 w 6064"/>
                <a:gd name="T13" fmla="*/ 7672 h 8032"/>
                <a:gd name="T14" fmla="*/ 96 w 6064"/>
                <a:gd name="T15" fmla="*/ 7785 h 8032"/>
                <a:gd name="T16" fmla="*/ 210 w 6064"/>
                <a:gd name="T17" fmla="*/ 7905 h 8032"/>
                <a:gd name="T18" fmla="*/ 325 w 6064"/>
                <a:gd name="T19" fmla="*/ 7977 h 8032"/>
                <a:gd name="T20" fmla="*/ 4658 w 6064"/>
                <a:gd name="T21" fmla="*/ 8032 h 8032"/>
                <a:gd name="T22" fmla="*/ 4443 w 6064"/>
                <a:gd name="T23" fmla="*/ 7886 h 8032"/>
                <a:gd name="T24" fmla="*/ 4284 w 6064"/>
                <a:gd name="T25" fmla="*/ 7864 h 8032"/>
                <a:gd name="T26" fmla="*/ 458 w 6064"/>
                <a:gd name="T27" fmla="*/ 7841 h 8032"/>
                <a:gd name="T28" fmla="*/ 305 w 6064"/>
                <a:gd name="T29" fmla="*/ 7743 h 8032"/>
                <a:gd name="T30" fmla="*/ 205 w 6064"/>
                <a:gd name="T31" fmla="*/ 7604 h 8032"/>
                <a:gd name="T32" fmla="*/ 189 w 6064"/>
                <a:gd name="T33" fmla="*/ 6936 h 8032"/>
                <a:gd name="T34" fmla="*/ 189 w 6064"/>
                <a:gd name="T35" fmla="*/ 1096 h 8032"/>
                <a:gd name="T36" fmla="*/ 205 w 6064"/>
                <a:gd name="T37" fmla="*/ 427 h 8032"/>
                <a:gd name="T38" fmla="*/ 305 w 6064"/>
                <a:gd name="T39" fmla="*/ 288 h 8032"/>
                <a:gd name="T40" fmla="*/ 458 w 6064"/>
                <a:gd name="T41" fmla="*/ 191 h 8032"/>
                <a:gd name="T42" fmla="*/ 3626 w 6064"/>
                <a:gd name="T43" fmla="*/ 241 h 8032"/>
                <a:gd name="T44" fmla="*/ 3716 w 6064"/>
                <a:gd name="T45" fmla="*/ 317 h 8032"/>
                <a:gd name="T46" fmla="*/ 3808 w 6064"/>
                <a:gd name="T47" fmla="*/ 454 h 8032"/>
                <a:gd name="T48" fmla="*/ 3880 w 6064"/>
                <a:gd name="T49" fmla="*/ 1736 h 8032"/>
                <a:gd name="T50" fmla="*/ 4027 w 6064"/>
                <a:gd name="T51" fmla="*/ 1928 h 8032"/>
                <a:gd name="T52" fmla="*/ 4175 w 6064"/>
                <a:gd name="T53" fmla="*/ 2017 h 8032"/>
                <a:gd name="T54" fmla="*/ 4908 w 6064"/>
                <a:gd name="T55" fmla="*/ 2049 h 8032"/>
                <a:gd name="T56" fmla="*/ 5569 w 6064"/>
                <a:gd name="T57" fmla="*/ 2066 h 8032"/>
                <a:gd name="T58" fmla="*/ 5687 w 6064"/>
                <a:gd name="T59" fmla="*/ 2110 h 8032"/>
                <a:gd name="T60" fmla="*/ 5814 w 6064"/>
                <a:gd name="T61" fmla="*/ 2244 h 8032"/>
                <a:gd name="T62" fmla="*/ 5848 w 6064"/>
                <a:gd name="T63" fmla="*/ 2319 h 8032"/>
                <a:gd name="T64" fmla="*/ 5866 w 6064"/>
                <a:gd name="T65" fmla="*/ 2870 h 8032"/>
                <a:gd name="T66" fmla="*/ 5955 w 6064"/>
                <a:gd name="T67" fmla="*/ 5146 h 8032"/>
                <a:gd name="T68" fmla="*/ 6057 w 6064"/>
                <a:gd name="T69" fmla="*/ 5162 h 8032"/>
                <a:gd name="T70" fmla="*/ 6063 w 6064"/>
                <a:gd name="T71" fmla="*/ 3744 h 8032"/>
                <a:gd name="T72" fmla="*/ 5995 w 6064"/>
                <a:gd name="T73" fmla="*/ 2178 h 8032"/>
                <a:gd name="T74" fmla="*/ 5887 w 6064"/>
                <a:gd name="T75" fmla="*/ 2042 h 8032"/>
                <a:gd name="T76" fmla="*/ 5221 w 6064"/>
                <a:gd name="T77" fmla="*/ 1422 h 8032"/>
                <a:gd name="T78" fmla="*/ 3752 w 6064"/>
                <a:gd name="T79" fmla="*/ 93 h 8032"/>
                <a:gd name="T80" fmla="*/ 3659 w 6064"/>
                <a:gd name="T81" fmla="*/ 42 h 8032"/>
                <a:gd name="T82" fmla="*/ 3224 w 6064"/>
                <a:gd name="T83" fmla="*/ 3 h 8032"/>
                <a:gd name="T84" fmla="*/ 1235 w 6064"/>
                <a:gd name="T85" fmla="*/ 1 h 8032"/>
                <a:gd name="T86" fmla="*/ 415 w 6064"/>
                <a:gd name="T87" fmla="*/ 22 h 8032"/>
                <a:gd name="T88" fmla="*/ 4873 w 6064"/>
                <a:gd name="T89" fmla="*/ 1862 h 8032"/>
                <a:gd name="T90" fmla="*/ 4286 w 6064"/>
                <a:gd name="T91" fmla="*/ 1854 h 8032"/>
                <a:gd name="T92" fmla="*/ 4173 w 6064"/>
                <a:gd name="T93" fmla="*/ 1803 h 8032"/>
                <a:gd name="T94" fmla="*/ 4045 w 6064"/>
                <a:gd name="T95" fmla="*/ 1661 h 8032"/>
                <a:gd name="T96" fmla="*/ 4009 w 6064"/>
                <a:gd name="T97" fmla="*/ 1467 h 8032"/>
                <a:gd name="T98" fmla="*/ 4001 w 6064"/>
                <a:gd name="T99" fmla="*/ 869 h 8032"/>
                <a:gd name="T100" fmla="*/ 4013 w 6064"/>
                <a:gd name="T101" fmla="*/ 584 h 80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6064" h="8032">
                  <a:moveTo>
                    <a:pt x="415" y="22"/>
                  </a:moveTo>
                  <a:lnTo>
                    <a:pt x="382" y="32"/>
                  </a:lnTo>
                  <a:lnTo>
                    <a:pt x="320" y="57"/>
                  </a:lnTo>
                  <a:lnTo>
                    <a:pt x="262" y="89"/>
                  </a:lnTo>
                  <a:lnTo>
                    <a:pt x="207" y="127"/>
                  </a:lnTo>
                  <a:lnTo>
                    <a:pt x="157" y="172"/>
                  </a:lnTo>
                  <a:lnTo>
                    <a:pt x="113" y="221"/>
                  </a:lnTo>
                  <a:lnTo>
                    <a:pt x="75" y="276"/>
                  </a:lnTo>
                  <a:lnTo>
                    <a:pt x="44" y="335"/>
                  </a:lnTo>
                  <a:lnTo>
                    <a:pt x="31" y="366"/>
                  </a:lnTo>
                  <a:lnTo>
                    <a:pt x="26" y="381"/>
                  </a:lnTo>
                  <a:lnTo>
                    <a:pt x="17" y="432"/>
                  </a:lnTo>
                  <a:lnTo>
                    <a:pt x="7" y="619"/>
                  </a:lnTo>
                  <a:lnTo>
                    <a:pt x="0" y="1830"/>
                  </a:lnTo>
                  <a:lnTo>
                    <a:pt x="0" y="4016"/>
                  </a:lnTo>
                  <a:lnTo>
                    <a:pt x="0" y="6238"/>
                  </a:lnTo>
                  <a:lnTo>
                    <a:pt x="6" y="7301"/>
                  </a:lnTo>
                  <a:lnTo>
                    <a:pt x="10" y="7503"/>
                  </a:lnTo>
                  <a:lnTo>
                    <a:pt x="17" y="7608"/>
                  </a:lnTo>
                  <a:lnTo>
                    <a:pt x="27" y="7656"/>
                  </a:lnTo>
                  <a:lnTo>
                    <a:pt x="33" y="7672"/>
                  </a:lnTo>
                  <a:lnTo>
                    <a:pt x="42" y="7695"/>
                  </a:lnTo>
                  <a:lnTo>
                    <a:pt x="66" y="7741"/>
                  </a:lnTo>
                  <a:lnTo>
                    <a:pt x="96" y="7785"/>
                  </a:lnTo>
                  <a:lnTo>
                    <a:pt x="130" y="7828"/>
                  </a:lnTo>
                  <a:lnTo>
                    <a:pt x="168" y="7868"/>
                  </a:lnTo>
                  <a:lnTo>
                    <a:pt x="210" y="7905"/>
                  </a:lnTo>
                  <a:lnTo>
                    <a:pt x="255" y="7938"/>
                  </a:lnTo>
                  <a:lnTo>
                    <a:pt x="301" y="7966"/>
                  </a:lnTo>
                  <a:lnTo>
                    <a:pt x="325" y="7977"/>
                  </a:lnTo>
                  <a:lnTo>
                    <a:pt x="425" y="8024"/>
                  </a:lnTo>
                  <a:lnTo>
                    <a:pt x="2541" y="8029"/>
                  </a:lnTo>
                  <a:lnTo>
                    <a:pt x="4658" y="8032"/>
                  </a:lnTo>
                  <a:lnTo>
                    <a:pt x="4566" y="7972"/>
                  </a:lnTo>
                  <a:lnTo>
                    <a:pt x="4489" y="7920"/>
                  </a:lnTo>
                  <a:lnTo>
                    <a:pt x="4443" y="7886"/>
                  </a:lnTo>
                  <a:lnTo>
                    <a:pt x="4437" y="7881"/>
                  </a:lnTo>
                  <a:lnTo>
                    <a:pt x="4404" y="7873"/>
                  </a:lnTo>
                  <a:lnTo>
                    <a:pt x="4284" y="7864"/>
                  </a:lnTo>
                  <a:lnTo>
                    <a:pt x="3588" y="7854"/>
                  </a:lnTo>
                  <a:lnTo>
                    <a:pt x="2435" y="7849"/>
                  </a:lnTo>
                  <a:lnTo>
                    <a:pt x="458" y="7841"/>
                  </a:lnTo>
                  <a:lnTo>
                    <a:pt x="390" y="7804"/>
                  </a:lnTo>
                  <a:lnTo>
                    <a:pt x="360" y="7787"/>
                  </a:lnTo>
                  <a:lnTo>
                    <a:pt x="305" y="7743"/>
                  </a:lnTo>
                  <a:lnTo>
                    <a:pt x="257" y="7691"/>
                  </a:lnTo>
                  <a:lnTo>
                    <a:pt x="218" y="7633"/>
                  </a:lnTo>
                  <a:lnTo>
                    <a:pt x="205" y="7604"/>
                  </a:lnTo>
                  <a:lnTo>
                    <a:pt x="202" y="7583"/>
                  </a:lnTo>
                  <a:lnTo>
                    <a:pt x="196" y="7416"/>
                  </a:lnTo>
                  <a:lnTo>
                    <a:pt x="189" y="6936"/>
                  </a:lnTo>
                  <a:lnTo>
                    <a:pt x="181" y="5346"/>
                  </a:lnTo>
                  <a:lnTo>
                    <a:pt x="181" y="2685"/>
                  </a:lnTo>
                  <a:lnTo>
                    <a:pt x="189" y="1096"/>
                  </a:lnTo>
                  <a:lnTo>
                    <a:pt x="196" y="616"/>
                  </a:lnTo>
                  <a:lnTo>
                    <a:pt x="202" y="448"/>
                  </a:lnTo>
                  <a:lnTo>
                    <a:pt x="205" y="427"/>
                  </a:lnTo>
                  <a:lnTo>
                    <a:pt x="218" y="398"/>
                  </a:lnTo>
                  <a:lnTo>
                    <a:pt x="257" y="340"/>
                  </a:lnTo>
                  <a:lnTo>
                    <a:pt x="305" y="288"/>
                  </a:lnTo>
                  <a:lnTo>
                    <a:pt x="360" y="244"/>
                  </a:lnTo>
                  <a:lnTo>
                    <a:pt x="390" y="227"/>
                  </a:lnTo>
                  <a:lnTo>
                    <a:pt x="458" y="191"/>
                  </a:lnTo>
                  <a:lnTo>
                    <a:pt x="2001" y="191"/>
                  </a:lnTo>
                  <a:lnTo>
                    <a:pt x="3545" y="191"/>
                  </a:lnTo>
                  <a:lnTo>
                    <a:pt x="3626" y="241"/>
                  </a:lnTo>
                  <a:lnTo>
                    <a:pt x="3645" y="253"/>
                  </a:lnTo>
                  <a:lnTo>
                    <a:pt x="3682" y="283"/>
                  </a:lnTo>
                  <a:lnTo>
                    <a:pt x="3716" y="317"/>
                  </a:lnTo>
                  <a:lnTo>
                    <a:pt x="3746" y="354"/>
                  </a:lnTo>
                  <a:lnTo>
                    <a:pt x="3758" y="372"/>
                  </a:lnTo>
                  <a:lnTo>
                    <a:pt x="3808" y="454"/>
                  </a:lnTo>
                  <a:lnTo>
                    <a:pt x="3816" y="1039"/>
                  </a:lnTo>
                  <a:lnTo>
                    <a:pt x="3825" y="1624"/>
                  </a:lnTo>
                  <a:lnTo>
                    <a:pt x="3880" y="1736"/>
                  </a:lnTo>
                  <a:lnTo>
                    <a:pt x="3903" y="1781"/>
                  </a:lnTo>
                  <a:lnTo>
                    <a:pt x="3959" y="1861"/>
                  </a:lnTo>
                  <a:lnTo>
                    <a:pt x="4027" y="1928"/>
                  </a:lnTo>
                  <a:lnTo>
                    <a:pt x="4106" y="1983"/>
                  </a:lnTo>
                  <a:lnTo>
                    <a:pt x="4150" y="2006"/>
                  </a:lnTo>
                  <a:lnTo>
                    <a:pt x="4175" y="2017"/>
                  </a:lnTo>
                  <a:lnTo>
                    <a:pt x="4246" y="2032"/>
                  </a:lnTo>
                  <a:lnTo>
                    <a:pt x="4495" y="2044"/>
                  </a:lnTo>
                  <a:lnTo>
                    <a:pt x="4908" y="2049"/>
                  </a:lnTo>
                  <a:lnTo>
                    <a:pt x="5136" y="2052"/>
                  </a:lnTo>
                  <a:lnTo>
                    <a:pt x="5424" y="2058"/>
                  </a:lnTo>
                  <a:lnTo>
                    <a:pt x="5569" y="2066"/>
                  </a:lnTo>
                  <a:lnTo>
                    <a:pt x="5635" y="2082"/>
                  </a:lnTo>
                  <a:lnTo>
                    <a:pt x="5658" y="2094"/>
                  </a:lnTo>
                  <a:lnTo>
                    <a:pt x="5687" y="2110"/>
                  </a:lnTo>
                  <a:lnTo>
                    <a:pt x="5737" y="2147"/>
                  </a:lnTo>
                  <a:lnTo>
                    <a:pt x="5778" y="2190"/>
                  </a:lnTo>
                  <a:lnTo>
                    <a:pt x="5814" y="2244"/>
                  </a:lnTo>
                  <a:lnTo>
                    <a:pt x="5831" y="2277"/>
                  </a:lnTo>
                  <a:lnTo>
                    <a:pt x="5838" y="2290"/>
                  </a:lnTo>
                  <a:lnTo>
                    <a:pt x="5848" y="2319"/>
                  </a:lnTo>
                  <a:lnTo>
                    <a:pt x="5855" y="2367"/>
                  </a:lnTo>
                  <a:lnTo>
                    <a:pt x="5860" y="2451"/>
                  </a:lnTo>
                  <a:lnTo>
                    <a:pt x="5866" y="2870"/>
                  </a:lnTo>
                  <a:lnTo>
                    <a:pt x="5866" y="3729"/>
                  </a:lnTo>
                  <a:lnTo>
                    <a:pt x="5866" y="5109"/>
                  </a:lnTo>
                  <a:lnTo>
                    <a:pt x="5955" y="5146"/>
                  </a:lnTo>
                  <a:lnTo>
                    <a:pt x="6025" y="5174"/>
                  </a:lnTo>
                  <a:lnTo>
                    <a:pt x="6055" y="5182"/>
                  </a:lnTo>
                  <a:lnTo>
                    <a:pt x="6057" y="5162"/>
                  </a:lnTo>
                  <a:lnTo>
                    <a:pt x="6061" y="4943"/>
                  </a:lnTo>
                  <a:lnTo>
                    <a:pt x="6064" y="4320"/>
                  </a:lnTo>
                  <a:lnTo>
                    <a:pt x="6063" y="3744"/>
                  </a:lnTo>
                  <a:lnTo>
                    <a:pt x="6058" y="2307"/>
                  </a:lnTo>
                  <a:lnTo>
                    <a:pt x="6005" y="2197"/>
                  </a:lnTo>
                  <a:lnTo>
                    <a:pt x="5995" y="2178"/>
                  </a:lnTo>
                  <a:lnTo>
                    <a:pt x="5972" y="2141"/>
                  </a:lnTo>
                  <a:lnTo>
                    <a:pt x="5939" y="2098"/>
                  </a:lnTo>
                  <a:lnTo>
                    <a:pt x="5887" y="2042"/>
                  </a:lnTo>
                  <a:lnTo>
                    <a:pt x="5763" y="1920"/>
                  </a:lnTo>
                  <a:lnTo>
                    <a:pt x="5458" y="1639"/>
                  </a:lnTo>
                  <a:lnTo>
                    <a:pt x="5221" y="1422"/>
                  </a:lnTo>
                  <a:lnTo>
                    <a:pt x="4390" y="664"/>
                  </a:lnTo>
                  <a:lnTo>
                    <a:pt x="3873" y="197"/>
                  </a:lnTo>
                  <a:lnTo>
                    <a:pt x="3752" y="93"/>
                  </a:lnTo>
                  <a:lnTo>
                    <a:pt x="3730" y="79"/>
                  </a:lnTo>
                  <a:lnTo>
                    <a:pt x="3707" y="65"/>
                  </a:lnTo>
                  <a:lnTo>
                    <a:pt x="3659" y="42"/>
                  </a:lnTo>
                  <a:lnTo>
                    <a:pt x="3593" y="25"/>
                  </a:lnTo>
                  <a:lnTo>
                    <a:pt x="3487" y="13"/>
                  </a:lnTo>
                  <a:lnTo>
                    <a:pt x="3224" y="3"/>
                  </a:lnTo>
                  <a:lnTo>
                    <a:pt x="2541" y="0"/>
                  </a:lnTo>
                  <a:lnTo>
                    <a:pt x="1991" y="1"/>
                  </a:lnTo>
                  <a:lnTo>
                    <a:pt x="1235" y="1"/>
                  </a:lnTo>
                  <a:lnTo>
                    <a:pt x="633" y="8"/>
                  </a:lnTo>
                  <a:lnTo>
                    <a:pt x="447" y="16"/>
                  </a:lnTo>
                  <a:lnTo>
                    <a:pt x="415" y="22"/>
                  </a:lnTo>
                  <a:close/>
                  <a:moveTo>
                    <a:pt x="4725" y="1224"/>
                  </a:moveTo>
                  <a:lnTo>
                    <a:pt x="5421" y="1857"/>
                  </a:lnTo>
                  <a:lnTo>
                    <a:pt x="4873" y="1862"/>
                  </a:lnTo>
                  <a:lnTo>
                    <a:pt x="4633" y="1864"/>
                  </a:lnTo>
                  <a:lnTo>
                    <a:pt x="4383" y="1860"/>
                  </a:lnTo>
                  <a:lnTo>
                    <a:pt x="4286" y="1854"/>
                  </a:lnTo>
                  <a:lnTo>
                    <a:pt x="4266" y="1851"/>
                  </a:lnTo>
                  <a:lnTo>
                    <a:pt x="4236" y="1840"/>
                  </a:lnTo>
                  <a:lnTo>
                    <a:pt x="4173" y="1803"/>
                  </a:lnTo>
                  <a:lnTo>
                    <a:pt x="4113" y="1752"/>
                  </a:lnTo>
                  <a:lnTo>
                    <a:pt x="4063" y="1692"/>
                  </a:lnTo>
                  <a:lnTo>
                    <a:pt x="4045" y="1661"/>
                  </a:lnTo>
                  <a:lnTo>
                    <a:pt x="4033" y="1637"/>
                  </a:lnTo>
                  <a:lnTo>
                    <a:pt x="4017" y="1580"/>
                  </a:lnTo>
                  <a:lnTo>
                    <a:pt x="4009" y="1467"/>
                  </a:lnTo>
                  <a:lnTo>
                    <a:pt x="4005" y="1252"/>
                  </a:lnTo>
                  <a:lnTo>
                    <a:pt x="4003" y="1084"/>
                  </a:lnTo>
                  <a:lnTo>
                    <a:pt x="4001" y="869"/>
                  </a:lnTo>
                  <a:lnTo>
                    <a:pt x="4004" y="658"/>
                  </a:lnTo>
                  <a:lnTo>
                    <a:pt x="4009" y="589"/>
                  </a:lnTo>
                  <a:lnTo>
                    <a:pt x="4013" y="584"/>
                  </a:lnTo>
                  <a:lnTo>
                    <a:pt x="4181" y="731"/>
                  </a:lnTo>
                  <a:lnTo>
                    <a:pt x="4725" y="122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ar-SA" noProof="0" dirty="0">
                <a:latin typeface="Tajawal" panose="00000500000000000000" pitchFamily="2" charset="-78"/>
                <a:cs typeface="Tajawal" panose="00000500000000000000" pitchFamily="2" charset="-78"/>
              </a:endParaRPr>
            </a:p>
          </p:txBody>
        </p:sp>
        <p:sp>
          <p:nvSpPr>
            <p:cNvPr id="30" name="Freeform 192">
              <a:extLst>
                <a:ext uri="{FF2B5EF4-FFF2-40B4-BE49-F238E27FC236}">
                  <a16:creationId xmlns:a16="http://schemas.microsoft.com/office/drawing/2014/main" id="{A3C20801-CFA8-4B96-9DFA-637FBC91BF6E}"/>
                </a:ext>
              </a:extLst>
            </p:cNvPr>
            <p:cNvSpPr>
              <a:spLocks/>
            </p:cNvSpPr>
            <p:nvPr/>
          </p:nvSpPr>
          <p:spPr bwMode="auto">
            <a:xfrm>
              <a:off x="3543301" y="571500"/>
              <a:ext cx="371475" cy="44450"/>
            </a:xfrm>
            <a:custGeom>
              <a:avLst/>
              <a:gdLst>
                <a:gd name="T0" fmla="*/ 16 w 1582"/>
                <a:gd name="T1" fmla="*/ 32 h 184"/>
                <a:gd name="T2" fmla="*/ 7 w 1582"/>
                <a:gd name="T3" fmla="*/ 51 h 184"/>
                <a:gd name="T4" fmla="*/ 0 w 1582"/>
                <a:gd name="T5" fmla="*/ 87 h 184"/>
                <a:gd name="T6" fmla="*/ 5 w 1582"/>
                <a:gd name="T7" fmla="*/ 120 h 184"/>
                <a:gd name="T8" fmla="*/ 22 w 1582"/>
                <a:gd name="T9" fmla="*/ 146 h 184"/>
                <a:gd name="T10" fmla="*/ 36 w 1582"/>
                <a:gd name="T11" fmla="*/ 157 h 184"/>
                <a:gd name="T12" fmla="*/ 43 w 1582"/>
                <a:gd name="T13" fmla="*/ 161 h 184"/>
                <a:gd name="T14" fmla="*/ 64 w 1582"/>
                <a:gd name="T15" fmla="*/ 168 h 184"/>
                <a:gd name="T16" fmla="*/ 122 w 1582"/>
                <a:gd name="T17" fmla="*/ 176 h 184"/>
                <a:gd name="T18" fmla="*/ 394 w 1582"/>
                <a:gd name="T19" fmla="*/ 183 h 184"/>
                <a:gd name="T20" fmla="*/ 801 w 1582"/>
                <a:gd name="T21" fmla="*/ 184 h 184"/>
                <a:gd name="T22" fmla="*/ 1234 w 1582"/>
                <a:gd name="T23" fmla="*/ 183 h 184"/>
                <a:gd name="T24" fmla="*/ 1489 w 1582"/>
                <a:gd name="T25" fmla="*/ 176 h 184"/>
                <a:gd name="T26" fmla="*/ 1535 w 1582"/>
                <a:gd name="T27" fmla="*/ 167 h 184"/>
                <a:gd name="T28" fmla="*/ 1549 w 1582"/>
                <a:gd name="T29" fmla="*/ 159 h 184"/>
                <a:gd name="T30" fmla="*/ 1554 w 1582"/>
                <a:gd name="T31" fmla="*/ 154 h 184"/>
                <a:gd name="T32" fmla="*/ 1566 w 1582"/>
                <a:gd name="T33" fmla="*/ 139 h 184"/>
                <a:gd name="T34" fmla="*/ 1580 w 1582"/>
                <a:gd name="T35" fmla="*/ 103 h 184"/>
                <a:gd name="T36" fmla="*/ 1582 w 1582"/>
                <a:gd name="T37" fmla="*/ 65 h 184"/>
                <a:gd name="T38" fmla="*/ 1572 w 1582"/>
                <a:gd name="T39" fmla="*/ 32 h 184"/>
                <a:gd name="T40" fmla="*/ 1563 w 1582"/>
                <a:gd name="T41" fmla="*/ 20 h 184"/>
                <a:gd name="T42" fmla="*/ 1551 w 1582"/>
                <a:gd name="T43" fmla="*/ 15 h 184"/>
                <a:gd name="T44" fmla="*/ 1464 w 1582"/>
                <a:gd name="T45" fmla="*/ 7 h 184"/>
                <a:gd name="T46" fmla="*/ 1165 w 1582"/>
                <a:gd name="T47" fmla="*/ 1 h 184"/>
                <a:gd name="T48" fmla="*/ 788 w 1582"/>
                <a:gd name="T49" fmla="*/ 0 h 184"/>
                <a:gd name="T50" fmla="*/ 329 w 1582"/>
                <a:gd name="T51" fmla="*/ 1 h 184"/>
                <a:gd name="T52" fmla="*/ 71 w 1582"/>
                <a:gd name="T53" fmla="*/ 9 h 184"/>
                <a:gd name="T54" fmla="*/ 30 w 1582"/>
                <a:gd name="T55" fmla="*/ 18 h 184"/>
                <a:gd name="T56" fmla="*/ 19 w 1582"/>
                <a:gd name="T57" fmla="*/ 27 h 184"/>
                <a:gd name="T58" fmla="*/ 16 w 1582"/>
                <a:gd name="T59" fmla="*/ 32 h 1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1582" h="184">
                  <a:moveTo>
                    <a:pt x="16" y="32"/>
                  </a:moveTo>
                  <a:lnTo>
                    <a:pt x="7" y="51"/>
                  </a:lnTo>
                  <a:lnTo>
                    <a:pt x="0" y="87"/>
                  </a:lnTo>
                  <a:lnTo>
                    <a:pt x="5" y="120"/>
                  </a:lnTo>
                  <a:lnTo>
                    <a:pt x="22" y="146"/>
                  </a:lnTo>
                  <a:lnTo>
                    <a:pt x="36" y="157"/>
                  </a:lnTo>
                  <a:lnTo>
                    <a:pt x="43" y="161"/>
                  </a:lnTo>
                  <a:lnTo>
                    <a:pt x="64" y="168"/>
                  </a:lnTo>
                  <a:lnTo>
                    <a:pt x="122" y="176"/>
                  </a:lnTo>
                  <a:lnTo>
                    <a:pt x="394" y="183"/>
                  </a:lnTo>
                  <a:lnTo>
                    <a:pt x="801" y="184"/>
                  </a:lnTo>
                  <a:lnTo>
                    <a:pt x="1234" y="183"/>
                  </a:lnTo>
                  <a:lnTo>
                    <a:pt x="1489" y="176"/>
                  </a:lnTo>
                  <a:lnTo>
                    <a:pt x="1535" y="167"/>
                  </a:lnTo>
                  <a:lnTo>
                    <a:pt x="1549" y="159"/>
                  </a:lnTo>
                  <a:lnTo>
                    <a:pt x="1554" y="154"/>
                  </a:lnTo>
                  <a:lnTo>
                    <a:pt x="1566" y="139"/>
                  </a:lnTo>
                  <a:lnTo>
                    <a:pt x="1580" y="103"/>
                  </a:lnTo>
                  <a:lnTo>
                    <a:pt x="1582" y="65"/>
                  </a:lnTo>
                  <a:lnTo>
                    <a:pt x="1572" y="32"/>
                  </a:lnTo>
                  <a:lnTo>
                    <a:pt x="1563" y="20"/>
                  </a:lnTo>
                  <a:lnTo>
                    <a:pt x="1551" y="15"/>
                  </a:lnTo>
                  <a:lnTo>
                    <a:pt x="1464" y="7"/>
                  </a:lnTo>
                  <a:lnTo>
                    <a:pt x="1165" y="1"/>
                  </a:lnTo>
                  <a:lnTo>
                    <a:pt x="788" y="0"/>
                  </a:lnTo>
                  <a:lnTo>
                    <a:pt x="329" y="1"/>
                  </a:lnTo>
                  <a:lnTo>
                    <a:pt x="71" y="9"/>
                  </a:lnTo>
                  <a:lnTo>
                    <a:pt x="30" y="18"/>
                  </a:lnTo>
                  <a:lnTo>
                    <a:pt x="19" y="27"/>
                  </a:lnTo>
                  <a:lnTo>
                    <a:pt x="16" y="3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ar-SA" noProof="0" dirty="0">
                <a:latin typeface="Tajawal" panose="00000500000000000000" pitchFamily="2" charset="-78"/>
                <a:cs typeface="Tajawal" panose="00000500000000000000" pitchFamily="2" charset="-78"/>
              </a:endParaRPr>
            </a:p>
          </p:txBody>
        </p:sp>
        <p:sp>
          <p:nvSpPr>
            <p:cNvPr id="31" name="Freeform 193">
              <a:extLst>
                <a:ext uri="{FF2B5EF4-FFF2-40B4-BE49-F238E27FC236}">
                  <a16:creationId xmlns:a16="http://schemas.microsoft.com/office/drawing/2014/main" id="{341BA33C-F8DE-9EE7-6E8E-26BF7767CEBE}"/>
                </a:ext>
              </a:extLst>
            </p:cNvPr>
            <p:cNvSpPr>
              <a:spLocks/>
            </p:cNvSpPr>
            <p:nvPr/>
          </p:nvSpPr>
          <p:spPr bwMode="auto">
            <a:xfrm>
              <a:off x="3543301" y="835025"/>
              <a:ext cx="657225" cy="42863"/>
            </a:xfrm>
            <a:custGeom>
              <a:avLst/>
              <a:gdLst>
                <a:gd name="T0" fmla="*/ 25 w 2796"/>
                <a:gd name="T1" fmla="*/ 27 h 183"/>
                <a:gd name="T2" fmla="*/ 13 w 2796"/>
                <a:gd name="T3" fmla="*/ 41 h 183"/>
                <a:gd name="T4" fmla="*/ 0 w 2796"/>
                <a:gd name="T5" fmla="*/ 74 h 183"/>
                <a:gd name="T6" fmla="*/ 1 w 2796"/>
                <a:gd name="T7" fmla="*/ 109 h 183"/>
                <a:gd name="T8" fmla="*/ 16 w 2796"/>
                <a:gd name="T9" fmla="*/ 142 h 183"/>
                <a:gd name="T10" fmla="*/ 28 w 2796"/>
                <a:gd name="T11" fmla="*/ 155 h 183"/>
                <a:gd name="T12" fmla="*/ 34 w 2796"/>
                <a:gd name="T13" fmla="*/ 160 h 183"/>
                <a:gd name="T14" fmla="*/ 60 w 2796"/>
                <a:gd name="T15" fmla="*/ 168 h 183"/>
                <a:gd name="T16" fmla="*/ 145 w 2796"/>
                <a:gd name="T17" fmla="*/ 176 h 183"/>
                <a:gd name="T18" fmla="*/ 621 w 2796"/>
                <a:gd name="T19" fmla="*/ 183 h 183"/>
                <a:gd name="T20" fmla="*/ 1402 w 2796"/>
                <a:gd name="T21" fmla="*/ 183 h 183"/>
                <a:gd name="T22" fmla="*/ 2209 w 2796"/>
                <a:gd name="T23" fmla="*/ 183 h 183"/>
                <a:gd name="T24" fmla="*/ 2671 w 2796"/>
                <a:gd name="T25" fmla="*/ 176 h 183"/>
                <a:gd name="T26" fmla="*/ 2745 w 2796"/>
                <a:gd name="T27" fmla="*/ 167 h 183"/>
                <a:gd name="T28" fmla="*/ 2765 w 2796"/>
                <a:gd name="T29" fmla="*/ 158 h 183"/>
                <a:gd name="T30" fmla="*/ 2770 w 2796"/>
                <a:gd name="T31" fmla="*/ 153 h 183"/>
                <a:gd name="T32" fmla="*/ 2782 w 2796"/>
                <a:gd name="T33" fmla="*/ 138 h 183"/>
                <a:gd name="T34" fmla="*/ 2796 w 2796"/>
                <a:gd name="T35" fmla="*/ 105 h 183"/>
                <a:gd name="T36" fmla="*/ 2796 w 2796"/>
                <a:gd name="T37" fmla="*/ 71 h 183"/>
                <a:gd name="T38" fmla="*/ 2784 w 2796"/>
                <a:gd name="T39" fmla="*/ 40 h 183"/>
                <a:gd name="T40" fmla="*/ 2772 w 2796"/>
                <a:gd name="T41" fmla="*/ 27 h 183"/>
                <a:gd name="T42" fmla="*/ 2766 w 2796"/>
                <a:gd name="T43" fmla="*/ 22 h 183"/>
                <a:gd name="T44" fmla="*/ 2741 w 2796"/>
                <a:gd name="T45" fmla="*/ 15 h 183"/>
                <a:gd name="T46" fmla="*/ 2652 w 2796"/>
                <a:gd name="T47" fmla="*/ 8 h 183"/>
                <a:gd name="T48" fmla="*/ 2169 w 2796"/>
                <a:gd name="T49" fmla="*/ 0 h 183"/>
                <a:gd name="T50" fmla="*/ 1398 w 2796"/>
                <a:gd name="T51" fmla="*/ 0 h 183"/>
                <a:gd name="T52" fmla="*/ 628 w 2796"/>
                <a:gd name="T53" fmla="*/ 0 h 183"/>
                <a:gd name="T54" fmla="*/ 145 w 2796"/>
                <a:gd name="T55" fmla="*/ 8 h 183"/>
                <a:gd name="T56" fmla="*/ 56 w 2796"/>
                <a:gd name="T57" fmla="*/ 15 h 183"/>
                <a:gd name="T58" fmla="*/ 30 w 2796"/>
                <a:gd name="T59" fmla="*/ 22 h 183"/>
                <a:gd name="T60" fmla="*/ 25 w 2796"/>
                <a:gd name="T61" fmla="*/ 27 h 1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2796" h="183">
                  <a:moveTo>
                    <a:pt x="25" y="27"/>
                  </a:moveTo>
                  <a:lnTo>
                    <a:pt x="13" y="41"/>
                  </a:lnTo>
                  <a:lnTo>
                    <a:pt x="0" y="74"/>
                  </a:lnTo>
                  <a:lnTo>
                    <a:pt x="1" y="109"/>
                  </a:lnTo>
                  <a:lnTo>
                    <a:pt x="16" y="142"/>
                  </a:lnTo>
                  <a:lnTo>
                    <a:pt x="28" y="155"/>
                  </a:lnTo>
                  <a:lnTo>
                    <a:pt x="34" y="160"/>
                  </a:lnTo>
                  <a:lnTo>
                    <a:pt x="60" y="168"/>
                  </a:lnTo>
                  <a:lnTo>
                    <a:pt x="145" y="176"/>
                  </a:lnTo>
                  <a:lnTo>
                    <a:pt x="621" y="183"/>
                  </a:lnTo>
                  <a:lnTo>
                    <a:pt x="1402" y="183"/>
                  </a:lnTo>
                  <a:lnTo>
                    <a:pt x="2209" y="183"/>
                  </a:lnTo>
                  <a:lnTo>
                    <a:pt x="2671" y="176"/>
                  </a:lnTo>
                  <a:lnTo>
                    <a:pt x="2745" y="167"/>
                  </a:lnTo>
                  <a:lnTo>
                    <a:pt x="2765" y="158"/>
                  </a:lnTo>
                  <a:lnTo>
                    <a:pt x="2770" y="153"/>
                  </a:lnTo>
                  <a:lnTo>
                    <a:pt x="2782" y="138"/>
                  </a:lnTo>
                  <a:lnTo>
                    <a:pt x="2796" y="105"/>
                  </a:lnTo>
                  <a:lnTo>
                    <a:pt x="2796" y="71"/>
                  </a:lnTo>
                  <a:lnTo>
                    <a:pt x="2784" y="40"/>
                  </a:lnTo>
                  <a:lnTo>
                    <a:pt x="2772" y="27"/>
                  </a:lnTo>
                  <a:lnTo>
                    <a:pt x="2766" y="22"/>
                  </a:lnTo>
                  <a:lnTo>
                    <a:pt x="2741" y="15"/>
                  </a:lnTo>
                  <a:lnTo>
                    <a:pt x="2652" y="8"/>
                  </a:lnTo>
                  <a:lnTo>
                    <a:pt x="2169" y="0"/>
                  </a:lnTo>
                  <a:lnTo>
                    <a:pt x="1398" y="0"/>
                  </a:lnTo>
                  <a:lnTo>
                    <a:pt x="628" y="0"/>
                  </a:lnTo>
                  <a:lnTo>
                    <a:pt x="145" y="8"/>
                  </a:lnTo>
                  <a:lnTo>
                    <a:pt x="56" y="15"/>
                  </a:lnTo>
                  <a:lnTo>
                    <a:pt x="30" y="22"/>
                  </a:lnTo>
                  <a:lnTo>
                    <a:pt x="25" y="2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ar-SA" noProof="0" dirty="0">
                <a:latin typeface="Tajawal" panose="00000500000000000000" pitchFamily="2" charset="-78"/>
                <a:cs typeface="Tajawal" panose="00000500000000000000" pitchFamily="2" charset="-78"/>
              </a:endParaRPr>
            </a:p>
          </p:txBody>
        </p:sp>
        <p:sp>
          <p:nvSpPr>
            <p:cNvPr id="32" name="Freeform 194">
              <a:extLst>
                <a:ext uri="{FF2B5EF4-FFF2-40B4-BE49-F238E27FC236}">
                  <a16:creationId xmlns:a16="http://schemas.microsoft.com/office/drawing/2014/main" id="{E2C848AD-75EF-EC83-2814-E94B50743544}"/>
                </a:ext>
              </a:extLst>
            </p:cNvPr>
            <p:cNvSpPr>
              <a:spLocks/>
            </p:cNvSpPr>
            <p:nvPr/>
          </p:nvSpPr>
          <p:spPr bwMode="auto">
            <a:xfrm>
              <a:off x="3543301" y="944563"/>
              <a:ext cx="877888" cy="42863"/>
            </a:xfrm>
            <a:custGeom>
              <a:avLst/>
              <a:gdLst>
                <a:gd name="T0" fmla="*/ 25 w 3730"/>
                <a:gd name="T1" fmla="*/ 26 h 183"/>
                <a:gd name="T2" fmla="*/ 13 w 3730"/>
                <a:gd name="T3" fmla="*/ 40 h 183"/>
                <a:gd name="T4" fmla="*/ 0 w 3730"/>
                <a:gd name="T5" fmla="*/ 73 h 183"/>
                <a:gd name="T6" fmla="*/ 1 w 3730"/>
                <a:gd name="T7" fmla="*/ 109 h 183"/>
                <a:gd name="T8" fmla="*/ 16 w 3730"/>
                <a:gd name="T9" fmla="*/ 141 h 183"/>
                <a:gd name="T10" fmla="*/ 28 w 3730"/>
                <a:gd name="T11" fmla="*/ 155 h 183"/>
                <a:gd name="T12" fmla="*/ 35 w 3730"/>
                <a:gd name="T13" fmla="*/ 159 h 183"/>
                <a:gd name="T14" fmla="*/ 65 w 3730"/>
                <a:gd name="T15" fmla="*/ 167 h 183"/>
                <a:gd name="T16" fmla="*/ 175 w 3730"/>
                <a:gd name="T17" fmla="*/ 176 h 183"/>
                <a:gd name="T18" fmla="*/ 812 w 3730"/>
                <a:gd name="T19" fmla="*/ 183 h 183"/>
                <a:gd name="T20" fmla="*/ 1868 w 3730"/>
                <a:gd name="T21" fmla="*/ 183 h 183"/>
                <a:gd name="T22" fmla="*/ 2960 w 3730"/>
                <a:gd name="T23" fmla="*/ 183 h 183"/>
                <a:gd name="T24" fmla="*/ 3578 w 3730"/>
                <a:gd name="T25" fmla="*/ 175 h 183"/>
                <a:gd name="T26" fmla="*/ 3674 w 3730"/>
                <a:gd name="T27" fmla="*/ 166 h 183"/>
                <a:gd name="T28" fmla="*/ 3698 w 3730"/>
                <a:gd name="T29" fmla="*/ 158 h 183"/>
                <a:gd name="T30" fmla="*/ 3703 w 3730"/>
                <a:gd name="T31" fmla="*/ 153 h 183"/>
                <a:gd name="T32" fmla="*/ 3715 w 3730"/>
                <a:gd name="T33" fmla="*/ 138 h 183"/>
                <a:gd name="T34" fmla="*/ 3729 w 3730"/>
                <a:gd name="T35" fmla="*/ 105 h 183"/>
                <a:gd name="T36" fmla="*/ 3730 w 3730"/>
                <a:gd name="T37" fmla="*/ 71 h 183"/>
                <a:gd name="T38" fmla="*/ 3717 w 3730"/>
                <a:gd name="T39" fmla="*/ 40 h 183"/>
                <a:gd name="T40" fmla="*/ 3705 w 3730"/>
                <a:gd name="T41" fmla="*/ 26 h 183"/>
                <a:gd name="T42" fmla="*/ 3699 w 3730"/>
                <a:gd name="T43" fmla="*/ 22 h 183"/>
                <a:gd name="T44" fmla="*/ 3668 w 3730"/>
                <a:gd name="T45" fmla="*/ 15 h 183"/>
                <a:gd name="T46" fmla="*/ 3552 w 3730"/>
                <a:gd name="T47" fmla="*/ 7 h 183"/>
                <a:gd name="T48" fmla="*/ 2905 w 3730"/>
                <a:gd name="T49" fmla="*/ 0 h 183"/>
                <a:gd name="T50" fmla="*/ 1865 w 3730"/>
                <a:gd name="T51" fmla="*/ 0 h 183"/>
                <a:gd name="T52" fmla="*/ 825 w 3730"/>
                <a:gd name="T53" fmla="*/ 0 h 183"/>
                <a:gd name="T54" fmla="*/ 178 w 3730"/>
                <a:gd name="T55" fmla="*/ 7 h 183"/>
                <a:gd name="T56" fmla="*/ 62 w 3730"/>
                <a:gd name="T57" fmla="*/ 15 h 183"/>
                <a:gd name="T58" fmla="*/ 31 w 3730"/>
                <a:gd name="T59" fmla="*/ 22 h 183"/>
                <a:gd name="T60" fmla="*/ 25 w 3730"/>
                <a:gd name="T61" fmla="*/ 26 h 1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3730" h="183">
                  <a:moveTo>
                    <a:pt x="25" y="26"/>
                  </a:moveTo>
                  <a:lnTo>
                    <a:pt x="13" y="40"/>
                  </a:lnTo>
                  <a:lnTo>
                    <a:pt x="0" y="73"/>
                  </a:lnTo>
                  <a:lnTo>
                    <a:pt x="1" y="109"/>
                  </a:lnTo>
                  <a:lnTo>
                    <a:pt x="16" y="141"/>
                  </a:lnTo>
                  <a:lnTo>
                    <a:pt x="28" y="155"/>
                  </a:lnTo>
                  <a:lnTo>
                    <a:pt x="35" y="159"/>
                  </a:lnTo>
                  <a:lnTo>
                    <a:pt x="65" y="167"/>
                  </a:lnTo>
                  <a:lnTo>
                    <a:pt x="175" y="176"/>
                  </a:lnTo>
                  <a:lnTo>
                    <a:pt x="812" y="183"/>
                  </a:lnTo>
                  <a:lnTo>
                    <a:pt x="1868" y="183"/>
                  </a:lnTo>
                  <a:lnTo>
                    <a:pt x="2960" y="183"/>
                  </a:lnTo>
                  <a:lnTo>
                    <a:pt x="3578" y="175"/>
                  </a:lnTo>
                  <a:lnTo>
                    <a:pt x="3674" y="166"/>
                  </a:lnTo>
                  <a:lnTo>
                    <a:pt x="3698" y="158"/>
                  </a:lnTo>
                  <a:lnTo>
                    <a:pt x="3703" y="153"/>
                  </a:lnTo>
                  <a:lnTo>
                    <a:pt x="3715" y="138"/>
                  </a:lnTo>
                  <a:lnTo>
                    <a:pt x="3729" y="105"/>
                  </a:lnTo>
                  <a:lnTo>
                    <a:pt x="3730" y="71"/>
                  </a:lnTo>
                  <a:lnTo>
                    <a:pt x="3717" y="40"/>
                  </a:lnTo>
                  <a:lnTo>
                    <a:pt x="3705" y="26"/>
                  </a:lnTo>
                  <a:lnTo>
                    <a:pt x="3699" y="22"/>
                  </a:lnTo>
                  <a:lnTo>
                    <a:pt x="3668" y="15"/>
                  </a:lnTo>
                  <a:lnTo>
                    <a:pt x="3552" y="7"/>
                  </a:lnTo>
                  <a:lnTo>
                    <a:pt x="2905" y="0"/>
                  </a:lnTo>
                  <a:lnTo>
                    <a:pt x="1865" y="0"/>
                  </a:lnTo>
                  <a:lnTo>
                    <a:pt x="825" y="0"/>
                  </a:lnTo>
                  <a:lnTo>
                    <a:pt x="178" y="7"/>
                  </a:lnTo>
                  <a:lnTo>
                    <a:pt x="62" y="15"/>
                  </a:lnTo>
                  <a:lnTo>
                    <a:pt x="31" y="22"/>
                  </a:lnTo>
                  <a:lnTo>
                    <a:pt x="25" y="2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ar-SA" noProof="0" dirty="0">
                <a:latin typeface="Tajawal" panose="00000500000000000000" pitchFamily="2" charset="-78"/>
                <a:cs typeface="Tajawal" panose="00000500000000000000" pitchFamily="2" charset="-78"/>
              </a:endParaRPr>
            </a:p>
          </p:txBody>
        </p:sp>
        <p:sp>
          <p:nvSpPr>
            <p:cNvPr id="33" name="Freeform 195">
              <a:extLst>
                <a:ext uri="{FF2B5EF4-FFF2-40B4-BE49-F238E27FC236}">
                  <a16:creationId xmlns:a16="http://schemas.microsoft.com/office/drawing/2014/main" id="{E2D1D724-B567-C2AC-80AC-9BF4DDAB0347}"/>
                </a:ext>
              </a:extLst>
            </p:cNvPr>
            <p:cNvSpPr>
              <a:spLocks/>
            </p:cNvSpPr>
            <p:nvPr/>
          </p:nvSpPr>
          <p:spPr bwMode="auto">
            <a:xfrm>
              <a:off x="3543301" y="1054100"/>
              <a:ext cx="811213" cy="42863"/>
            </a:xfrm>
            <a:custGeom>
              <a:avLst/>
              <a:gdLst>
                <a:gd name="T0" fmla="*/ 25 w 3449"/>
                <a:gd name="T1" fmla="*/ 27 h 184"/>
                <a:gd name="T2" fmla="*/ 13 w 3449"/>
                <a:gd name="T3" fmla="*/ 41 h 184"/>
                <a:gd name="T4" fmla="*/ 0 w 3449"/>
                <a:gd name="T5" fmla="*/ 74 h 184"/>
                <a:gd name="T6" fmla="*/ 1 w 3449"/>
                <a:gd name="T7" fmla="*/ 109 h 184"/>
                <a:gd name="T8" fmla="*/ 16 w 3449"/>
                <a:gd name="T9" fmla="*/ 142 h 184"/>
                <a:gd name="T10" fmla="*/ 28 w 3449"/>
                <a:gd name="T11" fmla="*/ 155 h 184"/>
                <a:gd name="T12" fmla="*/ 35 w 3449"/>
                <a:gd name="T13" fmla="*/ 160 h 184"/>
                <a:gd name="T14" fmla="*/ 63 w 3449"/>
                <a:gd name="T15" fmla="*/ 168 h 184"/>
                <a:gd name="T16" fmla="*/ 166 w 3449"/>
                <a:gd name="T17" fmla="*/ 176 h 184"/>
                <a:gd name="T18" fmla="*/ 754 w 3449"/>
                <a:gd name="T19" fmla="*/ 183 h 184"/>
                <a:gd name="T20" fmla="*/ 1728 w 3449"/>
                <a:gd name="T21" fmla="*/ 184 h 184"/>
                <a:gd name="T22" fmla="*/ 2351 w 3449"/>
                <a:gd name="T23" fmla="*/ 184 h 184"/>
                <a:gd name="T24" fmla="*/ 2939 w 3449"/>
                <a:gd name="T25" fmla="*/ 182 h 184"/>
                <a:gd name="T26" fmla="*/ 3188 w 3449"/>
                <a:gd name="T27" fmla="*/ 178 h 184"/>
                <a:gd name="T28" fmla="*/ 3340 w 3449"/>
                <a:gd name="T29" fmla="*/ 170 h 184"/>
                <a:gd name="T30" fmla="*/ 3402 w 3449"/>
                <a:gd name="T31" fmla="*/ 160 h 184"/>
                <a:gd name="T32" fmla="*/ 3428 w 3449"/>
                <a:gd name="T33" fmla="*/ 152 h 184"/>
                <a:gd name="T34" fmla="*/ 3442 w 3449"/>
                <a:gd name="T35" fmla="*/ 142 h 184"/>
                <a:gd name="T36" fmla="*/ 3448 w 3449"/>
                <a:gd name="T37" fmla="*/ 130 h 184"/>
                <a:gd name="T38" fmla="*/ 3449 w 3449"/>
                <a:gd name="T39" fmla="*/ 109 h 184"/>
                <a:gd name="T40" fmla="*/ 3448 w 3449"/>
                <a:gd name="T41" fmla="*/ 92 h 184"/>
                <a:gd name="T42" fmla="*/ 3449 w 3449"/>
                <a:gd name="T43" fmla="*/ 75 h 184"/>
                <a:gd name="T44" fmla="*/ 3448 w 3449"/>
                <a:gd name="T45" fmla="*/ 54 h 184"/>
                <a:gd name="T46" fmla="*/ 3442 w 3449"/>
                <a:gd name="T47" fmla="*/ 42 h 184"/>
                <a:gd name="T48" fmla="*/ 3427 w 3449"/>
                <a:gd name="T49" fmla="*/ 32 h 184"/>
                <a:gd name="T50" fmla="*/ 3402 w 3449"/>
                <a:gd name="T51" fmla="*/ 24 h 184"/>
                <a:gd name="T52" fmla="*/ 3339 w 3449"/>
                <a:gd name="T53" fmla="*/ 14 h 184"/>
                <a:gd name="T54" fmla="*/ 3187 w 3449"/>
                <a:gd name="T55" fmla="*/ 6 h 184"/>
                <a:gd name="T56" fmla="*/ 2937 w 3449"/>
                <a:gd name="T57" fmla="*/ 2 h 184"/>
                <a:gd name="T58" fmla="*/ 2348 w 3449"/>
                <a:gd name="T59" fmla="*/ 0 h 184"/>
                <a:gd name="T60" fmla="*/ 1723 w 3449"/>
                <a:gd name="T61" fmla="*/ 0 h 184"/>
                <a:gd name="T62" fmla="*/ 765 w 3449"/>
                <a:gd name="T63" fmla="*/ 1 h 184"/>
                <a:gd name="T64" fmla="*/ 168 w 3449"/>
                <a:gd name="T65" fmla="*/ 8 h 184"/>
                <a:gd name="T66" fmla="*/ 61 w 3449"/>
                <a:gd name="T67" fmla="*/ 16 h 184"/>
                <a:gd name="T68" fmla="*/ 31 w 3449"/>
                <a:gd name="T69" fmla="*/ 23 h 184"/>
                <a:gd name="T70" fmla="*/ 25 w 3449"/>
                <a:gd name="T71" fmla="*/ 27 h 1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3449" h="184">
                  <a:moveTo>
                    <a:pt x="25" y="27"/>
                  </a:moveTo>
                  <a:lnTo>
                    <a:pt x="13" y="41"/>
                  </a:lnTo>
                  <a:lnTo>
                    <a:pt x="0" y="74"/>
                  </a:lnTo>
                  <a:lnTo>
                    <a:pt x="1" y="109"/>
                  </a:lnTo>
                  <a:lnTo>
                    <a:pt x="16" y="142"/>
                  </a:lnTo>
                  <a:lnTo>
                    <a:pt x="28" y="155"/>
                  </a:lnTo>
                  <a:lnTo>
                    <a:pt x="35" y="160"/>
                  </a:lnTo>
                  <a:lnTo>
                    <a:pt x="63" y="168"/>
                  </a:lnTo>
                  <a:lnTo>
                    <a:pt x="166" y="176"/>
                  </a:lnTo>
                  <a:lnTo>
                    <a:pt x="754" y="183"/>
                  </a:lnTo>
                  <a:lnTo>
                    <a:pt x="1728" y="184"/>
                  </a:lnTo>
                  <a:lnTo>
                    <a:pt x="2351" y="184"/>
                  </a:lnTo>
                  <a:lnTo>
                    <a:pt x="2939" y="182"/>
                  </a:lnTo>
                  <a:lnTo>
                    <a:pt x="3188" y="178"/>
                  </a:lnTo>
                  <a:lnTo>
                    <a:pt x="3340" y="170"/>
                  </a:lnTo>
                  <a:lnTo>
                    <a:pt x="3402" y="160"/>
                  </a:lnTo>
                  <a:lnTo>
                    <a:pt x="3428" y="152"/>
                  </a:lnTo>
                  <a:lnTo>
                    <a:pt x="3442" y="142"/>
                  </a:lnTo>
                  <a:lnTo>
                    <a:pt x="3448" y="130"/>
                  </a:lnTo>
                  <a:lnTo>
                    <a:pt x="3449" y="109"/>
                  </a:lnTo>
                  <a:lnTo>
                    <a:pt x="3448" y="92"/>
                  </a:lnTo>
                  <a:lnTo>
                    <a:pt x="3449" y="75"/>
                  </a:lnTo>
                  <a:lnTo>
                    <a:pt x="3448" y="54"/>
                  </a:lnTo>
                  <a:lnTo>
                    <a:pt x="3442" y="42"/>
                  </a:lnTo>
                  <a:lnTo>
                    <a:pt x="3427" y="32"/>
                  </a:lnTo>
                  <a:lnTo>
                    <a:pt x="3402" y="24"/>
                  </a:lnTo>
                  <a:lnTo>
                    <a:pt x="3339" y="14"/>
                  </a:lnTo>
                  <a:lnTo>
                    <a:pt x="3187" y="6"/>
                  </a:lnTo>
                  <a:lnTo>
                    <a:pt x="2937" y="2"/>
                  </a:lnTo>
                  <a:lnTo>
                    <a:pt x="2348" y="0"/>
                  </a:lnTo>
                  <a:lnTo>
                    <a:pt x="1723" y="0"/>
                  </a:lnTo>
                  <a:lnTo>
                    <a:pt x="765" y="1"/>
                  </a:lnTo>
                  <a:lnTo>
                    <a:pt x="168" y="8"/>
                  </a:lnTo>
                  <a:lnTo>
                    <a:pt x="61" y="16"/>
                  </a:lnTo>
                  <a:lnTo>
                    <a:pt x="31" y="23"/>
                  </a:lnTo>
                  <a:lnTo>
                    <a:pt x="25" y="2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ar-SA" noProof="0" dirty="0">
                <a:latin typeface="Tajawal" panose="00000500000000000000" pitchFamily="2" charset="-78"/>
                <a:cs typeface="Tajawal" panose="00000500000000000000" pitchFamily="2" charset="-78"/>
              </a:endParaRPr>
            </a:p>
          </p:txBody>
        </p:sp>
        <p:sp>
          <p:nvSpPr>
            <p:cNvPr id="34" name="Freeform 196">
              <a:extLst>
                <a:ext uri="{FF2B5EF4-FFF2-40B4-BE49-F238E27FC236}">
                  <a16:creationId xmlns:a16="http://schemas.microsoft.com/office/drawing/2014/main" id="{EB7F2890-0AE5-0535-2DDF-78C45E160022}"/>
                </a:ext>
              </a:extLst>
            </p:cNvPr>
            <p:cNvSpPr>
              <a:spLocks/>
            </p:cNvSpPr>
            <p:nvPr/>
          </p:nvSpPr>
          <p:spPr bwMode="auto">
            <a:xfrm>
              <a:off x="3543301" y="1163638"/>
              <a:ext cx="304800" cy="42863"/>
            </a:xfrm>
            <a:custGeom>
              <a:avLst/>
              <a:gdLst>
                <a:gd name="T0" fmla="*/ 25 w 1300"/>
                <a:gd name="T1" fmla="*/ 27 h 183"/>
                <a:gd name="T2" fmla="*/ 13 w 1300"/>
                <a:gd name="T3" fmla="*/ 41 h 183"/>
                <a:gd name="T4" fmla="*/ 0 w 1300"/>
                <a:gd name="T5" fmla="*/ 74 h 183"/>
                <a:gd name="T6" fmla="*/ 1 w 1300"/>
                <a:gd name="T7" fmla="*/ 109 h 183"/>
                <a:gd name="T8" fmla="*/ 16 w 1300"/>
                <a:gd name="T9" fmla="*/ 142 h 183"/>
                <a:gd name="T10" fmla="*/ 28 w 1300"/>
                <a:gd name="T11" fmla="*/ 155 h 183"/>
                <a:gd name="T12" fmla="*/ 34 w 1300"/>
                <a:gd name="T13" fmla="*/ 160 h 183"/>
                <a:gd name="T14" fmla="*/ 51 w 1300"/>
                <a:gd name="T15" fmla="*/ 167 h 183"/>
                <a:gd name="T16" fmla="*/ 95 w 1300"/>
                <a:gd name="T17" fmla="*/ 175 h 183"/>
                <a:gd name="T18" fmla="*/ 311 w 1300"/>
                <a:gd name="T19" fmla="*/ 183 h 183"/>
                <a:gd name="T20" fmla="*/ 647 w 1300"/>
                <a:gd name="T21" fmla="*/ 183 h 183"/>
                <a:gd name="T22" fmla="*/ 908 w 1300"/>
                <a:gd name="T23" fmla="*/ 182 h 183"/>
                <a:gd name="T24" fmla="*/ 1162 w 1300"/>
                <a:gd name="T25" fmla="*/ 176 h 183"/>
                <a:gd name="T26" fmla="*/ 1252 w 1300"/>
                <a:gd name="T27" fmla="*/ 170 h 183"/>
                <a:gd name="T28" fmla="*/ 1267 w 1300"/>
                <a:gd name="T29" fmla="*/ 167 h 183"/>
                <a:gd name="T30" fmla="*/ 1273 w 1300"/>
                <a:gd name="T31" fmla="*/ 162 h 183"/>
                <a:gd name="T32" fmla="*/ 1284 w 1300"/>
                <a:gd name="T33" fmla="*/ 149 h 183"/>
                <a:gd name="T34" fmla="*/ 1296 w 1300"/>
                <a:gd name="T35" fmla="*/ 121 h 183"/>
                <a:gd name="T36" fmla="*/ 1300 w 1300"/>
                <a:gd name="T37" fmla="*/ 76 h 183"/>
                <a:gd name="T38" fmla="*/ 1293 w 1300"/>
                <a:gd name="T39" fmla="*/ 44 h 183"/>
                <a:gd name="T40" fmla="*/ 1284 w 1300"/>
                <a:gd name="T41" fmla="*/ 27 h 183"/>
                <a:gd name="T42" fmla="*/ 1278 w 1300"/>
                <a:gd name="T43" fmla="*/ 20 h 183"/>
                <a:gd name="T44" fmla="*/ 1268 w 1300"/>
                <a:gd name="T45" fmla="*/ 15 h 183"/>
                <a:gd name="T46" fmla="*/ 1195 w 1300"/>
                <a:gd name="T47" fmla="*/ 7 h 183"/>
                <a:gd name="T48" fmla="*/ 954 w 1300"/>
                <a:gd name="T49" fmla="*/ 1 h 183"/>
                <a:gd name="T50" fmla="*/ 655 w 1300"/>
                <a:gd name="T51" fmla="*/ 0 h 183"/>
                <a:gd name="T52" fmla="*/ 316 w 1300"/>
                <a:gd name="T53" fmla="*/ 0 h 183"/>
                <a:gd name="T54" fmla="*/ 92 w 1300"/>
                <a:gd name="T55" fmla="*/ 8 h 183"/>
                <a:gd name="T56" fmla="*/ 46 w 1300"/>
                <a:gd name="T57" fmla="*/ 15 h 183"/>
                <a:gd name="T58" fmla="*/ 30 w 1300"/>
                <a:gd name="T59" fmla="*/ 22 h 183"/>
                <a:gd name="T60" fmla="*/ 25 w 1300"/>
                <a:gd name="T61" fmla="*/ 27 h 1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1300" h="183">
                  <a:moveTo>
                    <a:pt x="25" y="27"/>
                  </a:moveTo>
                  <a:lnTo>
                    <a:pt x="13" y="41"/>
                  </a:lnTo>
                  <a:lnTo>
                    <a:pt x="0" y="74"/>
                  </a:lnTo>
                  <a:lnTo>
                    <a:pt x="1" y="109"/>
                  </a:lnTo>
                  <a:lnTo>
                    <a:pt x="16" y="142"/>
                  </a:lnTo>
                  <a:lnTo>
                    <a:pt x="28" y="155"/>
                  </a:lnTo>
                  <a:lnTo>
                    <a:pt x="34" y="160"/>
                  </a:lnTo>
                  <a:lnTo>
                    <a:pt x="51" y="167"/>
                  </a:lnTo>
                  <a:lnTo>
                    <a:pt x="95" y="175"/>
                  </a:lnTo>
                  <a:lnTo>
                    <a:pt x="311" y="183"/>
                  </a:lnTo>
                  <a:lnTo>
                    <a:pt x="647" y="183"/>
                  </a:lnTo>
                  <a:lnTo>
                    <a:pt x="908" y="182"/>
                  </a:lnTo>
                  <a:lnTo>
                    <a:pt x="1162" y="176"/>
                  </a:lnTo>
                  <a:lnTo>
                    <a:pt x="1252" y="170"/>
                  </a:lnTo>
                  <a:lnTo>
                    <a:pt x="1267" y="167"/>
                  </a:lnTo>
                  <a:lnTo>
                    <a:pt x="1273" y="162"/>
                  </a:lnTo>
                  <a:lnTo>
                    <a:pt x="1284" y="149"/>
                  </a:lnTo>
                  <a:lnTo>
                    <a:pt x="1296" y="121"/>
                  </a:lnTo>
                  <a:lnTo>
                    <a:pt x="1300" y="76"/>
                  </a:lnTo>
                  <a:lnTo>
                    <a:pt x="1293" y="44"/>
                  </a:lnTo>
                  <a:lnTo>
                    <a:pt x="1284" y="27"/>
                  </a:lnTo>
                  <a:lnTo>
                    <a:pt x="1278" y="20"/>
                  </a:lnTo>
                  <a:lnTo>
                    <a:pt x="1268" y="15"/>
                  </a:lnTo>
                  <a:lnTo>
                    <a:pt x="1195" y="7"/>
                  </a:lnTo>
                  <a:lnTo>
                    <a:pt x="954" y="1"/>
                  </a:lnTo>
                  <a:lnTo>
                    <a:pt x="655" y="0"/>
                  </a:lnTo>
                  <a:lnTo>
                    <a:pt x="316" y="0"/>
                  </a:lnTo>
                  <a:lnTo>
                    <a:pt x="92" y="8"/>
                  </a:lnTo>
                  <a:lnTo>
                    <a:pt x="46" y="15"/>
                  </a:lnTo>
                  <a:lnTo>
                    <a:pt x="30" y="22"/>
                  </a:lnTo>
                  <a:lnTo>
                    <a:pt x="25" y="2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ar-SA" noProof="0" dirty="0">
                <a:latin typeface="Tajawal" panose="00000500000000000000" pitchFamily="2" charset="-78"/>
                <a:cs typeface="Tajawal" panose="00000500000000000000" pitchFamily="2" charset="-78"/>
              </a:endParaRPr>
            </a:p>
          </p:txBody>
        </p:sp>
        <p:sp>
          <p:nvSpPr>
            <p:cNvPr id="35" name="Freeform 197">
              <a:extLst>
                <a:ext uri="{FF2B5EF4-FFF2-40B4-BE49-F238E27FC236}">
                  <a16:creationId xmlns:a16="http://schemas.microsoft.com/office/drawing/2014/main" id="{3566A8D2-52D7-C292-2516-AABAA50B81D0}"/>
                </a:ext>
              </a:extLst>
            </p:cNvPr>
            <p:cNvSpPr>
              <a:spLocks noEditPoints="1"/>
            </p:cNvSpPr>
            <p:nvPr/>
          </p:nvSpPr>
          <p:spPr bwMode="auto">
            <a:xfrm>
              <a:off x="4235451" y="1384300"/>
              <a:ext cx="655638" cy="654050"/>
            </a:xfrm>
            <a:custGeom>
              <a:avLst/>
              <a:gdLst>
                <a:gd name="T0" fmla="*/ 1014 w 2790"/>
                <a:gd name="T1" fmla="*/ 47 h 2786"/>
                <a:gd name="T2" fmla="*/ 733 w 2790"/>
                <a:gd name="T3" fmla="*/ 165 h 2786"/>
                <a:gd name="T4" fmla="*/ 483 w 2790"/>
                <a:gd name="T5" fmla="*/ 335 h 2786"/>
                <a:gd name="T6" fmla="*/ 353 w 2790"/>
                <a:gd name="T7" fmla="*/ 464 h 2786"/>
                <a:gd name="T8" fmla="*/ 198 w 2790"/>
                <a:gd name="T9" fmla="*/ 675 h 2786"/>
                <a:gd name="T10" fmla="*/ 88 w 2790"/>
                <a:gd name="T11" fmla="*/ 904 h 2786"/>
                <a:gd name="T12" fmla="*/ 22 w 2790"/>
                <a:gd name="T13" fmla="*/ 1143 h 2786"/>
                <a:gd name="T14" fmla="*/ 0 w 2790"/>
                <a:gd name="T15" fmla="*/ 1387 h 2786"/>
                <a:gd name="T16" fmla="*/ 35 w 2790"/>
                <a:gd name="T17" fmla="*/ 1710 h 2786"/>
                <a:gd name="T18" fmla="*/ 110 w 2790"/>
                <a:gd name="T19" fmla="*/ 1942 h 2786"/>
                <a:gd name="T20" fmla="*/ 226 w 2790"/>
                <a:gd name="T21" fmla="*/ 2160 h 2786"/>
                <a:gd name="T22" fmla="*/ 381 w 2790"/>
                <a:gd name="T23" fmla="*/ 2356 h 2786"/>
                <a:gd name="T24" fmla="*/ 575 w 2790"/>
                <a:gd name="T25" fmla="*/ 2524 h 2786"/>
                <a:gd name="T26" fmla="*/ 766 w 2790"/>
                <a:gd name="T27" fmla="*/ 2639 h 2786"/>
                <a:gd name="T28" fmla="*/ 1026 w 2790"/>
                <a:gd name="T29" fmla="*/ 2743 h 2786"/>
                <a:gd name="T30" fmla="*/ 1293 w 2790"/>
                <a:gd name="T31" fmla="*/ 2784 h 2786"/>
                <a:gd name="T32" fmla="*/ 1631 w 2790"/>
                <a:gd name="T33" fmla="*/ 2774 h 2786"/>
                <a:gd name="T34" fmla="*/ 1821 w 2790"/>
                <a:gd name="T35" fmla="*/ 2728 h 2786"/>
                <a:gd name="T36" fmla="*/ 2079 w 2790"/>
                <a:gd name="T37" fmla="*/ 2615 h 2786"/>
                <a:gd name="T38" fmla="*/ 2307 w 2790"/>
                <a:gd name="T39" fmla="*/ 2455 h 2786"/>
                <a:gd name="T40" fmla="*/ 2498 w 2790"/>
                <a:gd name="T41" fmla="*/ 2254 h 2786"/>
                <a:gd name="T42" fmla="*/ 2649 w 2790"/>
                <a:gd name="T43" fmla="*/ 2014 h 2786"/>
                <a:gd name="T44" fmla="*/ 2741 w 2790"/>
                <a:gd name="T45" fmla="*/ 1789 h 2786"/>
                <a:gd name="T46" fmla="*/ 2783 w 2790"/>
                <a:gd name="T47" fmla="*/ 1554 h 2786"/>
                <a:gd name="T48" fmla="*/ 2774 w 2790"/>
                <a:gd name="T49" fmla="*/ 1150 h 2786"/>
                <a:gd name="T50" fmla="*/ 2729 w 2790"/>
                <a:gd name="T51" fmla="*/ 964 h 2786"/>
                <a:gd name="T52" fmla="*/ 2606 w 2790"/>
                <a:gd name="T53" fmla="*/ 689 h 2786"/>
                <a:gd name="T54" fmla="*/ 2420 w 2790"/>
                <a:gd name="T55" fmla="*/ 442 h 2786"/>
                <a:gd name="T56" fmla="*/ 2265 w 2790"/>
                <a:gd name="T57" fmla="*/ 298 h 2786"/>
                <a:gd name="T58" fmla="*/ 2005 w 2790"/>
                <a:gd name="T59" fmla="*/ 133 h 2786"/>
                <a:gd name="T60" fmla="*/ 1713 w 2790"/>
                <a:gd name="T61" fmla="*/ 31 h 2786"/>
                <a:gd name="T62" fmla="*/ 1477 w 2790"/>
                <a:gd name="T63" fmla="*/ 1 h 2786"/>
                <a:gd name="T64" fmla="*/ 1154 w 2790"/>
                <a:gd name="T65" fmla="*/ 14 h 2786"/>
                <a:gd name="T66" fmla="*/ 1794 w 2790"/>
                <a:gd name="T67" fmla="*/ 552 h 2786"/>
                <a:gd name="T68" fmla="*/ 2049 w 2790"/>
                <a:gd name="T69" fmla="*/ 737 h 2786"/>
                <a:gd name="T70" fmla="*/ 2206 w 2790"/>
                <a:gd name="T71" fmla="*/ 932 h 2786"/>
                <a:gd name="T72" fmla="*/ 2305 w 2790"/>
                <a:gd name="T73" fmla="*/ 1189 h 2786"/>
                <a:gd name="T74" fmla="*/ 2319 w 2790"/>
                <a:gd name="T75" fmla="*/ 1439 h 2786"/>
                <a:gd name="T76" fmla="*/ 2286 w 2790"/>
                <a:gd name="T77" fmla="*/ 1667 h 2786"/>
                <a:gd name="T78" fmla="*/ 2201 w 2790"/>
                <a:gd name="T79" fmla="*/ 1861 h 2786"/>
                <a:gd name="T80" fmla="*/ 2079 w 2790"/>
                <a:gd name="T81" fmla="*/ 2024 h 2786"/>
                <a:gd name="T82" fmla="*/ 1874 w 2790"/>
                <a:gd name="T83" fmla="*/ 2191 h 2786"/>
                <a:gd name="T84" fmla="*/ 1626 w 2790"/>
                <a:gd name="T85" fmla="*/ 2295 h 2786"/>
                <a:gd name="T86" fmla="*/ 1440 w 2790"/>
                <a:gd name="T87" fmla="*/ 2327 h 2786"/>
                <a:gd name="T88" fmla="*/ 1216 w 2790"/>
                <a:gd name="T89" fmla="*/ 2306 h 2786"/>
                <a:gd name="T90" fmla="*/ 917 w 2790"/>
                <a:gd name="T91" fmla="*/ 2188 h 2786"/>
                <a:gd name="T92" fmla="*/ 639 w 2790"/>
                <a:gd name="T93" fmla="*/ 1929 h 2786"/>
                <a:gd name="T94" fmla="*/ 499 w 2790"/>
                <a:gd name="T95" fmla="*/ 1641 h 2786"/>
                <a:gd name="T96" fmla="*/ 471 w 2790"/>
                <a:gd name="T97" fmla="*/ 1464 h 2786"/>
                <a:gd name="T98" fmla="*/ 492 w 2790"/>
                <a:gd name="T99" fmla="*/ 1180 h 2786"/>
                <a:gd name="T100" fmla="*/ 569 w 2790"/>
                <a:gd name="T101" fmla="*/ 978 h 2786"/>
                <a:gd name="T102" fmla="*/ 801 w 2790"/>
                <a:gd name="T103" fmla="*/ 684 h 2786"/>
                <a:gd name="T104" fmla="*/ 1120 w 2790"/>
                <a:gd name="T105" fmla="*/ 503 h 2786"/>
                <a:gd name="T106" fmla="*/ 1339 w 2790"/>
                <a:gd name="T107" fmla="*/ 467 h 2786"/>
                <a:gd name="T108" fmla="*/ 1616 w 2790"/>
                <a:gd name="T109" fmla="*/ 489 h 27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2790" h="2786">
                  <a:moveTo>
                    <a:pt x="1154" y="14"/>
                  </a:moveTo>
                  <a:lnTo>
                    <a:pt x="1108" y="23"/>
                  </a:lnTo>
                  <a:lnTo>
                    <a:pt x="1014" y="47"/>
                  </a:lnTo>
                  <a:lnTo>
                    <a:pt x="920" y="79"/>
                  </a:lnTo>
                  <a:lnTo>
                    <a:pt x="825" y="119"/>
                  </a:lnTo>
                  <a:lnTo>
                    <a:pt x="733" y="165"/>
                  </a:lnTo>
                  <a:lnTo>
                    <a:pt x="644" y="217"/>
                  </a:lnTo>
                  <a:lnTo>
                    <a:pt x="560" y="274"/>
                  </a:lnTo>
                  <a:lnTo>
                    <a:pt x="483" y="335"/>
                  </a:lnTo>
                  <a:lnTo>
                    <a:pt x="447" y="367"/>
                  </a:lnTo>
                  <a:lnTo>
                    <a:pt x="414" y="399"/>
                  </a:lnTo>
                  <a:lnTo>
                    <a:pt x="353" y="464"/>
                  </a:lnTo>
                  <a:lnTo>
                    <a:pt x="296" y="532"/>
                  </a:lnTo>
                  <a:lnTo>
                    <a:pt x="244" y="603"/>
                  </a:lnTo>
                  <a:lnTo>
                    <a:pt x="198" y="675"/>
                  </a:lnTo>
                  <a:lnTo>
                    <a:pt x="156" y="750"/>
                  </a:lnTo>
                  <a:lnTo>
                    <a:pt x="120" y="826"/>
                  </a:lnTo>
                  <a:lnTo>
                    <a:pt x="88" y="904"/>
                  </a:lnTo>
                  <a:lnTo>
                    <a:pt x="61" y="982"/>
                  </a:lnTo>
                  <a:lnTo>
                    <a:pt x="39" y="1062"/>
                  </a:lnTo>
                  <a:lnTo>
                    <a:pt x="22" y="1143"/>
                  </a:lnTo>
                  <a:lnTo>
                    <a:pt x="10" y="1224"/>
                  </a:lnTo>
                  <a:lnTo>
                    <a:pt x="2" y="1305"/>
                  </a:lnTo>
                  <a:lnTo>
                    <a:pt x="0" y="1387"/>
                  </a:lnTo>
                  <a:lnTo>
                    <a:pt x="4" y="1509"/>
                  </a:lnTo>
                  <a:lnTo>
                    <a:pt x="19" y="1630"/>
                  </a:lnTo>
                  <a:lnTo>
                    <a:pt x="35" y="1710"/>
                  </a:lnTo>
                  <a:lnTo>
                    <a:pt x="56" y="1789"/>
                  </a:lnTo>
                  <a:lnTo>
                    <a:pt x="81" y="1866"/>
                  </a:lnTo>
                  <a:lnTo>
                    <a:pt x="110" y="1942"/>
                  </a:lnTo>
                  <a:lnTo>
                    <a:pt x="144" y="2017"/>
                  </a:lnTo>
                  <a:lnTo>
                    <a:pt x="183" y="2089"/>
                  </a:lnTo>
                  <a:lnTo>
                    <a:pt x="226" y="2160"/>
                  </a:lnTo>
                  <a:lnTo>
                    <a:pt x="273" y="2228"/>
                  </a:lnTo>
                  <a:lnTo>
                    <a:pt x="325" y="2293"/>
                  </a:lnTo>
                  <a:lnTo>
                    <a:pt x="381" y="2356"/>
                  </a:lnTo>
                  <a:lnTo>
                    <a:pt x="441" y="2415"/>
                  </a:lnTo>
                  <a:lnTo>
                    <a:pt x="506" y="2471"/>
                  </a:lnTo>
                  <a:lnTo>
                    <a:pt x="575" y="2524"/>
                  </a:lnTo>
                  <a:lnTo>
                    <a:pt x="648" y="2573"/>
                  </a:lnTo>
                  <a:lnTo>
                    <a:pt x="725" y="2618"/>
                  </a:lnTo>
                  <a:lnTo>
                    <a:pt x="766" y="2639"/>
                  </a:lnTo>
                  <a:lnTo>
                    <a:pt x="844" y="2677"/>
                  </a:lnTo>
                  <a:lnTo>
                    <a:pt x="954" y="2720"/>
                  </a:lnTo>
                  <a:lnTo>
                    <a:pt x="1026" y="2743"/>
                  </a:lnTo>
                  <a:lnTo>
                    <a:pt x="1099" y="2760"/>
                  </a:lnTo>
                  <a:lnTo>
                    <a:pt x="1174" y="2773"/>
                  </a:lnTo>
                  <a:lnTo>
                    <a:pt x="1293" y="2784"/>
                  </a:lnTo>
                  <a:lnTo>
                    <a:pt x="1382" y="2786"/>
                  </a:lnTo>
                  <a:lnTo>
                    <a:pt x="1468" y="2785"/>
                  </a:lnTo>
                  <a:lnTo>
                    <a:pt x="1631" y="2774"/>
                  </a:lnTo>
                  <a:lnTo>
                    <a:pt x="1682" y="2766"/>
                  </a:lnTo>
                  <a:lnTo>
                    <a:pt x="1729" y="2755"/>
                  </a:lnTo>
                  <a:lnTo>
                    <a:pt x="1821" y="2728"/>
                  </a:lnTo>
                  <a:lnTo>
                    <a:pt x="1911" y="2696"/>
                  </a:lnTo>
                  <a:lnTo>
                    <a:pt x="1997" y="2658"/>
                  </a:lnTo>
                  <a:lnTo>
                    <a:pt x="2079" y="2615"/>
                  </a:lnTo>
                  <a:lnTo>
                    <a:pt x="2159" y="2566"/>
                  </a:lnTo>
                  <a:lnTo>
                    <a:pt x="2235" y="2513"/>
                  </a:lnTo>
                  <a:lnTo>
                    <a:pt x="2307" y="2455"/>
                  </a:lnTo>
                  <a:lnTo>
                    <a:pt x="2375" y="2392"/>
                  </a:lnTo>
                  <a:lnTo>
                    <a:pt x="2438" y="2325"/>
                  </a:lnTo>
                  <a:lnTo>
                    <a:pt x="2498" y="2254"/>
                  </a:lnTo>
                  <a:lnTo>
                    <a:pt x="2553" y="2178"/>
                  </a:lnTo>
                  <a:lnTo>
                    <a:pt x="2604" y="2098"/>
                  </a:lnTo>
                  <a:lnTo>
                    <a:pt x="2649" y="2014"/>
                  </a:lnTo>
                  <a:lnTo>
                    <a:pt x="2690" y="1927"/>
                  </a:lnTo>
                  <a:lnTo>
                    <a:pt x="2725" y="1836"/>
                  </a:lnTo>
                  <a:lnTo>
                    <a:pt x="2741" y="1789"/>
                  </a:lnTo>
                  <a:lnTo>
                    <a:pt x="2750" y="1757"/>
                  </a:lnTo>
                  <a:lnTo>
                    <a:pt x="2766" y="1682"/>
                  </a:lnTo>
                  <a:lnTo>
                    <a:pt x="2783" y="1554"/>
                  </a:lnTo>
                  <a:lnTo>
                    <a:pt x="2790" y="1368"/>
                  </a:lnTo>
                  <a:lnTo>
                    <a:pt x="2784" y="1232"/>
                  </a:lnTo>
                  <a:lnTo>
                    <a:pt x="2774" y="1150"/>
                  </a:lnTo>
                  <a:lnTo>
                    <a:pt x="2767" y="1112"/>
                  </a:lnTo>
                  <a:lnTo>
                    <a:pt x="2756" y="1062"/>
                  </a:lnTo>
                  <a:lnTo>
                    <a:pt x="2729" y="964"/>
                  </a:lnTo>
                  <a:lnTo>
                    <a:pt x="2695" y="869"/>
                  </a:lnTo>
                  <a:lnTo>
                    <a:pt x="2654" y="778"/>
                  </a:lnTo>
                  <a:lnTo>
                    <a:pt x="2606" y="689"/>
                  </a:lnTo>
                  <a:lnTo>
                    <a:pt x="2551" y="604"/>
                  </a:lnTo>
                  <a:lnTo>
                    <a:pt x="2489" y="522"/>
                  </a:lnTo>
                  <a:lnTo>
                    <a:pt x="2420" y="442"/>
                  </a:lnTo>
                  <a:lnTo>
                    <a:pt x="2382" y="404"/>
                  </a:lnTo>
                  <a:lnTo>
                    <a:pt x="2344" y="367"/>
                  </a:lnTo>
                  <a:lnTo>
                    <a:pt x="2265" y="298"/>
                  </a:lnTo>
                  <a:lnTo>
                    <a:pt x="2182" y="236"/>
                  </a:lnTo>
                  <a:lnTo>
                    <a:pt x="2095" y="181"/>
                  </a:lnTo>
                  <a:lnTo>
                    <a:pt x="2005" y="133"/>
                  </a:lnTo>
                  <a:lnTo>
                    <a:pt x="1911" y="92"/>
                  </a:lnTo>
                  <a:lnTo>
                    <a:pt x="1813" y="58"/>
                  </a:lnTo>
                  <a:lnTo>
                    <a:pt x="1713" y="31"/>
                  </a:lnTo>
                  <a:lnTo>
                    <a:pt x="1661" y="21"/>
                  </a:lnTo>
                  <a:lnTo>
                    <a:pt x="1608" y="12"/>
                  </a:lnTo>
                  <a:lnTo>
                    <a:pt x="1477" y="1"/>
                  </a:lnTo>
                  <a:lnTo>
                    <a:pt x="1336" y="0"/>
                  </a:lnTo>
                  <a:lnTo>
                    <a:pt x="1206" y="7"/>
                  </a:lnTo>
                  <a:lnTo>
                    <a:pt x="1154" y="14"/>
                  </a:lnTo>
                  <a:close/>
                  <a:moveTo>
                    <a:pt x="1616" y="489"/>
                  </a:moveTo>
                  <a:lnTo>
                    <a:pt x="1679" y="506"/>
                  </a:lnTo>
                  <a:lnTo>
                    <a:pt x="1794" y="552"/>
                  </a:lnTo>
                  <a:lnTo>
                    <a:pt x="1900" y="613"/>
                  </a:lnTo>
                  <a:lnTo>
                    <a:pt x="2000" y="691"/>
                  </a:lnTo>
                  <a:lnTo>
                    <a:pt x="2049" y="737"/>
                  </a:lnTo>
                  <a:lnTo>
                    <a:pt x="2086" y="776"/>
                  </a:lnTo>
                  <a:lnTo>
                    <a:pt x="2152" y="853"/>
                  </a:lnTo>
                  <a:lnTo>
                    <a:pt x="2206" y="932"/>
                  </a:lnTo>
                  <a:lnTo>
                    <a:pt x="2249" y="1014"/>
                  </a:lnTo>
                  <a:lnTo>
                    <a:pt x="2282" y="1099"/>
                  </a:lnTo>
                  <a:lnTo>
                    <a:pt x="2305" y="1189"/>
                  </a:lnTo>
                  <a:lnTo>
                    <a:pt x="2318" y="1284"/>
                  </a:lnTo>
                  <a:lnTo>
                    <a:pt x="2321" y="1385"/>
                  </a:lnTo>
                  <a:lnTo>
                    <a:pt x="2319" y="1439"/>
                  </a:lnTo>
                  <a:lnTo>
                    <a:pt x="2314" y="1512"/>
                  </a:lnTo>
                  <a:lnTo>
                    <a:pt x="2300" y="1608"/>
                  </a:lnTo>
                  <a:lnTo>
                    <a:pt x="2286" y="1667"/>
                  </a:lnTo>
                  <a:lnTo>
                    <a:pt x="2268" y="1724"/>
                  </a:lnTo>
                  <a:lnTo>
                    <a:pt x="2245" y="1779"/>
                  </a:lnTo>
                  <a:lnTo>
                    <a:pt x="2201" y="1861"/>
                  </a:lnTo>
                  <a:lnTo>
                    <a:pt x="2162" y="1919"/>
                  </a:lnTo>
                  <a:lnTo>
                    <a:pt x="2136" y="1956"/>
                  </a:lnTo>
                  <a:lnTo>
                    <a:pt x="2079" y="2024"/>
                  </a:lnTo>
                  <a:lnTo>
                    <a:pt x="2017" y="2086"/>
                  </a:lnTo>
                  <a:lnTo>
                    <a:pt x="1948" y="2142"/>
                  </a:lnTo>
                  <a:lnTo>
                    <a:pt x="1874" y="2191"/>
                  </a:lnTo>
                  <a:lnTo>
                    <a:pt x="1796" y="2233"/>
                  </a:lnTo>
                  <a:lnTo>
                    <a:pt x="1713" y="2268"/>
                  </a:lnTo>
                  <a:lnTo>
                    <a:pt x="1626" y="2295"/>
                  </a:lnTo>
                  <a:lnTo>
                    <a:pt x="1581" y="2306"/>
                  </a:lnTo>
                  <a:lnTo>
                    <a:pt x="1529" y="2316"/>
                  </a:lnTo>
                  <a:lnTo>
                    <a:pt x="1440" y="2327"/>
                  </a:lnTo>
                  <a:lnTo>
                    <a:pt x="1358" y="2327"/>
                  </a:lnTo>
                  <a:lnTo>
                    <a:pt x="1268" y="2316"/>
                  </a:lnTo>
                  <a:lnTo>
                    <a:pt x="1216" y="2306"/>
                  </a:lnTo>
                  <a:lnTo>
                    <a:pt x="1152" y="2291"/>
                  </a:lnTo>
                  <a:lnTo>
                    <a:pt x="1031" y="2247"/>
                  </a:lnTo>
                  <a:lnTo>
                    <a:pt x="917" y="2188"/>
                  </a:lnTo>
                  <a:lnTo>
                    <a:pt x="813" y="2114"/>
                  </a:lnTo>
                  <a:lnTo>
                    <a:pt x="720" y="2028"/>
                  </a:lnTo>
                  <a:lnTo>
                    <a:pt x="639" y="1929"/>
                  </a:lnTo>
                  <a:lnTo>
                    <a:pt x="571" y="1821"/>
                  </a:lnTo>
                  <a:lnTo>
                    <a:pt x="519" y="1703"/>
                  </a:lnTo>
                  <a:lnTo>
                    <a:pt x="499" y="1641"/>
                  </a:lnTo>
                  <a:lnTo>
                    <a:pt x="492" y="1616"/>
                  </a:lnTo>
                  <a:lnTo>
                    <a:pt x="481" y="1559"/>
                  </a:lnTo>
                  <a:lnTo>
                    <a:pt x="471" y="1464"/>
                  </a:lnTo>
                  <a:lnTo>
                    <a:pt x="471" y="1331"/>
                  </a:lnTo>
                  <a:lnTo>
                    <a:pt x="481" y="1237"/>
                  </a:lnTo>
                  <a:lnTo>
                    <a:pt x="492" y="1180"/>
                  </a:lnTo>
                  <a:lnTo>
                    <a:pt x="499" y="1156"/>
                  </a:lnTo>
                  <a:lnTo>
                    <a:pt x="518" y="1095"/>
                  </a:lnTo>
                  <a:lnTo>
                    <a:pt x="569" y="978"/>
                  </a:lnTo>
                  <a:lnTo>
                    <a:pt x="635" y="870"/>
                  </a:lnTo>
                  <a:lnTo>
                    <a:pt x="712" y="772"/>
                  </a:lnTo>
                  <a:lnTo>
                    <a:pt x="801" y="684"/>
                  </a:lnTo>
                  <a:lnTo>
                    <a:pt x="900" y="610"/>
                  </a:lnTo>
                  <a:lnTo>
                    <a:pt x="1007" y="549"/>
                  </a:lnTo>
                  <a:lnTo>
                    <a:pt x="1120" y="503"/>
                  </a:lnTo>
                  <a:lnTo>
                    <a:pt x="1179" y="487"/>
                  </a:lnTo>
                  <a:lnTo>
                    <a:pt x="1226" y="478"/>
                  </a:lnTo>
                  <a:lnTo>
                    <a:pt x="1339" y="467"/>
                  </a:lnTo>
                  <a:lnTo>
                    <a:pt x="1458" y="467"/>
                  </a:lnTo>
                  <a:lnTo>
                    <a:pt x="1569" y="479"/>
                  </a:lnTo>
                  <a:lnTo>
                    <a:pt x="1616" y="489"/>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ar-SA" noProof="0" dirty="0">
                <a:latin typeface="Tajawal" panose="00000500000000000000" pitchFamily="2" charset="-78"/>
                <a:cs typeface="Tajawal" panose="00000500000000000000" pitchFamily="2" charset="-78"/>
              </a:endParaRPr>
            </a:p>
          </p:txBody>
        </p:sp>
        <p:sp>
          <p:nvSpPr>
            <p:cNvPr id="36" name="Freeform 198">
              <a:extLst>
                <a:ext uri="{FF2B5EF4-FFF2-40B4-BE49-F238E27FC236}">
                  <a16:creationId xmlns:a16="http://schemas.microsoft.com/office/drawing/2014/main" id="{DBE178A9-B74D-21AF-7608-7CC13D418303}"/>
                </a:ext>
              </a:extLst>
            </p:cNvPr>
            <p:cNvSpPr>
              <a:spLocks/>
            </p:cNvSpPr>
            <p:nvPr/>
          </p:nvSpPr>
          <p:spPr bwMode="auto">
            <a:xfrm>
              <a:off x="4389438" y="1536700"/>
              <a:ext cx="292100" cy="288925"/>
            </a:xfrm>
            <a:custGeom>
              <a:avLst/>
              <a:gdLst>
                <a:gd name="T0" fmla="*/ 553 w 1240"/>
                <a:gd name="T1" fmla="*/ 21 h 1230"/>
                <a:gd name="T2" fmla="*/ 513 w 1240"/>
                <a:gd name="T3" fmla="*/ 33 h 1230"/>
                <a:gd name="T4" fmla="*/ 437 w 1240"/>
                <a:gd name="T5" fmla="*/ 64 h 1230"/>
                <a:gd name="T6" fmla="*/ 365 w 1240"/>
                <a:gd name="T7" fmla="*/ 101 h 1230"/>
                <a:gd name="T8" fmla="*/ 299 w 1240"/>
                <a:gd name="T9" fmla="*/ 146 h 1230"/>
                <a:gd name="T10" fmla="*/ 238 w 1240"/>
                <a:gd name="T11" fmla="*/ 198 h 1230"/>
                <a:gd name="T12" fmla="*/ 182 w 1240"/>
                <a:gd name="T13" fmla="*/ 256 h 1230"/>
                <a:gd name="T14" fmla="*/ 133 w 1240"/>
                <a:gd name="T15" fmla="*/ 320 h 1230"/>
                <a:gd name="T16" fmla="*/ 90 w 1240"/>
                <a:gd name="T17" fmla="*/ 391 h 1230"/>
                <a:gd name="T18" fmla="*/ 71 w 1240"/>
                <a:gd name="T19" fmla="*/ 428 h 1230"/>
                <a:gd name="T20" fmla="*/ 57 w 1240"/>
                <a:gd name="T21" fmla="*/ 459 h 1230"/>
                <a:gd name="T22" fmla="*/ 34 w 1240"/>
                <a:gd name="T23" fmla="*/ 523 h 1230"/>
                <a:gd name="T24" fmla="*/ 16 w 1240"/>
                <a:gd name="T25" fmla="*/ 588 h 1230"/>
                <a:gd name="T26" fmla="*/ 5 w 1240"/>
                <a:gd name="T27" fmla="*/ 655 h 1230"/>
                <a:gd name="T28" fmla="*/ 0 w 1240"/>
                <a:gd name="T29" fmla="*/ 722 h 1230"/>
                <a:gd name="T30" fmla="*/ 1 w 1240"/>
                <a:gd name="T31" fmla="*/ 790 h 1230"/>
                <a:gd name="T32" fmla="*/ 8 w 1240"/>
                <a:gd name="T33" fmla="*/ 858 h 1230"/>
                <a:gd name="T34" fmla="*/ 22 w 1240"/>
                <a:gd name="T35" fmla="*/ 925 h 1230"/>
                <a:gd name="T36" fmla="*/ 31 w 1240"/>
                <a:gd name="T37" fmla="*/ 958 h 1230"/>
                <a:gd name="T38" fmla="*/ 46 w 1240"/>
                <a:gd name="T39" fmla="*/ 1001 h 1230"/>
                <a:gd name="T40" fmla="*/ 86 w 1240"/>
                <a:gd name="T41" fmla="*/ 1093 h 1230"/>
                <a:gd name="T42" fmla="*/ 131 w 1240"/>
                <a:gd name="T43" fmla="*/ 1174 h 1230"/>
                <a:gd name="T44" fmla="*/ 159 w 1240"/>
                <a:gd name="T45" fmla="*/ 1214 h 1230"/>
                <a:gd name="T46" fmla="*/ 174 w 1240"/>
                <a:gd name="T47" fmla="*/ 1228 h 1230"/>
                <a:gd name="T48" fmla="*/ 180 w 1240"/>
                <a:gd name="T49" fmla="*/ 1230 h 1230"/>
                <a:gd name="T50" fmla="*/ 215 w 1240"/>
                <a:gd name="T51" fmla="*/ 1200 h 1230"/>
                <a:gd name="T52" fmla="*/ 506 w 1240"/>
                <a:gd name="T53" fmla="*/ 916 h 1230"/>
                <a:gd name="T54" fmla="*/ 716 w 1240"/>
                <a:gd name="T55" fmla="*/ 706 h 1230"/>
                <a:gd name="T56" fmla="*/ 1240 w 1240"/>
                <a:gd name="T57" fmla="*/ 183 h 1230"/>
                <a:gd name="T58" fmla="*/ 1168 w 1240"/>
                <a:gd name="T59" fmla="*/ 131 h 1230"/>
                <a:gd name="T60" fmla="*/ 1137 w 1240"/>
                <a:gd name="T61" fmla="*/ 110 h 1230"/>
                <a:gd name="T62" fmla="*/ 1068 w 1240"/>
                <a:gd name="T63" fmla="*/ 74 h 1230"/>
                <a:gd name="T64" fmla="*/ 993 w 1240"/>
                <a:gd name="T65" fmla="*/ 44 h 1230"/>
                <a:gd name="T66" fmla="*/ 913 w 1240"/>
                <a:gd name="T67" fmla="*/ 21 h 1230"/>
                <a:gd name="T68" fmla="*/ 830 w 1240"/>
                <a:gd name="T69" fmla="*/ 6 h 1230"/>
                <a:gd name="T70" fmla="*/ 748 w 1240"/>
                <a:gd name="T71" fmla="*/ 0 h 1230"/>
                <a:gd name="T72" fmla="*/ 666 w 1240"/>
                <a:gd name="T73" fmla="*/ 1 h 1230"/>
                <a:gd name="T74" fmla="*/ 589 w 1240"/>
                <a:gd name="T75" fmla="*/ 12 h 1230"/>
                <a:gd name="T76" fmla="*/ 553 w 1240"/>
                <a:gd name="T77" fmla="*/ 21 h 12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1240" h="1230">
                  <a:moveTo>
                    <a:pt x="553" y="21"/>
                  </a:moveTo>
                  <a:lnTo>
                    <a:pt x="513" y="33"/>
                  </a:lnTo>
                  <a:lnTo>
                    <a:pt x="437" y="64"/>
                  </a:lnTo>
                  <a:lnTo>
                    <a:pt x="365" y="101"/>
                  </a:lnTo>
                  <a:lnTo>
                    <a:pt x="299" y="146"/>
                  </a:lnTo>
                  <a:lnTo>
                    <a:pt x="238" y="198"/>
                  </a:lnTo>
                  <a:lnTo>
                    <a:pt x="182" y="256"/>
                  </a:lnTo>
                  <a:lnTo>
                    <a:pt x="133" y="320"/>
                  </a:lnTo>
                  <a:lnTo>
                    <a:pt x="90" y="391"/>
                  </a:lnTo>
                  <a:lnTo>
                    <a:pt x="71" y="428"/>
                  </a:lnTo>
                  <a:lnTo>
                    <a:pt x="57" y="459"/>
                  </a:lnTo>
                  <a:lnTo>
                    <a:pt x="34" y="523"/>
                  </a:lnTo>
                  <a:lnTo>
                    <a:pt x="16" y="588"/>
                  </a:lnTo>
                  <a:lnTo>
                    <a:pt x="5" y="655"/>
                  </a:lnTo>
                  <a:lnTo>
                    <a:pt x="0" y="722"/>
                  </a:lnTo>
                  <a:lnTo>
                    <a:pt x="1" y="790"/>
                  </a:lnTo>
                  <a:lnTo>
                    <a:pt x="8" y="858"/>
                  </a:lnTo>
                  <a:lnTo>
                    <a:pt x="22" y="925"/>
                  </a:lnTo>
                  <a:lnTo>
                    <a:pt x="31" y="958"/>
                  </a:lnTo>
                  <a:lnTo>
                    <a:pt x="46" y="1001"/>
                  </a:lnTo>
                  <a:lnTo>
                    <a:pt x="86" y="1093"/>
                  </a:lnTo>
                  <a:lnTo>
                    <a:pt x="131" y="1174"/>
                  </a:lnTo>
                  <a:lnTo>
                    <a:pt x="159" y="1214"/>
                  </a:lnTo>
                  <a:lnTo>
                    <a:pt x="174" y="1228"/>
                  </a:lnTo>
                  <a:lnTo>
                    <a:pt x="180" y="1230"/>
                  </a:lnTo>
                  <a:lnTo>
                    <a:pt x="215" y="1200"/>
                  </a:lnTo>
                  <a:lnTo>
                    <a:pt x="506" y="916"/>
                  </a:lnTo>
                  <a:lnTo>
                    <a:pt x="716" y="706"/>
                  </a:lnTo>
                  <a:lnTo>
                    <a:pt x="1240" y="183"/>
                  </a:lnTo>
                  <a:lnTo>
                    <a:pt x="1168" y="131"/>
                  </a:lnTo>
                  <a:lnTo>
                    <a:pt x="1137" y="110"/>
                  </a:lnTo>
                  <a:lnTo>
                    <a:pt x="1068" y="74"/>
                  </a:lnTo>
                  <a:lnTo>
                    <a:pt x="993" y="44"/>
                  </a:lnTo>
                  <a:lnTo>
                    <a:pt x="913" y="21"/>
                  </a:lnTo>
                  <a:lnTo>
                    <a:pt x="830" y="6"/>
                  </a:lnTo>
                  <a:lnTo>
                    <a:pt x="748" y="0"/>
                  </a:lnTo>
                  <a:lnTo>
                    <a:pt x="666" y="1"/>
                  </a:lnTo>
                  <a:lnTo>
                    <a:pt x="589" y="12"/>
                  </a:lnTo>
                  <a:lnTo>
                    <a:pt x="553" y="2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ar-SA" noProof="0" dirty="0">
                <a:latin typeface="Tajawal" panose="00000500000000000000" pitchFamily="2" charset="-78"/>
                <a:cs typeface="Tajawal" panose="00000500000000000000" pitchFamily="2" charset="-78"/>
              </a:endParaRPr>
            </a:p>
          </p:txBody>
        </p:sp>
        <p:sp>
          <p:nvSpPr>
            <p:cNvPr id="37" name="Freeform 199">
              <a:extLst>
                <a:ext uri="{FF2B5EF4-FFF2-40B4-BE49-F238E27FC236}">
                  <a16:creationId xmlns:a16="http://schemas.microsoft.com/office/drawing/2014/main" id="{FB7C3BD4-4663-09DD-5B0F-A7E9D654D139}"/>
                </a:ext>
              </a:extLst>
            </p:cNvPr>
            <p:cNvSpPr>
              <a:spLocks/>
            </p:cNvSpPr>
            <p:nvPr/>
          </p:nvSpPr>
          <p:spPr bwMode="auto">
            <a:xfrm>
              <a:off x="4448176" y="1598613"/>
              <a:ext cx="290513" cy="287338"/>
            </a:xfrm>
            <a:custGeom>
              <a:avLst/>
              <a:gdLst>
                <a:gd name="T0" fmla="*/ 522 w 1234"/>
                <a:gd name="T1" fmla="*/ 523 h 1221"/>
                <a:gd name="T2" fmla="*/ 0 w 1234"/>
                <a:gd name="T3" fmla="*/ 1045 h 1221"/>
                <a:gd name="T4" fmla="*/ 50 w 1234"/>
                <a:gd name="T5" fmla="*/ 1082 h 1221"/>
                <a:gd name="T6" fmla="*/ 84 w 1234"/>
                <a:gd name="T7" fmla="*/ 1105 h 1221"/>
                <a:gd name="T8" fmla="*/ 155 w 1234"/>
                <a:gd name="T9" fmla="*/ 1145 h 1221"/>
                <a:gd name="T10" fmla="*/ 228 w 1234"/>
                <a:gd name="T11" fmla="*/ 1176 h 1221"/>
                <a:gd name="T12" fmla="*/ 303 w 1234"/>
                <a:gd name="T13" fmla="*/ 1199 h 1221"/>
                <a:gd name="T14" fmla="*/ 379 w 1234"/>
                <a:gd name="T15" fmla="*/ 1214 h 1221"/>
                <a:gd name="T16" fmla="*/ 456 w 1234"/>
                <a:gd name="T17" fmla="*/ 1221 h 1221"/>
                <a:gd name="T18" fmla="*/ 533 w 1234"/>
                <a:gd name="T19" fmla="*/ 1220 h 1221"/>
                <a:gd name="T20" fmla="*/ 609 w 1234"/>
                <a:gd name="T21" fmla="*/ 1212 h 1221"/>
                <a:gd name="T22" fmla="*/ 684 w 1234"/>
                <a:gd name="T23" fmla="*/ 1196 h 1221"/>
                <a:gd name="T24" fmla="*/ 758 w 1234"/>
                <a:gd name="T25" fmla="*/ 1173 h 1221"/>
                <a:gd name="T26" fmla="*/ 828 w 1234"/>
                <a:gd name="T27" fmla="*/ 1142 h 1221"/>
                <a:gd name="T28" fmla="*/ 895 w 1234"/>
                <a:gd name="T29" fmla="*/ 1104 h 1221"/>
                <a:gd name="T30" fmla="*/ 959 w 1234"/>
                <a:gd name="T31" fmla="*/ 1060 h 1221"/>
                <a:gd name="T32" fmla="*/ 1018 w 1234"/>
                <a:gd name="T33" fmla="*/ 1008 h 1221"/>
                <a:gd name="T34" fmla="*/ 1072 w 1234"/>
                <a:gd name="T35" fmla="*/ 950 h 1221"/>
                <a:gd name="T36" fmla="*/ 1120 w 1234"/>
                <a:gd name="T37" fmla="*/ 885 h 1221"/>
                <a:gd name="T38" fmla="*/ 1142 w 1234"/>
                <a:gd name="T39" fmla="*/ 850 h 1221"/>
                <a:gd name="T40" fmla="*/ 1159 w 1234"/>
                <a:gd name="T41" fmla="*/ 819 h 1221"/>
                <a:gd name="T42" fmla="*/ 1188 w 1234"/>
                <a:gd name="T43" fmla="*/ 752 h 1221"/>
                <a:gd name="T44" fmla="*/ 1210 w 1234"/>
                <a:gd name="T45" fmla="*/ 680 h 1221"/>
                <a:gd name="T46" fmla="*/ 1225 w 1234"/>
                <a:gd name="T47" fmla="*/ 605 h 1221"/>
                <a:gd name="T48" fmla="*/ 1233 w 1234"/>
                <a:gd name="T49" fmla="*/ 528 h 1221"/>
                <a:gd name="T50" fmla="*/ 1234 w 1234"/>
                <a:gd name="T51" fmla="*/ 450 h 1221"/>
                <a:gd name="T52" fmla="*/ 1228 w 1234"/>
                <a:gd name="T53" fmla="*/ 374 h 1221"/>
                <a:gd name="T54" fmla="*/ 1214 w 1234"/>
                <a:gd name="T55" fmla="*/ 300 h 1221"/>
                <a:gd name="T56" fmla="*/ 1203 w 1234"/>
                <a:gd name="T57" fmla="*/ 265 h 1221"/>
                <a:gd name="T58" fmla="*/ 1190 w 1234"/>
                <a:gd name="T59" fmla="*/ 224 h 1221"/>
                <a:gd name="T60" fmla="*/ 1150 w 1234"/>
                <a:gd name="T61" fmla="*/ 135 h 1221"/>
                <a:gd name="T62" fmla="*/ 1107 w 1234"/>
                <a:gd name="T63" fmla="*/ 55 h 1221"/>
                <a:gd name="T64" fmla="*/ 1078 w 1234"/>
                <a:gd name="T65" fmla="*/ 15 h 1221"/>
                <a:gd name="T66" fmla="*/ 1064 w 1234"/>
                <a:gd name="T67" fmla="*/ 1 h 1221"/>
                <a:gd name="T68" fmla="*/ 1058 w 1234"/>
                <a:gd name="T69" fmla="*/ 0 h 1221"/>
                <a:gd name="T70" fmla="*/ 1023 w 1234"/>
                <a:gd name="T71" fmla="*/ 29 h 1221"/>
                <a:gd name="T72" fmla="*/ 732 w 1234"/>
                <a:gd name="T73" fmla="*/ 314 h 1221"/>
                <a:gd name="T74" fmla="*/ 522 w 1234"/>
                <a:gd name="T75" fmla="*/ 523 h 12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34" h="1221">
                  <a:moveTo>
                    <a:pt x="522" y="523"/>
                  </a:moveTo>
                  <a:lnTo>
                    <a:pt x="0" y="1045"/>
                  </a:lnTo>
                  <a:lnTo>
                    <a:pt x="50" y="1082"/>
                  </a:lnTo>
                  <a:lnTo>
                    <a:pt x="84" y="1105"/>
                  </a:lnTo>
                  <a:lnTo>
                    <a:pt x="155" y="1145"/>
                  </a:lnTo>
                  <a:lnTo>
                    <a:pt x="228" y="1176"/>
                  </a:lnTo>
                  <a:lnTo>
                    <a:pt x="303" y="1199"/>
                  </a:lnTo>
                  <a:lnTo>
                    <a:pt x="379" y="1214"/>
                  </a:lnTo>
                  <a:lnTo>
                    <a:pt x="456" y="1221"/>
                  </a:lnTo>
                  <a:lnTo>
                    <a:pt x="533" y="1220"/>
                  </a:lnTo>
                  <a:lnTo>
                    <a:pt x="609" y="1212"/>
                  </a:lnTo>
                  <a:lnTo>
                    <a:pt x="684" y="1196"/>
                  </a:lnTo>
                  <a:lnTo>
                    <a:pt x="758" y="1173"/>
                  </a:lnTo>
                  <a:lnTo>
                    <a:pt x="828" y="1142"/>
                  </a:lnTo>
                  <a:lnTo>
                    <a:pt x="895" y="1104"/>
                  </a:lnTo>
                  <a:lnTo>
                    <a:pt x="959" y="1060"/>
                  </a:lnTo>
                  <a:lnTo>
                    <a:pt x="1018" y="1008"/>
                  </a:lnTo>
                  <a:lnTo>
                    <a:pt x="1072" y="950"/>
                  </a:lnTo>
                  <a:lnTo>
                    <a:pt x="1120" y="885"/>
                  </a:lnTo>
                  <a:lnTo>
                    <a:pt x="1142" y="850"/>
                  </a:lnTo>
                  <a:lnTo>
                    <a:pt x="1159" y="819"/>
                  </a:lnTo>
                  <a:lnTo>
                    <a:pt x="1188" y="752"/>
                  </a:lnTo>
                  <a:lnTo>
                    <a:pt x="1210" y="680"/>
                  </a:lnTo>
                  <a:lnTo>
                    <a:pt x="1225" y="605"/>
                  </a:lnTo>
                  <a:lnTo>
                    <a:pt x="1233" y="528"/>
                  </a:lnTo>
                  <a:lnTo>
                    <a:pt x="1234" y="450"/>
                  </a:lnTo>
                  <a:lnTo>
                    <a:pt x="1228" y="374"/>
                  </a:lnTo>
                  <a:lnTo>
                    <a:pt x="1214" y="300"/>
                  </a:lnTo>
                  <a:lnTo>
                    <a:pt x="1203" y="265"/>
                  </a:lnTo>
                  <a:lnTo>
                    <a:pt x="1190" y="224"/>
                  </a:lnTo>
                  <a:lnTo>
                    <a:pt x="1150" y="135"/>
                  </a:lnTo>
                  <a:lnTo>
                    <a:pt x="1107" y="55"/>
                  </a:lnTo>
                  <a:lnTo>
                    <a:pt x="1078" y="15"/>
                  </a:lnTo>
                  <a:lnTo>
                    <a:pt x="1064" y="1"/>
                  </a:lnTo>
                  <a:lnTo>
                    <a:pt x="1058" y="0"/>
                  </a:lnTo>
                  <a:lnTo>
                    <a:pt x="1023" y="29"/>
                  </a:lnTo>
                  <a:lnTo>
                    <a:pt x="732" y="314"/>
                  </a:lnTo>
                  <a:lnTo>
                    <a:pt x="522" y="52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ar-SA" noProof="0" dirty="0">
                <a:latin typeface="Tajawal" panose="00000500000000000000" pitchFamily="2" charset="-78"/>
                <a:cs typeface="Tajawal" panose="00000500000000000000" pitchFamily="2" charset="-78"/>
              </a:endParaRPr>
            </a:p>
          </p:txBody>
        </p:sp>
        <p:sp>
          <p:nvSpPr>
            <p:cNvPr id="38" name="Freeform 200">
              <a:extLst>
                <a:ext uri="{FF2B5EF4-FFF2-40B4-BE49-F238E27FC236}">
                  <a16:creationId xmlns:a16="http://schemas.microsoft.com/office/drawing/2014/main" id="{BFD9A124-8A67-3AB6-FE0C-96FA596BBA02}"/>
                </a:ext>
              </a:extLst>
            </p:cNvPr>
            <p:cNvSpPr>
              <a:spLocks/>
            </p:cNvSpPr>
            <p:nvPr/>
          </p:nvSpPr>
          <p:spPr bwMode="auto">
            <a:xfrm>
              <a:off x="3543301" y="1558925"/>
              <a:ext cx="219075" cy="44450"/>
            </a:xfrm>
            <a:custGeom>
              <a:avLst/>
              <a:gdLst>
                <a:gd name="T0" fmla="*/ 16 w 932"/>
                <a:gd name="T1" fmla="*/ 32 h 184"/>
                <a:gd name="T2" fmla="*/ 7 w 932"/>
                <a:gd name="T3" fmla="*/ 51 h 184"/>
                <a:gd name="T4" fmla="*/ 0 w 932"/>
                <a:gd name="T5" fmla="*/ 87 h 184"/>
                <a:gd name="T6" fmla="*/ 5 w 932"/>
                <a:gd name="T7" fmla="*/ 120 h 184"/>
                <a:gd name="T8" fmla="*/ 22 w 932"/>
                <a:gd name="T9" fmla="*/ 146 h 184"/>
                <a:gd name="T10" fmla="*/ 36 w 932"/>
                <a:gd name="T11" fmla="*/ 157 h 184"/>
                <a:gd name="T12" fmla="*/ 49 w 932"/>
                <a:gd name="T13" fmla="*/ 165 h 184"/>
                <a:gd name="T14" fmla="*/ 98 w 932"/>
                <a:gd name="T15" fmla="*/ 175 h 184"/>
                <a:gd name="T16" fmla="*/ 252 w 932"/>
                <a:gd name="T17" fmla="*/ 183 h 184"/>
                <a:gd name="T18" fmla="*/ 466 w 932"/>
                <a:gd name="T19" fmla="*/ 184 h 184"/>
                <a:gd name="T20" fmla="*/ 680 w 932"/>
                <a:gd name="T21" fmla="*/ 183 h 184"/>
                <a:gd name="T22" fmla="*/ 834 w 932"/>
                <a:gd name="T23" fmla="*/ 175 h 184"/>
                <a:gd name="T24" fmla="*/ 883 w 932"/>
                <a:gd name="T25" fmla="*/ 165 h 184"/>
                <a:gd name="T26" fmla="*/ 896 w 932"/>
                <a:gd name="T27" fmla="*/ 157 h 184"/>
                <a:gd name="T28" fmla="*/ 910 w 932"/>
                <a:gd name="T29" fmla="*/ 146 h 184"/>
                <a:gd name="T30" fmla="*/ 927 w 932"/>
                <a:gd name="T31" fmla="*/ 120 h 184"/>
                <a:gd name="T32" fmla="*/ 932 w 932"/>
                <a:gd name="T33" fmla="*/ 87 h 184"/>
                <a:gd name="T34" fmla="*/ 925 w 932"/>
                <a:gd name="T35" fmla="*/ 51 h 184"/>
                <a:gd name="T36" fmla="*/ 916 w 932"/>
                <a:gd name="T37" fmla="*/ 32 h 184"/>
                <a:gd name="T38" fmla="*/ 913 w 932"/>
                <a:gd name="T39" fmla="*/ 27 h 184"/>
                <a:gd name="T40" fmla="*/ 904 w 932"/>
                <a:gd name="T41" fmla="*/ 18 h 184"/>
                <a:gd name="T42" fmla="*/ 877 w 932"/>
                <a:gd name="T43" fmla="*/ 9 h 184"/>
                <a:gd name="T44" fmla="*/ 725 w 932"/>
                <a:gd name="T45" fmla="*/ 1 h 184"/>
                <a:gd name="T46" fmla="*/ 466 w 932"/>
                <a:gd name="T47" fmla="*/ 0 h 184"/>
                <a:gd name="T48" fmla="*/ 207 w 932"/>
                <a:gd name="T49" fmla="*/ 1 h 184"/>
                <a:gd name="T50" fmla="*/ 55 w 932"/>
                <a:gd name="T51" fmla="*/ 9 h 184"/>
                <a:gd name="T52" fmla="*/ 28 w 932"/>
                <a:gd name="T53" fmla="*/ 18 h 184"/>
                <a:gd name="T54" fmla="*/ 19 w 932"/>
                <a:gd name="T55" fmla="*/ 27 h 184"/>
                <a:gd name="T56" fmla="*/ 16 w 932"/>
                <a:gd name="T57" fmla="*/ 32 h 1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932" h="184">
                  <a:moveTo>
                    <a:pt x="16" y="32"/>
                  </a:moveTo>
                  <a:lnTo>
                    <a:pt x="7" y="51"/>
                  </a:lnTo>
                  <a:lnTo>
                    <a:pt x="0" y="87"/>
                  </a:lnTo>
                  <a:lnTo>
                    <a:pt x="5" y="120"/>
                  </a:lnTo>
                  <a:lnTo>
                    <a:pt x="22" y="146"/>
                  </a:lnTo>
                  <a:lnTo>
                    <a:pt x="36" y="157"/>
                  </a:lnTo>
                  <a:lnTo>
                    <a:pt x="49" y="165"/>
                  </a:lnTo>
                  <a:lnTo>
                    <a:pt x="98" y="175"/>
                  </a:lnTo>
                  <a:lnTo>
                    <a:pt x="252" y="183"/>
                  </a:lnTo>
                  <a:lnTo>
                    <a:pt x="466" y="184"/>
                  </a:lnTo>
                  <a:lnTo>
                    <a:pt x="680" y="183"/>
                  </a:lnTo>
                  <a:lnTo>
                    <a:pt x="834" y="175"/>
                  </a:lnTo>
                  <a:lnTo>
                    <a:pt x="883" y="165"/>
                  </a:lnTo>
                  <a:lnTo>
                    <a:pt x="896" y="157"/>
                  </a:lnTo>
                  <a:lnTo>
                    <a:pt x="910" y="146"/>
                  </a:lnTo>
                  <a:lnTo>
                    <a:pt x="927" y="120"/>
                  </a:lnTo>
                  <a:lnTo>
                    <a:pt x="932" y="87"/>
                  </a:lnTo>
                  <a:lnTo>
                    <a:pt x="925" y="51"/>
                  </a:lnTo>
                  <a:lnTo>
                    <a:pt x="916" y="32"/>
                  </a:lnTo>
                  <a:lnTo>
                    <a:pt x="913" y="27"/>
                  </a:lnTo>
                  <a:lnTo>
                    <a:pt x="904" y="18"/>
                  </a:lnTo>
                  <a:lnTo>
                    <a:pt x="877" y="9"/>
                  </a:lnTo>
                  <a:lnTo>
                    <a:pt x="725" y="1"/>
                  </a:lnTo>
                  <a:lnTo>
                    <a:pt x="466" y="0"/>
                  </a:lnTo>
                  <a:lnTo>
                    <a:pt x="207" y="1"/>
                  </a:lnTo>
                  <a:lnTo>
                    <a:pt x="55" y="9"/>
                  </a:lnTo>
                  <a:lnTo>
                    <a:pt x="28" y="18"/>
                  </a:lnTo>
                  <a:lnTo>
                    <a:pt x="19" y="27"/>
                  </a:lnTo>
                  <a:lnTo>
                    <a:pt x="16" y="3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ar-SA" noProof="0" dirty="0">
                <a:latin typeface="Tajawal" panose="00000500000000000000" pitchFamily="2" charset="-78"/>
                <a:cs typeface="Tajawal" panose="00000500000000000000" pitchFamily="2" charset="-78"/>
              </a:endParaRPr>
            </a:p>
          </p:txBody>
        </p:sp>
        <p:sp>
          <p:nvSpPr>
            <p:cNvPr id="39" name="Freeform 201">
              <a:extLst>
                <a:ext uri="{FF2B5EF4-FFF2-40B4-BE49-F238E27FC236}">
                  <a16:creationId xmlns:a16="http://schemas.microsoft.com/office/drawing/2014/main" id="{F90A36E9-B907-EA08-3D49-36FCEAB8D37A}"/>
                </a:ext>
              </a:extLst>
            </p:cNvPr>
            <p:cNvSpPr>
              <a:spLocks/>
            </p:cNvSpPr>
            <p:nvPr/>
          </p:nvSpPr>
          <p:spPr bwMode="auto">
            <a:xfrm>
              <a:off x="3543301" y="1668463"/>
              <a:ext cx="371475" cy="44450"/>
            </a:xfrm>
            <a:custGeom>
              <a:avLst/>
              <a:gdLst>
                <a:gd name="T0" fmla="*/ 16 w 1582"/>
                <a:gd name="T1" fmla="*/ 32 h 183"/>
                <a:gd name="T2" fmla="*/ 7 w 1582"/>
                <a:gd name="T3" fmla="*/ 51 h 183"/>
                <a:gd name="T4" fmla="*/ 0 w 1582"/>
                <a:gd name="T5" fmla="*/ 87 h 183"/>
                <a:gd name="T6" fmla="*/ 5 w 1582"/>
                <a:gd name="T7" fmla="*/ 119 h 183"/>
                <a:gd name="T8" fmla="*/ 22 w 1582"/>
                <a:gd name="T9" fmla="*/ 146 h 183"/>
                <a:gd name="T10" fmla="*/ 36 w 1582"/>
                <a:gd name="T11" fmla="*/ 157 h 183"/>
                <a:gd name="T12" fmla="*/ 43 w 1582"/>
                <a:gd name="T13" fmla="*/ 161 h 183"/>
                <a:gd name="T14" fmla="*/ 64 w 1582"/>
                <a:gd name="T15" fmla="*/ 168 h 183"/>
                <a:gd name="T16" fmla="*/ 122 w 1582"/>
                <a:gd name="T17" fmla="*/ 176 h 183"/>
                <a:gd name="T18" fmla="*/ 394 w 1582"/>
                <a:gd name="T19" fmla="*/ 183 h 183"/>
                <a:gd name="T20" fmla="*/ 801 w 1582"/>
                <a:gd name="T21" fmla="*/ 183 h 183"/>
                <a:gd name="T22" fmla="*/ 1234 w 1582"/>
                <a:gd name="T23" fmla="*/ 183 h 183"/>
                <a:gd name="T24" fmla="*/ 1489 w 1582"/>
                <a:gd name="T25" fmla="*/ 176 h 183"/>
                <a:gd name="T26" fmla="*/ 1535 w 1582"/>
                <a:gd name="T27" fmla="*/ 167 h 183"/>
                <a:gd name="T28" fmla="*/ 1549 w 1582"/>
                <a:gd name="T29" fmla="*/ 158 h 183"/>
                <a:gd name="T30" fmla="*/ 1554 w 1582"/>
                <a:gd name="T31" fmla="*/ 153 h 183"/>
                <a:gd name="T32" fmla="*/ 1566 w 1582"/>
                <a:gd name="T33" fmla="*/ 139 h 183"/>
                <a:gd name="T34" fmla="*/ 1580 w 1582"/>
                <a:gd name="T35" fmla="*/ 103 h 183"/>
                <a:gd name="T36" fmla="*/ 1582 w 1582"/>
                <a:gd name="T37" fmla="*/ 65 h 183"/>
                <a:gd name="T38" fmla="*/ 1572 w 1582"/>
                <a:gd name="T39" fmla="*/ 32 h 183"/>
                <a:gd name="T40" fmla="*/ 1563 w 1582"/>
                <a:gd name="T41" fmla="*/ 20 h 183"/>
                <a:gd name="T42" fmla="*/ 1551 w 1582"/>
                <a:gd name="T43" fmla="*/ 15 h 183"/>
                <a:gd name="T44" fmla="*/ 1464 w 1582"/>
                <a:gd name="T45" fmla="*/ 7 h 183"/>
                <a:gd name="T46" fmla="*/ 1165 w 1582"/>
                <a:gd name="T47" fmla="*/ 1 h 183"/>
                <a:gd name="T48" fmla="*/ 788 w 1582"/>
                <a:gd name="T49" fmla="*/ 0 h 183"/>
                <a:gd name="T50" fmla="*/ 329 w 1582"/>
                <a:gd name="T51" fmla="*/ 0 h 183"/>
                <a:gd name="T52" fmla="*/ 71 w 1582"/>
                <a:gd name="T53" fmla="*/ 8 h 183"/>
                <a:gd name="T54" fmla="*/ 30 w 1582"/>
                <a:gd name="T55" fmla="*/ 18 h 183"/>
                <a:gd name="T56" fmla="*/ 19 w 1582"/>
                <a:gd name="T57" fmla="*/ 26 h 183"/>
                <a:gd name="T58" fmla="*/ 16 w 1582"/>
                <a:gd name="T59" fmla="*/ 32 h 1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1582" h="183">
                  <a:moveTo>
                    <a:pt x="16" y="32"/>
                  </a:moveTo>
                  <a:lnTo>
                    <a:pt x="7" y="51"/>
                  </a:lnTo>
                  <a:lnTo>
                    <a:pt x="0" y="87"/>
                  </a:lnTo>
                  <a:lnTo>
                    <a:pt x="5" y="119"/>
                  </a:lnTo>
                  <a:lnTo>
                    <a:pt x="22" y="146"/>
                  </a:lnTo>
                  <a:lnTo>
                    <a:pt x="36" y="157"/>
                  </a:lnTo>
                  <a:lnTo>
                    <a:pt x="43" y="161"/>
                  </a:lnTo>
                  <a:lnTo>
                    <a:pt x="64" y="168"/>
                  </a:lnTo>
                  <a:lnTo>
                    <a:pt x="122" y="176"/>
                  </a:lnTo>
                  <a:lnTo>
                    <a:pt x="394" y="183"/>
                  </a:lnTo>
                  <a:lnTo>
                    <a:pt x="801" y="183"/>
                  </a:lnTo>
                  <a:lnTo>
                    <a:pt x="1234" y="183"/>
                  </a:lnTo>
                  <a:lnTo>
                    <a:pt x="1489" y="176"/>
                  </a:lnTo>
                  <a:lnTo>
                    <a:pt x="1535" y="167"/>
                  </a:lnTo>
                  <a:lnTo>
                    <a:pt x="1549" y="158"/>
                  </a:lnTo>
                  <a:lnTo>
                    <a:pt x="1554" y="153"/>
                  </a:lnTo>
                  <a:lnTo>
                    <a:pt x="1566" y="139"/>
                  </a:lnTo>
                  <a:lnTo>
                    <a:pt x="1580" y="103"/>
                  </a:lnTo>
                  <a:lnTo>
                    <a:pt x="1582" y="65"/>
                  </a:lnTo>
                  <a:lnTo>
                    <a:pt x="1572" y="32"/>
                  </a:lnTo>
                  <a:lnTo>
                    <a:pt x="1563" y="20"/>
                  </a:lnTo>
                  <a:lnTo>
                    <a:pt x="1551" y="15"/>
                  </a:lnTo>
                  <a:lnTo>
                    <a:pt x="1464" y="7"/>
                  </a:lnTo>
                  <a:lnTo>
                    <a:pt x="1165" y="1"/>
                  </a:lnTo>
                  <a:lnTo>
                    <a:pt x="788" y="0"/>
                  </a:lnTo>
                  <a:lnTo>
                    <a:pt x="329" y="0"/>
                  </a:lnTo>
                  <a:lnTo>
                    <a:pt x="71" y="8"/>
                  </a:lnTo>
                  <a:lnTo>
                    <a:pt x="30" y="18"/>
                  </a:lnTo>
                  <a:lnTo>
                    <a:pt x="19" y="26"/>
                  </a:lnTo>
                  <a:lnTo>
                    <a:pt x="16" y="3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ar-SA" noProof="0" dirty="0">
                <a:latin typeface="Tajawal" panose="00000500000000000000" pitchFamily="2" charset="-78"/>
                <a:cs typeface="Tajawal" panose="00000500000000000000" pitchFamily="2" charset="-78"/>
              </a:endParaRPr>
            </a:p>
          </p:txBody>
        </p:sp>
      </p:grpSp>
    </p:spTree>
    <p:extLst>
      <p:ext uri="{BB962C8B-B14F-4D97-AF65-F5344CB8AC3E}">
        <p14:creationId xmlns:p14="http://schemas.microsoft.com/office/powerpoint/2010/main" val="279566964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TextBox 24">
            <a:extLst>
              <a:ext uri="{FF2B5EF4-FFF2-40B4-BE49-F238E27FC236}">
                <a16:creationId xmlns:a16="http://schemas.microsoft.com/office/drawing/2014/main" id="{5B6CBF3A-AED2-428B-8E54-ECD96E40BAAD}"/>
              </a:ext>
            </a:extLst>
          </p:cNvPr>
          <p:cNvSpPr txBox="1"/>
          <p:nvPr/>
        </p:nvSpPr>
        <p:spPr>
          <a:xfrm>
            <a:off x="833442" y="6395664"/>
            <a:ext cx="6097604" cy="307777"/>
          </a:xfrm>
          <a:prstGeom prst="rect">
            <a:avLst/>
          </a:prstGeom>
          <a:noFill/>
        </p:spPr>
        <p:txBody>
          <a:bodyPr wrap="square">
            <a:spAutoFit/>
          </a:bodyPr>
          <a:lstStyle/>
          <a:p>
            <a:fld id="{008E1BDA-5E07-414A-8101-29DABEB15B19}" type="slidenum">
              <a:rPr lang="ar-SA" sz="1400" b="1" noProof="0" smtClean="0">
                <a:solidFill>
                  <a:schemeClr val="accent1"/>
                </a:solidFill>
              </a:rPr>
              <a:pPr/>
              <a:t>3</a:t>
            </a:fld>
            <a:endParaRPr lang="ar-SA" sz="1400" b="1" noProof="0" dirty="0">
              <a:solidFill>
                <a:schemeClr val="accent1"/>
              </a:solidFill>
            </a:endParaRPr>
          </a:p>
        </p:txBody>
      </p:sp>
      <p:sp>
        <p:nvSpPr>
          <p:cNvPr id="2" name="Title 1">
            <a:extLst>
              <a:ext uri="{FF2B5EF4-FFF2-40B4-BE49-F238E27FC236}">
                <a16:creationId xmlns:a16="http://schemas.microsoft.com/office/drawing/2014/main" id="{336A4A4A-AA0F-4470-93D7-AFEC527BCD12}"/>
              </a:ext>
            </a:extLst>
          </p:cNvPr>
          <p:cNvSpPr txBox="1">
            <a:spLocks/>
          </p:cNvSpPr>
          <p:nvPr/>
        </p:nvSpPr>
        <p:spPr>
          <a:xfrm>
            <a:off x="2670048" y="408242"/>
            <a:ext cx="8683752" cy="639350"/>
          </a:xfrm>
          <a:prstGeom prst="rect">
            <a:avLst/>
          </a:prstGeom>
        </p:spPr>
        <p:txBody>
          <a:bodyPr vert="horz" lIns="91440" tIns="45720" rIns="0" bIns="45720" rtlCol="0" anchor="ctr" anchorCtr="0">
            <a:noAutofit/>
          </a:bodyPr>
          <a:lstStyle>
            <a:lvl1pPr algn="r" defTabSz="914400" rtl="1" eaLnBrk="1" latinLnBrk="0" hangingPunct="1">
              <a:lnSpc>
                <a:spcPct val="100000"/>
              </a:lnSpc>
              <a:spcBef>
                <a:spcPct val="0"/>
              </a:spcBef>
              <a:buNone/>
              <a:defRPr sz="3200" b="1" kern="1200">
                <a:solidFill>
                  <a:schemeClr val="accent1"/>
                </a:solidFill>
                <a:latin typeface="+mj-lt"/>
                <a:ea typeface="+mj-ea"/>
                <a:cs typeface="+mj-cs"/>
              </a:defRPr>
            </a:lvl1pPr>
          </a:lstStyle>
          <a:p>
            <a:r>
              <a:rPr lang="ar-SA" noProof="0" dirty="0"/>
              <a:t>جدول الإصدارات والمراجعات</a:t>
            </a:r>
          </a:p>
        </p:txBody>
      </p:sp>
      <p:sp>
        <p:nvSpPr>
          <p:cNvPr id="3" name="Rounded Rectangle 5">
            <a:extLst>
              <a:ext uri="{FF2B5EF4-FFF2-40B4-BE49-F238E27FC236}">
                <a16:creationId xmlns:a16="http://schemas.microsoft.com/office/drawing/2014/main" id="{BFB3E79F-B49A-BCAF-E7F0-102BCE093C22}"/>
              </a:ext>
            </a:extLst>
          </p:cNvPr>
          <p:cNvSpPr/>
          <p:nvPr/>
        </p:nvSpPr>
        <p:spPr>
          <a:xfrm>
            <a:off x="609600" y="1047592"/>
            <a:ext cx="10972800" cy="4887557"/>
          </a:xfrm>
          <a:prstGeom prst="roundRect">
            <a:avLst>
              <a:gd name="adj" fmla="val 4550"/>
            </a:avLst>
          </a:prstGeom>
          <a:solidFill>
            <a:schemeClr val="bg1"/>
          </a:solidFill>
          <a:ln>
            <a:noFill/>
          </a:ln>
          <a:effectLst>
            <a:outerShdw blurRad="635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ar-SA" noProof="0" dirty="0">
              <a:latin typeface="Sakkal Majalla" panose="02000000000000000000" pitchFamily="2" charset="-78"/>
              <a:cs typeface="Sakkal Majalla" panose="02000000000000000000" pitchFamily="2" charset="-78"/>
            </a:endParaRPr>
          </a:p>
        </p:txBody>
      </p:sp>
      <p:graphicFrame>
        <p:nvGraphicFramePr>
          <p:cNvPr id="4" name="Table 3">
            <a:extLst>
              <a:ext uri="{FF2B5EF4-FFF2-40B4-BE49-F238E27FC236}">
                <a16:creationId xmlns:a16="http://schemas.microsoft.com/office/drawing/2014/main" id="{6FA04D80-D8DF-52E7-5CB9-2E1E837D6047}"/>
              </a:ext>
            </a:extLst>
          </p:cNvPr>
          <p:cNvGraphicFramePr>
            <a:graphicFrameLocks noGrp="1"/>
          </p:cNvGraphicFramePr>
          <p:nvPr>
            <p:extLst>
              <p:ext uri="{D42A27DB-BD31-4B8C-83A1-F6EECF244321}">
                <p14:modId xmlns:p14="http://schemas.microsoft.com/office/powerpoint/2010/main" val="4095900399"/>
              </p:ext>
            </p:extLst>
          </p:nvPr>
        </p:nvGraphicFramePr>
        <p:xfrm>
          <a:off x="609601" y="1237422"/>
          <a:ext cx="10972798" cy="4572986"/>
        </p:xfrm>
        <a:graphic>
          <a:graphicData uri="http://schemas.openxmlformats.org/drawingml/2006/table">
            <a:tbl>
              <a:tblPr rtl="1" firstRow="1" bandRow="1">
                <a:tableStyleId>{2D5ABB26-0587-4C30-8999-92F81FD0307C}</a:tableStyleId>
              </a:tblPr>
              <a:tblGrid>
                <a:gridCol w="1288225">
                  <a:extLst>
                    <a:ext uri="{9D8B030D-6E8A-4147-A177-3AD203B41FA5}">
                      <a16:colId xmlns:a16="http://schemas.microsoft.com/office/drawing/2014/main" val="3246697180"/>
                    </a:ext>
                  </a:extLst>
                </a:gridCol>
                <a:gridCol w="1233878">
                  <a:extLst>
                    <a:ext uri="{9D8B030D-6E8A-4147-A177-3AD203B41FA5}">
                      <a16:colId xmlns:a16="http://schemas.microsoft.com/office/drawing/2014/main" val="1695347223"/>
                    </a:ext>
                  </a:extLst>
                </a:gridCol>
                <a:gridCol w="2586925">
                  <a:extLst>
                    <a:ext uri="{9D8B030D-6E8A-4147-A177-3AD203B41FA5}">
                      <a16:colId xmlns:a16="http://schemas.microsoft.com/office/drawing/2014/main" val="2017486071"/>
                    </a:ext>
                  </a:extLst>
                </a:gridCol>
                <a:gridCol w="2937305">
                  <a:extLst>
                    <a:ext uri="{9D8B030D-6E8A-4147-A177-3AD203B41FA5}">
                      <a16:colId xmlns:a16="http://schemas.microsoft.com/office/drawing/2014/main" val="2702421411"/>
                    </a:ext>
                  </a:extLst>
                </a:gridCol>
                <a:gridCol w="2926465">
                  <a:extLst>
                    <a:ext uri="{9D8B030D-6E8A-4147-A177-3AD203B41FA5}">
                      <a16:colId xmlns:a16="http://schemas.microsoft.com/office/drawing/2014/main" val="3621974949"/>
                    </a:ext>
                  </a:extLst>
                </a:gridCol>
              </a:tblGrid>
              <a:tr h="506402">
                <a:tc>
                  <a:txBody>
                    <a:bodyPr/>
                    <a:lstStyle/>
                    <a:p>
                      <a:pPr algn="ctr" rtl="1">
                        <a:lnSpc>
                          <a:spcPct val="115000"/>
                        </a:lnSpc>
                        <a:spcAft>
                          <a:spcPts val="0"/>
                        </a:spcAft>
                      </a:pPr>
                      <a:r>
                        <a:rPr lang="ar-SA" sz="1800" noProof="0" dirty="0">
                          <a:solidFill>
                            <a:schemeClr val="bg1"/>
                          </a:solidFill>
                          <a:effectLst/>
                          <a:latin typeface="Sakkal Majalla" panose="02000000000000000000" pitchFamily="2" charset="-78"/>
                          <a:cs typeface="Sakkal Majalla" panose="02000000000000000000" pitchFamily="2" charset="-78"/>
                        </a:rPr>
                        <a:t>إصدار الوثيقة</a:t>
                      </a:r>
                      <a:endParaRPr lang="ar-SA" sz="1800" noProof="0" dirty="0">
                        <a:solidFill>
                          <a:schemeClr val="bg1"/>
                        </a:solidFill>
                        <a:effectLst/>
                        <a:latin typeface="Sakkal Majalla" panose="02000000000000000000" pitchFamily="2" charset="-78"/>
                        <a:ea typeface="Sakkal Majalla" panose="02000000000000000000" pitchFamily="2" charset="-78"/>
                        <a:cs typeface="Sakkal Majalla" panose="02000000000000000000" pitchFamily="2" charset="-78"/>
                      </a:endParaRPr>
                    </a:p>
                  </a:txBody>
                  <a:tcPr marL="68580" marR="68580" marT="0" marB="0" anchor="ctr">
                    <a:solidFill>
                      <a:schemeClr val="accent1"/>
                    </a:solidFill>
                  </a:tcPr>
                </a:tc>
                <a:tc>
                  <a:txBody>
                    <a:bodyPr/>
                    <a:lstStyle/>
                    <a:p>
                      <a:pPr algn="ctr" rtl="1">
                        <a:lnSpc>
                          <a:spcPct val="115000"/>
                        </a:lnSpc>
                        <a:spcAft>
                          <a:spcPts val="0"/>
                        </a:spcAft>
                      </a:pPr>
                      <a:r>
                        <a:rPr lang="ar-SA" sz="1800" noProof="0" dirty="0">
                          <a:solidFill>
                            <a:schemeClr val="bg1"/>
                          </a:solidFill>
                          <a:effectLst/>
                          <a:latin typeface="Sakkal Majalla" panose="02000000000000000000" pitchFamily="2" charset="-78"/>
                          <a:cs typeface="Sakkal Majalla" panose="02000000000000000000" pitchFamily="2" charset="-78"/>
                        </a:rPr>
                        <a:t>التاريخ</a:t>
                      </a:r>
                      <a:endParaRPr lang="ar-SA" sz="1800" noProof="0" dirty="0">
                        <a:solidFill>
                          <a:schemeClr val="bg1"/>
                        </a:solidFill>
                        <a:effectLst/>
                        <a:latin typeface="Sakkal Majalla" panose="02000000000000000000" pitchFamily="2" charset="-78"/>
                        <a:ea typeface="Sakkal Majalla" panose="02000000000000000000" pitchFamily="2" charset="-78"/>
                        <a:cs typeface="Sakkal Majalla" panose="02000000000000000000" pitchFamily="2" charset="-78"/>
                      </a:endParaRPr>
                    </a:p>
                  </a:txBody>
                  <a:tcPr marL="68580" marR="68580" marT="0" marB="0" anchor="ctr">
                    <a:solidFill>
                      <a:schemeClr val="accent1"/>
                    </a:solidFill>
                  </a:tcPr>
                </a:tc>
                <a:tc>
                  <a:txBody>
                    <a:bodyPr/>
                    <a:lstStyle/>
                    <a:p>
                      <a:pPr algn="ctr" rtl="1">
                        <a:lnSpc>
                          <a:spcPct val="115000"/>
                        </a:lnSpc>
                        <a:spcAft>
                          <a:spcPts val="0"/>
                        </a:spcAft>
                      </a:pPr>
                      <a:r>
                        <a:rPr lang="ar-SA" sz="1800" noProof="0" dirty="0">
                          <a:solidFill>
                            <a:schemeClr val="bg1"/>
                          </a:solidFill>
                          <a:effectLst/>
                          <a:latin typeface="Sakkal Majalla" panose="02000000000000000000" pitchFamily="2" charset="-78"/>
                          <a:ea typeface="Sakkal Majalla" panose="02000000000000000000" pitchFamily="2" charset="-78"/>
                          <a:cs typeface="Sakkal Majalla" panose="02000000000000000000" pitchFamily="2" charset="-78"/>
                        </a:rPr>
                        <a:t>إعداد</a:t>
                      </a:r>
                    </a:p>
                  </a:txBody>
                  <a:tcPr marL="68580" marR="68580" marT="0" marB="0" anchor="ctr">
                    <a:solidFill>
                      <a:schemeClr val="accent1"/>
                    </a:solidFill>
                  </a:tcPr>
                </a:tc>
                <a:tc>
                  <a:txBody>
                    <a:bodyPr/>
                    <a:lstStyle/>
                    <a:p>
                      <a:pPr algn="ctr" rtl="1">
                        <a:lnSpc>
                          <a:spcPct val="115000"/>
                        </a:lnSpc>
                        <a:spcAft>
                          <a:spcPts val="0"/>
                        </a:spcAft>
                      </a:pPr>
                      <a:r>
                        <a:rPr lang="ar-SA" sz="1800" noProof="0" dirty="0">
                          <a:solidFill>
                            <a:schemeClr val="bg1"/>
                          </a:solidFill>
                          <a:effectLst/>
                          <a:latin typeface="Sakkal Majalla" panose="02000000000000000000" pitchFamily="2" charset="-78"/>
                          <a:ea typeface="Sakkal Majalla" panose="02000000000000000000" pitchFamily="2" charset="-78"/>
                          <a:cs typeface="Sakkal Majalla" panose="02000000000000000000" pitchFamily="2" charset="-78"/>
                        </a:rPr>
                        <a:t>المسمى الوظيفي</a:t>
                      </a:r>
                    </a:p>
                  </a:txBody>
                  <a:tcPr marL="68580" marR="68580" marT="0" marB="0" anchor="ctr">
                    <a:solidFill>
                      <a:schemeClr val="accent1"/>
                    </a:solidFill>
                  </a:tcPr>
                </a:tc>
                <a:tc>
                  <a:txBody>
                    <a:bodyPr/>
                    <a:lstStyle/>
                    <a:p>
                      <a:pPr algn="ctr" rtl="1">
                        <a:lnSpc>
                          <a:spcPct val="115000"/>
                        </a:lnSpc>
                        <a:spcAft>
                          <a:spcPts val="0"/>
                        </a:spcAft>
                      </a:pPr>
                      <a:r>
                        <a:rPr lang="ar-SA" sz="1800" noProof="0" dirty="0">
                          <a:solidFill>
                            <a:schemeClr val="bg1"/>
                          </a:solidFill>
                          <a:effectLst/>
                          <a:latin typeface="Sakkal Majalla" panose="02000000000000000000" pitchFamily="2" charset="-78"/>
                          <a:cs typeface="Sakkal Majalla" panose="02000000000000000000" pitchFamily="2" charset="-78"/>
                        </a:rPr>
                        <a:t>الوصف</a:t>
                      </a:r>
                      <a:endParaRPr lang="ar-SA" sz="1800" noProof="0" dirty="0">
                        <a:solidFill>
                          <a:schemeClr val="bg1"/>
                        </a:solidFill>
                        <a:effectLst/>
                        <a:latin typeface="Sakkal Majalla" panose="02000000000000000000" pitchFamily="2" charset="-78"/>
                        <a:ea typeface="Sakkal Majalla" panose="02000000000000000000" pitchFamily="2" charset="-78"/>
                        <a:cs typeface="Sakkal Majalla" panose="02000000000000000000" pitchFamily="2" charset="-78"/>
                      </a:endParaRPr>
                    </a:p>
                  </a:txBody>
                  <a:tcPr marL="68580" marR="68580" marT="0" marB="0" anchor="ctr">
                    <a:solidFill>
                      <a:schemeClr val="accent1"/>
                    </a:solidFill>
                  </a:tcPr>
                </a:tc>
                <a:extLst>
                  <a:ext uri="{0D108BD9-81ED-4DB2-BD59-A6C34878D82A}">
                    <a16:rowId xmlns:a16="http://schemas.microsoft.com/office/drawing/2014/main" val="3404469103"/>
                  </a:ext>
                </a:extLst>
              </a:tr>
              <a:tr h="677764">
                <a:tc>
                  <a:txBody>
                    <a:bodyPr/>
                    <a:lstStyle/>
                    <a:p>
                      <a:pPr algn="ctr" rtl="1">
                        <a:lnSpc>
                          <a:spcPct val="115000"/>
                        </a:lnSpc>
                        <a:spcAft>
                          <a:spcPts val="0"/>
                        </a:spcAft>
                      </a:pPr>
                      <a:r>
                        <a:rPr lang="en-US" sz="1800" noProof="0" dirty="0">
                          <a:solidFill>
                            <a:schemeClr val="tx1"/>
                          </a:solidFill>
                          <a:effectLst/>
                          <a:latin typeface="Sakkal Majalla" panose="02000000000000000000" pitchFamily="2" charset="-78"/>
                          <a:cs typeface="Sakkal Majalla" panose="02000000000000000000" pitchFamily="2" charset="-78"/>
                        </a:rPr>
                        <a:t>1.0</a:t>
                      </a:r>
                      <a:endParaRPr lang="ar-SA" sz="1800" noProof="0" dirty="0">
                        <a:solidFill>
                          <a:schemeClr val="tx1"/>
                        </a:solidFill>
                        <a:effectLst/>
                        <a:latin typeface="Sakkal Majalla" panose="02000000000000000000" pitchFamily="2" charset="-78"/>
                        <a:ea typeface="Sakkal Majalla" panose="02000000000000000000" pitchFamily="2" charset="-78"/>
                        <a:cs typeface="Sakkal Majalla" panose="02000000000000000000" pitchFamily="2" charset="-78"/>
                      </a:endParaRPr>
                    </a:p>
                  </a:txBody>
                  <a:tcPr marL="68580" marR="68580" marT="0" marB="0" anchor="ctr">
                    <a:lnB w="6350" cap="flat" cmpd="sng" algn="ctr">
                      <a:solidFill>
                        <a:schemeClr val="accent2"/>
                      </a:solidFill>
                      <a:prstDash val="solid"/>
                      <a:round/>
                      <a:headEnd type="none" w="med" len="med"/>
                      <a:tailEnd type="none" w="med" len="med"/>
                    </a:lnB>
                  </a:tcPr>
                </a:tc>
                <a:tc>
                  <a:txBody>
                    <a:bodyPr/>
                    <a:lstStyle/>
                    <a:p>
                      <a:pPr marL="0" marR="0" lvl="0" indent="0" algn="ctr" defTabSz="914400" rtl="1" eaLnBrk="1" fontAlgn="auto" latinLnBrk="0" hangingPunct="1">
                        <a:lnSpc>
                          <a:spcPct val="115000"/>
                        </a:lnSpc>
                        <a:spcBef>
                          <a:spcPts val="0"/>
                        </a:spcBef>
                        <a:spcAft>
                          <a:spcPts val="0"/>
                        </a:spcAft>
                        <a:buClrTx/>
                        <a:buSzTx/>
                        <a:buFontTx/>
                        <a:buNone/>
                        <a:tabLst/>
                        <a:defRPr/>
                      </a:pPr>
                      <a:r>
                        <a:rPr lang="en-US" sz="1800" kern="1200" noProof="0">
                          <a:solidFill>
                            <a:schemeClr val="tx1"/>
                          </a:solidFill>
                          <a:effectLst/>
                          <a:latin typeface="Sakkal Majalla" panose="02000000000000000000" pitchFamily="2" charset="-78"/>
                          <a:ea typeface="Sakkal Majalla" panose="02000000000000000000" pitchFamily="2" charset="-78"/>
                          <a:cs typeface="Sakkal Majalla" panose="02000000000000000000" pitchFamily="2" charset="-78"/>
                        </a:rPr>
                        <a:t>22 April 2025</a:t>
                      </a:r>
                      <a:endParaRPr lang="ar-SA" sz="1800" kern="1200" noProof="0" dirty="0">
                        <a:solidFill>
                          <a:schemeClr val="tx1"/>
                        </a:solidFill>
                        <a:effectLst/>
                        <a:latin typeface="Sakkal Majalla" panose="02000000000000000000" pitchFamily="2" charset="-78"/>
                        <a:ea typeface="Sakkal Majalla" panose="02000000000000000000" pitchFamily="2" charset="-78"/>
                        <a:cs typeface="Sakkal Majalla" panose="02000000000000000000" pitchFamily="2" charset="-78"/>
                      </a:endParaRPr>
                    </a:p>
                  </a:txBody>
                  <a:tcPr marL="68580" marR="68580" marT="0" marB="0" anchor="ctr">
                    <a:lnB w="6350" cap="flat" cmpd="sng" algn="ctr">
                      <a:solidFill>
                        <a:schemeClr val="accent2"/>
                      </a:solidFill>
                      <a:prstDash val="solid"/>
                      <a:round/>
                      <a:headEnd type="none" w="med" len="med"/>
                      <a:tailEnd type="none" w="med" len="med"/>
                    </a:lnB>
                  </a:tcPr>
                </a:tc>
                <a:tc>
                  <a:txBody>
                    <a:bodyPr/>
                    <a:lstStyle/>
                    <a:p>
                      <a:pPr algn="ctr" rtl="1">
                        <a:lnSpc>
                          <a:spcPct val="115000"/>
                        </a:lnSpc>
                        <a:spcAft>
                          <a:spcPts val="0"/>
                        </a:spcAft>
                      </a:pPr>
                      <a:r>
                        <a:rPr lang="ar-SA" sz="1800" kern="1200" noProof="0" dirty="0">
                          <a:solidFill>
                            <a:schemeClr val="tx1"/>
                          </a:solidFill>
                          <a:effectLst/>
                          <a:latin typeface="Sakkal Majalla" panose="02000000000000000000" pitchFamily="2" charset="-78"/>
                          <a:ea typeface="+mn-ea"/>
                          <a:cs typeface="Sakkal Majalla" panose="02000000000000000000" pitchFamily="2" charset="-78"/>
                        </a:rPr>
                        <a:t>سامي احمد القاضي</a:t>
                      </a:r>
                    </a:p>
                  </a:txBody>
                  <a:tcPr marL="68580" marR="68580" marT="0" marB="0" anchor="ctr">
                    <a:lnB w="6350" cap="flat" cmpd="sng" algn="ctr">
                      <a:solidFill>
                        <a:schemeClr val="accent2"/>
                      </a:solidFill>
                      <a:prstDash val="solid"/>
                      <a:round/>
                      <a:headEnd type="none" w="med" len="med"/>
                      <a:tailEnd type="none" w="med" len="med"/>
                    </a:lnB>
                  </a:tcPr>
                </a:tc>
                <a:tc>
                  <a:txBody>
                    <a:bodyPr/>
                    <a:lstStyle/>
                    <a:p>
                      <a:pPr algn="ctr" rtl="1">
                        <a:lnSpc>
                          <a:spcPct val="115000"/>
                        </a:lnSpc>
                        <a:spcAft>
                          <a:spcPts val="0"/>
                        </a:spcAft>
                      </a:pPr>
                      <a:r>
                        <a:rPr lang="ar-SA" sz="1800" kern="1200" noProof="0" dirty="0">
                          <a:solidFill>
                            <a:schemeClr val="tx1"/>
                          </a:solidFill>
                          <a:effectLst/>
                          <a:latin typeface="Sakkal Majalla" panose="02000000000000000000" pitchFamily="2" charset="-78"/>
                          <a:ea typeface="+mn-ea"/>
                          <a:cs typeface="Sakkal Majalla" panose="02000000000000000000" pitchFamily="2" charset="-78"/>
                        </a:rPr>
                        <a:t>استشاري بنية مؤسسية</a:t>
                      </a:r>
                    </a:p>
                  </a:txBody>
                  <a:tcPr marL="68580" marR="68580" marT="0" marB="0" anchor="ctr">
                    <a:lnB w="6350" cap="flat" cmpd="sng" algn="ctr">
                      <a:solidFill>
                        <a:schemeClr val="accent2"/>
                      </a:solidFill>
                      <a:prstDash val="solid"/>
                      <a:round/>
                      <a:headEnd type="none" w="med" len="med"/>
                      <a:tailEnd type="none" w="med" len="med"/>
                    </a:lnB>
                  </a:tcPr>
                </a:tc>
                <a:tc>
                  <a:txBody>
                    <a:bodyPr/>
                    <a:lstStyle/>
                    <a:p>
                      <a:pPr marL="635" marR="0" indent="-1905" algn="ctr" rtl="1">
                        <a:lnSpc>
                          <a:spcPct val="115000"/>
                        </a:lnSpc>
                        <a:spcBef>
                          <a:spcPts val="500"/>
                        </a:spcBef>
                        <a:spcAft>
                          <a:spcPts val="0"/>
                        </a:spcAft>
                      </a:pPr>
                      <a:r>
                        <a:rPr lang="ar-SA" sz="1800" noProof="0" dirty="0">
                          <a:solidFill>
                            <a:schemeClr val="tx1"/>
                          </a:solidFill>
                          <a:effectLst/>
                          <a:latin typeface="Sakkal Majalla" panose="02000000000000000000" pitchFamily="2" charset="-78"/>
                          <a:ea typeface="Sakkal Majalla" panose="02000000000000000000" pitchFamily="2" charset="-78"/>
                          <a:cs typeface="Sakkal Majalla" panose="02000000000000000000" pitchFamily="2" charset="-78"/>
                        </a:rPr>
                        <a:t>اعداد الوثيقة</a:t>
                      </a:r>
                    </a:p>
                  </a:txBody>
                  <a:tcPr marL="68580" marR="68580" marT="0" marB="0" anchor="ctr">
                    <a:lnB w="6350" cap="flat" cmpd="sng" algn="ctr">
                      <a:solidFill>
                        <a:schemeClr val="accent2"/>
                      </a:solidFill>
                      <a:prstDash val="solid"/>
                      <a:round/>
                      <a:headEnd type="none" w="med" len="med"/>
                      <a:tailEnd type="none" w="med" len="med"/>
                    </a:lnB>
                  </a:tcPr>
                </a:tc>
                <a:extLst>
                  <a:ext uri="{0D108BD9-81ED-4DB2-BD59-A6C34878D82A}">
                    <a16:rowId xmlns:a16="http://schemas.microsoft.com/office/drawing/2014/main" val="1949661009"/>
                  </a:ext>
                </a:extLst>
              </a:tr>
              <a:tr h="677764">
                <a:tc>
                  <a:txBody>
                    <a:bodyPr/>
                    <a:lstStyle/>
                    <a:p>
                      <a:pPr algn="ctr" rtl="1">
                        <a:lnSpc>
                          <a:spcPct val="115000"/>
                        </a:lnSpc>
                        <a:spcAft>
                          <a:spcPts val="0"/>
                        </a:spcAft>
                      </a:pPr>
                      <a:r>
                        <a:rPr lang="en-US" sz="1800" noProof="0" dirty="0">
                          <a:solidFill>
                            <a:schemeClr val="tx1"/>
                          </a:solidFill>
                          <a:effectLst/>
                          <a:latin typeface="Sakkal Majalla" panose="02000000000000000000" pitchFamily="2" charset="-78"/>
                          <a:cs typeface="Sakkal Majalla" panose="02000000000000000000" pitchFamily="2" charset="-78"/>
                        </a:rPr>
                        <a:t>2.0</a:t>
                      </a:r>
                      <a:endParaRPr lang="ar-SA" sz="1800" noProof="0" dirty="0">
                        <a:solidFill>
                          <a:schemeClr val="tx1"/>
                        </a:solidFill>
                        <a:effectLst/>
                        <a:latin typeface="Sakkal Majalla" panose="02000000000000000000" pitchFamily="2" charset="-78"/>
                        <a:ea typeface="Sakkal Majalla" panose="02000000000000000000" pitchFamily="2" charset="-78"/>
                        <a:cs typeface="Sakkal Majalla" panose="02000000000000000000" pitchFamily="2" charset="-78"/>
                      </a:endParaRPr>
                    </a:p>
                  </a:txBody>
                  <a:tcPr marL="68580" marR="68580" marT="0" marB="0" anchor="ct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tcPr>
                </a:tc>
                <a:tc>
                  <a:txBody>
                    <a:bodyPr/>
                    <a:lstStyle/>
                    <a:p>
                      <a:pPr marL="0" marR="0" lvl="0" indent="0" algn="ctr" defTabSz="914400" rtl="1" eaLnBrk="1" fontAlgn="auto" latinLnBrk="0" hangingPunct="1">
                        <a:lnSpc>
                          <a:spcPct val="115000"/>
                        </a:lnSpc>
                        <a:spcBef>
                          <a:spcPts val="0"/>
                        </a:spcBef>
                        <a:spcAft>
                          <a:spcPts val="0"/>
                        </a:spcAft>
                        <a:buClrTx/>
                        <a:buSzTx/>
                        <a:buFontTx/>
                        <a:buNone/>
                        <a:tabLst/>
                        <a:defRPr/>
                      </a:pPr>
                      <a:r>
                        <a:rPr lang="en-US" sz="1800" kern="1200" noProof="0" dirty="0">
                          <a:solidFill>
                            <a:schemeClr val="tx1"/>
                          </a:solidFill>
                          <a:effectLst/>
                          <a:latin typeface="Sakkal Majalla" panose="02000000000000000000" pitchFamily="2" charset="-78"/>
                          <a:ea typeface="Sakkal Majalla" panose="02000000000000000000" pitchFamily="2" charset="-78"/>
                          <a:cs typeface="Sakkal Majalla" panose="02000000000000000000" pitchFamily="2" charset="-78"/>
                        </a:rPr>
                        <a:t>11 May 2025</a:t>
                      </a:r>
                      <a:endParaRPr lang="ar-SA" sz="1800" kern="1200" noProof="0" dirty="0">
                        <a:solidFill>
                          <a:schemeClr val="tx1"/>
                        </a:solidFill>
                        <a:effectLst/>
                        <a:latin typeface="Sakkal Majalla" panose="02000000000000000000" pitchFamily="2" charset="-78"/>
                        <a:ea typeface="Sakkal Majalla" panose="02000000000000000000" pitchFamily="2" charset="-78"/>
                        <a:cs typeface="Sakkal Majalla" panose="02000000000000000000" pitchFamily="2" charset="-78"/>
                      </a:endParaRPr>
                    </a:p>
                  </a:txBody>
                  <a:tcPr marL="68580" marR="68580" marT="0" marB="0" anchor="ct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tcPr>
                </a:tc>
                <a:tc>
                  <a:txBody>
                    <a:bodyPr/>
                    <a:lstStyle/>
                    <a:p>
                      <a:pPr algn="ctr" rtl="1">
                        <a:lnSpc>
                          <a:spcPct val="115000"/>
                        </a:lnSpc>
                        <a:spcAft>
                          <a:spcPts val="0"/>
                        </a:spcAft>
                      </a:pPr>
                      <a:r>
                        <a:rPr lang="ar-SA" sz="1800" kern="1200" noProof="0" dirty="0">
                          <a:solidFill>
                            <a:schemeClr val="tx1"/>
                          </a:solidFill>
                          <a:effectLst/>
                          <a:latin typeface="Sakkal Majalla" panose="02000000000000000000" pitchFamily="2" charset="-78"/>
                          <a:ea typeface="+mn-ea"/>
                          <a:cs typeface="Sakkal Majalla" panose="02000000000000000000" pitchFamily="2" charset="-78"/>
                        </a:rPr>
                        <a:t>سامي احمد القاضي</a:t>
                      </a:r>
                    </a:p>
                  </a:txBody>
                  <a:tcPr marL="68580" marR="68580" marT="0" marB="0" anchor="ct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tcPr>
                </a:tc>
                <a:tc>
                  <a:txBody>
                    <a:bodyPr/>
                    <a:lstStyle/>
                    <a:p>
                      <a:pPr marL="0" marR="0" lvl="0" indent="0" algn="ctr" defTabSz="914400" rtl="1" eaLnBrk="1" fontAlgn="auto" latinLnBrk="0" hangingPunct="1">
                        <a:lnSpc>
                          <a:spcPct val="115000"/>
                        </a:lnSpc>
                        <a:spcBef>
                          <a:spcPts val="0"/>
                        </a:spcBef>
                        <a:spcAft>
                          <a:spcPts val="0"/>
                        </a:spcAft>
                        <a:buClrTx/>
                        <a:buSzTx/>
                        <a:buFontTx/>
                        <a:buNone/>
                        <a:tabLst/>
                        <a:defRPr/>
                      </a:pPr>
                      <a:r>
                        <a:rPr lang="ar-SA" sz="1800" kern="1200" noProof="0" dirty="0">
                          <a:solidFill>
                            <a:schemeClr val="tx1"/>
                          </a:solidFill>
                          <a:effectLst/>
                          <a:latin typeface="Sakkal Majalla" panose="02000000000000000000" pitchFamily="2" charset="-78"/>
                          <a:ea typeface="+mn-ea"/>
                          <a:cs typeface="Sakkal Majalla" panose="02000000000000000000" pitchFamily="2" charset="-78"/>
                        </a:rPr>
                        <a:t>استشاري بنية مؤسسية</a:t>
                      </a:r>
                    </a:p>
                  </a:txBody>
                  <a:tcPr marL="68580" marR="68580" marT="0" marB="0" anchor="ct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tcPr>
                </a:tc>
                <a:tc>
                  <a:txBody>
                    <a:bodyPr/>
                    <a:lstStyle/>
                    <a:p>
                      <a:pPr marL="635" marR="0" indent="-1905" algn="ctr" rtl="1">
                        <a:lnSpc>
                          <a:spcPct val="115000"/>
                        </a:lnSpc>
                        <a:spcBef>
                          <a:spcPts val="500"/>
                        </a:spcBef>
                        <a:spcAft>
                          <a:spcPts val="0"/>
                        </a:spcAft>
                      </a:pPr>
                      <a:r>
                        <a:rPr lang="ar-SA" sz="1800" noProof="0" dirty="0">
                          <a:solidFill>
                            <a:schemeClr val="tx1"/>
                          </a:solidFill>
                          <a:effectLst/>
                          <a:latin typeface="Sakkal Majalla" panose="02000000000000000000" pitchFamily="2" charset="-78"/>
                          <a:ea typeface="Sakkal Majalla" panose="02000000000000000000" pitchFamily="2" charset="-78"/>
                          <a:cs typeface="Sakkal Majalla" panose="02000000000000000000" pitchFamily="2" charset="-78"/>
                        </a:rPr>
                        <a:t>اعداد الوثيقة</a:t>
                      </a:r>
                    </a:p>
                  </a:txBody>
                  <a:tcPr marL="68580" marR="68580" marT="0" marB="0" anchor="ct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tcPr>
                </a:tc>
                <a:extLst>
                  <a:ext uri="{0D108BD9-81ED-4DB2-BD59-A6C34878D82A}">
                    <a16:rowId xmlns:a16="http://schemas.microsoft.com/office/drawing/2014/main" val="1730147388"/>
                  </a:ext>
                </a:extLst>
              </a:tr>
              <a:tr h="677764">
                <a:tc>
                  <a:txBody>
                    <a:bodyPr/>
                    <a:lstStyle/>
                    <a:p>
                      <a:pPr algn="ctr" rtl="1">
                        <a:lnSpc>
                          <a:spcPct val="115000"/>
                        </a:lnSpc>
                        <a:spcAft>
                          <a:spcPts val="0"/>
                        </a:spcAft>
                      </a:pPr>
                      <a:endParaRPr lang="ar-SA" sz="1800" noProof="0" dirty="0">
                        <a:solidFill>
                          <a:schemeClr val="tx1"/>
                        </a:solidFill>
                        <a:effectLst/>
                        <a:latin typeface="Sakkal Majalla" panose="02000000000000000000" pitchFamily="2" charset="-78"/>
                        <a:ea typeface="Sakkal Majalla" panose="02000000000000000000" pitchFamily="2" charset="-78"/>
                        <a:cs typeface="Sakkal Majalla" panose="02000000000000000000" pitchFamily="2" charset="-78"/>
                      </a:endParaRPr>
                    </a:p>
                  </a:txBody>
                  <a:tcPr marL="68580" marR="68580" marT="0" marB="0" anchor="ct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tcPr>
                </a:tc>
                <a:tc>
                  <a:txBody>
                    <a:bodyPr/>
                    <a:lstStyle/>
                    <a:p>
                      <a:pPr marL="0" marR="0" lvl="0" indent="0" algn="ctr" defTabSz="914400" rtl="1" eaLnBrk="1" fontAlgn="auto" latinLnBrk="0" hangingPunct="1">
                        <a:lnSpc>
                          <a:spcPct val="115000"/>
                        </a:lnSpc>
                        <a:spcBef>
                          <a:spcPts val="0"/>
                        </a:spcBef>
                        <a:spcAft>
                          <a:spcPts val="0"/>
                        </a:spcAft>
                        <a:buClrTx/>
                        <a:buSzTx/>
                        <a:buFontTx/>
                        <a:buNone/>
                        <a:tabLst/>
                        <a:defRPr/>
                      </a:pPr>
                      <a:endParaRPr lang="ar-SA" sz="1800" kern="1200" noProof="0" dirty="0">
                        <a:solidFill>
                          <a:schemeClr val="tx1"/>
                        </a:solidFill>
                        <a:effectLst/>
                        <a:latin typeface="Sakkal Majalla" panose="02000000000000000000" pitchFamily="2" charset="-78"/>
                        <a:ea typeface="Sakkal Majalla" panose="02000000000000000000" pitchFamily="2" charset="-78"/>
                        <a:cs typeface="Sakkal Majalla" panose="02000000000000000000" pitchFamily="2" charset="-78"/>
                      </a:endParaRPr>
                    </a:p>
                  </a:txBody>
                  <a:tcPr marL="68580" marR="68580" marT="0" marB="0" anchor="ct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tcPr>
                </a:tc>
                <a:tc>
                  <a:txBody>
                    <a:bodyPr/>
                    <a:lstStyle/>
                    <a:p>
                      <a:pPr algn="ctr" rtl="1">
                        <a:lnSpc>
                          <a:spcPct val="115000"/>
                        </a:lnSpc>
                        <a:spcAft>
                          <a:spcPts val="0"/>
                        </a:spcAft>
                      </a:pPr>
                      <a:endParaRPr lang="ar-SA" sz="1800" kern="1200" noProof="0" dirty="0">
                        <a:solidFill>
                          <a:schemeClr val="tx1"/>
                        </a:solidFill>
                        <a:effectLst/>
                        <a:latin typeface="Sakkal Majalla" panose="02000000000000000000" pitchFamily="2" charset="-78"/>
                        <a:ea typeface="+mn-ea"/>
                        <a:cs typeface="Sakkal Majalla" panose="02000000000000000000" pitchFamily="2" charset="-78"/>
                      </a:endParaRPr>
                    </a:p>
                  </a:txBody>
                  <a:tcPr marL="68580" marR="68580" marT="0" marB="0" anchor="ct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tcPr>
                </a:tc>
                <a:tc>
                  <a:txBody>
                    <a:bodyPr/>
                    <a:lstStyle/>
                    <a:p>
                      <a:pPr algn="ctr" rtl="1">
                        <a:lnSpc>
                          <a:spcPct val="115000"/>
                        </a:lnSpc>
                        <a:spcAft>
                          <a:spcPts val="0"/>
                        </a:spcAft>
                      </a:pPr>
                      <a:endParaRPr lang="ar-SA" sz="1800" kern="1200" noProof="0" dirty="0">
                        <a:solidFill>
                          <a:schemeClr val="tx1"/>
                        </a:solidFill>
                        <a:effectLst/>
                        <a:latin typeface="Sakkal Majalla" panose="02000000000000000000" pitchFamily="2" charset="-78"/>
                        <a:ea typeface="+mn-ea"/>
                        <a:cs typeface="Sakkal Majalla" panose="02000000000000000000" pitchFamily="2" charset="-78"/>
                      </a:endParaRPr>
                    </a:p>
                  </a:txBody>
                  <a:tcPr marL="68580" marR="68580" marT="0" marB="0" anchor="ct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tcPr>
                </a:tc>
                <a:tc>
                  <a:txBody>
                    <a:bodyPr/>
                    <a:lstStyle/>
                    <a:p>
                      <a:pPr marL="635" marR="0" indent="-1905" algn="ctr" defTabSz="914400" rtl="1" eaLnBrk="1" latinLnBrk="0" hangingPunct="1">
                        <a:lnSpc>
                          <a:spcPct val="115000"/>
                        </a:lnSpc>
                        <a:spcBef>
                          <a:spcPts val="500"/>
                        </a:spcBef>
                        <a:spcAft>
                          <a:spcPts val="0"/>
                        </a:spcAft>
                      </a:pPr>
                      <a:endParaRPr lang="ar-SA" sz="1800" kern="1200" noProof="0" dirty="0">
                        <a:solidFill>
                          <a:schemeClr val="tx1"/>
                        </a:solidFill>
                        <a:effectLst/>
                        <a:latin typeface="Sakkal Majalla" panose="02000000000000000000" pitchFamily="2" charset="-78"/>
                        <a:ea typeface="Sakkal Majalla" panose="02000000000000000000" pitchFamily="2" charset="-78"/>
                        <a:cs typeface="Sakkal Majalla" panose="02000000000000000000" pitchFamily="2" charset="-78"/>
                      </a:endParaRPr>
                    </a:p>
                  </a:txBody>
                  <a:tcPr marL="68580" marR="68580" marT="0" marB="0" anchor="ct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tcPr>
                </a:tc>
                <a:extLst>
                  <a:ext uri="{0D108BD9-81ED-4DB2-BD59-A6C34878D82A}">
                    <a16:rowId xmlns:a16="http://schemas.microsoft.com/office/drawing/2014/main" val="2048829475"/>
                  </a:ext>
                </a:extLst>
              </a:tr>
              <a:tr h="677764">
                <a:tc>
                  <a:txBody>
                    <a:bodyPr/>
                    <a:lstStyle/>
                    <a:p>
                      <a:pPr algn="ctr" rtl="1">
                        <a:lnSpc>
                          <a:spcPct val="115000"/>
                        </a:lnSpc>
                        <a:spcAft>
                          <a:spcPts val="0"/>
                        </a:spcAft>
                      </a:pPr>
                      <a:endParaRPr lang="ar-SA" sz="1800" noProof="0" dirty="0">
                        <a:solidFill>
                          <a:schemeClr val="tx1"/>
                        </a:solidFill>
                        <a:effectLst/>
                        <a:latin typeface="Sakkal Majalla" panose="02000000000000000000" pitchFamily="2" charset="-78"/>
                        <a:ea typeface="Sakkal Majalla" panose="02000000000000000000" pitchFamily="2" charset="-78"/>
                        <a:cs typeface="Sakkal Majalla" panose="02000000000000000000" pitchFamily="2" charset="-78"/>
                      </a:endParaRPr>
                    </a:p>
                  </a:txBody>
                  <a:tcPr marL="68580" marR="68580" marT="0" marB="0" anchor="ct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tcPr>
                </a:tc>
                <a:tc>
                  <a:txBody>
                    <a:bodyPr/>
                    <a:lstStyle/>
                    <a:p>
                      <a:pPr marL="0" marR="0" lvl="0" indent="0" algn="ctr" defTabSz="914400" rtl="1" eaLnBrk="1" fontAlgn="auto" latinLnBrk="0" hangingPunct="1">
                        <a:lnSpc>
                          <a:spcPct val="115000"/>
                        </a:lnSpc>
                        <a:spcBef>
                          <a:spcPts val="0"/>
                        </a:spcBef>
                        <a:spcAft>
                          <a:spcPts val="0"/>
                        </a:spcAft>
                        <a:buClrTx/>
                        <a:buSzTx/>
                        <a:buFontTx/>
                        <a:buNone/>
                        <a:tabLst/>
                        <a:defRPr/>
                      </a:pPr>
                      <a:endParaRPr lang="ar-SA" sz="1800" kern="1200" noProof="0" dirty="0">
                        <a:solidFill>
                          <a:schemeClr val="tx1"/>
                        </a:solidFill>
                        <a:effectLst/>
                        <a:latin typeface="Sakkal Majalla" panose="02000000000000000000" pitchFamily="2" charset="-78"/>
                        <a:ea typeface="Sakkal Majalla" panose="02000000000000000000" pitchFamily="2" charset="-78"/>
                        <a:cs typeface="Sakkal Majalla" panose="02000000000000000000" pitchFamily="2" charset="-78"/>
                      </a:endParaRPr>
                    </a:p>
                  </a:txBody>
                  <a:tcPr marL="68580" marR="68580" marT="0" marB="0" anchor="ct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tcPr>
                </a:tc>
                <a:tc>
                  <a:txBody>
                    <a:bodyPr/>
                    <a:lstStyle/>
                    <a:p>
                      <a:pPr algn="ctr" rtl="1">
                        <a:lnSpc>
                          <a:spcPct val="115000"/>
                        </a:lnSpc>
                        <a:spcAft>
                          <a:spcPts val="0"/>
                        </a:spcAft>
                      </a:pPr>
                      <a:endParaRPr lang="ar-SA" sz="1800" kern="1200" noProof="0" dirty="0">
                        <a:solidFill>
                          <a:schemeClr val="tx1"/>
                        </a:solidFill>
                        <a:effectLst/>
                        <a:latin typeface="Sakkal Majalla" panose="02000000000000000000" pitchFamily="2" charset="-78"/>
                        <a:ea typeface="+mn-ea"/>
                        <a:cs typeface="Sakkal Majalla" panose="02000000000000000000" pitchFamily="2" charset="-78"/>
                      </a:endParaRPr>
                    </a:p>
                  </a:txBody>
                  <a:tcPr marL="68580" marR="68580" marT="0" marB="0" anchor="ct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tcPr>
                </a:tc>
                <a:tc>
                  <a:txBody>
                    <a:bodyPr/>
                    <a:lstStyle/>
                    <a:p>
                      <a:pPr algn="ctr" rtl="1">
                        <a:lnSpc>
                          <a:spcPct val="115000"/>
                        </a:lnSpc>
                        <a:spcAft>
                          <a:spcPts val="0"/>
                        </a:spcAft>
                      </a:pPr>
                      <a:endParaRPr lang="ar-SA" sz="1800" kern="1200" noProof="0" dirty="0">
                        <a:solidFill>
                          <a:schemeClr val="tx1"/>
                        </a:solidFill>
                        <a:effectLst/>
                        <a:latin typeface="Sakkal Majalla" panose="02000000000000000000" pitchFamily="2" charset="-78"/>
                        <a:ea typeface="+mn-ea"/>
                        <a:cs typeface="Sakkal Majalla" panose="02000000000000000000" pitchFamily="2" charset="-78"/>
                      </a:endParaRPr>
                    </a:p>
                  </a:txBody>
                  <a:tcPr marL="68580" marR="68580" marT="0" marB="0" anchor="ct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tcPr>
                </a:tc>
                <a:tc>
                  <a:txBody>
                    <a:bodyPr/>
                    <a:lstStyle/>
                    <a:p>
                      <a:pPr marL="635" marR="0" indent="-1905" algn="ctr" rtl="1">
                        <a:lnSpc>
                          <a:spcPct val="115000"/>
                        </a:lnSpc>
                        <a:spcBef>
                          <a:spcPts val="500"/>
                        </a:spcBef>
                        <a:spcAft>
                          <a:spcPts val="0"/>
                        </a:spcAft>
                      </a:pPr>
                      <a:endParaRPr lang="ar-SA" sz="1800" noProof="0" dirty="0">
                        <a:solidFill>
                          <a:schemeClr val="tx1"/>
                        </a:solidFill>
                        <a:effectLst/>
                        <a:latin typeface="Sakkal Majalla" panose="02000000000000000000" pitchFamily="2" charset="-78"/>
                        <a:ea typeface="Sakkal Majalla" panose="02000000000000000000" pitchFamily="2" charset="-78"/>
                        <a:cs typeface="Sakkal Majalla" panose="02000000000000000000" pitchFamily="2" charset="-78"/>
                      </a:endParaRPr>
                    </a:p>
                  </a:txBody>
                  <a:tcPr marL="68580" marR="68580" marT="0" marB="0" anchor="ct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tcPr>
                </a:tc>
                <a:extLst>
                  <a:ext uri="{0D108BD9-81ED-4DB2-BD59-A6C34878D82A}">
                    <a16:rowId xmlns:a16="http://schemas.microsoft.com/office/drawing/2014/main" val="1977945649"/>
                  </a:ext>
                </a:extLst>
              </a:tr>
              <a:tr h="677764">
                <a:tc>
                  <a:txBody>
                    <a:bodyPr/>
                    <a:lstStyle/>
                    <a:p>
                      <a:pPr algn="ctr" rtl="1">
                        <a:lnSpc>
                          <a:spcPct val="115000"/>
                        </a:lnSpc>
                        <a:spcAft>
                          <a:spcPts val="0"/>
                        </a:spcAft>
                      </a:pPr>
                      <a:endParaRPr lang="ar-SA" sz="1800" noProof="0" dirty="0">
                        <a:solidFill>
                          <a:schemeClr val="tx1"/>
                        </a:solidFill>
                        <a:effectLst/>
                        <a:latin typeface="Sakkal Majalla" panose="02000000000000000000" pitchFamily="2" charset="-78"/>
                        <a:ea typeface="Sakkal Majalla" panose="02000000000000000000" pitchFamily="2" charset="-78"/>
                        <a:cs typeface="Sakkal Majalla" panose="02000000000000000000" pitchFamily="2" charset="-78"/>
                      </a:endParaRPr>
                    </a:p>
                  </a:txBody>
                  <a:tcPr marL="68580" marR="68580" marT="0" marB="0" anchor="ct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tcPr>
                </a:tc>
                <a:tc>
                  <a:txBody>
                    <a:bodyPr/>
                    <a:lstStyle/>
                    <a:p>
                      <a:pPr marL="0" marR="0" lvl="0" indent="0" algn="ctr" defTabSz="914400" rtl="1" eaLnBrk="1" fontAlgn="auto" latinLnBrk="0" hangingPunct="1">
                        <a:lnSpc>
                          <a:spcPct val="115000"/>
                        </a:lnSpc>
                        <a:spcBef>
                          <a:spcPts val="0"/>
                        </a:spcBef>
                        <a:spcAft>
                          <a:spcPts val="0"/>
                        </a:spcAft>
                        <a:buClrTx/>
                        <a:buSzTx/>
                        <a:buFontTx/>
                        <a:buNone/>
                        <a:tabLst/>
                        <a:defRPr/>
                      </a:pPr>
                      <a:endParaRPr lang="ar-SA" sz="1800" kern="1200" noProof="0" dirty="0">
                        <a:solidFill>
                          <a:schemeClr val="tx1"/>
                        </a:solidFill>
                        <a:effectLst/>
                        <a:latin typeface="Sakkal Majalla" panose="02000000000000000000" pitchFamily="2" charset="-78"/>
                        <a:ea typeface="Sakkal Majalla" panose="02000000000000000000" pitchFamily="2" charset="-78"/>
                        <a:cs typeface="Sakkal Majalla" panose="02000000000000000000" pitchFamily="2" charset="-78"/>
                      </a:endParaRPr>
                    </a:p>
                  </a:txBody>
                  <a:tcPr marL="68580" marR="68580" marT="0" marB="0" anchor="ct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tcPr>
                </a:tc>
                <a:tc>
                  <a:txBody>
                    <a:bodyPr/>
                    <a:lstStyle/>
                    <a:p>
                      <a:pPr algn="ctr" rtl="1">
                        <a:lnSpc>
                          <a:spcPct val="115000"/>
                        </a:lnSpc>
                        <a:spcAft>
                          <a:spcPts val="0"/>
                        </a:spcAft>
                      </a:pPr>
                      <a:endParaRPr lang="ar-SA" sz="1800" kern="1200" noProof="0" dirty="0">
                        <a:solidFill>
                          <a:schemeClr val="tx1"/>
                        </a:solidFill>
                        <a:effectLst/>
                        <a:latin typeface="Sakkal Majalla" panose="02000000000000000000" pitchFamily="2" charset="-78"/>
                        <a:ea typeface="+mn-ea"/>
                        <a:cs typeface="Sakkal Majalla" panose="02000000000000000000" pitchFamily="2" charset="-78"/>
                      </a:endParaRPr>
                    </a:p>
                  </a:txBody>
                  <a:tcPr marL="68580" marR="68580" marT="0" marB="0" anchor="ct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tcPr>
                </a:tc>
                <a:tc>
                  <a:txBody>
                    <a:bodyPr/>
                    <a:lstStyle/>
                    <a:p>
                      <a:pPr algn="ctr" rtl="1">
                        <a:lnSpc>
                          <a:spcPct val="115000"/>
                        </a:lnSpc>
                        <a:spcAft>
                          <a:spcPts val="0"/>
                        </a:spcAft>
                      </a:pPr>
                      <a:endParaRPr lang="ar-SA" sz="1800" kern="1200" noProof="0" dirty="0">
                        <a:solidFill>
                          <a:schemeClr val="tx1"/>
                        </a:solidFill>
                        <a:effectLst/>
                        <a:latin typeface="Sakkal Majalla" panose="02000000000000000000" pitchFamily="2" charset="-78"/>
                        <a:ea typeface="+mn-ea"/>
                        <a:cs typeface="Sakkal Majalla" panose="02000000000000000000" pitchFamily="2" charset="-78"/>
                      </a:endParaRPr>
                    </a:p>
                  </a:txBody>
                  <a:tcPr marL="68580" marR="68580" marT="0" marB="0" anchor="ct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tcPr>
                </a:tc>
                <a:tc>
                  <a:txBody>
                    <a:bodyPr/>
                    <a:lstStyle/>
                    <a:p>
                      <a:pPr marL="635" marR="0" indent="-1905" algn="ctr" rtl="1">
                        <a:lnSpc>
                          <a:spcPct val="115000"/>
                        </a:lnSpc>
                        <a:spcBef>
                          <a:spcPts val="500"/>
                        </a:spcBef>
                        <a:spcAft>
                          <a:spcPts val="0"/>
                        </a:spcAft>
                      </a:pPr>
                      <a:endParaRPr lang="ar-SA" sz="1800" noProof="0" dirty="0">
                        <a:solidFill>
                          <a:schemeClr val="tx1"/>
                        </a:solidFill>
                        <a:effectLst/>
                        <a:latin typeface="Sakkal Majalla" panose="02000000000000000000" pitchFamily="2" charset="-78"/>
                        <a:ea typeface="Sakkal Majalla" panose="02000000000000000000" pitchFamily="2" charset="-78"/>
                        <a:cs typeface="Sakkal Majalla" panose="02000000000000000000" pitchFamily="2" charset="-78"/>
                      </a:endParaRPr>
                    </a:p>
                  </a:txBody>
                  <a:tcPr marL="68580" marR="68580" marT="0" marB="0" anchor="ct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tcPr>
                </a:tc>
                <a:extLst>
                  <a:ext uri="{0D108BD9-81ED-4DB2-BD59-A6C34878D82A}">
                    <a16:rowId xmlns:a16="http://schemas.microsoft.com/office/drawing/2014/main" val="2088316617"/>
                  </a:ext>
                </a:extLst>
              </a:tr>
              <a:tr h="677764">
                <a:tc>
                  <a:txBody>
                    <a:bodyPr/>
                    <a:lstStyle/>
                    <a:p>
                      <a:pPr algn="ctr" rtl="1">
                        <a:lnSpc>
                          <a:spcPct val="115000"/>
                        </a:lnSpc>
                        <a:spcAft>
                          <a:spcPts val="0"/>
                        </a:spcAft>
                      </a:pPr>
                      <a:endParaRPr lang="ar-SA" sz="2000" noProof="0" dirty="0">
                        <a:solidFill>
                          <a:schemeClr val="tx1"/>
                        </a:solidFill>
                        <a:effectLst/>
                        <a:latin typeface="Sakkal Majalla" panose="02000000000000000000" pitchFamily="2" charset="-78"/>
                        <a:ea typeface="Sakkal Majalla" panose="02000000000000000000" pitchFamily="2" charset="-78"/>
                        <a:cs typeface="Sakkal Majalla" panose="02000000000000000000" pitchFamily="2" charset="-78"/>
                      </a:endParaRPr>
                    </a:p>
                  </a:txBody>
                  <a:tcPr marL="68580" marR="68580" marT="0" marB="0" anchor="ct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tcPr>
                </a:tc>
                <a:tc>
                  <a:txBody>
                    <a:bodyPr/>
                    <a:lstStyle/>
                    <a:p>
                      <a:pPr marL="0" marR="0" lvl="0" indent="0" algn="ctr" defTabSz="914400" rtl="1" eaLnBrk="1" fontAlgn="auto" latinLnBrk="0" hangingPunct="1">
                        <a:lnSpc>
                          <a:spcPct val="115000"/>
                        </a:lnSpc>
                        <a:spcBef>
                          <a:spcPts val="0"/>
                        </a:spcBef>
                        <a:spcAft>
                          <a:spcPts val="0"/>
                        </a:spcAft>
                        <a:buClrTx/>
                        <a:buSzTx/>
                        <a:buFontTx/>
                        <a:buNone/>
                        <a:tabLst/>
                        <a:defRPr/>
                      </a:pPr>
                      <a:endParaRPr lang="ar-SA" sz="2000" kern="1200" noProof="0" dirty="0">
                        <a:solidFill>
                          <a:schemeClr val="tx1"/>
                        </a:solidFill>
                        <a:effectLst/>
                        <a:latin typeface="Sakkal Majalla" panose="02000000000000000000" pitchFamily="2" charset="-78"/>
                        <a:ea typeface="Sakkal Majalla" panose="02000000000000000000" pitchFamily="2" charset="-78"/>
                        <a:cs typeface="Sakkal Majalla" panose="02000000000000000000" pitchFamily="2" charset="-78"/>
                      </a:endParaRPr>
                    </a:p>
                  </a:txBody>
                  <a:tcPr marL="68580" marR="68580" marT="0" marB="0" anchor="ct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tcPr>
                </a:tc>
                <a:tc>
                  <a:txBody>
                    <a:bodyPr/>
                    <a:lstStyle/>
                    <a:p>
                      <a:pPr algn="ctr" rtl="1">
                        <a:lnSpc>
                          <a:spcPct val="115000"/>
                        </a:lnSpc>
                        <a:spcAft>
                          <a:spcPts val="0"/>
                        </a:spcAft>
                      </a:pPr>
                      <a:endParaRPr lang="ar-SA" sz="2000" kern="1200" noProof="0" dirty="0">
                        <a:solidFill>
                          <a:schemeClr val="tx1"/>
                        </a:solidFill>
                        <a:effectLst/>
                        <a:latin typeface="Sakkal Majalla" panose="02000000000000000000" pitchFamily="2" charset="-78"/>
                        <a:ea typeface="+mn-ea"/>
                        <a:cs typeface="Sakkal Majalla" panose="02000000000000000000" pitchFamily="2" charset="-78"/>
                      </a:endParaRPr>
                    </a:p>
                  </a:txBody>
                  <a:tcPr marL="68580" marR="68580" marT="0" marB="0" anchor="ct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tcPr>
                </a:tc>
                <a:tc>
                  <a:txBody>
                    <a:bodyPr/>
                    <a:lstStyle/>
                    <a:p>
                      <a:pPr algn="ctr" rtl="1">
                        <a:lnSpc>
                          <a:spcPct val="115000"/>
                        </a:lnSpc>
                        <a:spcAft>
                          <a:spcPts val="0"/>
                        </a:spcAft>
                      </a:pPr>
                      <a:endParaRPr lang="ar-SA" sz="2000" kern="1200" noProof="0" dirty="0">
                        <a:solidFill>
                          <a:schemeClr val="tx1"/>
                        </a:solidFill>
                        <a:effectLst/>
                        <a:latin typeface="Sakkal Majalla" panose="02000000000000000000" pitchFamily="2" charset="-78"/>
                        <a:ea typeface="+mn-ea"/>
                        <a:cs typeface="Sakkal Majalla" panose="02000000000000000000" pitchFamily="2" charset="-78"/>
                      </a:endParaRPr>
                    </a:p>
                  </a:txBody>
                  <a:tcPr marL="68580" marR="68580" marT="0" marB="0" anchor="ct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tcPr>
                </a:tc>
                <a:tc>
                  <a:txBody>
                    <a:bodyPr/>
                    <a:lstStyle/>
                    <a:p>
                      <a:pPr marL="635" marR="0" indent="-1905" algn="ctr" defTabSz="914400" rtl="0" eaLnBrk="1" latinLnBrk="0" hangingPunct="1">
                        <a:lnSpc>
                          <a:spcPct val="115000"/>
                        </a:lnSpc>
                        <a:spcBef>
                          <a:spcPts val="500"/>
                        </a:spcBef>
                        <a:spcAft>
                          <a:spcPts val="0"/>
                        </a:spcAft>
                      </a:pPr>
                      <a:endParaRPr lang="ar-SA" sz="1200" noProof="0" dirty="0">
                        <a:solidFill>
                          <a:schemeClr val="tx1"/>
                        </a:solidFill>
                        <a:effectLst/>
                        <a:latin typeface="Sakkal Majalla" panose="02000000000000000000" pitchFamily="2" charset="-78"/>
                        <a:ea typeface="Sakkal Majalla" panose="02000000000000000000" pitchFamily="2" charset="-78"/>
                        <a:cs typeface="Sakkal Majalla" panose="02000000000000000000" pitchFamily="2" charset="-78"/>
                      </a:endParaRPr>
                    </a:p>
                  </a:txBody>
                  <a:tcPr marL="68580" marR="68580" marT="0" marB="0" anchor="ct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tcPr>
                </a:tc>
                <a:extLst>
                  <a:ext uri="{0D108BD9-81ED-4DB2-BD59-A6C34878D82A}">
                    <a16:rowId xmlns:a16="http://schemas.microsoft.com/office/drawing/2014/main" val="132939493"/>
                  </a:ext>
                </a:extLst>
              </a:tr>
            </a:tbl>
          </a:graphicData>
        </a:graphic>
      </p:graphicFrame>
    </p:spTree>
    <p:extLst>
      <p:ext uri="{BB962C8B-B14F-4D97-AF65-F5344CB8AC3E}">
        <p14:creationId xmlns:p14="http://schemas.microsoft.com/office/powerpoint/2010/main" val="285488008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TextBox 24">
            <a:extLst>
              <a:ext uri="{FF2B5EF4-FFF2-40B4-BE49-F238E27FC236}">
                <a16:creationId xmlns:a16="http://schemas.microsoft.com/office/drawing/2014/main" id="{5B6CBF3A-AED2-428B-8E54-ECD96E40BAAD}"/>
              </a:ext>
            </a:extLst>
          </p:cNvPr>
          <p:cNvSpPr txBox="1"/>
          <p:nvPr/>
        </p:nvSpPr>
        <p:spPr>
          <a:xfrm>
            <a:off x="833442" y="6395664"/>
            <a:ext cx="6097604" cy="307777"/>
          </a:xfrm>
          <a:prstGeom prst="rect">
            <a:avLst/>
          </a:prstGeom>
          <a:noFill/>
        </p:spPr>
        <p:txBody>
          <a:bodyPr wrap="square">
            <a:spAutoFit/>
          </a:bodyPr>
          <a:lstStyle/>
          <a:p>
            <a:fld id="{008E1BDA-5E07-414A-8101-29DABEB15B19}" type="slidenum">
              <a:rPr lang="ar-SA" sz="1400" b="1" noProof="0" smtClean="0">
                <a:solidFill>
                  <a:schemeClr val="accent1"/>
                </a:solidFill>
              </a:rPr>
              <a:pPr/>
              <a:t>4</a:t>
            </a:fld>
            <a:endParaRPr lang="ar-SA" sz="1400" b="1" noProof="0" dirty="0">
              <a:solidFill>
                <a:schemeClr val="accent1"/>
              </a:solidFill>
            </a:endParaRPr>
          </a:p>
        </p:txBody>
      </p:sp>
      <p:sp>
        <p:nvSpPr>
          <p:cNvPr id="2" name="Title 1">
            <a:extLst>
              <a:ext uri="{FF2B5EF4-FFF2-40B4-BE49-F238E27FC236}">
                <a16:creationId xmlns:a16="http://schemas.microsoft.com/office/drawing/2014/main" id="{336A4A4A-AA0F-4470-93D7-AFEC527BCD12}"/>
              </a:ext>
            </a:extLst>
          </p:cNvPr>
          <p:cNvSpPr txBox="1">
            <a:spLocks/>
          </p:cNvSpPr>
          <p:nvPr/>
        </p:nvSpPr>
        <p:spPr>
          <a:xfrm>
            <a:off x="2670048" y="408242"/>
            <a:ext cx="8683752" cy="639350"/>
          </a:xfrm>
          <a:prstGeom prst="rect">
            <a:avLst/>
          </a:prstGeom>
        </p:spPr>
        <p:txBody>
          <a:bodyPr vert="horz" lIns="91440" tIns="45720" rIns="0" bIns="45720" rtlCol="0" anchor="ctr" anchorCtr="0">
            <a:noAutofit/>
          </a:bodyPr>
          <a:lstStyle>
            <a:lvl1pPr algn="r" defTabSz="914400" rtl="1" eaLnBrk="1" latinLnBrk="0" hangingPunct="1">
              <a:lnSpc>
                <a:spcPct val="100000"/>
              </a:lnSpc>
              <a:spcBef>
                <a:spcPct val="0"/>
              </a:spcBef>
              <a:buNone/>
              <a:defRPr sz="3200" b="1" kern="1200">
                <a:solidFill>
                  <a:schemeClr val="accent1"/>
                </a:solidFill>
                <a:latin typeface="+mj-lt"/>
                <a:ea typeface="+mj-ea"/>
                <a:cs typeface="+mj-cs"/>
              </a:defRPr>
            </a:lvl1pPr>
          </a:lstStyle>
          <a:p>
            <a:r>
              <a:rPr lang="ar-SA" noProof="0" dirty="0"/>
              <a:t>جدول الاعتمادات</a:t>
            </a:r>
          </a:p>
        </p:txBody>
      </p:sp>
      <p:sp>
        <p:nvSpPr>
          <p:cNvPr id="3" name="Rounded Rectangle 5">
            <a:extLst>
              <a:ext uri="{FF2B5EF4-FFF2-40B4-BE49-F238E27FC236}">
                <a16:creationId xmlns:a16="http://schemas.microsoft.com/office/drawing/2014/main" id="{BFB3E79F-B49A-BCAF-E7F0-102BCE093C22}"/>
              </a:ext>
            </a:extLst>
          </p:cNvPr>
          <p:cNvSpPr/>
          <p:nvPr/>
        </p:nvSpPr>
        <p:spPr>
          <a:xfrm>
            <a:off x="609600" y="1047592"/>
            <a:ext cx="10972800" cy="4887557"/>
          </a:xfrm>
          <a:prstGeom prst="roundRect">
            <a:avLst>
              <a:gd name="adj" fmla="val 4550"/>
            </a:avLst>
          </a:prstGeom>
          <a:solidFill>
            <a:schemeClr val="bg1"/>
          </a:solidFill>
          <a:ln>
            <a:noFill/>
          </a:ln>
          <a:effectLst>
            <a:outerShdw blurRad="635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ar-SA" noProof="0" dirty="0">
              <a:latin typeface="Sakkal Majalla" panose="02000000000000000000" pitchFamily="2" charset="-78"/>
              <a:cs typeface="Sakkal Majalla" panose="02000000000000000000" pitchFamily="2" charset="-78"/>
            </a:endParaRPr>
          </a:p>
        </p:txBody>
      </p:sp>
      <p:graphicFrame>
        <p:nvGraphicFramePr>
          <p:cNvPr id="4" name="Table 3">
            <a:extLst>
              <a:ext uri="{FF2B5EF4-FFF2-40B4-BE49-F238E27FC236}">
                <a16:creationId xmlns:a16="http://schemas.microsoft.com/office/drawing/2014/main" id="{6FA04D80-D8DF-52E7-5CB9-2E1E837D6047}"/>
              </a:ext>
            </a:extLst>
          </p:cNvPr>
          <p:cNvGraphicFramePr>
            <a:graphicFrameLocks noGrp="1"/>
          </p:cNvGraphicFramePr>
          <p:nvPr>
            <p:extLst>
              <p:ext uri="{D42A27DB-BD31-4B8C-83A1-F6EECF244321}">
                <p14:modId xmlns:p14="http://schemas.microsoft.com/office/powerpoint/2010/main" val="112109943"/>
              </p:ext>
            </p:extLst>
          </p:nvPr>
        </p:nvGraphicFramePr>
        <p:xfrm>
          <a:off x="609600" y="1237422"/>
          <a:ext cx="10972800" cy="4572985"/>
        </p:xfrm>
        <a:graphic>
          <a:graphicData uri="http://schemas.openxmlformats.org/drawingml/2006/table">
            <a:tbl>
              <a:tblPr rtl="1" firstRow="1" bandRow="1">
                <a:tableStyleId>{2D5ABB26-0587-4C30-8999-92F81FD0307C}</a:tableStyleId>
              </a:tblPr>
              <a:tblGrid>
                <a:gridCol w="1316817">
                  <a:extLst>
                    <a:ext uri="{9D8B030D-6E8A-4147-A177-3AD203B41FA5}">
                      <a16:colId xmlns:a16="http://schemas.microsoft.com/office/drawing/2014/main" val="3246697180"/>
                    </a:ext>
                  </a:extLst>
                </a:gridCol>
                <a:gridCol w="2540543">
                  <a:extLst>
                    <a:ext uri="{9D8B030D-6E8A-4147-A177-3AD203B41FA5}">
                      <a16:colId xmlns:a16="http://schemas.microsoft.com/office/drawing/2014/main" val="1695347223"/>
                    </a:ext>
                  </a:extLst>
                </a:gridCol>
                <a:gridCol w="2685931">
                  <a:extLst>
                    <a:ext uri="{9D8B030D-6E8A-4147-A177-3AD203B41FA5}">
                      <a16:colId xmlns:a16="http://schemas.microsoft.com/office/drawing/2014/main" val="2017486071"/>
                    </a:ext>
                  </a:extLst>
                </a:gridCol>
                <a:gridCol w="2853484">
                  <a:extLst>
                    <a:ext uri="{9D8B030D-6E8A-4147-A177-3AD203B41FA5}">
                      <a16:colId xmlns:a16="http://schemas.microsoft.com/office/drawing/2014/main" val="2702421411"/>
                    </a:ext>
                  </a:extLst>
                </a:gridCol>
                <a:gridCol w="1576025">
                  <a:extLst>
                    <a:ext uri="{9D8B030D-6E8A-4147-A177-3AD203B41FA5}">
                      <a16:colId xmlns:a16="http://schemas.microsoft.com/office/drawing/2014/main" val="3621974949"/>
                    </a:ext>
                  </a:extLst>
                </a:gridCol>
              </a:tblGrid>
              <a:tr h="911830">
                <a:tc>
                  <a:txBody>
                    <a:bodyPr/>
                    <a:lstStyle/>
                    <a:p>
                      <a:pPr algn="ctr" rtl="1">
                        <a:lnSpc>
                          <a:spcPct val="115000"/>
                        </a:lnSpc>
                        <a:spcAft>
                          <a:spcPts val="0"/>
                        </a:spcAft>
                      </a:pPr>
                      <a:endParaRPr lang="ar-SA" sz="1800" noProof="0" dirty="0">
                        <a:solidFill>
                          <a:schemeClr val="bg1"/>
                        </a:solidFill>
                        <a:effectLst/>
                        <a:latin typeface="Sakkal Majalla" panose="02000000000000000000" pitchFamily="2" charset="-78"/>
                        <a:ea typeface="Sakkal Majalla" panose="02000000000000000000" pitchFamily="2" charset="-78"/>
                        <a:cs typeface="Sakkal Majalla" panose="02000000000000000000" pitchFamily="2" charset="-78"/>
                      </a:endParaRPr>
                    </a:p>
                  </a:txBody>
                  <a:tcPr marL="68580" marR="68580" marT="0" marB="0" anchor="ctr">
                    <a:solidFill>
                      <a:schemeClr val="accent1"/>
                    </a:solidFill>
                  </a:tcPr>
                </a:tc>
                <a:tc>
                  <a:txBody>
                    <a:bodyPr/>
                    <a:lstStyle/>
                    <a:p>
                      <a:pPr algn="ctr" rtl="1">
                        <a:lnSpc>
                          <a:spcPct val="115000"/>
                        </a:lnSpc>
                        <a:spcAft>
                          <a:spcPts val="0"/>
                        </a:spcAft>
                      </a:pPr>
                      <a:r>
                        <a:rPr lang="ar-SA" sz="1800" noProof="0" dirty="0">
                          <a:solidFill>
                            <a:schemeClr val="bg1"/>
                          </a:solidFill>
                          <a:effectLst/>
                          <a:latin typeface="Sakkal Majalla" panose="02000000000000000000" pitchFamily="2" charset="-78"/>
                          <a:cs typeface="Sakkal Majalla" panose="02000000000000000000" pitchFamily="2" charset="-78"/>
                        </a:rPr>
                        <a:t>الاسم</a:t>
                      </a:r>
                      <a:endParaRPr lang="ar-SA" sz="1800" noProof="0" dirty="0">
                        <a:solidFill>
                          <a:schemeClr val="bg1"/>
                        </a:solidFill>
                        <a:effectLst/>
                        <a:latin typeface="Sakkal Majalla" panose="02000000000000000000" pitchFamily="2" charset="-78"/>
                        <a:ea typeface="Sakkal Majalla" panose="02000000000000000000" pitchFamily="2" charset="-78"/>
                        <a:cs typeface="Sakkal Majalla" panose="02000000000000000000" pitchFamily="2" charset="-78"/>
                      </a:endParaRPr>
                    </a:p>
                  </a:txBody>
                  <a:tcPr marL="68580" marR="68580" marT="0" marB="0" anchor="ctr">
                    <a:solidFill>
                      <a:schemeClr val="accent1"/>
                    </a:solidFill>
                  </a:tcPr>
                </a:tc>
                <a:tc>
                  <a:txBody>
                    <a:bodyPr/>
                    <a:lstStyle/>
                    <a:p>
                      <a:pPr marL="0" marR="0" lvl="0" indent="0" algn="ctr" defTabSz="914400" rtl="1" eaLnBrk="1" fontAlgn="auto" latinLnBrk="0" hangingPunct="1">
                        <a:lnSpc>
                          <a:spcPct val="115000"/>
                        </a:lnSpc>
                        <a:spcBef>
                          <a:spcPts val="0"/>
                        </a:spcBef>
                        <a:spcAft>
                          <a:spcPts val="0"/>
                        </a:spcAft>
                        <a:buClrTx/>
                        <a:buSzTx/>
                        <a:buFontTx/>
                        <a:buNone/>
                        <a:tabLst/>
                        <a:defRPr/>
                      </a:pPr>
                      <a:r>
                        <a:rPr lang="ar-SA" sz="1800" noProof="0" dirty="0">
                          <a:solidFill>
                            <a:schemeClr val="bg1"/>
                          </a:solidFill>
                          <a:effectLst/>
                          <a:latin typeface="Sakkal Majalla" panose="02000000000000000000" pitchFamily="2" charset="-78"/>
                          <a:ea typeface="Sakkal Majalla" panose="02000000000000000000" pitchFamily="2" charset="-78"/>
                          <a:cs typeface="Sakkal Majalla" panose="02000000000000000000" pitchFamily="2" charset="-78"/>
                        </a:rPr>
                        <a:t>المسمى الوظيفي</a:t>
                      </a:r>
                    </a:p>
                  </a:txBody>
                  <a:tcPr marL="68580" marR="68580" marT="0" marB="0" anchor="ctr">
                    <a:solidFill>
                      <a:schemeClr val="accent1"/>
                    </a:solidFill>
                  </a:tcPr>
                </a:tc>
                <a:tc>
                  <a:txBody>
                    <a:bodyPr/>
                    <a:lstStyle/>
                    <a:p>
                      <a:pPr algn="ctr" rtl="1">
                        <a:lnSpc>
                          <a:spcPct val="115000"/>
                        </a:lnSpc>
                        <a:spcAft>
                          <a:spcPts val="0"/>
                        </a:spcAft>
                      </a:pPr>
                      <a:r>
                        <a:rPr lang="ar-SA" sz="1800" noProof="0" dirty="0">
                          <a:solidFill>
                            <a:schemeClr val="bg1"/>
                          </a:solidFill>
                          <a:effectLst/>
                          <a:latin typeface="Sakkal Majalla" panose="02000000000000000000" pitchFamily="2" charset="-78"/>
                          <a:ea typeface="Sakkal Majalla" panose="02000000000000000000" pitchFamily="2" charset="-78"/>
                          <a:cs typeface="Sakkal Majalla" panose="02000000000000000000" pitchFamily="2" charset="-78"/>
                        </a:rPr>
                        <a:t>التوقيع</a:t>
                      </a:r>
                    </a:p>
                  </a:txBody>
                  <a:tcPr marL="68580" marR="68580" marT="0" marB="0" anchor="ctr">
                    <a:solidFill>
                      <a:schemeClr val="accent1"/>
                    </a:solidFill>
                  </a:tcPr>
                </a:tc>
                <a:tc>
                  <a:txBody>
                    <a:bodyPr/>
                    <a:lstStyle/>
                    <a:p>
                      <a:pPr algn="ctr" rtl="1">
                        <a:lnSpc>
                          <a:spcPct val="115000"/>
                        </a:lnSpc>
                        <a:spcAft>
                          <a:spcPts val="0"/>
                        </a:spcAft>
                      </a:pPr>
                      <a:r>
                        <a:rPr lang="ar-SA" sz="1800" noProof="0" dirty="0">
                          <a:solidFill>
                            <a:schemeClr val="bg1"/>
                          </a:solidFill>
                          <a:effectLst/>
                          <a:latin typeface="Sakkal Majalla" panose="02000000000000000000" pitchFamily="2" charset="-78"/>
                          <a:cs typeface="Sakkal Majalla" panose="02000000000000000000" pitchFamily="2" charset="-78"/>
                        </a:rPr>
                        <a:t>التاريخ</a:t>
                      </a:r>
                      <a:endParaRPr lang="ar-SA" sz="1800" noProof="0" dirty="0">
                        <a:solidFill>
                          <a:schemeClr val="bg1"/>
                        </a:solidFill>
                        <a:effectLst/>
                        <a:latin typeface="Sakkal Majalla" panose="02000000000000000000" pitchFamily="2" charset="-78"/>
                        <a:ea typeface="Sakkal Majalla" panose="02000000000000000000" pitchFamily="2" charset="-78"/>
                        <a:cs typeface="Sakkal Majalla" panose="02000000000000000000" pitchFamily="2" charset="-78"/>
                      </a:endParaRPr>
                    </a:p>
                  </a:txBody>
                  <a:tcPr marL="68580" marR="68580" marT="0" marB="0" anchor="ctr">
                    <a:solidFill>
                      <a:schemeClr val="accent1"/>
                    </a:solidFill>
                  </a:tcPr>
                </a:tc>
                <a:extLst>
                  <a:ext uri="{0D108BD9-81ED-4DB2-BD59-A6C34878D82A}">
                    <a16:rowId xmlns:a16="http://schemas.microsoft.com/office/drawing/2014/main" val="3404469103"/>
                  </a:ext>
                </a:extLst>
              </a:tr>
              <a:tr h="1220385">
                <a:tc>
                  <a:txBody>
                    <a:bodyPr/>
                    <a:lstStyle/>
                    <a:p>
                      <a:pPr algn="ctr" rtl="1">
                        <a:lnSpc>
                          <a:spcPct val="115000"/>
                        </a:lnSpc>
                        <a:spcAft>
                          <a:spcPts val="0"/>
                        </a:spcAft>
                      </a:pPr>
                      <a:r>
                        <a:rPr lang="ar-SA" sz="1800" noProof="0" dirty="0">
                          <a:solidFill>
                            <a:schemeClr val="tx1"/>
                          </a:solidFill>
                          <a:effectLst/>
                          <a:latin typeface="Sakkal Majalla" panose="02000000000000000000" pitchFamily="2" charset="-78"/>
                          <a:cs typeface="Sakkal Majalla" panose="02000000000000000000" pitchFamily="2" charset="-78"/>
                        </a:rPr>
                        <a:t>اعتمدت بواسطة</a:t>
                      </a:r>
                      <a:endParaRPr lang="ar-SA" sz="1800" noProof="0" dirty="0">
                        <a:solidFill>
                          <a:schemeClr val="tx1"/>
                        </a:solidFill>
                        <a:effectLst/>
                        <a:latin typeface="Sakkal Majalla" panose="02000000000000000000" pitchFamily="2" charset="-78"/>
                        <a:ea typeface="Sakkal Majalla" panose="02000000000000000000" pitchFamily="2" charset="-78"/>
                        <a:cs typeface="Sakkal Majalla" panose="02000000000000000000" pitchFamily="2" charset="-78"/>
                      </a:endParaRPr>
                    </a:p>
                  </a:txBody>
                  <a:tcPr marL="68580" marR="68580" marT="0" marB="0" anchor="ctr">
                    <a:lnB w="6350" cap="flat" cmpd="sng" algn="ctr">
                      <a:solidFill>
                        <a:schemeClr val="accent2"/>
                      </a:solidFill>
                      <a:prstDash val="solid"/>
                      <a:round/>
                      <a:headEnd type="none" w="med" len="med"/>
                      <a:tailEnd type="none" w="med" len="med"/>
                    </a:lnB>
                  </a:tcPr>
                </a:tc>
                <a:tc>
                  <a:txBody>
                    <a:bodyPr/>
                    <a:lstStyle/>
                    <a:p>
                      <a:pPr marL="0" marR="0" lvl="0" indent="0" algn="ctr" defTabSz="914400" rtl="1" eaLnBrk="1" fontAlgn="auto" latinLnBrk="0" hangingPunct="1">
                        <a:lnSpc>
                          <a:spcPct val="115000"/>
                        </a:lnSpc>
                        <a:spcBef>
                          <a:spcPts val="0"/>
                        </a:spcBef>
                        <a:spcAft>
                          <a:spcPts val="0"/>
                        </a:spcAft>
                        <a:buClrTx/>
                        <a:buSzTx/>
                        <a:buFontTx/>
                        <a:buNone/>
                        <a:tabLst/>
                        <a:defRPr/>
                      </a:pPr>
                      <a:endParaRPr lang="ar-SA" sz="1800" kern="1200" noProof="0" dirty="0">
                        <a:solidFill>
                          <a:schemeClr val="tx1"/>
                        </a:solidFill>
                        <a:effectLst/>
                        <a:latin typeface="Sakkal Majalla" panose="02000000000000000000" pitchFamily="2" charset="-78"/>
                        <a:ea typeface="Sakkal Majalla" panose="02000000000000000000" pitchFamily="2" charset="-78"/>
                        <a:cs typeface="Sakkal Majalla" panose="02000000000000000000" pitchFamily="2" charset="-78"/>
                      </a:endParaRPr>
                    </a:p>
                  </a:txBody>
                  <a:tcPr marL="68580" marR="68580" marT="0" marB="0" anchor="ctr">
                    <a:lnB w="6350" cap="flat" cmpd="sng" algn="ctr">
                      <a:solidFill>
                        <a:schemeClr val="accent2"/>
                      </a:solidFill>
                      <a:prstDash val="solid"/>
                      <a:round/>
                      <a:headEnd type="none" w="med" len="med"/>
                      <a:tailEnd type="none" w="med" len="med"/>
                    </a:lnB>
                  </a:tcPr>
                </a:tc>
                <a:tc>
                  <a:txBody>
                    <a:bodyPr/>
                    <a:lstStyle/>
                    <a:p>
                      <a:pPr algn="ctr" rtl="1">
                        <a:lnSpc>
                          <a:spcPct val="115000"/>
                        </a:lnSpc>
                        <a:spcAft>
                          <a:spcPts val="0"/>
                        </a:spcAft>
                      </a:pPr>
                      <a:endParaRPr lang="ar-SA" sz="1800" kern="1200" noProof="0" dirty="0">
                        <a:solidFill>
                          <a:schemeClr val="tx1"/>
                        </a:solidFill>
                        <a:effectLst/>
                        <a:latin typeface="Sakkal Majalla" panose="02000000000000000000" pitchFamily="2" charset="-78"/>
                        <a:ea typeface="+mn-ea"/>
                        <a:cs typeface="Sakkal Majalla" panose="02000000000000000000" pitchFamily="2" charset="-78"/>
                      </a:endParaRPr>
                    </a:p>
                  </a:txBody>
                  <a:tcPr marL="68580" marR="68580" marT="0" marB="0" anchor="ctr">
                    <a:lnB w="6350" cap="flat" cmpd="sng" algn="ctr">
                      <a:solidFill>
                        <a:schemeClr val="accent2"/>
                      </a:solidFill>
                      <a:prstDash val="solid"/>
                      <a:round/>
                      <a:headEnd type="none" w="med" len="med"/>
                      <a:tailEnd type="none" w="med" len="med"/>
                    </a:lnB>
                  </a:tcPr>
                </a:tc>
                <a:tc>
                  <a:txBody>
                    <a:bodyPr/>
                    <a:lstStyle/>
                    <a:p>
                      <a:pPr algn="ctr" rtl="1">
                        <a:lnSpc>
                          <a:spcPct val="115000"/>
                        </a:lnSpc>
                        <a:spcAft>
                          <a:spcPts val="0"/>
                        </a:spcAft>
                      </a:pPr>
                      <a:endParaRPr lang="ar-SA" sz="1800" kern="1200" noProof="0" dirty="0">
                        <a:solidFill>
                          <a:schemeClr val="tx1"/>
                        </a:solidFill>
                        <a:effectLst/>
                        <a:latin typeface="Sakkal Majalla" panose="02000000000000000000" pitchFamily="2" charset="-78"/>
                        <a:ea typeface="+mn-ea"/>
                        <a:cs typeface="Sakkal Majalla" panose="02000000000000000000" pitchFamily="2" charset="-78"/>
                      </a:endParaRPr>
                    </a:p>
                  </a:txBody>
                  <a:tcPr marL="68580" marR="68580" marT="0" marB="0" anchor="ctr">
                    <a:lnB w="6350" cap="flat" cmpd="sng" algn="ctr">
                      <a:solidFill>
                        <a:schemeClr val="accent2"/>
                      </a:solidFill>
                      <a:prstDash val="solid"/>
                      <a:round/>
                      <a:headEnd type="none" w="med" len="med"/>
                      <a:tailEnd type="none" w="med" len="med"/>
                    </a:lnB>
                  </a:tcPr>
                </a:tc>
                <a:tc>
                  <a:txBody>
                    <a:bodyPr/>
                    <a:lstStyle/>
                    <a:p>
                      <a:pPr marL="635" marR="0" indent="-1905" algn="ctr" rtl="1">
                        <a:lnSpc>
                          <a:spcPct val="115000"/>
                        </a:lnSpc>
                        <a:spcBef>
                          <a:spcPts val="500"/>
                        </a:spcBef>
                        <a:spcAft>
                          <a:spcPts val="0"/>
                        </a:spcAft>
                      </a:pPr>
                      <a:endParaRPr lang="ar-SA" sz="1800" noProof="0" dirty="0">
                        <a:solidFill>
                          <a:schemeClr val="tx1"/>
                        </a:solidFill>
                        <a:effectLst/>
                        <a:latin typeface="Sakkal Majalla" panose="02000000000000000000" pitchFamily="2" charset="-78"/>
                        <a:ea typeface="Sakkal Majalla" panose="02000000000000000000" pitchFamily="2" charset="-78"/>
                        <a:cs typeface="Sakkal Majalla" panose="02000000000000000000" pitchFamily="2" charset="-78"/>
                      </a:endParaRPr>
                    </a:p>
                  </a:txBody>
                  <a:tcPr marL="68580" marR="68580" marT="0" marB="0" anchor="ctr">
                    <a:lnB w="6350" cap="flat" cmpd="sng" algn="ctr">
                      <a:solidFill>
                        <a:schemeClr val="accent2"/>
                      </a:solidFill>
                      <a:prstDash val="solid"/>
                      <a:round/>
                      <a:headEnd type="none" w="med" len="med"/>
                      <a:tailEnd type="none" w="med" len="med"/>
                    </a:lnB>
                  </a:tcPr>
                </a:tc>
                <a:extLst>
                  <a:ext uri="{0D108BD9-81ED-4DB2-BD59-A6C34878D82A}">
                    <a16:rowId xmlns:a16="http://schemas.microsoft.com/office/drawing/2014/main" val="1949661009"/>
                  </a:ext>
                </a:extLst>
              </a:tr>
              <a:tr h="1220385">
                <a:tc>
                  <a:txBody>
                    <a:bodyPr/>
                    <a:lstStyle/>
                    <a:p>
                      <a:pPr marL="0" marR="0" lvl="0" indent="0" algn="ctr" defTabSz="914400" rtl="1" eaLnBrk="1" fontAlgn="auto" latinLnBrk="0" hangingPunct="1">
                        <a:lnSpc>
                          <a:spcPct val="115000"/>
                        </a:lnSpc>
                        <a:spcBef>
                          <a:spcPts val="0"/>
                        </a:spcBef>
                        <a:spcAft>
                          <a:spcPts val="0"/>
                        </a:spcAft>
                        <a:buClrTx/>
                        <a:buSzTx/>
                        <a:buFontTx/>
                        <a:buNone/>
                        <a:tabLst/>
                        <a:defRPr/>
                      </a:pPr>
                      <a:r>
                        <a:rPr lang="ar-SA" sz="1800" noProof="0" dirty="0">
                          <a:solidFill>
                            <a:schemeClr val="tx1"/>
                          </a:solidFill>
                          <a:effectLst/>
                          <a:latin typeface="Sakkal Majalla" panose="02000000000000000000" pitchFamily="2" charset="-78"/>
                          <a:cs typeface="Sakkal Majalla" panose="02000000000000000000" pitchFamily="2" charset="-78"/>
                        </a:rPr>
                        <a:t>اعتمدت بواسطة</a:t>
                      </a:r>
                      <a:endParaRPr lang="ar-SA" sz="1800" noProof="0" dirty="0">
                        <a:solidFill>
                          <a:schemeClr val="tx1"/>
                        </a:solidFill>
                        <a:effectLst/>
                        <a:latin typeface="Sakkal Majalla" panose="02000000000000000000" pitchFamily="2" charset="-78"/>
                        <a:ea typeface="Sakkal Majalla" panose="02000000000000000000" pitchFamily="2" charset="-78"/>
                        <a:cs typeface="Sakkal Majalla" panose="02000000000000000000" pitchFamily="2" charset="-78"/>
                      </a:endParaRPr>
                    </a:p>
                  </a:txBody>
                  <a:tcPr marL="68580" marR="68580" marT="0" marB="0" anchor="ct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tcPr>
                </a:tc>
                <a:tc>
                  <a:txBody>
                    <a:bodyPr/>
                    <a:lstStyle/>
                    <a:p>
                      <a:pPr marL="0" marR="0" lvl="0" indent="0" algn="ctr" defTabSz="914400" rtl="1" eaLnBrk="1" fontAlgn="auto" latinLnBrk="0" hangingPunct="1">
                        <a:lnSpc>
                          <a:spcPct val="115000"/>
                        </a:lnSpc>
                        <a:spcBef>
                          <a:spcPts val="0"/>
                        </a:spcBef>
                        <a:spcAft>
                          <a:spcPts val="0"/>
                        </a:spcAft>
                        <a:buClrTx/>
                        <a:buSzTx/>
                        <a:buFontTx/>
                        <a:buNone/>
                        <a:tabLst/>
                        <a:defRPr/>
                      </a:pPr>
                      <a:endParaRPr lang="ar-SA" sz="1800" kern="1200" noProof="0" dirty="0">
                        <a:solidFill>
                          <a:schemeClr val="tx1"/>
                        </a:solidFill>
                        <a:effectLst/>
                        <a:latin typeface="Sakkal Majalla" panose="02000000000000000000" pitchFamily="2" charset="-78"/>
                        <a:ea typeface="Sakkal Majalla" panose="02000000000000000000" pitchFamily="2" charset="-78"/>
                        <a:cs typeface="Sakkal Majalla" panose="02000000000000000000" pitchFamily="2" charset="-78"/>
                      </a:endParaRPr>
                    </a:p>
                  </a:txBody>
                  <a:tcPr marL="68580" marR="68580" marT="0" marB="0" anchor="ct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tcPr>
                </a:tc>
                <a:tc>
                  <a:txBody>
                    <a:bodyPr/>
                    <a:lstStyle/>
                    <a:p>
                      <a:pPr marL="0" marR="0" lvl="0" indent="0" algn="ctr" defTabSz="914400" rtl="1" eaLnBrk="1" fontAlgn="auto" latinLnBrk="0" hangingPunct="1">
                        <a:lnSpc>
                          <a:spcPct val="115000"/>
                        </a:lnSpc>
                        <a:spcBef>
                          <a:spcPts val="0"/>
                        </a:spcBef>
                        <a:spcAft>
                          <a:spcPts val="0"/>
                        </a:spcAft>
                        <a:buClrTx/>
                        <a:buSzTx/>
                        <a:buFontTx/>
                        <a:buNone/>
                        <a:tabLst/>
                        <a:defRPr/>
                      </a:pPr>
                      <a:endParaRPr kumimoji="0" lang="ar-SA" sz="1800" b="0" i="0" u="none" strike="noStrike" kern="1200" cap="none" spc="0" normalizeH="0" baseline="0" noProof="0" dirty="0">
                        <a:ln>
                          <a:noFill/>
                        </a:ln>
                        <a:solidFill>
                          <a:prstClr val="black"/>
                        </a:solidFill>
                        <a:effectLst/>
                        <a:uLnTx/>
                        <a:uFillTx/>
                        <a:latin typeface="Sakkal Majalla" panose="02000000000000000000" pitchFamily="2" charset="-78"/>
                        <a:ea typeface="Sakkal Majalla" panose="02000000000000000000" pitchFamily="2" charset="-78"/>
                        <a:cs typeface="Sakkal Majalla" panose="02000000000000000000" pitchFamily="2" charset="-78"/>
                      </a:endParaRPr>
                    </a:p>
                  </a:txBody>
                  <a:tcPr marL="68580" marR="68580" marT="0" marB="0" anchor="ct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tcPr>
                </a:tc>
                <a:tc>
                  <a:txBody>
                    <a:bodyPr/>
                    <a:lstStyle/>
                    <a:p>
                      <a:pPr marL="0" marR="0" lvl="0" indent="0" algn="ctr" defTabSz="914400" rtl="1" eaLnBrk="1" fontAlgn="auto" latinLnBrk="0" hangingPunct="1">
                        <a:lnSpc>
                          <a:spcPct val="115000"/>
                        </a:lnSpc>
                        <a:spcBef>
                          <a:spcPts val="0"/>
                        </a:spcBef>
                        <a:spcAft>
                          <a:spcPts val="0"/>
                        </a:spcAft>
                        <a:buClrTx/>
                        <a:buSzTx/>
                        <a:buFontTx/>
                        <a:buNone/>
                        <a:tabLst/>
                        <a:defRPr/>
                      </a:pPr>
                      <a:endParaRPr kumimoji="0" lang="ar-SA" sz="1800" b="0" i="0" u="none" strike="noStrike" kern="1200" cap="none" spc="0" normalizeH="0" baseline="0" noProof="0" dirty="0">
                        <a:ln>
                          <a:noFill/>
                        </a:ln>
                        <a:solidFill>
                          <a:prstClr val="black"/>
                        </a:solidFill>
                        <a:effectLst/>
                        <a:uLnTx/>
                        <a:uFillTx/>
                        <a:latin typeface="Sakkal Majalla" panose="02000000000000000000" pitchFamily="2" charset="-78"/>
                        <a:ea typeface="Sakkal Majalla" panose="02000000000000000000" pitchFamily="2" charset="-78"/>
                        <a:cs typeface="Sakkal Majalla" panose="02000000000000000000" pitchFamily="2" charset="-78"/>
                      </a:endParaRPr>
                    </a:p>
                  </a:txBody>
                  <a:tcPr marL="68580" marR="68580" marT="0" marB="0" anchor="ct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tcPr>
                </a:tc>
                <a:tc>
                  <a:txBody>
                    <a:bodyPr/>
                    <a:lstStyle/>
                    <a:p>
                      <a:pPr marL="635" marR="0" indent="-1905" algn="ctr" rtl="1">
                        <a:lnSpc>
                          <a:spcPct val="115000"/>
                        </a:lnSpc>
                        <a:spcBef>
                          <a:spcPts val="500"/>
                        </a:spcBef>
                        <a:spcAft>
                          <a:spcPts val="0"/>
                        </a:spcAft>
                      </a:pPr>
                      <a:endParaRPr lang="ar-SA" sz="1800" noProof="0" dirty="0">
                        <a:solidFill>
                          <a:schemeClr val="tx1"/>
                        </a:solidFill>
                        <a:effectLst/>
                        <a:latin typeface="Sakkal Majalla" panose="02000000000000000000" pitchFamily="2" charset="-78"/>
                        <a:ea typeface="Sakkal Majalla" panose="02000000000000000000" pitchFamily="2" charset="-78"/>
                        <a:cs typeface="Sakkal Majalla" panose="02000000000000000000" pitchFamily="2" charset="-78"/>
                      </a:endParaRPr>
                    </a:p>
                  </a:txBody>
                  <a:tcPr marL="68580" marR="68580" marT="0" marB="0" anchor="ct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tcPr>
                </a:tc>
                <a:extLst>
                  <a:ext uri="{0D108BD9-81ED-4DB2-BD59-A6C34878D82A}">
                    <a16:rowId xmlns:a16="http://schemas.microsoft.com/office/drawing/2014/main" val="1730147388"/>
                  </a:ext>
                </a:extLst>
              </a:tr>
              <a:tr h="1220385">
                <a:tc>
                  <a:txBody>
                    <a:bodyPr/>
                    <a:lstStyle/>
                    <a:p>
                      <a:pPr marL="0" marR="0" lvl="0" indent="0" algn="ctr" defTabSz="914400" rtl="1" eaLnBrk="1" fontAlgn="auto" latinLnBrk="0" hangingPunct="1">
                        <a:lnSpc>
                          <a:spcPct val="115000"/>
                        </a:lnSpc>
                        <a:spcBef>
                          <a:spcPts val="0"/>
                        </a:spcBef>
                        <a:spcAft>
                          <a:spcPts val="0"/>
                        </a:spcAft>
                        <a:buClrTx/>
                        <a:buSzTx/>
                        <a:buFontTx/>
                        <a:buNone/>
                        <a:tabLst/>
                        <a:defRPr/>
                      </a:pPr>
                      <a:endParaRPr lang="ar-SA" sz="2000" noProof="0" dirty="0">
                        <a:solidFill>
                          <a:schemeClr val="tx1"/>
                        </a:solidFill>
                        <a:effectLst/>
                        <a:latin typeface="Sakkal Majalla" panose="02000000000000000000" pitchFamily="2" charset="-78"/>
                        <a:ea typeface="Sakkal Majalla" panose="02000000000000000000" pitchFamily="2" charset="-78"/>
                        <a:cs typeface="Sakkal Majalla" panose="02000000000000000000" pitchFamily="2" charset="-78"/>
                      </a:endParaRPr>
                    </a:p>
                  </a:txBody>
                  <a:tcPr marL="68580" marR="68580" marT="0" marB="0" anchor="ct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tcPr>
                </a:tc>
                <a:tc>
                  <a:txBody>
                    <a:bodyPr/>
                    <a:lstStyle/>
                    <a:p>
                      <a:pPr marL="0" marR="0" lvl="0" indent="0" algn="ctr" defTabSz="914400" rtl="1" eaLnBrk="1" fontAlgn="auto" latinLnBrk="0" hangingPunct="1">
                        <a:lnSpc>
                          <a:spcPct val="115000"/>
                        </a:lnSpc>
                        <a:spcBef>
                          <a:spcPts val="0"/>
                        </a:spcBef>
                        <a:spcAft>
                          <a:spcPts val="0"/>
                        </a:spcAft>
                        <a:buClrTx/>
                        <a:buSzTx/>
                        <a:buFontTx/>
                        <a:buNone/>
                        <a:tabLst/>
                        <a:defRPr/>
                      </a:pPr>
                      <a:endParaRPr lang="ar-SA" sz="2000" kern="1200" noProof="0" dirty="0">
                        <a:solidFill>
                          <a:schemeClr val="tx1"/>
                        </a:solidFill>
                        <a:effectLst/>
                        <a:latin typeface="Sakkal Majalla" panose="02000000000000000000" pitchFamily="2" charset="-78"/>
                        <a:ea typeface="Sakkal Majalla" panose="02000000000000000000" pitchFamily="2" charset="-78"/>
                        <a:cs typeface="Sakkal Majalla" panose="02000000000000000000" pitchFamily="2" charset="-78"/>
                      </a:endParaRPr>
                    </a:p>
                  </a:txBody>
                  <a:tcPr marL="68580" marR="68580" marT="0" marB="0" anchor="ct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tcPr>
                </a:tc>
                <a:tc>
                  <a:txBody>
                    <a:bodyPr/>
                    <a:lstStyle/>
                    <a:p>
                      <a:pPr algn="ctr" rtl="1">
                        <a:lnSpc>
                          <a:spcPct val="115000"/>
                        </a:lnSpc>
                        <a:spcAft>
                          <a:spcPts val="0"/>
                        </a:spcAft>
                      </a:pPr>
                      <a:endParaRPr lang="ar-SA" sz="2000" kern="1200" noProof="0" dirty="0">
                        <a:solidFill>
                          <a:schemeClr val="tx1"/>
                        </a:solidFill>
                        <a:effectLst/>
                        <a:latin typeface="Sakkal Majalla" panose="02000000000000000000" pitchFamily="2" charset="-78"/>
                        <a:ea typeface="+mn-ea"/>
                        <a:cs typeface="Sakkal Majalla" panose="02000000000000000000" pitchFamily="2" charset="-78"/>
                      </a:endParaRPr>
                    </a:p>
                  </a:txBody>
                  <a:tcPr marL="68580" marR="68580" marT="0" marB="0" anchor="ct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tcPr>
                </a:tc>
                <a:tc>
                  <a:txBody>
                    <a:bodyPr/>
                    <a:lstStyle/>
                    <a:p>
                      <a:pPr algn="ctr" rtl="1">
                        <a:lnSpc>
                          <a:spcPct val="115000"/>
                        </a:lnSpc>
                        <a:spcAft>
                          <a:spcPts val="0"/>
                        </a:spcAft>
                      </a:pPr>
                      <a:endParaRPr lang="ar-SA" sz="2000" kern="1200" noProof="0" dirty="0">
                        <a:solidFill>
                          <a:schemeClr val="tx1"/>
                        </a:solidFill>
                        <a:effectLst/>
                        <a:latin typeface="Sakkal Majalla" panose="02000000000000000000" pitchFamily="2" charset="-78"/>
                        <a:ea typeface="+mn-ea"/>
                        <a:cs typeface="Sakkal Majalla" panose="02000000000000000000" pitchFamily="2" charset="-78"/>
                      </a:endParaRPr>
                    </a:p>
                  </a:txBody>
                  <a:tcPr marL="68580" marR="68580" marT="0" marB="0" anchor="ct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tcPr>
                </a:tc>
                <a:tc>
                  <a:txBody>
                    <a:bodyPr/>
                    <a:lstStyle/>
                    <a:p>
                      <a:pPr marL="635" marR="0" indent="-1905" algn="ctr" defTabSz="914400" rtl="1" eaLnBrk="1" latinLnBrk="0" hangingPunct="1">
                        <a:lnSpc>
                          <a:spcPct val="115000"/>
                        </a:lnSpc>
                        <a:spcBef>
                          <a:spcPts val="500"/>
                        </a:spcBef>
                        <a:spcAft>
                          <a:spcPts val="0"/>
                        </a:spcAft>
                      </a:pPr>
                      <a:endParaRPr lang="ar-SA" sz="1200" noProof="0" dirty="0">
                        <a:solidFill>
                          <a:schemeClr val="tx1"/>
                        </a:solidFill>
                        <a:effectLst/>
                        <a:latin typeface="Sakkal Majalla" panose="02000000000000000000" pitchFamily="2" charset="-78"/>
                        <a:ea typeface="Sakkal Majalla" panose="02000000000000000000" pitchFamily="2" charset="-78"/>
                        <a:cs typeface="Sakkal Majalla" panose="02000000000000000000" pitchFamily="2" charset="-78"/>
                      </a:endParaRPr>
                    </a:p>
                  </a:txBody>
                  <a:tcPr marL="68580" marR="68580" marT="0" marB="0" anchor="ct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tcPr>
                </a:tc>
                <a:extLst>
                  <a:ext uri="{0D108BD9-81ED-4DB2-BD59-A6C34878D82A}">
                    <a16:rowId xmlns:a16="http://schemas.microsoft.com/office/drawing/2014/main" val="2048829475"/>
                  </a:ext>
                </a:extLst>
              </a:tr>
            </a:tbl>
          </a:graphicData>
        </a:graphic>
      </p:graphicFrame>
    </p:spTree>
    <p:extLst>
      <p:ext uri="{BB962C8B-B14F-4D97-AF65-F5344CB8AC3E}">
        <p14:creationId xmlns:p14="http://schemas.microsoft.com/office/powerpoint/2010/main" val="340058202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ar-SA" noProof="0" dirty="0"/>
              <a:t>المقدمة</a:t>
            </a:r>
          </a:p>
        </p:txBody>
      </p:sp>
      <p:sp>
        <p:nvSpPr>
          <p:cNvPr id="4" name="Text Placeholder 3"/>
          <p:cNvSpPr>
            <a:spLocks noGrp="1"/>
          </p:cNvSpPr>
          <p:nvPr>
            <p:ph type="body" sz="quarter" idx="14"/>
          </p:nvPr>
        </p:nvSpPr>
        <p:spPr/>
        <p:txBody>
          <a:bodyPr/>
          <a:lstStyle/>
          <a:p>
            <a:r>
              <a:rPr lang="ar-SA" noProof="0" dirty="0"/>
              <a:t>01</a:t>
            </a:r>
          </a:p>
        </p:txBody>
      </p:sp>
    </p:spTree>
    <p:extLst>
      <p:ext uri="{BB962C8B-B14F-4D97-AF65-F5344CB8AC3E}">
        <p14:creationId xmlns:p14="http://schemas.microsoft.com/office/powerpoint/2010/main" val="4190474854"/>
      </p:ext>
    </p:extLst>
  </p:cSld>
  <p:clrMapOvr>
    <a:masterClrMapping/>
  </p:clrMapOvr>
  <mc:AlternateContent xmlns:mc="http://schemas.openxmlformats.org/markup-compatibility/2006" xmlns:p14="http://schemas.microsoft.com/office/powerpoint/2010/main">
    <mc:Choice Requires="p14">
      <p:transition spd="slow">
        <p14:pan dir="u"/>
      </p:transition>
    </mc:Choice>
    <mc:Fallback xmlns="">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TextBox 24">
            <a:extLst>
              <a:ext uri="{FF2B5EF4-FFF2-40B4-BE49-F238E27FC236}">
                <a16:creationId xmlns:a16="http://schemas.microsoft.com/office/drawing/2014/main" id="{5B6CBF3A-AED2-428B-8E54-ECD96E40BAAD}"/>
              </a:ext>
            </a:extLst>
          </p:cNvPr>
          <p:cNvSpPr txBox="1"/>
          <p:nvPr/>
        </p:nvSpPr>
        <p:spPr>
          <a:xfrm>
            <a:off x="833442" y="6395664"/>
            <a:ext cx="6097604" cy="307777"/>
          </a:xfrm>
          <a:prstGeom prst="rect">
            <a:avLst/>
          </a:prstGeom>
          <a:noFill/>
        </p:spPr>
        <p:txBody>
          <a:bodyPr wrap="square">
            <a:spAutoFit/>
          </a:bodyPr>
          <a:lstStyle/>
          <a:p>
            <a:fld id="{008E1BDA-5E07-414A-8101-29DABEB15B19}" type="slidenum">
              <a:rPr lang="ar-SA" sz="1400" b="1" noProof="0" smtClean="0">
                <a:solidFill>
                  <a:schemeClr val="accent1"/>
                </a:solidFill>
              </a:rPr>
              <a:pPr/>
              <a:t>6</a:t>
            </a:fld>
            <a:endParaRPr lang="ar-SA" sz="1400" b="1" noProof="0" dirty="0">
              <a:solidFill>
                <a:schemeClr val="accent1"/>
              </a:solidFill>
            </a:endParaRPr>
          </a:p>
        </p:txBody>
      </p:sp>
      <p:sp>
        <p:nvSpPr>
          <p:cNvPr id="2" name="Title 1">
            <a:extLst>
              <a:ext uri="{FF2B5EF4-FFF2-40B4-BE49-F238E27FC236}">
                <a16:creationId xmlns:a16="http://schemas.microsoft.com/office/drawing/2014/main" id="{336A4A4A-AA0F-4470-93D7-AFEC527BCD12}"/>
              </a:ext>
            </a:extLst>
          </p:cNvPr>
          <p:cNvSpPr txBox="1">
            <a:spLocks/>
          </p:cNvSpPr>
          <p:nvPr/>
        </p:nvSpPr>
        <p:spPr>
          <a:xfrm>
            <a:off x="2670048" y="408242"/>
            <a:ext cx="8683752" cy="639350"/>
          </a:xfrm>
          <a:prstGeom prst="rect">
            <a:avLst/>
          </a:prstGeom>
        </p:spPr>
        <p:txBody>
          <a:bodyPr vert="horz" lIns="91440" tIns="45720" rIns="0" bIns="45720" rtlCol="0" anchor="ctr" anchorCtr="0">
            <a:noAutofit/>
          </a:bodyPr>
          <a:lstStyle>
            <a:lvl1pPr algn="r" defTabSz="914400" rtl="1" eaLnBrk="1" latinLnBrk="0" hangingPunct="1">
              <a:lnSpc>
                <a:spcPct val="100000"/>
              </a:lnSpc>
              <a:spcBef>
                <a:spcPct val="0"/>
              </a:spcBef>
              <a:buNone/>
              <a:defRPr sz="3200" b="1" kern="1200">
                <a:solidFill>
                  <a:schemeClr val="accent1"/>
                </a:solidFill>
                <a:latin typeface="+mj-lt"/>
                <a:ea typeface="+mj-ea"/>
                <a:cs typeface="+mj-cs"/>
              </a:defRPr>
            </a:lvl1pPr>
          </a:lstStyle>
          <a:p>
            <a:r>
              <a:rPr lang="ar-SA" noProof="0" dirty="0"/>
              <a:t>تعريف البنية المؤسسية</a:t>
            </a:r>
          </a:p>
        </p:txBody>
      </p:sp>
      <p:sp>
        <p:nvSpPr>
          <p:cNvPr id="3" name="Snip Diagonal Corner Rectangle 4">
            <a:extLst>
              <a:ext uri="{FF2B5EF4-FFF2-40B4-BE49-F238E27FC236}">
                <a16:creationId xmlns:a16="http://schemas.microsoft.com/office/drawing/2014/main" id="{EDC006DF-6C86-A400-657E-C7E28783571B}"/>
              </a:ext>
            </a:extLst>
          </p:cNvPr>
          <p:cNvSpPr/>
          <p:nvPr/>
        </p:nvSpPr>
        <p:spPr>
          <a:xfrm>
            <a:off x="2378677" y="1862019"/>
            <a:ext cx="7434648" cy="3117755"/>
          </a:xfrm>
          <a:prstGeom prst="snip2DiagRect">
            <a:avLst>
              <a:gd name="adj1" fmla="val 8219"/>
              <a:gd name="adj2" fmla="val 7991"/>
            </a:avLst>
          </a:prstGeom>
          <a:noFill/>
          <a:ln>
            <a:solidFill>
              <a:schemeClr val="accent1">
                <a:shade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ar-SA" noProof="0" dirty="0">
              <a:latin typeface="Tajawal" panose="00000500000000000000" pitchFamily="2" charset="-78"/>
              <a:cs typeface="Tajawal" panose="00000500000000000000" pitchFamily="2" charset="-78"/>
            </a:endParaRPr>
          </a:p>
        </p:txBody>
      </p:sp>
      <p:sp>
        <p:nvSpPr>
          <p:cNvPr id="16" name="Snip Diagonal Corner Rectangle 13">
            <a:extLst>
              <a:ext uri="{FF2B5EF4-FFF2-40B4-BE49-F238E27FC236}">
                <a16:creationId xmlns:a16="http://schemas.microsoft.com/office/drawing/2014/main" id="{80AE987F-69CD-B600-1409-1D9AE5AA3D98}"/>
              </a:ext>
            </a:extLst>
          </p:cNvPr>
          <p:cNvSpPr/>
          <p:nvPr/>
        </p:nvSpPr>
        <p:spPr>
          <a:xfrm>
            <a:off x="2825410" y="1990146"/>
            <a:ext cx="6809356" cy="2861501"/>
          </a:xfrm>
          <a:custGeom>
            <a:avLst/>
            <a:gdLst>
              <a:gd name="connsiteX0" fmla="*/ 204136 w 5387546"/>
              <a:gd name="connsiteY0" fmla="*/ 0 h 2483708"/>
              <a:gd name="connsiteX1" fmla="*/ 5189073 w 5387546"/>
              <a:gd name="connsiteY1" fmla="*/ 0 h 2483708"/>
              <a:gd name="connsiteX2" fmla="*/ 5387546 w 5387546"/>
              <a:gd name="connsiteY2" fmla="*/ 198473 h 2483708"/>
              <a:gd name="connsiteX3" fmla="*/ 5387546 w 5387546"/>
              <a:gd name="connsiteY3" fmla="*/ 2279572 h 2483708"/>
              <a:gd name="connsiteX4" fmla="*/ 5183410 w 5387546"/>
              <a:gd name="connsiteY4" fmla="*/ 2483708 h 2483708"/>
              <a:gd name="connsiteX5" fmla="*/ 198473 w 5387546"/>
              <a:gd name="connsiteY5" fmla="*/ 2483708 h 2483708"/>
              <a:gd name="connsiteX6" fmla="*/ 0 w 5387546"/>
              <a:gd name="connsiteY6" fmla="*/ 2285235 h 2483708"/>
              <a:gd name="connsiteX7" fmla="*/ 0 w 5387546"/>
              <a:gd name="connsiteY7" fmla="*/ 204136 h 2483708"/>
              <a:gd name="connsiteX8" fmla="*/ 204136 w 5387546"/>
              <a:gd name="connsiteY8" fmla="*/ 0 h 2483708"/>
              <a:gd name="connsiteX0" fmla="*/ 5189073 w 5387546"/>
              <a:gd name="connsiteY0" fmla="*/ 0 h 2483708"/>
              <a:gd name="connsiteX1" fmla="*/ 5387546 w 5387546"/>
              <a:gd name="connsiteY1" fmla="*/ 198473 h 2483708"/>
              <a:gd name="connsiteX2" fmla="*/ 5387546 w 5387546"/>
              <a:gd name="connsiteY2" fmla="*/ 2279572 h 2483708"/>
              <a:gd name="connsiteX3" fmla="*/ 5183410 w 5387546"/>
              <a:gd name="connsiteY3" fmla="*/ 2483708 h 2483708"/>
              <a:gd name="connsiteX4" fmla="*/ 198473 w 5387546"/>
              <a:gd name="connsiteY4" fmla="*/ 2483708 h 2483708"/>
              <a:gd name="connsiteX5" fmla="*/ 0 w 5387546"/>
              <a:gd name="connsiteY5" fmla="*/ 2285235 h 2483708"/>
              <a:gd name="connsiteX6" fmla="*/ 0 w 5387546"/>
              <a:gd name="connsiteY6" fmla="*/ 204136 h 2483708"/>
              <a:gd name="connsiteX7" fmla="*/ 204136 w 5387546"/>
              <a:gd name="connsiteY7" fmla="*/ 0 h 2483708"/>
              <a:gd name="connsiteX8" fmla="*/ 5280513 w 5387546"/>
              <a:gd name="connsiteY8" fmla="*/ 91440 h 2483708"/>
              <a:gd name="connsiteX0" fmla="*/ 5189073 w 5387546"/>
              <a:gd name="connsiteY0" fmla="*/ 0 h 2483708"/>
              <a:gd name="connsiteX1" fmla="*/ 5387546 w 5387546"/>
              <a:gd name="connsiteY1" fmla="*/ 198473 h 2483708"/>
              <a:gd name="connsiteX2" fmla="*/ 5387546 w 5387546"/>
              <a:gd name="connsiteY2" fmla="*/ 2279572 h 2483708"/>
              <a:gd name="connsiteX3" fmla="*/ 5183410 w 5387546"/>
              <a:gd name="connsiteY3" fmla="*/ 2483708 h 2483708"/>
              <a:gd name="connsiteX4" fmla="*/ 198473 w 5387546"/>
              <a:gd name="connsiteY4" fmla="*/ 2483708 h 2483708"/>
              <a:gd name="connsiteX5" fmla="*/ 0 w 5387546"/>
              <a:gd name="connsiteY5" fmla="*/ 2285235 h 2483708"/>
              <a:gd name="connsiteX6" fmla="*/ 0 w 5387546"/>
              <a:gd name="connsiteY6" fmla="*/ 204136 h 2483708"/>
              <a:gd name="connsiteX7" fmla="*/ 204136 w 5387546"/>
              <a:gd name="connsiteY7" fmla="*/ 0 h 2483708"/>
              <a:gd name="connsiteX0" fmla="*/ 5189073 w 5387546"/>
              <a:gd name="connsiteY0" fmla="*/ 0 h 2483708"/>
              <a:gd name="connsiteX1" fmla="*/ 5387546 w 5387546"/>
              <a:gd name="connsiteY1" fmla="*/ 198473 h 2483708"/>
              <a:gd name="connsiteX2" fmla="*/ 5387546 w 5387546"/>
              <a:gd name="connsiteY2" fmla="*/ 2279572 h 2483708"/>
              <a:gd name="connsiteX3" fmla="*/ 5183410 w 5387546"/>
              <a:gd name="connsiteY3" fmla="*/ 2483708 h 2483708"/>
              <a:gd name="connsiteX4" fmla="*/ 198473 w 5387546"/>
              <a:gd name="connsiteY4" fmla="*/ 2483708 h 2483708"/>
              <a:gd name="connsiteX5" fmla="*/ 0 w 5387546"/>
              <a:gd name="connsiteY5" fmla="*/ 2285235 h 2483708"/>
              <a:gd name="connsiteX6" fmla="*/ 0 w 5387546"/>
              <a:gd name="connsiteY6" fmla="*/ 204136 h 2483708"/>
              <a:gd name="connsiteX7" fmla="*/ 204136 w 5387546"/>
              <a:gd name="connsiteY7" fmla="*/ 0 h 2483708"/>
              <a:gd name="connsiteX8" fmla="*/ 5189073 w 5387546"/>
              <a:gd name="connsiteY8" fmla="*/ 0 h 2483708"/>
              <a:gd name="connsiteX0" fmla="*/ 204136 w 5387546"/>
              <a:gd name="connsiteY0" fmla="*/ 0 h 2483708"/>
              <a:gd name="connsiteX1" fmla="*/ 5189073 w 5387546"/>
              <a:gd name="connsiteY1" fmla="*/ 0 h 2483708"/>
              <a:gd name="connsiteX2" fmla="*/ 5387546 w 5387546"/>
              <a:gd name="connsiteY2" fmla="*/ 198473 h 2483708"/>
              <a:gd name="connsiteX3" fmla="*/ 5387546 w 5387546"/>
              <a:gd name="connsiteY3" fmla="*/ 2279572 h 2483708"/>
              <a:gd name="connsiteX4" fmla="*/ 5183410 w 5387546"/>
              <a:gd name="connsiteY4" fmla="*/ 2483708 h 2483708"/>
              <a:gd name="connsiteX5" fmla="*/ 198473 w 5387546"/>
              <a:gd name="connsiteY5" fmla="*/ 2483708 h 2483708"/>
              <a:gd name="connsiteX6" fmla="*/ 0 w 5387546"/>
              <a:gd name="connsiteY6" fmla="*/ 2285235 h 2483708"/>
              <a:gd name="connsiteX7" fmla="*/ 0 w 5387546"/>
              <a:gd name="connsiteY7" fmla="*/ 204136 h 2483708"/>
              <a:gd name="connsiteX8" fmla="*/ 295576 w 5387546"/>
              <a:gd name="connsiteY8" fmla="*/ 91440 h 2483708"/>
              <a:gd name="connsiteX0" fmla="*/ 204136 w 5387546"/>
              <a:gd name="connsiteY0" fmla="*/ 0 h 2483708"/>
              <a:gd name="connsiteX1" fmla="*/ 5189073 w 5387546"/>
              <a:gd name="connsiteY1" fmla="*/ 0 h 2483708"/>
              <a:gd name="connsiteX2" fmla="*/ 5387546 w 5387546"/>
              <a:gd name="connsiteY2" fmla="*/ 198473 h 2483708"/>
              <a:gd name="connsiteX3" fmla="*/ 5387546 w 5387546"/>
              <a:gd name="connsiteY3" fmla="*/ 2279572 h 2483708"/>
              <a:gd name="connsiteX4" fmla="*/ 5183410 w 5387546"/>
              <a:gd name="connsiteY4" fmla="*/ 2483708 h 2483708"/>
              <a:gd name="connsiteX5" fmla="*/ 198473 w 5387546"/>
              <a:gd name="connsiteY5" fmla="*/ 2483708 h 2483708"/>
              <a:gd name="connsiteX6" fmla="*/ 0 w 5387546"/>
              <a:gd name="connsiteY6" fmla="*/ 2285235 h 2483708"/>
              <a:gd name="connsiteX7" fmla="*/ 0 w 5387546"/>
              <a:gd name="connsiteY7" fmla="*/ 204136 h 2483708"/>
              <a:gd name="connsiteX0" fmla="*/ 204136 w 5387546"/>
              <a:gd name="connsiteY0" fmla="*/ 0 h 2483708"/>
              <a:gd name="connsiteX1" fmla="*/ 5189073 w 5387546"/>
              <a:gd name="connsiteY1" fmla="*/ 0 h 2483708"/>
              <a:gd name="connsiteX2" fmla="*/ 5387546 w 5387546"/>
              <a:gd name="connsiteY2" fmla="*/ 198473 h 2483708"/>
              <a:gd name="connsiteX3" fmla="*/ 5387546 w 5387546"/>
              <a:gd name="connsiteY3" fmla="*/ 2279572 h 2483708"/>
              <a:gd name="connsiteX4" fmla="*/ 5183410 w 5387546"/>
              <a:gd name="connsiteY4" fmla="*/ 2483708 h 2483708"/>
              <a:gd name="connsiteX5" fmla="*/ 198473 w 5387546"/>
              <a:gd name="connsiteY5" fmla="*/ 2483708 h 2483708"/>
              <a:gd name="connsiteX6" fmla="*/ 0 w 5387546"/>
              <a:gd name="connsiteY6" fmla="*/ 2285235 h 2483708"/>
              <a:gd name="connsiteX0" fmla="*/ 5663 w 5189073"/>
              <a:gd name="connsiteY0" fmla="*/ 0 h 2483708"/>
              <a:gd name="connsiteX1" fmla="*/ 4990600 w 5189073"/>
              <a:gd name="connsiteY1" fmla="*/ 0 h 2483708"/>
              <a:gd name="connsiteX2" fmla="*/ 5189073 w 5189073"/>
              <a:gd name="connsiteY2" fmla="*/ 198473 h 2483708"/>
              <a:gd name="connsiteX3" fmla="*/ 5189073 w 5189073"/>
              <a:gd name="connsiteY3" fmla="*/ 2279572 h 2483708"/>
              <a:gd name="connsiteX4" fmla="*/ 4984937 w 5189073"/>
              <a:gd name="connsiteY4" fmla="*/ 2483708 h 2483708"/>
              <a:gd name="connsiteX5" fmla="*/ 0 w 5189073"/>
              <a:gd name="connsiteY5" fmla="*/ 2483708 h 2483708"/>
              <a:gd name="connsiteX0" fmla="*/ 0 w 5183410"/>
              <a:gd name="connsiteY0" fmla="*/ 0 h 2483708"/>
              <a:gd name="connsiteX1" fmla="*/ 4984937 w 5183410"/>
              <a:gd name="connsiteY1" fmla="*/ 0 h 2483708"/>
              <a:gd name="connsiteX2" fmla="*/ 5183410 w 5183410"/>
              <a:gd name="connsiteY2" fmla="*/ 198473 h 2483708"/>
              <a:gd name="connsiteX3" fmla="*/ 5183410 w 5183410"/>
              <a:gd name="connsiteY3" fmla="*/ 2279572 h 2483708"/>
              <a:gd name="connsiteX4" fmla="*/ 4979274 w 5183410"/>
              <a:gd name="connsiteY4" fmla="*/ 2483708 h 248370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183410" h="2483708">
                <a:moveTo>
                  <a:pt x="0" y="0"/>
                </a:moveTo>
                <a:lnTo>
                  <a:pt x="4984937" y="0"/>
                </a:lnTo>
                <a:lnTo>
                  <a:pt x="5183410" y="198473"/>
                </a:lnTo>
                <a:lnTo>
                  <a:pt x="5183410" y="2279572"/>
                </a:lnTo>
                <a:lnTo>
                  <a:pt x="4979274" y="2483708"/>
                </a:lnTo>
              </a:path>
            </a:pathLst>
          </a:custGeom>
          <a:noFill/>
          <a:ln>
            <a:solidFill>
              <a:schemeClr val="accent2"/>
            </a:solidFill>
            <a:tailEnd type="ova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ar-SA" noProof="0" dirty="0">
              <a:latin typeface="Tajawal" panose="00000500000000000000" pitchFamily="2" charset="-78"/>
              <a:cs typeface="Tajawal" panose="00000500000000000000" pitchFamily="2" charset="-78"/>
            </a:endParaRPr>
          </a:p>
        </p:txBody>
      </p:sp>
      <p:grpSp>
        <p:nvGrpSpPr>
          <p:cNvPr id="17" name="Group 4">
            <a:extLst>
              <a:ext uri="{FF2B5EF4-FFF2-40B4-BE49-F238E27FC236}">
                <a16:creationId xmlns:a16="http://schemas.microsoft.com/office/drawing/2014/main" id="{F7B7C762-1E67-A9BB-FDA1-4B12FE395E39}"/>
              </a:ext>
            </a:extLst>
          </p:cNvPr>
          <p:cNvGrpSpPr>
            <a:grpSpLocks noChangeAspect="1"/>
          </p:cNvGrpSpPr>
          <p:nvPr/>
        </p:nvGrpSpPr>
        <p:grpSpPr bwMode="auto">
          <a:xfrm flipH="1" flipV="1">
            <a:off x="2949146" y="4724778"/>
            <a:ext cx="634365" cy="485276"/>
            <a:chOff x="-305" y="203"/>
            <a:chExt cx="533" cy="470"/>
          </a:xfrm>
          <a:gradFill>
            <a:gsLst>
              <a:gs pos="34000">
                <a:schemeClr val="accent2"/>
              </a:gs>
              <a:gs pos="80000">
                <a:schemeClr val="accent1"/>
              </a:gs>
            </a:gsLst>
            <a:lin ang="8400000" scaled="0"/>
          </a:gradFill>
        </p:grpSpPr>
        <p:sp>
          <p:nvSpPr>
            <p:cNvPr id="18" name="Freeform 6">
              <a:extLst>
                <a:ext uri="{FF2B5EF4-FFF2-40B4-BE49-F238E27FC236}">
                  <a16:creationId xmlns:a16="http://schemas.microsoft.com/office/drawing/2014/main" id="{BD3494F7-9006-6028-3787-9C644214C2E0}"/>
                </a:ext>
              </a:extLst>
            </p:cNvPr>
            <p:cNvSpPr>
              <a:spLocks/>
            </p:cNvSpPr>
            <p:nvPr/>
          </p:nvSpPr>
          <p:spPr bwMode="auto">
            <a:xfrm>
              <a:off x="-1" y="203"/>
              <a:ext cx="229" cy="470"/>
            </a:xfrm>
            <a:custGeom>
              <a:avLst/>
              <a:gdLst>
                <a:gd name="T0" fmla="*/ 1412 w 1603"/>
                <a:gd name="T1" fmla="*/ 0 h 3290"/>
                <a:gd name="T2" fmla="*/ 1479 w 1603"/>
                <a:gd name="T3" fmla="*/ 13 h 3290"/>
                <a:gd name="T4" fmla="*/ 1536 w 1603"/>
                <a:gd name="T5" fmla="*/ 45 h 3290"/>
                <a:gd name="T6" fmla="*/ 1577 w 1603"/>
                <a:gd name="T7" fmla="*/ 95 h 3290"/>
                <a:gd name="T8" fmla="*/ 1600 w 1603"/>
                <a:gd name="T9" fmla="*/ 157 h 3290"/>
                <a:gd name="T10" fmla="*/ 1603 w 1603"/>
                <a:gd name="T11" fmla="*/ 1105 h 3290"/>
                <a:gd name="T12" fmla="*/ 1599 w 1603"/>
                <a:gd name="T13" fmla="*/ 1362 h 3290"/>
                <a:gd name="T14" fmla="*/ 1584 w 1603"/>
                <a:gd name="T15" fmla="*/ 1597 h 3290"/>
                <a:gd name="T16" fmla="*/ 1560 w 1603"/>
                <a:gd name="T17" fmla="*/ 1809 h 3290"/>
                <a:gd name="T18" fmla="*/ 1528 w 1603"/>
                <a:gd name="T19" fmla="*/ 1998 h 3290"/>
                <a:gd name="T20" fmla="*/ 1485 w 1603"/>
                <a:gd name="T21" fmla="*/ 2164 h 3290"/>
                <a:gd name="T22" fmla="*/ 1413 w 1603"/>
                <a:gd name="T23" fmla="*/ 2353 h 3290"/>
                <a:gd name="T24" fmla="*/ 1317 w 1603"/>
                <a:gd name="T25" fmla="*/ 2531 h 3290"/>
                <a:gd name="T26" fmla="*/ 1195 w 1603"/>
                <a:gd name="T27" fmla="*/ 2700 h 3290"/>
                <a:gd name="T28" fmla="*/ 1047 w 1603"/>
                <a:gd name="T29" fmla="*/ 2859 h 3290"/>
                <a:gd name="T30" fmla="*/ 888 w 1603"/>
                <a:gd name="T31" fmla="*/ 2996 h 3290"/>
                <a:gd name="T32" fmla="*/ 710 w 1603"/>
                <a:gd name="T33" fmla="*/ 3118 h 3290"/>
                <a:gd name="T34" fmla="*/ 512 w 1603"/>
                <a:gd name="T35" fmla="*/ 3227 h 3290"/>
                <a:gd name="T36" fmla="*/ 373 w 1603"/>
                <a:gd name="T37" fmla="*/ 3286 h 3290"/>
                <a:gd name="T38" fmla="*/ 309 w 1603"/>
                <a:gd name="T39" fmla="*/ 3290 h 3290"/>
                <a:gd name="T40" fmla="*/ 246 w 1603"/>
                <a:gd name="T41" fmla="*/ 3272 h 3290"/>
                <a:gd name="T42" fmla="*/ 194 w 1603"/>
                <a:gd name="T43" fmla="*/ 3236 h 3290"/>
                <a:gd name="T44" fmla="*/ 156 w 1603"/>
                <a:gd name="T45" fmla="*/ 3182 h 3290"/>
                <a:gd name="T46" fmla="*/ 7 w 1603"/>
                <a:gd name="T47" fmla="*/ 2862 h 3290"/>
                <a:gd name="T48" fmla="*/ 0 w 1603"/>
                <a:gd name="T49" fmla="*/ 2801 h 3290"/>
                <a:gd name="T50" fmla="*/ 12 w 1603"/>
                <a:gd name="T51" fmla="*/ 2743 h 3290"/>
                <a:gd name="T52" fmla="*/ 40 w 1603"/>
                <a:gd name="T53" fmla="*/ 2691 h 3290"/>
                <a:gd name="T54" fmla="*/ 86 w 1603"/>
                <a:gd name="T55" fmla="*/ 2650 h 3290"/>
                <a:gd name="T56" fmla="*/ 191 w 1603"/>
                <a:gd name="T57" fmla="*/ 2598 h 3290"/>
                <a:gd name="T58" fmla="*/ 331 w 1603"/>
                <a:gd name="T59" fmla="*/ 2518 h 3290"/>
                <a:gd name="T60" fmla="*/ 451 w 1603"/>
                <a:gd name="T61" fmla="*/ 2428 h 3290"/>
                <a:gd name="T62" fmla="*/ 551 w 1603"/>
                <a:gd name="T63" fmla="*/ 2329 h 3290"/>
                <a:gd name="T64" fmla="*/ 632 w 1603"/>
                <a:gd name="T65" fmla="*/ 2219 h 3290"/>
                <a:gd name="T66" fmla="*/ 696 w 1603"/>
                <a:gd name="T67" fmla="*/ 2095 h 3290"/>
                <a:gd name="T68" fmla="*/ 746 w 1603"/>
                <a:gd name="T69" fmla="*/ 1956 h 3290"/>
                <a:gd name="T70" fmla="*/ 781 w 1603"/>
                <a:gd name="T71" fmla="*/ 1803 h 3290"/>
                <a:gd name="T72" fmla="*/ 800 w 1603"/>
                <a:gd name="T73" fmla="*/ 1634 h 3290"/>
                <a:gd name="T74" fmla="*/ 248 w 1603"/>
                <a:gd name="T75" fmla="*/ 1545 h 3290"/>
                <a:gd name="T76" fmla="*/ 181 w 1603"/>
                <a:gd name="T77" fmla="*/ 1533 h 3290"/>
                <a:gd name="T78" fmla="*/ 124 w 1603"/>
                <a:gd name="T79" fmla="*/ 1500 h 3290"/>
                <a:gd name="T80" fmla="*/ 82 w 1603"/>
                <a:gd name="T81" fmla="*/ 1450 h 3290"/>
                <a:gd name="T82" fmla="*/ 60 w 1603"/>
                <a:gd name="T83" fmla="*/ 1388 h 3290"/>
                <a:gd name="T84" fmla="*/ 56 w 1603"/>
                <a:gd name="T85" fmla="*/ 191 h 3290"/>
                <a:gd name="T86" fmla="*/ 69 w 1603"/>
                <a:gd name="T87" fmla="*/ 125 h 3290"/>
                <a:gd name="T88" fmla="*/ 101 w 1603"/>
                <a:gd name="T89" fmla="*/ 68 h 3290"/>
                <a:gd name="T90" fmla="*/ 151 w 1603"/>
                <a:gd name="T91" fmla="*/ 26 h 3290"/>
                <a:gd name="T92" fmla="*/ 214 w 1603"/>
                <a:gd name="T93" fmla="*/ 4 h 32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1603" h="3290">
                  <a:moveTo>
                    <a:pt x="248" y="0"/>
                  </a:moveTo>
                  <a:lnTo>
                    <a:pt x="1412" y="0"/>
                  </a:lnTo>
                  <a:lnTo>
                    <a:pt x="1446" y="4"/>
                  </a:lnTo>
                  <a:lnTo>
                    <a:pt x="1479" y="13"/>
                  </a:lnTo>
                  <a:lnTo>
                    <a:pt x="1508" y="26"/>
                  </a:lnTo>
                  <a:lnTo>
                    <a:pt x="1536" y="45"/>
                  </a:lnTo>
                  <a:lnTo>
                    <a:pt x="1558" y="68"/>
                  </a:lnTo>
                  <a:lnTo>
                    <a:pt x="1577" y="95"/>
                  </a:lnTo>
                  <a:lnTo>
                    <a:pt x="1591" y="125"/>
                  </a:lnTo>
                  <a:lnTo>
                    <a:pt x="1600" y="157"/>
                  </a:lnTo>
                  <a:lnTo>
                    <a:pt x="1603" y="191"/>
                  </a:lnTo>
                  <a:lnTo>
                    <a:pt x="1603" y="1105"/>
                  </a:lnTo>
                  <a:lnTo>
                    <a:pt x="1602" y="1236"/>
                  </a:lnTo>
                  <a:lnTo>
                    <a:pt x="1599" y="1362"/>
                  </a:lnTo>
                  <a:lnTo>
                    <a:pt x="1592" y="1483"/>
                  </a:lnTo>
                  <a:lnTo>
                    <a:pt x="1584" y="1597"/>
                  </a:lnTo>
                  <a:lnTo>
                    <a:pt x="1574" y="1706"/>
                  </a:lnTo>
                  <a:lnTo>
                    <a:pt x="1560" y="1809"/>
                  </a:lnTo>
                  <a:lnTo>
                    <a:pt x="1546" y="1906"/>
                  </a:lnTo>
                  <a:lnTo>
                    <a:pt x="1528" y="1998"/>
                  </a:lnTo>
                  <a:lnTo>
                    <a:pt x="1507" y="2084"/>
                  </a:lnTo>
                  <a:lnTo>
                    <a:pt x="1485" y="2164"/>
                  </a:lnTo>
                  <a:lnTo>
                    <a:pt x="1453" y="2259"/>
                  </a:lnTo>
                  <a:lnTo>
                    <a:pt x="1413" y="2353"/>
                  </a:lnTo>
                  <a:lnTo>
                    <a:pt x="1368" y="2443"/>
                  </a:lnTo>
                  <a:lnTo>
                    <a:pt x="1317" y="2531"/>
                  </a:lnTo>
                  <a:lnTo>
                    <a:pt x="1259" y="2617"/>
                  </a:lnTo>
                  <a:lnTo>
                    <a:pt x="1195" y="2700"/>
                  </a:lnTo>
                  <a:lnTo>
                    <a:pt x="1124" y="2781"/>
                  </a:lnTo>
                  <a:lnTo>
                    <a:pt x="1047" y="2859"/>
                  </a:lnTo>
                  <a:lnTo>
                    <a:pt x="970" y="2930"/>
                  </a:lnTo>
                  <a:lnTo>
                    <a:pt x="888" y="2996"/>
                  </a:lnTo>
                  <a:lnTo>
                    <a:pt x="801" y="3058"/>
                  </a:lnTo>
                  <a:lnTo>
                    <a:pt x="710" y="3118"/>
                  </a:lnTo>
                  <a:lnTo>
                    <a:pt x="612" y="3174"/>
                  </a:lnTo>
                  <a:lnTo>
                    <a:pt x="512" y="3227"/>
                  </a:lnTo>
                  <a:lnTo>
                    <a:pt x="405" y="3276"/>
                  </a:lnTo>
                  <a:lnTo>
                    <a:pt x="373" y="3286"/>
                  </a:lnTo>
                  <a:lnTo>
                    <a:pt x="340" y="3290"/>
                  </a:lnTo>
                  <a:lnTo>
                    <a:pt x="309" y="3290"/>
                  </a:lnTo>
                  <a:lnTo>
                    <a:pt x="277" y="3284"/>
                  </a:lnTo>
                  <a:lnTo>
                    <a:pt x="246" y="3272"/>
                  </a:lnTo>
                  <a:lnTo>
                    <a:pt x="219" y="3256"/>
                  </a:lnTo>
                  <a:lnTo>
                    <a:pt x="194" y="3236"/>
                  </a:lnTo>
                  <a:lnTo>
                    <a:pt x="173" y="3211"/>
                  </a:lnTo>
                  <a:lnTo>
                    <a:pt x="156" y="3182"/>
                  </a:lnTo>
                  <a:lnTo>
                    <a:pt x="18" y="2891"/>
                  </a:lnTo>
                  <a:lnTo>
                    <a:pt x="7" y="2862"/>
                  </a:lnTo>
                  <a:lnTo>
                    <a:pt x="1" y="2831"/>
                  </a:lnTo>
                  <a:lnTo>
                    <a:pt x="0" y="2801"/>
                  </a:lnTo>
                  <a:lnTo>
                    <a:pt x="3" y="2771"/>
                  </a:lnTo>
                  <a:lnTo>
                    <a:pt x="12" y="2743"/>
                  </a:lnTo>
                  <a:lnTo>
                    <a:pt x="24" y="2716"/>
                  </a:lnTo>
                  <a:lnTo>
                    <a:pt x="40" y="2691"/>
                  </a:lnTo>
                  <a:lnTo>
                    <a:pt x="61" y="2668"/>
                  </a:lnTo>
                  <a:lnTo>
                    <a:pt x="86" y="2650"/>
                  </a:lnTo>
                  <a:lnTo>
                    <a:pt x="113" y="2634"/>
                  </a:lnTo>
                  <a:lnTo>
                    <a:pt x="191" y="2598"/>
                  </a:lnTo>
                  <a:lnTo>
                    <a:pt x="263" y="2560"/>
                  </a:lnTo>
                  <a:lnTo>
                    <a:pt x="331" y="2518"/>
                  </a:lnTo>
                  <a:lnTo>
                    <a:pt x="394" y="2474"/>
                  </a:lnTo>
                  <a:lnTo>
                    <a:pt x="451" y="2428"/>
                  </a:lnTo>
                  <a:lnTo>
                    <a:pt x="504" y="2380"/>
                  </a:lnTo>
                  <a:lnTo>
                    <a:pt x="551" y="2329"/>
                  </a:lnTo>
                  <a:lnTo>
                    <a:pt x="593" y="2276"/>
                  </a:lnTo>
                  <a:lnTo>
                    <a:pt x="632" y="2219"/>
                  </a:lnTo>
                  <a:lnTo>
                    <a:pt x="666" y="2159"/>
                  </a:lnTo>
                  <a:lnTo>
                    <a:pt x="696" y="2095"/>
                  </a:lnTo>
                  <a:lnTo>
                    <a:pt x="723" y="2027"/>
                  </a:lnTo>
                  <a:lnTo>
                    <a:pt x="746" y="1956"/>
                  </a:lnTo>
                  <a:lnTo>
                    <a:pt x="765" y="1881"/>
                  </a:lnTo>
                  <a:lnTo>
                    <a:pt x="781" y="1803"/>
                  </a:lnTo>
                  <a:lnTo>
                    <a:pt x="794" y="1720"/>
                  </a:lnTo>
                  <a:lnTo>
                    <a:pt x="800" y="1634"/>
                  </a:lnTo>
                  <a:lnTo>
                    <a:pt x="805" y="1545"/>
                  </a:lnTo>
                  <a:lnTo>
                    <a:pt x="248" y="1545"/>
                  </a:lnTo>
                  <a:lnTo>
                    <a:pt x="214" y="1542"/>
                  </a:lnTo>
                  <a:lnTo>
                    <a:pt x="181" y="1533"/>
                  </a:lnTo>
                  <a:lnTo>
                    <a:pt x="151" y="1519"/>
                  </a:lnTo>
                  <a:lnTo>
                    <a:pt x="124" y="1500"/>
                  </a:lnTo>
                  <a:lnTo>
                    <a:pt x="101" y="1477"/>
                  </a:lnTo>
                  <a:lnTo>
                    <a:pt x="82" y="1450"/>
                  </a:lnTo>
                  <a:lnTo>
                    <a:pt x="69" y="1421"/>
                  </a:lnTo>
                  <a:lnTo>
                    <a:pt x="60" y="1388"/>
                  </a:lnTo>
                  <a:lnTo>
                    <a:pt x="56" y="1354"/>
                  </a:lnTo>
                  <a:lnTo>
                    <a:pt x="56" y="191"/>
                  </a:lnTo>
                  <a:lnTo>
                    <a:pt x="60" y="157"/>
                  </a:lnTo>
                  <a:lnTo>
                    <a:pt x="69" y="125"/>
                  </a:lnTo>
                  <a:lnTo>
                    <a:pt x="82" y="95"/>
                  </a:lnTo>
                  <a:lnTo>
                    <a:pt x="101" y="68"/>
                  </a:lnTo>
                  <a:lnTo>
                    <a:pt x="124" y="45"/>
                  </a:lnTo>
                  <a:lnTo>
                    <a:pt x="151" y="26"/>
                  </a:lnTo>
                  <a:lnTo>
                    <a:pt x="181" y="13"/>
                  </a:lnTo>
                  <a:lnTo>
                    <a:pt x="214" y="4"/>
                  </a:lnTo>
                  <a:lnTo>
                    <a:pt x="248"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pPr marL="0" marR="0" lvl="0" indent="0" algn="r" defTabSz="914400" rtl="1" eaLnBrk="1" fontAlgn="auto" latinLnBrk="0" hangingPunct="1">
                <a:lnSpc>
                  <a:spcPct val="100000"/>
                </a:lnSpc>
                <a:spcBef>
                  <a:spcPts val="0"/>
                </a:spcBef>
                <a:spcAft>
                  <a:spcPts val="0"/>
                </a:spcAft>
                <a:buClrTx/>
                <a:buSzTx/>
                <a:buFontTx/>
                <a:buNone/>
                <a:tabLst/>
                <a:defRPr/>
              </a:pPr>
              <a:endParaRPr kumimoji="0" lang="ar-SA" sz="1800" b="0" i="0" u="none" strike="noStrike" kern="1200" cap="none" spc="0" normalizeH="0" baseline="0" noProof="0" dirty="0">
                <a:ln>
                  <a:noFill/>
                </a:ln>
                <a:solidFill>
                  <a:prstClr val="black"/>
                </a:solidFill>
                <a:effectLst/>
                <a:uLnTx/>
                <a:uFillTx/>
                <a:latin typeface="Calibri" panose="020F0502020204030204"/>
                <a:ea typeface="+mn-ea"/>
                <a:cs typeface="Tajawal" panose="00000500000000000000" pitchFamily="2" charset="-78"/>
              </a:endParaRPr>
            </a:p>
          </p:txBody>
        </p:sp>
        <p:sp>
          <p:nvSpPr>
            <p:cNvPr id="19" name="Freeform 7">
              <a:extLst>
                <a:ext uri="{FF2B5EF4-FFF2-40B4-BE49-F238E27FC236}">
                  <a16:creationId xmlns:a16="http://schemas.microsoft.com/office/drawing/2014/main" id="{2CB1DCBB-B6CD-C821-C403-443AAA8252B7}"/>
                </a:ext>
              </a:extLst>
            </p:cNvPr>
            <p:cNvSpPr>
              <a:spLocks/>
            </p:cNvSpPr>
            <p:nvPr/>
          </p:nvSpPr>
          <p:spPr bwMode="auto">
            <a:xfrm>
              <a:off x="-305" y="203"/>
              <a:ext cx="229" cy="470"/>
            </a:xfrm>
            <a:custGeom>
              <a:avLst/>
              <a:gdLst>
                <a:gd name="T0" fmla="*/ 1413 w 1604"/>
                <a:gd name="T1" fmla="*/ 0 h 3290"/>
                <a:gd name="T2" fmla="*/ 1479 w 1604"/>
                <a:gd name="T3" fmla="*/ 13 h 3290"/>
                <a:gd name="T4" fmla="*/ 1536 w 1604"/>
                <a:gd name="T5" fmla="*/ 45 h 3290"/>
                <a:gd name="T6" fmla="*/ 1578 w 1604"/>
                <a:gd name="T7" fmla="*/ 95 h 3290"/>
                <a:gd name="T8" fmla="*/ 1601 w 1604"/>
                <a:gd name="T9" fmla="*/ 157 h 3290"/>
                <a:gd name="T10" fmla="*/ 1604 w 1604"/>
                <a:gd name="T11" fmla="*/ 1105 h 3290"/>
                <a:gd name="T12" fmla="*/ 1599 w 1604"/>
                <a:gd name="T13" fmla="*/ 1364 h 3290"/>
                <a:gd name="T14" fmla="*/ 1585 w 1604"/>
                <a:gd name="T15" fmla="*/ 1599 h 3290"/>
                <a:gd name="T16" fmla="*/ 1561 w 1604"/>
                <a:gd name="T17" fmla="*/ 1812 h 3290"/>
                <a:gd name="T18" fmla="*/ 1528 w 1604"/>
                <a:gd name="T19" fmla="*/ 2001 h 3290"/>
                <a:gd name="T20" fmla="*/ 1485 w 1604"/>
                <a:gd name="T21" fmla="*/ 2166 h 3290"/>
                <a:gd name="T22" fmla="*/ 1414 w 1604"/>
                <a:gd name="T23" fmla="*/ 2354 h 3290"/>
                <a:gd name="T24" fmla="*/ 1316 w 1604"/>
                <a:gd name="T25" fmla="*/ 2531 h 3290"/>
                <a:gd name="T26" fmla="*/ 1194 w 1604"/>
                <a:gd name="T27" fmla="*/ 2700 h 3290"/>
                <a:gd name="T28" fmla="*/ 1046 w 1604"/>
                <a:gd name="T29" fmla="*/ 2859 h 3290"/>
                <a:gd name="T30" fmla="*/ 886 w 1604"/>
                <a:gd name="T31" fmla="*/ 2996 h 3290"/>
                <a:gd name="T32" fmla="*/ 707 w 1604"/>
                <a:gd name="T33" fmla="*/ 3118 h 3290"/>
                <a:gd name="T34" fmla="*/ 511 w 1604"/>
                <a:gd name="T35" fmla="*/ 3226 h 3290"/>
                <a:gd name="T36" fmla="*/ 374 w 1604"/>
                <a:gd name="T37" fmla="*/ 3285 h 3290"/>
                <a:gd name="T38" fmla="*/ 309 w 1604"/>
                <a:gd name="T39" fmla="*/ 3289 h 3290"/>
                <a:gd name="T40" fmla="*/ 247 w 1604"/>
                <a:gd name="T41" fmla="*/ 3272 h 3290"/>
                <a:gd name="T42" fmla="*/ 195 w 1604"/>
                <a:gd name="T43" fmla="*/ 3235 h 3290"/>
                <a:gd name="T44" fmla="*/ 156 w 1604"/>
                <a:gd name="T45" fmla="*/ 3181 h 3290"/>
                <a:gd name="T46" fmla="*/ 7 w 1604"/>
                <a:gd name="T47" fmla="*/ 2862 h 3290"/>
                <a:gd name="T48" fmla="*/ 0 w 1604"/>
                <a:gd name="T49" fmla="*/ 2801 h 3290"/>
                <a:gd name="T50" fmla="*/ 11 w 1604"/>
                <a:gd name="T51" fmla="*/ 2743 h 3290"/>
                <a:gd name="T52" fmla="*/ 41 w 1604"/>
                <a:gd name="T53" fmla="*/ 2691 h 3290"/>
                <a:gd name="T54" fmla="*/ 86 w 1604"/>
                <a:gd name="T55" fmla="*/ 2650 h 3290"/>
                <a:gd name="T56" fmla="*/ 191 w 1604"/>
                <a:gd name="T57" fmla="*/ 2598 h 3290"/>
                <a:gd name="T58" fmla="*/ 332 w 1604"/>
                <a:gd name="T59" fmla="*/ 2518 h 3290"/>
                <a:gd name="T60" fmla="*/ 452 w 1604"/>
                <a:gd name="T61" fmla="*/ 2428 h 3290"/>
                <a:gd name="T62" fmla="*/ 551 w 1604"/>
                <a:gd name="T63" fmla="*/ 2329 h 3290"/>
                <a:gd name="T64" fmla="*/ 632 w 1604"/>
                <a:gd name="T65" fmla="*/ 2219 h 3290"/>
                <a:gd name="T66" fmla="*/ 697 w 1604"/>
                <a:gd name="T67" fmla="*/ 2095 h 3290"/>
                <a:gd name="T68" fmla="*/ 746 w 1604"/>
                <a:gd name="T69" fmla="*/ 1956 h 3290"/>
                <a:gd name="T70" fmla="*/ 782 w 1604"/>
                <a:gd name="T71" fmla="*/ 1803 h 3290"/>
                <a:gd name="T72" fmla="*/ 801 w 1604"/>
                <a:gd name="T73" fmla="*/ 1634 h 3290"/>
                <a:gd name="T74" fmla="*/ 248 w 1604"/>
                <a:gd name="T75" fmla="*/ 1545 h 3290"/>
                <a:gd name="T76" fmla="*/ 181 w 1604"/>
                <a:gd name="T77" fmla="*/ 1533 h 3290"/>
                <a:gd name="T78" fmla="*/ 125 w 1604"/>
                <a:gd name="T79" fmla="*/ 1500 h 3290"/>
                <a:gd name="T80" fmla="*/ 83 w 1604"/>
                <a:gd name="T81" fmla="*/ 1450 h 3290"/>
                <a:gd name="T82" fmla="*/ 60 w 1604"/>
                <a:gd name="T83" fmla="*/ 1388 h 3290"/>
                <a:gd name="T84" fmla="*/ 57 w 1604"/>
                <a:gd name="T85" fmla="*/ 191 h 3290"/>
                <a:gd name="T86" fmla="*/ 69 w 1604"/>
                <a:gd name="T87" fmla="*/ 125 h 3290"/>
                <a:gd name="T88" fmla="*/ 102 w 1604"/>
                <a:gd name="T89" fmla="*/ 68 h 3290"/>
                <a:gd name="T90" fmla="*/ 152 w 1604"/>
                <a:gd name="T91" fmla="*/ 26 h 3290"/>
                <a:gd name="T92" fmla="*/ 214 w 1604"/>
                <a:gd name="T93" fmla="*/ 4 h 32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1604" h="3290">
                  <a:moveTo>
                    <a:pt x="248" y="0"/>
                  </a:moveTo>
                  <a:lnTo>
                    <a:pt x="1413" y="0"/>
                  </a:lnTo>
                  <a:lnTo>
                    <a:pt x="1446" y="4"/>
                  </a:lnTo>
                  <a:lnTo>
                    <a:pt x="1479" y="13"/>
                  </a:lnTo>
                  <a:lnTo>
                    <a:pt x="1509" y="26"/>
                  </a:lnTo>
                  <a:lnTo>
                    <a:pt x="1536" y="45"/>
                  </a:lnTo>
                  <a:lnTo>
                    <a:pt x="1559" y="68"/>
                  </a:lnTo>
                  <a:lnTo>
                    <a:pt x="1578" y="95"/>
                  </a:lnTo>
                  <a:lnTo>
                    <a:pt x="1591" y="125"/>
                  </a:lnTo>
                  <a:lnTo>
                    <a:pt x="1601" y="157"/>
                  </a:lnTo>
                  <a:lnTo>
                    <a:pt x="1604" y="191"/>
                  </a:lnTo>
                  <a:lnTo>
                    <a:pt x="1604" y="1105"/>
                  </a:lnTo>
                  <a:lnTo>
                    <a:pt x="1603" y="1237"/>
                  </a:lnTo>
                  <a:lnTo>
                    <a:pt x="1599" y="1364"/>
                  </a:lnTo>
                  <a:lnTo>
                    <a:pt x="1593" y="1485"/>
                  </a:lnTo>
                  <a:lnTo>
                    <a:pt x="1585" y="1599"/>
                  </a:lnTo>
                  <a:lnTo>
                    <a:pt x="1574" y="1709"/>
                  </a:lnTo>
                  <a:lnTo>
                    <a:pt x="1561" y="1812"/>
                  </a:lnTo>
                  <a:lnTo>
                    <a:pt x="1546" y="1909"/>
                  </a:lnTo>
                  <a:lnTo>
                    <a:pt x="1528" y="2001"/>
                  </a:lnTo>
                  <a:lnTo>
                    <a:pt x="1508" y="2087"/>
                  </a:lnTo>
                  <a:lnTo>
                    <a:pt x="1485" y="2166"/>
                  </a:lnTo>
                  <a:lnTo>
                    <a:pt x="1452" y="2261"/>
                  </a:lnTo>
                  <a:lnTo>
                    <a:pt x="1414" y="2354"/>
                  </a:lnTo>
                  <a:lnTo>
                    <a:pt x="1368" y="2444"/>
                  </a:lnTo>
                  <a:lnTo>
                    <a:pt x="1316" y="2531"/>
                  </a:lnTo>
                  <a:lnTo>
                    <a:pt x="1258" y="2617"/>
                  </a:lnTo>
                  <a:lnTo>
                    <a:pt x="1194" y="2700"/>
                  </a:lnTo>
                  <a:lnTo>
                    <a:pt x="1123" y="2781"/>
                  </a:lnTo>
                  <a:lnTo>
                    <a:pt x="1046" y="2859"/>
                  </a:lnTo>
                  <a:lnTo>
                    <a:pt x="967" y="2930"/>
                  </a:lnTo>
                  <a:lnTo>
                    <a:pt x="886" y="2996"/>
                  </a:lnTo>
                  <a:lnTo>
                    <a:pt x="799" y="3058"/>
                  </a:lnTo>
                  <a:lnTo>
                    <a:pt x="707" y="3118"/>
                  </a:lnTo>
                  <a:lnTo>
                    <a:pt x="612" y="3174"/>
                  </a:lnTo>
                  <a:lnTo>
                    <a:pt x="511" y="3226"/>
                  </a:lnTo>
                  <a:lnTo>
                    <a:pt x="406" y="3275"/>
                  </a:lnTo>
                  <a:lnTo>
                    <a:pt x="374" y="3285"/>
                  </a:lnTo>
                  <a:lnTo>
                    <a:pt x="341" y="3290"/>
                  </a:lnTo>
                  <a:lnTo>
                    <a:pt x="309" y="3289"/>
                  </a:lnTo>
                  <a:lnTo>
                    <a:pt x="278" y="3284"/>
                  </a:lnTo>
                  <a:lnTo>
                    <a:pt x="247" y="3272"/>
                  </a:lnTo>
                  <a:lnTo>
                    <a:pt x="220" y="3256"/>
                  </a:lnTo>
                  <a:lnTo>
                    <a:pt x="195" y="3235"/>
                  </a:lnTo>
                  <a:lnTo>
                    <a:pt x="173" y="3210"/>
                  </a:lnTo>
                  <a:lnTo>
                    <a:pt x="156" y="3181"/>
                  </a:lnTo>
                  <a:lnTo>
                    <a:pt x="18" y="2891"/>
                  </a:lnTo>
                  <a:lnTo>
                    <a:pt x="7" y="2862"/>
                  </a:lnTo>
                  <a:lnTo>
                    <a:pt x="1" y="2831"/>
                  </a:lnTo>
                  <a:lnTo>
                    <a:pt x="0" y="2801"/>
                  </a:lnTo>
                  <a:lnTo>
                    <a:pt x="3" y="2771"/>
                  </a:lnTo>
                  <a:lnTo>
                    <a:pt x="11" y="2743"/>
                  </a:lnTo>
                  <a:lnTo>
                    <a:pt x="24" y="2716"/>
                  </a:lnTo>
                  <a:lnTo>
                    <a:pt x="41" y="2691"/>
                  </a:lnTo>
                  <a:lnTo>
                    <a:pt x="61" y="2668"/>
                  </a:lnTo>
                  <a:lnTo>
                    <a:pt x="86" y="2650"/>
                  </a:lnTo>
                  <a:lnTo>
                    <a:pt x="113" y="2634"/>
                  </a:lnTo>
                  <a:lnTo>
                    <a:pt x="191" y="2598"/>
                  </a:lnTo>
                  <a:lnTo>
                    <a:pt x="264" y="2560"/>
                  </a:lnTo>
                  <a:lnTo>
                    <a:pt x="332" y="2518"/>
                  </a:lnTo>
                  <a:lnTo>
                    <a:pt x="394" y="2474"/>
                  </a:lnTo>
                  <a:lnTo>
                    <a:pt x="452" y="2428"/>
                  </a:lnTo>
                  <a:lnTo>
                    <a:pt x="504" y="2380"/>
                  </a:lnTo>
                  <a:lnTo>
                    <a:pt x="551" y="2329"/>
                  </a:lnTo>
                  <a:lnTo>
                    <a:pt x="594" y="2276"/>
                  </a:lnTo>
                  <a:lnTo>
                    <a:pt x="632" y="2219"/>
                  </a:lnTo>
                  <a:lnTo>
                    <a:pt x="666" y="2159"/>
                  </a:lnTo>
                  <a:lnTo>
                    <a:pt x="697" y="2095"/>
                  </a:lnTo>
                  <a:lnTo>
                    <a:pt x="724" y="2027"/>
                  </a:lnTo>
                  <a:lnTo>
                    <a:pt x="746" y="1956"/>
                  </a:lnTo>
                  <a:lnTo>
                    <a:pt x="766" y="1881"/>
                  </a:lnTo>
                  <a:lnTo>
                    <a:pt x="782" y="1803"/>
                  </a:lnTo>
                  <a:lnTo>
                    <a:pt x="793" y="1720"/>
                  </a:lnTo>
                  <a:lnTo>
                    <a:pt x="801" y="1634"/>
                  </a:lnTo>
                  <a:lnTo>
                    <a:pt x="805" y="1545"/>
                  </a:lnTo>
                  <a:lnTo>
                    <a:pt x="248" y="1545"/>
                  </a:lnTo>
                  <a:lnTo>
                    <a:pt x="214" y="1542"/>
                  </a:lnTo>
                  <a:lnTo>
                    <a:pt x="181" y="1533"/>
                  </a:lnTo>
                  <a:lnTo>
                    <a:pt x="152" y="1519"/>
                  </a:lnTo>
                  <a:lnTo>
                    <a:pt x="125" y="1500"/>
                  </a:lnTo>
                  <a:lnTo>
                    <a:pt x="102" y="1477"/>
                  </a:lnTo>
                  <a:lnTo>
                    <a:pt x="83" y="1450"/>
                  </a:lnTo>
                  <a:lnTo>
                    <a:pt x="69" y="1421"/>
                  </a:lnTo>
                  <a:lnTo>
                    <a:pt x="60" y="1388"/>
                  </a:lnTo>
                  <a:lnTo>
                    <a:pt x="57" y="1354"/>
                  </a:lnTo>
                  <a:lnTo>
                    <a:pt x="57" y="191"/>
                  </a:lnTo>
                  <a:lnTo>
                    <a:pt x="60" y="157"/>
                  </a:lnTo>
                  <a:lnTo>
                    <a:pt x="69" y="125"/>
                  </a:lnTo>
                  <a:lnTo>
                    <a:pt x="83" y="95"/>
                  </a:lnTo>
                  <a:lnTo>
                    <a:pt x="102" y="68"/>
                  </a:lnTo>
                  <a:lnTo>
                    <a:pt x="125" y="45"/>
                  </a:lnTo>
                  <a:lnTo>
                    <a:pt x="152" y="26"/>
                  </a:lnTo>
                  <a:lnTo>
                    <a:pt x="181" y="13"/>
                  </a:lnTo>
                  <a:lnTo>
                    <a:pt x="214" y="4"/>
                  </a:lnTo>
                  <a:lnTo>
                    <a:pt x="248"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pPr marL="0" marR="0" lvl="0" indent="0" algn="r" defTabSz="914400" rtl="1" eaLnBrk="1" fontAlgn="auto" latinLnBrk="0" hangingPunct="1">
                <a:lnSpc>
                  <a:spcPct val="100000"/>
                </a:lnSpc>
                <a:spcBef>
                  <a:spcPts val="0"/>
                </a:spcBef>
                <a:spcAft>
                  <a:spcPts val="0"/>
                </a:spcAft>
                <a:buClrTx/>
                <a:buSzTx/>
                <a:buFontTx/>
                <a:buNone/>
                <a:tabLst/>
                <a:defRPr/>
              </a:pPr>
              <a:endParaRPr kumimoji="0" lang="ar-SA" sz="1800" b="0" i="0" u="none" strike="noStrike" kern="1200" cap="none" spc="0" normalizeH="0" baseline="0" noProof="0" dirty="0">
                <a:ln>
                  <a:noFill/>
                </a:ln>
                <a:solidFill>
                  <a:prstClr val="black"/>
                </a:solidFill>
                <a:effectLst/>
                <a:uLnTx/>
                <a:uFillTx/>
                <a:latin typeface="Calibri" panose="020F0502020204030204"/>
                <a:ea typeface="+mn-ea"/>
                <a:cs typeface="Tajawal" panose="00000500000000000000" pitchFamily="2" charset="-78"/>
              </a:endParaRPr>
            </a:p>
          </p:txBody>
        </p:sp>
      </p:grpSp>
      <p:sp>
        <p:nvSpPr>
          <p:cNvPr id="21" name="Snip Diagonal Corner Rectangle 29">
            <a:extLst>
              <a:ext uri="{FF2B5EF4-FFF2-40B4-BE49-F238E27FC236}">
                <a16:creationId xmlns:a16="http://schemas.microsoft.com/office/drawing/2014/main" id="{7538C7A3-9C89-8F71-F1BC-7A407B1496BB}"/>
              </a:ext>
            </a:extLst>
          </p:cNvPr>
          <p:cNvSpPr/>
          <p:nvPr/>
        </p:nvSpPr>
        <p:spPr>
          <a:xfrm>
            <a:off x="2378677" y="1862019"/>
            <a:ext cx="256248" cy="256248"/>
          </a:xfrm>
          <a:custGeom>
            <a:avLst/>
            <a:gdLst>
              <a:gd name="connsiteX0" fmla="*/ 256248 w 7434648"/>
              <a:gd name="connsiteY0" fmla="*/ 0 h 3117755"/>
              <a:gd name="connsiteX1" fmla="*/ 7185508 w 7434648"/>
              <a:gd name="connsiteY1" fmla="*/ 0 h 3117755"/>
              <a:gd name="connsiteX2" fmla="*/ 7434648 w 7434648"/>
              <a:gd name="connsiteY2" fmla="*/ 249140 h 3117755"/>
              <a:gd name="connsiteX3" fmla="*/ 7434648 w 7434648"/>
              <a:gd name="connsiteY3" fmla="*/ 2861507 h 3117755"/>
              <a:gd name="connsiteX4" fmla="*/ 7178400 w 7434648"/>
              <a:gd name="connsiteY4" fmla="*/ 3117755 h 3117755"/>
              <a:gd name="connsiteX5" fmla="*/ 249140 w 7434648"/>
              <a:gd name="connsiteY5" fmla="*/ 3117755 h 3117755"/>
              <a:gd name="connsiteX6" fmla="*/ 0 w 7434648"/>
              <a:gd name="connsiteY6" fmla="*/ 2868615 h 3117755"/>
              <a:gd name="connsiteX7" fmla="*/ 0 w 7434648"/>
              <a:gd name="connsiteY7" fmla="*/ 256248 h 3117755"/>
              <a:gd name="connsiteX8" fmla="*/ 256248 w 7434648"/>
              <a:gd name="connsiteY8" fmla="*/ 0 h 3117755"/>
              <a:gd name="connsiteX0" fmla="*/ 0 w 7434648"/>
              <a:gd name="connsiteY0" fmla="*/ 2868615 h 3117755"/>
              <a:gd name="connsiteX1" fmla="*/ 0 w 7434648"/>
              <a:gd name="connsiteY1" fmla="*/ 256248 h 3117755"/>
              <a:gd name="connsiteX2" fmla="*/ 256248 w 7434648"/>
              <a:gd name="connsiteY2" fmla="*/ 0 h 3117755"/>
              <a:gd name="connsiteX3" fmla="*/ 7185508 w 7434648"/>
              <a:gd name="connsiteY3" fmla="*/ 0 h 3117755"/>
              <a:gd name="connsiteX4" fmla="*/ 7434648 w 7434648"/>
              <a:gd name="connsiteY4" fmla="*/ 249140 h 3117755"/>
              <a:gd name="connsiteX5" fmla="*/ 7434648 w 7434648"/>
              <a:gd name="connsiteY5" fmla="*/ 2861507 h 3117755"/>
              <a:gd name="connsiteX6" fmla="*/ 7178400 w 7434648"/>
              <a:gd name="connsiteY6" fmla="*/ 3117755 h 3117755"/>
              <a:gd name="connsiteX7" fmla="*/ 249140 w 7434648"/>
              <a:gd name="connsiteY7" fmla="*/ 3117755 h 3117755"/>
              <a:gd name="connsiteX8" fmla="*/ 91440 w 7434648"/>
              <a:gd name="connsiteY8" fmla="*/ 2960055 h 3117755"/>
              <a:gd name="connsiteX0" fmla="*/ 0 w 7434648"/>
              <a:gd name="connsiteY0" fmla="*/ 2868615 h 3117755"/>
              <a:gd name="connsiteX1" fmla="*/ 0 w 7434648"/>
              <a:gd name="connsiteY1" fmla="*/ 256248 h 3117755"/>
              <a:gd name="connsiteX2" fmla="*/ 256248 w 7434648"/>
              <a:gd name="connsiteY2" fmla="*/ 0 h 3117755"/>
              <a:gd name="connsiteX3" fmla="*/ 7185508 w 7434648"/>
              <a:gd name="connsiteY3" fmla="*/ 0 h 3117755"/>
              <a:gd name="connsiteX4" fmla="*/ 7434648 w 7434648"/>
              <a:gd name="connsiteY4" fmla="*/ 249140 h 3117755"/>
              <a:gd name="connsiteX5" fmla="*/ 7434648 w 7434648"/>
              <a:gd name="connsiteY5" fmla="*/ 2861507 h 3117755"/>
              <a:gd name="connsiteX6" fmla="*/ 7178400 w 7434648"/>
              <a:gd name="connsiteY6" fmla="*/ 3117755 h 3117755"/>
              <a:gd name="connsiteX7" fmla="*/ 249140 w 7434648"/>
              <a:gd name="connsiteY7" fmla="*/ 3117755 h 3117755"/>
              <a:gd name="connsiteX0" fmla="*/ 0 w 7434648"/>
              <a:gd name="connsiteY0" fmla="*/ 256248 h 3117755"/>
              <a:gd name="connsiteX1" fmla="*/ 256248 w 7434648"/>
              <a:gd name="connsiteY1" fmla="*/ 0 h 3117755"/>
              <a:gd name="connsiteX2" fmla="*/ 7185508 w 7434648"/>
              <a:gd name="connsiteY2" fmla="*/ 0 h 3117755"/>
              <a:gd name="connsiteX3" fmla="*/ 7434648 w 7434648"/>
              <a:gd name="connsiteY3" fmla="*/ 249140 h 3117755"/>
              <a:gd name="connsiteX4" fmla="*/ 7434648 w 7434648"/>
              <a:gd name="connsiteY4" fmla="*/ 2861507 h 3117755"/>
              <a:gd name="connsiteX5" fmla="*/ 7178400 w 7434648"/>
              <a:gd name="connsiteY5" fmla="*/ 3117755 h 3117755"/>
              <a:gd name="connsiteX6" fmla="*/ 249140 w 7434648"/>
              <a:gd name="connsiteY6" fmla="*/ 3117755 h 3117755"/>
              <a:gd name="connsiteX0" fmla="*/ 0 w 7434648"/>
              <a:gd name="connsiteY0" fmla="*/ 256248 h 3117755"/>
              <a:gd name="connsiteX1" fmla="*/ 256248 w 7434648"/>
              <a:gd name="connsiteY1" fmla="*/ 0 h 3117755"/>
              <a:gd name="connsiteX2" fmla="*/ 7185508 w 7434648"/>
              <a:gd name="connsiteY2" fmla="*/ 0 h 3117755"/>
              <a:gd name="connsiteX3" fmla="*/ 7434648 w 7434648"/>
              <a:gd name="connsiteY3" fmla="*/ 249140 h 3117755"/>
              <a:gd name="connsiteX4" fmla="*/ 7434648 w 7434648"/>
              <a:gd name="connsiteY4" fmla="*/ 2861507 h 3117755"/>
              <a:gd name="connsiteX5" fmla="*/ 7178400 w 7434648"/>
              <a:gd name="connsiteY5" fmla="*/ 3117755 h 3117755"/>
              <a:gd name="connsiteX0" fmla="*/ 0 w 7434648"/>
              <a:gd name="connsiteY0" fmla="*/ 256248 h 3167183"/>
              <a:gd name="connsiteX1" fmla="*/ 256248 w 7434648"/>
              <a:gd name="connsiteY1" fmla="*/ 0 h 3167183"/>
              <a:gd name="connsiteX2" fmla="*/ 7185508 w 7434648"/>
              <a:gd name="connsiteY2" fmla="*/ 0 h 3167183"/>
              <a:gd name="connsiteX3" fmla="*/ 7434648 w 7434648"/>
              <a:gd name="connsiteY3" fmla="*/ 249140 h 3167183"/>
              <a:gd name="connsiteX4" fmla="*/ 7434648 w 7434648"/>
              <a:gd name="connsiteY4" fmla="*/ 2861507 h 3167183"/>
              <a:gd name="connsiteX5" fmla="*/ 7166043 w 7434648"/>
              <a:gd name="connsiteY5" fmla="*/ 3167183 h 3167183"/>
              <a:gd name="connsiteX0" fmla="*/ 0 w 7434648"/>
              <a:gd name="connsiteY0" fmla="*/ 256248 h 2861507"/>
              <a:gd name="connsiteX1" fmla="*/ 256248 w 7434648"/>
              <a:gd name="connsiteY1" fmla="*/ 0 h 2861507"/>
              <a:gd name="connsiteX2" fmla="*/ 7185508 w 7434648"/>
              <a:gd name="connsiteY2" fmla="*/ 0 h 2861507"/>
              <a:gd name="connsiteX3" fmla="*/ 7434648 w 7434648"/>
              <a:gd name="connsiteY3" fmla="*/ 249140 h 2861507"/>
              <a:gd name="connsiteX4" fmla="*/ 7434648 w 7434648"/>
              <a:gd name="connsiteY4" fmla="*/ 2861507 h 2861507"/>
              <a:gd name="connsiteX0" fmla="*/ 0 w 7434648"/>
              <a:gd name="connsiteY0" fmla="*/ 256248 h 256248"/>
              <a:gd name="connsiteX1" fmla="*/ 256248 w 7434648"/>
              <a:gd name="connsiteY1" fmla="*/ 0 h 256248"/>
              <a:gd name="connsiteX2" fmla="*/ 7185508 w 7434648"/>
              <a:gd name="connsiteY2" fmla="*/ 0 h 256248"/>
              <a:gd name="connsiteX3" fmla="*/ 7434648 w 7434648"/>
              <a:gd name="connsiteY3" fmla="*/ 249140 h 256248"/>
              <a:gd name="connsiteX0" fmla="*/ 0 w 7185508"/>
              <a:gd name="connsiteY0" fmla="*/ 256248 h 256248"/>
              <a:gd name="connsiteX1" fmla="*/ 256248 w 7185508"/>
              <a:gd name="connsiteY1" fmla="*/ 0 h 256248"/>
              <a:gd name="connsiteX2" fmla="*/ 7185508 w 7185508"/>
              <a:gd name="connsiteY2" fmla="*/ 0 h 256248"/>
              <a:gd name="connsiteX0" fmla="*/ 0 w 256248"/>
              <a:gd name="connsiteY0" fmla="*/ 256248 h 256248"/>
              <a:gd name="connsiteX1" fmla="*/ 256248 w 256248"/>
              <a:gd name="connsiteY1" fmla="*/ 0 h 256248"/>
            </a:gdLst>
            <a:ahLst/>
            <a:cxnLst>
              <a:cxn ang="0">
                <a:pos x="connsiteX0" y="connsiteY0"/>
              </a:cxn>
              <a:cxn ang="0">
                <a:pos x="connsiteX1" y="connsiteY1"/>
              </a:cxn>
            </a:cxnLst>
            <a:rect l="l" t="t" r="r" b="b"/>
            <a:pathLst>
              <a:path w="256248" h="256248">
                <a:moveTo>
                  <a:pt x="0" y="256248"/>
                </a:moveTo>
                <a:lnTo>
                  <a:pt x="256248" y="0"/>
                </a:lnTo>
              </a:path>
            </a:pathLst>
          </a:custGeom>
          <a:noFill/>
          <a:ln w="28575">
            <a:solidFill>
              <a:schemeClr val="accent1">
                <a:shade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ar-SA" noProof="0" dirty="0">
              <a:latin typeface="Tajawal" panose="00000500000000000000" pitchFamily="2" charset="-78"/>
              <a:cs typeface="Tajawal" panose="00000500000000000000" pitchFamily="2" charset="-78"/>
            </a:endParaRPr>
          </a:p>
        </p:txBody>
      </p:sp>
      <p:sp>
        <p:nvSpPr>
          <p:cNvPr id="22" name="Snip Diagonal Corner Rectangle 13">
            <a:extLst>
              <a:ext uri="{FF2B5EF4-FFF2-40B4-BE49-F238E27FC236}">
                <a16:creationId xmlns:a16="http://schemas.microsoft.com/office/drawing/2014/main" id="{CCA6C9D6-09DA-BEA6-0499-8A8CE4123CD6}"/>
              </a:ext>
            </a:extLst>
          </p:cNvPr>
          <p:cNvSpPr/>
          <p:nvPr/>
        </p:nvSpPr>
        <p:spPr>
          <a:xfrm>
            <a:off x="9374035" y="1990146"/>
            <a:ext cx="260731" cy="228662"/>
          </a:xfrm>
          <a:custGeom>
            <a:avLst/>
            <a:gdLst>
              <a:gd name="connsiteX0" fmla="*/ 204136 w 5387546"/>
              <a:gd name="connsiteY0" fmla="*/ 0 h 2483708"/>
              <a:gd name="connsiteX1" fmla="*/ 5189073 w 5387546"/>
              <a:gd name="connsiteY1" fmla="*/ 0 h 2483708"/>
              <a:gd name="connsiteX2" fmla="*/ 5387546 w 5387546"/>
              <a:gd name="connsiteY2" fmla="*/ 198473 h 2483708"/>
              <a:gd name="connsiteX3" fmla="*/ 5387546 w 5387546"/>
              <a:gd name="connsiteY3" fmla="*/ 2279572 h 2483708"/>
              <a:gd name="connsiteX4" fmla="*/ 5183410 w 5387546"/>
              <a:gd name="connsiteY4" fmla="*/ 2483708 h 2483708"/>
              <a:gd name="connsiteX5" fmla="*/ 198473 w 5387546"/>
              <a:gd name="connsiteY5" fmla="*/ 2483708 h 2483708"/>
              <a:gd name="connsiteX6" fmla="*/ 0 w 5387546"/>
              <a:gd name="connsiteY6" fmla="*/ 2285235 h 2483708"/>
              <a:gd name="connsiteX7" fmla="*/ 0 w 5387546"/>
              <a:gd name="connsiteY7" fmla="*/ 204136 h 2483708"/>
              <a:gd name="connsiteX8" fmla="*/ 204136 w 5387546"/>
              <a:gd name="connsiteY8" fmla="*/ 0 h 2483708"/>
              <a:gd name="connsiteX0" fmla="*/ 5189073 w 5387546"/>
              <a:gd name="connsiteY0" fmla="*/ 0 h 2483708"/>
              <a:gd name="connsiteX1" fmla="*/ 5387546 w 5387546"/>
              <a:gd name="connsiteY1" fmla="*/ 198473 h 2483708"/>
              <a:gd name="connsiteX2" fmla="*/ 5387546 w 5387546"/>
              <a:gd name="connsiteY2" fmla="*/ 2279572 h 2483708"/>
              <a:gd name="connsiteX3" fmla="*/ 5183410 w 5387546"/>
              <a:gd name="connsiteY3" fmla="*/ 2483708 h 2483708"/>
              <a:gd name="connsiteX4" fmla="*/ 198473 w 5387546"/>
              <a:gd name="connsiteY4" fmla="*/ 2483708 h 2483708"/>
              <a:gd name="connsiteX5" fmla="*/ 0 w 5387546"/>
              <a:gd name="connsiteY5" fmla="*/ 2285235 h 2483708"/>
              <a:gd name="connsiteX6" fmla="*/ 0 w 5387546"/>
              <a:gd name="connsiteY6" fmla="*/ 204136 h 2483708"/>
              <a:gd name="connsiteX7" fmla="*/ 204136 w 5387546"/>
              <a:gd name="connsiteY7" fmla="*/ 0 h 2483708"/>
              <a:gd name="connsiteX8" fmla="*/ 5280513 w 5387546"/>
              <a:gd name="connsiteY8" fmla="*/ 91440 h 2483708"/>
              <a:gd name="connsiteX0" fmla="*/ 5189073 w 5387546"/>
              <a:gd name="connsiteY0" fmla="*/ 0 h 2483708"/>
              <a:gd name="connsiteX1" fmla="*/ 5387546 w 5387546"/>
              <a:gd name="connsiteY1" fmla="*/ 198473 h 2483708"/>
              <a:gd name="connsiteX2" fmla="*/ 5387546 w 5387546"/>
              <a:gd name="connsiteY2" fmla="*/ 2279572 h 2483708"/>
              <a:gd name="connsiteX3" fmla="*/ 5183410 w 5387546"/>
              <a:gd name="connsiteY3" fmla="*/ 2483708 h 2483708"/>
              <a:gd name="connsiteX4" fmla="*/ 198473 w 5387546"/>
              <a:gd name="connsiteY4" fmla="*/ 2483708 h 2483708"/>
              <a:gd name="connsiteX5" fmla="*/ 0 w 5387546"/>
              <a:gd name="connsiteY5" fmla="*/ 2285235 h 2483708"/>
              <a:gd name="connsiteX6" fmla="*/ 0 w 5387546"/>
              <a:gd name="connsiteY6" fmla="*/ 204136 h 2483708"/>
              <a:gd name="connsiteX7" fmla="*/ 204136 w 5387546"/>
              <a:gd name="connsiteY7" fmla="*/ 0 h 2483708"/>
              <a:gd name="connsiteX0" fmla="*/ 5189073 w 5387546"/>
              <a:gd name="connsiteY0" fmla="*/ 0 h 2483708"/>
              <a:gd name="connsiteX1" fmla="*/ 5387546 w 5387546"/>
              <a:gd name="connsiteY1" fmla="*/ 198473 h 2483708"/>
              <a:gd name="connsiteX2" fmla="*/ 5387546 w 5387546"/>
              <a:gd name="connsiteY2" fmla="*/ 2279572 h 2483708"/>
              <a:gd name="connsiteX3" fmla="*/ 5183410 w 5387546"/>
              <a:gd name="connsiteY3" fmla="*/ 2483708 h 2483708"/>
              <a:gd name="connsiteX4" fmla="*/ 198473 w 5387546"/>
              <a:gd name="connsiteY4" fmla="*/ 2483708 h 2483708"/>
              <a:gd name="connsiteX5" fmla="*/ 0 w 5387546"/>
              <a:gd name="connsiteY5" fmla="*/ 2285235 h 2483708"/>
              <a:gd name="connsiteX6" fmla="*/ 0 w 5387546"/>
              <a:gd name="connsiteY6" fmla="*/ 204136 h 2483708"/>
              <a:gd name="connsiteX7" fmla="*/ 204136 w 5387546"/>
              <a:gd name="connsiteY7" fmla="*/ 0 h 2483708"/>
              <a:gd name="connsiteX8" fmla="*/ 5189073 w 5387546"/>
              <a:gd name="connsiteY8" fmla="*/ 0 h 2483708"/>
              <a:gd name="connsiteX0" fmla="*/ 204136 w 5387546"/>
              <a:gd name="connsiteY0" fmla="*/ 0 h 2483708"/>
              <a:gd name="connsiteX1" fmla="*/ 5189073 w 5387546"/>
              <a:gd name="connsiteY1" fmla="*/ 0 h 2483708"/>
              <a:gd name="connsiteX2" fmla="*/ 5387546 w 5387546"/>
              <a:gd name="connsiteY2" fmla="*/ 198473 h 2483708"/>
              <a:gd name="connsiteX3" fmla="*/ 5387546 w 5387546"/>
              <a:gd name="connsiteY3" fmla="*/ 2279572 h 2483708"/>
              <a:gd name="connsiteX4" fmla="*/ 5183410 w 5387546"/>
              <a:gd name="connsiteY4" fmla="*/ 2483708 h 2483708"/>
              <a:gd name="connsiteX5" fmla="*/ 198473 w 5387546"/>
              <a:gd name="connsiteY5" fmla="*/ 2483708 h 2483708"/>
              <a:gd name="connsiteX6" fmla="*/ 0 w 5387546"/>
              <a:gd name="connsiteY6" fmla="*/ 2285235 h 2483708"/>
              <a:gd name="connsiteX7" fmla="*/ 0 w 5387546"/>
              <a:gd name="connsiteY7" fmla="*/ 204136 h 2483708"/>
              <a:gd name="connsiteX8" fmla="*/ 295576 w 5387546"/>
              <a:gd name="connsiteY8" fmla="*/ 91440 h 2483708"/>
              <a:gd name="connsiteX0" fmla="*/ 204136 w 5387546"/>
              <a:gd name="connsiteY0" fmla="*/ 0 h 2483708"/>
              <a:gd name="connsiteX1" fmla="*/ 5189073 w 5387546"/>
              <a:gd name="connsiteY1" fmla="*/ 0 h 2483708"/>
              <a:gd name="connsiteX2" fmla="*/ 5387546 w 5387546"/>
              <a:gd name="connsiteY2" fmla="*/ 198473 h 2483708"/>
              <a:gd name="connsiteX3" fmla="*/ 5387546 w 5387546"/>
              <a:gd name="connsiteY3" fmla="*/ 2279572 h 2483708"/>
              <a:gd name="connsiteX4" fmla="*/ 5183410 w 5387546"/>
              <a:gd name="connsiteY4" fmla="*/ 2483708 h 2483708"/>
              <a:gd name="connsiteX5" fmla="*/ 198473 w 5387546"/>
              <a:gd name="connsiteY5" fmla="*/ 2483708 h 2483708"/>
              <a:gd name="connsiteX6" fmla="*/ 0 w 5387546"/>
              <a:gd name="connsiteY6" fmla="*/ 2285235 h 2483708"/>
              <a:gd name="connsiteX7" fmla="*/ 0 w 5387546"/>
              <a:gd name="connsiteY7" fmla="*/ 204136 h 2483708"/>
              <a:gd name="connsiteX0" fmla="*/ 204136 w 5387546"/>
              <a:gd name="connsiteY0" fmla="*/ 0 h 2483708"/>
              <a:gd name="connsiteX1" fmla="*/ 5189073 w 5387546"/>
              <a:gd name="connsiteY1" fmla="*/ 0 h 2483708"/>
              <a:gd name="connsiteX2" fmla="*/ 5387546 w 5387546"/>
              <a:gd name="connsiteY2" fmla="*/ 198473 h 2483708"/>
              <a:gd name="connsiteX3" fmla="*/ 5387546 w 5387546"/>
              <a:gd name="connsiteY3" fmla="*/ 2279572 h 2483708"/>
              <a:gd name="connsiteX4" fmla="*/ 5183410 w 5387546"/>
              <a:gd name="connsiteY4" fmla="*/ 2483708 h 2483708"/>
              <a:gd name="connsiteX5" fmla="*/ 198473 w 5387546"/>
              <a:gd name="connsiteY5" fmla="*/ 2483708 h 2483708"/>
              <a:gd name="connsiteX6" fmla="*/ 0 w 5387546"/>
              <a:gd name="connsiteY6" fmla="*/ 2285235 h 2483708"/>
              <a:gd name="connsiteX0" fmla="*/ 5663 w 5189073"/>
              <a:gd name="connsiteY0" fmla="*/ 0 h 2483708"/>
              <a:gd name="connsiteX1" fmla="*/ 4990600 w 5189073"/>
              <a:gd name="connsiteY1" fmla="*/ 0 h 2483708"/>
              <a:gd name="connsiteX2" fmla="*/ 5189073 w 5189073"/>
              <a:gd name="connsiteY2" fmla="*/ 198473 h 2483708"/>
              <a:gd name="connsiteX3" fmla="*/ 5189073 w 5189073"/>
              <a:gd name="connsiteY3" fmla="*/ 2279572 h 2483708"/>
              <a:gd name="connsiteX4" fmla="*/ 4984937 w 5189073"/>
              <a:gd name="connsiteY4" fmla="*/ 2483708 h 2483708"/>
              <a:gd name="connsiteX5" fmla="*/ 0 w 5189073"/>
              <a:gd name="connsiteY5" fmla="*/ 2483708 h 2483708"/>
              <a:gd name="connsiteX0" fmla="*/ 0 w 5183410"/>
              <a:gd name="connsiteY0" fmla="*/ 0 h 2483708"/>
              <a:gd name="connsiteX1" fmla="*/ 4984937 w 5183410"/>
              <a:gd name="connsiteY1" fmla="*/ 0 h 2483708"/>
              <a:gd name="connsiteX2" fmla="*/ 5183410 w 5183410"/>
              <a:gd name="connsiteY2" fmla="*/ 198473 h 2483708"/>
              <a:gd name="connsiteX3" fmla="*/ 5183410 w 5183410"/>
              <a:gd name="connsiteY3" fmla="*/ 2279572 h 2483708"/>
              <a:gd name="connsiteX4" fmla="*/ 4979274 w 5183410"/>
              <a:gd name="connsiteY4" fmla="*/ 2483708 h 2483708"/>
              <a:gd name="connsiteX0" fmla="*/ 5663 w 204136"/>
              <a:gd name="connsiteY0" fmla="*/ 0 h 2483708"/>
              <a:gd name="connsiteX1" fmla="*/ 204136 w 204136"/>
              <a:gd name="connsiteY1" fmla="*/ 198473 h 2483708"/>
              <a:gd name="connsiteX2" fmla="*/ 204136 w 204136"/>
              <a:gd name="connsiteY2" fmla="*/ 2279572 h 2483708"/>
              <a:gd name="connsiteX3" fmla="*/ 0 w 204136"/>
              <a:gd name="connsiteY3" fmla="*/ 2483708 h 2483708"/>
              <a:gd name="connsiteX0" fmla="*/ 0 w 198473"/>
              <a:gd name="connsiteY0" fmla="*/ 0 h 2279572"/>
              <a:gd name="connsiteX1" fmla="*/ 198473 w 198473"/>
              <a:gd name="connsiteY1" fmla="*/ 198473 h 2279572"/>
              <a:gd name="connsiteX2" fmla="*/ 198473 w 198473"/>
              <a:gd name="connsiteY2" fmla="*/ 2279572 h 2279572"/>
              <a:gd name="connsiteX0" fmla="*/ 0 w 198473"/>
              <a:gd name="connsiteY0" fmla="*/ 0 h 198473"/>
              <a:gd name="connsiteX1" fmla="*/ 198473 w 198473"/>
              <a:gd name="connsiteY1" fmla="*/ 198473 h 198473"/>
            </a:gdLst>
            <a:ahLst/>
            <a:cxnLst>
              <a:cxn ang="0">
                <a:pos x="connsiteX0" y="connsiteY0"/>
              </a:cxn>
              <a:cxn ang="0">
                <a:pos x="connsiteX1" y="connsiteY1"/>
              </a:cxn>
            </a:cxnLst>
            <a:rect l="l" t="t" r="r" b="b"/>
            <a:pathLst>
              <a:path w="198473" h="198473">
                <a:moveTo>
                  <a:pt x="0" y="0"/>
                </a:moveTo>
                <a:lnTo>
                  <a:pt x="198473" y="198473"/>
                </a:lnTo>
              </a:path>
            </a:pathLst>
          </a:custGeom>
          <a:noFill/>
          <a:ln w="2857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ar-SA" noProof="0" dirty="0">
              <a:latin typeface="Tajawal" panose="00000500000000000000" pitchFamily="2" charset="-78"/>
              <a:cs typeface="Tajawal" panose="00000500000000000000" pitchFamily="2" charset="-78"/>
            </a:endParaRPr>
          </a:p>
        </p:txBody>
      </p:sp>
      <p:sp>
        <p:nvSpPr>
          <p:cNvPr id="29" name="Rectangle 28">
            <a:extLst>
              <a:ext uri="{FF2B5EF4-FFF2-40B4-BE49-F238E27FC236}">
                <a16:creationId xmlns:a16="http://schemas.microsoft.com/office/drawing/2014/main" id="{FB3D3C8A-8607-C5F8-15B0-61E4100CE9EF}"/>
              </a:ext>
            </a:extLst>
          </p:cNvPr>
          <p:cNvSpPr/>
          <p:nvPr/>
        </p:nvSpPr>
        <p:spPr>
          <a:xfrm>
            <a:off x="2407567" y="2325874"/>
            <a:ext cx="4228901" cy="2275854"/>
          </a:xfrm>
          <a:prstGeom prst="rect">
            <a:avLst/>
          </a:prstGeom>
        </p:spPr>
        <p:txBody>
          <a:bodyPr vert="horz" lIns="91440" tIns="45720" rIns="91440" bIns="45720" rtlCol="0" anchor="ctr" anchorCtr="0">
            <a:noAutofit/>
          </a:bodyPr>
          <a:lstStyle/>
          <a:p>
            <a:pPr algn="just" rtl="1"/>
            <a:r>
              <a:rPr lang="ar-SA" sz="2400" noProof="0" dirty="0">
                <a:latin typeface="Sakkal Majalla" panose="02000000000000000000" pitchFamily="2" charset="-78"/>
                <a:cs typeface="Sakkal Majalla" panose="02000000000000000000" pitchFamily="2" charset="-78"/>
              </a:rPr>
              <a:t>هي ممارسات وضوابط لدراسة الوضع الحالي للهيئة، وبناء خارطة الطريق للتحول إلى الوضع المستقبلي لتحقيق المواءمة بين قطاع الأعمال (الخدمات والإجراءات) وتقنية المعلومات (البيانات، والتطبيقات، والبينة التحتية) والأهداف الاستراتيجية للهيئة.</a:t>
            </a:r>
          </a:p>
        </p:txBody>
      </p:sp>
      <p:pic>
        <p:nvPicPr>
          <p:cNvPr id="4" name="Picture 2">
            <a:extLst>
              <a:ext uri="{FF2B5EF4-FFF2-40B4-BE49-F238E27FC236}">
                <a16:creationId xmlns:a16="http://schemas.microsoft.com/office/drawing/2014/main" id="{F39A46C0-CCED-C747-D4D2-D542F746E8C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562635" y="2218808"/>
            <a:ext cx="3127528" cy="259956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9698215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98D53F-12E7-429E-78EF-81967D088BD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ECE6545-64C5-E7F0-E80B-DBA2650C66A7}"/>
              </a:ext>
            </a:extLst>
          </p:cNvPr>
          <p:cNvSpPr>
            <a:spLocks noGrp="1"/>
          </p:cNvSpPr>
          <p:nvPr>
            <p:ph type="title"/>
          </p:nvPr>
        </p:nvSpPr>
        <p:spPr>
          <a:xfrm>
            <a:off x="5908431" y="475918"/>
            <a:ext cx="5671195" cy="666261"/>
          </a:xfrm>
        </p:spPr>
        <p:txBody>
          <a:bodyPr/>
          <a:lstStyle/>
          <a:p>
            <a:r>
              <a:rPr lang="ar-SA" noProof="0" dirty="0"/>
              <a:t>الغرض من الوثيقة</a:t>
            </a:r>
          </a:p>
        </p:txBody>
      </p:sp>
      <p:sp>
        <p:nvSpPr>
          <p:cNvPr id="3" name="Slide Number Placeholder 2">
            <a:extLst>
              <a:ext uri="{FF2B5EF4-FFF2-40B4-BE49-F238E27FC236}">
                <a16:creationId xmlns:a16="http://schemas.microsoft.com/office/drawing/2014/main" id="{895B4B56-AFAE-A845-C225-754980CD9492}"/>
              </a:ext>
            </a:extLst>
          </p:cNvPr>
          <p:cNvSpPr>
            <a:spLocks noGrp="1"/>
          </p:cNvSpPr>
          <p:nvPr>
            <p:ph type="sldNum" sz="quarter" idx="12"/>
          </p:nvPr>
        </p:nvSpPr>
        <p:spPr/>
        <p:txBody>
          <a:bodyPr/>
          <a:lstStyle/>
          <a:p>
            <a:fld id="{0BE4EC83-A869-464E-AE9F-881796FB085E}" type="slidenum">
              <a:rPr lang="ar-SA" noProof="0" smtClean="0"/>
              <a:t>7</a:t>
            </a:fld>
            <a:endParaRPr lang="ar-SA" noProof="0" dirty="0"/>
          </a:p>
        </p:txBody>
      </p:sp>
      <p:sp>
        <p:nvSpPr>
          <p:cNvPr id="5" name="Rectangle 4">
            <a:extLst>
              <a:ext uri="{FF2B5EF4-FFF2-40B4-BE49-F238E27FC236}">
                <a16:creationId xmlns:a16="http://schemas.microsoft.com/office/drawing/2014/main" id="{9A6632ED-243C-6D8E-2284-387E10A883A6}"/>
              </a:ext>
            </a:extLst>
          </p:cNvPr>
          <p:cNvSpPr/>
          <p:nvPr/>
        </p:nvSpPr>
        <p:spPr>
          <a:xfrm flipH="1">
            <a:off x="1350065" y="1754028"/>
            <a:ext cx="10003736" cy="372364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lIns="365760" tIns="182880" rtlCol="0" anchor="ctr" anchorCtr="0"/>
          <a:lstStyle/>
          <a:p>
            <a:pPr algn="r" rtl="1">
              <a:spcAft>
                <a:spcPts val="1200"/>
              </a:spcAft>
            </a:pPr>
            <a:endParaRPr lang="ar-SA" sz="2000" noProof="0" dirty="0"/>
          </a:p>
        </p:txBody>
      </p:sp>
      <p:sp>
        <p:nvSpPr>
          <p:cNvPr id="6" name="Rectangle 5">
            <a:extLst>
              <a:ext uri="{FF2B5EF4-FFF2-40B4-BE49-F238E27FC236}">
                <a16:creationId xmlns:a16="http://schemas.microsoft.com/office/drawing/2014/main" id="{88D47D36-28CC-E9BB-31CC-AD7F86A535E3}"/>
              </a:ext>
            </a:extLst>
          </p:cNvPr>
          <p:cNvSpPr/>
          <p:nvPr/>
        </p:nvSpPr>
        <p:spPr>
          <a:xfrm flipH="1">
            <a:off x="1388803" y="1876194"/>
            <a:ext cx="9900024" cy="35040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365760" tIns="182880" rtlCol="0" anchor="ctr" anchorCtr="0"/>
          <a:lstStyle/>
          <a:p>
            <a:pPr algn="ctr" rtl="1">
              <a:buNone/>
            </a:pPr>
            <a:r>
              <a:rPr lang="ar-SA" sz="2400" dirty="0"/>
              <a:t>تهدف الوثيقة إلى </a:t>
            </a:r>
            <a:r>
              <a:rPr lang="ar-AE" sz="2400" dirty="0"/>
              <a:t>تقديم تصور شامل ودقيق للوضع الحالي لمكونات البنية المؤسسية، بهدف تحديد الفجوات وتحليلها، ودعم اتخاذ قرارات استراتيجية فعّالة مبنية على بيانات وتحليلات موثوقة، وضمان مواءمة القدرات المؤسسية مع الأهداف الاستراتيجية للجهة. كما تسهم الوثيقة في تحسين التكامل والكفاءة التشغيلية، وتُعد أساسًا لتصميم خارطة طريق للتحول الرقمي والتطوير المستقبلي والمواءمة مع التوجهات الوطنية والاستراتيجية.</a:t>
            </a:r>
          </a:p>
        </p:txBody>
      </p:sp>
    </p:spTree>
    <p:extLst>
      <p:ext uri="{BB962C8B-B14F-4D97-AF65-F5344CB8AC3E}">
        <p14:creationId xmlns:p14="http://schemas.microsoft.com/office/powerpoint/2010/main" val="2616111934"/>
      </p:ext>
    </p:extLst>
  </p:cSld>
  <p:clrMapOvr>
    <a:masterClrMapping/>
  </p:clrMapOvr>
  <mc:AlternateContent xmlns:mc="http://schemas.openxmlformats.org/markup-compatibility/2006" xmlns:p14="http://schemas.microsoft.com/office/powerpoint/2010/main">
    <mc:Choice Requires="p14">
      <p:transition spd="slow" p14:dur="1300">
        <p14:pan dir="r"/>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2" fill="hold" grpId="0" nodeType="withEffect">
                                  <p:stCondLst>
                                    <p:cond delay="1100"/>
                                  </p:stCondLst>
                                  <p:childTnLst>
                                    <p:set>
                                      <p:cBhvr>
                                        <p:cTn id="6" dur="1" fill="hold">
                                          <p:stCondLst>
                                            <p:cond delay="0"/>
                                          </p:stCondLst>
                                        </p:cTn>
                                        <p:tgtEl>
                                          <p:spTgt spid="5"/>
                                        </p:tgtEl>
                                        <p:attrNameLst>
                                          <p:attrName>style.visibility</p:attrName>
                                        </p:attrNameLst>
                                      </p:cBhvr>
                                      <p:to>
                                        <p:strVal val="visible"/>
                                      </p:to>
                                    </p:set>
                                    <p:animEffect transition="in" filter="wipe(right)">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7FC793-ADF2-7420-D51F-5D6136D1AD14}"/>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DED8EE86-C95F-0AF5-95A8-45B4B94DA963}"/>
              </a:ext>
            </a:extLst>
          </p:cNvPr>
          <p:cNvSpPr>
            <a:spLocks noGrp="1"/>
          </p:cNvSpPr>
          <p:nvPr>
            <p:ph type="title"/>
          </p:nvPr>
        </p:nvSpPr>
        <p:spPr>
          <a:xfrm>
            <a:off x="4890977" y="3925452"/>
            <a:ext cx="6653323" cy="641639"/>
          </a:xfrm>
        </p:spPr>
        <p:txBody>
          <a:bodyPr/>
          <a:lstStyle/>
          <a:p>
            <a:r>
              <a:rPr lang="ar-SA" noProof="0" dirty="0"/>
              <a:t>تحليل فجوات البنية المؤسسية</a:t>
            </a:r>
          </a:p>
        </p:txBody>
      </p:sp>
      <p:sp>
        <p:nvSpPr>
          <p:cNvPr id="4" name="Text Placeholder 3">
            <a:extLst>
              <a:ext uri="{FF2B5EF4-FFF2-40B4-BE49-F238E27FC236}">
                <a16:creationId xmlns:a16="http://schemas.microsoft.com/office/drawing/2014/main" id="{DA50DCDC-E45A-58F3-3716-747F2589C7F1}"/>
              </a:ext>
            </a:extLst>
          </p:cNvPr>
          <p:cNvSpPr>
            <a:spLocks noGrp="1"/>
          </p:cNvSpPr>
          <p:nvPr>
            <p:ph type="body" sz="quarter" idx="14"/>
          </p:nvPr>
        </p:nvSpPr>
        <p:spPr/>
        <p:txBody>
          <a:bodyPr/>
          <a:lstStyle/>
          <a:p>
            <a:pPr marL="0" indent="0" algn="ctr" defTabSz="914400" rtl="0" eaLnBrk="1" latinLnBrk="0" hangingPunct="1">
              <a:lnSpc>
                <a:spcPct val="100000"/>
              </a:lnSpc>
              <a:spcBef>
                <a:spcPts val="1200"/>
              </a:spcBef>
              <a:spcAft>
                <a:spcPts val="1200"/>
              </a:spcAft>
              <a:buSzPct val="80000"/>
              <a:buFont typeface="Arial" panose="020B0604020202020204" pitchFamily="34" charset="0"/>
              <a:buNone/>
            </a:pPr>
            <a:r>
              <a:rPr lang="en-US" dirty="0"/>
              <a:t>02</a:t>
            </a:r>
            <a:endParaRPr lang="ar-SA" noProof="0" dirty="0"/>
          </a:p>
        </p:txBody>
      </p:sp>
    </p:spTree>
    <p:extLst>
      <p:ext uri="{BB962C8B-B14F-4D97-AF65-F5344CB8AC3E}">
        <p14:creationId xmlns:p14="http://schemas.microsoft.com/office/powerpoint/2010/main" val="3093108748"/>
      </p:ext>
    </p:extLst>
  </p:cSld>
  <p:clrMapOvr>
    <a:masterClrMapping/>
  </p:clrMapOvr>
  <mc:AlternateContent xmlns:mc="http://schemas.openxmlformats.org/markup-compatibility/2006" xmlns:p14="http://schemas.microsoft.com/office/powerpoint/2010/main">
    <mc:Choice Requires="p14">
      <p:transition spd="slow">
        <p14:pan dir="u"/>
      </p:transition>
    </mc:Choice>
    <mc:Fallback xmlns="">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a:xfrm>
            <a:off x="609601" y="301100"/>
            <a:ext cx="10972800" cy="666261"/>
          </a:xfrm>
        </p:spPr>
        <p:txBody>
          <a:bodyPr/>
          <a:lstStyle/>
          <a:p>
            <a:r>
              <a:rPr lang="ar-SA" noProof="0" dirty="0"/>
              <a:t>ملخص تحليل الفجوات لبنية الأعمال </a:t>
            </a:r>
          </a:p>
        </p:txBody>
      </p:sp>
      <p:sp>
        <p:nvSpPr>
          <p:cNvPr id="3" name="Slide Number Placeholder 2">
            <a:extLst>
              <a:ext uri="{FF2B5EF4-FFF2-40B4-BE49-F238E27FC236}">
                <a16:creationId xmlns:a16="http://schemas.microsoft.com/office/drawing/2014/main" id="{A63A027D-6EA1-E9F6-6212-7D45811B8DC3}"/>
              </a:ext>
            </a:extLst>
          </p:cNvPr>
          <p:cNvSpPr>
            <a:spLocks noGrp="1"/>
          </p:cNvSpPr>
          <p:nvPr>
            <p:ph type="sldNum" sz="quarter" idx="12"/>
          </p:nvPr>
        </p:nvSpPr>
        <p:spPr>
          <a:xfrm>
            <a:off x="655320" y="6567058"/>
            <a:ext cx="475896" cy="290942"/>
          </a:xfrm>
        </p:spPr>
        <p:txBody>
          <a:bodyPr/>
          <a:lstStyle/>
          <a:p>
            <a:fld id="{0BE4EC83-A869-464E-AE9F-881796FB085E}" type="slidenum">
              <a:rPr lang="ar-SA" noProof="0" smtClean="0"/>
              <a:pPr/>
              <a:t>9</a:t>
            </a:fld>
            <a:endParaRPr lang="ar-SA" noProof="0" dirty="0"/>
          </a:p>
        </p:txBody>
      </p:sp>
      <p:graphicFrame>
        <p:nvGraphicFramePr>
          <p:cNvPr id="2" name="Table 1">
            <a:extLst>
              <a:ext uri="{FF2B5EF4-FFF2-40B4-BE49-F238E27FC236}">
                <a16:creationId xmlns:a16="http://schemas.microsoft.com/office/drawing/2014/main" id="{C47CAF5B-4215-4DCE-B225-BC1E66631900}"/>
              </a:ext>
            </a:extLst>
          </p:cNvPr>
          <p:cNvGraphicFramePr>
            <a:graphicFrameLocks noGrp="1"/>
          </p:cNvGraphicFramePr>
          <p:nvPr>
            <p:extLst>
              <p:ext uri="{D42A27DB-BD31-4B8C-83A1-F6EECF244321}">
                <p14:modId xmlns:p14="http://schemas.microsoft.com/office/powerpoint/2010/main" val="192786072"/>
              </p:ext>
            </p:extLst>
          </p:nvPr>
        </p:nvGraphicFramePr>
        <p:xfrm>
          <a:off x="609600" y="1223899"/>
          <a:ext cx="10972802" cy="4831080"/>
        </p:xfrm>
        <a:graphic>
          <a:graphicData uri="http://schemas.openxmlformats.org/drawingml/2006/table">
            <a:tbl>
              <a:tblPr firstRow="1" bandRow="1">
                <a:tableStyleId>{2D5ABB26-0587-4C30-8999-92F81FD0307C}</a:tableStyleId>
              </a:tblPr>
              <a:tblGrid>
                <a:gridCol w="1828800">
                  <a:extLst>
                    <a:ext uri="{9D8B030D-6E8A-4147-A177-3AD203B41FA5}">
                      <a16:colId xmlns:a16="http://schemas.microsoft.com/office/drawing/2014/main" val="2801895674"/>
                    </a:ext>
                  </a:extLst>
                </a:gridCol>
                <a:gridCol w="738953">
                  <a:extLst>
                    <a:ext uri="{9D8B030D-6E8A-4147-A177-3AD203B41FA5}">
                      <a16:colId xmlns:a16="http://schemas.microsoft.com/office/drawing/2014/main" val="2976102064"/>
                    </a:ext>
                  </a:extLst>
                </a:gridCol>
                <a:gridCol w="838625">
                  <a:extLst>
                    <a:ext uri="{9D8B030D-6E8A-4147-A177-3AD203B41FA5}">
                      <a16:colId xmlns:a16="http://schemas.microsoft.com/office/drawing/2014/main" val="526736865"/>
                    </a:ext>
                  </a:extLst>
                </a:gridCol>
                <a:gridCol w="3862640">
                  <a:extLst>
                    <a:ext uri="{9D8B030D-6E8A-4147-A177-3AD203B41FA5}">
                      <a16:colId xmlns:a16="http://schemas.microsoft.com/office/drawing/2014/main" val="4106469564"/>
                    </a:ext>
                  </a:extLst>
                </a:gridCol>
                <a:gridCol w="923637">
                  <a:extLst>
                    <a:ext uri="{9D8B030D-6E8A-4147-A177-3AD203B41FA5}">
                      <a16:colId xmlns:a16="http://schemas.microsoft.com/office/drawing/2014/main" val="1154529574"/>
                    </a:ext>
                  </a:extLst>
                </a:gridCol>
                <a:gridCol w="2780147">
                  <a:extLst>
                    <a:ext uri="{9D8B030D-6E8A-4147-A177-3AD203B41FA5}">
                      <a16:colId xmlns:a16="http://schemas.microsoft.com/office/drawing/2014/main" val="1503598667"/>
                    </a:ext>
                  </a:extLst>
                </a:gridCol>
              </a:tblGrid>
              <a:tr h="0">
                <a:tc>
                  <a:txBody>
                    <a:bodyPr/>
                    <a:lstStyle/>
                    <a:p>
                      <a:pPr algn="ctr" rtl="1"/>
                      <a:r>
                        <a:rPr lang="ar-SA" sz="1400" b="1" noProof="0" dirty="0">
                          <a:solidFill>
                            <a:schemeClr val="bg1"/>
                          </a:solidFill>
                        </a:rPr>
                        <a:t>المصدر</a:t>
                      </a:r>
                      <a:endParaRPr lang="ar-SA" sz="1400" b="1" noProof="0" dirty="0">
                        <a:solidFill>
                          <a:schemeClr val="bg1"/>
                        </a:solidFill>
                        <a:latin typeface="+mj-lt"/>
                      </a:endParaRPr>
                    </a:p>
                  </a:txBody>
                  <a:tcPr anchor="ctr">
                    <a:lnL w="12700" cap="flat" cmpd="sng" algn="ctr">
                      <a:noFill/>
                      <a:prstDash val="solid"/>
                      <a:round/>
                      <a:headEnd type="none" w="med" len="med"/>
                      <a:tailEnd type="none" w="med" len="med"/>
                    </a:lnL>
                    <a:lnR w="12700" cap="flat" cmpd="sng" algn="ctr">
                      <a:solidFill>
                        <a:schemeClr val="bg1"/>
                      </a:solidFill>
                      <a:prstDash val="solid"/>
                      <a:round/>
                      <a:headEnd type="none" w="med" len="med"/>
                      <a:tailEnd type="none" w="med" len="med"/>
                    </a:lnR>
                    <a:solidFill>
                      <a:schemeClr val="accent1"/>
                    </a:solidFill>
                  </a:tcPr>
                </a:tc>
                <a:tc>
                  <a: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lang="ar-SA" sz="1400" b="1" noProof="0" dirty="0">
                          <a:solidFill>
                            <a:schemeClr val="bg1"/>
                          </a:solidFill>
                        </a:rPr>
                        <a:t>الأهمية</a:t>
                      </a:r>
                      <a:endParaRPr lang="ar-SA" sz="1400" b="1" noProof="0" dirty="0">
                        <a:solidFill>
                          <a:schemeClr val="bg1"/>
                        </a:solidFill>
                        <a:latin typeface="+mj-lt"/>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solidFill>
                      <a:schemeClr val="accent1"/>
                    </a:solidFill>
                  </a:tcPr>
                </a:tc>
                <a:tc>
                  <a: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lang="ar-SA" sz="1400" b="1" noProof="0" dirty="0">
                          <a:solidFill>
                            <a:schemeClr val="bg1"/>
                          </a:solidFill>
                        </a:rPr>
                        <a:t>الأولوية</a:t>
                      </a:r>
                      <a:endParaRPr lang="ar-SA" sz="1400" b="1" noProof="0" dirty="0">
                        <a:solidFill>
                          <a:schemeClr val="bg1"/>
                        </a:solidFill>
                        <a:latin typeface="+mj-lt"/>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solidFill>
                      <a:schemeClr val="accent1"/>
                    </a:solidFill>
                  </a:tcPr>
                </a:tc>
                <a:tc gridSpan="2">
                  <a: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lang="ar-SA" sz="1400" b="1" noProof="0" dirty="0">
                          <a:solidFill>
                            <a:schemeClr val="bg1"/>
                          </a:solidFill>
                        </a:rPr>
                        <a:t>التحليل لكل فجوة </a:t>
                      </a:r>
                      <a:endParaRPr lang="ar-SA" sz="1400" b="1" noProof="0" dirty="0">
                        <a:solidFill>
                          <a:schemeClr val="bg1"/>
                        </a:solidFill>
                        <a:latin typeface="+mj-lt"/>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solidFill>
                      <a:schemeClr val="accent1"/>
                    </a:solidFill>
                  </a:tcPr>
                </a:tc>
                <a:tc hMerge="1">
                  <a:txBody>
                    <a:bodyPr/>
                    <a:lstStyle/>
                    <a:p>
                      <a:endParaRPr lang="en-US"/>
                    </a:p>
                  </a:txBody>
                  <a:tcPr/>
                </a:tc>
                <a:tc>
                  <a:txBody>
                    <a:bodyPr/>
                    <a:lstStyle/>
                    <a:p>
                      <a:pPr algn="ctr" rtl="1"/>
                      <a:r>
                        <a:rPr lang="ar-SA" sz="1400" b="1" noProof="0" dirty="0">
                          <a:solidFill>
                            <a:schemeClr val="bg1"/>
                          </a:solidFill>
                        </a:rPr>
                        <a:t>الفجوة</a:t>
                      </a:r>
                      <a:endParaRPr lang="ar-SA" sz="1400" b="1" noProof="0" dirty="0">
                        <a:solidFill>
                          <a:schemeClr val="bg1"/>
                        </a:solidFill>
                        <a:latin typeface="+mj-lt"/>
                      </a:endParaRPr>
                    </a:p>
                  </a:txBody>
                  <a:tcPr anchor="ctr">
                    <a:lnL w="12700" cap="flat" cmpd="sng" algn="ctr">
                      <a:solidFill>
                        <a:schemeClr val="bg1"/>
                      </a:solidFill>
                      <a:prstDash val="solid"/>
                      <a:round/>
                      <a:headEnd type="none" w="med" len="med"/>
                      <a:tailEnd type="none" w="med" len="med"/>
                    </a:lnL>
                    <a:lnR w="12700" cap="flat" cmpd="sng" algn="ctr">
                      <a:noFill/>
                      <a:prstDash val="solid"/>
                      <a:round/>
                      <a:headEnd type="none" w="med" len="med"/>
                      <a:tailEnd type="none" w="med" len="med"/>
                    </a:lnR>
                    <a:solidFill>
                      <a:schemeClr val="accent1"/>
                    </a:solidFill>
                  </a:tcPr>
                </a:tc>
                <a:extLst>
                  <a:ext uri="{0D108BD9-81ED-4DB2-BD59-A6C34878D82A}">
                    <a16:rowId xmlns:a16="http://schemas.microsoft.com/office/drawing/2014/main" val="3304685178"/>
                  </a:ext>
                </a:extLst>
              </a:tr>
              <a:tr h="0">
                <a:tc rowSpan="4">
                  <a:txBody>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lang="ar-SA" sz="1400" noProof="0" dirty="0"/>
                        <a:t>ملف حصر الأعمال ، دراسة وثائق الأعمال للجهة المتوفرة بالوضع الحالي ، ورش العمل لحصر الأعمال مع الوحدات الإدارية المعنية ،تطلعات أصحاب المصلحة</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B w="12700" cap="flat" cmpd="sng" algn="ctr">
                      <a:solidFill>
                        <a:schemeClr val="accent1"/>
                      </a:solidFill>
                      <a:prstDash val="solid"/>
                      <a:round/>
                      <a:headEnd type="none" w="med" len="med"/>
                      <a:tailEnd type="none" w="med" len="med"/>
                    </a:lnB>
                  </a:tcPr>
                </a:tc>
                <a:tc rowSpan="4">
                  <a:txBody>
                    <a:bodyPr/>
                    <a:lstStyle/>
                    <a:p>
                      <a:pPr marL="0" marR="0" lvl="0" indent="0" algn="ctr" defTabSz="914400" rtl="1" eaLnBrk="1" fontAlgn="auto" latinLnBrk="0" hangingPunct="1">
                        <a:lnSpc>
                          <a:spcPct val="100000"/>
                        </a:lnSpc>
                        <a:spcBef>
                          <a:spcPts val="0"/>
                        </a:spcBef>
                        <a:spcAft>
                          <a:spcPts val="0"/>
                        </a:spcAft>
                        <a:buClrTx/>
                        <a:buSzTx/>
                        <a:buFont typeface="Arial" panose="020B0604020202020204" pitchFamily="34" charset="0"/>
                        <a:buNone/>
                        <a:tabLst/>
                        <a:defRPr/>
                      </a:pPr>
                      <a:r>
                        <a:rPr lang="ar-SA" sz="1400" noProof="0" dirty="0"/>
                        <a:t>عالي</a:t>
                      </a:r>
                    </a:p>
                  </a:txBody>
                  <a:tcPr anchor="ctr">
                    <a:lnL w="12700" cap="flat" cmpd="sng" algn="ctr">
                      <a:noFill/>
                      <a:prstDash val="solid"/>
                      <a:round/>
                      <a:headEnd type="none" w="med" len="med"/>
                      <a:tailEnd type="none" w="med" len="med"/>
                    </a:lnL>
                    <a:lnR w="12700" cap="flat" cmpd="sng" algn="ctr">
                      <a:solidFill>
                        <a:schemeClr val="bg1"/>
                      </a:solidFill>
                      <a:prstDash val="solid"/>
                      <a:round/>
                      <a:headEnd type="none" w="med" len="med"/>
                      <a:tailEnd type="none" w="med" len="med"/>
                    </a:lnR>
                    <a:lnB w="12700" cap="flat" cmpd="sng" algn="ctr">
                      <a:solidFill>
                        <a:schemeClr val="accent1"/>
                      </a:solidFill>
                      <a:prstDash val="solid"/>
                      <a:round/>
                      <a:headEnd type="none" w="med" len="med"/>
                      <a:tailEnd type="none" w="med" len="med"/>
                    </a:lnB>
                    <a:solidFill>
                      <a:schemeClr val="bg1">
                        <a:lumMod val="65000"/>
                        <a:alpha val="5000"/>
                      </a:schemeClr>
                    </a:solidFill>
                  </a:tcPr>
                </a:tc>
                <a:tc rowSpan="4">
                  <a:txBody>
                    <a:bodyPr/>
                    <a:lstStyle/>
                    <a:p>
                      <a:pPr marL="0" marR="0" lvl="0" indent="0" algn="ctr" defTabSz="914400" rtl="1" eaLnBrk="1" fontAlgn="auto" latinLnBrk="0" hangingPunct="1">
                        <a:lnSpc>
                          <a:spcPct val="100000"/>
                        </a:lnSpc>
                        <a:spcBef>
                          <a:spcPts val="0"/>
                        </a:spcBef>
                        <a:spcAft>
                          <a:spcPts val="0"/>
                        </a:spcAft>
                        <a:buClrTx/>
                        <a:buSzTx/>
                        <a:buFont typeface="Arial" panose="020B0604020202020204" pitchFamily="34" charset="0"/>
                        <a:buNone/>
                        <a:tabLst/>
                        <a:defRPr/>
                      </a:pPr>
                      <a:r>
                        <a:rPr lang="ar-SA" sz="1400" noProof="0" dirty="0"/>
                        <a:t>عالي</a:t>
                      </a:r>
                    </a:p>
                  </a:txBody>
                  <a:tcPr anchor="ctr">
                    <a:lnL w="12700" cap="flat" cmpd="sng" algn="ctr">
                      <a:solidFill>
                        <a:schemeClr val="bg1"/>
                      </a:solidFill>
                      <a:prstDash val="solid"/>
                      <a:round/>
                      <a:headEnd type="none" w="med" len="med"/>
                      <a:tailEnd type="none" w="med" len="med"/>
                    </a:lnL>
                    <a:lnR w="12700" cap="flat" cmpd="sng" algn="ctr">
                      <a:noFill/>
                      <a:prstDash val="solid"/>
                      <a:round/>
                      <a:headEnd type="none" w="med" len="med"/>
                      <a:tailEnd type="none" w="med" len="med"/>
                    </a:lnR>
                    <a:lnB w="12700" cap="flat" cmpd="sng" algn="ctr">
                      <a:solidFill>
                        <a:schemeClr val="accent1"/>
                      </a:solidFill>
                      <a:prstDash val="solid"/>
                      <a:round/>
                      <a:headEnd type="none" w="med" len="med"/>
                      <a:tailEnd type="none" w="med" len="med"/>
                    </a:lnB>
                    <a:solidFill>
                      <a:schemeClr val="bg1">
                        <a:lumMod val="65000"/>
                        <a:alpha val="5000"/>
                      </a:schemeClr>
                    </a:solidFill>
                  </a:tcPr>
                </a:tc>
                <a:tc>
                  <a:txBody>
                    <a:bodyPr/>
                    <a:lstStyle/>
                    <a:p>
                      <a:pPr marL="0" marR="0" lvl="0" indent="0" algn="just" defTabSz="914400" rtl="1" eaLnBrk="1" fontAlgn="auto" latinLnBrk="0" hangingPunct="1">
                        <a:lnSpc>
                          <a:spcPct val="100000"/>
                        </a:lnSpc>
                        <a:spcBef>
                          <a:spcPts val="0"/>
                        </a:spcBef>
                        <a:spcAft>
                          <a:spcPts val="0"/>
                        </a:spcAft>
                        <a:buClrTx/>
                        <a:buSzTx/>
                        <a:buFont typeface="Arial" panose="020B0604020202020204" pitchFamily="34" charset="0"/>
                        <a:buNone/>
                        <a:tabLst/>
                        <a:defRPr/>
                      </a:pPr>
                      <a:r>
                        <a:rPr lang="ar-SA" sz="1100" noProof="0" dirty="0"/>
                        <a:t>توجد </a:t>
                      </a:r>
                      <a:r>
                        <a:rPr lang="ar-SA" sz="1100" kern="1200" noProof="0" dirty="0">
                          <a:effectLst/>
                        </a:rPr>
                        <a:t>بعض الخدمات أو الإجراءات يدوية (تقليدية)  أو مؤتمتة بشكل جزئي وتحتاج الى أتمتة بشكل كامل</a:t>
                      </a:r>
                      <a:endParaRPr lang="ar-SA" sz="1100" noProof="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B w="12700" cap="flat" cmpd="sng" algn="ctr">
                      <a:solidFill>
                        <a:schemeClr val="bg1">
                          <a:lumMod val="85000"/>
                        </a:schemeClr>
                      </a:solidFill>
                      <a:prstDash val="solid"/>
                      <a:round/>
                      <a:headEnd type="none" w="med" len="med"/>
                      <a:tailEnd type="none" w="med" len="med"/>
                    </a:lnB>
                  </a:tcPr>
                </a:tc>
                <a:tc>
                  <a:txBody>
                    <a:bodyPr/>
                    <a:lstStyle/>
                    <a:p>
                      <a:pPr marL="0" marR="0" lvl="0" indent="0" algn="ctr" defTabSz="914400" rtl="1" eaLnBrk="1" fontAlgn="auto" latinLnBrk="0" hangingPunct="1">
                        <a:lnSpc>
                          <a:spcPct val="100000"/>
                        </a:lnSpc>
                        <a:spcBef>
                          <a:spcPts val="0"/>
                        </a:spcBef>
                        <a:spcAft>
                          <a:spcPts val="0"/>
                        </a:spcAft>
                        <a:buClrTx/>
                        <a:buSzTx/>
                        <a:buFont typeface="Arial" panose="020B0604020202020204" pitchFamily="34" charset="0"/>
                        <a:buNone/>
                        <a:tabLst/>
                        <a:defRPr/>
                      </a:pPr>
                      <a:r>
                        <a:rPr lang="ar-SA" sz="1400" b="1" noProof="0" dirty="0">
                          <a:solidFill>
                            <a:schemeClr val="accent1"/>
                          </a:solidFill>
                        </a:rPr>
                        <a:t>الوصف</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B w="12700" cap="flat" cmpd="sng" algn="ctr">
                      <a:solidFill>
                        <a:schemeClr val="bg1">
                          <a:lumMod val="85000"/>
                        </a:schemeClr>
                      </a:solidFill>
                      <a:prstDash val="solid"/>
                      <a:round/>
                      <a:headEnd type="none" w="med" len="med"/>
                      <a:tailEnd type="none" w="med" len="med"/>
                    </a:lnB>
                    <a:solidFill>
                      <a:schemeClr val="bg1">
                        <a:lumMod val="95000"/>
                      </a:schemeClr>
                    </a:solidFill>
                  </a:tcPr>
                </a:tc>
                <a:tc rowSpan="4">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ar-SA" sz="1600" b="1" noProof="0" dirty="0"/>
                        <a:t>GAP-B-01</a:t>
                      </a:r>
                      <a:endParaRPr lang="ar-SA" sz="1600" b="1" kern="1200" noProof="0" dirty="0">
                        <a:effectLst/>
                      </a:endParaRPr>
                    </a:p>
                    <a:p>
                      <a:pPr marL="0" marR="0" lvl="0" indent="0" algn="r" defTabSz="914400" rtl="1" eaLnBrk="1" fontAlgn="auto" latinLnBrk="0" hangingPunct="1">
                        <a:lnSpc>
                          <a:spcPct val="100000"/>
                        </a:lnSpc>
                        <a:spcBef>
                          <a:spcPts val="0"/>
                        </a:spcBef>
                        <a:spcAft>
                          <a:spcPts val="0"/>
                        </a:spcAft>
                        <a:buClrTx/>
                        <a:buSzTx/>
                        <a:buFontTx/>
                        <a:buNone/>
                        <a:tabLst/>
                        <a:defRPr/>
                      </a:pPr>
                      <a:r>
                        <a:rPr lang="ar-SA" sz="1400" b="1" kern="1200" noProof="0" dirty="0">
                          <a:solidFill>
                            <a:schemeClr val="tx1"/>
                          </a:solidFill>
                          <a:effectLst/>
                          <a:latin typeface="+mn-lt"/>
                          <a:ea typeface="+mn-ea"/>
                          <a:cs typeface="+mn-cs"/>
                        </a:rPr>
                        <a:t>غياب الأتمتة لبعض الخدمات أو الإجراءات الأساسية والداعمة </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B w="12700" cap="flat" cmpd="sng" algn="ctr">
                      <a:solidFill>
                        <a:schemeClr val="accent1"/>
                      </a:solidFill>
                      <a:prstDash val="solid"/>
                      <a:round/>
                      <a:headEnd type="none" w="med" len="med"/>
                      <a:tailEnd type="none" w="med" len="med"/>
                    </a:lnB>
                  </a:tcPr>
                </a:tc>
                <a:extLst>
                  <a:ext uri="{0D108BD9-81ED-4DB2-BD59-A6C34878D82A}">
                    <a16:rowId xmlns:a16="http://schemas.microsoft.com/office/drawing/2014/main" val="1128065702"/>
                  </a:ext>
                </a:extLst>
              </a:tr>
              <a:tr h="0">
                <a:tc vMerge="1">
                  <a:txBody>
                    <a:bodyPr/>
                    <a:lstStyle/>
                    <a:p>
                      <a:endParaRPr lang="en-US"/>
                    </a:p>
                  </a:txBody>
                  <a:tcPr/>
                </a:tc>
                <a:tc vMerge="1">
                  <a:txBody>
                    <a:bodyPr/>
                    <a:lstStyle/>
                    <a:p>
                      <a:endParaRPr lang="en-US"/>
                    </a:p>
                  </a:txBody>
                  <a:tcPr/>
                </a:tc>
                <a:tc vMerge="1">
                  <a:txBody>
                    <a:bodyPr/>
                    <a:lstStyle/>
                    <a:p>
                      <a:endParaRPr lang="en-US"/>
                    </a:p>
                  </a:txBody>
                  <a:tcPr/>
                </a:tc>
                <a:tc>
                  <a:txBody>
                    <a:bodyPr/>
                    <a:lstStyle/>
                    <a:p>
                      <a:pPr marL="0" marR="0" lvl="0" indent="0" algn="just" defTabSz="914400" rtl="1" eaLnBrk="1" fontAlgn="auto" latinLnBrk="0" hangingPunct="1">
                        <a:lnSpc>
                          <a:spcPct val="100000"/>
                        </a:lnSpc>
                        <a:spcBef>
                          <a:spcPts val="0"/>
                        </a:spcBef>
                        <a:spcAft>
                          <a:spcPts val="0"/>
                        </a:spcAft>
                        <a:buClrTx/>
                        <a:buSzTx/>
                        <a:buFont typeface="Arial" panose="020B0604020202020204" pitchFamily="34" charset="0"/>
                        <a:buNone/>
                        <a:tabLst/>
                        <a:defRPr/>
                      </a:pPr>
                      <a:r>
                        <a:rPr lang="ar-SA" sz="1100" noProof="0" dirty="0"/>
                        <a:t>بطء وتأخر في تنفيذ الخدمات أو الإجراءات ، عدم تطبيق اتفاقية مستوى الخدمة بالشكل الأمثل ، عدم تحقيق أعلى المراتب في  رضا المستفيد ، الافتقار إلى استخدام الخدمة أو الإجراء بشكل أسهل وأفضل</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marL="0" marR="0" lvl="0" indent="0" algn="ctr" defTabSz="914400" rtl="1" eaLnBrk="1" fontAlgn="auto" latinLnBrk="0" hangingPunct="1">
                        <a:lnSpc>
                          <a:spcPct val="100000"/>
                        </a:lnSpc>
                        <a:spcBef>
                          <a:spcPts val="0"/>
                        </a:spcBef>
                        <a:spcAft>
                          <a:spcPts val="0"/>
                        </a:spcAft>
                        <a:buClrTx/>
                        <a:buSzTx/>
                        <a:buFont typeface="Arial" panose="020B0604020202020204" pitchFamily="34" charset="0"/>
                        <a:buNone/>
                        <a:tabLst/>
                        <a:defRPr/>
                      </a:pPr>
                      <a:r>
                        <a:rPr lang="ar-SA" sz="1400" b="1" kern="1200" noProof="0" dirty="0">
                          <a:solidFill>
                            <a:schemeClr val="accent1"/>
                          </a:solidFill>
                        </a:rPr>
                        <a:t>الأثر الحالي</a:t>
                      </a:r>
                      <a:endParaRPr lang="ar-SA" sz="1400" b="1" noProof="0" dirty="0">
                        <a:solidFill>
                          <a:schemeClr val="accent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lumMod val="95000"/>
                      </a:schemeClr>
                    </a:solidFill>
                  </a:tcPr>
                </a:tc>
                <a:tc vMerge="1">
                  <a:txBody>
                    <a:bodyPr/>
                    <a:lstStyle/>
                    <a:p>
                      <a:endParaRPr lang="en-US"/>
                    </a:p>
                  </a:txBody>
                  <a:tcPr/>
                </a:tc>
                <a:extLst>
                  <a:ext uri="{0D108BD9-81ED-4DB2-BD59-A6C34878D82A}">
                    <a16:rowId xmlns:a16="http://schemas.microsoft.com/office/drawing/2014/main" val="1163892829"/>
                  </a:ext>
                </a:extLst>
              </a:tr>
              <a:tr h="0">
                <a:tc vMerge="1">
                  <a:txBody>
                    <a:bodyPr/>
                    <a:lstStyle/>
                    <a:p>
                      <a:endParaRPr lang="en-US"/>
                    </a:p>
                  </a:txBody>
                  <a:tcPr/>
                </a:tc>
                <a:tc vMerge="1">
                  <a:txBody>
                    <a:bodyPr/>
                    <a:lstStyle/>
                    <a:p>
                      <a:endParaRPr lang="en-US"/>
                    </a:p>
                  </a:txBody>
                  <a:tcPr/>
                </a:tc>
                <a:tc vMerge="1">
                  <a:txBody>
                    <a:bodyPr/>
                    <a:lstStyle/>
                    <a:p>
                      <a:endParaRPr lang="en-US"/>
                    </a:p>
                  </a:txBody>
                  <a:tcPr/>
                </a:tc>
                <a:tc>
                  <a:txBody>
                    <a:bodyPr/>
                    <a:lstStyle/>
                    <a:p>
                      <a:pPr marL="0" marR="0" lvl="0" indent="0" algn="just" defTabSz="914400" rtl="1" eaLnBrk="1" fontAlgn="auto" latinLnBrk="0" hangingPunct="1">
                        <a:lnSpc>
                          <a:spcPct val="100000"/>
                        </a:lnSpc>
                        <a:spcBef>
                          <a:spcPts val="0"/>
                        </a:spcBef>
                        <a:spcAft>
                          <a:spcPts val="0"/>
                        </a:spcAft>
                        <a:buClrTx/>
                        <a:buSzTx/>
                        <a:buFont typeface="Arial" panose="020B0604020202020204" pitchFamily="34" charset="0"/>
                        <a:buNone/>
                        <a:tabLst/>
                        <a:defRPr/>
                      </a:pPr>
                      <a:r>
                        <a:rPr lang="ar-SA" sz="1100" noProof="0" dirty="0"/>
                        <a:t>سرعة ومرونة في تنفيذ الخدمات أو الإجراءات ، تطبيق اتفاقية مستوى الخدمة بالشكل الأمثل ، تحقيق أعلى المراتب في  رضا المستفيد ، زيادة استخدام الخدمة بشكل أسهل وأفضل</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marL="0" marR="0" lvl="0" indent="0" algn="ctr" defTabSz="914400" rtl="1" eaLnBrk="1" fontAlgn="auto" latinLnBrk="0" hangingPunct="1">
                        <a:lnSpc>
                          <a:spcPct val="100000"/>
                        </a:lnSpc>
                        <a:spcBef>
                          <a:spcPts val="0"/>
                        </a:spcBef>
                        <a:spcAft>
                          <a:spcPts val="0"/>
                        </a:spcAft>
                        <a:buClrTx/>
                        <a:buSzTx/>
                        <a:buFont typeface="Arial" panose="020B0604020202020204" pitchFamily="34" charset="0"/>
                        <a:buNone/>
                        <a:tabLst/>
                        <a:defRPr/>
                      </a:pPr>
                      <a:r>
                        <a:rPr lang="ar-SA" sz="1400" b="1" noProof="0" dirty="0">
                          <a:solidFill>
                            <a:schemeClr val="accent1"/>
                          </a:solidFill>
                        </a:rPr>
                        <a:t>الأثر بعد الردم (المعالجة)</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lumMod val="95000"/>
                      </a:schemeClr>
                    </a:solidFill>
                  </a:tcPr>
                </a:tc>
                <a:tc vMerge="1">
                  <a:txBody>
                    <a:bodyPr/>
                    <a:lstStyle/>
                    <a:p>
                      <a:endParaRPr lang="en-US"/>
                    </a:p>
                  </a:txBody>
                  <a:tcPr/>
                </a:tc>
                <a:extLst>
                  <a:ext uri="{0D108BD9-81ED-4DB2-BD59-A6C34878D82A}">
                    <a16:rowId xmlns:a16="http://schemas.microsoft.com/office/drawing/2014/main" val="1973569126"/>
                  </a:ext>
                </a:extLst>
              </a:tr>
              <a:tr h="0">
                <a:tc vMerge="1">
                  <a:txBody>
                    <a:bodyPr/>
                    <a:lstStyle/>
                    <a:p>
                      <a:endParaRPr lang="en-US"/>
                    </a:p>
                  </a:txBody>
                  <a:tcPr/>
                </a:tc>
                <a:tc vMerge="1">
                  <a:txBody>
                    <a:bodyPr/>
                    <a:lstStyle/>
                    <a:p>
                      <a:endParaRPr lang="en-US"/>
                    </a:p>
                  </a:txBody>
                  <a:tcPr/>
                </a:tc>
                <a:tc vMerge="1">
                  <a:txBody>
                    <a:bodyPr/>
                    <a:lstStyle/>
                    <a:p>
                      <a:endParaRPr lang="en-US"/>
                    </a:p>
                  </a:txBody>
                  <a:tcPr/>
                </a:tc>
                <a:tc>
                  <a:txBody>
                    <a:bodyPr/>
                    <a:lstStyle/>
                    <a:p>
                      <a:pPr marL="0" marR="0" lvl="0" indent="0" algn="just" defTabSz="914400" rtl="1" eaLnBrk="1" fontAlgn="auto" latinLnBrk="0" hangingPunct="1">
                        <a:lnSpc>
                          <a:spcPct val="100000"/>
                        </a:lnSpc>
                        <a:spcBef>
                          <a:spcPts val="0"/>
                        </a:spcBef>
                        <a:spcAft>
                          <a:spcPts val="0"/>
                        </a:spcAft>
                        <a:buClrTx/>
                        <a:buSzTx/>
                        <a:buFont typeface="Arial" panose="020B0604020202020204" pitchFamily="34" charset="0"/>
                        <a:buNone/>
                        <a:tabLst/>
                        <a:defRPr/>
                      </a:pPr>
                      <a:r>
                        <a:rPr lang="ar-SA" sz="1100" kern="1200" noProof="0" dirty="0">
                          <a:effectLst/>
                        </a:rPr>
                        <a:t>أتمتة </a:t>
                      </a:r>
                      <a:r>
                        <a:rPr lang="ar-SA" sz="1100" kern="1200" noProof="0" dirty="0">
                          <a:solidFill>
                            <a:schemeClr val="tx1"/>
                          </a:solidFill>
                          <a:effectLst/>
                          <a:latin typeface="+mn-lt"/>
                          <a:ea typeface="+mn-ea"/>
                          <a:cs typeface="+mn-cs"/>
                        </a:rPr>
                        <a:t>الخدمات أو الإجراءات اليدوية بشكل جزئي أو كلي بحسب الاحتياج  ، و</a:t>
                      </a:r>
                      <a:r>
                        <a:rPr lang="ar-SA" sz="1100" kern="1200" noProof="0" dirty="0">
                          <a:solidFill>
                            <a:schemeClr val="tx1"/>
                          </a:solidFill>
                          <a:latin typeface="+mn-lt"/>
                          <a:ea typeface="+mn-ea"/>
                          <a:cs typeface="Sakkal Majalla" panose="02000000000000000000" pitchFamily="2" charset="-78"/>
                        </a:rPr>
                        <a:t>استكمال أتمتة جميع الإجراءات المتبقية لضمان تكامل الخدمات وتحسين الكفاءة التشغيلية</a:t>
                      </a:r>
                      <a:endParaRPr lang="ar-SA" sz="1100" kern="1200" noProof="0" dirty="0">
                        <a:solidFill>
                          <a:schemeClr val="tx1"/>
                        </a:solidFill>
                        <a:effectLst/>
                        <a:latin typeface="+mn-lt"/>
                        <a:ea typeface="+mn-ea"/>
                        <a:cs typeface="+mn-cs"/>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marL="0" marR="0" lvl="0" indent="0" algn="ctr" defTabSz="914400" rtl="1" eaLnBrk="1" fontAlgn="auto" latinLnBrk="0" hangingPunct="1">
                        <a:lnSpc>
                          <a:spcPct val="100000"/>
                        </a:lnSpc>
                        <a:spcBef>
                          <a:spcPts val="0"/>
                        </a:spcBef>
                        <a:spcAft>
                          <a:spcPts val="0"/>
                        </a:spcAft>
                        <a:buClrTx/>
                        <a:buSzTx/>
                        <a:buFont typeface="Arial" panose="020B0604020202020204" pitchFamily="34" charset="0"/>
                        <a:buNone/>
                        <a:tabLst/>
                        <a:defRPr/>
                      </a:pPr>
                      <a:r>
                        <a:rPr lang="ar-SA" sz="1400" b="1" noProof="0" dirty="0">
                          <a:solidFill>
                            <a:schemeClr val="accent1"/>
                          </a:solidFill>
                        </a:rPr>
                        <a:t>تغطية الفجوة </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accent1"/>
                      </a:solidFill>
                      <a:prstDash val="solid"/>
                      <a:round/>
                      <a:headEnd type="none" w="med" len="med"/>
                      <a:tailEnd type="none" w="med" len="med"/>
                    </a:lnB>
                    <a:solidFill>
                      <a:schemeClr val="bg1">
                        <a:lumMod val="95000"/>
                      </a:schemeClr>
                    </a:solidFill>
                  </a:tcPr>
                </a:tc>
                <a:tc vMerge="1">
                  <a:txBody>
                    <a:bodyPr/>
                    <a:lstStyle/>
                    <a:p>
                      <a:endParaRPr lang="en-US"/>
                    </a:p>
                  </a:txBody>
                  <a:tcPr/>
                </a:tc>
                <a:extLst>
                  <a:ext uri="{0D108BD9-81ED-4DB2-BD59-A6C34878D82A}">
                    <a16:rowId xmlns:a16="http://schemas.microsoft.com/office/drawing/2014/main" val="4011636746"/>
                  </a:ext>
                </a:extLst>
              </a:tr>
              <a:tr h="0">
                <a:tc rowSpan="4">
                  <a:txBody>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lang="ar-SA" sz="1400" noProof="0" dirty="0"/>
                        <a:t>ملف حصر الأعمال ، دراسة وثائق الأعمال للجهة المتوفرة بالوضع الحالي ، ورش العمل لحصر الأعمال مع الوحدات الإدارية المعنية ،تطلعات أصحاب المصلحة</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rowSpan="4">
                  <a:txBody>
                    <a:bodyPr/>
                    <a:lstStyle/>
                    <a:p>
                      <a:pPr marL="0" marR="0" lvl="0" indent="0" algn="ctr" defTabSz="914400" rtl="1" eaLnBrk="1" fontAlgn="auto" latinLnBrk="0" hangingPunct="1">
                        <a:lnSpc>
                          <a:spcPct val="100000"/>
                        </a:lnSpc>
                        <a:spcBef>
                          <a:spcPts val="0"/>
                        </a:spcBef>
                        <a:spcAft>
                          <a:spcPts val="0"/>
                        </a:spcAft>
                        <a:buClrTx/>
                        <a:buSzTx/>
                        <a:buFont typeface="Arial" panose="020B0604020202020204" pitchFamily="34" charset="0"/>
                        <a:buNone/>
                        <a:tabLst/>
                        <a:defRPr/>
                      </a:pPr>
                      <a:r>
                        <a:rPr lang="ar-SA" sz="1400" noProof="0" dirty="0"/>
                        <a:t>عالي</a:t>
                      </a:r>
                    </a:p>
                  </a:txBody>
                  <a:tcPr anchor="ctr">
                    <a:lnL w="12700" cap="flat" cmpd="sng" algn="ctr">
                      <a:no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solidFill>
                      <a:schemeClr val="bg1">
                        <a:lumMod val="85000"/>
                        <a:alpha val="5000"/>
                      </a:schemeClr>
                    </a:solidFill>
                  </a:tcPr>
                </a:tc>
                <a:tc rowSpan="4">
                  <a:txBody>
                    <a:bodyPr/>
                    <a:lstStyle/>
                    <a:p>
                      <a:pPr marL="0" marR="0" lvl="0" indent="0" algn="ctr" defTabSz="914400" rtl="1" eaLnBrk="1" fontAlgn="auto" latinLnBrk="0" hangingPunct="1">
                        <a:lnSpc>
                          <a:spcPct val="100000"/>
                        </a:lnSpc>
                        <a:spcBef>
                          <a:spcPts val="0"/>
                        </a:spcBef>
                        <a:spcAft>
                          <a:spcPts val="0"/>
                        </a:spcAft>
                        <a:buClrTx/>
                        <a:buSzTx/>
                        <a:buFont typeface="Arial" panose="020B0604020202020204" pitchFamily="34" charset="0"/>
                        <a:buNone/>
                        <a:tabLst/>
                        <a:defRPr/>
                      </a:pPr>
                      <a:r>
                        <a:rPr lang="ar-SA" sz="1400" noProof="0" dirty="0"/>
                        <a:t>عالي</a:t>
                      </a:r>
                    </a:p>
                  </a:txBody>
                  <a:tcPr anchor="ctr">
                    <a:lnL w="12700" cap="flat" cmpd="sng" algn="ctr">
                      <a:solidFill>
                        <a:schemeClr val="bg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solidFill>
                      <a:schemeClr val="bg1">
                        <a:lumMod val="85000"/>
                        <a:alpha val="5000"/>
                      </a:schemeClr>
                    </a:solidFill>
                  </a:tcPr>
                </a:tc>
                <a:tc>
                  <a:txBody>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lang="ar-SA" sz="1100" kern="1200" noProof="0" dirty="0">
                          <a:solidFill>
                            <a:schemeClr val="tx1"/>
                          </a:solidFill>
                          <a:effectLst/>
                          <a:latin typeface="+mn-lt"/>
                          <a:ea typeface="+mn-ea"/>
                          <a:cs typeface="+mn-cs"/>
                        </a:rPr>
                        <a:t>ضعف في تطبيق اتفاقيات مستوى الخدمة أو التشغيل (SLA , OLA) على عدد معين من الخدمات سواء بشكل جزئي أو كلي</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marL="0" marR="0" lvl="0" indent="0" algn="ctr" defTabSz="914400" rtl="1" eaLnBrk="1" fontAlgn="auto" latinLnBrk="0" hangingPunct="1">
                        <a:lnSpc>
                          <a:spcPct val="100000"/>
                        </a:lnSpc>
                        <a:spcBef>
                          <a:spcPts val="0"/>
                        </a:spcBef>
                        <a:spcAft>
                          <a:spcPts val="0"/>
                        </a:spcAft>
                        <a:buClrTx/>
                        <a:buSzTx/>
                        <a:buFont typeface="Arial" panose="020B0604020202020204" pitchFamily="34" charset="0"/>
                        <a:buNone/>
                        <a:tabLst/>
                        <a:defRPr/>
                      </a:pPr>
                      <a:r>
                        <a:rPr lang="ar-SA" sz="1400" b="1" noProof="0" dirty="0">
                          <a:solidFill>
                            <a:schemeClr val="accent1"/>
                          </a:solidFill>
                        </a:rPr>
                        <a:t>الوصف</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lumMod val="95000"/>
                      </a:schemeClr>
                    </a:solidFill>
                  </a:tcPr>
                </a:tc>
                <a:tc rowSpan="4">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ar-SA" sz="1600" b="1" u="none" strike="noStrike" kern="1200" cap="none" spc="0" normalizeH="0" baseline="0" noProof="0" dirty="0">
                          <a:ln>
                            <a:noFill/>
                          </a:ln>
                          <a:effectLst/>
                          <a:uLnTx/>
                          <a:uFillTx/>
                        </a:rPr>
                        <a:t>GAP-B-02</a:t>
                      </a:r>
                      <a:endParaRPr kumimoji="0" lang="ar-SA" sz="1600" b="1" i="0" u="none" strike="noStrike" kern="1200" cap="none" spc="0" normalizeH="0" baseline="0" noProof="0" dirty="0">
                        <a:ln>
                          <a:noFill/>
                        </a:ln>
                        <a:solidFill>
                          <a:prstClr val="black"/>
                        </a:solidFill>
                        <a:effectLst/>
                        <a:uLnTx/>
                        <a:uFillTx/>
                        <a:latin typeface="+mn-lt"/>
                        <a:ea typeface="+mn-ea"/>
                        <a:cs typeface="+mn-cs"/>
                      </a:endParaRPr>
                    </a:p>
                    <a:p>
                      <a:pPr marL="0" marR="0" lvl="0" indent="0" algn="r" defTabSz="914400" rtl="1" eaLnBrk="1" fontAlgn="auto" latinLnBrk="0" hangingPunct="1">
                        <a:lnSpc>
                          <a:spcPct val="100000"/>
                        </a:lnSpc>
                        <a:spcBef>
                          <a:spcPts val="0"/>
                        </a:spcBef>
                        <a:spcAft>
                          <a:spcPts val="0"/>
                        </a:spcAft>
                        <a:buClrTx/>
                        <a:buSzTx/>
                        <a:buFontTx/>
                        <a:buNone/>
                        <a:tabLst/>
                        <a:defRPr/>
                      </a:pPr>
                      <a:r>
                        <a:rPr lang="ar-SA" sz="1400" b="1" kern="1200" noProof="0" dirty="0">
                          <a:effectLst/>
                        </a:rPr>
                        <a:t>ضعف في تطبيق اتفاقيات مستوى الخدمة أو التشغيل (SLA , OLA) على عدد معين من الخدمات سواء بشكل جزئي أو كلي</a:t>
                      </a:r>
                      <a:endParaRPr lang="ar-SA" sz="1400" b="1" noProof="0"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extLst>
                  <a:ext uri="{0D108BD9-81ED-4DB2-BD59-A6C34878D82A}">
                    <a16:rowId xmlns:a16="http://schemas.microsoft.com/office/drawing/2014/main" val="1136131386"/>
                  </a:ext>
                </a:extLst>
              </a:tr>
              <a:tr h="0">
                <a:tc vMerge="1">
                  <a:txBody>
                    <a:bodyPr/>
                    <a:lstStyle/>
                    <a:p>
                      <a:pPr marL="0" marR="0" lvl="0" indent="0" algn="r" defTabSz="914400" rtl="1" eaLnBrk="1" fontAlgn="auto" latinLnBrk="0" hangingPunct="1">
                        <a:lnSpc>
                          <a:spcPct val="100000"/>
                        </a:lnSpc>
                        <a:spcBef>
                          <a:spcPts val="0"/>
                        </a:spcBef>
                        <a:spcAft>
                          <a:spcPts val="0"/>
                        </a:spcAft>
                        <a:buClrTx/>
                        <a:buSzTx/>
                        <a:buFontTx/>
                        <a:buNone/>
                        <a:tabLst/>
                        <a:defRPr/>
                      </a:pPr>
                      <a:endParaRPr lang="en-GB" sz="1400" noProof="0" dirty="0"/>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vMerge="1">
                  <a:txBody>
                    <a:bodyPr/>
                    <a:lstStyle/>
                    <a:p>
                      <a:endParaRPr lang="en-US"/>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vMerge="1">
                  <a:txBody>
                    <a:bodyPr/>
                    <a:lstStyle/>
                    <a:p>
                      <a:endParaRPr lang="en-US"/>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marL="0" marR="0" lvl="0" indent="0" algn="just" defTabSz="914400" rtl="1" eaLnBrk="1" fontAlgn="auto" latinLnBrk="0" hangingPunct="1">
                        <a:lnSpc>
                          <a:spcPct val="100000"/>
                        </a:lnSpc>
                        <a:spcBef>
                          <a:spcPts val="0"/>
                        </a:spcBef>
                        <a:spcAft>
                          <a:spcPts val="0"/>
                        </a:spcAft>
                        <a:buClrTx/>
                        <a:buSzTx/>
                        <a:buFont typeface="Arial" panose="020B0604020202020204" pitchFamily="34" charset="0"/>
                        <a:buNone/>
                        <a:tabLst/>
                        <a:defRPr/>
                      </a:pPr>
                      <a:r>
                        <a:rPr lang="ar-SA" sz="1100" kern="1200" noProof="0" dirty="0">
                          <a:effectLst/>
                        </a:rPr>
                        <a:t>تأخر في تنفيذ الخدمات للمستفيدين ، عدم تحقيق مستويات عالية من أداء الخدمات ، قصور في تحقيق مستوى مرضي للمستفيدين</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marL="0" marR="0" lvl="0" indent="0" algn="ctr" defTabSz="914400" rtl="1" eaLnBrk="1" fontAlgn="auto" latinLnBrk="0" hangingPunct="1">
                        <a:lnSpc>
                          <a:spcPct val="100000"/>
                        </a:lnSpc>
                        <a:spcBef>
                          <a:spcPts val="0"/>
                        </a:spcBef>
                        <a:spcAft>
                          <a:spcPts val="0"/>
                        </a:spcAft>
                        <a:buClrTx/>
                        <a:buSzTx/>
                        <a:buFont typeface="Arial" panose="020B0604020202020204" pitchFamily="34" charset="0"/>
                        <a:buNone/>
                        <a:tabLst/>
                        <a:defRPr/>
                      </a:pPr>
                      <a:r>
                        <a:rPr lang="ar-SA" sz="1400" b="1" kern="1200" noProof="0" dirty="0">
                          <a:solidFill>
                            <a:schemeClr val="accent1"/>
                          </a:solidFill>
                        </a:rPr>
                        <a:t>الأثر الحالي</a:t>
                      </a:r>
                      <a:endParaRPr lang="ar-SA" sz="1400" b="1" noProof="0" dirty="0">
                        <a:solidFill>
                          <a:schemeClr val="accent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lumMod val="95000"/>
                      </a:schemeClr>
                    </a:solidFill>
                  </a:tcPr>
                </a:tc>
                <a:tc vMerge="1">
                  <a:txBody>
                    <a:bodyPr/>
                    <a:lstStyle/>
                    <a:p>
                      <a:pPr marL="0" marR="0" lvl="0" indent="0" algn="r" defTabSz="914400" rtl="1" eaLnBrk="1" fontAlgn="auto" latinLnBrk="0" hangingPunct="1">
                        <a:lnSpc>
                          <a:spcPct val="100000"/>
                        </a:lnSpc>
                        <a:spcBef>
                          <a:spcPts val="0"/>
                        </a:spcBef>
                        <a:spcAft>
                          <a:spcPts val="0"/>
                        </a:spcAft>
                        <a:buClrTx/>
                        <a:buSzTx/>
                        <a:buFontTx/>
                        <a:buNone/>
                        <a:tabLst/>
                        <a:defRPr/>
                      </a:pPr>
                      <a:endParaRPr lang="en-GB" sz="1400" b="1" noProof="0" dirty="0"/>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extLst>
                  <a:ext uri="{0D108BD9-81ED-4DB2-BD59-A6C34878D82A}">
                    <a16:rowId xmlns:a16="http://schemas.microsoft.com/office/drawing/2014/main" val="918118369"/>
                  </a:ext>
                </a:extLst>
              </a:tr>
              <a:tr h="0">
                <a:tc vMerge="1">
                  <a:txBody>
                    <a:bodyPr/>
                    <a:lstStyle/>
                    <a:p>
                      <a:pPr marL="0" marR="0" lvl="0" indent="0" algn="r" defTabSz="914400" rtl="1" eaLnBrk="1" fontAlgn="auto" latinLnBrk="0" hangingPunct="1">
                        <a:lnSpc>
                          <a:spcPct val="100000"/>
                        </a:lnSpc>
                        <a:spcBef>
                          <a:spcPts val="0"/>
                        </a:spcBef>
                        <a:spcAft>
                          <a:spcPts val="0"/>
                        </a:spcAft>
                        <a:buClrTx/>
                        <a:buSzTx/>
                        <a:buFontTx/>
                        <a:buNone/>
                        <a:tabLst/>
                        <a:defRPr/>
                      </a:pPr>
                      <a:endParaRPr lang="en-GB" sz="1400" noProof="0" dirty="0"/>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vMerge="1">
                  <a:txBody>
                    <a:bodyPr/>
                    <a:lstStyle/>
                    <a:p>
                      <a:endParaRPr lang="en-US"/>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vMerge="1">
                  <a:txBody>
                    <a:bodyPr/>
                    <a:lstStyle/>
                    <a:p>
                      <a:endParaRPr lang="en-US"/>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marL="0" marR="0" lvl="0" indent="0" algn="just" defTabSz="914400" rtl="1" eaLnBrk="1" fontAlgn="auto" latinLnBrk="0" hangingPunct="1">
                        <a:lnSpc>
                          <a:spcPct val="100000"/>
                        </a:lnSpc>
                        <a:spcBef>
                          <a:spcPts val="0"/>
                        </a:spcBef>
                        <a:spcAft>
                          <a:spcPts val="0"/>
                        </a:spcAft>
                        <a:buClrTx/>
                        <a:buSzTx/>
                        <a:buFont typeface="Arial" panose="020B0604020202020204" pitchFamily="34" charset="0"/>
                        <a:buNone/>
                        <a:tabLst/>
                        <a:defRPr/>
                      </a:pPr>
                      <a:r>
                        <a:rPr lang="ar-SA" sz="1100" kern="1200" noProof="0" dirty="0">
                          <a:effectLst/>
                        </a:rPr>
                        <a:t>سرعة إنجاز في تنفيذ الخدمات للمستفيدين ، تحقيق مستويات عالية من أداء الخدمات ، تحقيق مستوى مرضي للمستفيدين</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marL="0" marR="0" lvl="0" indent="0" algn="ctr" defTabSz="914400" rtl="1" eaLnBrk="1" fontAlgn="auto" latinLnBrk="0" hangingPunct="1">
                        <a:lnSpc>
                          <a:spcPct val="100000"/>
                        </a:lnSpc>
                        <a:spcBef>
                          <a:spcPts val="0"/>
                        </a:spcBef>
                        <a:spcAft>
                          <a:spcPts val="0"/>
                        </a:spcAft>
                        <a:buClrTx/>
                        <a:buSzTx/>
                        <a:buFont typeface="Arial" panose="020B0604020202020204" pitchFamily="34" charset="0"/>
                        <a:buNone/>
                        <a:tabLst/>
                        <a:defRPr/>
                      </a:pPr>
                      <a:r>
                        <a:rPr lang="ar-SA" sz="1400" b="1" noProof="0" dirty="0">
                          <a:solidFill>
                            <a:schemeClr val="accent1"/>
                          </a:solidFill>
                        </a:rPr>
                        <a:t>الأثر بعد الردم (المعالجة)</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lumMod val="95000"/>
                      </a:schemeClr>
                    </a:solidFill>
                  </a:tcPr>
                </a:tc>
                <a:tc vMerge="1">
                  <a:txBody>
                    <a:bodyPr/>
                    <a:lstStyle/>
                    <a:p>
                      <a:pPr marL="0" marR="0" lvl="0" indent="0" algn="r" defTabSz="914400" rtl="1" eaLnBrk="1" fontAlgn="auto" latinLnBrk="0" hangingPunct="1">
                        <a:lnSpc>
                          <a:spcPct val="100000"/>
                        </a:lnSpc>
                        <a:spcBef>
                          <a:spcPts val="0"/>
                        </a:spcBef>
                        <a:spcAft>
                          <a:spcPts val="0"/>
                        </a:spcAft>
                        <a:buClrTx/>
                        <a:buSzTx/>
                        <a:buFontTx/>
                        <a:buNone/>
                        <a:tabLst/>
                        <a:defRPr/>
                      </a:pPr>
                      <a:endParaRPr lang="en-GB" sz="1400" b="1" noProof="0" dirty="0"/>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extLst>
                  <a:ext uri="{0D108BD9-81ED-4DB2-BD59-A6C34878D82A}">
                    <a16:rowId xmlns:a16="http://schemas.microsoft.com/office/drawing/2014/main" val="4153014111"/>
                  </a:ext>
                </a:extLst>
              </a:tr>
              <a:tr h="0">
                <a:tc vMerge="1">
                  <a:txBody>
                    <a:bodyPr/>
                    <a:lstStyle/>
                    <a:p>
                      <a:pPr marL="0" marR="0" lvl="0" indent="0" algn="r" defTabSz="914400" rtl="1" eaLnBrk="1" fontAlgn="auto" latinLnBrk="0" hangingPunct="1">
                        <a:lnSpc>
                          <a:spcPct val="100000"/>
                        </a:lnSpc>
                        <a:spcBef>
                          <a:spcPts val="0"/>
                        </a:spcBef>
                        <a:spcAft>
                          <a:spcPts val="0"/>
                        </a:spcAft>
                        <a:buClrTx/>
                        <a:buSzTx/>
                        <a:buFontTx/>
                        <a:buNone/>
                        <a:tabLst/>
                        <a:defRPr/>
                      </a:pPr>
                      <a:endParaRPr lang="en-GB" sz="1400" noProof="0" dirty="0"/>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vMerge="1">
                  <a:txBody>
                    <a:bodyPr/>
                    <a:lstStyle/>
                    <a:p>
                      <a:endParaRPr lang="en-US"/>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vMerge="1">
                  <a:txBody>
                    <a:bodyPr/>
                    <a:lstStyle/>
                    <a:p>
                      <a:endParaRPr lang="en-US"/>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marL="0" marR="0" lvl="0" indent="0" algn="just" defTabSz="914400" rtl="1" eaLnBrk="1" fontAlgn="auto" latinLnBrk="0" hangingPunct="1">
                        <a:lnSpc>
                          <a:spcPct val="100000"/>
                        </a:lnSpc>
                        <a:spcBef>
                          <a:spcPts val="0"/>
                        </a:spcBef>
                        <a:spcAft>
                          <a:spcPts val="0"/>
                        </a:spcAft>
                        <a:buClrTx/>
                        <a:buSzTx/>
                        <a:buFont typeface="Arial" panose="020B0604020202020204" pitchFamily="34" charset="0"/>
                        <a:buNone/>
                        <a:tabLst/>
                        <a:defRPr/>
                      </a:pPr>
                      <a:r>
                        <a:rPr lang="ar-SA" sz="1100" kern="1200" noProof="0" dirty="0">
                          <a:effectLst/>
                        </a:rPr>
                        <a:t>تحسين  تطبيق </a:t>
                      </a:r>
                      <a:r>
                        <a:rPr lang="ar-SA" sz="1100" kern="1200" noProof="0" dirty="0">
                          <a:solidFill>
                            <a:schemeClr val="tx1"/>
                          </a:solidFill>
                          <a:effectLst/>
                          <a:latin typeface="+mn-lt"/>
                          <a:ea typeface="+mn-ea"/>
                          <a:cs typeface="+mn-cs"/>
                        </a:rPr>
                        <a:t>اتفاقيات مستوى الخدمة أو التشغيل (SLA , OLA) بشكل كلي ، </a:t>
                      </a:r>
                      <a:r>
                        <a:rPr lang="ar-SA" sz="1100" kern="1200" noProof="0" dirty="0">
                          <a:solidFill>
                            <a:schemeClr val="tx1"/>
                          </a:solidFill>
                          <a:latin typeface="+mn-lt"/>
                          <a:ea typeface="+mn-ea"/>
                          <a:cs typeface="Sakkal Majalla" panose="02000000000000000000" pitchFamily="2" charset="-78"/>
                        </a:rPr>
                        <a:t>ضرورة تطوير وإصدار دليل حوكمة الإجراءات ومصفوفة الصلاحيات واعتماد اتفاقيات مستوى العمليات (OLA) والخدمة (SLA) لضمان التنسيق الفعال</a:t>
                      </a:r>
                    </a:p>
                    <a:p>
                      <a:pPr marL="0" marR="0" lvl="0" indent="0" algn="just" defTabSz="914400" rtl="1" eaLnBrk="1" fontAlgn="auto" latinLnBrk="0" hangingPunct="1">
                        <a:lnSpc>
                          <a:spcPct val="100000"/>
                        </a:lnSpc>
                        <a:spcBef>
                          <a:spcPts val="0"/>
                        </a:spcBef>
                        <a:spcAft>
                          <a:spcPts val="0"/>
                        </a:spcAft>
                        <a:buClrTx/>
                        <a:buSzTx/>
                        <a:buFont typeface="Arial" panose="020B0604020202020204" pitchFamily="34" charset="0"/>
                        <a:buNone/>
                        <a:tabLst/>
                        <a:defRPr/>
                      </a:pPr>
                      <a:endParaRPr lang="ar-SA" sz="1100" kern="1200" noProof="0" dirty="0">
                        <a:solidFill>
                          <a:schemeClr val="tx1"/>
                        </a:solidFill>
                        <a:effectLst/>
                        <a:latin typeface="+mn-lt"/>
                        <a:ea typeface="+mn-ea"/>
                        <a:cs typeface="+mn-cs"/>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marL="0" marR="0" lvl="0" indent="0" algn="ctr" defTabSz="914400" rtl="1" eaLnBrk="1" fontAlgn="auto" latinLnBrk="0" hangingPunct="1">
                        <a:lnSpc>
                          <a:spcPct val="100000"/>
                        </a:lnSpc>
                        <a:spcBef>
                          <a:spcPts val="0"/>
                        </a:spcBef>
                        <a:spcAft>
                          <a:spcPts val="0"/>
                        </a:spcAft>
                        <a:buClrTx/>
                        <a:buSzTx/>
                        <a:buFont typeface="Arial" panose="020B0604020202020204" pitchFamily="34" charset="0"/>
                        <a:buNone/>
                        <a:tabLst/>
                        <a:defRPr/>
                      </a:pPr>
                      <a:r>
                        <a:rPr lang="ar-SA" sz="1400" b="1" noProof="0" dirty="0">
                          <a:solidFill>
                            <a:schemeClr val="accent1"/>
                          </a:solidFill>
                        </a:rPr>
                        <a:t>تغطية الفجوة </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accent1"/>
                      </a:solidFill>
                      <a:prstDash val="solid"/>
                      <a:round/>
                      <a:headEnd type="none" w="med" len="med"/>
                      <a:tailEnd type="none" w="med" len="med"/>
                    </a:lnB>
                    <a:solidFill>
                      <a:schemeClr val="bg1">
                        <a:lumMod val="95000"/>
                      </a:schemeClr>
                    </a:solidFill>
                  </a:tcPr>
                </a:tc>
                <a:tc vMerge="1">
                  <a:txBody>
                    <a:bodyPr/>
                    <a:lstStyle/>
                    <a:p>
                      <a:pPr marL="0" marR="0" lvl="0" indent="0" algn="r" defTabSz="914400" rtl="1" eaLnBrk="1" fontAlgn="auto" latinLnBrk="0" hangingPunct="1">
                        <a:lnSpc>
                          <a:spcPct val="100000"/>
                        </a:lnSpc>
                        <a:spcBef>
                          <a:spcPts val="0"/>
                        </a:spcBef>
                        <a:spcAft>
                          <a:spcPts val="0"/>
                        </a:spcAft>
                        <a:buClrTx/>
                        <a:buSzTx/>
                        <a:buFontTx/>
                        <a:buNone/>
                        <a:tabLst/>
                        <a:defRPr/>
                      </a:pPr>
                      <a:endParaRPr lang="en-GB" sz="1400" b="1" noProof="0" dirty="0"/>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extLst>
                  <a:ext uri="{0D108BD9-81ED-4DB2-BD59-A6C34878D82A}">
                    <a16:rowId xmlns:a16="http://schemas.microsoft.com/office/drawing/2014/main" val="1035545327"/>
                  </a:ext>
                </a:extLst>
              </a:tr>
            </a:tbl>
          </a:graphicData>
        </a:graphic>
      </p:graphicFrame>
      <p:sp>
        <p:nvSpPr>
          <p:cNvPr id="7" name="TextBox 6">
            <a:extLst>
              <a:ext uri="{FF2B5EF4-FFF2-40B4-BE49-F238E27FC236}">
                <a16:creationId xmlns:a16="http://schemas.microsoft.com/office/drawing/2014/main" id="{78FFBCC9-9528-43EE-3448-66EDC46CF782}"/>
              </a:ext>
            </a:extLst>
          </p:cNvPr>
          <p:cNvSpPr txBox="1"/>
          <p:nvPr/>
        </p:nvSpPr>
        <p:spPr>
          <a:xfrm>
            <a:off x="609601" y="857760"/>
            <a:ext cx="10972800" cy="375487"/>
          </a:xfrm>
          <a:prstGeom prst="rect">
            <a:avLst/>
          </a:prstGeom>
          <a:noFill/>
        </p:spPr>
        <p:txBody>
          <a:bodyPr wrap="square">
            <a:spAutoFit/>
          </a:bodyPr>
          <a:lstStyle/>
          <a:p>
            <a:pPr algn="r" rtl="1">
              <a:lnSpc>
                <a:spcPct val="115000"/>
              </a:lnSpc>
              <a:spcAft>
                <a:spcPts val="1000"/>
              </a:spcAft>
            </a:pPr>
            <a:r>
              <a:rPr lang="ar-SA" sz="1600" noProof="0" dirty="0">
                <a:solidFill>
                  <a:srgbClr val="000000"/>
                </a:solidFill>
                <a:latin typeface="Sakkal Majalla" panose="02000000000000000000" pitchFamily="2" charset="-78"/>
                <a:ea typeface="Sakkal Majalla" panose="02000000000000000000" pitchFamily="2" charset="-78"/>
                <a:cs typeface="Sakkal Majalla" panose="02000000000000000000" pitchFamily="2" charset="-78"/>
              </a:rPr>
              <a:t>يهدف هذا القسم من الوثيقة إلى تقديم الملاحظات الخاصة بالوضع الحالي لبنية الأعمال مع ذكر التوصيات  والتحسينات المفترض تطبيقها في الوضع المستقبلي</a:t>
            </a:r>
          </a:p>
        </p:txBody>
      </p:sp>
    </p:spTree>
    <p:extLst>
      <p:ext uri="{BB962C8B-B14F-4D97-AF65-F5344CB8AC3E}">
        <p14:creationId xmlns:p14="http://schemas.microsoft.com/office/powerpoint/2010/main" val="318566001"/>
      </p:ext>
    </p:extLst>
  </p:cSld>
  <p:clrMapOvr>
    <a:masterClrMapping/>
  </p:clrMapOvr>
  <mc:AlternateContent xmlns:mc="http://schemas.openxmlformats.org/markup-compatibility/2006" xmlns:p14="http://schemas.microsoft.com/office/powerpoint/2010/main">
    <mc:Choice Requires="p14">
      <p:transition spd="slow" p14:dur="1300">
        <p14:pan dir="r"/>
      </p:transition>
    </mc:Choice>
    <mc:Fallback xmlns="">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A63A027D-6EA1-E9F6-6212-7D45811B8DC3}"/>
              </a:ext>
            </a:extLst>
          </p:cNvPr>
          <p:cNvSpPr>
            <a:spLocks noGrp="1"/>
          </p:cNvSpPr>
          <p:nvPr>
            <p:ph type="sldNum" sz="quarter" idx="12"/>
          </p:nvPr>
        </p:nvSpPr>
        <p:spPr>
          <a:xfrm>
            <a:off x="655320" y="6567058"/>
            <a:ext cx="475896" cy="290942"/>
          </a:xfrm>
        </p:spPr>
        <p:txBody>
          <a:bodyPr/>
          <a:lstStyle/>
          <a:p>
            <a:fld id="{0BE4EC83-A869-464E-AE9F-881796FB085E}" type="slidenum">
              <a:rPr lang="ar-SA" noProof="0" smtClean="0"/>
              <a:pPr/>
              <a:t>10</a:t>
            </a:fld>
            <a:endParaRPr lang="ar-SA" noProof="0" dirty="0"/>
          </a:p>
        </p:txBody>
      </p:sp>
      <p:graphicFrame>
        <p:nvGraphicFramePr>
          <p:cNvPr id="2" name="Table 1">
            <a:extLst>
              <a:ext uri="{FF2B5EF4-FFF2-40B4-BE49-F238E27FC236}">
                <a16:creationId xmlns:a16="http://schemas.microsoft.com/office/drawing/2014/main" id="{C47CAF5B-4215-4DCE-B225-BC1E66631900}"/>
              </a:ext>
            </a:extLst>
          </p:cNvPr>
          <p:cNvGraphicFramePr>
            <a:graphicFrameLocks noGrp="1"/>
          </p:cNvGraphicFramePr>
          <p:nvPr>
            <p:extLst>
              <p:ext uri="{D42A27DB-BD31-4B8C-83A1-F6EECF244321}">
                <p14:modId xmlns:p14="http://schemas.microsoft.com/office/powerpoint/2010/main" val="3632559166"/>
              </p:ext>
            </p:extLst>
          </p:nvPr>
        </p:nvGraphicFramePr>
        <p:xfrm>
          <a:off x="609600" y="1241829"/>
          <a:ext cx="10972802" cy="4419600"/>
        </p:xfrm>
        <a:graphic>
          <a:graphicData uri="http://schemas.openxmlformats.org/drawingml/2006/table">
            <a:tbl>
              <a:tblPr firstRow="1" bandRow="1">
                <a:tableStyleId>{2D5ABB26-0587-4C30-8999-92F81FD0307C}</a:tableStyleId>
              </a:tblPr>
              <a:tblGrid>
                <a:gridCol w="1828800">
                  <a:extLst>
                    <a:ext uri="{9D8B030D-6E8A-4147-A177-3AD203B41FA5}">
                      <a16:colId xmlns:a16="http://schemas.microsoft.com/office/drawing/2014/main" val="2801895674"/>
                    </a:ext>
                  </a:extLst>
                </a:gridCol>
                <a:gridCol w="738953">
                  <a:extLst>
                    <a:ext uri="{9D8B030D-6E8A-4147-A177-3AD203B41FA5}">
                      <a16:colId xmlns:a16="http://schemas.microsoft.com/office/drawing/2014/main" val="2976102064"/>
                    </a:ext>
                  </a:extLst>
                </a:gridCol>
                <a:gridCol w="838625">
                  <a:extLst>
                    <a:ext uri="{9D8B030D-6E8A-4147-A177-3AD203B41FA5}">
                      <a16:colId xmlns:a16="http://schemas.microsoft.com/office/drawing/2014/main" val="526736865"/>
                    </a:ext>
                  </a:extLst>
                </a:gridCol>
                <a:gridCol w="3862640">
                  <a:extLst>
                    <a:ext uri="{9D8B030D-6E8A-4147-A177-3AD203B41FA5}">
                      <a16:colId xmlns:a16="http://schemas.microsoft.com/office/drawing/2014/main" val="4106469564"/>
                    </a:ext>
                  </a:extLst>
                </a:gridCol>
                <a:gridCol w="923637">
                  <a:extLst>
                    <a:ext uri="{9D8B030D-6E8A-4147-A177-3AD203B41FA5}">
                      <a16:colId xmlns:a16="http://schemas.microsoft.com/office/drawing/2014/main" val="1154529574"/>
                    </a:ext>
                  </a:extLst>
                </a:gridCol>
                <a:gridCol w="2780147">
                  <a:extLst>
                    <a:ext uri="{9D8B030D-6E8A-4147-A177-3AD203B41FA5}">
                      <a16:colId xmlns:a16="http://schemas.microsoft.com/office/drawing/2014/main" val="1503598667"/>
                    </a:ext>
                  </a:extLst>
                </a:gridCol>
              </a:tblGrid>
              <a:tr h="0">
                <a:tc>
                  <a:txBody>
                    <a:bodyPr/>
                    <a:lstStyle/>
                    <a:p>
                      <a:pPr algn="ctr" rtl="1"/>
                      <a:r>
                        <a:rPr lang="ar-SA" sz="1400" b="1" noProof="0" dirty="0">
                          <a:solidFill>
                            <a:schemeClr val="bg1"/>
                          </a:solidFill>
                        </a:rPr>
                        <a:t>المصدر</a:t>
                      </a:r>
                      <a:endParaRPr lang="ar-SA" sz="1400" b="1" noProof="0" dirty="0">
                        <a:solidFill>
                          <a:schemeClr val="bg1"/>
                        </a:solidFill>
                        <a:latin typeface="+mj-lt"/>
                      </a:endParaRPr>
                    </a:p>
                  </a:txBody>
                  <a:tcPr anchor="ctr">
                    <a:lnL w="12700" cap="flat" cmpd="sng" algn="ctr">
                      <a:noFill/>
                      <a:prstDash val="solid"/>
                      <a:round/>
                      <a:headEnd type="none" w="med" len="med"/>
                      <a:tailEnd type="none" w="med" len="med"/>
                    </a:lnL>
                    <a:lnR w="12700" cap="flat" cmpd="sng" algn="ctr">
                      <a:solidFill>
                        <a:schemeClr val="bg1"/>
                      </a:solidFill>
                      <a:prstDash val="solid"/>
                      <a:round/>
                      <a:headEnd type="none" w="med" len="med"/>
                      <a:tailEnd type="none" w="med" len="med"/>
                    </a:lnR>
                    <a:solidFill>
                      <a:schemeClr val="accent1"/>
                    </a:solidFill>
                  </a:tcPr>
                </a:tc>
                <a:tc>
                  <a: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lang="ar-SA" sz="1400" b="1" noProof="0" dirty="0">
                          <a:solidFill>
                            <a:schemeClr val="bg1"/>
                          </a:solidFill>
                        </a:rPr>
                        <a:t>الأهمية</a:t>
                      </a:r>
                      <a:endParaRPr lang="ar-SA" sz="1400" b="1" noProof="0" dirty="0">
                        <a:solidFill>
                          <a:schemeClr val="bg1"/>
                        </a:solidFill>
                        <a:latin typeface="+mj-lt"/>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solidFill>
                      <a:schemeClr val="accent1"/>
                    </a:solidFill>
                  </a:tcPr>
                </a:tc>
                <a:tc>
                  <a: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lang="ar-SA" sz="1400" b="1" noProof="0" dirty="0">
                          <a:solidFill>
                            <a:schemeClr val="bg1"/>
                          </a:solidFill>
                        </a:rPr>
                        <a:t>الأولوية</a:t>
                      </a:r>
                      <a:endParaRPr lang="ar-SA" sz="1400" b="1" noProof="0" dirty="0">
                        <a:solidFill>
                          <a:schemeClr val="bg1"/>
                        </a:solidFill>
                        <a:latin typeface="+mj-lt"/>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solidFill>
                      <a:schemeClr val="accent1"/>
                    </a:solidFill>
                  </a:tcPr>
                </a:tc>
                <a:tc gridSpan="2">
                  <a: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lang="ar-SA" sz="1400" b="1" noProof="0" dirty="0">
                          <a:solidFill>
                            <a:schemeClr val="bg1"/>
                          </a:solidFill>
                        </a:rPr>
                        <a:t>التحليل لكل فجوة </a:t>
                      </a:r>
                      <a:endParaRPr lang="ar-SA" sz="1400" b="1" noProof="0" dirty="0">
                        <a:solidFill>
                          <a:schemeClr val="bg1"/>
                        </a:solidFill>
                        <a:latin typeface="+mj-lt"/>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solidFill>
                      <a:schemeClr val="accent1"/>
                    </a:solidFill>
                  </a:tcPr>
                </a:tc>
                <a:tc hMerge="1">
                  <a:txBody>
                    <a:bodyPr/>
                    <a:lstStyle/>
                    <a:p>
                      <a:endParaRPr lang="en-US"/>
                    </a:p>
                  </a:txBody>
                  <a:tcPr/>
                </a:tc>
                <a:tc>
                  <a:txBody>
                    <a:bodyPr/>
                    <a:lstStyle/>
                    <a:p>
                      <a:pPr algn="ctr" rtl="1"/>
                      <a:r>
                        <a:rPr lang="ar-SA" sz="1400" b="1" noProof="0" dirty="0">
                          <a:solidFill>
                            <a:schemeClr val="bg1"/>
                          </a:solidFill>
                        </a:rPr>
                        <a:t>الفجوة</a:t>
                      </a:r>
                      <a:endParaRPr lang="ar-SA" sz="1400" b="1" noProof="0" dirty="0">
                        <a:solidFill>
                          <a:schemeClr val="bg1"/>
                        </a:solidFill>
                        <a:latin typeface="+mj-lt"/>
                      </a:endParaRPr>
                    </a:p>
                  </a:txBody>
                  <a:tcPr anchor="ctr">
                    <a:lnL w="12700" cap="flat" cmpd="sng" algn="ctr">
                      <a:solidFill>
                        <a:schemeClr val="bg1"/>
                      </a:solidFill>
                      <a:prstDash val="solid"/>
                      <a:round/>
                      <a:headEnd type="none" w="med" len="med"/>
                      <a:tailEnd type="none" w="med" len="med"/>
                    </a:lnL>
                    <a:lnR w="12700" cap="flat" cmpd="sng" algn="ctr">
                      <a:noFill/>
                      <a:prstDash val="solid"/>
                      <a:round/>
                      <a:headEnd type="none" w="med" len="med"/>
                      <a:tailEnd type="none" w="med" len="med"/>
                    </a:lnR>
                    <a:solidFill>
                      <a:schemeClr val="accent1"/>
                    </a:solidFill>
                  </a:tcPr>
                </a:tc>
                <a:extLst>
                  <a:ext uri="{0D108BD9-81ED-4DB2-BD59-A6C34878D82A}">
                    <a16:rowId xmlns:a16="http://schemas.microsoft.com/office/drawing/2014/main" val="3304685178"/>
                  </a:ext>
                </a:extLst>
              </a:tr>
              <a:tr h="0">
                <a:tc rowSpan="4">
                  <a:txBody>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lang="ar-SA" sz="1400" noProof="0" dirty="0"/>
                        <a:t>ملف حصر الأعمال ، دراسة وثائق الأعمال للجهة المتوفرة بالوضع الحالي ، ورش العمل لحصر الأعمال مع الوحدات الإدارية المعنية ،تطلعات أصحاب المصلحة</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B w="12700" cap="flat" cmpd="sng" algn="ctr">
                      <a:solidFill>
                        <a:schemeClr val="accent1"/>
                      </a:solidFill>
                      <a:prstDash val="solid"/>
                      <a:round/>
                      <a:headEnd type="none" w="med" len="med"/>
                      <a:tailEnd type="none" w="med" len="med"/>
                    </a:lnB>
                  </a:tcPr>
                </a:tc>
                <a:tc rowSpan="4">
                  <a:txBody>
                    <a:bodyPr/>
                    <a:lstStyle/>
                    <a:p>
                      <a:pPr marL="0" marR="0" lvl="0" indent="0" algn="ctr" defTabSz="914400" rtl="1" eaLnBrk="1" fontAlgn="auto" latinLnBrk="0" hangingPunct="1">
                        <a:lnSpc>
                          <a:spcPct val="100000"/>
                        </a:lnSpc>
                        <a:spcBef>
                          <a:spcPts val="0"/>
                        </a:spcBef>
                        <a:spcAft>
                          <a:spcPts val="0"/>
                        </a:spcAft>
                        <a:buClrTx/>
                        <a:buSzTx/>
                        <a:buFont typeface="Arial" panose="020B0604020202020204" pitchFamily="34" charset="0"/>
                        <a:buNone/>
                        <a:tabLst/>
                        <a:defRPr/>
                      </a:pPr>
                      <a:r>
                        <a:rPr kumimoji="0" lang="ar-SA" sz="1400" b="0" i="0" u="none" strike="noStrike" kern="1200" cap="none" spc="0" normalizeH="0" baseline="0" noProof="0" dirty="0">
                          <a:ln>
                            <a:noFill/>
                          </a:ln>
                          <a:solidFill>
                            <a:prstClr val="black"/>
                          </a:solidFill>
                          <a:effectLst/>
                          <a:uLnTx/>
                          <a:uFillTx/>
                          <a:latin typeface="Sakkal Majalla"/>
                          <a:ea typeface="+mn-ea"/>
                          <a:cs typeface="Sakkal Majalla"/>
                        </a:rPr>
                        <a:t>متوسط</a:t>
                      </a:r>
                      <a:endParaRPr lang="ar-SA" sz="1400" noProof="0" dirty="0"/>
                    </a:p>
                  </a:txBody>
                  <a:tcPr anchor="ctr">
                    <a:lnL w="12700" cap="flat" cmpd="sng" algn="ctr">
                      <a:noFill/>
                      <a:prstDash val="solid"/>
                      <a:round/>
                      <a:headEnd type="none" w="med" len="med"/>
                      <a:tailEnd type="none" w="med" len="med"/>
                    </a:lnL>
                    <a:lnR w="12700" cap="flat" cmpd="sng" algn="ctr">
                      <a:solidFill>
                        <a:schemeClr val="bg1"/>
                      </a:solidFill>
                      <a:prstDash val="solid"/>
                      <a:round/>
                      <a:headEnd type="none" w="med" len="med"/>
                      <a:tailEnd type="none" w="med" len="med"/>
                    </a:lnR>
                    <a:lnB w="12700" cap="flat" cmpd="sng" algn="ctr">
                      <a:solidFill>
                        <a:schemeClr val="accent1"/>
                      </a:solidFill>
                      <a:prstDash val="solid"/>
                      <a:round/>
                      <a:headEnd type="none" w="med" len="med"/>
                      <a:tailEnd type="none" w="med" len="med"/>
                    </a:lnB>
                    <a:solidFill>
                      <a:schemeClr val="bg1">
                        <a:lumMod val="85000"/>
                        <a:alpha val="5000"/>
                      </a:schemeClr>
                    </a:solidFill>
                  </a:tcPr>
                </a:tc>
                <a:tc rowSpan="4">
                  <a:txBody>
                    <a:bodyPr/>
                    <a:lstStyle/>
                    <a:p>
                      <a:pPr marL="0" marR="0" lvl="0" indent="0" algn="ctr" defTabSz="914400" rtl="1" eaLnBrk="1" fontAlgn="auto" latinLnBrk="0" hangingPunct="1">
                        <a:lnSpc>
                          <a:spcPct val="100000"/>
                        </a:lnSpc>
                        <a:spcBef>
                          <a:spcPts val="0"/>
                        </a:spcBef>
                        <a:spcAft>
                          <a:spcPts val="0"/>
                        </a:spcAft>
                        <a:buClrTx/>
                        <a:buSzTx/>
                        <a:buFont typeface="Arial" panose="020B0604020202020204" pitchFamily="34" charset="0"/>
                        <a:buNone/>
                        <a:tabLst/>
                        <a:defRPr/>
                      </a:pPr>
                      <a:r>
                        <a:rPr kumimoji="0" lang="ar-SA" sz="1400" b="0" i="0" u="none" strike="noStrike" kern="1200" cap="none" spc="0" normalizeH="0" baseline="0" noProof="0" dirty="0">
                          <a:ln>
                            <a:noFill/>
                          </a:ln>
                          <a:solidFill>
                            <a:prstClr val="black"/>
                          </a:solidFill>
                          <a:effectLst/>
                          <a:uLnTx/>
                          <a:uFillTx/>
                          <a:latin typeface="Sakkal Majalla"/>
                          <a:ea typeface="+mn-ea"/>
                          <a:cs typeface="Sakkal Majalla"/>
                        </a:rPr>
                        <a:t>متوسط</a:t>
                      </a:r>
                      <a:endParaRPr lang="ar-SA" sz="1400" noProof="0" dirty="0"/>
                    </a:p>
                  </a:txBody>
                  <a:tcPr anchor="ctr">
                    <a:lnL w="12700" cap="flat" cmpd="sng" algn="ctr">
                      <a:solidFill>
                        <a:schemeClr val="bg1"/>
                      </a:solidFill>
                      <a:prstDash val="solid"/>
                      <a:round/>
                      <a:headEnd type="none" w="med" len="med"/>
                      <a:tailEnd type="none" w="med" len="med"/>
                    </a:lnL>
                    <a:lnR w="12700" cap="flat" cmpd="sng" algn="ctr">
                      <a:noFill/>
                      <a:prstDash val="solid"/>
                      <a:round/>
                      <a:headEnd type="none" w="med" len="med"/>
                      <a:tailEnd type="none" w="med" len="med"/>
                    </a:lnR>
                    <a:lnB w="12700" cap="flat" cmpd="sng" algn="ctr">
                      <a:solidFill>
                        <a:schemeClr val="accent1"/>
                      </a:solidFill>
                      <a:prstDash val="solid"/>
                      <a:round/>
                      <a:headEnd type="none" w="med" len="med"/>
                      <a:tailEnd type="none" w="med" len="med"/>
                    </a:lnB>
                    <a:solidFill>
                      <a:schemeClr val="bg1">
                        <a:lumMod val="85000"/>
                        <a:alpha val="5000"/>
                      </a:schemeClr>
                    </a:solidFill>
                  </a:tcPr>
                </a:tc>
                <a:tc>
                  <a:txBody>
                    <a:bodyPr/>
                    <a:lstStyle/>
                    <a:p>
                      <a:pPr marL="0" marR="0" lvl="0" indent="0" algn="just" defTabSz="914400" rtl="1" eaLnBrk="1" fontAlgn="auto" latinLnBrk="0" hangingPunct="1">
                        <a:lnSpc>
                          <a:spcPct val="100000"/>
                        </a:lnSpc>
                        <a:spcBef>
                          <a:spcPts val="0"/>
                        </a:spcBef>
                        <a:spcAft>
                          <a:spcPts val="0"/>
                        </a:spcAft>
                        <a:buClrTx/>
                        <a:buSzTx/>
                        <a:buFont typeface="Arial" panose="020B0604020202020204" pitchFamily="34" charset="0"/>
                        <a:buNone/>
                        <a:tabLst/>
                        <a:defRPr/>
                      </a:pPr>
                      <a:r>
                        <a:rPr lang="ar-SA" sz="1200" kern="1200" noProof="0" dirty="0">
                          <a:solidFill>
                            <a:schemeClr val="dk1"/>
                          </a:solidFill>
                          <a:effectLst/>
                          <a:latin typeface="+mn-lt"/>
                          <a:ea typeface="+mn-ea"/>
                          <a:cs typeface="+mn-cs"/>
                        </a:rPr>
                        <a:t>عدم تفعيل خاصية الاعتماد الإلكتروني في عدد من الخدمات</a:t>
                      </a:r>
                      <a:endParaRPr lang="ar-SA" sz="1200" noProof="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B w="12700" cap="flat" cmpd="sng" algn="ctr">
                      <a:solidFill>
                        <a:schemeClr val="bg1">
                          <a:lumMod val="85000"/>
                        </a:schemeClr>
                      </a:solidFill>
                      <a:prstDash val="solid"/>
                      <a:round/>
                      <a:headEnd type="none" w="med" len="med"/>
                      <a:tailEnd type="none" w="med" len="med"/>
                    </a:lnB>
                  </a:tcPr>
                </a:tc>
                <a:tc>
                  <a:txBody>
                    <a:bodyPr/>
                    <a:lstStyle/>
                    <a:p>
                      <a:pPr marL="0" marR="0" lvl="0" indent="0" algn="ctr" defTabSz="914400" rtl="1" eaLnBrk="1" fontAlgn="auto" latinLnBrk="0" hangingPunct="1">
                        <a:lnSpc>
                          <a:spcPct val="100000"/>
                        </a:lnSpc>
                        <a:spcBef>
                          <a:spcPts val="0"/>
                        </a:spcBef>
                        <a:spcAft>
                          <a:spcPts val="0"/>
                        </a:spcAft>
                        <a:buClrTx/>
                        <a:buSzTx/>
                        <a:buFont typeface="Arial" panose="020B0604020202020204" pitchFamily="34" charset="0"/>
                        <a:buNone/>
                        <a:tabLst/>
                        <a:defRPr/>
                      </a:pPr>
                      <a:r>
                        <a:rPr lang="ar-SA" sz="1400" b="1" noProof="0" dirty="0">
                          <a:solidFill>
                            <a:schemeClr val="accent1"/>
                          </a:solidFill>
                        </a:rPr>
                        <a:t>الوصف</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B w="12700" cap="flat" cmpd="sng" algn="ctr">
                      <a:solidFill>
                        <a:schemeClr val="bg1">
                          <a:lumMod val="85000"/>
                        </a:schemeClr>
                      </a:solidFill>
                      <a:prstDash val="solid"/>
                      <a:round/>
                      <a:headEnd type="none" w="med" len="med"/>
                      <a:tailEnd type="none" w="med" len="med"/>
                    </a:lnB>
                    <a:solidFill>
                      <a:schemeClr val="bg1">
                        <a:lumMod val="95000"/>
                      </a:schemeClr>
                    </a:solidFill>
                  </a:tcPr>
                </a:tc>
                <a:tc rowSpan="4">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ar-SA" sz="1600" b="1" noProof="0" dirty="0"/>
                        <a:t>GAP-B-03</a:t>
                      </a:r>
                    </a:p>
                    <a:p>
                      <a:pPr marL="0" marR="0" lvl="0" indent="0" algn="r" defTabSz="914400" rtl="1" eaLnBrk="1" fontAlgn="auto" latinLnBrk="0" hangingPunct="1">
                        <a:lnSpc>
                          <a:spcPct val="100000"/>
                        </a:lnSpc>
                        <a:spcBef>
                          <a:spcPts val="0"/>
                        </a:spcBef>
                        <a:spcAft>
                          <a:spcPts val="0"/>
                        </a:spcAft>
                        <a:buClrTx/>
                        <a:buSzTx/>
                        <a:buFontTx/>
                        <a:buNone/>
                        <a:tabLst/>
                        <a:defRPr/>
                      </a:pPr>
                      <a:r>
                        <a:rPr lang="ar-SA" sz="1400" b="1" kern="1200" noProof="0" dirty="0">
                          <a:effectLst/>
                        </a:rPr>
                        <a:t>الحاجة إلى تمكين / تفعيل خاصية الاعتماد الإلكتروني في عدد من الخدمات</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B w="12700" cap="flat" cmpd="sng" algn="ctr">
                      <a:solidFill>
                        <a:schemeClr val="accent1"/>
                      </a:solidFill>
                      <a:prstDash val="solid"/>
                      <a:round/>
                      <a:headEnd type="none" w="med" len="med"/>
                      <a:tailEnd type="none" w="med" len="med"/>
                    </a:lnB>
                  </a:tcPr>
                </a:tc>
                <a:extLst>
                  <a:ext uri="{0D108BD9-81ED-4DB2-BD59-A6C34878D82A}">
                    <a16:rowId xmlns:a16="http://schemas.microsoft.com/office/drawing/2014/main" val="1128065702"/>
                  </a:ext>
                </a:extLst>
              </a:tr>
              <a:tr h="0">
                <a:tc vMerge="1">
                  <a:txBody>
                    <a:bodyPr/>
                    <a:lstStyle/>
                    <a:p>
                      <a:endParaRPr lang="en-US"/>
                    </a:p>
                  </a:txBody>
                  <a:tcPr/>
                </a:tc>
                <a:tc vMerge="1">
                  <a:txBody>
                    <a:bodyPr/>
                    <a:lstStyle/>
                    <a:p>
                      <a:endParaRPr lang="en-US"/>
                    </a:p>
                  </a:txBody>
                  <a:tcPr/>
                </a:tc>
                <a:tc vMerge="1">
                  <a:txBody>
                    <a:bodyPr/>
                    <a:lstStyle/>
                    <a:p>
                      <a:endParaRPr lang="en-US"/>
                    </a:p>
                  </a:txBody>
                  <a:tcPr/>
                </a:tc>
                <a:tc>
                  <a:txBody>
                    <a:bodyPr/>
                    <a:lstStyle/>
                    <a:p>
                      <a:pPr marL="0" marR="0" lvl="0" indent="0" algn="just" defTabSz="914400" rtl="1" eaLnBrk="1" fontAlgn="auto" latinLnBrk="0" hangingPunct="1">
                        <a:lnSpc>
                          <a:spcPct val="100000"/>
                        </a:lnSpc>
                        <a:spcBef>
                          <a:spcPts val="0"/>
                        </a:spcBef>
                        <a:spcAft>
                          <a:spcPts val="0"/>
                        </a:spcAft>
                        <a:buClrTx/>
                        <a:buSzTx/>
                        <a:buFont typeface="Arial" panose="020B0604020202020204" pitchFamily="34" charset="0"/>
                        <a:buNone/>
                        <a:tabLst/>
                        <a:defRPr/>
                      </a:pPr>
                      <a:r>
                        <a:rPr lang="ar-SA" sz="1200" kern="1200" noProof="0" dirty="0">
                          <a:solidFill>
                            <a:schemeClr val="dk1"/>
                          </a:solidFill>
                          <a:effectLst/>
                          <a:latin typeface="+mn-lt"/>
                          <a:ea typeface="+mn-ea"/>
                          <a:cs typeface="+mn-cs"/>
                        </a:rPr>
                        <a:t>الاعتماد على وسائل الاعتماد والموافقات التقليدية مثل التواقيع</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marL="0" marR="0" lvl="0" indent="0" algn="ctr" defTabSz="914400" rtl="1" eaLnBrk="1" fontAlgn="auto" latinLnBrk="0" hangingPunct="1">
                        <a:lnSpc>
                          <a:spcPct val="100000"/>
                        </a:lnSpc>
                        <a:spcBef>
                          <a:spcPts val="0"/>
                        </a:spcBef>
                        <a:spcAft>
                          <a:spcPts val="0"/>
                        </a:spcAft>
                        <a:buClrTx/>
                        <a:buSzTx/>
                        <a:buFont typeface="Arial" panose="020B0604020202020204" pitchFamily="34" charset="0"/>
                        <a:buNone/>
                        <a:tabLst/>
                        <a:defRPr/>
                      </a:pPr>
                      <a:r>
                        <a:rPr lang="ar-SA" sz="1400" b="1" kern="1200" noProof="0" dirty="0">
                          <a:solidFill>
                            <a:schemeClr val="accent1"/>
                          </a:solidFill>
                        </a:rPr>
                        <a:t>الأثر الحالي</a:t>
                      </a:r>
                      <a:endParaRPr lang="ar-SA" sz="1400" b="1" noProof="0" dirty="0">
                        <a:solidFill>
                          <a:schemeClr val="accent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lumMod val="95000"/>
                      </a:schemeClr>
                    </a:solidFill>
                  </a:tcPr>
                </a:tc>
                <a:tc vMerge="1">
                  <a:txBody>
                    <a:bodyPr/>
                    <a:lstStyle/>
                    <a:p>
                      <a:endParaRPr lang="en-US"/>
                    </a:p>
                  </a:txBody>
                  <a:tcPr/>
                </a:tc>
                <a:extLst>
                  <a:ext uri="{0D108BD9-81ED-4DB2-BD59-A6C34878D82A}">
                    <a16:rowId xmlns:a16="http://schemas.microsoft.com/office/drawing/2014/main" val="1163892829"/>
                  </a:ext>
                </a:extLst>
              </a:tr>
              <a:tr h="0">
                <a:tc vMerge="1">
                  <a:txBody>
                    <a:bodyPr/>
                    <a:lstStyle/>
                    <a:p>
                      <a:endParaRPr lang="en-US"/>
                    </a:p>
                  </a:txBody>
                  <a:tcPr/>
                </a:tc>
                <a:tc vMerge="1">
                  <a:txBody>
                    <a:bodyPr/>
                    <a:lstStyle/>
                    <a:p>
                      <a:endParaRPr lang="en-US"/>
                    </a:p>
                  </a:txBody>
                  <a:tcPr/>
                </a:tc>
                <a:tc vMerge="1">
                  <a:txBody>
                    <a:bodyPr/>
                    <a:lstStyle/>
                    <a:p>
                      <a:endParaRPr lang="en-US"/>
                    </a:p>
                  </a:txBody>
                  <a:tcPr/>
                </a:tc>
                <a:tc>
                  <a:txBody>
                    <a:bodyPr/>
                    <a:lstStyle/>
                    <a:p>
                      <a:pPr marL="0" marR="0" lvl="0" indent="0" algn="just" defTabSz="914400" rtl="1" eaLnBrk="1" fontAlgn="auto" latinLnBrk="0" hangingPunct="1">
                        <a:lnSpc>
                          <a:spcPct val="100000"/>
                        </a:lnSpc>
                        <a:spcBef>
                          <a:spcPts val="0"/>
                        </a:spcBef>
                        <a:spcAft>
                          <a:spcPts val="0"/>
                        </a:spcAft>
                        <a:buClrTx/>
                        <a:buSzTx/>
                        <a:buFont typeface="Arial" panose="020B0604020202020204" pitchFamily="34" charset="0"/>
                        <a:buNone/>
                        <a:tabLst/>
                        <a:defRPr/>
                      </a:pPr>
                      <a:r>
                        <a:rPr lang="ar-SA" sz="1200" kern="1200" noProof="0" dirty="0">
                          <a:solidFill>
                            <a:schemeClr val="dk1"/>
                          </a:solidFill>
                          <a:effectLst/>
                          <a:latin typeface="+mn-lt"/>
                          <a:ea typeface="+mn-ea"/>
                          <a:cs typeface="+mn-cs"/>
                        </a:rPr>
                        <a:t>تفعيل خاصية الاعتماد الإلكتروني في كافة الخدمات التي تستهدف تفعيل الاعتماد الإلكتروني</a:t>
                      </a:r>
                      <a:endParaRPr lang="ar-SA" sz="1200" noProof="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marL="0" marR="0" lvl="0" indent="0" algn="ctr" defTabSz="914400" rtl="1" eaLnBrk="1" fontAlgn="auto" latinLnBrk="0" hangingPunct="1">
                        <a:lnSpc>
                          <a:spcPct val="100000"/>
                        </a:lnSpc>
                        <a:spcBef>
                          <a:spcPts val="0"/>
                        </a:spcBef>
                        <a:spcAft>
                          <a:spcPts val="0"/>
                        </a:spcAft>
                        <a:buClrTx/>
                        <a:buSzTx/>
                        <a:buFont typeface="Arial" panose="020B0604020202020204" pitchFamily="34" charset="0"/>
                        <a:buNone/>
                        <a:tabLst/>
                        <a:defRPr/>
                      </a:pPr>
                      <a:r>
                        <a:rPr lang="ar-SA" sz="1400" b="1" noProof="0" dirty="0">
                          <a:solidFill>
                            <a:schemeClr val="accent1"/>
                          </a:solidFill>
                        </a:rPr>
                        <a:t>الأثر بعد الردم (المعالجة)</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lumMod val="95000"/>
                      </a:schemeClr>
                    </a:solidFill>
                  </a:tcPr>
                </a:tc>
                <a:tc vMerge="1">
                  <a:txBody>
                    <a:bodyPr/>
                    <a:lstStyle/>
                    <a:p>
                      <a:endParaRPr lang="en-US"/>
                    </a:p>
                  </a:txBody>
                  <a:tcPr/>
                </a:tc>
                <a:extLst>
                  <a:ext uri="{0D108BD9-81ED-4DB2-BD59-A6C34878D82A}">
                    <a16:rowId xmlns:a16="http://schemas.microsoft.com/office/drawing/2014/main" val="1973569126"/>
                  </a:ext>
                </a:extLst>
              </a:tr>
              <a:tr h="0">
                <a:tc vMerge="1">
                  <a:txBody>
                    <a:bodyPr/>
                    <a:lstStyle/>
                    <a:p>
                      <a:endParaRPr lang="en-US"/>
                    </a:p>
                  </a:txBody>
                  <a:tcPr/>
                </a:tc>
                <a:tc vMerge="1">
                  <a:txBody>
                    <a:bodyPr/>
                    <a:lstStyle/>
                    <a:p>
                      <a:endParaRPr lang="en-US"/>
                    </a:p>
                  </a:txBody>
                  <a:tcPr/>
                </a:tc>
                <a:tc vMerge="1">
                  <a:txBody>
                    <a:bodyPr/>
                    <a:lstStyle/>
                    <a:p>
                      <a:endParaRPr lang="en-US"/>
                    </a:p>
                  </a:txBody>
                  <a:tcPr/>
                </a:tc>
                <a:tc>
                  <a:txBody>
                    <a:bodyPr/>
                    <a:lstStyle/>
                    <a:p>
                      <a:pPr marL="0" marR="0" lvl="0" indent="0" algn="just" defTabSz="914400" rtl="1" eaLnBrk="1" fontAlgn="auto" latinLnBrk="0" hangingPunct="1">
                        <a:lnSpc>
                          <a:spcPct val="100000"/>
                        </a:lnSpc>
                        <a:spcBef>
                          <a:spcPts val="0"/>
                        </a:spcBef>
                        <a:spcAft>
                          <a:spcPts val="0"/>
                        </a:spcAft>
                        <a:buClrTx/>
                        <a:buSzTx/>
                        <a:buFont typeface="Arial" panose="020B0604020202020204" pitchFamily="34" charset="0"/>
                        <a:buNone/>
                        <a:tabLst/>
                        <a:defRPr/>
                      </a:pPr>
                      <a:r>
                        <a:rPr lang="ar-SA" sz="1200" kern="1200" noProof="0" dirty="0">
                          <a:solidFill>
                            <a:schemeClr val="dk1"/>
                          </a:solidFill>
                          <a:effectLst/>
                          <a:latin typeface="+mn-lt"/>
                          <a:ea typeface="+mn-ea"/>
                          <a:cs typeface="+mn-cs"/>
                        </a:rPr>
                        <a:t>تمكين خاصية الاعتماد الإلكتروني في الخدمات (التوقيع الإلكتروني ، الباركود)</a:t>
                      </a:r>
                      <a:endParaRPr lang="ar-SA" sz="1200" noProof="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marL="0" marR="0" lvl="0" indent="0" algn="ctr" defTabSz="914400" rtl="1" eaLnBrk="1" fontAlgn="auto" latinLnBrk="0" hangingPunct="1">
                        <a:lnSpc>
                          <a:spcPct val="100000"/>
                        </a:lnSpc>
                        <a:spcBef>
                          <a:spcPts val="0"/>
                        </a:spcBef>
                        <a:spcAft>
                          <a:spcPts val="0"/>
                        </a:spcAft>
                        <a:buClrTx/>
                        <a:buSzTx/>
                        <a:buFont typeface="Arial" panose="020B0604020202020204" pitchFamily="34" charset="0"/>
                        <a:buNone/>
                        <a:tabLst/>
                        <a:defRPr/>
                      </a:pPr>
                      <a:r>
                        <a:rPr lang="ar-SA" sz="1400" b="1" noProof="0" dirty="0">
                          <a:solidFill>
                            <a:schemeClr val="accent1"/>
                          </a:solidFill>
                        </a:rPr>
                        <a:t>تغطية الفجوة </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accent1"/>
                      </a:solidFill>
                      <a:prstDash val="solid"/>
                      <a:round/>
                      <a:headEnd type="none" w="med" len="med"/>
                      <a:tailEnd type="none" w="med" len="med"/>
                    </a:lnB>
                    <a:solidFill>
                      <a:schemeClr val="bg1">
                        <a:lumMod val="95000"/>
                      </a:schemeClr>
                    </a:solidFill>
                  </a:tcPr>
                </a:tc>
                <a:tc vMerge="1">
                  <a:txBody>
                    <a:bodyPr/>
                    <a:lstStyle/>
                    <a:p>
                      <a:endParaRPr lang="en-US"/>
                    </a:p>
                  </a:txBody>
                  <a:tcPr/>
                </a:tc>
                <a:extLst>
                  <a:ext uri="{0D108BD9-81ED-4DB2-BD59-A6C34878D82A}">
                    <a16:rowId xmlns:a16="http://schemas.microsoft.com/office/drawing/2014/main" val="4011636746"/>
                  </a:ext>
                </a:extLst>
              </a:tr>
              <a:tr h="0">
                <a:tc rowSpan="4">
                  <a:txBody>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lang="ar-SA" sz="1400" noProof="0" dirty="0"/>
                        <a:t>ملف حصر الأعمال ، دراسة وثائق الأعمال للجهة المتوفرة بالوضع الحالي ، ورش العمل لحصر الأعمال مع الوحدات الإدارية المعنية ،تطلعات أصحاب المصلحة</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rowSpan="4">
                  <a:txBody>
                    <a:bodyPr/>
                    <a:lstStyle/>
                    <a:p>
                      <a:pPr marL="0" marR="0" lvl="0" indent="0" algn="ctr" defTabSz="914400" rtl="1" eaLnBrk="1" fontAlgn="auto" latinLnBrk="0" hangingPunct="1">
                        <a:lnSpc>
                          <a:spcPct val="100000"/>
                        </a:lnSpc>
                        <a:spcBef>
                          <a:spcPts val="0"/>
                        </a:spcBef>
                        <a:spcAft>
                          <a:spcPts val="0"/>
                        </a:spcAft>
                        <a:buClrTx/>
                        <a:buSzTx/>
                        <a:buFont typeface="Arial" panose="020B0604020202020204" pitchFamily="34" charset="0"/>
                        <a:buNone/>
                        <a:tabLst/>
                        <a:defRPr/>
                      </a:pPr>
                      <a:r>
                        <a:rPr kumimoji="0" lang="ar-SA" sz="1400" b="0" i="0" u="none" strike="noStrike" kern="1200" cap="none" spc="0" normalizeH="0" baseline="0" noProof="0" dirty="0">
                          <a:ln>
                            <a:noFill/>
                          </a:ln>
                          <a:solidFill>
                            <a:prstClr val="black"/>
                          </a:solidFill>
                          <a:effectLst/>
                          <a:uLnTx/>
                          <a:uFillTx/>
                          <a:latin typeface="Sakkal Majalla"/>
                          <a:ea typeface="+mn-ea"/>
                          <a:cs typeface="Sakkal Majalla"/>
                        </a:rPr>
                        <a:t>متوسط</a:t>
                      </a:r>
                      <a:endParaRPr lang="ar-SA" sz="1400" noProof="0" dirty="0"/>
                    </a:p>
                  </a:txBody>
                  <a:tcPr anchor="ctr">
                    <a:lnL w="12700" cap="flat" cmpd="sng" algn="ctr">
                      <a:no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solidFill>
                      <a:schemeClr val="bg1">
                        <a:lumMod val="85000"/>
                        <a:alpha val="5000"/>
                      </a:schemeClr>
                    </a:solidFill>
                  </a:tcPr>
                </a:tc>
                <a:tc rowSpan="4">
                  <a:txBody>
                    <a:bodyPr/>
                    <a:lstStyle/>
                    <a:p>
                      <a:pPr marL="0" marR="0" lvl="0" indent="0" algn="ctr" defTabSz="914400" rtl="1" eaLnBrk="1" fontAlgn="auto" latinLnBrk="0" hangingPunct="1">
                        <a:lnSpc>
                          <a:spcPct val="100000"/>
                        </a:lnSpc>
                        <a:spcBef>
                          <a:spcPts val="0"/>
                        </a:spcBef>
                        <a:spcAft>
                          <a:spcPts val="0"/>
                        </a:spcAft>
                        <a:buClrTx/>
                        <a:buSzTx/>
                        <a:buFont typeface="Arial" panose="020B0604020202020204" pitchFamily="34" charset="0"/>
                        <a:buNone/>
                        <a:tabLst/>
                        <a:defRPr/>
                      </a:pPr>
                      <a:r>
                        <a:rPr kumimoji="0" lang="ar-SA" sz="1400" b="0" i="0" u="none" strike="noStrike" kern="1200" cap="none" spc="0" normalizeH="0" baseline="0" noProof="0" dirty="0">
                          <a:ln>
                            <a:noFill/>
                          </a:ln>
                          <a:solidFill>
                            <a:prstClr val="black"/>
                          </a:solidFill>
                          <a:effectLst/>
                          <a:uLnTx/>
                          <a:uFillTx/>
                          <a:latin typeface="Sakkal Majalla"/>
                          <a:ea typeface="+mn-ea"/>
                          <a:cs typeface="Sakkal Majalla"/>
                        </a:rPr>
                        <a:t>متوسط</a:t>
                      </a:r>
                      <a:endParaRPr lang="ar-SA" sz="1400" noProof="0" dirty="0"/>
                    </a:p>
                  </a:txBody>
                  <a:tcPr anchor="ctr">
                    <a:lnL w="12700" cap="flat" cmpd="sng" algn="ctr">
                      <a:solidFill>
                        <a:schemeClr val="bg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solidFill>
                      <a:schemeClr val="bg1">
                        <a:lumMod val="85000"/>
                        <a:alpha val="5000"/>
                      </a:schemeClr>
                    </a:solidFill>
                  </a:tcPr>
                </a:tc>
                <a:tc>
                  <a:txBody>
                    <a:bodyPr/>
                    <a:lstStyle/>
                    <a:p>
                      <a:pPr marL="0" marR="0" lvl="0" indent="0" algn="just" defTabSz="914400" rtl="1" eaLnBrk="1" fontAlgn="auto" latinLnBrk="0" hangingPunct="1">
                        <a:lnSpc>
                          <a:spcPct val="100000"/>
                        </a:lnSpc>
                        <a:spcBef>
                          <a:spcPts val="0"/>
                        </a:spcBef>
                        <a:spcAft>
                          <a:spcPts val="0"/>
                        </a:spcAft>
                        <a:buClrTx/>
                        <a:buSzTx/>
                        <a:buFont typeface="Arial" panose="020B0604020202020204" pitchFamily="34" charset="0"/>
                        <a:buNone/>
                        <a:tabLst/>
                        <a:defRPr/>
                      </a:pPr>
                      <a:r>
                        <a:rPr lang="ar-SA" sz="1200" kern="1200" noProof="0" dirty="0">
                          <a:solidFill>
                            <a:schemeClr val="dk1"/>
                          </a:solidFill>
                          <a:effectLst/>
                          <a:latin typeface="+mn-lt"/>
                          <a:ea typeface="+mn-ea"/>
                          <a:cs typeface="+mn-cs"/>
                        </a:rPr>
                        <a:t>عدم إمكانية تتبع حالة الطلب في بعض الخدمات ، وذلك نظراً لاستخدام الوسائل التقليدية مثل ملفات الأكسل ، </a:t>
                      </a:r>
                      <a:r>
                        <a:rPr lang="ar-SA" sz="1200" noProof="0" dirty="0">
                          <a:latin typeface="Sakkal Majalla" panose="02000000000000000000" pitchFamily="2" charset="-78"/>
                          <a:cs typeface="Sakkal Majalla" panose="02000000000000000000" pitchFamily="2" charset="-78"/>
                        </a:rPr>
                        <a:t>الحاجة الى توحيد طريقة إرسال الإشعارات لكل الأنظمة والمنصات</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marL="0" marR="0" lvl="0" indent="0" algn="ctr" defTabSz="914400" rtl="1" eaLnBrk="1" fontAlgn="auto" latinLnBrk="0" hangingPunct="1">
                        <a:lnSpc>
                          <a:spcPct val="100000"/>
                        </a:lnSpc>
                        <a:spcBef>
                          <a:spcPts val="0"/>
                        </a:spcBef>
                        <a:spcAft>
                          <a:spcPts val="0"/>
                        </a:spcAft>
                        <a:buClrTx/>
                        <a:buSzTx/>
                        <a:buFont typeface="Arial" panose="020B0604020202020204" pitchFamily="34" charset="0"/>
                        <a:buNone/>
                        <a:tabLst/>
                        <a:defRPr/>
                      </a:pPr>
                      <a:r>
                        <a:rPr lang="ar-SA" sz="1400" b="1" noProof="0" dirty="0">
                          <a:solidFill>
                            <a:schemeClr val="accent1"/>
                          </a:solidFill>
                        </a:rPr>
                        <a:t>الوصف</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lumMod val="95000"/>
                      </a:schemeClr>
                    </a:solidFill>
                  </a:tcPr>
                </a:tc>
                <a:tc rowSpan="4">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ar-SA" sz="1600" b="1" u="none" strike="noStrike" kern="1200" cap="none" spc="0" normalizeH="0" baseline="0" noProof="0" dirty="0">
                          <a:ln>
                            <a:noFill/>
                          </a:ln>
                          <a:effectLst/>
                          <a:uLnTx/>
                          <a:uFillTx/>
                        </a:rPr>
                        <a:t>GAP-B-04</a:t>
                      </a:r>
                    </a:p>
                    <a:p>
                      <a:pPr marL="0" marR="0" lvl="0" indent="0" algn="r" defTabSz="914400" rtl="1" eaLnBrk="1" fontAlgn="auto" latinLnBrk="0" hangingPunct="1">
                        <a:lnSpc>
                          <a:spcPct val="100000"/>
                        </a:lnSpc>
                        <a:spcBef>
                          <a:spcPts val="0"/>
                        </a:spcBef>
                        <a:spcAft>
                          <a:spcPts val="0"/>
                        </a:spcAft>
                        <a:buClrTx/>
                        <a:buSzTx/>
                        <a:buFontTx/>
                        <a:buNone/>
                        <a:tabLst/>
                        <a:defRPr/>
                      </a:pPr>
                      <a:r>
                        <a:rPr lang="ar-SA" sz="1400" b="1" kern="1200" noProof="0" dirty="0">
                          <a:effectLst/>
                        </a:rPr>
                        <a:t>الحاجة إلى تمكين تتبع حالة الطلبات في بعض الخدمات و </a:t>
                      </a:r>
                      <a:r>
                        <a:rPr lang="ar-SA" sz="1400" b="1" kern="1200" noProof="0" dirty="0">
                          <a:solidFill>
                            <a:schemeClr val="tx1"/>
                          </a:solidFill>
                          <a:effectLst/>
                          <a:latin typeface="+mn-lt"/>
                          <a:ea typeface="+mn-ea"/>
                          <a:cs typeface="+mn-cs"/>
                        </a:rPr>
                        <a:t>توحيد طريقة إرسال الإشعارات </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extLst>
                  <a:ext uri="{0D108BD9-81ED-4DB2-BD59-A6C34878D82A}">
                    <a16:rowId xmlns:a16="http://schemas.microsoft.com/office/drawing/2014/main" val="1136131386"/>
                  </a:ext>
                </a:extLst>
              </a:tr>
              <a:tr h="0">
                <a:tc vMerge="1">
                  <a:txBody>
                    <a:bodyPr/>
                    <a:lstStyle/>
                    <a:p>
                      <a:pPr marL="0" marR="0" lvl="0" indent="0" algn="r" defTabSz="914400" rtl="1" eaLnBrk="1" fontAlgn="auto" latinLnBrk="0" hangingPunct="1">
                        <a:lnSpc>
                          <a:spcPct val="100000"/>
                        </a:lnSpc>
                        <a:spcBef>
                          <a:spcPts val="0"/>
                        </a:spcBef>
                        <a:spcAft>
                          <a:spcPts val="0"/>
                        </a:spcAft>
                        <a:buClrTx/>
                        <a:buSzTx/>
                        <a:buFontTx/>
                        <a:buNone/>
                        <a:tabLst/>
                        <a:defRPr/>
                      </a:pPr>
                      <a:endParaRPr lang="en-GB" sz="1400" noProof="0" dirty="0"/>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vMerge="1">
                  <a:txBody>
                    <a:bodyPr/>
                    <a:lstStyle/>
                    <a:p>
                      <a:endParaRPr lang="en-US"/>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vMerge="1">
                  <a:txBody>
                    <a:bodyPr/>
                    <a:lstStyle/>
                    <a:p>
                      <a:endParaRPr lang="en-US"/>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marL="0" marR="0" lvl="0" indent="0" algn="just" defTabSz="914400" rtl="1" eaLnBrk="1" fontAlgn="auto" latinLnBrk="0" hangingPunct="1">
                        <a:lnSpc>
                          <a:spcPct val="100000"/>
                        </a:lnSpc>
                        <a:spcBef>
                          <a:spcPts val="0"/>
                        </a:spcBef>
                        <a:spcAft>
                          <a:spcPts val="0"/>
                        </a:spcAft>
                        <a:buClrTx/>
                        <a:buSzTx/>
                        <a:buFont typeface="Arial" panose="020B0604020202020204" pitchFamily="34" charset="0"/>
                        <a:buNone/>
                        <a:tabLst/>
                        <a:defRPr/>
                      </a:pPr>
                      <a:r>
                        <a:rPr lang="ar-SA" sz="1200" noProof="0" dirty="0"/>
                        <a:t>عدم إمكانية تتبع الطلب أو المعاملة ومعرفة حالتها بالضبط ، مع عدم إمكانية اتخاذ الإجراء المناسب في الوقت المناسب</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marL="0" marR="0" lvl="0" indent="0" algn="ctr" defTabSz="914400" rtl="1" eaLnBrk="1" fontAlgn="auto" latinLnBrk="0" hangingPunct="1">
                        <a:lnSpc>
                          <a:spcPct val="100000"/>
                        </a:lnSpc>
                        <a:spcBef>
                          <a:spcPts val="0"/>
                        </a:spcBef>
                        <a:spcAft>
                          <a:spcPts val="0"/>
                        </a:spcAft>
                        <a:buClrTx/>
                        <a:buSzTx/>
                        <a:buFont typeface="Arial" panose="020B0604020202020204" pitchFamily="34" charset="0"/>
                        <a:buNone/>
                        <a:tabLst/>
                        <a:defRPr/>
                      </a:pPr>
                      <a:r>
                        <a:rPr lang="ar-SA" sz="1400" b="1" kern="1200" noProof="0" dirty="0">
                          <a:solidFill>
                            <a:schemeClr val="accent1"/>
                          </a:solidFill>
                        </a:rPr>
                        <a:t>الأثر الحالي</a:t>
                      </a:r>
                      <a:endParaRPr lang="ar-SA" sz="1400" b="1" noProof="0" dirty="0">
                        <a:solidFill>
                          <a:schemeClr val="accent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lumMod val="95000"/>
                      </a:schemeClr>
                    </a:solidFill>
                  </a:tcPr>
                </a:tc>
                <a:tc vMerge="1">
                  <a:txBody>
                    <a:bodyPr/>
                    <a:lstStyle/>
                    <a:p>
                      <a:pPr marL="0" marR="0" lvl="0" indent="0" algn="r" defTabSz="914400" rtl="1" eaLnBrk="1" fontAlgn="auto" latinLnBrk="0" hangingPunct="1">
                        <a:lnSpc>
                          <a:spcPct val="100000"/>
                        </a:lnSpc>
                        <a:spcBef>
                          <a:spcPts val="0"/>
                        </a:spcBef>
                        <a:spcAft>
                          <a:spcPts val="0"/>
                        </a:spcAft>
                        <a:buClrTx/>
                        <a:buSzTx/>
                        <a:buFontTx/>
                        <a:buNone/>
                        <a:tabLst/>
                        <a:defRPr/>
                      </a:pPr>
                      <a:endParaRPr lang="en-GB" sz="1400" b="1" noProof="0" dirty="0"/>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extLst>
                  <a:ext uri="{0D108BD9-81ED-4DB2-BD59-A6C34878D82A}">
                    <a16:rowId xmlns:a16="http://schemas.microsoft.com/office/drawing/2014/main" val="918118369"/>
                  </a:ext>
                </a:extLst>
              </a:tr>
              <a:tr h="0">
                <a:tc vMerge="1">
                  <a:txBody>
                    <a:bodyPr/>
                    <a:lstStyle/>
                    <a:p>
                      <a:pPr marL="0" marR="0" lvl="0" indent="0" algn="r" defTabSz="914400" rtl="1" eaLnBrk="1" fontAlgn="auto" latinLnBrk="0" hangingPunct="1">
                        <a:lnSpc>
                          <a:spcPct val="100000"/>
                        </a:lnSpc>
                        <a:spcBef>
                          <a:spcPts val="0"/>
                        </a:spcBef>
                        <a:spcAft>
                          <a:spcPts val="0"/>
                        </a:spcAft>
                        <a:buClrTx/>
                        <a:buSzTx/>
                        <a:buFontTx/>
                        <a:buNone/>
                        <a:tabLst/>
                        <a:defRPr/>
                      </a:pPr>
                      <a:endParaRPr lang="en-GB" sz="1400" noProof="0" dirty="0"/>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vMerge="1">
                  <a:txBody>
                    <a:bodyPr/>
                    <a:lstStyle/>
                    <a:p>
                      <a:endParaRPr lang="en-US"/>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vMerge="1">
                  <a:txBody>
                    <a:bodyPr/>
                    <a:lstStyle/>
                    <a:p>
                      <a:endParaRPr lang="en-US"/>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marL="0" marR="0" lvl="0" indent="0" algn="just" defTabSz="914400" rtl="1" eaLnBrk="1" fontAlgn="auto" latinLnBrk="0" hangingPunct="1">
                        <a:lnSpc>
                          <a:spcPct val="100000"/>
                        </a:lnSpc>
                        <a:spcBef>
                          <a:spcPts val="0"/>
                        </a:spcBef>
                        <a:spcAft>
                          <a:spcPts val="0"/>
                        </a:spcAft>
                        <a:buClrTx/>
                        <a:buSzTx/>
                        <a:buFont typeface="Arial" panose="020B0604020202020204" pitchFamily="34" charset="0"/>
                        <a:buNone/>
                        <a:tabLst/>
                        <a:defRPr/>
                      </a:pPr>
                      <a:r>
                        <a:rPr lang="ar-SA" sz="1200" noProof="0" dirty="0"/>
                        <a:t>إمكانية تتبع الطلب أو المعاملة ومعرفة حالتها بالضبط ، مع إمكانية اتخاذ الإجراء المناسب في الوقت المناسب</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marL="0" marR="0" lvl="0" indent="0" algn="ctr" defTabSz="914400" rtl="1" eaLnBrk="1" fontAlgn="auto" latinLnBrk="0" hangingPunct="1">
                        <a:lnSpc>
                          <a:spcPct val="100000"/>
                        </a:lnSpc>
                        <a:spcBef>
                          <a:spcPts val="0"/>
                        </a:spcBef>
                        <a:spcAft>
                          <a:spcPts val="0"/>
                        </a:spcAft>
                        <a:buClrTx/>
                        <a:buSzTx/>
                        <a:buFont typeface="Arial" panose="020B0604020202020204" pitchFamily="34" charset="0"/>
                        <a:buNone/>
                        <a:tabLst/>
                        <a:defRPr/>
                      </a:pPr>
                      <a:r>
                        <a:rPr lang="ar-SA" sz="1400" b="1" noProof="0" dirty="0">
                          <a:solidFill>
                            <a:schemeClr val="accent1"/>
                          </a:solidFill>
                        </a:rPr>
                        <a:t>الأثر بعد الردم (المعالجة)</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lumMod val="95000"/>
                      </a:schemeClr>
                    </a:solidFill>
                  </a:tcPr>
                </a:tc>
                <a:tc vMerge="1">
                  <a:txBody>
                    <a:bodyPr/>
                    <a:lstStyle/>
                    <a:p>
                      <a:pPr marL="0" marR="0" lvl="0" indent="0" algn="r" defTabSz="914400" rtl="1" eaLnBrk="1" fontAlgn="auto" latinLnBrk="0" hangingPunct="1">
                        <a:lnSpc>
                          <a:spcPct val="100000"/>
                        </a:lnSpc>
                        <a:spcBef>
                          <a:spcPts val="0"/>
                        </a:spcBef>
                        <a:spcAft>
                          <a:spcPts val="0"/>
                        </a:spcAft>
                        <a:buClrTx/>
                        <a:buSzTx/>
                        <a:buFontTx/>
                        <a:buNone/>
                        <a:tabLst/>
                        <a:defRPr/>
                      </a:pPr>
                      <a:endParaRPr lang="en-GB" sz="1400" b="1" noProof="0" dirty="0"/>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extLst>
                  <a:ext uri="{0D108BD9-81ED-4DB2-BD59-A6C34878D82A}">
                    <a16:rowId xmlns:a16="http://schemas.microsoft.com/office/drawing/2014/main" val="4153014111"/>
                  </a:ext>
                </a:extLst>
              </a:tr>
              <a:tr h="0">
                <a:tc vMerge="1">
                  <a:txBody>
                    <a:bodyPr/>
                    <a:lstStyle/>
                    <a:p>
                      <a:pPr marL="0" marR="0" lvl="0" indent="0" algn="r" defTabSz="914400" rtl="1" eaLnBrk="1" fontAlgn="auto" latinLnBrk="0" hangingPunct="1">
                        <a:lnSpc>
                          <a:spcPct val="100000"/>
                        </a:lnSpc>
                        <a:spcBef>
                          <a:spcPts val="0"/>
                        </a:spcBef>
                        <a:spcAft>
                          <a:spcPts val="0"/>
                        </a:spcAft>
                        <a:buClrTx/>
                        <a:buSzTx/>
                        <a:buFontTx/>
                        <a:buNone/>
                        <a:tabLst/>
                        <a:defRPr/>
                      </a:pPr>
                      <a:endParaRPr lang="en-GB" sz="1400" noProof="0" dirty="0"/>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vMerge="1">
                  <a:txBody>
                    <a:bodyPr/>
                    <a:lstStyle/>
                    <a:p>
                      <a:endParaRPr lang="en-US"/>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vMerge="1">
                  <a:txBody>
                    <a:bodyPr/>
                    <a:lstStyle/>
                    <a:p>
                      <a:endParaRPr lang="en-US"/>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marL="0" marR="0" lvl="0" indent="0" algn="just" defTabSz="914400" rtl="1" eaLnBrk="1" fontAlgn="auto" latinLnBrk="0" hangingPunct="1">
                        <a:lnSpc>
                          <a:spcPct val="100000"/>
                        </a:lnSpc>
                        <a:spcBef>
                          <a:spcPts val="0"/>
                        </a:spcBef>
                        <a:spcAft>
                          <a:spcPts val="0"/>
                        </a:spcAft>
                        <a:buClrTx/>
                        <a:buSzTx/>
                        <a:buFont typeface="Arial" panose="020B0604020202020204" pitchFamily="34" charset="0"/>
                        <a:buNone/>
                        <a:tabLst/>
                        <a:defRPr/>
                      </a:pPr>
                      <a:r>
                        <a:rPr lang="ar-SA" sz="1200" kern="1200" noProof="0" dirty="0">
                          <a:solidFill>
                            <a:schemeClr val="dk1"/>
                          </a:solidFill>
                          <a:effectLst/>
                          <a:latin typeface="+mn-lt"/>
                          <a:ea typeface="+mn-ea"/>
                          <a:cs typeface="+mn-cs"/>
                        </a:rPr>
                        <a:t>تفعيل إمكانية تتبع حالة الطلب في الخدمات بشكل إلكتروني بالإضافة إلى إرسال الإشعارات المختلفة سوء لمقدم الطلب أو المستفيد أو الموظف (تنبيه في البروفايل في المنصة مثلاً ، رسائل قصيرة ، بريد إلكتروني) ، مع </a:t>
                      </a:r>
                      <a:r>
                        <a:rPr lang="ar-SA" sz="1200" noProof="0" dirty="0">
                          <a:latin typeface="Sakkal Majalla" panose="02000000000000000000" pitchFamily="2" charset="-78"/>
                          <a:cs typeface="Sakkal Majalla" panose="02000000000000000000" pitchFamily="2" charset="-78"/>
                        </a:rPr>
                        <a:t>توحيد طريقة إرسال الإشعارات </a:t>
                      </a:r>
                      <a:endParaRPr lang="ar-SA" sz="1200" noProof="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marL="0" marR="0" lvl="0" indent="0" algn="ctr" defTabSz="914400" rtl="1" eaLnBrk="1" fontAlgn="auto" latinLnBrk="0" hangingPunct="1">
                        <a:lnSpc>
                          <a:spcPct val="100000"/>
                        </a:lnSpc>
                        <a:spcBef>
                          <a:spcPts val="0"/>
                        </a:spcBef>
                        <a:spcAft>
                          <a:spcPts val="0"/>
                        </a:spcAft>
                        <a:buClrTx/>
                        <a:buSzTx/>
                        <a:buFont typeface="Arial" panose="020B0604020202020204" pitchFamily="34" charset="0"/>
                        <a:buNone/>
                        <a:tabLst/>
                        <a:defRPr/>
                      </a:pPr>
                      <a:r>
                        <a:rPr lang="ar-SA" sz="1400" b="1" noProof="0" dirty="0">
                          <a:solidFill>
                            <a:schemeClr val="accent1"/>
                          </a:solidFill>
                        </a:rPr>
                        <a:t>تغطية الفجوة </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accent1"/>
                      </a:solidFill>
                      <a:prstDash val="solid"/>
                      <a:round/>
                      <a:headEnd type="none" w="med" len="med"/>
                      <a:tailEnd type="none" w="med" len="med"/>
                    </a:lnB>
                    <a:solidFill>
                      <a:schemeClr val="bg1">
                        <a:lumMod val="95000"/>
                      </a:schemeClr>
                    </a:solidFill>
                  </a:tcPr>
                </a:tc>
                <a:tc vMerge="1">
                  <a:txBody>
                    <a:bodyPr/>
                    <a:lstStyle/>
                    <a:p>
                      <a:pPr marL="0" marR="0" lvl="0" indent="0" algn="r" defTabSz="914400" rtl="1" eaLnBrk="1" fontAlgn="auto" latinLnBrk="0" hangingPunct="1">
                        <a:lnSpc>
                          <a:spcPct val="100000"/>
                        </a:lnSpc>
                        <a:spcBef>
                          <a:spcPts val="0"/>
                        </a:spcBef>
                        <a:spcAft>
                          <a:spcPts val="0"/>
                        </a:spcAft>
                        <a:buClrTx/>
                        <a:buSzTx/>
                        <a:buFontTx/>
                        <a:buNone/>
                        <a:tabLst/>
                        <a:defRPr/>
                      </a:pPr>
                      <a:endParaRPr lang="en-GB" sz="1400" b="1" noProof="0" dirty="0"/>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extLst>
                  <a:ext uri="{0D108BD9-81ED-4DB2-BD59-A6C34878D82A}">
                    <a16:rowId xmlns:a16="http://schemas.microsoft.com/office/drawing/2014/main" val="1035545327"/>
                  </a:ext>
                </a:extLst>
              </a:tr>
            </a:tbl>
          </a:graphicData>
        </a:graphic>
      </p:graphicFrame>
      <p:sp>
        <p:nvSpPr>
          <p:cNvPr id="8" name="Title 5">
            <a:extLst>
              <a:ext uri="{FF2B5EF4-FFF2-40B4-BE49-F238E27FC236}">
                <a16:creationId xmlns:a16="http://schemas.microsoft.com/office/drawing/2014/main" id="{06226ED4-3297-49EB-B018-23BB0C964CF2}"/>
              </a:ext>
            </a:extLst>
          </p:cNvPr>
          <p:cNvSpPr>
            <a:spLocks noGrp="1"/>
          </p:cNvSpPr>
          <p:nvPr>
            <p:ph type="title"/>
          </p:nvPr>
        </p:nvSpPr>
        <p:spPr>
          <a:xfrm>
            <a:off x="609601" y="301100"/>
            <a:ext cx="10972800" cy="666261"/>
          </a:xfrm>
        </p:spPr>
        <p:txBody>
          <a:bodyPr/>
          <a:lstStyle/>
          <a:p>
            <a:r>
              <a:rPr lang="ar-SA" noProof="0" dirty="0"/>
              <a:t>ملخص تحليل الفجوات لبنية الأعمال </a:t>
            </a:r>
          </a:p>
        </p:txBody>
      </p:sp>
      <p:sp>
        <p:nvSpPr>
          <p:cNvPr id="9" name="TextBox 8">
            <a:extLst>
              <a:ext uri="{FF2B5EF4-FFF2-40B4-BE49-F238E27FC236}">
                <a16:creationId xmlns:a16="http://schemas.microsoft.com/office/drawing/2014/main" id="{A490C1E4-0539-4BD8-B422-2EEC820A956F}"/>
              </a:ext>
            </a:extLst>
          </p:cNvPr>
          <p:cNvSpPr txBox="1"/>
          <p:nvPr/>
        </p:nvSpPr>
        <p:spPr>
          <a:xfrm>
            <a:off x="609601" y="857760"/>
            <a:ext cx="10972800" cy="375487"/>
          </a:xfrm>
          <a:prstGeom prst="rect">
            <a:avLst/>
          </a:prstGeom>
          <a:noFill/>
        </p:spPr>
        <p:txBody>
          <a:bodyPr wrap="square">
            <a:spAutoFit/>
          </a:bodyPr>
          <a:lstStyle/>
          <a:p>
            <a:pPr algn="r" rtl="1">
              <a:lnSpc>
                <a:spcPct val="115000"/>
              </a:lnSpc>
              <a:spcAft>
                <a:spcPts val="1000"/>
              </a:spcAft>
            </a:pPr>
            <a:r>
              <a:rPr lang="ar-SA" sz="1600" noProof="0" dirty="0">
                <a:solidFill>
                  <a:srgbClr val="000000"/>
                </a:solidFill>
                <a:latin typeface="Sakkal Majalla" panose="02000000000000000000" pitchFamily="2" charset="-78"/>
                <a:ea typeface="Sakkal Majalla" panose="02000000000000000000" pitchFamily="2" charset="-78"/>
                <a:cs typeface="Sakkal Majalla" panose="02000000000000000000" pitchFamily="2" charset="-78"/>
              </a:rPr>
              <a:t>يهدف هذا القسم من الوثيقة إلى تقديم الملاحظات الخاصة بالوضع الحالي لبنية الأعمال مع ذكر التوصيات  والتحسينات المفترض تطبيقها في الوضع المستقبلي</a:t>
            </a:r>
          </a:p>
        </p:txBody>
      </p:sp>
    </p:spTree>
    <p:extLst>
      <p:ext uri="{BB962C8B-B14F-4D97-AF65-F5344CB8AC3E}">
        <p14:creationId xmlns:p14="http://schemas.microsoft.com/office/powerpoint/2010/main" val="31969066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a:xfrm>
            <a:off x="1025277" y="240247"/>
            <a:ext cx="10554349" cy="666261"/>
          </a:xfrm>
        </p:spPr>
        <p:txBody>
          <a:bodyPr/>
          <a:lstStyle/>
          <a:p>
            <a:r>
              <a:rPr lang="ar-SA" noProof="0" dirty="0"/>
              <a:t>ملخص تحليل الفجوات لبنية الأعمال </a:t>
            </a:r>
          </a:p>
        </p:txBody>
      </p:sp>
      <p:sp>
        <p:nvSpPr>
          <p:cNvPr id="3" name="Slide Number Placeholder 2">
            <a:extLst>
              <a:ext uri="{FF2B5EF4-FFF2-40B4-BE49-F238E27FC236}">
                <a16:creationId xmlns:a16="http://schemas.microsoft.com/office/drawing/2014/main" id="{A63A027D-6EA1-E9F6-6212-7D45811B8DC3}"/>
              </a:ext>
            </a:extLst>
          </p:cNvPr>
          <p:cNvSpPr>
            <a:spLocks noGrp="1"/>
          </p:cNvSpPr>
          <p:nvPr>
            <p:ph type="sldNum" sz="quarter" idx="12"/>
          </p:nvPr>
        </p:nvSpPr>
        <p:spPr>
          <a:xfrm>
            <a:off x="655319" y="6567058"/>
            <a:ext cx="457043" cy="290942"/>
          </a:xfrm>
        </p:spPr>
        <p:txBody>
          <a:bodyPr/>
          <a:lstStyle/>
          <a:p>
            <a:fld id="{0BE4EC83-A869-464E-AE9F-881796FB085E}" type="slidenum">
              <a:rPr lang="ar-SA" noProof="0" smtClean="0"/>
              <a:pPr/>
              <a:t>11</a:t>
            </a:fld>
            <a:endParaRPr lang="ar-SA" noProof="0" dirty="0"/>
          </a:p>
        </p:txBody>
      </p:sp>
      <p:graphicFrame>
        <p:nvGraphicFramePr>
          <p:cNvPr id="2" name="Table 1">
            <a:extLst>
              <a:ext uri="{FF2B5EF4-FFF2-40B4-BE49-F238E27FC236}">
                <a16:creationId xmlns:a16="http://schemas.microsoft.com/office/drawing/2014/main" id="{C47CAF5B-4215-4DCE-B225-BC1E66631900}"/>
              </a:ext>
            </a:extLst>
          </p:cNvPr>
          <p:cNvGraphicFramePr>
            <a:graphicFrameLocks noGrp="1"/>
          </p:cNvGraphicFramePr>
          <p:nvPr>
            <p:extLst>
              <p:ext uri="{D42A27DB-BD31-4B8C-83A1-F6EECF244321}">
                <p14:modId xmlns:p14="http://schemas.microsoft.com/office/powerpoint/2010/main" val="112032936"/>
              </p:ext>
            </p:extLst>
          </p:nvPr>
        </p:nvGraphicFramePr>
        <p:xfrm>
          <a:off x="609600" y="939605"/>
          <a:ext cx="10972802" cy="5334000"/>
        </p:xfrm>
        <a:graphic>
          <a:graphicData uri="http://schemas.openxmlformats.org/drawingml/2006/table">
            <a:tbl>
              <a:tblPr firstRow="1" bandRow="1">
                <a:tableStyleId>{2D5ABB26-0587-4C30-8999-92F81FD0307C}</a:tableStyleId>
              </a:tblPr>
              <a:tblGrid>
                <a:gridCol w="1828800">
                  <a:extLst>
                    <a:ext uri="{9D8B030D-6E8A-4147-A177-3AD203B41FA5}">
                      <a16:colId xmlns:a16="http://schemas.microsoft.com/office/drawing/2014/main" val="2801895674"/>
                    </a:ext>
                  </a:extLst>
                </a:gridCol>
                <a:gridCol w="738953">
                  <a:extLst>
                    <a:ext uri="{9D8B030D-6E8A-4147-A177-3AD203B41FA5}">
                      <a16:colId xmlns:a16="http://schemas.microsoft.com/office/drawing/2014/main" val="2976102064"/>
                    </a:ext>
                  </a:extLst>
                </a:gridCol>
                <a:gridCol w="838625">
                  <a:extLst>
                    <a:ext uri="{9D8B030D-6E8A-4147-A177-3AD203B41FA5}">
                      <a16:colId xmlns:a16="http://schemas.microsoft.com/office/drawing/2014/main" val="526736865"/>
                    </a:ext>
                  </a:extLst>
                </a:gridCol>
                <a:gridCol w="3862640">
                  <a:extLst>
                    <a:ext uri="{9D8B030D-6E8A-4147-A177-3AD203B41FA5}">
                      <a16:colId xmlns:a16="http://schemas.microsoft.com/office/drawing/2014/main" val="4106469564"/>
                    </a:ext>
                  </a:extLst>
                </a:gridCol>
                <a:gridCol w="923637">
                  <a:extLst>
                    <a:ext uri="{9D8B030D-6E8A-4147-A177-3AD203B41FA5}">
                      <a16:colId xmlns:a16="http://schemas.microsoft.com/office/drawing/2014/main" val="1154529574"/>
                    </a:ext>
                  </a:extLst>
                </a:gridCol>
                <a:gridCol w="2780147">
                  <a:extLst>
                    <a:ext uri="{9D8B030D-6E8A-4147-A177-3AD203B41FA5}">
                      <a16:colId xmlns:a16="http://schemas.microsoft.com/office/drawing/2014/main" val="1503598667"/>
                    </a:ext>
                  </a:extLst>
                </a:gridCol>
              </a:tblGrid>
              <a:tr h="0">
                <a:tc>
                  <a:txBody>
                    <a:bodyPr/>
                    <a:lstStyle/>
                    <a:p>
                      <a:pPr algn="ctr" rtl="1"/>
                      <a:r>
                        <a:rPr lang="ar-SA" sz="1400" b="1" noProof="0" dirty="0">
                          <a:solidFill>
                            <a:schemeClr val="bg1"/>
                          </a:solidFill>
                        </a:rPr>
                        <a:t>المصدر</a:t>
                      </a:r>
                      <a:endParaRPr lang="ar-SA" sz="1400" b="1" noProof="0" dirty="0">
                        <a:solidFill>
                          <a:schemeClr val="bg1"/>
                        </a:solidFill>
                        <a:latin typeface="+mj-lt"/>
                      </a:endParaRPr>
                    </a:p>
                  </a:txBody>
                  <a:tcPr anchor="ctr">
                    <a:lnL w="12700" cap="flat" cmpd="sng" algn="ctr">
                      <a:noFill/>
                      <a:prstDash val="solid"/>
                      <a:round/>
                      <a:headEnd type="none" w="med" len="med"/>
                      <a:tailEnd type="none" w="med" len="med"/>
                    </a:lnL>
                    <a:lnR w="12700" cap="flat" cmpd="sng" algn="ctr">
                      <a:solidFill>
                        <a:schemeClr val="bg1"/>
                      </a:solidFill>
                      <a:prstDash val="solid"/>
                      <a:round/>
                      <a:headEnd type="none" w="med" len="med"/>
                      <a:tailEnd type="none" w="med" len="med"/>
                    </a:lnR>
                    <a:solidFill>
                      <a:schemeClr val="accent1"/>
                    </a:solidFill>
                  </a:tcPr>
                </a:tc>
                <a:tc>
                  <a: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lang="ar-SA" sz="1400" b="1" noProof="0" dirty="0">
                          <a:solidFill>
                            <a:schemeClr val="bg1"/>
                          </a:solidFill>
                        </a:rPr>
                        <a:t>الأهمية</a:t>
                      </a:r>
                      <a:endParaRPr lang="ar-SA" sz="1400" b="1" noProof="0" dirty="0">
                        <a:solidFill>
                          <a:schemeClr val="bg1"/>
                        </a:solidFill>
                        <a:latin typeface="+mj-lt"/>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solidFill>
                      <a:schemeClr val="accent1"/>
                    </a:solidFill>
                  </a:tcPr>
                </a:tc>
                <a:tc>
                  <a: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lang="ar-SA" sz="1400" b="1" noProof="0" dirty="0">
                          <a:solidFill>
                            <a:schemeClr val="bg1"/>
                          </a:solidFill>
                        </a:rPr>
                        <a:t>الأولوية</a:t>
                      </a:r>
                      <a:endParaRPr lang="ar-SA" sz="1400" b="1" noProof="0" dirty="0">
                        <a:solidFill>
                          <a:schemeClr val="bg1"/>
                        </a:solidFill>
                        <a:latin typeface="+mj-lt"/>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solidFill>
                      <a:schemeClr val="accent1"/>
                    </a:solidFill>
                  </a:tcPr>
                </a:tc>
                <a:tc gridSpan="2">
                  <a: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lang="ar-SA" sz="1400" b="1" noProof="0" dirty="0">
                          <a:solidFill>
                            <a:schemeClr val="bg1"/>
                          </a:solidFill>
                        </a:rPr>
                        <a:t>التحليل لكل فجوة </a:t>
                      </a:r>
                      <a:endParaRPr lang="ar-SA" sz="1400" b="1" noProof="0" dirty="0">
                        <a:solidFill>
                          <a:schemeClr val="bg1"/>
                        </a:solidFill>
                        <a:latin typeface="+mj-lt"/>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solidFill>
                      <a:schemeClr val="accent1"/>
                    </a:solidFill>
                  </a:tcPr>
                </a:tc>
                <a:tc hMerge="1">
                  <a:txBody>
                    <a:bodyPr/>
                    <a:lstStyle/>
                    <a:p>
                      <a:endParaRPr lang="en-US"/>
                    </a:p>
                  </a:txBody>
                  <a:tcPr/>
                </a:tc>
                <a:tc>
                  <a:txBody>
                    <a:bodyPr/>
                    <a:lstStyle/>
                    <a:p>
                      <a:pPr algn="ctr" rtl="1"/>
                      <a:r>
                        <a:rPr lang="ar-SA" sz="1400" b="1" noProof="0" dirty="0">
                          <a:solidFill>
                            <a:schemeClr val="bg1"/>
                          </a:solidFill>
                        </a:rPr>
                        <a:t>الفجوة</a:t>
                      </a:r>
                      <a:endParaRPr lang="ar-SA" sz="1400" b="1" noProof="0" dirty="0">
                        <a:solidFill>
                          <a:schemeClr val="bg1"/>
                        </a:solidFill>
                        <a:latin typeface="+mj-lt"/>
                      </a:endParaRPr>
                    </a:p>
                  </a:txBody>
                  <a:tcPr anchor="ctr">
                    <a:lnL w="12700" cap="flat" cmpd="sng" algn="ctr">
                      <a:solidFill>
                        <a:schemeClr val="bg1"/>
                      </a:solidFill>
                      <a:prstDash val="solid"/>
                      <a:round/>
                      <a:headEnd type="none" w="med" len="med"/>
                      <a:tailEnd type="none" w="med" len="med"/>
                    </a:lnL>
                    <a:lnR w="12700" cap="flat" cmpd="sng" algn="ctr">
                      <a:noFill/>
                      <a:prstDash val="solid"/>
                      <a:round/>
                      <a:headEnd type="none" w="med" len="med"/>
                      <a:tailEnd type="none" w="med" len="med"/>
                    </a:lnR>
                    <a:solidFill>
                      <a:schemeClr val="accent1"/>
                    </a:solidFill>
                  </a:tcPr>
                </a:tc>
                <a:extLst>
                  <a:ext uri="{0D108BD9-81ED-4DB2-BD59-A6C34878D82A}">
                    <a16:rowId xmlns:a16="http://schemas.microsoft.com/office/drawing/2014/main" val="3304685178"/>
                  </a:ext>
                </a:extLst>
              </a:tr>
              <a:tr h="0">
                <a:tc rowSpan="4">
                  <a:txBody>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lang="ar-SA" sz="1400" noProof="0" dirty="0"/>
                        <a:t>ملف حصر الأعمال ، دراسة وثائق الأعمال للجهة المتوفرة بالوضع الحالي ، ورش العمل لحصر الأعمال مع الوحدات الإدارية المعنية ،تطلعات أصحاب المصلحة</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B w="12700" cap="flat" cmpd="sng" algn="ctr">
                      <a:solidFill>
                        <a:schemeClr val="accent1"/>
                      </a:solidFill>
                      <a:prstDash val="solid"/>
                      <a:round/>
                      <a:headEnd type="none" w="med" len="med"/>
                      <a:tailEnd type="none" w="med" len="med"/>
                    </a:lnB>
                  </a:tcPr>
                </a:tc>
                <a:tc rowSpan="4">
                  <a:txBody>
                    <a:bodyPr/>
                    <a:lstStyle/>
                    <a:p>
                      <a:pPr marL="0" marR="0" lvl="0" indent="0" algn="ctr" defTabSz="914400" rtl="1" eaLnBrk="1" fontAlgn="auto" latinLnBrk="0" hangingPunct="1">
                        <a:lnSpc>
                          <a:spcPct val="100000"/>
                        </a:lnSpc>
                        <a:spcBef>
                          <a:spcPts val="0"/>
                        </a:spcBef>
                        <a:spcAft>
                          <a:spcPts val="0"/>
                        </a:spcAft>
                        <a:buClrTx/>
                        <a:buSzTx/>
                        <a:buFont typeface="Arial" panose="020B0604020202020204" pitchFamily="34" charset="0"/>
                        <a:buNone/>
                        <a:tabLst/>
                        <a:defRPr/>
                      </a:pPr>
                      <a:r>
                        <a:rPr lang="ar-SA" sz="1400" noProof="0" dirty="0"/>
                        <a:t>عالي</a:t>
                      </a:r>
                    </a:p>
                  </a:txBody>
                  <a:tcPr anchor="ctr">
                    <a:lnL w="12700" cap="flat" cmpd="sng" algn="ctr">
                      <a:noFill/>
                      <a:prstDash val="solid"/>
                      <a:round/>
                      <a:headEnd type="none" w="med" len="med"/>
                      <a:tailEnd type="none" w="med" len="med"/>
                    </a:lnL>
                    <a:lnR w="12700" cap="flat" cmpd="sng" algn="ctr">
                      <a:solidFill>
                        <a:schemeClr val="bg1"/>
                      </a:solidFill>
                      <a:prstDash val="solid"/>
                      <a:round/>
                      <a:headEnd type="none" w="med" len="med"/>
                      <a:tailEnd type="none" w="med" len="med"/>
                    </a:lnR>
                    <a:lnB w="12700" cap="flat" cmpd="sng" algn="ctr">
                      <a:solidFill>
                        <a:schemeClr val="accent1"/>
                      </a:solidFill>
                      <a:prstDash val="solid"/>
                      <a:round/>
                      <a:headEnd type="none" w="med" len="med"/>
                      <a:tailEnd type="none" w="med" len="med"/>
                    </a:lnB>
                    <a:solidFill>
                      <a:schemeClr val="bg1">
                        <a:lumMod val="95000"/>
                      </a:schemeClr>
                    </a:solidFill>
                  </a:tcPr>
                </a:tc>
                <a:tc rowSpan="4">
                  <a:txBody>
                    <a:bodyPr/>
                    <a:lstStyle/>
                    <a:p>
                      <a:pPr marL="0" marR="0" lvl="0" indent="0" algn="ctr" defTabSz="914400" rtl="1" eaLnBrk="1" fontAlgn="auto" latinLnBrk="0" hangingPunct="1">
                        <a:lnSpc>
                          <a:spcPct val="100000"/>
                        </a:lnSpc>
                        <a:spcBef>
                          <a:spcPts val="0"/>
                        </a:spcBef>
                        <a:spcAft>
                          <a:spcPts val="0"/>
                        </a:spcAft>
                        <a:buClrTx/>
                        <a:buSzTx/>
                        <a:buFont typeface="Arial" panose="020B0604020202020204" pitchFamily="34" charset="0"/>
                        <a:buNone/>
                        <a:tabLst/>
                        <a:defRPr/>
                      </a:pPr>
                      <a:r>
                        <a:rPr lang="ar-SA" sz="1400" noProof="0" dirty="0"/>
                        <a:t>عالي</a:t>
                      </a:r>
                    </a:p>
                  </a:txBody>
                  <a:tcPr anchor="ctr">
                    <a:lnL w="12700" cap="flat" cmpd="sng" algn="ctr">
                      <a:solidFill>
                        <a:schemeClr val="bg1"/>
                      </a:solidFill>
                      <a:prstDash val="solid"/>
                      <a:round/>
                      <a:headEnd type="none" w="med" len="med"/>
                      <a:tailEnd type="none" w="med" len="med"/>
                    </a:lnL>
                    <a:lnR w="12700" cap="flat" cmpd="sng" algn="ctr">
                      <a:noFill/>
                      <a:prstDash val="solid"/>
                      <a:round/>
                      <a:headEnd type="none" w="med" len="med"/>
                      <a:tailEnd type="none" w="med" len="med"/>
                    </a:lnR>
                    <a:lnB w="12700" cap="flat" cmpd="sng" algn="ctr">
                      <a:solidFill>
                        <a:schemeClr val="accent1"/>
                      </a:solidFill>
                      <a:prstDash val="solid"/>
                      <a:round/>
                      <a:headEnd type="none" w="med" len="med"/>
                      <a:tailEnd type="none" w="med" len="med"/>
                    </a:lnB>
                    <a:solidFill>
                      <a:schemeClr val="bg1">
                        <a:lumMod val="95000"/>
                      </a:schemeClr>
                    </a:solidFill>
                  </a:tcPr>
                </a:tc>
                <a:tc>
                  <a:txBody>
                    <a:bodyPr/>
                    <a:lstStyle/>
                    <a:p>
                      <a:pPr marL="0" marR="0" lvl="0" indent="0" algn="just" defTabSz="914400" rtl="1" eaLnBrk="1" fontAlgn="auto" latinLnBrk="0" hangingPunct="1">
                        <a:lnSpc>
                          <a:spcPct val="100000"/>
                        </a:lnSpc>
                        <a:spcBef>
                          <a:spcPts val="0"/>
                        </a:spcBef>
                        <a:spcAft>
                          <a:spcPts val="0"/>
                        </a:spcAft>
                        <a:buClrTx/>
                        <a:buSzTx/>
                        <a:buFont typeface="Arial" panose="020B0604020202020204" pitchFamily="34" charset="0"/>
                        <a:buNone/>
                        <a:tabLst/>
                        <a:defRPr/>
                      </a:pPr>
                      <a:r>
                        <a:rPr lang="ar-SA" sz="1100" noProof="0" dirty="0"/>
                        <a:t>عدم وجود ربط إلكتروني وتكامل مع الأنظمة والمنصات الداخلية أو الخارجية في عدد من الخدمات </a:t>
                      </a:r>
                      <a:r>
                        <a:rPr lang="ar-SA" sz="1100" kern="1200" noProof="0" dirty="0">
                          <a:solidFill>
                            <a:schemeClr val="tx1"/>
                          </a:solidFill>
                          <a:latin typeface="+mn-lt"/>
                          <a:ea typeface="+mn-ea"/>
                          <a:cs typeface="+mn-cs"/>
                        </a:rPr>
                        <a:t>أو الإجراءات ، و</a:t>
                      </a:r>
                      <a:r>
                        <a:rPr lang="ar-SA" sz="1100" noProof="0" dirty="0">
                          <a:latin typeface="Sakkal Majalla" panose="02000000000000000000" pitchFamily="2" charset="-78"/>
                          <a:cs typeface="Sakkal Majalla" panose="02000000000000000000" pitchFamily="2" charset="-78"/>
                        </a:rPr>
                        <a:t>الحاجة الى التكامل مع الجهات الداخلية في الهيئة والجهات الخارجية الحكومية وشبة الحكومية والمنظمات مثل (ديوان المحاسبة ، هيئة الرقابة ومكافحة الفساد ، وزارة التعليم ، الجامعات ، وزارة الداخلية وغيرها الكثير من الجهات  ) ، والحاجة إلى تفعيل تكامل </a:t>
                      </a:r>
                      <a:r>
                        <a:rPr lang="ar-SA" sz="1100" noProof="0" dirty="0" err="1">
                          <a:latin typeface="Sakkal Majalla" panose="02000000000000000000" pitchFamily="2" charset="-78"/>
                          <a:cs typeface="Sakkal Majalla" panose="02000000000000000000" pitchFamily="2" charset="-78"/>
                        </a:rPr>
                        <a:t>نظامSAP</a:t>
                      </a:r>
                      <a:r>
                        <a:rPr lang="ar-SA" sz="1100" noProof="0" dirty="0">
                          <a:latin typeface="Sakkal Majalla" panose="02000000000000000000" pitchFamily="2" charset="-78"/>
                          <a:cs typeface="Sakkal Majalla" panose="02000000000000000000" pitchFamily="2" charset="-78"/>
                        </a:rPr>
                        <a:t>   مع الجهات الخارجية  والجهات الداخلية في الهيئة</a:t>
                      </a:r>
                    </a:p>
                    <a:p>
                      <a:pPr marL="0" marR="0" lvl="0" indent="0" algn="just" defTabSz="914400" rtl="1" eaLnBrk="1" fontAlgn="auto" latinLnBrk="0" hangingPunct="1">
                        <a:lnSpc>
                          <a:spcPct val="100000"/>
                        </a:lnSpc>
                        <a:spcBef>
                          <a:spcPts val="0"/>
                        </a:spcBef>
                        <a:spcAft>
                          <a:spcPts val="0"/>
                        </a:spcAft>
                        <a:buClrTx/>
                        <a:buSzTx/>
                        <a:buFont typeface="Arial" panose="020B0604020202020204" pitchFamily="34" charset="0"/>
                        <a:buNone/>
                        <a:tabLst/>
                        <a:defRPr/>
                      </a:pPr>
                      <a:endParaRPr lang="ar-SA" sz="1100" kern="1200" noProof="0" dirty="0">
                        <a:solidFill>
                          <a:schemeClr val="tx1"/>
                        </a:solidFill>
                        <a:latin typeface="+mn-lt"/>
                        <a:ea typeface="+mn-ea"/>
                        <a:cs typeface="+mn-cs"/>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B w="12700" cap="flat" cmpd="sng" algn="ctr">
                      <a:solidFill>
                        <a:schemeClr val="bg1">
                          <a:lumMod val="85000"/>
                        </a:schemeClr>
                      </a:solidFill>
                      <a:prstDash val="solid"/>
                      <a:round/>
                      <a:headEnd type="none" w="med" len="med"/>
                      <a:tailEnd type="none" w="med" len="med"/>
                    </a:lnB>
                  </a:tcPr>
                </a:tc>
                <a:tc>
                  <a:txBody>
                    <a:bodyPr/>
                    <a:lstStyle/>
                    <a:p>
                      <a:pPr marL="0" marR="0" lvl="0" indent="0" algn="ctr" defTabSz="914400" rtl="1" eaLnBrk="1" fontAlgn="auto" latinLnBrk="0" hangingPunct="1">
                        <a:lnSpc>
                          <a:spcPct val="100000"/>
                        </a:lnSpc>
                        <a:spcBef>
                          <a:spcPts val="0"/>
                        </a:spcBef>
                        <a:spcAft>
                          <a:spcPts val="0"/>
                        </a:spcAft>
                        <a:buClrTx/>
                        <a:buSzTx/>
                        <a:buFont typeface="Arial" panose="020B0604020202020204" pitchFamily="34" charset="0"/>
                        <a:buNone/>
                        <a:tabLst/>
                        <a:defRPr/>
                      </a:pPr>
                      <a:r>
                        <a:rPr lang="ar-SA" sz="1400" b="1" noProof="0" dirty="0">
                          <a:solidFill>
                            <a:schemeClr val="accent1"/>
                          </a:solidFill>
                        </a:rPr>
                        <a:t>الوصف</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B w="12700" cap="flat" cmpd="sng" algn="ctr">
                      <a:solidFill>
                        <a:schemeClr val="bg1">
                          <a:lumMod val="85000"/>
                        </a:schemeClr>
                      </a:solidFill>
                      <a:prstDash val="solid"/>
                      <a:round/>
                      <a:headEnd type="none" w="med" len="med"/>
                      <a:tailEnd type="none" w="med" len="med"/>
                    </a:lnB>
                    <a:solidFill>
                      <a:schemeClr val="bg1">
                        <a:lumMod val="95000"/>
                      </a:schemeClr>
                    </a:solidFill>
                  </a:tcPr>
                </a:tc>
                <a:tc rowSpan="4">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ar-SA" sz="1600" b="1" noProof="0" dirty="0"/>
                        <a:t>GAP-B-05</a:t>
                      </a:r>
                    </a:p>
                    <a:p>
                      <a:pPr marL="0" marR="0" lvl="0" indent="0" algn="r" defTabSz="914400" rtl="1" eaLnBrk="1" fontAlgn="auto" latinLnBrk="0" hangingPunct="1">
                        <a:lnSpc>
                          <a:spcPct val="100000"/>
                        </a:lnSpc>
                        <a:spcBef>
                          <a:spcPts val="0"/>
                        </a:spcBef>
                        <a:spcAft>
                          <a:spcPts val="0"/>
                        </a:spcAft>
                        <a:buClrTx/>
                        <a:buSzTx/>
                        <a:buFontTx/>
                        <a:buNone/>
                        <a:tabLst/>
                        <a:defRPr/>
                      </a:pPr>
                      <a:r>
                        <a:rPr lang="ar-SA" sz="1400" b="1" kern="1200" noProof="0" dirty="0">
                          <a:effectLst/>
                        </a:rPr>
                        <a:t>الحاجة إلى التكامل مع الأنظمة والمنصات الداخلية والخارجية في عدد من الخدمات  أو الإجراءات</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B w="12700" cap="flat" cmpd="sng" algn="ctr">
                      <a:solidFill>
                        <a:schemeClr val="accent1"/>
                      </a:solidFill>
                      <a:prstDash val="solid"/>
                      <a:round/>
                      <a:headEnd type="none" w="med" len="med"/>
                      <a:tailEnd type="none" w="med" len="med"/>
                    </a:lnB>
                  </a:tcPr>
                </a:tc>
                <a:extLst>
                  <a:ext uri="{0D108BD9-81ED-4DB2-BD59-A6C34878D82A}">
                    <a16:rowId xmlns:a16="http://schemas.microsoft.com/office/drawing/2014/main" val="1128065702"/>
                  </a:ext>
                </a:extLst>
              </a:tr>
              <a:tr h="0">
                <a:tc vMerge="1">
                  <a:txBody>
                    <a:bodyPr/>
                    <a:lstStyle/>
                    <a:p>
                      <a:endParaRPr lang="en-US"/>
                    </a:p>
                  </a:txBody>
                  <a:tcPr/>
                </a:tc>
                <a:tc vMerge="1">
                  <a:txBody>
                    <a:bodyPr/>
                    <a:lstStyle/>
                    <a:p>
                      <a:endParaRPr lang="en-US"/>
                    </a:p>
                  </a:txBody>
                  <a:tcPr/>
                </a:tc>
                <a:tc vMerge="1">
                  <a:txBody>
                    <a:bodyPr/>
                    <a:lstStyle/>
                    <a:p>
                      <a:endParaRPr lang="en-US"/>
                    </a:p>
                  </a:txBody>
                  <a:tcPr/>
                </a:tc>
                <a:tc>
                  <a:txBody>
                    <a:bodyPr/>
                    <a:lstStyle/>
                    <a:p>
                      <a:pPr marL="0" marR="0" lvl="0" indent="0" algn="just" defTabSz="914400" rtl="1" eaLnBrk="1" fontAlgn="auto" latinLnBrk="0" hangingPunct="1">
                        <a:lnSpc>
                          <a:spcPct val="100000"/>
                        </a:lnSpc>
                        <a:spcBef>
                          <a:spcPts val="0"/>
                        </a:spcBef>
                        <a:spcAft>
                          <a:spcPts val="0"/>
                        </a:spcAft>
                        <a:buClrTx/>
                        <a:buSzTx/>
                        <a:buFont typeface="Arial" panose="020B0604020202020204" pitchFamily="34" charset="0"/>
                        <a:buNone/>
                        <a:tabLst/>
                        <a:defRPr/>
                      </a:pPr>
                      <a:r>
                        <a:rPr lang="ar-SA" sz="1100" noProof="0" dirty="0"/>
                        <a:t>الحاجة لمزيد من الوقت لتنفيذ الخدمات </a:t>
                      </a:r>
                      <a:r>
                        <a:rPr lang="ar-SA" sz="1100" kern="1200" noProof="0" dirty="0">
                          <a:solidFill>
                            <a:schemeClr val="tx1"/>
                          </a:solidFill>
                          <a:latin typeface="+mn-lt"/>
                          <a:ea typeface="+mn-ea"/>
                          <a:cs typeface="+mn-cs"/>
                        </a:rPr>
                        <a:t>أو الإجراءات </a:t>
                      </a:r>
                      <a:r>
                        <a:rPr lang="ar-SA" sz="1100" noProof="0" dirty="0"/>
                        <a:t>ولإمكانية التحقق في الخدمات  </a:t>
                      </a:r>
                      <a:r>
                        <a:rPr lang="ar-SA" sz="1100" kern="1200" noProof="0" dirty="0">
                          <a:solidFill>
                            <a:schemeClr val="tx1"/>
                          </a:solidFill>
                          <a:latin typeface="+mn-lt"/>
                          <a:ea typeface="+mn-ea"/>
                          <a:cs typeface="+mn-cs"/>
                        </a:rPr>
                        <a:t>أو الإجراءات </a:t>
                      </a:r>
                      <a:r>
                        <a:rPr lang="ar-SA" sz="1100" noProof="0" dirty="0"/>
                        <a:t>مع الجهات الأخرى</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marL="0" marR="0" lvl="0" indent="0" algn="ctr" defTabSz="914400" rtl="1" eaLnBrk="1" fontAlgn="auto" latinLnBrk="0" hangingPunct="1">
                        <a:lnSpc>
                          <a:spcPct val="100000"/>
                        </a:lnSpc>
                        <a:spcBef>
                          <a:spcPts val="0"/>
                        </a:spcBef>
                        <a:spcAft>
                          <a:spcPts val="0"/>
                        </a:spcAft>
                        <a:buClrTx/>
                        <a:buSzTx/>
                        <a:buFont typeface="Arial" panose="020B0604020202020204" pitchFamily="34" charset="0"/>
                        <a:buNone/>
                        <a:tabLst/>
                        <a:defRPr/>
                      </a:pPr>
                      <a:r>
                        <a:rPr lang="ar-SA" sz="1400" b="1" kern="1200" noProof="0" dirty="0">
                          <a:solidFill>
                            <a:schemeClr val="accent1"/>
                          </a:solidFill>
                        </a:rPr>
                        <a:t>الأثر الحالي</a:t>
                      </a:r>
                      <a:endParaRPr lang="ar-SA" sz="1400" b="1" noProof="0" dirty="0">
                        <a:solidFill>
                          <a:schemeClr val="accent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lumMod val="95000"/>
                      </a:schemeClr>
                    </a:solidFill>
                  </a:tcPr>
                </a:tc>
                <a:tc vMerge="1">
                  <a:txBody>
                    <a:bodyPr/>
                    <a:lstStyle/>
                    <a:p>
                      <a:endParaRPr lang="en-US"/>
                    </a:p>
                  </a:txBody>
                  <a:tcPr/>
                </a:tc>
                <a:extLst>
                  <a:ext uri="{0D108BD9-81ED-4DB2-BD59-A6C34878D82A}">
                    <a16:rowId xmlns:a16="http://schemas.microsoft.com/office/drawing/2014/main" val="1163892829"/>
                  </a:ext>
                </a:extLst>
              </a:tr>
              <a:tr h="0">
                <a:tc vMerge="1">
                  <a:txBody>
                    <a:bodyPr/>
                    <a:lstStyle/>
                    <a:p>
                      <a:endParaRPr lang="en-US"/>
                    </a:p>
                  </a:txBody>
                  <a:tcPr/>
                </a:tc>
                <a:tc vMerge="1">
                  <a:txBody>
                    <a:bodyPr/>
                    <a:lstStyle/>
                    <a:p>
                      <a:endParaRPr lang="en-US"/>
                    </a:p>
                  </a:txBody>
                  <a:tcPr/>
                </a:tc>
                <a:tc vMerge="1">
                  <a:txBody>
                    <a:bodyPr/>
                    <a:lstStyle/>
                    <a:p>
                      <a:endParaRPr lang="en-US"/>
                    </a:p>
                  </a:txBody>
                  <a:tcPr/>
                </a:tc>
                <a:tc>
                  <a:txBody>
                    <a:bodyPr/>
                    <a:lstStyle/>
                    <a:p>
                      <a:pPr marL="0" marR="0" lvl="0" indent="0" algn="just" defTabSz="914400" rtl="1" eaLnBrk="1" fontAlgn="auto" latinLnBrk="0" hangingPunct="1">
                        <a:lnSpc>
                          <a:spcPct val="100000"/>
                        </a:lnSpc>
                        <a:spcBef>
                          <a:spcPts val="0"/>
                        </a:spcBef>
                        <a:spcAft>
                          <a:spcPts val="0"/>
                        </a:spcAft>
                        <a:buClrTx/>
                        <a:buSzTx/>
                        <a:buFont typeface="Arial" panose="020B0604020202020204" pitchFamily="34" charset="0"/>
                        <a:buNone/>
                        <a:tabLst/>
                        <a:defRPr/>
                      </a:pPr>
                      <a:r>
                        <a:rPr lang="ar-SA" sz="1100" noProof="0" dirty="0"/>
                        <a:t>تنفيذ الخدمات </a:t>
                      </a:r>
                      <a:r>
                        <a:rPr lang="ar-SA" sz="1100" kern="1200" noProof="0" dirty="0">
                          <a:solidFill>
                            <a:schemeClr val="tx1"/>
                          </a:solidFill>
                          <a:latin typeface="+mn-lt"/>
                          <a:ea typeface="+mn-ea"/>
                          <a:cs typeface="+mn-cs"/>
                        </a:rPr>
                        <a:t>أو الإجراءات </a:t>
                      </a:r>
                      <a:r>
                        <a:rPr lang="ar-SA" sz="1100" noProof="0" dirty="0"/>
                        <a:t>بحسب الأوقات المحددة مسبقاً مع  إمكانية التحقق في الخدمات </a:t>
                      </a:r>
                      <a:r>
                        <a:rPr lang="ar-SA" sz="1100" kern="1200" noProof="0" dirty="0">
                          <a:solidFill>
                            <a:schemeClr val="tx1"/>
                          </a:solidFill>
                          <a:latin typeface="+mn-lt"/>
                          <a:ea typeface="+mn-ea"/>
                          <a:cs typeface="+mn-cs"/>
                        </a:rPr>
                        <a:t>أو الإجراءات </a:t>
                      </a:r>
                      <a:r>
                        <a:rPr lang="ar-SA" sz="1100" noProof="0" dirty="0"/>
                        <a:t>مع الجهات الأخرى بشكل فوري من غير مراجعة صاحب الطلب لهذه الجهات</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marL="0" marR="0" lvl="0" indent="0" algn="ctr" defTabSz="914400" rtl="1" eaLnBrk="1" fontAlgn="auto" latinLnBrk="0" hangingPunct="1">
                        <a:lnSpc>
                          <a:spcPct val="100000"/>
                        </a:lnSpc>
                        <a:spcBef>
                          <a:spcPts val="0"/>
                        </a:spcBef>
                        <a:spcAft>
                          <a:spcPts val="0"/>
                        </a:spcAft>
                        <a:buClrTx/>
                        <a:buSzTx/>
                        <a:buFont typeface="Arial" panose="020B0604020202020204" pitchFamily="34" charset="0"/>
                        <a:buNone/>
                        <a:tabLst/>
                        <a:defRPr/>
                      </a:pPr>
                      <a:r>
                        <a:rPr lang="ar-SA" sz="1400" b="1" noProof="0" dirty="0">
                          <a:solidFill>
                            <a:schemeClr val="accent1"/>
                          </a:solidFill>
                        </a:rPr>
                        <a:t>الأثر بعد الردم (المعالجة)</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lumMod val="95000"/>
                      </a:schemeClr>
                    </a:solidFill>
                  </a:tcPr>
                </a:tc>
                <a:tc vMerge="1">
                  <a:txBody>
                    <a:bodyPr/>
                    <a:lstStyle/>
                    <a:p>
                      <a:endParaRPr lang="en-US"/>
                    </a:p>
                  </a:txBody>
                  <a:tcPr/>
                </a:tc>
                <a:extLst>
                  <a:ext uri="{0D108BD9-81ED-4DB2-BD59-A6C34878D82A}">
                    <a16:rowId xmlns:a16="http://schemas.microsoft.com/office/drawing/2014/main" val="1973569126"/>
                  </a:ext>
                </a:extLst>
              </a:tr>
              <a:tr h="0">
                <a:tc vMerge="1">
                  <a:txBody>
                    <a:bodyPr/>
                    <a:lstStyle/>
                    <a:p>
                      <a:endParaRPr lang="en-US"/>
                    </a:p>
                  </a:txBody>
                  <a:tcPr/>
                </a:tc>
                <a:tc vMerge="1">
                  <a:txBody>
                    <a:bodyPr/>
                    <a:lstStyle/>
                    <a:p>
                      <a:endParaRPr lang="en-US"/>
                    </a:p>
                  </a:txBody>
                  <a:tcPr/>
                </a:tc>
                <a:tc vMerge="1">
                  <a:txBody>
                    <a:bodyPr/>
                    <a:lstStyle/>
                    <a:p>
                      <a:endParaRPr lang="en-US"/>
                    </a:p>
                  </a:txBody>
                  <a:tcPr/>
                </a:tc>
                <a:tc>
                  <a:txBody>
                    <a:bodyPr/>
                    <a:lstStyle/>
                    <a:p>
                      <a:pPr marL="0" marR="0" lvl="0" indent="0" algn="just" defTabSz="914400" rtl="1" eaLnBrk="1" fontAlgn="auto" latinLnBrk="0" hangingPunct="1">
                        <a:lnSpc>
                          <a:spcPct val="100000"/>
                        </a:lnSpc>
                        <a:spcBef>
                          <a:spcPts val="0"/>
                        </a:spcBef>
                        <a:spcAft>
                          <a:spcPts val="0"/>
                        </a:spcAft>
                        <a:buClrTx/>
                        <a:buSzTx/>
                        <a:buFont typeface="Arial" panose="020B0604020202020204" pitchFamily="34" charset="0"/>
                        <a:buNone/>
                        <a:tabLst/>
                        <a:defRPr/>
                      </a:pPr>
                      <a:r>
                        <a:rPr lang="ar-SA" sz="1100" kern="1200" noProof="0" dirty="0">
                          <a:effectLst/>
                        </a:rPr>
                        <a:t>توفير التكامل مع الأنظمة والمنصات الداخلية أو الخارجية في الخدمات </a:t>
                      </a:r>
                      <a:r>
                        <a:rPr lang="ar-SA" sz="1100" kern="1200" noProof="0" dirty="0">
                          <a:solidFill>
                            <a:schemeClr val="tx1"/>
                          </a:solidFill>
                          <a:latin typeface="+mn-lt"/>
                          <a:ea typeface="+mn-ea"/>
                          <a:cs typeface="+mn-cs"/>
                        </a:rPr>
                        <a:t>أو الإجراءات</a:t>
                      </a:r>
                      <a:r>
                        <a:rPr lang="ar-SA" sz="1100" kern="1200" noProof="0" dirty="0">
                          <a:effectLst/>
                        </a:rPr>
                        <a:t> حسب الإمكانية</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marL="0" marR="0" lvl="0" indent="0" algn="ctr" defTabSz="914400" rtl="1" eaLnBrk="1" fontAlgn="auto" latinLnBrk="0" hangingPunct="1">
                        <a:lnSpc>
                          <a:spcPct val="100000"/>
                        </a:lnSpc>
                        <a:spcBef>
                          <a:spcPts val="0"/>
                        </a:spcBef>
                        <a:spcAft>
                          <a:spcPts val="0"/>
                        </a:spcAft>
                        <a:buClrTx/>
                        <a:buSzTx/>
                        <a:buFont typeface="Arial" panose="020B0604020202020204" pitchFamily="34" charset="0"/>
                        <a:buNone/>
                        <a:tabLst/>
                        <a:defRPr/>
                      </a:pPr>
                      <a:r>
                        <a:rPr lang="ar-SA" sz="1400" b="1" noProof="0" dirty="0">
                          <a:solidFill>
                            <a:schemeClr val="accent1"/>
                          </a:solidFill>
                        </a:rPr>
                        <a:t>تغطية الفجوة </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accent1"/>
                      </a:solidFill>
                      <a:prstDash val="solid"/>
                      <a:round/>
                      <a:headEnd type="none" w="med" len="med"/>
                      <a:tailEnd type="none" w="med" len="med"/>
                    </a:lnB>
                    <a:solidFill>
                      <a:schemeClr val="bg1">
                        <a:lumMod val="95000"/>
                      </a:schemeClr>
                    </a:solidFill>
                  </a:tcPr>
                </a:tc>
                <a:tc vMerge="1">
                  <a:txBody>
                    <a:bodyPr/>
                    <a:lstStyle/>
                    <a:p>
                      <a:endParaRPr lang="en-US"/>
                    </a:p>
                  </a:txBody>
                  <a:tcPr/>
                </a:tc>
                <a:extLst>
                  <a:ext uri="{0D108BD9-81ED-4DB2-BD59-A6C34878D82A}">
                    <a16:rowId xmlns:a16="http://schemas.microsoft.com/office/drawing/2014/main" val="4011636746"/>
                  </a:ext>
                </a:extLst>
              </a:tr>
              <a:tr h="0">
                <a:tc rowSpan="4">
                  <a:txBody>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lang="ar-SA" sz="1400" noProof="0" dirty="0"/>
                        <a:t>ملف حصر الأعمال ، دراسة وثائق الأعمال للجهة المتوفرة بالوضع الحالي ، ورش العمل لحصر الأعمال مع الوحدات الإدارية المعنية ،تطلعات أصحاب المصلحة</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rowSpan="4">
                  <a:txBody>
                    <a:bodyPr/>
                    <a:lstStyle/>
                    <a:p>
                      <a:pPr marL="0" marR="0" lvl="0" indent="0" algn="ctr" defTabSz="914400" rtl="1" eaLnBrk="1" fontAlgn="auto" latinLnBrk="0" hangingPunct="1">
                        <a:lnSpc>
                          <a:spcPct val="100000"/>
                        </a:lnSpc>
                        <a:spcBef>
                          <a:spcPts val="0"/>
                        </a:spcBef>
                        <a:spcAft>
                          <a:spcPts val="0"/>
                        </a:spcAft>
                        <a:buClrTx/>
                        <a:buSzTx/>
                        <a:buFont typeface="Arial" panose="020B0604020202020204" pitchFamily="34" charset="0"/>
                        <a:buNone/>
                        <a:tabLst/>
                        <a:defRPr/>
                      </a:pPr>
                      <a:r>
                        <a:rPr lang="ar-SA" sz="1400" noProof="0" dirty="0"/>
                        <a:t>عالي</a:t>
                      </a:r>
                    </a:p>
                  </a:txBody>
                  <a:tcPr anchor="ctr">
                    <a:lnL w="12700" cap="flat" cmpd="sng" algn="ctr">
                      <a:no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solidFill>
                      <a:schemeClr val="bg1">
                        <a:lumMod val="95000"/>
                      </a:schemeClr>
                    </a:solidFill>
                  </a:tcPr>
                </a:tc>
                <a:tc rowSpan="4">
                  <a:txBody>
                    <a:bodyPr/>
                    <a:lstStyle/>
                    <a:p>
                      <a:pPr marL="0" marR="0" lvl="0" indent="0" algn="ctr" defTabSz="914400" rtl="1" eaLnBrk="1" fontAlgn="auto" latinLnBrk="0" hangingPunct="1">
                        <a:lnSpc>
                          <a:spcPct val="100000"/>
                        </a:lnSpc>
                        <a:spcBef>
                          <a:spcPts val="0"/>
                        </a:spcBef>
                        <a:spcAft>
                          <a:spcPts val="0"/>
                        </a:spcAft>
                        <a:buClrTx/>
                        <a:buSzTx/>
                        <a:buFont typeface="Arial" panose="020B0604020202020204" pitchFamily="34" charset="0"/>
                        <a:buNone/>
                        <a:tabLst/>
                        <a:defRPr/>
                      </a:pPr>
                      <a:r>
                        <a:rPr lang="ar-SA" sz="1400" noProof="0" dirty="0"/>
                        <a:t>عالي</a:t>
                      </a:r>
                    </a:p>
                  </a:txBody>
                  <a:tcPr anchor="ctr">
                    <a:lnL w="12700" cap="flat" cmpd="sng" algn="ctr">
                      <a:solidFill>
                        <a:schemeClr val="bg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solidFill>
                      <a:schemeClr val="bg1">
                        <a:lumMod val="95000"/>
                      </a:schemeClr>
                    </a:solidFill>
                  </a:tcPr>
                </a:tc>
                <a:tc>
                  <a:txBody>
                    <a:bodyPr/>
                    <a:lstStyle/>
                    <a:p>
                      <a:pPr marL="0" marR="0" lvl="0" indent="0" algn="just" defTabSz="914400" rtl="1" eaLnBrk="1" fontAlgn="auto" latinLnBrk="0" hangingPunct="1">
                        <a:lnSpc>
                          <a:spcPct val="100000"/>
                        </a:lnSpc>
                        <a:spcBef>
                          <a:spcPts val="0"/>
                        </a:spcBef>
                        <a:spcAft>
                          <a:spcPts val="0"/>
                        </a:spcAft>
                        <a:buClrTx/>
                        <a:buSzTx/>
                        <a:buFont typeface="Arial" panose="020B0604020202020204" pitchFamily="34" charset="0"/>
                        <a:buNone/>
                        <a:tabLst/>
                        <a:defRPr/>
                      </a:pPr>
                      <a:r>
                        <a:rPr lang="ar-SA" sz="1100" kern="1200" noProof="0" dirty="0">
                          <a:solidFill>
                            <a:schemeClr val="tx1"/>
                          </a:solidFill>
                          <a:effectLst/>
                          <a:latin typeface="+mn-lt"/>
                          <a:ea typeface="+mn-ea"/>
                          <a:cs typeface="+mn-cs"/>
                        </a:rPr>
                        <a:t>غياب عملية حوكمة متكاملة لإجراءات الأعمال بشكل فعال ، والذي قد يؤدي إلى عدم انتظام العمليات والتغييرات ، حيث </a:t>
                      </a:r>
                      <a:r>
                        <a:rPr lang="ar-SA" sz="1100" kern="1200" noProof="0" dirty="0">
                          <a:solidFill>
                            <a:schemeClr val="tx1"/>
                          </a:solidFill>
                          <a:effectLst/>
                          <a:latin typeface="+mn-lt"/>
                          <a:ea typeface="Times New Roman" panose="02020603050405020304" pitchFamily="18" charset="0"/>
                          <a:cs typeface="Sakkal Majalla" panose="02000000000000000000" pitchFamily="2" charset="-78"/>
                        </a:rPr>
                        <a:t>توجد جهة معنية بحوكمة أعمال وحدات العمل التنظيمية (الإدارة العامة للتخطيط والتميز المؤسسي) </a:t>
                      </a:r>
                      <a:r>
                        <a:rPr lang="ar-SA" sz="1100" kern="1200" noProof="0" dirty="0">
                          <a:solidFill>
                            <a:schemeClr val="tx1"/>
                          </a:solidFill>
                          <a:latin typeface="+mn-lt"/>
                          <a:ea typeface="+mn-ea"/>
                          <a:cs typeface="Sakkal Majalla" panose="02000000000000000000" pitchFamily="2" charset="-78"/>
                        </a:rPr>
                        <a:t>لتحسين الرقابة وضمان الالتزام بمعايير الجودة </a:t>
                      </a:r>
                      <a:endParaRPr lang="ar-SA" sz="1100" kern="1200" noProof="0" dirty="0">
                        <a:solidFill>
                          <a:schemeClr val="tx1"/>
                        </a:solidFill>
                        <a:effectLst/>
                        <a:latin typeface="+mn-lt"/>
                        <a:ea typeface="+mn-ea"/>
                        <a:cs typeface="+mn-cs"/>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marL="0" marR="0" lvl="0" indent="0" algn="ctr" defTabSz="914400" rtl="1" eaLnBrk="1" fontAlgn="auto" latinLnBrk="0" hangingPunct="1">
                        <a:lnSpc>
                          <a:spcPct val="100000"/>
                        </a:lnSpc>
                        <a:spcBef>
                          <a:spcPts val="0"/>
                        </a:spcBef>
                        <a:spcAft>
                          <a:spcPts val="0"/>
                        </a:spcAft>
                        <a:buClrTx/>
                        <a:buSzTx/>
                        <a:buFont typeface="Arial" panose="020B0604020202020204" pitchFamily="34" charset="0"/>
                        <a:buNone/>
                        <a:tabLst/>
                        <a:defRPr/>
                      </a:pPr>
                      <a:r>
                        <a:rPr lang="ar-SA" sz="1400" b="1" noProof="0" dirty="0">
                          <a:solidFill>
                            <a:schemeClr val="accent1"/>
                          </a:solidFill>
                        </a:rPr>
                        <a:t>الوصف</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lumMod val="95000"/>
                      </a:schemeClr>
                    </a:solidFill>
                  </a:tcPr>
                </a:tc>
                <a:tc rowSpan="4">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ar-SA" sz="1600" b="1" noProof="0" dirty="0"/>
                        <a:t>GAP-B-06</a:t>
                      </a:r>
                    </a:p>
                    <a:p>
                      <a:pPr marL="0" marR="0" lvl="0" indent="0" algn="r" defTabSz="914400" rtl="1" eaLnBrk="1" fontAlgn="auto" latinLnBrk="0" hangingPunct="1">
                        <a:lnSpc>
                          <a:spcPct val="100000"/>
                        </a:lnSpc>
                        <a:spcBef>
                          <a:spcPts val="0"/>
                        </a:spcBef>
                        <a:spcAft>
                          <a:spcPts val="0"/>
                        </a:spcAft>
                        <a:buClrTx/>
                        <a:buSzTx/>
                        <a:buFontTx/>
                        <a:buNone/>
                        <a:tabLst/>
                        <a:defRPr/>
                      </a:pPr>
                      <a:r>
                        <a:rPr lang="ar-SA" sz="1400" b="1" kern="1200" noProof="0" dirty="0">
                          <a:solidFill>
                            <a:schemeClr val="tx1"/>
                          </a:solidFill>
                          <a:latin typeface="+mn-lt"/>
                          <a:ea typeface="+mn-ea"/>
                          <a:cs typeface="Sakkal Majalla" panose="02000000000000000000" pitchFamily="2" charset="-78"/>
                        </a:rPr>
                        <a:t>غياب عملية حوكمة متكاملة لإجراءات الأعمال بشكل فعال </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extLst>
                  <a:ext uri="{0D108BD9-81ED-4DB2-BD59-A6C34878D82A}">
                    <a16:rowId xmlns:a16="http://schemas.microsoft.com/office/drawing/2014/main" val="1136131386"/>
                  </a:ext>
                </a:extLst>
              </a:tr>
              <a:tr h="0">
                <a:tc vMerge="1">
                  <a:txBody>
                    <a:bodyPr/>
                    <a:lstStyle/>
                    <a:p>
                      <a:pPr marL="0" marR="0" lvl="0" indent="0" algn="r" defTabSz="914400" rtl="1" eaLnBrk="1" fontAlgn="auto" latinLnBrk="0" hangingPunct="1">
                        <a:lnSpc>
                          <a:spcPct val="100000"/>
                        </a:lnSpc>
                        <a:spcBef>
                          <a:spcPts val="0"/>
                        </a:spcBef>
                        <a:spcAft>
                          <a:spcPts val="0"/>
                        </a:spcAft>
                        <a:buClrTx/>
                        <a:buSzTx/>
                        <a:buFontTx/>
                        <a:buNone/>
                        <a:tabLst/>
                        <a:defRPr/>
                      </a:pPr>
                      <a:endParaRPr lang="en-GB" sz="1400" noProof="0" dirty="0"/>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vMerge="1">
                  <a:txBody>
                    <a:bodyPr/>
                    <a:lstStyle/>
                    <a:p>
                      <a:endParaRPr lang="en-US"/>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vMerge="1">
                  <a:txBody>
                    <a:bodyPr/>
                    <a:lstStyle/>
                    <a:p>
                      <a:endParaRPr lang="en-US"/>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marL="0" marR="0" lvl="0" indent="0" algn="just" defTabSz="914400" rtl="1" eaLnBrk="1" fontAlgn="auto" latinLnBrk="0" hangingPunct="1">
                        <a:lnSpc>
                          <a:spcPct val="100000"/>
                        </a:lnSpc>
                        <a:spcBef>
                          <a:spcPts val="0"/>
                        </a:spcBef>
                        <a:spcAft>
                          <a:spcPts val="0"/>
                        </a:spcAft>
                        <a:buClrTx/>
                        <a:buSzTx/>
                        <a:buFont typeface="Arial" panose="020B0604020202020204" pitchFamily="34" charset="0"/>
                        <a:buNone/>
                        <a:tabLst/>
                        <a:defRPr/>
                      </a:pPr>
                      <a:r>
                        <a:rPr lang="ar-SA" sz="1100" kern="1200" noProof="0" dirty="0">
                          <a:solidFill>
                            <a:schemeClr val="tx1"/>
                          </a:solidFill>
                          <a:effectLst/>
                          <a:latin typeface="+mn-lt"/>
                          <a:ea typeface="+mn-ea"/>
                          <a:cs typeface="+mn-cs"/>
                        </a:rPr>
                        <a:t>عدم انتظام العمليات والتغييرات  ، وجود بعض الممارسات  أو الإجراءات أو الضوابط الخاصة بتقييم عمل الإدارات ومدى تقدمها </a:t>
                      </a:r>
                    </a:p>
                  </a:txBody>
                  <a:tcPr>
                    <a:lnL w="12700" cap="flat" cmpd="sng" algn="ctr">
                      <a:solidFill>
                        <a:schemeClr val="bg1">
                          <a:lumMod val="8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marL="0" marR="0" lvl="0" indent="0" algn="ctr" defTabSz="914400" rtl="1" eaLnBrk="1" fontAlgn="auto" latinLnBrk="0" hangingPunct="1">
                        <a:lnSpc>
                          <a:spcPct val="100000"/>
                        </a:lnSpc>
                        <a:spcBef>
                          <a:spcPts val="0"/>
                        </a:spcBef>
                        <a:spcAft>
                          <a:spcPts val="0"/>
                        </a:spcAft>
                        <a:buClrTx/>
                        <a:buSzTx/>
                        <a:buFont typeface="Arial" panose="020B0604020202020204" pitchFamily="34" charset="0"/>
                        <a:buNone/>
                        <a:tabLst/>
                        <a:defRPr/>
                      </a:pPr>
                      <a:r>
                        <a:rPr lang="ar-SA" sz="1400" b="1" kern="1200" noProof="0" dirty="0">
                          <a:solidFill>
                            <a:schemeClr val="accent1"/>
                          </a:solidFill>
                        </a:rPr>
                        <a:t>الأثر الحالي</a:t>
                      </a:r>
                      <a:endParaRPr lang="ar-SA" sz="1400" b="1" noProof="0" dirty="0">
                        <a:solidFill>
                          <a:schemeClr val="accent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lumMod val="95000"/>
                      </a:schemeClr>
                    </a:solidFill>
                  </a:tcPr>
                </a:tc>
                <a:tc vMerge="1">
                  <a:txBody>
                    <a:bodyPr/>
                    <a:lstStyle/>
                    <a:p>
                      <a:endParaRPr lang="en-US"/>
                    </a:p>
                  </a:txBody>
                  <a:tcPr>
                    <a:lnL w="12700" cap="flat" cmpd="sng" algn="ctr">
                      <a:no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extLst>
                  <a:ext uri="{0D108BD9-81ED-4DB2-BD59-A6C34878D82A}">
                    <a16:rowId xmlns:a16="http://schemas.microsoft.com/office/drawing/2014/main" val="918118369"/>
                  </a:ext>
                </a:extLst>
              </a:tr>
              <a:tr h="0">
                <a:tc vMerge="1">
                  <a:txBody>
                    <a:bodyPr/>
                    <a:lstStyle/>
                    <a:p>
                      <a:pPr marL="0" marR="0" lvl="0" indent="0" algn="r" defTabSz="914400" rtl="1" eaLnBrk="1" fontAlgn="auto" latinLnBrk="0" hangingPunct="1">
                        <a:lnSpc>
                          <a:spcPct val="100000"/>
                        </a:lnSpc>
                        <a:spcBef>
                          <a:spcPts val="0"/>
                        </a:spcBef>
                        <a:spcAft>
                          <a:spcPts val="0"/>
                        </a:spcAft>
                        <a:buClrTx/>
                        <a:buSzTx/>
                        <a:buFontTx/>
                        <a:buNone/>
                        <a:tabLst/>
                        <a:defRPr/>
                      </a:pPr>
                      <a:endParaRPr lang="en-GB" sz="1400" noProof="0" dirty="0"/>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vMerge="1">
                  <a:txBody>
                    <a:bodyPr/>
                    <a:lstStyle/>
                    <a:p>
                      <a:endParaRPr lang="en-US"/>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vMerge="1">
                  <a:txBody>
                    <a:bodyPr/>
                    <a:lstStyle/>
                    <a:p>
                      <a:endParaRPr lang="en-US"/>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marL="0" marR="0" lvl="0" indent="0" algn="just" defTabSz="914400" rtl="1" eaLnBrk="1" fontAlgn="auto" latinLnBrk="0" hangingPunct="1">
                        <a:lnSpc>
                          <a:spcPct val="100000"/>
                        </a:lnSpc>
                        <a:spcBef>
                          <a:spcPts val="0"/>
                        </a:spcBef>
                        <a:spcAft>
                          <a:spcPts val="0"/>
                        </a:spcAft>
                        <a:buClrTx/>
                        <a:buSzTx/>
                        <a:buFont typeface="Arial" panose="020B0604020202020204" pitchFamily="34" charset="0"/>
                        <a:buNone/>
                        <a:tabLst/>
                        <a:defRPr/>
                      </a:pPr>
                      <a:r>
                        <a:rPr lang="ar-SA" sz="1100" kern="1200" noProof="0" dirty="0">
                          <a:solidFill>
                            <a:schemeClr val="tx1"/>
                          </a:solidFill>
                          <a:effectLst/>
                          <a:latin typeface="+mn-lt"/>
                          <a:ea typeface="+mn-ea"/>
                          <a:cs typeface="+mn-cs"/>
                        </a:rPr>
                        <a:t>انتظام العمليات والتغييرات  ، تطبيق كامل الممارسات  أو الإجراءات أو الضوابط الخاصة بتقييم عمل الإدارات ومدى تقدمها </a:t>
                      </a:r>
                    </a:p>
                  </a:txBody>
                  <a:tcPr>
                    <a:lnL w="12700" cap="flat" cmpd="sng" algn="ctr">
                      <a:solidFill>
                        <a:schemeClr val="bg1">
                          <a:lumMod val="8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marL="0" marR="0" lvl="0" indent="0" algn="ctr" defTabSz="914400" rtl="1" eaLnBrk="1" fontAlgn="auto" latinLnBrk="0" hangingPunct="1">
                        <a:lnSpc>
                          <a:spcPct val="100000"/>
                        </a:lnSpc>
                        <a:spcBef>
                          <a:spcPts val="0"/>
                        </a:spcBef>
                        <a:spcAft>
                          <a:spcPts val="0"/>
                        </a:spcAft>
                        <a:buClrTx/>
                        <a:buSzTx/>
                        <a:buFont typeface="Arial" panose="020B0604020202020204" pitchFamily="34" charset="0"/>
                        <a:buNone/>
                        <a:tabLst/>
                        <a:defRPr/>
                      </a:pPr>
                      <a:r>
                        <a:rPr lang="ar-SA" sz="1400" b="1" noProof="0" dirty="0">
                          <a:solidFill>
                            <a:schemeClr val="accent1"/>
                          </a:solidFill>
                        </a:rPr>
                        <a:t>الأثر بعد الردم (المعالجة)</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lumMod val="95000"/>
                      </a:schemeClr>
                    </a:solidFill>
                  </a:tcPr>
                </a:tc>
                <a:tc vMerge="1">
                  <a:txBody>
                    <a:bodyPr/>
                    <a:lstStyle/>
                    <a:p>
                      <a:endParaRPr lang="en-US"/>
                    </a:p>
                  </a:txBody>
                  <a:tcPr>
                    <a:lnL w="12700" cap="flat" cmpd="sng" algn="ctr">
                      <a:no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extLst>
                  <a:ext uri="{0D108BD9-81ED-4DB2-BD59-A6C34878D82A}">
                    <a16:rowId xmlns:a16="http://schemas.microsoft.com/office/drawing/2014/main" val="4153014111"/>
                  </a:ext>
                </a:extLst>
              </a:tr>
              <a:tr h="0">
                <a:tc vMerge="1">
                  <a:txBody>
                    <a:bodyPr/>
                    <a:lstStyle/>
                    <a:p>
                      <a:pPr marL="0" marR="0" lvl="0" indent="0" algn="r" defTabSz="914400" rtl="1" eaLnBrk="1" fontAlgn="auto" latinLnBrk="0" hangingPunct="1">
                        <a:lnSpc>
                          <a:spcPct val="100000"/>
                        </a:lnSpc>
                        <a:spcBef>
                          <a:spcPts val="0"/>
                        </a:spcBef>
                        <a:spcAft>
                          <a:spcPts val="0"/>
                        </a:spcAft>
                        <a:buClrTx/>
                        <a:buSzTx/>
                        <a:buFontTx/>
                        <a:buNone/>
                        <a:tabLst/>
                        <a:defRPr/>
                      </a:pPr>
                      <a:endParaRPr lang="en-GB" sz="1400" noProof="0" dirty="0"/>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vMerge="1">
                  <a:txBody>
                    <a:bodyPr/>
                    <a:lstStyle/>
                    <a:p>
                      <a:endParaRPr lang="en-US"/>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vMerge="1">
                  <a:txBody>
                    <a:bodyPr/>
                    <a:lstStyle/>
                    <a:p>
                      <a:endParaRPr lang="en-US"/>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marL="0" marR="0" lvl="0" indent="0" algn="just" defTabSz="914400" rtl="1" eaLnBrk="1" fontAlgn="auto" latinLnBrk="0" hangingPunct="1">
                        <a:lnSpc>
                          <a:spcPct val="100000"/>
                        </a:lnSpc>
                        <a:spcBef>
                          <a:spcPts val="0"/>
                        </a:spcBef>
                        <a:spcAft>
                          <a:spcPts val="0"/>
                        </a:spcAft>
                        <a:buClrTx/>
                        <a:buSzTx/>
                        <a:buFont typeface="Arial" panose="020B0604020202020204" pitchFamily="34" charset="0"/>
                        <a:buNone/>
                        <a:tabLst/>
                        <a:defRPr/>
                      </a:pPr>
                      <a:r>
                        <a:rPr lang="ar-SA" sz="1100" kern="1200" noProof="0" dirty="0">
                          <a:solidFill>
                            <a:schemeClr val="tx1"/>
                          </a:solidFill>
                          <a:effectLst/>
                          <a:latin typeface="+mn-lt"/>
                          <a:ea typeface="+mn-ea"/>
                          <a:cs typeface="+mn-cs"/>
                        </a:rPr>
                        <a:t>تطوير وتطبيق نظام حوكمة شامل يشمل كافة العمليات والتغييرات لضمان الاتساق والكفاءة ، </a:t>
                      </a:r>
                      <a:r>
                        <a:rPr lang="ar-SA" sz="1100" kern="1200" noProof="0" dirty="0">
                          <a:solidFill>
                            <a:schemeClr val="tx1"/>
                          </a:solidFill>
                          <a:latin typeface="+mn-lt"/>
                          <a:ea typeface="+mn-ea"/>
                          <a:cs typeface="Sakkal Majalla" panose="02000000000000000000" pitchFamily="2" charset="-78"/>
                        </a:rPr>
                        <a:t>ضرورة تطوير وإصدار دليل حوكمة الإجراءات ومصفوفة الصلاحيات واعتماد اتفاقيات مستوى العمليات (OLA) والخدمة (SLA) لضمان التنسيق الفعال</a:t>
                      </a:r>
                    </a:p>
                  </a:txBody>
                  <a:tcPr>
                    <a:lnL w="12700" cap="flat" cmpd="sng" algn="ctr">
                      <a:solidFill>
                        <a:schemeClr val="bg1">
                          <a:lumMod val="8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marL="0" marR="0" lvl="0" indent="0" algn="ctr" defTabSz="914400" rtl="1" eaLnBrk="1" fontAlgn="auto" latinLnBrk="0" hangingPunct="1">
                        <a:lnSpc>
                          <a:spcPct val="100000"/>
                        </a:lnSpc>
                        <a:spcBef>
                          <a:spcPts val="0"/>
                        </a:spcBef>
                        <a:spcAft>
                          <a:spcPts val="0"/>
                        </a:spcAft>
                        <a:buClrTx/>
                        <a:buSzTx/>
                        <a:buFont typeface="Arial" panose="020B0604020202020204" pitchFamily="34" charset="0"/>
                        <a:buNone/>
                        <a:tabLst/>
                        <a:defRPr/>
                      </a:pPr>
                      <a:r>
                        <a:rPr lang="ar-SA" sz="1400" b="1" noProof="0" dirty="0">
                          <a:solidFill>
                            <a:schemeClr val="accent1"/>
                          </a:solidFill>
                        </a:rPr>
                        <a:t>تغطية الفجوة </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accent1"/>
                      </a:solidFill>
                      <a:prstDash val="solid"/>
                      <a:round/>
                      <a:headEnd type="none" w="med" len="med"/>
                      <a:tailEnd type="none" w="med" len="med"/>
                    </a:lnB>
                    <a:solidFill>
                      <a:schemeClr val="bg1">
                        <a:lumMod val="95000"/>
                      </a:schemeClr>
                    </a:solidFill>
                  </a:tcPr>
                </a:tc>
                <a:tc vMerge="1">
                  <a:txBody>
                    <a:bodyPr/>
                    <a:lstStyle/>
                    <a:p>
                      <a:endParaRPr lang="en-US"/>
                    </a:p>
                  </a:txBody>
                  <a:tcPr>
                    <a:lnL w="12700" cap="flat" cmpd="sng" algn="ctr">
                      <a:no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extLst>
                  <a:ext uri="{0D108BD9-81ED-4DB2-BD59-A6C34878D82A}">
                    <a16:rowId xmlns:a16="http://schemas.microsoft.com/office/drawing/2014/main" val="1035545327"/>
                  </a:ext>
                </a:extLst>
              </a:tr>
            </a:tbl>
          </a:graphicData>
        </a:graphic>
      </p:graphicFrame>
      <p:sp>
        <p:nvSpPr>
          <p:cNvPr id="7" name="TextBox 6">
            <a:extLst>
              <a:ext uri="{FF2B5EF4-FFF2-40B4-BE49-F238E27FC236}">
                <a16:creationId xmlns:a16="http://schemas.microsoft.com/office/drawing/2014/main" id="{78FFBCC9-9528-43EE-3448-66EDC46CF782}"/>
              </a:ext>
            </a:extLst>
          </p:cNvPr>
          <p:cNvSpPr txBox="1"/>
          <p:nvPr/>
        </p:nvSpPr>
        <p:spPr>
          <a:xfrm>
            <a:off x="666163" y="615344"/>
            <a:ext cx="10972800" cy="375487"/>
          </a:xfrm>
          <a:prstGeom prst="rect">
            <a:avLst/>
          </a:prstGeom>
          <a:noFill/>
        </p:spPr>
        <p:txBody>
          <a:bodyPr wrap="square">
            <a:spAutoFit/>
          </a:bodyPr>
          <a:lstStyle/>
          <a:p>
            <a:pPr algn="r" rtl="1">
              <a:lnSpc>
                <a:spcPct val="115000"/>
              </a:lnSpc>
              <a:spcAft>
                <a:spcPts val="1000"/>
              </a:spcAft>
            </a:pPr>
            <a:r>
              <a:rPr lang="ar-SA" sz="1600" noProof="0" dirty="0">
                <a:solidFill>
                  <a:srgbClr val="000000"/>
                </a:solidFill>
                <a:latin typeface="Sakkal Majalla" panose="02000000000000000000" pitchFamily="2" charset="-78"/>
                <a:ea typeface="Sakkal Majalla" panose="02000000000000000000" pitchFamily="2" charset="-78"/>
                <a:cs typeface="Sakkal Majalla" panose="02000000000000000000" pitchFamily="2" charset="-78"/>
              </a:rPr>
              <a:t>يهدف هذا القسم من الوثيقة إلى تقديم الملاحظات الخاصة بالوضع الحالي لبنية الأعمال مع ذكر التوصيات  والتحسينات المفترض تطبيقها في الوضع المستقبلي</a:t>
            </a:r>
          </a:p>
        </p:txBody>
      </p:sp>
    </p:spTree>
    <p:extLst>
      <p:ext uri="{BB962C8B-B14F-4D97-AF65-F5344CB8AC3E}">
        <p14:creationId xmlns:p14="http://schemas.microsoft.com/office/powerpoint/2010/main" val="344004782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a:xfrm>
            <a:off x="609601" y="310065"/>
            <a:ext cx="10972800" cy="666261"/>
          </a:xfrm>
        </p:spPr>
        <p:txBody>
          <a:bodyPr/>
          <a:lstStyle/>
          <a:p>
            <a:r>
              <a:rPr lang="ar-SA" noProof="0" dirty="0"/>
              <a:t>ملخص تحليل الفجوات لبنية الأعمال </a:t>
            </a:r>
          </a:p>
        </p:txBody>
      </p:sp>
      <p:sp>
        <p:nvSpPr>
          <p:cNvPr id="3" name="Slide Number Placeholder 2">
            <a:extLst>
              <a:ext uri="{FF2B5EF4-FFF2-40B4-BE49-F238E27FC236}">
                <a16:creationId xmlns:a16="http://schemas.microsoft.com/office/drawing/2014/main" id="{A63A027D-6EA1-E9F6-6212-7D45811B8DC3}"/>
              </a:ext>
            </a:extLst>
          </p:cNvPr>
          <p:cNvSpPr>
            <a:spLocks noGrp="1"/>
          </p:cNvSpPr>
          <p:nvPr>
            <p:ph type="sldNum" sz="quarter" idx="12"/>
          </p:nvPr>
        </p:nvSpPr>
        <p:spPr>
          <a:xfrm>
            <a:off x="655319" y="6567058"/>
            <a:ext cx="485323" cy="290942"/>
          </a:xfrm>
        </p:spPr>
        <p:txBody>
          <a:bodyPr/>
          <a:lstStyle/>
          <a:p>
            <a:fld id="{0BE4EC83-A869-464E-AE9F-881796FB085E}" type="slidenum">
              <a:rPr lang="ar-SA" noProof="0" smtClean="0"/>
              <a:pPr/>
              <a:t>12</a:t>
            </a:fld>
            <a:endParaRPr lang="ar-SA" noProof="0" dirty="0"/>
          </a:p>
        </p:txBody>
      </p:sp>
      <p:graphicFrame>
        <p:nvGraphicFramePr>
          <p:cNvPr id="2" name="Table 1">
            <a:extLst>
              <a:ext uri="{FF2B5EF4-FFF2-40B4-BE49-F238E27FC236}">
                <a16:creationId xmlns:a16="http://schemas.microsoft.com/office/drawing/2014/main" id="{C47CAF5B-4215-4DCE-B225-BC1E66631900}"/>
              </a:ext>
            </a:extLst>
          </p:cNvPr>
          <p:cNvGraphicFramePr>
            <a:graphicFrameLocks noGrp="1"/>
          </p:cNvGraphicFramePr>
          <p:nvPr>
            <p:extLst>
              <p:ext uri="{D42A27DB-BD31-4B8C-83A1-F6EECF244321}">
                <p14:modId xmlns:p14="http://schemas.microsoft.com/office/powerpoint/2010/main" val="3966634424"/>
              </p:ext>
            </p:extLst>
          </p:nvPr>
        </p:nvGraphicFramePr>
        <p:xfrm>
          <a:off x="609600" y="1280833"/>
          <a:ext cx="10972802" cy="4754880"/>
        </p:xfrm>
        <a:graphic>
          <a:graphicData uri="http://schemas.openxmlformats.org/drawingml/2006/table">
            <a:tbl>
              <a:tblPr firstRow="1" bandRow="1">
                <a:tableStyleId>{2D5ABB26-0587-4C30-8999-92F81FD0307C}</a:tableStyleId>
              </a:tblPr>
              <a:tblGrid>
                <a:gridCol w="1828800">
                  <a:extLst>
                    <a:ext uri="{9D8B030D-6E8A-4147-A177-3AD203B41FA5}">
                      <a16:colId xmlns:a16="http://schemas.microsoft.com/office/drawing/2014/main" val="2801895674"/>
                    </a:ext>
                  </a:extLst>
                </a:gridCol>
                <a:gridCol w="738953">
                  <a:extLst>
                    <a:ext uri="{9D8B030D-6E8A-4147-A177-3AD203B41FA5}">
                      <a16:colId xmlns:a16="http://schemas.microsoft.com/office/drawing/2014/main" val="2976102064"/>
                    </a:ext>
                  </a:extLst>
                </a:gridCol>
                <a:gridCol w="838625">
                  <a:extLst>
                    <a:ext uri="{9D8B030D-6E8A-4147-A177-3AD203B41FA5}">
                      <a16:colId xmlns:a16="http://schemas.microsoft.com/office/drawing/2014/main" val="526736865"/>
                    </a:ext>
                  </a:extLst>
                </a:gridCol>
                <a:gridCol w="3862640">
                  <a:extLst>
                    <a:ext uri="{9D8B030D-6E8A-4147-A177-3AD203B41FA5}">
                      <a16:colId xmlns:a16="http://schemas.microsoft.com/office/drawing/2014/main" val="4106469564"/>
                    </a:ext>
                  </a:extLst>
                </a:gridCol>
                <a:gridCol w="923637">
                  <a:extLst>
                    <a:ext uri="{9D8B030D-6E8A-4147-A177-3AD203B41FA5}">
                      <a16:colId xmlns:a16="http://schemas.microsoft.com/office/drawing/2014/main" val="1154529574"/>
                    </a:ext>
                  </a:extLst>
                </a:gridCol>
                <a:gridCol w="2780147">
                  <a:extLst>
                    <a:ext uri="{9D8B030D-6E8A-4147-A177-3AD203B41FA5}">
                      <a16:colId xmlns:a16="http://schemas.microsoft.com/office/drawing/2014/main" val="1503598667"/>
                    </a:ext>
                  </a:extLst>
                </a:gridCol>
              </a:tblGrid>
              <a:tr h="0">
                <a:tc>
                  <a:txBody>
                    <a:bodyPr/>
                    <a:lstStyle/>
                    <a:p>
                      <a:pPr algn="ctr" rtl="1"/>
                      <a:r>
                        <a:rPr lang="ar-SA" sz="1400" b="1" noProof="0" dirty="0">
                          <a:solidFill>
                            <a:schemeClr val="bg1"/>
                          </a:solidFill>
                        </a:rPr>
                        <a:t>المصدر</a:t>
                      </a:r>
                      <a:endParaRPr lang="ar-SA" sz="1400" b="1" noProof="0" dirty="0">
                        <a:solidFill>
                          <a:schemeClr val="bg1"/>
                        </a:solidFill>
                        <a:latin typeface="+mj-lt"/>
                      </a:endParaRPr>
                    </a:p>
                  </a:txBody>
                  <a:tcPr anchor="ctr">
                    <a:lnL w="12700" cap="flat" cmpd="sng" algn="ctr">
                      <a:noFill/>
                      <a:prstDash val="solid"/>
                      <a:round/>
                      <a:headEnd type="none" w="med" len="med"/>
                      <a:tailEnd type="none" w="med" len="med"/>
                    </a:lnL>
                    <a:lnR w="12700" cap="flat" cmpd="sng" algn="ctr">
                      <a:solidFill>
                        <a:schemeClr val="bg1"/>
                      </a:solidFill>
                      <a:prstDash val="solid"/>
                      <a:round/>
                      <a:headEnd type="none" w="med" len="med"/>
                      <a:tailEnd type="none" w="med" len="med"/>
                    </a:lnR>
                    <a:solidFill>
                      <a:schemeClr val="accent1"/>
                    </a:solidFill>
                  </a:tcPr>
                </a:tc>
                <a:tc>
                  <a: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lang="ar-SA" sz="1400" b="1" noProof="0" dirty="0">
                          <a:solidFill>
                            <a:schemeClr val="bg1"/>
                          </a:solidFill>
                        </a:rPr>
                        <a:t>الأهمية</a:t>
                      </a:r>
                      <a:endParaRPr lang="ar-SA" sz="1400" b="1" noProof="0" dirty="0">
                        <a:solidFill>
                          <a:schemeClr val="bg1"/>
                        </a:solidFill>
                        <a:latin typeface="+mj-lt"/>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solidFill>
                      <a:schemeClr val="accent1"/>
                    </a:solidFill>
                  </a:tcPr>
                </a:tc>
                <a:tc>
                  <a: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lang="ar-SA" sz="1400" b="1" noProof="0" dirty="0">
                          <a:solidFill>
                            <a:schemeClr val="bg1"/>
                          </a:solidFill>
                        </a:rPr>
                        <a:t>الأولوية</a:t>
                      </a:r>
                      <a:endParaRPr lang="ar-SA" sz="1400" b="1" noProof="0" dirty="0">
                        <a:solidFill>
                          <a:schemeClr val="bg1"/>
                        </a:solidFill>
                        <a:latin typeface="+mj-lt"/>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solidFill>
                      <a:schemeClr val="accent1"/>
                    </a:solidFill>
                  </a:tcPr>
                </a:tc>
                <a:tc gridSpan="2">
                  <a: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lang="ar-SA" sz="1400" b="1" noProof="0" dirty="0">
                          <a:solidFill>
                            <a:schemeClr val="bg1"/>
                          </a:solidFill>
                        </a:rPr>
                        <a:t>التحليل لكل فجوة </a:t>
                      </a:r>
                      <a:endParaRPr lang="ar-SA" sz="1400" b="1" noProof="0" dirty="0">
                        <a:solidFill>
                          <a:schemeClr val="bg1"/>
                        </a:solidFill>
                        <a:latin typeface="+mj-lt"/>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solidFill>
                      <a:schemeClr val="accent1"/>
                    </a:solidFill>
                  </a:tcPr>
                </a:tc>
                <a:tc hMerge="1">
                  <a:txBody>
                    <a:bodyPr/>
                    <a:lstStyle/>
                    <a:p>
                      <a:endParaRPr lang="en-US"/>
                    </a:p>
                  </a:txBody>
                  <a:tcPr/>
                </a:tc>
                <a:tc>
                  <a:txBody>
                    <a:bodyPr/>
                    <a:lstStyle/>
                    <a:p>
                      <a:pPr algn="ctr" rtl="1"/>
                      <a:r>
                        <a:rPr lang="ar-SA" sz="1400" b="1" noProof="0" dirty="0">
                          <a:solidFill>
                            <a:schemeClr val="bg1"/>
                          </a:solidFill>
                        </a:rPr>
                        <a:t>الفجوة</a:t>
                      </a:r>
                      <a:endParaRPr lang="ar-SA" sz="1400" b="1" noProof="0" dirty="0">
                        <a:solidFill>
                          <a:schemeClr val="bg1"/>
                        </a:solidFill>
                        <a:latin typeface="+mj-lt"/>
                      </a:endParaRPr>
                    </a:p>
                  </a:txBody>
                  <a:tcPr anchor="ctr">
                    <a:lnL w="12700" cap="flat" cmpd="sng" algn="ctr">
                      <a:solidFill>
                        <a:schemeClr val="bg1"/>
                      </a:solidFill>
                      <a:prstDash val="solid"/>
                      <a:round/>
                      <a:headEnd type="none" w="med" len="med"/>
                      <a:tailEnd type="none" w="med" len="med"/>
                    </a:lnL>
                    <a:lnR w="12700" cap="flat" cmpd="sng" algn="ctr">
                      <a:noFill/>
                      <a:prstDash val="solid"/>
                      <a:round/>
                      <a:headEnd type="none" w="med" len="med"/>
                      <a:tailEnd type="none" w="med" len="med"/>
                    </a:lnR>
                    <a:solidFill>
                      <a:schemeClr val="accent1"/>
                    </a:solidFill>
                  </a:tcPr>
                </a:tc>
                <a:extLst>
                  <a:ext uri="{0D108BD9-81ED-4DB2-BD59-A6C34878D82A}">
                    <a16:rowId xmlns:a16="http://schemas.microsoft.com/office/drawing/2014/main" val="3304685178"/>
                  </a:ext>
                </a:extLst>
              </a:tr>
              <a:tr h="0">
                <a:tc rowSpan="4">
                  <a:txBody>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lang="ar-SA" sz="1400" noProof="0" dirty="0"/>
                        <a:t>ملف حصر الأعمال ، دراسة وثائق الأعمال للجهة المتوفرة بالوضع الحالي ، ورش العمل لحصر الأعمال مع الوحدات الإدارية المعنية ،تطلعات أصحاب المصلحة</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B w="12700" cap="flat" cmpd="sng" algn="ctr">
                      <a:solidFill>
                        <a:schemeClr val="accent1"/>
                      </a:solidFill>
                      <a:prstDash val="solid"/>
                      <a:round/>
                      <a:headEnd type="none" w="med" len="med"/>
                      <a:tailEnd type="none" w="med" len="med"/>
                    </a:lnB>
                  </a:tcPr>
                </a:tc>
                <a:tc rowSpan="4">
                  <a:txBody>
                    <a:bodyPr/>
                    <a:lstStyle/>
                    <a:p>
                      <a:pPr marL="0" marR="0" lvl="0" indent="0" algn="ctr" defTabSz="914400" rtl="1" eaLnBrk="1" fontAlgn="auto" latinLnBrk="0" hangingPunct="1">
                        <a:lnSpc>
                          <a:spcPct val="100000"/>
                        </a:lnSpc>
                        <a:spcBef>
                          <a:spcPts val="0"/>
                        </a:spcBef>
                        <a:spcAft>
                          <a:spcPts val="0"/>
                        </a:spcAft>
                        <a:buClrTx/>
                        <a:buSzTx/>
                        <a:buFont typeface="Arial" panose="020B0604020202020204" pitchFamily="34" charset="0"/>
                        <a:buNone/>
                        <a:tabLst/>
                        <a:defRPr/>
                      </a:pPr>
                      <a:r>
                        <a:rPr lang="ar-SA" sz="1400" noProof="0" dirty="0"/>
                        <a:t>عالي</a:t>
                      </a:r>
                    </a:p>
                  </a:txBody>
                  <a:tcPr anchor="ctr">
                    <a:lnL w="12700" cap="flat" cmpd="sng" algn="ctr">
                      <a:noFill/>
                      <a:prstDash val="solid"/>
                      <a:round/>
                      <a:headEnd type="none" w="med" len="med"/>
                      <a:tailEnd type="none" w="med" len="med"/>
                    </a:lnL>
                    <a:lnR w="12700" cap="flat" cmpd="sng" algn="ctr">
                      <a:solidFill>
                        <a:schemeClr val="bg1"/>
                      </a:solidFill>
                      <a:prstDash val="solid"/>
                      <a:round/>
                      <a:headEnd type="none" w="med" len="med"/>
                      <a:tailEnd type="none" w="med" len="med"/>
                    </a:lnR>
                    <a:lnB w="12700" cap="flat" cmpd="sng" algn="ctr">
                      <a:solidFill>
                        <a:schemeClr val="accent1"/>
                      </a:solidFill>
                      <a:prstDash val="solid"/>
                      <a:round/>
                      <a:headEnd type="none" w="med" len="med"/>
                      <a:tailEnd type="none" w="med" len="med"/>
                    </a:lnB>
                    <a:solidFill>
                      <a:schemeClr val="bg1">
                        <a:lumMod val="95000"/>
                        <a:alpha val="5000"/>
                      </a:schemeClr>
                    </a:solidFill>
                  </a:tcPr>
                </a:tc>
                <a:tc rowSpan="4">
                  <a:txBody>
                    <a:bodyPr/>
                    <a:lstStyle/>
                    <a:p>
                      <a:pPr marL="0" marR="0" lvl="0" indent="0" algn="ctr" defTabSz="914400" rtl="1" eaLnBrk="1" fontAlgn="auto" latinLnBrk="0" hangingPunct="1">
                        <a:lnSpc>
                          <a:spcPct val="100000"/>
                        </a:lnSpc>
                        <a:spcBef>
                          <a:spcPts val="0"/>
                        </a:spcBef>
                        <a:spcAft>
                          <a:spcPts val="0"/>
                        </a:spcAft>
                        <a:buClrTx/>
                        <a:buSzTx/>
                        <a:buFont typeface="Arial" panose="020B0604020202020204" pitchFamily="34" charset="0"/>
                        <a:buNone/>
                        <a:tabLst/>
                        <a:defRPr/>
                      </a:pPr>
                      <a:r>
                        <a:rPr lang="ar-SA" sz="1400" noProof="0" dirty="0"/>
                        <a:t>عالي</a:t>
                      </a:r>
                    </a:p>
                  </a:txBody>
                  <a:tcPr anchor="ctr">
                    <a:lnL w="12700" cap="flat" cmpd="sng" algn="ctr">
                      <a:solidFill>
                        <a:schemeClr val="bg1"/>
                      </a:solidFill>
                      <a:prstDash val="solid"/>
                      <a:round/>
                      <a:headEnd type="none" w="med" len="med"/>
                      <a:tailEnd type="none" w="med" len="med"/>
                    </a:lnL>
                    <a:lnR w="12700" cap="flat" cmpd="sng" algn="ctr">
                      <a:noFill/>
                      <a:prstDash val="solid"/>
                      <a:round/>
                      <a:headEnd type="none" w="med" len="med"/>
                      <a:tailEnd type="none" w="med" len="med"/>
                    </a:lnR>
                    <a:lnB w="12700" cap="flat" cmpd="sng" algn="ctr">
                      <a:solidFill>
                        <a:schemeClr val="accent1"/>
                      </a:solidFill>
                      <a:prstDash val="solid"/>
                      <a:round/>
                      <a:headEnd type="none" w="med" len="med"/>
                      <a:tailEnd type="none" w="med" len="med"/>
                    </a:lnB>
                    <a:solidFill>
                      <a:schemeClr val="bg1">
                        <a:lumMod val="95000"/>
                        <a:alpha val="5000"/>
                      </a:schemeClr>
                    </a:solidFill>
                  </a:tcPr>
                </a:tc>
                <a:tc>
                  <a:txBody>
                    <a:bodyPr/>
                    <a:lstStyle/>
                    <a:p>
                      <a:pPr marL="0" marR="0" lvl="0" indent="0" algn="just" defTabSz="914400" rtl="1" eaLnBrk="1" fontAlgn="auto" latinLnBrk="0" hangingPunct="1">
                        <a:lnSpc>
                          <a:spcPct val="100000"/>
                        </a:lnSpc>
                        <a:spcBef>
                          <a:spcPts val="0"/>
                        </a:spcBef>
                        <a:spcAft>
                          <a:spcPts val="0"/>
                        </a:spcAft>
                        <a:buClrTx/>
                        <a:buSzTx/>
                        <a:buFont typeface="Arial" panose="020B0604020202020204" pitchFamily="34" charset="0"/>
                        <a:buNone/>
                        <a:tabLst/>
                        <a:defRPr/>
                      </a:pPr>
                      <a:r>
                        <a:rPr lang="ar-SA" sz="1200" kern="1200" noProof="0" dirty="0">
                          <a:solidFill>
                            <a:schemeClr val="tx1"/>
                          </a:solidFill>
                          <a:latin typeface="+mn-lt"/>
                          <a:ea typeface="+mn-ea"/>
                          <a:cs typeface="+mn-cs"/>
                        </a:rPr>
                        <a:t>الحاجة إلى تطوير وتحسين  مؤشرات قياس أداء لبعض الخدمات / الإجراءات </a:t>
                      </a:r>
                      <a:r>
                        <a:rPr lang="ar-SA" sz="1200" noProof="0" dirty="0"/>
                        <a:t>للتأكد من أن تنفيذ الإدارات لأعمالها يتم وفق معدلات الأداء القياسية المتوقعة</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B w="12700" cap="flat" cmpd="sng" algn="ctr">
                      <a:solidFill>
                        <a:schemeClr val="bg1">
                          <a:lumMod val="85000"/>
                        </a:schemeClr>
                      </a:solidFill>
                      <a:prstDash val="solid"/>
                      <a:round/>
                      <a:headEnd type="none" w="med" len="med"/>
                      <a:tailEnd type="none" w="med" len="med"/>
                    </a:lnB>
                  </a:tcPr>
                </a:tc>
                <a:tc>
                  <a:txBody>
                    <a:bodyPr/>
                    <a:lstStyle/>
                    <a:p>
                      <a:pPr marL="0" marR="0" lvl="0" indent="0" algn="ctr" defTabSz="914400" rtl="1" eaLnBrk="1" fontAlgn="auto" latinLnBrk="0" hangingPunct="1">
                        <a:lnSpc>
                          <a:spcPct val="100000"/>
                        </a:lnSpc>
                        <a:spcBef>
                          <a:spcPts val="0"/>
                        </a:spcBef>
                        <a:spcAft>
                          <a:spcPts val="0"/>
                        </a:spcAft>
                        <a:buClrTx/>
                        <a:buSzTx/>
                        <a:buFont typeface="Arial" panose="020B0604020202020204" pitchFamily="34" charset="0"/>
                        <a:buNone/>
                        <a:tabLst/>
                        <a:defRPr/>
                      </a:pPr>
                      <a:r>
                        <a:rPr lang="ar-SA" sz="1400" b="1" noProof="0" dirty="0">
                          <a:solidFill>
                            <a:schemeClr val="accent1"/>
                          </a:solidFill>
                        </a:rPr>
                        <a:t>الوصف</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B w="12700" cap="flat" cmpd="sng" algn="ctr">
                      <a:solidFill>
                        <a:schemeClr val="bg1">
                          <a:lumMod val="85000"/>
                        </a:schemeClr>
                      </a:solidFill>
                      <a:prstDash val="solid"/>
                      <a:round/>
                      <a:headEnd type="none" w="med" len="med"/>
                      <a:tailEnd type="none" w="med" len="med"/>
                    </a:lnB>
                    <a:solidFill>
                      <a:schemeClr val="bg1">
                        <a:lumMod val="95000"/>
                      </a:schemeClr>
                    </a:solidFill>
                  </a:tcPr>
                </a:tc>
                <a:tc rowSpan="4">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ar-SA" sz="1600" b="1" noProof="0" dirty="0"/>
                        <a:t>GAP-B-07</a:t>
                      </a:r>
                    </a:p>
                    <a:p>
                      <a:pPr marL="0" marR="0" lvl="0" indent="0" algn="r" defTabSz="914400" rtl="1" eaLnBrk="1" fontAlgn="auto" latinLnBrk="0" hangingPunct="1">
                        <a:lnSpc>
                          <a:spcPct val="100000"/>
                        </a:lnSpc>
                        <a:spcBef>
                          <a:spcPts val="0"/>
                        </a:spcBef>
                        <a:spcAft>
                          <a:spcPts val="0"/>
                        </a:spcAft>
                        <a:buClrTx/>
                        <a:buSzTx/>
                        <a:buFontTx/>
                        <a:buNone/>
                        <a:tabLst/>
                        <a:defRPr/>
                      </a:pPr>
                      <a:r>
                        <a:rPr lang="ar-SA" sz="1400" b="1" kern="1200" noProof="0" dirty="0">
                          <a:effectLst/>
                        </a:rPr>
                        <a:t>الحاجة إلى تطوير وتحسين  مؤشرات قياس أداء لبعض الخدمات / الإجراءات</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B w="12700" cap="flat" cmpd="sng" algn="ctr">
                      <a:solidFill>
                        <a:schemeClr val="accent1"/>
                      </a:solidFill>
                      <a:prstDash val="solid"/>
                      <a:round/>
                      <a:headEnd type="none" w="med" len="med"/>
                      <a:tailEnd type="none" w="med" len="med"/>
                    </a:lnB>
                  </a:tcPr>
                </a:tc>
                <a:extLst>
                  <a:ext uri="{0D108BD9-81ED-4DB2-BD59-A6C34878D82A}">
                    <a16:rowId xmlns:a16="http://schemas.microsoft.com/office/drawing/2014/main" val="1128065702"/>
                  </a:ext>
                </a:extLst>
              </a:tr>
              <a:tr h="0">
                <a:tc vMerge="1">
                  <a:txBody>
                    <a:bodyPr/>
                    <a:lstStyle/>
                    <a:p>
                      <a:endParaRPr lang="en-US"/>
                    </a:p>
                  </a:txBody>
                  <a:tcPr/>
                </a:tc>
                <a:tc vMerge="1">
                  <a:txBody>
                    <a:bodyPr/>
                    <a:lstStyle/>
                    <a:p>
                      <a:endParaRPr lang="en-US"/>
                    </a:p>
                  </a:txBody>
                  <a:tcPr/>
                </a:tc>
                <a:tc vMerge="1">
                  <a:txBody>
                    <a:bodyPr/>
                    <a:lstStyle/>
                    <a:p>
                      <a:endParaRPr lang="en-US"/>
                    </a:p>
                  </a:txBody>
                  <a:tcPr/>
                </a:tc>
                <a:tc>
                  <a:txBody>
                    <a:bodyPr/>
                    <a:lstStyle/>
                    <a:p>
                      <a:pPr marL="0" marR="0" lvl="0" indent="0" algn="just" defTabSz="914400" rtl="1" eaLnBrk="1" fontAlgn="auto" latinLnBrk="0" hangingPunct="1">
                        <a:lnSpc>
                          <a:spcPct val="100000"/>
                        </a:lnSpc>
                        <a:spcBef>
                          <a:spcPts val="0"/>
                        </a:spcBef>
                        <a:spcAft>
                          <a:spcPts val="0"/>
                        </a:spcAft>
                        <a:buClrTx/>
                        <a:buSzTx/>
                        <a:buFont typeface="Arial" panose="020B0604020202020204" pitchFamily="34" charset="0"/>
                        <a:buNone/>
                        <a:tabLst/>
                        <a:defRPr/>
                      </a:pPr>
                      <a:r>
                        <a:rPr lang="ar-SA" sz="1200" noProof="0" dirty="0"/>
                        <a:t>عدم إمكانية قياس الأداء لبعض الخدمات / الإجراءات </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marL="0" marR="0" lvl="0" indent="0" algn="ctr" defTabSz="914400" rtl="1" eaLnBrk="1" fontAlgn="auto" latinLnBrk="0" hangingPunct="1">
                        <a:lnSpc>
                          <a:spcPct val="100000"/>
                        </a:lnSpc>
                        <a:spcBef>
                          <a:spcPts val="0"/>
                        </a:spcBef>
                        <a:spcAft>
                          <a:spcPts val="0"/>
                        </a:spcAft>
                        <a:buClrTx/>
                        <a:buSzTx/>
                        <a:buFont typeface="Arial" panose="020B0604020202020204" pitchFamily="34" charset="0"/>
                        <a:buNone/>
                        <a:tabLst/>
                        <a:defRPr/>
                      </a:pPr>
                      <a:r>
                        <a:rPr lang="ar-SA" sz="1400" b="1" kern="1200" noProof="0" dirty="0">
                          <a:solidFill>
                            <a:schemeClr val="accent1"/>
                          </a:solidFill>
                        </a:rPr>
                        <a:t>الأثر الحالي</a:t>
                      </a:r>
                      <a:endParaRPr lang="ar-SA" sz="1400" b="1" noProof="0" dirty="0">
                        <a:solidFill>
                          <a:schemeClr val="accent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lumMod val="95000"/>
                      </a:schemeClr>
                    </a:solidFill>
                  </a:tcPr>
                </a:tc>
                <a:tc vMerge="1">
                  <a:txBody>
                    <a:bodyPr/>
                    <a:lstStyle/>
                    <a:p>
                      <a:endParaRPr lang="en-US"/>
                    </a:p>
                  </a:txBody>
                  <a:tcPr/>
                </a:tc>
                <a:extLst>
                  <a:ext uri="{0D108BD9-81ED-4DB2-BD59-A6C34878D82A}">
                    <a16:rowId xmlns:a16="http://schemas.microsoft.com/office/drawing/2014/main" val="1163892829"/>
                  </a:ext>
                </a:extLst>
              </a:tr>
              <a:tr h="0">
                <a:tc vMerge="1">
                  <a:txBody>
                    <a:bodyPr/>
                    <a:lstStyle/>
                    <a:p>
                      <a:endParaRPr lang="en-US"/>
                    </a:p>
                  </a:txBody>
                  <a:tcPr/>
                </a:tc>
                <a:tc vMerge="1">
                  <a:txBody>
                    <a:bodyPr/>
                    <a:lstStyle/>
                    <a:p>
                      <a:endParaRPr lang="en-US"/>
                    </a:p>
                  </a:txBody>
                  <a:tcPr/>
                </a:tc>
                <a:tc vMerge="1">
                  <a:txBody>
                    <a:bodyPr/>
                    <a:lstStyle/>
                    <a:p>
                      <a:endParaRPr lang="en-US"/>
                    </a:p>
                  </a:txBody>
                  <a:tcPr/>
                </a:tc>
                <a:tc>
                  <a:txBody>
                    <a:bodyPr/>
                    <a:lstStyle/>
                    <a:p>
                      <a:pPr marL="0" marR="0" lvl="0" indent="0" algn="just" defTabSz="914400" rtl="1" eaLnBrk="1" fontAlgn="auto" latinLnBrk="0" hangingPunct="1">
                        <a:lnSpc>
                          <a:spcPct val="100000"/>
                        </a:lnSpc>
                        <a:spcBef>
                          <a:spcPts val="0"/>
                        </a:spcBef>
                        <a:spcAft>
                          <a:spcPts val="0"/>
                        </a:spcAft>
                        <a:buClrTx/>
                        <a:buSzTx/>
                        <a:buFont typeface="Arial" panose="020B0604020202020204" pitchFamily="34" charset="0"/>
                        <a:buNone/>
                        <a:tabLst/>
                        <a:defRPr/>
                      </a:pPr>
                      <a:r>
                        <a:rPr lang="ar-SA" sz="1200" noProof="0" dirty="0"/>
                        <a:t>إمكانية قياس الأداء لكامل الخدمات / الإجراءات </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marL="0" marR="0" lvl="0" indent="0" algn="ctr" defTabSz="914400" rtl="1" eaLnBrk="1" fontAlgn="auto" latinLnBrk="0" hangingPunct="1">
                        <a:lnSpc>
                          <a:spcPct val="100000"/>
                        </a:lnSpc>
                        <a:spcBef>
                          <a:spcPts val="0"/>
                        </a:spcBef>
                        <a:spcAft>
                          <a:spcPts val="0"/>
                        </a:spcAft>
                        <a:buClrTx/>
                        <a:buSzTx/>
                        <a:buFont typeface="Arial" panose="020B0604020202020204" pitchFamily="34" charset="0"/>
                        <a:buNone/>
                        <a:tabLst/>
                        <a:defRPr/>
                      </a:pPr>
                      <a:r>
                        <a:rPr lang="ar-SA" sz="1400" b="1" noProof="0" dirty="0">
                          <a:solidFill>
                            <a:schemeClr val="accent1"/>
                          </a:solidFill>
                        </a:rPr>
                        <a:t>الأثر بعد الردم (المعالجة)</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lumMod val="95000"/>
                      </a:schemeClr>
                    </a:solidFill>
                  </a:tcPr>
                </a:tc>
                <a:tc vMerge="1">
                  <a:txBody>
                    <a:bodyPr/>
                    <a:lstStyle/>
                    <a:p>
                      <a:endParaRPr lang="en-US"/>
                    </a:p>
                  </a:txBody>
                  <a:tcPr/>
                </a:tc>
                <a:extLst>
                  <a:ext uri="{0D108BD9-81ED-4DB2-BD59-A6C34878D82A}">
                    <a16:rowId xmlns:a16="http://schemas.microsoft.com/office/drawing/2014/main" val="1973569126"/>
                  </a:ext>
                </a:extLst>
              </a:tr>
              <a:tr h="0">
                <a:tc vMerge="1">
                  <a:txBody>
                    <a:bodyPr/>
                    <a:lstStyle/>
                    <a:p>
                      <a:endParaRPr lang="en-US"/>
                    </a:p>
                  </a:txBody>
                  <a:tcPr/>
                </a:tc>
                <a:tc vMerge="1">
                  <a:txBody>
                    <a:bodyPr/>
                    <a:lstStyle/>
                    <a:p>
                      <a:endParaRPr lang="en-US"/>
                    </a:p>
                  </a:txBody>
                  <a:tcPr/>
                </a:tc>
                <a:tc vMerge="1">
                  <a:txBody>
                    <a:bodyPr/>
                    <a:lstStyle/>
                    <a:p>
                      <a:endParaRPr lang="en-US"/>
                    </a:p>
                  </a:txBody>
                  <a:tcPr/>
                </a:tc>
                <a:tc>
                  <a:txBody>
                    <a:bodyPr/>
                    <a:lstStyle/>
                    <a:p>
                      <a:pPr marL="0" marR="0" lvl="0" indent="0" algn="just" defTabSz="914400" rtl="1" eaLnBrk="1" fontAlgn="auto" latinLnBrk="0" hangingPunct="1">
                        <a:lnSpc>
                          <a:spcPct val="100000"/>
                        </a:lnSpc>
                        <a:spcBef>
                          <a:spcPts val="0"/>
                        </a:spcBef>
                        <a:spcAft>
                          <a:spcPts val="0"/>
                        </a:spcAft>
                        <a:buClrTx/>
                        <a:buSzTx/>
                        <a:buFont typeface="Arial" panose="020B0604020202020204" pitchFamily="34" charset="0"/>
                        <a:buNone/>
                        <a:tabLst/>
                        <a:defRPr/>
                      </a:pPr>
                      <a:r>
                        <a:rPr lang="ar-SA" sz="1200" kern="1200" noProof="0" dirty="0">
                          <a:effectLst/>
                        </a:rPr>
                        <a:t>توفير معدلات لقياس أداء كل خدمات وإجراءات العمل للتأكد من أن تنفيذ الإدارات لأعمالها يتم وفق معدلات الأداء القياسية المتوقعة، </a:t>
                      </a:r>
                      <a:r>
                        <a:rPr lang="ar-SA" sz="1200" kern="1200" noProof="0" dirty="0">
                          <a:solidFill>
                            <a:schemeClr val="tx1"/>
                          </a:solidFill>
                          <a:latin typeface="+mn-lt"/>
                          <a:ea typeface="+mn-ea"/>
                          <a:cs typeface="Sakkal Majalla" panose="02000000000000000000" pitchFamily="2" charset="-78"/>
                        </a:rPr>
                        <a:t>ضرورة اعتماد مؤشرات أداء رئيسية (</a:t>
                      </a:r>
                      <a:r>
                        <a:rPr lang="ar-SA" sz="1200" kern="1200" noProof="0" dirty="0" err="1">
                          <a:solidFill>
                            <a:schemeClr val="tx1"/>
                          </a:solidFill>
                          <a:latin typeface="+mn-lt"/>
                          <a:ea typeface="+mn-ea"/>
                          <a:cs typeface="Sakkal Majalla" panose="02000000000000000000" pitchFamily="2" charset="-78"/>
                        </a:rPr>
                        <a:t>KPIs</a:t>
                      </a:r>
                      <a:r>
                        <a:rPr lang="ar-SA" sz="1200" kern="1200" noProof="0" dirty="0">
                          <a:solidFill>
                            <a:schemeClr val="tx1"/>
                          </a:solidFill>
                          <a:latin typeface="+mn-lt"/>
                          <a:ea typeface="+mn-ea"/>
                          <a:cs typeface="Sakkal Majalla" panose="02000000000000000000" pitchFamily="2" charset="-78"/>
                        </a:rPr>
                        <a:t>) لكل إجراء وخدمة تعكس مدى مساهمتها في تحقيق الأهداف الاستراتيجية ، تطوير نظام متكامل لقياس أداء الإجراءات وربطها بالأهداف الاستراتيجية للجهة</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marL="0" marR="0" lvl="0" indent="0" algn="ctr" defTabSz="914400" rtl="1" eaLnBrk="1" fontAlgn="auto" latinLnBrk="0" hangingPunct="1">
                        <a:lnSpc>
                          <a:spcPct val="100000"/>
                        </a:lnSpc>
                        <a:spcBef>
                          <a:spcPts val="0"/>
                        </a:spcBef>
                        <a:spcAft>
                          <a:spcPts val="0"/>
                        </a:spcAft>
                        <a:buClrTx/>
                        <a:buSzTx/>
                        <a:buFont typeface="Arial" panose="020B0604020202020204" pitchFamily="34" charset="0"/>
                        <a:buNone/>
                        <a:tabLst/>
                        <a:defRPr/>
                      </a:pPr>
                      <a:r>
                        <a:rPr lang="ar-SA" sz="1400" b="1" noProof="0" dirty="0">
                          <a:solidFill>
                            <a:schemeClr val="accent1"/>
                          </a:solidFill>
                        </a:rPr>
                        <a:t>تغطية الفجوة </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accent1"/>
                      </a:solidFill>
                      <a:prstDash val="solid"/>
                      <a:round/>
                      <a:headEnd type="none" w="med" len="med"/>
                      <a:tailEnd type="none" w="med" len="med"/>
                    </a:lnB>
                    <a:solidFill>
                      <a:schemeClr val="bg1">
                        <a:lumMod val="95000"/>
                      </a:schemeClr>
                    </a:solidFill>
                  </a:tcPr>
                </a:tc>
                <a:tc vMerge="1">
                  <a:txBody>
                    <a:bodyPr/>
                    <a:lstStyle/>
                    <a:p>
                      <a:endParaRPr lang="en-US"/>
                    </a:p>
                  </a:txBody>
                  <a:tcPr/>
                </a:tc>
                <a:extLst>
                  <a:ext uri="{0D108BD9-81ED-4DB2-BD59-A6C34878D82A}">
                    <a16:rowId xmlns:a16="http://schemas.microsoft.com/office/drawing/2014/main" val="4011636746"/>
                  </a:ext>
                </a:extLst>
              </a:tr>
              <a:tr h="0">
                <a:tc rowSpan="4">
                  <a:txBody>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lang="ar-SA" sz="1400" noProof="0" dirty="0"/>
                        <a:t>ملف حصر الأعمال ، دراسة وثائق الأعمال للجهة المتوفرة بالوضع الحالي ، ورش العمل لحصر الأعمال مع الوحدات الإدارية المعنية ،تطلعات أصحاب المصلحة</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rowSpan="4">
                  <a:txBody>
                    <a:bodyPr/>
                    <a:lstStyle/>
                    <a:p>
                      <a:pPr marL="0" marR="0" lvl="0" indent="0" algn="ctr" defTabSz="914400" rtl="1" eaLnBrk="1" fontAlgn="auto" latinLnBrk="0" hangingPunct="1">
                        <a:lnSpc>
                          <a:spcPct val="100000"/>
                        </a:lnSpc>
                        <a:spcBef>
                          <a:spcPts val="0"/>
                        </a:spcBef>
                        <a:spcAft>
                          <a:spcPts val="0"/>
                        </a:spcAft>
                        <a:buClrTx/>
                        <a:buSzTx/>
                        <a:buFont typeface="Arial" panose="020B0604020202020204" pitchFamily="34" charset="0"/>
                        <a:buNone/>
                        <a:tabLst/>
                        <a:defRPr/>
                      </a:pPr>
                      <a:r>
                        <a:rPr lang="ar-SA" sz="1400" noProof="0" dirty="0"/>
                        <a:t>عالي</a:t>
                      </a:r>
                    </a:p>
                  </a:txBody>
                  <a:tcPr anchor="ctr">
                    <a:lnL w="12700" cap="flat" cmpd="sng" algn="ctr">
                      <a:no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solidFill>
                      <a:schemeClr val="bg1">
                        <a:lumMod val="95000"/>
                        <a:alpha val="5000"/>
                      </a:schemeClr>
                    </a:solidFill>
                  </a:tcPr>
                </a:tc>
                <a:tc rowSpan="4">
                  <a:txBody>
                    <a:bodyPr/>
                    <a:lstStyle/>
                    <a:p>
                      <a:pPr marL="0" marR="0" lvl="0" indent="0" algn="ctr" defTabSz="914400" rtl="1" eaLnBrk="1" fontAlgn="auto" latinLnBrk="0" hangingPunct="1">
                        <a:lnSpc>
                          <a:spcPct val="100000"/>
                        </a:lnSpc>
                        <a:spcBef>
                          <a:spcPts val="0"/>
                        </a:spcBef>
                        <a:spcAft>
                          <a:spcPts val="0"/>
                        </a:spcAft>
                        <a:buClrTx/>
                        <a:buSzTx/>
                        <a:buFont typeface="Arial" panose="020B0604020202020204" pitchFamily="34" charset="0"/>
                        <a:buNone/>
                        <a:tabLst/>
                        <a:defRPr/>
                      </a:pPr>
                      <a:r>
                        <a:rPr lang="ar-SA" sz="1400" noProof="0" dirty="0"/>
                        <a:t>عالي</a:t>
                      </a:r>
                    </a:p>
                  </a:txBody>
                  <a:tcPr anchor="ctr">
                    <a:lnL w="12700" cap="flat" cmpd="sng" algn="ctr">
                      <a:solidFill>
                        <a:schemeClr val="bg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solidFill>
                      <a:schemeClr val="bg1">
                        <a:lumMod val="95000"/>
                        <a:alpha val="5000"/>
                      </a:schemeClr>
                    </a:solidFill>
                  </a:tcPr>
                </a:tc>
                <a:tc>
                  <a:txBody>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lang="ar-SA" sz="1200" u="none" strike="noStrike" noProof="0" dirty="0">
                          <a:effectLst/>
                        </a:rPr>
                        <a:t>يوجد نماذج موحدة لتوثيق إجراءات </a:t>
                      </a:r>
                      <a:r>
                        <a:rPr lang="ar-SA" sz="1200" b="0" u="none" strike="noStrike" noProof="0" dirty="0">
                          <a:effectLst/>
                        </a:rPr>
                        <a:t>العمل (أدلة الأعمال</a:t>
                      </a:r>
                      <a:r>
                        <a:rPr lang="ar-SA" sz="1200" b="0" u="none" strike="noStrike" kern="1200" noProof="0" dirty="0">
                          <a:solidFill>
                            <a:schemeClr val="tx1"/>
                          </a:solidFill>
                          <a:effectLst/>
                          <a:latin typeface="+mn-lt"/>
                          <a:ea typeface="+mn-ea"/>
                          <a:cs typeface="+mn-cs"/>
                        </a:rPr>
                        <a:t> </a:t>
                      </a:r>
                      <a:r>
                        <a:rPr lang="ar-SA" sz="1200" u="none" strike="noStrike" kern="1200" noProof="0" dirty="0">
                          <a:solidFill>
                            <a:schemeClr val="tx1"/>
                          </a:solidFill>
                          <a:effectLst/>
                          <a:latin typeface="+mn-lt"/>
                          <a:ea typeface="+mn-ea"/>
                          <a:cs typeface="+mn-cs"/>
                        </a:rPr>
                        <a:t>الإجرائية) تحتاج إلى مراجعة وتحديث بانتظام لضمان توافقها مع التغيرات والاحتياجات الجديدة</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marL="0" marR="0" lvl="0" indent="0" algn="ctr" defTabSz="914400" rtl="1" eaLnBrk="1" fontAlgn="auto" latinLnBrk="0" hangingPunct="1">
                        <a:lnSpc>
                          <a:spcPct val="100000"/>
                        </a:lnSpc>
                        <a:spcBef>
                          <a:spcPts val="0"/>
                        </a:spcBef>
                        <a:spcAft>
                          <a:spcPts val="0"/>
                        </a:spcAft>
                        <a:buClrTx/>
                        <a:buSzTx/>
                        <a:buFont typeface="Arial" panose="020B0604020202020204" pitchFamily="34" charset="0"/>
                        <a:buNone/>
                        <a:tabLst/>
                        <a:defRPr/>
                      </a:pPr>
                      <a:r>
                        <a:rPr lang="ar-SA" sz="1400" b="1" noProof="0" dirty="0">
                          <a:solidFill>
                            <a:schemeClr val="accent1"/>
                          </a:solidFill>
                        </a:rPr>
                        <a:t>الوصف</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lumMod val="95000"/>
                      </a:schemeClr>
                    </a:solidFill>
                  </a:tcPr>
                </a:tc>
                <a:tc rowSpan="4">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ar-SA" sz="1600" b="1" u="none" strike="noStrike" kern="1200" cap="none" spc="0" normalizeH="0" baseline="0" noProof="0" dirty="0">
                          <a:ln>
                            <a:noFill/>
                          </a:ln>
                          <a:effectLst/>
                          <a:uLnTx/>
                          <a:uFillTx/>
                        </a:rPr>
                        <a:t>GAP-B-08</a:t>
                      </a:r>
                      <a:r>
                        <a:rPr lang="ar-SA" sz="1400" b="1" kern="1200" noProof="0" dirty="0">
                          <a:effectLst/>
                        </a:rPr>
                        <a:t> </a:t>
                      </a:r>
                    </a:p>
                    <a:p>
                      <a:pPr marL="0" marR="0" lvl="0" indent="0" algn="r" defTabSz="914400" rtl="1" eaLnBrk="1" fontAlgn="auto" latinLnBrk="0" hangingPunct="1">
                        <a:lnSpc>
                          <a:spcPct val="100000"/>
                        </a:lnSpc>
                        <a:spcBef>
                          <a:spcPts val="0"/>
                        </a:spcBef>
                        <a:spcAft>
                          <a:spcPts val="0"/>
                        </a:spcAft>
                        <a:buClrTx/>
                        <a:buSzTx/>
                        <a:buFontTx/>
                        <a:buNone/>
                        <a:tabLst/>
                        <a:defRPr/>
                      </a:pPr>
                      <a:r>
                        <a:rPr lang="ar-SA" sz="1400" b="1" u="none" strike="noStrike" noProof="0" dirty="0">
                          <a:effectLst/>
                        </a:rPr>
                        <a:t>يوجد نماذج موحدة لتوثيق إجراءات العمل (أدلة الأعمال</a:t>
                      </a:r>
                      <a:r>
                        <a:rPr lang="ar-SA" sz="1400" b="1" u="none" strike="noStrike" kern="1200" noProof="0" dirty="0">
                          <a:solidFill>
                            <a:schemeClr val="tx1"/>
                          </a:solidFill>
                          <a:effectLst/>
                          <a:latin typeface="+mn-lt"/>
                          <a:ea typeface="+mn-ea"/>
                          <a:cs typeface="+mn-cs"/>
                        </a:rPr>
                        <a:t> الإجرائية) ولكنها تحتاج إلى مراجعة وتحديث بانتظام لضمان توافقها مع التغيرات والاحتياجات الجديدة</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extLst>
                  <a:ext uri="{0D108BD9-81ED-4DB2-BD59-A6C34878D82A}">
                    <a16:rowId xmlns:a16="http://schemas.microsoft.com/office/drawing/2014/main" val="1136131386"/>
                  </a:ext>
                </a:extLst>
              </a:tr>
              <a:tr h="0">
                <a:tc vMerge="1">
                  <a:txBody>
                    <a:bodyPr/>
                    <a:lstStyle/>
                    <a:p>
                      <a:pPr marL="0" marR="0" lvl="0" indent="0" algn="r" defTabSz="914400" rtl="1" eaLnBrk="1" fontAlgn="auto" latinLnBrk="0" hangingPunct="1">
                        <a:lnSpc>
                          <a:spcPct val="100000"/>
                        </a:lnSpc>
                        <a:spcBef>
                          <a:spcPts val="0"/>
                        </a:spcBef>
                        <a:spcAft>
                          <a:spcPts val="0"/>
                        </a:spcAft>
                        <a:buClrTx/>
                        <a:buSzTx/>
                        <a:buFontTx/>
                        <a:buNone/>
                        <a:tabLst/>
                        <a:defRPr/>
                      </a:pPr>
                      <a:endParaRPr lang="en-GB" sz="1400" noProof="0" dirty="0"/>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vMerge="1">
                  <a:txBody>
                    <a:bodyPr/>
                    <a:lstStyle/>
                    <a:p>
                      <a:endParaRPr lang="en-US"/>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vMerge="1">
                  <a:txBody>
                    <a:bodyPr/>
                    <a:lstStyle/>
                    <a:p>
                      <a:endParaRPr lang="en-US"/>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marL="0" marR="0" lvl="0" indent="0" algn="just" defTabSz="914400" rtl="1" eaLnBrk="1" fontAlgn="auto" latinLnBrk="0" hangingPunct="1">
                        <a:lnSpc>
                          <a:spcPct val="100000"/>
                        </a:lnSpc>
                        <a:spcBef>
                          <a:spcPts val="0"/>
                        </a:spcBef>
                        <a:spcAft>
                          <a:spcPts val="0"/>
                        </a:spcAft>
                        <a:buClrTx/>
                        <a:buSzTx/>
                        <a:buFont typeface="Arial" panose="020B0604020202020204" pitchFamily="34" charset="0"/>
                        <a:buNone/>
                        <a:tabLst/>
                        <a:defRPr/>
                      </a:pPr>
                      <a:r>
                        <a:rPr lang="ar-SA" sz="1200" kern="1200" noProof="0" dirty="0">
                          <a:effectLst/>
                        </a:rPr>
                        <a:t>صعوبة الرجوع للأدلة الإجرائية للتحقق من تفاصيل الخدمات والإجراءات المحدثة</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marL="0" marR="0" lvl="0" indent="0" algn="ctr" defTabSz="914400" rtl="1" eaLnBrk="1" fontAlgn="auto" latinLnBrk="0" hangingPunct="1">
                        <a:lnSpc>
                          <a:spcPct val="100000"/>
                        </a:lnSpc>
                        <a:spcBef>
                          <a:spcPts val="0"/>
                        </a:spcBef>
                        <a:spcAft>
                          <a:spcPts val="0"/>
                        </a:spcAft>
                        <a:buClrTx/>
                        <a:buSzTx/>
                        <a:buFont typeface="Arial" panose="020B0604020202020204" pitchFamily="34" charset="0"/>
                        <a:buNone/>
                        <a:tabLst/>
                        <a:defRPr/>
                      </a:pPr>
                      <a:r>
                        <a:rPr lang="ar-SA" sz="1400" b="1" kern="1200" noProof="0" dirty="0">
                          <a:solidFill>
                            <a:schemeClr val="accent1"/>
                          </a:solidFill>
                        </a:rPr>
                        <a:t>الأثر الحالي</a:t>
                      </a:r>
                      <a:endParaRPr lang="ar-SA" sz="1400" b="1" noProof="0" dirty="0">
                        <a:solidFill>
                          <a:schemeClr val="accent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lumMod val="95000"/>
                      </a:schemeClr>
                    </a:solidFill>
                  </a:tcPr>
                </a:tc>
                <a:tc vMerge="1">
                  <a:txBody>
                    <a:bodyPr/>
                    <a:lstStyle/>
                    <a:p>
                      <a:pPr marL="0" marR="0" lvl="0" indent="0" algn="r" defTabSz="914400" rtl="1" eaLnBrk="1" fontAlgn="auto" latinLnBrk="0" hangingPunct="1">
                        <a:lnSpc>
                          <a:spcPct val="100000"/>
                        </a:lnSpc>
                        <a:spcBef>
                          <a:spcPts val="0"/>
                        </a:spcBef>
                        <a:spcAft>
                          <a:spcPts val="0"/>
                        </a:spcAft>
                        <a:buClrTx/>
                        <a:buSzTx/>
                        <a:buFontTx/>
                        <a:buNone/>
                        <a:tabLst/>
                        <a:defRPr/>
                      </a:pPr>
                      <a:endParaRPr lang="en-GB" sz="1400" b="1" noProof="0" dirty="0"/>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extLst>
                  <a:ext uri="{0D108BD9-81ED-4DB2-BD59-A6C34878D82A}">
                    <a16:rowId xmlns:a16="http://schemas.microsoft.com/office/drawing/2014/main" val="918118369"/>
                  </a:ext>
                </a:extLst>
              </a:tr>
              <a:tr h="0">
                <a:tc vMerge="1">
                  <a:txBody>
                    <a:bodyPr/>
                    <a:lstStyle/>
                    <a:p>
                      <a:pPr marL="0" marR="0" lvl="0" indent="0" algn="r" defTabSz="914400" rtl="1" eaLnBrk="1" fontAlgn="auto" latinLnBrk="0" hangingPunct="1">
                        <a:lnSpc>
                          <a:spcPct val="100000"/>
                        </a:lnSpc>
                        <a:spcBef>
                          <a:spcPts val="0"/>
                        </a:spcBef>
                        <a:spcAft>
                          <a:spcPts val="0"/>
                        </a:spcAft>
                        <a:buClrTx/>
                        <a:buSzTx/>
                        <a:buFontTx/>
                        <a:buNone/>
                        <a:tabLst/>
                        <a:defRPr/>
                      </a:pPr>
                      <a:endParaRPr lang="en-GB" sz="1400" noProof="0" dirty="0"/>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vMerge="1">
                  <a:txBody>
                    <a:bodyPr/>
                    <a:lstStyle/>
                    <a:p>
                      <a:endParaRPr lang="en-US"/>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vMerge="1">
                  <a:txBody>
                    <a:bodyPr/>
                    <a:lstStyle/>
                    <a:p>
                      <a:endParaRPr lang="en-US"/>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marL="0" marR="0" lvl="0" indent="0" algn="just" defTabSz="914400" rtl="1" eaLnBrk="1" fontAlgn="auto" latinLnBrk="0" hangingPunct="1">
                        <a:lnSpc>
                          <a:spcPct val="100000"/>
                        </a:lnSpc>
                        <a:spcBef>
                          <a:spcPts val="0"/>
                        </a:spcBef>
                        <a:spcAft>
                          <a:spcPts val="0"/>
                        </a:spcAft>
                        <a:buClrTx/>
                        <a:buSzTx/>
                        <a:buFont typeface="Arial" panose="020B0604020202020204" pitchFamily="34" charset="0"/>
                        <a:buNone/>
                        <a:tabLst/>
                        <a:defRPr/>
                      </a:pPr>
                      <a:r>
                        <a:rPr lang="ar-SA" sz="1200" kern="1200" noProof="0" dirty="0">
                          <a:effectLst/>
                        </a:rPr>
                        <a:t>إمكانية الرجوع للأدلة الإجرائية للتحقق من تفاصيل الخدمات والإجراءات المحدثة</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marL="0" marR="0" lvl="0" indent="0" algn="ctr" defTabSz="914400" rtl="1" eaLnBrk="1" fontAlgn="auto" latinLnBrk="0" hangingPunct="1">
                        <a:lnSpc>
                          <a:spcPct val="100000"/>
                        </a:lnSpc>
                        <a:spcBef>
                          <a:spcPts val="0"/>
                        </a:spcBef>
                        <a:spcAft>
                          <a:spcPts val="0"/>
                        </a:spcAft>
                        <a:buClrTx/>
                        <a:buSzTx/>
                        <a:buFont typeface="Arial" panose="020B0604020202020204" pitchFamily="34" charset="0"/>
                        <a:buNone/>
                        <a:tabLst/>
                        <a:defRPr/>
                      </a:pPr>
                      <a:r>
                        <a:rPr lang="ar-SA" sz="1400" b="1" noProof="0" dirty="0">
                          <a:solidFill>
                            <a:schemeClr val="accent1"/>
                          </a:solidFill>
                        </a:rPr>
                        <a:t>الأثر بعد الردم (المعالجة)</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lumMod val="95000"/>
                      </a:schemeClr>
                    </a:solidFill>
                  </a:tcPr>
                </a:tc>
                <a:tc vMerge="1">
                  <a:txBody>
                    <a:bodyPr/>
                    <a:lstStyle/>
                    <a:p>
                      <a:pPr marL="0" marR="0" lvl="0" indent="0" algn="r" defTabSz="914400" rtl="1" eaLnBrk="1" fontAlgn="auto" latinLnBrk="0" hangingPunct="1">
                        <a:lnSpc>
                          <a:spcPct val="100000"/>
                        </a:lnSpc>
                        <a:spcBef>
                          <a:spcPts val="0"/>
                        </a:spcBef>
                        <a:spcAft>
                          <a:spcPts val="0"/>
                        </a:spcAft>
                        <a:buClrTx/>
                        <a:buSzTx/>
                        <a:buFontTx/>
                        <a:buNone/>
                        <a:tabLst/>
                        <a:defRPr/>
                      </a:pPr>
                      <a:endParaRPr lang="en-GB" sz="1400" b="1" noProof="0" dirty="0"/>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extLst>
                  <a:ext uri="{0D108BD9-81ED-4DB2-BD59-A6C34878D82A}">
                    <a16:rowId xmlns:a16="http://schemas.microsoft.com/office/drawing/2014/main" val="4153014111"/>
                  </a:ext>
                </a:extLst>
              </a:tr>
              <a:tr h="0">
                <a:tc vMerge="1">
                  <a:txBody>
                    <a:bodyPr/>
                    <a:lstStyle/>
                    <a:p>
                      <a:pPr marL="0" marR="0" lvl="0" indent="0" algn="r" defTabSz="914400" rtl="1" eaLnBrk="1" fontAlgn="auto" latinLnBrk="0" hangingPunct="1">
                        <a:lnSpc>
                          <a:spcPct val="100000"/>
                        </a:lnSpc>
                        <a:spcBef>
                          <a:spcPts val="0"/>
                        </a:spcBef>
                        <a:spcAft>
                          <a:spcPts val="0"/>
                        </a:spcAft>
                        <a:buClrTx/>
                        <a:buSzTx/>
                        <a:buFontTx/>
                        <a:buNone/>
                        <a:tabLst/>
                        <a:defRPr/>
                      </a:pPr>
                      <a:endParaRPr lang="en-GB" sz="1400" noProof="0" dirty="0"/>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vMerge="1">
                  <a:txBody>
                    <a:bodyPr/>
                    <a:lstStyle/>
                    <a:p>
                      <a:endParaRPr lang="en-US"/>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vMerge="1">
                  <a:txBody>
                    <a:bodyPr/>
                    <a:lstStyle/>
                    <a:p>
                      <a:endParaRPr lang="en-US"/>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marL="0" marR="0" lvl="0" indent="0" algn="just" defTabSz="914400" rtl="1" eaLnBrk="1" fontAlgn="auto" latinLnBrk="0" hangingPunct="1">
                        <a:lnSpc>
                          <a:spcPct val="100000"/>
                        </a:lnSpc>
                        <a:spcBef>
                          <a:spcPts val="0"/>
                        </a:spcBef>
                        <a:spcAft>
                          <a:spcPts val="0"/>
                        </a:spcAft>
                        <a:buClrTx/>
                        <a:buSzTx/>
                        <a:buFont typeface="Arial" panose="020B0604020202020204" pitchFamily="34" charset="0"/>
                        <a:buNone/>
                        <a:tabLst/>
                        <a:defRPr/>
                      </a:pPr>
                      <a:r>
                        <a:rPr lang="ar-SA" sz="1200" u="none" strike="noStrike" noProof="0" dirty="0">
                          <a:effectLst/>
                        </a:rPr>
                        <a:t>توفير نماذج موحدة لتوثيق إجراءات العمل (</a:t>
                      </a:r>
                      <a:r>
                        <a:rPr lang="ar-SA" sz="1200" u="none" strike="noStrike" kern="1200" noProof="0" dirty="0">
                          <a:solidFill>
                            <a:schemeClr val="tx1"/>
                          </a:solidFill>
                          <a:effectLst/>
                          <a:latin typeface="+mn-lt"/>
                          <a:ea typeface="+mn-ea"/>
                          <a:cs typeface="+mn-cs"/>
                        </a:rPr>
                        <a:t>أدلة الأعمال الإجرائية</a:t>
                      </a:r>
                      <a:r>
                        <a:rPr lang="ar-SA" sz="1200" u="none" strike="noStrike" noProof="0" dirty="0">
                          <a:effectLst/>
                        </a:rPr>
                        <a:t>)</a:t>
                      </a:r>
                      <a:r>
                        <a:rPr lang="ar-SA" sz="1200" b="1" u="none" strike="noStrike" noProof="0" dirty="0">
                          <a:effectLst/>
                        </a:rPr>
                        <a:t> </a:t>
                      </a:r>
                      <a:r>
                        <a:rPr lang="ar-SA" sz="1200" noProof="0" dirty="0"/>
                        <a:t>على نطاق واسع من </a:t>
                      </a:r>
                      <a:r>
                        <a:rPr lang="ar-SA" sz="1200" baseline="0" noProof="0" dirty="0">
                          <a:effectLst/>
                          <a:latin typeface="Sakkal Majalla" panose="02000000000000000000" pitchFamily="2" charset="-78"/>
                          <a:ea typeface="Sakkal Majalla" panose="02000000000000000000" pitchFamily="2" charset="-78"/>
                          <a:cs typeface="Sakkal Majalla" panose="02000000000000000000" pitchFamily="2" charset="-78"/>
                        </a:rPr>
                        <a:t>الجهة</a:t>
                      </a:r>
                      <a:r>
                        <a:rPr lang="ar-SA" sz="1200" noProof="0" dirty="0"/>
                        <a:t> </a:t>
                      </a:r>
                      <a:r>
                        <a:rPr lang="ar-SA" sz="1200" u="none" strike="noStrike" noProof="0" dirty="0">
                          <a:effectLst/>
                        </a:rPr>
                        <a:t>مما يعزز من </a:t>
                      </a:r>
                      <a:r>
                        <a:rPr lang="ar-SA" sz="1200" noProof="0" dirty="0"/>
                        <a:t>التنظيم والكفاءة والاتساق </a:t>
                      </a:r>
                      <a:r>
                        <a:rPr lang="ar-SA" sz="1200" u="none" strike="noStrike" noProof="0" dirty="0">
                          <a:effectLst/>
                        </a:rPr>
                        <a:t>في تنفيذ العمليات. ويمكن استغلالها </a:t>
                      </a:r>
                      <a:r>
                        <a:rPr lang="ar-SA" sz="1200" u="none" strike="noStrike" kern="1200" noProof="0" dirty="0">
                          <a:solidFill>
                            <a:schemeClr val="tx1"/>
                          </a:solidFill>
                          <a:effectLst/>
                          <a:latin typeface="+mn-lt"/>
                          <a:ea typeface="+mn-ea"/>
                          <a:cs typeface="+mn-cs"/>
                        </a:rPr>
                        <a:t>كأداة</a:t>
                      </a:r>
                      <a:r>
                        <a:rPr lang="ar-SA" sz="1200" b="1" u="none" strike="noStrike" noProof="0" dirty="0">
                          <a:effectLst/>
                        </a:rPr>
                        <a:t> </a:t>
                      </a:r>
                      <a:r>
                        <a:rPr lang="ar-SA" sz="1200" u="none" strike="noStrike" noProof="0" dirty="0">
                          <a:effectLst/>
                        </a:rPr>
                        <a:t>لتحسين الجودة والكفاءة في تنفيذ العمليات</a:t>
                      </a:r>
                      <a:endParaRPr lang="ar-SA" sz="1200" noProof="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marL="0" marR="0" lvl="0" indent="0" algn="ctr" defTabSz="914400" rtl="1" eaLnBrk="1" fontAlgn="auto" latinLnBrk="0" hangingPunct="1">
                        <a:lnSpc>
                          <a:spcPct val="100000"/>
                        </a:lnSpc>
                        <a:spcBef>
                          <a:spcPts val="0"/>
                        </a:spcBef>
                        <a:spcAft>
                          <a:spcPts val="0"/>
                        </a:spcAft>
                        <a:buClrTx/>
                        <a:buSzTx/>
                        <a:buFont typeface="Arial" panose="020B0604020202020204" pitchFamily="34" charset="0"/>
                        <a:buNone/>
                        <a:tabLst/>
                        <a:defRPr/>
                      </a:pPr>
                      <a:r>
                        <a:rPr lang="ar-SA" sz="1400" b="1" noProof="0" dirty="0">
                          <a:solidFill>
                            <a:schemeClr val="accent1"/>
                          </a:solidFill>
                        </a:rPr>
                        <a:t>تغطية الفجوة </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accent1"/>
                      </a:solidFill>
                      <a:prstDash val="solid"/>
                      <a:round/>
                      <a:headEnd type="none" w="med" len="med"/>
                      <a:tailEnd type="none" w="med" len="med"/>
                    </a:lnB>
                    <a:solidFill>
                      <a:schemeClr val="bg1">
                        <a:lumMod val="95000"/>
                      </a:schemeClr>
                    </a:solidFill>
                  </a:tcPr>
                </a:tc>
                <a:tc vMerge="1">
                  <a:txBody>
                    <a:bodyPr/>
                    <a:lstStyle/>
                    <a:p>
                      <a:pPr marL="0" marR="0" lvl="0" indent="0" algn="r" defTabSz="914400" rtl="1" eaLnBrk="1" fontAlgn="auto" latinLnBrk="0" hangingPunct="1">
                        <a:lnSpc>
                          <a:spcPct val="100000"/>
                        </a:lnSpc>
                        <a:spcBef>
                          <a:spcPts val="0"/>
                        </a:spcBef>
                        <a:spcAft>
                          <a:spcPts val="0"/>
                        </a:spcAft>
                        <a:buClrTx/>
                        <a:buSzTx/>
                        <a:buFontTx/>
                        <a:buNone/>
                        <a:tabLst/>
                        <a:defRPr/>
                      </a:pPr>
                      <a:endParaRPr lang="en-GB" sz="1400" b="1" noProof="0" dirty="0"/>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extLst>
                  <a:ext uri="{0D108BD9-81ED-4DB2-BD59-A6C34878D82A}">
                    <a16:rowId xmlns:a16="http://schemas.microsoft.com/office/drawing/2014/main" val="1035545327"/>
                  </a:ext>
                </a:extLst>
              </a:tr>
            </a:tbl>
          </a:graphicData>
        </a:graphic>
      </p:graphicFrame>
      <p:sp>
        <p:nvSpPr>
          <p:cNvPr id="7" name="TextBox 6">
            <a:extLst>
              <a:ext uri="{FF2B5EF4-FFF2-40B4-BE49-F238E27FC236}">
                <a16:creationId xmlns:a16="http://schemas.microsoft.com/office/drawing/2014/main" id="{78FFBCC9-9528-43EE-3448-66EDC46CF782}"/>
              </a:ext>
            </a:extLst>
          </p:cNvPr>
          <p:cNvSpPr txBox="1"/>
          <p:nvPr/>
        </p:nvSpPr>
        <p:spPr>
          <a:xfrm>
            <a:off x="609601" y="830126"/>
            <a:ext cx="10972800" cy="375487"/>
          </a:xfrm>
          <a:prstGeom prst="rect">
            <a:avLst/>
          </a:prstGeom>
          <a:noFill/>
        </p:spPr>
        <p:txBody>
          <a:bodyPr wrap="square">
            <a:spAutoFit/>
          </a:bodyPr>
          <a:lstStyle/>
          <a:p>
            <a:pPr algn="r" rtl="1">
              <a:lnSpc>
                <a:spcPct val="115000"/>
              </a:lnSpc>
              <a:spcAft>
                <a:spcPts val="1000"/>
              </a:spcAft>
            </a:pPr>
            <a:r>
              <a:rPr lang="ar-SA" sz="1600" noProof="0" dirty="0">
                <a:solidFill>
                  <a:srgbClr val="000000"/>
                </a:solidFill>
                <a:latin typeface="Sakkal Majalla" panose="02000000000000000000" pitchFamily="2" charset="-78"/>
                <a:ea typeface="Sakkal Majalla" panose="02000000000000000000" pitchFamily="2" charset="-78"/>
                <a:cs typeface="Sakkal Majalla" panose="02000000000000000000" pitchFamily="2" charset="-78"/>
              </a:rPr>
              <a:t>يهدف هذا القسم من الوثيقة إلى تقديم الملاحظات الخاصة بالوضع الحالي لبنية الأعمال مع ذكر التوصيات  والتحسينات المفترض تطبيقها في الوضع المستقبلي</a:t>
            </a:r>
          </a:p>
        </p:txBody>
      </p:sp>
    </p:spTree>
    <p:extLst>
      <p:ext uri="{BB962C8B-B14F-4D97-AF65-F5344CB8AC3E}">
        <p14:creationId xmlns:p14="http://schemas.microsoft.com/office/powerpoint/2010/main" val="171848350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a:xfrm>
            <a:off x="609601" y="327995"/>
            <a:ext cx="10972800" cy="666261"/>
          </a:xfrm>
        </p:spPr>
        <p:txBody>
          <a:bodyPr/>
          <a:lstStyle/>
          <a:p>
            <a:r>
              <a:rPr lang="ar-SA" noProof="0" dirty="0"/>
              <a:t>ملخص تحليل الفجوات لبنية الأعمال </a:t>
            </a:r>
          </a:p>
        </p:txBody>
      </p:sp>
      <p:sp>
        <p:nvSpPr>
          <p:cNvPr id="3" name="Slide Number Placeholder 2">
            <a:extLst>
              <a:ext uri="{FF2B5EF4-FFF2-40B4-BE49-F238E27FC236}">
                <a16:creationId xmlns:a16="http://schemas.microsoft.com/office/drawing/2014/main" id="{A63A027D-6EA1-E9F6-6212-7D45811B8DC3}"/>
              </a:ext>
            </a:extLst>
          </p:cNvPr>
          <p:cNvSpPr>
            <a:spLocks noGrp="1"/>
          </p:cNvSpPr>
          <p:nvPr>
            <p:ph type="sldNum" sz="quarter" idx="12"/>
          </p:nvPr>
        </p:nvSpPr>
        <p:spPr>
          <a:xfrm>
            <a:off x="655319" y="6567058"/>
            <a:ext cx="504178" cy="290942"/>
          </a:xfrm>
        </p:spPr>
        <p:txBody>
          <a:bodyPr/>
          <a:lstStyle/>
          <a:p>
            <a:fld id="{0BE4EC83-A869-464E-AE9F-881796FB085E}" type="slidenum">
              <a:rPr lang="ar-SA" noProof="0" smtClean="0"/>
              <a:pPr/>
              <a:t>13</a:t>
            </a:fld>
            <a:endParaRPr lang="ar-SA" noProof="0" dirty="0"/>
          </a:p>
        </p:txBody>
      </p:sp>
      <p:graphicFrame>
        <p:nvGraphicFramePr>
          <p:cNvPr id="2" name="Table 1">
            <a:extLst>
              <a:ext uri="{FF2B5EF4-FFF2-40B4-BE49-F238E27FC236}">
                <a16:creationId xmlns:a16="http://schemas.microsoft.com/office/drawing/2014/main" id="{C47CAF5B-4215-4DCE-B225-BC1E66631900}"/>
              </a:ext>
            </a:extLst>
          </p:cNvPr>
          <p:cNvGraphicFramePr>
            <a:graphicFrameLocks noGrp="1"/>
          </p:cNvGraphicFramePr>
          <p:nvPr>
            <p:extLst>
              <p:ext uri="{D42A27DB-BD31-4B8C-83A1-F6EECF244321}">
                <p14:modId xmlns:p14="http://schemas.microsoft.com/office/powerpoint/2010/main" val="2100387340"/>
              </p:ext>
            </p:extLst>
          </p:nvPr>
        </p:nvGraphicFramePr>
        <p:xfrm>
          <a:off x="609600" y="1241828"/>
          <a:ext cx="10972802" cy="4358640"/>
        </p:xfrm>
        <a:graphic>
          <a:graphicData uri="http://schemas.openxmlformats.org/drawingml/2006/table">
            <a:tbl>
              <a:tblPr firstRow="1" bandRow="1">
                <a:tableStyleId>{2D5ABB26-0587-4C30-8999-92F81FD0307C}</a:tableStyleId>
              </a:tblPr>
              <a:tblGrid>
                <a:gridCol w="1828800">
                  <a:extLst>
                    <a:ext uri="{9D8B030D-6E8A-4147-A177-3AD203B41FA5}">
                      <a16:colId xmlns:a16="http://schemas.microsoft.com/office/drawing/2014/main" val="2801895674"/>
                    </a:ext>
                  </a:extLst>
                </a:gridCol>
                <a:gridCol w="738953">
                  <a:extLst>
                    <a:ext uri="{9D8B030D-6E8A-4147-A177-3AD203B41FA5}">
                      <a16:colId xmlns:a16="http://schemas.microsoft.com/office/drawing/2014/main" val="2976102064"/>
                    </a:ext>
                  </a:extLst>
                </a:gridCol>
                <a:gridCol w="838625">
                  <a:extLst>
                    <a:ext uri="{9D8B030D-6E8A-4147-A177-3AD203B41FA5}">
                      <a16:colId xmlns:a16="http://schemas.microsoft.com/office/drawing/2014/main" val="526736865"/>
                    </a:ext>
                  </a:extLst>
                </a:gridCol>
                <a:gridCol w="3862640">
                  <a:extLst>
                    <a:ext uri="{9D8B030D-6E8A-4147-A177-3AD203B41FA5}">
                      <a16:colId xmlns:a16="http://schemas.microsoft.com/office/drawing/2014/main" val="4106469564"/>
                    </a:ext>
                  </a:extLst>
                </a:gridCol>
                <a:gridCol w="923637">
                  <a:extLst>
                    <a:ext uri="{9D8B030D-6E8A-4147-A177-3AD203B41FA5}">
                      <a16:colId xmlns:a16="http://schemas.microsoft.com/office/drawing/2014/main" val="1154529574"/>
                    </a:ext>
                  </a:extLst>
                </a:gridCol>
                <a:gridCol w="2780147">
                  <a:extLst>
                    <a:ext uri="{9D8B030D-6E8A-4147-A177-3AD203B41FA5}">
                      <a16:colId xmlns:a16="http://schemas.microsoft.com/office/drawing/2014/main" val="1503598667"/>
                    </a:ext>
                  </a:extLst>
                </a:gridCol>
              </a:tblGrid>
              <a:tr h="0">
                <a:tc>
                  <a:txBody>
                    <a:bodyPr/>
                    <a:lstStyle/>
                    <a:p>
                      <a:pPr algn="ctr" rtl="1"/>
                      <a:r>
                        <a:rPr lang="ar-SA" sz="1400" b="1" noProof="0" dirty="0">
                          <a:solidFill>
                            <a:schemeClr val="bg1"/>
                          </a:solidFill>
                        </a:rPr>
                        <a:t>المصدر</a:t>
                      </a:r>
                      <a:endParaRPr lang="ar-SA" sz="1400" b="1" noProof="0" dirty="0">
                        <a:solidFill>
                          <a:schemeClr val="bg1"/>
                        </a:solidFill>
                        <a:latin typeface="+mj-lt"/>
                      </a:endParaRPr>
                    </a:p>
                  </a:txBody>
                  <a:tcPr anchor="ctr">
                    <a:lnL w="12700" cap="flat" cmpd="sng" algn="ctr">
                      <a:noFill/>
                      <a:prstDash val="solid"/>
                      <a:round/>
                      <a:headEnd type="none" w="med" len="med"/>
                      <a:tailEnd type="none" w="med" len="med"/>
                    </a:lnL>
                    <a:lnR w="12700" cap="flat" cmpd="sng" algn="ctr">
                      <a:solidFill>
                        <a:schemeClr val="bg1"/>
                      </a:solidFill>
                      <a:prstDash val="solid"/>
                      <a:round/>
                      <a:headEnd type="none" w="med" len="med"/>
                      <a:tailEnd type="none" w="med" len="med"/>
                    </a:lnR>
                    <a:solidFill>
                      <a:schemeClr val="accent1"/>
                    </a:solidFill>
                  </a:tcPr>
                </a:tc>
                <a:tc>
                  <a: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lang="ar-SA" sz="1400" b="1" noProof="0" dirty="0">
                          <a:solidFill>
                            <a:schemeClr val="bg1"/>
                          </a:solidFill>
                        </a:rPr>
                        <a:t>الأهمية</a:t>
                      </a:r>
                      <a:endParaRPr lang="ar-SA" sz="1400" b="1" noProof="0" dirty="0">
                        <a:solidFill>
                          <a:schemeClr val="bg1"/>
                        </a:solidFill>
                        <a:latin typeface="+mj-lt"/>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solidFill>
                      <a:schemeClr val="accent1"/>
                    </a:solidFill>
                  </a:tcPr>
                </a:tc>
                <a:tc>
                  <a: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lang="ar-SA" sz="1400" b="1" noProof="0" dirty="0">
                          <a:solidFill>
                            <a:schemeClr val="bg1"/>
                          </a:solidFill>
                        </a:rPr>
                        <a:t>الأولوية</a:t>
                      </a:r>
                      <a:endParaRPr lang="ar-SA" sz="1400" b="1" noProof="0" dirty="0">
                        <a:solidFill>
                          <a:schemeClr val="bg1"/>
                        </a:solidFill>
                        <a:latin typeface="+mj-lt"/>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solidFill>
                      <a:schemeClr val="accent1"/>
                    </a:solidFill>
                  </a:tcPr>
                </a:tc>
                <a:tc gridSpan="2">
                  <a: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lang="ar-SA" sz="1400" b="1" noProof="0" dirty="0">
                          <a:solidFill>
                            <a:schemeClr val="bg1"/>
                          </a:solidFill>
                        </a:rPr>
                        <a:t>التحليل لكل فجوة </a:t>
                      </a:r>
                      <a:endParaRPr lang="ar-SA" sz="1400" b="1" noProof="0" dirty="0">
                        <a:solidFill>
                          <a:schemeClr val="bg1"/>
                        </a:solidFill>
                        <a:latin typeface="+mj-lt"/>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solidFill>
                      <a:schemeClr val="accent1"/>
                    </a:solidFill>
                  </a:tcPr>
                </a:tc>
                <a:tc hMerge="1">
                  <a:txBody>
                    <a:bodyPr/>
                    <a:lstStyle/>
                    <a:p>
                      <a:endParaRPr lang="en-US"/>
                    </a:p>
                  </a:txBody>
                  <a:tcPr/>
                </a:tc>
                <a:tc>
                  <a:txBody>
                    <a:bodyPr/>
                    <a:lstStyle/>
                    <a:p>
                      <a:pPr algn="ctr" rtl="1"/>
                      <a:r>
                        <a:rPr lang="ar-SA" sz="1400" b="1" noProof="0" dirty="0">
                          <a:solidFill>
                            <a:schemeClr val="bg1"/>
                          </a:solidFill>
                        </a:rPr>
                        <a:t>الفجوة</a:t>
                      </a:r>
                      <a:endParaRPr lang="ar-SA" sz="1400" b="1" noProof="0" dirty="0">
                        <a:solidFill>
                          <a:schemeClr val="bg1"/>
                        </a:solidFill>
                        <a:latin typeface="+mj-lt"/>
                      </a:endParaRPr>
                    </a:p>
                  </a:txBody>
                  <a:tcPr anchor="ctr">
                    <a:lnL w="12700" cap="flat" cmpd="sng" algn="ctr">
                      <a:solidFill>
                        <a:schemeClr val="bg1"/>
                      </a:solidFill>
                      <a:prstDash val="solid"/>
                      <a:round/>
                      <a:headEnd type="none" w="med" len="med"/>
                      <a:tailEnd type="none" w="med" len="med"/>
                    </a:lnL>
                    <a:lnR w="12700" cap="flat" cmpd="sng" algn="ctr">
                      <a:noFill/>
                      <a:prstDash val="solid"/>
                      <a:round/>
                      <a:headEnd type="none" w="med" len="med"/>
                      <a:tailEnd type="none" w="med" len="med"/>
                    </a:lnR>
                    <a:solidFill>
                      <a:schemeClr val="accent1"/>
                    </a:solidFill>
                  </a:tcPr>
                </a:tc>
                <a:extLst>
                  <a:ext uri="{0D108BD9-81ED-4DB2-BD59-A6C34878D82A}">
                    <a16:rowId xmlns:a16="http://schemas.microsoft.com/office/drawing/2014/main" val="3304685178"/>
                  </a:ext>
                </a:extLst>
              </a:tr>
              <a:tr h="0">
                <a:tc rowSpan="4">
                  <a:txBody>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lang="ar-SA" sz="1400" noProof="0" dirty="0"/>
                        <a:t>ملف حصر الأعمال ، دراسة وثائق الأعمال للجهة المتوفرة بالوضع الحالي ، ورش العمل لحصر الأعمال مع الوحدات الإدارية المعنية ،تطلعات أصحاب المصلحة</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B w="12700" cap="flat" cmpd="sng" algn="ctr">
                      <a:solidFill>
                        <a:schemeClr val="accent1"/>
                      </a:solidFill>
                      <a:prstDash val="solid"/>
                      <a:round/>
                      <a:headEnd type="none" w="med" len="med"/>
                      <a:tailEnd type="none" w="med" len="med"/>
                    </a:lnB>
                  </a:tcPr>
                </a:tc>
                <a:tc rowSpan="4">
                  <a:txBody>
                    <a:bodyPr/>
                    <a:lstStyle/>
                    <a:p>
                      <a:pPr marL="0" marR="0" lvl="0" indent="0" algn="ctr" defTabSz="914400" rtl="1" eaLnBrk="1" fontAlgn="auto" latinLnBrk="0" hangingPunct="1">
                        <a:lnSpc>
                          <a:spcPct val="100000"/>
                        </a:lnSpc>
                        <a:spcBef>
                          <a:spcPts val="0"/>
                        </a:spcBef>
                        <a:spcAft>
                          <a:spcPts val="0"/>
                        </a:spcAft>
                        <a:buClrTx/>
                        <a:buSzTx/>
                        <a:buFont typeface="Arial" panose="020B0604020202020204" pitchFamily="34" charset="0"/>
                        <a:buNone/>
                        <a:tabLst/>
                        <a:defRPr/>
                      </a:pPr>
                      <a:r>
                        <a:rPr lang="ar-SA" sz="1400" kern="1200" noProof="0" dirty="0">
                          <a:solidFill>
                            <a:schemeClr val="tx1"/>
                          </a:solidFill>
                          <a:latin typeface="+mn-lt"/>
                          <a:ea typeface="+mn-ea"/>
                          <a:cs typeface="+mn-cs"/>
                        </a:rPr>
                        <a:t>عالي</a:t>
                      </a:r>
                    </a:p>
                  </a:txBody>
                  <a:tcPr anchor="ctr">
                    <a:lnL w="12700" cap="flat" cmpd="sng" algn="ctr">
                      <a:noFill/>
                      <a:prstDash val="solid"/>
                      <a:round/>
                      <a:headEnd type="none" w="med" len="med"/>
                      <a:tailEnd type="none" w="med" len="med"/>
                    </a:lnL>
                    <a:lnR w="12700" cap="flat" cmpd="sng" algn="ctr">
                      <a:solidFill>
                        <a:schemeClr val="bg1"/>
                      </a:solidFill>
                      <a:prstDash val="solid"/>
                      <a:round/>
                      <a:headEnd type="none" w="med" len="med"/>
                      <a:tailEnd type="none" w="med" len="med"/>
                    </a:lnR>
                    <a:lnB w="12700" cap="flat" cmpd="sng" algn="ctr">
                      <a:solidFill>
                        <a:schemeClr val="accent1"/>
                      </a:solidFill>
                      <a:prstDash val="solid"/>
                      <a:round/>
                      <a:headEnd type="none" w="med" len="med"/>
                      <a:tailEnd type="none" w="med" len="med"/>
                    </a:lnB>
                    <a:solidFill>
                      <a:schemeClr val="bg1">
                        <a:lumMod val="95000"/>
                        <a:alpha val="4706"/>
                      </a:schemeClr>
                    </a:solidFill>
                  </a:tcPr>
                </a:tc>
                <a:tc rowSpan="4">
                  <a:txBody>
                    <a:bodyPr/>
                    <a:lstStyle/>
                    <a:p>
                      <a:pPr marL="0" marR="0" lvl="0" indent="0" algn="ctr" defTabSz="914400" rtl="1" eaLnBrk="1" fontAlgn="auto" latinLnBrk="0" hangingPunct="1">
                        <a:lnSpc>
                          <a:spcPct val="100000"/>
                        </a:lnSpc>
                        <a:spcBef>
                          <a:spcPts val="0"/>
                        </a:spcBef>
                        <a:spcAft>
                          <a:spcPts val="0"/>
                        </a:spcAft>
                        <a:buClrTx/>
                        <a:buSzTx/>
                        <a:buFont typeface="Arial" panose="020B0604020202020204" pitchFamily="34" charset="0"/>
                        <a:buNone/>
                        <a:tabLst/>
                        <a:defRPr/>
                      </a:pPr>
                      <a:r>
                        <a:rPr lang="ar-SA" sz="1400" kern="1200" noProof="0" dirty="0">
                          <a:solidFill>
                            <a:schemeClr val="tx1"/>
                          </a:solidFill>
                          <a:latin typeface="+mn-lt"/>
                          <a:ea typeface="+mn-ea"/>
                          <a:cs typeface="+mn-cs"/>
                        </a:rPr>
                        <a:t>عالي</a:t>
                      </a:r>
                    </a:p>
                  </a:txBody>
                  <a:tcPr anchor="ctr">
                    <a:lnL w="12700" cap="flat" cmpd="sng" algn="ctr">
                      <a:solidFill>
                        <a:schemeClr val="bg1"/>
                      </a:solidFill>
                      <a:prstDash val="solid"/>
                      <a:round/>
                      <a:headEnd type="none" w="med" len="med"/>
                      <a:tailEnd type="none" w="med" len="med"/>
                    </a:lnL>
                    <a:lnR w="12700" cap="flat" cmpd="sng" algn="ctr">
                      <a:noFill/>
                      <a:prstDash val="solid"/>
                      <a:round/>
                      <a:headEnd type="none" w="med" len="med"/>
                      <a:tailEnd type="none" w="med" len="med"/>
                    </a:lnR>
                    <a:lnB w="12700" cap="flat" cmpd="sng" algn="ctr">
                      <a:solidFill>
                        <a:schemeClr val="accent1"/>
                      </a:solidFill>
                      <a:prstDash val="solid"/>
                      <a:round/>
                      <a:headEnd type="none" w="med" len="med"/>
                      <a:tailEnd type="none" w="med" len="med"/>
                    </a:lnB>
                    <a:solidFill>
                      <a:schemeClr val="bg1">
                        <a:lumMod val="95000"/>
                        <a:alpha val="4706"/>
                      </a:schemeClr>
                    </a:solidFill>
                  </a:tcPr>
                </a:tc>
                <a:tc>
                  <a:txBody>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lang="ar-SA" sz="1200" kern="1200" noProof="0" dirty="0">
                          <a:solidFill>
                            <a:schemeClr val="tx1"/>
                          </a:solidFill>
                          <a:latin typeface="+mn-lt"/>
                          <a:ea typeface="+mn-ea"/>
                          <a:cs typeface="+mn-cs"/>
                        </a:rPr>
                        <a:t>الحاجة إلى توفير (أدلة الخدمات، أدلة مرئية ) للمستفيدين  بشكل متكامل ومفصّل وموحد لعدد من الخدمات الخدمات </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B w="12700" cap="flat" cmpd="sng" algn="ctr">
                      <a:solidFill>
                        <a:schemeClr val="bg1">
                          <a:lumMod val="85000"/>
                        </a:schemeClr>
                      </a:solidFill>
                      <a:prstDash val="solid"/>
                      <a:round/>
                      <a:headEnd type="none" w="med" len="med"/>
                      <a:tailEnd type="none" w="med" len="med"/>
                    </a:lnB>
                  </a:tcPr>
                </a:tc>
                <a:tc>
                  <a:txBody>
                    <a:bodyPr/>
                    <a:lstStyle/>
                    <a:p>
                      <a:pPr marL="0" marR="0" lvl="0" indent="0" algn="ctr" defTabSz="914400" rtl="1" eaLnBrk="1" fontAlgn="auto" latinLnBrk="0" hangingPunct="1">
                        <a:lnSpc>
                          <a:spcPct val="100000"/>
                        </a:lnSpc>
                        <a:spcBef>
                          <a:spcPts val="0"/>
                        </a:spcBef>
                        <a:spcAft>
                          <a:spcPts val="0"/>
                        </a:spcAft>
                        <a:buClrTx/>
                        <a:buSzTx/>
                        <a:buFont typeface="Arial" panose="020B0604020202020204" pitchFamily="34" charset="0"/>
                        <a:buNone/>
                        <a:tabLst/>
                        <a:defRPr/>
                      </a:pPr>
                      <a:r>
                        <a:rPr lang="ar-SA" sz="1400" b="1" noProof="0" dirty="0">
                          <a:solidFill>
                            <a:schemeClr val="accent1"/>
                          </a:solidFill>
                        </a:rPr>
                        <a:t>الوصف</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B w="12700" cap="flat" cmpd="sng" algn="ctr">
                      <a:solidFill>
                        <a:schemeClr val="bg1">
                          <a:lumMod val="85000"/>
                        </a:schemeClr>
                      </a:solidFill>
                      <a:prstDash val="solid"/>
                      <a:round/>
                      <a:headEnd type="none" w="med" len="med"/>
                      <a:tailEnd type="none" w="med" len="med"/>
                    </a:lnB>
                    <a:solidFill>
                      <a:schemeClr val="bg1">
                        <a:lumMod val="95000"/>
                      </a:schemeClr>
                    </a:solidFill>
                  </a:tcPr>
                </a:tc>
                <a:tc rowSpan="4">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ar-SA" sz="1600" b="1" noProof="0" dirty="0"/>
                        <a:t>GAP-B-09</a:t>
                      </a:r>
                    </a:p>
                    <a:p>
                      <a:pPr marL="0" marR="0" lvl="0" indent="0" algn="r" defTabSz="914400" rtl="1" eaLnBrk="1" fontAlgn="auto" latinLnBrk="0" hangingPunct="1">
                        <a:lnSpc>
                          <a:spcPct val="100000"/>
                        </a:lnSpc>
                        <a:spcBef>
                          <a:spcPts val="0"/>
                        </a:spcBef>
                        <a:spcAft>
                          <a:spcPts val="0"/>
                        </a:spcAft>
                        <a:buClrTx/>
                        <a:buSzTx/>
                        <a:buFontTx/>
                        <a:buNone/>
                        <a:tabLst/>
                        <a:defRPr/>
                      </a:pPr>
                      <a:r>
                        <a:rPr lang="ar-SA" sz="1400" b="1" kern="1200" noProof="0" dirty="0">
                          <a:effectLst/>
                        </a:rPr>
                        <a:t>الحاجة إلى توفير (أدلة الخدمات، أدلة مرئية ) للمستفيدين  بشكل متكامل ومفصّل وموحد لعدد من الخدمات الخدمات </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B w="12700" cap="flat" cmpd="sng" algn="ctr">
                      <a:solidFill>
                        <a:schemeClr val="accent1"/>
                      </a:solidFill>
                      <a:prstDash val="solid"/>
                      <a:round/>
                      <a:headEnd type="none" w="med" len="med"/>
                      <a:tailEnd type="none" w="med" len="med"/>
                    </a:lnB>
                  </a:tcPr>
                </a:tc>
                <a:extLst>
                  <a:ext uri="{0D108BD9-81ED-4DB2-BD59-A6C34878D82A}">
                    <a16:rowId xmlns:a16="http://schemas.microsoft.com/office/drawing/2014/main" val="1128065702"/>
                  </a:ext>
                </a:extLst>
              </a:tr>
              <a:tr h="0">
                <a:tc vMerge="1">
                  <a:txBody>
                    <a:bodyPr/>
                    <a:lstStyle/>
                    <a:p>
                      <a:endParaRPr lang="en-US"/>
                    </a:p>
                  </a:txBody>
                  <a:tcPr/>
                </a:tc>
                <a:tc vMerge="1">
                  <a:txBody>
                    <a:bodyPr/>
                    <a:lstStyle/>
                    <a:p>
                      <a:endParaRPr lang="en-US"/>
                    </a:p>
                  </a:txBody>
                  <a:tcPr/>
                </a:tc>
                <a:tc vMerge="1">
                  <a:txBody>
                    <a:bodyPr/>
                    <a:lstStyle/>
                    <a:p>
                      <a:endParaRPr lang="en-US"/>
                    </a:p>
                  </a:txBody>
                  <a:tcPr/>
                </a:tc>
                <a:tc>
                  <a:txBody>
                    <a:bodyPr/>
                    <a:lstStyle/>
                    <a:p>
                      <a:pPr marL="0" marR="0" lvl="0" indent="0" algn="just" defTabSz="914400" rtl="1" eaLnBrk="1" fontAlgn="auto" latinLnBrk="0" hangingPunct="1">
                        <a:lnSpc>
                          <a:spcPct val="100000"/>
                        </a:lnSpc>
                        <a:spcBef>
                          <a:spcPts val="0"/>
                        </a:spcBef>
                        <a:spcAft>
                          <a:spcPts val="0"/>
                        </a:spcAft>
                        <a:buClrTx/>
                        <a:buSzTx/>
                        <a:buFont typeface="Arial" panose="020B0604020202020204" pitchFamily="34" charset="0"/>
                        <a:buNone/>
                        <a:tabLst/>
                        <a:defRPr/>
                      </a:pPr>
                      <a:r>
                        <a:rPr lang="ar-SA" sz="1200" kern="1200" noProof="0" dirty="0">
                          <a:solidFill>
                            <a:schemeClr val="tx1"/>
                          </a:solidFill>
                          <a:latin typeface="+mn-lt"/>
                          <a:ea typeface="+mn-ea"/>
                          <a:cs typeface="+mn-cs"/>
                        </a:rPr>
                        <a:t>عدم وضوح آلية ومتطلبات تقديم الطلب من قبل المستفيد</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marL="0" marR="0" lvl="0" indent="0" algn="ctr" defTabSz="914400" rtl="1" eaLnBrk="1" fontAlgn="auto" latinLnBrk="0" hangingPunct="1">
                        <a:lnSpc>
                          <a:spcPct val="100000"/>
                        </a:lnSpc>
                        <a:spcBef>
                          <a:spcPts val="0"/>
                        </a:spcBef>
                        <a:spcAft>
                          <a:spcPts val="0"/>
                        </a:spcAft>
                        <a:buClrTx/>
                        <a:buSzTx/>
                        <a:buFont typeface="Arial" panose="020B0604020202020204" pitchFamily="34" charset="0"/>
                        <a:buNone/>
                        <a:tabLst/>
                        <a:defRPr/>
                      </a:pPr>
                      <a:r>
                        <a:rPr lang="ar-SA" sz="1400" b="1" kern="1200" noProof="0" dirty="0">
                          <a:solidFill>
                            <a:schemeClr val="accent1"/>
                          </a:solidFill>
                        </a:rPr>
                        <a:t>الأثر الحالي</a:t>
                      </a:r>
                      <a:endParaRPr lang="ar-SA" sz="1400" b="1" noProof="0" dirty="0">
                        <a:solidFill>
                          <a:schemeClr val="accent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lumMod val="95000"/>
                      </a:schemeClr>
                    </a:solidFill>
                  </a:tcPr>
                </a:tc>
                <a:tc vMerge="1">
                  <a:txBody>
                    <a:bodyPr/>
                    <a:lstStyle/>
                    <a:p>
                      <a:endParaRPr lang="en-US"/>
                    </a:p>
                  </a:txBody>
                  <a:tcPr/>
                </a:tc>
                <a:extLst>
                  <a:ext uri="{0D108BD9-81ED-4DB2-BD59-A6C34878D82A}">
                    <a16:rowId xmlns:a16="http://schemas.microsoft.com/office/drawing/2014/main" val="1163892829"/>
                  </a:ext>
                </a:extLst>
              </a:tr>
              <a:tr h="0">
                <a:tc vMerge="1">
                  <a:txBody>
                    <a:bodyPr/>
                    <a:lstStyle/>
                    <a:p>
                      <a:endParaRPr lang="en-US"/>
                    </a:p>
                  </a:txBody>
                  <a:tcPr/>
                </a:tc>
                <a:tc vMerge="1">
                  <a:txBody>
                    <a:bodyPr/>
                    <a:lstStyle/>
                    <a:p>
                      <a:endParaRPr lang="en-US"/>
                    </a:p>
                  </a:txBody>
                  <a:tcPr/>
                </a:tc>
                <a:tc vMerge="1">
                  <a:txBody>
                    <a:bodyPr/>
                    <a:lstStyle/>
                    <a:p>
                      <a:endParaRPr lang="en-US"/>
                    </a:p>
                  </a:txBody>
                  <a:tcPr/>
                </a:tc>
                <a:tc>
                  <a:txBody>
                    <a:bodyPr/>
                    <a:lstStyle/>
                    <a:p>
                      <a:pPr marL="0" marR="0" lvl="0" indent="0" algn="just" defTabSz="914400" rtl="1" eaLnBrk="1" fontAlgn="auto" latinLnBrk="0" hangingPunct="1">
                        <a:lnSpc>
                          <a:spcPct val="100000"/>
                        </a:lnSpc>
                        <a:spcBef>
                          <a:spcPts val="0"/>
                        </a:spcBef>
                        <a:spcAft>
                          <a:spcPts val="0"/>
                        </a:spcAft>
                        <a:buClrTx/>
                        <a:buSzTx/>
                        <a:buFont typeface="Arial" panose="020B0604020202020204" pitchFamily="34" charset="0"/>
                        <a:buNone/>
                        <a:tabLst/>
                        <a:defRPr/>
                      </a:pPr>
                      <a:r>
                        <a:rPr lang="ar-SA" sz="1200" kern="1200" noProof="0" dirty="0">
                          <a:solidFill>
                            <a:schemeClr val="tx1"/>
                          </a:solidFill>
                          <a:latin typeface="+mn-lt"/>
                          <a:ea typeface="+mn-ea"/>
                          <a:cs typeface="+mn-cs"/>
                        </a:rPr>
                        <a:t>وضوح آلية ومتطلبات تقديم الطلب من قبل المستفيد بشكل كامل</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marL="0" marR="0" lvl="0" indent="0" algn="ctr" defTabSz="914400" rtl="1" eaLnBrk="1" fontAlgn="auto" latinLnBrk="0" hangingPunct="1">
                        <a:lnSpc>
                          <a:spcPct val="100000"/>
                        </a:lnSpc>
                        <a:spcBef>
                          <a:spcPts val="0"/>
                        </a:spcBef>
                        <a:spcAft>
                          <a:spcPts val="0"/>
                        </a:spcAft>
                        <a:buClrTx/>
                        <a:buSzTx/>
                        <a:buFont typeface="Arial" panose="020B0604020202020204" pitchFamily="34" charset="0"/>
                        <a:buNone/>
                        <a:tabLst/>
                        <a:defRPr/>
                      </a:pPr>
                      <a:r>
                        <a:rPr lang="ar-SA" sz="1400" b="1" noProof="0" dirty="0">
                          <a:solidFill>
                            <a:schemeClr val="accent1"/>
                          </a:solidFill>
                        </a:rPr>
                        <a:t>الأثر بعد الردم (المعالجة)</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lumMod val="95000"/>
                      </a:schemeClr>
                    </a:solidFill>
                  </a:tcPr>
                </a:tc>
                <a:tc vMerge="1">
                  <a:txBody>
                    <a:bodyPr/>
                    <a:lstStyle/>
                    <a:p>
                      <a:endParaRPr lang="en-US"/>
                    </a:p>
                  </a:txBody>
                  <a:tcPr/>
                </a:tc>
                <a:extLst>
                  <a:ext uri="{0D108BD9-81ED-4DB2-BD59-A6C34878D82A}">
                    <a16:rowId xmlns:a16="http://schemas.microsoft.com/office/drawing/2014/main" val="1973569126"/>
                  </a:ext>
                </a:extLst>
              </a:tr>
              <a:tr h="0">
                <a:tc vMerge="1">
                  <a:txBody>
                    <a:bodyPr/>
                    <a:lstStyle/>
                    <a:p>
                      <a:endParaRPr lang="en-US"/>
                    </a:p>
                  </a:txBody>
                  <a:tcPr/>
                </a:tc>
                <a:tc vMerge="1">
                  <a:txBody>
                    <a:bodyPr/>
                    <a:lstStyle/>
                    <a:p>
                      <a:endParaRPr lang="en-US"/>
                    </a:p>
                  </a:txBody>
                  <a:tcPr/>
                </a:tc>
                <a:tc vMerge="1">
                  <a:txBody>
                    <a:bodyPr/>
                    <a:lstStyle/>
                    <a:p>
                      <a:endParaRPr lang="en-US"/>
                    </a:p>
                  </a:txBody>
                  <a:tcPr/>
                </a:tc>
                <a:tc>
                  <a:txBody>
                    <a:bodyPr/>
                    <a:lstStyle/>
                    <a:p>
                      <a:pPr marL="0" marR="0" lvl="0" indent="0" algn="just" defTabSz="914400" rtl="1" eaLnBrk="1" fontAlgn="auto" latinLnBrk="0" hangingPunct="1">
                        <a:lnSpc>
                          <a:spcPct val="100000"/>
                        </a:lnSpc>
                        <a:spcBef>
                          <a:spcPts val="0"/>
                        </a:spcBef>
                        <a:spcAft>
                          <a:spcPts val="0"/>
                        </a:spcAft>
                        <a:buClrTx/>
                        <a:buSzTx/>
                        <a:buFont typeface="Arial" panose="020B0604020202020204" pitchFamily="34" charset="0"/>
                        <a:buNone/>
                        <a:tabLst/>
                        <a:defRPr/>
                      </a:pPr>
                      <a:r>
                        <a:rPr lang="ar-SA" sz="1200" kern="1200" noProof="0" dirty="0">
                          <a:solidFill>
                            <a:schemeClr val="tx1"/>
                          </a:solidFill>
                          <a:latin typeface="+mn-lt"/>
                          <a:ea typeface="+mn-ea"/>
                          <a:cs typeface="+mn-cs"/>
                        </a:rPr>
                        <a:t>توفير (أدلة الخدمات، أدلة مرئية ) للمستفيدين  بشكل متكامل ومفصّل وموحد لعدد من الخدمات الخدمات </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marL="0" marR="0" lvl="0" indent="0" algn="ctr" defTabSz="914400" rtl="1" eaLnBrk="1" fontAlgn="auto" latinLnBrk="0" hangingPunct="1">
                        <a:lnSpc>
                          <a:spcPct val="100000"/>
                        </a:lnSpc>
                        <a:spcBef>
                          <a:spcPts val="0"/>
                        </a:spcBef>
                        <a:spcAft>
                          <a:spcPts val="0"/>
                        </a:spcAft>
                        <a:buClrTx/>
                        <a:buSzTx/>
                        <a:buFont typeface="Arial" panose="020B0604020202020204" pitchFamily="34" charset="0"/>
                        <a:buNone/>
                        <a:tabLst/>
                        <a:defRPr/>
                      </a:pPr>
                      <a:r>
                        <a:rPr lang="ar-SA" sz="1400" b="1" noProof="0" dirty="0">
                          <a:solidFill>
                            <a:schemeClr val="accent1"/>
                          </a:solidFill>
                        </a:rPr>
                        <a:t>تغطية الفجوة </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accent1"/>
                      </a:solidFill>
                      <a:prstDash val="solid"/>
                      <a:round/>
                      <a:headEnd type="none" w="med" len="med"/>
                      <a:tailEnd type="none" w="med" len="med"/>
                    </a:lnB>
                    <a:solidFill>
                      <a:schemeClr val="bg1">
                        <a:lumMod val="95000"/>
                      </a:schemeClr>
                    </a:solidFill>
                  </a:tcPr>
                </a:tc>
                <a:tc vMerge="1">
                  <a:txBody>
                    <a:bodyPr/>
                    <a:lstStyle/>
                    <a:p>
                      <a:endParaRPr lang="en-US"/>
                    </a:p>
                  </a:txBody>
                  <a:tcPr/>
                </a:tc>
                <a:extLst>
                  <a:ext uri="{0D108BD9-81ED-4DB2-BD59-A6C34878D82A}">
                    <a16:rowId xmlns:a16="http://schemas.microsoft.com/office/drawing/2014/main" val="4011636746"/>
                  </a:ext>
                </a:extLst>
              </a:tr>
              <a:tr h="0">
                <a:tc rowSpan="4">
                  <a:txBody>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lang="ar-SA" sz="1400" noProof="0" dirty="0"/>
                        <a:t>ملف حصر الأعمال ، دراسة وثائق الأعمال للجهة المتوفرة بالوضع الحالي ، ورش العمل لحصر الأعمال مع الوحدات الإدارية المعنية ،تطلعات أصحاب المصلحة</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rowSpan="4">
                  <a:txBody>
                    <a:bodyPr/>
                    <a:lstStyle/>
                    <a:p>
                      <a:pPr marL="0" marR="0" lvl="0" indent="0" algn="ctr" defTabSz="914400" rtl="1" eaLnBrk="1" fontAlgn="auto" latinLnBrk="0" hangingPunct="1">
                        <a:lnSpc>
                          <a:spcPct val="100000"/>
                        </a:lnSpc>
                        <a:spcBef>
                          <a:spcPts val="0"/>
                        </a:spcBef>
                        <a:spcAft>
                          <a:spcPts val="0"/>
                        </a:spcAft>
                        <a:buClrTx/>
                        <a:buSzTx/>
                        <a:buFont typeface="Arial" panose="020B0604020202020204" pitchFamily="34" charset="0"/>
                        <a:buNone/>
                        <a:tabLst/>
                        <a:defRPr/>
                      </a:pPr>
                      <a:r>
                        <a:rPr lang="ar-SA" sz="1400" kern="1200" noProof="0" dirty="0">
                          <a:solidFill>
                            <a:schemeClr val="tx1"/>
                          </a:solidFill>
                          <a:latin typeface="+mn-lt"/>
                          <a:ea typeface="+mn-ea"/>
                          <a:cs typeface="+mn-cs"/>
                        </a:rPr>
                        <a:t>عالي</a:t>
                      </a:r>
                    </a:p>
                  </a:txBody>
                  <a:tcPr anchor="ctr">
                    <a:lnL w="12700" cap="flat" cmpd="sng" algn="ctr">
                      <a:no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solidFill>
                      <a:schemeClr val="bg1">
                        <a:lumMod val="95000"/>
                      </a:schemeClr>
                    </a:solidFill>
                  </a:tcPr>
                </a:tc>
                <a:tc rowSpan="4">
                  <a:txBody>
                    <a:bodyPr/>
                    <a:lstStyle/>
                    <a:p>
                      <a:pPr marL="0" marR="0" lvl="0" indent="0" algn="ctr" defTabSz="914400" rtl="1" eaLnBrk="1" fontAlgn="auto" latinLnBrk="0" hangingPunct="1">
                        <a:lnSpc>
                          <a:spcPct val="100000"/>
                        </a:lnSpc>
                        <a:spcBef>
                          <a:spcPts val="0"/>
                        </a:spcBef>
                        <a:spcAft>
                          <a:spcPts val="0"/>
                        </a:spcAft>
                        <a:buClrTx/>
                        <a:buSzTx/>
                        <a:buFont typeface="Arial" panose="020B0604020202020204" pitchFamily="34" charset="0"/>
                        <a:buNone/>
                        <a:tabLst/>
                        <a:defRPr/>
                      </a:pPr>
                      <a:r>
                        <a:rPr lang="ar-SA" sz="1400" kern="1200" noProof="0" dirty="0">
                          <a:solidFill>
                            <a:schemeClr val="tx1"/>
                          </a:solidFill>
                          <a:latin typeface="+mn-lt"/>
                          <a:ea typeface="+mn-ea"/>
                          <a:cs typeface="+mn-cs"/>
                        </a:rPr>
                        <a:t>عالي</a:t>
                      </a:r>
                    </a:p>
                  </a:txBody>
                  <a:tcPr anchor="ctr">
                    <a:lnL w="12700" cap="flat" cmpd="sng" algn="ctr">
                      <a:solidFill>
                        <a:schemeClr val="bg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solidFill>
                      <a:schemeClr val="bg1">
                        <a:lumMod val="95000"/>
                      </a:schemeClr>
                    </a:solidFill>
                  </a:tcPr>
                </a:tc>
                <a:tc>
                  <a:txBody>
                    <a:bodyPr/>
                    <a:lstStyle/>
                    <a:p>
                      <a:pPr marL="0" marR="0" lvl="0" indent="0" algn="just" defTabSz="914400" rtl="1" eaLnBrk="1" fontAlgn="auto" latinLnBrk="0" hangingPunct="1">
                        <a:lnSpc>
                          <a:spcPct val="100000"/>
                        </a:lnSpc>
                        <a:spcBef>
                          <a:spcPts val="0"/>
                        </a:spcBef>
                        <a:spcAft>
                          <a:spcPts val="0"/>
                        </a:spcAft>
                        <a:buClrTx/>
                        <a:buSzTx/>
                        <a:buFont typeface="Arial" panose="020B0604020202020204" pitchFamily="34" charset="0"/>
                        <a:buNone/>
                        <a:tabLst/>
                        <a:defRPr/>
                      </a:pPr>
                      <a:r>
                        <a:rPr lang="ar-SA" sz="1200" kern="1200" noProof="0" dirty="0">
                          <a:solidFill>
                            <a:schemeClr val="tx1"/>
                          </a:solidFill>
                          <a:latin typeface="+mn-lt"/>
                          <a:ea typeface="+mn-ea"/>
                          <a:cs typeface="+mn-cs"/>
                        </a:rPr>
                        <a:t>يوجد بعض نماذج الحوكمة والقياس للتأكد من تنفيذ الإدارات لأعمالها بالشكل الصحيح ولقياس مدى تقدمها في عملها (أو المشاريع التي تنفذها حاليا).</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marL="0" marR="0" lvl="0" indent="0" algn="ctr" defTabSz="914400" rtl="1" eaLnBrk="1" fontAlgn="auto" latinLnBrk="0" hangingPunct="1">
                        <a:lnSpc>
                          <a:spcPct val="100000"/>
                        </a:lnSpc>
                        <a:spcBef>
                          <a:spcPts val="0"/>
                        </a:spcBef>
                        <a:spcAft>
                          <a:spcPts val="0"/>
                        </a:spcAft>
                        <a:buClrTx/>
                        <a:buSzTx/>
                        <a:buFont typeface="Arial" panose="020B0604020202020204" pitchFamily="34" charset="0"/>
                        <a:buNone/>
                        <a:tabLst/>
                        <a:defRPr/>
                      </a:pPr>
                      <a:r>
                        <a:rPr lang="ar-SA" sz="1400" b="1" noProof="0" dirty="0">
                          <a:solidFill>
                            <a:schemeClr val="accent1"/>
                          </a:solidFill>
                        </a:rPr>
                        <a:t>الوصف</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lumMod val="95000"/>
                      </a:schemeClr>
                    </a:solidFill>
                  </a:tcPr>
                </a:tc>
                <a:tc rowSpan="4">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ar-SA" sz="1600" b="1" u="none" strike="noStrike" kern="1200" cap="none" spc="0" normalizeH="0" baseline="0" noProof="0" dirty="0">
                          <a:ln>
                            <a:noFill/>
                          </a:ln>
                          <a:effectLst/>
                          <a:uLnTx/>
                          <a:uFillTx/>
                        </a:rPr>
                        <a:t>GAP-B-10</a:t>
                      </a:r>
                    </a:p>
                    <a:p>
                      <a:pPr marL="0" marR="0" lvl="0" indent="0" algn="r" defTabSz="914400" rtl="1" eaLnBrk="1" fontAlgn="auto" latinLnBrk="0" hangingPunct="1">
                        <a:lnSpc>
                          <a:spcPct val="100000"/>
                        </a:lnSpc>
                        <a:spcBef>
                          <a:spcPts val="0"/>
                        </a:spcBef>
                        <a:spcAft>
                          <a:spcPts val="0"/>
                        </a:spcAft>
                        <a:buClrTx/>
                        <a:buSzTx/>
                        <a:buFontTx/>
                        <a:buNone/>
                        <a:tabLst/>
                        <a:defRPr/>
                      </a:pPr>
                      <a:r>
                        <a:rPr lang="ar-SA" sz="1400" b="1" kern="1200" noProof="0" dirty="0">
                          <a:effectLst/>
                        </a:rPr>
                        <a:t>الحاجة إلى توفير نماذج الحوكمة والقياس بشكل كامل</a:t>
                      </a:r>
                    </a:p>
                    <a:p>
                      <a:pPr marL="0" marR="0" lvl="0" indent="0" algn="r" defTabSz="914400" rtl="1" eaLnBrk="1" fontAlgn="auto" latinLnBrk="0" hangingPunct="1">
                        <a:lnSpc>
                          <a:spcPct val="100000"/>
                        </a:lnSpc>
                        <a:spcBef>
                          <a:spcPts val="0"/>
                        </a:spcBef>
                        <a:spcAft>
                          <a:spcPts val="0"/>
                        </a:spcAft>
                        <a:buClrTx/>
                        <a:buSzTx/>
                        <a:buFontTx/>
                        <a:buNone/>
                        <a:tabLst/>
                        <a:defRPr/>
                      </a:pPr>
                      <a:endParaRPr lang="ar-SA" sz="1400" b="1" kern="1200" noProof="0" dirty="0">
                        <a:effectLst/>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extLst>
                  <a:ext uri="{0D108BD9-81ED-4DB2-BD59-A6C34878D82A}">
                    <a16:rowId xmlns:a16="http://schemas.microsoft.com/office/drawing/2014/main" val="1136131386"/>
                  </a:ext>
                </a:extLst>
              </a:tr>
              <a:tr h="0">
                <a:tc vMerge="1">
                  <a:txBody>
                    <a:bodyPr/>
                    <a:lstStyle/>
                    <a:p>
                      <a:pPr marL="0" marR="0" lvl="0" indent="0" algn="r" defTabSz="914400" rtl="1" eaLnBrk="1" fontAlgn="auto" latinLnBrk="0" hangingPunct="1">
                        <a:lnSpc>
                          <a:spcPct val="100000"/>
                        </a:lnSpc>
                        <a:spcBef>
                          <a:spcPts val="0"/>
                        </a:spcBef>
                        <a:spcAft>
                          <a:spcPts val="0"/>
                        </a:spcAft>
                        <a:buClrTx/>
                        <a:buSzTx/>
                        <a:buFontTx/>
                        <a:buNone/>
                        <a:tabLst/>
                        <a:defRPr/>
                      </a:pPr>
                      <a:endParaRPr lang="en-GB" sz="1400" noProof="0" dirty="0"/>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vMerge="1">
                  <a:txBody>
                    <a:bodyPr/>
                    <a:lstStyle/>
                    <a:p>
                      <a:endParaRPr lang="en-US"/>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vMerge="1">
                  <a:txBody>
                    <a:bodyPr/>
                    <a:lstStyle/>
                    <a:p>
                      <a:endParaRPr lang="en-US"/>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marL="0" marR="0" lvl="0" indent="0" algn="just" defTabSz="914400" rtl="1" eaLnBrk="1" fontAlgn="auto" latinLnBrk="0" hangingPunct="1">
                        <a:lnSpc>
                          <a:spcPct val="100000"/>
                        </a:lnSpc>
                        <a:spcBef>
                          <a:spcPts val="0"/>
                        </a:spcBef>
                        <a:spcAft>
                          <a:spcPts val="0"/>
                        </a:spcAft>
                        <a:buClrTx/>
                        <a:buSzTx/>
                        <a:buFont typeface="Arial" panose="020B0604020202020204" pitchFamily="34" charset="0"/>
                        <a:buNone/>
                        <a:tabLst/>
                        <a:defRPr/>
                      </a:pPr>
                      <a:r>
                        <a:rPr lang="ar-SA" sz="1200" kern="1200" noProof="0" dirty="0">
                          <a:solidFill>
                            <a:schemeClr val="tx1"/>
                          </a:solidFill>
                          <a:latin typeface="+mn-lt"/>
                          <a:ea typeface="+mn-ea"/>
                          <a:cs typeface="+mn-cs"/>
                        </a:rPr>
                        <a:t>القدرة بشكل جزئي على الحوكمة والقياس للتأكد من تنفيذ الإدارات لأعمالها بالشكل الصحيح ولقياس مدى تقدمها في عملها </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marL="0" marR="0" lvl="0" indent="0" algn="ctr" defTabSz="914400" rtl="1" eaLnBrk="1" fontAlgn="auto" latinLnBrk="0" hangingPunct="1">
                        <a:lnSpc>
                          <a:spcPct val="100000"/>
                        </a:lnSpc>
                        <a:spcBef>
                          <a:spcPts val="0"/>
                        </a:spcBef>
                        <a:spcAft>
                          <a:spcPts val="0"/>
                        </a:spcAft>
                        <a:buClrTx/>
                        <a:buSzTx/>
                        <a:buFont typeface="Arial" panose="020B0604020202020204" pitchFamily="34" charset="0"/>
                        <a:buNone/>
                        <a:tabLst/>
                        <a:defRPr/>
                      </a:pPr>
                      <a:r>
                        <a:rPr lang="ar-SA" sz="1400" b="1" kern="1200" noProof="0" dirty="0">
                          <a:solidFill>
                            <a:schemeClr val="accent1"/>
                          </a:solidFill>
                        </a:rPr>
                        <a:t>الأثر الحالي</a:t>
                      </a:r>
                      <a:endParaRPr lang="ar-SA" sz="1400" b="1" noProof="0" dirty="0">
                        <a:solidFill>
                          <a:schemeClr val="accent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lumMod val="95000"/>
                      </a:schemeClr>
                    </a:solidFill>
                  </a:tcPr>
                </a:tc>
                <a:tc vMerge="1">
                  <a:txBody>
                    <a:bodyPr/>
                    <a:lstStyle/>
                    <a:p>
                      <a:pPr marL="0" marR="0" lvl="0" indent="0" algn="r" defTabSz="914400" rtl="1" eaLnBrk="1" fontAlgn="auto" latinLnBrk="0" hangingPunct="1">
                        <a:lnSpc>
                          <a:spcPct val="100000"/>
                        </a:lnSpc>
                        <a:spcBef>
                          <a:spcPts val="0"/>
                        </a:spcBef>
                        <a:spcAft>
                          <a:spcPts val="0"/>
                        </a:spcAft>
                        <a:buClrTx/>
                        <a:buSzTx/>
                        <a:buFontTx/>
                        <a:buNone/>
                        <a:tabLst/>
                        <a:defRPr/>
                      </a:pPr>
                      <a:endParaRPr lang="en-GB" sz="1400" b="1" noProof="0" dirty="0"/>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extLst>
                  <a:ext uri="{0D108BD9-81ED-4DB2-BD59-A6C34878D82A}">
                    <a16:rowId xmlns:a16="http://schemas.microsoft.com/office/drawing/2014/main" val="918118369"/>
                  </a:ext>
                </a:extLst>
              </a:tr>
              <a:tr h="0">
                <a:tc vMerge="1">
                  <a:txBody>
                    <a:bodyPr/>
                    <a:lstStyle/>
                    <a:p>
                      <a:pPr marL="0" marR="0" lvl="0" indent="0" algn="r" defTabSz="914400" rtl="1" eaLnBrk="1" fontAlgn="auto" latinLnBrk="0" hangingPunct="1">
                        <a:lnSpc>
                          <a:spcPct val="100000"/>
                        </a:lnSpc>
                        <a:spcBef>
                          <a:spcPts val="0"/>
                        </a:spcBef>
                        <a:spcAft>
                          <a:spcPts val="0"/>
                        </a:spcAft>
                        <a:buClrTx/>
                        <a:buSzTx/>
                        <a:buFontTx/>
                        <a:buNone/>
                        <a:tabLst/>
                        <a:defRPr/>
                      </a:pPr>
                      <a:endParaRPr lang="en-GB" sz="1400" noProof="0" dirty="0"/>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vMerge="1">
                  <a:txBody>
                    <a:bodyPr/>
                    <a:lstStyle/>
                    <a:p>
                      <a:endParaRPr lang="en-US"/>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vMerge="1">
                  <a:txBody>
                    <a:bodyPr/>
                    <a:lstStyle/>
                    <a:p>
                      <a:endParaRPr lang="en-US"/>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marL="0" marR="0" lvl="0" indent="0" algn="just" defTabSz="914400" rtl="1" eaLnBrk="1" fontAlgn="auto" latinLnBrk="0" hangingPunct="1">
                        <a:lnSpc>
                          <a:spcPct val="100000"/>
                        </a:lnSpc>
                        <a:spcBef>
                          <a:spcPts val="0"/>
                        </a:spcBef>
                        <a:spcAft>
                          <a:spcPts val="0"/>
                        </a:spcAft>
                        <a:buClrTx/>
                        <a:buSzTx/>
                        <a:buFont typeface="Arial" panose="020B0604020202020204" pitchFamily="34" charset="0"/>
                        <a:buNone/>
                        <a:tabLst/>
                        <a:defRPr/>
                      </a:pPr>
                      <a:r>
                        <a:rPr lang="ar-SA" sz="1200" kern="1200" noProof="0" dirty="0">
                          <a:solidFill>
                            <a:schemeClr val="tx1"/>
                          </a:solidFill>
                          <a:latin typeface="+mn-lt"/>
                          <a:ea typeface="+mn-ea"/>
                          <a:cs typeface="+mn-cs"/>
                        </a:rPr>
                        <a:t>القدرة بشكل كلي على الحوكمة والقياس للتأكد من تنفيذ الإدارات لأعمالها بالشكل الصحيح ولقياس مدى تقدمها في عملها</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marL="0" marR="0" lvl="0" indent="0" algn="ctr" defTabSz="914400" rtl="1" eaLnBrk="1" fontAlgn="auto" latinLnBrk="0" hangingPunct="1">
                        <a:lnSpc>
                          <a:spcPct val="100000"/>
                        </a:lnSpc>
                        <a:spcBef>
                          <a:spcPts val="0"/>
                        </a:spcBef>
                        <a:spcAft>
                          <a:spcPts val="0"/>
                        </a:spcAft>
                        <a:buClrTx/>
                        <a:buSzTx/>
                        <a:buFont typeface="Arial" panose="020B0604020202020204" pitchFamily="34" charset="0"/>
                        <a:buNone/>
                        <a:tabLst/>
                        <a:defRPr/>
                      </a:pPr>
                      <a:r>
                        <a:rPr lang="ar-SA" sz="1400" b="1" noProof="0" dirty="0">
                          <a:solidFill>
                            <a:schemeClr val="accent1"/>
                          </a:solidFill>
                        </a:rPr>
                        <a:t>الأثر بعد الردم (المعالجة)</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lumMod val="95000"/>
                      </a:schemeClr>
                    </a:solidFill>
                  </a:tcPr>
                </a:tc>
                <a:tc vMerge="1">
                  <a:txBody>
                    <a:bodyPr/>
                    <a:lstStyle/>
                    <a:p>
                      <a:pPr marL="0" marR="0" lvl="0" indent="0" algn="r" defTabSz="914400" rtl="1" eaLnBrk="1" fontAlgn="auto" latinLnBrk="0" hangingPunct="1">
                        <a:lnSpc>
                          <a:spcPct val="100000"/>
                        </a:lnSpc>
                        <a:spcBef>
                          <a:spcPts val="0"/>
                        </a:spcBef>
                        <a:spcAft>
                          <a:spcPts val="0"/>
                        </a:spcAft>
                        <a:buClrTx/>
                        <a:buSzTx/>
                        <a:buFontTx/>
                        <a:buNone/>
                        <a:tabLst/>
                        <a:defRPr/>
                      </a:pPr>
                      <a:endParaRPr lang="en-GB" sz="1400" b="1" noProof="0" dirty="0"/>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extLst>
                  <a:ext uri="{0D108BD9-81ED-4DB2-BD59-A6C34878D82A}">
                    <a16:rowId xmlns:a16="http://schemas.microsoft.com/office/drawing/2014/main" val="4153014111"/>
                  </a:ext>
                </a:extLst>
              </a:tr>
              <a:tr h="0">
                <a:tc vMerge="1">
                  <a:txBody>
                    <a:bodyPr/>
                    <a:lstStyle/>
                    <a:p>
                      <a:pPr marL="0" marR="0" lvl="0" indent="0" algn="r" defTabSz="914400" rtl="1" eaLnBrk="1" fontAlgn="auto" latinLnBrk="0" hangingPunct="1">
                        <a:lnSpc>
                          <a:spcPct val="100000"/>
                        </a:lnSpc>
                        <a:spcBef>
                          <a:spcPts val="0"/>
                        </a:spcBef>
                        <a:spcAft>
                          <a:spcPts val="0"/>
                        </a:spcAft>
                        <a:buClrTx/>
                        <a:buSzTx/>
                        <a:buFontTx/>
                        <a:buNone/>
                        <a:tabLst/>
                        <a:defRPr/>
                      </a:pPr>
                      <a:endParaRPr lang="en-GB" sz="1400" noProof="0" dirty="0"/>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vMerge="1">
                  <a:txBody>
                    <a:bodyPr/>
                    <a:lstStyle/>
                    <a:p>
                      <a:endParaRPr lang="en-US"/>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vMerge="1">
                  <a:txBody>
                    <a:bodyPr/>
                    <a:lstStyle/>
                    <a:p>
                      <a:endParaRPr lang="en-US"/>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marL="0" marR="0" lvl="0" indent="0" algn="just" defTabSz="914400" rtl="1" eaLnBrk="1" fontAlgn="auto" latinLnBrk="0" hangingPunct="1">
                        <a:lnSpc>
                          <a:spcPct val="100000"/>
                        </a:lnSpc>
                        <a:spcBef>
                          <a:spcPts val="0"/>
                        </a:spcBef>
                        <a:spcAft>
                          <a:spcPts val="0"/>
                        </a:spcAft>
                        <a:buClrTx/>
                        <a:buSzTx/>
                        <a:buFont typeface="Arial" panose="020B0604020202020204" pitchFamily="34" charset="0"/>
                        <a:buNone/>
                        <a:tabLst/>
                        <a:defRPr/>
                      </a:pPr>
                      <a:r>
                        <a:rPr lang="ar-SA" sz="1200" kern="1200" noProof="0" dirty="0">
                          <a:solidFill>
                            <a:schemeClr val="tx1"/>
                          </a:solidFill>
                          <a:latin typeface="+mn-lt"/>
                          <a:ea typeface="+mn-ea"/>
                          <a:cs typeface="+mn-cs"/>
                        </a:rPr>
                        <a:t>توفير كامل نماذج الحوكمة والقياس للتأكد من تنفيذ الإدارات لأعمالها بالشكل الصحيح ولقياس مدى تقدمها   في عملها (أو المشاريع التي تنفذها حاليا).</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marL="0" marR="0" lvl="0" indent="0" algn="ctr" defTabSz="914400" rtl="1" eaLnBrk="1" fontAlgn="auto" latinLnBrk="0" hangingPunct="1">
                        <a:lnSpc>
                          <a:spcPct val="100000"/>
                        </a:lnSpc>
                        <a:spcBef>
                          <a:spcPts val="0"/>
                        </a:spcBef>
                        <a:spcAft>
                          <a:spcPts val="0"/>
                        </a:spcAft>
                        <a:buClrTx/>
                        <a:buSzTx/>
                        <a:buFont typeface="Arial" panose="020B0604020202020204" pitchFamily="34" charset="0"/>
                        <a:buNone/>
                        <a:tabLst/>
                        <a:defRPr/>
                      </a:pPr>
                      <a:r>
                        <a:rPr lang="ar-SA" sz="1400" b="1" noProof="0" dirty="0">
                          <a:solidFill>
                            <a:schemeClr val="accent1"/>
                          </a:solidFill>
                        </a:rPr>
                        <a:t>تغطية الفجوة </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accent1"/>
                      </a:solidFill>
                      <a:prstDash val="solid"/>
                      <a:round/>
                      <a:headEnd type="none" w="med" len="med"/>
                      <a:tailEnd type="none" w="med" len="med"/>
                    </a:lnB>
                    <a:solidFill>
                      <a:schemeClr val="bg1">
                        <a:lumMod val="95000"/>
                      </a:schemeClr>
                    </a:solidFill>
                  </a:tcPr>
                </a:tc>
                <a:tc vMerge="1">
                  <a:txBody>
                    <a:bodyPr/>
                    <a:lstStyle/>
                    <a:p>
                      <a:pPr marL="0" marR="0" lvl="0" indent="0" algn="r" defTabSz="914400" rtl="1" eaLnBrk="1" fontAlgn="auto" latinLnBrk="0" hangingPunct="1">
                        <a:lnSpc>
                          <a:spcPct val="100000"/>
                        </a:lnSpc>
                        <a:spcBef>
                          <a:spcPts val="0"/>
                        </a:spcBef>
                        <a:spcAft>
                          <a:spcPts val="0"/>
                        </a:spcAft>
                        <a:buClrTx/>
                        <a:buSzTx/>
                        <a:buFontTx/>
                        <a:buNone/>
                        <a:tabLst/>
                        <a:defRPr/>
                      </a:pPr>
                      <a:endParaRPr lang="en-GB" sz="1400" b="1" noProof="0" dirty="0"/>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extLst>
                  <a:ext uri="{0D108BD9-81ED-4DB2-BD59-A6C34878D82A}">
                    <a16:rowId xmlns:a16="http://schemas.microsoft.com/office/drawing/2014/main" val="1035545327"/>
                  </a:ext>
                </a:extLst>
              </a:tr>
            </a:tbl>
          </a:graphicData>
        </a:graphic>
      </p:graphicFrame>
      <p:sp>
        <p:nvSpPr>
          <p:cNvPr id="7" name="TextBox 6">
            <a:extLst>
              <a:ext uri="{FF2B5EF4-FFF2-40B4-BE49-F238E27FC236}">
                <a16:creationId xmlns:a16="http://schemas.microsoft.com/office/drawing/2014/main" id="{78FFBCC9-9528-43EE-3448-66EDC46CF782}"/>
              </a:ext>
            </a:extLst>
          </p:cNvPr>
          <p:cNvSpPr txBox="1"/>
          <p:nvPr/>
        </p:nvSpPr>
        <p:spPr>
          <a:xfrm>
            <a:off x="609601" y="803972"/>
            <a:ext cx="10972800" cy="375487"/>
          </a:xfrm>
          <a:prstGeom prst="rect">
            <a:avLst/>
          </a:prstGeom>
          <a:noFill/>
        </p:spPr>
        <p:txBody>
          <a:bodyPr wrap="square">
            <a:spAutoFit/>
          </a:bodyPr>
          <a:lstStyle/>
          <a:p>
            <a:pPr algn="r" rtl="1">
              <a:lnSpc>
                <a:spcPct val="115000"/>
              </a:lnSpc>
              <a:spcAft>
                <a:spcPts val="1000"/>
              </a:spcAft>
            </a:pPr>
            <a:r>
              <a:rPr lang="ar-SA" sz="1600" noProof="0" dirty="0">
                <a:solidFill>
                  <a:srgbClr val="000000"/>
                </a:solidFill>
                <a:latin typeface="Sakkal Majalla" panose="02000000000000000000" pitchFamily="2" charset="-78"/>
                <a:ea typeface="Sakkal Majalla" panose="02000000000000000000" pitchFamily="2" charset="-78"/>
                <a:cs typeface="Sakkal Majalla" panose="02000000000000000000" pitchFamily="2" charset="-78"/>
              </a:rPr>
              <a:t>يهدف هذا القسم من الوثيقة إلى تقديم الملاحظات الخاصة بالوضع الحالي لبنية الأعمال مع ذكر التوصيات  والتحسينات المفترض تطبيقها في الوضع المستقبلي</a:t>
            </a:r>
          </a:p>
        </p:txBody>
      </p:sp>
    </p:spTree>
    <p:extLst>
      <p:ext uri="{BB962C8B-B14F-4D97-AF65-F5344CB8AC3E}">
        <p14:creationId xmlns:p14="http://schemas.microsoft.com/office/powerpoint/2010/main" val="309380451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a:xfrm>
            <a:off x="609601" y="265243"/>
            <a:ext cx="10972800" cy="666261"/>
          </a:xfrm>
        </p:spPr>
        <p:txBody>
          <a:bodyPr/>
          <a:lstStyle/>
          <a:p>
            <a:r>
              <a:rPr lang="ar-SA" noProof="0" dirty="0"/>
              <a:t>ملخص تحليل الفجوات لبنية الأعمال </a:t>
            </a:r>
          </a:p>
        </p:txBody>
      </p:sp>
      <p:sp>
        <p:nvSpPr>
          <p:cNvPr id="3" name="Slide Number Placeholder 2">
            <a:extLst>
              <a:ext uri="{FF2B5EF4-FFF2-40B4-BE49-F238E27FC236}">
                <a16:creationId xmlns:a16="http://schemas.microsoft.com/office/drawing/2014/main" id="{A63A027D-6EA1-E9F6-6212-7D45811B8DC3}"/>
              </a:ext>
            </a:extLst>
          </p:cNvPr>
          <p:cNvSpPr>
            <a:spLocks noGrp="1"/>
          </p:cNvSpPr>
          <p:nvPr>
            <p:ph type="sldNum" sz="quarter" idx="12"/>
          </p:nvPr>
        </p:nvSpPr>
        <p:spPr>
          <a:xfrm>
            <a:off x="655319" y="6567058"/>
            <a:ext cx="466471" cy="290942"/>
          </a:xfrm>
        </p:spPr>
        <p:txBody>
          <a:bodyPr/>
          <a:lstStyle/>
          <a:p>
            <a:fld id="{0BE4EC83-A869-464E-AE9F-881796FB085E}" type="slidenum">
              <a:rPr lang="ar-SA" noProof="0" smtClean="0"/>
              <a:pPr/>
              <a:t>14</a:t>
            </a:fld>
            <a:endParaRPr lang="ar-SA" noProof="0" dirty="0"/>
          </a:p>
        </p:txBody>
      </p:sp>
      <p:graphicFrame>
        <p:nvGraphicFramePr>
          <p:cNvPr id="2" name="Table 1">
            <a:extLst>
              <a:ext uri="{FF2B5EF4-FFF2-40B4-BE49-F238E27FC236}">
                <a16:creationId xmlns:a16="http://schemas.microsoft.com/office/drawing/2014/main" id="{C47CAF5B-4215-4DCE-B225-BC1E66631900}"/>
              </a:ext>
            </a:extLst>
          </p:cNvPr>
          <p:cNvGraphicFramePr>
            <a:graphicFrameLocks noGrp="1"/>
          </p:cNvGraphicFramePr>
          <p:nvPr>
            <p:extLst>
              <p:ext uri="{D42A27DB-BD31-4B8C-83A1-F6EECF244321}">
                <p14:modId xmlns:p14="http://schemas.microsoft.com/office/powerpoint/2010/main" val="2877428200"/>
              </p:ext>
            </p:extLst>
          </p:nvPr>
        </p:nvGraphicFramePr>
        <p:xfrm>
          <a:off x="609600" y="1161146"/>
          <a:ext cx="10972802" cy="5090160"/>
        </p:xfrm>
        <a:graphic>
          <a:graphicData uri="http://schemas.openxmlformats.org/drawingml/2006/table">
            <a:tbl>
              <a:tblPr firstRow="1" bandRow="1">
                <a:tableStyleId>{2D5ABB26-0587-4C30-8999-92F81FD0307C}</a:tableStyleId>
              </a:tblPr>
              <a:tblGrid>
                <a:gridCol w="1828800">
                  <a:extLst>
                    <a:ext uri="{9D8B030D-6E8A-4147-A177-3AD203B41FA5}">
                      <a16:colId xmlns:a16="http://schemas.microsoft.com/office/drawing/2014/main" val="2801895674"/>
                    </a:ext>
                  </a:extLst>
                </a:gridCol>
                <a:gridCol w="738953">
                  <a:extLst>
                    <a:ext uri="{9D8B030D-6E8A-4147-A177-3AD203B41FA5}">
                      <a16:colId xmlns:a16="http://schemas.microsoft.com/office/drawing/2014/main" val="2976102064"/>
                    </a:ext>
                  </a:extLst>
                </a:gridCol>
                <a:gridCol w="838625">
                  <a:extLst>
                    <a:ext uri="{9D8B030D-6E8A-4147-A177-3AD203B41FA5}">
                      <a16:colId xmlns:a16="http://schemas.microsoft.com/office/drawing/2014/main" val="526736865"/>
                    </a:ext>
                  </a:extLst>
                </a:gridCol>
                <a:gridCol w="3862640">
                  <a:extLst>
                    <a:ext uri="{9D8B030D-6E8A-4147-A177-3AD203B41FA5}">
                      <a16:colId xmlns:a16="http://schemas.microsoft.com/office/drawing/2014/main" val="4106469564"/>
                    </a:ext>
                  </a:extLst>
                </a:gridCol>
                <a:gridCol w="923637">
                  <a:extLst>
                    <a:ext uri="{9D8B030D-6E8A-4147-A177-3AD203B41FA5}">
                      <a16:colId xmlns:a16="http://schemas.microsoft.com/office/drawing/2014/main" val="1154529574"/>
                    </a:ext>
                  </a:extLst>
                </a:gridCol>
                <a:gridCol w="2780147">
                  <a:extLst>
                    <a:ext uri="{9D8B030D-6E8A-4147-A177-3AD203B41FA5}">
                      <a16:colId xmlns:a16="http://schemas.microsoft.com/office/drawing/2014/main" val="1503598667"/>
                    </a:ext>
                  </a:extLst>
                </a:gridCol>
              </a:tblGrid>
              <a:tr h="0">
                <a:tc>
                  <a:txBody>
                    <a:bodyPr/>
                    <a:lstStyle/>
                    <a:p>
                      <a:pPr algn="ctr" rtl="1"/>
                      <a:r>
                        <a:rPr lang="ar-SA" sz="1400" b="1" noProof="0" dirty="0">
                          <a:solidFill>
                            <a:schemeClr val="bg1"/>
                          </a:solidFill>
                        </a:rPr>
                        <a:t>المصدر</a:t>
                      </a:r>
                      <a:endParaRPr lang="ar-SA" sz="1400" b="1" noProof="0" dirty="0">
                        <a:solidFill>
                          <a:schemeClr val="bg1"/>
                        </a:solidFill>
                        <a:latin typeface="+mj-lt"/>
                      </a:endParaRPr>
                    </a:p>
                  </a:txBody>
                  <a:tcPr anchor="ctr">
                    <a:lnL w="12700" cap="flat" cmpd="sng" algn="ctr">
                      <a:noFill/>
                      <a:prstDash val="solid"/>
                      <a:round/>
                      <a:headEnd type="none" w="med" len="med"/>
                      <a:tailEnd type="none" w="med" len="med"/>
                    </a:lnL>
                    <a:lnR w="12700" cap="flat" cmpd="sng" algn="ctr">
                      <a:solidFill>
                        <a:schemeClr val="bg1"/>
                      </a:solidFill>
                      <a:prstDash val="solid"/>
                      <a:round/>
                      <a:headEnd type="none" w="med" len="med"/>
                      <a:tailEnd type="none" w="med" len="med"/>
                    </a:lnR>
                    <a:solidFill>
                      <a:schemeClr val="accent1"/>
                    </a:solidFill>
                  </a:tcPr>
                </a:tc>
                <a:tc>
                  <a: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lang="ar-SA" sz="1400" b="1" noProof="0" dirty="0">
                          <a:solidFill>
                            <a:schemeClr val="bg1"/>
                          </a:solidFill>
                        </a:rPr>
                        <a:t>الأهمية</a:t>
                      </a:r>
                      <a:endParaRPr lang="ar-SA" sz="1400" b="1" noProof="0" dirty="0">
                        <a:solidFill>
                          <a:schemeClr val="bg1"/>
                        </a:solidFill>
                        <a:latin typeface="+mj-lt"/>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solidFill>
                      <a:schemeClr val="accent1"/>
                    </a:solidFill>
                  </a:tcPr>
                </a:tc>
                <a:tc>
                  <a: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lang="ar-SA" sz="1400" b="1" noProof="0" dirty="0">
                          <a:solidFill>
                            <a:schemeClr val="bg1"/>
                          </a:solidFill>
                        </a:rPr>
                        <a:t>الأولوية</a:t>
                      </a:r>
                      <a:endParaRPr lang="ar-SA" sz="1400" b="1" noProof="0" dirty="0">
                        <a:solidFill>
                          <a:schemeClr val="bg1"/>
                        </a:solidFill>
                        <a:latin typeface="+mj-lt"/>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solidFill>
                      <a:schemeClr val="accent1"/>
                    </a:solidFill>
                  </a:tcPr>
                </a:tc>
                <a:tc gridSpan="2">
                  <a: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lang="ar-SA" sz="1400" b="1" noProof="0" dirty="0">
                          <a:solidFill>
                            <a:schemeClr val="bg1"/>
                          </a:solidFill>
                        </a:rPr>
                        <a:t>التحليل لكل فجوة </a:t>
                      </a:r>
                      <a:endParaRPr lang="ar-SA" sz="1400" b="1" noProof="0" dirty="0">
                        <a:solidFill>
                          <a:schemeClr val="bg1"/>
                        </a:solidFill>
                        <a:latin typeface="+mj-lt"/>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solidFill>
                      <a:schemeClr val="accent1"/>
                    </a:solidFill>
                  </a:tcPr>
                </a:tc>
                <a:tc hMerge="1">
                  <a:txBody>
                    <a:bodyPr/>
                    <a:lstStyle/>
                    <a:p>
                      <a:endParaRPr lang="en-US"/>
                    </a:p>
                  </a:txBody>
                  <a:tcPr/>
                </a:tc>
                <a:tc>
                  <a:txBody>
                    <a:bodyPr/>
                    <a:lstStyle/>
                    <a:p>
                      <a:pPr algn="ctr" rtl="1"/>
                      <a:r>
                        <a:rPr lang="ar-SA" sz="1400" b="1" noProof="0" dirty="0">
                          <a:solidFill>
                            <a:schemeClr val="bg1"/>
                          </a:solidFill>
                        </a:rPr>
                        <a:t>الفجوة</a:t>
                      </a:r>
                      <a:endParaRPr lang="ar-SA" sz="1400" b="1" noProof="0" dirty="0">
                        <a:solidFill>
                          <a:schemeClr val="bg1"/>
                        </a:solidFill>
                        <a:latin typeface="+mj-lt"/>
                      </a:endParaRPr>
                    </a:p>
                  </a:txBody>
                  <a:tcPr anchor="ctr">
                    <a:lnL w="12700" cap="flat" cmpd="sng" algn="ctr">
                      <a:solidFill>
                        <a:schemeClr val="bg1"/>
                      </a:solidFill>
                      <a:prstDash val="solid"/>
                      <a:round/>
                      <a:headEnd type="none" w="med" len="med"/>
                      <a:tailEnd type="none" w="med" len="med"/>
                    </a:lnL>
                    <a:lnR w="12700" cap="flat" cmpd="sng" algn="ctr">
                      <a:noFill/>
                      <a:prstDash val="solid"/>
                      <a:round/>
                      <a:headEnd type="none" w="med" len="med"/>
                      <a:tailEnd type="none" w="med" len="med"/>
                    </a:lnR>
                    <a:solidFill>
                      <a:schemeClr val="accent1"/>
                    </a:solidFill>
                  </a:tcPr>
                </a:tc>
                <a:extLst>
                  <a:ext uri="{0D108BD9-81ED-4DB2-BD59-A6C34878D82A}">
                    <a16:rowId xmlns:a16="http://schemas.microsoft.com/office/drawing/2014/main" val="3304685178"/>
                  </a:ext>
                </a:extLst>
              </a:tr>
              <a:tr h="0">
                <a:tc rowSpan="4">
                  <a:txBody>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lang="ar-SA" sz="1400" noProof="0" dirty="0"/>
                        <a:t>ملف حصر الأعمال ، دراسة وثائق الأعمال للجهة المتوفرة بالوضع الحالي ، ورش العمل لحصر الأعمال مع الوحدات الإدارية المعنية ،تطلعات أصحاب المصلحة</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B w="12700" cap="flat" cmpd="sng" algn="ctr">
                      <a:solidFill>
                        <a:schemeClr val="accent1"/>
                      </a:solidFill>
                      <a:prstDash val="solid"/>
                      <a:round/>
                      <a:headEnd type="none" w="med" len="med"/>
                      <a:tailEnd type="none" w="med" len="med"/>
                    </a:lnB>
                  </a:tcPr>
                </a:tc>
                <a:tc rowSpan="4">
                  <a:txBody>
                    <a:bodyPr/>
                    <a:lstStyle/>
                    <a:p>
                      <a:pPr marL="0" marR="0" lvl="0" indent="0" algn="ctr" defTabSz="914400" rtl="1" eaLnBrk="1" fontAlgn="auto" latinLnBrk="0" hangingPunct="1">
                        <a:lnSpc>
                          <a:spcPct val="100000"/>
                        </a:lnSpc>
                        <a:spcBef>
                          <a:spcPts val="0"/>
                        </a:spcBef>
                        <a:spcAft>
                          <a:spcPts val="0"/>
                        </a:spcAft>
                        <a:buClrTx/>
                        <a:buSzTx/>
                        <a:buFont typeface="Arial" panose="020B0604020202020204" pitchFamily="34" charset="0"/>
                        <a:buNone/>
                        <a:tabLst/>
                        <a:defRPr/>
                      </a:pPr>
                      <a:r>
                        <a:rPr kumimoji="0" lang="ar-SA" sz="1400" b="0" i="0" u="none" strike="noStrike" kern="1200" cap="none" spc="0" normalizeH="0" baseline="0" noProof="0" dirty="0">
                          <a:ln>
                            <a:noFill/>
                          </a:ln>
                          <a:solidFill>
                            <a:prstClr val="black"/>
                          </a:solidFill>
                          <a:effectLst/>
                          <a:uLnTx/>
                          <a:uFillTx/>
                          <a:latin typeface="Sakkal Majalla"/>
                          <a:ea typeface="+mn-ea"/>
                          <a:cs typeface="Sakkal Majalla"/>
                        </a:rPr>
                        <a:t>متوسط</a:t>
                      </a:r>
                    </a:p>
                  </a:txBody>
                  <a:tcPr anchor="ctr">
                    <a:lnL w="12700" cap="flat" cmpd="sng" algn="ctr">
                      <a:noFill/>
                      <a:prstDash val="solid"/>
                      <a:round/>
                      <a:headEnd type="none" w="med" len="med"/>
                      <a:tailEnd type="none" w="med" len="med"/>
                    </a:lnL>
                    <a:lnR w="12700" cap="flat" cmpd="sng" algn="ctr">
                      <a:solidFill>
                        <a:schemeClr val="bg1"/>
                      </a:solidFill>
                      <a:prstDash val="solid"/>
                      <a:round/>
                      <a:headEnd type="none" w="med" len="med"/>
                      <a:tailEnd type="none" w="med" len="med"/>
                    </a:lnR>
                    <a:lnB w="12700" cap="flat" cmpd="sng" algn="ctr">
                      <a:solidFill>
                        <a:schemeClr val="accent1"/>
                      </a:solidFill>
                      <a:prstDash val="solid"/>
                      <a:round/>
                      <a:headEnd type="none" w="med" len="med"/>
                      <a:tailEnd type="none" w="med" len="med"/>
                    </a:lnB>
                    <a:solidFill>
                      <a:schemeClr val="bg1">
                        <a:lumMod val="95000"/>
                        <a:alpha val="5000"/>
                      </a:schemeClr>
                    </a:solidFill>
                  </a:tcPr>
                </a:tc>
                <a:tc rowSpan="4">
                  <a:txBody>
                    <a:bodyPr/>
                    <a:lstStyle/>
                    <a:p>
                      <a:pPr marL="0" marR="0" lvl="0" indent="0" algn="ctr" defTabSz="914400" rtl="1" eaLnBrk="1" fontAlgn="auto" latinLnBrk="0" hangingPunct="1">
                        <a:lnSpc>
                          <a:spcPct val="100000"/>
                        </a:lnSpc>
                        <a:spcBef>
                          <a:spcPts val="0"/>
                        </a:spcBef>
                        <a:spcAft>
                          <a:spcPts val="0"/>
                        </a:spcAft>
                        <a:buClrTx/>
                        <a:buSzTx/>
                        <a:buFont typeface="Arial" panose="020B0604020202020204" pitchFamily="34" charset="0"/>
                        <a:buNone/>
                        <a:tabLst/>
                        <a:defRPr/>
                      </a:pPr>
                      <a:r>
                        <a:rPr kumimoji="0" lang="ar-SA" sz="1400" b="0" i="0" u="none" strike="noStrike" kern="1200" cap="none" spc="0" normalizeH="0" baseline="0" noProof="0" dirty="0">
                          <a:ln>
                            <a:noFill/>
                          </a:ln>
                          <a:solidFill>
                            <a:prstClr val="black"/>
                          </a:solidFill>
                          <a:effectLst/>
                          <a:uLnTx/>
                          <a:uFillTx/>
                          <a:latin typeface="Sakkal Majalla"/>
                          <a:ea typeface="+mn-ea"/>
                          <a:cs typeface="Sakkal Majalla"/>
                        </a:rPr>
                        <a:t>متوسط</a:t>
                      </a:r>
                    </a:p>
                  </a:txBody>
                  <a:tcPr anchor="ctr">
                    <a:lnL w="12700" cap="flat" cmpd="sng" algn="ctr">
                      <a:solidFill>
                        <a:schemeClr val="bg1"/>
                      </a:solidFill>
                      <a:prstDash val="solid"/>
                      <a:round/>
                      <a:headEnd type="none" w="med" len="med"/>
                      <a:tailEnd type="none" w="med" len="med"/>
                    </a:lnL>
                    <a:lnR w="12700" cap="flat" cmpd="sng" algn="ctr">
                      <a:noFill/>
                      <a:prstDash val="solid"/>
                      <a:round/>
                      <a:headEnd type="none" w="med" len="med"/>
                      <a:tailEnd type="none" w="med" len="med"/>
                    </a:lnR>
                    <a:lnB w="12700" cap="flat" cmpd="sng" algn="ctr">
                      <a:solidFill>
                        <a:schemeClr val="accent1"/>
                      </a:solidFill>
                      <a:prstDash val="solid"/>
                      <a:round/>
                      <a:headEnd type="none" w="med" len="med"/>
                      <a:tailEnd type="none" w="med" len="med"/>
                    </a:lnB>
                    <a:solidFill>
                      <a:schemeClr val="bg1">
                        <a:lumMod val="95000"/>
                        <a:alpha val="5000"/>
                      </a:schemeClr>
                    </a:solidFill>
                  </a:tcPr>
                </a:tc>
                <a:tc>
                  <a:txBody>
                    <a:bodyPr/>
                    <a:lstStyle/>
                    <a:p>
                      <a:pPr marL="0" marR="0" lvl="0" indent="0" algn="just" defTabSz="914400" rtl="1" eaLnBrk="1" fontAlgn="auto" latinLnBrk="0" hangingPunct="1">
                        <a:lnSpc>
                          <a:spcPct val="100000"/>
                        </a:lnSpc>
                        <a:spcBef>
                          <a:spcPts val="0"/>
                        </a:spcBef>
                        <a:spcAft>
                          <a:spcPts val="0"/>
                        </a:spcAft>
                        <a:buClrTx/>
                        <a:buSzTx/>
                        <a:buFont typeface="Arial" panose="020B0604020202020204" pitchFamily="34" charset="0"/>
                        <a:buNone/>
                        <a:tabLst/>
                        <a:defRPr/>
                      </a:pPr>
                      <a:r>
                        <a:rPr lang="ar-SA" sz="1100" noProof="0" dirty="0"/>
                        <a:t>تمتلك الجهة حاليا بعض التقارير الإلكترونية، ولكن بعضها تعتبر  غير كاملة (أي  يوجد بعض التقارير الإلكترونية، ولكن لا تغطي جميع الخدمات والإجراءات) والتي  تساعد على قياس ومراجعة الأعمال. ، مع </a:t>
                      </a:r>
                      <a:r>
                        <a:rPr lang="ar-SA" sz="1100" noProof="0" dirty="0">
                          <a:latin typeface="Sakkal Majalla" panose="02000000000000000000" pitchFamily="2" charset="-78"/>
                          <a:cs typeface="Sakkal Majalla" panose="02000000000000000000" pitchFamily="2" charset="-78"/>
                        </a:rPr>
                        <a:t>ضرورة إكمال مشروع الأتمتة للتقارير الدورية الخاص بمركز البحوث للتقويم والقياس والاعتماد ، حيث يتم وضع نظام يضبط ويحدد مسئوليات تحليل البيانات في الإدارة وإعداد وإصدار التقارير، لاستثمار توافر البيانات في تحقيق مستهدفات الهيئة ولضمان الجودة والحفاظ على سرية البيانات.</a:t>
                      </a:r>
                    </a:p>
                    <a:p>
                      <a:pPr marL="0" marR="0" lvl="0" indent="0" algn="just" defTabSz="914400" rtl="1" eaLnBrk="1" fontAlgn="auto" latinLnBrk="0" hangingPunct="1">
                        <a:lnSpc>
                          <a:spcPct val="100000"/>
                        </a:lnSpc>
                        <a:spcBef>
                          <a:spcPts val="0"/>
                        </a:spcBef>
                        <a:spcAft>
                          <a:spcPts val="0"/>
                        </a:spcAft>
                        <a:buClrTx/>
                        <a:buSzTx/>
                        <a:buFont typeface="Arial" panose="020B0604020202020204" pitchFamily="34" charset="0"/>
                        <a:buNone/>
                        <a:tabLst/>
                        <a:defRPr/>
                      </a:pPr>
                      <a:endParaRPr lang="ar-SA" sz="1100" noProof="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B w="12700" cap="flat" cmpd="sng" algn="ctr">
                      <a:solidFill>
                        <a:schemeClr val="bg1">
                          <a:lumMod val="85000"/>
                        </a:schemeClr>
                      </a:solidFill>
                      <a:prstDash val="solid"/>
                      <a:round/>
                      <a:headEnd type="none" w="med" len="med"/>
                      <a:tailEnd type="none" w="med" len="med"/>
                    </a:lnB>
                  </a:tcPr>
                </a:tc>
                <a:tc>
                  <a:txBody>
                    <a:bodyPr/>
                    <a:lstStyle/>
                    <a:p>
                      <a:pPr marL="0" marR="0" lvl="0" indent="0" algn="ctr" defTabSz="914400" rtl="1" eaLnBrk="1" fontAlgn="auto" latinLnBrk="0" hangingPunct="1">
                        <a:lnSpc>
                          <a:spcPct val="100000"/>
                        </a:lnSpc>
                        <a:spcBef>
                          <a:spcPts val="0"/>
                        </a:spcBef>
                        <a:spcAft>
                          <a:spcPts val="0"/>
                        </a:spcAft>
                        <a:buClrTx/>
                        <a:buSzTx/>
                        <a:buFont typeface="Arial" panose="020B0604020202020204" pitchFamily="34" charset="0"/>
                        <a:buNone/>
                        <a:tabLst/>
                        <a:defRPr/>
                      </a:pPr>
                      <a:r>
                        <a:rPr lang="ar-SA" sz="1400" b="1" noProof="0" dirty="0">
                          <a:solidFill>
                            <a:schemeClr val="accent1"/>
                          </a:solidFill>
                        </a:rPr>
                        <a:t>الوصف</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B w="12700" cap="flat" cmpd="sng" algn="ctr">
                      <a:solidFill>
                        <a:schemeClr val="bg1">
                          <a:lumMod val="85000"/>
                        </a:schemeClr>
                      </a:solidFill>
                      <a:prstDash val="solid"/>
                      <a:round/>
                      <a:headEnd type="none" w="med" len="med"/>
                      <a:tailEnd type="none" w="med" len="med"/>
                    </a:lnB>
                    <a:solidFill>
                      <a:schemeClr val="bg1">
                        <a:lumMod val="95000"/>
                      </a:schemeClr>
                    </a:solidFill>
                  </a:tcPr>
                </a:tc>
                <a:tc rowSpan="4">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ar-SA" sz="1600" b="1" noProof="0" dirty="0"/>
                        <a:t>GAP-B-11</a:t>
                      </a:r>
                    </a:p>
                    <a:p>
                      <a:pPr marL="0" marR="0" lvl="0" indent="0" algn="r" defTabSz="914400" rtl="1" eaLnBrk="1" fontAlgn="auto" latinLnBrk="0" hangingPunct="1">
                        <a:lnSpc>
                          <a:spcPct val="100000"/>
                        </a:lnSpc>
                        <a:spcBef>
                          <a:spcPts val="0"/>
                        </a:spcBef>
                        <a:spcAft>
                          <a:spcPts val="0"/>
                        </a:spcAft>
                        <a:buClrTx/>
                        <a:buSzTx/>
                        <a:buFontTx/>
                        <a:buNone/>
                        <a:tabLst/>
                        <a:defRPr/>
                      </a:pPr>
                      <a:r>
                        <a:rPr lang="ar-SA" sz="1400" b="1" kern="1200" noProof="0" dirty="0">
                          <a:effectLst/>
                        </a:rPr>
                        <a:t>ضرورة استكمال وتحسين بعض التقارير الإلكترونية الحالية التي تحتاج إلى استكمال وتحسين</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B w="12700" cap="flat" cmpd="sng" algn="ctr">
                      <a:solidFill>
                        <a:schemeClr val="accent1"/>
                      </a:solidFill>
                      <a:prstDash val="solid"/>
                      <a:round/>
                      <a:headEnd type="none" w="med" len="med"/>
                      <a:tailEnd type="none" w="med" len="med"/>
                    </a:lnB>
                  </a:tcPr>
                </a:tc>
                <a:extLst>
                  <a:ext uri="{0D108BD9-81ED-4DB2-BD59-A6C34878D82A}">
                    <a16:rowId xmlns:a16="http://schemas.microsoft.com/office/drawing/2014/main" val="1128065702"/>
                  </a:ext>
                </a:extLst>
              </a:tr>
              <a:tr h="0">
                <a:tc vMerge="1">
                  <a:txBody>
                    <a:bodyPr/>
                    <a:lstStyle/>
                    <a:p>
                      <a:endParaRPr lang="en-US"/>
                    </a:p>
                  </a:txBody>
                  <a:tcPr/>
                </a:tc>
                <a:tc vMerge="1">
                  <a:txBody>
                    <a:bodyPr/>
                    <a:lstStyle/>
                    <a:p>
                      <a:endParaRPr lang="en-US"/>
                    </a:p>
                  </a:txBody>
                  <a:tcPr/>
                </a:tc>
                <a:tc vMerge="1">
                  <a:txBody>
                    <a:bodyPr/>
                    <a:lstStyle/>
                    <a:p>
                      <a:endParaRPr lang="en-US"/>
                    </a:p>
                  </a:txBody>
                  <a:tcPr/>
                </a:tc>
                <a:tc>
                  <a:txBody>
                    <a:bodyPr/>
                    <a:lstStyle/>
                    <a:p>
                      <a:pPr marL="0" marR="0" lvl="0" indent="0" algn="just" defTabSz="914400" rtl="1" eaLnBrk="1" fontAlgn="auto" latinLnBrk="0" hangingPunct="1">
                        <a:lnSpc>
                          <a:spcPct val="100000"/>
                        </a:lnSpc>
                        <a:spcBef>
                          <a:spcPts val="0"/>
                        </a:spcBef>
                        <a:spcAft>
                          <a:spcPts val="0"/>
                        </a:spcAft>
                        <a:buClrTx/>
                        <a:buSzTx/>
                        <a:buFont typeface="Arial" panose="020B0604020202020204" pitchFamily="34" charset="0"/>
                        <a:buNone/>
                        <a:tabLst/>
                        <a:defRPr/>
                      </a:pPr>
                      <a:r>
                        <a:rPr lang="ar-SA" sz="1100" noProof="0" dirty="0"/>
                        <a:t>يوجد بعض القصور في قياس ومراجعة أعمال.</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marL="0" marR="0" lvl="0" indent="0" algn="ctr" defTabSz="914400" rtl="1" eaLnBrk="1" fontAlgn="auto" latinLnBrk="0" hangingPunct="1">
                        <a:lnSpc>
                          <a:spcPct val="100000"/>
                        </a:lnSpc>
                        <a:spcBef>
                          <a:spcPts val="0"/>
                        </a:spcBef>
                        <a:spcAft>
                          <a:spcPts val="0"/>
                        </a:spcAft>
                        <a:buClrTx/>
                        <a:buSzTx/>
                        <a:buFont typeface="Arial" panose="020B0604020202020204" pitchFamily="34" charset="0"/>
                        <a:buNone/>
                        <a:tabLst/>
                        <a:defRPr/>
                      </a:pPr>
                      <a:r>
                        <a:rPr lang="ar-SA" sz="1400" b="1" kern="1200" noProof="0" dirty="0">
                          <a:solidFill>
                            <a:schemeClr val="accent1"/>
                          </a:solidFill>
                        </a:rPr>
                        <a:t>الأثر الحالي</a:t>
                      </a:r>
                      <a:endParaRPr lang="ar-SA" sz="1400" b="1" noProof="0" dirty="0">
                        <a:solidFill>
                          <a:schemeClr val="accent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lumMod val="95000"/>
                      </a:schemeClr>
                    </a:solidFill>
                  </a:tcPr>
                </a:tc>
                <a:tc vMerge="1">
                  <a:txBody>
                    <a:bodyPr/>
                    <a:lstStyle/>
                    <a:p>
                      <a:endParaRPr lang="en-US"/>
                    </a:p>
                  </a:txBody>
                  <a:tcPr/>
                </a:tc>
                <a:extLst>
                  <a:ext uri="{0D108BD9-81ED-4DB2-BD59-A6C34878D82A}">
                    <a16:rowId xmlns:a16="http://schemas.microsoft.com/office/drawing/2014/main" val="1163892829"/>
                  </a:ext>
                </a:extLst>
              </a:tr>
              <a:tr h="0">
                <a:tc vMerge="1">
                  <a:txBody>
                    <a:bodyPr/>
                    <a:lstStyle/>
                    <a:p>
                      <a:endParaRPr lang="en-US"/>
                    </a:p>
                  </a:txBody>
                  <a:tcPr/>
                </a:tc>
                <a:tc vMerge="1">
                  <a:txBody>
                    <a:bodyPr/>
                    <a:lstStyle/>
                    <a:p>
                      <a:endParaRPr lang="en-US"/>
                    </a:p>
                  </a:txBody>
                  <a:tcPr/>
                </a:tc>
                <a:tc vMerge="1">
                  <a:txBody>
                    <a:bodyPr/>
                    <a:lstStyle/>
                    <a:p>
                      <a:endParaRPr lang="en-US"/>
                    </a:p>
                  </a:txBody>
                  <a:tcPr/>
                </a:tc>
                <a:tc>
                  <a:txBody>
                    <a:bodyPr/>
                    <a:lstStyle/>
                    <a:p>
                      <a:pPr marL="0" marR="0" lvl="0" indent="0" algn="just" defTabSz="914400" rtl="1" eaLnBrk="1" fontAlgn="auto" latinLnBrk="0" hangingPunct="1">
                        <a:lnSpc>
                          <a:spcPct val="100000"/>
                        </a:lnSpc>
                        <a:spcBef>
                          <a:spcPts val="0"/>
                        </a:spcBef>
                        <a:spcAft>
                          <a:spcPts val="0"/>
                        </a:spcAft>
                        <a:buClrTx/>
                        <a:buSzTx/>
                        <a:buFont typeface="Arial" panose="020B0604020202020204" pitchFamily="34" charset="0"/>
                        <a:buNone/>
                        <a:tabLst/>
                        <a:defRPr/>
                      </a:pPr>
                      <a:r>
                        <a:rPr lang="ar-SA" sz="1100" noProof="0" dirty="0"/>
                        <a:t>إمكانية قياس ومراجعة الأعمال نتيجة لتوفير كل التقارير الدورية والإحصائية اللازمة</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marL="0" marR="0" lvl="0" indent="0" algn="ctr" defTabSz="914400" rtl="1" eaLnBrk="1" fontAlgn="auto" latinLnBrk="0" hangingPunct="1">
                        <a:lnSpc>
                          <a:spcPct val="100000"/>
                        </a:lnSpc>
                        <a:spcBef>
                          <a:spcPts val="0"/>
                        </a:spcBef>
                        <a:spcAft>
                          <a:spcPts val="0"/>
                        </a:spcAft>
                        <a:buClrTx/>
                        <a:buSzTx/>
                        <a:buFont typeface="Arial" panose="020B0604020202020204" pitchFamily="34" charset="0"/>
                        <a:buNone/>
                        <a:tabLst/>
                        <a:defRPr/>
                      </a:pPr>
                      <a:r>
                        <a:rPr lang="ar-SA" sz="1400" b="1" noProof="0" dirty="0">
                          <a:solidFill>
                            <a:schemeClr val="accent1"/>
                          </a:solidFill>
                        </a:rPr>
                        <a:t>الأثر بعد الردم (المعالجة)</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lumMod val="95000"/>
                      </a:schemeClr>
                    </a:solidFill>
                  </a:tcPr>
                </a:tc>
                <a:tc vMerge="1">
                  <a:txBody>
                    <a:bodyPr/>
                    <a:lstStyle/>
                    <a:p>
                      <a:endParaRPr lang="en-US"/>
                    </a:p>
                  </a:txBody>
                  <a:tcPr/>
                </a:tc>
                <a:extLst>
                  <a:ext uri="{0D108BD9-81ED-4DB2-BD59-A6C34878D82A}">
                    <a16:rowId xmlns:a16="http://schemas.microsoft.com/office/drawing/2014/main" val="1973569126"/>
                  </a:ext>
                </a:extLst>
              </a:tr>
              <a:tr h="0">
                <a:tc vMerge="1">
                  <a:txBody>
                    <a:bodyPr/>
                    <a:lstStyle/>
                    <a:p>
                      <a:endParaRPr lang="en-US"/>
                    </a:p>
                  </a:txBody>
                  <a:tcPr/>
                </a:tc>
                <a:tc vMerge="1">
                  <a:txBody>
                    <a:bodyPr/>
                    <a:lstStyle/>
                    <a:p>
                      <a:endParaRPr lang="en-US"/>
                    </a:p>
                  </a:txBody>
                  <a:tcPr/>
                </a:tc>
                <a:tc vMerge="1">
                  <a:txBody>
                    <a:bodyPr/>
                    <a:lstStyle/>
                    <a:p>
                      <a:endParaRPr lang="en-US"/>
                    </a:p>
                  </a:txBody>
                  <a:tcPr/>
                </a:tc>
                <a:tc>
                  <a:txBody>
                    <a:bodyPr/>
                    <a:lstStyle/>
                    <a:p>
                      <a:pPr marL="0" marR="0" lvl="0" indent="0" algn="just" defTabSz="914400" rtl="1" eaLnBrk="1" fontAlgn="auto" latinLnBrk="0" hangingPunct="1">
                        <a:lnSpc>
                          <a:spcPct val="100000"/>
                        </a:lnSpc>
                        <a:spcBef>
                          <a:spcPts val="0"/>
                        </a:spcBef>
                        <a:spcAft>
                          <a:spcPts val="0"/>
                        </a:spcAft>
                        <a:buClrTx/>
                        <a:buSzTx/>
                        <a:buFont typeface="Arial" panose="020B0604020202020204" pitchFamily="34" charset="0"/>
                        <a:buNone/>
                        <a:tabLst/>
                        <a:defRPr/>
                      </a:pPr>
                      <a:r>
                        <a:rPr lang="ar-SA" sz="1100" kern="1200" noProof="0" dirty="0">
                          <a:effectLst/>
                        </a:rPr>
                        <a:t>توفير جميع التقارير الإلكترونية الدورية والإحصائية للخدمات بشكل واضح وكامل ، </a:t>
                      </a:r>
                      <a:r>
                        <a:rPr lang="ar-SA" sz="1100" noProof="0" dirty="0">
                          <a:latin typeface="Sakkal Majalla" panose="02000000000000000000" pitchFamily="2" charset="-78"/>
                          <a:cs typeface="Sakkal Majalla" panose="02000000000000000000" pitchFamily="2" charset="-78"/>
                        </a:rPr>
                        <a:t>إكمال مشروع الأتمتة للتقارير الدورية الخاص بمركز البحوث للتقويم والقياس والاعتماد </a:t>
                      </a:r>
                      <a:endParaRPr lang="ar-SA" sz="1100" kern="1200" noProof="0" dirty="0">
                        <a:effectLst/>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marL="0" marR="0" lvl="0" indent="0" algn="ctr" defTabSz="914400" rtl="1" eaLnBrk="1" fontAlgn="auto" latinLnBrk="0" hangingPunct="1">
                        <a:lnSpc>
                          <a:spcPct val="100000"/>
                        </a:lnSpc>
                        <a:spcBef>
                          <a:spcPts val="0"/>
                        </a:spcBef>
                        <a:spcAft>
                          <a:spcPts val="0"/>
                        </a:spcAft>
                        <a:buClrTx/>
                        <a:buSzTx/>
                        <a:buFont typeface="Arial" panose="020B0604020202020204" pitchFamily="34" charset="0"/>
                        <a:buNone/>
                        <a:tabLst/>
                        <a:defRPr/>
                      </a:pPr>
                      <a:r>
                        <a:rPr lang="ar-SA" sz="1400" b="1" noProof="0" dirty="0">
                          <a:solidFill>
                            <a:schemeClr val="accent1"/>
                          </a:solidFill>
                        </a:rPr>
                        <a:t>تغطية الفجوة </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accent1"/>
                      </a:solidFill>
                      <a:prstDash val="solid"/>
                      <a:round/>
                      <a:headEnd type="none" w="med" len="med"/>
                      <a:tailEnd type="none" w="med" len="med"/>
                    </a:lnB>
                    <a:solidFill>
                      <a:schemeClr val="bg1">
                        <a:lumMod val="95000"/>
                      </a:schemeClr>
                    </a:solidFill>
                  </a:tcPr>
                </a:tc>
                <a:tc vMerge="1">
                  <a:txBody>
                    <a:bodyPr/>
                    <a:lstStyle/>
                    <a:p>
                      <a:endParaRPr lang="en-US"/>
                    </a:p>
                  </a:txBody>
                  <a:tcPr/>
                </a:tc>
                <a:extLst>
                  <a:ext uri="{0D108BD9-81ED-4DB2-BD59-A6C34878D82A}">
                    <a16:rowId xmlns:a16="http://schemas.microsoft.com/office/drawing/2014/main" val="4011636746"/>
                  </a:ext>
                </a:extLst>
              </a:tr>
              <a:tr h="0">
                <a:tc rowSpan="4">
                  <a:txBody>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lang="ar-SA" sz="1400" noProof="0" dirty="0"/>
                        <a:t>ملف حصر الأعمال ، دراسة وثائق الأعمال للجهة المتوفرة بالوضع الحالي ، ورش العمل لحصر الأعمال مع الوحدات الإدارية المعنية ،تطلعات أصحاب المصلحة</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rowSpan="4">
                  <a:txBody>
                    <a:bodyPr/>
                    <a:lstStyle/>
                    <a:p>
                      <a:pPr marL="0" marR="0" lvl="0" indent="0" algn="ctr" defTabSz="914400" rtl="1" eaLnBrk="1" fontAlgn="auto" latinLnBrk="0" hangingPunct="1">
                        <a:lnSpc>
                          <a:spcPct val="100000"/>
                        </a:lnSpc>
                        <a:spcBef>
                          <a:spcPts val="0"/>
                        </a:spcBef>
                        <a:spcAft>
                          <a:spcPts val="0"/>
                        </a:spcAft>
                        <a:buClrTx/>
                        <a:buSzTx/>
                        <a:buFont typeface="Arial" panose="020B0604020202020204" pitchFamily="34" charset="0"/>
                        <a:buNone/>
                        <a:tabLst/>
                        <a:defRPr/>
                      </a:pPr>
                      <a:r>
                        <a:rPr kumimoji="0" lang="ar-SA" sz="1400" b="0" i="0" u="none" strike="noStrike" kern="1200" cap="none" spc="0" normalizeH="0" baseline="0" noProof="0" dirty="0">
                          <a:ln>
                            <a:noFill/>
                          </a:ln>
                          <a:solidFill>
                            <a:prstClr val="black"/>
                          </a:solidFill>
                          <a:effectLst/>
                          <a:uLnTx/>
                          <a:uFillTx/>
                          <a:latin typeface="Sakkal Majalla"/>
                          <a:ea typeface="+mn-ea"/>
                          <a:cs typeface="Sakkal Majalla"/>
                        </a:rPr>
                        <a:t>متوسط</a:t>
                      </a:r>
                    </a:p>
                  </a:txBody>
                  <a:tcPr anchor="ctr">
                    <a:lnL w="12700" cap="flat" cmpd="sng" algn="ctr">
                      <a:no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solidFill>
                      <a:schemeClr val="bg1">
                        <a:lumMod val="95000"/>
                        <a:alpha val="5000"/>
                      </a:schemeClr>
                    </a:solidFill>
                  </a:tcPr>
                </a:tc>
                <a:tc rowSpan="4">
                  <a:txBody>
                    <a:bodyPr/>
                    <a:lstStyle/>
                    <a:p>
                      <a:pPr marL="0" marR="0" lvl="0" indent="0" algn="ctr" defTabSz="914400" rtl="1" eaLnBrk="1" fontAlgn="auto" latinLnBrk="0" hangingPunct="1">
                        <a:lnSpc>
                          <a:spcPct val="100000"/>
                        </a:lnSpc>
                        <a:spcBef>
                          <a:spcPts val="0"/>
                        </a:spcBef>
                        <a:spcAft>
                          <a:spcPts val="0"/>
                        </a:spcAft>
                        <a:buClrTx/>
                        <a:buSzTx/>
                        <a:buFont typeface="Arial" panose="020B0604020202020204" pitchFamily="34" charset="0"/>
                        <a:buNone/>
                        <a:tabLst/>
                        <a:defRPr/>
                      </a:pPr>
                      <a:r>
                        <a:rPr kumimoji="0" lang="ar-SA" sz="1400" b="0" i="0" u="none" strike="noStrike" kern="1200" cap="none" spc="0" normalizeH="0" baseline="0" noProof="0" dirty="0">
                          <a:ln>
                            <a:noFill/>
                          </a:ln>
                          <a:solidFill>
                            <a:prstClr val="black"/>
                          </a:solidFill>
                          <a:effectLst/>
                          <a:uLnTx/>
                          <a:uFillTx/>
                          <a:latin typeface="Sakkal Majalla"/>
                          <a:ea typeface="+mn-ea"/>
                          <a:cs typeface="Sakkal Majalla"/>
                        </a:rPr>
                        <a:t>متوسط</a:t>
                      </a:r>
                    </a:p>
                  </a:txBody>
                  <a:tcPr anchor="ctr">
                    <a:lnL w="12700" cap="flat" cmpd="sng" algn="ctr">
                      <a:solidFill>
                        <a:schemeClr val="bg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solidFill>
                      <a:schemeClr val="bg1">
                        <a:lumMod val="95000"/>
                        <a:alpha val="5000"/>
                      </a:schemeClr>
                    </a:solidFill>
                  </a:tcPr>
                </a:tc>
                <a:tc>
                  <a:txBody>
                    <a:bodyPr/>
                    <a:lstStyle/>
                    <a:p>
                      <a:pPr marL="0" marR="0" lvl="0" indent="0" algn="just" defTabSz="914400" rtl="1" eaLnBrk="1" fontAlgn="auto" latinLnBrk="0" hangingPunct="1">
                        <a:lnSpc>
                          <a:spcPct val="100000"/>
                        </a:lnSpc>
                        <a:spcBef>
                          <a:spcPts val="0"/>
                        </a:spcBef>
                        <a:spcAft>
                          <a:spcPts val="0"/>
                        </a:spcAft>
                        <a:buClrTx/>
                        <a:buSzTx/>
                        <a:buFont typeface="Arial" panose="020B0604020202020204" pitchFamily="34" charset="0"/>
                        <a:buNone/>
                        <a:tabLst/>
                        <a:defRPr/>
                      </a:pPr>
                      <a:r>
                        <a:rPr lang="ar-SA" sz="1100" noProof="0" dirty="0"/>
                        <a:t>تنفذ بعض الأعمال حاليا باستخدام برمجيات لمعالجة البيانات مثل (الإكسل) وباستخدام بعض  النماذج الورقية مما يتسبب في عدم القدرة على استرجاع هذه البيانات أو عمل  إحصائيات لقياس الإنجازات في مجال محدد</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marL="0" marR="0" lvl="0" indent="0" algn="ctr" defTabSz="914400" rtl="1" eaLnBrk="1" fontAlgn="auto" latinLnBrk="0" hangingPunct="1">
                        <a:lnSpc>
                          <a:spcPct val="100000"/>
                        </a:lnSpc>
                        <a:spcBef>
                          <a:spcPts val="0"/>
                        </a:spcBef>
                        <a:spcAft>
                          <a:spcPts val="0"/>
                        </a:spcAft>
                        <a:buClrTx/>
                        <a:buSzTx/>
                        <a:buFont typeface="Arial" panose="020B0604020202020204" pitchFamily="34" charset="0"/>
                        <a:buNone/>
                        <a:tabLst/>
                        <a:defRPr/>
                      </a:pPr>
                      <a:r>
                        <a:rPr lang="ar-SA" sz="1400" b="1" noProof="0" dirty="0">
                          <a:solidFill>
                            <a:schemeClr val="accent1"/>
                          </a:solidFill>
                        </a:rPr>
                        <a:t>الوصف</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lumMod val="95000"/>
                      </a:schemeClr>
                    </a:solidFill>
                  </a:tcPr>
                </a:tc>
                <a:tc rowSpan="4">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ar-SA" sz="1600" b="1" u="none" strike="noStrike" kern="1200" cap="none" spc="0" normalizeH="0" baseline="0" noProof="0" dirty="0">
                          <a:ln>
                            <a:noFill/>
                          </a:ln>
                          <a:effectLst/>
                          <a:uLnTx/>
                          <a:uFillTx/>
                        </a:rPr>
                        <a:t>GAP-B-12</a:t>
                      </a:r>
                    </a:p>
                    <a:p>
                      <a:pPr marL="0" marR="0" lvl="0" indent="0" algn="r" defTabSz="914400" rtl="1" eaLnBrk="1" fontAlgn="auto" latinLnBrk="0" hangingPunct="1">
                        <a:lnSpc>
                          <a:spcPct val="100000"/>
                        </a:lnSpc>
                        <a:spcBef>
                          <a:spcPts val="0"/>
                        </a:spcBef>
                        <a:spcAft>
                          <a:spcPts val="0"/>
                        </a:spcAft>
                        <a:buClrTx/>
                        <a:buSzTx/>
                        <a:buFontTx/>
                        <a:buNone/>
                        <a:tabLst/>
                        <a:defRPr/>
                      </a:pPr>
                      <a:r>
                        <a:rPr lang="ar-SA" sz="1400" b="1" kern="1200" noProof="0" dirty="0">
                          <a:effectLst/>
                        </a:rPr>
                        <a:t>تنفذ بعض الأعمال حاليا باستخدام برمجيات لمعالجة البيانات</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extLst>
                  <a:ext uri="{0D108BD9-81ED-4DB2-BD59-A6C34878D82A}">
                    <a16:rowId xmlns:a16="http://schemas.microsoft.com/office/drawing/2014/main" val="1136131386"/>
                  </a:ext>
                </a:extLst>
              </a:tr>
              <a:tr h="0">
                <a:tc vMerge="1">
                  <a:txBody>
                    <a:bodyPr/>
                    <a:lstStyle/>
                    <a:p>
                      <a:pPr marL="0" marR="0" lvl="0" indent="0" algn="r" defTabSz="914400" rtl="1" eaLnBrk="1" fontAlgn="auto" latinLnBrk="0" hangingPunct="1">
                        <a:lnSpc>
                          <a:spcPct val="100000"/>
                        </a:lnSpc>
                        <a:spcBef>
                          <a:spcPts val="0"/>
                        </a:spcBef>
                        <a:spcAft>
                          <a:spcPts val="0"/>
                        </a:spcAft>
                        <a:buClrTx/>
                        <a:buSzTx/>
                        <a:buFontTx/>
                        <a:buNone/>
                        <a:tabLst/>
                        <a:defRPr/>
                      </a:pPr>
                      <a:endParaRPr lang="en-GB" sz="1400" noProof="0" dirty="0"/>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vMerge="1">
                  <a:txBody>
                    <a:bodyPr/>
                    <a:lstStyle/>
                    <a:p>
                      <a:endParaRPr lang="en-US"/>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vMerge="1">
                  <a:txBody>
                    <a:bodyPr/>
                    <a:lstStyle/>
                    <a:p>
                      <a:endParaRPr lang="en-US"/>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marL="0" marR="0" lvl="0" indent="0" algn="just" defTabSz="914400" rtl="1" eaLnBrk="1" fontAlgn="auto" latinLnBrk="0" hangingPunct="1">
                        <a:lnSpc>
                          <a:spcPct val="100000"/>
                        </a:lnSpc>
                        <a:spcBef>
                          <a:spcPts val="0"/>
                        </a:spcBef>
                        <a:spcAft>
                          <a:spcPts val="0"/>
                        </a:spcAft>
                        <a:buClrTx/>
                        <a:buSzTx/>
                        <a:buFont typeface="Arial" panose="020B0604020202020204" pitchFamily="34" charset="0"/>
                        <a:buNone/>
                        <a:tabLst/>
                        <a:defRPr/>
                      </a:pPr>
                      <a:r>
                        <a:rPr lang="ar-SA" sz="1100" kern="1200" noProof="0" dirty="0">
                          <a:effectLst/>
                        </a:rPr>
                        <a:t>عدم القدرة على استرجاع هذه البيانات أو عمل  إحصائيات لقياس الإنجازات في مجال محدد.</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marL="0" marR="0" lvl="0" indent="0" algn="ctr" defTabSz="914400" rtl="1" eaLnBrk="1" fontAlgn="auto" latinLnBrk="0" hangingPunct="1">
                        <a:lnSpc>
                          <a:spcPct val="100000"/>
                        </a:lnSpc>
                        <a:spcBef>
                          <a:spcPts val="0"/>
                        </a:spcBef>
                        <a:spcAft>
                          <a:spcPts val="0"/>
                        </a:spcAft>
                        <a:buClrTx/>
                        <a:buSzTx/>
                        <a:buFont typeface="Arial" panose="020B0604020202020204" pitchFamily="34" charset="0"/>
                        <a:buNone/>
                        <a:tabLst/>
                        <a:defRPr/>
                      </a:pPr>
                      <a:r>
                        <a:rPr lang="ar-SA" sz="1400" b="1" kern="1200" noProof="0" dirty="0">
                          <a:solidFill>
                            <a:schemeClr val="accent1"/>
                          </a:solidFill>
                        </a:rPr>
                        <a:t>الأثر الحالي</a:t>
                      </a:r>
                      <a:endParaRPr lang="ar-SA" sz="1400" b="1" noProof="0" dirty="0">
                        <a:solidFill>
                          <a:schemeClr val="accent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lumMod val="95000"/>
                      </a:schemeClr>
                    </a:solidFill>
                  </a:tcPr>
                </a:tc>
                <a:tc vMerge="1">
                  <a:txBody>
                    <a:bodyPr/>
                    <a:lstStyle/>
                    <a:p>
                      <a:pPr marL="0" marR="0" lvl="0" indent="0" algn="r" defTabSz="914400" rtl="1" eaLnBrk="1" fontAlgn="auto" latinLnBrk="0" hangingPunct="1">
                        <a:lnSpc>
                          <a:spcPct val="100000"/>
                        </a:lnSpc>
                        <a:spcBef>
                          <a:spcPts val="0"/>
                        </a:spcBef>
                        <a:spcAft>
                          <a:spcPts val="0"/>
                        </a:spcAft>
                        <a:buClrTx/>
                        <a:buSzTx/>
                        <a:buFontTx/>
                        <a:buNone/>
                        <a:tabLst/>
                        <a:defRPr/>
                      </a:pPr>
                      <a:endParaRPr lang="en-GB" sz="1400" b="1" noProof="0" dirty="0"/>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extLst>
                  <a:ext uri="{0D108BD9-81ED-4DB2-BD59-A6C34878D82A}">
                    <a16:rowId xmlns:a16="http://schemas.microsoft.com/office/drawing/2014/main" val="918118369"/>
                  </a:ext>
                </a:extLst>
              </a:tr>
              <a:tr h="0">
                <a:tc vMerge="1">
                  <a:txBody>
                    <a:bodyPr/>
                    <a:lstStyle/>
                    <a:p>
                      <a:pPr marL="0" marR="0" lvl="0" indent="0" algn="r" defTabSz="914400" rtl="1" eaLnBrk="1" fontAlgn="auto" latinLnBrk="0" hangingPunct="1">
                        <a:lnSpc>
                          <a:spcPct val="100000"/>
                        </a:lnSpc>
                        <a:spcBef>
                          <a:spcPts val="0"/>
                        </a:spcBef>
                        <a:spcAft>
                          <a:spcPts val="0"/>
                        </a:spcAft>
                        <a:buClrTx/>
                        <a:buSzTx/>
                        <a:buFontTx/>
                        <a:buNone/>
                        <a:tabLst/>
                        <a:defRPr/>
                      </a:pPr>
                      <a:endParaRPr lang="en-GB" sz="1400" noProof="0" dirty="0"/>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vMerge="1">
                  <a:txBody>
                    <a:bodyPr/>
                    <a:lstStyle/>
                    <a:p>
                      <a:endParaRPr lang="en-US"/>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vMerge="1">
                  <a:txBody>
                    <a:bodyPr/>
                    <a:lstStyle/>
                    <a:p>
                      <a:endParaRPr lang="en-US"/>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marL="0" marR="0" lvl="0" indent="0" algn="just" defTabSz="914400" rtl="1" eaLnBrk="1" fontAlgn="auto" latinLnBrk="0" hangingPunct="1">
                        <a:lnSpc>
                          <a:spcPct val="100000"/>
                        </a:lnSpc>
                        <a:spcBef>
                          <a:spcPts val="0"/>
                        </a:spcBef>
                        <a:spcAft>
                          <a:spcPts val="0"/>
                        </a:spcAft>
                        <a:buClrTx/>
                        <a:buSzTx/>
                        <a:buFont typeface="Arial" panose="020B0604020202020204" pitchFamily="34" charset="0"/>
                        <a:buNone/>
                        <a:tabLst/>
                        <a:defRPr/>
                      </a:pPr>
                      <a:r>
                        <a:rPr lang="ar-SA" sz="1100" kern="1200" noProof="0" dirty="0">
                          <a:effectLst/>
                        </a:rPr>
                        <a:t>القدرة على استرجاع هذه البيانات أو عمل  إحصائيات لقياس الإنجازات في مجال محدد.</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marL="0" marR="0" lvl="0" indent="0" algn="ctr" defTabSz="914400" rtl="1" eaLnBrk="1" fontAlgn="auto" latinLnBrk="0" hangingPunct="1">
                        <a:lnSpc>
                          <a:spcPct val="100000"/>
                        </a:lnSpc>
                        <a:spcBef>
                          <a:spcPts val="0"/>
                        </a:spcBef>
                        <a:spcAft>
                          <a:spcPts val="0"/>
                        </a:spcAft>
                        <a:buClrTx/>
                        <a:buSzTx/>
                        <a:buFont typeface="Arial" panose="020B0604020202020204" pitchFamily="34" charset="0"/>
                        <a:buNone/>
                        <a:tabLst/>
                        <a:defRPr/>
                      </a:pPr>
                      <a:r>
                        <a:rPr lang="ar-SA" sz="1400" b="1" noProof="0" dirty="0">
                          <a:solidFill>
                            <a:schemeClr val="accent1"/>
                          </a:solidFill>
                        </a:rPr>
                        <a:t>الأثر بعد الردم (المعالجة)</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lumMod val="95000"/>
                      </a:schemeClr>
                    </a:solidFill>
                  </a:tcPr>
                </a:tc>
                <a:tc vMerge="1">
                  <a:txBody>
                    <a:bodyPr/>
                    <a:lstStyle/>
                    <a:p>
                      <a:pPr marL="0" marR="0" lvl="0" indent="0" algn="r" defTabSz="914400" rtl="1" eaLnBrk="1" fontAlgn="auto" latinLnBrk="0" hangingPunct="1">
                        <a:lnSpc>
                          <a:spcPct val="100000"/>
                        </a:lnSpc>
                        <a:spcBef>
                          <a:spcPts val="0"/>
                        </a:spcBef>
                        <a:spcAft>
                          <a:spcPts val="0"/>
                        </a:spcAft>
                        <a:buClrTx/>
                        <a:buSzTx/>
                        <a:buFontTx/>
                        <a:buNone/>
                        <a:tabLst/>
                        <a:defRPr/>
                      </a:pPr>
                      <a:endParaRPr lang="en-GB" sz="1400" b="1" noProof="0" dirty="0"/>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extLst>
                  <a:ext uri="{0D108BD9-81ED-4DB2-BD59-A6C34878D82A}">
                    <a16:rowId xmlns:a16="http://schemas.microsoft.com/office/drawing/2014/main" val="4153014111"/>
                  </a:ext>
                </a:extLst>
              </a:tr>
              <a:tr h="0">
                <a:tc vMerge="1">
                  <a:txBody>
                    <a:bodyPr/>
                    <a:lstStyle/>
                    <a:p>
                      <a:pPr marL="0" marR="0" lvl="0" indent="0" algn="r" defTabSz="914400" rtl="1" eaLnBrk="1" fontAlgn="auto" latinLnBrk="0" hangingPunct="1">
                        <a:lnSpc>
                          <a:spcPct val="100000"/>
                        </a:lnSpc>
                        <a:spcBef>
                          <a:spcPts val="0"/>
                        </a:spcBef>
                        <a:spcAft>
                          <a:spcPts val="0"/>
                        </a:spcAft>
                        <a:buClrTx/>
                        <a:buSzTx/>
                        <a:buFontTx/>
                        <a:buNone/>
                        <a:tabLst/>
                        <a:defRPr/>
                      </a:pPr>
                      <a:endParaRPr lang="en-GB" sz="1400" noProof="0" dirty="0"/>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vMerge="1">
                  <a:txBody>
                    <a:bodyPr/>
                    <a:lstStyle/>
                    <a:p>
                      <a:endParaRPr lang="en-US"/>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vMerge="1">
                  <a:txBody>
                    <a:bodyPr/>
                    <a:lstStyle/>
                    <a:p>
                      <a:endParaRPr lang="en-US"/>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marL="0" marR="0" lvl="0" indent="0" algn="just" defTabSz="914400" rtl="1" eaLnBrk="1" fontAlgn="auto" latinLnBrk="0" hangingPunct="1">
                        <a:lnSpc>
                          <a:spcPct val="100000"/>
                        </a:lnSpc>
                        <a:spcBef>
                          <a:spcPts val="0"/>
                        </a:spcBef>
                        <a:spcAft>
                          <a:spcPts val="0"/>
                        </a:spcAft>
                        <a:buClrTx/>
                        <a:buSzTx/>
                        <a:buFont typeface="Arial" panose="020B0604020202020204" pitchFamily="34" charset="0"/>
                        <a:buNone/>
                        <a:tabLst/>
                        <a:defRPr/>
                      </a:pPr>
                      <a:r>
                        <a:rPr lang="ar-SA" sz="1100" noProof="0" dirty="0"/>
                        <a:t>تفعيل تنفذ الأعمال باستخدام برمجيات لمعالجة البيانات وباستخدام النماذج الإلكترونية للتمكين على استرجاع  هذه البيانات أو عمل إحصائيات لقياس الإنجازات في مجال محدد.</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marL="0" marR="0" lvl="0" indent="0" algn="ctr" defTabSz="914400" rtl="1" eaLnBrk="1" fontAlgn="auto" latinLnBrk="0" hangingPunct="1">
                        <a:lnSpc>
                          <a:spcPct val="100000"/>
                        </a:lnSpc>
                        <a:spcBef>
                          <a:spcPts val="0"/>
                        </a:spcBef>
                        <a:spcAft>
                          <a:spcPts val="0"/>
                        </a:spcAft>
                        <a:buClrTx/>
                        <a:buSzTx/>
                        <a:buFont typeface="Arial" panose="020B0604020202020204" pitchFamily="34" charset="0"/>
                        <a:buNone/>
                        <a:tabLst/>
                        <a:defRPr/>
                      </a:pPr>
                      <a:r>
                        <a:rPr lang="ar-SA" sz="1400" b="1" noProof="0" dirty="0">
                          <a:solidFill>
                            <a:schemeClr val="accent1"/>
                          </a:solidFill>
                        </a:rPr>
                        <a:t>تغطية الفجوة </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accent1"/>
                      </a:solidFill>
                      <a:prstDash val="solid"/>
                      <a:round/>
                      <a:headEnd type="none" w="med" len="med"/>
                      <a:tailEnd type="none" w="med" len="med"/>
                    </a:lnB>
                    <a:solidFill>
                      <a:schemeClr val="bg1">
                        <a:lumMod val="95000"/>
                      </a:schemeClr>
                    </a:solidFill>
                  </a:tcPr>
                </a:tc>
                <a:tc vMerge="1">
                  <a:txBody>
                    <a:bodyPr/>
                    <a:lstStyle/>
                    <a:p>
                      <a:pPr marL="0" marR="0" lvl="0" indent="0" algn="r" defTabSz="914400" rtl="1" eaLnBrk="1" fontAlgn="auto" latinLnBrk="0" hangingPunct="1">
                        <a:lnSpc>
                          <a:spcPct val="100000"/>
                        </a:lnSpc>
                        <a:spcBef>
                          <a:spcPts val="0"/>
                        </a:spcBef>
                        <a:spcAft>
                          <a:spcPts val="0"/>
                        </a:spcAft>
                        <a:buClrTx/>
                        <a:buSzTx/>
                        <a:buFontTx/>
                        <a:buNone/>
                        <a:tabLst/>
                        <a:defRPr/>
                      </a:pPr>
                      <a:endParaRPr lang="en-GB" sz="1400" b="1" noProof="0" dirty="0"/>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extLst>
                  <a:ext uri="{0D108BD9-81ED-4DB2-BD59-A6C34878D82A}">
                    <a16:rowId xmlns:a16="http://schemas.microsoft.com/office/drawing/2014/main" val="1035545327"/>
                  </a:ext>
                </a:extLst>
              </a:tr>
            </a:tbl>
          </a:graphicData>
        </a:graphic>
      </p:graphicFrame>
      <p:sp>
        <p:nvSpPr>
          <p:cNvPr id="7" name="TextBox 6">
            <a:extLst>
              <a:ext uri="{FF2B5EF4-FFF2-40B4-BE49-F238E27FC236}">
                <a16:creationId xmlns:a16="http://schemas.microsoft.com/office/drawing/2014/main" id="{78FFBCC9-9528-43EE-3448-66EDC46CF782}"/>
              </a:ext>
            </a:extLst>
          </p:cNvPr>
          <p:cNvSpPr txBox="1"/>
          <p:nvPr/>
        </p:nvSpPr>
        <p:spPr>
          <a:xfrm>
            <a:off x="609601" y="750183"/>
            <a:ext cx="10972800" cy="375487"/>
          </a:xfrm>
          <a:prstGeom prst="rect">
            <a:avLst/>
          </a:prstGeom>
          <a:noFill/>
        </p:spPr>
        <p:txBody>
          <a:bodyPr wrap="square">
            <a:spAutoFit/>
          </a:bodyPr>
          <a:lstStyle/>
          <a:p>
            <a:pPr algn="r" rtl="1">
              <a:lnSpc>
                <a:spcPct val="115000"/>
              </a:lnSpc>
              <a:spcAft>
                <a:spcPts val="1000"/>
              </a:spcAft>
            </a:pPr>
            <a:r>
              <a:rPr lang="ar-SA" sz="1600" noProof="0" dirty="0">
                <a:solidFill>
                  <a:srgbClr val="000000"/>
                </a:solidFill>
                <a:latin typeface="Sakkal Majalla" panose="02000000000000000000" pitchFamily="2" charset="-78"/>
                <a:ea typeface="Sakkal Majalla" panose="02000000000000000000" pitchFamily="2" charset="-78"/>
                <a:cs typeface="Sakkal Majalla" panose="02000000000000000000" pitchFamily="2" charset="-78"/>
              </a:rPr>
              <a:t>يهدف هذا القسم من الوثيقة إلى تقديم الملاحظات الخاصة بالوضع الحالي لبنية الأعمال مع ذكر التوصيات  والتحسينات المفترض تطبيقها في الوضع المستقبلي</a:t>
            </a:r>
          </a:p>
        </p:txBody>
      </p:sp>
    </p:spTree>
    <p:extLst>
      <p:ext uri="{BB962C8B-B14F-4D97-AF65-F5344CB8AC3E}">
        <p14:creationId xmlns:p14="http://schemas.microsoft.com/office/powerpoint/2010/main" val="36777710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a:xfrm>
            <a:off x="609601" y="283172"/>
            <a:ext cx="10972800" cy="666261"/>
          </a:xfrm>
        </p:spPr>
        <p:txBody>
          <a:bodyPr/>
          <a:lstStyle/>
          <a:p>
            <a:r>
              <a:rPr lang="ar-SA" noProof="0" dirty="0"/>
              <a:t>ملخص تحليل الفجوات لبنية الأعمال </a:t>
            </a:r>
          </a:p>
        </p:txBody>
      </p:sp>
      <p:sp>
        <p:nvSpPr>
          <p:cNvPr id="3" name="Slide Number Placeholder 2">
            <a:extLst>
              <a:ext uri="{FF2B5EF4-FFF2-40B4-BE49-F238E27FC236}">
                <a16:creationId xmlns:a16="http://schemas.microsoft.com/office/drawing/2014/main" id="{A63A027D-6EA1-E9F6-6212-7D45811B8DC3}"/>
              </a:ext>
            </a:extLst>
          </p:cNvPr>
          <p:cNvSpPr>
            <a:spLocks noGrp="1"/>
          </p:cNvSpPr>
          <p:nvPr>
            <p:ph type="sldNum" sz="quarter" idx="12"/>
          </p:nvPr>
        </p:nvSpPr>
        <p:spPr>
          <a:xfrm>
            <a:off x="655319" y="6567058"/>
            <a:ext cx="466471" cy="290942"/>
          </a:xfrm>
        </p:spPr>
        <p:txBody>
          <a:bodyPr/>
          <a:lstStyle/>
          <a:p>
            <a:fld id="{0BE4EC83-A869-464E-AE9F-881796FB085E}" type="slidenum">
              <a:rPr lang="ar-SA" noProof="0" smtClean="0"/>
              <a:pPr/>
              <a:t>15</a:t>
            </a:fld>
            <a:endParaRPr lang="ar-SA" noProof="0" dirty="0"/>
          </a:p>
        </p:txBody>
      </p:sp>
      <p:graphicFrame>
        <p:nvGraphicFramePr>
          <p:cNvPr id="2" name="Table 1">
            <a:extLst>
              <a:ext uri="{FF2B5EF4-FFF2-40B4-BE49-F238E27FC236}">
                <a16:creationId xmlns:a16="http://schemas.microsoft.com/office/drawing/2014/main" id="{C47CAF5B-4215-4DCE-B225-BC1E66631900}"/>
              </a:ext>
            </a:extLst>
          </p:cNvPr>
          <p:cNvGraphicFramePr>
            <a:graphicFrameLocks noGrp="1"/>
          </p:cNvGraphicFramePr>
          <p:nvPr>
            <p:extLst>
              <p:ext uri="{D42A27DB-BD31-4B8C-83A1-F6EECF244321}">
                <p14:modId xmlns:p14="http://schemas.microsoft.com/office/powerpoint/2010/main" val="834355424"/>
              </p:ext>
            </p:extLst>
          </p:nvPr>
        </p:nvGraphicFramePr>
        <p:xfrm>
          <a:off x="609600" y="1116324"/>
          <a:ext cx="10972802" cy="4968240"/>
        </p:xfrm>
        <a:graphic>
          <a:graphicData uri="http://schemas.openxmlformats.org/drawingml/2006/table">
            <a:tbl>
              <a:tblPr firstRow="1" bandRow="1">
                <a:tableStyleId>{2D5ABB26-0587-4C30-8999-92F81FD0307C}</a:tableStyleId>
              </a:tblPr>
              <a:tblGrid>
                <a:gridCol w="1828800">
                  <a:extLst>
                    <a:ext uri="{9D8B030D-6E8A-4147-A177-3AD203B41FA5}">
                      <a16:colId xmlns:a16="http://schemas.microsoft.com/office/drawing/2014/main" val="2801895674"/>
                    </a:ext>
                  </a:extLst>
                </a:gridCol>
                <a:gridCol w="738953">
                  <a:extLst>
                    <a:ext uri="{9D8B030D-6E8A-4147-A177-3AD203B41FA5}">
                      <a16:colId xmlns:a16="http://schemas.microsoft.com/office/drawing/2014/main" val="2976102064"/>
                    </a:ext>
                  </a:extLst>
                </a:gridCol>
                <a:gridCol w="838625">
                  <a:extLst>
                    <a:ext uri="{9D8B030D-6E8A-4147-A177-3AD203B41FA5}">
                      <a16:colId xmlns:a16="http://schemas.microsoft.com/office/drawing/2014/main" val="526736865"/>
                    </a:ext>
                  </a:extLst>
                </a:gridCol>
                <a:gridCol w="3862640">
                  <a:extLst>
                    <a:ext uri="{9D8B030D-6E8A-4147-A177-3AD203B41FA5}">
                      <a16:colId xmlns:a16="http://schemas.microsoft.com/office/drawing/2014/main" val="4106469564"/>
                    </a:ext>
                  </a:extLst>
                </a:gridCol>
                <a:gridCol w="923637">
                  <a:extLst>
                    <a:ext uri="{9D8B030D-6E8A-4147-A177-3AD203B41FA5}">
                      <a16:colId xmlns:a16="http://schemas.microsoft.com/office/drawing/2014/main" val="1154529574"/>
                    </a:ext>
                  </a:extLst>
                </a:gridCol>
                <a:gridCol w="2780147">
                  <a:extLst>
                    <a:ext uri="{9D8B030D-6E8A-4147-A177-3AD203B41FA5}">
                      <a16:colId xmlns:a16="http://schemas.microsoft.com/office/drawing/2014/main" val="1503598667"/>
                    </a:ext>
                  </a:extLst>
                </a:gridCol>
              </a:tblGrid>
              <a:tr h="0">
                <a:tc>
                  <a:txBody>
                    <a:bodyPr/>
                    <a:lstStyle/>
                    <a:p>
                      <a:pPr algn="ctr" rtl="1"/>
                      <a:r>
                        <a:rPr lang="ar-SA" sz="1400" b="1" noProof="0" dirty="0">
                          <a:solidFill>
                            <a:schemeClr val="bg1"/>
                          </a:solidFill>
                        </a:rPr>
                        <a:t>المصدر</a:t>
                      </a:r>
                      <a:endParaRPr lang="ar-SA" sz="1400" b="1" noProof="0" dirty="0">
                        <a:solidFill>
                          <a:schemeClr val="bg1"/>
                        </a:solidFill>
                        <a:latin typeface="+mj-lt"/>
                      </a:endParaRPr>
                    </a:p>
                  </a:txBody>
                  <a:tcPr anchor="ctr">
                    <a:lnL w="12700" cap="flat" cmpd="sng" algn="ctr">
                      <a:noFill/>
                      <a:prstDash val="solid"/>
                      <a:round/>
                      <a:headEnd type="none" w="med" len="med"/>
                      <a:tailEnd type="none" w="med" len="med"/>
                    </a:lnL>
                    <a:lnR w="12700" cap="flat" cmpd="sng" algn="ctr">
                      <a:solidFill>
                        <a:schemeClr val="bg1"/>
                      </a:solidFill>
                      <a:prstDash val="solid"/>
                      <a:round/>
                      <a:headEnd type="none" w="med" len="med"/>
                      <a:tailEnd type="none" w="med" len="med"/>
                    </a:lnR>
                    <a:solidFill>
                      <a:schemeClr val="accent1"/>
                    </a:solidFill>
                  </a:tcPr>
                </a:tc>
                <a:tc>
                  <a: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lang="ar-SA" sz="1400" b="1" noProof="0" dirty="0">
                          <a:solidFill>
                            <a:schemeClr val="bg1"/>
                          </a:solidFill>
                        </a:rPr>
                        <a:t>الأهمية</a:t>
                      </a:r>
                      <a:endParaRPr lang="ar-SA" sz="1400" b="1" noProof="0" dirty="0">
                        <a:solidFill>
                          <a:schemeClr val="bg1"/>
                        </a:solidFill>
                        <a:latin typeface="+mj-lt"/>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solidFill>
                      <a:schemeClr val="accent1"/>
                    </a:solidFill>
                  </a:tcPr>
                </a:tc>
                <a:tc>
                  <a: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lang="ar-SA" sz="1400" b="1" noProof="0" dirty="0">
                          <a:solidFill>
                            <a:schemeClr val="bg1"/>
                          </a:solidFill>
                        </a:rPr>
                        <a:t>الأولوية</a:t>
                      </a:r>
                      <a:endParaRPr lang="ar-SA" sz="1400" b="1" noProof="0" dirty="0">
                        <a:solidFill>
                          <a:schemeClr val="bg1"/>
                        </a:solidFill>
                        <a:latin typeface="+mj-lt"/>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solidFill>
                      <a:schemeClr val="accent1"/>
                    </a:solidFill>
                  </a:tcPr>
                </a:tc>
                <a:tc gridSpan="2">
                  <a: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lang="ar-SA" sz="1400" b="1" noProof="0" dirty="0">
                          <a:solidFill>
                            <a:schemeClr val="bg1"/>
                          </a:solidFill>
                        </a:rPr>
                        <a:t>التحليل لكل فجوة </a:t>
                      </a:r>
                      <a:endParaRPr lang="ar-SA" sz="1400" b="1" noProof="0" dirty="0">
                        <a:solidFill>
                          <a:schemeClr val="bg1"/>
                        </a:solidFill>
                        <a:latin typeface="+mj-lt"/>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solidFill>
                      <a:schemeClr val="accent1"/>
                    </a:solidFill>
                  </a:tcPr>
                </a:tc>
                <a:tc hMerge="1">
                  <a:txBody>
                    <a:bodyPr/>
                    <a:lstStyle/>
                    <a:p>
                      <a:endParaRPr lang="en-US"/>
                    </a:p>
                  </a:txBody>
                  <a:tcPr/>
                </a:tc>
                <a:tc>
                  <a:txBody>
                    <a:bodyPr/>
                    <a:lstStyle/>
                    <a:p>
                      <a:pPr algn="ctr" rtl="1"/>
                      <a:r>
                        <a:rPr lang="ar-SA" sz="1400" b="1" noProof="0" dirty="0">
                          <a:solidFill>
                            <a:schemeClr val="bg1"/>
                          </a:solidFill>
                        </a:rPr>
                        <a:t>الفجوة</a:t>
                      </a:r>
                      <a:endParaRPr lang="ar-SA" sz="1400" b="1" noProof="0" dirty="0">
                        <a:solidFill>
                          <a:schemeClr val="bg1"/>
                        </a:solidFill>
                        <a:latin typeface="+mj-lt"/>
                      </a:endParaRPr>
                    </a:p>
                  </a:txBody>
                  <a:tcPr anchor="ctr">
                    <a:lnL w="12700" cap="flat" cmpd="sng" algn="ctr">
                      <a:solidFill>
                        <a:schemeClr val="bg1"/>
                      </a:solidFill>
                      <a:prstDash val="solid"/>
                      <a:round/>
                      <a:headEnd type="none" w="med" len="med"/>
                      <a:tailEnd type="none" w="med" len="med"/>
                    </a:lnL>
                    <a:lnR w="12700" cap="flat" cmpd="sng" algn="ctr">
                      <a:noFill/>
                      <a:prstDash val="solid"/>
                      <a:round/>
                      <a:headEnd type="none" w="med" len="med"/>
                      <a:tailEnd type="none" w="med" len="med"/>
                    </a:lnR>
                    <a:solidFill>
                      <a:schemeClr val="accent1"/>
                    </a:solidFill>
                  </a:tcPr>
                </a:tc>
                <a:extLst>
                  <a:ext uri="{0D108BD9-81ED-4DB2-BD59-A6C34878D82A}">
                    <a16:rowId xmlns:a16="http://schemas.microsoft.com/office/drawing/2014/main" val="3304685178"/>
                  </a:ext>
                </a:extLst>
              </a:tr>
              <a:tr h="0">
                <a:tc rowSpan="4">
                  <a:txBody>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lang="ar-SA" sz="1400" noProof="0" dirty="0"/>
                        <a:t>ملف حصر الأعمال ، دراسة وثائق الأعمال للجهة المتوفرة بالوضع الحالي ، ورش العمل لحصر الأعمال مع الوحدات الإدارية المعنية ،تطلعات أصحاب المصلحة</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B w="12700" cap="flat" cmpd="sng" algn="ctr">
                      <a:solidFill>
                        <a:schemeClr val="accent1"/>
                      </a:solidFill>
                      <a:prstDash val="solid"/>
                      <a:round/>
                      <a:headEnd type="none" w="med" len="med"/>
                      <a:tailEnd type="none" w="med" len="med"/>
                    </a:lnB>
                  </a:tcPr>
                </a:tc>
                <a:tc rowSpan="4">
                  <a:txBody>
                    <a:bodyPr/>
                    <a:lstStyle/>
                    <a:p>
                      <a:pPr marL="0" marR="0" lvl="0" indent="0" algn="ctr" defTabSz="914400" rtl="1" eaLnBrk="1" fontAlgn="auto" latinLnBrk="0" hangingPunct="1">
                        <a:lnSpc>
                          <a:spcPct val="100000"/>
                        </a:lnSpc>
                        <a:spcBef>
                          <a:spcPts val="0"/>
                        </a:spcBef>
                        <a:spcAft>
                          <a:spcPts val="0"/>
                        </a:spcAft>
                        <a:buClrTx/>
                        <a:buSzTx/>
                        <a:buFont typeface="Arial" panose="020B0604020202020204" pitchFamily="34" charset="0"/>
                        <a:buNone/>
                        <a:tabLst/>
                        <a:defRPr/>
                      </a:pPr>
                      <a:r>
                        <a:rPr lang="ar-SA" sz="1400" noProof="0" dirty="0"/>
                        <a:t>عالي</a:t>
                      </a:r>
                    </a:p>
                  </a:txBody>
                  <a:tcPr anchor="ctr">
                    <a:lnL w="12700" cap="flat" cmpd="sng" algn="ctr">
                      <a:noFill/>
                      <a:prstDash val="solid"/>
                      <a:round/>
                      <a:headEnd type="none" w="med" len="med"/>
                      <a:tailEnd type="none" w="med" len="med"/>
                    </a:lnL>
                    <a:lnR w="12700" cap="flat" cmpd="sng" algn="ctr">
                      <a:solidFill>
                        <a:schemeClr val="bg1"/>
                      </a:solidFill>
                      <a:prstDash val="solid"/>
                      <a:round/>
                      <a:headEnd type="none" w="med" len="med"/>
                      <a:tailEnd type="none" w="med" len="med"/>
                    </a:lnR>
                    <a:lnB w="12700" cap="flat" cmpd="sng" algn="ctr">
                      <a:solidFill>
                        <a:schemeClr val="accent1"/>
                      </a:solidFill>
                      <a:prstDash val="solid"/>
                      <a:round/>
                      <a:headEnd type="none" w="med" len="med"/>
                      <a:tailEnd type="none" w="med" len="med"/>
                    </a:lnB>
                    <a:solidFill>
                      <a:schemeClr val="bg1">
                        <a:lumMod val="95000"/>
                      </a:schemeClr>
                    </a:solidFill>
                  </a:tcPr>
                </a:tc>
                <a:tc rowSpan="4">
                  <a:txBody>
                    <a:bodyPr/>
                    <a:lstStyle/>
                    <a:p>
                      <a:pPr marL="0" marR="0" lvl="0" indent="0" algn="ctr" defTabSz="914400" rtl="1" eaLnBrk="1" fontAlgn="auto" latinLnBrk="0" hangingPunct="1">
                        <a:lnSpc>
                          <a:spcPct val="100000"/>
                        </a:lnSpc>
                        <a:spcBef>
                          <a:spcPts val="0"/>
                        </a:spcBef>
                        <a:spcAft>
                          <a:spcPts val="0"/>
                        </a:spcAft>
                        <a:buClrTx/>
                        <a:buSzTx/>
                        <a:buFont typeface="Arial" panose="020B0604020202020204" pitchFamily="34" charset="0"/>
                        <a:buNone/>
                        <a:tabLst/>
                        <a:defRPr/>
                      </a:pPr>
                      <a:r>
                        <a:rPr lang="ar-SA" sz="1400" noProof="0" dirty="0"/>
                        <a:t>عالي</a:t>
                      </a:r>
                    </a:p>
                  </a:txBody>
                  <a:tcPr anchor="ctr">
                    <a:lnL w="12700" cap="flat" cmpd="sng" algn="ctr">
                      <a:solidFill>
                        <a:schemeClr val="bg1"/>
                      </a:solidFill>
                      <a:prstDash val="solid"/>
                      <a:round/>
                      <a:headEnd type="none" w="med" len="med"/>
                      <a:tailEnd type="none" w="med" len="med"/>
                    </a:lnL>
                    <a:lnR w="12700" cap="flat" cmpd="sng" algn="ctr">
                      <a:noFill/>
                      <a:prstDash val="solid"/>
                      <a:round/>
                      <a:headEnd type="none" w="med" len="med"/>
                      <a:tailEnd type="none" w="med" len="med"/>
                    </a:lnR>
                    <a:lnB w="12700" cap="flat" cmpd="sng" algn="ctr">
                      <a:solidFill>
                        <a:schemeClr val="accent1"/>
                      </a:solidFill>
                      <a:prstDash val="solid"/>
                      <a:round/>
                      <a:headEnd type="none" w="med" len="med"/>
                      <a:tailEnd type="none" w="med" len="med"/>
                    </a:lnB>
                    <a:solidFill>
                      <a:schemeClr val="bg1">
                        <a:lumMod val="95000"/>
                      </a:schemeClr>
                    </a:solidFill>
                  </a:tcPr>
                </a:tc>
                <a:tc>
                  <a:txBody>
                    <a:bodyPr/>
                    <a:lstStyle/>
                    <a:p>
                      <a:pPr marL="0" marR="0" lvl="0" indent="0" algn="just" defTabSz="914400" rtl="1" eaLnBrk="1" fontAlgn="auto" latinLnBrk="0" hangingPunct="1">
                        <a:lnSpc>
                          <a:spcPct val="100000"/>
                        </a:lnSpc>
                        <a:spcBef>
                          <a:spcPts val="0"/>
                        </a:spcBef>
                        <a:spcAft>
                          <a:spcPts val="0"/>
                        </a:spcAft>
                        <a:buClrTx/>
                        <a:buSzTx/>
                        <a:buFont typeface="Arial" panose="020B0604020202020204" pitchFamily="34" charset="0"/>
                        <a:buNone/>
                        <a:tabLst/>
                        <a:defRPr/>
                      </a:pPr>
                      <a:r>
                        <a:rPr lang="ar-SA" sz="1000" kern="1200" noProof="0" dirty="0">
                          <a:solidFill>
                            <a:schemeClr val="tx1"/>
                          </a:solidFill>
                          <a:latin typeface="+mn-lt"/>
                          <a:ea typeface="+mn-ea"/>
                          <a:cs typeface="Sakkal Majalla" panose="02000000000000000000" pitchFamily="2" charset="-78"/>
                        </a:rPr>
                        <a:t>ضرورة إعادة هندسة الإجراءات الخاصة بإدارة التغيير على العمليات مع وضع حوكمة فعالة، مع اعتبار آلية لمراجعة وتحديث إجراءات الأعمال ونماذجها ، ضرورة إعادة هندسة الإجراءات الخاصة </a:t>
                      </a:r>
                      <a:r>
                        <a:rPr lang="ar-SA" sz="1000" kern="1200" noProof="0" dirty="0" err="1">
                          <a:solidFill>
                            <a:schemeClr val="tx1"/>
                          </a:solidFill>
                          <a:latin typeface="+mn-lt"/>
                          <a:ea typeface="+mn-ea"/>
                          <a:cs typeface="Sakkal Majalla" panose="02000000000000000000" pitchFamily="2" charset="-78"/>
                        </a:rPr>
                        <a:t>بإدارةالتواصل</a:t>
                      </a:r>
                      <a:r>
                        <a:rPr lang="ar-SA" sz="1000" kern="1200" noProof="0" dirty="0">
                          <a:solidFill>
                            <a:schemeClr val="tx1"/>
                          </a:solidFill>
                          <a:latin typeface="+mn-lt"/>
                          <a:ea typeface="+mn-ea"/>
                          <a:cs typeface="Sakkal Majalla" panose="02000000000000000000" pitchFamily="2" charset="-78"/>
                        </a:rPr>
                        <a:t> مع الجهات الحكومية المزودة للخدمات لضمان استمرارية الخدمة ، </a:t>
                      </a:r>
                      <a:r>
                        <a:rPr lang="ar-SA" sz="1000" noProof="0" dirty="0"/>
                        <a:t>الحاجة إلى الالتزام بالتحسين المستمر لإجراءات سير العمل من خلال مراقبة الأداء وتدقيق الإجراءات بشكل دوري  لتحديد الفجوات وتحقيق التحسينات ، مع ضرورة </a:t>
                      </a:r>
                      <a:r>
                        <a:rPr lang="ar-SA" sz="1000" noProof="0" dirty="0">
                          <a:latin typeface="Sakkal Majalla" panose="02000000000000000000" pitchFamily="2" charset="-78"/>
                          <a:cs typeface="Sakkal Majalla" panose="02000000000000000000" pitchFamily="2" charset="-78"/>
                        </a:rPr>
                        <a:t>التغير في المراكز والإدارات بتحديث إجراءات تضمن الامتثال لنظام حماية البيانات الشخصية</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B w="12700" cap="flat" cmpd="sng" algn="ctr">
                      <a:solidFill>
                        <a:schemeClr val="bg1">
                          <a:lumMod val="85000"/>
                        </a:schemeClr>
                      </a:solidFill>
                      <a:prstDash val="solid"/>
                      <a:round/>
                      <a:headEnd type="none" w="med" len="med"/>
                      <a:tailEnd type="none" w="med" len="med"/>
                    </a:lnB>
                  </a:tcPr>
                </a:tc>
                <a:tc>
                  <a:txBody>
                    <a:bodyPr/>
                    <a:lstStyle/>
                    <a:p>
                      <a:pPr marL="0" marR="0" lvl="0" indent="0" algn="ctr" defTabSz="914400" rtl="1" eaLnBrk="1" fontAlgn="auto" latinLnBrk="0" hangingPunct="1">
                        <a:lnSpc>
                          <a:spcPct val="100000"/>
                        </a:lnSpc>
                        <a:spcBef>
                          <a:spcPts val="0"/>
                        </a:spcBef>
                        <a:spcAft>
                          <a:spcPts val="0"/>
                        </a:spcAft>
                        <a:buClrTx/>
                        <a:buSzTx/>
                        <a:buFont typeface="Arial" panose="020B0604020202020204" pitchFamily="34" charset="0"/>
                        <a:buNone/>
                        <a:tabLst/>
                        <a:defRPr/>
                      </a:pPr>
                      <a:r>
                        <a:rPr lang="ar-SA" sz="1400" b="1" noProof="0" dirty="0">
                          <a:solidFill>
                            <a:schemeClr val="accent1"/>
                          </a:solidFill>
                        </a:rPr>
                        <a:t>الوصف  </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B w="12700" cap="flat" cmpd="sng" algn="ctr">
                      <a:solidFill>
                        <a:schemeClr val="bg1">
                          <a:lumMod val="85000"/>
                        </a:schemeClr>
                      </a:solidFill>
                      <a:prstDash val="solid"/>
                      <a:round/>
                      <a:headEnd type="none" w="med" len="med"/>
                      <a:tailEnd type="none" w="med" len="med"/>
                    </a:lnB>
                    <a:solidFill>
                      <a:schemeClr val="bg1">
                        <a:lumMod val="95000"/>
                      </a:schemeClr>
                    </a:solidFill>
                  </a:tcPr>
                </a:tc>
                <a:tc rowSpan="4">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ar-SA" sz="1600" b="1" noProof="0" dirty="0"/>
                        <a:t>GAP-B-13</a:t>
                      </a:r>
                    </a:p>
                    <a:p>
                      <a:pPr marL="0" marR="0" lvl="0" indent="0" algn="r" defTabSz="914400" rtl="1" eaLnBrk="1" fontAlgn="auto" latinLnBrk="0" hangingPunct="1">
                        <a:lnSpc>
                          <a:spcPct val="100000"/>
                        </a:lnSpc>
                        <a:spcBef>
                          <a:spcPts val="0"/>
                        </a:spcBef>
                        <a:spcAft>
                          <a:spcPts val="0"/>
                        </a:spcAft>
                        <a:buClrTx/>
                        <a:buSzTx/>
                        <a:buFontTx/>
                        <a:buNone/>
                        <a:tabLst/>
                        <a:defRPr/>
                      </a:pPr>
                      <a:r>
                        <a:rPr lang="ar-SA" sz="1400" b="1" kern="1200" noProof="0" dirty="0">
                          <a:solidFill>
                            <a:schemeClr val="tx1"/>
                          </a:solidFill>
                          <a:latin typeface="+mn-lt"/>
                          <a:ea typeface="+mn-ea"/>
                          <a:cs typeface="Sakkal Majalla" panose="02000000000000000000" pitchFamily="2" charset="-78"/>
                        </a:rPr>
                        <a:t>ضرورة إعادة هندسة الإجراءات التي تحتاج إلى تحسين</a:t>
                      </a:r>
                      <a:endParaRPr lang="ar-SA" sz="1400" b="1" kern="1200" noProof="0" dirty="0">
                        <a:effectLst/>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B w="12700" cap="flat" cmpd="sng" algn="ctr">
                      <a:solidFill>
                        <a:schemeClr val="accent1"/>
                      </a:solidFill>
                      <a:prstDash val="solid"/>
                      <a:round/>
                      <a:headEnd type="none" w="med" len="med"/>
                      <a:tailEnd type="none" w="med" len="med"/>
                    </a:lnB>
                  </a:tcPr>
                </a:tc>
                <a:extLst>
                  <a:ext uri="{0D108BD9-81ED-4DB2-BD59-A6C34878D82A}">
                    <a16:rowId xmlns:a16="http://schemas.microsoft.com/office/drawing/2014/main" val="1128065702"/>
                  </a:ext>
                </a:extLst>
              </a:tr>
              <a:tr h="0">
                <a:tc vMerge="1">
                  <a:txBody>
                    <a:bodyPr/>
                    <a:lstStyle/>
                    <a:p>
                      <a:endParaRPr lang="en-US"/>
                    </a:p>
                  </a:txBody>
                  <a:tcPr/>
                </a:tc>
                <a:tc vMerge="1">
                  <a:txBody>
                    <a:bodyPr/>
                    <a:lstStyle/>
                    <a:p>
                      <a:endParaRPr lang="en-US"/>
                    </a:p>
                  </a:txBody>
                  <a:tcPr/>
                </a:tc>
                <a:tc vMerge="1">
                  <a:txBody>
                    <a:bodyPr/>
                    <a:lstStyle/>
                    <a:p>
                      <a:endParaRPr lang="en-US"/>
                    </a:p>
                  </a:txBody>
                  <a:tcPr/>
                </a:tc>
                <a:tc>
                  <a:txBody>
                    <a:bodyPr/>
                    <a:lstStyle/>
                    <a:p>
                      <a:pPr marL="0" marR="0" lvl="0" indent="0" algn="just" defTabSz="914400" rtl="1" eaLnBrk="1" fontAlgn="auto" latinLnBrk="0" hangingPunct="1">
                        <a:lnSpc>
                          <a:spcPct val="100000"/>
                        </a:lnSpc>
                        <a:spcBef>
                          <a:spcPts val="0"/>
                        </a:spcBef>
                        <a:spcAft>
                          <a:spcPts val="0"/>
                        </a:spcAft>
                        <a:buClrTx/>
                        <a:buSzTx/>
                        <a:buFont typeface="Arial" panose="020B0604020202020204" pitchFamily="34" charset="0"/>
                        <a:buNone/>
                        <a:tabLst/>
                        <a:defRPr/>
                      </a:pPr>
                      <a:r>
                        <a:rPr lang="ar-SA" sz="1000" kern="1200" noProof="0" dirty="0">
                          <a:solidFill>
                            <a:schemeClr val="tx1"/>
                          </a:solidFill>
                          <a:latin typeface="+mn-lt"/>
                          <a:ea typeface="+mn-ea"/>
                          <a:cs typeface="Sakkal Majalla" panose="02000000000000000000" pitchFamily="2" charset="-78"/>
                        </a:rPr>
                        <a:t>عدم وجود حوكمة فعالة ، عدم وجود اعتبار لآلية لمراجعة وتحديث إجراءات الأعمال ونماذجها ، عدم ضمان استمرارية الخدمة ، عدم القدرة على </a:t>
                      </a:r>
                      <a:r>
                        <a:rPr lang="ar-SA" sz="1000" noProof="0" dirty="0"/>
                        <a:t>تحديد الفجوات وتحقيق التحسينات</a:t>
                      </a:r>
                      <a:endParaRPr lang="ar-SA" sz="1000" kern="1200" noProof="0" dirty="0">
                        <a:solidFill>
                          <a:schemeClr val="tx1"/>
                        </a:solidFill>
                        <a:latin typeface="+mn-lt"/>
                        <a:ea typeface="+mn-ea"/>
                        <a:cs typeface="Sakkal Majalla" panose="02000000000000000000" pitchFamily="2" charset="-78"/>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marL="0" marR="0" lvl="0" indent="0" algn="ctr" defTabSz="914400" rtl="1" eaLnBrk="1" fontAlgn="auto" latinLnBrk="0" hangingPunct="1">
                        <a:lnSpc>
                          <a:spcPct val="100000"/>
                        </a:lnSpc>
                        <a:spcBef>
                          <a:spcPts val="0"/>
                        </a:spcBef>
                        <a:spcAft>
                          <a:spcPts val="0"/>
                        </a:spcAft>
                        <a:buClrTx/>
                        <a:buSzTx/>
                        <a:buFont typeface="Arial" panose="020B0604020202020204" pitchFamily="34" charset="0"/>
                        <a:buNone/>
                        <a:tabLst/>
                        <a:defRPr/>
                      </a:pPr>
                      <a:r>
                        <a:rPr lang="ar-SA" sz="1400" b="1" kern="1200" noProof="0" dirty="0">
                          <a:solidFill>
                            <a:schemeClr val="accent1"/>
                          </a:solidFill>
                        </a:rPr>
                        <a:t>الأثر الحالي</a:t>
                      </a:r>
                      <a:endParaRPr lang="ar-SA" sz="1400" b="1" noProof="0" dirty="0">
                        <a:solidFill>
                          <a:schemeClr val="accent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lumMod val="95000"/>
                      </a:schemeClr>
                    </a:solidFill>
                  </a:tcPr>
                </a:tc>
                <a:tc vMerge="1">
                  <a:txBody>
                    <a:bodyPr/>
                    <a:lstStyle/>
                    <a:p>
                      <a:endParaRPr lang="en-US"/>
                    </a:p>
                  </a:txBody>
                  <a:tcPr/>
                </a:tc>
                <a:extLst>
                  <a:ext uri="{0D108BD9-81ED-4DB2-BD59-A6C34878D82A}">
                    <a16:rowId xmlns:a16="http://schemas.microsoft.com/office/drawing/2014/main" val="1163892829"/>
                  </a:ext>
                </a:extLst>
              </a:tr>
              <a:tr h="0">
                <a:tc vMerge="1">
                  <a:txBody>
                    <a:bodyPr/>
                    <a:lstStyle/>
                    <a:p>
                      <a:endParaRPr lang="en-US"/>
                    </a:p>
                  </a:txBody>
                  <a:tcPr/>
                </a:tc>
                <a:tc vMerge="1">
                  <a:txBody>
                    <a:bodyPr/>
                    <a:lstStyle/>
                    <a:p>
                      <a:endParaRPr lang="en-US"/>
                    </a:p>
                  </a:txBody>
                  <a:tcPr/>
                </a:tc>
                <a:tc vMerge="1">
                  <a:txBody>
                    <a:bodyPr/>
                    <a:lstStyle/>
                    <a:p>
                      <a:endParaRPr lang="en-US"/>
                    </a:p>
                  </a:txBody>
                  <a:tcPr/>
                </a:tc>
                <a:tc>
                  <a:txBody>
                    <a:bodyPr/>
                    <a:lstStyle/>
                    <a:p>
                      <a:pPr marL="0" marR="0" lvl="0" indent="0" algn="just" defTabSz="914400" rtl="1" eaLnBrk="1" fontAlgn="auto" latinLnBrk="0" hangingPunct="1">
                        <a:lnSpc>
                          <a:spcPct val="100000"/>
                        </a:lnSpc>
                        <a:spcBef>
                          <a:spcPts val="0"/>
                        </a:spcBef>
                        <a:spcAft>
                          <a:spcPts val="0"/>
                        </a:spcAft>
                        <a:buClrTx/>
                        <a:buSzTx/>
                        <a:buFont typeface="Arial" panose="020B0604020202020204" pitchFamily="34" charset="0"/>
                        <a:buNone/>
                        <a:tabLst/>
                        <a:defRPr/>
                      </a:pPr>
                      <a:r>
                        <a:rPr lang="ar-SA" sz="1000" kern="1200" noProof="0" dirty="0">
                          <a:solidFill>
                            <a:schemeClr val="tx1"/>
                          </a:solidFill>
                          <a:latin typeface="+mn-lt"/>
                          <a:ea typeface="+mn-ea"/>
                          <a:cs typeface="Sakkal Majalla" panose="02000000000000000000" pitchFamily="2" charset="-78"/>
                        </a:rPr>
                        <a:t>تفعيل حوكمة فعالة ، </a:t>
                      </a:r>
                      <a:r>
                        <a:rPr lang="ar-SA" sz="1000" kern="1200" noProof="0" dirty="0" err="1">
                          <a:solidFill>
                            <a:schemeClr val="tx1"/>
                          </a:solidFill>
                          <a:latin typeface="+mn-lt"/>
                          <a:ea typeface="+mn-ea"/>
                          <a:cs typeface="Sakkal Majalla" panose="02000000000000000000" pitchFamily="2" charset="-78"/>
                        </a:rPr>
                        <a:t>توفيراعتبار</a:t>
                      </a:r>
                      <a:r>
                        <a:rPr lang="ar-SA" sz="1000" kern="1200" noProof="0" dirty="0">
                          <a:solidFill>
                            <a:schemeClr val="tx1"/>
                          </a:solidFill>
                          <a:latin typeface="+mn-lt"/>
                          <a:ea typeface="+mn-ea"/>
                          <a:cs typeface="Sakkal Majalla" panose="02000000000000000000" pitchFamily="2" charset="-78"/>
                        </a:rPr>
                        <a:t> لآلية لمراجعة وتحديث إجراءات الأعمال ونماذجها ، توفير ضمان استمرارية الخدمة ، القدرة على </a:t>
                      </a:r>
                      <a:r>
                        <a:rPr lang="ar-SA" sz="1000" noProof="0" dirty="0"/>
                        <a:t>تحديد الفجوات وتحقيق التحسينات</a:t>
                      </a:r>
                      <a:endParaRPr lang="ar-SA" sz="1000" kern="1200" noProof="0" dirty="0">
                        <a:solidFill>
                          <a:schemeClr val="tx1"/>
                        </a:solidFill>
                        <a:latin typeface="+mn-lt"/>
                        <a:ea typeface="+mn-ea"/>
                        <a:cs typeface="Sakkal Majalla" panose="02000000000000000000" pitchFamily="2" charset="-78"/>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marL="0" marR="0" lvl="0" indent="0" algn="ctr" defTabSz="914400" rtl="1" eaLnBrk="1" fontAlgn="auto" latinLnBrk="0" hangingPunct="1">
                        <a:lnSpc>
                          <a:spcPct val="100000"/>
                        </a:lnSpc>
                        <a:spcBef>
                          <a:spcPts val="0"/>
                        </a:spcBef>
                        <a:spcAft>
                          <a:spcPts val="0"/>
                        </a:spcAft>
                        <a:buClrTx/>
                        <a:buSzTx/>
                        <a:buFont typeface="Arial" panose="020B0604020202020204" pitchFamily="34" charset="0"/>
                        <a:buNone/>
                        <a:tabLst/>
                        <a:defRPr/>
                      </a:pPr>
                      <a:r>
                        <a:rPr lang="ar-SA" sz="1400" b="1" noProof="0" dirty="0">
                          <a:solidFill>
                            <a:schemeClr val="accent1"/>
                          </a:solidFill>
                        </a:rPr>
                        <a:t>الأثر بعد الردم (المعالجة)</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lumMod val="95000"/>
                      </a:schemeClr>
                    </a:solidFill>
                  </a:tcPr>
                </a:tc>
                <a:tc vMerge="1">
                  <a:txBody>
                    <a:bodyPr/>
                    <a:lstStyle/>
                    <a:p>
                      <a:endParaRPr lang="en-US"/>
                    </a:p>
                  </a:txBody>
                  <a:tcPr/>
                </a:tc>
                <a:extLst>
                  <a:ext uri="{0D108BD9-81ED-4DB2-BD59-A6C34878D82A}">
                    <a16:rowId xmlns:a16="http://schemas.microsoft.com/office/drawing/2014/main" val="1973569126"/>
                  </a:ext>
                </a:extLst>
              </a:tr>
              <a:tr h="0">
                <a:tc vMerge="1">
                  <a:txBody>
                    <a:bodyPr/>
                    <a:lstStyle/>
                    <a:p>
                      <a:endParaRPr lang="en-US"/>
                    </a:p>
                  </a:txBody>
                  <a:tcPr/>
                </a:tc>
                <a:tc vMerge="1">
                  <a:txBody>
                    <a:bodyPr/>
                    <a:lstStyle/>
                    <a:p>
                      <a:endParaRPr lang="en-US"/>
                    </a:p>
                  </a:txBody>
                  <a:tcPr/>
                </a:tc>
                <a:tc vMerge="1">
                  <a:txBody>
                    <a:bodyPr/>
                    <a:lstStyle/>
                    <a:p>
                      <a:endParaRPr lang="en-US"/>
                    </a:p>
                  </a:txBody>
                  <a:tcPr/>
                </a:tc>
                <a:tc>
                  <a:txBody>
                    <a:bodyPr/>
                    <a:lstStyle/>
                    <a:p>
                      <a:pPr marL="0" marR="0" lvl="0" indent="0" algn="just" defTabSz="914400" rtl="1" eaLnBrk="1" fontAlgn="auto" latinLnBrk="0" hangingPunct="1">
                        <a:lnSpc>
                          <a:spcPct val="100000"/>
                        </a:lnSpc>
                        <a:spcBef>
                          <a:spcPts val="0"/>
                        </a:spcBef>
                        <a:spcAft>
                          <a:spcPts val="0"/>
                        </a:spcAft>
                        <a:buClrTx/>
                        <a:buSzTx/>
                        <a:buFont typeface="Arial" panose="020B0604020202020204" pitchFamily="34" charset="0"/>
                        <a:buNone/>
                        <a:tabLst/>
                        <a:defRPr/>
                      </a:pPr>
                      <a:r>
                        <a:rPr lang="ar-SA" sz="1000" kern="1200" noProof="0" dirty="0">
                          <a:solidFill>
                            <a:schemeClr val="tx1"/>
                          </a:solidFill>
                          <a:latin typeface="+mn-lt"/>
                          <a:ea typeface="+mn-ea"/>
                          <a:cs typeface="Sakkal Majalla" panose="02000000000000000000" pitchFamily="2" charset="-78"/>
                        </a:rPr>
                        <a:t>إعادة هندسة الإجراءات التي تحتاج إلى تحسين بواسطة آلية واضحة ، </a:t>
                      </a:r>
                      <a:r>
                        <a:rPr lang="ar-SA" sz="1000" noProof="0" dirty="0"/>
                        <a:t>الالتزام بالتحسين المستمر لإجراءات سير العمل من خلال مراقبة الأداء وتدقيق الإجراءات بشكل دوري  لتحديد الفجوات وتحقيق التحسينات ، </a:t>
                      </a:r>
                      <a:r>
                        <a:rPr lang="ar-SA" sz="1000" noProof="0" dirty="0">
                          <a:latin typeface="Sakkal Majalla" panose="02000000000000000000" pitchFamily="2" charset="-78"/>
                          <a:cs typeface="Sakkal Majalla" panose="02000000000000000000" pitchFamily="2" charset="-78"/>
                        </a:rPr>
                        <a:t>التغير في المراكز والإدارات بتحديث إجراءات تضمن الامتثال لنظام حماية البيانات الشخصية</a:t>
                      </a:r>
                      <a:endParaRPr lang="ar-SA" sz="1000" kern="1200" noProof="0" dirty="0">
                        <a:solidFill>
                          <a:schemeClr val="tx1"/>
                        </a:solidFill>
                        <a:latin typeface="+mn-lt"/>
                        <a:ea typeface="+mn-ea"/>
                        <a:cs typeface="Sakkal Majalla" panose="02000000000000000000" pitchFamily="2" charset="-78"/>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marL="0" marR="0" lvl="0" indent="0" algn="ctr" defTabSz="914400" rtl="1" eaLnBrk="1" fontAlgn="auto" latinLnBrk="0" hangingPunct="1">
                        <a:lnSpc>
                          <a:spcPct val="100000"/>
                        </a:lnSpc>
                        <a:spcBef>
                          <a:spcPts val="0"/>
                        </a:spcBef>
                        <a:spcAft>
                          <a:spcPts val="0"/>
                        </a:spcAft>
                        <a:buClrTx/>
                        <a:buSzTx/>
                        <a:buFont typeface="Arial" panose="020B0604020202020204" pitchFamily="34" charset="0"/>
                        <a:buNone/>
                        <a:tabLst/>
                        <a:defRPr/>
                      </a:pPr>
                      <a:r>
                        <a:rPr lang="ar-SA" sz="1400" b="1" noProof="0" dirty="0">
                          <a:solidFill>
                            <a:schemeClr val="accent1"/>
                          </a:solidFill>
                        </a:rPr>
                        <a:t>تغطية الفجوة </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accent1"/>
                      </a:solidFill>
                      <a:prstDash val="solid"/>
                      <a:round/>
                      <a:headEnd type="none" w="med" len="med"/>
                      <a:tailEnd type="none" w="med" len="med"/>
                    </a:lnB>
                    <a:solidFill>
                      <a:schemeClr val="bg1">
                        <a:lumMod val="95000"/>
                      </a:schemeClr>
                    </a:solidFill>
                  </a:tcPr>
                </a:tc>
                <a:tc vMerge="1">
                  <a:txBody>
                    <a:bodyPr/>
                    <a:lstStyle/>
                    <a:p>
                      <a:endParaRPr lang="en-US"/>
                    </a:p>
                  </a:txBody>
                  <a:tcPr/>
                </a:tc>
                <a:extLst>
                  <a:ext uri="{0D108BD9-81ED-4DB2-BD59-A6C34878D82A}">
                    <a16:rowId xmlns:a16="http://schemas.microsoft.com/office/drawing/2014/main" val="4011636746"/>
                  </a:ext>
                </a:extLst>
              </a:tr>
              <a:tr h="0">
                <a:tc rowSpan="4">
                  <a:txBody>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lang="ar-SA" sz="1400" noProof="0" dirty="0"/>
                        <a:t>ملف حصر الأعمال ، دراسة وثائق الأعمال للجهة المتوفرة بالوضع الحالي ، ورش العمل لحصر الأعمال مع الوحدات الإدارية المعنية ،تطلعات أصحاب المصلحة</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rowSpan="4">
                  <a:txBody>
                    <a:bodyPr/>
                    <a:lstStyle/>
                    <a:p>
                      <a:pPr marL="0" marR="0" lvl="0" indent="0" algn="ctr" defTabSz="914400" rtl="1" eaLnBrk="1" fontAlgn="auto" latinLnBrk="0" hangingPunct="1">
                        <a:lnSpc>
                          <a:spcPct val="100000"/>
                        </a:lnSpc>
                        <a:spcBef>
                          <a:spcPts val="0"/>
                        </a:spcBef>
                        <a:spcAft>
                          <a:spcPts val="0"/>
                        </a:spcAft>
                        <a:buClrTx/>
                        <a:buSzTx/>
                        <a:buFont typeface="Arial" panose="020B0604020202020204" pitchFamily="34" charset="0"/>
                        <a:buNone/>
                        <a:tabLst/>
                        <a:defRPr/>
                      </a:pPr>
                      <a:r>
                        <a:rPr kumimoji="0" lang="ar-SA" sz="1400" b="0" i="0" u="none" strike="noStrike" kern="1200" cap="none" spc="0" normalizeH="0" baseline="0" noProof="0" dirty="0">
                          <a:ln>
                            <a:noFill/>
                          </a:ln>
                          <a:solidFill>
                            <a:prstClr val="black"/>
                          </a:solidFill>
                          <a:effectLst/>
                          <a:uLnTx/>
                          <a:uFillTx/>
                          <a:latin typeface="Sakkal Majalla"/>
                          <a:ea typeface="+mn-ea"/>
                          <a:cs typeface="Sakkal Majalla"/>
                        </a:rPr>
                        <a:t>متوسط</a:t>
                      </a:r>
                    </a:p>
                  </a:txBody>
                  <a:tcPr anchor="ctr">
                    <a:lnL w="12700" cap="flat" cmpd="sng" algn="ctr">
                      <a:no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solidFill>
                      <a:schemeClr val="bg1">
                        <a:lumMod val="95000"/>
                      </a:schemeClr>
                    </a:solidFill>
                  </a:tcPr>
                </a:tc>
                <a:tc rowSpan="4">
                  <a:txBody>
                    <a:bodyPr/>
                    <a:lstStyle/>
                    <a:p>
                      <a:pPr marL="0" marR="0" lvl="0" indent="0" algn="ctr" defTabSz="914400" rtl="1" eaLnBrk="1" fontAlgn="auto" latinLnBrk="0" hangingPunct="1">
                        <a:lnSpc>
                          <a:spcPct val="100000"/>
                        </a:lnSpc>
                        <a:spcBef>
                          <a:spcPts val="0"/>
                        </a:spcBef>
                        <a:spcAft>
                          <a:spcPts val="0"/>
                        </a:spcAft>
                        <a:buClrTx/>
                        <a:buSzTx/>
                        <a:buFont typeface="Arial" panose="020B0604020202020204" pitchFamily="34" charset="0"/>
                        <a:buNone/>
                        <a:tabLst/>
                        <a:defRPr/>
                      </a:pPr>
                      <a:r>
                        <a:rPr kumimoji="0" lang="ar-SA" sz="1400" b="0" i="0" u="none" strike="noStrike" kern="1200" cap="none" spc="0" normalizeH="0" baseline="0" noProof="0" dirty="0">
                          <a:ln>
                            <a:noFill/>
                          </a:ln>
                          <a:solidFill>
                            <a:prstClr val="black"/>
                          </a:solidFill>
                          <a:effectLst/>
                          <a:uLnTx/>
                          <a:uFillTx/>
                          <a:latin typeface="Sakkal Majalla"/>
                          <a:ea typeface="+mn-ea"/>
                          <a:cs typeface="Sakkal Majalla"/>
                        </a:rPr>
                        <a:t>متوسط</a:t>
                      </a:r>
                    </a:p>
                  </a:txBody>
                  <a:tcPr anchor="ctr">
                    <a:lnL w="12700" cap="flat" cmpd="sng" algn="ctr">
                      <a:solidFill>
                        <a:schemeClr val="bg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solidFill>
                      <a:schemeClr val="bg1">
                        <a:lumMod val="95000"/>
                      </a:schemeClr>
                    </a:solidFill>
                  </a:tcPr>
                </a:tc>
                <a:tc>
                  <a:txBody>
                    <a:bodyPr/>
                    <a:lstStyle/>
                    <a:p>
                      <a:pPr marL="0" marR="0" lvl="0" indent="0" algn="just" defTabSz="914400" rtl="1" eaLnBrk="1" fontAlgn="auto" latinLnBrk="0" hangingPunct="1">
                        <a:lnSpc>
                          <a:spcPct val="100000"/>
                        </a:lnSpc>
                        <a:spcBef>
                          <a:spcPts val="0"/>
                        </a:spcBef>
                        <a:spcAft>
                          <a:spcPts val="0"/>
                        </a:spcAft>
                        <a:buClrTx/>
                        <a:buSzTx/>
                        <a:buFont typeface="Arial" panose="020B0604020202020204" pitchFamily="34" charset="0"/>
                        <a:buNone/>
                        <a:tabLst/>
                        <a:defRPr/>
                      </a:pPr>
                      <a:r>
                        <a:rPr lang="ar-SA" sz="1000" kern="1200" noProof="0" dirty="0">
                          <a:solidFill>
                            <a:schemeClr val="tx1"/>
                          </a:solidFill>
                          <a:latin typeface="+mn-lt"/>
                          <a:ea typeface="+mn-ea"/>
                          <a:cs typeface="Sakkal Majalla" panose="02000000000000000000" pitchFamily="2" charset="-78"/>
                        </a:rPr>
                        <a:t>ضرورة تطوير وتنفيذ برامج تدريبية شاملة وفعالة للموظفين لتعزيز المهارات الرقمية كجزء من التحسين المستمر ، كما يوجد </a:t>
                      </a:r>
                      <a:r>
                        <a:rPr lang="ar-SA" sz="1000" u="none" strike="noStrike" noProof="0" dirty="0">
                          <a:effectLst/>
                        </a:rPr>
                        <a:t>نقص في التدريب التخصصي للموظفين ، مع </a:t>
                      </a:r>
                      <a:r>
                        <a:rPr lang="ar-SA" sz="1000" noProof="0" dirty="0">
                          <a:latin typeface="Sakkal Majalla" panose="02000000000000000000" pitchFamily="2" charset="-78"/>
                          <a:cs typeface="Sakkal Majalla" panose="02000000000000000000" pitchFamily="2" charset="-78"/>
                        </a:rPr>
                        <a:t>ضرورة توفير برامج تدريبية لتعزيز الثقافة الرشيقة والابتكار بين الموظفين</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marL="0" marR="0" lvl="0" indent="0" algn="ctr" defTabSz="914400" rtl="1" eaLnBrk="1" fontAlgn="auto" latinLnBrk="0" hangingPunct="1">
                        <a:lnSpc>
                          <a:spcPct val="100000"/>
                        </a:lnSpc>
                        <a:spcBef>
                          <a:spcPts val="0"/>
                        </a:spcBef>
                        <a:spcAft>
                          <a:spcPts val="0"/>
                        </a:spcAft>
                        <a:buClrTx/>
                        <a:buSzTx/>
                        <a:buFont typeface="Arial" panose="020B0604020202020204" pitchFamily="34" charset="0"/>
                        <a:buNone/>
                        <a:tabLst/>
                        <a:defRPr/>
                      </a:pPr>
                      <a:r>
                        <a:rPr lang="ar-SA" sz="1400" b="1" noProof="0" dirty="0">
                          <a:solidFill>
                            <a:schemeClr val="accent1"/>
                          </a:solidFill>
                        </a:rPr>
                        <a:t>الوصف</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lumMod val="95000"/>
                      </a:schemeClr>
                    </a:solidFill>
                  </a:tcPr>
                </a:tc>
                <a:tc rowSpan="4">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ar-SA" sz="1600" b="1" u="none" strike="noStrike" kern="1200" cap="none" spc="0" normalizeH="0" baseline="0" noProof="0" dirty="0">
                          <a:ln>
                            <a:noFill/>
                          </a:ln>
                          <a:effectLst/>
                          <a:uLnTx/>
                          <a:uFillTx/>
                        </a:rPr>
                        <a:t>GAP-B-14</a:t>
                      </a:r>
                    </a:p>
                    <a:p>
                      <a:pPr marL="0" marR="0" lvl="0" indent="0" algn="r" defTabSz="914400" rtl="1" eaLnBrk="1" fontAlgn="auto" latinLnBrk="0" hangingPunct="1">
                        <a:lnSpc>
                          <a:spcPct val="100000"/>
                        </a:lnSpc>
                        <a:spcBef>
                          <a:spcPts val="0"/>
                        </a:spcBef>
                        <a:spcAft>
                          <a:spcPts val="0"/>
                        </a:spcAft>
                        <a:buClrTx/>
                        <a:buSzTx/>
                        <a:buFontTx/>
                        <a:buNone/>
                        <a:tabLst/>
                        <a:defRPr/>
                      </a:pPr>
                      <a:r>
                        <a:rPr lang="ar-SA" sz="1400" b="1" kern="1200" noProof="0" dirty="0">
                          <a:solidFill>
                            <a:schemeClr val="tx1"/>
                          </a:solidFill>
                          <a:effectLst/>
                          <a:latin typeface="+mn-lt"/>
                          <a:ea typeface="+mn-ea"/>
                          <a:cs typeface="+mn-cs"/>
                        </a:rPr>
                        <a:t>ضرورة تطوير وتنفيذ برامج تدريبية شاملة وفعالة للموظفين لتعزيز المهارات الرقمية كجزء من التحسين المستمر</a:t>
                      </a:r>
                    </a:p>
                    <a:p>
                      <a:pPr marL="0" marR="0" lvl="0" indent="0" algn="r" defTabSz="914400" rtl="1" eaLnBrk="1" fontAlgn="auto" latinLnBrk="0" hangingPunct="1">
                        <a:lnSpc>
                          <a:spcPct val="100000"/>
                        </a:lnSpc>
                        <a:spcBef>
                          <a:spcPts val="0"/>
                        </a:spcBef>
                        <a:spcAft>
                          <a:spcPts val="0"/>
                        </a:spcAft>
                        <a:buClrTx/>
                        <a:buSzTx/>
                        <a:buFontTx/>
                        <a:buNone/>
                        <a:tabLst/>
                        <a:defRPr/>
                      </a:pPr>
                      <a:endParaRPr lang="ar-SA" sz="1400" b="1" kern="1200" noProof="0" dirty="0">
                        <a:effectLst/>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extLst>
                  <a:ext uri="{0D108BD9-81ED-4DB2-BD59-A6C34878D82A}">
                    <a16:rowId xmlns:a16="http://schemas.microsoft.com/office/drawing/2014/main" val="1136131386"/>
                  </a:ext>
                </a:extLst>
              </a:tr>
              <a:tr h="0">
                <a:tc vMerge="1">
                  <a:txBody>
                    <a:bodyPr/>
                    <a:lstStyle/>
                    <a:p>
                      <a:pPr marL="0" marR="0" lvl="0" indent="0" algn="r" defTabSz="914400" rtl="1" eaLnBrk="1" fontAlgn="auto" latinLnBrk="0" hangingPunct="1">
                        <a:lnSpc>
                          <a:spcPct val="100000"/>
                        </a:lnSpc>
                        <a:spcBef>
                          <a:spcPts val="0"/>
                        </a:spcBef>
                        <a:spcAft>
                          <a:spcPts val="0"/>
                        </a:spcAft>
                        <a:buClrTx/>
                        <a:buSzTx/>
                        <a:buFontTx/>
                        <a:buNone/>
                        <a:tabLst/>
                        <a:defRPr/>
                      </a:pPr>
                      <a:endParaRPr lang="en-GB" sz="1400" noProof="0" dirty="0"/>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vMerge="1">
                  <a:txBody>
                    <a:bodyPr/>
                    <a:lstStyle/>
                    <a:p>
                      <a:endParaRPr lang="en-US"/>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vMerge="1">
                  <a:txBody>
                    <a:bodyPr/>
                    <a:lstStyle/>
                    <a:p>
                      <a:endParaRPr lang="en-US"/>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marL="0" marR="0" lvl="0" indent="0" algn="just" defTabSz="914400" rtl="1" eaLnBrk="1" fontAlgn="auto" latinLnBrk="0" hangingPunct="1">
                        <a:lnSpc>
                          <a:spcPct val="100000"/>
                        </a:lnSpc>
                        <a:spcBef>
                          <a:spcPts val="0"/>
                        </a:spcBef>
                        <a:spcAft>
                          <a:spcPts val="0"/>
                        </a:spcAft>
                        <a:buClrTx/>
                        <a:buSzTx/>
                        <a:buFont typeface="Arial" panose="020B0604020202020204" pitchFamily="34" charset="0"/>
                        <a:buNone/>
                        <a:tabLst/>
                        <a:defRPr/>
                      </a:pPr>
                      <a:r>
                        <a:rPr lang="ar-SA" sz="1000" kern="1200" noProof="0" dirty="0">
                          <a:solidFill>
                            <a:schemeClr val="tx1"/>
                          </a:solidFill>
                          <a:latin typeface="+mn-lt"/>
                          <a:ea typeface="+mn-ea"/>
                          <a:cs typeface="Sakkal Majalla" panose="02000000000000000000" pitchFamily="2" charset="-78"/>
                        </a:rPr>
                        <a:t>ضعف المهارات الرقمية وبالتالي التحسين المستمر ، ضعف </a:t>
                      </a:r>
                      <a:r>
                        <a:rPr lang="ar-SA" sz="1000" noProof="0" dirty="0">
                          <a:latin typeface="Sakkal Majalla" panose="02000000000000000000" pitchFamily="2" charset="-78"/>
                          <a:cs typeface="Sakkal Majalla" panose="02000000000000000000" pitchFamily="2" charset="-78"/>
                        </a:rPr>
                        <a:t>الثقافة الرشيقة والابتكار بين الموظفين</a:t>
                      </a:r>
                      <a:endParaRPr lang="ar-SA" sz="1000" kern="1200" noProof="0" dirty="0">
                        <a:solidFill>
                          <a:schemeClr val="tx1"/>
                        </a:solidFill>
                        <a:latin typeface="+mn-lt"/>
                        <a:ea typeface="+mn-ea"/>
                        <a:cs typeface="Sakkal Majalla" panose="02000000000000000000" pitchFamily="2" charset="-78"/>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marL="0" marR="0" lvl="0" indent="0" algn="ctr" defTabSz="914400" rtl="1" eaLnBrk="1" fontAlgn="auto" latinLnBrk="0" hangingPunct="1">
                        <a:lnSpc>
                          <a:spcPct val="100000"/>
                        </a:lnSpc>
                        <a:spcBef>
                          <a:spcPts val="0"/>
                        </a:spcBef>
                        <a:spcAft>
                          <a:spcPts val="0"/>
                        </a:spcAft>
                        <a:buClrTx/>
                        <a:buSzTx/>
                        <a:buFont typeface="Arial" panose="020B0604020202020204" pitchFamily="34" charset="0"/>
                        <a:buNone/>
                        <a:tabLst/>
                        <a:defRPr/>
                      </a:pPr>
                      <a:r>
                        <a:rPr lang="ar-SA" sz="1400" b="1" kern="1200" noProof="0" dirty="0">
                          <a:solidFill>
                            <a:schemeClr val="accent1"/>
                          </a:solidFill>
                        </a:rPr>
                        <a:t>الأثر الحالي</a:t>
                      </a:r>
                      <a:endParaRPr lang="ar-SA" sz="1400" b="1" noProof="0" dirty="0">
                        <a:solidFill>
                          <a:schemeClr val="accent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lumMod val="95000"/>
                      </a:schemeClr>
                    </a:solidFill>
                  </a:tcPr>
                </a:tc>
                <a:tc vMerge="1">
                  <a:txBody>
                    <a:bodyPr/>
                    <a:lstStyle/>
                    <a:p>
                      <a:pPr marL="0" marR="0" lvl="0" indent="0" algn="r" defTabSz="914400" rtl="1" eaLnBrk="1" fontAlgn="auto" latinLnBrk="0" hangingPunct="1">
                        <a:lnSpc>
                          <a:spcPct val="100000"/>
                        </a:lnSpc>
                        <a:spcBef>
                          <a:spcPts val="0"/>
                        </a:spcBef>
                        <a:spcAft>
                          <a:spcPts val="0"/>
                        </a:spcAft>
                        <a:buClrTx/>
                        <a:buSzTx/>
                        <a:buFontTx/>
                        <a:buNone/>
                        <a:tabLst/>
                        <a:defRPr/>
                      </a:pPr>
                      <a:endParaRPr lang="en-GB" sz="1400" b="1" noProof="0" dirty="0"/>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extLst>
                  <a:ext uri="{0D108BD9-81ED-4DB2-BD59-A6C34878D82A}">
                    <a16:rowId xmlns:a16="http://schemas.microsoft.com/office/drawing/2014/main" val="918118369"/>
                  </a:ext>
                </a:extLst>
              </a:tr>
              <a:tr h="0">
                <a:tc vMerge="1">
                  <a:txBody>
                    <a:bodyPr/>
                    <a:lstStyle/>
                    <a:p>
                      <a:pPr marL="0" marR="0" lvl="0" indent="0" algn="r" defTabSz="914400" rtl="1" eaLnBrk="1" fontAlgn="auto" latinLnBrk="0" hangingPunct="1">
                        <a:lnSpc>
                          <a:spcPct val="100000"/>
                        </a:lnSpc>
                        <a:spcBef>
                          <a:spcPts val="0"/>
                        </a:spcBef>
                        <a:spcAft>
                          <a:spcPts val="0"/>
                        </a:spcAft>
                        <a:buClrTx/>
                        <a:buSzTx/>
                        <a:buFontTx/>
                        <a:buNone/>
                        <a:tabLst/>
                        <a:defRPr/>
                      </a:pPr>
                      <a:endParaRPr lang="en-GB" sz="1400" noProof="0" dirty="0"/>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vMerge="1">
                  <a:txBody>
                    <a:bodyPr/>
                    <a:lstStyle/>
                    <a:p>
                      <a:endParaRPr lang="en-US"/>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vMerge="1">
                  <a:txBody>
                    <a:bodyPr/>
                    <a:lstStyle/>
                    <a:p>
                      <a:endParaRPr lang="en-US"/>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marL="0" marR="0" lvl="0" indent="0" algn="just" defTabSz="914400" rtl="1" eaLnBrk="1" fontAlgn="auto" latinLnBrk="0" hangingPunct="1">
                        <a:lnSpc>
                          <a:spcPct val="100000"/>
                        </a:lnSpc>
                        <a:spcBef>
                          <a:spcPts val="0"/>
                        </a:spcBef>
                        <a:spcAft>
                          <a:spcPts val="0"/>
                        </a:spcAft>
                        <a:buClrTx/>
                        <a:buSzTx/>
                        <a:buFont typeface="Arial" panose="020B0604020202020204" pitchFamily="34" charset="0"/>
                        <a:buNone/>
                        <a:tabLst/>
                        <a:defRPr/>
                      </a:pPr>
                      <a:r>
                        <a:rPr lang="ar-SA" sz="1000" kern="1200" noProof="0" dirty="0">
                          <a:solidFill>
                            <a:schemeClr val="tx1"/>
                          </a:solidFill>
                          <a:latin typeface="+mn-lt"/>
                          <a:ea typeface="+mn-ea"/>
                          <a:cs typeface="Sakkal Majalla" panose="02000000000000000000" pitchFamily="2" charset="-78"/>
                        </a:rPr>
                        <a:t>تعزيز المهارات الرقمية كجزء من التحسين المستمر ، </a:t>
                      </a:r>
                      <a:r>
                        <a:rPr lang="ar-SA" sz="1000" noProof="0" dirty="0">
                          <a:latin typeface="Sakkal Majalla" panose="02000000000000000000" pitchFamily="2" charset="-78"/>
                          <a:cs typeface="Sakkal Majalla" panose="02000000000000000000" pitchFamily="2" charset="-78"/>
                        </a:rPr>
                        <a:t>تعزيز الثقافة الرشيقة والابتكار بين الموظفين</a:t>
                      </a:r>
                      <a:endParaRPr lang="ar-SA" sz="1000" kern="1200" noProof="0" dirty="0">
                        <a:solidFill>
                          <a:schemeClr val="tx1"/>
                        </a:solidFill>
                        <a:latin typeface="+mn-lt"/>
                        <a:ea typeface="+mn-ea"/>
                        <a:cs typeface="Sakkal Majalla" panose="02000000000000000000" pitchFamily="2" charset="-78"/>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marL="0" marR="0" lvl="0" indent="0" algn="ctr" defTabSz="914400" rtl="1" eaLnBrk="1" fontAlgn="auto" latinLnBrk="0" hangingPunct="1">
                        <a:lnSpc>
                          <a:spcPct val="100000"/>
                        </a:lnSpc>
                        <a:spcBef>
                          <a:spcPts val="0"/>
                        </a:spcBef>
                        <a:spcAft>
                          <a:spcPts val="0"/>
                        </a:spcAft>
                        <a:buClrTx/>
                        <a:buSzTx/>
                        <a:buFont typeface="Arial" panose="020B0604020202020204" pitchFamily="34" charset="0"/>
                        <a:buNone/>
                        <a:tabLst/>
                        <a:defRPr/>
                      </a:pPr>
                      <a:r>
                        <a:rPr lang="ar-SA" sz="1400" b="1" noProof="0" dirty="0">
                          <a:solidFill>
                            <a:schemeClr val="accent1"/>
                          </a:solidFill>
                        </a:rPr>
                        <a:t>الأثر بعد الردم (المعالجة)</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lumMod val="95000"/>
                      </a:schemeClr>
                    </a:solidFill>
                  </a:tcPr>
                </a:tc>
                <a:tc vMerge="1">
                  <a:txBody>
                    <a:bodyPr/>
                    <a:lstStyle/>
                    <a:p>
                      <a:pPr marL="0" marR="0" lvl="0" indent="0" algn="r" defTabSz="914400" rtl="1" eaLnBrk="1" fontAlgn="auto" latinLnBrk="0" hangingPunct="1">
                        <a:lnSpc>
                          <a:spcPct val="100000"/>
                        </a:lnSpc>
                        <a:spcBef>
                          <a:spcPts val="0"/>
                        </a:spcBef>
                        <a:spcAft>
                          <a:spcPts val="0"/>
                        </a:spcAft>
                        <a:buClrTx/>
                        <a:buSzTx/>
                        <a:buFontTx/>
                        <a:buNone/>
                        <a:tabLst/>
                        <a:defRPr/>
                      </a:pPr>
                      <a:endParaRPr lang="en-GB" sz="1400" b="1" noProof="0" dirty="0"/>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extLst>
                  <a:ext uri="{0D108BD9-81ED-4DB2-BD59-A6C34878D82A}">
                    <a16:rowId xmlns:a16="http://schemas.microsoft.com/office/drawing/2014/main" val="4153014111"/>
                  </a:ext>
                </a:extLst>
              </a:tr>
              <a:tr h="0">
                <a:tc vMerge="1">
                  <a:txBody>
                    <a:bodyPr/>
                    <a:lstStyle/>
                    <a:p>
                      <a:pPr marL="0" marR="0" lvl="0" indent="0" algn="r" defTabSz="914400" rtl="1" eaLnBrk="1" fontAlgn="auto" latinLnBrk="0" hangingPunct="1">
                        <a:lnSpc>
                          <a:spcPct val="100000"/>
                        </a:lnSpc>
                        <a:spcBef>
                          <a:spcPts val="0"/>
                        </a:spcBef>
                        <a:spcAft>
                          <a:spcPts val="0"/>
                        </a:spcAft>
                        <a:buClrTx/>
                        <a:buSzTx/>
                        <a:buFontTx/>
                        <a:buNone/>
                        <a:tabLst/>
                        <a:defRPr/>
                      </a:pPr>
                      <a:endParaRPr lang="en-GB" sz="1400" noProof="0" dirty="0"/>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vMerge="1">
                  <a:txBody>
                    <a:bodyPr/>
                    <a:lstStyle/>
                    <a:p>
                      <a:endParaRPr lang="en-US"/>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vMerge="1">
                  <a:txBody>
                    <a:bodyPr/>
                    <a:lstStyle/>
                    <a:p>
                      <a:endParaRPr lang="en-US"/>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marL="0" marR="0" lvl="0" indent="0" algn="just" defTabSz="914400" rtl="1" eaLnBrk="1" fontAlgn="auto" latinLnBrk="0" hangingPunct="1">
                        <a:lnSpc>
                          <a:spcPct val="100000"/>
                        </a:lnSpc>
                        <a:spcBef>
                          <a:spcPts val="0"/>
                        </a:spcBef>
                        <a:spcAft>
                          <a:spcPts val="0"/>
                        </a:spcAft>
                        <a:buClrTx/>
                        <a:buSzTx/>
                        <a:buFont typeface="Arial" panose="020B0604020202020204" pitchFamily="34" charset="0"/>
                        <a:buNone/>
                        <a:tabLst/>
                        <a:defRPr/>
                      </a:pPr>
                      <a:r>
                        <a:rPr lang="ar-SA" sz="1000" kern="1200" noProof="0" dirty="0">
                          <a:solidFill>
                            <a:schemeClr val="tx1"/>
                          </a:solidFill>
                          <a:latin typeface="+mn-lt"/>
                          <a:ea typeface="+mn-ea"/>
                          <a:cs typeface="Sakkal Majalla" panose="02000000000000000000" pitchFamily="2" charset="-78"/>
                        </a:rPr>
                        <a:t>تطوير وتنفيذ برامج تدريبية شاملة وفعالة للموظفين لتعزيز المهارات الرقمية كجزء من التحسين المستمر ، تنفيذ </a:t>
                      </a:r>
                      <a:r>
                        <a:rPr lang="ar-SA" sz="1000" u="none" strike="noStrike" noProof="0" dirty="0">
                          <a:effectLst/>
                        </a:rPr>
                        <a:t>التدريب التخصصي للموظفين ، </a:t>
                      </a:r>
                      <a:r>
                        <a:rPr lang="ar-SA" sz="1000" noProof="0" dirty="0">
                          <a:latin typeface="Sakkal Majalla" panose="02000000000000000000" pitchFamily="2" charset="-78"/>
                          <a:cs typeface="Sakkal Majalla" panose="02000000000000000000" pitchFamily="2" charset="-78"/>
                        </a:rPr>
                        <a:t>توفير برامج تدريبية لتعزيز الثقافة الرشيقة والابتكار بين الموظفين</a:t>
                      </a:r>
                      <a:endParaRPr lang="ar-SA" sz="1000" kern="1200" noProof="0" dirty="0">
                        <a:solidFill>
                          <a:schemeClr val="tx1"/>
                        </a:solidFill>
                        <a:latin typeface="+mn-lt"/>
                        <a:ea typeface="+mn-ea"/>
                        <a:cs typeface="Sakkal Majalla" panose="02000000000000000000" pitchFamily="2" charset="-78"/>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marL="0" marR="0" lvl="0" indent="0" algn="ctr" defTabSz="914400" rtl="1" eaLnBrk="1" fontAlgn="auto" latinLnBrk="0" hangingPunct="1">
                        <a:lnSpc>
                          <a:spcPct val="100000"/>
                        </a:lnSpc>
                        <a:spcBef>
                          <a:spcPts val="0"/>
                        </a:spcBef>
                        <a:spcAft>
                          <a:spcPts val="0"/>
                        </a:spcAft>
                        <a:buClrTx/>
                        <a:buSzTx/>
                        <a:buFont typeface="Arial" panose="020B0604020202020204" pitchFamily="34" charset="0"/>
                        <a:buNone/>
                        <a:tabLst/>
                        <a:defRPr/>
                      </a:pPr>
                      <a:r>
                        <a:rPr lang="ar-SA" sz="1400" b="1" noProof="0" dirty="0">
                          <a:solidFill>
                            <a:schemeClr val="accent1"/>
                          </a:solidFill>
                        </a:rPr>
                        <a:t>تغطية الفجوة </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accent1"/>
                      </a:solidFill>
                      <a:prstDash val="solid"/>
                      <a:round/>
                      <a:headEnd type="none" w="med" len="med"/>
                      <a:tailEnd type="none" w="med" len="med"/>
                    </a:lnB>
                    <a:solidFill>
                      <a:schemeClr val="bg1">
                        <a:lumMod val="95000"/>
                      </a:schemeClr>
                    </a:solidFill>
                  </a:tcPr>
                </a:tc>
                <a:tc vMerge="1">
                  <a:txBody>
                    <a:bodyPr/>
                    <a:lstStyle/>
                    <a:p>
                      <a:pPr marL="0" marR="0" lvl="0" indent="0" algn="r" defTabSz="914400" rtl="1" eaLnBrk="1" fontAlgn="auto" latinLnBrk="0" hangingPunct="1">
                        <a:lnSpc>
                          <a:spcPct val="100000"/>
                        </a:lnSpc>
                        <a:spcBef>
                          <a:spcPts val="0"/>
                        </a:spcBef>
                        <a:spcAft>
                          <a:spcPts val="0"/>
                        </a:spcAft>
                        <a:buClrTx/>
                        <a:buSzTx/>
                        <a:buFontTx/>
                        <a:buNone/>
                        <a:tabLst/>
                        <a:defRPr/>
                      </a:pPr>
                      <a:endParaRPr lang="en-GB" sz="1400" b="1" noProof="0" dirty="0"/>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extLst>
                  <a:ext uri="{0D108BD9-81ED-4DB2-BD59-A6C34878D82A}">
                    <a16:rowId xmlns:a16="http://schemas.microsoft.com/office/drawing/2014/main" val="1035545327"/>
                  </a:ext>
                </a:extLst>
              </a:tr>
            </a:tbl>
          </a:graphicData>
        </a:graphic>
      </p:graphicFrame>
      <p:sp>
        <p:nvSpPr>
          <p:cNvPr id="7" name="TextBox 6">
            <a:extLst>
              <a:ext uri="{FF2B5EF4-FFF2-40B4-BE49-F238E27FC236}">
                <a16:creationId xmlns:a16="http://schemas.microsoft.com/office/drawing/2014/main" id="{78FFBCC9-9528-43EE-3448-66EDC46CF782}"/>
              </a:ext>
            </a:extLst>
          </p:cNvPr>
          <p:cNvSpPr txBox="1"/>
          <p:nvPr/>
        </p:nvSpPr>
        <p:spPr>
          <a:xfrm>
            <a:off x="609601" y="696398"/>
            <a:ext cx="10972800" cy="375487"/>
          </a:xfrm>
          <a:prstGeom prst="rect">
            <a:avLst/>
          </a:prstGeom>
          <a:noFill/>
        </p:spPr>
        <p:txBody>
          <a:bodyPr wrap="square">
            <a:spAutoFit/>
          </a:bodyPr>
          <a:lstStyle/>
          <a:p>
            <a:pPr algn="r" rtl="1">
              <a:lnSpc>
                <a:spcPct val="115000"/>
              </a:lnSpc>
              <a:spcAft>
                <a:spcPts val="1000"/>
              </a:spcAft>
            </a:pPr>
            <a:r>
              <a:rPr lang="ar-SA" sz="1600" noProof="0" dirty="0">
                <a:solidFill>
                  <a:srgbClr val="000000"/>
                </a:solidFill>
                <a:latin typeface="Sakkal Majalla" panose="02000000000000000000" pitchFamily="2" charset="-78"/>
                <a:ea typeface="Sakkal Majalla" panose="02000000000000000000" pitchFamily="2" charset="-78"/>
                <a:cs typeface="Sakkal Majalla" panose="02000000000000000000" pitchFamily="2" charset="-78"/>
              </a:rPr>
              <a:t>يهدف هذا القسم من الوثيقة إلى تقديم الملاحظات الخاصة بالوضع الحالي لبنية الأعمال مع ذكر التوصيات  والتحسينات المفترض تطبيقها في الوضع المستقبلي</a:t>
            </a:r>
          </a:p>
        </p:txBody>
      </p:sp>
    </p:spTree>
    <p:extLst>
      <p:ext uri="{BB962C8B-B14F-4D97-AF65-F5344CB8AC3E}">
        <p14:creationId xmlns:p14="http://schemas.microsoft.com/office/powerpoint/2010/main" val="342942940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a:xfrm>
            <a:off x="609601" y="319029"/>
            <a:ext cx="10972800" cy="666261"/>
          </a:xfrm>
        </p:spPr>
        <p:txBody>
          <a:bodyPr/>
          <a:lstStyle/>
          <a:p>
            <a:r>
              <a:rPr lang="ar-SA" noProof="0" dirty="0"/>
              <a:t>ملخص تحليل الفجوات لبنية الأعمال </a:t>
            </a:r>
          </a:p>
        </p:txBody>
      </p:sp>
      <p:sp>
        <p:nvSpPr>
          <p:cNvPr id="3" name="Slide Number Placeholder 2">
            <a:extLst>
              <a:ext uri="{FF2B5EF4-FFF2-40B4-BE49-F238E27FC236}">
                <a16:creationId xmlns:a16="http://schemas.microsoft.com/office/drawing/2014/main" id="{A63A027D-6EA1-E9F6-6212-7D45811B8DC3}"/>
              </a:ext>
            </a:extLst>
          </p:cNvPr>
          <p:cNvSpPr>
            <a:spLocks noGrp="1"/>
          </p:cNvSpPr>
          <p:nvPr>
            <p:ph type="sldNum" sz="quarter" idx="12"/>
          </p:nvPr>
        </p:nvSpPr>
        <p:spPr>
          <a:xfrm>
            <a:off x="655319" y="6567058"/>
            <a:ext cx="466471" cy="290942"/>
          </a:xfrm>
        </p:spPr>
        <p:txBody>
          <a:bodyPr/>
          <a:lstStyle/>
          <a:p>
            <a:fld id="{0BE4EC83-A869-464E-AE9F-881796FB085E}" type="slidenum">
              <a:rPr lang="ar-SA" noProof="0" smtClean="0"/>
              <a:pPr/>
              <a:t>16</a:t>
            </a:fld>
            <a:endParaRPr lang="ar-SA" noProof="0" dirty="0"/>
          </a:p>
        </p:txBody>
      </p:sp>
      <p:graphicFrame>
        <p:nvGraphicFramePr>
          <p:cNvPr id="2" name="Table 1">
            <a:extLst>
              <a:ext uri="{FF2B5EF4-FFF2-40B4-BE49-F238E27FC236}">
                <a16:creationId xmlns:a16="http://schemas.microsoft.com/office/drawing/2014/main" id="{C47CAF5B-4215-4DCE-B225-BC1E66631900}"/>
              </a:ext>
            </a:extLst>
          </p:cNvPr>
          <p:cNvGraphicFramePr>
            <a:graphicFrameLocks noGrp="1"/>
          </p:cNvGraphicFramePr>
          <p:nvPr>
            <p:extLst>
              <p:ext uri="{D42A27DB-BD31-4B8C-83A1-F6EECF244321}">
                <p14:modId xmlns:p14="http://schemas.microsoft.com/office/powerpoint/2010/main" val="1256908080"/>
              </p:ext>
            </p:extLst>
          </p:nvPr>
        </p:nvGraphicFramePr>
        <p:xfrm>
          <a:off x="609600" y="1295619"/>
          <a:ext cx="10972802" cy="4754880"/>
        </p:xfrm>
        <a:graphic>
          <a:graphicData uri="http://schemas.openxmlformats.org/drawingml/2006/table">
            <a:tbl>
              <a:tblPr firstRow="1" bandRow="1">
                <a:tableStyleId>{2D5ABB26-0587-4C30-8999-92F81FD0307C}</a:tableStyleId>
              </a:tblPr>
              <a:tblGrid>
                <a:gridCol w="1828800">
                  <a:extLst>
                    <a:ext uri="{9D8B030D-6E8A-4147-A177-3AD203B41FA5}">
                      <a16:colId xmlns:a16="http://schemas.microsoft.com/office/drawing/2014/main" val="2801895674"/>
                    </a:ext>
                  </a:extLst>
                </a:gridCol>
                <a:gridCol w="738953">
                  <a:extLst>
                    <a:ext uri="{9D8B030D-6E8A-4147-A177-3AD203B41FA5}">
                      <a16:colId xmlns:a16="http://schemas.microsoft.com/office/drawing/2014/main" val="2976102064"/>
                    </a:ext>
                  </a:extLst>
                </a:gridCol>
                <a:gridCol w="838625">
                  <a:extLst>
                    <a:ext uri="{9D8B030D-6E8A-4147-A177-3AD203B41FA5}">
                      <a16:colId xmlns:a16="http://schemas.microsoft.com/office/drawing/2014/main" val="526736865"/>
                    </a:ext>
                  </a:extLst>
                </a:gridCol>
                <a:gridCol w="3862640">
                  <a:extLst>
                    <a:ext uri="{9D8B030D-6E8A-4147-A177-3AD203B41FA5}">
                      <a16:colId xmlns:a16="http://schemas.microsoft.com/office/drawing/2014/main" val="4106469564"/>
                    </a:ext>
                  </a:extLst>
                </a:gridCol>
                <a:gridCol w="923637">
                  <a:extLst>
                    <a:ext uri="{9D8B030D-6E8A-4147-A177-3AD203B41FA5}">
                      <a16:colId xmlns:a16="http://schemas.microsoft.com/office/drawing/2014/main" val="1154529574"/>
                    </a:ext>
                  </a:extLst>
                </a:gridCol>
                <a:gridCol w="2780147">
                  <a:extLst>
                    <a:ext uri="{9D8B030D-6E8A-4147-A177-3AD203B41FA5}">
                      <a16:colId xmlns:a16="http://schemas.microsoft.com/office/drawing/2014/main" val="1503598667"/>
                    </a:ext>
                  </a:extLst>
                </a:gridCol>
              </a:tblGrid>
              <a:tr h="0">
                <a:tc>
                  <a:txBody>
                    <a:bodyPr/>
                    <a:lstStyle/>
                    <a:p>
                      <a:pPr algn="ctr" rtl="1"/>
                      <a:r>
                        <a:rPr lang="ar-SA" sz="1400" b="1" noProof="0" dirty="0">
                          <a:solidFill>
                            <a:schemeClr val="bg1"/>
                          </a:solidFill>
                        </a:rPr>
                        <a:t>المصدر</a:t>
                      </a:r>
                      <a:endParaRPr lang="ar-SA" sz="1400" b="1" noProof="0" dirty="0">
                        <a:solidFill>
                          <a:schemeClr val="bg1"/>
                        </a:solidFill>
                        <a:latin typeface="+mj-lt"/>
                      </a:endParaRPr>
                    </a:p>
                  </a:txBody>
                  <a:tcPr anchor="ctr">
                    <a:lnL w="12700" cap="flat" cmpd="sng" algn="ctr">
                      <a:noFill/>
                      <a:prstDash val="solid"/>
                      <a:round/>
                      <a:headEnd type="none" w="med" len="med"/>
                      <a:tailEnd type="none" w="med" len="med"/>
                    </a:lnL>
                    <a:lnR w="12700" cap="flat" cmpd="sng" algn="ctr">
                      <a:solidFill>
                        <a:schemeClr val="bg1"/>
                      </a:solidFill>
                      <a:prstDash val="solid"/>
                      <a:round/>
                      <a:headEnd type="none" w="med" len="med"/>
                      <a:tailEnd type="none" w="med" len="med"/>
                    </a:lnR>
                    <a:solidFill>
                      <a:schemeClr val="accent1"/>
                    </a:solidFill>
                  </a:tcPr>
                </a:tc>
                <a:tc>
                  <a: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lang="ar-SA" sz="1400" b="1" noProof="0" dirty="0">
                          <a:solidFill>
                            <a:schemeClr val="bg1"/>
                          </a:solidFill>
                        </a:rPr>
                        <a:t>الأهمية</a:t>
                      </a:r>
                      <a:endParaRPr lang="ar-SA" sz="1400" b="1" noProof="0" dirty="0">
                        <a:solidFill>
                          <a:schemeClr val="bg1"/>
                        </a:solidFill>
                        <a:latin typeface="+mj-lt"/>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solidFill>
                      <a:schemeClr val="accent1"/>
                    </a:solidFill>
                  </a:tcPr>
                </a:tc>
                <a:tc>
                  <a: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lang="ar-SA" sz="1400" b="1" noProof="0" dirty="0">
                          <a:solidFill>
                            <a:schemeClr val="bg1"/>
                          </a:solidFill>
                        </a:rPr>
                        <a:t>الأولوية</a:t>
                      </a:r>
                      <a:endParaRPr lang="ar-SA" sz="1400" b="1" noProof="0" dirty="0">
                        <a:solidFill>
                          <a:schemeClr val="bg1"/>
                        </a:solidFill>
                        <a:latin typeface="+mj-lt"/>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solidFill>
                      <a:schemeClr val="accent1"/>
                    </a:solidFill>
                  </a:tcPr>
                </a:tc>
                <a:tc gridSpan="2">
                  <a: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lang="ar-SA" sz="1400" b="1" noProof="0" dirty="0">
                          <a:solidFill>
                            <a:schemeClr val="bg1"/>
                          </a:solidFill>
                        </a:rPr>
                        <a:t>التحليل لكل فجوة </a:t>
                      </a:r>
                      <a:endParaRPr lang="ar-SA" sz="1400" b="1" noProof="0" dirty="0">
                        <a:solidFill>
                          <a:schemeClr val="bg1"/>
                        </a:solidFill>
                        <a:latin typeface="+mj-lt"/>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solidFill>
                      <a:schemeClr val="accent1"/>
                    </a:solidFill>
                  </a:tcPr>
                </a:tc>
                <a:tc hMerge="1">
                  <a:txBody>
                    <a:bodyPr/>
                    <a:lstStyle/>
                    <a:p>
                      <a:endParaRPr lang="en-US"/>
                    </a:p>
                  </a:txBody>
                  <a:tcPr/>
                </a:tc>
                <a:tc>
                  <a:txBody>
                    <a:bodyPr/>
                    <a:lstStyle/>
                    <a:p>
                      <a:pPr algn="ctr" rtl="1"/>
                      <a:r>
                        <a:rPr lang="ar-SA" sz="1400" b="1" noProof="0" dirty="0">
                          <a:solidFill>
                            <a:schemeClr val="bg1"/>
                          </a:solidFill>
                        </a:rPr>
                        <a:t>الفجوة</a:t>
                      </a:r>
                      <a:endParaRPr lang="ar-SA" sz="1400" b="1" noProof="0" dirty="0">
                        <a:solidFill>
                          <a:schemeClr val="bg1"/>
                        </a:solidFill>
                        <a:latin typeface="+mj-lt"/>
                      </a:endParaRPr>
                    </a:p>
                  </a:txBody>
                  <a:tcPr anchor="ctr">
                    <a:lnL w="12700" cap="flat" cmpd="sng" algn="ctr">
                      <a:solidFill>
                        <a:schemeClr val="bg1"/>
                      </a:solidFill>
                      <a:prstDash val="solid"/>
                      <a:round/>
                      <a:headEnd type="none" w="med" len="med"/>
                      <a:tailEnd type="none" w="med" len="med"/>
                    </a:lnL>
                    <a:lnR w="12700" cap="flat" cmpd="sng" algn="ctr">
                      <a:noFill/>
                      <a:prstDash val="solid"/>
                      <a:round/>
                      <a:headEnd type="none" w="med" len="med"/>
                      <a:tailEnd type="none" w="med" len="med"/>
                    </a:lnR>
                    <a:solidFill>
                      <a:schemeClr val="accent1"/>
                    </a:solidFill>
                  </a:tcPr>
                </a:tc>
                <a:extLst>
                  <a:ext uri="{0D108BD9-81ED-4DB2-BD59-A6C34878D82A}">
                    <a16:rowId xmlns:a16="http://schemas.microsoft.com/office/drawing/2014/main" val="3304685178"/>
                  </a:ext>
                </a:extLst>
              </a:tr>
              <a:tr h="0">
                <a:tc rowSpan="4">
                  <a:txBody>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lang="ar-SA" sz="1400" noProof="0" dirty="0"/>
                        <a:t>ملف حصر الأعمال ، دراسة وثائق الأعمال للجهة المتوفرة بالوضع الحالي ، ورش العمل لحصر الأعمال مع الوحدات الإدارية المعنية ،تطلعات أصحاب المصلحة</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B w="12700" cap="flat" cmpd="sng" algn="ctr">
                      <a:solidFill>
                        <a:schemeClr val="accent1"/>
                      </a:solidFill>
                      <a:prstDash val="solid"/>
                      <a:round/>
                      <a:headEnd type="none" w="med" len="med"/>
                      <a:tailEnd type="none" w="med" len="med"/>
                    </a:lnB>
                  </a:tcPr>
                </a:tc>
                <a:tc rowSpan="4">
                  <a:txBody>
                    <a:bodyPr/>
                    <a:lstStyle/>
                    <a:p>
                      <a:pPr marL="0" marR="0" lvl="0" indent="0" algn="ctr" defTabSz="914400" rtl="1" eaLnBrk="1" fontAlgn="auto" latinLnBrk="0" hangingPunct="1">
                        <a:lnSpc>
                          <a:spcPct val="100000"/>
                        </a:lnSpc>
                        <a:spcBef>
                          <a:spcPts val="0"/>
                        </a:spcBef>
                        <a:spcAft>
                          <a:spcPts val="0"/>
                        </a:spcAft>
                        <a:buClrTx/>
                        <a:buSzTx/>
                        <a:buFont typeface="Arial" panose="020B0604020202020204" pitchFamily="34" charset="0"/>
                        <a:buNone/>
                        <a:tabLst/>
                        <a:defRPr/>
                      </a:pPr>
                      <a:r>
                        <a:rPr lang="ar-SA" sz="1400" noProof="0" dirty="0"/>
                        <a:t>عالي</a:t>
                      </a:r>
                    </a:p>
                  </a:txBody>
                  <a:tcPr anchor="ctr">
                    <a:lnL w="12700" cap="flat" cmpd="sng" algn="ctr">
                      <a:noFill/>
                      <a:prstDash val="solid"/>
                      <a:round/>
                      <a:headEnd type="none" w="med" len="med"/>
                      <a:tailEnd type="none" w="med" len="med"/>
                    </a:lnL>
                    <a:lnR w="12700" cap="flat" cmpd="sng" algn="ctr">
                      <a:solidFill>
                        <a:schemeClr val="bg1"/>
                      </a:solidFill>
                      <a:prstDash val="solid"/>
                      <a:round/>
                      <a:headEnd type="none" w="med" len="med"/>
                      <a:tailEnd type="none" w="med" len="med"/>
                    </a:lnR>
                    <a:lnB w="12700" cap="flat" cmpd="sng" algn="ctr">
                      <a:solidFill>
                        <a:schemeClr val="accent1"/>
                      </a:solidFill>
                      <a:prstDash val="solid"/>
                      <a:round/>
                      <a:headEnd type="none" w="med" len="med"/>
                      <a:tailEnd type="none" w="med" len="med"/>
                    </a:lnB>
                    <a:solidFill>
                      <a:schemeClr val="bg1">
                        <a:lumMod val="95000"/>
                      </a:schemeClr>
                    </a:solidFill>
                  </a:tcPr>
                </a:tc>
                <a:tc rowSpan="4">
                  <a:txBody>
                    <a:bodyPr/>
                    <a:lstStyle/>
                    <a:p>
                      <a:pPr marL="0" marR="0" lvl="0" indent="0" algn="ctr" defTabSz="914400" rtl="1" eaLnBrk="1" fontAlgn="auto" latinLnBrk="0" hangingPunct="1">
                        <a:lnSpc>
                          <a:spcPct val="100000"/>
                        </a:lnSpc>
                        <a:spcBef>
                          <a:spcPts val="0"/>
                        </a:spcBef>
                        <a:spcAft>
                          <a:spcPts val="0"/>
                        </a:spcAft>
                        <a:buClrTx/>
                        <a:buSzTx/>
                        <a:buFont typeface="Arial" panose="020B0604020202020204" pitchFamily="34" charset="0"/>
                        <a:buNone/>
                        <a:tabLst/>
                        <a:defRPr/>
                      </a:pPr>
                      <a:r>
                        <a:rPr lang="ar-SA" sz="1400" noProof="0" dirty="0"/>
                        <a:t>عالي</a:t>
                      </a:r>
                    </a:p>
                  </a:txBody>
                  <a:tcPr anchor="ctr">
                    <a:lnL w="12700" cap="flat" cmpd="sng" algn="ctr">
                      <a:solidFill>
                        <a:schemeClr val="bg1"/>
                      </a:solidFill>
                      <a:prstDash val="solid"/>
                      <a:round/>
                      <a:headEnd type="none" w="med" len="med"/>
                      <a:tailEnd type="none" w="med" len="med"/>
                    </a:lnL>
                    <a:lnR w="12700" cap="flat" cmpd="sng" algn="ctr">
                      <a:noFill/>
                      <a:prstDash val="solid"/>
                      <a:round/>
                      <a:headEnd type="none" w="med" len="med"/>
                      <a:tailEnd type="none" w="med" len="med"/>
                    </a:lnR>
                    <a:lnB w="12700" cap="flat" cmpd="sng" algn="ctr">
                      <a:solidFill>
                        <a:schemeClr val="accent1"/>
                      </a:solidFill>
                      <a:prstDash val="solid"/>
                      <a:round/>
                      <a:headEnd type="none" w="med" len="med"/>
                      <a:tailEnd type="none" w="med" len="med"/>
                    </a:lnB>
                    <a:solidFill>
                      <a:schemeClr val="bg1">
                        <a:lumMod val="95000"/>
                      </a:schemeClr>
                    </a:solidFill>
                  </a:tcPr>
                </a:tc>
                <a:tc>
                  <a:txBody>
                    <a:bodyPr/>
                    <a:lstStyle/>
                    <a:p>
                      <a:pPr marL="0" marR="0" lvl="0" indent="0" algn="just" defTabSz="914400" rtl="1" eaLnBrk="1" fontAlgn="auto" latinLnBrk="0" hangingPunct="1">
                        <a:lnSpc>
                          <a:spcPct val="100000"/>
                        </a:lnSpc>
                        <a:spcBef>
                          <a:spcPts val="0"/>
                        </a:spcBef>
                        <a:spcAft>
                          <a:spcPts val="0"/>
                        </a:spcAft>
                        <a:buClrTx/>
                        <a:buSzTx/>
                        <a:buFont typeface="Arial" panose="020B0604020202020204" pitchFamily="34" charset="0"/>
                        <a:buNone/>
                        <a:tabLst/>
                        <a:defRPr/>
                      </a:pPr>
                      <a:r>
                        <a:rPr lang="ar-SA" sz="1200" kern="1200" noProof="0" dirty="0">
                          <a:solidFill>
                            <a:schemeClr val="tx1"/>
                          </a:solidFill>
                          <a:latin typeface="+mn-lt"/>
                          <a:ea typeface="+mn-ea"/>
                          <a:cs typeface="+mn-cs"/>
                        </a:rPr>
                        <a:t>عدم تطوير وتطبيق نموذج متعدد القنوات لدمج جميع قنوات التواصل مع المستفيدين لتحقيق تجربة مستفيدين سلسة</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B w="12700" cap="flat" cmpd="sng" algn="ctr">
                      <a:solidFill>
                        <a:schemeClr val="bg1">
                          <a:lumMod val="85000"/>
                        </a:schemeClr>
                      </a:solidFill>
                      <a:prstDash val="solid"/>
                      <a:round/>
                      <a:headEnd type="none" w="med" len="med"/>
                      <a:tailEnd type="none" w="med" len="med"/>
                    </a:lnB>
                  </a:tcPr>
                </a:tc>
                <a:tc>
                  <a:txBody>
                    <a:bodyPr/>
                    <a:lstStyle/>
                    <a:p>
                      <a:pPr marL="0" marR="0" lvl="0" indent="0" algn="ctr" defTabSz="914400" rtl="1" eaLnBrk="1" fontAlgn="auto" latinLnBrk="0" hangingPunct="1">
                        <a:lnSpc>
                          <a:spcPct val="100000"/>
                        </a:lnSpc>
                        <a:spcBef>
                          <a:spcPts val="0"/>
                        </a:spcBef>
                        <a:spcAft>
                          <a:spcPts val="0"/>
                        </a:spcAft>
                        <a:buClrTx/>
                        <a:buSzTx/>
                        <a:buFont typeface="Arial" panose="020B0604020202020204" pitchFamily="34" charset="0"/>
                        <a:buNone/>
                        <a:tabLst/>
                        <a:defRPr/>
                      </a:pPr>
                      <a:r>
                        <a:rPr lang="ar-SA" sz="1400" b="1" noProof="0" dirty="0">
                          <a:solidFill>
                            <a:schemeClr val="accent1"/>
                          </a:solidFill>
                        </a:rPr>
                        <a:t>الوصف </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B w="12700" cap="flat" cmpd="sng" algn="ctr">
                      <a:solidFill>
                        <a:schemeClr val="bg1">
                          <a:lumMod val="85000"/>
                        </a:schemeClr>
                      </a:solidFill>
                      <a:prstDash val="solid"/>
                      <a:round/>
                      <a:headEnd type="none" w="med" len="med"/>
                      <a:tailEnd type="none" w="med" len="med"/>
                    </a:lnB>
                    <a:solidFill>
                      <a:schemeClr val="bg1">
                        <a:lumMod val="95000"/>
                      </a:schemeClr>
                    </a:solidFill>
                  </a:tcPr>
                </a:tc>
                <a:tc rowSpan="4">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ar-SA" sz="1600" b="1" noProof="0" dirty="0"/>
                        <a:t>GAP-B-15</a:t>
                      </a:r>
                    </a:p>
                    <a:p>
                      <a:pPr marL="0" marR="0" lvl="0" indent="0" algn="r" defTabSz="914400" rtl="1" eaLnBrk="1" fontAlgn="auto" latinLnBrk="0" hangingPunct="1">
                        <a:lnSpc>
                          <a:spcPct val="100000"/>
                        </a:lnSpc>
                        <a:spcBef>
                          <a:spcPts val="0"/>
                        </a:spcBef>
                        <a:spcAft>
                          <a:spcPts val="0"/>
                        </a:spcAft>
                        <a:buClrTx/>
                        <a:buSzTx/>
                        <a:buFontTx/>
                        <a:buNone/>
                        <a:tabLst/>
                        <a:defRPr/>
                      </a:pPr>
                      <a:r>
                        <a:rPr lang="ar-SA" sz="1400" b="1" kern="1200" noProof="0" dirty="0">
                          <a:solidFill>
                            <a:schemeClr val="tx1"/>
                          </a:solidFill>
                          <a:effectLst/>
                          <a:latin typeface="+mn-lt"/>
                          <a:ea typeface="+mn-ea"/>
                          <a:cs typeface="+mn-cs"/>
                        </a:rPr>
                        <a:t>ضرورة تطوير وتطبيق نموذج متعدد القنوات لدمج جميع قنوات التواصل مع المستفيدين لتحقيق تجربة مستفيدين سلسة</a:t>
                      </a:r>
                    </a:p>
                    <a:p>
                      <a:pPr marL="0" marR="0" lvl="0" indent="0" algn="r" defTabSz="914400" rtl="1" eaLnBrk="1" fontAlgn="auto" latinLnBrk="0" hangingPunct="1">
                        <a:lnSpc>
                          <a:spcPct val="100000"/>
                        </a:lnSpc>
                        <a:spcBef>
                          <a:spcPts val="0"/>
                        </a:spcBef>
                        <a:spcAft>
                          <a:spcPts val="0"/>
                        </a:spcAft>
                        <a:buClrTx/>
                        <a:buSzTx/>
                        <a:buFontTx/>
                        <a:buNone/>
                        <a:tabLst/>
                        <a:defRPr/>
                      </a:pPr>
                      <a:endParaRPr lang="ar-SA" sz="1400" b="1" kern="1200" noProof="0" dirty="0">
                        <a:effectLst/>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B w="12700" cap="flat" cmpd="sng" algn="ctr">
                      <a:solidFill>
                        <a:schemeClr val="accent1"/>
                      </a:solidFill>
                      <a:prstDash val="solid"/>
                      <a:round/>
                      <a:headEnd type="none" w="med" len="med"/>
                      <a:tailEnd type="none" w="med" len="med"/>
                    </a:lnB>
                  </a:tcPr>
                </a:tc>
                <a:extLst>
                  <a:ext uri="{0D108BD9-81ED-4DB2-BD59-A6C34878D82A}">
                    <a16:rowId xmlns:a16="http://schemas.microsoft.com/office/drawing/2014/main" val="1128065702"/>
                  </a:ext>
                </a:extLst>
              </a:tr>
              <a:tr h="0">
                <a:tc vMerge="1">
                  <a:txBody>
                    <a:bodyPr/>
                    <a:lstStyle/>
                    <a:p>
                      <a:endParaRPr lang="en-US"/>
                    </a:p>
                  </a:txBody>
                  <a:tcPr/>
                </a:tc>
                <a:tc vMerge="1">
                  <a:txBody>
                    <a:bodyPr/>
                    <a:lstStyle/>
                    <a:p>
                      <a:endParaRPr lang="en-US"/>
                    </a:p>
                  </a:txBody>
                  <a:tcPr/>
                </a:tc>
                <a:tc vMerge="1">
                  <a:txBody>
                    <a:bodyPr/>
                    <a:lstStyle/>
                    <a:p>
                      <a:endParaRPr lang="en-US"/>
                    </a:p>
                  </a:txBody>
                  <a:tcPr/>
                </a:tc>
                <a:tc>
                  <a:txBody>
                    <a:bodyPr/>
                    <a:lstStyle/>
                    <a:p>
                      <a:pPr marL="0" marR="0" lvl="0" indent="0" algn="just" defTabSz="914400" rtl="1" eaLnBrk="1" fontAlgn="auto" latinLnBrk="0" hangingPunct="1">
                        <a:lnSpc>
                          <a:spcPct val="100000"/>
                        </a:lnSpc>
                        <a:spcBef>
                          <a:spcPts val="0"/>
                        </a:spcBef>
                        <a:spcAft>
                          <a:spcPts val="0"/>
                        </a:spcAft>
                        <a:buClrTx/>
                        <a:buSzTx/>
                        <a:buFont typeface="Arial" panose="020B0604020202020204" pitchFamily="34" charset="0"/>
                        <a:buNone/>
                        <a:tabLst/>
                        <a:defRPr/>
                      </a:pPr>
                      <a:r>
                        <a:rPr lang="ar-SA" sz="1200" kern="1200" noProof="0" dirty="0">
                          <a:solidFill>
                            <a:schemeClr val="tx1"/>
                          </a:solidFill>
                          <a:latin typeface="+mn-lt"/>
                          <a:ea typeface="+mn-ea"/>
                          <a:cs typeface="+mn-cs"/>
                        </a:rPr>
                        <a:t>وجود قنوات تواصل  مختلفة ، تجربة مستفيدين غير سلسة</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marL="0" marR="0" lvl="0" indent="0" algn="ctr" defTabSz="914400" rtl="1" eaLnBrk="1" fontAlgn="auto" latinLnBrk="0" hangingPunct="1">
                        <a:lnSpc>
                          <a:spcPct val="100000"/>
                        </a:lnSpc>
                        <a:spcBef>
                          <a:spcPts val="0"/>
                        </a:spcBef>
                        <a:spcAft>
                          <a:spcPts val="0"/>
                        </a:spcAft>
                        <a:buClrTx/>
                        <a:buSzTx/>
                        <a:buFont typeface="Arial" panose="020B0604020202020204" pitchFamily="34" charset="0"/>
                        <a:buNone/>
                        <a:tabLst/>
                        <a:defRPr/>
                      </a:pPr>
                      <a:r>
                        <a:rPr lang="ar-SA" sz="1400" b="1" kern="1200" noProof="0" dirty="0">
                          <a:solidFill>
                            <a:schemeClr val="accent1"/>
                          </a:solidFill>
                        </a:rPr>
                        <a:t>الأثر الحالي</a:t>
                      </a:r>
                      <a:endParaRPr lang="ar-SA" sz="1400" b="1" noProof="0" dirty="0">
                        <a:solidFill>
                          <a:schemeClr val="accent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lumMod val="95000"/>
                      </a:schemeClr>
                    </a:solidFill>
                  </a:tcPr>
                </a:tc>
                <a:tc vMerge="1">
                  <a:txBody>
                    <a:bodyPr/>
                    <a:lstStyle/>
                    <a:p>
                      <a:endParaRPr lang="en-US"/>
                    </a:p>
                  </a:txBody>
                  <a:tcPr/>
                </a:tc>
                <a:extLst>
                  <a:ext uri="{0D108BD9-81ED-4DB2-BD59-A6C34878D82A}">
                    <a16:rowId xmlns:a16="http://schemas.microsoft.com/office/drawing/2014/main" val="1163892829"/>
                  </a:ext>
                </a:extLst>
              </a:tr>
              <a:tr h="0">
                <a:tc vMerge="1">
                  <a:txBody>
                    <a:bodyPr/>
                    <a:lstStyle/>
                    <a:p>
                      <a:endParaRPr lang="en-US"/>
                    </a:p>
                  </a:txBody>
                  <a:tcPr/>
                </a:tc>
                <a:tc vMerge="1">
                  <a:txBody>
                    <a:bodyPr/>
                    <a:lstStyle/>
                    <a:p>
                      <a:endParaRPr lang="en-US"/>
                    </a:p>
                  </a:txBody>
                  <a:tcPr/>
                </a:tc>
                <a:tc vMerge="1">
                  <a:txBody>
                    <a:bodyPr/>
                    <a:lstStyle/>
                    <a:p>
                      <a:endParaRPr lang="en-US"/>
                    </a:p>
                  </a:txBody>
                  <a:tcPr/>
                </a:tc>
                <a:tc>
                  <a:txBody>
                    <a:bodyPr/>
                    <a:lstStyle/>
                    <a:p>
                      <a:pPr marL="0" marR="0" lvl="0" indent="0" algn="just" defTabSz="914400" rtl="1" eaLnBrk="1" fontAlgn="auto" latinLnBrk="0" hangingPunct="1">
                        <a:lnSpc>
                          <a:spcPct val="100000"/>
                        </a:lnSpc>
                        <a:spcBef>
                          <a:spcPts val="0"/>
                        </a:spcBef>
                        <a:spcAft>
                          <a:spcPts val="0"/>
                        </a:spcAft>
                        <a:buClrTx/>
                        <a:buSzTx/>
                        <a:buFont typeface="Arial" panose="020B0604020202020204" pitchFamily="34" charset="0"/>
                        <a:buNone/>
                        <a:tabLst/>
                        <a:defRPr/>
                      </a:pPr>
                      <a:r>
                        <a:rPr lang="ar-SA" sz="1200" kern="1200" noProof="0" dirty="0">
                          <a:solidFill>
                            <a:schemeClr val="tx1"/>
                          </a:solidFill>
                          <a:latin typeface="+mn-lt"/>
                          <a:ea typeface="+mn-ea"/>
                          <a:cs typeface="+mn-cs"/>
                        </a:rPr>
                        <a:t>توحيد قنوات التواصل  مع المستفيدين، تجربة مستفيدين سلسة</a:t>
                      </a:r>
                    </a:p>
                    <a:p>
                      <a:pPr marL="0" marR="0" lvl="0" indent="0" algn="just" defTabSz="914400" rtl="1" eaLnBrk="1" fontAlgn="auto" latinLnBrk="0" hangingPunct="1">
                        <a:lnSpc>
                          <a:spcPct val="100000"/>
                        </a:lnSpc>
                        <a:spcBef>
                          <a:spcPts val="0"/>
                        </a:spcBef>
                        <a:spcAft>
                          <a:spcPts val="0"/>
                        </a:spcAft>
                        <a:buClrTx/>
                        <a:buSzTx/>
                        <a:buFont typeface="Arial" panose="020B0604020202020204" pitchFamily="34" charset="0"/>
                        <a:buNone/>
                        <a:tabLst/>
                        <a:defRPr/>
                      </a:pPr>
                      <a:endParaRPr lang="ar-SA" sz="1200" kern="1200" noProof="0" dirty="0">
                        <a:solidFill>
                          <a:schemeClr val="tx1"/>
                        </a:solidFill>
                        <a:latin typeface="+mn-lt"/>
                        <a:ea typeface="+mn-ea"/>
                        <a:cs typeface="+mn-cs"/>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marL="0" marR="0" lvl="0" indent="0" algn="ctr" defTabSz="914400" rtl="1" eaLnBrk="1" fontAlgn="auto" latinLnBrk="0" hangingPunct="1">
                        <a:lnSpc>
                          <a:spcPct val="100000"/>
                        </a:lnSpc>
                        <a:spcBef>
                          <a:spcPts val="0"/>
                        </a:spcBef>
                        <a:spcAft>
                          <a:spcPts val="0"/>
                        </a:spcAft>
                        <a:buClrTx/>
                        <a:buSzTx/>
                        <a:buFont typeface="Arial" panose="020B0604020202020204" pitchFamily="34" charset="0"/>
                        <a:buNone/>
                        <a:tabLst/>
                        <a:defRPr/>
                      </a:pPr>
                      <a:r>
                        <a:rPr lang="ar-SA" sz="1400" b="1" noProof="0" dirty="0">
                          <a:solidFill>
                            <a:schemeClr val="accent1"/>
                          </a:solidFill>
                        </a:rPr>
                        <a:t>الأثر بعد الردم (المعالجة)</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lumMod val="95000"/>
                      </a:schemeClr>
                    </a:solidFill>
                  </a:tcPr>
                </a:tc>
                <a:tc vMerge="1">
                  <a:txBody>
                    <a:bodyPr/>
                    <a:lstStyle/>
                    <a:p>
                      <a:endParaRPr lang="en-US"/>
                    </a:p>
                  </a:txBody>
                  <a:tcPr/>
                </a:tc>
                <a:extLst>
                  <a:ext uri="{0D108BD9-81ED-4DB2-BD59-A6C34878D82A}">
                    <a16:rowId xmlns:a16="http://schemas.microsoft.com/office/drawing/2014/main" val="1973569126"/>
                  </a:ext>
                </a:extLst>
              </a:tr>
              <a:tr h="0">
                <a:tc vMerge="1">
                  <a:txBody>
                    <a:bodyPr/>
                    <a:lstStyle/>
                    <a:p>
                      <a:endParaRPr lang="en-US"/>
                    </a:p>
                  </a:txBody>
                  <a:tcPr/>
                </a:tc>
                <a:tc vMerge="1">
                  <a:txBody>
                    <a:bodyPr/>
                    <a:lstStyle/>
                    <a:p>
                      <a:endParaRPr lang="en-US"/>
                    </a:p>
                  </a:txBody>
                  <a:tcPr/>
                </a:tc>
                <a:tc vMerge="1">
                  <a:txBody>
                    <a:bodyPr/>
                    <a:lstStyle/>
                    <a:p>
                      <a:endParaRPr lang="en-US"/>
                    </a:p>
                  </a:txBody>
                  <a:tcPr/>
                </a:tc>
                <a:tc>
                  <a:txBody>
                    <a:bodyPr/>
                    <a:lstStyle/>
                    <a:p>
                      <a:pPr marL="0" marR="0" lvl="0" indent="0" algn="just" defTabSz="914400" rtl="1" eaLnBrk="1" fontAlgn="auto" latinLnBrk="0" hangingPunct="1">
                        <a:lnSpc>
                          <a:spcPct val="100000"/>
                        </a:lnSpc>
                        <a:spcBef>
                          <a:spcPts val="0"/>
                        </a:spcBef>
                        <a:spcAft>
                          <a:spcPts val="0"/>
                        </a:spcAft>
                        <a:buClrTx/>
                        <a:buSzTx/>
                        <a:buFont typeface="Arial" panose="020B0604020202020204" pitchFamily="34" charset="0"/>
                        <a:buNone/>
                        <a:tabLst/>
                        <a:defRPr/>
                      </a:pPr>
                      <a:r>
                        <a:rPr lang="ar-SA" sz="1200" kern="1200" noProof="0" dirty="0">
                          <a:solidFill>
                            <a:schemeClr val="tx1"/>
                          </a:solidFill>
                          <a:latin typeface="+mn-lt"/>
                          <a:ea typeface="+mn-ea"/>
                          <a:cs typeface="+mn-cs"/>
                        </a:rPr>
                        <a:t>تطوير وتطبيق نموذج متعدد القنوات لدمج جميع قنوات التواصل مع المستفيدين لتحقيق تجربة مستفيدين سلسة</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marL="0" marR="0" lvl="0" indent="0" algn="ctr" defTabSz="914400" rtl="1" eaLnBrk="1" fontAlgn="auto" latinLnBrk="0" hangingPunct="1">
                        <a:lnSpc>
                          <a:spcPct val="100000"/>
                        </a:lnSpc>
                        <a:spcBef>
                          <a:spcPts val="0"/>
                        </a:spcBef>
                        <a:spcAft>
                          <a:spcPts val="0"/>
                        </a:spcAft>
                        <a:buClrTx/>
                        <a:buSzTx/>
                        <a:buFont typeface="Arial" panose="020B0604020202020204" pitchFamily="34" charset="0"/>
                        <a:buNone/>
                        <a:tabLst/>
                        <a:defRPr/>
                      </a:pPr>
                      <a:r>
                        <a:rPr lang="ar-SA" sz="1400" b="1" noProof="0" dirty="0">
                          <a:solidFill>
                            <a:schemeClr val="accent1"/>
                          </a:solidFill>
                        </a:rPr>
                        <a:t>تغطية الفجوة </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accent1"/>
                      </a:solidFill>
                      <a:prstDash val="solid"/>
                      <a:round/>
                      <a:headEnd type="none" w="med" len="med"/>
                      <a:tailEnd type="none" w="med" len="med"/>
                    </a:lnB>
                    <a:solidFill>
                      <a:schemeClr val="bg1">
                        <a:lumMod val="95000"/>
                      </a:schemeClr>
                    </a:solidFill>
                  </a:tcPr>
                </a:tc>
                <a:tc vMerge="1">
                  <a:txBody>
                    <a:bodyPr/>
                    <a:lstStyle/>
                    <a:p>
                      <a:endParaRPr lang="en-US"/>
                    </a:p>
                  </a:txBody>
                  <a:tcPr/>
                </a:tc>
                <a:extLst>
                  <a:ext uri="{0D108BD9-81ED-4DB2-BD59-A6C34878D82A}">
                    <a16:rowId xmlns:a16="http://schemas.microsoft.com/office/drawing/2014/main" val="4011636746"/>
                  </a:ext>
                </a:extLst>
              </a:tr>
              <a:tr h="0">
                <a:tc rowSpan="4">
                  <a:txBody>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lang="ar-SA" sz="1400" noProof="0" dirty="0"/>
                        <a:t>ملف حصر الأعمال ، دراسة وثائق الأعمال للجهة المتوفرة بالوضع الحالي ، ورش العمل لحصر الأعمال مع الوحدات الإدارية المعنية ،تطلعات أصحاب المصلحة</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rowSpan="4">
                  <a:txBody>
                    <a:bodyPr/>
                    <a:lstStyle/>
                    <a:p>
                      <a:pPr marL="0" marR="0" lvl="0" indent="0" algn="ctr" defTabSz="914400" rtl="1" eaLnBrk="1" fontAlgn="auto" latinLnBrk="0" hangingPunct="1">
                        <a:lnSpc>
                          <a:spcPct val="100000"/>
                        </a:lnSpc>
                        <a:spcBef>
                          <a:spcPts val="0"/>
                        </a:spcBef>
                        <a:spcAft>
                          <a:spcPts val="0"/>
                        </a:spcAft>
                        <a:buClrTx/>
                        <a:buSzTx/>
                        <a:buFont typeface="Arial" panose="020B0604020202020204" pitchFamily="34" charset="0"/>
                        <a:buNone/>
                        <a:tabLst/>
                        <a:defRPr/>
                      </a:pPr>
                      <a:r>
                        <a:rPr kumimoji="0" lang="ar-SA" sz="1400" b="0" i="0" u="none" strike="noStrike" kern="1200" cap="none" spc="0" normalizeH="0" baseline="0" noProof="0" dirty="0">
                          <a:ln>
                            <a:noFill/>
                          </a:ln>
                          <a:solidFill>
                            <a:prstClr val="black"/>
                          </a:solidFill>
                          <a:effectLst/>
                          <a:uLnTx/>
                          <a:uFillTx/>
                          <a:latin typeface="Sakkal Majalla"/>
                          <a:ea typeface="+mn-ea"/>
                          <a:cs typeface="Sakkal Majalla"/>
                        </a:rPr>
                        <a:t>متوسط</a:t>
                      </a:r>
                    </a:p>
                  </a:txBody>
                  <a:tcPr anchor="ctr">
                    <a:lnL w="12700" cap="flat" cmpd="sng" algn="ctr">
                      <a:no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solidFill>
                      <a:schemeClr val="bg1">
                        <a:lumMod val="95000"/>
                      </a:schemeClr>
                    </a:solidFill>
                  </a:tcPr>
                </a:tc>
                <a:tc rowSpan="4">
                  <a:txBody>
                    <a:bodyPr/>
                    <a:lstStyle/>
                    <a:p>
                      <a:pPr marL="0" marR="0" lvl="0" indent="0" algn="ctr" defTabSz="914400" rtl="1" eaLnBrk="1" fontAlgn="auto" latinLnBrk="0" hangingPunct="1">
                        <a:lnSpc>
                          <a:spcPct val="100000"/>
                        </a:lnSpc>
                        <a:spcBef>
                          <a:spcPts val="0"/>
                        </a:spcBef>
                        <a:spcAft>
                          <a:spcPts val="0"/>
                        </a:spcAft>
                        <a:buClrTx/>
                        <a:buSzTx/>
                        <a:buFont typeface="Arial" panose="020B0604020202020204" pitchFamily="34" charset="0"/>
                        <a:buNone/>
                        <a:tabLst/>
                        <a:defRPr/>
                      </a:pPr>
                      <a:r>
                        <a:rPr kumimoji="0" lang="ar-SA" sz="1400" b="0" i="0" u="none" strike="noStrike" kern="1200" cap="none" spc="0" normalizeH="0" baseline="0" noProof="0" dirty="0">
                          <a:ln>
                            <a:noFill/>
                          </a:ln>
                          <a:solidFill>
                            <a:prstClr val="black"/>
                          </a:solidFill>
                          <a:effectLst/>
                          <a:uLnTx/>
                          <a:uFillTx/>
                          <a:latin typeface="Sakkal Majalla"/>
                          <a:ea typeface="+mn-ea"/>
                          <a:cs typeface="Sakkal Majalla"/>
                        </a:rPr>
                        <a:t>متوسط</a:t>
                      </a:r>
                    </a:p>
                  </a:txBody>
                  <a:tcPr anchor="ctr">
                    <a:lnL w="12700" cap="flat" cmpd="sng" algn="ctr">
                      <a:solidFill>
                        <a:schemeClr val="bg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solidFill>
                      <a:schemeClr val="bg1">
                        <a:lumMod val="95000"/>
                      </a:schemeClr>
                    </a:solidFill>
                  </a:tcPr>
                </a:tc>
                <a:tc>
                  <a:txBody>
                    <a:bodyPr/>
                    <a:lstStyle/>
                    <a:p>
                      <a:pPr marL="0" marR="0" lvl="0" indent="0" algn="just" defTabSz="914400" rtl="1" eaLnBrk="1" fontAlgn="auto" latinLnBrk="0" hangingPunct="1">
                        <a:lnSpc>
                          <a:spcPct val="100000"/>
                        </a:lnSpc>
                        <a:spcBef>
                          <a:spcPts val="0"/>
                        </a:spcBef>
                        <a:spcAft>
                          <a:spcPts val="0"/>
                        </a:spcAft>
                        <a:buClrTx/>
                        <a:buSzTx/>
                        <a:buFont typeface="Arial" panose="020B0604020202020204" pitchFamily="34" charset="0"/>
                        <a:buNone/>
                        <a:tabLst/>
                        <a:defRPr/>
                      </a:pPr>
                      <a:r>
                        <a:rPr lang="ar-SA" sz="1200" kern="1200" noProof="0" dirty="0">
                          <a:solidFill>
                            <a:schemeClr val="tx1"/>
                          </a:solidFill>
                          <a:latin typeface="+mn-lt"/>
                          <a:ea typeface="+mn-ea"/>
                          <a:cs typeface="+mn-cs"/>
                        </a:rPr>
                        <a:t>الاعتماد على التواصل اليدوي والتصعيد اليدوي قد يؤدي إلى تأخير في حل المشاكل، يمكن معالجتها من خلال استغلال أنظمة لإدارة إجراءات الأعمال وتعزيز استخدامها بشكل كامل، كما يمكن تحسين التواصل بين الإدارات من خلال تلك الأنظمة المتكاملة ، مع ضرورة تطوير نظام تواصل داخلي فعال يقلل الاعتماد على البريد الإلكتروني ويزيد التعاون</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marL="0" marR="0" lvl="0" indent="0" algn="ctr" defTabSz="914400" rtl="1" eaLnBrk="1" fontAlgn="auto" latinLnBrk="0" hangingPunct="1">
                        <a:lnSpc>
                          <a:spcPct val="100000"/>
                        </a:lnSpc>
                        <a:spcBef>
                          <a:spcPts val="0"/>
                        </a:spcBef>
                        <a:spcAft>
                          <a:spcPts val="0"/>
                        </a:spcAft>
                        <a:buClrTx/>
                        <a:buSzTx/>
                        <a:buFont typeface="Arial" panose="020B0604020202020204" pitchFamily="34" charset="0"/>
                        <a:buNone/>
                        <a:tabLst/>
                        <a:defRPr/>
                      </a:pPr>
                      <a:r>
                        <a:rPr lang="ar-SA" sz="1400" b="1" noProof="0" dirty="0">
                          <a:solidFill>
                            <a:schemeClr val="accent1"/>
                          </a:solidFill>
                        </a:rPr>
                        <a:t>الوصف</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lumMod val="95000"/>
                      </a:schemeClr>
                    </a:solidFill>
                  </a:tcPr>
                </a:tc>
                <a:tc rowSpan="4">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ar-SA" sz="1600" b="1" u="none" strike="noStrike" kern="1200" cap="none" spc="0" normalizeH="0" baseline="0" noProof="0" dirty="0">
                          <a:ln>
                            <a:noFill/>
                          </a:ln>
                          <a:effectLst/>
                          <a:uLnTx/>
                          <a:uFillTx/>
                        </a:rPr>
                        <a:t>GAP-B-16</a:t>
                      </a:r>
                    </a:p>
                    <a:p>
                      <a:pPr marL="0" marR="0" lvl="0" indent="0" algn="r" defTabSz="914400" rtl="1" eaLnBrk="1" fontAlgn="auto" latinLnBrk="0" hangingPunct="1">
                        <a:lnSpc>
                          <a:spcPct val="100000"/>
                        </a:lnSpc>
                        <a:spcBef>
                          <a:spcPts val="0"/>
                        </a:spcBef>
                        <a:spcAft>
                          <a:spcPts val="0"/>
                        </a:spcAft>
                        <a:buClrTx/>
                        <a:buSzTx/>
                        <a:buFontTx/>
                        <a:buNone/>
                        <a:tabLst/>
                        <a:defRPr/>
                      </a:pPr>
                      <a:r>
                        <a:rPr lang="ar-SA" sz="1400" b="1" u="none" strike="noStrike" noProof="0" dirty="0">
                          <a:effectLst/>
                        </a:rPr>
                        <a:t>الاعتماد على التواصل اليدوي والتصعيد اليدوي </a:t>
                      </a:r>
                      <a:endParaRPr lang="ar-SA" sz="1400" b="1" kern="1200" noProof="0" dirty="0">
                        <a:effectLst/>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extLst>
                  <a:ext uri="{0D108BD9-81ED-4DB2-BD59-A6C34878D82A}">
                    <a16:rowId xmlns:a16="http://schemas.microsoft.com/office/drawing/2014/main" val="1136131386"/>
                  </a:ext>
                </a:extLst>
              </a:tr>
              <a:tr h="0">
                <a:tc vMerge="1">
                  <a:txBody>
                    <a:bodyPr/>
                    <a:lstStyle/>
                    <a:p>
                      <a:pPr marL="0" marR="0" lvl="0" indent="0" algn="r" defTabSz="914400" rtl="1" eaLnBrk="1" fontAlgn="auto" latinLnBrk="0" hangingPunct="1">
                        <a:lnSpc>
                          <a:spcPct val="100000"/>
                        </a:lnSpc>
                        <a:spcBef>
                          <a:spcPts val="0"/>
                        </a:spcBef>
                        <a:spcAft>
                          <a:spcPts val="0"/>
                        </a:spcAft>
                        <a:buClrTx/>
                        <a:buSzTx/>
                        <a:buFontTx/>
                        <a:buNone/>
                        <a:tabLst/>
                        <a:defRPr/>
                      </a:pPr>
                      <a:endParaRPr lang="en-GB" sz="1400" noProof="0" dirty="0"/>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vMerge="1">
                  <a:txBody>
                    <a:bodyPr/>
                    <a:lstStyle/>
                    <a:p>
                      <a:endParaRPr lang="en-US"/>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vMerge="1">
                  <a:txBody>
                    <a:bodyPr/>
                    <a:lstStyle/>
                    <a:p>
                      <a:endParaRPr lang="en-US"/>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marL="0" marR="0" lvl="0" indent="0" algn="just" defTabSz="914400" rtl="1" eaLnBrk="1" fontAlgn="auto" latinLnBrk="0" hangingPunct="1">
                        <a:lnSpc>
                          <a:spcPct val="100000"/>
                        </a:lnSpc>
                        <a:spcBef>
                          <a:spcPts val="0"/>
                        </a:spcBef>
                        <a:spcAft>
                          <a:spcPts val="0"/>
                        </a:spcAft>
                        <a:buClrTx/>
                        <a:buSzTx/>
                        <a:buFont typeface="Arial" panose="020B0604020202020204" pitchFamily="34" charset="0"/>
                        <a:buNone/>
                        <a:tabLst/>
                        <a:defRPr/>
                      </a:pPr>
                      <a:r>
                        <a:rPr lang="ar-SA" sz="1200" kern="1200" noProof="0" dirty="0">
                          <a:solidFill>
                            <a:schemeClr val="tx1"/>
                          </a:solidFill>
                          <a:latin typeface="+mn-lt"/>
                          <a:ea typeface="+mn-ea"/>
                          <a:cs typeface="+mn-cs"/>
                        </a:rPr>
                        <a:t>يؤدي إلى تأخير في حل المشاكل ، زيادة الاعتماد على البريد الإلكتروني وقلة التعاون</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marL="0" marR="0" lvl="0" indent="0" algn="ctr" defTabSz="914400" rtl="1" eaLnBrk="1" fontAlgn="auto" latinLnBrk="0" hangingPunct="1">
                        <a:lnSpc>
                          <a:spcPct val="100000"/>
                        </a:lnSpc>
                        <a:spcBef>
                          <a:spcPts val="0"/>
                        </a:spcBef>
                        <a:spcAft>
                          <a:spcPts val="0"/>
                        </a:spcAft>
                        <a:buClrTx/>
                        <a:buSzTx/>
                        <a:buFont typeface="Arial" panose="020B0604020202020204" pitchFamily="34" charset="0"/>
                        <a:buNone/>
                        <a:tabLst/>
                        <a:defRPr/>
                      </a:pPr>
                      <a:r>
                        <a:rPr lang="ar-SA" sz="1400" b="1" kern="1200" noProof="0" dirty="0">
                          <a:solidFill>
                            <a:schemeClr val="accent1"/>
                          </a:solidFill>
                        </a:rPr>
                        <a:t>الأثر الحالي</a:t>
                      </a:r>
                      <a:endParaRPr lang="ar-SA" sz="1400" b="1" noProof="0" dirty="0">
                        <a:solidFill>
                          <a:schemeClr val="accent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lumMod val="95000"/>
                      </a:schemeClr>
                    </a:solidFill>
                  </a:tcPr>
                </a:tc>
                <a:tc vMerge="1">
                  <a:txBody>
                    <a:bodyPr/>
                    <a:lstStyle/>
                    <a:p>
                      <a:pPr marL="0" marR="0" lvl="0" indent="0" algn="r" defTabSz="914400" rtl="1" eaLnBrk="1" fontAlgn="auto" latinLnBrk="0" hangingPunct="1">
                        <a:lnSpc>
                          <a:spcPct val="100000"/>
                        </a:lnSpc>
                        <a:spcBef>
                          <a:spcPts val="0"/>
                        </a:spcBef>
                        <a:spcAft>
                          <a:spcPts val="0"/>
                        </a:spcAft>
                        <a:buClrTx/>
                        <a:buSzTx/>
                        <a:buFontTx/>
                        <a:buNone/>
                        <a:tabLst/>
                        <a:defRPr/>
                      </a:pPr>
                      <a:endParaRPr lang="en-GB" sz="1400" b="1" noProof="0" dirty="0"/>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extLst>
                  <a:ext uri="{0D108BD9-81ED-4DB2-BD59-A6C34878D82A}">
                    <a16:rowId xmlns:a16="http://schemas.microsoft.com/office/drawing/2014/main" val="918118369"/>
                  </a:ext>
                </a:extLst>
              </a:tr>
              <a:tr h="0">
                <a:tc vMerge="1">
                  <a:txBody>
                    <a:bodyPr/>
                    <a:lstStyle/>
                    <a:p>
                      <a:pPr marL="0" marR="0" lvl="0" indent="0" algn="r" defTabSz="914400" rtl="1" eaLnBrk="1" fontAlgn="auto" latinLnBrk="0" hangingPunct="1">
                        <a:lnSpc>
                          <a:spcPct val="100000"/>
                        </a:lnSpc>
                        <a:spcBef>
                          <a:spcPts val="0"/>
                        </a:spcBef>
                        <a:spcAft>
                          <a:spcPts val="0"/>
                        </a:spcAft>
                        <a:buClrTx/>
                        <a:buSzTx/>
                        <a:buFontTx/>
                        <a:buNone/>
                        <a:tabLst/>
                        <a:defRPr/>
                      </a:pPr>
                      <a:endParaRPr lang="en-GB" sz="1400" noProof="0" dirty="0"/>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vMerge="1">
                  <a:txBody>
                    <a:bodyPr/>
                    <a:lstStyle/>
                    <a:p>
                      <a:endParaRPr lang="en-US"/>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vMerge="1">
                  <a:txBody>
                    <a:bodyPr/>
                    <a:lstStyle/>
                    <a:p>
                      <a:endParaRPr lang="en-US"/>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marL="0" marR="0" lvl="0" indent="0" algn="just" defTabSz="914400" rtl="1" eaLnBrk="1" fontAlgn="auto" latinLnBrk="0" hangingPunct="1">
                        <a:lnSpc>
                          <a:spcPct val="100000"/>
                        </a:lnSpc>
                        <a:spcBef>
                          <a:spcPts val="0"/>
                        </a:spcBef>
                        <a:spcAft>
                          <a:spcPts val="0"/>
                        </a:spcAft>
                        <a:buClrTx/>
                        <a:buSzTx/>
                        <a:buFont typeface="Arial" panose="020B0604020202020204" pitchFamily="34" charset="0"/>
                        <a:buNone/>
                        <a:tabLst/>
                        <a:defRPr/>
                      </a:pPr>
                      <a:r>
                        <a:rPr lang="ar-SA" sz="1200" kern="1200" noProof="0" dirty="0">
                          <a:solidFill>
                            <a:schemeClr val="tx1"/>
                          </a:solidFill>
                          <a:latin typeface="+mn-lt"/>
                          <a:ea typeface="+mn-ea"/>
                          <a:cs typeface="+mn-cs"/>
                        </a:rPr>
                        <a:t>تحسين التواصل بين الإدارات من خلال تلك الأنظمة المتكاملة  ، تقليل الاعتماد على البريد الإلكتروني وزيادة التعاون</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marL="0" marR="0" lvl="0" indent="0" algn="ctr" defTabSz="914400" rtl="1" eaLnBrk="1" fontAlgn="auto" latinLnBrk="0" hangingPunct="1">
                        <a:lnSpc>
                          <a:spcPct val="100000"/>
                        </a:lnSpc>
                        <a:spcBef>
                          <a:spcPts val="0"/>
                        </a:spcBef>
                        <a:spcAft>
                          <a:spcPts val="0"/>
                        </a:spcAft>
                        <a:buClrTx/>
                        <a:buSzTx/>
                        <a:buFont typeface="Arial" panose="020B0604020202020204" pitchFamily="34" charset="0"/>
                        <a:buNone/>
                        <a:tabLst/>
                        <a:defRPr/>
                      </a:pPr>
                      <a:r>
                        <a:rPr lang="ar-SA" sz="1400" b="1" noProof="0" dirty="0">
                          <a:solidFill>
                            <a:schemeClr val="accent1"/>
                          </a:solidFill>
                        </a:rPr>
                        <a:t>الأثر بعد الردم (المعالجة)</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lumMod val="95000"/>
                      </a:schemeClr>
                    </a:solidFill>
                  </a:tcPr>
                </a:tc>
                <a:tc vMerge="1">
                  <a:txBody>
                    <a:bodyPr/>
                    <a:lstStyle/>
                    <a:p>
                      <a:pPr marL="0" marR="0" lvl="0" indent="0" algn="r" defTabSz="914400" rtl="1" eaLnBrk="1" fontAlgn="auto" latinLnBrk="0" hangingPunct="1">
                        <a:lnSpc>
                          <a:spcPct val="100000"/>
                        </a:lnSpc>
                        <a:spcBef>
                          <a:spcPts val="0"/>
                        </a:spcBef>
                        <a:spcAft>
                          <a:spcPts val="0"/>
                        </a:spcAft>
                        <a:buClrTx/>
                        <a:buSzTx/>
                        <a:buFontTx/>
                        <a:buNone/>
                        <a:tabLst/>
                        <a:defRPr/>
                      </a:pPr>
                      <a:endParaRPr lang="en-GB" sz="1400" b="1" noProof="0" dirty="0"/>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extLst>
                  <a:ext uri="{0D108BD9-81ED-4DB2-BD59-A6C34878D82A}">
                    <a16:rowId xmlns:a16="http://schemas.microsoft.com/office/drawing/2014/main" val="4153014111"/>
                  </a:ext>
                </a:extLst>
              </a:tr>
              <a:tr h="0">
                <a:tc vMerge="1">
                  <a:txBody>
                    <a:bodyPr/>
                    <a:lstStyle/>
                    <a:p>
                      <a:pPr marL="0" marR="0" lvl="0" indent="0" algn="r" defTabSz="914400" rtl="1" eaLnBrk="1" fontAlgn="auto" latinLnBrk="0" hangingPunct="1">
                        <a:lnSpc>
                          <a:spcPct val="100000"/>
                        </a:lnSpc>
                        <a:spcBef>
                          <a:spcPts val="0"/>
                        </a:spcBef>
                        <a:spcAft>
                          <a:spcPts val="0"/>
                        </a:spcAft>
                        <a:buClrTx/>
                        <a:buSzTx/>
                        <a:buFontTx/>
                        <a:buNone/>
                        <a:tabLst/>
                        <a:defRPr/>
                      </a:pPr>
                      <a:endParaRPr lang="en-GB" sz="1400" noProof="0" dirty="0"/>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vMerge="1">
                  <a:txBody>
                    <a:bodyPr/>
                    <a:lstStyle/>
                    <a:p>
                      <a:endParaRPr lang="en-US"/>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vMerge="1">
                  <a:txBody>
                    <a:bodyPr/>
                    <a:lstStyle/>
                    <a:p>
                      <a:endParaRPr lang="en-US"/>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marL="0" marR="0" lvl="0" indent="0" algn="just" defTabSz="914400" rtl="1" eaLnBrk="1" fontAlgn="auto" latinLnBrk="0" hangingPunct="1">
                        <a:lnSpc>
                          <a:spcPct val="100000"/>
                        </a:lnSpc>
                        <a:spcBef>
                          <a:spcPts val="0"/>
                        </a:spcBef>
                        <a:spcAft>
                          <a:spcPts val="0"/>
                        </a:spcAft>
                        <a:buClrTx/>
                        <a:buSzTx/>
                        <a:buFont typeface="Arial" panose="020B0604020202020204" pitchFamily="34" charset="0"/>
                        <a:buNone/>
                        <a:tabLst/>
                        <a:defRPr/>
                      </a:pPr>
                      <a:r>
                        <a:rPr lang="ar-SA" sz="1200" kern="1200" noProof="0" dirty="0">
                          <a:solidFill>
                            <a:schemeClr val="tx1"/>
                          </a:solidFill>
                          <a:latin typeface="+mn-lt"/>
                          <a:ea typeface="+mn-ea"/>
                          <a:cs typeface="+mn-cs"/>
                        </a:rPr>
                        <a:t>استغلال أنظمة لإدارة إجراءات الأعمال وتعزيز استخدامها بشكل كامل ، تحسين التواصل بين الإدارات من خلال تلك الأنظمة المتكاملة  ، تطوير نظام تواصل داخلي فعال </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marL="0" marR="0" lvl="0" indent="0" algn="ctr" defTabSz="914400" rtl="1" eaLnBrk="1" fontAlgn="auto" latinLnBrk="0" hangingPunct="1">
                        <a:lnSpc>
                          <a:spcPct val="100000"/>
                        </a:lnSpc>
                        <a:spcBef>
                          <a:spcPts val="0"/>
                        </a:spcBef>
                        <a:spcAft>
                          <a:spcPts val="0"/>
                        </a:spcAft>
                        <a:buClrTx/>
                        <a:buSzTx/>
                        <a:buFont typeface="Arial" panose="020B0604020202020204" pitchFamily="34" charset="0"/>
                        <a:buNone/>
                        <a:tabLst/>
                        <a:defRPr/>
                      </a:pPr>
                      <a:r>
                        <a:rPr lang="ar-SA" sz="1400" b="1" noProof="0" dirty="0">
                          <a:solidFill>
                            <a:schemeClr val="accent1"/>
                          </a:solidFill>
                        </a:rPr>
                        <a:t>تغطية الفجوة </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accent1"/>
                      </a:solidFill>
                      <a:prstDash val="solid"/>
                      <a:round/>
                      <a:headEnd type="none" w="med" len="med"/>
                      <a:tailEnd type="none" w="med" len="med"/>
                    </a:lnB>
                    <a:solidFill>
                      <a:schemeClr val="bg1">
                        <a:lumMod val="95000"/>
                      </a:schemeClr>
                    </a:solidFill>
                  </a:tcPr>
                </a:tc>
                <a:tc vMerge="1">
                  <a:txBody>
                    <a:bodyPr/>
                    <a:lstStyle/>
                    <a:p>
                      <a:pPr marL="0" marR="0" lvl="0" indent="0" algn="r" defTabSz="914400" rtl="1" eaLnBrk="1" fontAlgn="auto" latinLnBrk="0" hangingPunct="1">
                        <a:lnSpc>
                          <a:spcPct val="100000"/>
                        </a:lnSpc>
                        <a:spcBef>
                          <a:spcPts val="0"/>
                        </a:spcBef>
                        <a:spcAft>
                          <a:spcPts val="0"/>
                        </a:spcAft>
                        <a:buClrTx/>
                        <a:buSzTx/>
                        <a:buFontTx/>
                        <a:buNone/>
                        <a:tabLst/>
                        <a:defRPr/>
                      </a:pPr>
                      <a:endParaRPr lang="en-GB" sz="1400" b="1" noProof="0" dirty="0"/>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extLst>
                  <a:ext uri="{0D108BD9-81ED-4DB2-BD59-A6C34878D82A}">
                    <a16:rowId xmlns:a16="http://schemas.microsoft.com/office/drawing/2014/main" val="1035545327"/>
                  </a:ext>
                </a:extLst>
              </a:tr>
            </a:tbl>
          </a:graphicData>
        </a:graphic>
      </p:graphicFrame>
      <p:sp>
        <p:nvSpPr>
          <p:cNvPr id="7" name="TextBox 6">
            <a:extLst>
              <a:ext uri="{FF2B5EF4-FFF2-40B4-BE49-F238E27FC236}">
                <a16:creationId xmlns:a16="http://schemas.microsoft.com/office/drawing/2014/main" id="{78FFBCC9-9528-43EE-3448-66EDC46CF782}"/>
              </a:ext>
            </a:extLst>
          </p:cNvPr>
          <p:cNvSpPr txBox="1"/>
          <p:nvPr/>
        </p:nvSpPr>
        <p:spPr>
          <a:xfrm>
            <a:off x="609601" y="830867"/>
            <a:ext cx="10972800" cy="375487"/>
          </a:xfrm>
          <a:prstGeom prst="rect">
            <a:avLst/>
          </a:prstGeom>
          <a:noFill/>
        </p:spPr>
        <p:txBody>
          <a:bodyPr wrap="square">
            <a:spAutoFit/>
          </a:bodyPr>
          <a:lstStyle/>
          <a:p>
            <a:pPr algn="r" rtl="1">
              <a:lnSpc>
                <a:spcPct val="115000"/>
              </a:lnSpc>
              <a:spcAft>
                <a:spcPts val="1000"/>
              </a:spcAft>
            </a:pPr>
            <a:r>
              <a:rPr lang="ar-SA" sz="1600" noProof="0" dirty="0">
                <a:solidFill>
                  <a:srgbClr val="000000"/>
                </a:solidFill>
                <a:latin typeface="Sakkal Majalla" panose="02000000000000000000" pitchFamily="2" charset="-78"/>
                <a:ea typeface="Sakkal Majalla" panose="02000000000000000000" pitchFamily="2" charset="-78"/>
                <a:cs typeface="Sakkal Majalla" panose="02000000000000000000" pitchFamily="2" charset="-78"/>
              </a:rPr>
              <a:t>يهدف هذا القسم من الوثيقة إلى تقديم الملاحظات الخاصة بالوضع الحالي لبنية الأعمال مع ذكر التوصيات  والتحسينات المفترض تطبيقها في الوضع المستقبلي</a:t>
            </a:r>
          </a:p>
        </p:txBody>
      </p:sp>
    </p:spTree>
    <p:extLst>
      <p:ext uri="{BB962C8B-B14F-4D97-AF65-F5344CB8AC3E}">
        <p14:creationId xmlns:p14="http://schemas.microsoft.com/office/powerpoint/2010/main" val="231262126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a:xfrm>
            <a:off x="663391" y="238896"/>
            <a:ext cx="10972800" cy="666261"/>
          </a:xfrm>
        </p:spPr>
        <p:txBody>
          <a:bodyPr/>
          <a:lstStyle/>
          <a:p>
            <a:r>
              <a:rPr lang="ar-SA" noProof="0" dirty="0"/>
              <a:t>ملخص تحليل الفجوات لبنية الأعمال </a:t>
            </a:r>
          </a:p>
        </p:txBody>
      </p:sp>
      <p:sp>
        <p:nvSpPr>
          <p:cNvPr id="3" name="Slide Number Placeholder 2">
            <a:extLst>
              <a:ext uri="{FF2B5EF4-FFF2-40B4-BE49-F238E27FC236}">
                <a16:creationId xmlns:a16="http://schemas.microsoft.com/office/drawing/2014/main" id="{A63A027D-6EA1-E9F6-6212-7D45811B8DC3}"/>
              </a:ext>
            </a:extLst>
          </p:cNvPr>
          <p:cNvSpPr>
            <a:spLocks noGrp="1"/>
          </p:cNvSpPr>
          <p:nvPr>
            <p:ph type="sldNum" sz="quarter" idx="12"/>
          </p:nvPr>
        </p:nvSpPr>
        <p:spPr>
          <a:xfrm>
            <a:off x="655319" y="6567058"/>
            <a:ext cx="466471" cy="290942"/>
          </a:xfrm>
        </p:spPr>
        <p:txBody>
          <a:bodyPr/>
          <a:lstStyle/>
          <a:p>
            <a:fld id="{0BE4EC83-A869-464E-AE9F-881796FB085E}" type="slidenum">
              <a:rPr lang="ar-SA" noProof="0" smtClean="0"/>
              <a:pPr/>
              <a:t>17</a:t>
            </a:fld>
            <a:endParaRPr lang="ar-SA" noProof="0" dirty="0"/>
          </a:p>
        </p:txBody>
      </p:sp>
      <p:graphicFrame>
        <p:nvGraphicFramePr>
          <p:cNvPr id="2" name="Table 1">
            <a:extLst>
              <a:ext uri="{FF2B5EF4-FFF2-40B4-BE49-F238E27FC236}">
                <a16:creationId xmlns:a16="http://schemas.microsoft.com/office/drawing/2014/main" id="{C47CAF5B-4215-4DCE-B225-BC1E66631900}"/>
              </a:ext>
            </a:extLst>
          </p:cNvPr>
          <p:cNvGraphicFramePr>
            <a:graphicFrameLocks noGrp="1"/>
          </p:cNvGraphicFramePr>
          <p:nvPr>
            <p:extLst>
              <p:ext uri="{D42A27DB-BD31-4B8C-83A1-F6EECF244321}">
                <p14:modId xmlns:p14="http://schemas.microsoft.com/office/powerpoint/2010/main" val="826365973"/>
              </p:ext>
            </p:extLst>
          </p:nvPr>
        </p:nvGraphicFramePr>
        <p:xfrm>
          <a:off x="609600" y="1143212"/>
          <a:ext cx="10972802" cy="3246120"/>
        </p:xfrm>
        <a:graphic>
          <a:graphicData uri="http://schemas.openxmlformats.org/drawingml/2006/table">
            <a:tbl>
              <a:tblPr firstRow="1" bandRow="1">
                <a:tableStyleId>{2D5ABB26-0587-4C30-8999-92F81FD0307C}</a:tableStyleId>
              </a:tblPr>
              <a:tblGrid>
                <a:gridCol w="1344706">
                  <a:extLst>
                    <a:ext uri="{9D8B030D-6E8A-4147-A177-3AD203B41FA5}">
                      <a16:colId xmlns:a16="http://schemas.microsoft.com/office/drawing/2014/main" val="2801895674"/>
                    </a:ext>
                  </a:extLst>
                </a:gridCol>
                <a:gridCol w="744070">
                  <a:extLst>
                    <a:ext uri="{9D8B030D-6E8A-4147-A177-3AD203B41FA5}">
                      <a16:colId xmlns:a16="http://schemas.microsoft.com/office/drawing/2014/main" val="2976102064"/>
                    </a:ext>
                  </a:extLst>
                </a:gridCol>
                <a:gridCol w="842683">
                  <a:extLst>
                    <a:ext uri="{9D8B030D-6E8A-4147-A177-3AD203B41FA5}">
                      <a16:colId xmlns:a16="http://schemas.microsoft.com/office/drawing/2014/main" val="526736865"/>
                    </a:ext>
                  </a:extLst>
                </a:gridCol>
                <a:gridCol w="4337559">
                  <a:extLst>
                    <a:ext uri="{9D8B030D-6E8A-4147-A177-3AD203B41FA5}">
                      <a16:colId xmlns:a16="http://schemas.microsoft.com/office/drawing/2014/main" val="4106469564"/>
                    </a:ext>
                  </a:extLst>
                </a:gridCol>
                <a:gridCol w="923637">
                  <a:extLst>
                    <a:ext uri="{9D8B030D-6E8A-4147-A177-3AD203B41FA5}">
                      <a16:colId xmlns:a16="http://schemas.microsoft.com/office/drawing/2014/main" val="1154529574"/>
                    </a:ext>
                  </a:extLst>
                </a:gridCol>
                <a:gridCol w="2780147">
                  <a:extLst>
                    <a:ext uri="{9D8B030D-6E8A-4147-A177-3AD203B41FA5}">
                      <a16:colId xmlns:a16="http://schemas.microsoft.com/office/drawing/2014/main" val="1503598667"/>
                    </a:ext>
                  </a:extLst>
                </a:gridCol>
              </a:tblGrid>
              <a:tr h="0">
                <a:tc>
                  <a:txBody>
                    <a:bodyPr/>
                    <a:lstStyle/>
                    <a:p>
                      <a:pPr algn="ctr" rtl="1"/>
                      <a:r>
                        <a:rPr lang="ar-SA" sz="1400" b="1" noProof="0" dirty="0">
                          <a:solidFill>
                            <a:schemeClr val="bg1"/>
                          </a:solidFill>
                        </a:rPr>
                        <a:t>المصدر</a:t>
                      </a:r>
                      <a:endParaRPr lang="ar-SA" sz="1400" b="1" noProof="0" dirty="0">
                        <a:solidFill>
                          <a:schemeClr val="bg1"/>
                        </a:solidFill>
                        <a:latin typeface="+mj-lt"/>
                      </a:endParaRPr>
                    </a:p>
                  </a:txBody>
                  <a:tcPr anchor="ctr">
                    <a:lnL w="12700" cap="flat" cmpd="sng" algn="ctr">
                      <a:noFill/>
                      <a:prstDash val="solid"/>
                      <a:round/>
                      <a:headEnd type="none" w="med" len="med"/>
                      <a:tailEnd type="none" w="med" len="med"/>
                    </a:lnL>
                    <a:lnR w="12700" cap="flat" cmpd="sng" algn="ctr">
                      <a:solidFill>
                        <a:schemeClr val="bg1"/>
                      </a:solidFill>
                      <a:prstDash val="solid"/>
                      <a:round/>
                      <a:headEnd type="none" w="med" len="med"/>
                      <a:tailEnd type="none" w="med" len="med"/>
                    </a:lnR>
                    <a:solidFill>
                      <a:schemeClr val="accent1"/>
                    </a:solidFill>
                  </a:tcPr>
                </a:tc>
                <a:tc>
                  <a: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lang="ar-SA" sz="1400" b="1" noProof="0" dirty="0">
                          <a:solidFill>
                            <a:schemeClr val="bg1"/>
                          </a:solidFill>
                        </a:rPr>
                        <a:t>الأهمية</a:t>
                      </a:r>
                      <a:endParaRPr lang="ar-SA" sz="1400" b="1" noProof="0" dirty="0">
                        <a:solidFill>
                          <a:schemeClr val="bg1"/>
                        </a:solidFill>
                        <a:latin typeface="+mj-lt"/>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solidFill>
                      <a:schemeClr val="accent1"/>
                    </a:solidFill>
                  </a:tcPr>
                </a:tc>
                <a:tc>
                  <a: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lang="ar-SA" sz="1400" b="1" noProof="0" dirty="0">
                          <a:solidFill>
                            <a:schemeClr val="bg1"/>
                          </a:solidFill>
                        </a:rPr>
                        <a:t>الأولوية</a:t>
                      </a:r>
                      <a:endParaRPr lang="ar-SA" sz="1400" b="1" noProof="0" dirty="0">
                        <a:solidFill>
                          <a:schemeClr val="bg1"/>
                        </a:solidFill>
                        <a:latin typeface="+mj-lt"/>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solidFill>
                      <a:schemeClr val="accent1"/>
                    </a:solidFill>
                  </a:tcPr>
                </a:tc>
                <a:tc gridSpan="2">
                  <a: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lang="ar-SA" sz="1400" b="1" noProof="0" dirty="0">
                          <a:solidFill>
                            <a:schemeClr val="bg1"/>
                          </a:solidFill>
                        </a:rPr>
                        <a:t>التحليل لكل فجوة </a:t>
                      </a:r>
                      <a:endParaRPr lang="ar-SA" sz="1400" b="1" noProof="0" dirty="0">
                        <a:solidFill>
                          <a:schemeClr val="bg1"/>
                        </a:solidFill>
                        <a:latin typeface="+mj-lt"/>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solidFill>
                      <a:schemeClr val="accent1"/>
                    </a:solidFill>
                  </a:tcPr>
                </a:tc>
                <a:tc hMerge="1">
                  <a:txBody>
                    <a:bodyPr/>
                    <a:lstStyle/>
                    <a:p>
                      <a:endParaRPr lang="en-US"/>
                    </a:p>
                  </a:txBody>
                  <a:tcPr/>
                </a:tc>
                <a:tc>
                  <a:txBody>
                    <a:bodyPr/>
                    <a:lstStyle/>
                    <a:p>
                      <a:pPr algn="ctr" rtl="1"/>
                      <a:r>
                        <a:rPr lang="ar-SA" sz="1400" b="1" noProof="0" dirty="0">
                          <a:solidFill>
                            <a:schemeClr val="bg1"/>
                          </a:solidFill>
                        </a:rPr>
                        <a:t>الفجوة</a:t>
                      </a:r>
                      <a:endParaRPr lang="ar-SA" sz="1400" b="1" noProof="0" dirty="0">
                        <a:solidFill>
                          <a:schemeClr val="bg1"/>
                        </a:solidFill>
                        <a:latin typeface="+mj-lt"/>
                      </a:endParaRPr>
                    </a:p>
                  </a:txBody>
                  <a:tcPr anchor="ctr">
                    <a:lnL w="12700" cap="flat" cmpd="sng" algn="ctr">
                      <a:solidFill>
                        <a:schemeClr val="bg1"/>
                      </a:solidFill>
                      <a:prstDash val="solid"/>
                      <a:round/>
                      <a:headEnd type="none" w="med" len="med"/>
                      <a:tailEnd type="none" w="med" len="med"/>
                    </a:lnL>
                    <a:lnR w="12700" cap="flat" cmpd="sng" algn="ctr">
                      <a:noFill/>
                      <a:prstDash val="solid"/>
                      <a:round/>
                      <a:headEnd type="none" w="med" len="med"/>
                      <a:tailEnd type="none" w="med" len="med"/>
                    </a:lnR>
                    <a:solidFill>
                      <a:schemeClr val="accent1"/>
                    </a:solidFill>
                  </a:tcPr>
                </a:tc>
                <a:extLst>
                  <a:ext uri="{0D108BD9-81ED-4DB2-BD59-A6C34878D82A}">
                    <a16:rowId xmlns:a16="http://schemas.microsoft.com/office/drawing/2014/main" val="3304685178"/>
                  </a:ext>
                </a:extLst>
              </a:tr>
              <a:tr h="0">
                <a:tc rowSpan="4">
                  <a:txBody>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lang="ar-SA" sz="1400" noProof="0" dirty="0"/>
                        <a:t>ملف حصر الأعمال ، دراسة وثائق الأعمال للجهة المتوفرة بالوضع الحالي ، ورش العمل لحصر الأعمال مع الوحدات الإدارية المعنية ،تطلعات أصحاب المصلحة</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B w="12700" cap="flat" cmpd="sng" algn="ctr">
                      <a:solidFill>
                        <a:schemeClr val="accent1"/>
                      </a:solidFill>
                      <a:prstDash val="solid"/>
                      <a:round/>
                      <a:headEnd type="none" w="med" len="med"/>
                      <a:tailEnd type="none" w="med" len="med"/>
                    </a:lnB>
                  </a:tcPr>
                </a:tc>
                <a:tc rowSpan="4">
                  <a:txBody>
                    <a:bodyPr/>
                    <a:lstStyle/>
                    <a:p>
                      <a:pPr marL="0" marR="0" lvl="0" indent="0" algn="ctr" defTabSz="914400" rtl="1" eaLnBrk="1" fontAlgn="auto" latinLnBrk="0" hangingPunct="1">
                        <a:lnSpc>
                          <a:spcPct val="100000"/>
                        </a:lnSpc>
                        <a:spcBef>
                          <a:spcPts val="0"/>
                        </a:spcBef>
                        <a:spcAft>
                          <a:spcPts val="0"/>
                        </a:spcAft>
                        <a:buClrTx/>
                        <a:buSzTx/>
                        <a:buFont typeface="Arial" panose="020B0604020202020204" pitchFamily="34" charset="0"/>
                        <a:buNone/>
                        <a:tabLst/>
                        <a:defRPr/>
                      </a:pPr>
                      <a:r>
                        <a:rPr lang="ar-SA" sz="1400" noProof="0" dirty="0"/>
                        <a:t>عالي</a:t>
                      </a:r>
                    </a:p>
                  </a:txBody>
                  <a:tcPr anchor="ctr">
                    <a:lnL w="12700" cap="flat" cmpd="sng" algn="ctr">
                      <a:noFill/>
                      <a:prstDash val="solid"/>
                      <a:round/>
                      <a:headEnd type="none" w="med" len="med"/>
                      <a:tailEnd type="none" w="med" len="med"/>
                    </a:lnL>
                    <a:lnR w="12700" cap="flat" cmpd="sng" algn="ctr">
                      <a:solidFill>
                        <a:schemeClr val="bg1"/>
                      </a:solidFill>
                      <a:prstDash val="solid"/>
                      <a:round/>
                      <a:headEnd type="none" w="med" len="med"/>
                      <a:tailEnd type="none" w="med" len="med"/>
                    </a:lnR>
                    <a:lnB w="12700" cap="flat" cmpd="sng" algn="ctr">
                      <a:solidFill>
                        <a:schemeClr val="accent1"/>
                      </a:solidFill>
                      <a:prstDash val="solid"/>
                      <a:round/>
                      <a:headEnd type="none" w="med" len="med"/>
                      <a:tailEnd type="none" w="med" len="med"/>
                    </a:lnB>
                    <a:solidFill>
                      <a:schemeClr val="bg1">
                        <a:lumMod val="95000"/>
                        <a:alpha val="5000"/>
                      </a:schemeClr>
                    </a:solidFill>
                  </a:tcPr>
                </a:tc>
                <a:tc rowSpan="4">
                  <a:txBody>
                    <a:bodyPr/>
                    <a:lstStyle/>
                    <a:p>
                      <a:pPr marL="0" marR="0" lvl="0" indent="0" algn="ctr" defTabSz="914400" rtl="1" eaLnBrk="1" fontAlgn="auto" latinLnBrk="0" hangingPunct="1">
                        <a:lnSpc>
                          <a:spcPct val="100000"/>
                        </a:lnSpc>
                        <a:spcBef>
                          <a:spcPts val="0"/>
                        </a:spcBef>
                        <a:spcAft>
                          <a:spcPts val="0"/>
                        </a:spcAft>
                        <a:buClrTx/>
                        <a:buSzTx/>
                        <a:buFont typeface="Arial" panose="020B0604020202020204" pitchFamily="34" charset="0"/>
                        <a:buNone/>
                        <a:tabLst/>
                        <a:defRPr/>
                      </a:pPr>
                      <a:r>
                        <a:rPr lang="ar-SA" sz="1400" noProof="0" dirty="0"/>
                        <a:t>عالي</a:t>
                      </a:r>
                    </a:p>
                  </a:txBody>
                  <a:tcPr anchor="ctr">
                    <a:lnL w="12700" cap="flat" cmpd="sng" algn="ctr">
                      <a:solidFill>
                        <a:schemeClr val="bg1"/>
                      </a:solidFill>
                      <a:prstDash val="solid"/>
                      <a:round/>
                      <a:headEnd type="none" w="med" len="med"/>
                      <a:tailEnd type="none" w="med" len="med"/>
                    </a:lnL>
                    <a:lnR w="12700" cap="flat" cmpd="sng" algn="ctr">
                      <a:noFill/>
                      <a:prstDash val="solid"/>
                      <a:round/>
                      <a:headEnd type="none" w="med" len="med"/>
                      <a:tailEnd type="none" w="med" len="med"/>
                    </a:lnR>
                    <a:lnB w="12700" cap="flat" cmpd="sng" algn="ctr">
                      <a:solidFill>
                        <a:schemeClr val="accent1"/>
                      </a:solidFill>
                      <a:prstDash val="solid"/>
                      <a:round/>
                      <a:headEnd type="none" w="med" len="med"/>
                      <a:tailEnd type="none" w="med" len="med"/>
                    </a:lnB>
                    <a:solidFill>
                      <a:schemeClr val="bg1">
                        <a:lumMod val="95000"/>
                        <a:alpha val="5000"/>
                      </a:schemeClr>
                    </a:solidFill>
                  </a:tcPr>
                </a:tc>
                <a:tc>
                  <a:txBody>
                    <a:bodyPr/>
                    <a:lstStyle/>
                    <a:p>
                      <a:pPr marL="0" marR="0" lvl="0" indent="0" algn="just" defTabSz="914400" rtl="1" eaLnBrk="1" fontAlgn="auto" latinLnBrk="0" hangingPunct="1">
                        <a:lnSpc>
                          <a:spcPct val="100000"/>
                        </a:lnSpc>
                        <a:spcBef>
                          <a:spcPts val="0"/>
                        </a:spcBef>
                        <a:spcAft>
                          <a:spcPts val="0"/>
                        </a:spcAft>
                        <a:buClrTx/>
                        <a:buSzTx/>
                        <a:buFont typeface="Arial" panose="020B0604020202020204" pitchFamily="34" charset="0"/>
                        <a:buNone/>
                        <a:tabLst/>
                        <a:defRPr/>
                      </a:pPr>
                      <a:r>
                        <a:rPr lang="ar-SA" sz="1200" baseline="0" noProof="0" dirty="0">
                          <a:solidFill>
                            <a:schemeClr val="tx1"/>
                          </a:solidFill>
                          <a:latin typeface="Sakkal Majalla" panose="02000000000000000000" pitchFamily="2" charset="-78"/>
                          <a:cs typeface="Sakkal Majalla" panose="02000000000000000000" pitchFamily="2" charset="-78"/>
                        </a:rPr>
                        <a:t>تطوير وتحسين الخدمات بشكل مستمر، يجب أن يرتكز على تحسين تجربة المستفيد ورحلاته المختلفة، بالإضافة إلى تعزيز القيمة المضافة في كل مرحلة من رحلة المستفيد لضمان تحقيق الرضا الشامل ، مع </a:t>
                      </a:r>
                      <a:r>
                        <a:rPr lang="ar-SA" sz="1200" noProof="0" dirty="0">
                          <a:latin typeface="Sakkal Majalla" panose="02000000000000000000" pitchFamily="2" charset="-78"/>
                          <a:cs typeface="Sakkal Majalla" panose="02000000000000000000" pitchFamily="2" charset="-78"/>
                        </a:rPr>
                        <a:t>ضرورة زيادة </a:t>
                      </a:r>
                      <a:r>
                        <a:rPr lang="ar-SA" sz="1200" baseline="0" noProof="0" dirty="0">
                          <a:solidFill>
                            <a:schemeClr val="tx1"/>
                          </a:solidFill>
                          <a:latin typeface="Sakkal Majalla" panose="02000000000000000000" pitchFamily="2" charset="-78"/>
                          <a:cs typeface="Sakkal Majalla" panose="02000000000000000000" pitchFamily="2" charset="-78"/>
                        </a:rPr>
                        <a:t>إشراك المستفيدين في كل جوانب الخدمات التي تُقدّم لهم وتؤثر عليهم، بحيث تكون مشاركة نشطة في عمليات صنع القرار ، والحاجة إلى زيادة فهم احتياجات المستفيد وتطلعاته كأساس لعملية التحسين المستمر، وبناء علاقات مستدامة معه ، مع </a:t>
                      </a:r>
                      <a:r>
                        <a:rPr lang="ar-SA" sz="1200" noProof="0" dirty="0">
                          <a:latin typeface="Sakkal Majalla" panose="02000000000000000000" pitchFamily="2" charset="-78"/>
                          <a:cs typeface="Sakkal Majalla" panose="02000000000000000000" pitchFamily="2" charset="-78"/>
                        </a:rPr>
                        <a:t>ضرورة تحسين تجربة المستخدم وسهولة إدارة المشاريع مع تعزيز الشفافية والمتابعة الفعالة</a:t>
                      </a:r>
                      <a:endParaRPr lang="ar-SA" sz="1200" baseline="0" noProof="0" dirty="0">
                        <a:solidFill>
                          <a:schemeClr val="tx1"/>
                        </a:solidFill>
                        <a:latin typeface="Sakkal Majalla" panose="02000000000000000000" pitchFamily="2" charset="-78"/>
                        <a:cs typeface="Sakkal Majalla" panose="02000000000000000000" pitchFamily="2" charset="-78"/>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B w="12700" cap="flat" cmpd="sng" algn="ctr">
                      <a:solidFill>
                        <a:schemeClr val="bg1">
                          <a:lumMod val="85000"/>
                        </a:schemeClr>
                      </a:solidFill>
                      <a:prstDash val="solid"/>
                      <a:round/>
                      <a:headEnd type="none" w="med" len="med"/>
                      <a:tailEnd type="none" w="med" len="med"/>
                    </a:lnB>
                  </a:tcPr>
                </a:tc>
                <a:tc>
                  <a:txBody>
                    <a:bodyPr/>
                    <a:lstStyle/>
                    <a:p>
                      <a:pPr marL="0" marR="0" lvl="0" indent="0" algn="ctr" defTabSz="914400" rtl="1" eaLnBrk="1" fontAlgn="auto" latinLnBrk="0" hangingPunct="1">
                        <a:lnSpc>
                          <a:spcPct val="100000"/>
                        </a:lnSpc>
                        <a:spcBef>
                          <a:spcPts val="0"/>
                        </a:spcBef>
                        <a:spcAft>
                          <a:spcPts val="0"/>
                        </a:spcAft>
                        <a:buClrTx/>
                        <a:buSzTx/>
                        <a:buFont typeface="Arial" panose="020B0604020202020204" pitchFamily="34" charset="0"/>
                        <a:buNone/>
                        <a:tabLst/>
                        <a:defRPr/>
                      </a:pPr>
                      <a:r>
                        <a:rPr lang="ar-SA" sz="1400" b="1" noProof="0" dirty="0">
                          <a:solidFill>
                            <a:schemeClr val="accent1"/>
                          </a:solidFill>
                        </a:rPr>
                        <a:t>الوصف </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B w="12700" cap="flat" cmpd="sng" algn="ctr">
                      <a:solidFill>
                        <a:schemeClr val="bg1">
                          <a:lumMod val="85000"/>
                        </a:schemeClr>
                      </a:solidFill>
                      <a:prstDash val="solid"/>
                      <a:round/>
                      <a:headEnd type="none" w="med" len="med"/>
                      <a:tailEnd type="none" w="med" len="med"/>
                    </a:lnB>
                    <a:solidFill>
                      <a:schemeClr val="bg1">
                        <a:lumMod val="95000"/>
                      </a:schemeClr>
                    </a:solidFill>
                  </a:tcPr>
                </a:tc>
                <a:tc rowSpan="4">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ar-SA" sz="1400" b="1" noProof="0" dirty="0"/>
                        <a:t>GAP-B-17</a:t>
                      </a:r>
                    </a:p>
                    <a:p>
                      <a:pPr marL="0" marR="0" lvl="0" indent="0" algn="r" defTabSz="914400" rtl="1" eaLnBrk="1" fontAlgn="auto" latinLnBrk="0" hangingPunct="1">
                        <a:lnSpc>
                          <a:spcPct val="100000"/>
                        </a:lnSpc>
                        <a:spcBef>
                          <a:spcPts val="0"/>
                        </a:spcBef>
                        <a:spcAft>
                          <a:spcPts val="0"/>
                        </a:spcAft>
                        <a:buClrTx/>
                        <a:buSzTx/>
                        <a:buFontTx/>
                        <a:buNone/>
                        <a:tabLst/>
                        <a:defRPr/>
                      </a:pPr>
                      <a:r>
                        <a:rPr lang="ar-SA" sz="1400" b="1" kern="1200" noProof="0" dirty="0">
                          <a:effectLst/>
                        </a:rPr>
                        <a:t>الحاجة إلى </a:t>
                      </a:r>
                      <a:r>
                        <a:rPr lang="ar-SA" sz="1400" b="1" kern="1200" noProof="0" dirty="0">
                          <a:solidFill>
                            <a:schemeClr val="tx1"/>
                          </a:solidFill>
                          <a:effectLst/>
                          <a:latin typeface="+mn-lt"/>
                          <a:ea typeface="+mn-ea"/>
                          <a:cs typeface="+mn-cs"/>
                        </a:rPr>
                        <a:t>تحسين تجربة المستفيد ورحلاته المختلفة</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B w="12700" cap="flat" cmpd="sng" algn="ctr">
                      <a:solidFill>
                        <a:schemeClr val="accent1"/>
                      </a:solidFill>
                      <a:prstDash val="solid"/>
                      <a:round/>
                      <a:headEnd type="none" w="med" len="med"/>
                      <a:tailEnd type="none" w="med" len="med"/>
                    </a:lnB>
                  </a:tcPr>
                </a:tc>
                <a:extLst>
                  <a:ext uri="{0D108BD9-81ED-4DB2-BD59-A6C34878D82A}">
                    <a16:rowId xmlns:a16="http://schemas.microsoft.com/office/drawing/2014/main" val="1128065702"/>
                  </a:ext>
                </a:extLst>
              </a:tr>
              <a:tr h="0">
                <a:tc vMerge="1">
                  <a:txBody>
                    <a:bodyPr/>
                    <a:lstStyle/>
                    <a:p>
                      <a:endParaRPr lang="en-US"/>
                    </a:p>
                  </a:txBody>
                  <a:tcPr/>
                </a:tc>
                <a:tc vMerge="1">
                  <a:txBody>
                    <a:bodyPr/>
                    <a:lstStyle/>
                    <a:p>
                      <a:endParaRPr lang="en-US"/>
                    </a:p>
                  </a:txBody>
                  <a:tcPr/>
                </a:tc>
                <a:tc vMerge="1">
                  <a:txBody>
                    <a:bodyPr/>
                    <a:lstStyle/>
                    <a:p>
                      <a:endParaRPr lang="en-US"/>
                    </a:p>
                  </a:txBody>
                  <a:tcPr/>
                </a:tc>
                <a:tc>
                  <a:txBody>
                    <a:bodyPr/>
                    <a:lstStyle/>
                    <a:p>
                      <a:pPr marL="0" marR="0" lvl="0" indent="0" algn="just" defTabSz="914400" rtl="1" eaLnBrk="1" fontAlgn="auto" latinLnBrk="0" hangingPunct="1">
                        <a:lnSpc>
                          <a:spcPct val="100000"/>
                        </a:lnSpc>
                        <a:spcBef>
                          <a:spcPts val="0"/>
                        </a:spcBef>
                        <a:spcAft>
                          <a:spcPts val="0"/>
                        </a:spcAft>
                        <a:buClrTx/>
                        <a:buSzTx/>
                        <a:buFont typeface="Arial" panose="020B0604020202020204" pitchFamily="34" charset="0"/>
                        <a:buNone/>
                        <a:tabLst/>
                        <a:defRPr/>
                      </a:pPr>
                      <a:r>
                        <a:rPr lang="ar-SA" sz="1200" kern="1200" baseline="0" noProof="0" dirty="0">
                          <a:solidFill>
                            <a:schemeClr val="tx1"/>
                          </a:solidFill>
                          <a:latin typeface="Sakkal Majalla" panose="02000000000000000000" pitchFamily="2" charset="-78"/>
                          <a:ea typeface="+mn-ea"/>
                          <a:cs typeface="Sakkal Majalla" panose="02000000000000000000" pitchFamily="2" charset="-78"/>
                        </a:rPr>
                        <a:t>عدم تطوير وتحسين الخدمات بشكل مستمر ، قلة </a:t>
                      </a:r>
                      <a:r>
                        <a:rPr lang="ar-SA" sz="1200" baseline="0" noProof="0" dirty="0">
                          <a:solidFill>
                            <a:schemeClr val="tx1"/>
                          </a:solidFill>
                          <a:latin typeface="Sakkal Majalla" panose="02000000000000000000" pitchFamily="2" charset="-78"/>
                          <a:cs typeface="Sakkal Majalla" panose="02000000000000000000" pitchFamily="2" charset="-78"/>
                        </a:rPr>
                        <a:t>تعزيز القيمة المضافة في كل مرحلة من رحلة المستفيد ، عدم ضمان تحقيق الرضا الشامل ، مشاركة المستفيدين تكون غير نشطة في عمليات صنع القرار ، قلة فهم احتياجات المستفيد وتطلعاته </a:t>
                      </a:r>
                      <a:endParaRPr lang="ar-SA" sz="1200" kern="1200" baseline="0" noProof="0" dirty="0">
                        <a:solidFill>
                          <a:schemeClr val="tx1"/>
                        </a:solidFill>
                        <a:latin typeface="Sakkal Majalla" panose="02000000000000000000" pitchFamily="2" charset="-78"/>
                        <a:ea typeface="+mn-ea"/>
                        <a:cs typeface="Sakkal Majalla" panose="02000000000000000000" pitchFamily="2" charset="-78"/>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marL="0" marR="0" lvl="0" indent="0" algn="ctr" defTabSz="914400" rtl="1" eaLnBrk="1" fontAlgn="auto" latinLnBrk="0" hangingPunct="1">
                        <a:lnSpc>
                          <a:spcPct val="100000"/>
                        </a:lnSpc>
                        <a:spcBef>
                          <a:spcPts val="0"/>
                        </a:spcBef>
                        <a:spcAft>
                          <a:spcPts val="0"/>
                        </a:spcAft>
                        <a:buClrTx/>
                        <a:buSzTx/>
                        <a:buFont typeface="Arial" panose="020B0604020202020204" pitchFamily="34" charset="0"/>
                        <a:buNone/>
                        <a:tabLst/>
                        <a:defRPr/>
                      </a:pPr>
                      <a:r>
                        <a:rPr lang="ar-SA" sz="1300" b="1" kern="1200" noProof="0" dirty="0">
                          <a:solidFill>
                            <a:schemeClr val="accent1"/>
                          </a:solidFill>
                        </a:rPr>
                        <a:t>الأثر الحالي</a:t>
                      </a:r>
                      <a:endParaRPr lang="ar-SA" sz="1300" b="1" noProof="0" dirty="0">
                        <a:solidFill>
                          <a:schemeClr val="accent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lumMod val="95000"/>
                      </a:schemeClr>
                    </a:solidFill>
                  </a:tcPr>
                </a:tc>
                <a:tc vMerge="1">
                  <a:txBody>
                    <a:bodyPr/>
                    <a:lstStyle/>
                    <a:p>
                      <a:endParaRPr lang="en-US"/>
                    </a:p>
                  </a:txBody>
                  <a:tcPr/>
                </a:tc>
                <a:extLst>
                  <a:ext uri="{0D108BD9-81ED-4DB2-BD59-A6C34878D82A}">
                    <a16:rowId xmlns:a16="http://schemas.microsoft.com/office/drawing/2014/main" val="1163892829"/>
                  </a:ext>
                </a:extLst>
              </a:tr>
              <a:tr h="0">
                <a:tc vMerge="1">
                  <a:txBody>
                    <a:bodyPr/>
                    <a:lstStyle/>
                    <a:p>
                      <a:endParaRPr lang="en-US"/>
                    </a:p>
                  </a:txBody>
                  <a:tcPr/>
                </a:tc>
                <a:tc vMerge="1">
                  <a:txBody>
                    <a:bodyPr/>
                    <a:lstStyle/>
                    <a:p>
                      <a:endParaRPr lang="en-US"/>
                    </a:p>
                  </a:txBody>
                  <a:tcPr/>
                </a:tc>
                <a:tc vMerge="1">
                  <a:txBody>
                    <a:bodyPr/>
                    <a:lstStyle/>
                    <a:p>
                      <a:endParaRPr lang="en-US"/>
                    </a:p>
                  </a:txBody>
                  <a:tcPr/>
                </a:tc>
                <a:tc>
                  <a:txBody>
                    <a:bodyPr/>
                    <a:lstStyle/>
                    <a:p>
                      <a:pPr marL="0" marR="0" lvl="0" indent="0" algn="just" defTabSz="914400" rtl="1" eaLnBrk="1" fontAlgn="auto" latinLnBrk="0" hangingPunct="1">
                        <a:lnSpc>
                          <a:spcPct val="100000"/>
                        </a:lnSpc>
                        <a:spcBef>
                          <a:spcPts val="0"/>
                        </a:spcBef>
                        <a:spcAft>
                          <a:spcPts val="0"/>
                        </a:spcAft>
                        <a:buClrTx/>
                        <a:buSzTx/>
                        <a:buFont typeface="Arial" panose="020B0604020202020204" pitchFamily="34" charset="0"/>
                        <a:buNone/>
                        <a:tabLst/>
                        <a:defRPr/>
                      </a:pPr>
                      <a:r>
                        <a:rPr lang="ar-SA" sz="1200" kern="1200" baseline="0" noProof="0" dirty="0">
                          <a:solidFill>
                            <a:schemeClr val="tx1"/>
                          </a:solidFill>
                          <a:latin typeface="Sakkal Majalla" panose="02000000000000000000" pitchFamily="2" charset="-78"/>
                          <a:ea typeface="+mn-ea"/>
                          <a:cs typeface="Sakkal Majalla" panose="02000000000000000000" pitchFamily="2" charset="-78"/>
                        </a:rPr>
                        <a:t>تطوير وتحسين الخدمات بشكل مستمر ، تعزيز القيمة المضافة في كل مرحلة من رحلة المستفيد ، ضمان تحقيق الرضا الشامل ، </a:t>
                      </a:r>
                      <a:r>
                        <a:rPr lang="ar-SA" sz="1200" baseline="0" noProof="0" dirty="0">
                          <a:solidFill>
                            <a:schemeClr val="tx1"/>
                          </a:solidFill>
                          <a:latin typeface="Sakkal Majalla" panose="02000000000000000000" pitchFamily="2" charset="-78"/>
                          <a:cs typeface="Sakkal Majalla" panose="02000000000000000000" pitchFamily="2" charset="-78"/>
                        </a:rPr>
                        <a:t>مشاركة المستفيدين تكون نشطة في عمليات صنع القرار ، زيادة فهم احتياجات المستفيد وتطلعاته ، </a:t>
                      </a:r>
                      <a:r>
                        <a:rPr lang="ar-SA" sz="1200" noProof="0" dirty="0">
                          <a:latin typeface="Sakkal Majalla" panose="02000000000000000000" pitchFamily="2" charset="-78"/>
                          <a:cs typeface="Sakkal Majalla" panose="02000000000000000000" pitchFamily="2" charset="-78"/>
                        </a:rPr>
                        <a:t>تحسين تجربة المستخدم وسهولة إدارة المشاريع مع تعزيز الشفافية والمتابعة الفعالة</a:t>
                      </a:r>
                      <a:endParaRPr lang="ar-SA" sz="1200" kern="1200" baseline="0" noProof="0" dirty="0">
                        <a:solidFill>
                          <a:schemeClr val="tx1"/>
                        </a:solidFill>
                        <a:latin typeface="Sakkal Majalla" panose="02000000000000000000" pitchFamily="2" charset="-78"/>
                        <a:ea typeface="+mn-ea"/>
                        <a:cs typeface="Sakkal Majalla" panose="02000000000000000000" pitchFamily="2" charset="-78"/>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marL="0" marR="0" lvl="0" indent="0" algn="ctr" defTabSz="914400" rtl="1" eaLnBrk="1" fontAlgn="auto" latinLnBrk="0" hangingPunct="1">
                        <a:lnSpc>
                          <a:spcPct val="100000"/>
                        </a:lnSpc>
                        <a:spcBef>
                          <a:spcPts val="0"/>
                        </a:spcBef>
                        <a:spcAft>
                          <a:spcPts val="0"/>
                        </a:spcAft>
                        <a:buClrTx/>
                        <a:buSzTx/>
                        <a:buFont typeface="Arial" panose="020B0604020202020204" pitchFamily="34" charset="0"/>
                        <a:buNone/>
                        <a:tabLst/>
                        <a:defRPr/>
                      </a:pPr>
                      <a:r>
                        <a:rPr lang="ar-SA" sz="1300" b="1" noProof="0" dirty="0">
                          <a:solidFill>
                            <a:schemeClr val="accent1"/>
                          </a:solidFill>
                        </a:rPr>
                        <a:t>الأثر بعد الردم (المعالجة)</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lumMod val="95000"/>
                      </a:schemeClr>
                    </a:solidFill>
                  </a:tcPr>
                </a:tc>
                <a:tc vMerge="1">
                  <a:txBody>
                    <a:bodyPr/>
                    <a:lstStyle/>
                    <a:p>
                      <a:endParaRPr lang="en-US"/>
                    </a:p>
                  </a:txBody>
                  <a:tcPr/>
                </a:tc>
                <a:extLst>
                  <a:ext uri="{0D108BD9-81ED-4DB2-BD59-A6C34878D82A}">
                    <a16:rowId xmlns:a16="http://schemas.microsoft.com/office/drawing/2014/main" val="1973569126"/>
                  </a:ext>
                </a:extLst>
              </a:tr>
              <a:tr h="0">
                <a:tc vMerge="1">
                  <a:txBody>
                    <a:bodyPr/>
                    <a:lstStyle/>
                    <a:p>
                      <a:endParaRPr lang="en-US"/>
                    </a:p>
                  </a:txBody>
                  <a:tcPr/>
                </a:tc>
                <a:tc vMerge="1">
                  <a:txBody>
                    <a:bodyPr/>
                    <a:lstStyle/>
                    <a:p>
                      <a:endParaRPr lang="en-US"/>
                    </a:p>
                  </a:txBody>
                  <a:tcPr/>
                </a:tc>
                <a:tc vMerge="1">
                  <a:txBody>
                    <a:bodyPr/>
                    <a:lstStyle/>
                    <a:p>
                      <a:endParaRPr lang="en-US"/>
                    </a:p>
                  </a:txBody>
                  <a:tcPr/>
                </a:tc>
                <a:tc>
                  <a:txBody>
                    <a:bodyPr/>
                    <a:lstStyle/>
                    <a:p>
                      <a:pPr marL="0" marR="0" lvl="0" indent="0" algn="just" defTabSz="914400" rtl="1" eaLnBrk="1" fontAlgn="auto" latinLnBrk="0" hangingPunct="1">
                        <a:lnSpc>
                          <a:spcPct val="100000"/>
                        </a:lnSpc>
                        <a:spcBef>
                          <a:spcPts val="0"/>
                        </a:spcBef>
                        <a:spcAft>
                          <a:spcPts val="0"/>
                        </a:spcAft>
                        <a:buClrTx/>
                        <a:buSzTx/>
                        <a:buFont typeface="Arial" panose="020B0604020202020204" pitchFamily="34" charset="0"/>
                        <a:buNone/>
                        <a:tabLst/>
                        <a:defRPr/>
                      </a:pPr>
                      <a:r>
                        <a:rPr lang="ar-SA" sz="1200" kern="1200" noProof="0" dirty="0">
                          <a:solidFill>
                            <a:schemeClr val="tx1"/>
                          </a:solidFill>
                          <a:latin typeface="Sakkal Majalla" panose="02000000000000000000" pitchFamily="2" charset="-78"/>
                          <a:ea typeface="+mn-ea"/>
                          <a:cs typeface="Sakkal Majalla" panose="02000000000000000000" pitchFamily="2" charset="-78"/>
                        </a:rPr>
                        <a:t>تحسين تجربة المستفيد ورحلاته المختلفة</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marL="0" marR="0" lvl="0" indent="0" algn="ctr" defTabSz="914400" rtl="1" eaLnBrk="1" fontAlgn="auto" latinLnBrk="0" hangingPunct="1">
                        <a:lnSpc>
                          <a:spcPct val="100000"/>
                        </a:lnSpc>
                        <a:spcBef>
                          <a:spcPts val="0"/>
                        </a:spcBef>
                        <a:spcAft>
                          <a:spcPts val="0"/>
                        </a:spcAft>
                        <a:buClrTx/>
                        <a:buSzTx/>
                        <a:buFont typeface="Arial" panose="020B0604020202020204" pitchFamily="34" charset="0"/>
                        <a:buNone/>
                        <a:tabLst/>
                        <a:defRPr/>
                      </a:pPr>
                      <a:r>
                        <a:rPr lang="ar-SA" sz="1300" b="1" noProof="0" dirty="0">
                          <a:solidFill>
                            <a:schemeClr val="accent1"/>
                          </a:solidFill>
                        </a:rPr>
                        <a:t>تغطية الفجوة </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accent1"/>
                      </a:solidFill>
                      <a:prstDash val="solid"/>
                      <a:round/>
                      <a:headEnd type="none" w="med" len="med"/>
                      <a:tailEnd type="none" w="med" len="med"/>
                    </a:lnB>
                    <a:solidFill>
                      <a:schemeClr val="bg1">
                        <a:lumMod val="95000"/>
                      </a:schemeClr>
                    </a:solidFill>
                  </a:tcPr>
                </a:tc>
                <a:tc vMerge="1">
                  <a:txBody>
                    <a:bodyPr/>
                    <a:lstStyle/>
                    <a:p>
                      <a:endParaRPr lang="en-US"/>
                    </a:p>
                  </a:txBody>
                  <a:tcPr/>
                </a:tc>
                <a:extLst>
                  <a:ext uri="{0D108BD9-81ED-4DB2-BD59-A6C34878D82A}">
                    <a16:rowId xmlns:a16="http://schemas.microsoft.com/office/drawing/2014/main" val="4011636746"/>
                  </a:ext>
                </a:extLst>
              </a:tr>
            </a:tbl>
          </a:graphicData>
        </a:graphic>
      </p:graphicFrame>
      <p:sp>
        <p:nvSpPr>
          <p:cNvPr id="7" name="TextBox 6">
            <a:extLst>
              <a:ext uri="{FF2B5EF4-FFF2-40B4-BE49-F238E27FC236}">
                <a16:creationId xmlns:a16="http://schemas.microsoft.com/office/drawing/2014/main" id="{78FFBCC9-9528-43EE-3448-66EDC46CF782}"/>
              </a:ext>
            </a:extLst>
          </p:cNvPr>
          <p:cNvSpPr txBox="1"/>
          <p:nvPr/>
        </p:nvSpPr>
        <p:spPr>
          <a:xfrm>
            <a:off x="663391" y="732250"/>
            <a:ext cx="10972800" cy="375487"/>
          </a:xfrm>
          <a:prstGeom prst="rect">
            <a:avLst/>
          </a:prstGeom>
          <a:noFill/>
        </p:spPr>
        <p:txBody>
          <a:bodyPr wrap="square">
            <a:spAutoFit/>
          </a:bodyPr>
          <a:lstStyle/>
          <a:p>
            <a:pPr algn="r" rtl="1">
              <a:lnSpc>
                <a:spcPct val="115000"/>
              </a:lnSpc>
              <a:spcAft>
                <a:spcPts val="1000"/>
              </a:spcAft>
            </a:pPr>
            <a:r>
              <a:rPr lang="ar-SA" sz="1600" noProof="0" dirty="0">
                <a:solidFill>
                  <a:srgbClr val="000000"/>
                </a:solidFill>
                <a:latin typeface="Sakkal Majalla" panose="02000000000000000000" pitchFamily="2" charset="-78"/>
                <a:ea typeface="Sakkal Majalla" panose="02000000000000000000" pitchFamily="2" charset="-78"/>
                <a:cs typeface="Sakkal Majalla" panose="02000000000000000000" pitchFamily="2" charset="-78"/>
              </a:rPr>
              <a:t>يهدف هذا القسم من الوثيقة إلى تقديم الملاحظات الخاصة بالوضع الحالي لبنية الأعمال مع ذكر التوصيات  والتحسينات المفترض تطبيقها في الوضع المستقبلي</a:t>
            </a:r>
          </a:p>
        </p:txBody>
      </p:sp>
    </p:spTree>
    <p:extLst>
      <p:ext uri="{BB962C8B-B14F-4D97-AF65-F5344CB8AC3E}">
        <p14:creationId xmlns:p14="http://schemas.microsoft.com/office/powerpoint/2010/main" val="341388499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a:xfrm>
            <a:off x="609601" y="283171"/>
            <a:ext cx="10972800" cy="666261"/>
          </a:xfrm>
        </p:spPr>
        <p:txBody>
          <a:bodyPr/>
          <a:lstStyle/>
          <a:p>
            <a:r>
              <a:rPr lang="ar-SA" noProof="0" dirty="0"/>
              <a:t>ملخص تحليل الفجوات لبنية الأعمال </a:t>
            </a:r>
          </a:p>
        </p:txBody>
      </p:sp>
      <p:sp>
        <p:nvSpPr>
          <p:cNvPr id="3" name="Slide Number Placeholder 2">
            <a:extLst>
              <a:ext uri="{FF2B5EF4-FFF2-40B4-BE49-F238E27FC236}">
                <a16:creationId xmlns:a16="http://schemas.microsoft.com/office/drawing/2014/main" id="{A63A027D-6EA1-E9F6-6212-7D45811B8DC3}"/>
              </a:ext>
            </a:extLst>
          </p:cNvPr>
          <p:cNvSpPr>
            <a:spLocks noGrp="1"/>
          </p:cNvSpPr>
          <p:nvPr>
            <p:ph type="sldNum" sz="quarter" idx="12"/>
          </p:nvPr>
        </p:nvSpPr>
        <p:spPr>
          <a:xfrm>
            <a:off x="655319" y="6567058"/>
            <a:ext cx="466471" cy="290942"/>
          </a:xfrm>
        </p:spPr>
        <p:txBody>
          <a:bodyPr/>
          <a:lstStyle/>
          <a:p>
            <a:fld id="{0BE4EC83-A869-464E-AE9F-881796FB085E}" type="slidenum">
              <a:rPr lang="ar-SA" noProof="0" smtClean="0"/>
              <a:pPr/>
              <a:t>18</a:t>
            </a:fld>
            <a:endParaRPr lang="ar-SA" noProof="0" dirty="0"/>
          </a:p>
        </p:txBody>
      </p:sp>
      <p:graphicFrame>
        <p:nvGraphicFramePr>
          <p:cNvPr id="2" name="Table 1">
            <a:extLst>
              <a:ext uri="{FF2B5EF4-FFF2-40B4-BE49-F238E27FC236}">
                <a16:creationId xmlns:a16="http://schemas.microsoft.com/office/drawing/2014/main" id="{C47CAF5B-4215-4DCE-B225-BC1E66631900}"/>
              </a:ext>
            </a:extLst>
          </p:cNvPr>
          <p:cNvGraphicFramePr>
            <a:graphicFrameLocks noGrp="1"/>
          </p:cNvGraphicFramePr>
          <p:nvPr>
            <p:extLst>
              <p:ext uri="{D42A27DB-BD31-4B8C-83A1-F6EECF244321}">
                <p14:modId xmlns:p14="http://schemas.microsoft.com/office/powerpoint/2010/main" val="2405143401"/>
              </p:ext>
            </p:extLst>
          </p:nvPr>
        </p:nvGraphicFramePr>
        <p:xfrm>
          <a:off x="609600" y="1089432"/>
          <a:ext cx="10972802" cy="4998720"/>
        </p:xfrm>
        <a:graphic>
          <a:graphicData uri="http://schemas.openxmlformats.org/drawingml/2006/table">
            <a:tbl>
              <a:tblPr firstRow="1" bandRow="1">
                <a:tableStyleId>{2D5ABB26-0587-4C30-8999-92F81FD0307C}</a:tableStyleId>
              </a:tblPr>
              <a:tblGrid>
                <a:gridCol w="1828800">
                  <a:extLst>
                    <a:ext uri="{9D8B030D-6E8A-4147-A177-3AD203B41FA5}">
                      <a16:colId xmlns:a16="http://schemas.microsoft.com/office/drawing/2014/main" val="2801895674"/>
                    </a:ext>
                  </a:extLst>
                </a:gridCol>
                <a:gridCol w="738953">
                  <a:extLst>
                    <a:ext uri="{9D8B030D-6E8A-4147-A177-3AD203B41FA5}">
                      <a16:colId xmlns:a16="http://schemas.microsoft.com/office/drawing/2014/main" val="2976102064"/>
                    </a:ext>
                  </a:extLst>
                </a:gridCol>
                <a:gridCol w="838625">
                  <a:extLst>
                    <a:ext uri="{9D8B030D-6E8A-4147-A177-3AD203B41FA5}">
                      <a16:colId xmlns:a16="http://schemas.microsoft.com/office/drawing/2014/main" val="526736865"/>
                    </a:ext>
                  </a:extLst>
                </a:gridCol>
                <a:gridCol w="3862640">
                  <a:extLst>
                    <a:ext uri="{9D8B030D-6E8A-4147-A177-3AD203B41FA5}">
                      <a16:colId xmlns:a16="http://schemas.microsoft.com/office/drawing/2014/main" val="4106469564"/>
                    </a:ext>
                  </a:extLst>
                </a:gridCol>
                <a:gridCol w="923637">
                  <a:extLst>
                    <a:ext uri="{9D8B030D-6E8A-4147-A177-3AD203B41FA5}">
                      <a16:colId xmlns:a16="http://schemas.microsoft.com/office/drawing/2014/main" val="1154529574"/>
                    </a:ext>
                  </a:extLst>
                </a:gridCol>
                <a:gridCol w="2780147">
                  <a:extLst>
                    <a:ext uri="{9D8B030D-6E8A-4147-A177-3AD203B41FA5}">
                      <a16:colId xmlns:a16="http://schemas.microsoft.com/office/drawing/2014/main" val="1503598667"/>
                    </a:ext>
                  </a:extLst>
                </a:gridCol>
              </a:tblGrid>
              <a:tr h="0">
                <a:tc>
                  <a:txBody>
                    <a:bodyPr/>
                    <a:lstStyle/>
                    <a:p>
                      <a:pPr algn="ctr" rtl="1"/>
                      <a:r>
                        <a:rPr lang="ar-SA" sz="1400" b="1" noProof="0" dirty="0">
                          <a:solidFill>
                            <a:schemeClr val="bg1"/>
                          </a:solidFill>
                        </a:rPr>
                        <a:t>المصدر</a:t>
                      </a:r>
                      <a:endParaRPr lang="ar-SA" sz="1400" b="1" noProof="0" dirty="0">
                        <a:solidFill>
                          <a:schemeClr val="bg1"/>
                        </a:solidFill>
                        <a:latin typeface="+mj-lt"/>
                      </a:endParaRPr>
                    </a:p>
                  </a:txBody>
                  <a:tcPr anchor="ctr">
                    <a:lnL w="12700" cap="flat" cmpd="sng" algn="ctr">
                      <a:noFill/>
                      <a:prstDash val="solid"/>
                      <a:round/>
                      <a:headEnd type="none" w="med" len="med"/>
                      <a:tailEnd type="none" w="med" len="med"/>
                    </a:lnL>
                    <a:lnR w="12700" cap="flat" cmpd="sng" algn="ctr">
                      <a:solidFill>
                        <a:schemeClr val="bg1"/>
                      </a:solidFill>
                      <a:prstDash val="solid"/>
                      <a:round/>
                      <a:headEnd type="none" w="med" len="med"/>
                      <a:tailEnd type="none" w="med" len="med"/>
                    </a:lnR>
                    <a:solidFill>
                      <a:schemeClr val="accent1"/>
                    </a:solidFill>
                  </a:tcPr>
                </a:tc>
                <a:tc>
                  <a: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lang="ar-SA" sz="1400" b="1" noProof="0" dirty="0">
                          <a:solidFill>
                            <a:schemeClr val="bg1"/>
                          </a:solidFill>
                        </a:rPr>
                        <a:t>الأهمية</a:t>
                      </a:r>
                      <a:endParaRPr lang="ar-SA" sz="1400" b="1" noProof="0" dirty="0">
                        <a:solidFill>
                          <a:schemeClr val="bg1"/>
                        </a:solidFill>
                        <a:latin typeface="+mj-lt"/>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solidFill>
                      <a:schemeClr val="accent1"/>
                    </a:solidFill>
                  </a:tcPr>
                </a:tc>
                <a:tc>
                  <a: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lang="ar-SA" sz="1400" b="1" noProof="0" dirty="0">
                          <a:solidFill>
                            <a:schemeClr val="bg1"/>
                          </a:solidFill>
                        </a:rPr>
                        <a:t>الأولوية</a:t>
                      </a:r>
                      <a:endParaRPr lang="ar-SA" sz="1400" b="1" noProof="0" dirty="0">
                        <a:solidFill>
                          <a:schemeClr val="bg1"/>
                        </a:solidFill>
                        <a:latin typeface="+mj-lt"/>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solidFill>
                      <a:schemeClr val="accent1"/>
                    </a:solidFill>
                  </a:tcPr>
                </a:tc>
                <a:tc gridSpan="2">
                  <a: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lang="ar-SA" sz="1400" b="1" noProof="0" dirty="0">
                          <a:solidFill>
                            <a:schemeClr val="bg1"/>
                          </a:solidFill>
                        </a:rPr>
                        <a:t>التحليل لكل فجوة </a:t>
                      </a:r>
                      <a:endParaRPr lang="ar-SA" sz="1400" b="1" noProof="0" dirty="0">
                        <a:solidFill>
                          <a:schemeClr val="bg1"/>
                        </a:solidFill>
                        <a:latin typeface="+mj-lt"/>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solidFill>
                      <a:schemeClr val="accent1"/>
                    </a:solidFill>
                  </a:tcPr>
                </a:tc>
                <a:tc hMerge="1">
                  <a:txBody>
                    <a:bodyPr/>
                    <a:lstStyle/>
                    <a:p>
                      <a:endParaRPr lang="en-US"/>
                    </a:p>
                  </a:txBody>
                  <a:tcPr/>
                </a:tc>
                <a:tc>
                  <a:txBody>
                    <a:bodyPr/>
                    <a:lstStyle/>
                    <a:p>
                      <a:pPr algn="ctr" rtl="1"/>
                      <a:r>
                        <a:rPr lang="ar-SA" sz="1400" b="1" noProof="0" dirty="0">
                          <a:solidFill>
                            <a:schemeClr val="bg1"/>
                          </a:solidFill>
                        </a:rPr>
                        <a:t>الفجوة</a:t>
                      </a:r>
                      <a:endParaRPr lang="ar-SA" sz="1400" b="1" noProof="0" dirty="0">
                        <a:solidFill>
                          <a:schemeClr val="bg1"/>
                        </a:solidFill>
                        <a:latin typeface="+mj-lt"/>
                      </a:endParaRPr>
                    </a:p>
                  </a:txBody>
                  <a:tcPr anchor="ctr">
                    <a:lnL w="12700" cap="flat" cmpd="sng" algn="ctr">
                      <a:solidFill>
                        <a:schemeClr val="bg1"/>
                      </a:solidFill>
                      <a:prstDash val="solid"/>
                      <a:round/>
                      <a:headEnd type="none" w="med" len="med"/>
                      <a:tailEnd type="none" w="med" len="med"/>
                    </a:lnL>
                    <a:lnR w="12700" cap="flat" cmpd="sng" algn="ctr">
                      <a:noFill/>
                      <a:prstDash val="solid"/>
                      <a:round/>
                      <a:headEnd type="none" w="med" len="med"/>
                      <a:tailEnd type="none" w="med" len="med"/>
                    </a:lnR>
                    <a:solidFill>
                      <a:schemeClr val="accent1"/>
                    </a:solidFill>
                  </a:tcPr>
                </a:tc>
                <a:extLst>
                  <a:ext uri="{0D108BD9-81ED-4DB2-BD59-A6C34878D82A}">
                    <a16:rowId xmlns:a16="http://schemas.microsoft.com/office/drawing/2014/main" val="3304685178"/>
                  </a:ext>
                </a:extLst>
              </a:tr>
              <a:tr h="0">
                <a:tc rowSpan="4">
                  <a:txBody>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lang="ar-SA" sz="1200" noProof="0" dirty="0"/>
                        <a:t>ملف حصر الأعمال ، دراسة وثائق الأعمال للجهة المتوفرة بالوضع الحالي ، ورش العمل لحصر الأعمال مع الوحدات الإدارية المعنية ،تطلعات أصحاب المصلحة</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B w="12700" cap="flat" cmpd="sng" algn="ctr">
                      <a:solidFill>
                        <a:schemeClr val="accent1"/>
                      </a:solidFill>
                      <a:prstDash val="solid"/>
                      <a:round/>
                      <a:headEnd type="none" w="med" len="med"/>
                      <a:tailEnd type="none" w="med" len="med"/>
                    </a:lnB>
                  </a:tcPr>
                </a:tc>
                <a:tc rowSpan="4">
                  <a:txBody>
                    <a:bodyPr/>
                    <a:lstStyle/>
                    <a:p>
                      <a:pPr marL="0" marR="0" lvl="0" indent="0" algn="ctr" defTabSz="914400" rtl="1" eaLnBrk="1" fontAlgn="auto" latinLnBrk="0" hangingPunct="1">
                        <a:lnSpc>
                          <a:spcPct val="100000"/>
                        </a:lnSpc>
                        <a:spcBef>
                          <a:spcPts val="0"/>
                        </a:spcBef>
                        <a:spcAft>
                          <a:spcPts val="0"/>
                        </a:spcAft>
                        <a:buClrTx/>
                        <a:buSzTx/>
                        <a:buFont typeface="Arial" panose="020B0604020202020204" pitchFamily="34" charset="0"/>
                        <a:buNone/>
                        <a:tabLst/>
                        <a:defRPr/>
                      </a:pPr>
                      <a:r>
                        <a:rPr kumimoji="0" lang="ar-SA" sz="1200" b="0" i="0" u="none" strike="noStrike" kern="1200" cap="none" spc="0" normalizeH="0" baseline="0" noProof="0" dirty="0">
                          <a:ln>
                            <a:noFill/>
                          </a:ln>
                          <a:solidFill>
                            <a:prstClr val="black"/>
                          </a:solidFill>
                          <a:effectLst/>
                          <a:uLnTx/>
                          <a:uFillTx/>
                          <a:latin typeface="Sakkal Majalla"/>
                          <a:ea typeface="+mn-ea"/>
                          <a:cs typeface="Sakkal Majalla"/>
                        </a:rPr>
                        <a:t>متوسط</a:t>
                      </a:r>
                    </a:p>
                  </a:txBody>
                  <a:tcPr anchor="ctr">
                    <a:lnL w="12700" cap="flat" cmpd="sng" algn="ctr">
                      <a:noFill/>
                      <a:prstDash val="solid"/>
                      <a:round/>
                      <a:headEnd type="none" w="med" len="med"/>
                      <a:tailEnd type="none" w="med" len="med"/>
                    </a:lnL>
                    <a:lnR w="12700" cap="flat" cmpd="sng" algn="ctr">
                      <a:solidFill>
                        <a:schemeClr val="bg1"/>
                      </a:solidFill>
                      <a:prstDash val="solid"/>
                      <a:round/>
                      <a:headEnd type="none" w="med" len="med"/>
                      <a:tailEnd type="none" w="med" len="med"/>
                    </a:lnR>
                    <a:lnB w="12700" cap="flat" cmpd="sng" algn="ctr">
                      <a:solidFill>
                        <a:schemeClr val="accent1"/>
                      </a:solidFill>
                      <a:prstDash val="solid"/>
                      <a:round/>
                      <a:headEnd type="none" w="med" len="med"/>
                      <a:tailEnd type="none" w="med" len="med"/>
                    </a:lnB>
                    <a:solidFill>
                      <a:schemeClr val="bg1">
                        <a:lumMod val="95000"/>
                        <a:alpha val="5000"/>
                      </a:schemeClr>
                    </a:solidFill>
                  </a:tcPr>
                </a:tc>
                <a:tc rowSpan="4">
                  <a:txBody>
                    <a:bodyPr/>
                    <a:lstStyle/>
                    <a:p>
                      <a:pPr marL="0" marR="0" lvl="0" indent="0" algn="ctr" defTabSz="914400" rtl="1" eaLnBrk="1" fontAlgn="auto" latinLnBrk="0" hangingPunct="1">
                        <a:lnSpc>
                          <a:spcPct val="100000"/>
                        </a:lnSpc>
                        <a:spcBef>
                          <a:spcPts val="0"/>
                        </a:spcBef>
                        <a:spcAft>
                          <a:spcPts val="0"/>
                        </a:spcAft>
                        <a:buClrTx/>
                        <a:buSzTx/>
                        <a:buFont typeface="Arial" panose="020B0604020202020204" pitchFamily="34" charset="0"/>
                        <a:buNone/>
                        <a:tabLst/>
                        <a:defRPr/>
                      </a:pPr>
                      <a:r>
                        <a:rPr kumimoji="0" lang="ar-SA" sz="1200" b="0" i="0" u="none" strike="noStrike" kern="1200" cap="none" spc="0" normalizeH="0" baseline="0" noProof="0" dirty="0">
                          <a:ln>
                            <a:noFill/>
                          </a:ln>
                          <a:solidFill>
                            <a:prstClr val="black"/>
                          </a:solidFill>
                          <a:effectLst/>
                          <a:uLnTx/>
                          <a:uFillTx/>
                          <a:latin typeface="Sakkal Majalla"/>
                          <a:ea typeface="+mn-ea"/>
                          <a:cs typeface="Sakkal Majalla"/>
                        </a:rPr>
                        <a:t>متوسط</a:t>
                      </a:r>
                    </a:p>
                  </a:txBody>
                  <a:tcPr anchor="ctr">
                    <a:lnL w="12700" cap="flat" cmpd="sng" algn="ctr">
                      <a:solidFill>
                        <a:schemeClr val="bg1"/>
                      </a:solidFill>
                      <a:prstDash val="solid"/>
                      <a:round/>
                      <a:headEnd type="none" w="med" len="med"/>
                      <a:tailEnd type="none" w="med" len="med"/>
                    </a:lnL>
                    <a:lnR w="12700" cap="flat" cmpd="sng" algn="ctr">
                      <a:noFill/>
                      <a:prstDash val="solid"/>
                      <a:round/>
                      <a:headEnd type="none" w="med" len="med"/>
                      <a:tailEnd type="none" w="med" len="med"/>
                    </a:lnR>
                    <a:lnB w="12700" cap="flat" cmpd="sng" algn="ctr">
                      <a:solidFill>
                        <a:schemeClr val="accent1"/>
                      </a:solidFill>
                      <a:prstDash val="solid"/>
                      <a:round/>
                      <a:headEnd type="none" w="med" len="med"/>
                      <a:tailEnd type="none" w="med" len="med"/>
                    </a:lnB>
                    <a:solidFill>
                      <a:schemeClr val="bg1">
                        <a:lumMod val="95000"/>
                        <a:alpha val="5000"/>
                      </a:schemeClr>
                    </a:solidFill>
                  </a:tcPr>
                </a:tc>
                <a:tc>
                  <a:txBody>
                    <a:bodyPr/>
                    <a:lstStyle/>
                    <a:p>
                      <a:pPr marL="0" marR="0" lvl="0" indent="0" algn="just" defTabSz="914400" rtl="1" eaLnBrk="1" fontAlgn="auto" latinLnBrk="0" hangingPunct="1">
                        <a:lnSpc>
                          <a:spcPct val="100000"/>
                        </a:lnSpc>
                        <a:spcBef>
                          <a:spcPts val="0"/>
                        </a:spcBef>
                        <a:spcAft>
                          <a:spcPts val="0"/>
                        </a:spcAft>
                        <a:buClrTx/>
                        <a:buSzTx/>
                        <a:buFont typeface="Arial" panose="020B0604020202020204" pitchFamily="34" charset="0"/>
                        <a:buNone/>
                        <a:tabLst/>
                        <a:defRPr/>
                      </a:pPr>
                      <a:r>
                        <a:rPr lang="ar-SA" sz="1100" noProof="0" dirty="0">
                          <a:latin typeface="Sakkal Majalla" panose="02000000000000000000" pitchFamily="2" charset="-78"/>
                          <a:ea typeface="Times New Roman" panose="02020603050405020304" pitchFamily="18" charset="0"/>
                          <a:cs typeface="Sakkal Majalla" panose="02000000000000000000" pitchFamily="2" charset="-78"/>
                        </a:rPr>
                        <a:t>ضرورة </a:t>
                      </a:r>
                      <a:r>
                        <a:rPr lang="ar-SA" sz="1100" kern="1200" noProof="0" dirty="0">
                          <a:solidFill>
                            <a:schemeClr val="tx1"/>
                          </a:solidFill>
                          <a:latin typeface="Sakkal Majalla" panose="02000000000000000000" pitchFamily="2" charset="-78"/>
                          <a:cs typeface="Sakkal Majalla" panose="02000000000000000000" pitchFamily="2" charset="-78"/>
                        </a:rPr>
                        <a:t>توفير وتنفيذ بعض الأنظمة والأدوات المتكاملة والشاملة والموحدة التي تدعم </a:t>
                      </a:r>
                      <a:r>
                        <a:rPr lang="ar-SA" sz="1100" kern="1200" noProof="0" dirty="0">
                          <a:solidFill>
                            <a:schemeClr val="tx1"/>
                          </a:solidFill>
                          <a:latin typeface="Sakkal Majalla" panose="02000000000000000000" pitchFamily="2" charset="-78"/>
                          <a:ea typeface="+mn-ea"/>
                          <a:cs typeface="Sakkal Majalla" panose="02000000000000000000" pitchFamily="2" charset="-78"/>
                        </a:rPr>
                        <a:t>وظائف وعمليات وحدات  </a:t>
                      </a:r>
                      <a:r>
                        <a:rPr lang="ar-SA" sz="1100" baseline="0" noProof="0" dirty="0">
                          <a:effectLst/>
                          <a:latin typeface="Sakkal Majalla" panose="02000000000000000000" pitchFamily="2" charset="-78"/>
                          <a:ea typeface="Sakkal Majalla" panose="02000000000000000000" pitchFamily="2" charset="-78"/>
                          <a:cs typeface="Sakkal Majalla" panose="02000000000000000000" pitchFamily="2" charset="-78"/>
                        </a:rPr>
                        <a:t>الأعمال</a:t>
                      </a:r>
                      <a:r>
                        <a:rPr lang="ar-SA" sz="1100" kern="1200" noProof="0" dirty="0">
                          <a:solidFill>
                            <a:schemeClr val="tx1"/>
                          </a:solidFill>
                          <a:latin typeface="Sakkal Majalla" panose="02000000000000000000" pitchFamily="2" charset="-78"/>
                          <a:cs typeface="Sakkal Majalla" panose="02000000000000000000" pitchFamily="2" charset="-78"/>
                        </a:rPr>
                        <a:t>  مثل (</a:t>
                      </a:r>
                      <a:r>
                        <a:rPr lang="ar-SA" sz="1100" kern="1200" noProof="0" dirty="0">
                          <a:solidFill>
                            <a:srgbClr val="0070C0"/>
                          </a:solidFill>
                          <a:latin typeface="Sakkal Majalla" panose="02000000000000000000" pitchFamily="2" charset="-78"/>
                          <a:ea typeface="+mn-ea"/>
                          <a:cs typeface="Sakkal Majalla" panose="02000000000000000000" pitchFamily="2" charset="-78"/>
                        </a:rPr>
                        <a:t>متابعة الأداء وتحليل البيانات ، تحليل بيانات بشكل متكامل لرصد احتياجات المستفيدين وتوفير الحلول بشكل استباقي ، قياس وتحليل رضا المستفيدين وثقتهم بشكل دوري وتحسين الأداء بناء على النتائج (داخلي وخارجي + استطلاعات رأي دورية) ، إدارة الإنابة لضمان استمرارية الأعمال عند غياب الموظفين ، إدارة مهام يتضمن آلية لتحديد وترتيب الأولويات بشكل واضح ، ربط إدارة المهام مع إدارة الأداء لتمكين قياس أداء الموظف بشكل دقيق ، </a:t>
                      </a:r>
                      <a:r>
                        <a:rPr lang="ar-SA" sz="1100" noProof="0" dirty="0">
                          <a:solidFill>
                            <a:srgbClr val="0070C0"/>
                          </a:solidFill>
                          <a:latin typeface="Sakkal Majalla" panose="02000000000000000000" pitchFamily="2" charset="-78"/>
                          <a:cs typeface="Sakkal Majalla" panose="02000000000000000000" pitchFamily="2" charset="-78"/>
                        </a:rPr>
                        <a:t>أعمال الشؤون القانونية ، </a:t>
                      </a:r>
                      <a:r>
                        <a:rPr lang="ar-SA" sz="1100" kern="1200" noProof="0" dirty="0">
                          <a:solidFill>
                            <a:srgbClr val="0070C0"/>
                          </a:solidFill>
                          <a:latin typeface="Sakkal Majalla" panose="02000000000000000000" pitchFamily="2" charset="-78"/>
                          <a:ea typeface="+mn-ea"/>
                          <a:cs typeface="Sakkal Majalla" panose="02000000000000000000" pitchFamily="2" charset="-78"/>
                        </a:rPr>
                        <a:t>أعمال مركز الوثائق والمحفوظات ، إدارة صلاحيات الوصول لتأمين الوصول للخدمات الخاصة بالهيئة ، أعمال المراجعة الداخلية  ، حوكمة وإدارة البيانات ، عمليات الترجمة خاصة بمركز البحوث للتقويم والقياس والاعتماد ، عمليات البحوث (منصة أفق) ، إدارة المعرفة والنشر العلمي  ، تغيير النظام الحالي للاتصالات الإدارية  الى النظام الجديد ، عمليات توفير أثاث جديد مربوط مع الموارد البشرية ، تحسين نظام وتطبيق خدمات المستفيدين "الدعم الموحد" من خلال توفير شات بوت AI ، عمليات إدارة المرافق والصيانة</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B w="12700" cap="flat" cmpd="sng" algn="ctr">
                      <a:solidFill>
                        <a:schemeClr val="bg1">
                          <a:lumMod val="85000"/>
                        </a:schemeClr>
                      </a:solidFill>
                      <a:prstDash val="solid"/>
                      <a:round/>
                      <a:headEnd type="none" w="med" len="med"/>
                      <a:tailEnd type="none" w="med" len="med"/>
                    </a:lnB>
                  </a:tcPr>
                </a:tc>
                <a:tc>
                  <a:txBody>
                    <a:bodyPr/>
                    <a:lstStyle/>
                    <a:p>
                      <a:pPr marL="0" marR="0" lvl="0" indent="0" algn="ctr" defTabSz="914400" rtl="1" eaLnBrk="1" fontAlgn="auto" latinLnBrk="0" hangingPunct="1">
                        <a:lnSpc>
                          <a:spcPct val="100000"/>
                        </a:lnSpc>
                        <a:spcBef>
                          <a:spcPts val="0"/>
                        </a:spcBef>
                        <a:spcAft>
                          <a:spcPts val="0"/>
                        </a:spcAft>
                        <a:buClrTx/>
                        <a:buSzTx/>
                        <a:buFont typeface="Arial" panose="020B0604020202020204" pitchFamily="34" charset="0"/>
                        <a:buNone/>
                        <a:tabLst/>
                        <a:defRPr/>
                      </a:pPr>
                      <a:r>
                        <a:rPr lang="ar-SA" sz="1400" b="1" noProof="0" dirty="0">
                          <a:solidFill>
                            <a:schemeClr val="accent1"/>
                          </a:solidFill>
                        </a:rPr>
                        <a:t>الوصف</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B w="12700" cap="flat" cmpd="sng" algn="ctr">
                      <a:solidFill>
                        <a:schemeClr val="bg1">
                          <a:lumMod val="85000"/>
                        </a:schemeClr>
                      </a:solidFill>
                      <a:prstDash val="solid"/>
                      <a:round/>
                      <a:headEnd type="none" w="med" len="med"/>
                      <a:tailEnd type="none" w="med" len="med"/>
                    </a:lnB>
                    <a:solidFill>
                      <a:schemeClr val="bg1">
                        <a:lumMod val="95000"/>
                      </a:schemeClr>
                    </a:solidFill>
                  </a:tcPr>
                </a:tc>
                <a:tc rowSpan="4">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ar-SA" sz="1400" b="1" u="none" strike="noStrike" kern="1200" cap="none" spc="0" normalizeH="0" baseline="0" noProof="0" dirty="0">
                          <a:ln>
                            <a:noFill/>
                          </a:ln>
                          <a:effectLst/>
                          <a:uLnTx/>
                          <a:uFillTx/>
                        </a:rPr>
                        <a:t>GAP-B-18</a:t>
                      </a:r>
                    </a:p>
                    <a:p>
                      <a:pPr marL="0" marR="0" lvl="0" indent="0" algn="r" defTabSz="914400" rtl="1" eaLnBrk="1" fontAlgn="auto" latinLnBrk="0" hangingPunct="1">
                        <a:lnSpc>
                          <a:spcPct val="100000"/>
                        </a:lnSpc>
                        <a:spcBef>
                          <a:spcPts val="0"/>
                        </a:spcBef>
                        <a:spcAft>
                          <a:spcPts val="0"/>
                        </a:spcAft>
                        <a:buClrTx/>
                        <a:buSzTx/>
                        <a:buFontTx/>
                        <a:buNone/>
                        <a:tabLst/>
                        <a:defRPr/>
                      </a:pPr>
                      <a:r>
                        <a:rPr lang="ar-SA" sz="1400" b="1" kern="1200" noProof="0" dirty="0">
                          <a:effectLst/>
                        </a:rPr>
                        <a:t>الحاجة إلى توفير وتنفيذ بعض الأنظمة والأدوات التي تدعم وظائف وعمليات وحدات الأعمال</a:t>
                      </a:r>
                    </a:p>
                    <a:p>
                      <a:pPr marL="0" marR="0" lvl="0" indent="0" algn="r" defTabSz="914400" rtl="1" eaLnBrk="1" fontAlgn="auto" latinLnBrk="0" hangingPunct="1">
                        <a:lnSpc>
                          <a:spcPct val="100000"/>
                        </a:lnSpc>
                        <a:spcBef>
                          <a:spcPts val="0"/>
                        </a:spcBef>
                        <a:spcAft>
                          <a:spcPts val="0"/>
                        </a:spcAft>
                        <a:buClrTx/>
                        <a:buSzTx/>
                        <a:buFontTx/>
                        <a:buNone/>
                        <a:tabLst/>
                        <a:defRPr/>
                      </a:pPr>
                      <a:endParaRPr lang="ar-SA" sz="1400" b="1" kern="1200" noProof="0" dirty="0">
                        <a:effectLst/>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B w="12700" cap="flat" cmpd="sng" algn="ctr">
                      <a:solidFill>
                        <a:schemeClr val="accent1"/>
                      </a:solidFill>
                      <a:prstDash val="solid"/>
                      <a:round/>
                      <a:headEnd type="none" w="med" len="med"/>
                      <a:tailEnd type="none" w="med" len="med"/>
                    </a:lnB>
                  </a:tcPr>
                </a:tc>
                <a:extLst>
                  <a:ext uri="{0D108BD9-81ED-4DB2-BD59-A6C34878D82A}">
                    <a16:rowId xmlns:a16="http://schemas.microsoft.com/office/drawing/2014/main" val="1128065702"/>
                  </a:ext>
                </a:extLst>
              </a:tr>
              <a:tr h="0">
                <a:tc vMerge="1">
                  <a:txBody>
                    <a:bodyPr/>
                    <a:lstStyle/>
                    <a:p>
                      <a:endParaRPr lang="en-US"/>
                    </a:p>
                  </a:txBody>
                  <a:tcPr/>
                </a:tc>
                <a:tc vMerge="1">
                  <a:txBody>
                    <a:bodyPr/>
                    <a:lstStyle/>
                    <a:p>
                      <a:endParaRPr lang="en-US"/>
                    </a:p>
                  </a:txBody>
                  <a:tcPr/>
                </a:tc>
                <a:tc vMerge="1">
                  <a:txBody>
                    <a:bodyPr/>
                    <a:lstStyle/>
                    <a:p>
                      <a:endParaRPr lang="en-US"/>
                    </a:p>
                  </a:txBody>
                  <a:tcPr/>
                </a:tc>
                <a:tc>
                  <a:txBody>
                    <a:bodyPr/>
                    <a:lstStyle/>
                    <a:p>
                      <a:pPr marL="0" marR="0" lvl="0" indent="0" algn="just" defTabSz="914400" rtl="1" eaLnBrk="1" fontAlgn="auto" latinLnBrk="0" hangingPunct="1">
                        <a:lnSpc>
                          <a:spcPct val="100000"/>
                        </a:lnSpc>
                        <a:spcBef>
                          <a:spcPts val="0"/>
                        </a:spcBef>
                        <a:spcAft>
                          <a:spcPts val="0"/>
                        </a:spcAft>
                        <a:buClrTx/>
                        <a:buSzTx/>
                        <a:buFont typeface="Arial" panose="020B0604020202020204" pitchFamily="34" charset="0"/>
                        <a:buNone/>
                        <a:tabLst/>
                        <a:defRPr/>
                      </a:pPr>
                      <a:r>
                        <a:rPr lang="ar-SA" sz="1100" noProof="0" dirty="0"/>
                        <a:t>ضعف في كفاءة العمل  حيث الاعتماد على أنظمة قديمة أو عدم وجود أنظمة مخصصة يعرقل سير العمل ويزيد من الزمن المستغرق لإتمام العمليات.، عدم وجود نظام لإدارة الإنابة يؤدي إلى تعطل الأعمال أثناء غياب الموظفين الرئيسيين ، عدم تكامل الأنظمة يؤثر على دقة متابعة الأداء وتوزيع المهام، ضعف الأمان وحوكمة البيانات ، غياب أدوات تحليل بيانات المستفيدين يجعل الجهة أقل قدرة على تقديم حلول استباقية ، ضعف جودة البحث والنشر العلمي</a:t>
                      </a:r>
                      <a:endParaRPr lang="ar-SA" sz="1100" kern="1200" noProof="0" dirty="0">
                        <a:effectLst/>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marL="0" marR="0" lvl="0" indent="0" algn="ctr" defTabSz="914400" rtl="1" eaLnBrk="1" fontAlgn="auto" latinLnBrk="0" hangingPunct="1">
                        <a:lnSpc>
                          <a:spcPct val="100000"/>
                        </a:lnSpc>
                        <a:spcBef>
                          <a:spcPts val="0"/>
                        </a:spcBef>
                        <a:spcAft>
                          <a:spcPts val="0"/>
                        </a:spcAft>
                        <a:buClrTx/>
                        <a:buSzTx/>
                        <a:buFont typeface="Arial" panose="020B0604020202020204" pitchFamily="34" charset="0"/>
                        <a:buNone/>
                        <a:tabLst/>
                        <a:defRPr/>
                      </a:pPr>
                      <a:r>
                        <a:rPr lang="ar-SA" sz="1400" b="1" kern="1200" noProof="0" dirty="0">
                          <a:solidFill>
                            <a:schemeClr val="accent1"/>
                          </a:solidFill>
                        </a:rPr>
                        <a:t>الأثر الحالي</a:t>
                      </a:r>
                      <a:endParaRPr lang="ar-SA" sz="1400" b="1" noProof="0" dirty="0">
                        <a:solidFill>
                          <a:schemeClr val="accent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lumMod val="95000"/>
                      </a:schemeClr>
                    </a:solidFill>
                  </a:tcPr>
                </a:tc>
                <a:tc vMerge="1">
                  <a:txBody>
                    <a:bodyPr/>
                    <a:lstStyle/>
                    <a:p>
                      <a:endParaRPr lang="en-US"/>
                    </a:p>
                  </a:txBody>
                  <a:tcPr/>
                </a:tc>
                <a:extLst>
                  <a:ext uri="{0D108BD9-81ED-4DB2-BD59-A6C34878D82A}">
                    <a16:rowId xmlns:a16="http://schemas.microsoft.com/office/drawing/2014/main" val="1163892829"/>
                  </a:ext>
                </a:extLst>
              </a:tr>
              <a:tr h="0">
                <a:tc vMerge="1">
                  <a:txBody>
                    <a:bodyPr/>
                    <a:lstStyle/>
                    <a:p>
                      <a:endParaRPr lang="en-US"/>
                    </a:p>
                  </a:txBody>
                  <a:tcPr/>
                </a:tc>
                <a:tc vMerge="1">
                  <a:txBody>
                    <a:bodyPr/>
                    <a:lstStyle/>
                    <a:p>
                      <a:endParaRPr lang="en-US"/>
                    </a:p>
                  </a:txBody>
                  <a:tcPr/>
                </a:tc>
                <a:tc vMerge="1">
                  <a:txBody>
                    <a:bodyPr/>
                    <a:lstStyle/>
                    <a:p>
                      <a:endParaRPr lang="en-US"/>
                    </a:p>
                  </a:txBody>
                  <a:tcPr/>
                </a:tc>
                <a:tc>
                  <a:txBody>
                    <a:bodyPr/>
                    <a:lstStyle/>
                    <a:p>
                      <a:pPr marL="0" marR="0" lvl="0" indent="0" algn="just" defTabSz="914400" rtl="1" eaLnBrk="1" fontAlgn="auto" latinLnBrk="0" hangingPunct="1">
                        <a:lnSpc>
                          <a:spcPct val="100000"/>
                        </a:lnSpc>
                        <a:spcBef>
                          <a:spcPts val="0"/>
                        </a:spcBef>
                        <a:spcAft>
                          <a:spcPts val="0"/>
                        </a:spcAft>
                        <a:buClrTx/>
                        <a:buSzTx/>
                        <a:buFont typeface="Arial" panose="020B0604020202020204" pitchFamily="34" charset="0"/>
                        <a:buNone/>
                        <a:tabLst/>
                        <a:defRPr/>
                      </a:pPr>
                      <a:r>
                        <a:rPr lang="ar-SA" sz="1100" noProof="0" dirty="0"/>
                        <a:t>تحسين كفاءة العمليات ، تعزيز استمرارية الأعمال ، رفع مستوى الأمان والحوكمة ، تحسين تجربة المستفيدين ، تعزيز جودة البحث والنشر العلمي</a:t>
                      </a:r>
                      <a:endParaRPr lang="ar-SA" sz="1100" kern="1200" noProof="0" dirty="0">
                        <a:effectLst/>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marL="0" marR="0" lvl="0" indent="0" algn="ctr" defTabSz="914400" rtl="1" eaLnBrk="1" fontAlgn="auto" latinLnBrk="0" hangingPunct="1">
                        <a:lnSpc>
                          <a:spcPct val="100000"/>
                        </a:lnSpc>
                        <a:spcBef>
                          <a:spcPts val="0"/>
                        </a:spcBef>
                        <a:spcAft>
                          <a:spcPts val="0"/>
                        </a:spcAft>
                        <a:buClrTx/>
                        <a:buSzTx/>
                        <a:buFont typeface="Arial" panose="020B0604020202020204" pitchFamily="34" charset="0"/>
                        <a:buNone/>
                        <a:tabLst/>
                        <a:defRPr/>
                      </a:pPr>
                      <a:r>
                        <a:rPr lang="ar-SA" sz="1400" b="1" noProof="0" dirty="0">
                          <a:solidFill>
                            <a:schemeClr val="accent1"/>
                          </a:solidFill>
                        </a:rPr>
                        <a:t>الأثر بعد الردم (المعالجة)</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lumMod val="95000"/>
                      </a:schemeClr>
                    </a:solidFill>
                  </a:tcPr>
                </a:tc>
                <a:tc vMerge="1">
                  <a:txBody>
                    <a:bodyPr/>
                    <a:lstStyle/>
                    <a:p>
                      <a:endParaRPr lang="en-US"/>
                    </a:p>
                  </a:txBody>
                  <a:tcPr/>
                </a:tc>
                <a:extLst>
                  <a:ext uri="{0D108BD9-81ED-4DB2-BD59-A6C34878D82A}">
                    <a16:rowId xmlns:a16="http://schemas.microsoft.com/office/drawing/2014/main" val="1973569126"/>
                  </a:ext>
                </a:extLst>
              </a:tr>
              <a:tr h="0">
                <a:tc vMerge="1">
                  <a:txBody>
                    <a:bodyPr/>
                    <a:lstStyle/>
                    <a:p>
                      <a:endParaRPr lang="en-US"/>
                    </a:p>
                  </a:txBody>
                  <a:tcPr/>
                </a:tc>
                <a:tc vMerge="1">
                  <a:txBody>
                    <a:bodyPr/>
                    <a:lstStyle/>
                    <a:p>
                      <a:endParaRPr lang="en-US"/>
                    </a:p>
                  </a:txBody>
                  <a:tcPr/>
                </a:tc>
                <a:tc vMerge="1">
                  <a:txBody>
                    <a:bodyPr/>
                    <a:lstStyle/>
                    <a:p>
                      <a:endParaRPr lang="en-US"/>
                    </a:p>
                  </a:txBody>
                  <a:tcPr/>
                </a:tc>
                <a:tc>
                  <a:txBody>
                    <a:bodyPr/>
                    <a:lstStyle/>
                    <a:p>
                      <a:pPr marL="0" marR="0" lvl="0" indent="0" algn="just" defTabSz="914400" rtl="1" eaLnBrk="1" fontAlgn="auto" latinLnBrk="0" hangingPunct="1">
                        <a:lnSpc>
                          <a:spcPct val="100000"/>
                        </a:lnSpc>
                        <a:spcBef>
                          <a:spcPts val="0"/>
                        </a:spcBef>
                        <a:spcAft>
                          <a:spcPts val="0"/>
                        </a:spcAft>
                        <a:buClrTx/>
                        <a:buSzTx/>
                        <a:buFont typeface="Arial" panose="020B0604020202020204" pitchFamily="34" charset="0"/>
                        <a:buNone/>
                        <a:tabLst/>
                        <a:defRPr/>
                      </a:pPr>
                      <a:r>
                        <a:rPr lang="ar-SA" sz="1100" noProof="0" dirty="0"/>
                        <a:t>تحديد الأولويات و وضع خارطة طريق تحدد الأنظمة والأدوات الأكثر أهمية بناءً على احتياجات الجهة وتأثيرها ، التكامل بين الأنظمة ، الشراكة مع مزودي حلول تقنية ، تطوير الأنظمة التقنية ، اختبار الأنظمة ، إطلاق حملات داخلية لتعريف الموظفين بأهمية الأنظمة وكيفية الاستفادة منها ، نشر دليل استخدام لكل نظام لتسهيل العملية ، رصد الأداء وتقييم الأنظمة بشكل دوري لضمان تحقيق الأهداف</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marL="0" marR="0" lvl="0" indent="0" algn="ctr" defTabSz="914400" rtl="1" eaLnBrk="1" fontAlgn="auto" latinLnBrk="0" hangingPunct="1">
                        <a:lnSpc>
                          <a:spcPct val="100000"/>
                        </a:lnSpc>
                        <a:spcBef>
                          <a:spcPts val="0"/>
                        </a:spcBef>
                        <a:spcAft>
                          <a:spcPts val="0"/>
                        </a:spcAft>
                        <a:buClrTx/>
                        <a:buSzTx/>
                        <a:buFont typeface="Arial" panose="020B0604020202020204" pitchFamily="34" charset="0"/>
                        <a:buNone/>
                        <a:tabLst/>
                        <a:defRPr/>
                      </a:pPr>
                      <a:r>
                        <a:rPr lang="ar-SA" sz="1400" b="1" noProof="0" dirty="0">
                          <a:solidFill>
                            <a:schemeClr val="accent1"/>
                          </a:solidFill>
                        </a:rPr>
                        <a:t>تغطية الفجوة </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accent1"/>
                      </a:solidFill>
                      <a:prstDash val="solid"/>
                      <a:round/>
                      <a:headEnd type="none" w="med" len="med"/>
                      <a:tailEnd type="none" w="med" len="med"/>
                    </a:lnB>
                    <a:solidFill>
                      <a:schemeClr val="bg1">
                        <a:lumMod val="95000"/>
                      </a:schemeClr>
                    </a:solidFill>
                  </a:tcPr>
                </a:tc>
                <a:tc vMerge="1">
                  <a:txBody>
                    <a:bodyPr/>
                    <a:lstStyle/>
                    <a:p>
                      <a:endParaRPr lang="en-US"/>
                    </a:p>
                  </a:txBody>
                  <a:tcPr/>
                </a:tc>
                <a:extLst>
                  <a:ext uri="{0D108BD9-81ED-4DB2-BD59-A6C34878D82A}">
                    <a16:rowId xmlns:a16="http://schemas.microsoft.com/office/drawing/2014/main" val="4011636746"/>
                  </a:ext>
                </a:extLst>
              </a:tr>
            </a:tbl>
          </a:graphicData>
        </a:graphic>
      </p:graphicFrame>
      <p:sp>
        <p:nvSpPr>
          <p:cNvPr id="7" name="TextBox 6">
            <a:extLst>
              <a:ext uri="{FF2B5EF4-FFF2-40B4-BE49-F238E27FC236}">
                <a16:creationId xmlns:a16="http://schemas.microsoft.com/office/drawing/2014/main" id="{78FFBCC9-9528-43EE-3448-66EDC46CF782}"/>
              </a:ext>
            </a:extLst>
          </p:cNvPr>
          <p:cNvSpPr txBox="1"/>
          <p:nvPr/>
        </p:nvSpPr>
        <p:spPr>
          <a:xfrm>
            <a:off x="609601" y="732255"/>
            <a:ext cx="10972800" cy="375487"/>
          </a:xfrm>
          <a:prstGeom prst="rect">
            <a:avLst/>
          </a:prstGeom>
          <a:noFill/>
        </p:spPr>
        <p:txBody>
          <a:bodyPr wrap="square">
            <a:spAutoFit/>
          </a:bodyPr>
          <a:lstStyle/>
          <a:p>
            <a:pPr algn="r" rtl="1">
              <a:lnSpc>
                <a:spcPct val="115000"/>
              </a:lnSpc>
              <a:spcAft>
                <a:spcPts val="1000"/>
              </a:spcAft>
            </a:pPr>
            <a:r>
              <a:rPr lang="ar-SA" sz="1600" noProof="0" dirty="0">
                <a:solidFill>
                  <a:srgbClr val="000000"/>
                </a:solidFill>
                <a:latin typeface="Sakkal Majalla" panose="02000000000000000000" pitchFamily="2" charset="-78"/>
                <a:ea typeface="Sakkal Majalla" panose="02000000000000000000" pitchFamily="2" charset="-78"/>
                <a:cs typeface="Sakkal Majalla" panose="02000000000000000000" pitchFamily="2" charset="-78"/>
              </a:rPr>
              <a:t>يهدف هذا القسم من الوثيقة إلى تقديم الملاحظات الخاصة بالوضع الحالي لبنية الأعمال مع ذكر التوصيات  والتحسينات المفترض تطبيقها في الوضع المستقبلي</a:t>
            </a:r>
          </a:p>
        </p:txBody>
      </p:sp>
    </p:spTree>
    <p:extLst>
      <p:ext uri="{BB962C8B-B14F-4D97-AF65-F5344CB8AC3E}">
        <p14:creationId xmlns:p14="http://schemas.microsoft.com/office/powerpoint/2010/main" val="337601303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a:xfrm>
            <a:off x="609601" y="274206"/>
            <a:ext cx="10972800" cy="666261"/>
          </a:xfrm>
        </p:spPr>
        <p:txBody>
          <a:bodyPr/>
          <a:lstStyle/>
          <a:p>
            <a:r>
              <a:rPr lang="ar-SA" noProof="0" dirty="0"/>
              <a:t>ملخص تحليل الفجوات لبنية الأعمال </a:t>
            </a:r>
          </a:p>
        </p:txBody>
      </p:sp>
      <p:sp>
        <p:nvSpPr>
          <p:cNvPr id="3" name="Slide Number Placeholder 2">
            <a:extLst>
              <a:ext uri="{FF2B5EF4-FFF2-40B4-BE49-F238E27FC236}">
                <a16:creationId xmlns:a16="http://schemas.microsoft.com/office/drawing/2014/main" id="{A63A027D-6EA1-E9F6-6212-7D45811B8DC3}"/>
              </a:ext>
            </a:extLst>
          </p:cNvPr>
          <p:cNvSpPr>
            <a:spLocks noGrp="1"/>
          </p:cNvSpPr>
          <p:nvPr>
            <p:ph type="sldNum" sz="quarter" idx="12"/>
          </p:nvPr>
        </p:nvSpPr>
        <p:spPr>
          <a:xfrm>
            <a:off x="655319" y="6567058"/>
            <a:ext cx="466471" cy="290942"/>
          </a:xfrm>
        </p:spPr>
        <p:txBody>
          <a:bodyPr/>
          <a:lstStyle/>
          <a:p>
            <a:fld id="{0BE4EC83-A869-464E-AE9F-881796FB085E}" type="slidenum">
              <a:rPr lang="ar-SA" noProof="0" smtClean="0"/>
              <a:pPr/>
              <a:t>19</a:t>
            </a:fld>
            <a:endParaRPr lang="ar-SA" noProof="0" dirty="0"/>
          </a:p>
        </p:txBody>
      </p:sp>
      <p:graphicFrame>
        <p:nvGraphicFramePr>
          <p:cNvPr id="2" name="Table 1">
            <a:extLst>
              <a:ext uri="{FF2B5EF4-FFF2-40B4-BE49-F238E27FC236}">
                <a16:creationId xmlns:a16="http://schemas.microsoft.com/office/drawing/2014/main" id="{C47CAF5B-4215-4DCE-B225-BC1E66631900}"/>
              </a:ext>
            </a:extLst>
          </p:cNvPr>
          <p:cNvGraphicFramePr>
            <a:graphicFrameLocks noGrp="1"/>
          </p:cNvGraphicFramePr>
          <p:nvPr>
            <p:extLst>
              <p:ext uri="{D42A27DB-BD31-4B8C-83A1-F6EECF244321}">
                <p14:modId xmlns:p14="http://schemas.microsoft.com/office/powerpoint/2010/main" val="3817660488"/>
              </p:ext>
            </p:extLst>
          </p:nvPr>
        </p:nvGraphicFramePr>
        <p:xfrm>
          <a:off x="609600" y="990806"/>
          <a:ext cx="10972802" cy="5276218"/>
        </p:xfrm>
        <a:graphic>
          <a:graphicData uri="http://schemas.openxmlformats.org/drawingml/2006/table">
            <a:tbl>
              <a:tblPr firstRow="1" bandRow="1">
                <a:tableStyleId>{2D5ABB26-0587-4C30-8999-92F81FD0307C}</a:tableStyleId>
              </a:tblPr>
              <a:tblGrid>
                <a:gridCol w="1828800">
                  <a:extLst>
                    <a:ext uri="{9D8B030D-6E8A-4147-A177-3AD203B41FA5}">
                      <a16:colId xmlns:a16="http://schemas.microsoft.com/office/drawing/2014/main" val="2801895674"/>
                    </a:ext>
                  </a:extLst>
                </a:gridCol>
                <a:gridCol w="582706">
                  <a:extLst>
                    <a:ext uri="{9D8B030D-6E8A-4147-A177-3AD203B41FA5}">
                      <a16:colId xmlns:a16="http://schemas.microsoft.com/office/drawing/2014/main" val="2976102064"/>
                    </a:ext>
                  </a:extLst>
                </a:gridCol>
                <a:gridCol w="788894">
                  <a:extLst>
                    <a:ext uri="{9D8B030D-6E8A-4147-A177-3AD203B41FA5}">
                      <a16:colId xmlns:a16="http://schemas.microsoft.com/office/drawing/2014/main" val="526736865"/>
                    </a:ext>
                  </a:extLst>
                </a:gridCol>
                <a:gridCol w="4068618">
                  <a:extLst>
                    <a:ext uri="{9D8B030D-6E8A-4147-A177-3AD203B41FA5}">
                      <a16:colId xmlns:a16="http://schemas.microsoft.com/office/drawing/2014/main" val="4106469564"/>
                    </a:ext>
                  </a:extLst>
                </a:gridCol>
                <a:gridCol w="1112982">
                  <a:extLst>
                    <a:ext uri="{9D8B030D-6E8A-4147-A177-3AD203B41FA5}">
                      <a16:colId xmlns:a16="http://schemas.microsoft.com/office/drawing/2014/main" val="1154529574"/>
                    </a:ext>
                  </a:extLst>
                </a:gridCol>
                <a:gridCol w="2590802">
                  <a:extLst>
                    <a:ext uri="{9D8B030D-6E8A-4147-A177-3AD203B41FA5}">
                      <a16:colId xmlns:a16="http://schemas.microsoft.com/office/drawing/2014/main" val="1503598667"/>
                    </a:ext>
                  </a:extLst>
                </a:gridCol>
              </a:tblGrid>
              <a:tr h="276833">
                <a:tc>
                  <a:txBody>
                    <a:bodyPr/>
                    <a:lstStyle/>
                    <a:p>
                      <a:pPr algn="ctr" rtl="1"/>
                      <a:r>
                        <a:rPr lang="ar-SA" sz="1400" b="1" noProof="0" dirty="0">
                          <a:solidFill>
                            <a:schemeClr val="bg1"/>
                          </a:solidFill>
                        </a:rPr>
                        <a:t>المصدر</a:t>
                      </a:r>
                      <a:endParaRPr lang="ar-SA" sz="1400" b="1" noProof="0" dirty="0">
                        <a:solidFill>
                          <a:schemeClr val="bg1"/>
                        </a:solidFill>
                        <a:latin typeface="+mj-lt"/>
                      </a:endParaRPr>
                    </a:p>
                  </a:txBody>
                  <a:tcPr anchor="ctr">
                    <a:lnL w="12700" cap="flat" cmpd="sng" algn="ctr">
                      <a:noFill/>
                      <a:prstDash val="solid"/>
                      <a:round/>
                      <a:headEnd type="none" w="med" len="med"/>
                      <a:tailEnd type="none" w="med" len="med"/>
                    </a:lnL>
                    <a:lnR w="12700" cap="flat" cmpd="sng" algn="ctr">
                      <a:solidFill>
                        <a:schemeClr val="bg1"/>
                      </a:solidFill>
                      <a:prstDash val="solid"/>
                      <a:round/>
                      <a:headEnd type="none" w="med" len="med"/>
                      <a:tailEnd type="none" w="med" len="med"/>
                    </a:lnR>
                    <a:solidFill>
                      <a:schemeClr val="accent1"/>
                    </a:solidFill>
                  </a:tcPr>
                </a:tc>
                <a:tc>
                  <a: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lang="ar-SA" sz="1400" b="1" noProof="0" dirty="0">
                          <a:solidFill>
                            <a:schemeClr val="bg1"/>
                          </a:solidFill>
                        </a:rPr>
                        <a:t>الأهمية</a:t>
                      </a:r>
                      <a:endParaRPr lang="ar-SA" sz="1400" b="1" noProof="0" dirty="0">
                        <a:solidFill>
                          <a:schemeClr val="bg1"/>
                        </a:solidFill>
                        <a:latin typeface="+mj-lt"/>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solidFill>
                      <a:schemeClr val="accent1"/>
                    </a:solidFill>
                  </a:tcPr>
                </a:tc>
                <a:tc>
                  <a: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lang="ar-SA" sz="1400" b="1" noProof="0" dirty="0">
                          <a:solidFill>
                            <a:schemeClr val="bg1"/>
                          </a:solidFill>
                        </a:rPr>
                        <a:t>الأولوية</a:t>
                      </a:r>
                      <a:endParaRPr lang="ar-SA" sz="1400" b="1" noProof="0" dirty="0">
                        <a:solidFill>
                          <a:schemeClr val="bg1"/>
                        </a:solidFill>
                        <a:latin typeface="+mj-lt"/>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solidFill>
                      <a:schemeClr val="accent1"/>
                    </a:solidFill>
                  </a:tcPr>
                </a:tc>
                <a:tc gridSpan="2">
                  <a: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lang="ar-SA" sz="1400" b="1" noProof="0" dirty="0">
                          <a:solidFill>
                            <a:schemeClr val="bg1"/>
                          </a:solidFill>
                        </a:rPr>
                        <a:t>التحليل لكل فجوة </a:t>
                      </a:r>
                      <a:endParaRPr lang="ar-SA" sz="1400" b="1" noProof="0" dirty="0">
                        <a:solidFill>
                          <a:schemeClr val="bg1"/>
                        </a:solidFill>
                        <a:latin typeface="+mj-lt"/>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solidFill>
                      <a:schemeClr val="accent1"/>
                    </a:solidFill>
                  </a:tcPr>
                </a:tc>
                <a:tc hMerge="1">
                  <a:txBody>
                    <a:bodyPr/>
                    <a:lstStyle/>
                    <a:p>
                      <a:endParaRPr lang="en-US"/>
                    </a:p>
                  </a:txBody>
                  <a:tcPr/>
                </a:tc>
                <a:tc>
                  <a:txBody>
                    <a:bodyPr/>
                    <a:lstStyle/>
                    <a:p>
                      <a:pPr algn="ctr" rtl="1"/>
                      <a:r>
                        <a:rPr lang="ar-SA" sz="1400" b="1" noProof="0" dirty="0">
                          <a:solidFill>
                            <a:schemeClr val="bg1"/>
                          </a:solidFill>
                        </a:rPr>
                        <a:t>الفجوة</a:t>
                      </a:r>
                      <a:endParaRPr lang="ar-SA" sz="1400" b="1" noProof="0" dirty="0">
                        <a:solidFill>
                          <a:schemeClr val="bg1"/>
                        </a:solidFill>
                        <a:latin typeface="+mj-lt"/>
                      </a:endParaRPr>
                    </a:p>
                  </a:txBody>
                  <a:tcPr anchor="ctr">
                    <a:lnL w="12700" cap="flat" cmpd="sng" algn="ctr">
                      <a:solidFill>
                        <a:schemeClr val="bg1"/>
                      </a:solidFill>
                      <a:prstDash val="solid"/>
                      <a:round/>
                      <a:headEnd type="none" w="med" len="med"/>
                      <a:tailEnd type="none" w="med" len="med"/>
                    </a:lnL>
                    <a:lnR w="12700" cap="flat" cmpd="sng" algn="ctr">
                      <a:noFill/>
                      <a:prstDash val="solid"/>
                      <a:round/>
                      <a:headEnd type="none" w="med" len="med"/>
                      <a:tailEnd type="none" w="med" len="med"/>
                    </a:lnR>
                    <a:solidFill>
                      <a:schemeClr val="accent1"/>
                    </a:solidFill>
                  </a:tcPr>
                </a:tc>
                <a:extLst>
                  <a:ext uri="{0D108BD9-81ED-4DB2-BD59-A6C34878D82A}">
                    <a16:rowId xmlns:a16="http://schemas.microsoft.com/office/drawing/2014/main" val="3304685178"/>
                  </a:ext>
                </a:extLst>
              </a:tr>
              <a:tr h="996597">
                <a:tc rowSpan="4">
                  <a:txBody>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lang="ar-SA" sz="1100" noProof="0" dirty="0"/>
                        <a:t>ملف حصر الأعمال ، دراسة وثائق الأعمال للجهة المتوفرة بالوضع الحالي ، ورش العمل لحصر الأعمال مع الوحدات الإدارية المعنية ،تطلعات أصحاب المصلحة</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B w="12700" cap="flat" cmpd="sng" algn="ctr">
                      <a:solidFill>
                        <a:schemeClr val="accent1"/>
                      </a:solidFill>
                      <a:prstDash val="solid"/>
                      <a:round/>
                      <a:headEnd type="none" w="med" len="med"/>
                      <a:tailEnd type="none" w="med" len="med"/>
                    </a:lnB>
                  </a:tcPr>
                </a:tc>
                <a:tc rowSpan="4">
                  <a:txBody>
                    <a:bodyPr/>
                    <a:lstStyle/>
                    <a:p>
                      <a:pPr marL="0" marR="0" lvl="0" indent="0" algn="ctr" defTabSz="914400" rtl="1" eaLnBrk="1" fontAlgn="auto" latinLnBrk="0" hangingPunct="1">
                        <a:lnSpc>
                          <a:spcPct val="100000"/>
                        </a:lnSpc>
                        <a:spcBef>
                          <a:spcPts val="0"/>
                        </a:spcBef>
                        <a:spcAft>
                          <a:spcPts val="0"/>
                        </a:spcAft>
                        <a:buClrTx/>
                        <a:buSzTx/>
                        <a:buFont typeface="Arial" panose="020B0604020202020204" pitchFamily="34" charset="0"/>
                        <a:buNone/>
                        <a:tabLst/>
                        <a:defRPr/>
                      </a:pPr>
                      <a:r>
                        <a:rPr lang="ar-SA" sz="1400" noProof="0" dirty="0"/>
                        <a:t>عالي</a:t>
                      </a:r>
                    </a:p>
                  </a:txBody>
                  <a:tcPr anchor="ctr">
                    <a:lnL w="12700" cap="flat" cmpd="sng" algn="ctr">
                      <a:noFill/>
                      <a:prstDash val="solid"/>
                      <a:round/>
                      <a:headEnd type="none" w="med" len="med"/>
                      <a:tailEnd type="none" w="med" len="med"/>
                    </a:lnL>
                    <a:lnR w="12700" cap="flat" cmpd="sng" algn="ctr">
                      <a:solidFill>
                        <a:schemeClr val="bg1"/>
                      </a:solidFill>
                      <a:prstDash val="solid"/>
                      <a:round/>
                      <a:headEnd type="none" w="med" len="med"/>
                      <a:tailEnd type="none" w="med" len="med"/>
                    </a:lnR>
                    <a:lnB w="12700" cap="flat" cmpd="sng" algn="ctr">
                      <a:solidFill>
                        <a:schemeClr val="accent1"/>
                      </a:solidFill>
                      <a:prstDash val="solid"/>
                      <a:round/>
                      <a:headEnd type="none" w="med" len="med"/>
                      <a:tailEnd type="none" w="med" len="med"/>
                    </a:lnB>
                    <a:solidFill>
                      <a:schemeClr val="bg1">
                        <a:lumMod val="95000"/>
                        <a:alpha val="5000"/>
                      </a:schemeClr>
                    </a:solidFill>
                  </a:tcPr>
                </a:tc>
                <a:tc rowSpan="4">
                  <a:txBody>
                    <a:bodyPr/>
                    <a:lstStyle/>
                    <a:p>
                      <a:pPr marL="0" marR="0" lvl="0" indent="0" algn="ctr" defTabSz="914400" rtl="1" eaLnBrk="1" fontAlgn="auto" latinLnBrk="0" hangingPunct="1">
                        <a:lnSpc>
                          <a:spcPct val="100000"/>
                        </a:lnSpc>
                        <a:spcBef>
                          <a:spcPts val="0"/>
                        </a:spcBef>
                        <a:spcAft>
                          <a:spcPts val="0"/>
                        </a:spcAft>
                        <a:buClrTx/>
                        <a:buSzTx/>
                        <a:buFont typeface="Arial" panose="020B0604020202020204" pitchFamily="34" charset="0"/>
                        <a:buNone/>
                        <a:tabLst/>
                        <a:defRPr/>
                      </a:pPr>
                      <a:r>
                        <a:rPr lang="ar-SA" sz="1400" noProof="0" dirty="0"/>
                        <a:t>عالي</a:t>
                      </a:r>
                    </a:p>
                  </a:txBody>
                  <a:tcPr anchor="ctr">
                    <a:lnL w="12700" cap="flat" cmpd="sng" algn="ctr">
                      <a:solidFill>
                        <a:schemeClr val="bg1"/>
                      </a:solidFill>
                      <a:prstDash val="solid"/>
                      <a:round/>
                      <a:headEnd type="none" w="med" len="med"/>
                      <a:tailEnd type="none" w="med" len="med"/>
                    </a:lnL>
                    <a:lnR w="12700" cap="flat" cmpd="sng" algn="ctr">
                      <a:noFill/>
                      <a:prstDash val="solid"/>
                      <a:round/>
                      <a:headEnd type="none" w="med" len="med"/>
                      <a:tailEnd type="none" w="med" len="med"/>
                    </a:lnR>
                    <a:lnB w="12700" cap="flat" cmpd="sng" algn="ctr">
                      <a:solidFill>
                        <a:schemeClr val="accent1"/>
                      </a:solidFill>
                      <a:prstDash val="solid"/>
                      <a:round/>
                      <a:headEnd type="none" w="med" len="med"/>
                      <a:tailEnd type="none" w="med" len="med"/>
                    </a:lnB>
                    <a:solidFill>
                      <a:schemeClr val="bg1">
                        <a:lumMod val="95000"/>
                        <a:alpha val="5000"/>
                      </a:schemeClr>
                    </a:solidFill>
                  </a:tcPr>
                </a:tc>
                <a:tc>
                  <a:txBody>
                    <a:bodyPr/>
                    <a:lstStyle/>
                    <a:p>
                      <a:pPr marL="0" marR="0" lvl="0" indent="0" algn="just" defTabSz="914400" rtl="1" eaLnBrk="1" fontAlgn="auto" latinLnBrk="0" hangingPunct="1">
                        <a:lnSpc>
                          <a:spcPct val="100000"/>
                        </a:lnSpc>
                        <a:spcBef>
                          <a:spcPts val="0"/>
                        </a:spcBef>
                        <a:spcAft>
                          <a:spcPts val="0"/>
                        </a:spcAft>
                        <a:buClrTx/>
                        <a:buSzTx/>
                        <a:buFont typeface="Arial" panose="020B0604020202020204" pitchFamily="34" charset="0"/>
                        <a:buNone/>
                        <a:tabLst/>
                        <a:defRPr/>
                      </a:pPr>
                      <a:r>
                        <a:rPr lang="ar-SA" sz="1100" noProof="0" dirty="0">
                          <a:latin typeface="Sakkal Majalla" panose="02000000000000000000" pitchFamily="2" charset="-78"/>
                          <a:cs typeface="Sakkal Majalla" panose="02000000000000000000" pitchFamily="2" charset="-78"/>
                        </a:rPr>
                        <a:t>هناك الحاجة إلى تصميم وإعداد وتنفيذ سياسات وإجراءات جديدة تدعم أعمال </a:t>
                      </a:r>
                      <a:r>
                        <a:rPr lang="ar-SA" sz="1100" baseline="0" noProof="0" dirty="0">
                          <a:effectLst/>
                          <a:latin typeface="Sakkal Majalla" panose="02000000000000000000" pitchFamily="2" charset="-78"/>
                          <a:ea typeface="Sakkal Majalla" panose="02000000000000000000" pitchFamily="2" charset="-78"/>
                          <a:cs typeface="Sakkal Majalla" panose="02000000000000000000" pitchFamily="2" charset="-78"/>
                        </a:rPr>
                        <a:t>الجهة</a:t>
                      </a:r>
                      <a:r>
                        <a:rPr lang="ar-SA" sz="1100" noProof="0" dirty="0">
                          <a:latin typeface="Sakkal Majalla" panose="02000000000000000000" pitchFamily="2" charset="-78"/>
                          <a:cs typeface="Sakkal Majalla" panose="02000000000000000000" pitchFamily="2" charset="-78"/>
                        </a:rPr>
                        <a:t> مثل (سياسات وإجراءات واضحة للإنابة تشمل تدريب البدلاء المعنيين وتحديد صلاحياتهم ومسؤولياتهم ، سياسة موحدة لإدارة الأنظمة تضمن عدم تكرار الوظائف وتحقق التكامل بين الأنظمة ، سياسة واضحة لتحديد أولويات العمل ، سياسة واضحة لتقييم أداء الموظف تشمل ربط المهام المنجزة بمؤشرات الأداء الرئيسية (</a:t>
                      </a:r>
                      <a:r>
                        <a:rPr lang="ar-SA" sz="1100" noProof="0" dirty="0" err="1">
                          <a:latin typeface="Sakkal Majalla" panose="02000000000000000000" pitchFamily="2" charset="-78"/>
                          <a:cs typeface="Sakkal Majalla" panose="02000000000000000000" pitchFamily="2" charset="-78"/>
                        </a:rPr>
                        <a:t>KPIs</a:t>
                      </a:r>
                      <a:r>
                        <a:rPr lang="ar-SA" sz="1100" noProof="0" dirty="0">
                          <a:latin typeface="Sakkal Majalla" panose="02000000000000000000" pitchFamily="2" charset="-78"/>
                          <a:cs typeface="Sakkal Majalla" panose="02000000000000000000" pitchFamily="2" charset="-78"/>
                        </a:rPr>
                        <a:t>) ، سياسات وإجراءات موحدة لإدارة المشاريع التقنية ومكتب إدارة المشاريع)</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B w="12700" cap="flat" cmpd="sng" algn="ctr">
                      <a:solidFill>
                        <a:schemeClr val="bg1">
                          <a:lumMod val="85000"/>
                        </a:schemeClr>
                      </a:solidFill>
                      <a:prstDash val="solid"/>
                      <a:round/>
                      <a:headEnd type="none" w="med" len="med"/>
                      <a:tailEnd type="none" w="med" len="med"/>
                    </a:lnB>
                  </a:tcPr>
                </a:tc>
                <a:tc>
                  <a:txBody>
                    <a:bodyPr/>
                    <a:lstStyle/>
                    <a:p>
                      <a:pPr marL="0" marR="0" lvl="0" indent="0" algn="ctr" defTabSz="914400" rtl="1" eaLnBrk="1" fontAlgn="auto" latinLnBrk="0" hangingPunct="1">
                        <a:lnSpc>
                          <a:spcPct val="100000"/>
                        </a:lnSpc>
                        <a:spcBef>
                          <a:spcPts val="0"/>
                        </a:spcBef>
                        <a:spcAft>
                          <a:spcPts val="0"/>
                        </a:spcAft>
                        <a:buClrTx/>
                        <a:buSzTx/>
                        <a:buFont typeface="Arial" panose="020B0604020202020204" pitchFamily="34" charset="0"/>
                        <a:buNone/>
                        <a:tabLst/>
                        <a:defRPr/>
                      </a:pPr>
                      <a:r>
                        <a:rPr lang="ar-SA" sz="1400" b="1" noProof="0" dirty="0">
                          <a:solidFill>
                            <a:schemeClr val="accent1"/>
                          </a:solidFill>
                        </a:rPr>
                        <a:t>الوصف </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B w="12700" cap="flat" cmpd="sng" algn="ctr">
                      <a:solidFill>
                        <a:schemeClr val="bg1">
                          <a:lumMod val="85000"/>
                        </a:schemeClr>
                      </a:solidFill>
                      <a:prstDash val="solid"/>
                      <a:round/>
                      <a:headEnd type="none" w="med" len="med"/>
                      <a:tailEnd type="none" w="med" len="med"/>
                    </a:lnB>
                    <a:solidFill>
                      <a:schemeClr val="bg1">
                        <a:lumMod val="95000"/>
                      </a:schemeClr>
                    </a:solidFill>
                  </a:tcPr>
                </a:tc>
                <a:tc rowSpan="4">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ar-SA" sz="1600" b="1" noProof="0" dirty="0"/>
                        <a:t>GAP-B-19</a:t>
                      </a:r>
                    </a:p>
                    <a:p>
                      <a:pPr marL="0" marR="0" lvl="0" indent="0" algn="r" defTabSz="914400" rtl="1" eaLnBrk="1" fontAlgn="auto" latinLnBrk="0" hangingPunct="1">
                        <a:lnSpc>
                          <a:spcPct val="100000"/>
                        </a:lnSpc>
                        <a:spcBef>
                          <a:spcPts val="0"/>
                        </a:spcBef>
                        <a:spcAft>
                          <a:spcPts val="0"/>
                        </a:spcAft>
                        <a:buClrTx/>
                        <a:buSzTx/>
                        <a:buFontTx/>
                        <a:buNone/>
                        <a:tabLst/>
                        <a:defRPr/>
                      </a:pPr>
                      <a:r>
                        <a:rPr lang="ar-SA" sz="1400" b="1" kern="1200" noProof="0" dirty="0">
                          <a:solidFill>
                            <a:schemeClr val="tx1"/>
                          </a:solidFill>
                          <a:effectLst/>
                          <a:latin typeface="+mn-lt"/>
                          <a:ea typeface="+mn-ea"/>
                          <a:cs typeface="+mn-cs"/>
                        </a:rPr>
                        <a:t>العمل على تصميم وتنفيذ سياسات وإجراءات جديدة تدعم أعمال الجهة </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B w="12700" cap="flat" cmpd="sng" algn="ctr">
                      <a:solidFill>
                        <a:schemeClr val="accent1"/>
                      </a:solidFill>
                      <a:prstDash val="solid"/>
                      <a:round/>
                      <a:headEnd type="none" w="med" len="med"/>
                      <a:tailEnd type="none" w="med" len="med"/>
                    </a:lnB>
                  </a:tcPr>
                </a:tc>
                <a:extLst>
                  <a:ext uri="{0D108BD9-81ED-4DB2-BD59-A6C34878D82A}">
                    <a16:rowId xmlns:a16="http://schemas.microsoft.com/office/drawing/2014/main" val="1128065702"/>
                  </a:ext>
                </a:extLst>
              </a:tr>
              <a:tr h="692082">
                <a:tc vMerge="1">
                  <a:txBody>
                    <a:bodyPr/>
                    <a:lstStyle/>
                    <a:p>
                      <a:endParaRPr lang="en-US"/>
                    </a:p>
                  </a:txBody>
                  <a:tcPr/>
                </a:tc>
                <a:tc vMerge="1">
                  <a:txBody>
                    <a:bodyPr/>
                    <a:lstStyle/>
                    <a:p>
                      <a:endParaRPr lang="en-US"/>
                    </a:p>
                  </a:txBody>
                  <a:tcPr/>
                </a:tc>
                <a:tc vMerge="1">
                  <a:txBody>
                    <a:bodyPr/>
                    <a:lstStyle/>
                    <a:p>
                      <a:endParaRPr lang="en-US"/>
                    </a:p>
                  </a:txBody>
                  <a:tcPr/>
                </a:tc>
                <a:tc>
                  <a:txBody>
                    <a:bodyPr/>
                    <a:lstStyle/>
                    <a:p>
                      <a:pPr marL="0" marR="0" lvl="0" indent="0" algn="just" defTabSz="914400" rtl="1" eaLnBrk="1" fontAlgn="auto" latinLnBrk="0" hangingPunct="1">
                        <a:lnSpc>
                          <a:spcPct val="100000"/>
                        </a:lnSpc>
                        <a:spcBef>
                          <a:spcPts val="0"/>
                        </a:spcBef>
                        <a:spcAft>
                          <a:spcPts val="0"/>
                        </a:spcAft>
                        <a:buClrTx/>
                        <a:buSzTx/>
                        <a:buFont typeface="Arial" panose="020B0604020202020204" pitchFamily="34" charset="0"/>
                        <a:buNone/>
                        <a:tabLst/>
                        <a:defRPr/>
                      </a:pPr>
                      <a:r>
                        <a:rPr lang="ar-SA" sz="1100" kern="1200" noProof="0" dirty="0">
                          <a:solidFill>
                            <a:schemeClr val="tx1"/>
                          </a:solidFill>
                          <a:latin typeface="Sakkal Majalla" panose="02000000000000000000" pitchFamily="2" charset="-78"/>
                          <a:ea typeface="+mn-ea"/>
                          <a:cs typeface="Sakkal Majalla" panose="02000000000000000000" pitchFamily="2" charset="-78"/>
                        </a:rPr>
                        <a:t>عدم وجود سياسات تنظم الأعمال في </a:t>
                      </a:r>
                      <a:r>
                        <a:rPr lang="ar-SA" sz="1100" baseline="0" noProof="0" dirty="0">
                          <a:effectLst/>
                          <a:latin typeface="Sakkal Majalla" panose="02000000000000000000" pitchFamily="2" charset="-78"/>
                          <a:ea typeface="Sakkal Majalla" panose="02000000000000000000" pitchFamily="2" charset="-78"/>
                          <a:cs typeface="Sakkal Majalla" panose="02000000000000000000" pitchFamily="2" charset="-78"/>
                        </a:rPr>
                        <a:t>الجهة</a:t>
                      </a:r>
                      <a:r>
                        <a:rPr lang="ar-SA" sz="1100" kern="1200" noProof="0" dirty="0">
                          <a:solidFill>
                            <a:schemeClr val="tx1"/>
                          </a:solidFill>
                          <a:latin typeface="Sakkal Majalla" panose="02000000000000000000" pitchFamily="2" charset="-78"/>
                          <a:ea typeface="+mn-ea"/>
                          <a:cs typeface="Sakkal Majalla" panose="02000000000000000000" pitchFamily="2" charset="-78"/>
                        </a:rPr>
                        <a:t> مثل  (سياسات وإجراءات واضحة للإنابة ، سياسة موحدة لإدارة الأنظمة تضمن عدم تكرار الوظائف ، سياسة واضحة لتحديد أولويات العمل ، سياسة واضحة لتقييم أداء الموظف ، ضعف </a:t>
                      </a:r>
                      <a:r>
                        <a:rPr lang="ar-SA" sz="1100" noProof="0" dirty="0">
                          <a:latin typeface="Sakkal Majalla" panose="02000000000000000000" pitchFamily="2" charset="-78"/>
                          <a:cs typeface="Sakkal Majalla" panose="02000000000000000000" pitchFamily="2" charset="-78"/>
                        </a:rPr>
                        <a:t>سياسات وإجراءات موحدة لإدارة المشاريع التقنية ومكتب إدارة المشاريع</a:t>
                      </a:r>
                      <a:r>
                        <a:rPr lang="ar-SA" sz="1100" kern="1200" noProof="0" dirty="0">
                          <a:solidFill>
                            <a:schemeClr val="tx1"/>
                          </a:solidFill>
                          <a:latin typeface="Sakkal Majalla" panose="02000000000000000000" pitchFamily="2" charset="-78"/>
                          <a:ea typeface="+mn-ea"/>
                          <a:cs typeface="Sakkal Majalla" panose="02000000000000000000" pitchFamily="2" charset="-78"/>
                        </a:rPr>
                        <a:t> )</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marL="0" marR="0" lvl="0" indent="0" algn="ctr" defTabSz="914400" rtl="1" eaLnBrk="1" fontAlgn="auto" latinLnBrk="0" hangingPunct="1">
                        <a:lnSpc>
                          <a:spcPct val="100000"/>
                        </a:lnSpc>
                        <a:spcBef>
                          <a:spcPts val="0"/>
                        </a:spcBef>
                        <a:spcAft>
                          <a:spcPts val="0"/>
                        </a:spcAft>
                        <a:buClrTx/>
                        <a:buSzTx/>
                        <a:buFont typeface="Arial" panose="020B0604020202020204" pitchFamily="34" charset="0"/>
                        <a:buNone/>
                        <a:tabLst/>
                        <a:defRPr/>
                      </a:pPr>
                      <a:r>
                        <a:rPr lang="ar-SA" sz="1400" b="1" kern="1200" noProof="0" dirty="0">
                          <a:solidFill>
                            <a:schemeClr val="accent1"/>
                          </a:solidFill>
                        </a:rPr>
                        <a:t>الأثر الحالي</a:t>
                      </a:r>
                      <a:endParaRPr lang="ar-SA" sz="1400" b="1" noProof="0" dirty="0">
                        <a:solidFill>
                          <a:schemeClr val="accent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lumMod val="95000"/>
                      </a:schemeClr>
                    </a:solidFill>
                  </a:tcPr>
                </a:tc>
                <a:tc vMerge="1">
                  <a:txBody>
                    <a:bodyPr/>
                    <a:lstStyle/>
                    <a:p>
                      <a:endParaRPr lang="en-US"/>
                    </a:p>
                  </a:txBody>
                  <a:tcPr/>
                </a:tc>
                <a:extLst>
                  <a:ext uri="{0D108BD9-81ED-4DB2-BD59-A6C34878D82A}">
                    <a16:rowId xmlns:a16="http://schemas.microsoft.com/office/drawing/2014/main" val="1163892829"/>
                  </a:ext>
                </a:extLst>
              </a:tr>
              <a:tr h="539824">
                <a:tc vMerge="1">
                  <a:txBody>
                    <a:bodyPr/>
                    <a:lstStyle/>
                    <a:p>
                      <a:endParaRPr lang="en-US"/>
                    </a:p>
                  </a:txBody>
                  <a:tcPr/>
                </a:tc>
                <a:tc vMerge="1">
                  <a:txBody>
                    <a:bodyPr/>
                    <a:lstStyle/>
                    <a:p>
                      <a:endParaRPr lang="en-US"/>
                    </a:p>
                  </a:txBody>
                  <a:tcPr/>
                </a:tc>
                <a:tc vMerge="1">
                  <a:txBody>
                    <a:bodyPr/>
                    <a:lstStyle/>
                    <a:p>
                      <a:endParaRPr lang="en-US"/>
                    </a:p>
                  </a:txBody>
                  <a:tcPr/>
                </a:tc>
                <a:tc>
                  <a:txBody>
                    <a:bodyPr/>
                    <a:lstStyle/>
                    <a:p>
                      <a:pPr marL="0" marR="0" lvl="0" indent="0" algn="just" defTabSz="914400" rtl="1" eaLnBrk="1" fontAlgn="auto" latinLnBrk="0" hangingPunct="1">
                        <a:lnSpc>
                          <a:spcPct val="100000"/>
                        </a:lnSpc>
                        <a:spcBef>
                          <a:spcPts val="0"/>
                        </a:spcBef>
                        <a:spcAft>
                          <a:spcPts val="0"/>
                        </a:spcAft>
                        <a:buClrTx/>
                        <a:buSzTx/>
                        <a:buFont typeface="Arial" panose="020B0604020202020204" pitchFamily="34" charset="0"/>
                        <a:buNone/>
                        <a:tabLst/>
                        <a:defRPr/>
                      </a:pPr>
                      <a:r>
                        <a:rPr lang="ar-SA" sz="1100" kern="1200" noProof="0" dirty="0">
                          <a:solidFill>
                            <a:schemeClr val="tx1"/>
                          </a:solidFill>
                          <a:latin typeface="Sakkal Majalla" panose="02000000000000000000" pitchFamily="2" charset="-78"/>
                          <a:ea typeface="+mn-ea"/>
                          <a:cs typeface="Sakkal Majalla" panose="02000000000000000000" pitchFamily="2" charset="-78"/>
                        </a:rPr>
                        <a:t>القدرة على تدريب البدلاء المعنيين وتحديد صلاحياتهم ومسؤولياتهم ، القدرة على إدارة الأنظمة تضمن عدم تكرار الوظائف وتحقق التكامل بين الأنظمة ، تحديد أولويات العمل ، تقييم أداء الموظف ، القدرة على </a:t>
                      </a:r>
                      <a:r>
                        <a:rPr lang="ar-SA" sz="1100" noProof="0" dirty="0">
                          <a:latin typeface="Sakkal Majalla" panose="02000000000000000000" pitchFamily="2" charset="-78"/>
                          <a:cs typeface="Sakkal Majalla" panose="02000000000000000000" pitchFamily="2" charset="-78"/>
                        </a:rPr>
                        <a:t>إدارة المشاريع التقنية ومكتب إدارة المشاريع</a:t>
                      </a:r>
                      <a:endParaRPr lang="ar-SA" sz="1100" kern="1200" noProof="0" dirty="0">
                        <a:solidFill>
                          <a:schemeClr val="tx1"/>
                        </a:solidFill>
                        <a:latin typeface="Sakkal Majalla" panose="02000000000000000000" pitchFamily="2" charset="-78"/>
                        <a:ea typeface="+mn-ea"/>
                        <a:cs typeface="Sakkal Majalla" panose="02000000000000000000" pitchFamily="2" charset="-78"/>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marL="0" marR="0" lvl="0" indent="0" algn="ctr" defTabSz="914400" rtl="1" eaLnBrk="1" fontAlgn="auto" latinLnBrk="0" hangingPunct="1">
                        <a:lnSpc>
                          <a:spcPct val="100000"/>
                        </a:lnSpc>
                        <a:spcBef>
                          <a:spcPts val="0"/>
                        </a:spcBef>
                        <a:spcAft>
                          <a:spcPts val="0"/>
                        </a:spcAft>
                        <a:buClrTx/>
                        <a:buSzTx/>
                        <a:buFont typeface="Arial" panose="020B0604020202020204" pitchFamily="34" charset="0"/>
                        <a:buNone/>
                        <a:tabLst/>
                        <a:defRPr/>
                      </a:pPr>
                      <a:r>
                        <a:rPr lang="ar-SA" sz="1400" b="1" noProof="0" dirty="0">
                          <a:solidFill>
                            <a:schemeClr val="accent1"/>
                          </a:solidFill>
                        </a:rPr>
                        <a:t>الأثر بعد الردم (المعالجة)</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lumMod val="95000"/>
                      </a:schemeClr>
                    </a:solidFill>
                  </a:tcPr>
                </a:tc>
                <a:tc vMerge="1">
                  <a:txBody>
                    <a:bodyPr/>
                    <a:lstStyle/>
                    <a:p>
                      <a:endParaRPr lang="en-US"/>
                    </a:p>
                  </a:txBody>
                  <a:tcPr/>
                </a:tc>
                <a:extLst>
                  <a:ext uri="{0D108BD9-81ED-4DB2-BD59-A6C34878D82A}">
                    <a16:rowId xmlns:a16="http://schemas.microsoft.com/office/drawing/2014/main" val="1973569126"/>
                  </a:ext>
                </a:extLst>
              </a:tr>
              <a:tr h="539824">
                <a:tc vMerge="1">
                  <a:txBody>
                    <a:bodyPr/>
                    <a:lstStyle/>
                    <a:p>
                      <a:endParaRPr lang="en-US"/>
                    </a:p>
                  </a:txBody>
                  <a:tcPr/>
                </a:tc>
                <a:tc vMerge="1">
                  <a:txBody>
                    <a:bodyPr/>
                    <a:lstStyle/>
                    <a:p>
                      <a:endParaRPr lang="en-US"/>
                    </a:p>
                  </a:txBody>
                  <a:tcPr/>
                </a:tc>
                <a:tc vMerge="1">
                  <a:txBody>
                    <a:bodyPr/>
                    <a:lstStyle/>
                    <a:p>
                      <a:endParaRPr lang="en-US"/>
                    </a:p>
                  </a:txBody>
                  <a:tcPr/>
                </a:tc>
                <a:tc>
                  <a:txBody>
                    <a:bodyPr/>
                    <a:lstStyle/>
                    <a:p>
                      <a:pPr marL="0" marR="0" lvl="0" indent="0" algn="just" defTabSz="914400" rtl="1" eaLnBrk="1" fontAlgn="auto" latinLnBrk="0" hangingPunct="1">
                        <a:lnSpc>
                          <a:spcPct val="100000"/>
                        </a:lnSpc>
                        <a:spcBef>
                          <a:spcPts val="0"/>
                        </a:spcBef>
                        <a:spcAft>
                          <a:spcPts val="0"/>
                        </a:spcAft>
                        <a:buClrTx/>
                        <a:buSzTx/>
                        <a:buFont typeface="Arial" panose="020B0604020202020204" pitchFamily="34" charset="0"/>
                        <a:buNone/>
                        <a:tabLst/>
                        <a:defRPr/>
                      </a:pPr>
                      <a:r>
                        <a:rPr lang="ar-SA" sz="1100" kern="1200" noProof="0" dirty="0">
                          <a:solidFill>
                            <a:schemeClr val="tx1"/>
                          </a:solidFill>
                          <a:latin typeface="Sakkal Majalla" panose="02000000000000000000" pitchFamily="2" charset="-78"/>
                          <a:ea typeface="+mn-ea"/>
                          <a:cs typeface="Sakkal Majalla" panose="02000000000000000000" pitchFamily="2" charset="-78"/>
                        </a:rPr>
                        <a:t>تطوير وتنفيذ السياسات التالية (سياسات وإجراءات واضحة للإنابة ، سياسة موحدة لإدارة الأنظمة تضمن عدم تكرار الوظائف ، سياسة واضحة لتحديد أولويات العمل ، سياسة واضحة لتقييم أداء الموظف ، </a:t>
                      </a:r>
                      <a:r>
                        <a:rPr lang="ar-SA" sz="1100" noProof="0" dirty="0">
                          <a:latin typeface="Sakkal Majalla" panose="02000000000000000000" pitchFamily="2" charset="-78"/>
                          <a:cs typeface="Sakkal Majalla" panose="02000000000000000000" pitchFamily="2" charset="-78"/>
                        </a:rPr>
                        <a:t>سياسات وإجراءات موحدة لإدارة المشاريع التقنية ومكتب إدارة المشاريع</a:t>
                      </a:r>
                      <a:r>
                        <a:rPr lang="ar-SA" sz="1100" kern="1200" noProof="0" dirty="0">
                          <a:solidFill>
                            <a:schemeClr val="tx1"/>
                          </a:solidFill>
                          <a:latin typeface="Sakkal Majalla" panose="02000000000000000000" pitchFamily="2" charset="-78"/>
                          <a:ea typeface="+mn-ea"/>
                          <a:cs typeface="Sakkal Majalla" panose="02000000000000000000" pitchFamily="2" charset="-78"/>
                        </a:rPr>
                        <a:t>)</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marL="0" marR="0" lvl="0" indent="0" algn="ctr" defTabSz="914400" rtl="1" eaLnBrk="1" fontAlgn="auto" latinLnBrk="0" hangingPunct="1">
                        <a:lnSpc>
                          <a:spcPct val="100000"/>
                        </a:lnSpc>
                        <a:spcBef>
                          <a:spcPts val="0"/>
                        </a:spcBef>
                        <a:spcAft>
                          <a:spcPts val="0"/>
                        </a:spcAft>
                        <a:buClrTx/>
                        <a:buSzTx/>
                        <a:buFont typeface="Arial" panose="020B0604020202020204" pitchFamily="34" charset="0"/>
                        <a:buNone/>
                        <a:tabLst/>
                        <a:defRPr/>
                      </a:pPr>
                      <a:r>
                        <a:rPr lang="ar-SA" sz="1400" b="1" noProof="0" dirty="0">
                          <a:solidFill>
                            <a:schemeClr val="accent1"/>
                          </a:solidFill>
                        </a:rPr>
                        <a:t>تغطية الفجوة </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accent1"/>
                      </a:solidFill>
                      <a:prstDash val="solid"/>
                      <a:round/>
                      <a:headEnd type="none" w="med" len="med"/>
                      <a:tailEnd type="none" w="med" len="med"/>
                    </a:lnB>
                    <a:solidFill>
                      <a:schemeClr val="bg1">
                        <a:lumMod val="95000"/>
                      </a:schemeClr>
                    </a:solidFill>
                  </a:tcPr>
                </a:tc>
                <a:tc vMerge="1">
                  <a:txBody>
                    <a:bodyPr/>
                    <a:lstStyle/>
                    <a:p>
                      <a:endParaRPr lang="en-US"/>
                    </a:p>
                  </a:txBody>
                  <a:tcPr/>
                </a:tc>
                <a:extLst>
                  <a:ext uri="{0D108BD9-81ED-4DB2-BD59-A6C34878D82A}">
                    <a16:rowId xmlns:a16="http://schemas.microsoft.com/office/drawing/2014/main" val="4011636746"/>
                  </a:ext>
                </a:extLst>
              </a:tr>
              <a:tr h="387566">
                <a:tc rowSpan="4">
                  <a:txBody>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lang="ar-SA" sz="1100" kern="1200" noProof="0" dirty="0">
                          <a:solidFill>
                            <a:schemeClr val="tx1"/>
                          </a:solidFill>
                          <a:latin typeface="+mn-lt"/>
                          <a:ea typeface="+mn-ea"/>
                          <a:cs typeface="+mn-cs"/>
                        </a:rPr>
                        <a:t>ملف حصر الأعمال ، دراسة وثائق الأعمال للجهة المتوفرة بالوضع الحالي ، ورش العمل لحصر الأعمال مع الوحدات الإدارية المعنية ،تطلعات أصحاب المصلحة</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rowSpan="4">
                  <a:txBody>
                    <a:bodyPr/>
                    <a:lstStyle/>
                    <a:p>
                      <a:pPr marL="0" marR="0" lvl="0" indent="0" algn="ctr" defTabSz="914400" rtl="1" eaLnBrk="1" fontAlgn="auto" latinLnBrk="0" hangingPunct="1">
                        <a:lnSpc>
                          <a:spcPct val="100000"/>
                        </a:lnSpc>
                        <a:spcBef>
                          <a:spcPts val="0"/>
                        </a:spcBef>
                        <a:spcAft>
                          <a:spcPts val="0"/>
                        </a:spcAft>
                        <a:buClrTx/>
                        <a:buSzTx/>
                        <a:buFont typeface="Arial" panose="020B0604020202020204" pitchFamily="34" charset="0"/>
                        <a:buNone/>
                        <a:tabLst/>
                        <a:defRPr/>
                      </a:pPr>
                      <a:r>
                        <a:rPr lang="ar-SA" sz="1400" noProof="0" dirty="0"/>
                        <a:t>عالي</a:t>
                      </a:r>
                    </a:p>
                  </a:txBody>
                  <a:tcPr anchor="ctr">
                    <a:lnL w="12700" cap="flat" cmpd="sng" algn="ctr">
                      <a:no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solidFill>
                      <a:schemeClr val="bg1">
                        <a:lumMod val="95000"/>
                        <a:alpha val="5000"/>
                      </a:schemeClr>
                    </a:solidFill>
                  </a:tcPr>
                </a:tc>
                <a:tc rowSpan="4">
                  <a:txBody>
                    <a:bodyPr/>
                    <a:lstStyle/>
                    <a:p>
                      <a:pPr marL="0" marR="0" lvl="0" indent="0" algn="ctr" defTabSz="914400" rtl="1" eaLnBrk="1" fontAlgn="auto" latinLnBrk="0" hangingPunct="1">
                        <a:lnSpc>
                          <a:spcPct val="100000"/>
                        </a:lnSpc>
                        <a:spcBef>
                          <a:spcPts val="0"/>
                        </a:spcBef>
                        <a:spcAft>
                          <a:spcPts val="0"/>
                        </a:spcAft>
                        <a:buClrTx/>
                        <a:buSzTx/>
                        <a:buFont typeface="Arial" panose="020B0604020202020204" pitchFamily="34" charset="0"/>
                        <a:buNone/>
                        <a:tabLst/>
                        <a:defRPr/>
                      </a:pPr>
                      <a:r>
                        <a:rPr lang="ar-SA" sz="1400" noProof="0" dirty="0"/>
                        <a:t>عالي</a:t>
                      </a:r>
                    </a:p>
                  </a:txBody>
                  <a:tcPr anchor="ctr">
                    <a:lnL w="12700" cap="flat" cmpd="sng" algn="ctr">
                      <a:solidFill>
                        <a:schemeClr val="bg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solidFill>
                      <a:schemeClr val="bg1">
                        <a:lumMod val="95000"/>
                        <a:alpha val="5000"/>
                      </a:schemeClr>
                    </a:solidFill>
                  </a:tcPr>
                </a:tc>
                <a:tc>
                  <a:txBody>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lang="ar-SA" sz="1100" kern="1200" noProof="0" dirty="0">
                          <a:solidFill>
                            <a:schemeClr val="tx1"/>
                          </a:solidFill>
                          <a:latin typeface="Sakkal Majalla" panose="02000000000000000000" pitchFamily="2" charset="-78"/>
                          <a:ea typeface="+mn-ea"/>
                          <a:cs typeface="Sakkal Majalla" panose="02000000000000000000" pitchFamily="2" charset="-78"/>
                        </a:rPr>
                        <a:t>الحاجة إلى الأتمتة الرقمية لعمليات ووظائف الأعمال الخاصة باستقبال ومتابعة المقترحات والأفكار الإبداعية والشكاوى من خلال توفير  نظام موحد </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marL="0" marR="0" lvl="0" indent="0" algn="ctr" defTabSz="914400" rtl="1" eaLnBrk="1" fontAlgn="auto" latinLnBrk="0" hangingPunct="1">
                        <a:lnSpc>
                          <a:spcPct val="100000"/>
                        </a:lnSpc>
                        <a:spcBef>
                          <a:spcPts val="0"/>
                        </a:spcBef>
                        <a:spcAft>
                          <a:spcPts val="0"/>
                        </a:spcAft>
                        <a:buClrTx/>
                        <a:buSzTx/>
                        <a:buFont typeface="Arial" panose="020B0604020202020204" pitchFamily="34" charset="0"/>
                        <a:buNone/>
                        <a:tabLst/>
                        <a:defRPr/>
                      </a:pPr>
                      <a:r>
                        <a:rPr lang="ar-SA" sz="1400" b="1" noProof="0" dirty="0">
                          <a:solidFill>
                            <a:schemeClr val="accent1"/>
                          </a:solidFill>
                        </a:rPr>
                        <a:t>الوصف</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lumMod val="95000"/>
                      </a:schemeClr>
                    </a:solidFill>
                  </a:tcPr>
                </a:tc>
                <a:tc rowSpan="4">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ar-SA" sz="1600" b="1" u="none" strike="noStrike" kern="1200" cap="none" spc="0" normalizeH="0" baseline="0" noProof="0" dirty="0">
                          <a:ln>
                            <a:noFill/>
                          </a:ln>
                          <a:effectLst/>
                          <a:uLnTx/>
                          <a:uFillTx/>
                        </a:rPr>
                        <a:t>GAP-B-20</a:t>
                      </a:r>
                    </a:p>
                    <a:p>
                      <a:pPr marL="0" marR="0" lvl="0" indent="0" algn="r" defTabSz="914400" rtl="1" eaLnBrk="1" fontAlgn="auto" latinLnBrk="0" hangingPunct="1">
                        <a:lnSpc>
                          <a:spcPct val="100000"/>
                        </a:lnSpc>
                        <a:spcBef>
                          <a:spcPts val="0"/>
                        </a:spcBef>
                        <a:spcAft>
                          <a:spcPts val="0"/>
                        </a:spcAft>
                        <a:buClrTx/>
                        <a:buSzTx/>
                        <a:buFontTx/>
                        <a:buNone/>
                        <a:tabLst/>
                        <a:defRPr/>
                      </a:pPr>
                      <a:r>
                        <a:rPr lang="ar-SA" sz="1400" b="1" kern="1200" noProof="0" dirty="0">
                          <a:effectLst/>
                        </a:rPr>
                        <a:t>الحاجة إلى الأتمتة الرقمية لعمليات ووظائف الأعمال الخاصة ب</a:t>
                      </a:r>
                      <a:r>
                        <a:rPr lang="ar-SA" sz="1400" b="1" kern="1200" noProof="0" dirty="0">
                          <a:solidFill>
                            <a:schemeClr val="tx1"/>
                          </a:solidFill>
                          <a:effectLst/>
                          <a:latin typeface="+mn-lt"/>
                          <a:ea typeface="+mn-ea"/>
                          <a:cs typeface="+mn-cs"/>
                        </a:rPr>
                        <a:t>استقبال ومتابعة المقترحات والأفكار الإبداعية والشكاوى من خلال توفير  نظام موحد </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extLst>
                  <a:ext uri="{0D108BD9-81ED-4DB2-BD59-A6C34878D82A}">
                    <a16:rowId xmlns:a16="http://schemas.microsoft.com/office/drawing/2014/main" val="1136131386"/>
                  </a:ext>
                </a:extLst>
              </a:tr>
              <a:tr h="276833">
                <a:tc vMerge="1">
                  <a:txBody>
                    <a:bodyPr/>
                    <a:lstStyle/>
                    <a:p>
                      <a:pPr marL="0" marR="0" lvl="0" indent="0" algn="r" defTabSz="914400" rtl="1" eaLnBrk="1" fontAlgn="auto" latinLnBrk="0" hangingPunct="1">
                        <a:lnSpc>
                          <a:spcPct val="100000"/>
                        </a:lnSpc>
                        <a:spcBef>
                          <a:spcPts val="0"/>
                        </a:spcBef>
                        <a:spcAft>
                          <a:spcPts val="0"/>
                        </a:spcAft>
                        <a:buClrTx/>
                        <a:buSzTx/>
                        <a:buFontTx/>
                        <a:buNone/>
                        <a:tabLst/>
                        <a:defRPr/>
                      </a:pPr>
                      <a:endParaRPr lang="en-GB" sz="1400" noProof="0" dirty="0"/>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vMerge="1">
                  <a:txBody>
                    <a:bodyPr/>
                    <a:lstStyle/>
                    <a:p>
                      <a:endParaRPr lang="en-US"/>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vMerge="1">
                  <a:txBody>
                    <a:bodyPr/>
                    <a:lstStyle/>
                    <a:p>
                      <a:endParaRPr lang="en-US"/>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marL="0" marR="0" lvl="0" indent="0" algn="just" defTabSz="914400" rtl="1" eaLnBrk="1" fontAlgn="auto" latinLnBrk="0" hangingPunct="1">
                        <a:lnSpc>
                          <a:spcPct val="100000"/>
                        </a:lnSpc>
                        <a:spcBef>
                          <a:spcPts val="0"/>
                        </a:spcBef>
                        <a:spcAft>
                          <a:spcPts val="0"/>
                        </a:spcAft>
                        <a:buClrTx/>
                        <a:buSzTx/>
                        <a:buFont typeface="Arial" panose="020B0604020202020204" pitchFamily="34" charset="0"/>
                        <a:buNone/>
                        <a:tabLst/>
                        <a:defRPr/>
                      </a:pPr>
                      <a:r>
                        <a:rPr lang="ar-SA" sz="1100" kern="1200" noProof="0" dirty="0">
                          <a:solidFill>
                            <a:schemeClr val="tx1"/>
                          </a:solidFill>
                          <a:latin typeface="Sakkal Majalla" panose="02000000000000000000" pitchFamily="2" charset="-78"/>
                          <a:ea typeface="+mn-ea"/>
                          <a:cs typeface="Sakkal Majalla" panose="02000000000000000000" pitchFamily="2" charset="-78"/>
                        </a:rPr>
                        <a:t>الحاجة إلى تحسين استقبال ومتابعة المقترحات والأفكار الإبداعية والشكاوى</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marL="0" marR="0" lvl="0" indent="0" algn="ctr" defTabSz="914400" rtl="1" eaLnBrk="1" fontAlgn="auto" latinLnBrk="0" hangingPunct="1">
                        <a:lnSpc>
                          <a:spcPct val="100000"/>
                        </a:lnSpc>
                        <a:spcBef>
                          <a:spcPts val="0"/>
                        </a:spcBef>
                        <a:spcAft>
                          <a:spcPts val="0"/>
                        </a:spcAft>
                        <a:buClrTx/>
                        <a:buSzTx/>
                        <a:buFont typeface="Arial" panose="020B0604020202020204" pitchFamily="34" charset="0"/>
                        <a:buNone/>
                        <a:tabLst/>
                        <a:defRPr/>
                      </a:pPr>
                      <a:r>
                        <a:rPr lang="ar-SA" sz="1400" b="1" kern="1200" noProof="0" dirty="0">
                          <a:solidFill>
                            <a:schemeClr val="accent1"/>
                          </a:solidFill>
                        </a:rPr>
                        <a:t>الأثر الحالي</a:t>
                      </a:r>
                      <a:endParaRPr lang="ar-SA" sz="1400" b="1" noProof="0" dirty="0">
                        <a:solidFill>
                          <a:schemeClr val="accent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lumMod val="95000"/>
                      </a:schemeClr>
                    </a:solidFill>
                  </a:tcPr>
                </a:tc>
                <a:tc vMerge="1">
                  <a:txBody>
                    <a:bodyPr/>
                    <a:lstStyle/>
                    <a:p>
                      <a:pPr marL="0" marR="0" lvl="0" indent="0" algn="r" defTabSz="914400" rtl="1" eaLnBrk="1" fontAlgn="auto" latinLnBrk="0" hangingPunct="1">
                        <a:lnSpc>
                          <a:spcPct val="100000"/>
                        </a:lnSpc>
                        <a:spcBef>
                          <a:spcPts val="0"/>
                        </a:spcBef>
                        <a:spcAft>
                          <a:spcPts val="0"/>
                        </a:spcAft>
                        <a:buClrTx/>
                        <a:buSzTx/>
                        <a:buFontTx/>
                        <a:buNone/>
                        <a:tabLst/>
                        <a:defRPr/>
                      </a:pPr>
                      <a:endParaRPr lang="en-GB" sz="1400" b="1" noProof="0" dirty="0"/>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extLst>
                  <a:ext uri="{0D108BD9-81ED-4DB2-BD59-A6C34878D82A}">
                    <a16:rowId xmlns:a16="http://schemas.microsoft.com/office/drawing/2014/main" val="918118369"/>
                  </a:ext>
                </a:extLst>
              </a:tr>
              <a:tr h="470615">
                <a:tc vMerge="1">
                  <a:txBody>
                    <a:bodyPr/>
                    <a:lstStyle/>
                    <a:p>
                      <a:pPr marL="0" marR="0" lvl="0" indent="0" algn="r" defTabSz="914400" rtl="1" eaLnBrk="1" fontAlgn="auto" latinLnBrk="0" hangingPunct="1">
                        <a:lnSpc>
                          <a:spcPct val="100000"/>
                        </a:lnSpc>
                        <a:spcBef>
                          <a:spcPts val="0"/>
                        </a:spcBef>
                        <a:spcAft>
                          <a:spcPts val="0"/>
                        </a:spcAft>
                        <a:buClrTx/>
                        <a:buSzTx/>
                        <a:buFontTx/>
                        <a:buNone/>
                        <a:tabLst/>
                        <a:defRPr/>
                      </a:pPr>
                      <a:endParaRPr lang="en-GB" sz="1400" noProof="0" dirty="0"/>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vMerge="1">
                  <a:txBody>
                    <a:bodyPr/>
                    <a:lstStyle/>
                    <a:p>
                      <a:endParaRPr lang="en-US"/>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vMerge="1">
                  <a:txBody>
                    <a:bodyPr/>
                    <a:lstStyle/>
                    <a:p>
                      <a:endParaRPr lang="en-US"/>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marL="0" marR="0" lvl="0" indent="0" algn="just" defTabSz="914400" rtl="1" eaLnBrk="1" fontAlgn="auto" latinLnBrk="0" hangingPunct="1">
                        <a:lnSpc>
                          <a:spcPct val="100000"/>
                        </a:lnSpc>
                        <a:spcBef>
                          <a:spcPts val="0"/>
                        </a:spcBef>
                        <a:spcAft>
                          <a:spcPts val="0"/>
                        </a:spcAft>
                        <a:buClrTx/>
                        <a:buSzTx/>
                        <a:buFont typeface="Arial" panose="020B0604020202020204" pitchFamily="34" charset="0"/>
                        <a:buNone/>
                        <a:tabLst/>
                        <a:defRPr/>
                      </a:pPr>
                      <a:r>
                        <a:rPr lang="ar-SA" sz="1100" kern="1200" noProof="0" dirty="0">
                          <a:solidFill>
                            <a:schemeClr val="tx1"/>
                          </a:solidFill>
                          <a:latin typeface="Sakkal Majalla" panose="02000000000000000000" pitchFamily="2" charset="-78"/>
                          <a:ea typeface="+mn-ea"/>
                          <a:cs typeface="Sakkal Majalla" panose="02000000000000000000" pitchFamily="2" charset="-78"/>
                        </a:rPr>
                        <a:t>تعزيز استقبال ومتابعة المقترحات والأفكار الإبداعية والشكاوى</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marL="0" marR="0" lvl="0" indent="0" algn="ctr" defTabSz="914400" rtl="1" eaLnBrk="1" fontAlgn="auto" latinLnBrk="0" hangingPunct="1">
                        <a:lnSpc>
                          <a:spcPct val="100000"/>
                        </a:lnSpc>
                        <a:spcBef>
                          <a:spcPts val="0"/>
                        </a:spcBef>
                        <a:spcAft>
                          <a:spcPts val="0"/>
                        </a:spcAft>
                        <a:buClrTx/>
                        <a:buSzTx/>
                        <a:buFont typeface="Arial" panose="020B0604020202020204" pitchFamily="34" charset="0"/>
                        <a:buNone/>
                        <a:tabLst/>
                        <a:defRPr/>
                      </a:pPr>
                      <a:r>
                        <a:rPr lang="ar-SA" sz="1400" b="1" noProof="0" dirty="0">
                          <a:solidFill>
                            <a:schemeClr val="accent1"/>
                          </a:solidFill>
                        </a:rPr>
                        <a:t>الأثر بعد الردم (المعالجة)</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lumMod val="95000"/>
                      </a:schemeClr>
                    </a:solidFill>
                  </a:tcPr>
                </a:tc>
                <a:tc vMerge="1">
                  <a:txBody>
                    <a:bodyPr/>
                    <a:lstStyle/>
                    <a:p>
                      <a:pPr marL="0" marR="0" lvl="0" indent="0" algn="r" defTabSz="914400" rtl="1" eaLnBrk="1" fontAlgn="auto" latinLnBrk="0" hangingPunct="1">
                        <a:lnSpc>
                          <a:spcPct val="100000"/>
                        </a:lnSpc>
                        <a:spcBef>
                          <a:spcPts val="0"/>
                        </a:spcBef>
                        <a:spcAft>
                          <a:spcPts val="0"/>
                        </a:spcAft>
                        <a:buClrTx/>
                        <a:buSzTx/>
                        <a:buFontTx/>
                        <a:buNone/>
                        <a:tabLst/>
                        <a:defRPr/>
                      </a:pPr>
                      <a:endParaRPr lang="en-GB" sz="1400" b="1" noProof="0" dirty="0"/>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extLst>
                  <a:ext uri="{0D108BD9-81ED-4DB2-BD59-A6C34878D82A}">
                    <a16:rowId xmlns:a16="http://schemas.microsoft.com/office/drawing/2014/main" val="4153014111"/>
                  </a:ext>
                </a:extLst>
              </a:tr>
              <a:tr h="844339">
                <a:tc vMerge="1">
                  <a:txBody>
                    <a:bodyPr/>
                    <a:lstStyle/>
                    <a:p>
                      <a:pPr marL="0" marR="0" lvl="0" indent="0" algn="r" defTabSz="914400" rtl="1" eaLnBrk="1" fontAlgn="auto" latinLnBrk="0" hangingPunct="1">
                        <a:lnSpc>
                          <a:spcPct val="100000"/>
                        </a:lnSpc>
                        <a:spcBef>
                          <a:spcPts val="0"/>
                        </a:spcBef>
                        <a:spcAft>
                          <a:spcPts val="0"/>
                        </a:spcAft>
                        <a:buClrTx/>
                        <a:buSzTx/>
                        <a:buFontTx/>
                        <a:buNone/>
                        <a:tabLst/>
                        <a:defRPr/>
                      </a:pPr>
                      <a:endParaRPr lang="en-GB" sz="1400" noProof="0" dirty="0"/>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vMerge="1">
                  <a:txBody>
                    <a:bodyPr/>
                    <a:lstStyle/>
                    <a:p>
                      <a:endParaRPr lang="en-US"/>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vMerge="1">
                  <a:txBody>
                    <a:bodyPr/>
                    <a:lstStyle/>
                    <a:p>
                      <a:endParaRPr lang="en-US"/>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marL="0" marR="0" lvl="0" indent="0" algn="just" defTabSz="914400" rtl="1" eaLnBrk="1" fontAlgn="auto" latinLnBrk="0" hangingPunct="1">
                        <a:lnSpc>
                          <a:spcPct val="100000"/>
                        </a:lnSpc>
                        <a:spcBef>
                          <a:spcPts val="0"/>
                        </a:spcBef>
                        <a:spcAft>
                          <a:spcPts val="0"/>
                        </a:spcAft>
                        <a:buClrTx/>
                        <a:buSzTx/>
                        <a:buFont typeface="Arial" panose="020B0604020202020204" pitchFamily="34" charset="0"/>
                        <a:buNone/>
                        <a:tabLst/>
                        <a:defRPr/>
                      </a:pPr>
                      <a:r>
                        <a:rPr lang="ar-SA" sz="1100" noProof="0" dirty="0"/>
                        <a:t>يمكن تنفيذ </a:t>
                      </a:r>
                      <a:r>
                        <a:rPr lang="ar-SA" sz="1100" kern="1200" noProof="0" dirty="0">
                          <a:solidFill>
                            <a:schemeClr val="tx1"/>
                          </a:solidFill>
                          <a:latin typeface="+mn-lt"/>
                          <a:ea typeface="+mn-ea"/>
                          <a:cs typeface="+mn-cs"/>
                        </a:rPr>
                        <a:t>نظام رقمي موحد </a:t>
                      </a:r>
                      <a:r>
                        <a:rPr lang="ar-SA" sz="1100" noProof="0" dirty="0"/>
                        <a:t>يعمل على أتمتة عمليات استقبال ومعالجة المقترحات والأفكار الإبداعية والشكاوى من خلال الخطوات التالية (توفير  منصة إلكترونية موحدة ، أتمتة عملية استقبال وفرز الطلبات ، متابعة الطلبات وتنفيذ الإجراءات ، التكامل مع الأنظمة الأخرى ، التحليل و إصدار التقارير الذكية </a:t>
                      </a:r>
                      <a:r>
                        <a:rPr lang="ar-SA" sz="1100" kern="1200" noProof="0" dirty="0">
                          <a:solidFill>
                            <a:schemeClr val="tx1"/>
                          </a:solidFill>
                          <a:latin typeface="+mn-lt"/>
                          <a:ea typeface="+mn-ea"/>
                          <a:cs typeface="+mn-cs"/>
                        </a:rPr>
                        <a:t>، توفير دعم فني عبر </a:t>
                      </a:r>
                      <a:r>
                        <a:rPr lang="ar-SA" sz="1100" noProof="0" dirty="0"/>
                        <a:t>شات بوت ذكي للإجابة على الأسئلة المتكررة)</a:t>
                      </a:r>
                      <a:endParaRPr lang="ar-SA" sz="1100" kern="1200" noProof="0" dirty="0">
                        <a:solidFill>
                          <a:schemeClr val="tx1"/>
                        </a:solidFill>
                        <a:latin typeface="Sakkal Majalla" panose="02000000000000000000" pitchFamily="2" charset="-78"/>
                        <a:ea typeface="+mn-ea"/>
                        <a:cs typeface="Sakkal Majalla" panose="02000000000000000000" pitchFamily="2" charset="-78"/>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marL="0" marR="0" lvl="0" indent="0" algn="ctr" defTabSz="914400" rtl="1" eaLnBrk="1" fontAlgn="auto" latinLnBrk="0" hangingPunct="1">
                        <a:lnSpc>
                          <a:spcPct val="100000"/>
                        </a:lnSpc>
                        <a:spcBef>
                          <a:spcPts val="0"/>
                        </a:spcBef>
                        <a:spcAft>
                          <a:spcPts val="0"/>
                        </a:spcAft>
                        <a:buClrTx/>
                        <a:buSzTx/>
                        <a:buFont typeface="Arial" panose="020B0604020202020204" pitchFamily="34" charset="0"/>
                        <a:buNone/>
                        <a:tabLst/>
                        <a:defRPr/>
                      </a:pPr>
                      <a:r>
                        <a:rPr lang="ar-SA" sz="1400" b="1" noProof="0" dirty="0">
                          <a:solidFill>
                            <a:schemeClr val="accent1"/>
                          </a:solidFill>
                        </a:rPr>
                        <a:t>تغطية الفجوة </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accent1"/>
                      </a:solidFill>
                      <a:prstDash val="solid"/>
                      <a:round/>
                      <a:headEnd type="none" w="med" len="med"/>
                      <a:tailEnd type="none" w="med" len="med"/>
                    </a:lnB>
                    <a:solidFill>
                      <a:schemeClr val="bg1">
                        <a:lumMod val="95000"/>
                      </a:schemeClr>
                    </a:solidFill>
                  </a:tcPr>
                </a:tc>
                <a:tc vMerge="1">
                  <a:txBody>
                    <a:bodyPr/>
                    <a:lstStyle/>
                    <a:p>
                      <a:pPr marL="0" marR="0" lvl="0" indent="0" algn="r" defTabSz="914400" rtl="1" eaLnBrk="1" fontAlgn="auto" latinLnBrk="0" hangingPunct="1">
                        <a:lnSpc>
                          <a:spcPct val="100000"/>
                        </a:lnSpc>
                        <a:spcBef>
                          <a:spcPts val="0"/>
                        </a:spcBef>
                        <a:spcAft>
                          <a:spcPts val="0"/>
                        </a:spcAft>
                        <a:buClrTx/>
                        <a:buSzTx/>
                        <a:buFontTx/>
                        <a:buNone/>
                        <a:tabLst/>
                        <a:defRPr/>
                      </a:pPr>
                      <a:endParaRPr lang="en-GB" sz="1400" b="1" noProof="0" dirty="0"/>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extLst>
                  <a:ext uri="{0D108BD9-81ED-4DB2-BD59-A6C34878D82A}">
                    <a16:rowId xmlns:a16="http://schemas.microsoft.com/office/drawing/2014/main" val="1035545327"/>
                  </a:ext>
                </a:extLst>
              </a:tr>
            </a:tbl>
          </a:graphicData>
        </a:graphic>
      </p:graphicFrame>
      <p:sp>
        <p:nvSpPr>
          <p:cNvPr id="7" name="TextBox 6">
            <a:extLst>
              <a:ext uri="{FF2B5EF4-FFF2-40B4-BE49-F238E27FC236}">
                <a16:creationId xmlns:a16="http://schemas.microsoft.com/office/drawing/2014/main" id="{78FFBCC9-9528-43EE-3448-66EDC46CF782}"/>
              </a:ext>
            </a:extLst>
          </p:cNvPr>
          <p:cNvSpPr txBox="1"/>
          <p:nvPr/>
        </p:nvSpPr>
        <p:spPr>
          <a:xfrm>
            <a:off x="609601" y="687428"/>
            <a:ext cx="10972800" cy="375487"/>
          </a:xfrm>
          <a:prstGeom prst="rect">
            <a:avLst/>
          </a:prstGeom>
          <a:noFill/>
        </p:spPr>
        <p:txBody>
          <a:bodyPr wrap="square">
            <a:spAutoFit/>
          </a:bodyPr>
          <a:lstStyle/>
          <a:p>
            <a:pPr algn="r" rtl="1">
              <a:lnSpc>
                <a:spcPct val="115000"/>
              </a:lnSpc>
              <a:spcAft>
                <a:spcPts val="1000"/>
              </a:spcAft>
            </a:pPr>
            <a:r>
              <a:rPr lang="ar-SA" sz="1600" noProof="0" dirty="0">
                <a:solidFill>
                  <a:srgbClr val="000000"/>
                </a:solidFill>
                <a:latin typeface="Sakkal Majalla" panose="02000000000000000000" pitchFamily="2" charset="-78"/>
                <a:ea typeface="Sakkal Majalla" panose="02000000000000000000" pitchFamily="2" charset="-78"/>
                <a:cs typeface="Sakkal Majalla" panose="02000000000000000000" pitchFamily="2" charset="-78"/>
              </a:rPr>
              <a:t>يهدف هذا القسم من الوثيقة إلى تقديم الملاحظات الخاصة بالوضع الحالي لبنية الأعمال مع ذكر التوصيات  والتحسينات المفترض تطبيقها في الوضع المستقبلي</a:t>
            </a:r>
          </a:p>
        </p:txBody>
      </p:sp>
    </p:spTree>
    <p:extLst>
      <p:ext uri="{BB962C8B-B14F-4D97-AF65-F5344CB8AC3E}">
        <p14:creationId xmlns:p14="http://schemas.microsoft.com/office/powerpoint/2010/main" val="31441685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a:xfrm>
            <a:off x="609601" y="220418"/>
            <a:ext cx="10972800" cy="666261"/>
          </a:xfrm>
        </p:spPr>
        <p:txBody>
          <a:bodyPr/>
          <a:lstStyle/>
          <a:p>
            <a:r>
              <a:rPr lang="ar-SA" noProof="0" dirty="0"/>
              <a:t>ملخص تحليل الفجوات لبنية الأعمال </a:t>
            </a:r>
          </a:p>
        </p:txBody>
      </p:sp>
      <p:sp>
        <p:nvSpPr>
          <p:cNvPr id="3" name="Slide Number Placeholder 2">
            <a:extLst>
              <a:ext uri="{FF2B5EF4-FFF2-40B4-BE49-F238E27FC236}">
                <a16:creationId xmlns:a16="http://schemas.microsoft.com/office/drawing/2014/main" id="{A63A027D-6EA1-E9F6-6212-7D45811B8DC3}"/>
              </a:ext>
            </a:extLst>
          </p:cNvPr>
          <p:cNvSpPr>
            <a:spLocks noGrp="1"/>
          </p:cNvSpPr>
          <p:nvPr>
            <p:ph type="sldNum" sz="quarter" idx="12"/>
          </p:nvPr>
        </p:nvSpPr>
        <p:spPr>
          <a:xfrm>
            <a:off x="655319" y="6567058"/>
            <a:ext cx="466471" cy="290942"/>
          </a:xfrm>
        </p:spPr>
        <p:txBody>
          <a:bodyPr/>
          <a:lstStyle/>
          <a:p>
            <a:fld id="{0BE4EC83-A869-464E-AE9F-881796FB085E}" type="slidenum">
              <a:rPr lang="ar-SA" noProof="0" smtClean="0"/>
              <a:pPr/>
              <a:t>20</a:t>
            </a:fld>
            <a:endParaRPr lang="ar-SA" noProof="0" dirty="0"/>
          </a:p>
        </p:txBody>
      </p:sp>
      <p:graphicFrame>
        <p:nvGraphicFramePr>
          <p:cNvPr id="2" name="Table 1">
            <a:extLst>
              <a:ext uri="{FF2B5EF4-FFF2-40B4-BE49-F238E27FC236}">
                <a16:creationId xmlns:a16="http://schemas.microsoft.com/office/drawing/2014/main" id="{C47CAF5B-4215-4DCE-B225-BC1E66631900}"/>
              </a:ext>
            </a:extLst>
          </p:cNvPr>
          <p:cNvGraphicFramePr>
            <a:graphicFrameLocks noGrp="1"/>
          </p:cNvGraphicFramePr>
          <p:nvPr>
            <p:extLst>
              <p:ext uri="{D42A27DB-BD31-4B8C-83A1-F6EECF244321}">
                <p14:modId xmlns:p14="http://schemas.microsoft.com/office/powerpoint/2010/main" val="3671930752"/>
              </p:ext>
            </p:extLst>
          </p:nvPr>
        </p:nvGraphicFramePr>
        <p:xfrm>
          <a:off x="609600" y="1044606"/>
          <a:ext cx="10972802" cy="5581366"/>
        </p:xfrm>
        <a:graphic>
          <a:graphicData uri="http://schemas.openxmlformats.org/drawingml/2006/table">
            <a:tbl>
              <a:tblPr firstRow="1" bandRow="1">
                <a:tableStyleId>{2D5ABB26-0587-4C30-8999-92F81FD0307C}</a:tableStyleId>
              </a:tblPr>
              <a:tblGrid>
                <a:gridCol w="1828800">
                  <a:extLst>
                    <a:ext uri="{9D8B030D-6E8A-4147-A177-3AD203B41FA5}">
                      <a16:colId xmlns:a16="http://schemas.microsoft.com/office/drawing/2014/main" val="2801895674"/>
                    </a:ext>
                  </a:extLst>
                </a:gridCol>
                <a:gridCol w="618565">
                  <a:extLst>
                    <a:ext uri="{9D8B030D-6E8A-4147-A177-3AD203B41FA5}">
                      <a16:colId xmlns:a16="http://schemas.microsoft.com/office/drawing/2014/main" val="2976102064"/>
                    </a:ext>
                  </a:extLst>
                </a:gridCol>
                <a:gridCol w="681317">
                  <a:extLst>
                    <a:ext uri="{9D8B030D-6E8A-4147-A177-3AD203B41FA5}">
                      <a16:colId xmlns:a16="http://schemas.microsoft.com/office/drawing/2014/main" val="526736865"/>
                    </a:ext>
                  </a:extLst>
                </a:gridCol>
                <a:gridCol w="4140336">
                  <a:extLst>
                    <a:ext uri="{9D8B030D-6E8A-4147-A177-3AD203B41FA5}">
                      <a16:colId xmlns:a16="http://schemas.microsoft.com/office/drawing/2014/main" val="4106469564"/>
                    </a:ext>
                  </a:extLst>
                </a:gridCol>
                <a:gridCol w="923637">
                  <a:extLst>
                    <a:ext uri="{9D8B030D-6E8A-4147-A177-3AD203B41FA5}">
                      <a16:colId xmlns:a16="http://schemas.microsoft.com/office/drawing/2014/main" val="1154529574"/>
                    </a:ext>
                  </a:extLst>
                </a:gridCol>
                <a:gridCol w="2780147">
                  <a:extLst>
                    <a:ext uri="{9D8B030D-6E8A-4147-A177-3AD203B41FA5}">
                      <a16:colId xmlns:a16="http://schemas.microsoft.com/office/drawing/2014/main" val="1503598667"/>
                    </a:ext>
                  </a:extLst>
                </a:gridCol>
              </a:tblGrid>
              <a:tr h="268929">
                <a:tc>
                  <a:txBody>
                    <a:bodyPr/>
                    <a:lstStyle/>
                    <a:p>
                      <a:pPr algn="ctr" rtl="1"/>
                      <a:r>
                        <a:rPr lang="ar-SA" sz="1400" b="1" noProof="0" dirty="0">
                          <a:solidFill>
                            <a:schemeClr val="bg1"/>
                          </a:solidFill>
                        </a:rPr>
                        <a:t>المصدر</a:t>
                      </a:r>
                      <a:endParaRPr lang="ar-SA" sz="1400" b="1" noProof="0" dirty="0">
                        <a:solidFill>
                          <a:schemeClr val="bg1"/>
                        </a:solidFill>
                        <a:latin typeface="+mj-lt"/>
                      </a:endParaRPr>
                    </a:p>
                  </a:txBody>
                  <a:tcPr anchor="ctr">
                    <a:lnL w="12700" cap="flat" cmpd="sng" algn="ctr">
                      <a:noFill/>
                      <a:prstDash val="solid"/>
                      <a:round/>
                      <a:headEnd type="none" w="med" len="med"/>
                      <a:tailEnd type="none" w="med" len="med"/>
                    </a:lnL>
                    <a:lnR w="12700" cap="flat" cmpd="sng" algn="ctr">
                      <a:solidFill>
                        <a:schemeClr val="bg1"/>
                      </a:solidFill>
                      <a:prstDash val="solid"/>
                      <a:round/>
                      <a:headEnd type="none" w="med" len="med"/>
                      <a:tailEnd type="none" w="med" len="med"/>
                    </a:lnR>
                    <a:solidFill>
                      <a:schemeClr val="accent1"/>
                    </a:solidFill>
                  </a:tcPr>
                </a:tc>
                <a:tc>
                  <a: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lang="ar-SA" sz="1400" b="1" noProof="0" dirty="0">
                          <a:solidFill>
                            <a:schemeClr val="bg1"/>
                          </a:solidFill>
                        </a:rPr>
                        <a:t>الأهمية</a:t>
                      </a:r>
                      <a:endParaRPr lang="ar-SA" sz="1400" b="1" noProof="0" dirty="0">
                        <a:solidFill>
                          <a:schemeClr val="bg1"/>
                        </a:solidFill>
                        <a:latin typeface="+mj-lt"/>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solidFill>
                      <a:schemeClr val="accent1"/>
                    </a:solidFill>
                  </a:tcPr>
                </a:tc>
                <a:tc>
                  <a: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lang="ar-SA" sz="1400" b="1" noProof="0" dirty="0">
                          <a:solidFill>
                            <a:schemeClr val="bg1"/>
                          </a:solidFill>
                        </a:rPr>
                        <a:t>الأولوية</a:t>
                      </a:r>
                      <a:endParaRPr lang="ar-SA" sz="1400" b="1" noProof="0" dirty="0">
                        <a:solidFill>
                          <a:schemeClr val="bg1"/>
                        </a:solidFill>
                        <a:latin typeface="+mj-lt"/>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solidFill>
                      <a:schemeClr val="accent1"/>
                    </a:solidFill>
                  </a:tcPr>
                </a:tc>
                <a:tc gridSpan="2">
                  <a: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lang="ar-SA" sz="1400" b="1" noProof="0" dirty="0">
                          <a:solidFill>
                            <a:schemeClr val="bg1"/>
                          </a:solidFill>
                        </a:rPr>
                        <a:t>التحليل لكل فجوة </a:t>
                      </a:r>
                      <a:endParaRPr lang="ar-SA" sz="1400" b="1" noProof="0" dirty="0">
                        <a:solidFill>
                          <a:schemeClr val="bg1"/>
                        </a:solidFill>
                        <a:latin typeface="+mj-lt"/>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solidFill>
                      <a:schemeClr val="accent1"/>
                    </a:solidFill>
                  </a:tcPr>
                </a:tc>
                <a:tc hMerge="1">
                  <a:txBody>
                    <a:bodyPr/>
                    <a:lstStyle/>
                    <a:p>
                      <a:endParaRPr lang="en-US"/>
                    </a:p>
                  </a:txBody>
                  <a:tcPr/>
                </a:tc>
                <a:tc>
                  <a:txBody>
                    <a:bodyPr/>
                    <a:lstStyle/>
                    <a:p>
                      <a:pPr algn="ctr" rtl="1"/>
                      <a:r>
                        <a:rPr lang="ar-SA" sz="1400" b="1" noProof="0" dirty="0">
                          <a:solidFill>
                            <a:schemeClr val="bg1"/>
                          </a:solidFill>
                        </a:rPr>
                        <a:t>الفجوة</a:t>
                      </a:r>
                      <a:endParaRPr lang="ar-SA" sz="1400" b="1" noProof="0" dirty="0">
                        <a:solidFill>
                          <a:schemeClr val="bg1"/>
                        </a:solidFill>
                        <a:latin typeface="+mj-lt"/>
                      </a:endParaRPr>
                    </a:p>
                  </a:txBody>
                  <a:tcPr anchor="ctr">
                    <a:lnL w="12700" cap="flat" cmpd="sng" algn="ctr">
                      <a:solidFill>
                        <a:schemeClr val="bg1"/>
                      </a:solidFill>
                      <a:prstDash val="solid"/>
                      <a:round/>
                      <a:headEnd type="none" w="med" len="med"/>
                      <a:tailEnd type="none" w="med" len="med"/>
                    </a:lnL>
                    <a:lnR w="12700" cap="flat" cmpd="sng" algn="ctr">
                      <a:noFill/>
                      <a:prstDash val="solid"/>
                      <a:round/>
                      <a:headEnd type="none" w="med" len="med"/>
                      <a:tailEnd type="none" w="med" len="med"/>
                    </a:lnR>
                    <a:solidFill>
                      <a:schemeClr val="accent1"/>
                    </a:solidFill>
                  </a:tcPr>
                </a:tc>
                <a:extLst>
                  <a:ext uri="{0D108BD9-81ED-4DB2-BD59-A6C34878D82A}">
                    <a16:rowId xmlns:a16="http://schemas.microsoft.com/office/drawing/2014/main" val="3304685178"/>
                  </a:ext>
                </a:extLst>
              </a:tr>
              <a:tr h="376501">
                <a:tc rowSpan="4">
                  <a:txBody>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lang="ar-SA" sz="1100" noProof="0" dirty="0"/>
                        <a:t>ملف حصر الأعمال ، دراسة وثائق الأعمال للجهة المتوفرة بالوضع الحالي ، ورش العمل لحصر الأعمال مع الوحدات الإدارية المعنية ،تطلعات أصحاب المصلحة</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B w="12700" cap="flat" cmpd="sng" algn="ctr">
                      <a:solidFill>
                        <a:schemeClr val="accent1"/>
                      </a:solidFill>
                      <a:prstDash val="solid"/>
                      <a:round/>
                      <a:headEnd type="none" w="med" len="med"/>
                      <a:tailEnd type="none" w="med" len="med"/>
                    </a:lnB>
                  </a:tcPr>
                </a:tc>
                <a:tc rowSpan="4">
                  <a:txBody>
                    <a:bodyPr/>
                    <a:lstStyle/>
                    <a:p>
                      <a:pPr marL="0" marR="0" lvl="0" indent="0" algn="ctr" defTabSz="914400" rtl="1" eaLnBrk="1" fontAlgn="auto" latinLnBrk="0" hangingPunct="1">
                        <a:lnSpc>
                          <a:spcPct val="100000"/>
                        </a:lnSpc>
                        <a:spcBef>
                          <a:spcPts val="0"/>
                        </a:spcBef>
                        <a:spcAft>
                          <a:spcPts val="0"/>
                        </a:spcAft>
                        <a:buClrTx/>
                        <a:buSzTx/>
                        <a:buFont typeface="Arial" panose="020B0604020202020204" pitchFamily="34" charset="0"/>
                        <a:buNone/>
                        <a:tabLst/>
                        <a:defRPr/>
                      </a:pPr>
                      <a:r>
                        <a:rPr lang="ar-SA" sz="1100" noProof="0" dirty="0"/>
                        <a:t>عالي</a:t>
                      </a:r>
                    </a:p>
                  </a:txBody>
                  <a:tcPr anchor="ctr">
                    <a:lnL w="12700" cap="flat" cmpd="sng" algn="ctr">
                      <a:noFill/>
                      <a:prstDash val="solid"/>
                      <a:round/>
                      <a:headEnd type="none" w="med" len="med"/>
                      <a:tailEnd type="none" w="med" len="med"/>
                    </a:lnL>
                    <a:lnR w="12700" cap="flat" cmpd="sng" algn="ctr">
                      <a:solidFill>
                        <a:schemeClr val="bg1"/>
                      </a:solidFill>
                      <a:prstDash val="solid"/>
                      <a:round/>
                      <a:headEnd type="none" w="med" len="med"/>
                      <a:tailEnd type="none" w="med" len="med"/>
                    </a:lnR>
                    <a:lnB w="12700" cap="flat" cmpd="sng" algn="ctr">
                      <a:solidFill>
                        <a:schemeClr val="accent1"/>
                      </a:solidFill>
                      <a:prstDash val="solid"/>
                      <a:round/>
                      <a:headEnd type="none" w="med" len="med"/>
                      <a:tailEnd type="none" w="med" len="med"/>
                    </a:lnB>
                    <a:solidFill>
                      <a:schemeClr val="bg1">
                        <a:lumMod val="95000"/>
                        <a:alpha val="5000"/>
                      </a:schemeClr>
                    </a:solidFill>
                  </a:tcPr>
                </a:tc>
                <a:tc rowSpan="4">
                  <a:txBody>
                    <a:bodyPr/>
                    <a:lstStyle/>
                    <a:p>
                      <a:pPr marL="0" marR="0" lvl="0" indent="0" algn="ctr" defTabSz="914400" rtl="1" eaLnBrk="1" fontAlgn="auto" latinLnBrk="0" hangingPunct="1">
                        <a:lnSpc>
                          <a:spcPct val="100000"/>
                        </a:lnSpc>
                        <a:spcBef>
                          <a:spcPts val="0"/>
                        </a:spcBef>
                        <a:spcAft>
                          <a:spcPts val="0"/>
                        </a:spcAft>
                        <a:buClrTx/>
                        <a:buSzTx/>
                        <a:buFont typeface="Arial" panose="020B0604020202020204" pitchFamily="34" charset="0"/>
                        <a:buNone/>
                        <a:tabLst/>
                        <a:defRPr/>
                      </a:pPr>
                      <a:r>
                        <a:rPr lang="ar-SA" sz="1100" noProof="0" dirty="0"/>
                        <a:t>عالي</a:t>
                      </a:r>
                    </a:p>
                  </a:txBody>
                  <a:tcPr anchor="ctr">
                    <a:lnL w="12700" cap="flat" cmpd="sng" algn="ctr">
                      <a:solidFill>
                        <a:schemeClr val="bg1"/>
                      </a:solidFill>
                      <a:prstDash val="solid"/>
                      <a:round/>
                      <a:headEnd type="none" w="med" len="med"/>
                      <a:tailEnd type="none" w="med" len="med"/>
                    </a:lnL>
                    <a:lnR w="12700" cap="flat" cmpd="sng" algn="ctr">
                      <a:noFill/>
                      <a:prstDash val="solid"/>
                      <a:round/>
                      <a:headEnd type="none" w="med" len="med"/>
                      <a:tailEnd type="none" w="med" len="med"/>
                    </a:lnR>
                    <a:lnB w="12700" cap="flat" cmpd="sng" algn="ctr">
                      <a:solidFill>
                        <a:schemeClr val="accent1"/>
                      </a:solidFill>
                      <a:prstDash val="solid"/>
                      <a:round/>
                      <a:headEnd type="none" w="med" len="med"/>
                      <a:tailEnd type="none" w="med" len="med"/>
                    </a:lnB>
                    <a:solidFill>
                      <a:schemeClr val="bg1">
                        <a:lumMod val="95000"/>
                        <a:alpha val="5000"/>
                      </a:schemeClr>
                    </a:solidFill>
                  </a:tcPr>
                </a:tc>
                <a:tc>
                  <a:txBody>
                    <a:bodyPr/>
                    <a:lstStyle/>
                    <a:p>
                      <a:pPr marL="0" marR="0" lvl="0" indent="0" algn="just" defTabSz="914400" rtl="1" eaLnBrk="1" fontAlgn="auto" latinLnBrk="0" hangingPunct="1">
                        <a:lnSpc>
                          <a:spcPct val="100000"/>
                        </a:lnSpc>
                        <a:spcBef>
                          <a:spcPts val="0"/>
                        </a:spcBef>
                        <a:spcAft>
                          <a:spcPts val="0"/>
                        </a:spcAft>
                        <a:buClrTx/>
                        <a:buSzTx/>
                        <a:buFont typeface="Arial" panose="020B0604020202020204" pitchFamily="34" charset="0"/>
                        <a:buNone/>
                        <a:tabLst/>
                        <a:defRPr/>
                      </a:pPr>
                      <a:r>
                        <a:rPr lang="ar-SA" sz="1100" kern="1200" noProof="0" dirty="0">
                          <a:solidFill>
                            <a:schemeClr val="tx1"/>
                          </a:solidFill>
                          <a:latin typeface="+mn-lt"/>
                          <a:ea typeface="+mn-ea"/>
                          <a:cs typeface="+mn-cs"/>
                        </a:rPr>
                        <a:t>العمل على تطوير منصة موحدة شاملة لأعمال </a:t>
                      </a:r>
                      <a:r>
                        <a:rPr lang="ar-SA" sz="1100" baseline="0" noProof="0" dirty="0">
                          <a:effectLst/>
                          <a:latin typeface="Sakkal Majalla" panose="02000000000000000000" pitchFamily="2" charset="-78"/>
                          <a:ea typeface="Sakkal Majalla" panose="02000000000000000000" pitchFamily="2" charset="-78"/>
                          <a:cs typeface="Sakkal Majalla" panose="02000000000000000000" pitchFamily="2" charset="-78"/>
                        </a:rPr>
                        <a:t>الهيئة </a:t>
                      </a:r>
                      <a:r>
                        <a:rPr lang="ar-SA" sz="1100" kern="1200" noProof="0" dirty="0">
                          <a:solidFill>
                            <a:schemeClr val="tx1"/>
                          </a:solidFill>
                          <a:latin typeface="+mn-lt"/>
                          <a:ea typeface="+mn-ea"/>
                          <a:cs typeface="+mn-cs"/>
                        </a:rPr>
                        <a:t> تعزز من تكامل الخدمات الداخلية والخارجية </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B w="12700" cap="flat" cmpd="sng" algn="ctr">
                      <a:solidFill>
                        <a:schemeClr val="bg1">
                          <a:lumMod val="85000"/>
                        </a:schemeClr>
                      </a:solidFill>
                      <a:prstDash val="solid"/>
                      <a:round/>
                      <a:headEnd type="none" w="med" len="med"/>
                      <a:tailEnd type="none" w="med" len="med"/>
                    </a:lnB>
                  </a:tcPr>
                </a:tc>
                <a:tc>
                  <a:txBody>
                    <a:bodyPr/>
                    <a:lstStyle/>
                    <a:p>
                      <a:pPr marL="0" marR="0" lvl="0" indent="0" algn="ctr" defTabSz="914400" rtl="1" eaLnBrk="1" fontAlgn="auto" latinLnBrk="0" hangingPunct="1">
                        <a:lnSpc>
                          <a:spcPct val="100000"/>
                        </a:lnSpc>
                        <a:spcBef>
                          <a:spcPts val="0"/>
                        </a:spcBef>
                        <a:spcAft>
                          <a:spcPts val="0"/>
                        </a:spcAft>
                        <a:buClrTx/>
                        <a:buSzTx/>
                        <a:buFont typeface="Arial" panose="020B0604020202020204" pitchFamily="34" charset="0"/>
                        <a:buNone/>
                        <a:tabLst/>
                        <a:defRPr/>
                      </a:pPr>
                      <a:r>
                        <a:rPr lang="ar-SA" sz="1400" b="1" noProof="0" dirty="0">
                          <a:solidFill>
                            <a:schemeClr val="accent1"/>
                          </a:solidFill>
                        </a:rPr>
                        <a:t>الوصف</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B w="12700" cap="flat" cmpd="sng" algn="ctr">
                      <a:solidFill>
                        <a:schemeClr val="bg1">
                          <a:lumMod val="85000"/>
                        </a:schemeClr>
                      </a:solidFill>
                      <a:prstDash val="solid"/>
                      <a:round/>
                      <a:headEnd type="none" w="med" len="med"/>
                      <a:tailEnd type="none" w="med" len="med"/>
                    </a:lnB>
                    <a:solidFill>
                      <a:schemeClr val="bg1">
                        <a:lumMod val="95000"/>
                      </a:schemeClr>
                    </a:solidFill>
                  </a:tcPr>
                </a:tc>
                <a:tc rowSpan="4">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ar-SA" sz="1600" b="1" noProof="0" dirty="0"/>
                        <a:t>GAP-B-21</a:t>
                      </a:r>
                    </a:p>
                    <a:p>
                      <a:pPr marL="0" marR="0" lvl="0" indent="0" algn="r" defTabSz="914400" rtl="1" eaLnBrk="1" fontAlgn="auto" latinLnBrk="0" hangingPunct="1">
                        <a:lnSpc>
                          <a:spcPct val="100000"/>
                        </a:lnSpc>
                        <a:spcBef>
                          <a:spcPts val="0"/>
                        </a:spcBef>
                        <a:spcAft>
                          <a:spcPts val="0"/>
                        </a:spcAft>
                        <a:buClrTx/>
                        <a:buSzTx/>
                        <a:buFontTx/>
                        <a:buNone/>
                        <a:tabLst/>
                        <a:defRPr/>
                      </a:pPr>
                      <a:r>
                        <a:rPr lang="ar-SA" sz="1400" b="1" kern="1200" noProof="0" dirty="0">
                          <a:effectLst/>
                        </a:rPr>
                        <a:t>العمل على الأتمتة الرقمية الشاملة لأعمال الهيئة من خلال </a:t>
                      </a:r>
                      <a:r>
                        <a:rPr lang="ar-SA" sz="1400" b="1" kern="1200" noProof="0" dirty="0">
                          <a:solidFill>
                            <a:schemeClr val="tx1"/>
                          </a:solidFill>
                          <a:effectLst/>
                          <a:latin typeface="+mn-lt"/>
                          <a:ea typeface="+mn-ea"/>
                          <a:cs typeface="+mn-cs"/>
                        </a:rPr>
                        <a:t>تطوير منصة موحدة شاملة</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B w="12700" cap="flat" cmpd="sng" algn="ctr">
                      <a:solidFill>
                        <a:schemeClr val="accent1"/>
                      </a:solidFill>
                      <a:prstDash val="solid"/>
                      <a:round/>
                      <a:headEnd type="none" w="med" len="med"/>
                      <a:tailEnd type="none" w="med" len="med"/>
                    </a:lnB>
                  </a:tcPr>
                </a:tc>
                <a:extLst>
                  <a:ext uri="{0D108BD9-81ED-4DB2-BD59-A6C34878D82A}">
                    <a16:rowId xmlns:a16="http://schemas.microsoft.com/office/drawing/2014/main" val="1128065702"/>
                  </a:ext>
                </a:extLst>
              </a:tr>
              <a:tr h="268929">
                <a:tc vMerge="1">
                  <a:txBody>
                    <a:bodyPr/>
                    <a:lstStyle/>
                    <a:p>
                      <a:endParaRPr lang="en-US"/>
                    </a:p>
                  </a:txBody>
                  <a:tcPr/>
                </a:tc>
                <a:tc vMerge="1">
                  <a:txBody>
                    <a:bodyPr/>
                    <a:lstStyle/>
                    <a:p>
                      <a:endParaRPr lang="en-US"/>
                    </a:p>
                  </a:txBody>
                  <a:tcPr/>
                </a:tc>
                <a:tc vMerge="1">
                  <a:txBody>
                    <a:bodyPr/>
                    <a:lstStyle/>
                    <a:p>
                      <a:endParaRPr lang="en-US"/>
                    </a:p>
                  </a:txBody>
                  <a:tcPr/>
                </a:tc>
                <a:tc>
                  <a:txBody>
                    <a:bodyPr/>
                    <a:lstStyle/>
                    <a:p>
                      <a:pPr marL="0" marR="0" lvl="0" indent="0" algn="just" defTabSz="914400" rtl="1" eaLnBrk="1" fontAlgn="auto" latinLnBrk="0" hangingPunct="1">
                        <a:lnSpc>
                          <a:spcPct val="100000"/>
                        </a:lnSpc>
                        <a:spcBef>
                          <a:spcPts val="0"/>
                        </a:spcBef>
                        <a:spcAft>
                          <a:spcPts val="0"/>
                        </a:spcAft>
                        <a:buClrTx/>
                        <a:buSzTx/>
                        <a:buFont typeface="Arial" panose="020B0604020202020204" pitchFamily="34" charset="0"/>
                        <a:buNone/>
                        <a:tabLst/>
                        <a:defRPr/>
                      </a:pPr>
                      <a:r>
                        <a:rPr lang="ar-SA" sz="1100" kern="1200" noProof="0" dirty="0">
                          <a:solidFill>
                            <a:schemeClr val="tx1"/>
                          </a:solidFill>
                          <a:latin typeface="+mn-lt"/>
                          <a:ea typeface="+mn-ea"/>
                          <a:cs typeface="+mn-cs"/>
                        </a:rPr>
                        <a:t>ضعف في تكامل بعض الخدمات الداخلية والخارجية </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marL="0" marR="0" lvl="0" indent="0" algn="ctr" defTabSz="914400" rtl="1" eaLnBrk="1" fontAlgn="auto" latinLnBrk="0" hangingPunct="1">
                        <a:lnSpc>
                          <a:spcPct val="100000"/>
                        </a:lnSpc>
                        <a:spcBef>
                          <a:spcPts val="0"/>
                        </a:spcBef>
                        <a:spcAft>
                          <a:spcPts val="0"/>
                        </a:spcAft>
                        <a:buClrTx/>
                        <a:buSzTx/>
                        <a:buFont typeface="Arial" panose="020B0604020202020204" pitchFamily="34" charset="0"/>
                        <a:buNone/>
                        <a:tabLst/>
                        <a:defRPr/>
                      </a:pPr>
                      <a:r>
                        <a:rPr lang="ar-SA" sz="1400" b="1" kern="1200" noProof="0" dirty="0">
                          <a:solidFill>
                            <a:schemeClr val="accent1"/>
                          </a:solidFill>
                        </a:rPr>
                        <a:t>الأثر الحالي</a:t>
                      </a:r>
                      <a:endParaRPr lang="ar-SA" sz="1400" b="1" noProof="0" dirty="0">
                        <a:solidFill>
                          <a:schemeClr val="accent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lumMod val="95000"/>
                      </a:schemeClr>
                    </a:solidFill>
                  </a:tcPr>
                </a:tc>
                <a:tc vMerge="1">
                  <a:txBody>
                    <a:bodyPr/>
                    <a:lstStyle/>
                    <a:p>
                      <a:endParaRPr lang="en-US"/>
                    </a:p>
                  </a:txBody>
                  <a:tcPr/>
                </a:tc>
                <a:extLst>
                  <a:ext uri="{0D108BD9-81ED-4DB2-BD59-A6C34878D82A}">
                    <a16:rowId xmlns:a16="http://schemas.microsoft.com/office/drawing/2014/main" val="1163892829"/>
                  </a:ext>
                </a:extLst>
              </a:tr>
              <a:tr h="457179">
                <a:tc vMerge="1">
                  <a:txBody>
                    <a:bodyPr/>
                    <a:lstStyle/>
                    <a:p>
                      <a:endParaRPr lang="en-US"/>
                    </a:p>
                  </a:txBody>
                  <a:tcPr/>
                </a:tc>
                <a:tc vMerge="1">
                  <a:txBody>
                    <a:bodyPr/>
                    <a:lstStyle/>
                    <a:p>
                      <a:endParaRPr lang="en-US"/>
                    </a:p>
                  </a:txBody>
                  <a:tcPr/>
                </a:tc>
                <a:tc vMerge="1">
                  <a:txBody>
                    <a:bodyPr/>
                    <a:lstStyle/>
                    <a:p>
                      <a:endParaRPr lang="en-US"/>
                    </a:p>
                  </a:txBody>
                  <a:tcPr/>
                </a:tc>
                <a:tc>
                  <a:txBody>
                    <a:bodyPr/>
                    <a:lstStyle/>
                    <a:p>
                      <a:pPr marL="0" marR="0" lvl="0" indent="0" algn="just" defTabSz="914400" rtl="1" eaLnBrk="1" fontAlgn="auto" latinLnBrk="0" hangingPunct="1">
                        <a:lnSpc>
                          <a:spcPct val="100000"/>
                        </a:lnSpc>
                        <a:spcBef>
                          <a:spcPts val="0"/>
                        </a:spcBef>
                        <a:spcAft>
                          <a:spcPts val="0"/>
                        </a:spcAft>
                        <a:buClrTx/>
                        <a:buSzTx/>
                        <a:buFont typeface="Arial" panose="020B0604020202020204" pitchFamily="34" charset="0"/>
                        <a:buNone/>
                        <a:tabLst/>
                        <a:defRPr/>
                      </a:pPr>
                      <a:r>
                        <a:rPr lang="ar-SA" sz="1100" kern="1200" noProof="0" dirty="0">
                          <a:solidFill>
                            <a:schemeClr val="tx1"/>
                          </a:solidFill>
                          <a:latin typeface="+mn-lt"/>
                          <a:ea typeface="+mn-ea"/>
                          <a:cs typeface="+mn-cs"/>
                        </a:rPr>
                        <a:t>تعزيز تكامل الخدمات الداخلية والخارجية </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marL="0" marR="0" lvl="0" indent="0" algn="ctr" defTabSz="914400" rtl="1" eaLnBrk="1" fontAlgn="auto" latinLnBrk="0" hangingPunct="1">
                        <a:lnSpc>
                          <a:spcPct val="100000"/>
                        </a:lnSpc>
                        <a:spcBef>
                          <a:spcPts val="0"/>
                        </a:spcBef>
                        <a:spcAft>
                          <a:spcPts val="0"/>
                        </a:spcAft>
                        <a:buClrTx/>
                        <a:buSzTx/>
                        <a:buFont typeface="Arial" panose="020B0604020202020204" pitchFamily="34" charset="0"/>
                        <a:buNone/>
                        <a:tabLst/>
                        <a:defRPr/>
                      </a:pPr>
                      <a:r>
                        <a:rPr lang="ar-SA" sz="1400" b="1" noProof="0" dirty="0">
                          <a:solidFill>
                            <a:schemeClr val="accent1"/>
                          </a:solidFill>
                        </a:rPr>
                        <a:t>الأثر بعد الردم (المعالجة)</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lumMod val="95000"/>
                      </a:schemeClr>
                    </a:solidFill>
                  </a:tcPr>
                </a:tc>
                <a:tc vMerge="1">
                  <a:txBody>
                    <a:bodyPr/>
                    <a:lstStyle/>
                    <a:p>
                      <a:endParaRPr lang="en-US"/>
                    </a:p>
                  </a:txBody>
                  <a:tcPr/>
                </a:tc>
                <a:extLst>
                  <a:ext uri="{0D108BD9-81ED-4DB2-BD59-A6C34878D82A}">
                    <a16:rowId xmlns:a16="http://schemas.microsoft.com/office/drawing/2014/main" val="1973569126"/>
                  </a:ext>
                </a:extLst>
              </a:tr>
              <a:tr h="968145">
                <a:tc vMerge="1">
                  <a:txBody>
                    <a:bodyPr/>
                    <a:lstStyle/>
                    <a:p>
                      <a:endParaRPr lang="en-US"/>
                    </a:p>
                  </a:txBody>
                  <a:tcPr/>
                </a:tc>
                <a:tc vMerge="1">
                  <a:txBody>
                    <a:bodyPr/>
                    <a:lstStyle/>
                    <a:p>
                      <a:endParaRPr lang="en-US"/>
                    </a:p>
                  </a:txBody>
                  <a:tcPr/>
                </a:tc>
                <a:tc vMerge="1">
                  <a:txBody>
                    <a:bodyPr/>
                    <a:lstStyle/>
                    <a:p>
                      <a:endParaRPr lang="en-US"/>
                    </a:p>
                  </a:txBody>
                  <a:tcPr/>
                </a:tc>
                <a:tc>
                  <a:txBody>
                    <a:bodyPr/>
                    <a:lstStyle/>
                    <a:p>
                      <a:pPr marL="0" marR="0" lvl="0" indent="0" algn="just" defTabSz="914400" rtl="1" eaLnBrk="1" fontAlgn="auto" latinLnBrk="0" hangingPunct="1">
                        <a:lnSpc>
                          <a:spcPct val="100000"/>
                        </a:lnSpc>
                        <a:spcBef>
                          <a:spcPts val="0"/>
                        </a:spcBef>
                        <a:spcAft>
                          <a:spcPts val="0"/>
                        </a:spcAft>
                        <a:buClrTx/>
                        <a:buSzTx/>
                        <a:buFont typeface="Arial" panose="020B0604020202020204" pitchFamily="34" charset="0"/>
                        <a:buNone/>
                        <a:tabLst/>
                        <a:defRPr/>
                      </a:pPr>
                      <a:r>
                        <a:rPr lang="ar-SA" sz="1100" noProof="0" dirty="0"/>
                        <a:t>تطوير </a:t>
                      </a:r>
                      <a:r>
                        <a:rPr lang="ar-SA" sz="1100" kern="1200" noProof="0" dirty="0">
                          <a:solidFill>
                            <a:schemeClr val="tx1"/>
                          </a:solidFill>
                          <a:latin typeface="+mn-lt"/>
                          <a:ea typeface="+mn-ea"/>
                          <a:cs typeface="+mn-cs"/>
                        </a:rPr>
                        <a:t>منصة موحدة شاملة لأعمال الهيئة  من خلال (تصميم واجهة استخدام سلسة تخدم المستفيدين بسهولة ، ربط جميع الأنظمة الداخلية مع بعضها البعض ومع الجهات الخارجية بحسب الحاجة، دمج الخدمات الخارجية بحسب الإمكانية ، تقليل التدخل اليدوي من خلال المعالجة التلقائية للطلبات والإشعارات الذكية ، تطوير لوحات معلومات تفاعلية لقياس الأداء وتحسين الخدمات ، الالتزام بالمعايير الحكومية ومتطلبات الامتثال الرقمي ، توفير قنوات متعددة للوصول للخدمات)</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marL="0" marR="0" lvl="0" indent="0" algn="ctr" defTabSz="914400" rtl="1" eaLnBrk="1" fontAlgn="auto" latinLnBrk="0" hangingPunct="1">
                        <a:lnSpc>
                          <a:spcPct val="100000"/>
                        </a:lnSpc>
                        <a:spcBef>
                          <a:spcPts val="0"/>
                        </a:spcBef>
                        <a:spcAft>
                          <a:spcPts val="0"/>
                        </a:spcAft>
                        <a:buClrTx/>
                        <a:buSzTx/>
                        <a:buFont typeface="Arial" panose="020B0604020202020204" pitchFamily="34" charset="0"/>
                        <a:buNone/>
                        <a:tabLst/>
                        <a:defRPr/>
                      </a:pPr>
                      <a:r>
                        <a:rPr lang="ar-SA" sz="1400" b="1" noProof="0" dirty="0">
                          <a:solidFill>
                            <a:schemeClr val="accent1"/>
                          </a:solidFill>
                        </a:rPr>
                        <a:t>تغطية الفجوة </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accent1"/>
                      </a:solidFill>
                      <a:prstDash val="solid"/>
                      <a:round/>
                      <a:headEnd type="none" w="med" len="med"/>
                      <a:tailEnd type="none" w="med" len="med"/>
                    </a:lnB>
                    <a:solidFill>
                      <a:schemeClr val="bg1">
                        <a:lumMod val="95000"/>
                      </a:schemeClr>
                    </a:solidFill>
                  </a:tcPr>
                </a:tc>
                <a:tc vMerge="1">
                  <a:txBody>
                    <a:bodyPr/>
                    <a:lstStyle/>
                    <a:p>
                      <a:endParaRPr lang="en-US"/>
                    </a:p>
                  </a:txBody>
                  <a:tcPr/>
                </a:tc>
                <a:extLst>
                  <a:ext uri="{0D108BD9-81ED-4DB2-BD59-A6C34878D82A}">
                    <a16:rowId xmlns:a16="http://schemas.microsoft.com/office/drawing/2014/main" val="4011636746"/>
                  </a:ext>
                </a:extLst>
              </a:tr>
              <a:tr h="524412">
                <a:tc rowSpan="4">
                  <a:txBody>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lang="ar-SA" sz="1100" noProof="0" dirty="0"/>
                        <a:t>ملف حصر الأعمال ، دراسة وثائق الأعمال للجهة المتوفرة بالوضع الحالي ، ورش العمل لحصر الأعمال مع الوحدات الإدارية المعنية ،تطلعات أصحاب المصلحة</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rowSpan="4">
                  <a:txBody>
                    <a:bodyPr/>
                    <a:lstStyle/>
                    <a:p>
                      <a:pPr marL="0" marR="0" lvl="0" indent="0" algn="ctr" defTabSz="914400" rtl="1" eaLnBrk="1" fontAlgn="auto" latinLnBrk="0" hangingPunct="1">
                        <a:lnSpc>
                          <a:spcPct val="100000"/>
                        </a:lnSpc>
                        <a:spcBef>
                          <a:spcPts val="0"/>
                        </a:spcBef>
                        <a:spcAft>
                          <a:spcPts val="0"/>
                        </a:spcAft>
                        <a:buClrTx/>
                        <a:buSzTx/>
                        <a:buFont typeface="Arial" panose="020B0604020202020204" pitchFamily="34" charset="0"/>
                        <a:buNone/>
                        <a:tabLst/>
                        <a:defRPr/>
                      </a:pPr>
                      <a:r>
                        <a:rPr lang="ar-SA" sz="1100" noProof="0" dirty="0"/>
                        <a:t>عالي</a:t>
                      </a:r>
                    </a:p>
                  </a:txBody>
                  <a:tcPr anchor="ctr">
                    <a:lnL w="12700" cap="flat" cmpd="sng" algn="ctr">
                      <a:no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solidFill>
                      <a:schemeClr val="bg1">
                        <a:lumMod val="95000"/>
                        <a:alpha val="5000"/>
                      </a:schemeClr>
                    </a:solidFill>
                  </a:tcPr>
                </a:tc>
                <a:tc rowSpan="4">
                  <a:txBody>
                    <a:bodyPr/>
                    <a:lstStyle/>
                    <a:p>
                      <a:pPr marL="0" marR="0" lvl="0" indent="0" algn="ctr" defTabSz="914400" rtl="1" eaLnBrk="1" fontAlgn="auto" latinLnBrk="0" hangingPunct="1">
                        <a:lnSpc>
                          <a:spcPct val="100000"/>
                        </a:lnSpc>
                        <a:spcBef>
                          <a:spcPts val="0"/>
                        </a:spcBef>
                        <a:spcAft>
                          <a:spcPts val="0"/>
                        </a:spcAft>
                        <a:buClrTx/>
                        <a:buSzTx/>
                        <a:buFont typeface="Arial" panose="020B0604020202020204" pitchFamily="34" charset="0"/>
                        <a:buNone/>
                        <a:tabLst/>
                        <a:defRPr/>
                      </a:pPr>
                      <a:r>
                        <a:rPr lang="ar-SA" sz="1100" noProof="0" dirty="0"/>
                        <a:t>عالي</a:t>
                      </a:r>
                    </a:p>
                  </a:txBody>
                  <a:tcPr anchor="ctr">
                    <a:lnL w="12700" cap="flat" cmpd="sng" algn="ctr">
                      <a:solidFill>
                        <a:schemeClr val="bg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solidFill>
                      <a:schemeClr val="bg1">
                        <a:lumMod val="95000"/>
                        <a:alpha val="5000"/>
                      </a:schemeClr>
                    </a:solidFill>
                  </a:tcPr>
                </a:tc>
                <a:tc>
                  <a:txBody>
                    <a:bodyPr/>
                    <a:lstStyle/>
                    <a:p>
                      <a:pPr marL="0" marR="0" lvl="0" indent="0" algn="just" defTabSz="914400" rtl="1" eaLnBrk="1" fontAlgn="auto" latinLnBrk="0" hangingPunct="1">
                        <a:lnSpc>
                          <a:spcPct val="100000"/>
                        </a:lnSpc>
                        <a:spcBef>
                          <a:spcPts val="0"/>
                        </a:spcBef>
                        <a:spcAft>
                          <a:spcPts val="0"/>
                        </a:spcAft>
                        <a:buClrTx/>
                        <a:buSzTx/>
                        <a:buFont typeface="Arial" panose="020B0604020202020204" pitchFamily="34" charset="0"/>
                        <a:buNone/>
                        <a:tabLst/>
                        <a:defRPr/>
                      </a:pPr>
                      <a:r>
                        <a:rPr lang="ar-SA" sz="1100" kern="1200" noProof="0" dirty="0">
                          <a:solidFill>
                            <a:schemeClr val="tx1"/>
                          </a:solidFill>
                          <a:latin typeface="+mn-lt"/>
                          <a:ea typeface="+mn-ea"/>
                          <a:cs typeface="+mn-cs"/>
                        </a:rPr>
                        <a:t>ضرورة إنشاء بوابة داخلية موحدة للموظفين توفر الوصول إلى جميع المعلومات والخدمات والأنظمة المتعلقة بأعمال </a:t>
                      </a:r>
                      <a:r>
                        <a:rPr lang="ar-SA" sz="1100" baseline="0" noProof="0" dirty="0">
                          <a:effectLst/>
                          <a:latin typeface="Sakkal Majalla" panose="02000000000000000000" pitchFamily="2" charset="-78"/>
                          <a:ea typeface="Sakkal Majalla" panose="02000000000000000000" pitchFamily="2" charset="-78"/>
                          <a:cs typeface="Sakkal Majalla" panose="02000000000000000000" pitchFamily="2" charset="-78"/>
                        </a:rPr>
                        <a:t>الجهة</a:t>
                      </a:r>
                      <a:r>
                        <a:rPr lang="ar-SA" sz="1100" kern="1200" noProof="0" dirty="0">
                          <a:solidFill>
                            <a:schemeClr val="tx1"/>
                          </a:solidFill>
                          <a:latin typeface="+mn-lt"/>
                          <a:ea typeface="+mn-ea"/>
                          <a:cs typeface="+mn-cs"/>
                        </a:rPr>
                        <a:t> (مع اعتبار سياسات النشر) ، مع </a:t>
                      </a:r>
                      <a:r>
                        <a:rPr lang="ar-SA" sz="1100" noProof="0" dirty="0">
                          <a:latin typeface="Sakkal Majalla" panose="02000000000000000000" pitchFamily="2" charset="-78"/>
                          <a:cs typeface="Sakkal Majalla" panose="02000000000000000000" pitchFamily="2" charset="-78"/>
                        </a:rPr>
                        <a:t>ضرورة تفعيل استخدام البوابة الداخلية لتشمل تقديم كل الطلبات</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marL="0" marR="0" lvl="0" indent="0" algn="ctr" defTabSz="914400" rtl="1" eaLnBrk="1" fontAlgn="auto" latinLnBrk="0" hangingPunct="1">
                        <a:lnSpc>
                          <a:spcPct val="100000"/>
                        </a:lnSpc>
                        <a:spcBef>
                          <a:spcPts val="0"/>
                        </a:spcBef>
                        <a:spcAft>
                          <a:spcPts val="0"/>
                        </a:spcAft>
                        <a:buClrTx/>
                        <a:buSzTx/>
                        <a:buFont typeface="Arial" panose="020B0604020202020204" pitchFamily="34" charset="0"/>
                        <a:buNone/>
                        <a:tabLst/>
                        <a:defRPr/>
                      </a:pPr>
                      <a:r>
                        <a:rPr lang="ar-SA" sz="1400" b="1" noProof="0" dirty="0">
                          <a:solidFill>
                            <a:schemeClr val="accent1"/>
                          </a:solidFill>
                        </a:rPr>
                        <a:t>الوصف</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lumMod val="95000"/>
                      </a:schemeClr>
                    </a:solidFill>
                  </a:tcPr>
                </a:tc>
                <a:tc rowSpan="4">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ar-SA" sz="1600" b="1" u="none" strike="noStrike" kern="1200" cap="none" spc="0" normalizeH="0" baseline="0" noProof="0" dirty="0">
                          <a:ln>
                            <a:noFill/>
                          </a:ln>
                          <a:effectLst/>
                          <a:uLnTx/>
                          <a:uFillTx/>
                        </a:rPr>
                        <a:t>GAP-B-22</a:t>
                      </a:r>
                    </a:p>
                    <a:p>
                      <a:pPr marL="0" marR="0" lvl="0" indent="0" algn="r" defTabSz="914400" rtl="1" eaLnBrk="1" fontAlgn="auto" latinLnBrk="0" hangingPunct="1">
                        <a:lnSpc>
                          <a:spcPct val="100000"/>
                        </a:lnSpc>
                        <a:spcBef>
                          <a:spcPts val="0"/>
                        </a:spcBef>
                        <a:spcAft>
                          <a:spcPts val="0"/>
                        </a:spcAft>
                        <a:buClrTx/>
                        <a:buSzTx/>
                        <a:buFontTx/>
                        <a:buNone/>
                        <a:tabLst/>
                        <a:defRPr/>
                      </a:pPr>
                      <a:r>
                        <a:rPr lang="ar-SA" sz="1400" b="1" kern="1200" noProof="0" dirty="0">
                          <a:effectLst/>
                        </a:rPr>
                        <a:t>ضرورة الأتمتة الرقمية لعمليات الموظفين من خلال </a:t>
                      </a:r>
                      <a:r>
                        <a:rPr lang="ar-SA" sz="1400" b="1" kern="1200" noProof="0" dirty="0">
                          <a:solidFill>
                            <a:schemeClr val="tx1"/>
                          </a:solidFill>
                          <a:effectLst/>
                          <a:latin typeface="+mn-lt"/>
                          <a:ea typeface="+mn-ea"/>
                          <a:cs typeface="+mn-cs"/>
                        </a:rPr>
                        <a:t>إنشاء بوابة داخلية موحدة للموظفين</a:t>
                      </a:r>
                      <a:endParaRPr lang="ar-SA" sz="1400" b="1" kern="1200" noProof="0" dirty="0">
                        <a:effectLst/>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extLst>
                  <a:ext uri="{0D108BD9-81ED-4DB2-BD59-A6C34878D82A}">
                    <a16:rowId xmlns:a16="http://schemas.microsoft.com/office/drawing/2014/main" val="1136131386"/>
                  </a:ext>
                </a:extLst>
              </a:tr>
              <a:tr h="268929">
                <a:tc vMerge="1">
                  <a:txBody>
                    <a:bodyPr/>
                    <a:lstStyle/>
                    <a:p>
                      <a:pPr marL="0" marR="0" lvl="0" indent="0" algn="r" defTabSz="914400" rtl="1" eaLnBrk="1" fontAlgn="auto" latinLnBrk="0" hangingPunct="1">
                        <a:lnSpc>
                          <a:spcPct val="100000"/>
                        </a:lnSpc>
                        <a:spcBef>
                          <a:spcPts val="0"/>
                        </a:spcBef>
                        <a:spcAft>
                          <a:spcPts val="0"/>
                        </a:spcAft>
                        <a:buClrTx/>
                        <a:buSzTx/>
                        <a:buFontTx/>
                        <a:buNone/>
                        <a:tabLst/>
                        <a:defRPr/>
                      </a:pPr>
                      <a:endParaRPr lang="en-GB" sz="1400" noProof="0" dirty="0"/>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vMerge="1">
                  <a:txBody>
                    <a:bodyPr/>
                    <a:lstStyle/>
                    <a:p>
                      <a:endParaRPr lang="en-US"/>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vMerge="1">
                  <a:txBody>
                    <a:bodyPr/>
                    <a:lstStyle/>
                    <a:p>
                      <a:endParaRPr lang="en-US"/>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marL="0" marR="0" lvl="0" indent="0" algn="just" defTabSz="914400" rtl="1" eaLnBrk="1" fontAlgn="auto" latinLnBrk="0" hangingPunct="1">
                        <a:lnSpc>
                          <a:spcPct val="100000"/>
                        </a:lnSpc>
                        <a:spcBef>
                          <a:spcPts val="0"/>
                        </a:spcBef>
                        <a:spcAft>
                          <a:spcPts val="0"/>
                        </a:spcAft>
                        <a:buClrTx/>
                        <a:buSzTx/>
                        <a:buFont typeface="Arial" panose="020B0604020202020204" pitchFamily="34" charset="0"/>
                        <a:buNone/>
                        <a:tabLst/>
                        <a:defRPr/>
                      </a:pPr>
                      <a:r>
                        <a:rPr lang="ar-SA" sz="1100" kern="1200" noProof="0" dirty="0">
                          <a:solidFill>
                            <a:schemeClr val="tx1"/>
                          </a:solidFill>
                          <a:latin typeface="+mn-lt"/>
                          <a:ea typeface="+mn-ea"/>
                          <a:cs typeface="+mn-cs"/>
                        </a:rPr>
                        <a:t>عدم إمكانية الوصول بشكل كامل إلى جميع المعلومات والخدمات والأنظمة المتعلقة بأعمال </a:t>
                      </a:r>
                      <a:r>
                        <a:rPr lang="ar-SA" sz="1100" baseline="0" noProof="0" dirty="0">
                          <a:effectLst/>
                          <a:latin typeface="Sakkal Majalla" panose="02000000000000000000" pitchFamily="2" charset="-78"/>
                          <a:ea typeface="Sakkal Majalla" panose="02000000000000000000" pitchFamily="2" charset="-78"/>
                          <a:cs typeface="Sakkal Majalla" panose="02000000000000000000" pitchFamily="2" charset="-78"/>
                        </a:rPr>
                        <a:t>الجهة</a:t>
                      </a:r>
                      <a:r>
                        <a:rPr lang="ar-SA" sz="1100" kern="1200" noProof="0" dirty="0">
                          <a:solidFill>
                            <a:schemeClr val="tx1"/>
                          </a:solidFill>
                          <a:latin typeface="+mn-lt"/>
                          <a:ea typeface="+mn-ea"/>
                          <a:cs typeface="+mn-cs"/>
                        </a:rPr>
                        <a:t> </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marL="0" marR="0" lvl="0" indent="0" algn="ctr" defTabSz="914400" rtl="1" eaLnBrk="1" fontAlgn="auto" latinLnBrk="0" hangingPunct="1">
                        <a:lnSpc>
                          <a:spcPct val="100000"/>
                        </a:lnSpc>
                        <a:spcBef>
                          <a:spcPts val="0"/>
                        </a:spcBef>
                        <a:spcAft>
                          <a:spcPts val="0"/>
                        </a:spcAft>
                        <a:buClrTx/>
                        <a:buSzTx/>
                        <a:buFont typeface="Arial" panose="020B0604020202020204" pitchFamily="34" charset="0"/>
                        <a:buNone/>
                        <a:tabLst/>
                        <a:defRPr/>
                      </a:pPr>
                      <a:r>
                        <a:rPr lang="ar-SA" sz="1400" b="1" kern="1200" noProof="0" dirty="0">
                          <a:solidFill>
                            <a:schemeClr val="accent1"/>
                          </a:solidFill>
                        </a:rPr>
                        <a:t>الأثر الحالي</a:t>
                      </a:r>
                      <a:endParaRPr lang="ar-SA" sz="1400" b="1" noProof="0" dirty="0">
                        <a:solidFill>
                          <a:schemeClr val="accent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lumMod val="95000"/>
                      </a:schemeClr>
                    </a:solidFill>
                  </a:tcPr>
                </a:tc>
                <a:tc vMerge="1">
                  <a:txBody>
                    <a:bodyPr/>
                    <a:lstStyle/>
                    <a:p>
                      <a:pPr marL="0" marR="0" lvl="0" indent="0" algn="r" defTabSz="914400" rtl="1" eaLnBrk="1" fontAlgn="auto" latinLnBrk="0" hangingPunct="1">
                        <a:lnSpc>
                          <a:spcPct val="100000"/>
                        </a:lnSpc>
                        <a:spcBef>
                          <a:spcPts val="0"/>
                        </a:spcBef>
                        <a:spcAft>
                          <a:spcPts val="0"/>
                        </a:spcAft>
                        <a:buClrTx/>
                        <a:buSzTx/>
                        <a:buFontTx/>
                        <a:buNone/>
                        <a:tabLst/>
                        <a:defRPr/>
                      </a:pPr>
                      <a:endParaRPr lang="en-GB" sz="1400" b="1" noProof="0" dirty="0"/>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extLst>
                  <a:ext uri="{0D108BD9-81ED-4DB2-BD59-A6C34878D82A}">
                    <a16:rowId xmlns:a16="http://schemas.microsoft.com/office/drawing/2014/main" val="918118369"/>
                  </a:ext>
                </a:extLst>
              </a:tr>
              <a:tr h="457179">
                <a:tc vMerge="1">
                  <a:txBody>
                    <a:bodyPr/>
                    <a:lstStyle/>
                    <a:p>
                      <a:pPr marL="0" marR="0" lvl="0" indent="0" algn="r" defTabSz="914400" rtl="1" eaLnBrk="1" fontAlgn="auto" latinLnBrk="0" hangingPunct="1">
                        <a:lnSpc>
                          <a:spcPct val="100000"/>
                        </a:lnSpc>
                        <a:spcBef>
                          <a:spcPts val="0"/>
                        </a:spcBef>
                        <a:spcAft>
                          <a:spcPts val="0"/>
                        </a:spcAft>
                        <a:buClrTx/>
                        <a:buSzTx/>
                        <a:buFontTx/>
                        <a:buNone/>
                        <a:tabLst/>
                        <a:defRPr/>
                      </a:pPr>
                      <a:endParaRPr lang="en-GB" sz="1400" noProof="0" dirty="0"/>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vMerge="1">
                  <a:txBody>
                    <a:bodyPr/>
                    <a:lstStyle/>
                    <a:p>
                      <a:endParaRPr lang="en-US"/>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vMerge="1">
                  <a:txBody>
                    <a:bodyPr/>
                    <a:lstStyle/>
                    <a:p>
                      <a:endParaRPr lang="en-US"/>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marL="0" marR="0" lvl="0" indent="0" algn="just" defTabSz="914400" rtl="1" eaLnBrk="1" fontAlgn="auto" latinLnBrk="0" hangingPunct="1">
                        <a:lnSpc>
                          <a:spcPct val="100000"/>
                        </a:lnSpc>
                        <a:spcBef>
                          <a:spcPts val="0"/>
                        </a:spcBef>
                        <a:spcAft>
                          <a:spcPts val="0"/>
                        </a:spcAft>
                        <a:buClrTx/>
                        <a:buSzTx/>
                        <a:buFont typeface="Arial" panose="020B0604020202020204" pitchFamily="34" charset="0"/>
                        <a:buNone/>
                        <a:tabLst/>
                        <a:defRPr/>
                      </a:pPr>
                      <a:r>
                        <a:rPr lang="ar-SA" sz="1100" kern="1200" noProof="0" dirty="0">
                          <a:solidFill>
                            <a:schemeClr val="tx1"/>
                          </a:solidFill>
                          <a:latin typeface="+mn-lt"/>
                          <a:ea typeface="+mn-ea"/>
                          <a:cs typeface="+mn-cs"/>
                        </a:rPr>
                        <a:t>الوصول بشكل كامل إلى جميع المعلومات والخدمات والأنظمة المتعلقة بأعمال </a:t>
                      </a:r>
                      <a:r>
                        <a:rPr lang="ar-SA" sz="1100" baseline="0" noProof="0" dirty="0">
                          <a:effectLst/>
                          <a:latin typeface="Sakkal Majalla" panose="02000000000000000000" pitchFamily="2" charset="-78"/>
                          <a:ea typeface="Sakkal Majalla" panose="02000000000000000000" pitchFamily="2" charset="-78"/>
                          <a:cs typeface="Sakkal Majalla" panose="02000000000000000000" pitchFamily="2" charset="-78"/>
                        </a:rPr>
                        <a:t>الجهة</a:t>
                      </a:r>
                      <a:r>
                        <a:rPr lang="ar-SA" sz="1100" kern="1200" noProof="0" dirty="0">
                          <a:solidFill>
                            <a:schemeClr val="tx1"/>
                          </a:solidFill>
                          <a:latin typeface="+mn-lt"/>
                          <a:ea typeface="+mn-ea"/>
                          <a:cs typeface="+mn-cs"/>
                        </a:rPr>
                        <a:t> </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marL="0" marR="0" lvl="0" indent="0" algn="ctr" defTabSz="914400" rtl="1" eaLnBrk="1" fontAlgn="auto" latinLnBrk="0" hangingPunct="1">
                        <a:lnSpc>
                          <a:spcPct val="100000"/>
                        </a:lnSpc>
                        <a:spcBef>
                          <a:spcPts val="0"/>
                        </a:spcBef>
                        <a:spcAft>
                          <a:spcPts val="0"/>
                        </a:spcAft>
                        <a:buClrTx/>
                        <a:buSzTx/>
                        <a:buFont typeface="Arial" panose="020B0604020202020204" pitchFamily="34" charset="0"/>
                        <a:buNone/>
                        <a:tabLst/>
                        <a:defRPr/>
                      </a:pPr>
                      <a:r>
                        <a:rPr lang="ar-SA" sz="1400" b="1" noProof="0" dirty="0">
                          <a:solidFill>
                            <a:schemeClr val="accent1"/>
                          </a:solidFill>
                        </a:rPr>
                        <a:t>الأثر بعد الردم (المعالجة)</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lumMod val="95000"/>
                      </a:schemeClr>
                    </a:solidFill>
                  </a:tcPr>
                </a:tc>
                <a:tc vMerge="1">
                  <a:txBody>
                    <a:bodyPr/>
                    <a:lstStyle/>
                    <a:p>
                      <a:pPr marL="0" marR="0" lvl="0" indent="0" algn="r" defTabSz="914400" rtl="1" eaLnBrk="1" fontAlgn="auto" latinLnBrk="0" hangingPunct="1">
                        <a:lnSpc>
                          <a:spcPct val="100000"/>
                        </a:lnSpc>
                        <a:spcBef>
                          <a:spcPts val="0"/>
                        </a:spcBef>
                        <a:spcAft>
                          <a:spcPts val="0"/>
                        </a:spcAft>
                        <a:buClrTx/>
                        <a:buSzTx/>
                        <a:buFontTx/>
                        <a:buNone/>
                        <a:tabLst/>
                        <a:defRPr/>
                      </a:pPr>
                      <a:endParaRPr lang="en-GB" sz="1400" b="1" noProof="0" dirty="0"/>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extLst>
                  <a:ext uri="{0D108BD9-81ED-4DB2-BD59-A6C34878D82A}">
                    <a16:rowId xmlns:a16="http://schemas.microsoft.com/office/drawing/2014/main" val="4153014111"/>
                  </a:ext>
                </a:extLst>
              </a:tr>
              <a:tr h="1263967">
                <a:tc vMerge="1">
                  <a:txBody>
                    <a:bodyPr/>
                    <a:lstStyle/>
                    <a:p>
                      <a:pPr marL="0" marR="0" lvl="0" indent="0" algn="r" defTabSz="914400" rtl="1" eaLnBrk="1" fontAlgn="auto" latinLnBrk="0" hangingPunct="1">
                        <a:lnSpc>
                          <a:spcPct val="100000"/>
                        </a:lnSpc>
                        <a:spcBef>
                          <a:spcPts val="0"/>
                        </a:spcBef>
                        <a:spcAft>
                          <a:spcPts val="0"/>
                        </a:spcAft>
                        <a:buClrTx/>
                        <a:buSzTx/>
                        <a:buFontTx/>
                        <a:buNone/>
                        <a:tabLst/>
                        <a:defRPr/>
                      </a:pPr>
                      <a:endParaRPr lang="en-GB" sz="1400" noProof="0" dirty="0"/>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vMerge="1">
                  <a:txBody>
                    <a:bodyPr/>
                    <a:lstStyle/>
                    <a:p>
                      <a:endParaRPr lang="en-US"/>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vMerge="1">
                  <a:txBody>
                    <a:bodyPr/>
                    <a:lstStyle/>
                    <a:p>
                      <a:endParaRPr lang="en-US"/>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marL="0" marR="0" lvl="0" indent="0" algn="just" defTabSz="914400" rtl="1" eaLnBrk="1" fontAlgn="auto" latinLnBrk="0" hangingPunct="1">
                        <a:lnSpc>
                          <a:spcPct val="100000"/>
                        </a:lnSpc>
                        <a:spcBef>
                          <a:spcPts val="0"/>
                        </a:spcBef>
                        <a:spcAft>
                          <a:spcPts val="0"/>
                        </a:spcAft>
                        <a:buClrTx/>
                        <a:buSzTx/>
                        <a:buFont typeface="Arial" panose="020B0604020202020204" pitchFamily="34" charset="0"/>
                        <a:buNone/>
                        <a:tabLst/>
                        <a:defRPr/>
                      </a:pPr>
                      <a:r>
                        <a:rPr lang="ar-SA" sz="1100" noProof="0" dirty="0"/>
                        <a:t>إنشاء </a:t>
                      </a:r>
                      <a:r>
                        <a:rPr lang="ar-SA" sz="1100" b="1" noProof="0" dirty="0"/>
                        <a:t>منصة رقمية موحدة</a:t>
                      </a:r>
                      <a:r>
                        <a:rPr lang="ar-SA" sz="1100" noProof="0" dirty="0"/>
                        <a:t> توفر وصولاً مركزيًا لكافة المعلومات والخدمات ، تصميم واجهة مستخدم سهلة الاستخدام ومتوافقة مع مختلف الأجهزة ، ضمان الالتزام بسياسات النشر والمعايير الأمنية لحماية البيانات ، ربط البوابة بأنظمة الموارد البشرية، المالية، المراسلات، وإدارة المشاريع ، وبقية الأنظمة المرتبطة ، إتاحة </a:t>
                      </a:r>
                      <a:r>
                        <a:rPr lang="ar-SA" sz="1100" b="1" noProof="0" dirty="0"/>
                        <a:t>الوصول السريع</a:t>
                      </a:r>
                      <a:r>
                        <a:rPr lang="ar-SA" sz="1100" noProof="0" dirty="0"/>
                        <a:t> إلى الأدلة الإجرائية، السياسات، والتعاميم الداخلية ، أتمتة تقديم الطلبات والموافقات ، معالجة الطلبات تلقائيًا وإرسالها للجهات المختصة للموافقة والمتابعة ، تمكين </a:t>
                      </a:r>
                      <a:r>
                        <a:rPr lang="ar-SA" sz="1100" b="1" noProof="0" dirty="0"/>
                        <a:t>الإشعارات التلقائية</a:t>
                      </a:r>
                      <a:r>
                        <a:rPr lang="ar-SA" sz="1100" noProof="0" dirty="0"/>
                        <a:t> للموظفين بخصوص حالة الطلبات ، توفير </a:t>
                      </a:r>
                      <a:r>
                        <a:rPr lang="ar-SA" sz="1100" b="1" noProof="0" dirty="0"/>
                        <a:t>محرك بحث ذكي</a:t>
                      </a:r>
                      <a:r>
                        <a:rPr lang="ar-SA" sz="1100" noProof="0" dirty="0"/>
                        <a:t> يسهل العثور على المعلومات بسرعة ، دمج </a:t>
                      </a:r>
                      <a:r>
                        <a:rPr lang="ar-SA" sz="1100" b="1" noProof="0" dirty="0"/>
                        <a:t>الدردشة الذكية (</a:t>
                      </a:r>
                      <a:r>
                        <a:rPr lang="ar-SA" sz="1100" b="1" noProof="0" dirty="0" err="1"/>
                        <a:t>Chatbot</a:t>
                      </a:r>
                      <a:r>
                        <a:rPr lang="ar-SA" sz="1100" b="1" noProof="0" dirty="0"/>
                        <a:t>)</a:t>
                      </a:r>
                      <a:r>
                        <a:rPr lang="ar-SA" sz="1100" noProof="0" dirty="0"/>
                        <a:t> للإجابة على الأسئلة الشائعة وتوجيه الموظفين</a:t>
                      </a:r>
                      <a:endParaRPr lang="ar-SA" sz="1100" kern="1200" noProof="0" dirty="0">
                        <a:solidFill>
                          <a:schemeClr val="tx1"/>
                        </a:solidFill>
                        <a:latin typeface="+mn-lt"/>
                        <a:ea typeface="+mn-ea"/>
                        <a:cs typeface="+mn-cs"/>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marL="0" marR="0" lvl="0" indent="0" algn="ctr" defTabSz="914400" rtl="1" eaLnBrk="1" fontAlgn="auto" latinLnBrk="0" hangingPunct="1">
                        <a:lnSpc>
                          <a:spcPct val="100000"/>
                        </a:lnSpc>
                        <a:spcBef>
                          <a:spcPts val="0"/>
                        </a:spcBef>
                        <a:spcAft>
                          <a:spcPts val="0"/>
                        </a:spcAft>
                        <a:buClrTx/>
                        <a:buSzTx/>
                        <a:buFont typeface="Arial" panose="020B0604020202020204" pitchFamily="34" charset="0"/>
                        <a:buNone/>
                        <a:tabLst/>
                        <a:defRPr/>
                      </a:pPr>
                      <a:r>
                        <a:rPr lang="ar-SA" sz="1400" b="1" noProof="0" dirty="0">
                          <a:solidFill>
                            <a:schemeClr val="accent1"/>
                          </a:solidFill>
                        </a:rPr>
                        <a:t>تغطية الفجوة </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accent1"/>
                      </a:solidFill>
                      <a:prstDash val="solid"/>
                      <a:round/>
                      <a:headEnd type="none" w="med" len="med"/>
                      <a:tailEnd type="none" w="med" len="med"/>
                    </a:lnB>
                    <a:solidFill>
                      <a:schemeClr val="bg1">
                        <a:lumMod val="95000"/>
                      </a:schemeClr>
                    </a:solidFill>
                  </a:tcPr>
                </a:tc>
                <a:tc vMerge="1">
                  <a:txBody>
                    <a:bodyPr/>
                    <a:lstStyle/>
                    <a:p>
                      <a:pPr marL="0" marR="0" lvl="0" indent="0" algn="r" defTabSz="914400" rtl="1" eaLnBrk="1" fontAlgn="auto" latinLnBrk="0" hangingPunct="1">
                        <a:lnSpc>
                          <a:spcPct val="100000"/>
                        </a:lnSpc>
                        <a:spcBef>
                          <a:spcPts val="0"/>
                        </a:spcBef>
                        <a:spcAft>
                          <a:spcPts val="0"/>
                        </a:spcAft>
                        <a:buClrTx/>
                        <a:buSzTx/>
                        <a:buFontTx/>
                        <a:buNone/>
                        <a:tabLst/>
                        <a:defRPr/>
                      </a:pPr>
                      <a:endParaRPr lang="en-GB" sz="1400" b="1" noProof="0" dirty="0"/>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extLst>
                  <a:ext uri="{0D108BD9-81ED-4DB2-BD59-A6C34878D82A}">
                    <a16:rowId xmlns:a16="http://schemas.microsoft.com/office/drawing/2014/main" val="1035545327"/>
                  </a:ext>
                </a:extLst>
              </a:tr>
            </a:tbl>
          </a:graphicData>
        </a:graphic>
      </p:graphicFrame>
      <p:sp>
        <p:nvSpPr>
          <p:cNvPr id="7" name="TextBox 6">
            <a:extLst>
              <a:ext uri="{FF2B5EF4-FFF2-40B4-BE49-F238E27FC236}">
                <a16:creationId xmlns:a16="http://schemas.microsoft.com/office/drawing/2014/main" id="{78FFBCC9-9528-43EE-3448-66EDC46CF782}"/>
              </a:ext>
            </a:extLst>
          </p:cNvPr>
          <p:cNvSpPr txBox="1"/>
          <p:nvPr/>
        </p:nvSpPr>
        <p:spPr>
          <a:xfrm>
            <a:off x="609601" y="669501"/>
            <a:ext cx="10972800" cy="375487"/>
          </a:xfrm>
          <a:prstGeom prst="rect">
            <a:avLst/>
          </a:prstGeom>
          <a:noFill/>
        </p:spPr>
        <p:txBody>
          <a:bodyPr wrap="square">
            <a:spAutoFit/>
          </a:bodyPr>
          <a:lstStyle/>
          <a:p>
            <a:pPr algn="r" rtl="1">
              <a:lnSpc>
                <a:spcPct val="115000"/>
              </a:lnSpc>
              <a:spcAft>
                <a:spcPts val="1000"/>
              </a:spcAft>
            </a:pPr>
            <a:r>
              <a:rPr lang="ar-SA" sz="1600" noProof="0" dirty="0">
                <a:solidFill>
                  <a:srgbClr val="000000"/>
                </a:solidFill>
                <a:latin typeface="Sakkal Majalla" panose="02000000000000000000" pitchFamily="2" charset="-78"/>
                <a:ea typeface="Sakkal Majalla" panose="02000000000000000000" pitchFamily="2" charset="-78"/>
                <a:cs typeface="Sakkal Majalla" panose="02000000000000000000" pitchFamily="2" charset="-78"/>
              </a:rPr>
              <a:t>يهدف هذا القسم من الوثيقة إلى تقديم الملاحظات الخاصة بالوضع الحالي لبنية الأعمال مع ذكر التوصيات  والتحسينات المفترض تطبيقها في الوضع المستقبلي</a:t>
            </a:r>
          </a:p>
        </p:txBody>
      </p:sp>
    </p:spTree>
    <p:extLst>
      <p:ext uri="{BB962C8B-B14F-4D97-AF65-F5344CB8AC3E}">
        <p14:creationId xmlns:p14="http://schemas.microsoft.com/office/powerpoint/2010/main" val="240433669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a:xfrm>
            <a:off x="609601" y="319030"/>
            <a:ext cx="10972800" cy="666261"/>
          </a:xfrm>
        </p:spPr>
        <p:txBody>
          <a:bodyPr/>
          <a:lstStyle/>
          <a:p>
            <a:r>
              <a:rPr lang="ar-SA" noProof="0" dirty="0"/>
              <a:t>ملخص تحليل الفجوات لبنية الأعمال </a:t>
            </a:r>
          </a:p>
        </p:txBody>
      </p:sp>
      <p:sp>
        <p:nvSpPr>
          <p:cNvPr id="3" name="Slide Number Placeholder 2">
            <a:extLst>
              <a:ext uri="{FF2B5EF4-FFF2-40B4-BE49-F238E27FC236}">
                <a16:creationId xmlns:a16="http://schemas.microsoft.com/office/drawing/2014/main" id="{A63A027D-6EA1-E9F6-6212-7D45811B8DC3}"/>
              </a:ext>
            </a:extLst>
          </p:cNvPr>
          <p:cNvSpPr>
            <a:spLocks noGrp="1"/>
          </p:cNvSpPr>
          <p:nvPr>
            <p:ph type="sldNum" sz="quarter" idx="12"/>
          </p:nvPr>
        </p:nvSpPr>
        <p:spPr>
          <a:xfrm>
            <a:off x="655319" y="6567058"/>
            <a:ext cx="466471" cy="290942"/>
          </a:xfrm>
        </p:spPr>
        <p:txBody>
          <a:bodyPr/>
          <a:lstStyle/>
          <a:p>
            <a:fld id="{0BE4EC83-A869-464E-AE9F-881796FB085E}" type="slidenum">
              <a:rPr lang="ar-SA" noProof="0" smtClean="0"/>
              <a:pPr/>
              <a:t>21</a:t>
            </a:fld>
            <a:endParaRPr lang="ar-SA" noProof="0" dirty="0"/>
          </a:p>
        </p:txBody>
      </p:sp>
      <p:graphicFrame>
        <p:nvGraphicFramePr>
          <p:cNvPr id="2" name="Table 1">
            <a:extLst>
              <a:ext uri="{FF2B5EF4-FFF2-40B4-BE49-F238E27FC236}">
                <a16:creationId xmlns:a16="http://schemas.microsoft.com/office/drawing/2014/main" id="{C47CAF5B-4215-4DCE-B225-BC1E66631900}"/>
              </a:ext>
            </a:extLst>
          </p:cNvPr>
          <p:cNvGraphicFramePr>
            <a:graphicFrameLocks noGrp="1"/>
          </p:cNvGraphicFramePr>
          <p:nvPr>
            <p:extLst>
              <p:ext uri="{D42A27DB-BD31-4B8C-83A1-F6EECF244321}">
                <p14:modId xmlns:p14="http://schemas.microsoft.com/office/powerpoint/2010/main" val="962076581"/>
              </p:ext>
            </p:extLst>
          </p:nvPr>
        </p:nvGraphicFramePr>
        <p:xfrm>
          <a:off x="609600" y="1214936"/>
          <a:ext cx="10972802" cy="5486400"/>
        </p:xfrm>
        <a:graphic>
          <a:graphicData uri="http://schemas.openxmlformats.org/drawingml/2006/table">
            <a:tbl>
              <a:tblPr firstRow="1" bandRow="1">
                <a:tableStyleId>{2D5ABB26-0587-4C30-8999-92F81FD0307C}</a:tableStyleId>
              </a:tblPr>
              <a:tblGrid>
                <a:gridCol w="1828800">
                  <a:extLst>
                    <a:ext uri="{9D8B030D-6E8A-4147-A177-3AD203B41FA5}">
                      <a16:colId xmlns:a16="http://schemas.microsoft.com/office/drawing/2014/main" val="2801895674"/>
                    </a:ext>
                  </a:extLst>
                </a:gridCol>
                <a:gridCol w="582706">
                  <a:extLst>
                    <a:ext uri="{9D8B030D-6E8A-4147-A177-3AD203B41FA5}">
                      <a16:colId xmlns:a16="http://schemas.microsoft.com/office/drawing/2014/main" val="2976102064"/>
                    </a:ext>
                  </a:extLst>
                </a:gridCol>
                <a:gridCol w="627529">
                  <a:extLst>
                    <a:ext uri="{9D8B030D-6E8A-4147-A177-3AD203B41FA5}">
                      <a16:colId xmlns:a16="http://schemas.microsoft.com/office/drawing/2014/main" val="526736865"/>
                    </a:ext>
                  </a:extLst>
                </a:gridCol>
                <a:gridCol w="4229983">
                  <a:extLst>
                    <a:ext uri="{9D8B030D-6E8A-4147-A177-3AD203B41FA5}">
                      <a16:colId xmlns:a16="http://schemas.microsoft.com/office/drawing/2014/main" val="4106469564"/>
                    </a:ext>
                  </a:extLst>
                </a:gridCol>
                <a:gridCol w="923637">
                  <a:extLst>
                    <a:ext uri="{9D8B030D-6E8A-4147-A177-3AD203B41FA5}">
                      <a16:colId xmlns:a16="http://schemas.microsoft.com/office/drawing/2014/main" val="1154529574"/>
                    </a:ext>
                  </a:extLst>
                </a:gridCol>
                <a:gridCol w="2780147">
                  <a:extLst>
                    <a:ext uri="{9D8B030D-6E8A-4147-A177-3AD203B41FA5}">
                      <a16:colId xmlns:a16="http://schemas.microsoft.com/office/drawing/2014/main" val="1503598667"/>
                    </a:ext>
                  </a:extLst>
                </a:gridCol>
              </a:tblGrid>
              <a:tr h="0">
                <a:tc>
                  <a:txBody>
                    <a:bodyPr/>
                    <a:lstStyle/>
                    <a:p>
                      <a:pPr algn="ctr" rtl="1"/>
                      <a:r>
                        <a:rPr lang="ar-SA" sz="1400" b="1" noProof="0" dirty="0">
                          <a:solidFill>
                            <a:schemeClr val="bg1"/>
                          </a:solidFill>
                        </a:rPr>
                        <a:t>المصدر</a:t>
                      </a:r>
                      <a:endParaRPr lang="ar-SA" sz="1400" b="1" noProof="0" dirty="0">
                        <a:solidFill>
                          <a:schemeClr val="bg1"/>
                        </a:solidFill>
                        <a:latin typeface="+mj-lt"/>
                      </a:endParaRPr>
                    </a:p>
                  </a:txBody>
                  <a:tcPr anchor="ctr">
                    <a:lnL w="12700" cap="flat" cmpd="sng" algn="ctr">
                      <a:noFill/>
                      <a:prstDash val="solid"/>
                      <a:round/>
                      <a:headEnd type="none" w="med" len="med"/>
                      <a:tailEnd type="none" w="med" len="med"/>
                    </a:lnL>
                    <a:lnR w="12700" cap="flat" cmpd="sng" algn="ctr">
                      <a:solidFill>
                        <a:schemeClr val="bg1"/>
                      </a:solidFill>
                      <a:prstDash val="solid"/>
                      <a:round/>
                      <a:headEnd type="none" w="med" len="med"/>
                      <a:tailEnd type="none" w="med" len="med"/>
                    </a:lnR>
                    <a:solidFill>
                      <a:schemeClr val="accent1"/>
                    </a:solidFill>
                  </a:tcPr>
                </a:tc>
                <a:tc>
                  <a: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lang="ar-SA" sz="1400" b="1" noProof="0" dirty="0">
                          <a:solidFill>
                            <a:schemeClr val="bg1"/>
                          </a:solidFill>
                        </a:rPr>
                        <a:t>الأهمية</a:t>
                      </a:r>
                      <a:endParaRPr lang="ar-SA" sz="1400" b="1" noProof="0" dirty="0">
                        <a:solidFill>
                          <a:schemeClr val="bg1"/>
                        </a:solidFill>
                        <a:latin typeface="+mj-lt"/>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solidFill>
                      <a:schemeClr val="accent1"/>
                    </a:solidFill>
                  </a:tcPr>
                </a:tc>
                <a:tc>
                  <a: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lang="ar-SA" sz="1400" b="1" noProof="0" dirty="0">
                          <a:solidFill>
                            <a:schemeClr val="bg1"/>
                          </a:solidFill>
                        </a:rPr>
                        <a:t>الأولوية</a:t>
                      </a:r>
                      <a:endParaRPr lang="ar-SA" sz="1400" b="1" noProof="0" dirty="0">
                        <a:solidFill>
                          <a:schemeClr val="bg1"/>
                        </a:solidFill>
                        <a:latin typeface="+mj-lt"/>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solidFill>
                      <a:schemeClr val="accent1"/>
                    </a:solidFill>
                  </a:tcPr>
                </a:tc>
                <a:tc gridSpan="2">
                  <a: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lang="ar-SA" sz="1400" b="1" noProof="0" dirty="0">
                          <a:solidFill>
                            <a:schemeClr val="bg1"/>
                          </a:solidFill>
                        </a:rPr>
                        <a:t>التحليل لكل فجوة </a:t>
                      </a:r>
                      <a:endParaRPr lang="ar-SA" sz="1400" b="1" noProof="0" dirty="0">
                        <a:solidFill>
                          <a:schemeClr val="bg1"/>
                        </a:solidFill>
                        <a:latin typeface="+mj-lt"/>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solidFill>
                      <a:schemeClr val="accent1"/>
                    </a:solidFill>
                  </a:tcPr>
                </a:tc>
                <a:tc hMerge="1">
                  <a:txBody>
                    <a:bodyPr/>
                    <a:lstStyle/>
                    <a:p>
                      <a:endParaRPr lang="en-US"/>
                    </a:p>
                  </a:txBody>
                  <a:tcPr/>
                </a:tc>
                <a:tc>
                  <a:txBody>
                    <a:bodyPr/>
                    <a:lstStyle/>
                    <a:p>
                      <a:pPr algn="ctr" rtl="1"/>
                      <a:r>
                        <a:rPr lang="ar-SA" sz="1400" b="1" noProof="0" dirty="0">
                          <a:solidFill>
                            <a:schemeClr val="bg1"/>
                          </a:solidFill>
                        </a:rPr>
                        <a:t>الفجوة</a:t>
                      </a:r>
                      <a:endParaRPr lang="ar-SA" sz="1400" b="1" noProof="0" dirty="0">
                        <a:solidFill>
                          <a:schemeClr val="bg1"/>
                        </a:solidFill>
                        <a:latin typeface="+mj-lt"/>
                      </a:endParaRPr>
                    </a:p>
                  </a:txBody>
                  <a:tcPr anchor="ctr">
                    <a:lnL w="12700" cap="flat" cmpd="sng" algn="ctr">
                      <a:solidFill>
                        <a:schemeClr val="bg1"/>
                      </a:solidFill>
                      <a:prstDash val="solid"/>
                      <a:round/>
                      <a:headEnd type="none" w="med" len="med"/>
                      <a:tailEnd type="none" w="med" len="med"/>
                    </a:lnL>
                    <a:lnR w="12700" cap="flat" cmpd="sng" algn="ctr">
                      <a:noFill/>
                      <a:prstDash val="solid"/>
                      <a:round/>
                      <a:headEnd type="none" w="med" len="med"/>
                      <a:tailEnd type="none" w="med" len="med"/>
                    </a:lnR>
                    <a:solidFill>
                      <a:schemeClr val="accent1"/>
                    </a:solidFill>
                  </a:tcPr>
                </a:tc>
                <a:extLst>
                  <a:ext uri="{0D108BD9-81ED-4DB2-BD59-A6C34878D82A}">
                    <a16:rowId xmlns:a16="http://schemas.microsoft.com/office/drawing/2014/main" val="3304685178"/>
                  </a:ext>
                </a:extLst>
              </a:tr>
              <a:tr h="0">
                <a:tc rowSpan="4">
                  <a:txBody>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lang="ar-SA" sz="1400" noProof="0" dirty="0"/>
                        <a:t>ملف حصر الأعمال ، دراسة وثائق الأعمال للجهة المتوفرة بالوضع الحالي ، ورش العمل لحصر الأعمال مع الوحدات الإدارية المعنية ،تطلعات أصحاب المصلحة</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B w="12700" cap="flat" cmpd="sng" algn="ctr">
                      <a:solidFill>
                        <a:schemeClr val="accent1"/>
                      </a:solidFill>
                      <a:prstDash val="solid"/>
                      <a:round/>
                      <a:headEnd type="none" w="med" len="med"/>
                      <a:tailEnd type="none" w="med" len="med"/>
                    </a:lnB>
                  </a:tcPr>
                </a:tc>
                <a:tc rowSpan="4">
                  <a:txBody>
                    <a:bodyPr/>
                    <a:lstStyle/>
                    <a:p>
                      <a:pPr marL="0" marR="0" lvl="0" indent="0" algn="ctr" defTabSz="914400" rtl="1" eaLnBrk="1" fontAlgn="auto" latinLnBrk="0" hangingPunct="1">
                        <a:lnSpc>
                          <a:spcPct val="100000"/>
                        </a:lnSpc>
                        <a:spcBef>
                          <a:spcPts val="0"/>
                        </a:spcBef>
                        <a:spcAft>
                          <a:spcPts val="0"/>
                        </a:spcAft>
                        <a:buClrTx/>
                        <a:buSzTx/>
                        <a:buFont typeface="Arial" panose="020B0604020202020204" pitchFamily="34" charset="0"/>
                        <a:buNone/>
                        <a:tabLst/>
                        <a:defRPr/>
                      </a:pPr>
                      <a:r>
                        <a:rPr kumimoji="0" lang="ar-SA" sz="1400" b="0" i="0" u="none" strike="noStrike" kern="1200" cap="none" spc="0" normalizeH="0" baseline="0" noProof="0" dirty="0">
                          <a:ln>
                            <a:noFill/>
                          </a:ln>
                          <a:solidFill>
                            <a:prstClr val="black"/>
                          </a:solidFill>
                          <a:effectLst/>
                          <a:uLnTx/>
                          <a:uFillTx/>
                          <a:latin typeface="Sakkal Majalla"/>
                          <a:ea typeface="+mn-ea"/>
                          <a:cs typeface="Sakkal Majalla"/>
                        </a:rPr>
                        <a:t>متوسط</a:t>
                      </a:r>
                    </a:p>
                  </a:txBody>
                  <a:tcPr anchor="ctr">
                    <a:lnL w="12700" cap="flat" cmpd="sng" algn="ctr">
                      <a:noFill/>
                      <a:prstDash val="solid"/>
                      <a:round/>
                      <a:headEnd type="none" w="med" len="med"/>
                      <a:tailEnd type="none" w="med" len="med"/>
                    </a:lnL>
                    <a:lnR w="12700" cap="flat" cmpd="sng" algn="ctr">
                      <a:solidFill>
                        <a:schemeClr val="bg1"/>
                      </a:solidFill>
                      <a:prstDash val="solid"/>
                      <a:round/>
                      <a:headEnd type="none" w="med" len="med"/>
                      <a:tailEnd type="none" w="med" len="med"/>
                    </a:lnR>
                    <a:lnB w="12700" cap="flat" cmpd="sng" algn="ctr">
                      <a:solidFill>
                        <a:schemeClr val="accent1"/>
                      </a:solidFill>
                      <a:prstDash val="solid"/>
                      <a:round/>
                      <a:headEnd type="none" w="med" len="med"/>
                      <a:tailEnd type="none" w="med" len="med"/>
                    </a:lnB>
                    <a:solidFill>
                      <a:schemeClr val="bg1">
                        <a:lumMod val="95000"/>
                      </a:schemeClr>
                    </a:solidFill>
                  </a:tcPr>
                </a:tc>
                <a:tc rowSpan="4">
                  <a:txBody>
                    <a:bodyPr/>
                    <a:lstStyle/>
                    <a:p>
                      <a:pPr marL="0" marR="0" lvl="0" indent="0" algn="ctr" defTabSz="914400" rtl="1" eaLnBrk="1" fontAlgn="auto" latinLnBrk="0" hangingPunct="1">
                        <a:lnSpc>
                          <a:spcPct val="100000"/>
                        </a:lnSpc>
                        <a:spcBef>
                          <a:spcPts val="0"/>
                        </a:spcBef>
                        <a:spcAft>
                          <a:spcPts val="0"/>
                        </a:spcAft>
                        <a:buClrTx/>
                        <a:buSzTx/>
                        <a:buFont typeface="Arial" panose="020B0604020202020204" pitchFamily="34" charset="0"/>
                        <a:buNone/>
                        <a:tabLst/>
                        <a:defRPr/>
                      </a:pPr>
                      <a:r>
                        <a:rPr kumimoji="0" lang="ar-SA" sz="1400" b="0" i="0" u="none" strike="noStrike" kern="1200" cap="none" spc="0" normalizeH="0" baseline="0" noProof="0" dirty="0">
                          <a:ln>
                            <a:noFill/>
                          </a:ln>
                          <a:solidFill>
                            <a:prstClr val="black"/>
                          </a:solidFill>
                          <a:effectLst/>
                          <a:uLnTx/>
                          <a:uFillTx/>
                          <a:latin typeface="Sakkal Majalla"/>
                          <a:ea typeface="+mn-ea"/>
                          <a:cs typeface="Sakkal Majalla"/>
                        </a:rPr>
                        <a:t>متوسط</a:t>
                      </a:r>
                    </a:p>
                  </a:txBody>
                  <a:tcPr anchor="ctr">
                    <a:lnL w="12700" cap="flat" cmpd="sng" algn="ctr">
                      <a:solidFill>
                        <a:schemeClr val="bg1"/>
                      </a:solidFill>
                      <a:prstDash val="solid"/>
                      <a:round/>
                      <a:headEnd type="none" w="med" len="med"/>
                      <a:tailEnd type="none" w="med" len="med"/>
                    </a:lnL>
                    <a:lnR w="12700" cap="flat" cmpd="sng" algn="ctr">
                      <a:noFill/>
                      <a:prstDash val="solid"/>
                      <a:round/>
                      <a:headEnd type="none" w="med" len="med"/>
                      <a:tailEnd type="none" w="med" len="med"/>
                    </a:lnR>
                    <a:lnB w="12700" cap="flat" cmpd="sng" algn="ctr">
                      <a:solidFill>
                        <a:schemeClr val="accent1"/>
                      </a:solidFill>
                      <a:prstDash val="solid"/>
                      <a:round/>
                      <a:headEnd type="none" w="med" len="med"/>
                      <a:tailEnd type="none" w="med" len="med"/>
                    </a:lnB>
                    <a:solidFill>
                      <a:schemeClr val="bg1">
                        <a:lumMod val="95000"/>
                      </a:schemeClr>
                    </a:solidFill>
                  </a:tcPr>
                </a:tc>
                <a:tc>
                  <a:txBody>
                    <a:bodyPr/>
                    <a:lstStyle/>
                    <a:p>
                      <a:pPr marL="0" marR="0" lvl="0" indent="0" algn="just" defTabSz="914400" rtl="1" eaLnBrk="1" fontAlgn="auto" latinLnBrk="0" hangingPunct="1">
                        <a:lnSpc>
                          <a:spcPct val="100000"/>
                        </a:lnSpc>
                        <a:spcBef>
                          <a:spcPts val="0"/>
                        </a:spcBef>
                        <a:spcAft>
                          <a:spcPts val="0"/>
                        </a:spcAft>
                        <a:buClrTx/>
                        <a:buSzTx/>
                        <a:buFont typeface="Arial" panose="020B0604020202020204" pitchFamily="34" charset="0"/>
                        <a:buNone/>
                        <a:tabLst/>
                        <a:defRPr/>
                      </a:pPr>
                      <a:r>
                        <a:rPr lang="ar-SA" sz="1200" kern="1200" noProof="0" dirty="0">
                          <a:solidFill>
                            <a:schemeClr val="tx1"/>
                          </a:solidFill>
                          <a:latin typeface="Sakkal Majalla" panose="02000000000000000000" pitchFamily="2" charset="-78"/>
                          <a:ea typeface="+mn-ea"/>
                          <a:cs typeface="Sakkal Majalla" panose="02000000000000000000" pitchFamily="2" charset="-78"/>
                        </a:rPr>
                        <a:t>ضرورة تطوير وتطبيق استراتيجية إدارة التغيير  المؤسسية (</a:t>
                      </a:r>
                      <a:r>
                        <a:rPr lang="ar-SA" sz="1200" kern="1200" noProof="0" dirty="0" err="1">
                          <a:solidFill>
                            <a:schemeClr val="tx1"/>
                          </a:solidFill>
                          <a:latin typeface="Sakkal Majalla" panose="02000000000000000000" pitchFamily="2" charset="-78"/>
                          <a:ea typeface="+mn-ea"/>
                          <a:cs typeface="Sakkal Majalla" panose="02000000000000000000" pitchFamily="2" charset="-78"/>
                        </a:rPr>
                        <a:t>Enterprise</a:t>
                      </a:r>
                      <a:r>
                        <a:rPr lang="ar-SA" sz="1200" kern="1200" noProof="0" dirty="0">
                          <a:solidFill>
                            <a:schemeClr val="tx1"/>
                          </a:solidFill>
                          <a:latin typeface="Sakkal Majalla" panose="02000000000000000000" pitchFamily="2" charset="-78"/>
                          <a:ea typeface="+mn-ea"/>
                          <a:cs typeface="Sakkal Majalla" panose="02000000000000000000" pitchFamily="2" charset="-78"/>
                        </a:rPr>
                        <a:t> </a:t>
                      </a:r>
                      <a:r>
                        <a:rPr lang="ar-SA" sz="1200" kern="1200" noProof="0" dirty="0" err="1">
                          <a:solidFill>
                            <a:schemeClr val="tx1"/>
                          </a:solidFill>
                          <a:latin typeface="Sakkal Majalla" panose="02000000000000000000" pitchFamily="2" charset="-78"/>
                          <a:ea typeface="+mn-ea"/>
                          <a:cs typeface="Sakkal Majalla" panose="02000000000000000000" pitchFamily="2" charset="-78"/>
                        </a:rPr>
                        <a:t>Change</a:t>
                      </a:r>
                      <a:r>
                        <a:rPr lang="ar-SA" sz="1200" kern="1200" noProof="0" dirty="0">
                          <a:solidFill>
                            <a:schemeClr val="tx1"/>
                          </a:solidFill>
                          <a:latin typeface="Sakkal Majalla" panose="02000000000000000000" pitchFamily="2" charset="-78"/>
                          <a:ea typeface="+mn-ea"/>
                          <a:cs typeface="Sakkal Majalla" panose="02000000000000000000" pitchFamily="2" charset="-78"/>
                        </a:rPr>
                        <a:t> </a:t>
                      </a:r>
                      <a:r>
                        <a:rPr lang="ar-SA" sz="1200" kern="1200" noProof="0" dirty="0" err="1">
                          <a:solidFill>
                            <a:schemeClr val="tx1"/>
                          </a:solidFill>
                          <a:latin typeface="Sakkal Majalla" panose="02000000000000000000" pitchFamily="2" charset="-78"/>
                          <a:ea typeface="+mn-ea"/>
                          <a:cs typeface="Sakkal Majalla" panose="02000000000000000000" pitchFamily="2" charset="-78"/>
                        </a:rPr>
                        <a:t>Management</a:t>
                      </a:r>
                      <a:r>
                        <a:rPr lang="ar-SA" sz="1200" kern="1200" noProof="0" dirty="0">
                          <a:solidFill>
                            <a:schemeClr val="tx1"/>
                          </a:solidFill>
                          <a:latin typeface="Sakkal Majalla" panose="02000000000000000000" pitchFamily="2" charset="-78"/>
                          <a:ea typeface="+mn-ea"/>
                          <a:cs typeface="Sakkal Majalla" panose="02000000000000000000" pitchFamily="2" charset="-78"/>
                        </a:rPr>
                        <a:t>) لضمان إشراك الموظفين وفهم احتياجاتهم ، مع ضرورة تطوير وتطبيق استراتيجية إدارة المخاطر المؤسسية (</a:t>
                      </a:r>
                      <a:r>
                        <a:rPr lang="ar-SA" sz="1200" kern="1200" noProof="0" dirty="0" err="1">
                          <a:solidFill>
                            <a:schemeClr val="tx1"/>
                          </a:solidFill>
                          <a:latin typeface="Sakkal Majalla" panose="02000000000000000000" pitchFamily="2" charset="-78"/>
                          <a:ea typeface="+mn-ea"/>
                          <a:cs typeface="Sakkal Majalla" panose="02000000000000000000" pitchFamily="2" charset="-78"/>
                        </a:rPr>
                        <a:t>Enterprise</a:t>
                      </a:r>
                      <a:r>
                        <a:rPr lang="ar-SA" sz="1200" kern="1200" noProof="0" dirty="0">
                          <a:solidFill>
                            <a:schemeClr val="tx1"/>
                          </a:solidFill>
                          <a:latin typeface="Sakkal Majalla" panose="02000000000000000000" pitchFamily="2" charset="-78"/>
                          <a:ea typeface="+mn-ea"/>
                          <a:cs typeface="Sakkal Majalla" panose="02000000000000000000" pitchFamily="2" charset="-78"/>
                        </a:rPr>
                        <a:t> </a:t>
                      </a:r>
                      <a:r>
                        <a:rPr lang="ar-SA" sz="1200" kern="1200" noProof="0" dirty="0" err="1">
                          <a:solidFill>
                            <a:schemeClr val="tx1"/>
                          </a:solidFill>
                          <a:latin typeface="Sakkal Majalla" panose="02000000000000000000" pitchFamily="2" charset="-78"/>
                          <a:ea typeface="+mn-ea"/>
                          <a:cs typeface="Sakkal Majalla" panose="02000000000000000000" pitchFamily="2" charset="-78"/>
                        </a:rPr>
                        <a:t>Risk</a:t>
                      </a:r>
                      <a:r>
                        <a:rPr lang="ar-SA" sz="1200" kern="1200" noProof="0" dirty="0">
                          <a:solidFill>
                            <a:schemeClr val="tx1"/>
                          </a:solidFill>
                          <a:latin typeface="Sakkal Majalla" panose="02000000000000000000" pitchFamily="2" charset="-78"/>
                          <a:ea typeface="+mn-ea"/>
                          <a:cs typeface="Sakkal Majalla" panose="02000000000000000000" pitchFamily="2" charset="-78"/>
                        </a:rPr>
                        <a:t> </a:t>
                      </a:r>
                      <a:r>
                        <a:rPr lang="ar-SA" sz="1200" kern="1200" noProof="0" dirty="0" err="1">
                          <a:solidFill>
                            <a:schemeClr val="tx1"/>
                          </a:solidFill>
                          <a:latin typeface="Sakkal Majalla" panose="02000000000000000000" pitchFamily="2" charset="-78"/>
                          <a:ea typeface="+mn-ea"/>
                          <a:cs typeface="Sakkal Majalla" panose="02000000000000000000" pitchFamily="2" charset="-78"/>
                        </a:rPr>
                        <a:t>Management</a:t>
                      </a:r>
                      <a:r>
                        <a:rPr lang="ar-SA" sz="1200" kern="1200" noProof="0" dirty="0">
                          <a:solidFill>
                            <a:schemeClr val="tx1"/>
                          </a:solidFill>
                          <a:latin typeface="Sakkal Majalla" panose="02000000000000000000" pitchFamily="2" charset="-78"/>
                          <a:ea typeface="+mn-ea"/>
                          <a:cs typeface="Sakkal Majalla" panose="02000000000000000000" pitchFamily="2" charset="-78"/>
                        </a:rPr>
                        <a:t>) لتحديد وتقييم وإدارة المخاطر المؤسسية بشكل فعال</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B w="12700" cap="flat" cmpd="sng" algn="ctr">
                      <a:solidFill>
                        <a:schemeClr val="bg1">
                          <a:lumMod val="85000"/>
                        </a:schemeClr>
                      </a:solidFill>
                      <a:prstDash val="solid"/>
                      <a:round/>
                      <a:headEnd type="none" w="med" len="med"/>
                      <a:tailEnd type="none" w="med" len="med"/>
                    </a:lnB>
                  </a:tcPr>
                </a:tc>
                <a:tc>
                  <a:txBody>
                    <a:bodyPr/>
                    <a:lstStyle/>
                    <a:p>
                      <a:pPr marL="0" marR="0" lvl="0" indent="0" algn="ctr" defTabSz="914400" rtl="1" eaLnBrk="1" fontAlgn="auto" latinLnBrk="0" hangingPunct="1">
                        <a:lnSpc>
                          <a:spcPct val="100000"/>
                        </a:lnSpc>
                        <a:spcBef>
                          <a:spcPts val="0"/>
                        </a:spcBef>
                        <a:spcAft>
                          <a:spcPts val="0"/>
                        </a:spcAft>
                        <a:buClrTx/>
                        <a:buSzTx/>
                        <a:buFont typeface="Arial" panose="020B0604020202020204" pitchFamily="34" charset="0"/>
                        <a:buNone/>
                        <a:tabLst/>
                        <a:defRPr/>
                      </a:pPr>
                      <a:r>
                        <a:rPr lang="ar-SA" sz="1400" b="1" noProof="0" dirty="0">
                          <a:solidFill>
                            <a:schemeClr val="accent1"/>
                          </a:solidFill>
                        </a:rPr>
                        <a:t>الوصف</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B w="12700" cap="flat" cmpd="sng" algn="ctr">
                      <a:solidFill>
                        <a:schemeClr val="bg1">
                          <a:lumMod val="85000"/>
                        </a:schemeClr>
                      </a:solidFill>
                      <a:prstDash val="solid"/>
                      <a:round/>
                      <a:headEnd type="none" w="med" len="med"/>
                      <a:tailEnd type="none" w="med" len="med"/>
                    </a:lnB>
                    <a:solidFill>
                      <a:schemeClr val="bg1">
                        <a:lumMod val="95000"/>
                      </a:schemeClr>
                    </a:solidFill>
                  </a:tcPr>
                </a:tc>
                <a:tc rowSpan="4">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ar-SA" sz="1600" b="1" noProof="0" dirty="0"/>
                        <a:t>GAP-B-23</a:t>
                      </a:r>
                    </a:p>
                    <a:p>
                      <a:pPr marL="0" marR="0" lvl="0" indent="0" algn="r" defTabSz="914400" rtl="1" eaLnBrk="1" fontAlgn="auto" latinLnBrk="0" hangingPunct="1">
                        <a:lnSpc>
                          <a:spcPct val="100000"/>
                        </a:lnSpc>
                        <a:spcBef>
                          <a:spcPts val="0"/>
                        </a:spcBef>
                        <a:spcAft>
                          <a:spcPts val="0"/>
                        </a:spcAft>
                        <a:buClrTx/>
                        <a:buSzTx/>
                        <a:buFontTx/>
                        <a:buNone/>
                        <a:tabLst/>
                        <a:defRPr/>
                      </a:pPr>
                      <a:r>
                        <a:rPr lang="ar-SA" sz="1400" b="1" kern="1200" noProof="0" dirty="0">
                          <a:effectLst/>
                        </a:rPr>
                        <a:t>الحاجة </a:t>
                      </a:r>
                      <a:r>
                        <a:rPr lang="ar-SA" sz="1400" b="1" kern="1200" noProof="0" dirty="0">
                          <a:solidFill>
                            <a:schemeClr val="tx1"/>
                          </a:solidFill>
                          <a:effectLst/>
                          <a:latin typeface="+mn-lt"/>
                          <a:ea typeface="+mn-ea"/>
                          <a:cs typeface="+mn-cs"/>
                        </a:rPr>
                        <a:t>إلى تطوير وتطبيق استراتيجيتي إدارة التغيير  المؤسسية و إدارة المخاطر المؤسسية </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B w="12700" cap="flat" cmpd="sng" algn="ctr">
                      <a:solidFill>
                        <a:schemeClr val="accent1"/>
                      </a:solidFill>
                      <a:prstDash val="solid"/>
                      <a:round/>
                      <a:headEnd type="none" w="med" len="med"/>
                      <a:tailEnd type="none" w="med" len="med"/>
                    </a:lnB>
                  </a:tcPr>
                </a:tc>
                <a:extLst>
                  <a:ext uri="{0D108BD9-81ED-4DB2-BD59-A6C34878D82A}">
                    <a16:rowId xmlns:a16="http://schemas.microsoft.com/office/drawing/2014/main" val="1128065702"/>
                  </a:ext>
                </a:extLst>
              </a:tr>
              <a:tr h="0">
                <a:tc vMerge="1">
                  <a:txBody>
                    <a:bodyPr/>
                    <a:lstStyle/>
                    <a:p>
                      <a:endParaRPr lang="en-US"/>
                    </a:p>
                  </a:txBody>
                  <a:tcPr/>
                </a:tc>
                <a:tc vMerge="1">
                  <a:txBody>
                    <a:bodyPr/>
                    <a:lstStyle/>
                    <a:p>
                      <a:endParaRPr lang="en-US"/>
                    </a:p>
                  </a:txBody>
                  <a:tcPr/>
                </a:tc>
                <a:tc vMerge="1">
                  <a:txBody>
                    <a:bodyPr/>
                    <a:lstStyle/>
                    <a:p>
                      <a:endParaRPr lang="en-US"/>
                    </a:p>
                  </a:txBody>
                  <a:tcPr/>
                </a:tc>
                <a:tc>
                  <a:txBody>
                    <a:bodyPr/>
                    <a:lstStyle/>
                    <a:p>
                      <a:pPr marL="0" marR="0" lvl="0" indent="0" algn="just" defTabSz="914400" rtl="1" eaLnBrk="1" fontAlgn="auto" latinLnBrk="0" hangingPunct="1">
                        <a:lnSpc>
                          <a:spcPct val="100000"/>
                        </a:lnSpc>
                        <a:spcBef>
                          <a:spcPts val="0"/>
                        </a:spcBef>
                        <a:spcAft>
                          <a:spcPts val="0"/>
                        </a:spcAft>
                        <a:buClrTx/>
                        <a:buSzTx/>
                        <a:buFont typeface="Arial" panose="020B0604020202020204" pitchFamily="34" charset="0"/>
                        <a:buNone/>
                        <a:tabLst/>
                        <a:defRPr/>
                      </a:pPr>
                      <a:r>
                        <a:rPr lang="ar-SA" sz="1200" kern="1200" noProof="0" dirty="0">
                          <a:solidFill>
                            <a:schemeClr val="tx1"/>
                          </a:solidFill>
                          <a:latin typeface="Sakkal Majalla" panose="02000000000000000000" pitchFamily="2" charset="-78"/>
                          <a:ea typeface="+mn-ea"/>
                          <a:cs typeface="Sakkal Majalla" panose="02000000000000000000" pitchFamily="2" charset="-78"/>
                        </a:rPr>
                        <a:t>عدم إمكانية إشراك الموظفين وفهم احتياجاتهم بشكل كامل ،  عدم إمكانية تحديد وتقييم وإدارة المخاطر المؤسسية بشكل  كامل و فعال</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marL="0" marR="0" lvl="0" indent="0" algn="ctr" defTabSz="914400" rtl="1" eaLnBrk="1" fontAlgn="auto" latinLnBrk="0" hangingPunct="1">
                        <a:lnSpc>
                          <a:spcPct val="100000"/>
                        </a:lnSpc>
                        <a:spcBef>
                          <a:spcPts val="0"/>
                        </a:spcBef>
                        <a:spcAft>
                          <a:spcPts val="0"/>
                        </a:spcAft>
                        <a:buClrTx/>
                        <a:buSzTx/>
                        <a:buFont typeface="Arial" panose="020B0604020202020204" pitchFamily="34" charset="0"/>
                        <a:buNone/>
                        <a:tabLst/>
                        <a:defRPr/>
                      </a:pPr>
                      <a:r>
                        <a:rPr lang="ar-SA" sz="1400" b="1" kern="1200" noProof="0" dirty="0">
                          <a:solidFill>
                            <a:schemeClr val="accent1"/>
                          </a:solidFill>
                        </a:rPr>
                        <a:t>الأثر الحالي</a:t>
                      </a:r>
                      <a:endParaRPr lang="ar-SA" sz="1400" b="1" noProof="0" dirty="0">
                        <a:solidFill>
                          <a:schemeClr val="accent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lumMod val="95000"/>
                      </a:schemeClr>
                    </a:solidFill>
                  </a:tcPr>
                </a:tc>
                <a:tc vMerge="1">
                  <a:txBody>
                    <a:bodyPr/>
                    <a:lstStyle/>
                    <a:p>
                      <a:endParaRPr lang="en-US"/>
                    </a:p>
                  </a:txBody>
                  <a:tcPr/>
                </a:tc>
                <a:extLst>
                  <a:ext uri="{0D108BD9-81ED-4DB2-BD59-A6C34878D82A}">
                    <a16:rowId xmlns:a16="http://schemas.microsoft.com/office/drawing/2014/main" val="1163892829"/>
                  </a:ext>
                </a:extLst>
              </a:tr>
              <a:tr h="0">
                <a:tc vMerge="1">
                  <a:txBody>
                    <a:bodyPr/>
                    <a:lstStyle/>
                    <a:p>
                      <a:endParaRPr lang="en-US"/>
                    </a:p>
                  </a:txBody>
                  <a:tcPr/>
                </a:tc>
                <a:tc vMerge="1">
                  <a:txBody>
                    <a:bodyPr/>
                    <a:lstStyle/>
                    <a:p>
                      <a:endParaRPr lang="en-US"/>
                    </a:p>
                  </a:txBody>
                  <a:tcPr/>
                </a:tc>
                <a:tc vMerge="1">
                  <a:txBody>
                    <a:bodyPr/>
                    <a:lstStyle/>
                    <a:p>
                      <a:endParaRPr lang="en-US"/>
                    </a:p>
                  </a:txBody>
                  <a:tcPr/>
                </a:tc>
                <a:tc>
                  <a:txBody>
                    <a:bodyPr/>
                    <a:lstStyle/>
                    <a:p>
                      <a:pPr marL="0" marR="0" lvl="0" indent="0" algn="just" defTabSz="914400" rtl="1" eaLnBrk="1" fontAlgn="auto" latinLnBrk="0" hangingPunct="1">
                        <a:lnSpc>
                          <a:spcPct val="100000"/>
                        </a:lnSpc>
                        <a:spcBef>
                          <a:spcPts val="0"/>
                        </a:spcBef>
                        <a:spcAft>
                          <a:spcPts val="0"/>
                        </a:spcAft>
                        <a:buClrTx/>
                        <a:buSzTx/>
                        <a:buFont typeface="Arial" panose="020B0604020202020204" pitchFamily="34" charset="0"/>
                        <a:buNone/>
                        <a:tabLst/>
                        <a:defRPr/>
                      </a:pPr>
                      <a:r>
                        <a:rPr lang="ar-SA" sz="1200" kern="1200" noProof="0" dirty="0">
                          <a:solidFill>
                            <a:schemeClr val="tx1"/>
                          </a:solidFill>
                          <a:latin typeface="Sakkal Majalla" panose="02000000000000000000" pitchFamily="2" charset="-78"/>
                          <a:ea typeface="+mn-ea"/>
                          <a:cs typeface="Sakkal Majalla" panose="02000000000000000000" pitchFamily="2" charset="-78"/>
                        </a:rPr>
                        <a:t>إمكانية إشراك الموظفين وفهم احتياجاتهم بشكل كامل ، إمكانية تحديد وتقييم وإدارة المخاطر المؤسسية بشكل  كامل و فعال</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marL="0" marR="0" lvl="0" indent="0" algn="ctr" defTabSz="914400" rtl="1" eaLnBrk="1" fontAlgn="auto" latinLnBrk="0" hangingPunct="1">
                        <a:lnSpc>
                          <a:spcPct val="100000"/>
                        </a:lnSpc>
                        <a:spcBef>
                          <a:spcPts val="0"/>
                        </a:spcBef>
                        <a:spcAft>
                          <a:spcPts val="0"/>
                        </a:spcAft>
                        <a:buClrTx/>
                        <a:buSzTx/>
                        <a:buFont typeface="Arial" panose="020B0604020202020204" pitchFamily="34" charset="0"/>
                        <a:buNone/>
                        <a:tabLst/>
                        <a:defRPr/>
                      </a:pPr>
                      <a:r>
                        <a:rPr lang="ar-SA" sz="1400" b="1" noProof="0" dirty="0">
                          <a:solidFill>
                            <a:schemeClr val="accent1"/>
                          </a:solidFill>
                        </a:rPr>
                        <a:t>الأثر بعد الردم (المعالجة)</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lumMod val="95000"/>
                      </a:schemeClr>
                    </a:solidFill>
                  </a:tcPr>
                </a:tc>
                <a:tc vMerge="1">
                  <a:txBody>
                    <a:bodyPr/>
                    <a:lstStyle/>
                    <a:p>
                      <a:endParaRPr lang="en-US"/>
                    </a:p>
                  </a:txBody>
                  <a:tcPr/>
                </a:tc>
                <a:extLst>
                  <a:ext uri="{0D108BD9-81ED-4DB2-BD59-A6C34878D82A}">
                    <a16:rowId xmlns:a16="http://schemas.microsoft.com/office/drawing/2014/main" val="1973569126"/>
                  </a:ext>
                </a:extLst>
              </a:tr>
              <a:tr h="0">
                <a:tc vMerge="1">
                  <a:txBody>
                    <a:bodyPr/>
                    <a:lstStyle/>
                    <a:p>
                      <a:endParaRPr lang="en-US"/>
                    </a:p>
                  </a:txBody>
                  <a:tcPr/>
                </a:tc>
                <a:tc vMerge="1">
                  <a:txBody>
                    <a:bodyPr/>
                    <a:lstStyle/>
                    <a:p>
                      <a:endParaRPr lang="en-US"/>
                    </a:p>
                  </a:txBody>
                  <a:tcPr/>
                </a:tc>
                <a:tc vMerge="1">
                  <a:txBody>
                    <a:bodyPr/>
                    <a:lstStyle/>
                    <a:p>
                      <a:endParaRPr lang="en-US"/>
                    </a:p>
                  </a:txBody>
                  <a:tcPr/>
                </a:tc>
                <a:tc>
                  <a:txBody>
                    <a:bodyPr/>
                    <a:lstStyle/>
                    <a:p>
                      <a:pPr marL="0" marR="0" lvl="0" indent="0" algn="just" defTabSz="914400" rtl="1" eaLnBrk="1" fontAlgn="auto" latinLnBrk="0" hangingPunct="1">
                        <a:lnSpc>
                          <a:spcPct val="100000"/>
                        </a:lnSpc>
                        <a:spcBef>
                          <a:spcPts val="0"/>
                        </a:spcBef>
                        <a:spcAft>
                          <a:spcPts val="0"/>
                        </a:spcAft>
                        <a:buClrTx/>
                        <a:buSzTx/>
                        <a:buFont typeface="Arial" panose="020B0604020202020204" pitchFamily="34" charset="0"/>
                        <a:buNone/>
                        <a:tabLst/>
                        <a:defRPr/>
                      </a:pPr>
                      <a:r>
                        <a:rPr lang="ar-SA" sz="1200" kern="1200" noProof="0" dirty="0">
                          <a:solidFill>
                            <a:schemeClr val="tx1"/>
                          </a:solidFill>
                          <a:latin typeface="Sakkal Majalla" panose="02000000000000000000" pitchFamily="2" charset="-78"/>
                          <a:ea typeface="+mn-ea"/>
                          <a:cs typeface="Sakkal Majalla" panose="02000000000000000000" pitchFamily="2" charset="-78"/>
                        </a:rPr>
                        <a:t>تطوير وتطبيق استراتيجيتي إدارة التغيير  المؤسسية و إدارة المخاطر المؤسسية </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marL="0" marR="0" lvl="0" indent="0" algn="ctr" defTabSz="914400" rtl="1" eaLnBrk="1" fontAlgn="auto" latinLnBrk="0" hangingPunct="1">
                        <a:lnSpc>
                          <a:spcPct val="100000"/>
                        </a:lnSpc>
                        <a:spcBef>
                          <a:spcPts val="0"/>
                        </a:spcBef>
                        <a:spcAft>
                          <a:spcPts val="0"/>
                        </a:spcAft>
                        <a:buClrTx/>
                        <a:buSzTx/>
                        <a:buFont typeface="Arial" panose="020B0604020202020204" pitchFamily="34" charset="0"/>
                        <a:buNone/>
                        <a:tabLst/>
                        <a:defRPr/>
                      </a:pPr>
                      <a:r>
                        <a:rPr lang="ar-SA" sz="1400" b="1" noProof="0" dirty="0">
                          <a:solidFill>
                            <a:schemeClr val="accent1"/>
                          </a:solidFill>
                        </a:rPr>
                        <a:t>تغطية الفجوة </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accent1"/>
                      </a:solidFill>
                      <a:prstDash val="solid"/>
                      <a:round/>
                      <a:headEnd type="none" w="med" len="med"/>
                      <a:tailEnd type="none" w="med" len="med"/>
                    </a:lnB>
                    <a:solidFill>
                      <a:schemeClr val="bg1">
                        <a:lumMod val="95000"/>
                      </a:schemeClr>
                    </a:solidFill>
                  </a:tcPr>
                </a:tc>
                <a:tc vMerge="1">
                  <a:txBody>
                    <a:bodyPr/>
                    <a:lstStyle/>
                    <a:p>
                      <a:endParaRPr lang="en-US"/>
                    </a:p>
                  </a:txBody>
                  <a:tcPr/>
                </a:tc>
                <a:extLst>
                  <a:ext uri="{0D108BD9-81ED-4DB2-BD59-A6C34878D82A}">
                    <a16:rowId xmlns:a16="http://schemas.microsoft.com/office/drawing/2014/main" val="4011636746"/>
                  </a:ext>
                </a:extLst>
              </a:tr>
              <a:tr h="0">
                <a:tc rowSpan="4">
                  <a:txBody>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lang="ar-SA" sz="1400" noProof="0" dirty="0"/>
                        <a:t>ملف حصر الأعمال ، دراسة وثائق الأعمال للجهة المتوفرة بالوضع الحالي ، ورش العمل لحصر الأعمال مع الوحدات الإدارية المعنية ،تطلعات أصحاب المصلحة</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rowSpan="4">
                  <a:txBody>
                    <a:bodyPr/>
                    <a:lstStyle/>
                    <a:p>
                      <a:pPr marL="0" marR="0" lvl="0" indent="0" algn="ctr" defTabSz="914400" rtl="1" eaLnBrk="1" fontAlgn="auto" latinLnBrk="0" hangingPunct="1">
                        <a:lnSpc>
                          <a:spcPct val="100000"/>
                        </a:lnSpc>
                        <a:spcBef>
                          <a:spcPts val="0"/>
                        </a:spcBef>
                        <a:spcAft>
                          <a:spcPts val="0"/>
                        </a:spcAft>
                        <a:buClrTx/>
                        <a:buSzTx/>
                        <a:buFont typeface="Arial" panose="020B0604020202020204" pitchFamily="34" charset="0"/>
                        <a:buNone/>
                        <a:tabLst/>
                        <a:defRPr/>
                      </a:pPr>
                      <a:r>
                        <a:rPr lang="ar-SA" sz="1400" noProof="0" dirty="0"/>
                        <a:t>عالي</a:t>
                      </a:r>
                    </a:p>
                  </a:txBody>
                  <a:tcPr anchor="ctr">
                    <a:lnL w="12700" cap="flat" cmpd="sng" algn="ctr">
                      <a:no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solidFill>
                      <a:schemeClr val="bg1">
                        <a:lumMod val="95000"/>
                      </a:schemeClr>
                    </a:solidFill>
                  </a:tcPr>
                </a:tc>
                <a:tc rowSpan="4">
                  <a:txBody>
                    <a:bodyPr/>
                    <a:lstStyle/>
                    <a:p>
                      <a:pPr marL="0" marR="0" lvl="0" indent="0" algn="ctr" defTabSz="914400" rtl="1" eaLnBrk="1" fontAlgn="auto" latinLnBrk="0" hangingPunct="1">
                        <a:lnSpc>
                          <a:spcPct val="100000"/>
                        </a:lnSpc>
                        <a:spcBef>
                          <a:spcPts val="0"/>
                        </a:spcBef>
                        <a:spcAft>
                          <a:spcPts val="0"/>
                        </a:spcAft>
                        <a:buClrTx/>
                        <a:buSzTx/>
                        <a:buFont typeface="Arial" panose="020B0604020202020204" pitchFamily="34" charset="0"/>
                        <a:buNone/>
                        <a:tabLst/>
                        <a:defRPr/>
                      </a:pPr>
                      <a:r>
                        <a:rPr lang="ar-SA" sz="1400" noProof="0" dirty="0"/>
                        <a:t>عالي</a:t>
                      </a:r>
                    </a:p>
                  </a:txBody>
                  <a:tcPr anchor="ctr">
                    <a:lnL w="12700" cap="flat" cmpd="sng" algn="ctr">
                      <a:solidFill>
                        <a:schemeClr val="bg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solidFill>
                      <a:schemeClr val="bg1">
                        <a:lumMod val="95000"/>
                      </a:schemeClr>
                    </a:solidFill>
                  </a:tcPr>
                </a:tc>
                <a:tc>
                  <a:txBody>
                    <a:bodyPr/>
                    <a:lstStyle/>
                    <a:p>
                      <a:pPr marL="0" marR="0" lvl="0" indent="0" algn="just" defTabSz="914400" rtl="1" eaLnBrk="1" fontAlgn="auto" latinLnBrk="0" hangingPunct="1">
                        <a:lnSpc>
                          <a:spcPct val="100000"/>
                        </a:lnSpc>
                        <a:spcBef>
                          <a:spcPts val="0"/>
                        </a:spcBef>
                        <a:spcAft>
                          <a:spcPts val="0"/>
                        </a:spcAft>
                        <a:buClrTx/>
                        <a:buSzTx/>
                        <a:buFont typeface="Arial" panose="020B0604020202020204" pitchFamily="34" charset="0"/>
                        <a:buNone/>
                        <a:tabLst/>
                        <a:defRPr/>
                      </a:pPr>
                      <a:r>
                        <a:rPr lang="ar-SA" sz="1200" kern="1200" noProof="0" dirty="0">
                          <a:solidFill>
                            <a:schemeClr val="tx1"/>
                          </a:solidFill>
                          <a:latin typeface="Sakkal Majalla" panose="02000000000000000000" pitchFamily="2" charset="-78"/>
                          <a:ea typeface="+mn-ea"/>
                          <a:cs typeface="Sakkal Majalla" panose="02000000000000000000" pitchFamily="2" charset="-78"/>
                        </a:rPr>
                        <a:t>الحاجة </a:t>
                      </a:r>
                      <a:r>
                        <a:rPr lang="ar-SA" sz="1200" noProof="0" dirty="0">
                          <a:latin typeface="Sakkal Majalla" panose="02000000000000000000" pitchFamily="2" charset="-78"/>
                          <a:cs typeface="Sakkal Majalla" panose="02000000000000000000" pitchFamily="2" charset="-78"/>
                        </a:rPr>
                        <a:t>إلى توفير نظام مركزي لإدارة المشاريع و إدارة الأداء يتيح تعبئة النماذج مرة واحدة ومشاركتها عبر الإدارات  والذي يخدم إدارة التخطيط الاستراتيجي ومكتب إدارة المشاريع</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marL="0" marR="0" lvl="0" indent="0" algn="ctr" defTabSz="914400" rtl="1" eaLnBrk="1" fontAlgn="auto" latinLnBrk="0" hangingPunct="1">
                        <a:lnSpc>
                          <a:spcPct val="100000"/>
                        </a:lnSpc>
                        <a:spcBef>
                          <a:spcPts val="0"/>
                        </a:spcBef>
                        <a:spcAft>
                          <a:spcPts val="0"/>
                        </a:spcAft>
                        <a:buClrTx/>
                        <a:buSzTx/>
                        <a:buFont typeface="Arial" panose="020B0604020202020204" pitchFamily="34" charset="0"/>
                        <a:buNone/>
                        <a:tabLst/>
                        <a:defRPr/>
                      </a:pPr>
                      <a:r>
                        <a:rPr lang="ar-SA" sz="1400" b="1" noProof="0" dirty="0">
                          <a:solidFill>
                            <a:schemeClr val="accent1"/>
                          </a:solidFill>
                        </a:rPr>
                        <a:t>الوصف</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lumMod val="95000"/>
                      </a:schemeClr>
                    </a:solidFill>
                  </a:tcPr>
                </a:tc>
                <a:tc rowSpan="4">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ar-SA" sz="1600" b="1" u="none" strike="noStrike" kern="1200" cap="none" spc="0" normalizeH="0" baseline="0" noProof="0" dirty="0">
                          <a:ln>
                            <a:noFill/>
                          </a:ln>
                          <a:effectLst/>
                          <a:uLnTx/>
                          <a:uFillTx/>
                        </a:rPr>
                        <a:t>GAP-B-24</a:t>
                      </a:r>
                    </a:p>
                    <a:p>
                      <a:pPr marL="0" marR="0" lvl="0" indent="0" algn="r" defTabSz="914400" rtl="1" eaLnBrk="1" fontAlgn="auto" latinLnBrk="0" hangingPunct="1">
                        <a:lnSpc>
                          <a:spcPct val="100000"/>
                        </a:lnSpc>
                        <a:spcBef>
                          <a:spcPts val="0"/>
                        </a:spcBef>
                        <a:spcAft>
                          <a:spcPts val="0"/>
                        </a:spcAft>
                        <a:buClrTx/>
                        <a:buSzTx/>
                        <a:buFontTx/>
                        <a:buNone/>
                        <a:tabLst/>
                        <a:defRPr/>
                      </a:pPr>
                      <a:r>
                        <a:rPr lang="ar-SA" sz="1400" b="1" kern="1200" noProof="0" dirty="0">
                          <a:solidFill>
                            <a:schemeClr val="tx1"/>
                          </a:solidFill>
                          <a:effectLst/>
                          <a:latin typeface="+mn-lt"/>
                          <a:ea typeface="+mn-ea"/>
                          <a:cs typeface="+mn-cs"/>
                        </a:rPr>
                        <a:t>الحاجة إلى أتمتة أعمال ووظائف إدارة المشاريع وإدارة الأداء من خلال إنشاء نظام مركزي </a:t>
                      </a:r>
                    </a:p>
                    <a:p>
                      <a:pPr marL="0" marR="0" lvl="0" indent="0" algn="r" defTabSz="914400" rtl="1" eaLnBrk="1" fontAlgn="auto" latinLnBrk="0" hangingPunct="1">
                        <a:lnSpc>
                          <a:spcPct val="100000"/>
                        </a:lnSpc>
                        <a:spcBef>
                          <a:spcPts val="0"/>
                        </a:spcBef>
                        <a:spcAft>
                          <a:spcPts val="0"/>
                        </a:spcAft>
                        <a:buClrTx/>
                        <a:buSzTx/>
                        <a:buFontTx/>
                        <a:buNone/>
                        <a:tabLst/>
                        <a:defRPr/>
                      </a:pPr>
                      <a:endParaRPr lang="ar-SA" sz="1400" b="1" kern="1200" noProof="0" dirty="0">
                        <a:effectLst/>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extLst>
                  <a:ext uri="{0D108BD9-81ED-4DB2-BD59-A6C34878D82A}">
                    <a16:rowId xmlns:a16="http://schemas.microsoft.com/office/drawing/2014/main" val="1136131386"/>
                  </a:ext>
                </a:extLst>
              </a:tr>
              <a:tr h="0">
                <a:tc vMerge="1">
                  <a:txBody>
                    <a:bodyPr/>
                    <a:lstStyle/>
                    <a:p>
                      <a:pPr marL="0" marR="0" lvl="0" indent="0" algn="r" defTabSz="914400" rtl="1" eaLnBrk="1" fontAlgn="auto" latinLnBrk="0" hangingPunct="1">
                        <a:lnSpc>
                          <a:spcPct val="100000"/>
                        </a:lnSpc>
                        <a:spcBef>
                          <a:spcPts val="0"/>
                        </a:spcBef>
                        <a:spcAft>
                          <a:spcPts val="0"/>
                        </a:spcAft>
                        <a:buClrTx/>
                        <a:buSzTx/>
                        <a:buFontTx/>
                        <a:buNone/>
                        <a:tabLst/>
                        <a:defRPr/>
                      </a:pPr>
                      <a:endParaRPr lang="en-GB" sz="1400" noProof="0" dirty="0"/>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vMerge="1">
                  <a:txBody>
                    <a:bodyPr/>
                    <a:lstStyle/>
                    <a:p>
                      <a:endParaRPr lang="en-US"/>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vMerge="1">
                  <a:txBody>
                    <a:bodyPr/>
                    <a:lstStyle/>
                    <a:p>
                      <a:endParaRPr lang="en-US"/>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marL="0" marR="0" lvl="0" indent="0" algn="just" defTabSz="914400" rtl="1" eaLnBrk="1" fontAlgn="auto" latinLnBrk="0" hangingPunct="1">
                        <a:lnSpc>
                          <a:spcPct val="100000"/>
                        </a:lnSpc>
                        <a:spcBef>
                          <a:spcPts val="0"/>
                        </a:spcBef>
                        <a:spcAft>
                          <a:spcPts val="0"/>
                        </a:spcAft>
                        <a:buClrTx/>
                        <a:buSzTx/>
                        <a:buFont typeface="Arial" panose="020B0604020202020204" pitchFamily="34" charset="0"/>
                        <a:buNone/>
                        <a:tabLst/>
                        <a:defRPr/>
                      </a:pPr>
                      <a:r>
                        <a:rPr lang="ar-SA" sz="1200" kern="1200" noProof="0" dirty="0">
                          <a:solidFill>
                            <a:schemeClr val="tx1"/>
                          </a:solidFill>
                          <a:latin typeface="Sakkal Majalla" panose="02000000000000000000" pitchFamily="2" charset="-78"/>
                          <a:ea typeface="+mn-ea"/>
                          <a:cs typeface="Sakkal Majalla" panose="02000000000000000000" pitchFamily="2" charset="-78"/>
                        </a:rPr>
                        <a:t>عدم القدرة على تعبئة النماذج مرة واحدة ومشاركتها عبر الإدارات</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marL="0" marR="0" lvl="0" indent="0" algn="ctr" defTabSz="914400" rtl="1" eaLnBrk="1" fontAlgn="auto" latinLnBrk="0" hangingPunct="1">
                        <a:lnSpc>
                          <a:spcPct val="100000"/>
                        </a:lnSpc>
                        <a:spcBef>
                          <a:spcPts val="0"/>
                        </a:spcBef>
                        <a:spcAft>
                          <a:spcPts val="0"/>
                        </a:spcAft>
                        <a:buClrTx/>
                        <a:buSzTx/>
                        <a:buFont typeface="Arial" panose="020B0604020202020204" pitchFamily="34" charset="0"/>
                        <a:buNone/>
                        <a:tabLst/>
                        <a:defRPr/>
                      </a:pPr>
                      <a:r>
                        <a:rPr lang="ar-SA" sz="1400" b="1" kern="1200" noProof="0" dirty="0">
                          <a:solidFill>
                            <a:schemeClr val="accent1"/>
                          </a:solidFill>
                        </a:rPr>
                        <a:t>الأثر الحالي</a:t>
                      </a:r>
                      <a:endParaRPr lang="ar-SA" sz="1400" b="1" noProof="0" dirty="0">
                        <a:solidFill>
                          <a:schemeClr val="accent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lumMod val="95000"/>
                      </a:schemeClr>
                    </a:solidFill>
                  </a:tcPr>
                </a:tc>
                <a:tc vMerge="1">
                  <a:txBody>
                    <a:bodyPr/>
                    <a:lstStyle/>
                    <a:p>
                      <a:pPr marL="0" marR="0" lvl="0" indent="0" algn="r" defTabSz="914400" rtl="1" eaLnBrk="1" fontAlgn="auto" latinLnBrk="0" hangingPunct="1">
                        <a:lnSpc>
                          <a:spcPct val="100000"/>
                        </a:lnSpc>
                        <a:spcBef>
                          <a:spcPts val="0"/>
                        </a:spcBef>
                        <a:spcAft>
                          <a:spcPts val="0"/>
                        </a:spcAft>
                        <a:buClrTx/>
                        <a:buSzTx/>
                        <a:buFontTx/>
                        <a:buNone/>
                        <a:tabLst/>
                        <a:defRPr/>
                      </a:pPr>
                      <a:endParaRPr lang="en-GB" sz="1400" b="1" noProof="0" dirty="0"/>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extLst>
                  <a:ext uri="{0D108BD9-81ED-4DB2-BD59-A6C34878D82A}">
                    <a16:rowId xmlns:a16="http://schemas.microsoft.com/office/drawing/2014/main" val="918118369"/>
                  </a:ext>
                </a:extLst>
              </a:tr>
              <a:tr h="0">
                <a:tc vMerge="1">
                  <a:txBody>
                    <a:bodyPr/>
                    <a:lstStyle/>
                    <a:p>
                      <a:pPr marL="0" marR="0" lvl="0" indent="0" algn="r" defTabSz="914400" rtl="1" eaLnBrk="1" fontAlgn="auto" latinLnBrk="0" hangingPunct="1">
                        <a:lnSpc>
                          <a:spcPct val="100000"/>
                        </a:lnSpc>
                        <a:spcBef>
                          <a:spcPts val="0"/>
                        </a:spcBef>
                        <a:spcAft>
                          <a:spcPts val="0"/>
                        </a:spcAft>
                        <a:buClrTx/>
                        <a:buSzTx/>
                        <a:buFontTx/>
                        <a:buNone/>
                        <a:tabLst/>
                        <a:defRPr/>
                      </a:pPr>
                      <a:endParaRPr lang="en-GB" sz="1400" noProof="0" dirty="0"/>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vMerge="1">
                  <a:txBody>
                    <a:bodyPr/>
                    <a:lstStyle/>
                    <a:p>
                      <a:endParaRPr lang="en-US"/>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vMerge="1">
                  <a:txBody>
                    <a:bodyPr/>
                    <a:lstStyle/>
                    <a:p>
                      <a:endParaRPr lang="en-US"/>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marL="0" marR="0" lvl="0" indent="0" algn="just" defTabSz="914400" rtl="1" eaLnBrk="1" fontAlgn="auto" latinLnBrk="0" hangingPunct="1">
                        <a:lnSpc>
                          <a:spcPct val="100000"/>
                        </a:lnSpc>
                        <a:spcBef>
                          <a:spcPts val="0"/>
                        </a:spcBef>
                        <a:spcAft>
                          <a:spcPts val="0"/>
                        </a:spcAft>
                        <a:buClrTx/>
                        <a:buSzTx/>
                        <a:buFont typeface="Arial" panose="020B0604020202020204" pitchFamily="34" charset="0"/>
                        <a:buNone/>
                        <a:tabLst/>
                        <a:defRPr/>
                      </a:pPr>
                      <a:r>
                        <a:rPr lang="ar-SA" sz="1200" kern="1200" noProof="0" dirty="0">
                          <a:solidFill>
                            <a:schemeClr val="tx1"/>
                          </a:solidFill>
                          <a:latin typeface="Sakkal Majalla" panose="02000000000000000000" pitchFamily="2" charset="-78"/>
                          <a:ea typeface="+mn-ea"/>
                          <a:cs typeface="Sakkal Majalla" panose="02000000000000000000" pitchFamily="2" charset="-78"/>
                        </a:rPr>
                        <a:t>القدرة على تعبئة النماذج مرة واحدة ومشاركتها عبر الإدارات ، و تحسين عمليات إدارة المشاريع و </a:t>
                      </a:r>
                      <a:r>
                        <a:rPr lang="ar-SA" sz="1200" noProof="0" dirty="0">
                          <a:latin typeface="Sakkal Majalla" panose="02000000000000000000" pitchFamily="2" charset="-78"/>
                          <a:cs typeface="Sakkal Majalla" panose="02000000000000000000" pitchFamily="2" charset="-78"/>
                        </a:rPr>
                        <a:t>التخطيط الاستراتيجي </a:t>
                      </a:r>
                      <a:endParaRPr lang="ar-SA" sz="1200" kern="1200" noProof="0" dirty="0">
                        <a:solidFill>
                          <a:schemeClr val="tx1"/>
                        </a:solidFill>
                        <a:latin typeface="Sakkal Majalla" panose="02000000000000000000" pitchFamily="2" charset="-78"/>
                        <a:ea typeface="+mn-ea"/>
                        <a:cs typeface="Sakkal Majalla" panose="02000000000000000000" pitchFamily="2" charset="-78"/>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marL="0" marR="0" lvl="0" indent="0" algn="ctr" defTabSz="914400" rtl="1" eaLnBrk="1" fontAlgn="auto" latinLnBrk="0" hangingPunct="1">
                        <a:lnSpc>
                          <a:spcPct val="100000"/>
                        </a:lnSpc>
                        <a:spcBef>
                          <a:spcPts val="0"/>
                        </a:spcBef>
                        <a:spcAft>
                          <a:spcPts val="0"/>
                        </a:spcAft>
                        <a:buClrTx/>
                        <a:buSzTx/>
                        <a:buFont typeface="Arial" panose="020B0604020202020204" pitchFamily="34" charset="0"/>
                        <a:buNone/>
                        <a:tabLst/>
                        <a:defRPr/>
                      </a:pPr>
                      <a:r>
                        <a:rPr lang="ar-SA" sz="1400" b="1" noProof="0" dirty="0">
                          <a:solidFill>
                            <a:schemeClr val="accent1"/>
                          </a:solidFill>
                        </a:rPr>
                        <a:t>الأثر بعد الردم (المعالجة)</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lumMod val="95000"/>
                      </a:schemeClr>
                    </a:solidFill>
                  </a:tcPr>
                </a:tc>
                <a:tc vMerge="1">
                  <a:txBody>
                    <a:bodyPr/>
                    <a:lstStyle/>
                    <a:p>
                      <a:pPr marL="0" marR="0" lvl="0" indent="0" algn="r" defTabSz="914400" rtl="1" eaLnBrk="1" fontAlgn="auto" latinLnBrk="0" hangingPunct="1">
                        <a:lnSpc>
                          <a:spcPct val="100000"/>
                        </a:lnSpc>
                        <a:spcBef>
                          <a:spcPts val="0"/>
                        </a:spcBef>
                        <a:spcAft>
                          <a:spcPts val="0"/>
                        </a:spcAft>
                        <a:buClrTx/>
                        <a:buSzTx/>
                        <a:buFontTx/>
                        <a:buNone/>
                        <a:tabLst/>
                        <a:defRPr/>
                      </a:pPr>
                      <a:endParaRPr lang="en-GB" sz="1400" b="1" noProof="0" dirty="0"/>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extLst>
                  <a:ext uri="{0D108BD9-81ED-4DB2-BD59-A6C34878D82A}">
                    <a16:rowId xmlns:a16="http://schemas.microsoft.com/office/drawing/2014/main" val="4153014111"/>
                  </a:ext>
                </a:extLst>
              </a:tr>
              <a:tr h="0">
                <a:tc vMerge="1">
                  <a:txBody>
                    <a:bodyPr/>
                    <a:lstStyle/>
                    <a:p>
                      <a:pPr marL="0" marR="0" lvl="0" indent="0" algn="r" defTabSz="914400" rtl="1" eaLnBrk="1" fontAlgn="auto" latinLnBrk="0" hangingPunct="1">
                        <a:lnSpc>
                          <a:spcPct val="100000"/>
                        </a:lnSpc>
                        <a:spcBef>
                          <a:spcPts val="0"/>
                        </a:spcBef>
                        <a:spcAft>
                          <a:spcPts val="0"/>
                        </a:spcAft>
                        <a:buClrTx/>
                        <a:buSzTx/>
                        <a:buFontTx/>
                        <a:buNone/>
                        <a:tabLst/>
                        <a:defRPr/>
                      </a:pPr>
                      <a:endParaRPr lang="en-GB" sz="1400" noProof="0" dirty="0"/>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vMerge="1">
                  <a:txBody>
                    <a:bodyPr/>
                    <a:lstStyle/>
                    <a:p>
                      <a:endParaRPr lang="en-US"/>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vMerge="1">
                  <a:txBody>
                    <a:bodyPr/>
                    <a:lstStyle/>
                    <a:p>
                      <a:endParaRPr lang="en-US"/>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marL="0" marR="0" lvl="0" indent="0" algn="just" defTabSz="914400" rtl="1" eaLnBrk="1" fontAlgn="auto" latinLnBrk="0" hangingPunct="1">
                        <a:lnSpc>
                          <a:spcPct val="100000"/>
                        </a:lnSpc>
                        <a:spcBef>
                          <a:spcPts val="0"/>
                        </a:spcBef>
                        <a:spcAft>
                          <a:spcPts val="0"/>
                        </a:spcAft>
                        <a:buClrTx/>
                        <a:buSzTx/>
                        <a:buFont typeface="Arial" panose="020B0604020202020204" pitchFamily="34" charset="0"/>
                        <a:buNone/>
                        <a:tabLst/>
                        <a:defRPr/>
                      </a:pPr>
                      <a:r>
                        <a:rPr lang="ar-SA" sz="1200" kern="1200" noProof="0" dirty="0">
                          <a:solidFill>
                            <a:schemeClr val="tx1"/>
                          </a:solidFill>
                          <a:latin typeface="Sakkal Majalla" panose="02000000000000000000" pitchFamily="2" charset="-78"/>
                          <a:ea typeface="+mn-ea"/>
                          <a:cs typeface="Sakkal Majalla" panose="02000000000000000000" pitchFamily="2" charset="-78"/>
                        </a:rPr>
                        <a:t>تطوير نظام رقمي موحد يربط بين إدارة التخطيط الاستراتيجي ومكتب إدارة المشاريع ، تبسيط إدخال البيانات من خلال نماذج إلكترونية قابلة للتعبئة مرة واحدة فقط ، دعم التكامل التلقائي بين النماذج والتقارير المختلفة عبر الإدارات ، تمكين إشعارات وتنبيهات تلقائية لمتابعة المهام والمواعيد النهائية ، إنشاء لوحات معلومات تفاعلية لمتابعة أداء المشاريع وتنفيذ الاستراتيجيات ، تطبيق تحليلات متقدمة لقياس مؤشرات الأداء الرئيسية ، تمكين التقارير الفورية لدعم عمليات صنع القرار والتخطيط المستقبلي ، ربط النظام الجديد مع الأنظمة الداخلية ، دعم التكامل مع الأدوات الشائعة لإدارة المشاريع مثل </a:t>
                      </a:r>
                      <a:r>
                        <a:rPr lang="ar-SA" sz="1200" kern="1200" noProof="0" dirty="0" err="1">
                          <a:solidFill>
                            <a:schemeClr val="tx1"/>
                          </a:solidFill>
                          <a:latin typeface="Sakkal Majalla" panose="02000000000000000000" pitchFamily="2" charset="-78"/>
                          <a:ea typeface="+mn-ea"/>
                          <a:cs typeface="Sakkal Majalla" panose="02000000000000000000" pitchFamily="2" charset="-78"/>
                        </a:rPr>
                        <a:t>Microsoft</a:t>
                      </a:r>
                      <a:r>
                        <a:rPr lang="ar-SA" sz="1200" kern="1200" noProof="0" dirty="0">
                          <a:solidFill>
                            <a:schemeClr val="tx1"/>
                          </a:solidFill>
                          <a:latin typeface="Sakkal Majalla" panose="02000000000000000000" pitchFamily="2" charset="-78"/>
                          <a:ea typeface="+mn-ea"/>
                          <a:cs typeface="Sakkal Majalla" panose="02000000000000000000" pitchFamily="2" charset="-78"/>
                        </a:rPr>
                        <a:t> </a:t>
                      </a:r>
                      <a:r>
                        <a:rPr lang="ar-SA" sz="1200" kern="1200" noProof="0" dirty="0" err="1">
                          <a:solidFill>
                            <a:schemeClr val="tx1"/>
                          </a:solidFill>
                          <a:latin typeface="Sakkal Majalla" panose="02000000000000000000" pitchFamily="2" charset="-78"/>
                          <a:ea typeface="+mn-ea"/>
                          <a:cs typeface="Sakkal Majalla" panose="02000000000000000000" pitchFamily="2" charset="-78"/>
                        </a:rPr>
                        <a:t>Project</a:t>
                      </a:r>
                      <a:r>
                        <a:rPr lang="ar-SA" sz="1200" kern="1200" noProof="0" dirty="0">
                          <a:solidFill>
                            <a:schemeClr val="tx1"/>
                          </a:solidFill>
                          <a:latin typeface="Sakkal Majalla" panose="02000000000000000000" pitchFamily="2" charset="-78"/>
                          <a:ea typeface="+mn-ea"/>
                          <a:cs typeface="Sakkal Majalla" panose="02000000000000000000" pitchFamily="2" charset="-78"/>
                        </a:rPr>
                        <a:t> </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marL="0" marR="0" lvl="0" indent="0" algn="ctr" defTabSz="914400" rtl="1" eaLnBrk="1" fontAlgn="auto" latinLnBrk="0" hangingPunct="1">
                        <a:lnSpc>
                          <a:spcPct val="100000"/>
                        </a:lnSpc>
                        <a:spcBef>
                          <a:spcPts val="0"/>
                        </a:spcBef>
                        <a:spcAft>
                          <a:spcPts val="0"/>
                        </a:spcAft>
                        <a:buClrTx/>
                        <a:buSzTx/>
                        <a:buFont typeface="Arial" panose="020B0604020202020204" pitchFamily="34" charset="0"/>
                        <a:buNone/>
                        <a:tabLst/>
                        <a:defRPr/>
                      </a:pPr>
                      <a:r>
                        <a:rPr lang="ar-SA" sz="1400" b="1" noProof="0" dirty="0">
                          <a:solidFill>
                            <a:schemeClr val="accent1"/>
                          </a:solidFill>
                        </a:rPr>
                        <a:t>تغطية الفجوة </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accent1"/>
                      </a:solidFill>
                      <a:prstDash val="solid"/>
                      <a:round/>
                      <a:headEnd type="none" w="med" len="med"/>
                      <a:tailEnd type="none" w="med" len="med"/>
                    </a:lnB>
                    <a:solidFill>
                      <a:schemeClr val="bg1">
                        <a:lumMod val="95000"/>
                      </a:schemeClr>
                    </a:solidFill>
                  </a:tcPr>
                </a:tc>
                <a:tc vMerge="1">
                  <a:txBody>
                    <a:bodyPr/>
                    <a:lstStyle/>
                    <a:p>
                      <a:pPr marL="0" marR="0" lvl="0" indent="0" algn="r" defTabSz="914400" rtl="1" eaLnBrk="1" fontAlgn="auto" latinLnBrk="0" hangingPunct="1">
                        <a:lnSpc>
                          <a:spcPct val="100000"/>
                        </a:lnSpc>
                        <a:spcBef>
                          <a:spcPts val="0"/>
                        </a:spcBef>
                        <a:spcAft>
                          <a:spcPts val="0"/>
                        </a:spcAft>
                        <a:buClrTx/>
                        <a:buSzTx/>
                        <a:buFontTx/>
                        <a:buNone/>
                        <a:tabLst/>
                        <a:defRPr/>
                      </a:pPr>
                      <a:endParaRPr lang="en-GB" sz="1400" b="1" noProof="0" dirty="0"/>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extLst>
                  <a:ext uri="{0D108BD9-81ED-4DB2-BD59-A6C34878D82A}">
                    <a16:rowId xmlns:a16="http://schemas.microsoft.com/office/drawing/2014/main" val="1035545327"/>
                  </a:ext>
                </a:extLst>
              </a:tr>
            </a:tbl>
          </a:graphicData>
        </a:graphic>
      </p:graphicFrame>
      <p:sp>
        <p:nvSpPr>
          <p:cNvPr id="7" name="TextBox 6">
            <a:extLst>
              <a:ext uri="{FF2B5EF4-FFF2-40B4-BE49-F238E27FC236}">
                <a16:creationId xmlns:a16="http://schemas.microsoft.com/office/drawing/2014/main" id="{78FFBCC9-9528-43EE-3448-66EDC46CF782}"/>
              </a:ext>
            </a:extLst>
          </p:cNvPr>
          <p:cNvSpPr txBox="1"/>
          <p:nvPr/>
        </p:nvSpPr>
        <p:spPr>
          <a:xfrm>
            <a:off x="609601" y="759148"/>
            <a:ext cx="10972800" cy="375487"/>
          </a:xfrm>
          <a:prstGeom prst="rect">
            <a:avLst/>
          </a:prstGeom>
          <a:noFill/>
        </p:spPr>
        <p:txBody>
          <a:bodyPr wrap="square">
            <a:spAutoFit/>
          </a:bodyPr>
          <a:lstStyle/>
          <a:p>
            <a:pPr algn="r" rtl="1">
              <a:lnSpc>
                <a:spcPct val="115000"/>
              </a:lnSpc>
              <a:spcAft>
                <a:spcPts val="1000"/>
              </a:spcAft>
            </a:pPr>
            <a:r>
              <a:rPr lang="ar-SA" sz="1600" noProof="0" dirty="0">
                <a:solidFill>
                  <a:srgbClr val="000000"/>
                </a:solidFill>
                <a:latin typeface="Sakkal Majalla" panose="02000000000000000000" pitchFamily="2" charset="-78"/>
                <a:ea typeface="Sakkal Majalla" panose="02000000000000000000" pitchFamily="2" charset="-78"/>
                <a:cs typeface="Sakkal Majalla" panose="02000000000000000000" pitchFamily="2" charset="-78"/>
              </a:rPr>
              <a:t>يهدف هذا القسم من الوثيقة إلى تقديم الملاحظات الخاصة بالوضع الحالي لبنية الأعمال مع ذكر التوصيات  والتحسينات المفترض تطبيقها في الوضع المستقبلي</a:t>
            </a:r>
          </a:p>
        </p:txBody>
      </p:sp>
    </p:spTree>
    <p:extLst>
      <p:ext uri="{BB962C8B-B14F-4D97-AF65-F5344CB8AC3E}">
        <p14:creationId xmlns:p14="http://schemas.microsoft.com/office/powerpoint/2010/main" val="428657332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a:xfrm>
            <a:off x="609601" y="247310"/>
            <a:ext cx="10972800" cy="666261"/>
          </a:xfrm>
        </p:spPr>
        <p:txBody>
          <a:bodyPr/>
          <a:lstStyle/>
          <a:p>
            <a:r>
              <a:rPr lang="ar-SA" noProof="0" dirty="0"/>
              <a:t>ملخص تحليل الفجوات لبنية الأعمال </a:t>
            </a:r>
          </a:p>
        </p:txBody>
      </p:sp>
      <p:sp>
        <p:nvSpPr>
          <p:cNvPr id="3" name="Slide Number Placeholder 2">
            <a:extLst>
              <a:ext uri="{FF2B5EF4-FFF2-40B4-BE49-F238E27FC236}">
                <a16:creationId xmlns:a16="http://schemas.microsoft.com/office/drawing/2014/main" id="{A63A027D-6EA1-E9F6-6212-7D45811B8DC3}"/>
              </a:ext>
            </a:extLst>
          </p:cNvPr>
          <p:cNvSpPr>
            <a:spLocks noGrp="1"/>
          </p:cNvSpPr>
          <p:nvPr>
            <p:ph type="sldNum" sz="quarter" idx="12"/>
          </p:nvPr>
        </p:nvSpPr>
        <p:spPr>
          <a:xfrm>
            <a:off x="655319" y="6567058"/>
            <a:ext cx="466471" cy="290942"/>
          </a:xfrm>
        </p:spPr>
        <p:txBody>
          <a:bodyPr/>
          <a:lstStyle/>
          <a:p>
            <a:fld id="{0BE4EC83-A869-464E-AE9F-881796FB085E}" type="slidenum">
              <a:rPr lang="ar-SA" noProof="0" smtClean="0"/>
              <a:pPr/>
              <a:t>22</a:t>
            </a:fld>
            <a:endParaRPr lang="ar-SA" noProof="0" dirty="0"/>
          </a:p>
        </p:txBody>
      </p:sp>
      <p:graphicFrame>
        <p:nvGraphicFramePr>
          <p:cNvPr id="2" name="Table 1">
            <a:extLst>
              <a:ext uri="{FF2B5EF4-FFF2-40B4-BE49-F238E27FC236}">
                <a16:creationId xmlns:a16="http://schemas.microsoft.com/office/drawing/2014/main" id="{C47CAF5B-4215-4DCE-B225-BC1E66631900}"/>
              </a:ext>
            </a:extLst>
          </p:cNvPr>
          <p:cNvGraphicFramePr>
            <a:graphicFrameLocks noGrp="1"/>
          </p:cNvGraphicFramePr>
          <p:nvPr>
            <p:extLst>
              <p:ext uri="{D42A27DB-BD31-4B8C-83A1-F6EECF244321}">
                <p14:modId xmlns:p14="http://schemas.microsoft.com/office/powerpoint/2010/main" val="3400639457"/>
              </p:ext>
            </p:extLst>
          </p:nvPr>
        </p:nvGraphicFramePr>
        <p:xfrm>
          <a:off x="609600" y="1035636"/>
          <a:ext cx="10972802" cy="5501640"/>
        </p:xfrm>
        <a:graphic>
          <a:graphicData uri="http://schemas.openxmlformats.org/drawingml/2006/table">
            <a:tbl>
              <a:tblPr firstRow="1" bandRow="1">
                <a:tableStyleId>{2D5ABB26-0587-4C30-8999-92F81FD0307C}</a:tableStyleId>
              </a:tblPr>
              <a:tblGrid>
                <a:gridCol w="1828800">
                  <a:extLst>
                    <a:ext uri="{9D8B030D-6E8A-4147-A177-3AD203B41FA5}">
                      <a16:colId xmlns:a16="http://schemas.microsoft.com/office/drawing/2014/main" val="2801895674"/>
                    </a:ext>
                  </a:extLst>
                </a:gridCol>
                <a:gridCol w="684179">
                  <a:extLst>
                    <a:ext uri="{9D8B030D-6E8A-4147-A177-3AD203B41FA5}">
                      <a16:colId xmlns:a16="http://schemas.microsoft.com/office/drawing/2014/main" val="2976102064"/>
                    </a:ext>
                  </a:extLst>
                </a:gridCol>
                <a:gridCol w="573932">
                  <a:extLst>
                    <a:ext uri="{9D8B030D-6E8A-4147-A177-3AD203B41FA5}">
                      <a16:colId xmlns:a16="http://schemas.microsoft.com/office/drawing/2014/main" val="526736865"/>
                    </a:ext>
                  </a:extLst>
                </a:gridCol>
                <a:gridCol w="4182107">
                  <a:extLst>
                    <a:ext uri="{9D8B030D-6E8A-4147-A177-3AD203B41FA5}">
                      <a16:colId xmlns:a16="http://schemas.microsoft.com/office/drawing/2014/main" val="4106469564"/>
                    </a:ext>
                  </a:extLst>
                </a:gridCol>
                <a:gridCol w="923637">
                  <a:extLst>
                    <a:ext uri="{9D8B030D-6E8A-4147-A177-3AD203B41FA5}">
                      <a16:colId xmlns:a16="http://schemas.microsoft.com/office/drawing/2014/main" val="1154529574"/>
                    </a:ext>
                  </a:extLst>
                </a:gridCol>
                <a:gridCol w="2780147">
                  <a:extLst>
                    <a:ext uri="{9D8B030D-6E8A-4147-A177-3AD203B41FA5}">
                      <a16:colId xmlns:a16="http://schemas.microsoft.com/office/drawing/2014/main" val="1503598667"/>
                    </a:ext>
                  </a:extLst>
                </a:gridCol>
              </a:tblGrid>
              <a:tr h="0">
                <a:tc>
                  <a:txBody>
                    <a:bodyPr/>
                    <a:lstStyle/>
                    <a:p>
                      <a:pPr algn="ctr" rtl="1"/>
                      <a:r>
                        <a:rPr lang="ar-SA" sz="1400" b="1" noProof="0" dirty="0">
                          <a:solidFill>
                            <a:schemeClr val="bg1"/>
                          </a:solidFill>
                        </a:rPr>
                        <a:t>المصدر</a:t>
                      </a:r>
                      <a:endParaRPr lang="ar-SA" sz="1400" b="1" noProof="0" dirty="0">
                        <a:solidFill>
                          <a:schemeClr val="bg1"/>
                        </a:solidFill>
                        <a:latin typeface="+mj-lt"/>
                      </a:endParaRPr>
                    </a:p>
                  </a:txBody>
                  <a:tcPr anchor="ctr">
                    <a:lnL w="12700" cap="flat" cmpd="sng" algn="ctr">
                      <a:noFill/>
                      <a:prstDash val="solid"/>
                      <a:round/>
                      <a:headEnd type="none" w="med" len="med"/>
                      <a:tailEnd type="none" w="med" len="med"/>
                    </a:lnL>
                    <a:lnR w="12700" cap="flat" cmpd="sng" algn="ctr">
                      <a:solidFill>
                        <a:schemeClr val="bg1"/>
                      </a:solidFill>
                      <a:prstDash val="solid"/>
                      <a:round/>
                      <a:headEnd type="none" w="med" len="med"/>
                      <a:tailEnd type="none" w="med" len="med"/>
                    </a:lnR>
                    <a:solidFill>
                      <a:schemeClr val="accent1"/>
                    </a:solidFill>
                  </a:tcPr>
                </a:tc>
                <a:tc>
                  <a: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lang="ar-SA" sz="1400" b="1" noProof="0" dirty="0">
                          <a:solidFill>
                            <a:schemeClr val="bg1"/>
                          </a:solidFill>
                        </a:rPr>
                        <a:t>الأهمية</a:t>
                      </a:r>
                      <a:endParaRPr lang="ar-SA" sz="1400" b="1" noProof="0" dirty="0">
                        <a:solidFill>
                          <a:schemeClr val="bg1"/>
                        </a:solidFill>
                        <a:latin typeface="+mj-lt"/>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solidFill>
                      <a:schemeClr val="accent1"/>
                    </a:solidFill>
                  </a:tcPr>
                </a:tc>
                <a:tc>
                  <a: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lang="ar-SA" sz="1400" b="1" noProof="0" dirty="0">
                          <a:solidFill>
                            <a:schemeClr val="bg1"/>
                          </a:solidFill>
                        </a:rPr>
                        <a:t>الأولوية</a:t>
                      </a:r>
                      <a:endParaRPr lang="ar-SA" sz="1400" b="1" noProof="0" dirty="0">
                        <a:solidFill>
                          <a:schemeClr val="bg1"/>
                        </a:solidFill>
                        <a:latin typeface="+mj-lt"/>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solidFill>
                      <a:schemeClr val="accent1"/>
                    </a:solidFill>
                  </a:tcPr>
                </a:tc>
                <a:tc gridSpan="2">
                  <a: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lang="ar-SA" sz="1400" b="1" noProof="0" dirty="0">
                          <a:solidFill>
                            <a:schemeClr val="bg1"/>
                          </a:solidFill>
                        </a:rPr>
                        <a:t>التحليل لكل فجوة </a:t>
                      </a:r>
                      <a:endParaRPr lang="ar-SA" sz="1400" b="1" noProof="0" dirty="0">
                        <a:solidFill>
                          <a:schemeClr val="bg1"/>
                        </a:solidFill>
                        <a:latin typeface="+mj-lt"/>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solidFill>
                      <a:schemeClr val="accent1"/>
                    </a:solidFill>
                  </a:tcPr>
                </a:tc>
                <a:tc hMerge="1">
                  <a:txBody>
                    <a:bodyPr/>
                    <a:lstStyle/>
                    <a:p>
                      <a:endParaRPr lang="en-US"/>
                    </a:p>
                  </a:txBody>
                  <a:tcPr/>
                </a:tc>
                <a:tc>
                  <a:txBody>
                    <a:bodyPr/>
                    <a:lstStyle/>
                    <a:p>
                      <a:pPr algn="ctr" rtl="1"/>
                      <a:r>
                        <a:rPr lang="ar-SA" sz="1400" b="1" noProof="0" dirty="0">
                          <a:solidFill>
                            <a:schemeClr val="bg1"/>
                          </a:solidFill>
                        </a:rPr>
                        <a:t>الفجوة</a:t>
                      </a:r>
                      <a:endParaRPr lang="ar-SA" sz="1400" b="1" noProof="0" dirty="0">
                        <a:solidFill>
                          <a:schemeClr val="bg1"/>
                        </a:solidFill>
                        <a:latin typeface="+mj-lt"/>
                      </a:endParaRPr>
                    </a:p>
                  </a:txBody>
                  <a:tcPr anchor="ctr">
                    <a:lnL w="12700" cap="flat" cmpd="sng" algn="ctr">
                      <a:solidFill>
                        <a:schemeClr val="bg1"/>
                      </a:solidFill>
                      <a:prstDash val="solid"/>
                      <a:round/>
                      <a:headEnd type="none" w="med" len="med"/>
                      <a:tailEnd type="none" w="med" len="med"/>
                    </a:lnL>
                    <a:lnR w="12700" cap="flat" cmpd="sng" algn="ctr">
                      <a:noFill/>
                      <a:prstDash val="solid"/>
                      <a:round/>
                      <a:headEnd type="none" w="med" len="med"/>
                      <a:tailEnd type="none" w="med" len="med"/>
                    </a:lnR>
                    <a:solidFill>
                      <a:schemeClr val="accent1"/>
                    </a:solidFill>
                  </a:tcPr>
                </a:tc>
                <a:extLst>
                  <a:ext uri="{0D108BD9-81ED-4DB2-BD59-A6C34878D82A}">
                    <a16:rowId xmlns:a16="http://schemas.microsoft.com/office/drawing/2014/main" val="3304685178"/>
                  </a:ext>
                </a:extLst>
              </a:tr>
              <a:tr h="0">
                <a:tc rowSpan="4">
                  <a:txBody>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lang="ar-SA" sz="1100" noProof="0" dirty="0"/>
                        <a:t>ملف حصر الأعمال ، دراسة وثائق الأعمال للجهة المتوفرة بالوضع الحالي ، ورش العمل لحصر الأعمال مع الوحدات الإدارية المعنية ،تطلعات أصحاب المصلحة</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B w="12700" cap="flat" cmpd="sng" algn="ctr">
                      <a:solidFill>
                        <a:schemeClr val="accent1"/>
                      </a:solidFill>
                      <a:prstDash val="solid"/>
                      <a:round/>
                      <a:headEnd type="none" w="med" len="med"/>
                      <a:tailEnd type="none" w="med" len="med"/>
                    </a:lnB>
                  </a:tcPr>
                </a:tc>
                <a:tc rowSpan="4">
                  <a:txBody>
                    <a:bodyPr/>
                    <a:lstStyle/>
                    <a:p>
                      <a:pPr marL="0" marR="0" lvl="0" indent="0" algn="ctr" defTabSz="914400" rtl="1" eaLnBrk="1" fontAlgn="auto" latinLnBrk="0" hangingPunct="1">
                        <a:lnSpc>
                          <a:spcPct val="100000"/>
                        </a:lnSpc>
                        <a:spcBef>
                          <a:spcPts val="0"/>
                        </a:spcBef>
                        <a:spcAft>
                          <a:spcPts val="0"/>
                        </a:spcAft>
                        <a:buClrTx/>
                        <a:buSzTx/>
                        <a:buFont typeface="Arial" panose="020B0604020202020204" pitchFamily="34" charset="0"/>
                        <a:buNone/>
                        <a:tabLst/>
                        <a:defRPr/>
                      </a:pPr>
                      <a:r>
                        <a:rPr lang="ar-SA" sz="1100" noProof="0" dirty="0"/>
                        <a:t>عالي</a:t>
                      </a:r>
                    </a:p>
                  </a:txBody>
                  <a:tcPr anchor="ctr">
                    <a:lnL w="12700" cap="flat" cmpd="sng" algn="ctr">
                      <a:noFill/>
                      <a:prstDash val="solid"/>
                      <a:round/>
                      <a:headEnd type="none" w="med" len="med"/>
                      <a:tailEnd type="none" w="med" len="med"/>
                    </a:lnL>
                    <a:lnR w="12700" cap="flat" cmpd="sng" algn="ctr">
                      <a:solidFill>
                        <a:schemeClr val="bg1"/>
                      </a:solidFill>
                      <a:prstDash val="solid"/>
                      <a:round/>
                      <a:headEnd type="none" w="med" len="med"/>
                      <a:tailEnd type="none" w="med" len="med"/>
                    </a:lnR>
                    <a:lnB w="12700" cap="flat" cmpd="sng" algn="ctr">
                      <a:solidFill>
                        <a:schemeClr val="accent1"/>
                      </a:solidFill>
                      <a:prstDash val="solid"/>
                      <a:round/>
                      <a:headEnd type="none" w="med" len="med"/>
                      <a:tailEnd type="none" w="med" len="med"/>
                    </a:lnB>
                    <a:solidFill>
                      <a:schemeClr val="bg1">
                        <a:lumMod val="95000"/>
                      </a:schemeClr>
                    </a:solidFill>
                  </a:tcPr>
                </a:tc>
                <a:tc rowSpan="4">
                  <a:txBody>
                    <a:bodyPr/>
                    <a:lstStyle/>
                    <a:p>
                      <a:pPr marL="0" marR="0" lvl="0" indent="0" algn="ctr" defTabSz="914400" rtl="1" eaLnBrk="1" fontAlgn="auto" latinLnBrk="0" hangingPunct="1">
                        <a:lnSpc>
                          <a:spcPct val="100000"/>
                        </a:lnSpc>
                        <a:spcBef>
                          <a:spcPts val="0"/>
                        </a:spcBef>
                        <a:spcAft>
                          <a:spcPts val="0"/>
                        </a:spcAft>
                        <a:buClrTx/>
                        <a:buSzTx/>
                        <a:buFont typeface="Arial" panose="020B0604020202020204" pitchFamily="34" charset="0"/>
                        <a:buNone/>
                        <a:tabLst/>
                        <a:defRPr/>
                      </a:pPr>
                      <a:r>
                        <a:rPr lang="ar-SA" sz="1100" noProof="0" dirty="0"/>
                        <a:t>عالي</a:t>
                      </a:r>
                    </a:p>
                  </a:txBody>
                  <a:tcPr anchor="ctr">
                    <a:lnL w="12700" cap="flat" cmpd="sng" algn="ctr">
                      <a:solidFill>
                        <a:schemeClr val="bg1"/>
                      </a:solidFill>
                      <a:prstDash val="solid"/>
                      <a:round/>
                      <a:headEnd type="none" w="med" len="med"/>
                      <a:tailEnd type="none" w="med" len="med"/>
                    </a:lnL>
                    <a:lnR w="12700" cap="flat" cmpd="sng" algn="ctr">
                      <a:noFill/>
                      <a:prstDash val="solid"/>
                      <a:round/>
                      <a:headEnd type="none" w="med" len="med"/>
                      <a:tailEnd type="none" w="med" len="med"/>
                    </a:lnR>
                    <a:lnB w="12700" cap="flat" cmpd="sng" algn="ctr">
                      <a:solidFill>
                        <a:schemeClr val="accent1"/>
                      </a:solidFill>
                      <a:prstDash val="solid"/>
                      <a:round/>
                      <a:headEnd type="none" w="med" len="med"/>
                      <a:tailEnd type="none" w="med" len="med"/>
                    </a:lnB>
                    <a:solidFill>
                      <a:schemeClr val="bg1">
                        <a:lumMod val="95000"/>
                      </a:schemeClr>
                    </a:solidFill>
                  </a:tcPr>
                </a:tc>
                <a:tc>
                  <a:txBody>
                    <a:bodyPr/>
                    <a:lstStyle/>
                    <a:p>
                      <a:pPr marL="0" marR="0" lvl="0" indent="0" algn="just" defTabSz="914400" rtl="1" eaLnBrk="1" fontAlgn="auto" latinLnBrk="0" hangingPunct="1">
                        <a:lnSpc>
                          <a:spcPct val="100000"/>
                        </a:lnSpc>
                        <a:spcBef>
                          <a:spcPts val="0"/>
                        </a:spcBef>
                        <a:spcAft>
                          <a:spcPts val="0"/>
                        </a:spcAft>
                        <a:buClrTx/>
                        <a:buSzTx/>
                        <a:buFont typeface="Arial" panose="020B0604020202020204" pitchFamily="34" charset="0"/>
                        <a:buNone/>
                        <a:tabLst/>
                        <a:defRPr/>
                      </a:pPr>
                      <a:r>
                        <a:rPr lang="ar-SA" sz="1100" kern="1200" noProof="0" dirty="0">
                          <a:solidFill>
                            <a:schemeClr val="tx1"/>
                          </a:solidFill>
                          <a:latin typeface="Sakkal Majalla" panose="02000000000000000000" pitchFamily="2" charset="-78"/>
                          <a:ea typeface="+mn-ea"/>
                          <a:cs typeface="Sakkal Majalla" panose="02000000000000000000" pitchFamily="2" charset="-78"/>
                        </a:rPr>
                        <a:t>ضرورة </a:t>
                      </a:r>
                      <a:r>
                        <a:rPr lang="ar-SA" sz="1100" noProof="0" dirty="0">
                          <a:latin typeface="Sakkal Majalla" panose="02000000000000000000" pitchFamily="2" charset="-78"/>
                          <a:cs typeface="Sakkal Majalla" panose="02000000000000000000" pitchFamily="2" charset="-78"/>
                        </a:rPr>
                        <a:t>توفير نظام متخصص للجودة والتدقيق المؤسسي يساعد في بناء وتحديث وتطوير الإجراءات المتعلقة بأعمال الجودة والتميز المؤسسي ويخدم إدارة الجودة والتميز المؤسسي</a:t>
                      </a:r>
                      <a:r>
                        <a:rPr lang="ar-SA" sz="1100" kern="1200" noProof="0" dirty="0">
                          <a:solidFill>
                            <a:schemeClr val="tx1"/>
                          </a:solidFill>
                          <a:latin typeface="Sakkal Majalla" panose="02000000000000000000" pitchFamily="2" charset="-78"/>
                          <a:ea typeface="+mn-ea"/>
                          <a:cs typeface="Sakkal Majalla" panose="02000000000000000000" pitchFamily="2" charset="-78"/>
                        </a:rPr>
                        <a:t> ، مع ضرورة تكامل نظام الجودة مع الأنظمة الحالية لضمان تدفق المعلومات وتحقيق الجودة الشاملة</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B w="12700" cap="flat" cmpd="sng" algn="ctr">
                      <a:solidFill>
                        <a:schemeClr val="bg1">
                          <a:lumMod val="85000"/>
                        </a:schemeClr>
                      </a:solidFill>
                      <a:prstDash val="solid"/>
                      <a:round/>
                      <a:headEnd type="none" w="med" len="med"/>
                      <a:tailEnd type="none" w="med" len="med"/>
                    </a:lnB>
                  </a:tcPr>
                </a:tc>
                <a:tc>
                  <a:txBody>
                    <a:bodyPr/>
                    <a:lstStyle/>
                    <a:p>
                      <a:pPr marL="0" marR="0" lvl="0" indent="0" algn="ctr" defTabSz="914400" rtl="1" eaLnBrk="1" fontAlgn="auto" latinLnBrk="0" hangingPunct="1">
                        <a:lnSpc>
                          <a:spcPct val="100000"/>
                        </a:lnSpc>
                        <a:spcBef>
                          <a:spcPts val="0"/>
                        </a:spcBef>
                        <a:spcAft>
                          <a:spcPts val="0"/>
                        </a:spcAft>
                        <a:buClrTx/>
                        <a:buSzTx/>
                        <a:buFont typeface="Arial" panose="020B0604020202020204" pitchFamily="34" charset="0"/>
                        <a:buNone/>
                        <a:tabLst/>
                        <a:defRPr/>
                      </a:pPr>
                      <a:r>
                        <a:rPr lang="ar-SA" sz="1400" b="1" noProof="0" dirty="0">
                          <a:solidFill>
                            <a:schemeClr val="accent1"/>
                          </a:solidFill>
                        </a:rPr>
                        <a:t>الوصف</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B w="12700" cap="flat" cmpd="sng" algn="ctr">
                      <a:solidFill>
                        <a:schemeClr val="bg1">
                          <a:lumMod val="85000"/>
                        </a:schemeClr>
                      </a:solidFill>
                      <a:prstDash val="solid"/>
                      <a:round/>
                      <a:headEnd type="none" w="med" len="med"/>
                      <a:tailEnd type="none" w="med" len="med"/>
                    </a:lnB>
                    <a:solidFill>
                      <a:schemeClr val="bg1">
                        <a:lumMod val="95000"/>
                      </a:schemeClr>
                    </a:solidFill>
                  </a:tcPr>
                </a:tc>
                <a:tc rowSpan="4">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ar-SA" sz="1600" b="1" noProof="0" dirty="0"/>
                        <a:t>GAP-B-25</a:t>
                      </a:r>
                    </a:p>
                    <a:p>
                      <a:pPr marL="0" marR="0" lvl="0" indent="0" algn="r" defTabSz="914400" rtl="1" eaLnBrk="1" fontAlgn="auto" latinLnBrk="0" hangingPunct="1">
                        <a:lnSpc>
                          <a:spcPct val="100000"/>
                        </a:lnSpc>
                        <a:spcBef>
                          <a:spcPts val="0"/>
                        </a:spcBef>
                        <a:spcAft>
                          <a:spcPts val="0"/>
                        </a:spcAft>
                        <a:buClrTx/>
                        <a:buSzTx/>
                        <a:buFontTx/>
                        <a:buNone/>
                        <a:tabLst/>
                        <a:defRPr/>
                      </a:pPr>
                      <a:r>
                        <a:rPr lang="ar-SA" sz="1400" b="1" kern="1200" noProof="0" dirty="0">
                          <a:solidFill>
                            <a:schemeClr val="tx1"/>
                          </a:solidFill>
                          <a:effectLst/>
                          <a:latin typeface="+mn-lt"/>
                          <a:ea typeface="+mn-ea"/>
                          <a:cs typeface="+mn-cs"/>
                        </a:rPr>
                        <a:t>الحاجة إلى أتمتة أعمال الجودة والتدقيق المؤسسي </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B w="12700" cap="flat" cmpd="sng" algn="ctr">
                      <a:solidFill>
                        <a:schemeClr val="accent1"/>
                      </a:solidFill>
                      <a:prstDash val="solid"/>
                      <a:round/>
                      <a:headEnd type="none" w="med" len="med"/>
                      <a:tailEnd type="none" w="med" len="med"/>
                    </a:lnB>
                  </a:tcPr>
                </a:tc>
                <a:extLst>
                  <a:ext uri="{0D108BD9-81ED-4DB2-BD59-A6C34878D82A}">
                    <a16:rowId xmlns:a16="http://schemas.microsoft.com/office/drawing/2014/main" val="1128065702"/>
                  </a:ext>
                </a:extLst>
              </a:tr>
              <a:tr h="0">
                <a:tc vMerge="1">
                  <a:txBody>
                    <a:bodyPr/>
                    <a:lstStyle/>
                    <a:p>
                      <a:endParaRPr lang="en-US"/>
                    </a:p>
                  </a:txBody>
                  <a:tcPr/>
                </a:tc>
                <a:tc vMerge="1">
                  <a:txBody>
                    <a:bodyPr/>
                    <a:lstStyle/>
                    <a:p>
                      <a:endParaRPr lang="en-US"/>
                    </a:p>
                  </a:txBody>
                  <a:tcPr/>
                </a:tc>
                <a:tc vMerge="1">
                  <a:txBody>
                    <a:bodyPr/>
                    <a:lstStyle/>
                    <a:p>
                      <a:endParaRPr lang="en-US"/>
                    </a:p>
                  </a:txBody>
                  <a:tcPr/>
                </a:tc>
                <a:tc>
                  <a:txBody>
                    <a:bodyPr/>
                    <a:lstStyle/>
                    <a:p>
                      <a:pPr marL="0" marR="0" lvl="0" indent="0" algn="just" defTabSz="914400" rtl="1" eaLnBrk="1" fontAlgn="auto" latinLnBrk="0" hangingPunct="1">
                        <a:lnSpc>
                          <a:spcPct val="100000"/>
                        </a:lnSpc>
                        <a:spcBef>
                          <a:spcPts val="0"/>
                        </a:spcBef>
                        <a:spcAft>
                          <a:spcPts val="0"/>
                        </a:spcAft>
                        <a:buClrTx/>
                        <a:buSzTx/>
                        <a:buFont typeface="Arial" panose="020B0604020202020204" pitchFamily="34" charset="0"/>
                        <a:buNone/>
                        <a:tabLst/>
                        <a:defRPr/>
                      </a:pPr>
                      <a:r>
                        <a:rPr lang="ar-SA" sz="1100" kern="1200" noProof="0" dirty="0">
                          <a:solidFill>
                            <a:schemeClr val="tx1"/>
                          </a:solidFill>
                          <a:latin typeface="Sakkal Majalla" panose="02000000000000000000" pitchFamily="2" charset="-78"/>
                          <a:ea typeface="+mn-ea"/>
                          <a:cs typeface="Sakkal Majalla" panose="02000000000000000000" pitchFamily="2" charset="-78"/>
                        </a:rPr>
                        <a:t>الحاجة إلى تحسين وتعزيز بناء وتحديث وتطوير الإجراءات المتعلقة بأعمال الجودة </a:t>
                      </a:r>
                      <a:r>
                        <a:rPr lang="ar-SA" sz="1100" noProof="0" dirty="0">
                          <a:latin typeface="Sakkal Majalla" panose="02000000000000000000" pitchFamily="2" charset="-78"/>
                          <a:cs typeface="Sakkal Majalla" panose="02000000000000000000" pitchFamily="2" charset="-78"/>
                        </a:rPr>
                        <a:t>والتميز المؤسسي </a:t>
                      </a:r>
                      <a:r>
                        <a:rPr lang="ar-SA" sz="1100" kern="1200" noProof="0" dirty="0">
                          <a:solidFill>
                            <a:schemeClr val="tx1"/>
                          </a:solidFill>
                          <a:latin typeface="Sakkal Majalla" panose="02000000000000000000" pitchFamily="2" charset="-78"/>
                          <a:ea typeface="+mn-ea"/>
                          <a:cs typeface="Sakkal Majalla" panose="02000000000000000000" pitchFamily="2" charset="-78"/>
                        </a:rPr>
                        <a:t>، مع الحاجة إلى تحسين  تدفق المعلومات وتحقيق الجودة الشاملة</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marL="0" marR="0" lvl="0" indent="0" algn="ctr" defTabSz="914400" rtl="1" eaLnBrk="1" fontAlgn="auto" latinLnBrk="0" hangingPunct="1">
                        <a:lnSpc>
                          <a:spcPct val="100000"/>
                        </a:lnSpc>
                        <a:spcBef>
                          <a:spcPts val="0"/>
                        </a:spcBef>
                        <a:spcAft>
                          <a:spcPts val="0"/>
                        </a:spcAft>
                        <a:buClrTx/>
                        <a:buSzTx/>
                        <a:buFont typeface="Arial" panose="020B0604020202020204" pitchFamily="34" charset="0"/>
                        <a:buNone/>
                        <a:tabLst/>
                        <a:defRPr/>
                      </a:pPr>
                      <a:r>
                        <a:rPr lang="ar-SA" sz="1400" b="1" kern="1200" noProof="0" dirty="0">
                          <a:solidFill>
                            <a:schemeClr val="accent1"/>
                          </a:solidFill>
                        </a:rPr>
                        <a:t>الأثر الحالي</a:t>
                      </a:r>
                      <a:endParaRPr lang="ar-SA" sz="1400" b="1" noProof="0" dirty="0">
                        <a:solidFill>
                          <a:schemeClr val="accent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lumMod val="95000"/>
                      </a:schemeClr>
                    </a:solidFill>
                  </a:tcPr>
                </a:tc>
                <a:tc vMerge="1">
                  <a:txBody>
                    <a:bodyPr/>
                    <a:lstStyle/>
                    <a:p>
                      <a:endParaRPr lang="en-US"/>
                    </a:p>
                  </a:txBody>
                  <a:tcPr/>
                </a:tc>
                <a:extLst>
                  <a:ext uri="{0D108BD9-81ED-4DB2-BD59-A6C34878D82A}">
                    <a16:rowId xmlns:a16="http://schemas.microsoft.com/office/drawing/2014/main" val="1163892829"/>
                  </a:ext>
                </a:extLst>
              </a:tr>
              <a:tr h="0">
                <a:tc vMerge="1">
                  <a:txBody>
                    <a:bodyPr/>
                    <a:lstStyle/>
                    <a:p>
                      <a:endParaRPr lang="en-US"/>
                    </a:p>
                  </a:txBody>
                  <a:tcPr/>
                </a:tc>
                <a:tc vMerge="1">
                  <a:txBody>
                    <a:bodyPr/>
                    <a:lstStyle/>
                    <a:p>
                      <a:endParaRPr lang="en-US"/>
                    </a:p>
                  </a:txBody>
                  <a:tcPr/>
                </a:tc>
                <a:tc vMerge="1">
                  <a:txBody>
                    <a:bodyPr/>
                    <a:lstStyle/>
                    <a:p>
                      <a:endParaRPr lang="en-US"/>
                    </a:p>
                  </a:txBody>
                  <a:tcPr/>
                </a:tc>
                <a:tc>
                  <a:txBody>
                    <a:bodyPr/>
                    <a:lstStyle/>
                    <a:p>
                      <a:pPr marL="0" marR="0" lvl="0" indent="0" algn="just" defTabSz="914400" rtl="1" eaLnBrk="1" fontAlgn="auto" latinLnBrk="0" hangingPunct="1">
                        <a:lnSpc>
                          <a:spcPct val="100000"/>
                        </a:lnSpc>
                        <a:spcBef>
                          <a:spcPts val="0"/>
                        </a:spcBef>
                        <a:spcAft>
                          <a:spcPts val="0"/>
                        </a:spcAft>
                        <a:buClrTx/>
                        <a:buSzTx/>
                        <a:buFont typeface="Arial" panose="020B0604020202020204" pitchFamily="34" charset="0"/>
                        <a:buNone/>
                        <a:tabLst/>
                        <a:defRPr/>
                      </a:pPr>
                      <a:r>
                        <a:rPr lang="ar-SA" sz="1100" kern="1200" noProof="0" dirty="0">
                          <a:solidFill>
                            <a:schemeClr val="tx1"/>
                          </a:solidFill>
                          <a:latin typeface="Sakkal Majalla" panose="02000000000000000000" pitchFamily="2" charset="-78"/>
                          <a:ea typeface="+mn-ea"/>
                          <a:cs typeface="Sakkal Majalla" panose="02000000000000000000" pitchFamily="2" charset="-78"/>
                        </a:rPr>
                        <a:t>تعزيز بناء وتحديث وتطوير الإجراءات المتعلقة بأعمال الجودة </a:t>
                      </a:r>
                      <a:r>
                        <a:rPr lang="ar-SA" sz="1100" noProof="0" dirty="0">
                          <a:latin typeface="Sakkal Majalla" panose="02000000000000000000" pitchFamily="2" charset="-78"/>
                          <a:cs typeface="Sakkal Majalla" panose="02000000000000000000" pitchFamily="2" charset="-78"/>
                        </a:rPr>
                        <a:t>والتميز المؤسسي </a:t>
                      </a:r>
                      <a:r>
                        <a:rPr lang="ar-SA" sz="1100" kern="1200" noProof="0" dirty="0">
                          <a:solidFill>
                            <a:schemeClr val="tx1"/>
                          </a:solidFill>
                          <a:latin typeface="Sakkal Majalla" panose="02000000000000000000" pitchFamily="2" charset="-78"/>
                          <a:ea typeface="+mn-ea"/>
                          <a:cs typeface="Sakkal Majalla" panose="02000000000000000000" pitchFamily="2" charset="-78"/>
                        </a:rPr>
                        <a:t>بشكل كامل، مع ضمان تدفق المعلومات وتحقيق الجودة الشاملة</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marL="0" marR="0" lvl="0" indent="0" algn="ctr" defTabSz="914400" rtl="1" eaLnBrk="1" fontAlgn="auto" latinLnBrk="0" hangingPunct="1">
                        <a:lnSpc>
                          <a:spcPct val="100000"/>
                        </a:lnSpc>
                        <a:spcBef>
                          <a:spcPts val="0"/>
                        </a:spcBef>
                        <a:spcAft>
                          <a:spcPts val="0"/>
                        </a:spcAft>
                        <a:buClrTx/>
                        <a:buSzTx/>
                        <a:buFont typeface="Arial" panose="020B0604020202020204" pitchFamily="34" charset="0"/>
                        <a:buNone/>
                        <a:tabLst/>
                        <a:defRPr/>
                      </a:pPr>
                      <a:r>
                        <a:rPr lang="ar-SA" sz="1400" b="1" noProof="0" dirty="0">
                          <a:solidFill>
                            <a:schemeClr val="accent1"/>
                          </a:solidFill>
                        </a:rPr>
                        <a:t>الأثر بعد الردم (المعالجة)</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lumMod val="95000"/>
                      </a:schemeClr>
                    </a:solidFill>
                  </a:tcPr>
                </a:tc>
                <a:tc vMerge="1">
                  <a:txBody>
                    <a:bodyPr/>
                    <a:lstStyle/>
                    <a:p>
                      <a:endParaRPr lang="en-US"/>
                    </a:p>
                  </a:txBody>
                  <a:tcPr/>
                </a:tc>
                <a:extLst>
                  <a:ext uri="{0D108BD9-81ED-4DB2-BD59-A6C34878D82A}">
                    <a16:rowId xmlns:a16="http://schemas.microsoft.com/office/drawing/2014/main" val="1973569126"/>
                  </a:ext>
                </a:extLst>
              </a:tr>
              <a:tr h="0">
                <a:tc vMerge="1">
                  <a:txBody>
                    <a:bodyPr/>
                    <a:lstStyle/>
                    <a:p>
                      <a:endParaRPr lang="en-US"/>
                    </a:p>
                  </a:txBody>
                  <a:tcPr/>
                </a:tc>
                <a:tc vMerge="1">
                  <a:txBody>
                    <a:bodyPr/>
                    <a:lstStyle/>
                    <a:p>
                      <a:endParaRPr lang="en-US"/>
                    </a:p>
                  </a:txBody>
                  <a:tcPr/>
                </a:tc>
                <a:tc vMerge="1">
                  <a:txBody>
                    <a:bodyPr/>
                    <a:lstStyle/>
                    <a:p>
                      <a:endParaRPr lang="en-US"/>
                    </a:p>
                  </a:txBody>
                  <a:tcPr/>
                </a:tc>
                <a:tc>
                  <a:txBody>
                    <a:bodyPr/>
                    <a:lstStyle/>
                    <a:p>
                      <a:pPr marL="0" marR="0" lvl="0" indent="0" algn="just" defTabSz="914400" rtl="1" eaLnBrk="1" fontAlgn="auto" latinLnBrk="0" hangingPunct="1">
                        <a:lnSpc>
                          <a:spcPct val="100000"/>
                        </a:lnSpc>
                        <a:spcBef>
                          <a:spcPts val="0"/>
                        </a:spcBef>
                        <a:spcAft>
                          <a:spcPts val="0"/>
                        </a:spcAft>
                        <a:buClrTx/>
                        <a:buSzTx/>
                        <a:buFont typeface="Arial" panose="020B0604020202020204" pitchFamily="34" charset="0"/>
                        <a:buNone/>
                        <a:tabLst/>
                        <a:defRPr/>
                      </a:pPr>
                      <a:r>
                        <a:rPr lang="ar-SA" sz="1100" kern="1200" noProof="0" dirty="0">
                          <a:solidFill>
                            <a:schemeClr val="tx1"/>
                          </a:solidFill>
                          <a:latin typeface="Sakkal Majalla" panose="02000000000000000000" pitchFamily="2" charset="-78"/>
                          <a:ea typeface="+mn-ea"/>
                          <a:cs typeface="Sakkal Majalla" panose="02000000000000000000" pitchFamily="2" charset="-78"/>
                        </a:rPr>
                        <a:t>إنشاء نظام رقمي متخصص لإدارة الجودة والتدقيق المؤسسي ، تمكين التحليل المستمر لتحسين العمليات وفق أفضل الممارسات ، تطوير نماذج إلكترونية موحدة لتوثيق عمليات التدقيق الداخلي والجودة ، تفعيل إشعارات وتنبيهات تلقائية لمتابعة الامتثال والإجراءات المطلوبة ، ربط النظام الجديد مع الأنظمة الداخلية</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marL="0" marR="0" lvl="0" indent="0" algn="ctr" defTabSz="914400" rtl="1" eaLnBrk="1" fontAlgn="auto" latinLnBrk="0" hangingPunct="1">
                        <a:lnSpc>
                          <a:spcPct val="100000"/>
                        </a:lnSpc>
                        <a:spcBef>
                          <a:spcPts val="0"/>
                        </a:spcBef>
                        <a:spcAft>
                          <a:spcPts val="0"/>
                        </a:spcAft>
                        <a:buClrTx/>
                        <a:buSzTx/>
                        <a:buFont typeface="Arial" panose="020B0604020202020204" pitchFamily="34" charset="0"/>
                        <a:buNone/>
                        <a:tabLst/>
                        <a:defRPr/>
                      </a:pPr>
                      <a:r>
                        <a:rPr lang="ar-SA" sz="1400" b="1" noProof="0" dirty="0">
                          <a:solidFill>
                            <a:schemeClr val="accent1"/>
                          </a:solidFill>
                        </a:rPr>
                        <a:t>تغطية الفجوة </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accent1"/>
                      </a:solidFill>
                      <a:prstDash val="solid"/>
                      <a:round/>
                      <a:headEnd type="none" w="med" len="med"/>
                      <a:tailEnd type="none" w="med" len="med"/>
                    </a:lnB>
                    <a:solidFill>
                      <a:schemeClr val="bg1">
                        <a:lumMod val="95000"/>
                      </a:schemeClr>
                    </a:solidFill>
                  </a:tcPr>
                </a:tc>
                <a:tc vMerge="1">
                  <a:txBody>
                    <a:bodyPr/>
                    <a:lstStyle/>
                    <a:p>
                      <a:endParaRPr lang="en-US"/>
                    </a:p>
                  </a:txBody>
                  <a:tcPr/>
                </a:tc>
                <a:extLst>
                  <a:ext uri="{0D108BD9-81ED-4DB2-BD59-A6C34878D82A}">
                    <a16:rowId xmlns:a16="http://schemas.microsoft.com/office/drawing/2014/main" val="4011636746"/>
                  </a:ext>
                </a:extLst>
              </a:tr>
              <a:tr h="0">
                <a:tc rowSpan="4">
                  <a:txBody>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lang="ar-SA" sz="1100" noProof="0" dirty="0"/>
                        <a:t>ملف حصر الأعمال ، دراسة وثائق الأعمال للجهة المتوفرة بالوضع الحالي ، ورش العمل لحصر الأعمال مع الوحدات الإدارية المعنية ،تطلعات أصحاب المصلحة</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rowSpan="4">
                  <a:txBody>
                    <a:bodyPr/>
                    <a:lstStyle/>
                    <a:p>
                      <a:pPr marL="0" marR="0" lvl="0" indent="0" algn="ctr" defTabSz="914400" rtl="1" eaLnBrk="1" fontAlgn="auto" latinLnBrk="0" hangingPunct="1">
                        <a:lnSpc>
                          <a:spcPct val="100000"/>
                        </a:lnSpc>
                        <a:spcBef>
                          <a:spcPts val="0"/>
                        </a:spcBef>
                        <a:spcAft>
                          <a:spcPts val="0"/>
                        </a:spcAft>
                        <a:buClrTx/>
                        <a:buSzTx/>
                        <a:buFont typeface="Arial" panose="020B0604020202020204" pitchFamily="34" charset="0"/>
                        <a:buNone/>
                        <a:tabLst/>
                        <a:defRPr/>
                      </a:pPr>
                      <a:r>
                        <a:rPr kumimoji="0" lang="ar-SA" sz="1100" b="0" i="0" u="none" strike="noStrike" kern="1200" cap="none" spc="0" normalizeH="0" baseline="0" noProof="0" dirty="0">
                          <a:ln>
                            <a:noFill/>
                          </a:ln>
                          <a:solidFill>
                            <a:prstClr val="black"/>
                          </a:solidFill>
                          <a:effectLst/>
                          <a:uLnTx/>
                          <a:uFillTx/>
                          <a:latin typeface="Sakkal Majalla"/>
                          <a:ea typeface="+mn-ea"/>
                          <a:cs typeface="Sakkal Majalla"/>
                        </a:rPr>
                        <a:t>متوسط</a:t>
                      </a:r>
                    </a:p>
                  </a:txBody>
                  <a:tcPr anchor="ctr">
                    <a:lnL w="12700" cap="flat" cmpd="sng" algn="ctr">
                      <a:no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solidFill>
                      <a:schemeClr val="bg1">
                        <a:lumMod val="95000"/>
                      </a:schemeClr>
                    </a:solidFill>
                  </a:tcPr>
                </a:tc>
                <a:tc rowSpan="4">
                  <a:txBody>
                    <a:bodyPr/>
                    <a:lstStyle/>
                    <a:p>
                      <a:pPr marL="0" marR="0" lvl="0" indent="0" algn="ctr" defTabSz="914400" rtl="1" eaLnBrk="1" fontAlgn="auto" latinLnBrk="0" hangingPunct="1">
                        <a:lnSpc>
                          <a:spcPct val="100000"/>
                        </a:lnSpc>
                        <a:spcBef>
                          <a:spcPts val="0"/>
                        </a:spcBef>
                        <a:spcAft>
                          <a:spcPts val="0"/>
                        </a:spcAft>
                        <a:buClrTx/>
                        <a:buSzTx/>
                        <a:buFont typeface="Arial" panose="020B0604020202020204" pitchFamily="34" charset="0"/>
                        <a:buNone/>
                        <a:tabLst/>
                        <a:defRPr/>
                      </a:pPr>
                      <a:r>
                        <a:rPr kumimoji="0" lang="ar-SA" sz="1100" b="0" i="0" u="none" strike="noStrike" kern="1200" cap="none" spc="0" normalizeH="0" baseline="0" noProof="0" dirty="0">
                          <a:ln>
                            <a:noFill/>
                          </a:ln>
                          <a:solidFill>
                            <a:prstClr val="black"/>
                          </a:solidFill>
                          <a:effectLst/>
                          <a:uLnTx/>
                          <a:uFillTx/>
                          <a:latin typeface="Sakkal Majalla"/>
                          <a:ea typeface="+mn-ea"/>
                          <a:cs typeface="Sakkal Majalla"/>
                        </a:rPr>
                        <a:t>متوسط</a:t>
                      </a:r>
                    </a:p>
                  </a:txBody>
                  <a:tcPr anchor="ctr">
                    <a:lnL w="12700" cap="flat" cmpd="sng" algn="ctr">
                      <a:solidFill>
                        <a:schemeClr val="bg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solidFill>
                      <a:schemeClr val="bg1">
                        <a:lumMod val="95000"/>
                      </a:schemeClr>
                    </a:solidFill>
                  </a:tcPr>
                </a:tc>
                <a:tc>
                  <a:txBody>
                    <a:bodyPr/>
                    <a:lstStyle/>
                    <a:p>
                      <a:pPr marL="0" marR="0" lvl="0" indent="0" algn="just" defTabSz="914400" rtl="1" eaLnBrk="1" fontAlgn="auto" latinLnBrk="0" hangingPunct="1">
                        <a:lnSpc>
                          <a:spcPct val="100000"/>
                        </a:lnSpc>
                        <a:spcBef>
                          <a:spcPts val="0"/>
                        </a:spcBef>
                        <a:spcAft>
                          <a:spcPts val="0"/>
                        </a:spcAft>
                        <a:buClrTx/>
                        <a:buSzTx/>
                        <a:buFont typeface="Arial" panose="020B0604020202020204" pitchFamily="34" charset="0"/>
                        <a:buNone/>
                        <a:tabLst/>
                        <a:defRPr/>
                      </a:pPr>
                      <a:r>
                        <a:rPr lang="ar-SA" sz="1100" kern="1200" noProof="0" dirty="0">
                          <a:solidFill>
                            <a:schemeClr val="tx1"/>
                          </a:solidFill>
                          <a:latin typeface="Sakkal Majalla" panose="02000000000000000000" pitchFamily="2" charset="-78"/>
                          <a:ea typeface="+mn-ea"/>
                          <a:cs typeface="Sakkal Majalla" panose="02000000000000000000" pitchFamily="2" charset="-78"/>
                        </a:rPr>
                        <a:t>هناك الحاجة إلى تطوير وتعزيز وظيفة إدارة المعرفة في </a:t>
                      </a:r>
                      <a:r>
                        <a:rPr lang="ar-SA" sz="1100" baseline="0" noProof="0" dirty="0">
                          <a:effectLst/>
                          <a:latin typeface="Sakkal Majalla" panose="02000000000000000000" pitchFamily="2" charset="-78"/>
                          <a:ea typeface="Sakkal Majalla" panose="02000000000000000000" pitchFamily="2" charset="-78"/>
                          <a:cs typeface="Sakkal Majalla" panose="02000000000000000000" pitchFamily="2" charset="-78"/>
                        </a:rPr>
                        <a:t>الجهة</a:t>
                      </a:r>
                      <a:r>
                        <a:rPr lang="ar-SA" sz="1100" kern="1200" noProof="0" dirty="0">
                          <a:solidFill>
                            <a:schemeClr val="tx1"/>
                          </a:solidFill>
                          <a:latin typeface="Sakkal Majalla" panose="02000000000000000000" pitchFamily="2" charset="-78"/>
                          <a:ea typeface="+mn-ea"/>
                          <a:cs typeface="Sakkal Majalla" panose="02000000000000000000" pitchFamily="2" charset="-78"/>
                        </a:rPr>
                        <a:t> لتشمل جميع الأقسام والإدارات ، مع ضرورة اعتماد وتوفير أدوات وتقنيات متقدمة لإدارة المعرفة تتيح تخزين واسترجاع وتبادل المعرفة بفعالية</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marL="0" marR="0" lvl="0" indent="0" algn="ctr" defTabSz="914400" rtl="1" eaLnBrk="1" fontAlgn="auto" latinLnBrk="0" hangingPunct="1">
                        <a:lnSpc>
                          <a:spcPct val="100000"/>
                        </a:lnSpc>
                        <a:spcBef>
                          <a:spcPts val="0"/>
                        </a:spcBef>
                        <a:spcAft>
                          <a:spcPts val="0"/>
                        </a:spcAft>
                        <a:buClrTx/>
                        <a:buSzTx/>
                        <a:buFont typeface="Arial" panose="020B0604020202020204" pitchFamily="34" charset="0"/>
                        <a:buNone/>
                        <a:tabLst/>
                        <a:defRPr/>
                      </a:pPr>
                      <a:r>
                        <a:rPr lang="ar-SA" sz="1400" b="1" noProof="0" dirty="0">
                          <a:solidFill>
                            <a:schemeClr val="accent1"/>
                          </a:solidFill>
                        </a:rPr>
                        <a:t>الوصف</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lumMod val="95000"/>
                      </a:schemeClr>
                    </a:solidFill>
                  </a:tcPr>
                </a:tc>
                <a:tc rowSpan="4">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ar-SA" sz="1600" b="1" u="none" strike="noStrike" kern="1200" cap="none" spc="0" normalizeH="0" baseline="0" noProof="0" dirty="0">
                          <a:ln>
                            <a:noFill/>
                          </a:ln>
                          <a:effectLst/>
                          <a:uLnTx/>
                          <a:uFillTx/>
                        </a:rPr>
                        <a:t>GAP-B-26</a:t>
                      </a:r>
                    </a:p>
                    <a:p>
                      <a:pPr marL="0" marR="0" lvl="0" indent="0" algn="r" defTabSz="914400" rtl="1" eaLnBrk="1" fontAlgn="auto" latinLnBrk="0" hangingPunct="1">
                        <a:lnSpc>
                          <a:spcPct val="100000"/>
                        </a:lnSpc>
                        <a:spcBef>
                          <a:spcPts val="0"/>
                        </a:spcBef>
                        <a:spcAft>
                          <a:spcPts val="0"/>
                        </a:spcAft>
                        <a:buClrTx/>
                        <a:buSzTx/>
                        <a:buFontTx/>
                        <a:buNone/>
                        <a:tabLst/>
                        <a:defRPr/>
                      </a:pPr>
                      <a:r>
                        <a:rPr lang="ar-SA" sz="1400" b="1" kern="1200" noProof="0" dirty="0">
                          <a:solidFill>
                            <a:schemeClr val="tx1"/>
                          </a:solidFill>
                          <a:effectLst/>
                          <a:latin typeface="+mn-lt"/>
                          <a:ea typeface="+mn-ea"/>
                          <a:cs typeface="+mn-cs"/>
                        </a:rPr>
                        <a:t>ضرورة تطوير وتعزيز وظيفة إدارة المعرفة</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extLst>
                  <a:ext uri="{0D108BD9-81ED-4DB2-BD59-A6C34878D82A}">
                    <a16:rowId xmlns:a16="http://schemas.microsoft.com/office/drawing/2014/main" val="1136131386"/>
                  </a:ext>
                </a:extLst>
              </a:tr>
              <a:tr h="0">
                <a:tc vMerge="1">
                  <a:txBody>
                    <a:bodyPr/>
                    <a:lstStyle/>
                    <a:p>
                      <a:pPr marL="0" marR="0" lvl="0" indent="0" algn="r" defTabSz="914400" rtl="1" eaLnBrk="1" fontAlgn="auto" latinLnBrk="0" hangingPunct="1">
                        <a:lnSpc>
                          <a:spcPct val="100000"/>
                        </a:lnSpc>
                        <a:spcBef>
                          <a:spcPts val="0"/>
                        </a:spcBef>
                        <a:spcAft>
                          <a:spcPts val="0"/>
                        </a:spcAft>
                        <a:buClrTx/>
                        <a:buSzTx/>
                        <a:buFontTx/>
                        <a:buNone/>
                        <a:tabLst/>
                        <a:defRPr/>
                      </a:pPr>
                      <a:endParaRPr lang="en-GB" sz="1400" noProof="0" dirty="0"/>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vMerge="1">
                  <a:txBody>
                    <a:bodyPr/>
                    <a:lstStyle/>
                    <a:p>
                      <a:endParaRPr lang="en-US"/>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vMerge="1">
                  <a:txBody>
                    <a:bodyPr/>
                    <a:lstStyle/>
                    <a:p>
                      <a:endParaRPr lang="en-US"/>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marL="0" marR="0" lvl="0" indent="0" algn="just" defTabSz="914400" rtl="1" eaLnBrk="1" fontAlgn="auto" latinLnBrk="0" hangingPunct="1">
                        <a:lnSpc>
                          <a:spcPct val="100000"/>
                        </a:lnSpc>
                        <a:spcBef>
                          <a:spcPts val="0"/>
                        </a:spcBef>
                        <a:spcAft>
                          <a:spcPts val="0"/>
                        </a:spcAft>
                        <a:buClrTx/>
                        <a:buSzTx/>
                        <a:buFont typeface="Arial" panose="020B0604020202020204" pitchFamily="34" charset="0"/>
                        <a:buNone/>
                        <a:tabLst/>
                        <a:defRPr/>
                      </a:pPr>
                      <a:r>
                        <a:rPr lang="ar-SA" sz="1100" kern="1200" noProof="0" dirty="0">
                          <a:solidFill>
                            <a:schemeClr val="tx1"/>
                          </a:solidFill>
                          <a:latin typeface="Sakkal Majalla" panose="02000000000000000000" pitchFamily="2" charset="-78"/>
                          <a:ea typeface="+mn-ea"/>
                          <a:cs typeface="Sakkal Majalla" panose="02000000000000000000" pitchFamily="2" charset="-78"/>
                        </a:rPr>
                        <a:t>عدم القدرة على إدارة المعرفة بشكل كامل مع عدم القدرة على إتاحة تخزين واسترجاع وتبادل المعرفة بفعالية</a:t>
                      </a:r>
                    </a:p>
                    <a:p>
                      <a:pPr marL="0" marR="0" lvl="0" indent="0" algn="just" defTabSz="914400" rtl="1" eaLnBrk="1" fontAlgn="auto" latinLnBrk="0" hangingPunct="1">
                        <a:lnSpc>
                          <a:spcPct val="100000"/>
                        </a:lnSpc>
                        <a:spcBef>
                          <a:spcPts val="0"/>
                        </a:spcBef>
                        <a:spcAft>
                          <a:spcPts val="0"/>
                        </a:spcAft>
                        <a:buClrTx/>
                        <a:buSzTx/>
                        <a:buFont typeface="Arial" panose="020B0604020202020204" pitchFamily="34" charset="0"/>
                        <a:buNone/>
                        <a:tabLst/>
                        <a:defRPr/>
                      </a:pPr>
                      <a:endParaRPr lang="ar-SA" sz="1100" kern="1200" noProof="0" dirty="0">
                        <a:solidFill>
                          <a:schemeClr val="tx1"/>
                        </a:solidFill>
                        <a:latin typeface="Sakkal Majalla" panose="02000000000000000000" pitchFamily="2" charset="-78"/>
                        <a:ea typeface="+mn-ea"/>
                        <a:cs typeface="Sakkal Majalla" panose="02000000000000000000" pitchFamily="2" charset="-78"/>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marL="0" marR="0" lvl="0" indent="0" algn="ctr" defTabSz="914400" rtl="1" eaLnBrk="1" fontAlgn="auto" latinLnBrk="0" hangingPunct="1">
                        <a:lnSpc>
                          <a:spcPct val="100000"/>
                        </a:lnSpc>
                        <a:spcBef>
                          <a:spcPts val="0"/>
                        </a:spcBef>
                        <a:spcAft>
                          <a:spcPts val="0"/>
                        </a:spcAft>
                        <a:buClrTx/>
                        <a:buSzTx/>
                        <a:buFont typeface="Arial" panose="020B0604020202020204" pitchFamily="34" charset="0"/>
                        <a:buNone/>
                        <a:tabLst/>
                        <a:defRPr/>
                      </a:pPr>
                      <a:r>
                        <a:rPr lang="ar-SA" sz="1400" b="1" kern="1200" noProof="0" dirty="0">
                          <a:solidFill>
                            <a:schemeClr val="accent1"/>
                          </a:solidFill>
                        </a:rPr>
                        <a:t>الأثر الحالي</a:t>
                      </a:r>
                      <a:endParaRPr lang="ar-SA" sz="1400" b="1" noProof="0" dirty="0">
                        <a:solidFill>
                          <a:schemeClr val="accent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lumMod val="95000"/>
                      </a:schemeClr>
                    </a:solidFill>
                  </a:tcPr>
                </a:tc>
                <a:tc vMerge="1">
                  <a:txBody>
                    <a:bodyPr/>
                    <a:lstStyle/>
                    <a:p>
                      <a:pPr marL="0" marR="0" lvl="0" indent="0" algn="r" defTabSz="914400" rtl="1" eaLnBrk="1" fontAlgn="auto" latinLnBrk="0" hangingPunct="1">
                        <a:lnSpc>
                          <a:spcPct val="100000"/>
                        </a:lnSpc>
                        <a:spcBef>
                          <a:spcPts val="0"/>
                        </a:spcBef>
                        <a:spcAft>
                          <a:spcPts val="0"/>
                        </a:spcAft>
                        <a:buClrTx/>
                        <a:buSzTx/>
                        <a:buFontTx/>
                        <a:buNone/>
                        <a:tabLst/>
                        <a:defRPr/>
                      </a:pPr>
                      <a:endParaRPr lang="en-GB" sz="1400" b="1" noProof="0" dirty="0"/>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extLst>
                  <a:ext uri="{0D108BD9-81ED-4DB2-BD59-A6C34878D82A}">
                    <a16:rowId xmlns:a16="http://schemas.microsoft.com/office/drawing/2014/main" val="918118369"/>
                  </a:ext>
                </a:extLst>
              </a:tr>
              <a:tr h="0">
                <a:tc vMerge="1">
                  <a:txBody>
                    <a:bodyPr/>
                    <a:lstStyle/>
                    <a:p>
                      <a:pPr marL="0" marR="0" lvl="0" indent="0" algn="r" defTabSz="914400" rtl="1" eaLnBrk="1" fontAlgn="auto" latinLnBrk="0" hangingPunct="1">
                        <a:lnSpc>
                          <a:spcPct val="100000"/>
                        </a:lnSpc>
                        <a:spcBef>
                          <a:spcPts val="0"/>
                        </a:spcBef>
                        <a:spcAft>
                          <a:spcPts val="0"/>
                        </a:spcAft>
                        <a:buClrTx/>
                        <a:buSzTx/>
                        <a:buFontTx/>
                        <a:buNone/>
                        <a:tabLst/>
                        <a:defRPr/>
                      </a:pPr>
                      <a:endParaRPr lang="en-GB" sz="1400" noProof="0" dirty="0"/>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vMerge="1">
                  <a:txBody>
                    <a:bodyPr/>
                    <a:lstStyle/>
                    <a:p>
                      <a:endParaRPr lang="en-US"/>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vMerge="1">
                  <a:txBody>
                    <a:bodyPr/>
                    <a:lstStyle/>
                    <a:p>
                      <a:endParaRPr lang="en-US"/>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marL="0" marR="0" lvl="0" indent="0" algn="just" defTabSz="914400" rtl="1" eaLnBrk="1" fontAlgn="auto" latinLnBrk="0" hangingPunct="1">
                        <a:lnSpc>
                          <a:spcPct val="100000"/>
                        </a:lnSpc>
                        <a:spcBef>
                          <a:spcPts val="0"/>
                        </a:spcBef>
                        <a:spcAft>
                          <a:spcPts val="0"/>
                        </a:spcAft>
                        <a:buClrTx/>
                        <a:buSzTx/>
                        <a:buFont typeface="Arial" panose="020B0604020202020204" pitchFamily="34" charset="0"/>
                        <a:buNone/>
                        <a:tabLst/>
                        <a:defRPr/>
                      </a:pPr>
                      <a:r>
                        <a:rPr lang="ar-SA" sz="1100" kern="1200" noProof="0" dirty="0">
                          <a:solidFill>
                            <a:schemeClr val="tx1"/>
                          </a:solidFill>
                          <a:latin typeface="Sakkal Majalla" panose="02000000000000000000" pitchFamily="2" charset="-78"/>
                          <a:ea typeface="+mn-ea"/>
                          <a:cs typeface="Sakkal Majalla" panose="02000000000000000000" pitchFamily="2" charset="-78"/>
                        </a:rPr>
                        <a:t>القدرة على إدارة المعرفة بشكل كامل وإتاحة تخزين واسترجاع وتبادل المعرفة بفعالية</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marL="0" marR="0" lvl="0" indent="0" algn="ctr" defTabSz="914400" rtl="1" eaLnBrk="1" fontAlgn="auto" latinLnBrk="0" hangingPunct="1">
                        <a:lnSpc>
                          <a:spcPct val="100000"/>
                        </a:lnSpc>
                        <a:spcBef>
                          <a:spcPts val="0"/>
                        </a:spcBef>
                        <a:spcAft>
                          <a:spcPts val="0"/>
                        </a:spcAft>
                        <a:buClrTx/>
                        <a:buSzTx/>
                        <a:buFont typeface="Arial" panose="020B0604020202020204" pitchFamily="34" charset="0"/>
                        <a:buNone/>
                        <a:tabLst/>
                        <a:defRPr/>
                      </a:pPr>
                      <a:r>
                        <a:rPr lang="ar-SA" sz="1400" b="1" noProof="0" dirty="0">
                          <a:solidFill>
                            <a:schemeClr val="accent1"/>
                          </a:solidFill>
                        </a:rPr>
                        <a:t>الأثر بعد الردم (المعالجة)</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lumMod val="95000"/>
                      </a:schemeClr>
                    </a:solidFill>
                  </a:tcPr>
                </a:tc>
                <a:tc vMerge="1">
                  <a:txBody>
                    <a:bodyPr/>
                    <a:lstStyle/>
                    <a:p>
                      <a:pPr marL="0" marR="0" lvl="0" indent="0" algn="r" defTabSz="914400" rtl="1" eaLnBrk="1" fontAlgn="auto" latinLnBrk="0" hangingPunct="1">
                        <a:lnSpc>
                          <a:spcPct val="100000"/>
                        </a:lnSpc>
                        <a:spcBef>
                          <a:spcPts val="0"/>
                        </a:spcBef>
                        <a:spcAft>
                          <a:spcPts val="0"/>
                        </a:spcAft>
                        <a:buClrTx/>
                        <a:buSzTx/>
                        <a:buFontTx/>
                        <a:buNone/>
                        <a:tabLst/>
                        <a:defRPr/>
                      </a:pPr>
                      <a:endParaRPr lang="en-GB" sz="1400" b="1" noProof="0" dirty="0"/>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extLst>
                  <a:ext uri="{0D108BD9-81ED-4DB2-BD59-A6C34878D82A}">
                    <a16:rowId xmlns:a16="http://schemas.microsoft.com/office/drawing/2014/main" val="4153014111"/>
                  </a:ext>
                </a:extLst>
              </a:tr>
              <a:tr h="0">
                <a:tc vMerge="1">
                  <a:txBody>
                    <a:bodyPr/>
                    <a:lstStyle/>
                    <a:p>
                      <a:pPr marL="0" marR="0" lvl="0" indent="0" algn="r" defTabSz="914400" rtl="1" eaLnBrk="1" fontAlgn="auto" latinLnBrk="0" hangingPunct="1">
                        <a:lnSpc>
                          <a:spcPct val="100000"/>
                        </a:lnSpc>
                        <a:spcBef>
                          <a:spcPts val="0"/>
                        </a:spcBef>
                        <a:spcAft>
                          <a:spcPts val="0"/>
                        </a:spcAft>
                        <a:buClrTx/>
                        <a:buSzTx/>
                        <a:buFontTx/>
                        <a:buNone/>
                        <a:tabLst/>
                        <a:defRPr/>
                      </a:pPr>
                      <a:endParaRPr lang="en-GB" sz="1400" noProof="0" dirty="0"/>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vMerge="1">
                  <a:txBody>
                    <a:bodyPr/>
                    <a:lstStyle/>
                    <a:p>
                      <a:endParaRPr lang="en-US"/>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vMerge="1">
                  <a:txBody>
                    <a:bodyPr/>
                    <a:lstStyle/>
                    <a:p>
                      <a:endParaRPr lang="en-US"/>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marL="0" marR="0" lvl="0" indent="0" algn="just" defTabSz="914400" rtl="1" eaLnBrk="1" fontAlgn="auto" latinLnBrk="0" hangingPunct="1">
                        <a:lnSpc>
                          <a:spcPct val="100000"/>
                        </a:lnSpc>
                        <a:spcBef>
                          <a:spcPts val="0"/>
                        </a:spcBef>
                        <a:spcAft>
                          <a:spcPts val="0"/>
                        </a:spcAft>
                        <a:buClrTx/>
                        <a:buSzTx/>
                        <a:buFont typeface="Arial" panose="020B0604020202020204" pitchFamily="34" charset="0"/>
                        <a:buNone/>
                        <a:tabLst/>
                        <a:defRPr/>
                      </a:pPr>
                      <a:r>
                        <a:rPr lang="ar-SA" sz="1100" kern="1200" noProof="0" dirty="0">
                          <a:solidFill>
                            <a:schemeClr val="tx1"/>
                          </a:solidFill>
                          <a:latin typeface="Sakkal Majalla" panose="02000000000000000000" pitchFamily="2" charset="-78"/>
                          <a:ea typeface="+mn-ea"/>
                          <a:cs typeface="Sakkal Majalla" panose="02000000000000000000" pitchFamily="2" charset="-78"/>
                        </a:rPr>
                        <a:t>تطوير منصة موحدة لإدارة المعرفة تشمل جميع الإدارات والأقسام ، تصميم مكتبة معرفية رقمية تحتوي على السياسات، الأدلة، الدروس المستفادة، وأفضل الممارسات ، توفير آلية تصنيف وفهرسة ذكية تسهل البحث عن المعلومات واسترجاعها بسرعة ، أتمتة عمليات تخزين واسترجاع المعرفة ، استخدام تقنيات الذكاء الاصطناعي لاقتراح المحتوى المناسب بناءً على اهتمامات المستخدمين ، دعم البحث الذكي باستخدام التحليل الدلالي والبحث المتقدم ، تعزيز تبادل المعرفة بين الإدارات ، تكامل نظام إدارة المعرفة مع الأنظمة الحالية</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marL="0" marR="0" lvl="0" indent="0" algn="ctr" defTabSz="914400" rtl="1" eaLnBrk="1" fontAlgn="auto" latinLnBrk="0" hangingPunct="1">
                        <a:lnSpc>
                          <a:spcPct val="100000"/>
                        </a:lnSpc>
                        <a:spcBef>
                          <a:spcPts val="0"/>
                        </a:spcBef>
                        <a:spcAft>
                          <a:spcPts val="0"/>
                        </a:spcAft>
                        <a:buClrTx/>
                        <a:buSzTx/>
                        <a:buFont typeface="Arial" panose="020B0604020202020204" pitchFamily="34" charset="0"/>
                        <a:buNone/>
                        <a:tabLst/>
                        <a:defRPr/>
                      </a:pPr>
                      <a:r>
                        <a:rPr lang="ar-SA" sz="1400" b="1" noProof="0" dirty="0">
                          <a:solidFill>
                            <a:schemeClr val="accent1"/>
                          </a:solidFill>
                        </a:rPr>
                        <a:t>تغطية الفجوة </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accent1"/>
                      </a:solidFill>
                      <a:prstDash val="solid"/>
                      <a:round/>
                      <a:headEnd type="none" w="med" len="med"/>
                      <a:tailEnd type="none" w="med" len="med"/>
                    </a:lnB>
                    <a:solidFill>
                      <a:schemeClr val="bg1">
                        <a:lumMod val="95000"/>
                      </a:schemeClr>
                    </a:solidFill>
                  </a:tcPr>
                </a:tc>
                <a:tc vMerge="1">
                  <a:txBody>
                    <a:bodyPr/>
                    <a:lstStyle/>
                    <a:p>
                      <a:pPr marL="0" marR="0" lvl="0" indent="0" algn="r" defTabSz="914400" rtl="1" eaLnBrk="1" fontAlgn="auto" latinLnBrk="0" hangingPunct="1">
                        <a:lnSpc>
                          <a:spcPct val="100000"/>
                        </a:lnSpc>
                        <a:spcBef>
                          <a:spcPts val="0"/>
                        </a:spcBef>
                        <a:spcAft>
                          <a:spcPts val="0"/>
                        </a:spcAft>
                        <a:buClrTx/>
                        <a:buSzTx/>
                        <a:buFontTx/>
                        <a:buNone/>
                        <a:tabLst/>
                        <a:defRPr/>
                      </a:pPr>
                      <a:endParaRPr lang="en-GB" sz="1400" b="1" noProof="0" dirty="0"/>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extLst>
                  <a:ext uri="{0D108BD9-81ED-4DB2-BD59-A6C34878D82A}">
                    <a16:rowId xmlns:a16="http://schemas.microsoft.com/office/drawing/2014/main" val="1035545327"/>
                  </a:ext>
                </a:extLst>
              </a:tr>
            </a:tbl>
          </a:graphicData>
        </a:graphic>
      </p:graphicFrame>
      <p:sp>
        <p:nvSpPr>
          <p:cNvPr id="7" name="TextBox 6">
            <a:extLst>
              <a:ext uri="{FF2B5EF4-FFF2-40B4-BE49-F238E27FC236}">
                <a16:creationId xmlns:a16="http://schemas.microsoft.com/office/drawing/2014/main" id="{78FFBCC9-9528-43EE-3448-66EDC46CF782}"/>
              </a:ext>
            </a:extLst>
          </p:cNvPr>
          <p:cNvSpPr txBox="1"/>
          <p:nvPr/>
        </p:nvSpPr>
        <p:spPr>
          <a:xfrm>
            <a:off x="609600" y="705358"/>
            <a:ext cx="10972800" cy="375487"/>
          </a:xfrm>
          <a:prstGeom prst="rect">
            <a:avLst/>
          </a:prstGeom>
          <a:noFill/>
        </p:spPr>
        <p:txBody>
          <a:bodyPr wrap="square">
            <a:spAutoFit/>
          </a:bodyPr>
          <a:lstStyle/>
          <a:p>
            <a:pPr algn="r" rtl="1">
              <a:lnSpc>
                <a:spcPct val="115000"/>
              </a:lnSpc>
              <a:spcAft>
                <a:spcPts val="1000"/>
              </a:spcAft>
            </a:pPr>
            <a:r>
              <a:rPr lang="ar-SA" sz="1600" noProof="0" dirty="0">
                <a:solidFill>
                  <a:srgbClr val="000000"/>
                </a:solidFill>
                <a:latin typeface="Sakkal Majalla" panose="02000000000000000000" pitchFamily="2" charset="-78"/>
                <a:ea typeface="Sakkal Majalla" panose="02000000000000000000" pitchFamily="2" charset="-78"/>
                <a:cs typeface="Sakkal Majalla" panose="02000000000000000000" pitchFamily="2" charset="-78"/>
              </a:rPr>
              <a:t>يهدف هذا القسم من الوثيقة إلى تقديم الملاحظات الخاصة بالوضع الحالي لبنية الأعمال مع ذكر التوصيات  والتحسينات المفترض تطبيقها في الوضع المستقبلي</a:t>
            </a:r>
          </a:p>
        </p:txBody>
      </p:sp>
    </p:spTree>
    <p:extLst>
      <p:ext uri="{BB962C8B-B14F-4D97-AF65-F5344CB8AC3E}">
        <p14:creationId xmlns:p14="http://schemas.microsoft.com/office/powerpoint/2010/main" val="17767010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a:xfrm>
            <a:off x="609601" y="247310"/>
            <a:ext cx="10972800" cy="666261"/>
          </a:xfrm>
        </p:spPr>
        <p:txBody>
          <a:bodyPr/>
          <a:lstStyle/>
          <a:p>
            <a:r>
              <a:rPr lang="ar-SA" noProof="0" dirty="0"/>
              <a:t>ملخص تحليل الفجوات لبنية الأعمال </a:t>
            </a:r>
          </a:p>
        </p:txBody>
      </p:sp>
      <p:sp>
        <p:nvSpPr>
          <p:cNvPr id="3" name="Slide Number Placeholder 2">
            <a:extLst>
              <a:ext uri="{FF2B5EF4-FFF2-40B4-BE49-F238E27FC236}">
                <a16:creationId xmlns:a16="http://schemas.microsoft.com/office/drawing/2014/main" id="{A63A027D-6EA1-E9F6-6212-7D45811B8DC3}"/>
              </a:ext>
            </a:extLst>
          </p:cNvPr>
          <p:cNvSpPr>
            <a:spLocks noGrp="1"/>
          </p:cNvSpPr>
          <p:nvPr>
            <p:ph type="sldNum" sz="quarter" idx="12"/>
          </p:nvPr>
        </p:nvSpPr>
        <p:spPr>
          <a:xfrm>
            <a:off x="655319" y="6567058"/>
            <a:ext cx="466471" cy="290942"/>
          </a:xfrm>
        </p:spPr>
        <p:txBody>
          <a:bodyPr/>
          <a:lstStyle/>
          <a:p>
            <a:fld id="{0BE4EC83-A869-464E-AE9F-881796FB085E}" type="slidenum">
              <a:rPr lang="ar-SA" noProof="0" smtClean="0"/>
              <a:pPr/>
              <a:t>23</a:t>
            </a:fld>
            <a:endParaRPr lang="ar-SA" noProof="0" dirty="0"/>
          </a:p>
        </p:txBody>
      </p:sp>
      <p:graphicFrame>
        <p:nvGraphicFramePr>
          <p:cNvPr id="2" name="Table 1">
            <a:extLst>
              <a:ext uri="{FF2B5EF4-FFF2-40B4-BE49-F238E27FC236}">
                <a16:creationId xmlns:a16="http://schemas.microsoft.com/office/drawing/2014/main" id="{C47CAF5B-4215-4DCE-B225-BC1E66631900}"/>
              </a:ext>
            </a:extLst>
          </p:cNvPr>
          <p:cNvGraphicFramePr>
            <a:graphicFrameLocks noGrp="1"/>
          </p:cNvGraphicFramePr>
          <p:nvPr>
            <p:extLst>
              <p:ext uri="{D42A27DB-BD31-4B8C-83A1-F6EECF244321}">
                <p14:modId xmlns:p14="http://schemas.microsoft.com/office/powerpoint/2010/main" val="1042061006"/>
              </p:ext>
            </p:extLst>
          </p:nvPr>
        </p:nvGraphicFramePr>
        <p:xfrm>
          <a:off x="609600" y="1035636"/>
          <a:ext cx="10972802" cy="5120640"/>
        </p:xfrm>
        <a:graphic>
          <a:graphicData uri="http://schemas.openxmlformats.org/drawingml/2006/table">
            <a:tbl>
              <a:tblPr firstRow="1" bandRow="1">
                <a:tableStyleId>{2D5ABB26-0587-4C30-8999-92F81FD0307C}</a:tableStyleId>
              </a:tblPr>
              <a:tblGrid>
                <a:gridCol w="1828800">
                  <a:extLst>
                    <a:ext uri="{9D8B030D-6E8A-4147-A177-3AD203B41FA5}">
                      <a16:colId xmlns:a16="http://schemas.microsoft.com/office/drawing/2014/main" val="2801895674"/>
                    </a:ext>
                  </a:extLst>
                </a:gridCol>
                <a:gridCol w="738953">
                  <a:extLst>
                    <a:ext uri="{9D8B030D-6E8A-4147-A177-3AD203B41FA5}">
                      <a16:colId xmlns:a16="http://schemas.microsoft.com/office/drawing/2014/main" val="2976102064"/>
                    </a:ext>
                  </a:extLst>
                </a:gridCol>
                <a:gridCol w="838625">
                  <a:extLst>
                    <a:ext uri="{9D8B030D-6E8A-4147-A177-3AD203B41FA5}">
                      <a16:colId xmlns:a16="http://schemas.microsoft.com/office/drawing/2014/main" val="526736865"/>
                    </a:ext>
                  </a:extLst>
                </a:gridCol>
                <a:gridCol w="3862640">
                  <a:extLst>
                    <a:ext uri="{9D8B030D-6E8A-4147-A177-3AD203B41FA5}">
                      <a16:colId xmlns:a16="http://schemas.microsoft.com/office/drawing/2014/main" val="4106469564"/>
                    </a:ext>
                  </a:extLst>
                </a:gridCol>
                <a:gridCol w="923637">
                  <a:extLst>
                    <a:ext uri="{9D8B030D-6E8A-4147-A177-3AD203B41FA5}">
                      <a16:colId xmlns:a16="http://schemas.microsoft.com/office/drawing/2014/main" val="1154529574"/>
                    </a:ext>
                  </a:extLst>
                </a:gridCol>
                <a:gridCol w="2780147">
                  <a:extLst>
                    <a:ext uri="{9D8B030D-6E8A-4147-A177-3AD203B41FA5}">
                      <a16:colId xmlns:a16="http://schemas.microsoft.com/office/drawing/2014/main" val="1503598667"/>
                    </a:ext>
                  </a:extLst>
                </a:gridCol>
              </a:tblGrid>
              <a:tr h="0">
                <a:tc>
                  <a:txBody>
                    <a:bodyPr/>
                    <a:lstStyle/>
                    <a:p>
                      <a:pPr algn="ctr" rtl="1"/>
                      <a:r>
                        <a:rPr lang="ar-SA" sz="1400" b="1" noProof="0" dirty="0">
                          <a:solidFill>
                            <a:schemeClr val="bg1"/>
                          </a:solidFill>
                        </a:rPr>
                        <a:t>المصدر</a:t>
                      </a:r>
                      <a:endParaRPr lang="ar-SA" sz="1400" b="1" noProof="0" dirty="0">
                        <a:solidFill>
                          <a:schemeClr val="bg1"/>
                        </a:solidFill>
                        <a:latin typeface="+mj-lt"/>
                      </a:endParaRPr>
                    </a:p>
                  </a:txBody>
                  <a:tcPr anchor="ctr">
                    <a:lnL w="12700" cap="flat" cmpd="sng" algn="ctr">
                      <a:noFill/>
                      <a:prstDash val="solid"/>
                      <a:round/>
                      <a:headEnd type="none" w="med" len="med"/>
                      <a:tailEnd type="none" w="med" len="med"/>
                    </a:lnL>
                    <a:lnR w="12700" cap="flat" cmpd="sng" algn="ctr">
                      <a:solidFill>
                        <a:schemeClr val="bg1"/>
                      </a:solidFill>
                      <a:prstDash val="solid"/>
                      <a:round/>
                      <a:headEnd type="none" w="med" len="med"/>
                      <a:tailEnd type="none" w="med" len="med"/>
                    </a:lnR>
                    <a:solidFill>
                      <a:schemeClr val="accent1"/>
                    </a:solidFill>
                  </a:tcPr>
                </a:tc>
                <a:tc>
                  <a: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lang="ar-SA" sz="1400" b="1" noProof="0" dirty="0">
                          <a:solidFill>
                            <a:schemeClr val="bg1"/>
                          </a:solidFill>
                        </a:rPr>
                        <a:t>الأهمية</a:t>
                      </a:r>
                      <a:endParaRPr lang="ar-SA" sz="1400" b="1" noProof="0" dirty="0">
                        <a:solidFill>
                          <a:schemeClr val="bg1"/>
                        </a:solidFill>
                        <a:latin typeface="+mj-lt"/>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solidFill>
                      <a:schemeClr val="accent1"/>
                    </a:solidFill>
                  </a:tcPr>
                </a:tc>
                <a:tc>
                  <a: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lang="ar-SA" sz="1400" b="1" noProof="0" dirty="0">
                          <a:solidFill>
                            <a:schemeClr val="bg1"/>
                          </a:solidFill>
                        </a:rPr>
                        <a:t>الأولوية</a:t>
                      </a:r>
                      <a:endParaRPr lang="ar-SA" sz="1400" b="1" noProof="0" dirty="0">
                        <a:solidFill>
                          <a:schemeClr val="bg1"/>
                        </a:solidFill>
                        <a:latin typeface="+mj-lt"/>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solidFill>
                      <a:schemeClr val="accent1"/>
                    </a:solidFill>
                  </a:tcPr>
                </a:tc>
                <a:tc gridSpan="2">
                  <a: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lang="ar-SA" sz="1400" b="1" noProof="0" dirty="0">
                          <a:solidFill>
                            <a:schemeClr val="bg1"/>
                          </a:solidFill>
                        </a:rPr>
                        <a:t>التحليل لكل فجوة </a:t>
                      </a:r>
                      <a:endParaRPr lang="ar-SA" sz="1400" b="1" noProof="0" dirty="0">
                        <a:solidFill>
                          <a:schemeClr val="bg1"/>
                        </a:solidFill>
                        <a:latin typeface="+mj-lt"/>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solidFill>
                      <a:schemeClr val="accent1"/>
                    </a:solidFill>
                  </a:tcPr>
                </a:tc>
                <a:tc hMerge="1">
                  <a:txBody>
                    <a:bodyPr/>
                    <a:lstStyle/>
                    <a:p>
                      <a:endParaRPr lang="en-US"/>
                    </a:p>
                  </a:txBody>
                  <a:tcPr/>
                </a:tc>
                <a:tc>
                  <a:txBody>
                    <a:bodyPr/>
                    <a:lstStyle/>
                    <a:p>
                      <a:pPr algn="ctr" rtl="1"/>
                      <a:r>
                        <a:rPr lang="ar-SA" sz="1400" b="1" noProof="0" dirty="0">
                          <a:solidFill>
                            <a:schemeClr val="bg1"/>
                          </a:solidFill>
                        </a:rPr>
                        <a:t>الفجوة</a:t>
                      </a:r>
                      <a:endParaRPr lang="ar-SA" sz="1400" b="1" noProof="0" dirty="0">
                        <a:solidFill>
                          <a:schemeClr val="bg1"/>
                        </a:solidFill>
                        <a:latin typeface="+mj-lt"/>
                      </a:endParaRPr>
                    </a:p>
                  </a:txBody>
                  <a:tcPr anchor="ctr">
                    <a:lnL w="12700" cap="flat" cmpd="sng" algn="ctr">
                      <a:solidFill>
                        <a:schemeClr val="bg1"/>
                      </a:solidFill>
                      <a:prstDash val="solid"/>
                      <a:round/>
                      <a:headEnd type="none" w="med" len="med"/>
                      <a:tailEnd type="none" w="med" len="med"/>
                    </a:lnL>
                    <a:lnR w="12700" cap="flat" cmpd="sng" algn="ctr">
                      <a:noFill/>
                      <a:prstDash val="solid"/>
                      <a:round/>
                      <a:headEnd type="none" w="med" len="med"/>
                      <a:tailEnd type="none" w="med" len="med"/>
                    </a:lnR>
                    <a:solidFill>
                      <a:schemeClr val="accent1"/>
                    </a:solidFill>
                  </a:tcPr>
                </a:tc>
                <a:extLst>
                  <a:ext uri="{0D108BD9-81ED-4DB2-BD59-A6C34878D82A}">
                    <a16:rowId xmlns:a16="http://schemas.microsoft.com/office/drawing/2014/main" val="3304685178"/>
                  </a:ext>
                </a:extLst>
              </a:tr>
              <a:tr h="0">
                <a:tc rowSpan="4">
                  <a:txBody>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lang="ar-SA" sz="1400" noProof="0" dirty="0"/>
                        <a:t>ملف حصر الأعمال ، دراسة وثائق الأعمال للجهة المتوفرة بالوضع الحالي ، ورش العمل لحصر الأعمال مع الوحدات الإدارية المعنية ،تطلعات أصحاب المصلحة</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B w="12700" cap="flat" cmpd="sng" algn="ctr">
                      <a:solidFill>
                        <a:schemeClr val="accent1"/>
                      </a:solidFill>
                      <a:prstDash val="solid"/>
                      <a:round/>
                      <a:headEnd type="none" w="med" len="med"/>
                      <a:tailEnd type="none" w="med" len="med"/>
                    </a:lnB>
                  </a:tcPr>
                </a:tc>
                <a:tc rowSpan="4">
                  <a:txBody>
                    <a:bodyPr/>
                    <a:lstStyle/>
                    <a:p>
                      <a:pPr marL="0" marR="0" lvl="0" indent="0" algn="ctr" defTabSz="914400" rtl="1" eaLnBrk="1" fontAlgn="auto" latinLnBrk="0" hangingPunct="1">
                        <a:lnSpc>
                          <a:spcPct val="100000"/>
                        </a:lnSpc>
                        <a:spcBef>
                          <a:spcPts val="0"/>
                        </a:spcBef>
                        <a:spcAft>
                          <a:spcPts val="0"/>
                        </a:spcAft>
                        <a:buClrTx/>
                        <a:buSzTx/>
                        <a:buFont typeface="Arial" panose="020B0604020202020204" pitchFamily="34" charset="0"/>
                        <a:buNone/>
                        <a:tabLst/>
                        <a:defRPr/>
                      </a:pPr>
                      <a:r>
                        <a:rPr lang="ar-SA" sz="1400" noProof="0" dirty="0"/>
                        <a:t>عالي</a:t>
                      </a:r>
                    </a:p>
                  </a:txBody>
                  <a:tcPr anchor="ctr">
                    <a:lnL w="12700" cap="flat" cmpd="sng" algn="ctr">
                      <a:noFill/>
                      <a:prstDash val="solid"/>
                      <a:round/>
                      <a:headEnd type="none" w="med" len="med"/>
                      <a:tailEnd type="none" w="med" len="med"/>
                    </a:lnL>
                    <a:lnR w="12700" cap="flat" cmpd="sng" algn="ctr">
                      <a:solidFill>
                        <a:schemeClr val="bg1"/>
                      </a:solidFill>
                      <a:prstDash val="solid"/>
                      <a:round/>
                      <a:headEnd type="none" w="med" len="med"/>
                      <a:tailEnd type="none" w="med" len="med"/>
                    </a:lnR>
                    <a:lnB w="12700" cap="flat" cmpd="sng" algn="ctr">
                      <a:solidFill>
                        <a:schemeClr val="accent1"/>
                      </a:solidFill>
                      <a:prstDash val="solid"/>
                      <a:round/>
                      <a:headEnd type="none" w="med" len="med"/>
                      <a:tailEnd type="none" w="med" len="med"/>
                    </a:lnB>
                    <a:solidFill>
                      <a:schemeClr val="bg1">
                        <a:lumMod val="95000"/>
                      </a:schemeClr>
                    </a:solidFill>
                  </a:tcPr>
                </a:tc>
                <a:tc rowSpan="4">
                  <a:txBody>
                    <a:bodyPr/>
                    <a:lstStyle/>
                    <a:p>
                      <a:pPr marL="0" marR="0" lvl="0" indent="0" algn="ctr" defTabSz="914400" rtl="1" eaLnBrk="1" fontAlgn="auto" latinLnBrk="0" hangingPunct="1">
                        <a:lnSpc>
                          <a:spcPct val="100000"/>
                        </a:lnSpc>
                        <a:spcBef>
                          <a:spcPts val="0"/>
                        </a:spcBef>
                        <a:spcAft>
                          <a:spcPts val="0"/>
                        </a:spcAft>
                        <a:buClrTx/>
                        <a:buSzTx/>
                        <a:buFont typeface="Arial" panose="020B0604020202020204" pitchFamily="34" charset="0"/>
                        <a:buNone/>
                        <a:tabLst/>
                        <a:defRPr/>
                      </a:pPr>
                      <a:r>
                        <a:rPr lang="ar-SA" sz="1400" noProof="0" dirty="0"/>
                        <a:t>عالي</a:t>
                      </a:r>
                    </a:p>
                  </a:txBody>
                  <a:tcPr anchor="ctr">
                    <a:lnL w="12700" cap="flat" cmpd="sng" algn="ctr">
                      <a:solidFill>
                        <a:schemeClr val="bg1"/>
                      </a:solidFill>
                      <a:prstDash val="solid"/>
                      <a:round/>
                      <a:headEnd type="none" w="med" len="med"/>
                      <a:tailEnd type="none" w="med" len="med"/>
                    </a:lnL>
                    <a:lnR w="12700" cap="flat" cmpd="sng" algn="ctr">
                      <a:noFill/>
                      <a:prstDash val="solid"/>
                      <a:round/>
                      <a:headEnd type="none" w="med" len="med"/>
                      <a:tailEnd type="none" w="med" len="med"/>
                    </a:lnR>
                    <a:lnB w="12700" cap="flat" cmpd="sng" algn="ctr">
                      <a:solidFill>
                        <a:schemeClr val="accent1"/>
                      </a:solidFill>
                      <a:prstDash val="solid"/>
                      <a:round/>
                      <a:headEnd type="none" w="med" len="med"/>
                      <a:tailEnd type="none" w="med" len="med"/>
                    </a:lnB>
                    <a:solidFill>
                      <a:schemeClr val="bg1">
                        <a:lumMod val="95000"/>
                      </a:schemeClr>
                    </a:solidFill>
                  </a:tcPr>
                </a:tc>
                <a:tc>
                  <a:txBody>
                    <a:bodyPr/>
                    <a:lstStyle/>
                    <a:p>
                      <a:pPr marL="0" marR="0" lvl="0" indent="0" algn="just" defTabSz="914400" rtl="1" eaLnBrk="1" fontAlgn="auto" latinLnBrk="0" hangingPunct="1">
                        <a:lnSpc>
                          <a:spcPct val="100000"/>
                        </a:lnSpc>
                        <a:spcBef>
                          <a:spcPts val="0"/>
                        </a:spcBef>
                        <a:spcAft>
                          <a:spcPts val="0"/>
                        </a:spcAft>
                        <a:buClrTx/>
                        <a:buSzTx/>
                        <a:buFont typeface="Arial" panose="020B0604020202020204" pitchFamily="34" charset="0"/>
                        <a:buNone/>
                        <a:tabLst/>
                        <a:defRPr/>
                      </a:pPr>
                      <a:r>
                        <a:rPr lang="ar-SA" sz="1200" noProof="0" dirty="0">
                          <a:latin typeface="Sakkal Majalla" panose="02000000000000000000" pitchFamily="2" charset="-78"/>
                          <a:cs typeface="Sakkal Majalla" panose="02000000000000000000" pitchFamily="2" charset="-78"/>
                        </a:rPr>
                        <a:t>ضرورة تطبيق تقنية  (OCR)  يتيح للأنظمة والمنصات والبوابات فحص محتويات الوثائق المقدمة بشكل تلقائي، مما يساهم في تقليل الوقت المطلوب للتأكد من صحتها ودقتها ، مثل طلب التحقق من متطلبات التأهل للاعتماد  و مراجعة بيانات متطلبات التأهل  في الموقع الإلكتروني لهيئة تقويم التعليم والتدريب</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B w="12700" cap="flat" cmpd="sng" algn="ctr">
                      <a:solidFill>
                        <a:schemeClr val="bg1">
                          <a:lumMod val="85000"/>
                        </a:schemeClr>
                      </a:solidFill>
                      <a:prstDash val="solid"/>
                      <a:round/>
                      <a:headEnd type="none" w="med" len="med"/>
                      <a:tailEnd type="none" w="med" len="med"/>
                    </a:lnB>
                  </a:tcPr>
                </a:tc>
                <a:tc>
                  <a:txBody>
                    <a:bodyPr/>
                    <a:lstStyle/>
                    <a:p>
                      <a:pPr marL="0" marR="0" lvl="0" indent="0" algn="ctr" defTabSz="914400" rtl="1" eaLnBrk="1" fontAlgn="auto" latinLnBrk="0" hangingPunct="1">
                        <a:lnSpc>
                          <a:spcPct val="100000"/>
                        </a:lnSpc>
                        <a:spcBef>
                          <a:spcPts val="0"/>
                        </a:spcBef>
                        <a:spcAft>
                          <a:spcPts val="0"/>
                        </a:spcAft>
                        <a:buClrTx/>
                        <a:buSzTx/>
                        <a:buFont typeface="Arial" panose="020B0604020202020204" pitchFamily="34" charset="0"/>
                        <a:buNone/>
                        <a:tabLst/>
                        <a:defRPr/>
                      </a:pPr>
                      <a:r>
                        <a:rPr lang="ar-SA" sz="1400" b="1" noProof="0" dirty="0">
                          <a:solidFill>
                            <a:schemeClr val="accent1"/>
                          </a:solidFill>
                        </a:rPr>
                        <a:t>الوصف</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B w="12700" cap="flat" cmpd="sng" algn="ctr">
                      <a:solidFill>
                        <a:schemeClr val="bg1">
                          <a:lumMod val="85000"/>
                        </a:schemeClr>
                      </a:solidFill>
                      <a:prstDash val="solid"/>
                      <a:round/>
                      <a:headEnd type="none" w="med" len="med"/>
                      <a:tailEnd type="none" w="med" len="med"/>
                    </a:lnB>
                    <a:solidFill>
                      <a:schemeClr val="bg1">
                        <a:lumMod val="95000"/>
                      </a:schemeClr>
                    </a:solidFill>
                  </a:tcPr>
                </a:tc>
                <a:tc rowSpan="4">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ar-SA" sz="1600" b="1" noProof="0" dirty="0"/>
                        <a:t>GAP-B-27</a:t>
                      </a:r>
                    </a:p>
                    <a:p>
                      <a:pPr marL="0" marR="0" lvl="0" indent="0" algn="r" defTabSz="914400" rtl="1" eaLnBrk="1" fontAlgn="auto" latinLnBrk="0" hangingPunct="1">
                        <a:lnSpc>
                          <a:spcPct val="100000"/>
                        </a:lnSpc>
                        <a:spcBef>
                          <a:spcPts val="0"/>
                        </a:spcBef>
                        <a:spcAft>
                          <a:spcPts val="0"/>
                        </a:spcAft>
                        <a:buClrTx/>
                        <a:buSzTx/>
                        <a:buFontTx/>
                        <a:buNone/>
                        <a:tabLst/>
                        <a:defRPr/>
                      </a:pPr>
                      <a:r>
                        <a:rPr lang="ar-SA" sz="1400" b="1" kern="1200" noProof="0" dirty="0">
                          <a:solidFill>
                            <a:schemeClr val="tx1"/>
                          </a:solidFill>
                          <a:effectLst/>
                          <a:latin typeface="+mn-lt"/>
                          <a:ea typeface="+mn-ea"/>
                          <a:cs typeface="+mn-cs"/>
                        </a:rPr>
                        <a:t>ضرورة تطبيق تقنية  (OCR) </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B w="12700" cap="flat" cmpd="sng" algn="ctr">
                      <a:solidFill>
                        <a:schemeClr val="accent1"/>
                      </a:solidFill>
                      <a:prstDash val="solid"/>
                      <a:round/>
                      <a:headEnd type="none" w="med" len="med"/>
                      <a:tailEnd type="none" w="med" len="med"/>
                    </a:lnB>
                  </a:tcPr>
                </a:tc>
                <a:extLst>
                  <a:ext uri="{0D108BD9-81ED-4DB2-BD59-A6C34878D82A}">
                    <a16:rowId xmlns:a16="http://schemas.microsoft.com/office/drawing/2014/main" val="1128065702"/>
                  </a:ext>
                </a:extLst>
              </a:tr>
              <a:tr h="0">
                <a:tc vMerge="1">
                  <a:txBody>
                    <a:bodyPr/>
                    <a:lstStyle/>
                    <a:p>
                      <a:endParaRPr lang="en-US"/>
                    </a:p>
                  </a:txBody>
                  <a:tcPr/>
                </a:tc>
                <a:tc vMerge="1">
                  <a:txBody>
                    <a:bodyPr/>
                    <a:lstStyle/>
                    <a:p>
                      <a:endParaRPr lang="en-US"/>
                    </a:p>
                  </a:txBody>
                  <a:tcPr/>
                </a:tc>
                <a:tc vMerge="1">
                  <a:txBody>
                    <a:bodyPr/>
                    <a:lstStyle/>
                    <a:p>
                      <a:endParaRPr lang="en-US"/>
                    </a:p>
                  </a:txBody>
                  <a:tcPr/>
                </a:tc>
                <a:tc>
                  <a:txBody>
                    <a:bodyPr/>
                    <a:lstStyle/>
                    <a:p>
                      <a:pPr marL="0" marR="0" lvl="0" indent="0" algn="just" defTabSz="914400" rtl="1" eaLnBrk="1" fontAlgn="auto" latinLnBrk="0" hangingPunct="1">
                        <a:lnSpc>
                          <a:spcPct val="100000"/>
                        </a:lnSpc>
                        <a:spcBef>
                          <a:spcPts val="0"/>
                        </a:spcBef>
                        <a:spcAft>
                          <a:spcPts val="0"/>
                        </a:spcAft>
                        <a:buClrTx/>
                        <a:buSzTx/>
                        <a:buFont typeface="Arial" panose="020B0604020202020204" pitchFamily="34" charset="0"/>
                        <a:buNone/>
                        <a:tabLst/>
                        <a:defRPr/>
                      </a:pPr>
                      <a:r>
                        <a:rPr lang="ar-SA" sz="1200" noProof="0" dirty="0">
                          <a:latin typeface="Sakkal Majalla" panose="02000000000000000000" pitchFamily="2" charset="-78"/>
                          <a:cs typeface="Sakkal Majalla" panose="02000000000000000000" pitchFamily="2" charset="-78"/>
                        </a:rPr>
                        <a:t>عدم الإتاحة للأنظمة والمنصات والبوابات فحص محتويات الوثائق المقدمة بشكل تلقائي</a:t>
                      </a:r>
                      <a:endParaRPr lang="ar-SA" sz="1200" kern="1200" noProof="0" dirty="0">
                        <a:solidFill>
                          <a:schemeClr val="tx1"/>
                        </a:solidFill>
                        <a:latin typeface="Sakkal Majalla" panose="02000000000000000000" pitchFamily="2" charset="-78"/>
                        <a:ea typeface="+mn-ea"/>
                        <a:cs typeface="Sakkal Majalla" panose="02000000000000000000" pitchFamily="2" charset="-78"/>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marL="0" marR="0" lvl="0" indent="0" algn="ctr" defTabSz="914400" rtl="1" eaLnBrk="1" fontAlgn="auto" latinLnBrk="0" hangingPunct="1">
                        <a:lnSpc>
                          <a:spcPct val="100000"/>
                        </a:lnSpc>
                        <a:spcBef>
                          <a:spcPts val="0"/>
                        </a:spcBef>
                        <a:spcAft>
                          <a:spcPts val="0"/>
                        </a:spcAft>
                        <a:buClrTx/>
                        <a:buSzTx/>
                        <a:buFont typeface="Arial" panose="020B0604020202020204" pitchFamily="34" charset="0"/>
                        <a:buNone/>
                        <a:tabLst/>
                        <a:defRPr/>
                      </a:pPr>
                      <a:r>
                        <a:rPr lang="ar-SA" sz="1400" b="1" kern="1200" noProof="0" dirty="0">
                          <a:solidFill>
                            <a:schemeClr val="accent1"/>
                          </a:solidFill>
                        </a:rPr>
                        <a:t>الأثر الحالي</a:t>
                      </a:r>
                      <a:endParaRPr lang="ar-SA" sz="1400" b="1" noProof="0" dirty="0">
                        <a:solidFill>
                          <a:schemeClr val="accent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lumMod val="95000"/>
                      </a:schemeClr>
                    </a:solidFill>
                  </a:tcPr>
                </a:tc>
                <a:tc vMerge="1">
                  <a:txBody>
                    <a:bodyPr/>
                    <a:lstStyle/>
                    <a:p>
                      <a:endParaRPr lang="en-US"/>
                    </a:p>
                  </a:txBody>
                  <a:tcPr/>
                </a:tc>
                <a:extLst>
                  <a:ext uri="{0D108BD9-81ED-4DB2-BD59-A6C34878D82A}">
                    <a16:rowId xmlns:a16="http://schemas.microsoft.com/office/drawing/2014/main" val="1163892829"/>
                  </a:ext>
                </a:extLst>
              </a:tr>
              <a:tr h="0">
                <a:tc vMerge="1">
                  <a:txBody>
                    <a:bodyPr/>
                    <a:lstStyle/>
                    <a:p>
                      <a:endParaRPr lang="en-US"/>
                    </a:p>
                  </a:txBody>
                  <a:tcPr/>
                </a:tc>
                <a:tc vMerge="1">
                  <a:txBody>
                    <a:bodyPr/>
                    <a:lstStyle/>
                    <a:p>
                      <a:endParaRPr lang="en-US"/>
                    </a:p>
                  </a:txBody>
                  <a:tcPr/>
                </a:tc>
                <a:tc vMerge="1">
                  <a:txBody>
                    <a:bodyPr/>
                    <a:lstStyle/>
                    <a:p>
                      <a:endParaRPr lang="en-US"/>
                    </a:p>
                  </a:txBody>
                  <a:tcPr/>
                </a:tc>
                <a:tc>
                  <a:txBody>
                    <a:bodyPr/>
                    <a:lstStyle/>
                    <a:p>
                      <a:pPr marL="0" marR="0" lvl="0" indent="0" algn="just" defTabSz="914400" rtl="1" eaLnBrk="1" fontAlgn="auto" latinLnBrk="0" hangingPunct="1">
                        <a:lnSpc>
                          <a:spcPct val="100000"/>
                        </a:lnSpc>
                        <a:spcBef>
                          <a:spcPts val="0"/>
                        </a:spcBef>
                        <a:spcAft>
                          <a:spcPts val="0"/>
                        </a:spcAft>
                        <a:buClrTx/>
                        <a:buSzTx/>
                        <a:buFont typeface="Arial" panose="020B0604020202020204" pitchFamily="34" charset="0"/>
                        <a:buNone/>
                        <a:tabLst/>
                        <a:defRPr/>
                      </a:pPr>
                      <a:r>
                        <a:rPr lang="ar-SA" sz="1200" noProof="0" dirty="0">
                          <a:latin typeface="Sakkal Majalla" panose="02000000000000000000" pitchFamily="2" charset="-78"/>
                          <a:cs typeface="Sakkal Majalla" panose="02000000000000000000" pitchFamily="2" charset="-78"/>
                        </a:rPr>
                        <a:t>الإتاحة للأنظمة والمنصات والبوابات فحص محتويات الوثائق المقدمة بشكل تلقائي، مما يساهم في تقليل الوقت المطلوب للتأكد من صحتها ودقتها </a:t>
                      </a:r>
                      <a:endParaRPr lang="ar-SA" sz="1200" kern="1200" noProof="0" dirty="0">
                        <a:solidFill>
                          <a:schemeClr val="tx1"/>
                        </a:solidFill>
                        <a:latin typeface="Sakkal Majalla" panose="02000000000000000000" pitchFamily="2" charset="-78"/>
                        <a:ea typeface="+mn-ea"/>
                        <a:cs typeface="Sakkal Majalla" panose="02000000000000000000" pitchFamily="2" charset="-78"/>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marL="0" marR="0" lvl="0" indent="0" algn="ctr" defTabSz="914400" rtl="1" eaLnBrk="1" fontAlgn="auto" latinLnBrk="0" hangingPunct="1">
                        <a:lnSpc>
                          <a:spcPct val="100000"/>
                        </a:lnSpc>
                        <a:spcBef>
                          <a:spcPts val="0"/>
                        </a:spcBef>
                        <a:spcAft>
                          <a:spcPts val="0"/>
                        </a:spcAft>
                        <a:buClrTx/>
                        <a:buSzTx/>
                        <a:buFont typeface="Arial" panose="020B0604020202020204" pitchFamily="34" charset="0"/>
                        <a:buNone/>
                        <a:tabLst/>
                        <a:defRPr/>
                      </a:pPr>
                      <a:r>
                        <a:rPr lang="ar-SA" sz="1400" b="1" noProof="0" dirty="0">
                          <a:solidFill>
                            <a:schemeClr val="accent1"/>
                          </a:solidFill>
                        </a:rPr>
                        <a:t>الأثر بعد الردم (المعالجة)</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lumMod val="95000"/>
                      </a:schemeClr>
                    </a:solidFill>
                  </a:tcPr>
                </a:tc>
                <a:tc vMerge="1">
                  <a:txBody>
                    <a:bodyPr/>
                    <a:lstStyle/>
                    <a:p>
                      <a:endParaRPr lang="en-US"/>
                    </a:p>
                  </a:txBody>
                  <a:tcPr/>
                </a:tc>
                <a:extLst>
                  <a:ext uri="{0D108BD9-81ED-4DB2-BD59-A6C34878D82A}">
                    <a16:rowId xmlns:a16="http://schemas.microsoft.com/office/drawing/2014/main" val="1973569126"/>
                  </a:ext>
                </a:extLst>
              </a:tr>
              <a:tr h="0">
                <a:tc vMerge="1">
                  <a:txBody>
                    <a:bodyPr/>
                    <a:lstStyle/>
                    <a:p>
                      <a:endParaRPr lang="en-US"/>
                    </a:p>
                  </a:txBody>
                  <a:tcPr/>
                </a:tc>
                <a:tc vMerge="1">
                  <a:txBody>
                    <a:bodyPr/>
                    <a:lstStyle/>
                    <a:p>
                      <a:endParaRPr lang="en-US"/>
                    </a:p>
                  </a:txBody>
                  <a:tcPr/>
                </a:tc>
                <a:tc vMerge="1">
                  <a:txBody>
                    <a:bodyPr/>
                    <a:lstStyle/>
                    <a:p>
                      <a:endParaRPr lang="en-US"/>
                    </a:p>
                  </a:txBody>
                  <a:tcPr/>
                </a:tc>
                <a:tc>
                  <a:txBody>
                    <a:bodyPr/>
                    <a:lstStyle/>
                    <a:p>
                      <a:pPr marL="0" marR="0" lvl="0" indent="0" algn="just" defTabSz="914400" rtl="1" eaLnBrk="1" fontAlgn="auto" latinLnBrk="0" hangingPunct="1">
                        <a:lnSpc>
                          <a:spcPct val="100000"/>
                        </a:lnSpc>
                        <a:spcBef>
                          <a:spcPts val="0"/>
                        </a:spcBef>
                        <a:spcAft>
                          <a:spcPts val="0"/>
                        </a:spcAft>
                        <a:buClrTx/>
                        <a:buSzTx/>
                        <a:buFont typeface="Arial" panose="020B0604020202020204" pitchFamily="34" charset="0"/>
                        <a:buNone/>
                        <a:tabLst/>
                        <a:defRPr/>
                      </a:pPr>
                      <a:r>
                        <a:rPr lang="ar-SA" sz="1200" kern="1200" noProof="0" dirty="0">
                          <a:solidFill>
                            <a:schemeClr val="tx1"/>
                          </a:solidFill>
                          <a:latin typeface="Sakkal Majalla" panose="02000000000000000000" pitchFamily="2" charset="-78"/>
                          <a:ea typeface="+mn-ea"/>
                          <a:cs typeface="Sakkal Majalla" panose="02000000000000000000" pitchFamily="2" charset="-78"/>
                        </a:rPr>
                        <a:t>تطبيق تقنية  (OCR) حتى تتم </a:t>
                      </a:r>
                      <a:r>
                        <a:rPr lang="ar-SA" sz="1200" noProof="0" dirty="0">
                          <a:latin typeface="Sakkal Majalla" panose="02000000000000000000" pitchFamily="2" charset="-78"/>
                          <a:cs typeface="Sakkal Majalla" panose="02000000000000000000" pitchFamily="2" charset="-78"/>
                        </a:rPr>
                        <a:t>الإتاحة للأنظمة والمنصات والبوابات فحص محتويات الوثائق المقدمة بشكل تلقائي</a:t>
                      </a:r>
                      <a:endParaRPr lang="ar-SA" sz="1200" kern="1200" noProof="0" dirty="0">
                        <a:solidFill>
                          <a:schemeClr val="tx1"/>
                        </a:solidFill>
                        <a:latin typeface="Sakkal Majalla" panose="02000000000000000000" pitchFamily="2" charset="-78"/>
                        <a:ea typeface="+mn-ea"/>
                        <a:cs typeface="Sakkal Majalla" panose="02000000000000000000" pitchFamily="2" charset="-78"/>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marL="0" marR="0" lvl="0" indent="0" algn="ctr" defTabSz="914400" rtl="1" eaLnBrk="1" fontAlgn="auto" latinLnBrk="0" hangingPunct="1">
                        <a:lnSpc>
                          <a:spcPct val="100000"/>
                        </a:lnSpc>
                        <a:spcBef>
                          <a:spcPts val="0"/>
                        </a:spcBef>
                        <a:spcAft>
                          <a:spcPts val="0"/>
                        </a:spcAft>
                        <a:buClrTx/>
                        <a:buSzTx/>
                        <a:buFont typeface="Arial" panose="020B0604020202020204" pitchFamily="34" charset="0"/>
                        <a:buNone/>
                        <a:tabLst/>
                        <a:defRPr/>
                      </a:pPr>
                      <a:r>
                        <a:rPr lang="ar-SA" sz="1400" b="1" noProof="0" dirty="0">
                          <a:solidFill>
                            <a:schemeClr val="accent1"/>
                          </a:solidFill>
                        </a:rPr>
                        <a:t>تغطية الفجوة </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accent1"/>
                      </a:solidFill>
                      <a:prstDash val="solid"/>
                      <a:round/>
                      <a:headEnd type="none" w="med" len="med"/>
                      <a:tailEnd type="none" w="med" len="med"/>
                    </a:lnB>
                    <a:solidFill>
                      <a:schemeClr val="bg1">
                        <a:lumMod val="95000"/>
                      </a:schemeClr>
                    </a:solidFill>
                  </a:tcPr>
                </a:tc>
                <a:tc vMerge="1">
                  <a:txBody>
                    <a:bodyPr/>
                    <a:lstStyle/>
                    <a:p>
                      <a:endParaRPr lang="en-US"/>
                    </a:p>
                  </a:txBody>
                  <a:tcPr/>
                </a:tc>
                <a:extLst>
                  <a:ext uri="{0D108BD9-81ED-4DB2-BD59-A6C34878D82A}">
                    <a16:rowId xmlns:a16="http://schemas.microsoft.com/office/drawing/2014/main" val="4011636746"/>
                  </a:ext>
                </a:extLst>
              </a:tr>
              <a:tr h="0">
                <a:tc rowSpan="4">
                  <a:txBody>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lang="ar-SA" sz="1400" noProof="0" dirty="0"/>
                        <a:t>ملف حصر الأعمال ، دراسة وثائق الأعمال للجهة المتوفرة بالوضع الحالي ، ورش العمل لحصر الأعمال مع الوحدات الإدارية المعنية ،تطلعات أصحاب المصلحة</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rowSpan="4">
                  <a:txBody>
                    <a:bodyPr/>
                    <a:lstStyle/>
                    <a:p>
                      <a:pPr marL="0" marR="0" lvl="0" indent="0" algn="ctr" defTabSz="914400" rtl="1" eaLnBrk="1" fontAlgn="auto" latinLnBrk="0" hangingPunct="1">
                        <a:lnSpc>
                          <a:spcPct val="100000"/>
                        </a:lnSpc>
                        <a:spcBef>
                          <a:spcPts val="0"/>
                        </a:spcBef>
                        <a:spcAft>
                          <a:spcPts val="0"/>
                        </a:spcAft>
                        <a:buClrTx/>
                        <a:buSzTx/>
                        <a:buFont typeface="Arial" panose="020B0604020202020204" pitchFamily="34" charset="0"/>
                        <a:buNone/>
                        <a:tabLst/>
                        <a:defRPr/>
                      </a:pPr>
                      <a:r>
                        <a:rPr kumimoji="0" lang="ar-SA" sz="1400" b="0" i="0" u="none" strike="noStrike" kern="1200" cap="none" spc="0" normalizeH="0" baseline="0" noProof="0" dirty="0">
                          <a:ln>
                            <a:noFill/>
                          </a:ln>
                          <a:solidFill>
                            <a:prstClr val="black"/>
                          </a:solidFill>
                          <a:effectLst/>
                          <a:uLnTx/>
                          <a:uFillTx/>
                          <a:latin typeface="Sakkal Majalla"/>
                          <a:ea typeface="+mn-ea"/>
                          <a:cs typeface="Sakkal Majalla"/>
                        </a:rPr>
                        <a:t>متوسط</a:t>
                      </a:r>
                    </a:p>
                  </a:txBody>
                  <a:tcPr anchor="ctr">
                    <a:lnL w="12700" cap="flat" cmpd="sng" algn="ctr">
                      <a:no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solidFill>
                      <a:schemeClr val="bg1">
                        <a:lumMod val="95000"/>
                      </a:schemeClr>
                    </a:solidFill>
                  </a:tcPr>
                </a:tc>
                <a:tc rowSpan="4">
                  <a:txBody>
                    <a:bodyPr/>
                    <a:lstStyle/>
                    <a:p>
                      <a:pPr marL="0" marR="0" lvl="0" indent="0" algn="ctr" defTabSz="914400" rtl="1" eaLnBrk="1" fontAlgn="auto" latinLnBrk="0" hangingPunct="1">
                        <a:lnSpc>
                          <a:spcPct val="100000"/>
                        </a:lnSpc>
                        <a:spcBef>
                          <a:spcPts val="0"/>
                        </a:spcBef>
                        <a:spcAft>
                          <a:spcPts val="0"/>
                        </a:spcAft>
                        <a:buClrTx/>
                        <a:buSzTx/>
                        <a:buFont typeface="Arial" panose="020B0604020202020204" pitchFamily="34" charset="0"/>
                        <a:buNone/>
                        <a:tabLst/>
                        <a:defRPr/>
                      </a:pPr>
                      <a:r>
                        <a:rPr kumimoji="0" lang="ar-SA" sz="1400" b="0" i="0" u="none" strike="noStrike" kern="1200" cap="none" spc="0" normalizeH="0" baseline="0" noProof="0" dirty="0">
                          <a:ln>
                            <a:noFill/>
                          </a:ln>
                          <a:solidFill>
                            <a:prstClr val="black"/>
                          </a:solidFill>
                          <a:effectLst/>
                          <a:uLnTx/>
                          <a:uFillTx/>
                          <a:latin typeface="Sakkal Majalla"/>
                          <a:ea typeface="+mn-ea"/>
                          <a:cs typeface="Sakkal Majalla"/>
                        </a:rPr>
                        <a:t>متوسط</a:t>
                      </a:r>
                    </a:p>
                  </a:txBody>
                  <a:tcPr anchor="ctr">
                    <a:lnL w="12700" cap="flat" cmpd="sng" algn="ctr">
                      <a:solidFill>
                        <a:schemeClr val="bg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solidFill>
                      <a:schemeClr val="bg1">
                        <a:lumMod val="95000"/>
                      </a:schemeClr>
                    </a:solidFill>
                  </a:tcPr>
                </a:tc>
                <a:tc>
                  <a:txBody>
                    <a:bodyPr/>
                    <a:lstStyle/>
                    <a:p>
                      <a:pPr marL="0" marR="0" lvl="0" indent="0" algn="just" defTabSz="914400" rtl="1" eaLnBrk="1" fontAlgn="auto" latinLnBrk="0" hangingPunct="1">
                        <a:lnSpc>
                          <a:spcPct val="100000"/>
                        </a:lnSpc>
                        <a:spcBef>
                          <a:spcPts val="0"/>
                        </a:spcBef>
                        <a:spcAft>
                          <a:spcPts val="0"/>
                        </a:spcAft>
                        <a:buClrTx/>
                        <a:buSzTx/>
                        <a:buFont typeface="Arial" panose="020B0604020202020204" pitchFamily="34" charset="0"/>
                        <a:buNone/>
                        <a:tabLst/>
                        <a:defRPr/>
                      </a:pPr>
                      <a:r>
                        <a:rPr lang="ar-SA" sz="1200" noProof="0" dirty="0">
                          <a:latin typeface="Sakkal Majalla" panose="02000000000000000000" pitchFamily="2" charset="-78"/>
                          <a:cs typeface="Sakkal Majalla" panose="02000000000000000000" pitchFamily="2" charset="-78"/>
                        </a:rPr>
                        <a:t>ضرورة التحسين المستمر للحقائب التدريبية (البرامج التدريبية المتخصصة في  مجالات التقويم والقياس والاعتماد) ، مع ضرورة تمتين برنامج إعداد المدربين وتجريب المدرب قبل اعتماده (اختيار وتأهيل قدرات تدريبية تلبي حاجة البرامج التدريبية وتحقق  أهداف التدريب)</a:t>
                      </a:r>
                    </a:p>
                    <a:p>
                      <a:pPr marL="0" marR="0" lvl="0" indent="0" algn="just" defTabSz="914400" rtl="1" eaLnBrk="1" fontAlgn="auto" latinLnBrk="0" hangingPunct="1">
                        <a:lnSpc>
                          <a:spcPct val="100000"/>
                        </a:lnSpc>
                        <a:spcBef>
                          <a:spcPts val="0"/>
                        </a:spcBef>
                        <a:spcAft>
                          <a:spcPts val="0"/>
                        </a:spcAft>
                        <a:buClrTx/>
                        <a:buSzTx/>
                        <a:buFont typeface="Arial" panose="020B0604020202020204" pitchFamily="34" charset="0"/>
                        <a:buNone/>
                        <a:tabLst/>
                        <a:defRPr/>
                      </a:pPr>
                      <a:endParaRPr lang="ar-SA" sz="1200" noProof="0" dirty="0">
                        <a:latin typeface="Sakkal Majalla" panose="02000000000000000000" pitchFamily="2" charset="-78"/>
                        <a:cs typeface="Sakkal Majalla" panose="02000000000000000000" pitchFamily="2" charset="-78"/>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marL="0" marR="0" lvl="0" indent="0" algn="ctr" defTabSz="914400" rtl="1" eaLnBrk="1" fontAlgn="auto" latinLnBrk="0" hangingPunct="1">
                        <a:lnSpc>
                          <a:spcPct val="100000"/>
                        </a:lnSpc>
                        <a:spcBef>
                          <a:spcPts val="0"/>
                        </a:spcBef>
                        <a:spcAft>
                          <a:spcPts val="0"/>
                        </a:spcAft>
                        <a:buClrTx/>
                        <a:buSzTx/>
                        <a:buFont typeface="Arial" panose="020B0604020202020204" pitchFamily="34" charset="0"/>
                        <a:buNone/>
                        <a:tabLst/>
                        <a:defRPr/>
                      </a:pPr>
                      <a:r>
                        <a:rPr lang="ar-SA" sz="1400" b="1" noProof="0" dirty="0">
                          <a:solidFill>
                            <a:schemeClr val="accent1"/>
                          </a:solidFill>
                        </a:rPr>
                        <a:t>الوصف</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lumMod val="95000"/>
                      </a:schemeClr>
                    </a:solidFill>
                  </a:tcPr>
                </a:tc>
                <a:tc rowSpan="4">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ar-SA" sz="1600" b="1" u="none" strike="noStrike" kern="1200" cap="none" spc="0" normalizeH="0" baseline="0" noProof="0" dirty="0">
                          <a:ln>
                            <a:noFill/>
                          </a:ln>
                          <a:effectLst/>
                          <a:uLnTx/>
                          <a:uFillTx/>
                        </a:rPr>
                        <a:t>GAP-B-28</a:t>
                      </a:r>
                    </a:p>
                    <a:p>
                      <a:pPr marL="0" marR="0" lvl="0" indent="0" algn="r" defTabSz="914400" rtl="1" eaLnBrk="1" fontAlgn="auto" latinLnBrk="0" hangingPunct="1">
                        <a:lnSpc>
                          <a:spcPct val="100000"/>
                        </a:lnSpc>
                        <a:spcBef>
                          <a:spcPts val="0"/>
                        </a:spcBef>
                        <a:spcAft>
                          <a:spcPts val="0"/>
                        </a:spcAft>
                        <a:buClrTx/>
                        <a:buSzTx/>
                        <a:buFontTx/>
                        <a:buNone/>
                        <a:tabLst/>
                        <a:defRPr/>
                      </a:pPr>
                      <a:r>
                        <a:rPr lang="ar-SA" sz="1400" b="1" kern="1200" noProof="0" dirty="0">
                          <a:solidFill>
                            <a:schemeClr val="tx1"/>
                          </a:solidFill>
                          <a:effectLst/>
                          <a:latin typeface="+mn-lt"/>
                          <a:ea typeface="+mn-ea"/>
                          <a:cs typeface="+mn-cs"/>
                        </a:rPr>
                        <a:t>ضرورة التحسين المستمر للحقائب التدريبية و تمتين برنامج إعداد المدربين </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extLst>
                  <a:ext uri="{0D108BD9-81ED-4DB2-BD59-A6C34878D82A}">
                    <a16:rowId xmlns:a16="http://schemas.microsoft.com/office/drawing/2014/main" val="1136131386"/>
                  </a:ext>
                </a:extLst>
              </a:tr>
              <a:tr h="0">
                <a:tc vMerge="1">
                  <a:txBody>
                    <a:bodyPr/>
                    <a:lstStyle/>
                    <a:p>
                      <a:pPr marL="0" marR="0" lvl="0" indent="0" algn="r" defTabSz="914400" rtl="1" eaLnBrk="1" fontAlgn="auto" latinLnBrk="0" hangingPunct="1">
                        <a:lnSpc>
                          <a:spcPct val="100000"/>
                        </a:lnSpc>
                        <a:spcBef>
                          <a:spcPts val="0"/>
                        </a:spcBef>
                        <a:spcAft>
                          <a:spcPts val="0"/>
                        </a:spcAft>
                        <a:buClrTx/>
                        <a:buSzTx/>
                        <a:buFontTx/>
                        <a:buNone/>
                        <a:tabLst/>
                        <a:defRPr/>
                      </a:pPr>
                      <a:endParaRPr lang="en-GB" sz="1400" noProof="0" dirty="0"/>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vMerge="1">
                  <a:txBody>
                    <a:bodyPr/>
                    <a:lstStyle/>
                    <a:p>
                      <a:endParaRPr lang="en-US"/>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vMerge="1">
                  <a:txBody>
                    <a:bodyPr/>
                    <a:lstStyle/>
                    <a:p>
                      <a:endParaRPr lang="en-US"/>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marL="0" marR="0" lvl="0" indent="0" algn="just" defTabSz="914400" rtl="1" eaLnBrk="1" fontAlgn="auto" latinLnBrk="0" hangingPunct="1">
                        <a:lnSpc>
                          <a:spcPct val="100000"/>
                        </a:lnSpc>
                        <a:spcBef>
                          <a:spcPts val="0"/>
                        </a:spcBef>
                        <a:spcAft>
                          <a:spcPts val="0"/>
                        </a:spcAft>
                        <a:buClrTx/>
                        <a:buSzTx/>
                        <a:buFont typeface="Arial" panose="020B0604020202020204" pitchFamily="34" charset="0"/>
                        <a:buNone/>
                        <a:tabLst/>
                        <a:defRPr/>
                      </a:pPr>
                      <a:r>
                        <a:rPr lang="ar-SA" sz="1200" kern="1200" noProof="0" dirty="0">
                          <a:solidFill>
                            <a:schemeClr val="tx1"/>
                          </a:solidFill>
                          <a:latin typeface="Sakkal Majalla" panose="02000000000000000000" pitchFamily="2" charset="-78"/>
                          <a:ea typeface="+mn-ea"/>
                          <a:cs typeface="Sakkal Majalla" panose="02000000000000000000" pitchFamily="2" charset="-78"/>
                        </a:rPr>
                        <a:t>الحاجة إلى تحسين </a:t>
                      </a:r>
                      <a:r>
                        <a:rPr lang="ar-SA" sz="1200" noProof="0" dirty="0">
                          <a:latin typeface="Sakkal Majalla" panose="02000000000000000000" pitchFamily="2" charset="-78"/>
                          <a:cs typeface="Sakkal Majalla" panose="02000000000000000000" pitchFamily="2" charset="-78"/>
                        </a:rPr>
                        <a:t>البرامج التدريبية المتخصصة في  مجالات التقويم والقياس والاعتماد ، والحاجة إلى تمتين برنامج إعداد المدربين</a:t>
                      </a:r>
                      <a:endParaRPr lang="ar-SA" sz="1200" kern="1200" noProof="0" dirty="0">
                        <a:solidFill>
                          <a:schemeClr val="tx1"/>
                        </a:solidFill>
                        <a:latin typeface="Sakkal Majalla" panose="02000000000000000000" pitchFamily="2" charset="-78"/>
                        <a:ea typeface="+mn-ea"/>
                        <a:cs typeface="Sakkal Majalla" panose="02000000000000000000" pitchFamily="2" charset="-78"/>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marL="0" marR="0" lvl="0" indent="0" algn="ctr" defTabSz="914400" rtl="1" eaLnBrk="1" fontAlgn="auto" latinLnBrk="0" hangingPunct="1">
                        <a:lnSpc>
                          <a:spcPct val="100000"/>
                        </a:lnSpc>
                        <a:spcBef>
                          <a:spcPts val="0"/>
                        </a:spcBef>
                        <a:spcAft>
                          <a:spcPts val="0"/>
                        </a:spcAft>
                        <a:buClrTx/>
                        <a:buSzTx/>
                        <a:buFont typeface="Arial" panose="020B0604020202020204" pitchFamily="34" charset="0"/>
                        <a:buNone/>
                        <a:tabLst/>
                        <a:defRPr/>
                      </a:pPr>
                      <a:r>
                        <a:rPr lang="ar-SA" sz="1400" b="1" kern="1200" noProof="0" dirty="0">
                          <a:solidFill>
                            <a:schemeClr val="accent1"/>
                          </a:solidFill>
                        </a:rPr>
                        <a:t>الأثر الحالي</a:t>
                      </a:r>
                      <a:endParaRPr lang="ar-SA" sz="1400" b="1" noProof="0" dirty="0">
                        <a:solidFill>
                          <a:schemeClr val="accent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lumMod val="95000"/>
                      </a:schemeClr>
                    </a:solidFill>
                  </a:tcPr>
                </a:tc>
                <a:tc vMerge="1">
                  <a:txBody>
                    <a:bodyPr/>
                    <a:lstStyle/>
                    <a:p>
                      <a:pPr marL="0" marR="0" lvl="0" indent="0" algn="r" defTabSz="914400" rtl="1" eaLnBrk="1" fontAlgn="auto" latinLnBrk="0" hangingPunct="1">
                        <a:lnSpc>
                          <a:spcPct val="100000"/>
                        </a:lnSpc>
                        <a:spcBef>
                          <a:spcPts val="0"/>
                        </a:spcBef>
                        <a:spcAft>
                          <a:spcPts val="0"/>
                        </a:spcAft>
                        <a:buClrTx/>
                        <a:buSzTx/>
                        <a:buFontTx/>
                        <a:buNone/>
                        <a:tabLst/>
                        <a:defRPr/>
                      </a:pPr>
                      <a:endParaRPr lang="en-GB" sz="1400" b="1" noProof="0" dirty="0"/>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extLst>
                  <a:ext uri="{0D108BD9-81ED-4DB2-BD59-A6C34878D82A}">
                    <a16:rowId xmlns:a16="http://schemas.microsoft.com/office/drawing/2014/main" val="918118369"/>
                  </a:ext>
                </a:extLst>
              </a:tr>
              <a:tr h="0">
                <a:tc vMerge="1">
                  <a:txBody>
                    <a:bodyPr/>
                    <a:lstStyle/>
                    <a:p>
                      <a:pPr marL="0" marR="0" lvl="0" indent="0" algn="r" defTabSz="914400" rtl="1" eaLnBrk="1" fontAlgn="auto" latinLnBrk="0" hangingPunct="1">
                        <a:lnSpc>
                          <a:spcPct val="100000"/>
                        </a:lnSpc>
                        <a:spcBef>
                          <a:spcPts val="0"/>
                        </a:spcBef>
                        <a:spcAft>
                          <a:spcPts val="0"/>
                        </a:spcAft>
                        <a:buClrTx/>
                        <a:buSzTx/>
                        <a:buFontTx/>
                        <a:buNone/>
                        <a:tabLst/>
                        <a:defRPr/>
                      </a:pPr>
                      <a:endParaRPr lang="en-GB" sz="1400" noProof="0" dirty="0"/>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vMerge="1">
                  <a:txBody>
                    <a:bodyPr/>
                    <a:lstStyle/>
                    <a:p>
                      <a:endParaRPr lang="en-US"/>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vMerge="1">
                  <a:txBody>
                    <a:bodyPr/>
                    <a:lstStyle/>
                    <a:p>
                      <a:endParaRPr lang="en-US"/>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marL="0" marR="0" lvl="0" indent="0" algn="just" defTabSz="914400" rtl="1" eaLnBrk="1" fontAlgn="auto" latinLnBrk="0" hangingPunct="1">
                        <a:lnSpc>
                          <a:spcPct val="100000"/>
                        </a:lnSpc>
                        <a:spcBef>
                          <a:spcPts val="0"/>
                        </a:spcBef>
                        <a:spcAft>
                          <a:spcPts val="0"/>
                        </a:spcAft>
                        <a:buClrTx/>
                        <a:buSzTx/>
                        <a:buFont typeface="Arial" panose="020B0604020202020204" pitchFamily="34" charset="0"/>
                        <a:buNone/>
                        <a:tabLst/>
                        <a:defRPr/>
                      </a:pPr>
                      <a:r>
                        <a:rPr lang="ar-SA" sz="1200" kern="1200" noProof="0" dirty="0">
                          <a:solidFill>
                            <a:schemeClr val="tx1"/>
                          </a:solidFill>
                          <a:latin typeface="Sakkal Majalla" panose="02000000000000000000" pitchFamily="2" charset="-78"/>
                          <a:ea typeface="+mn-ea"/>
                          <a:cs typeface="Sakkal Majalla" panose="02000000000000000000" pitchFamily="2" charset="-78"/>
                        </a:rPr>
                        <a:t>تحسين </a:t>
                      </a:r>
                      <a:r>
                        <a:rPr lang="ar-SA" sz="1200" noProof="0" dirty="0">
                          <a:latin typeface="Sakkal Majalla" panose="02000000000000000000" pitchFamily="2" charset="-78"/>
                          <a:cs typeface="Sakkal Majalla" panose="02000000000000000000" pitchFamily="2" charset="-78"/>
                        </a:rPr>
                        <a:t>البرامج التدريبية المتخصصة في  مجالات التقويم والقياس والاعتماد ، و تمتين برنامج إعداد المدربين</a:t>
                      </a:r>
                      <a:endParaRPr lang="ar-SA" sz="1200" kern="1200" noProof="0" dirty="0">
                        <a:solidFill>
                          <a:schemeClr val="tx1"/>
                        </a:solidFill>
                        <a:latin typeface="Sakkal Majalla" panose="02000000000000000000" pitchFamily="2" charset="-78"/>
                        <a:ea typeface="+mn-ea"/>
                        <a:cs typeface="Sakkal Majalla" panose="02000000000000000000" pitchFamily="2" charset="-78"/>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marL="0" marR="0" lvl="0" indent="0" algn="ctr" defTabSz="914400" rtl="1" eaLnBrk="1" fontAlgn="auto" latinLnBrk="0" hangingPunct="1">
                        <a:lnSpc>
                          <a:spcPct val="100000"/>
                        </a:lnSpc>
                        <a:spcBef>
                          <a:spcPts val="0"/>
                        </a:spcBef>
                        <a:spcAft>
                          <a:spcPts val="0"/>
                        </a:spcAft>
                        <a:buClrTx/>
                        <a:buSzTx/>
                        <a:buFont typeface="Arial" panose="020B0604020202020204" pitchFamily="34" charset="0"/>
                        <a:buNone/>
                        <a:tabLst/>
                        <a:defRPr/>
                      </a:pPr>
                      <a:r>
                        <a:rPr lang="ar-SA" sz="1400" b="1" noProof="0" dirty="0">
                          <a:solidFill>
                            <a:schemeClr val="accent1"/>
                          </a:solidFill>
                        </a:rPr>
                        <a:t>الأثر بعد الردم (المعالجة)</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lumMod val="95000"/>
                      </a:schemeClr>
                    </a:solidFill>
                  </a:tcPr>
                </a:tc>
                <a:tc vMerge="1">
                  <a:txBody>
                    <a:bodyPr/>
                    <a:lstStyle/>
                    <a:p>
                      <a:pPr marL="0" marR="0" lvl="0" indent="0" algn="r" defTabSz="914400" rtl="1" eaLnBrk="1" fontAlgn="auto" latinLnBrk="0" hangingPunct="1">
                        <a:lnSpc>
                          <a:spcPct val="100000"/>
                        </a:lnSpc>
                        <a:spcBef>
                          <a:spcPts val="0"/>
                        </a:spcBef>
                        <a:spcAft>
                          <a:spcPts val="0"/>
                        </a:spcAft>
                        <a:buClrTx/>
                        <a:buSzTx/>
                        <a:buFontTx/>
                        <a:buNone/>
                        <a:tabLst/>
                        <a:defRPr/>
                      </a:pPr>
                      <a:endParaRPr lang="en-GB" sz="1400" b="1" noProof="0" dirty="0"/>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extLst>
                  <a:ext uri="{0D108BD9-81ED-4DB2-BD59-A6C34878D82A}">
                    <a16:rowId xmlns:a16="http://schemas.microsoft.com/office/drawing/2014/main" val="4153014111"/>
                  </a:ext>
                </a:extLst>
              </a:tr>
              <a:tr h="0">
                <a:tc vMerge="1">
                  <a:txBody>
                    <a:bodyPr/>
                    <a:lstStyle/>
                    <a:p>
                      <a:pPr marL="0" marR="0" lvl="0" indent="0" algn="r" defTabSz="914400" rtl="1" eaLnBrk="1" fontAlgn="auto" latinLnBrk="0" hangingPunct="1">
                        <a:lnSpc>
                          <a:spcPct val="100000"/>
                        </a:lnSpc>
                        <a:spcBef>
                          <a:spcPts val="0"/>
                        </a:spcBef>
                        <a:spcAft>
                          <a:spcPts val="0"/>
                        </a:spcAft>
                        <a:buClrTx/>
                        <a:buSzTx/>
                        <a:buFontTx/>
                        <a:buNone/>
                        <a:tabLst/>
                        <a:defRPr/>
                      </a:pPr>
                      <a:endParaRPr lang="en-GB" sz="1400" noProof="0" dirty="0"/>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vMerge="1">
                  <a:txBody>
                    <a:bodyPr/>
                    <a:lstStyle/>
                    <a:p>
                      <a:endParaRPr lang="en-US"/>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vMerge="1">
                  <a:txBody>
                    <a:bodyPr/>
                    <a:lstStyle/>
                    <a:p>
                      <a:endParaRPr lang="en-US"/>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marL="0" marR="0" lvl="0" indent="0" algn="just" defTabSz="914400" rtl="1" eaLnBrk="1" fontAlgn="auto" latinLnBrk="0" hangingPunct="1">
                        <a:lnSpc>
                          <a:spcPct val="100000"/>
                        </a:lnSpc>
                        <a:spcBef>
                          <a:spcPts val="0"/>
                        </a:spcBef>
                        <a:spcAft>
                          <a:spcPts val="0"/>
                        </a:spcAft>
                        <a:buClrTx/>
                        <a:buSzTx/>
                        <a:buFont typeface="Arial" panose="020B0604020202020204" pitchFamily="34" charset="0"/>
                        <a:buNone/>
                        <a:tabLst/>
                        <a:defRPr/>
                      </a:pPr>
                      <a:r>
                        <a:rPr lang="ar-SA" sz="1200" kern="1200" noProof="0" dirty="0">
                          <a:solidFill>
                            <a:schemeClr val="tx1"/>
                          </a:solidFill>
                          <a:latin typeface="Sakkal Majalla" panose="02000000000000000000" pitchFamily="2" charset="-78"/>
                          <a:ea typeface="+mn-ea"/>
                          <a:cs typeface="Sakkal Majalla" panose="02000000000000000000" pitchFamily="2" charset="-78"/>
                        </a:rPr>
                        <a:t>تطوير وتعزيز التحسين المستمر للحقائب التدريبية و تمتين برنامج إعداد المدربين </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marL="0" marR="0" lvl="0" indent="0" algn="ctr" defTabSz="914400" rtl="1" eaLnBrk="1" fontAlgn="auto" latinLnBrk="0" hangingPunct="1">
                        <a:lnSpc>
                          <a:spcPct val="100000"/>
                        </a:lnSpc>
                        <a:spcBef>
                          <a:spcPts val="0"/>
                        </a:spcBef>
                        <a:spcAft>
                          <a:spcPts val="0"/>
                        </a:spcAft>
                        <a:buClrTx/>
                        <a:buSzTx/>
                        <a:buFont typeface="Arial" panose="020B0604020202020204" pitchFamily="34" charset="0"/>
                        <a:buNone/>
                        <a:tabLst/>
                        <a:defRPr/>
                      </a:pPr>
                      <a:r>
                        <a:rPr lang="ar-SA" sz="1400" b="1" noProof="0" dirty="0">
                          <a:solidFill>
                            <a:schemeClr val="accent1"/>
                          </a:solidFill>
                        </a:rPr>
                        <a:t>تغطية الفجوة </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accent1"/>
                      </a:solidFill>
                      <a:prstDash val="solid"/>
                      <a:round/>
                      <a:headEnd type="none" w="med" len="med"/>
                      <a:tailEnd type="none" w="med" len="med"/>
                    </a:lnB>
                    <a:solidFill>
                      <a:schemeClr val="bg1">
                        <a:lumMod val="95000"/>
                      </a:schemeClr>
                    </a:solidFill>
                  </a:tcPr>
                </a:tc>
                <a:tc vMerge="1">
                  <a:txBody>
                    <a:bodyPr/>
                    <a:lstStyle/>
                    <a:p>
                      <a:pPr marL="0" marR="0" lvl="0" indent="0" algn="r" defTabSz="914400" rtl="1" eaLnBrk="1" fontAlgn="auto" latinLnBrk="0" hangingPunct="1">
                        <a:lnSpc>
                          <a:spcPct val="100000"/>
                        </a:lnSpc>
                        <a:spcBef>
                          <a:spcPts val="0"/>
                        </a:spcBef>
                        <a:spcAft>
                          <a:spcPts val="0"/>
                        </a:spcAft>
                        <a:buClrTx/>
                        <a:buSzTx/>
                        <a:buFontTx/>
                        <a:buNone/>
                        <a:tabLst/>
                        <a:defRPr/>
                      </a:pPr>
                      <a:endParaRPr lang="en-GB" sz="1400" b="1" noProof="0" dirty="0"/>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extLst>
                  <a:ext uri="{0D108BD9-81ED-4DB2-BD59-A6C34878D82A}">
                    <a16:rowId xmlns:a16="http://schemas.microsoft.com/office/drawing/2014/main" val="1035545327"/>
                  </a:ext>
                </a:extLst>
              </a:tr>
            </a:tbl>
          </a:graphicData>
        </a:graphic>
      </p:graphicFrame>
      <p:sp>
        <p:nvSpPr>
          <p:cNvPr id="7" name="TextBox 6">
            <a:extLst>
              <a:ext uri="{FF2B5EF4-FFF2-40B4-BE49-F238E27FC236}">
                <a16:creationId xmlns:a16="http://schemas.microsoft.com/office/drawing/2014/main" id="{78FFBCC9-9528-43EE-3448-66EDC46CF782}"/>
              </a:ext>
            </a:extLst>
          </p:cNvPr>
          <p:cNvSpPr txBox="1"/>
          <p:nvPr/>
        </p:nvSpPr>
        <p:spPr>
          <a:xfrm>
            <a:off x="609600" y="705358"/>
            <a:ext cx="10972800" cy="375487"/>
          </a:xfrm>
          <a:prstGeom prst="rect">
            <a:avLst/>
          </a:prstGeom>
          <a:noFill/>
        </p:spPr>
        <p:txBody>
          <a:bodyPr wrap="square">
            <a:spAutoFit/>
          </a:bodyPr>
          <a:lstStyle/>
          <a:p>
            <a:pPr algn="r" rtl="1">
              <a:lnSpc>
                <a:spcPct val="115000"/>
              </a:lnSpc>
              <a:spcAft>
                <a:spcPts val="1000"/>
              </a:spcAft>
            </a:pPr>
            <a:r>
              <a:rPr lang="ar-SA" sz="1600" noProof="0" dirty="0">
                <a:solidFill>
                  <a:srgbClr val="000000"/>
                </a:solidFill>
                <a:latin typeface="Sakkal Majalla" panose="02000000000000000000" pitchFamily="2" charset="-78"/>
                <a:ea typeface="Sakkal Majalla" panose="02000000000000000000" pitchFamily="2" charset="-78"/>
                <a:cs typeface="Sakkal Majalla" panose="02000000000000000000" pitchFamily="2" charset="-78"/>
              </a:rPr>
              <a:t>يهدف هذا القسم من الوثيقة إلى تقديم الملاحظات الخاصة بالوضع الحالي لبنية الأعمال مع ذكر التوصيات  والتحسينات المفترض تطبيقها في الوضع المستقبلي</a:t>
            </a:r>
          </a:p>
        </p:txBody>
      </p:sp>
    </p:spTree>
    <p:extLst>
      <p:ext uri="{BB962C8B-B14F-4D97-AF65-F5344CB8AC3E}">
        <p14:creationId xmlns:p14="http://schemas.microsoft.com/office/powerpoint/2010/main" val="45442371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a:xfrm>
            <a:off x="609601" y="247310"/>
            <a:ext cx="10972800" cy="666261"/>
          </a:xfrm>
        </p:spPr>
        <p:txBody>
          <a:bodyPr/>
          <a:lstStyle/>
          <a:p>
            <a:r>
              <a:rPr lang="ar-SA" noProof="0" dirty="0"/>
              <a:t>ملخص تحليل الفجوات لبنية الأعمال </a:t>
            </a:r>
          </a:p>
        </p:txBody>
      </p:sp>
      <p:sp>
        <p:nvSpPr>
          <p:cNvPr id="3" name="Slide Number Placeholder 2">
            <a:extLst>
              <a:ext uri="{FF2B5EF4-FFF2-40B4-BE49-F238E27FC236}">
                <a16:creationId xmlns:a16="http://schemas.microsoft.com/office/drawing/2014/main" id="{A63A027D-6EA1-E9F6-6212-7D45811B8DC3}"/>
              </a:ext>
            </a:extLst>
          </p:cNvPr>
          <p:cNvSpPr>
            <a:spLocks noGrp="1"/>
          </p:cNvSpPr>
          <p:nvPr>
            <p:ph type="sldNum" sz="quarter" idx="12"/>
          </p:nvPr>
        </p:nvSpPr>
        <p:spPr>
          <a:xfrm>
            <a:off x="655319" y="6567058"/>
            <a:ext cx="466471" cy="290942"/>
          </a:xfrm>
        </p:spPr>
        <p:txBody>
          <a:bodyPr/>
          <a:lstStyle/>
          <a:p>
            <a:fld id="{0BE4EC83-A869-464E-AE9F-881796FB085E}" type="slidenum">
              <a:rPr lang="ar-SA" noProof="0" smtClean="0"/>
              <a:pPr/>
              <a:t>24</a:t>
            </a:fld>
            <a:endParaRPr lang="ar-SA" noProof="0" dirty="0"/>
          </a:p>
        </p:txBody>
      </p:sp>
      <p:graphicFrame>
        <p:nvGraphicFramePr>
          <p:cNvPr id="2" name="Table 1">
            <a:extLst>
              <a:ext uri="{FF2B5EF4-FFF2-40B4-BE49-F238E27FC236}">
                <a16:creationId xmlns:a16="http://schemas.microsoft.com/office/drawing/2014/main" id="{C47CAF5B-4215-4DCE-B225-BC1E66631900}"/>
              </a:ext>
            </a:extLst>
          </p:cNvPr>
          <p:cNvGraphicFramePr>
            <a:graphicFrameLocks noGrp="1"/>
          </p:cNvGraphicFramePr>
          <p:nvPr>
            <p:extLst>
              <p:ext uri="{D42A27DB-BD31-4B8C-83A1-F6EECF244321}">
                <p14:modId xmlns:p14="http://schemas.microsoft.com/office/powerpoint/2010/main" val="3580899377"/>
              </p:ext>
            </p:extLst>
          </p:nvPr>
        </p:nvGraphicFramePr>
        <p:xfrm>
          <a:off x="609600" y="1035636"/>
          <a:ext cx="10972802" cy="2956560"/>
        </p:xfrm>
        <a:graphic>
          <a:graphicData uri="http://schemas.openxmlformats.org/drawingml/2006/table">
            <a:tbl>
              <a:tblPr firstRow="1" bandRow="1">
                <a:tableStyleId>{2D5ABB26-0587-4C30-8999-92F81FD0307C}</a:tableStyleId>
              </a:tblPr>
              <a:tblGrid>
                <a:gridCol w="1828800">
                  <a:extLst>
                    <a:ext uri="{9D8B030D-6E8A-4147-A177-3AD203B41FA5}">
                      <a16:colId xmlns:a16="http://schemas.microsoft.com/office/drawing/2014/main" val="2801895674"/>
                    </a:ext>
                  </a:extLst>
                </a:gridCol>
                <a:gridCol w="738953">
                  <a:extLst>
                    <a:ext uri="{9D8B030D-6E8A-4147-A177-3AD203B41FA5}">
                      <a16:colId xmlns:a16="http://schemas.microsoft.com/office/drawing/2014/main" val="2976102064"/>
                    </a:ext>
                  </a:extLst>
                </a:gridCol>
                <a:gridCol w="838625">
                  <a:extLst>
                    <a:ext uri="{9D8B030D-6E8A-4147-A177-3AD203B41FA5}">
                      <a16:colId xmlns:a16="http://schemas.microsoft.com/office/drawing/2014/main" val="526736865"/>
                    </a:ext>
                  </a:extLst>
                </a:gridCol>
                <a:gridCol w="3862640">
                  <a:extLst>
                    <a:ext uri="{9D8B030D-6E8A-4147-A177-3AD203B41FA5}">
                      <a16:colId xmlns:a16="http://schemas.microsoft.com/office/drawing/2014/main" val="4106469564"/>
                    </a:ext>
                  </a:extLst>
                </a:gridCol>
                <a:gridCol w="923637">
                  <a:extLst>
                    <a:ext uri="{9D8B030D-6E8A-4147-A177-3AD203B41FA5}">
                      <a16:colId xmlns:a16="http://schemas.microsoft.com/office/drawing/2014/main" val="1154529574"/>
                    </a:ext>
                  </a:extLst>
                </a:gridCol>
                <a:gridCol w="2780147">
                  <a:extLst>
                    <a:ext uri="{9D8B030D-6E8A-4147-A177-3AD203B41FA5}">
                      <a16:colId xmlns:a16="http://schemas.microsoft.com/office/drawing/2014/main" val="1503598667"/>
                    </a:ext>
                  </a:extLst>
                </a:gridCol>
              </a:tblGrid>
              <a:tr h="0">
                <a:tc>
                  <a:txBody>
                    <a:bodyPr/>
                    <a:lstStyle/>
                    <a:p>
                      <a:pPr algn="ctr" rtl="1"/>
                      <a:r>
                        <a:rPr lang="ar-SA" sz="1400" b="1" noProof="0" dirty="0">
                          <a:solidFill>
                            <a:schemeClr val="bg1"/>
                          </a:solidFill>
                        </a:rPr>
                        <a:t>المصدر</a:t>
                      </a:r>
                      <a:endParaRPr lang="ar-SA" sz="1400" b="1" noProof="0" dirty="0">
                        <a:solidFill>
                          <a:schemeClr val="bg1"/>
                        </a:solidFill>
                        <a:latin typeface="+mj-lt"/>
                      </a:endParaRPr>
                    </a:p>
                  </a:txBody>
                  <a:tcPr anchor="ctr">
                    <a:lnL w="12700" cap="flat" cmpd="sng" algn="ctr">
                      <a:noFill/>
                      <a:prstDash val="solid"/>
                      <a:round/>
                      <a:headEnd type="none" w="med" len="med"/>
                      <a:tailEnd type="none" w="med" len="med"/>
                    </a:lnL>
                    <a:lnR w="12700" cap="flat" cmpd="sng" algn="ctr">
                      <a:solidFill>
                        <a:schemeClr val="bg1"/>
                      </a:solidFill>
                      <a:prstDash val="solid"/>
                      <a:round/>
                      <a:headEnd type="none" w="med" len="med"/>
                      <a:tailEnd type="none" w="med" len="med"/>
                    </a:lnR>
                    <a:solidFill>
                      <a:schemeClr val="accent1"/>
                    </a:solidFill>
                  </a:tcPr>
                </a:tc>
                <a:tc>
                  <a: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lang="ar-SA" sz="1400" b="1" noProof="0" dirty="0">
                          <a:solidFill>
                            <a:schemeClr val="bg1"/>
                          </a:solidFill>
                        </a:rPr>
                        <a:t>الأهمية</a:t>
                      </a:r>
                      <a:endParaRPr lang="ar-SA" sz="1400" b="1" noProof="0" dirty="0">
                        <a:solidFill>
                          <a:schemeClr val="bg1"/>
                        </a:solidFill>
                        <a:latin typeface="+mj-lt"/>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solidFill>
                      <a:schemeClr val="accent1"/>
                    </a:solidFill>
                  </a:tcPr>
                </a:tc>
                <a:tc>
                  <a: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lang="ar-SA" sz="1400" b="1" noProof="0" dirty="0">
                          <a:solidFill>
                            <a:schemeClr val="bg1"/>
                          </a:solidFill>
                        </a:rPr>
                        <a:t>الأولوية</a:t>
                      </a:r>
                      <a:endParaRPr lang="ar-SA" sz="1400" b="1" noProof="0" dirty="0">
                        <a:solidFill>
                          <a:schemeClr val="bg1"/>
                        </a:solidFill>
                        <a:latin typeface="+mj-lt"/>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solidFill>
                      <a:schemeClr val="accent1"/>
                    </a:solidFill>
                  </a:tcPr>
                </a:tc>
                <a:tc gridSpan="2">
                  <a: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lang="ar-SA" sz="1400" b="1" noProof="0" dirty="0">
                          <a:solidFill>
                            <a:schemeClr val="bg1"/>
                          </a:solidFill>
                        </a:rPr>
                        <a:t>التحليل لكل فجوة </a:t>
                      </a:r>
                      <a:endParaRPr lang="ar-SA" sz="1400" b="1" noProof="0" dirty="0">
                        <a:solidFill>
                          <a:schemeClr val="bg1"/>
                        </a:solidFill>
                        <a:latin typeface="+mj-lt"/>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solidFill>
                      <a:schemeClr val="accent1"/>
                    </a:solidFill>
                  </a:tcPr>
                </a:tc>
                <a:tc hMerge="1">
                  <a:txBody>
                    <a:bodyPr/>
                    <a:lstStyle/>
                    <a:p>
                      <a:endParaRPr lang="en-US"/>
                    </a:p>
                  </a:txBody>
                  <a:tcPr/>
                </a:tc>
                <a:tc>
                  <a:txBody>
                    <a:bodyPr/>
                    <a:lstStyle/>
                    <a:p>
                      <a:pPr algn="ctr" rtl="1"/>
                      <a:r>
                        <a:rPr lang="ar-SA" sz="1400" b="1" noProof="0" dirty="0">
                          <a:solidFill>
                            <a:schemeClr val="bg1"/>
                          </a:solidFill>
                        </a:rPr>
                        <a:t>الفجوة</a:t>
                      </a:r>
                      <a:endParaRPr lang="ar-SA" sz="1400" b="1" noProof="0" dirty="0">
                        <a:solidFill>
                          <a:schemeClr val="bg1"/>
                        </a:solidFill>
                        <a:latin typeface="+mj-lt"/>
                      </a:endParaRPr>
                    </a:p>
                  </a:txBody>
                  <a:tcPr anchor="ctr">
                    <a:lnL w="12700" cap="flat" cmpd="sng" algn="ctr">
                      <a:solidFill>
                        <a:schemeClr val="bg1"/>
                      </a:solidFill>
                      <a:prstDash val="solid"/>
                      <a:round/>
                      <a:headEnd type="none" w="med" len="med"/>
                      <a:tailEnd type="none" w="med" len="med"/>
                    </a:lnL>
                    <a:lnR w="12700" cap="flat" cmpd="sng" algn="ctr">
                      <a:noFill/>
                      <a:prstDash val="solid"/>
                      <a:round/>
                      <a:headEnd type="none" w="med" len="med"/>
                      <a:tailEnd type="none" w="med" len="med"/>
                    </a:lnR>
                    <a:solidFill>
                      <a:schemeClr val="accent1"/>
                    </a:solidFill>
                  </a:tcPr>
                </a:tc>
                <a:extLst>
                  <a:ext uri="{0D108BD9-81ED-4DB2-BD59-A6C34878D82A}">
                    <a16:rowId xmlns:a16="http://schemas.microsoft.com/office/drawing/2014/main" val="3304685178"/>
                  </a:ext>
                </a:extLst>
              </a:tr>
              <a:tr h="0">
                <a:tc rowSpan="4">
                  <a:txBody>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lang="ar-SA" sz="1400" noProof="0" dirty="0"/>
                        <a:t>ملف حصر الأعمال ، دراسة وثائق الأعمال للجهة المتوفرة بالوضع الحالي ، ورش العمل لحصر الأعمال مع الوحدات الإدارية المعنية ،تطلعات أصحاب المصلحة</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B w="12700" cap="flat" cmpd="sng" algn="ctr">
                      <a:solidFill>
                        <a:schemeClr val="accent1"/>
                      </a:solidFill>
                      <a:prstDash val="solid"/>
                      <a:round/>
                      <a:headEnd type="none" w="med" len="med"/>
                      <a:tailEnd type="none" w="med" len="med"/>
                    </a:lnB>
                  </a:tcPr>
                </a:tc>
                <a:tc rowSpan="4">
                  <a:txBody>
                    <a:bodyPr/>
                    <a:lstStyle/>
                    <a:p>
                      <a:pPr marL="0" marR="0" lvl="0" indent="0" algn="ctr" defTabSz="914400" rtl="1" eaLnBrk="1" fontAlgn="auto" latinLnBrk="0" hangingPunct="1">
                        <a:lnSpc>
                          <a:spcPct val="100000"/>
                        </a:lnSpc>
                        <a:spcBef>
                          <a:spcPts val="0"/>
                        </a:spcBef>
                        <a:spcAft>
                          <a:spcPts val="0"/>
                        </a:spcAft>
                        <a:buClrTx/>
                        <a:buSzTx/>
                        <a:buFont typeface="Arial" panose="020B0604020202020204" pitchFamily="34" charset="0"/>
                        <a:buNone/>
                        <a:tabLst/>
                        <a:defRPr/>
                      </a:pPr>
                      <a:r>
                        <a:rPr lang="ar-SA" sz="1400" noProof="0" dirty="0"/>
                        <a:t>عالي</a:t>
                      </a:r>
                    </a:p>
                  </a:txBody>
                  <a:tcPr anchor="ctr">
                    <a:lnL w="12700" cap="flat" cmpd="sng" algn="ctr">
                      <a:noFill/>
                      <a:prstDash val="solid"/>
                      <a:round/>
                      <a:headEnd type="none" w="med" len="med"/>
                      <a:tailEnd type="none" w="med" len="med"/>
                    </a:lnL>
                    <a:lnR w="12700" cap="flat" cmpd="sng" algn="ctr">
                      <a:solidFill>
                        <a:schemeClr val="bg1"/>
                      </a:solidFill>
                      <a:prstDash val="solid"/>
                      <a:round/>
                      <a:headEnd type="none" w="med" len="med"/>
                      <a:tailEnd type="none" w="med" len="med"/>
                    </a:lnR>
                    <a:lnB w="12700" cap="flat" cmpd="sng" algn="ctr">
                      <a:solidFill>
                        <a:schemeClr val="accent1"/>
                      </a:solidFill>
                      <a:prstDash val="solid"/>
                      <a:round/>
                      <a:headEnd type="none" w="med" len="med"/>
                      <a:tailEnd type="none" w="med" len="med"/>
                    </a:lnB>
                    <a:solidFill>
                      <a:schemeClr val="bg1">
                        <a:lumMod val="95000"/>
                      </a:schemeClr>
                    </a:solidFill>
                  </a:tcPr>
                </a:tc>
                <a:tc rowSpan="4">
                  <a:txBody>
                    <a:bodyPr/>
                    <a:lstStyle/>
                    <a:p>
                      <a:pPr marL="0" marR="0" lvl="0" indent="0" algn="ctr" defTabSz="914400" rtl="1" eaLnBrk="1" fontAlgn="auto" latinLnBrk="0" hangingPunct="1">
                        <a:lnSpc>
                          <a:spcPct val="100000"/>
                        </a:lnSpc>
                        <a:spcBef>
                          <a:spcPts val="0"/>
                        </a:spcBef>
                        <a:spcAft>
                          <a:spcPts val="0"/>
                        </a:spcAft>
                        <a:buClrTx/>
                        <a:buSzTx/>
                        <a:buFont typeface="Arial" panose="020B0604020202020204" pitchFamily="34" charset="0"/>
                        <a:buNone/>
                        <a:tabLst/>
                        <a:defRPr/>
                      </a:pPr>
                      <a:r>
                        <a:rPr lang="ar-SA" sz="1400" noProof="0" dirty="0"/>
                        <a:t>عالي</a:t>
                      </a:r>
                    </a:p>
                  </a:txBody>
                  <a:tcPr anchor="ctr">
                    <a:lnL w="12700" cap="flat" cmpd="sng" algn="ctr">
                      <a:solidFill>
                        <a:schemeClr val="bg1"/>
                      </a:solidFill>
                      <a:prstDash val="solid"/>
                      <a:round/>
                      <a:headEnd type="none" w="med" len="med"/>
                      <a:tailEnd type="none" w="med" len="med"/>
                    </a:lnL>
                    <a:lnR w="12700" cap="flat" cmpd="sng" algn="ctr">
                      <a:noFill/>
                      <a:prstDash val="solid"/>
                      <a:round/>
                      <a:headEnd type="none" w="med" len="med"/>
                      <a:tailEnd type="none" w="med" len="med"/>
                    </a:lnR>
                    <a:lnB w="12700" cap="flat" cmpd="sng" algn="ctr">
                      <a:solidFill>
                        <a:schemeClr val="accent1"/>
                      </a:solidFill>
                      <a:prstDash val="solid"/>
                      <a:round/>
                      <a:headEnd type="none" w="med" len="med"/>
                      <a:tailEnd type="none" w="med" len="med"/>
                    </a:lnB>
                    <a:solidFill>
                      <a:schemeClr val="bg1">
                        <a:lumMod val="95000"/>
                      </a:schemeClr>
                    </a:solidFill>
                  </a:tcPr>
                </a:tc>
                <a:tc>
                  <a:txBody>
                    <a:bodyPr/>
                    <a:lstStyle/>
                    <a:p>
                      <a:pPr marL="0" marR="0" lvl="0" indent="0" algn="just" defTabSz="914400" rtl="1" eaLnBrk="1" fontAlgn="auto" latinLnBrk="0" hangingPunct="1">
                        <a:lnSpc>
                          <a:spcPct val="100000"/>
                        </a:lnSpc>
                        <a:spcBef>
                          <a:spcPts val="0"/>
                        </a:spcBef>
                        <a:spcAft>
                          <a:spcPts val="0"/>
                        </a:spcAft>
                        <a:buClrTx/>
                        <a:buSzTx/>
                        <a:buFont typeface="Arial" panose="020B0604020202020204" pitchFamily="34" charset="0"/>
                        <a:buNone/>
                        <a:tabLst/>
                        <a:defRPr/>
                      </a:pPr>
                      <a:r>
                        <a:rPr lang="ar-SA" sz="1200" noProof="0" dirty="0">
                          <a:latin typeface="Sakkal Majalla" panose="02000000000000000000" pitchFamily="2" charset="-78"/>
                          <a:cs typeface="Sakkal Majalla" panose="02000000000000000000" pitchFamily="2" charset="-78"/>
                        </a:rPr>
                        <a:t>ضرورة إضافة ميزة وخيارات طرق الدفع الإضافية  (أبل باي ، سامسونج باي ، </a:t>
                      </a:r>
                      <a:r>
                        <a:rPr lang="ar-SA" sz="1200" noProof="0" dirty="0" err="1">
                          <a:latin typeface="Sakkal Majalla" panose="02000000000000000000" pitchFamily="2" charset="-78"/>
                          <a:cs typeface="Sakkal Majalla" panose="02000000000000000000" pitchFamily="2" charset="-78"/>
                        </a:rPr>
                        <a:t>Stc</a:t>
                      </a:r>
                      <a:r>
                        <a:rPr lang="ar-SA" sz="1200" noProof="0" dirty="0">
                          <a:latin typeface="Sakkal Majalla" panose="02000000000000000000" pitchFamily="2" charset="-78"/>
                          <a:cs typeface="Sakkal Majalla" panose="02000000000000000000" pitchFamily="2" charset="-78"/>
                        </a:rPr>
                        <a:t> </a:t>
                      </a:r>
                      <a:r>
                        <a:rPr lang="ar-SA" sz="1200" noProof="0" dirty="0" err="1">
                          <a:latin typeface="Sakkal Majalla" panose="02000000000000000000" pitchFamily="2" charset="-78"/>
                          <a:cs typeface="Sakkal Majalla" panose="02000000000000000000" pitchFamily="2" charset="-78"/>
                        </a:rPr>
                        <a:t>Pay</a:t>
                      </a:r>
                      <a:r>
                        <a:rPr lang="ar-SA" sz="1200" noProof="0" dirty="0">
                          <a:latin typeface="Sakkal Majalla" panose="02000000000000000000" pitchFamily="2" charset="-78"/>
                          <a:cs typeface="Sakkal Majalla" panose="02000000000000000000" pitchFamily="2" charset="-78"/>
                        </a:rPr>
                        <a:t> وغيرها ) في أنظمة ومنصات الهيئة التي تتطلب الدفع مثل (نظام التسجيل (تراس) ، وغيرها من الأنظمة)</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B w="12700" cap="flat" cmpd="sng" algn="ctr">
                      <a:solidFill>
                        <a:schemeClr val="bg1">
                          <a:lumMod val="85000"/>
                        </a:schemeClr>
                      </a:solidFill>
                      <a:prstDash val="solid"/>
                      <a:round/>
                      <a:headEnd type="none" w="med" len="med"/>
                      <a:tailEnd type="none" w="med" len="med"/>
                    </a:lnB>
                  </a:tcPr>
                </a:tc>
                <a:tc>
                  <a:txBody>
                    <a:bodyPr/>
                    <a:lstStyle/>
                    <a:p>
                      <a:pPr marL="0" marR="0" lvl="0" indent="0" algn="ctr" defTabSz="914400" rtl="1" eaLnBrk="1" fontAlgn="auto" latinLnBrk="0" hangingPunct="1">
                        <a:lnSpc>
                          <a:spcPct val="100000"/>
                        </a:lnSpc>
                        <a:spcBef>
                          <a:spcPts val="0"/>
                        </a:spcBef>
                        <a:spcAft>
                          <a:spcPts val="0"/>
                        </a:spcAft>
                        <a:buClrTx/>
                        <a:buSzTx/>
                        <a:buFont typeface="Arial" panose="020B0604020202020204" pitchFamily="34" charset="0"/>
                        <a:buNone/>
                        <a:tabLst/>
                        <a:defRPr/>
                      </a:pPr>
                      <a:r>
                        <a:rPr lang="ar-SA" sz="1400" b="1" noProof="0" dirty="0">
                          <a:solidFill>
                            <a:schemeClr val="accent1"/>
                          </a:solidFill>
                        </a:rPr>
                        <a:t>الوصف</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B w="12700" cap="flat" cmpd="sng" algn="ctr">
                      <a:solidFill>
                        <a:schemeClr val="bg1">
                          <a:lumMod val="85000"/>
                        </a:schemeClr>
                      </a:solidFill>
                      <a:prstDash val="solid"/>
                      <a:round/>
                      <a:headEnd type="none" w="med" len="med"/>
                      <a:tailEnd type="none" w="med" len="med"/>
                    </a:lnB>
                    <a:solidFill>
                      <a:schemeClr val="bg1">
                        <a:lumMod val="95000"/>
                      </a:schemeClr>
                    </a:solidFill>
                  </a:tcPr>
                </a:tc>
                <a:tc rowSpan="4">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ar-SA" sz="1600" b="1" noProof="0" dirty="0"/>
                        <a:t>GAP-B-29</a:t>
                      </a:r>
                    </a:p>
                    <a:p>
                      <a:pPr marL="0" marR="0" lvl="0" indent="0" algn="r" defTabSz="914400" rtl="1" eaLnBrk="1" fontAlgn="auto" latinLnBrk="0" hangingPunct="1">
                        <a:lnSpc>
                          <a:spcPct val="100000"/>
                        </a:lnSpc>
                        <a:spcBef>
                          <a:spcPts val="0"/>
                        </a:spcBef>
                        <a:spcAft>
                          <a:spcPts val="0"/>
                        </a:spcAft>
                        <a:buClrTx/>
                        <a:buSzTx/>
                        <a:buFontTx/>
                        <a:buNone/>
                        <a:tabLst/>
                        <a:defRPr/>
                      </a:pPr>
                      <a:r>
                        <a:rPr lang="ar-SA" sz="1400" b="1" kern="1200" noProof="0" dirty="0">
                          <a:solidFill>
                            <a:schemeClr val="tx1"/>
                          </a:solidFill>
                          <a:effectLst/>
                          <a:latin typeface="+mn-lt"/>
                          <a:ea typeface="+mn-ea"/>
                          <a:cs typeface="+mn-cs"/>
                        </a:rPr>
                        <a:t>ضرورة إضافة ميزة وخيارات طرق الدفع الإضافية </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B w="12700" cap="flat" cmpd="sng" algn="ctr">
                      <a:solidFill>
                        <a:schemeClr val="accent1"/>
                      </a:solidFill>
                      <a:prstDash val="solid"/>
                      <a:round/>
                      <a:headEnd type="none" w="med" len="med"/>
                      <a:tailEnd type="none" w="med" len="med"/>
                    </a:lnB>
                  </a:tcPr>
                </a:tc>
                <a:extLst>
                  <a:ext uri="{0D108BD9-81ED-4DB2-BD59-A6C34878D82A}">
                    <a16:rowId xmlns:a16="http://schemas.microsoft.com/office/drawing/2014/main" val="1128065702"/>
                  </a:ext>
                </a:extLst>
              </a:tr>
              <a:tr h="0">
                <a:tc vMerge="1">
                  <a:txBody>
                    <a:bodyPr/>
                    <a:lstStyle/>
                    <a:p>
                      <a:endParaRPr lang="en-US"/>
                    </a:p>
                  </a:txBody>
                  <a:tcPr/>
                </a:tc>
                <a:tc vMerge="1">
                  <a:txBody>
                    <a:bodyPr/>
                    <a:lstStyle/>
                    <a:p>
                      <a:endParaRPr lang="en-US"/>
                    </a:p>
                  </a:txBody>
                  <a:tcPr/>
                </a:tc>
                <a:tc vMerge="1">
                  <a:txBody>
                    <a:bodyPr/>
                    <a:lstStyle/>
                    <a:p>
                      <a:endParaRPr lang="en-US"/>
                    </a:p>
                  </a:txBody>
                  <a:tcPr/>
                </a:tc>
                <a:tc>
                  <a:txBody>
                    <a:bodyPr/>
                    <a:lstStyle/>
                    <a:p>
                      <a:pPr marL="0" marR="0" lvl="0" indent="0" algn="just" defTabSz="914400" rtl="1" eaLnBrk="1" fontAlgn="auto" latinLnBrk="0" hangingPunct="1">
                        <a:lnSpc>
                          <a:spcPct val="100000"/>
                        </a:lnSpc>
                        <a:spcBef>
                          <a:spcPts val="0"/>
                        </a:spcBef>
                        <a:spcAft>
                          <a:spcPts val="0"/>
                        </a:spcAft>
                        <a:buClrTx/>
                        <a:buSzTx/>
                        <a:buFont typeface="Arial" panose="020B0604020202020204" pitchFamily="34" charset="0"/>
                        <a:buNone/>
                        <a:tabLst/>
                        <a:defRPr/>
                      </a:pPr>
                      <a:r>
                        <a:rPr lang="ar-SA" sz="1200" noProof="0" dirty="0"/>
                        <a:t>شعور العملاء بالإحباط بسبب نقص خيارات الدفع المفضلة لديهم ، احتمالية فقدان شريحة كبيرة من العملاء الذين يعتمدون على هذه الوسائل ، انخفاض الإيرادات نتيجة تفضيل العملاء لمنصات تقدم خيارات دفع متعددة ، سيكون هناك انطباع بأن الخدمة أو المنصة غير مواكبة للتقنيات الحديثة</a:t>
                      </a:r>
                      <a:endParaRPr lang="ar-SA" sz="1200" kern="1200" noProof="0" dirty="0">
                        <a:solidFill>
                          <a:schemeClr val="tx1"/>
                        </a:solidFill>
                        <a:latin typeface="Sakkal Majalla" panose="02000000000000000000" pitchFamily="2" charset="-78"/>
                        <a:ea typeface="+mn-ea"/>
                        <a:cs typeface="Sakkal Majalla" panose="02000000000000000000" pitchFamily="2" charset="-78"/>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marL="0" marR="0" lvl="0" indent="0" algn="ctr" defTabSz="914400" rtl="1" eaLnBrk="1" fontAlgn="auto" latinLnBrk="0" hangingPunct="1">
                        <a:lnSpc>
                          <a:spcPct val="100000"/>
                        </a:lnSpc>
                        <a:spcBef>
                          <a:spcPts val="0"/>
                        </a:spcBef>
                        <a:spcAft>
                          <a:spcPts val="0"/>
                        </a:spcAft>
                        <a:buClrTx/>
                        <a:buSzTx/>
                        <a:buFont typeface="Arial" panose="020B0604020202020204" pitchFamily="34" charset="0"/>
                        <a:buNone/>
                        <a:tabLst/>
                        <a:defRPr/>
                      </a:pPr>
                      <a:r>
                        <a:rPr lang="ar-SA" sz="1400" b="1" kern="1200" noProof="0" dirty="0">
                          <a:solidFill>
                            <a:schemeClr val="accent1"/>
                          </a:solidFill>
                        </a:rPr>
                        <a:t>الأثر الحالي</a:t>
                      </a:r>
                      <a:endParaRPr lang="ar-SA" sz="1400" b="1" noProof="0" dirty="0">
                        <a:solidFill>
                          <a:schemeClr val="accent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lumMod val="95000"/>
                      </a:schemeClr>
                    </a:solidFill>
                  </a:tcPr>
                </a:tc>
                <a:tc vMerge="1">
                  <a:txBody>
                    <a:bodyPr/>
                    <a:lstStyle/>
                    <a:p>
                      <a:endParaRPr lang="en-US"/>
                    </a:p>
                  </a:txBody>
                  <a:tcPr/>
                </a:tc>
                <a:extLst>
                  <a:ext uri="{0D108BD9-81ED-4DB2-BD59-A6C34878D82A}">
                    <a16:rowId xmlns:a16="http://schemas.microsoft.com/office/drawing/2014/main" val="1163892829"/>
                  </a:ext>
                </a:extLst>
              </a:tr>
              <a:tr h="0">
                <a:tc vMerge="1">
                  <a:txBody>
                    <a:bodyPr/>
                    <a:lstStyle/>
                    <a:p>
                      <a:endParaRPr lang="en-US"/>
                    </a:p>
                  </a:txBody>
                  <a:tcPr/>
                </a:tc>
                <a:tc vMerge="1">
                  <a:txBody>
                    <a:bodyPr/>
                    <a:lstStyle/>
                    <a:p>
                      <a:endParaRPr lang="en-US"/>
                    </a:p>
                  </a:txBody>
                  <a:tcPr/>
                </a:tc>
                <a:tc vMerge="1">
                  <a:txBody>
                    <a:bodyPr/>
                    <a:lstStyle/>
                    <a:p>
                      <a:endParaRPr lang="en-US"/>
                    </a:p>
                  </a:txBody>
                  <a:tcPr/>
                </a:tc>
                <a:tc>
                  <a:txBody>
                    <a:bodyPr/>
                    <a:lstStyle/>
                    <a:p>
                      <a:pPr marL="0" marR="0" lvl="0" indent="0" algn="just" defTabSz="914400" rtl="1" eaLnBrk="1" fontAlgn="auto" latinLnBrk="0" hangingPunct="1">
                        <a:lnSpc>
                          <a:spcPct val="100000"/>
                        </a:lnSpc>
                        <a:spcBef>
                          <a:spcPts val="0"/>
                        </a:spcBef>
                        <a:spcAft>
                          <a:spcPts val="0"/>
                        </a:spcAft>
                        <a:buClrTx/>
                        <a:buSzTx/>
                        <a:buFont typeface="Arial" panose="020B0604020202020204" pitchFamily="34" charset="0"/>
                        <a:buNone/>
                        <a:tabLst/>
                        <a:defRPr/>
                      </a:pPr>
                      <a:r>
                        <a:rPr lang="ar-SA" sz="1200" noProof="0" dirty="0"/>
                        <a:t>زيادة رضا العملاء وولائهم بسبب توفير خيارات دفع مرنة وسهلة الاستخدام ، بناء صورة عصرية وحديثة للهيئة بسبب مواكبة للتطورات التقنية</a:t>
                      </a:r>
                      <a:endParaRPr lang="ar-SA" sz="1200" kern="1200" noProof="0" dirty="0">
                        <a:solidFill>
                          <a:schemeClr val="tx1"/>
                        </a:solidFill>
                        <a:latin typeface="Sakkal Majalla" panose="02000000000000000000" pitchFamily="2" charset="-78"/>
                        <a:ea typeface="+mn-ea"/>
                        <a:cs typeface="Sakkal Majalla" panose="02000000000000000000" pitchFamily="2" charset="-78"/>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marL="0" marR="0" lvl="0" indent="0" algn="ctr" defTabSz="914400" rtl="1" eaLnBrk="1" fontAlgn="auto" latinLnBrk="0" hangingPunct="1">
                        <a:lnSpc>
                          <a:spcPct val="100000"/>
                        </a:lnSpc>
                        <a:spcBef>
                          <a:spcPts val="0"/>
                        </a:spcBef>
                        <a:spcAft>
                          <a:spcPts val="0"/>
                        </a:spcAft>
                        <a:buClrTx/>
                        <a:buSzTx/>
                        <a:buFont typeface="Arial" panose="020B0604020202020204" pitchFamily="34" charset="0"/>
                        <a:buNone/>
                        <a:tabLst/>
                        <a:defRPr/>
                      </a:pPr>
                      <a:r>
                        <a:rPr lang="ar-SA" sz="1400" b="1" noProof="0" dirty="0">
                          <a:solidFill>
                            <a:schemeClr val="accent1"/>
                          </a:solidFill>
                        </a:rPr>
                        <a:t>الأثر بعد الردم (المعالجة)</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lumMod val="95000"/>
                      </a:schemeClr>
                    </a:solidFill>
                  </a:tcPr>
                </a:tc>
                <a:tc vMerge="1">
                  <a:txBody>
                    <a:bodyPr/>
                    <a:lstStyle/>
                    <a:p>
                      <a:endParaRPr lang="en-US"/>
                    </a:p>
                  </a:txBody>
                  <a:tcPr/>
                </a:tc>
                <a:extLst>
                  <a:ext uri="{0D108BD9-81ED-4DB2-BD59-A6C34878D82A}">
                    <a16:rowId xmlns:a16="http://schemas.microsoft.com/office/drawing/2014/main" val="1973569126"/>
                  </a:ext>
                </a:extLst>
              </a:tr>
              <a:tr h="0">
                <a:tc vMerge="1">
                  <a:txBody>
                    <a:bodyPr/>
                    <a:lstStyle/>
                    <a:p>
                      <a:endParaRPr lang="en-US"/>
                    </a:p>
                  </a:txBody>
                  <a:tcPr/>
                </a:tc>
                <a:tc vMerge="1">
                  <a:txBody>
                    <a:bodyPr/>
                    <a:lstStyle/>
                    <a:p>
                      <a:endParaRPr lang="en-US"/>
                    </a:p>
                  </a:txBody>
                  <a:tcPr/>
                </a:tc>
                <a:tc vMerge="1">
                  <a:txBody>
                    <a:bodyPr/>
                    <a:lstStyle/>
                    <a:p>
                      <a:endParaRPr lang="en-US"/>
                    </a:p>
                  </a:txBody>
                  <a:tcPr/>
                </a:tc>
                <a:tc>
                  <a:txBody>
                    <a:bodyPr/>
                    <a:lstStyle/>
                    <a:p>
                      <a:pPr marL="0" marR="0" lvl="0" indent="0" algn="just" defTabSz="914400" rtl="1" eaLnBrk="1" fontAlgn="auto" latinLnBrk="0" hangingPunct="1">
                        <a:lnSpc>
                          <a:spcPct val="100000"/>
                        </a:lnSpc>
                        <a:spcBef>
                          <a:spcPts val="0"/>
                        </a:spcBef>
                        <a:spcAft>
                          <a:spcPts val="0"/>
                        </a:spcAft>
                        <a:buClrTx/>
                        <a:buSzTx/>
                        <a:buFont typeface="Arial" panose="020B0604020202020204" pitchFamily="34" charset="0"/>
                        <a:buNone/>
                        <a:tabLst/>
                        <a:defRPr/>
                      </a:pPr>
                      <a:r>
                        <a:rPr lang="ar-SA" sz="1200" noProof="0" dirty="0"/>
                        <a:t>دراسة الخيارات المتاحة ، التأكد من أن أنظمة الهيئة تدعم التكامل مع بوابات الدفع الحديثة ، التكامل مع بوابات الدفع المختلفة</a:t>
                      </a:r>
                      <a:endParaRPr lang="ar-SA" sz="1200" kern="1200" noProof="0" dirty="0">
                        <a:solidFill>
                          <a:schemeClr val="tx1"/>
                        </a:solidFill>
                        <a:latin typeface="Sakkal Majalla" panose="02000000000000000000" pitchFamily="2" charset="-78"/>
                        <a:ea typeface="+mn-ea"/>
                        <a:cs typeface="Sakkal Majalla" panose="02000000000000000000" pitchFamily="2" charset="-78"/>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marL="0" marR="0" lvl="0" indent="0" algn="ctr" defTabSz="914400" rtl="1" eaLnBrk="1" fontAlgn="auto" latinLnBrk="0" hangingPunct="1">
                        <a:lnSpc>
                          <a:spcPct val="100000"/>
                        </a:lnSpc>
                        <a:spcBef>
                          <a:spcPts val="0"/>
                        </a:spcBef>
                        <a:spcAft>
                          <a:spcPts val="0"/>
                        </a:spcAft>
                        <a:buClrTx/>
                        <a:buSzTx/>
                        <a:buFont typeface="Arial" panose="020B0604020202020204" pitchFamily="34" charset="0"/>
                        <a:buNone/>
                        <a:tabLst/>
                        <a:defRPr/>
                      </a:pPr>
                      <a:r>
                        <a:rPr lang="ar-SA" sz="1400" b="1" noProof="0" dirty="0">
                          <a:solidFill>
                            <a:schemeClr val="accent1"/>
                          </a:solidFill>
                        </a:rPr>
                        <a:t>تغطية الفجوة </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accent1"/>
                      </a:solidFill>
                      <a:prstDash val="solid"/>
                      <a:round/>
                      <a:headEnd type="none" w="med" len="med"/>
                      <a:tailEnd type="none" w="med" len="med"/>
                    </a:lnB>
                    <a:solidFill>
                      <a:schemeClr val="bg1">
                        <a:lumMod val="95000"/>
                      </a:schemeClr>
                    </a:solidFill>
                  </a:tcPr>
                </a:tc>
                <a:tc vMerge="1">
                  <a:txBody>
                    <a:bodyPr/>
                    <a:lstStyle/>
                    <a:p>
                      <a:endParaRPr lang="en-US"/>
                    </a:p>
                  </a:txBody>
                  <a:tcPr/>
                </a:tc>
                <a:extLst>
                  <a:ext uri="{0D108BD9-81ED-4DB2-BD59-A6C34878D82A}">
                    <a16:rowId xmlns:a16="http://schemas.microsoft.com/office/drawing/2014/main" val="4011636746"/>
                  </a:ext>
                </a:extLst>
              </a:tr>
            </a:tbl>
          </a:graphicData>
        </a:graphic>
      </p:graphicFrame>
      <p:sp>
        <p:nvSpPr>
          <p:cNvPr id="7" name="TextBox 6">
            <a:extLst>
              <a:ext uri="{FF2B5EF4-FFF2-40B4-BE49-F238E27FC236}">
                <a16:creationId xmlns:a16="http://schemas.microsoft.com/office/drawing/2014/main" id="{78FFBCC9-9528-43EE-3448-66EDC46CF782}"/>
              </a:ext>
            </a:extLst>
          </p:cNvPr>
          <p:cNvSpPr txBox="1"/>
          <p:nvPr/>
        </p:nvSpPr>
        <p:spPr>
          <a:xfrm>
            <a:off x="609600" y="705358"/>
            <a:ext cx="10972800" cy="375487"/>
          </a:xfrm>
          <a:prstGeom prst="rect">
            <a:avLst/>
          </a:prstGeom>
          <a:noFill/>
        </p:spPr>
        <p:txBody>
          <a:bodyPr wrap="square">
            <a:spAutoFit/>
          </a:bodyPr>
          <a:lstStyle/>
          <a:p>
            <a:pPr algn="r" rtl="1">
              <a:lnSpc>
                <a:spcPct val="115000"/>
              </a:lnSpc>
              <a:spcAft>
                <a:spcPts val="1000"/>
              </a:spcAft>
            </a:pPr>
            <a:r>
              <a:rPr lang="ar-SA" sz="1600" noProof="0" dirty="0">
                <a:solidFill>
                  <a:srgbClr val="000000"/>
                </a:solidFill>
                <a:latin typeface="Sakkal Majalla" panose="02000000000000000000" pitchFamily="2" charset="-78"/>
                <a:ea typeface="Sakkal Majalla" panose="02000000000000000000" pitchFamily="2" charset="-78"/>
                <a:cs typeface="Sakkal Majalla" panose="02000000000000000000" pitchFamily="2" charset="-78"/>
              </a:rPr>
              <a:t>يهدف هذا القسم من الوثيقة إلى تقديم الملاحظات الخاصة بالوضع الحالي لبنية الأعمال مع ذكر التوصيات  والتحسينات المفترض تطبيقها في الوضع المستقبلي</a:t>
            </a:r>
          </a:p>
        </p:txBody>
      </p:sp>
    </p:spTree>
    <p:extLst>
      <p:ext uri="{BB962C8B-B14F-4D97-AF65-F5344CB8AC3E}">
        <p14:creationId xmlns:p14="http://schemas.microsoft.com/office/powerpoint/2010/main" val="191253317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a:xfrm>
            <a:off x="609601" y="247310"/>
            <a:ext cx="10972800" cy="666261"/>
          </a:xfrm>
        </p:spPr>
        <p:txBody>
          <a:bodyPr/>
          <a:lstStyle/>
          <a:p>
            <a:r>
              <a:rPr lang="ar-SA" noProof="0" dirty="0"/>
              <a:t>ملخص تحليل الفجوات لبنية الأعمال </a:t>
            </a:r>
          </a:p>
        </p:txBody>
      </p:sp>
      <p:sp>
        <p:nvSpPr>
          <p:cNvPr id="3" name="Slide Number Placeholder 2">
            <a:extLst>
              <a:ext uri="{FF2B5EF4-FFF2-40B4-BE49-F238E27FC236}">
                <a16:creationId xmlns:a16="http://schemas.microsoft.com/office/drawing/2014/main" id="{A63A027D-6EA1-E9F6-6212-7D45811B8DC3}"/>
              </a:ext>
            </a:extLst>
          </p:cNvPr>
          <p:cNvSpPr>
            <a:spLocks noGrp="1"/>
          </p:cNvSpPr>
          <p:nvPr>
            <p:ph type="sldNum" sz="quarter" idx="12"/>
          </p:nvPr>
        </p:nvSpPr>
        <p:spPr>
          <a:xfrm>
            <a:off x="655319" y="6567058"/>
            <a:ext cx="466471" cy="290942"/>
          </a:xfrm>
        </p:spPr>
        <p:txBody>
          <a:bodyPr/>
          <a:lstStyle/>
          <a:p>
            <a:fld id="{0BE4EC83-A869-464E-AE9F-881796FB085E}" type="slidenum">
              <a:rPr lang="ar-SA" noProof="0" smtClean="0"/>
              <a:pPr/>
              <a:t>25</a:t>
            </a:fld>
            <a:endParaRPr lang="ar-SA" noProof="0" dirty="0"/>
          </a:p>
        </p:txBody>
      </p:sp>
      <p:graphicFrame>
        <p:nvGraphicFramePr>
          <p:cNvPr id="2" name="Table 1">
            <a:extLst>
              <a:ext uri="{FF2B5EF4-FFF2-40B4-BE49-F238E27FC236}">
                <a16:creationId xmlns:a16="http://schemas.microsoft.com/office/drawing/2014/main" id="{C47CAF5B-4215-4DCE-B225-BC1E66631900}"/>
              </a:ext>
            </a:extLst>
          </p:cNvPr>
          <p:cNvGraphicFramePr>
            <a:graphicFrameLocks noGrp="1"/>
          </p:cNvGraphicFramePr>
          <p:nvPr>
            <p:extLst>
              <p:ext uri="{D42A27DB-BD31-4B8C-83A1-F6EECF244321}">
                <p14:modId xmlns:p14="http://schemas.microsoft.com/office/powerpoint/2010/main" val="3298823214"/>
              </p:ext>
            </p:extLst>
          </p:nvPr>
        </p:nvGraphicFramePr>
        <p:xfrm>
          <a:off x="609600" y="1035636"/>
          <a:ext cx="10972802" cy="3413760"/>
        </p:xfrm>
        <a:graphic>
          <a:graphicData uri="http://schemas.openxmlformats.org/drawingml/2006/table">
            <a:tbl>
              <a:tblPr firstRow="1" bandRow="1">
                <a:tableStyleId>{2D5ABB26-0587-4C30-8999-92F81FD0307C}</a:tableStyleId>
              </a:tblPr>
              <a:tblGrid>
                <a:gridCol w="1828800">
                  <a:extLst>
                    <a:ext uri="{9D8B030D-6E8A-4147-A177-3AD203B41FA5}">
                      <a16:colId xmlns:a16="http://schemas.microsoft.com/office/drawing/2014/main" val="2801895674"/>
                    </a:ext>
                  </a:extLst>
                </a:gridCol>
                <a:gridCol w="738953">
                  <a:extLst>
                    <a:ext uri="{9D8B030D-6E8A-4147-A177-3AD203B41FA5}">
                      <a16:colId xmlns:a16="http://schemas.microsoft.com/office/drawing/2014/main" val="2976102064"/>
                    </a:ext>
                  </a:extLst>
                </a:gridCol>
                <a:gridCol w="838625">
                  <a:extLst>
                    <a:ext uri="{9D8B030D-6E8A-4147-A177-3AD203B41FA5}">
                      <a16:colId xmlns:a16="http://schemas.microsoft.com/office/drawing/2014/main" val="526736865"/>
                    </a:ext>
                  </a:extLst>
                </a:gridCol>
                <a:gridCol w="3862640">
                  <a:extLst>
                    <a:ext uri="{9D8B030D-6E8A-4147-A177-3AD203B41FA5}">
                      <a16:colId xmlns:a16="http://schemas.microsoft.com/office/drawing/2014/main" val="4106469564"/>
                    </a:ext>
                  </a:extLst>
                </a:gridCol>
                <a:gridCol w="923637">
                  <a:extLst>
                    <a:ext uri="{9D8B030D-6E8A-4147-A177-3AD203B41FA5}">
                      <a16:colId xmlns:a16="http://schemas.microsoft.com/office/drawing/2014/main" val="1154529574"/>
                    </a:ext>
                  </a:extLst>
                </a:gridCol>
                <a:gridCol w="2780147">
                  <a:extLst>
                    <a:ext uri="{9D8B030D-6E8A-4147-A177-3AD203B41FA5}">
                      <a16:colId xmlns:a16="http://schemas.microsoft.com/office/drawing/2014/main" val="1503598667"/>
                    </a:ext>
                  </a:extLst>
                </a:gridCol>
              </a:tblGrid>
              <a:tr h="0">
                <a:tc>
                  <a:txBody>
                    <a:bodyPr/>
                    <a:lstStyle/>
                    <a:p>
                      <a:pPr algn="ctr" rtl="1"/>
                      <a:r>
                        <a:rPr lang="ar-SA" sz="1400" b="1" noProof="0" dirty="0">
                          <a:solidFill>
                            <a:schemeClr val="bg1"/>
                          </a:solidFill>
                        </a:rPr>
                        <a:t>المصدر</a:t>
                      </a:r>
                      <a:endParaRPr lang="ar-SA" sz="1400" b="1" noProof="0" dirty="0">
                        <a:solidFill>
                          <a:schemeClr val="bg1"/>
                        </a:solidFill>
                        <a:latin typeface="+mj-lt"/>
                      </a:endParaRPr>
                    </a:p>
                  </a:txBody>
                  <a:tcPr anchor="ctr">
                    <a:lnL w="12700" cap="flat" cmpd="sng" algn="ctr">
                      <a:noFill/>
                      <a:prstDash val="solid"/>
                      <a:round/>
                      <a:headEnd type="none" w="med" len="med"/>
                      <a:tailEnd type="none" w="med" len="med"/>
                    </a:lnL>
                    <a:lnR w="12700" cap="flat" cmpd="sng" algn="ctr">
                      <a:solidFill>
                        <a:schemeClr val="bg1"/>
                      </a:solidFill>
                      <a:prstDash val="solid"/>
                      <a:round/>
                      <a:headEnd type="none" w="med" len="med"/>
                      <a:tailEnd type="none" w="med" len="med"/>
                    </a:lnR>
                    <a:solidFill>
                      <a:schemeClr val="accent1"/>
                    </a:solidFill>
                  </a:tcPr>
                </a:tc>
                <a:tc>
                  <a: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lang="ar-SA" sz="1400" b="1" noProof="0" dirty="0">
                          <a:solidFill>
                            <a:schemeClr val="bg1"/>
                          </a:solidFill>
                        </a:rPr>
                        <a:t>الأهمية</a:t>
                      </a:r>
                      <a:endParaRPr lang="ar-SA" sz="1400" b="1" noProof="0" dirty="0">
                        <a:solidFill>
                          <a:schemeClr val="bg1"/>
                        </a:solidFill>
                        <a:latin typeface="+mj-lt"/>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solidFill>
                      <a:schemeClr val="accent1"/>
                    </a:solidFill>
                  </a:tcPr>
                </a:tc>
                <a:tc>
                  <a: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lang="ar-SA" sz="1400" b="1" noProof="0" dirty="0">
                          <a:solidFill>
                            <a:schemeClr val="bg1"/>
                          </a:solidFill>
                        </a:rPr>
                        <a:t>الأولوية</a:t>
                      </a:r>
                      <a:endParaRPr lang="ar-SA" sz="1400" b="1" noProof="0" dirty="0">
                        <a:solidFill>
                          <a:schemeClr val="bg1"/>
                        </a:solidFill>
                        <a:latin typeface="+mj-lt"/>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solidFill>
                      <a:schemeClr val="accent1"/>
                    </a:solidFill>
                  </a:tcPr>
                </a:tc>
                <a:tc gridSpan="2">
                  <a: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lang="ar-SA" sz="1400" b="1" noProof="0" dirty="0">
                          <a:solidFill>
                            <a:schemeClr val="bg1"/>
                          </a:solidFill>
                        </a:rPr>
                        <a:t>التحليل لكل فجوة </a:t>
                      </a:r>
                      <a:endParaRPr lang="ar-SA" sz="1400" b="1" noProof="0" dirty="0">
                        <a:solidFill>
                          <a:schemeClr val="bg1"/>
                        </a:solidFill>
                        <a:latin typeface="+mj-lt"/>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solidFill>
                      <a:schemeClr val="accent1"/>
                    </a:solidFill>
                  </a:tcPr>
                </a:tc>
                <a:tc hMerge="1">
                  <a:txBody>
                    <a:bodyPr/>
                    <a:lstStyle/>
                    <a:p>
                      <a:endParaRPr lang="en-US"/>
                    </a:p>
                  </a:txBody>
                  <a:tcPr/>
                </a:tc>
                <a:tc>
                  <a:txBody>
                    <a:bodyPr/>
                    <a:lstStyle/>
                    <a:p>
                      <a:pPr algn="ctr" rtl="1"/>
                      <a:r>
                        <a:rPr lang="ar-SA" sz="1400" b="1" noProof="0" dirty="0">
                          <a:solidFill>
                            <a:schemeClr val="bg1"/>
                          </a:solidFill>
                        </a:rPr>
                        <a:t>الفجوة</a:t>
                      </a:r>
                      <a:endParaRPr lang="ar-SA" sz="1400" b="1" noProof="0" dirty="0">
                        <a:solidFill>
                          <a:schemeClr val="bg1"/>
                        </a:solidFill>
                        <a:latin typeface="+mj-lt"/>
                      </a:endParaRPr>
                    </a:p>
                  </a:txBody>
                  <a:tcPr anchor="ctr">
                    <a:lnL w="12700" cap="flat" cmpd="sng" algn="ctr">
                      <a:solidFill>
                        <a:schemeClr val="bg1"/>
                      </a:solidFill>
                      <a:prstDash val="solid"/>
                      <a:round/>
                      <a:headEnd type="none" w="med" len="med"/>
                      <a:tailEnd type="none" w="med" len="med"/>
                    </a:lnL>
                    <a:lnR w="12700" cap="flat" cmpd="sng" algn="ctr">
                      <a:noFill/>
                      <a:prstDash val="solid"/>
                      <a:round/>
                      <a:headEnd type="none" w="med" len="med"/>
                      <a:tailEnd type="none" w="med" len="med"/>
                    </a:lnR>
                    <a:solidFill>
                      <a:schemeClr val="accent1"/>
                    </a:solidFill>
                  </a:tcPr>
                </a:tc>
                <a:extLst>
                  <a:ext uri="{0D108BD9-81ED-4DB2-BD59-A6C34878D82A}">
                    <a16:rowId xmlns:a16="http://schemas.microsoft.com/office/drawing/2014/main" val="3304685178"/>
                  </a:ext>
                </a:extLst>
              </a:tr>
              <a:tr h="0">
                <a:tc rowSpan="4">
                  <a:txBody>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lang="ar-SA" sz="1400" noProof="0" dirty="0"/>
                        <a:t>ملف حصر الأعمال ، دراسة وثائق الأعمال للجهة المتوفرة بالوضع الحالي ، ورش العمل لحصر الأعمال مع الوحدات الإدارية المعنية ،تطلعات أصحاب المصلحة</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B w="12700" cap="flat" cmpd="sng" algn="ctr">
                      <a:solidFill>
                        <a:schemeClr val="accent1"/>
                      </a:solidFill>
                      <a:prstDash val="solid"/>
                      <a:round/>
                      <a:headEnd type="none" w="med" len="med"/>
                      <a:tailEnd type="none" w="med" len="med"/>
                    </a:lnB>
                  </a:tcPr>
                </a:tc>
                <a:tc rowSpan="4">
                  <a:txBody>
                    <a:bodyPr/>
                    <a:lstStyle/>
                    <a:p>
                      <a:pPr marL="0" marR="0" lvl="0" indent="0" algn="ctr" defTabSz="914400" rtl="1" eaLnBrk="1" fontAlgn="auto" latinLnBrk="0" hangingPunct="1">
                        <a:lnSpc>
                          <a:spcPct val="100000"/>
                        </a:lnSpc>
                        <a:spcBef>
                          <a:spcPts val="0"/>
                        </a:spcBef>
                        <a:spcAft>
                          <a:spcPts val="0"/>
                        </a:spcAft>
                        <a:buClrTx/>
                        <a:buSzTx/>
                        <a:buFont typeface="Arial" panose="020B0604020202020204" pitchFamily="34" charset="0"/>
                        <a:buNone/>
                        <a:tabLst/>
                        <a:defRPr/>
                      </a:pPr>
                      <a:r>
                        <a:rPr lang="ar-SA" sz="1400" noProof="0" dirty="0"/>
                        <a:t>عالي</a:t>
                      </a:r>
                    </a:p>
                  </a:txBody>
                  <a:tcPr anchor="ctr">
                    <a:lnL w="12700" cap="flat" cmpd="sng" algn="ctr">
                      <a:noFill/>
                      <a:prstDash val="solid"/>
                      <a:round/>
                      <a:headEnd type="none" w="med" len="med"/>
                      <a:tailEnd type="none" w="med" len="med"/>
                    </a:lnL>
                    <a:lnR w="12700" cap="flat" cmpd="sng" algn="ctr">
                      <a:solidFill>
                        <a:schemeClr val="bg1"/>
                      </a:solidFill>
                      <a:prstDash val="solid"/>
                      <a:round/>
                      <a:headEnd type="none" w="med" len="med"/>
                      <a:tailEnd type="none" w="med" len="med"/>
                    </a:lnR>
                    <a:lnB w="12700" cap="flat" cmpd="sng" algn="ctr">
                      <a:solidFill>
                        <a:schemeClr val="accent1"/>
                      </a:solidFill>
                      <a:prstDash val="solid"/>
                      <a:round/>
                      <a:headEnd type="none" w="med" len="med"/>
                      <a:tailEnd type="none" w="med" len="med"/>
                    </a:lnB>
                    <a:solidFill>
                      <a:schemeClr val="bg1">
                        <a:lumMod val="95000"/>
                      </a:schemeClr>
                    </a:solidFill>
                  </a:tcPr>
                </a:tc>
                <a:tc rowSpan="4">
                  <a:txBody>
                    <a:bodyPr/>
                    <a:lstStyle/>
                    <a:p>
                      <a:pPr marL="0" marR="0" lvl="0" indent="0" algn="ctr" defTabSz="914400" rtl="1" eaLnBrk="1" fontAlgn="auto" latinLnBrk="0" hangingPunct="1">
                        <a:lnSpc>
                          <a:spcPct val="100000"/>
                        </a:lnSpc>
                        <a:spcBef>
                          <a:spcPts val="0"/>
                        </a:spcBef>
                        <a:spcAft>
                          <a:spcPts val="0"/>
                        </a:spcAft>
                        <a:buClrTx/>
                        <a:buSzTx/>
                        <a:buFont typeface="Arial" panose="020B0604020202020204" pitchFamily="34" charset="0"/>
                        <a:buNone/>
                        <a:tabLst/>
                        <a:defRPr/>
                      </a:pPr>
                      <a:r>
                        <a:rPr lang="ar-SA" sz="1400" noProof="0" dirty="0"/>
                        <a:t>عالي</a:t>
                      </a:r>
                    </a:p>
                  </a:txBody>
                  <a:tcPr anchor="ctr">
                    <a:lnL w="12700" cap="flat" cmpd="sng" algn="ctr">
                      <a:solidFill>
                        <a:schemeClr val="bg1"/>
                      </a:solidFill>
                      <a:prstDash val="solid"/>
                      <a:round/>
                      <a:headEnd type="none" w="med" len="med"/>
                      <a:tailEnd type="none" w="med" len="med"/>
                    </a:lnL>
                    <a:lnR w="12700" cap="flat" cmpd="sng" algn="ctr">
                      <a:noFill/>
                      <a:prstDash val="solid"/>
                      <a:round/>
                      <a:headEnd type="none" w="med" len="med"/>
                      <a:tailEnd type="none" w="med" len="med"/>
                    </a:lnR>
                    <a:lnB w="12700" cap="flat" cmpd="sng" algn="ctr">
                      <a:solidFill>
                        <a:schemeClr val="accent1"/>
                      </a:solidFill>
                      <a:prstDash val="solid"/>
                      <a:round/>
                      <a:headEnd type="none" w="med" len="med"/>
                      <a:tailEnd type="none" w="med" len="med"/>
                    </a:lnB>
                    <a:solidFill>
                      <a:schemeClr val="bg1">
                        <a:lumMod val="95000"/>
                      </a:schemeClr>
                    </a:solidFill>
                  </a:tcPr>
                </a:tc>
                <a:tc>
                  <a:txBody>
                    <a:bodyPr/>
                    <a:lstStyle/>
                    <a:p>
                      <a:pPr marL="0" marR="0" lvl="0" indent="0" algn="just" defTabSz="914400" rtl="1" eaLnBrk="1" fontAlgn="auto" latinLnBrk="0" hangingPunct="1">
                        <a:lnSpc>
                          <a:spcPct val="100000"/>
                        </a:lnSpc>
                        <a:spcBef>
                          <a:spcPts val="0"/>
                        </a:spcBef>
                        <a:spcAft>
                          <a:spcPts val="0"/>
                        </a:spcAft>
                        <a:buClrTx/>
                        <a:buSzTx/>
                        <a:buFont typeface="Arial" panose="020B0604020202020204" pitchFamily="34" charset="0"/>
                        <a:buNone/>
                        <a:tabLst/>
                        <a:defRPr/>
                      </a:pPr>
                      <a:r>
                        <a:rPr lang="ar-SA" sz="1200" kern="1200" noProof="0" dirty="0">
                          <a:solidFill>
                            <a:schemeClr val="tx1"/>
                          </a:solidFill>
                          <a:latin typeface="Sakkal Majalla" panose="02000000000000000000" pitchFamily="2" charset="-78"/>
                          <a:ea typeface="+mn-ea"/>
                          <a:cs typeface="Sakkal Majalla" panose="02000000000000000000" pitchFamily="2" charset="-78"/>
                        </a:rPr>
                        <a:t>ضرورة إضافة إدارة الاعتمادات الدولية في الهيكل التنظيمي لأنها غير موجودة  وهي تتبع الإدارة العامة للاعتماد البرامجي في المركز الوطني لتقويم والاعتماد الاكاديمي (اعتماد)</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B w="12700" cap="flat" cmpd="sng" algn="ctr">
                      <a:solidFill>
                        <a:schemeClr val="bg1">
                          <a:lumMod val="85000"/>
                        </a:schemeClr>
                      </a:solidFill>
                      <a:prstDash val="solid"/>
                      <a:round/>
                      <a:headEnd type="none" w="med" len="med"/>
                      <a:tailEnd type="none" w="med" len="med"/>
                    </a:lnB>
                  </a:tcPr>
                </a:tc>
                <a:tc>
                  <a:txBody>
                    <a:bodyPr/>
                    <a:lstStyle/>
                    <a:p>
                      <a:pPr marL="0" marR="0" lvl="0" indent="0" algn="ctr" defTabSz="914400" rtl="1" eaLnBrk="1" fontAlgn="auto" latinLnBrk="0" hangingPunct="1">
                        <a:lnSpc>
                          <a:spcPct val="100000"/>
                        </a:lnSpc>
                        <a:spcBef>
                          <a:spcPts val="0"/>
                        </a:spcBef>
                        <a:spcAft>
                          <a:spcPts val="0"/>
                        </a:spcAft>
                        <a:buClrTx/>
                        <a:buSzTx/>
                        <a:buFont typeface="Arial" panose="020B0604020202020204" pitchFamily="34" charset="0"/>
                        <a:buNone/>
                        <a:tabLst/>
                        <a:defRPr/>
                      </a:pPr>
                      <a:r>
                        <a:rPr lang="ar-SA" sz="1400" b="1" noProof="0" dirty="0">
                          <a:solidFill>
                            <a:schemeClr val="accent1"/>
                          </a:solidFill>
                        </a:rPr>
                        <a:t>الوصف</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B w="12700" cap="flat" cmpd="sng" algn="ctr">
                      <a:solidFill>
                        <a:schemeClr val="bg1">
                          <a:lumMod val="85000"/>
                        </a:schemeClr>
                      </a:solidFill>
                      <a:prstDash val="solid"/>
                      <a:round/>
                      <a:headEnd type="none" w="med" len="med"/>
                      <a:tailEnd type="none" w="med" len="med"/>
                    </a:lnB>
                    <a:solidFill>
                      <a:schemeClr val="bg1">
                        <a:lumMod val="95000"/>
                      </a:schemeClr>
                    </a:solidFill>
                  </a:tcPr>
                </a:tc>
                <a:tc rowSpan="4">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ar-SA" sz="1600" b="1" noProof="0" dirty="0"/>
                        <a:t>GAP-B-30</a:t>
                      </a:r>
                    </a:p>
                    <a:p>
                      <a:pPr marL="0" marR="0" lvl="0" indent="0" algn="r" defTabSz="914400" rtl="1" eaLnBrk="1" fontAlgn="auto" latinLnBrk="0" hangingPunct="1">
                        <a:lnSpc>
                          <a:spcPct val="100000"/>
                        </a:lnSpc>
                        <a:spcBef>
                          <a:spcPts val="0"/>
                        </a:spcBef>
                        <a:spcAft>
                          <a:spcPts val="0"/>
                        </a:spcAft>
                        <a:buClrTx/>
                        <a:buSzTx/>
                        <a:buFontTx/>
                        <a:buNone/>
                        <a:tabLst/>
                        <a:defRPr/>
                      </a:pPr>
                      <a:r>
                        <a:rPr lang="ar-SA" sz="1400" b="1" kern="1200" noProof="0" dirty="0">
                          <a:solidFill>
                            <a:schemeClr val="tx1"/>
                          </a:solidFill>
                          <a:effectLst/>
                          <a:latin typeface="+mn-lt"/>
                          <a:ea typeface="+mn-ea"/>
                          <a:cs typeface="+mn-cs"/>
                        </a:rPr>
                        <a:t>ضرورة إضافة إدارة الاعتمادات الدولية في الهيكل التنظيمي </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B w="12700" cap="flat" cmpd="sng" algn="ctr">
                      <a:solidFill>
                        <a:schemeClr val="accent1"/>
                      </a:solidFill>
                      <a:prstDash val="solid"/>
                      <a:round/>
                      <a:headEnd type="none" w="med" len="med"/>
                      <a:tailEnd type="none" w="med" len="med"/>
                    </a:lnB>
                  </a:tcPr>
                </a:tc>
                <a:extLst>
                  <a:ext uri="{0D108BD9-81ED-4DB2-BD59-A6C34878D82A}">
                    <a16:rowId xmlns:a16="http://schemas.microsoft.com/office/drawing/2014/main" val="1128065702"/>
                  </a:ext>
                </a:extLst>
              </a:tr>
              <a:tr h="0">
                <a:tc vMerge="1">
                  <a:txBody>
                    <a:bodyPr/>
                    <a:lstStyle/>
                    <a:p>
                      <a:endParaRPr lang="en-US"/>
                    </a:p>
                  </a:txBody>
                  <a:tcPr/>
                </a:tc>
                <a:tc vMerge="1">
                  <a:txBody>
                    <a:bodyPr/>
                    <a:lstStyle/>
                    <a:p>
                      <a:endParaRPr lang="en-US"/>
                    </a:p>
                  </a:txBody>
                  <a:tcPr/>
                </a:tc>
                <a:tc vMerge="1">
                  <a:txBody>
                    <a:bodyPr/>
                    <a:lstStyle/>
                    <a:p>
                      <a:endParaRPr lang="en-US"/>
                    </a:p>
                  </a:txBody>
                  <a:tcPr/>
                </a:tc>
                <a:tc>
                  <a:txBody>
                    <a:bodyPr/>
                    <a:lstStyle/>
                    <a:p>
                      <a:pPr marL="0" marR="0" lvl="0" indent="0" algn="just" defTabSz="914400" rtl="1" eaLnBrk="1" fontAlgn="auto" latinLnBrk="0" hangingPunct="1">
                        <a:lnSpc>
                          <a:spcPct val="100000"/>
                        </a:lnSpc>
                        <a:spcBef>
                          <a:spcPts val="0"/>
                        </a:spcBef>
                        <a:spcAft>
                          <a:spcPts val="0"/>
                        </a:spcAft>
                        <a:buClrTx/>
                        <a:buSzTx/>
                        <a:buFont typeface="Arial" panose="020B0604020202020204" pitchFamily="34" charset="0"/>
                        <a:buNone/>
                        <a:tabLst/>
                        <a:defRPr/>
                      </a:pPr>
                      <a:r>
                        <a:rPr lang="ar-SA" sz="1200" noProof="0" dirty="0"/>
                        <a:t>بما أن إدارة الاعتمادات الدولية غير مدمجة في الهيكل التنظيمي الرسمي، فقد يؤدي ذلك إلى غموض في المسؤوليات والصلاحيات داخل الجهة، مما يسبب إرباكاً في التنسيق بين الإدارات المختلفة ، وقد يكون تأثير الإدارة على اتخاذ القرارات أقل قوة لأن دورها غير معترف به بشكل رسمي في الهيكل، مما يعوق تحقيق أهدافها أو زيادة تأثيرها على المستوى الوطني والدولي</a:t>
                      </a:r>
                    </a:p>
                    <a:p>
                      <a:pPr marL="0" marR="0" lvl="0" indent="0" algn="just" defTabSz="914400" rtl="1" eaLnBrk="1" fontAlgn="auto" latinLnBrk="0" hangingPunct="1">
                        <a:lnSpc>
                          <a:spcPct val="100000"/>
                        </a:lnSpc>
                        <a:spcBef>
                          <a:spcPts val="0"/>
                        </a:spcBef>
                        <a:spcAft>
                          <a:spcPts val="0"/>
                        </a:spcAft>
                        <a:buClrTx/>
                        <a:buSzTx/>
                        <a:buFont typeface="Arial" panose="020B0604020202020204" pitchFamily="34" charset="0"/>
                        <a:buNone/>
                        <a:tabLst/>
                        <a:defRPr/>
                      </a:pPr>
                      <a:endParaRPr lang="ar-SA" sz="1200" kern="1200" noProof="0" dirty="0">
                        <a:solidFill>
                          <a:schemeClr val="tx1"/>
                        </a:solidFill>
                        <a:latin typeface="Sakkal Majalla" panose="02000000000000000000" pitchFamily="2" charset="-78"/>
                        <a:ea typeface="+mn-ea"/>
                        <a:cs typeface="Sakkal Majalla" panose="02000000000000000000" pitchFamily="2" charset="-78"/>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marL="0" marR="0" lvl="0" indent="0" algn="ctr" defTabSz="914400" rtl="1" eaLnBrk="1" fontAlgn="auto" latinLnBrk="0" hangingPunct="1">
                        <a:lnSpc>
                          <a:spcPct val="100000"/>
                        </a:lnSpc>
                        <a:spcBef>
                          <a:spcPts val="0"/>
                        </a:spcBef>
                        <a:spcAft>
                          <a:spcPts val="0"/>
                        </a:spcAft>
                        <a:buClrTx/>
                        <a:buSzTx/>
                        <a:buFont typeface="Arial" panose="020B0604020202020204" pitchFamily="34" charset="0"/>
                        <a:buNone/>
                        <a:tabLst/>
                        <a:defRPr/>
                      </a:pPr>
                      <a:r>
                        <a:rPr lang="ar-SA" sz="1400" b="1" kern="1200" noProof="0" dirty="0">
                          <a:solidFill>
                            <a:schemeClr val="accent1"/>
                          </a:solidFill>
                        </a:rPr>
                        <a:t>الأثر الحالي</a:t>
                      </a:r>
                      <a:endParaRPr lang="ar-SA" sz="1400" b="1" noProof="0" dirty="0">
                        <a:solidFill>
                          <a:schemeClr val="accent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lumMod val="95000"/>
                      </a:schemeClr>
                    </a:solidFill>
                  </a:tcPr>
                </a:tc>
                <a:tc vMerge="1">
                  <a:txBody>
                    <a:bodyPr/>
                    <a:lstStyle/>
                    <a:p>
                      <a:endParaRPr lang="en-US"/>
                    </a:p>
                  </a:txBody>
                  <a:tcPr/>
                </a:tc>
                <a:extLst>
                  <a:ext uri="{0D108BD9-81ED-4DB2-BD59-A6C34878D82A}">
                    <a16:rowId xmlns:a16="http://schemas.microsoft.com/office/drawing/2014/main" val="1163892829"/>
                  </a:ext>
                </a:extLst>
              </a:tr>
              <a:tr h="0">
                <a:tc vMerge="1">
                  <a:txBody>
                    <a:bodyPr/>
                    <a:lstStyle/>
                    <a:p>
                      <a:endParaRPr lang="en-US"/>
                    </a:p>
                  </a:txBody>
                  <a:tcPr/>
                </a:tc>
                <a:tc vMerge="1">
                  <a:txBody>
                    <a:bodyPr/>
                    <a:lstStyle/>
                    <a:p>
                      <a:endParaRPr lang="en-US"/>
                    </a:p>
                  </a:txBody>
                  <a:tcPr/>
                </a:tc>
                <a:tc vMerge="1">
                  <a:txBody>
                    <a:bodyPr/>
                    <a:lstStyle/>
                    <a:p>
                      <a:endParaRPr lang="en-US"/>
                    </a:p>
                  </a:txBody>
                  <a:tcPr/>
                </a:tc>
                <a:tc>
                  <a:txBody>
                    <a:bodyPr/>
                    <a:lstStyle/>
                    <a:p>
                      <a:pPr marL="0" marR="0" lvl="0" indent="0" algn="just" defTabSz="914400" rtl="1" eaLnBrk="1" fontAlgn="auto" latinLnBrk="0" hangingPunct="1">
                        <a:lnSpc>
                          <a:spcPct val="100000"/>
                        </a:lnSpc>
                        <a:spcBef>
                          <a:spcPts val="0"/>
                        </a:spcBef>
                        <a:spcAft>
                          <a:spcPts val="0"/>
                        </a:spcAft>
                        <a:buClrTx/>
                        <a:buSzTx/>
                        <a:buFont typeface="Arial" panose="020B0604020202020204" pitchFamily="34" charset="0"/>
                        <a:buNone/>
                        <a:tabLst/>
                        <a:defRPr/>
                      </a:pPr>
                      <a:r>
                        <a:rPr lang="ar-SA" sz="1200" noProof="0" dirty="0"/>
                        <a:t>بإضافة إدارة الاعتمادات الدولية في الهيكل التنظيمي الرسمي، سيصبح هناك توثيق رسمي لدورها وصلاحياتها، مما يسهل تنظيم العمل ويعزز من فعالية الأداء، وسيكون هناك تنسيق أفضل بين إدارة الاعتمادات الدولية والإدارات الأخرى في الجهة، مما يسرع من الحصول على الاعتمادات الدولية وتجديدها.</a:t>
                      </a:r>
                      <a:endParaRPr lang="ar-SA" sz="1200" kern="1200" noProof="0" dirty="0">
                        <a:solidFill>
                          <a:schemeClr val="tx1"/>
                        </a:solidFill>
                        <a:latin typeface="Sakkal Majalla" panose="02000000000000000000" pitchFamily="2" charset="-78"/>
                        <a:ea typeface="+mn-ea"/>
                        <a:cs typeface="Sakkal Majalla" panose="02000000000000000000" pitchFamily="2" charset="-78"/>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marL="0" marR="0" lvl="0" indent="0" algn="ctr" defTabSz="914400" rtl="1" eaLnBrk="1" fontAlgn="auto" latinLnBrk="0" hangingPunct="1">
                        <a:lnSpc>
                          <a:spcPct val="100000"/>
                        </a:lnSpc>
                        <a:spcBef>
                          <a:spcPts val="0"/>
                        </a:spcBef>
                        <a:spcAft>
                          <a:spcPts val="0"/>
                        </a:spcAft>
                        <a:buClrTx/>
                        <a:buSzTx/>
                        <a:buFont typeface="Arial" panose="020B0604020202020204" pitchFamily="34" charset="0"/>
                        <a:buNone/>
                        <a:tabLst/>
                        <a:defRPr/>
                      </a:pPr>
                      <a:r>
                        <a:rPr lang="ar-SA" sz="1400" b="1" noProof="0" dirty="0">
                          <a:solidFill>
                            <a:schemeClr val="accent1"/>
                          </a:solidFill>
                        </a:rPr>
                        <a:t>الأثر بعد الردم (المعالجة)</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lumMod val="95000"/>
                      </a:schemeClr>
                    </a:solidFill>
                  </a:tcPr>
                </a:tc>
                <a:tc vMerge="1">
                  <a:txBody>
                    <a:bodyPr/>
                    <a:lstStyle/>
                    <a:p>
                      <a:endParaRPr lang="en-US"/>
                    </a:p>
                  </a:txBody>
                  <a:tcPr/>
                </a:tc>
                <a:extLst>
                  <a:ext uri="{0D108BD9-81ED-4DB2-BD59-A6C34878D82A}">
                    <a16:rowId xmlns:a16="http://schemas.microsoft.com/office/drawing/2014/main" val="1973569126"/>
                  </a:ext>
                </a:extLst>
              </a:tr>
              <a:tr h="0">
                <a:tc vMerge="1">
                  <a:txBody>
                    <a:bodyPr/>
                    <a:lstStyle/>
                    <a:p>
                      <a:endParaRPr lang="en-US"/>
                    </a:p>
                  </a:txBody>
                  <a:tcPr/>
                </a:tc>
                <a:tc vMerge="1">
                  <a:txBody>
                    <a:bodyPr/>
                    <a:lstStyle/>
                    <a:p>
                      <a:endParaRPr lang="en-US"/>
                    </a:p>
                  </a:txBody>
                  <a:tcPr/>
                </a:tc>
                <a:tc vMerge="1">
                  <a:txBody>
                    <a:bodyPr/>
                    <a:lstStyle/>
                    <a:p>
                      <a:endParaRPr lang="en-US"/>
                    </a:p>
                  </a:txBody>
                  <a:tcPr/>
                </a:tc>
                <a:tc>
                  <a:txBody>
                    <a:bodyPr/>
                    <a:lstStyle/>
                    <a:p>
                      <a:pPr marL="0" marR="0" lvl="0" indent="0" algn="just" defTabSz="914400" rtl="1" eaLnBrk="1" fontAlgn="auto" latinLnBrk="0" hangingPunct="1">
                        <a:lnSpc>
                          <a:spcPct val="100000"/>
                        </a:lnSpc>
                        <a:spcBef>
                          <a:spcPts val="0"/>
                        </a:spcBef>
                        <a:spcAft>
                          <a:spcPts val="0"/>
                        </a:spcAft>
                        <a:buClrTx/>
                        <a:buSzTx/>
                        <a:buFont typeface="Arial" panose="020B0604020202020204" pitchFamily="34" charset="0"/>
                        <a:buNone/>
                        <a:tabLst/>
                        <a:defRPr/>
                      </a:pPr>
                      <a:r>
                        <a:rPr lang="ar-SA" sz="1200" noProof="0" dirty="0"/>
                        <a:t>يجب إضافة إدارة الاعتمادات الدولية إلى الهيكل التنظيمي الرسمي وتحديد المهام والمسؤوليات بشكل دقيق ، ومن المهم أن تتم مراجعة الهيكل التنظيمي بشكل دوري لضمان تكييفه مع الاحتياجات المستقبلية، وتعديل أي جوانب تتطلب تحسين.</a:t>
                      </a:r>
                      <a:endParaRPr lang="ar-SA" sz="1200" kern="1200" noProof="0" dirty="0">
                        <a:solidFill>
                          <a:schemeClr val="tx1"/>
                        </a:solidFill>
                        <a:latin typeface="Sakkal Majalla" panose="02000000000000000000" pitchFamily="2" charset="-78"/>
                        <a:ea typeface="+mn-ea"/>
                        <a:cs typeface="Sakkal Majalla" panose="02000000000000000000" pitchFamily="2" charset="-78"/>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marL="0" marR="0" lvl="0" indent="0" algn="ctr" defTabSz="914400" rtl="1" eaLnBrk="1" fontAlgn="auto" latinLnBrk="0" hangingPunct="1">
                        <a:lnSpc>
                          <a:spcPct val="100000"/>
                        </a:lnSpc>
                        <a:spcBef>
                          <a:spcPts val="0"/>
                        </a:spcBef>
                        <a:spcAft>
                          <a:spcPts val="0"/>
                        </a:spcAft>
                        <a:buClrTx/>
                        <a:buSzTx/>
                        <a:buFont typeface="Arial" panose="020B0604020202020204" pitchFamily="34" charset="0"/>
                        <a:buNone/>
                        <a:tabLst/>
                        <a:defRPr/>
                      </a:pPr>
                      <a:r>
                        <a:rPr lang="ar-SA" sz="1400" b="1" noProof="0" dirty="0">
                          <a:solidFill>
                            <a:schemeClr val="accent1"/>
                          </a:solidFill>
                        </a:rPr>
                        <a:t>تغطية الفجوة </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accent1"/>
                      </a:solidFill>
                      <a:prstDash val="solid"/>
                      <a:round/>
                      <a:headEnd type="none" w="med" len="med"/>
                      <a:tailEnd type="none" w="med" len="med"/>
                    </a:lnB>
                    <a:solidFill>
                      <a:schemeClr val="bg1">
                        <a:lumMod val="95000"/>
                      </a:schemeClr>
                    </a:solidFill>
                  </a:tcPr>
                </a:tc>
                <a:tc vMerge="1">
                  <a:txBody>
                    <a:bodyPr/>
                    <a:lstStyle/>
                    <a:p>
                      <a:endParaRPr lang="en-US"/>
                    </a:p>
                  </a:txBody>
                  <a:tcPr/>
                </a:tc>
                <a:extLst>
                  <a:ext uri="{0D108BD9-81ED-4DB2-BD59-A6C34878D82A}">
                    <a16:rowId xmlns:a16="http://schemas.microsoft.com/office/drawing/2014/main" val="4011636746"/>
                  </a:ext>
                </a:extLst>
              </a:tr>
            </a:tbl>
          </a:graphicData>
        </a:graphic>
      </p:graphicFrame>
      <p:sp>
        <p:nvSpPr>
          <p:cNvPr id="7" name="TextBox 6">
            <a:extLst>
              <a:ext uri="{FF2B5EF4-FFF2-40B4-BE49-F238E27FC236}">
                <a16:creationId xmlns:a16="http://schemas.microsoft.com/office/drawing/2014/main" id="{78FFBCC9-9528-43EE-3448-66EDC46CF782}"/>
              </a:ext>
            </a:extLst>
          </p:cNvPr>
          <p:cNvSpPr txBox="1"/>
          <p:nvPr/>
        </p:nvSpPr>
        <p:spPr>
          <a:xfrm>
            <a:off x="609600" y="705358"/>
            <a:ext cx="10972800" cy="375487"/>
          </a:xfrm>
          <a:prstGeom prst="rect">
            <a:avLst/>
          </a:prstGeom>
          <a:noFill/>
        </p:spPr>
        <p:txBody>
          <a:bodyPr wrap="square">
            <a:spAutoFit/>
          </a:bodyPr>
          <a:lstStyle/>
          <a:p>
            <a:pPr algn="r" rtl="1">
              <a:lnSpc>
                <a:spcPct val="115000"/>
              </a:lnSpc>
              <a:spcAft>
                <a:spcPts val="1000"/>
              </a:spcAft>
            </a:pPr>
            <a:r>
              <a:rPr lang="ar-SA" sz="1600" noProof="0" dirty="0">
                <a:solidFill>
                  <a:srgbClr val="000000"/>
                </a:solidFill>
                <a:latin typeface="Sakkal Majalla" panose="02000000000000000000" pitchFamily="2" charset="-78"/>
                <a:ea typeface="Sakkal Majalla" panose="02000000000000000000" pitchFamily="2" charset="-78"/>
                <a:cs typeface="Sakkal Majalla" panose="02000000000000000000" pitchFamily="2" charset="-78"/>
              </a:rPr>
              <a:t>يهدف هذا القسم من الوثيقة إلى تقديم الملاحظات الخاصة بالوضع الحالي لبنية الأعمال مع ذكر التوصيات  والتحسينات المفترض تطبيقها في الوضع المستقبلي</a:t>
            </a:r>
          </a:p>
        </p:txBody>
      </p:sp>
    </p:spTree>
    <p:extLst>
      <p:ext uri="{BB962C8B-B14F-4D97-AF65-F5344CB8AC3E}">
        <p14:creationId xmlns:p14="http://schemas.microsoft.com/office/powerpoint/2010/main" val="321415443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a:xfrm>
            <a:off x="609601" y="247310"/>
            <a:ext cx="10972800" cy="666261"/>
          </a:xfrm>
        </p:spPr>
        <p:txBody>
          <a:bodyPr/>
          <a:lstStyle/>
          <a:p>
            <a:r>
              <a:rPr lang="ar-SA" noProof="0" dirty="0"/>
              <a:t>ملخص تحليل الفجوات لبنية الأعمال </a:t>
            </a:r>
          </a:p>
        </p:txBody>
      </p:sp>
      <p:sp>
        <p:nvSpPr>
          <p:cNvPr id="3" name="Slide Number Placeholder 2">
            <a:extLst>
              <a:ext uri="{FF2B5EF4-FFF2-40B4-BE49-F238E27FC236}">
                <a16:creationId xmlns:a16="http://schemas.microsoft.com/office/drawing/2014/main" id="{A63A027D-6EA1-E9F6-6212-7D45811B8DC3}"/>
              </a:ext>
            </a:extLst>
          </p:cNvPr>
          <p:cNvSpPr>
            <a:spLocks noGrp="1"/>
          </p:cNvSpPr>
          <p:nvPr>
            <p:ph type="sldNum" sz="quarter" idx="12"/>
          </p:nvPr>
        </p:nvSpPr>
        <p:spPr>
          <a:xfrm>
            <a:off x="655319" y="6567058"/>
            <a:ext cx="466471" cy="290942"/>
          </a:xfrm>
        </p:spPr>
        <p:txBody>
          <a:bodyPr/>
          <a:lstStyle/>
          <a:p>
            <a:fld id="{0BE4EC83-A869-464E-AE9F-881796FB085E}" type="slidenum">
              <a:rPr lang="ar-SA" noProof="0" smtClean="0"/>
              <a:pPr/>
              <a:t>26</a:t>
            </a:fld>
            <a:endParaRPr lang="ar-SA" noProof="0" dirty="0"/>
          </a:p>
        </p:txBody>
      </p:sp>
      <p:graphicFrame>
        <p:nvGraphicFramePr>
          <p:cNvPr id="2" name="Table 1">
            <a:extLst>
              <a:ext uri="{FF2B5EF4-FFF2-40B4-BE49-F238E27FC236}">
                <a16:creationId xmlns:a16="http://schemas.microsoft.com/office/drawing/2014/main" id="{C47CAF5B-4215-4DCE-B225-BC1E66631900}"/>
              </a:ext>
            </a:extLst>
          </p:cNvPr>
          <p:cNvGraphicFramePr>
            <a:graphicFrameLocks noGrp="1"/>
          </p:cNvGraphicFramePr>
          <p:nvPr>
            <p:extLst>
              <p:ext uri="{D42A27DB-BD31-4B8C-83A1-F6EECF244321}">
                <p14:modId xmlns:p14="http://schemas.microsoft.com/office/powerpoint/2010/main" val="716618260"/>
              </p:ext>
            </p:extLst>
          </p:nvPr>
        </p:nvGraphicFramePr>
        <p:xfrm>
          <a:off x="609600" y="1035636"/>
          <a:ext cx="10972802" cy="2773680"/>
        </p:xfrm>
        <a:graphic>
          <a:graphicData uri="http://schemas.openxmlformats.org/drawingml/2006/table">
            <a:tbl>
              <a:tblPr firstRow="1" bandRow="1">
                <a:tableStyleId>{2D5ABB26-0587-4C30-8999-92F81FD0307C}</a:tableStyleId>
              </a:tblPr>
              <a:tblGrid>
                <a:gridCol w="1828800">
                  <a:extLst>
                    <a:ext uri="{9D8B030D-6E8A-4147-A177-3AD203B41FA5}">
                      <a16:colId xmlns:a16="http://schemas.microsoft.com/office/drawing/2014/main" val="2801895674"/>
                    </a:ext>
                  </a:extLst>
                </a:gridCol>
                <a:gridCol w="738953">
                  <a:extLst>
                    <a:ext uri="{9D8B030D-6E8A-4147-A177-3AD203B41FA5}">
                      <a16:colId xmlns:a16="http://schemas.microsoft.com/office/drawing/2014/main" val="2976102064"/>
                    </a:ext>
                  </a:extLst>
                </a:gridCol>
                <a:gridCol w="838625">
                  <a:extLst>
                    <a:ext uri="{9D8B030D-6E8A-4147-A177-3AD203B41FA5}">
                      <a16:colId xmlns:a16="http://schemas.microsoft.com/office/drawing/2014/main" val="526736865"/>
                    </a:ext>
                  </a:extLst>
                </a:gridCol>
                <a:gridCol w="3862640">
                  <a:extLst>
                    <a:ext uri="{9D8B030D-6E8A-4147-A177-3AD203B41FA5}">
                      <a16:colId xmlns:a16="http://schemas.microsoft.com/office/drawing/2014/main" val="4106469564"/>
                    </a:ext>
                  </a:extLst>
                </a:gridCol>
                <a:gridCol w="923637">
                  <a:extLst>
                    <a:ext uri="{9D8B030D-6E8A-4147-A177-3AD203B41FA5}">
                      <a16:colId xmlns:a16="http://schemas.microsoft.com/office/drawing/2014/main" val="1154529574"/>
                    </a:ext>
                  </a:extLst>
                </a:gridCol>
                <a:gridCol w="2780147">
                  <a:extLst>
                    <a:ext uri="{9D8B030D-6E8A-4147-A177-3AD203B41FA5}">
                      <a16:colId xmlns:a16="http://schemas.microsoft.com/office/drawing/2014/main" val="1503598667"/>
                    </a:ext>
                  </a:extLst>
                </a:gridCol>
              </a:tblGrid>
              <a:tr h="0">
                <a:tc>
                  <a:txBody>
                    <a:bodyPr/>
                    <a:lstStyle/>
                    <a:p>
                      <a:pPr algn="ctr" rtl="1"/>
                      <a:r>
                        <a:rPr lang="ar-SA" sz="1400" b="1" noProof="0" dirty="0">
                          <a:solidFill>
                            <a:schemeClr val="bg1"/>
                          </a:solidFill>
                        </a:rPr>
                        <a:t>المصدر</a:t>
                      </a:r>
                      <a:endParaRPr lang="ar-SA" sz="1400" b="1" noProof="0" dirty="0">
                        <a:solidFill>
                          <a:schemeClr val="bg1"/>
                        </a:solidFill>
                        <a:latin typeface="+mj-lt"/>
                      </a:endParaRPr>
                    </a:p>
                  </a:txBody>
                  <a:tcPr anchor="ctr">
                    <a:lnL w="12700" cap="flat" cmpd="sng" algn="ctr">
                      <a:noFill/>
                      <a:prstDash val="solid"/>
                      <a:round/>
                      <a:headEnd type="none" w="med" len="med"/>
                      <a:tailEnd type="none" w="med" len="med"/>
                    </a:lnL>
                    <a:lnR w="12700" cap="flat" cmpd="sng" algn="ctr">
                      <a:solidFill>
                        <a:schemeClr val="bg1"/>
                      </a:solidFill>
                      <a:prstDash val="solid"/>
                      <a:round/>
                      <a:headEnd type="none" w="med" len="med"/>
                      <a:tailEnd type="none" w="med" len="med"/>
                    </a:lnR>
                    <a:solidFill>
                      <a:schemeClr val="accent1"/>
                    </a:solidFill>
                  </a:tcPr>
                </a:tc>
                <a:tc>
                  <a: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lang="ar-SA" sz="1400" b="1" noProof="0" dirty="0">
                          <a:solidFill>
                            <a:schemeClr val="bg1"/>
                          </a:solidFill>
                        </a:rPr>
                        <a:t>الأهمية</a:t>
                      </a:r>
                      <a:endParaRPr lang="ar-SA" sz="1400" b="1" noProof="0" dirty="0">
                        <a:solidFill>
                          <a:schemeClr val="bg1"/>
                        </a:solidFill>
                        <a:latin typeface="+mj-lt"/>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solidFill>
                      <a:schemeClr val="accent1"/>
                    </a:solidFill>
                  </a:tcPr>
                </a:tc>
                <a:tc>
                  <a: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lang="ar-SA" sz="1400" b="1" noProof="0" dirty="0">
                          <a:solidFill>
                            <a:schemeClr val="bg1"/>
                          </a:solidFill>
                        </a:rPr>
                        <a:t>الأولوية</a:t>
                      </a:r>
                      <a:endParaRPr lang="ar-SA" sz="1400" b="1" noProof="0" dirty="0">
                        <a:solidFill>
                          <a:schemeClr val="bg1"/>
                        </a:solidFill>
                        <a:latin typeface="+mj-lt"/>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solidFill>
                      <a:schemeClr val="accent1"/>
                    </a:solidFill>
                  </a:tcPr>
                </a:tc>
                <a:tc gridSpan="2">
                  <a: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lang="ar-SA" sz="1400" b="1" noProof="0" dirty="0">
                          <a:solidFill>
                            <a:schemeClr val="bg1"/>
                          </a:solidFill>
                        </a:rPr>
                        <a:t>التحليل لكل فجوة </a:t>
                      </a:r>
                      <a:endParaRPr lang="ar-SA" sz="1400" b="1" noProof="0" dirty="0">
                        <a:solidFill>
                          <a:schemeClr val="bg1"/>
                        </a:solidFill>
                        <a:latin typeface="+mj-lt"/>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solidFill>
                      <a:schemeClr val="accent1"/>
                    </a:solidFill>
                  </a:tcPr>
                </a:tc>
                <a:tc hMerge="1">
                  <a:txBody>
                    <a:bodyPr/>
                    <a:lstStyle/>
                    <a:p>
                      <a:endParaRPr lang="en-US"/>
                    </a:p>
                  </a:txBody>
                  <a:tcPr/>
                </a:tc>
                <a:tc>
                  <a:txBody>
                    <a:bodyPr/>
                    <a:lstStyle/>
                    <a:p>
                      <a:pPr algn="ctr" rtl="1"/>
                      <a:r>
                        <a:rPr lang="ar-SA" sz="1400" b="1" noProof="0" dirty="0">
                          <a:solidFill>
                            <a:schemeClr val="bg1"/>
                          </a:solidFill>
                        </a:rPr>
                        <a:t>الفجوة</a:t>
                      </a:r>
                      <a:endParaRPr lang="ar-SA" sz="1400" b="1" noProof="0" dirty="0">
                        <a:solidFill>
                          <a:schemeClr val="bg1"/>
                        </a:solidFill>
                        <a:latin typeface="+mj-lt"/>
                      </a:endParaRPr>
                    </a:p>
                  </a:txBody>
                  <a:tcPr anchor="ctr">
                    <a:lnL w="12700" cap="flat" cmpd="sng" algn="ctr">
                      <a:solidFill>
                        <a:schemeClr val="bg1"/>
                      </a:solidFill>
                      <a:prstDash val="solid"/>
                      <a:round/>
                      <a:headEnd type="none" w="med" len="med"/>
                      <a:tailEnd type="none" w="med" len="med"/>
                    </a:lnL>
                    <a:lnR w="12700" cap="flat" cmpd="sng" algn="ctr">
                      <a:noFill/>
                      <a:prstDash val="solid"/>
                      <a:round/>
                      <a:headEnd type="none" w="med" len="med"/>
                      <a:tailEnd type="none" w="med" len="med"/>
                    </a:lnR>
                    <a:solidFill>
                      <a:schemeClr val="accent1"/>
                    </a:solidFill>
                  </a:tcPr>
                </a:tc>
                <a:extLst>
                  <a:ext uri="{0D108BD9-81ED-4DB2-BD59-A6C34878D82A}">
                    <a16:rowId xmlns:a16="http://schemas.microsoft.com/office/drawing/2014/main" val="3304685178"/>
                  </a:ext>
                </a:extLst>
              </a:tr>
              <a:tr h="0">
                <a:tc rowSpan="4">
                  <a:txBody>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lang="ar-SA" sz="1400" noProof="0" dirty="0"/>
                        <a:t>ملف حصر الأعمال ، دراسة وثائق الأعمال للجهة المتوفرة بالوضع الحالي ، ورش العمل لحصر الأعمال مع الوحدات الإدارية المعنية ،تطلعات أصحاب المصلحة</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B w="12700" cap="flat" cmpd="sng" algn="ctr">
                      <a:solidFill>
                        <a:schemeClr val="accent1"/>
                      </a:solidFill>
                      <a:prstDash val="solid"/>
                      <a:round/>
                      <a:headEnd type="none" w="med" len="med"/>
                      <a:tailEnd type="none" w="med" len="med"/>
                    </a:lnB>
                  </a:tcPr>
                </a:tc>
                <a:tc rowSpan="4">
                  <a:txBody>
                    <a:bodyPr/>
                    <a:lstStyle/>
                    <a:p>
                      <a:pPr marL="0" marR="0" lvl="0" indent="0" algn="ctr" defTabSz="914400" rtl="1" eaLnBrk="1" fontAlgn="auto" latinLnBrk="0" hangingPunct="1">
                        <a:lnSpc>
                          <a:spcPct val="100000"/>
                        </a:lnSpc>
                        <a:spcBef>
                          <a:spcPts val="0"/>
                        </a:spcBef>
                        <a:spcAft>
                          <a:spcPts val="0"/>
                        </a:spcAft>
                        <a:buClrTx/>
                        <a:buSzTx/>
                        <a:buFont typeface="Arial" panose="020B0604020202020204" pitchFamily="34" charset="0"/>
                        <a:buNone/>
                        <a:tabLst/>
                        <a:defRPr/>
                      </a:pPr>
                      <a:r>
                        <a:rPr kumimoji="0" lang="ar-SA" sz="1400" b="0" i="0" u="none" strike="noStrike" kern="1200" cap="none" spc="0" normalizeH="0" baseline="0" noProof="0" dirty="0">
                          <a:ln>
                            <a:noFill/>
                          </a:ln>
                          <a:solidFill>
                            <a:prstClr val="black"/>
                          </a:solidFill>
                          <a:effectLst/>
                          <a:uLnTx/>
                          <a:uFillTx/>
                          <a:latin typeface="Sakkal Majalla"/>
                          <a:ea typeface="+mn-ea"/>
                          <a:cs typeface="Sakkal Majalla"/>
                        </a:rPr>
                        <a:t>متوسط</a:t>
                      </a:r>
                    </a:p>
                  </a:txBody>
                  <a:tcPr anchor="ctr">
                    <a:lnL w="12700" cap="flat" cmpd="sng" algn="ctr">
                      <a:noFill/>
                      <a:prstDash val="solid"/>
                      <a:round/>
                      <a:headEnd type="none" w="med" len="med"/>
                      <a:tailEnd type="none" w="med" len="med"/>
                    </a:lnL>
                    <a:lnR w="12700" cap="flat" cmpd="sng" algn="ctr">
                      <a:solidFill>
                        <a:schemeClr val="bg1"/>
                      </a:solidFill>
                      <a:prstDash val="solid"/>
                      <a:round/>
                      <a:headEnd type="none" w="med" len="med"/>
                      <a:tailEnd type="none" w="med" len="med"/>
                    </a:lnR>
                    <a:lnB w="12700" cap="flat" cmpd="sng" algn="ctr">
                      <a:solidFill>
                        <a:schemeClr val="accent1"/>
                      </a:solidFill>
                      <a:prstDash val="solid"/>
                      <a:round/>
                      <a:headEnd type="none" w="med" len="med"/>
                      <a:tailEnd type="none" w="med" len="med"/>
                    </a:lnB>
                    <a:solidFill>
                      <a:schemeClr val="bg1">
                        <a:lumMod val="95000"/>
                      </a:schemeClr>
                    </a:solidFill>
                  </a:tcPr>
                </a:tc>
                <a:tc rowSpan="4">
                  <a:txBody>
                    <a:bodyPr/>
                    <a:lstStyle/>
                    <a:p>
                      <a:pPr marL="0" marR="0" lvl="0" indent="0" algn="ctr" defTabSz="914400" rtl="1" eaLnBrk="1" fontAlgn="auto" latinLnBrk="0" hangingPunct="1">
                        <a:lnSpc>
                          <a:spcPct val="100000"/>
                        </a:lnSpc>
                        <a:spcBef>
                          <a:spcPts val="0"/>
                        </a:spcBef>
                        <a:spcAft>
                          <a:spcPts val="0"/>
                        </a:spcAft>
                        <a:buClrTx/>
                        <a:buSzTx/>
                        <a:buFont typeface="Arial" panose="020B0604020202020204" pitchFamily="34" charset="0"/>
                        <a:buNone/>
                        <a:tabLst/>
                        <a:defRPr/>
                      </a:pPr>
                      <a:r>
                        <a:rPr kumimoji="0" lang="ar-SA" sz="1400" b="0" i="0" u="none" strike="noStrike" kern="1200" cap="none" spc="0" normalizeH="0" baseline="0" noProof="0" dirty="0">
                          <a:ln>
                            <a:noFill/>
                          </a:ln>
                          <a:solidFill>
                            <a:prstClr val="black"/>
                          </a:solidFill>
                          <a:effectLst/>
                          <a:uLnTx/>
                          <a:uFillTx/>
                          <a:latin typeface="Sakkal Majalla"/>
                          <a:ea typeface="+mn-ea"/>
                          <a:cs typeface="Sakkal Majalla"/>
                        </a:rPr>
                        <a:t>متوسط</a:t>
                      </a:r>
                    </a:p>
                  </a:txBody>
                  <a:tcPr anchor="ctr">
                    <a:lnL w="12700" cap="flat" cmpd="sng" algn="ctr">
                      <a:solidFill>
                        <a:schemeClr val="bg1"/>
                      </a:solidFill>
                      <a:prstDash val="solid"/>
                      <a:round/>
                      <a:headEnd type="none" w="med" len="med"/>
                      <a:tailEnd type="none" w="med" len="med"/>
                    </a:lnL>
                    <a:lnR w="12700" cap="flat" cmpd="sng" algn="ctr">
                      <a:noFill/>
                      <a:prstDash val="solid"/>
                      <a:round/>
                      <a:headEnd type="none" w="med" len="med"/>
                      <a:tailEnd type="none" w="med" len="med"/>
                    </a:lnR>
                    <a:lnB w="12700" cap="flat" cmpd="sng" algn="ctr">
                      <a:solidFill>
                        <a:schemeClr val="accent1"/>
                      </a:solidFill>
                      <a:prstDash val="solid"/>
                      <a:round/>
                      <a:headEnd type="none" w="med" len="med"/>
                      <a:tailEnd type="none" w="med" len="med"/>
                    </a:lnB>
                    <a:solidFill>
                      <a:schemeClr val="bg1">
                        <a:lumMod val="95000"/>
                      </a:schemeClr>
                    </a:solidFill>
                  </a:tcPr>
                </a:tc>
                <a:tc>
                  <a:txBody>
                    <a:bodyPr/>
                    <a:lstStyle/>
                    <a:p>
                      <a:pPr marL="0" marR="0" lvl="0" indent="0" algn="just" defTabSz="914400" rtl="1" eaLnBrk="1" fontAlgn="auto" latinLnBrk="0" hangingPunct="1">
                        <a:lnSpc>
                          <a:spcPct val="100000"/>
                        </a:lnSpc>
                        <a:spcBef>
                          <a:spcPts val="0"/>
                        </a:spcBef>
                        <a:spcAft>
                          <a:spcPts val="0"/>
                        </a:spcAft>
                        <a:buClrTx/>
                        <a:buSzTx/>
                        <a:buFont typeface="Arial" panose="020B0604020202020204" pitchFamily="34" charset="0"/>
                        <a:buNone/>
                        <a:tabLst/>
                        <a:defRPr/>
                      </a:pPr>
                      <a:r>
                        <a:rPr lang="ar-SA" sz="1200" kern="1200" noProof="0" dirty="0">
                          <a:solidFill>
                            <a:schemeClr val="tx1"/>
                          </a:solidFill>
                          <a:latin typeface="Sakkal Majalla" panose="02000000000000000000" pitchFamily="2" charset="-78"/>
                          <a:ea typeface="+mn-ea"/>
                          <a:cs typeface="Sakkal Majalla" panose="02000000000000000000" pitchFamily="2" charset="-78"/>
                        </a:rPr>
                        <a:t>ضرورة تحسين  وتحديث المسميات الوظيفية بحيث تتناسب مع الوصف الوظيفي والمهام ، بحيث تكون المسميات واضحة ومميزة وغير مكررة على مستوى الإدارات الداخلية الأخرى</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B w="12700" cap="flat" cmpd="sng" algn="ctr">
                      <a:solidFill>
                        <a:schemeClr val="bg1">
                          <a:lumMod val="85000"/>
                        </a:schemeClr>
                      </a:solidFill>
                      <a:prstDash val="solid"/>
                      <a:round/>
                      <a:headEnd type="none" w="med" len="med"/>
                      <a:tailEnd type="none" w="med" len="med"/>
                    </a:lnB>
                  </a:tcPr>
                </a:tc>
                <a:tc>
                  <a:txBody>
                    <a:bodyPr/>
                    <a:lstStyle/>
                    <a:p>
                      <a:pPr marL="0" marR="0" lvl="0" indent="0" algn="ctr" defTabSz="914400" rtl="1" eaLnBrk="1" fontAlgn="auto" latinLnBrk="0" hangingPunct="1">
                        <a:lnSpc>
                          <a:spcPct val="100000"/>
                        </a:lnSpc>
                        <a:spcBef>
                          <a:spcPts val="0"/>
                        </a:spcBef>
                        <a:spcAft>
                          <a:spcPts val="0"/>
                        </a:spcAft>
                        <a:buClrTx/>
                        <a:buSzTx/>
                        <a:buFont typeface="Arial" panose="020B0604020202020204" pitchFamily="34" charset="0"/>
                        <a:buNone/>
                        <a:tabLst/>
                        <a:defRPr/>
                      </a:pPr>
                      <a:r>
                        <a:rPr lang="ar-SA" sz="1400" b="1" noProof="0" dirty="0">
                          <a:solidFill>
                            <a:schemeClr val="accent1"/>
                          </a:solidFill>
                        </a:rPr>
                        <a:t>الوصف </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B w="12700" cap="flat" cmpd="sng" algn="ctr">
                      <a:solidFill>
                        <a:schemeClr val="bg1">
                          <a:lumMod val="85000"/>
                        </a:schemeClr>
                      </a:solidFill>
                      <a:prstDash val="solid"/>
                      <a:round/>
                      <a:headEnd type="none" w="med" len="med"/>
                      <a:tailEnd type="none" w="med" len="med"/>
                    </a:lnB>
                    <a:solidFill>
                      <a:schemeClr val="bg1">
                        <a:lumMod val="95000"/>
                      </a:schemeClr>
                    </a:solidFill>
                  </a:tcPr>
                </a:tc>
                <a:tc rowSpan="4">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ar-SA" sz="1600" b="1" noProof="0" dirty="0"/>
                        <a:t>GAP-B-31</a:t>
                      </a:r>
                    </a:p>
                    <a:p>
                      <a:pPr marL="0" marR="0" lvl="0" indent="0" algn="r" defTabSz="914400" rtl="1" eaLnBrk="1" fontAlgn="auto" latinLnBrk="0" hangingPunct="1">
                        <a:lnSpc>
                          <a:spcPct val="100000"/>
                        </a:lnSpc>
                        <a:spcBef>
                          <a:spcPts val="0"/>
                        </a:spcBef>
                        <a:spcAft>
                          <a:spcPts val="0"/>
                        </a:spcAft>
                        <a:buClrTx/>
                        <a:buSzTx/>
                        <a:buFontTx/>
                        <a:buNone/>
                        <a:tabLst/>
                        <a:defRPr/>
                      </a:pPr>
                      <a:r>
                        <a:rPr lang="ar-SA" sz="1400" b="1" kern="1200" noProof="0" dirty="0">
                          <a:solidFill>
                            <a:schemeClr val="tx1"/>
                          </a:solidFill>
                          <a:effectLst/>
                          <a:latin typeface="+mn-lt"/>
                          <a:ea typeface="+mn-ea"/>
                          <a:cs typeface="+mn-cs"/>
                        </a:rPr>
                        <a:t>ضرورة تحسين  وتحديث المسميات الوظيفية </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B w="12700" cap="flat" cmpd="sng" algn="ctr">
                      <a:solidFill>
                        <a:schemeClr val="accent1"/>
                      </a:solidFill>
                      <a:prstDash val="solid"/>
                      <a:round/>
                      <a:headEnd type="none" w="med" len="med"/>
                      <a:tailEnd type="none" w="med" len="med"/>
                    </a:lnB>
                  </a:tcPr>
                </a:tc>
                <a:extLst>
                  <a:ext uri="{0D108BD9-81ED-4DB2-BD59-A6C34878D82A}">
                    <a16:rowId xmlns:a16="http://schemas.microsoft.com/office/drawing/2014/main" val="1128065702"/>
                  </a:ext>
                </a:extLst>
              </a:tr>
              <a:tr h="0">
                <a:tc vMerge="1">
                  <a:txBody>
                    <a:bodyPr/>
                    <a:lstStyle/>
                    <a:p>
                      <a:endParaRPr lang="en-US"/>
                    </a:p>
                  </a:txBody>
                  <a:tcPr/>
                </a:tc>
                <a:tc vMerge="1">
                  <a:txBody>
                    <a:bodyPr/>
                    <a:lstStyle/>
                    <a:p>
                      <a:endParaRPr lang="en-US"/>
                    </a:p>
                  </a:txBody>
                  <a:tcPr/>
                </a:tc>
                <a:tc vMerge="1">
                  <a:txBody>
                    <a:bodyPr/>
                    <a:lstStyle/>
                    <a:p>
                      <a:endParaRPr lang="en-US"/>
                    </a:p>
                  </a:txBody>
                  <a:tcPr/>
                </a:tc>
                <a:tc>
                  <a:txBody>
                    <a:bodyPr/>
                    <a:lstStyle/>
                    <a:p>
                      <a:pPr marL="0" marR="0" lvl="0" indent="0" algn="just" defTabSz="914400" rtl="1" eaLnBrk="1" fontAlgn="auto" latinLnBrk="0" hangingPunct="1">
                        <a:lnSpc>
                          <a:spcPct val="100000"/>
                        </a:lnSpc>
                        <a:spcBef>
                          <a:spcPts val="0"/>
                        </a:spcBef>
                        <a:spcAft>
                          <a:spcPts val="0"/>
                        </a:spcAft>
                        <a:buClrTx/>
                        <a:buSzTx/>
                        <a:buFont typeface="Arial" panose="020B0604020202020204" pitchFamily="34" charset="0"/>
                        <a:buNone/>
                        <a:tabLst/>
                        <a:defRPr/>
                      </a:pPr>
                      <a:r>
                        <a:rPr lang="ar-SA" sz="1200" noProof="0" dirty="0"/>
                        <a:t>الموظفون قد يواجهون صعوبة في فهم مسؤولياتهم بسبب المسميات غير الدقيقة ، قد يؤدي تكرار المسميات إلى تضارب في المهام بين الإدارات ، عدم التحديد الدقيق قد يؤثر على الأداء العام للموظفين</a:t>
                      </a:r>
                      <a:endParaRPr lang="ar-SA" sz="1200" kern="1200" noProof="0" dirty="0">
                        <a:solidFill>
                          <a:schemeClr val="tx1"/>
                        </a:solidFill>
                        <a:latin typeface="Sakkal Majalla" panose="02000000000000000000" pitchFamily="2" charset="-78"/>
                        <a:ea typeface="+mn-ea"/>
                        <a:cs typeface="Sakkal Majalla" panose="02000000000000000000" pitchFamily="2" charset="-78"/>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marL="0" marR="0" lvl="0" indent="0" algn="ctr" defTabSz="914400" rtl="1" eaLnBrk="1" fontAlgn="auto" latinLnBrk="0" hangingPunct="1">
                        <a:lnSpc>
                          <a:spcPct val="100000"/>
                        </a:lnSpc>
                        <a:spcBef>
                          <a:spcPts val="0"/>
                        </a:spcBef>
                        <a:spcAft>
                          <a:spcPts val="0"/>
                        </a:spcAft>
                        <a:buClrTx/>
                        <a:buSzTx/>
                        <a:buFont typeface="Arial" panose="020B0604020202020204" pitchFamily="34" charset="0"/>
                        <a:buNone/>
                        <a:tabLst/>
                        <a:defRPr/>
                      </a:pPr>
                      <a:r>
                        <a:rPr lang="ar-SA" sz="1400" b="1" kern="1200" noProof="0" dirty="0">
                          <a:solidFill>
                            <a:schemeClr val="accent1"/>
                          </a:solidFill>
                        </a:rPr>
                        <a:t>الأثر الحالي</a:t>
                      </a:r>
                      <a:endParaRPr lang="ar-SA" sz="1400" b="1" noProof="0" dirty="0">
                        <a:solidFill>
                          <a:schemeClr val="accent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lumMod val="95000"/>
                      </a:schemeClr>
                    </a:solidFill>
                  </a:tcPr>
                </a:tc>
                <a:tc vMerge="1">
                  <a:txBody>
                    <a:bodyPr/>
                    <a:lstStyle/>
                    <a:p>
                      <a:endParaRPr lang="en-US"/>
                    </a:p>
                  </a:txBody>
                  <a:tcPr/>
                </a:tc>
                <a:extLst>
                  <a:ext uri="{0D108BD9-81ED-4DB2-BD59-A6C34878D82A}">
                    <a16:rowId xmlns:a16="http://schemas.microsoft.com/office/drawing/2014/main" val="1163892829"/>
                  </a:ext>
                </a:extLst>
              </a:tr>
              <a:tr h="0">
                <a:tc vMerge="1">
                  <a:txBody>
                    <a:bodyPr/>
                    <a:lstStyle/>
                    <a:p>
                      <a:endParaRPr lang="en-US"/>
                    </a:p>
                  </a:txBody>
                  <a:tcPr/>
                </a:tc>
                <a:tc vMerge="1">
                  <a:txBody>
                    <a:bodyPr/>
                    <a:lstStyle/>
                    <a:p>
                      <a:endParaRPr lang="en-US"/>
                    </a:p>
                  </a:txBody>
                  <a:tcPr/>
                </a:tc>
                <a:tc vMerge="1">
                  <a:txBody>
                    <a:bodyPr/>
                    <a:lstStyle/>
                    <a:p>
                      <a:endParaRPr lang="en-US"/>
                    </a:p>
                  </a:txBody>
                  <a:tcPr/>
                </a:tc>
                <a:tc>
                  <a:txBody>
                    <a:bodyPr/>
                    <a:lstStyle/>
                    <a:p>
                      <a:pPr marL="0" marR="0" lvl="0" indent="0" algn="just" defTabSz="914400" rtl="1" eaLnBrk="1" fontAlgn="auto" latinLnBrk="0" hangingPunct="1">
                        <a:lnSpc>
                          <a:spcPct val="100000"/>
                        </a:lnSpc>
                        <a:spcBef>
                          <a:spcPts val="0"/>
                        </a:spcBef>
                        <a:spcAft>
                          <a:spcPts val="0"/>
                        </a:spcAft>
                        <a:buClrTx/>
                        <a:buSzTx/>
                        <a:buFont typeface="Arial" panose="020B0604020202020204" pitchFamily="34" charset="0"/>
                        <a:buNone/>
                        <a:tabLst/>
                        <a:defRPr/>
                      </a:pPr>
                      <a:r>
                        <a:rPr lang="ar-SA" sz="1200" kern="1200" noProof="0" dirty="0">
                          <a:solidFill>
                            <a:schemeClr val="tx1"/>
                          </a:solidFill>
                          <a:latin typeface="+mn-lt"/>
                          <a:ea typeface="+mn-ea"/>
                          <a:cs typeface="+mn-cs"/>
                        </a:rPr>
                        <a:t>وضوح أكبر في المهام والمسؤوليات لكل وظيفة ، تقليل التداخل في الأدوار بين الإدارات المختلفة ، تحسين كفاءة العمل والإنتاجية نتيجة الفهم الواضح للدور الوظيفي ، تحسين رضا الموظفين من خلال تعريف واضح لمهامهم ومسؤولياتهم</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marL="0" marR="0" lvl="0" indent="0" algn="ctr" defTabSz="914400" rtl="1" eaLnBrk="1" fontAlgn="auto" latinLnBrk="0" hangingPunct="1">
                        <a:lnSpc>
                          <a:spcPct val="100000"/>
                        </a:lnSpc>
                        <a:spcBef>
                          <a:spcPts val="0"/>
                        </a:spcBef>
                        <a:spcAft>
                          <a:spcPts val="0"/>
                        </a:spcAft>
                        <a:buClrTx/>
                        <a:buSzTx/>
                        <a:buFont typeface="Arial" panose="020B0604020202020204" pitchFamily="34" charset="0"/>
                        <a:buNone/>
                        <a:tabLst/>
                        <a:defRPr/>
                      </a:pPr>
                      <a:r>
                        <a:rPr lang="ar-SA" sz="1400" b="1" noProof="0" dirty="0">
                          <a:solidFill>
                            <a:schemeClr val="accent1"/>
                          </a:solidFill>
                        </a:rPr>
                        <a:t>الأثر بعد الردم (المعالجة)</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lumMod val="95000"/>
                      </a:schemeClr>
                    </a:solidFill>
                  </a:tcPr>
                </a:tc>
                <a:tc vMerge="1">
                  <a:txBody>
                    <a:bodyPr/>
                    <a:lstStyle/>
                    <a:p>
                      <a:endParaRPr lang="en-US"/>
                    </a:p>
                  </a:txBody>
                  <a:tcPr/>
                </a:tc>
                <a:extLst>
                  <a:ext uri="{0D108BD9-81ED-4DB2-BD59-A6C34878D82A}">
                    <a16:rowId xmlns:a16="http://schemas.microsoft.com/office/drawing/2014/main" val="1973569126"/>
                  </a:ext>
                </a:extLst>
              </a:tr>
              <a:tr h="0">
                <a:tc vMerge="1">
                  <a:txBody>
                    <a:bodyPr/>
                    <a:lstStyle/>
                    <a:p>
                      <a:endParaRPr lang="en-US"/>
                    </a:p>
                  </a:txBody>
                  <a:tcPr/>
                </a:tc>
                <a:tc vMerge="1">
                  <a:txBody>
                    <a:bodyPr/>
                    <a:lstStyle/>
                    <a:p>
                      <a:endParaRPr lang="en-US"/>
                    </a:p>
                  </a:txBody>
                  <a:tcPr/>
                </a:tc>
                <a:tc vMerge="1">
                  <a:txBody>
                    <a:bodyPr/>
                    <a:lstStyle/>
                    <a:p>
                      <a:endParaRPr lang="en-US"/>
                    </a:p>
                  </a:txBody>
                  <a:tcPr/>
                </a:tc>
                <a:tc>
                  <a:txBody>
                    <a:bodyPr/>
                    <a:lstStyle/>
                    <a:p>
                      <a:pPr marL="0" marR="0" lvl="0" indent="0" algn="just" defTabSz="914400" rtl="1" eaLnBrk="1" fontAlgn="auto" latinLnBrk="0" hangingPunct="1">
                        <a:lnSpc>
                          <a:spcPct val="100000"/>
                        </a:lnSpc>
                        <a:spcBef>
                          <a:spcPts val="0"/>
                        </a:spcBef>
                        <a:spcAft>
                          <a:spcPts val="0"/>
                        </a:spcAft>
                        <a:buClrTx/>
                        <a:buSzTx/>
                        <a:buFont typeface="Arial" panose="020B0604020202020204" pitchFamily="34" charset="0"/>
                        <a:buNone/>
                        <a:tabLst/>
                        <a:defRPr/>
                      </a:pPr>
                      <a:r>
                        <a:rPr lang="ar-SA" sz="1200" kern="1200" noProof="0" dirty="0">
                          <a:solidFill>
                            <a:schemeClr val="tx1"/>
                          </a:solidFill>
                          <a:latin typeface="+mn-lt"/>
                          <a:ea typeface="+mn-ea"/>
                          <a:cs typeface="+mn-cs"/>
                        </a:rPr>
                        <a:t>مراجعة وتحليل المسميات الحالية في جميع الإدارات ، توحيد المسميات وإزالة التكرار بما يحقق التمايز بين الإدارات ، تحديث السياسات والإجراءات لضمان استدامة المسميات الوظيفية الجديدة</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marL="0" marR="0" lvl="0" indent="0" algn="ctr" defTabSz="914400" rtl="1" eaLnBrk="1" fontAlgn="auto" latinLnBrk="0" hangingPunct="1">
                        <a:lnSpc>
                          <a:spcPct val="100000"/>
                        </a:lnSpc>
                        <a:spcBef>
                          <a:spcPts val="0"/>
                        </a:spcBef>
                        <a:spcAft>
                          <a:spcPts val="0"/>
                        </a:spcAft>
                        <a:buClrTx/>
                        <a:buSzTx/>
                        <a:buFont typeface="Arial" panose="020B0604020202020204" pitchFamily="34" charset="0"/>
                        <a:buNone/>
                        <a:tabLst/>
                        <a:defRPr/>
                      </a:pPr>
                      <a:r>
                        <a:rPr lang="ar-SA" sz="1400" b="1" noProof="0" dirty="0">
                          <a:solidFill>
                            <a:schemeClr val="accent1"/>
                          </a:solidFill>
                        </a:rPr>
                        <a:t>تغطية الفجوة </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accent1"/>
                      </a:solidFill>
                      <a:prstDash val="solid"/>
                      <a:round/>
                      <a:headEnd type="none" w="med" len="med"/>
                      <a:tailEnd type="none" w="med" len="med"/>
                    </a:lnB>
                    <a:solidFill>
                      <a:schemeClr val="bg1">
                        <a:lumMod val="95000"/>
                      </a:schemeClr>
                    </a:solidFill>
                  </a:tcPr>
                </a:tc>
                <a:tc vMerge="1">
                  <a:txBody>
                    <a:bodyPr/>
                    <a:lstStyle/>
                    <a:p>
                      <a:endParaRPr lang="en-US"/>
                    </a:p>
                  </a:txBody>
                  <a:tcPr/>
                </a:tc>
                <a:extLst>
                  <a:ext uri="{0D108BD9-81ED-4DB2-BD59-A6C34878D82A}">
                    <a16:rowId xmlns:a16="http://schemas.microsoft.com/office/drawing/2014/main" val="4011636746"/>
                  </a:ext>
                </a:extLst>
              </a:tr>
            </a:tbl>
          </a:graphicData>
        </a:graphic>
      </p:graphicFrame>
      <p:sp>
        <p:nvSpPr>
          <p:cNvPr id="7" name="TextBox 6">
            <a:extLst>
              <a:ext uri="{FF2B5EF4-FFF2-40B4-BE49-F238E27FC236}">
                <a16:creationId xmlns:a16="http://schemas.microsoft.com/office/drawing/2014/main" id="{78FFBCC9-9528-43EE-3448-66EDC46CF782}"/>
              </a:ext>
            </a:extLst>
          </p:cNvPr>
          <p:cNvSpPr txBox="1"/>
          <p:nvPr/>
        </p:nvSpPr>
        <p:spPr>
          <a:xfrm>
            <a:off x="609600" y="705358"/>
            <a:ext cx="10972800" cy="375487"/>
          </a:xfrm>
          <a:prstGeom prst="rect">
            <a:avLst/>
          </a:prstGeom>
          <a:noFill/>
        </p:spPr>
        <p:txBody>
          <a:bodyPr wrap="square">
            <a:spAutoFit/>
          </a:bodyPr>
          <a:lstStyle/>
          <a:p>
            <a:pPr algn="r" rtl="1">
              <a:lnSpc>
                <a:spcPct val="115000"/>
              </a:lnSpc>
              <a:spcAft>
                <a:spcPts val="1000"/>
              </a:spcAft>
            </a:pPr>
            <a:r>
              <a:rPr lang="ar-SA" sz="1600" noProof="0" dirty="0">
                <a:solidFill>
                  <a:srgbClr val="000000"/>
                </a:solidFill>
                <a:latin typeface="Sakkal Majalla" panose="02000000000000000000" pitchFamily="2" charset="-78"/>
                <a:ea typeface="Sakkal Majalla" panose="02000000000000000000" pitchFamily="2" charset="-78"/>
                <a:cs typeface="Sakkal Majalla" panose="02000000000000000000" pitchFamily="2" charset="-78"/>
              </a:rPr>
              <a:t>يهدف هذا القسم من الوثيقة إلى تقديم الملاحظات الخاصة بالوضع الحالي لبنية الأعمال مع ذكر التوصيات  والتحسينات المفترض تطبيقها في الوضع المستقبلي</a:t>
            </a:r>
          </a:p>
        </p:txBody>
      </p:sp>
    </p:spTree>
    <p:extLst>
      <p:ext uri="{BB962C8B-B14F-4D97-AF65-F5344CB8AC3E}">
        <p14:creationId xmlns:p14="http://schemas.microsoft.com/office/powerpoint/2010/main" val="56403421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a:xfrm>
            <a:off x="609601" y="301100"/>
            <a:ext cx="10972800" cy="666261"/>
          </a:xfrm>
        </p:spPr>
        <p:txBody>
          <a:bodyPr/>
          <a:lstStyle/>
          <a:p>
            <a:r>
              <a:rPr lang="ar-SA" noProof="0" dirty="0"/>
              <a:t>ملخص تحليل الفجوات لبنية التطبيقات </a:t>
            </a:r>
          </a:p>
        </p:txBody>
      </p:sp>
      <p:sp>
        <p:nvSpPr>
          <p:cNvPr id="3" name="Slide Number Placeholder 2">
            <a:extLst>
              <a:ext uri="{FF2B5EF4-FFF2-40B4-BE49-F238E27FC236}">
                <a16:creationId xmlns:a16="http://schemas.microsoft.com/office/drawing/2014/main" id="{A63A027D-6EA1-E9F6-6212-7D45811B8DC3}"/>
              </a:ext>
            </a:extLst>
          </p:cNvPr>
          <p:cNvSpPr>
            <a:spLocks noGrp="1"/>
          </p:cNvSpPr>
          <p:nvPr>
            <p:ph type="sldNum" sz="quarter" idx="12"/>
          </p:nvPr>
        </p:nvSpPr>
        <p:spPr>
          <a:xfrm>
            <a:off x="655320" y="6567058"/>
            <a:ext cx="475896" cy="290942"/>
          </a:xfrm>
        </p:spPr>
        <p:txBody>
          <a:bodyPr/>
          <a:lstStyle/>
          <a:p>
            <a:fld id="{0BE4EC83-A869-464E-AE9F-881796FB085E}" type="slidenum">
              <a:rPr lang="ar-SA" noProof="0" smtClean="0"/>
              <a:pPr/>
              <a:t>27</a:t>
            </a:fld>
            <a:endParaRPr lang="ar-SA" noProof="0" dirty="0"/>
          </a:p>
        </p:txBody>
      </p:sp>
      <p:graphicFrame>
        <p:nvGraphicFramePr>
          <p:cNvPr id="2" name="Table 1">
            <a:extLst>
              <a:ext uri="{FF2B5EF4-FFF2-40B4-BE49-F238E27FC236}">
                <a16:creationId xmlns:a16="http://schemas.microsoft.com/office/drawing/2014/main" id="{C47CAF5B-4215-4DCE-B225-BC1E66631900}"/>
              </a:ext>
            </a:extLst>
          </p:cNvPr>
          <p:cNvGraphicFramePr>
            <a:graphicFrameLocks noGrp="1"/>
          </p:cNvGraphicFramePr>
          <p:nvPr>
            <p:extLst>
              <p:ext uri="{D42A27DB-BD31-4B8C-83A1-F6EECF244321}">
                <p14:modId xmlns:p14="http://schemas.microsoft.com/office/powerpoint/2010/main" val="2949115583"/>
              </p:ext>
            </p:extLst>
          </p:nvPr>
        </p:nvGraphicFramePr>
        <p:xfrm>
          <a:off x="609600" y="1223899"/>
          <a:ext cx="10972802" cy="4698492"/>
        </p:xfrm>
        <a:graphic>
          <a:graphicData uri="http://schemas.openxmlformats.org/drawingml/2006/table">
            <a:tbl>
              <a:tblPr firstRow="1" bandRow="1">
                <a:tableStyleId>{2D5ABB26-0587-4C30-8999-92F81FD0307C}</a:tableStyleId>
              </a:tblPr>
              <a:tblGrid>
                <a:gridCol w="1828800">
                  <a:extLst>
                    <a:ext uri="{9D8B030D-6E8A-4147-A177-3AD203B41FA5}">
                      <a16:colId xmlns:a16="http://schemas.microsoft.com/office/drawing/2014/main" val="2801895674"/>
                    </a:ext>
                  </a:extLst>
                </a:gridCol>
                <a:gridCol w="738953">
                  <a:extLst>
                    <a:ext uri="{9D8B030D-6E8A-4147-A177-3AD203B41FA5}">
                      <a16:colId xmlns:a16="http://schemas.microsoft.com/office/drawing/2014/main" val="2976102064"/>
                    </a:ext>
                  </a:extLst>
                </a:gridCol>
                <a:gridCol w="838625">
                  <a:extLst>
                    <a:ext uri="{9D8B030D-6E8A-4147-A177-3AD203B41FA5}">
                      <a16:colId xmlns:a16="http://schemas.microsoft.com/office/drawing/2014/main" val="526736865"/>
                    </a:ext>
                  </a:extLst>
                </a:gridCol>
                <a:gridCol w="3862640">
                  <a:extLst>
                    <a:ext uri="{9D8B030D-6E8A-4147-A177-3AD203B41FA5}">
                      <a16:colId xmlns:a16="http://schemas.microsoft.com/office/drawing/2014/main" val="4106469564"/>
                    </a:ext>
                  </a:extLst>
                </a:gridCol>
                <a:gridCol w="923637">
                  <a:extLst>
                    <a:ext uri="{9D8B030D-6E8A-4147-A177-3AD203B41FA5}">
                      <a16:colId xmlns:a16="http://schemas.microsoft.com/office/drawing/2014/main" val="1154529574"/>
                    </a:ext>
                  </a:extLst>
                </a:gridCol>
                <a:gridCol w="2780147">
                  <a:extLst>
                    <a:ext uri="{9D8B030D-6E8A-4147-A177-3AD203B41FA5}">
                      <a16:colId xmlns:a16="http://schemas.microsoft.com/office/drawing/2014/main" val="1503598667"/>
                    </a:ext>
                  </a:extLst>
                </a:gridCol>
              </a:tblGrid>
              <a:tr h="0">
                <a:tc>
                  <a:txBody>
                    <a:bodyPr/>
                    <a:lstStyle/>
                    <a:p>
                      <a:pPr algn="ctr" rtl="1"/>
                      <a:r>
                        <a:rPr lang="ar-SA" sz="1400" b="1" noProof="0" dirty="0">
                          <a:solidFill>
                            <a:schemeClr val="bg1"/>
                          </a:solidFill>
                        </a:rPr>
                        <a:t>المصدر</a:t>
                      </a:r>
                      <a:endParaRPr lang="ar-SA" sz="1400" b="1" noProof="0" dirty="0">
                        <a:solidFill>
                          <a:schemeClr val="bg1"/>
                        </a:solidFill>
                        <a:latin typeface="+mj-lt"/>
                      </a:endParaRPr>
                    </a:p>
                  </a:txBody>
                  <a:tcPr anchor="ctr">
                    <a:lnL w="12700" cap="flat" cmpd="sng" algn="ctr">
                      <a:noFill/>
                      <a:prstDash val="solid"/>
                      <a:round/>
                      <a:headEnd type="none" w="med" len="med"/>
                      <a:tailEnd type="none" w="med" len="med"/>
                    </a:lnL>
                    <a:lnR w="12700" cap="flat" cmpd="sng" algn="ctr">
                      <a:solidFill>
                        <a:schemeClr val="bg1"/>
                      </a:solidFill>
                      <a:prstDash val="solid"/>
                      <a:round/>
                      <a:headEnd type="none" w="med" len="med"/>
                      <a:tailEnd type="none" w="med" len="med"/>
                    </a:lnR>
                    <a:solidFill>
                      <a:schemeClr val="accent1"/>
                    </a:solidFill>
                  </a:tcPr>
                </a:tc>
                <a:tc>
                  <a: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lang="ar-SA" sz="1400" b="1" noProof="0" dirty="0">
                          <a:solidFill>
                            <a:schemeClr val="bg1"/>
                          </a:solidFill>
                        </a:rPr>
                        <a:t>الأهمية</a:t>
                      </a:r>
                      <a:endParaRPr lang="ar-SA" sz="1400" b="1" noProof="0" dirty="0">
                        <a:solidFill>
                          <a:schemeClr val="bg1"/>
                        </a:solidFill>
                        <a:latin typeface="+mj-lt"/>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solidFill>
                      <a:schemeClr val="accent1"/>
                    </a:solidFill>
                  </a:tcPr>
                </a:tc>
                <a:tc>
                  <a: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lang="ar-SA" sz="1400" b="1" noProof="0" dirty="0">
                          <a:solidFill>
                            <a:schemeClr val="bg1"/>
                          </a:solidFill>
                        </a:rPr>
                        <a:t>الأولوية</a:t>
                      </a:r>
                      <a:endParaRPr lang="ar-SA" sz="1400" b="1" noProof="0" dirty="0">
                        <a:solidFill>
                          <a:schemeClr val="bg1"/>
                        </a:solidFill>
                        <a:latin typeface="+mj-lt"/>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solidFill>
                      <a:schemeClr val="accent1"/>
                    </a:solidFill>
                  </a:tcPr>
                </a:tc>
                <a:tc gridSpan="2">
                  <a: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lang="ar-SA" sz="1400" b="1" noProof="0" dirty="0">
                          <a:solidFill>
                            <a:schemeClr val="bg1"/>
                          </a:solidFill>
                        </a:rPr>
                        <a:t>التحليل لكل فجوة </a:t>
                      </a:r>
                      <a:endParaRPr lang="ar-SA" sz="1400" b="1" noProof="0" dirty="0">
                        <a:solidFill>
                          <a:schemeClr val="bg1"/>
                        </a:solidFill>
                        <a:latin typeface="+mj-lt"/>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solidFill>
                      <a:schemeClr val="accent1"/>
                    </a:solidFill>
                  </a:tcPr>
                </a:tc>
                <a:tc hMerge="1">
                  <a:txBody>
                    <a:bodyPr/>
                    <a:lstStyle/>
                    <a:p>
                      <a:endParaRPr lang="en-US"/>
                    </a:p>
                  </a:txBody>
                  <a:tcPr/>
                </a:tc>
                <a:tc>
                  <a:txBody>
                    <a:bodyPr/>
                    <a:lstStyle/>
                    <a:p>
                      <a:pPr algn="ctr" rtl="1"/>
                      <a:r>
                        <a:rPr lang="ar-SA" sz="1400" b="1" noProof="0" dirty="0">
                          <a:solidFill>
                            <a:schemeClr val="bg1"/>
                          </a:solidFill>
                        </a:rPr>
                        <a:t>الفجوة</a:t>
                      </a:r>
                      <a:endParaRPr lang="ar-SA" sz="1400" b="1" noProof="0" dirty="0">
                        <a:solidFill>
                          <a:schemeClr val="bg1"/>
                        </a:solidFill>
                        <a:latin typeface="+mj-lt"/>
                      </a:endParaRPr>
                    </a:p>
                  </a:txBody>
                  <a:tcPr anchor="ctr">
                    <a:lnL w="12700" cap="flat" cmpd="sng" algn="ctr">
                      <a:solidFill>
                        <a:schemeClr val="bg1"/>
                      </a:solidFill>
                      <a:prstDash val="solid"/>
                      <a:round/>
                      <a:headEnd type="none" w="med" len="med"/>
                      <a:tailEnd type="none" w="med" len="med"/>
                    </a:lnL>
                    <a:lnR w="12700" cap="flat" cmpd="sng" algn="ctr">
                      <a:noFill/>
                      <a:prstDash val="solid"/>
                      <a:round/>
                      <a:headEnd type="none" w="med" len="med"/>
                      <a:tailEnd type="none" w="med" len="med"/>
                    </a:lnR>
                    <a:solidFill>
                      <a:schemeClr val="accent1"/>
                    </a:solidFill>
                  </a:tcPr>
                </a:tc>
                <a:extLst>
                  <a:ext uri="{0D108BD9-81ED-4DB2-BD59-A6C34878D82A}">
                    <a16:rowId xmlns:a16="http://schemas.microsoft.com/office/drawing/2014/main" val="3304685178"/>
                  </a:ext>
                </a:extLst>
              </a:tr>
              <a:tr h="0">
                <a:tc rowSpan="4">
                  <a:txBody>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lang="ar-SA" sz="1100" kern="1200" noProof="0" dirty="0">
                          <a:solidFill>
                            <a:schemeClr val="tx1"/>
                          </a:solidFill>
                          <a:effectLst/>
                          <a:latin typeface="+mn-lt"/>
                          <a:ea typeface="+mn-ea"/>
                          <a:cs typeface="+mn-cs"/>
                        </a:rPr>
                        <a:t>حصر وضع التطبيقات (وثيقة الوضع الحالي للتطبيقات) وتوصيات فريق البنية المؤسسية</a:t>
                      </a:r>
                    </a:p>
                    <a:p>
                      <a:pPr marL="0" marR="0" lvl="0" indent="0" algn="r" defTabSz="914400" rtl="1" eaLnBrk="1" fontAlgn="auto" latinLnBrk="0" hangingPunct="1">
                        <a:lnSpc>
                          <a:spcPct val="100000"/>
                        </a:lnSpc>
                        <a:spcBef>
                          <a:spcPts val="0"/>
                        </a:spcBef>
                        <a:spcAft>
                          <a:spcPts val="0"/>
                        </a:spcAft>
                        <a:buClrTx/>
                        <a:buSzTx/>
                        <a:buFontTx/>
                        <a:buNone/>
                        <a:tabLst/>
                        <a:defRPr/>
                      </a:pPr>
                      <a:r>
                        <a:rPr lang="ar-SA" sz="1100" kern="1200" noProof="0" dirty="0">
                          <a:solidFill>
                            <a:schemeClr val="tx1"/>
                          </a:solidFill>
                          <a:effectLst/>
                          <a:latin typeface="+mn-lt"/>
                          <a:ea typeface="+mn-ea"/>
                          <a:cs typeface="+mn-cs"/>
                        </a:rPr>
                        <a:t>، دراسة وثائق التطبيقات للجهة المتوفرة بالوضع الحالي</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B w="12700" cap="flat" cmpd="sng" algn="ctr">
                      <a:solidFill>
                        <a:schemeClr val="accent1"/>
                      </a:solidFill>
                      <a:prstDash val="solid"/>
                      <a:round/>
                      <a:headEnd type="none" w="med" len="med"/>
                      <a:tailEnd type="none" w="med" len="med"/>
                    </a:lnB>
                  </a:tcPr>
                </a:tc>
                <a:tc rowSpan="4">
                  <a:txBody>
                    <a:bodyPr/>
                    <a:lstStyle/>
                    <a:p>
                      <a:pPr marL="0" marR="0" lvl="0" indent="0" algn="ctr" defTabSz="914400" rtl="1" eaLnBrk="1" fontAlgn="auto" latinLnBrk="0" hangingPunct="1">
                        <a:lnSpc>
                          <a:spcPct val="100000"/>
                        </a:lnSpc>
                        <a:spcBef>
                          <a:spcPts val="0"/>
                        </a:spcBef>
                        <a:spcAft>
                          <a:spcPts val="0"/>
                        </a:spcAft>
                        <a:buClrTx/>
                        <a:buSzTx/>
                        <a:buFont typeface="Arial" panose="020B0604020202020204" pitchFamily="34" charset="0"/>
                        <a:buNone/>
                        <a:tabLst/>
                        <a:defRPr/>
                      </a:pPr>
                      <a:r>
                        <a:rPr lang="ar-SA" sz="1100" kern="1200" noProof="0" dirty="0">
                          <a:solidFill>
                            <a:schemeClr val="tx1"/>
                          </a:solidFill>
                          <a:effectLst/>
                          <a:latin typeface="+mn-lt"/>
                          <a:ea typeface="+mn-ea"/>
                          <a:cs typeface="+mn-cs"/>
                        </a:rPr>
                        <a:t>عالية</a:t>
                      </a:r>
                    </a:p>
                  </a:txBody>
                  <a:tcPr anchor="ctr">
                    <a:lnL w="12700" cap="flat" cmpd="sng" algn="ctr">
                      <a:noFill/>
                      <a:prstDash val="solid"/>
                      <a:round/>
                      <a:headEnd type="none" w="med" len="med"/>
                      <a:tailEnd type="none" w="med" len="med"/>
                    </a:lnL>
                    <a:lnR w="12700" cap="flat" cmpd="sng" algn="ctr">
                      <a:solidFill>
                        <a:schemeClr val="bg1"/>
                      </a:solidFill>
                      <a:prstDash val="solid"/>
                      <a:round/>
                      <a:headEnd type="none" w="med" len="med"/>
                      <a:tailEnd type="none" w="med" len="med"/>
                    </a:lnR>
                    <a:lnB w="12700" cap="flat" cmpd="sng" algn="ctr">
                      <a:solidFill>
                        <a:schemeClr val="accent1"/>
                      </a:solidFill>
                      <a:prstDash val="solid"/>
                      <a:round/>
                      <a:headEnd type="none" w="med" len="med"/>
                      <a:tailEnd type="none" w="med" len="med"/>
                    </a:lnB>
                    <a:solidFill>
                      <a:schemeClr val="bg1">
                        <a:lumMod val="65000"/>
                        <a:alpha val="5000"/>
                      </a:schemeClr>
                    </a:solidFill>
                  </a:tcPr>
                </a:tc>
                <a:tc rowSpan="4">
                  <a:txBody>
                    <a:bodyPr/>
                    <a:lstStyle/>
                    <a:p>
                      <a:pPr marL="0" marR="0" lvl="0" indent="0" algn="ctr" defTabSz="914400" rtl="1" eaLnBrk="1" fontAlgn="auto" latinLnBrk="0" hangingPunct="1">
                        <a:lnSpc>
                          <a:spcPct val="100000"/>
                        </a:lnSpc>
                        <a:spcBef>
                          <a:spcPts val="0"/>
                        </a:spcBef>
                        <a:spcAft>
                          <a:spcPts val="0"/>
                        </a:spcAft>
                        <a:buClrTx/>
                        <a:buSzTx/>
                        <a:buFont typeface="Arial" panose="020B0604020202020204" pitchFamily="34" charset="0"/>
                        <a:buNone/>
                        <a:tabLst/>
                        <a:defRPr/>
                      </a:pPr>
                      <a:r>
                        <a:rPr lang="ar-SA" sz="1100" kern="1200" noProof="0" dirty="0">
                          <a:solidFill>
                            <a:schemeClr val="tx1"/>
                          </a:solidFill>
                          <a:effectLst/>
                          <a:latin typeface="+mn-lt"/>
                          <a:ea typeface="+mn-ea"/>
                          <a:cs typeface="+mn-cs"/>
                        </a:rPr>
                        <a:t>عالية</a:t>
                      </a:r>
                    </a:p>
                  </a:txBody>
                  <a:tcPr anchor="ctr">
                    <a:lnL w="12700" cap="flat" cmpd="sng" algn="ctr">
                      <a:solidFill>
                        <a:schemeClr val="bg1"/>
                      </a:solidFill>
                      <a:prstDash val="solid"/>
                      <a:round/>
                      <a:headEnd type="none" w="med" len="med"/>
                      <a:tailEnd type="none" w="med" len="med"/>
                    </a:lnL>
                    <a:lnR w="12700" cap="flat" cmpd="sng" algn="ctr">
                      <a:noFill/>
                      <a:prstDash val="solid"/>
                      <a:round/>
                      <a:headEnd type="none" w="med" len="med"/>
                      <a:tailEnd type="none" w="med" len="med"/>
                    </a:lnR>
                    <a:lnB w="12700" cap="flat" cmpd="sng" algn="ctr">
                      <a:solidFill>
                        <a:schemeClr val="accent1"/>
                      </a:solidFill>
                      <a:prstDash val="solid"/>
                      <a:round/>
                      <a:headEnd type="none" w="med" len="med"/>
                      <a:tailEnd type="none" w="med" len="med"/>
                    </a:lnB>
                    <a:solidFill>
                      <a:schemeClr val="bg1">
                        <a:lumMod val="65000"/>
                        <a:alpha val="5000"/>
                      </a:schemeClr>
                    </a:solidFill>
                  </a:tcPr>
                </a:tc>
                <a:tc>
                  <a:txBody>
                    <a:bodyPr/>
                    <a:lstStyle/>
                    <a:p>
                      <a:pPr algn="r" rtl="1">
                        <a:lnSpc>
                          <a:spcPct val="115000"/>
                        </a:lnSpc>
                        <a:spcAft>
                          <a:spcPts val="800"/>
                        </a:spcAft>
                      </a:pPr>
                      <a:r>
                        <a:rPr lang="ar-SA" sz="1100" kern="1200" noProof="0" dirty="0">
                          <a:solidFill>
                            <a:schemeClr val="tx1"/>
                          </a:solidFill>
                          <a:effectLst/>
                          <a:latin typeface="+mn-lt"/>
                          <a:ea typeface="+mn-ea"/>
                          <a:cs typeface="+mn-cs"/>
                        </a:rPr>
                        <a:t>تفتقر أغلب التطبيقات إلى واجهات برمجية موحّدة (</a:t>
                      </a:r>
                      <a:r>
                        <a:rPr lang="ar-SA" sz="1100" kern="1200" noProof="0" dirty="0" err="1">
                          <a:solidFill>
                            <a:schemeClr val="tx1"/>
                          </a:solidFill>
                          <a:effectLst/>
                          <a:latin typeface="+mn-lt"/>
                          <a:ea typeface="+mn-ea"/>
                          <a:cs typeface="+mn-cs"/>
                        </a:rPr>
                        <a:t>APIs</a:t>
                      </a:r>
                      <a:r>
                        <a:rPr lang="ar-SA" sz="1100" kern="1200" noProof="0" dirty="0">
                          <a:solidFill>
                            <a:schemeClr val="tx1"/>
                          </a:solidFill>
                          <a:effectLst/>
                          <a:latin typeface="+mn-lt"/>
                          <a:ea typeface="+mn-ea"/>
                          <a:cs typeface="+mn-cs"/>
                        </a:rPr>
                        <a:t>) أو آليات ربط فعالة، حيث تتم عملية التكامل بشكل أحادي أو عبر تبادل ملفات دون توثيق ومعايير واضحة.</a:t>
                      </a:r>
                    </a:p>
                  </a:txBody>
                  <a:tcPr marL="9525" marR="9525" marT="9525" marB="9525"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B w="12700" cap="flat" cmpd="sng" algn="ctr">
                      <a:solidFill>
                        <a:schemeClr val="bg1">
                          <a:lumMod val="85000"/>
                        </a:schemeClr>
                      </a:solidFill>
                      <a:prstDash val="solid"/>
                      <a:round/>
                      <a:headEnd type="none" w="med" len="med"/>
                      <a:tailEnd type="none" w="med" len="med"/>
                    </a:lnB>
                  </a:tcPr>
                </a:tc>
                <a:tc>
                  <a:txBody>
                    <a:bodyPr/>
                    <a:lstStyle/>
                    <a:p>
                      <a:pPr marL="0" marR="0" lvl="0" indent="0" algn="ctr" defTabSz="914400" rtl="1" eaLnBrk="1" fontAlgn="auto" latinLnBrk="0" hangingPunct="1">
                        <a:lnSpc>
                          <a:spcPct val="100000"/>
                        </a:lnSpc>
                        <a:spcBef>
                          <a:spcPts val="0"/>
                        </a:spcBef>
                        <a:spcAft>
                          <a:spcPts val="0"/>
                        </a:spcAft>
                        <a:buClrTx/>
                        <a:buSzTx/>
                        <a:buFont typeface="Arial" panose="020B0604020202020204" pitchFamily="34" charset="0"/>
                        <a:buNone/>
                        <a:tabLst/>
                        <a:defRPr/>
                      </a:pPr>
                      <a:r>
                        <a:rPr lang="ar-SA" sz="1400" b="1" noProof="0" dirty="0">
                          <a:solidFill>
                            <a:schemeClr val="accent1"/>
                          </a:solidFill>
                        </a:rPr>
                        <a:t>الوصف</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B w="12700" cap="flat" cmpd="sng" algn="ctr">
                      <a:solidFill>
                        <a:schemeClr val="bg1">
                          <a:lumMod val="85000"/>
                        </a:schemeClr>
                      </a:solidFill>
                      <a:prstDash val="solid"/>
                      <a:round/>
                      <a:headEnd type="none" w="med" len="med"/>
                      <a:tailEnd type="none" w="med" len="med"/>
                    </a:lnB>
                    <a:solidFill>
                      <a:schemeClr val="bg1">
                        <a:lumMod val="95000"/>
                      </a:schemeClr>
                    </a:solidFill>
                  </a:tcPr>
                </a:tc>
                <a:tc rowSpan="4">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ar-SA" sz="1600" b="1" noProof="0" dirty="0"/>
                        <a:t>GAP-A-01</a:t>
                      </a:r>
                      <a:endParaRPr lang="ar-SA" sz="1600" b="1" kern="1200" noProof="0" dirty="0">
                        <a:effectLst/>
                      </a:endParaRPr>
                    </a:p>
                    <a:p>
                      <a:pPr marL="0" marR="0" lvl="0" indent="0" algn="r" defTabSz="914400" rtl="1" eaLnBrk="1" fontAlgn="auto" latinLnBrk="0" hangingPunct="1">
                        <a:lnSpc>
                          <a:spcPct val="100000"/>
                        </a:lnSpc>
                        <a:spcBef>
                          <a:spcPts val="0"/>
                        </a:spcBef>
                        <a:spcAft>
                          <a:spcPts val="0"/>
                        </a:spcAft>
                        <a:buClrTx/>
                        <a:buSzTx/>
                        <a:buFontTx/>
                        <a:buNone/>
                        <a:tabLst/>
                        <a:defRPr/>
                      </a:pPr>
                      <a:r>
                        <a:rPr lang="ar-SA" sz="1400" b="1" kern="1200" noProof="0" dirty="0">
                          <a:solidFill>
                            <a:schemeClr val="tx1"/>
                          </a:solidFill>
                          <a:effectLst/>
                          <a:latin typeface="+mn-lt"/>
                          <a:ea typeface="+mn-ea"/>
                          <a:cs typeface="+mn-cs"/>
                        </a:rPr>
                        <a:t>غياب التكامل الشامل بين معظم التطبيقات؛ تكامل أحادي أو غير موثق.</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B w="12700" cap="flat" cmpd="sng" algn="ctr">
                      <a:solidFill>
                        <a:schemeClr val="accent1"/>
                      </a:solidFill>
                      <a:prstDash val="solid"/>
                      <a:round/>
                      <a:headEnd type="none" w="med" len="med"/>
                      <a:tailEnd type="none" w="med" len="med"/>
                    </a:lnB>
                  </a:tcPr>
                </a:tc>
                <a:extLst>
                  <a:ext uri="{0D108BD9-81ED-4DB2-BD59-A6C34878D82A}">
                    <a16:rowId xmlns:a16="http://schemas.microsoft.com/office/drawing/2014/main" val="1128065702"/>
                  </a:ext>
                </a:extLst>
              </a:tr>
              <a:tr h="0">
                <a:tc vMerge="1">
                  <a:txBody>
                    <a:bodyPr/>
                    <a:lstStyle/>
                    <a:p>
                      <a:endParaRPr lang="en-US"/>
                    </a:p>
                  </a:txBody>
                  <a:tcPr/>
                </a:tc>
                <a:tc vMerge="1">
                  <a:txBody>
                    <a:bodyPr/>
                    <a:lstStyle/>
                    <a:p>
                      <a:endParaRPr lang="en-US"/>
                    </a:p>
                  </a:txBody>
                  <a:tcPr/>
                </a:tc>
                <a:tc vMerge="1">
                  <a:txBody>
                    <a:bodyPr/>
                    <a:lstStyle/>
                    <a:p>
                      <a:endParaRPr lang="en-US"/>
                    </a:p>
                  </a:txBody>
                  <a:tcPr/>
                </a:tc>
                <a:tc>
                  <a:txBody>
                    <a:bodyPr/>
                    <a:lstStyle/>
                    <a:p>
                      <a:pPr algn="r" rtl="1">
                        <a:lnSpc>
                          <a:spcPct val="115000"/>
                        </a:lnSpc>
                        <a:spcAft>
                          <a:spcPts val="800"/>
                        </a:spcAft>
                      </a:pPr>
                      <a:r>
                        <a:rPr lang="ar-SA" sz="1100" kern="1200" noProof="0" dirty="0">
                          <a:solidFill>
                            <a:schemeClr val="tx1"/>
                          </a:solidFill>
                          <a:effectLst/>
                          <a:latin typeface="+mn-lt"/>
                          <a:ea typeface="+mn-ea"/>
                          <a:cs typeface="+mn-cs"/>
                        </a:rPr>
                        <a:t>صعوبة تبادل البيانات بين الأنظمة وزيادة الأعمال اليدوية في إعادة إدخال البيانات وتضييع الوقت والجهد على الموظفين والمستفيدين</a:t>
                      </a:r>
                    </a:p>
                  </a:txBody>
                  <a:tcPr marL="9525" marR="9525" marT="9525" marB="9525"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marL="0" marR="0" lvl="0" indent="0" algn="ctr" defTabSz="914400" rtl="1" eaLnBrk="1" fontAlgn="auto" latinLnBrk="0" hangingPunct="1">
                        <a:lnSpc>
                          <a:spcPct val="100000"/>
                        </a:lnSpc>
                        <a:spcBef>
                          <a:spcPts val="0"/>
                        </a:spcBef>
                        <a:spcAft>
                          <a:spcPts val="0"/>
                        </a:spcAft>
                        <a:buClrTx/>
                        <a:buSzTx/>
                        <a:buFont typeface="Arial" panose="020B0604020202020204" pitchFamily="34" charset="0"/>
                        <a:buNone/>
                        <a:tabLst/>
                        <a:defRPr/>
                      </a:pPr>
                      <a:r>
                        <a:rPr lang="ar-SA" sz="1400" b="1" kern="1200" noProof="0" dirty="0">
                          <a:solidFill>
                            <a:schemeClr val="accent1"/>
                          </a:solidFill>
                        </a:rPr>
                        <a:t>الأثر الحالي</a:t>
                      </a:r>
                      <a:endParaRPr lang="ar-SA" sz="1400" b="1" noProof="0" dirty="0">
                        <a:solidFill>
                          <a:schemeClr val="accent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lumMod val="95000"/>
                      </a:schemeClr>
                    </a:solidFill>
                  </a:tcPr>
                </a:tc>
                <a:tc vMerge="1">
                  <a:txBody>
                    <a:bodyPr/>
                    <a:lstStyle/>
                    <a:p>
                      <a:endParaRPr lang="en-US"/>
                    </a:p>
                  </a:txBody>
                  <a:tcPr/>
                </a:tc>
                <a:extLst>
                  <a:ext uri="{0D108BD9-81ED-4DB2-BD59-A6C34878D82A}">
                    <a16:rowId xmlns:a16="http://schemas.microsoft.com/office/drawing/2014/main" val="1163892829"/>
                  </a:ext>
                </a:extLst>
              </a:tr>
              <a:tr h="0">
                <a:tc vMerge="1">
                  <a:txBody>
                    <a:bodyPr/>
                    <a:lstStyle/>
                    <a:p>
                      <a:endParaRPr lang="en-US"/>
                    </a:p>
                  </a:txBody>
                  <a:tcPr/>
                </a:tc>
                <a:tc vMerge="1">
                  <a:txBody>
                    <a:bodyPr/>
                    <a:lstStyle/>
                    <a:p>
                      <a:endParaRPr lang="en-US"/>
                    </a:p>
                  </a:txBody>
                  <a:tcPr/>
                </a:tc>
                <a:tc vMerge="1">
                  <a:txBody>
                    <a:bodyPr/>
                    <a:lstStyle/>
                    <a:p>
                      <a:endParaRPr lang="en-US"/>
                    </a:p>
                  </a:txBody>
                  <a:tcPr/>
                </a:tc>
                <a:tc>
                  <a:txBody>
                    <a:bodyPr/>
                    <a:lstStyle/>
                    <a:p>
                      <a:pPr marL="171450" indent="-171450" algn="r" rtl="1">
                        <a:lnSpc>
                          <a:spcPct val="100000"/>
                        </a:lnSpc>
                        <a:spcAft>
                          <a:spcPts val="0"/>
                        </a:spcAft>
                        <a:buFont typeface="Arial" panose="020B0604020202020204" pitchFamily="34" charset="0"/>
                        <a:buChar char="•"/>
                      </a:pPr>
                      <a:r>
                        <a:rPr lang="ar-SA" sz="1100" kern="1200" noProof="0" dirty="0">
                          <a:solidFill>
                            <a:schemeClr val="tx1"/>
                          </a:solidFill>
                          <a:effectLst/>
                          <a:latin typeface="+mn-lt"/>
                          <a:ea typeface="+mn-ea"/>
                          <a:cs typeface="+mn-cs"/>
                        </a:rPr>
                        <a:t>تحسين تدفق البيانات وانسيابية الإجراءات</a:t>
                      </a:r>
                    </a:p>
                    <a:p>
                      <a:pPr marL="171450" indent="-171450" algn="r" rtl="1">
                        <a:lnSpc>
                          <a:spcPct val="100000"/>
                        </a:lnSpc>
                        <a:spcAft>
                          <a:spcPts val="0"/>
                        </a:spcAft>
                        <a:buFont typeface="Arial" panose="020B0604020202020204" pitchFamily="34" charset="0"/>
                        <a:buChar char="•"/>
                      </a:pPr>
                      <a:r>
                        <a:rPr lang="ar-SA" sz="1100" kern="1200" noProof="0" dirty="0">
                          <a:solidFill>
                            <a:schemeClr val="tx1"/>
                          </a:solidFill>
                          <a:effectLst/>
                          <a:latin typeface="+mn-lt"/>
                          <a:ea typeface="+mn-ea"/>
                          <a:cs typeface="+mn-cs"/>
                        </a:rPr>
                        <a:t>تقليل الأخطاء وتوحيد تجربة المستخدم عبر الأنظمة</a:t>
                      </a:r>
                    </a:p>
                    <a:p>
                      <a:pPr marL="171450" indent="-171450" algn="r" rtl="1">
                        <a:lnSpc>
                          <a:spcPct val="100000"/>
                        </a:lnSpc>
                        <a:spcAft>
                          <a:spcPts val="0"/>
                        </a:spcAft>
                        <a:buFont typeface="Arial" panose="020B0604020202020204" pitchFamily="34" charset="0"/>
                        <a:buChar char="•"/>
                      </a:pPr>
                      <a:r>
                        <a:rPr lang="ar-SA" sz="1100" kern="1200" noProof="0" dirty="0">
                          <a:solidFill>
                            <a:schemeClr val="tx1"/>
                          </a:solidFill>
                          <a:effectLst/>
                          <a:latin typeface="+mn-lt"/>
                          <a:ea typeface="+mn-ea"/>
                          <a:cs typeface="+mn-cs"/>
                        </a:rPr>
                        <a:t>تسهيل إضافة خدمات جديدة أو توسعة المنظومة مستقبلاً</a:t>
                      </a:r>
                    </a:p>
                  </a:txBody>
                  <a:tcPr marL="9525" marR="9525" marT="9525" marB="9525"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marL="0" marR="0" lvl="0" indent="0" algn="ctr" defTabSz="914400" rtl="1" eaLnBrk="1" fontAlgn="auto" latinLnBrk="0" hangingPunct="1">
                        <a:lnSpc>
                          <a:spcPct val="100000"/>
                        </a:lnSpc>
                        <a:spcBef>
                          <a:spcPts val="0"/>
                        </a:spcBef>
                        <a:spcAft>
                          <a:spcPts val="0"/>
                        </a:spcAft>
                        <a:buClrTx/>
                        <a:buSzTx/>
                        <a:buFont typeface="Arial" panose="020B0604020202020204" pitchFamily="34" charset="0"/>
                        <a:buNone/>
                        <a:tabLst/>
                        <a:defRPr/>
                      </a:pPr>
                      <a:r>
                        <a:rPr lang="ar-SA" sz="1400" b="1" noProof="0" dirty="0">
                          <a:solidFill>
                            <a:schemeClr val="accent1"/>
                          </a:solidFill>
                        </a:rPr>
                        <a:t>الأثر بعد الردم (المعالجة)</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lumMod val="95000"/>
                      </a:schemeClr>
                    </a:solidFill>
                  </a:tcPr>
                </a:tc>
                <a:tc vMerge="1">
                  <a:txBody>
                    <a:bodyPr/>
                    <a:lstStyle/>
                    <a:p>
                      <a:endParaRPr lang="en-US"/>
                    </a:p>
                  </a:txBody>
                  <a:tcPr/>
                </a:tc>
                <a:extLst>
                  <a:ext uri="{0D108BD9-81ED-4DB2-BD59-A6C34878D82A}">
                    <a16:rowId xmlns:a16="http://schemas.microsoft.com/office/drawing/2014/main" val="1973569126"/>
                  </a:ext>
                </a:extLst>
              </a:tr>
              <a:tr h="0">
                <a:tc vMerge="1">
                  <a:txBody>
                    <a:bodyPr/>
                    <a:lstStyle/>
                    <a:p>
                      <a:endParaRPr lang="en-US"/>
                    </a:p>
                  </a:txBody>
                  <a:tcPr/>
                </a:tc>
                <a:tc vMerge="1">
                  <a:txBody>
                    <a:bodyPr/>
                    <a:lstStyle/>
                    <a:p>
                      <a:endParaRPr lang="en-US"/>
                    </a:p>
                  </a:txBody>
                  <a:tcPr/>
                </a:tc>
                <a:tc vMerge="1">
                  <a:txBody>
                    <a:bodyPr/>
                    <a:lstStyle/>
                    <a:p>
                      <a:endParaRPr lang="en-US"/>
                    </a:p>
                  </a:txBody>
                  <a:tcPr/>
                </a:tc>
                <a:tc>
                  <a:txBody>
                    <a:bodyPr/>
                    <a:lstStyle/>
                    <a:p>
                      <a:pPr marL="171450" indent="-171450" algn="r" rtl="1">
                        <a:lnSpc>
                          <a:spcPct val="100000"/>
                        </a:lnSpc>
                        <a:spcAft>
                          <a:spcPts val="0"/>
                        </a:spcAft>
                        <a:buFont typeface="Arial" panose="020B0604020202020204" pitchFamily="34" charset="0"/>
                        <a:buChar char="•"/>
                      </a:pPr>
                      <a:r>
                        <a:rPr lang="ar-SA" sz="1100" kern="1200" noProof="0" dirty="0">
                          <a:solidFill>
                            <a:schemeClr val="tx1"/>
                          </a:solidFill>
                          <a:effectLst/>
                          <a:latin typeface="+mn-lt"/>
                          <a:ea typeface="+mn-ea"/>
                          <a:cs typeface="+mn-cs"/>
                        </a:rPr>
                        <a:t>إنشاء منصة تكامل مؤسسية أو استخدام WSO2 API </a:t>
                      </a:r>
                      <a:r>
                        <a:rPr lang="ar-SA" sz="1100" kern="1200" noProof="0" dirty="0" err="1">
                          <a:solidFill>
                            <a:schemeClr val="tx1"/>
                          </a:solidFill>
                          <a:effectLst/>
                          <a:latin typeface="+mn-lt"/>
                          <a:ea typeface="+mn-ea"/>
                          <a:cs typeface="+mn-cs"/>
                        </a:rPr>
                        <a:t>Manager</a:t>
                      </a:r>
                      <a:r>
                        <a:rPr lang="ar-SA" sz="1100" kern="1200" noProof="0" dirty="0">
                          <a:solidFill>
                            <a:schemeClr val="tx1"/>
                          </a:solidFill>
                          <a:effectLst/>
                          <a:latin typeface="+mn-lt"/>
                          <a:ea typeface="+mn-ea"/>
                          <a:cs typeface="+mn-cs"/>
                        </a:rPr>
                        <a:t> بشكل أوسع </a:t>
                      </a:r>
                    </a:p>
                    <a:p>
                      <a:pPr marL="171450" indent="-171450" algn="r" rtl="1">
                        <a:lnSpc>
                          <a:spcPct val="100000"/>
                        </a:lnSpc>
                        <a:spcAft>
                          <a:spcPts val="0"/>
                        </a:spcAft>
                        <a:buFont typeface="Arial" panose="020B0604020202020204" pitchFamily="34" charset="0"/>
                        <a:buChar char="•"/>
                      </a:pPr>
                      <a:r>
                        <a:rPr lang="ar-SA" sz="1100" kern="1200" noProof="0" dirty="0">
                          <a:solidFill>
                            <a:schemeClr val="tx1"/>
                          </a:solidFill>
                          <a:effectLst/>
                          <a:latin typeface="+mn-lt"/>
                          <a:ea typeface="+mn-ea"/>
                          <a:cs typeface="+mn-cs"/>
                        </a:rPr>
                        <a:t>واعتماد واجهات برمجية قياسية (REST, SOAP) وتوحيد أساليب المصادقة </a:t>
                      </a:r>
                    </a:p>
                    <a:p>
                      <a:pPr marL="171450" indent="-171450" algn="r" rtl="1">
                        <a:lnSpc>
                          <a:spcPct val="100000"/>
                        </a:lnSpc>
                        <a:spcAft>
                          <a:spcPts val="0"/>
                        </a:spcAft>
                        <a:buFont typeface="Arial" panose="020B0604020202020204" pitchFamily="34" charset="0"/>
                        <a:buChar char="•"/>
                      </a:pPr>
                      <a:r>
                        <a:rPr lang="ar-SA" sz="1100" kern="1200" noProof="0" dirty="0">
                          <a:solidFill>
                            <a:schemeClr val="tx1"/>
                          </a:solidFill>
                          <a:effectLst/>
                          <a:latin typeface="+mn-lt"/>
                          <a:ea typeface="+mn-ea"/>
                          <a:cs typeface="+mn-cs"/>
                        </a:rPr>
                        <a:t>توثيق جميع خدمات التكامل في سجل مركزي</a:t>
                      </a:r>
                    </a:p>
                  </a:txBody>
                  <a:tcPr marL="9525" marR="9525" marT="9525" marB="9525"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marL="0" marR="0" lvl="0" indent="0" algn="ctr" defTabSz="914400" rtl="1" eaLnBrk="1" fontAlgn="auto" latinLnBrk="0" hangingPunct="1">
                        <a:lnSpc>
                          <a:spcPct val="100000"/>
                        </a:lnSpc>
                        <a:spcBef>
                          <a:spcPts val="0"/>
                        </a:spcBef>
                        <a:spcAft>
                          <a:spcPts val="0"/>
                        </a:spcAft>
                        <a:buClrTx/>
                        <a:buSzTx/>
                        <a:buFont typeface="Arial" panose="020B0604020202020204" pitchFamily="34" charset="0"/>
                        <a:buNone/>
                        <a:tabLst/>
                        <a:defRPr/>
                      </a:pPr>
                      <a:r>
                        <a:rPr lang="ar-SA" sz="1400" b="1" noProof="0" dirty="0">
                          <a:solidFill>
                            <a:schemeClr val="accent1"/>
                          </a:solidFill>
                        </a:rPr>
                        <a:t>تغطية الفجوة </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accent1"/>
                      </a:solidFill>
                      <a:prstDash val="solid"/>
                      <a:round/>
                      <a:headEnd type="none" w="med" len="med"/>
                      <a:tailEnd type="none" w="med" len="med"/>
                    </a:lnB>
                    <a:solidFill>
                      <a:schemeClr val="bg1">
                        <a:lumMod val="95000"/>
                      </a:schemeClr>
                    </a:solidFill>
                  </a:tcPr>
                </a:tc>
                <a:tc vMerge="1">
                  <a:txBody>
                    <a:bodyPr/>
                    <a:lstStyle/>
                    <a:p>
                      <a:endParaRPr lang="en-US"/>
                    </a:p>
                  </a:txBody>
                  <a:tcPr/>
                </a:tc>
                <a:extLst>
                  <a:ext uri="{0D108BD9-81ED-4DB2-BD59-A6C34878D82A}">
                    <a16:rowId xmlns:a16="http://schemas.microsoft.com/office/drawing/2014/main" val="4011636746"/>
                  </a:ext>
                </a:extLst>
              </a:tr>
              <a:tr h="0">
                <a:tc rowSpan="4">
                  <a:txBody>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lang="ar-SA" sz="1100" kern="1200" noProof="0" dirty="0">
                          <a:solidFill>
                            <a:schemeClr val="tx1"/>
                          </a:solidFill>
                          <a:effectLst/>
                          <a:latin typeface="+mn-lt"/>
                          <a:ea typeface="+mn-ea"/>
                          <a:cs typeface="+mn-cs"/>
                        </a:rPr>
                        <a:t>حصر وضع التطبيقات (وثيقة الوضع الحالي للتطبيقات) وتوصيات فريق البنية المؤسسية</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rowSpan="4">
                  <a:txBody>
                    <a:bodyPr/>
                    <a:lstStyle/>
                    <a:p>
                      <a:pPr marL="0" marR="0" lvl="0" indent="0" algn="ctr" defTabSz="914400" rtl="1" eaLnBrk="1" fontAlgn="auto" latinLnBrk="0" hangingPunct="1">
                        <a:lnSpc>
                          <a:spcPct val="100000"/>
                        </a:lnSpc>
                        <a:spcBef>
                          <a:spcPts val="0"/>
                        </a:spcBef>
                        <a:spcAft>
                          <a:spcPts val="0"/>
                        </a:spcAft>
                        <a:buClrTx/>
                        <a:buSzTx/>
                        <a:buFont typeface="Arial" panose="020B0604020202020204" pitchFamily="34" charset="0"/>
                        <a:buNone/>
                        <a:tabLst/>
                        <a:defRPr/>
                      </a:pPr>
                      <a:r>
                        <a:rPr lang="ar-SA" sz="1100" kern="1200" noProof="0" dirty="0">
                          <a:solidFill>
                            <a:schemeClr val="tx1"/>
                          </a:solidFill>
                          <a:effectLst/>
                          <a:latin typeface="+mn-lt"/>
                          <a:ea typeface="+mn-ea"/>
                          <a:cs typeface="+mn-cs"/>
                        </a:rPr>
                        <a:t>عالية</a:t>
                      </a:r>
                    </a:p>
                  </a:txBody>
                  <a:tcPr anchor="ctr">
                    <a:lnL w="12700" cap="flat" cmpd="sng" algn="ctr">
                      <a:no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solidFill>
                      <a:schemeClr val="bg1">
                        <a:lumMod val="85000"/>
                        <a:alpha val="5000"/>
                      </a:schemeClr>
                    </a:solidFill>
                  </a:tcPr>
                </a:tc>
                <a:tc rowSpan="4">
                  <a:txBody>
                    <a:bodyPr/>
                    <a:lstStyle/>
                    <a:p>
                      <a:pPr marL="0" marR="0" lvl="0" indent="0" algn="ctr" defTabSz="914400" rtl="1" eaLnBrk="1" fontAlgn="auto" latinLnBrk="0" hangingPunct="1">
                        <a:lnSpc>
                          <a:spcPct val="100000"/>
                        </a:lnSpc>
                        <a:spcBef>
                          <a:spcPts val="0"/>
                        </a:spcBef>
                        <a:spcAft>
                          <a:spcPts val="0"/>
                        </a:spcAft>
                        <a:buClrTx/>
                        <a:buSzTx/>
                        <a:buFont typeface="Arial" panose="020B0604020202020204" pitchFamily="34" charset="0"/>
                        <a:buNone/>
                        <a:tabLst/>
                        <a:defRPr/>
                      </a:pPr>
                      <a:r>
                        <a:rPr lang="ar-SA" sz="1100" kern="1200" noProof="0" dirty="0">
                          <a:solidFill>
                            <a:schemeClr val="tx1"/>
                          </a:solidFill>
                          <a:effectLst/>
                          <a:latin typeface="+mn-lt"/>
                          <a:ea typeface="+mn-ea"/>
                          <a:cs typeface="+mn-cs"/>
                        </a:rPr>
                        <a:t>عالية</a:t>
                      </a:r>
                    </a:p>
                  </a:txBody>
                  <a:tcPr anchor="ctr">
                    <a:lnL w="12700" cap="flat" cmpd="sng" algn="ctr">
                      <a:solidFill>
                        <a:schemeClr val="bg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solidFill>
                      <a:schemeClr val="bg1">
                        <a:lumMod val="85000"/>
                        <a:alpha val="5000"/>
                      </a:schemeClr>
                    </a:solidFill>
                  </a:tcPr>
                </a:tc>
                <a:tc>
                  <a:txBody>
                    <a:bodyPr/>
                    <a:lstStyle/>
                    <a:p>
                      <a:pPr algn="r" rtl="1">
                        <a:lnSpc>
                          <a:spcPct val="115000"/>
                        </a:lnSpc>
                        <a:spcAft>
                          <a:spcPts val="800"/>
                        </a:spcAft>
                      </a:pPr>
                      <a:r>
                        <a:rPr lang="ar-SA" sz="1100" kern="1200" noProof="0" dirty="0">
                          <a:solidFill>
                            <a:schemeClr val="tx1"/>
                          </a:solidFill>
                          <a:effectLst/>
                          <a:latin typeface="+mn-lt"/>
                          <a:ea typeface="+mn-ea"/>
                          <a:cs typeface="+mn-cs"/>
                        </a:rPr>
                        <a:t>نقص في التوثيق الشامل للتطبيقات، سواء من حيث التصميم الفني، التعليمات البرمجية، أو إجراءات التشغيل وواجهات التكامل.</a:t>
                      </a:r>
                    </a:p>
                  </a:txBody>
                  <a:tcPr marL="9525" marR="9525" marT="9525" marB="9525"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marL="0" marR="0" lvl="0" indent="0" algn="ctr" defTabSz="914400" rtl="1" eaLnBrk="1" fontAlgn="auto" latinLnBrk="0" hangingPunct="1">
                        <a:lnSpc>
                          <a:spcPct val="100000"/>
                        </a:lnSpc>
                        <a:spcBef>
                          <a:spcPts val="0"/>
                        </a:spcBef>
                        <a:spcAft>
                          <a:spcPts val="0"/>
                        </a:spcAft>
                        <a:buClrTx/>
                        <a:buSzTx/>
                        <a:buFont typeface="Arial" panose="020B0604020202020204" pitchFamily="34" charset="0"/>
                        <a:buNone/>
                        <a:tabLst/>
                        <a:defRPr/>
                      </a:pPr>
                      <a:r>
                        <a:rPr lang="ar-SA" sz="1400" b="1" kern="1200" noProof="0" dirty="0">
                          <a:solidFill>
                            <a:schemeClr val="accent1"/>
                          </a:solidFill>
                          <a:latin typeface="+mn-lt"/>
                          <a:ea typeface="+mn-ea"/>
                          <a:cs typeface="+mn-cs"/>
                        </a:rPr>
                        <a:t>الوصف</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lumMod val="95000"/>
                      </a:schemeClr>
                    </a:solidFill>
                  </a:tcPr>
                </a:tc>
                <a:tc rowSpan="4">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ar-SA" sz="1600" b="1" u="none" strike="noStrike" kern="1200" cap="none" spc="0" normalizeH="0" baseline="0" noProof="0" dirty="0">
                          <a:ln>
                            <a:noFill/>
                          </a:ln>
                          <a:effectLst/>
                          <a:uLnTx/>
                          <a:uFillTx/>
                        </a:rPr>
                        <a:t>GAP-A-02</a:t>
                      </a:r>
                      <a:endParaRPr kumimoji="0" lang="ar-SA" sz="1600" b="1" i="0" u="none" strike="noStrike" kern="1200" cap="none" spc="0" normalizeH="0" baseline="0" noProof="0" dirty="0">
                        <a:ln>
                          <a:noFill/>
                        </a:ln>
                        <a:solidFill>
                          <a:prstClr val="black"/>
                        </a:solidFill>
                        <a:effectLst/>
                        <a:uLnTx/>
                        <a:uFillTx/>
                        <a:latin typeface="+mn-lt"/>
                        <a:ea typeface="+mn-ea"/>
                        <a:cs typeface="+mn-cs"/>
                      </a:endParaRPr>
                    </a:p>
                    <a:p>
                      <a:pPr marL="0" marR="0" lvl="0" indent="0" algn="r" defTabSz="914400" rtl="1" eaLnBrk="1" fontAlgn="auto" latinLnBrk="0" hangingPunct="1">
                        <a:lnSpc>
                          <a:spcPct val="100000"/>
                        </a:lnSpc>
                        <a:spcBef>
                          <a:spcPts val="0"/>
                        </a:spcBef>
                        <a:spcAft>
                          <a:spcPts val="0"/>
                        </a:spcAft>
                        <a:buClrTx/>
                        <a:buSzTx/>
                        <a:buFontTx/>
                        <a:buNone/>
                        <a:tabLst/>
                        <a:defRPr/>
                      </a:pPr>
                      <a:r>
                        <a:rPr lang="ar-SA" sz="1400" b="1" kern="1200" noProof="0" dirty="0">
                          <a:effectLst/>
                        </a:rPr>
                        <a:t>ضعف التوثيق في العديد من التطبيقات</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extLst>
                  <a:ext uri="{0D108BD9-81ED-4DB2-BD59-A6C34878D82A}">
                    <a16:rowId xmlns:a16="http://schemas.microsoft.com/office/drawing/2014/main" val="1136131386"/>
                  </a:ext>
                </a:extLst>
              </a:tr>
              <a:tr h="0">
                <a:tc vMerge="1">
                  <a:txBody>
                    <a:bodyPr/>
                    <a:lstStyle/>
                    <a:p>
                      <a:pPr marL="0" marR="0" lvl="0" indent="0" algn="r" defTabSz="914400" rtl="1" eaLnBrk="1" fontAlgn="auto" latinLnBrk="0" hangingPunct="1">
                        <a:lnSpc>
                          <a:spcPct val="100000"/>
                        </a:lnSpc>
                        <a:spcBef>
                          <a:spcPts val="0"/>
                        </a:spcBef>
                        <a:spcAft>
                          <a:spcPts val="0"/>
                        </a:spcAft>
                        <a:buClrTx/>
                        <a:buSzTx/>
                        <a:buFontTx/>
                        <a:buNone/>
                        <a:tabLst/>
                        <a:defRPr/>
                      </a:pPr>
                      <a:endParaRPr lang="en-GB" sz="1400" noProof="0" dirty="0"/>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vMerge="1">
                  <a:txBody>
                    <a:bodyPr/>
                    <a:lstStyle/>
                    <a:p>
                      <a:endParaRPr lang="en-US"/>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vMerge="1">
                  <a:txBody>
                    <a:bodyPr/>
                    <a:lstStyle/>
                    <a:p>
                      <a:endParaRPr lang="en-US"/>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marL="171450" indent="-171450" algn="r" defTabSz="914400" rtl="1" eaLnBrk="1" latinLnBrk="0" hangingPunct="1">
                        <a:lnSpc>
                          <a:spcPct val="115000"/>
                        </a:lnSpc>
                        <a:spcAft>
                          <a:spcPts val="0"/>
                        </a:spcAft>
                        <a:buFont typeface="Arial" panose="020B0604020202020204" pitchFamily="34" charset="0"/>
                        <a:buChar char="•"/>
                      </a:pPr>
                      <a:r>
                        <a:rPr lang="ar-SA" sz="1100" kern="1200" noProof="0" dirty="0">
                          <a:solidFill>
                            <a:schemeClr val="tx1"/>
                          </a:solidFill>
                          <a:effectLst/>
                          <a:latin typeface="+mn-lt"/>
                          <a:ea typeface="+mn-ea"/>
                          <a:cs typeface="+mn-cs"/>
                        </a:rPr>
                        <a:t>صعوبة صيانة وتحديث التطبيقات.</a:t>
                      </a:r>
                    </a:p>
                    <a:p>
                      <a:pPr marL="171450" indent="-171450" algn="r" defTabSz="914400" rtl="1" eaLnBrk="1" latinLnBrk="0" hangingPunct="1">
                        <a:lnSpc>
                          <a:spcPct val="115000"/>
                        </a:lnSpc>
                        <a:spcAft>
                          <a:spcPts val="0"/>
                        </a:spcAft>
                        <a:buFont typeface="Arial" panose="020B0604020202020204" pitchFamily="34" charset="0"/>
                        <a:buChar char="•"/>
                      </a:pPr>
                      <a:r>
                        <a:rPr lang="ar-SA" sz="1100" kern="1200" noProof="0" dirty="0">
                          <a:solidFill>
                            <a:schemeClr val="tx1"/>
                          </a:solidFill>
                          <a:effectLst/>
                          <a:latin typeface="+mn-lt"/>
                          <a:ea typeface="+mn-ea"/>
                          <a:cs typeface="+mn-cs"/>
                        </a:rPr>
                        <a:t>اعتماد مفرط على المعرفة الشخصية والخبرة الفردية مما يزيد من المخاطر عند تبديل الموظفين.</a:t>
                      </a:r>
                    </a:p>
                    <a:p>
                      <a:pPr marL="171450" indent="-171450" algn="r" defTabSz="914400" rtl="1" eaLnBrk="1" latinLnBrk="0" hangingPunct="1">
                        <a:lnSpc>
                          <a:spcPct val="115000"/>
                        </a:lnSpc>
                        <a:spcAft>
                          <a:spcPts val="0"/>
                        </a:spcAft>
                        <a:buFont typeface="Arial" panose="020B0604020202020204" pitchFamily="34" charset="0"/>
                        <a:buChar char="•"/>
                      </a:pPr>
                      <a:r>
                        <a:rPr lang="ar-SA" sz="1100" kern="1200" noProof="0" dirty="0">
                          <a:solidFill>
                            <a:schemeClr val="tx1"/>
                          </a:solidFill>
                          <a:effectLst/>
                          <a:latin typeface="+mn-lt"/>
                          <a:ea typeface="+mn-ea"/>
                          <a:cs typeface="+mn-cs"/>
                        </a:rPr>
                        <a:t>تأخير عمليات التطوير والتكامل بين الأنظمة.</a:t>
                      </a:r>
                    </a:p>
                  </a:txBody>
                  <a:tcPr marL="9525" marR="9525" marT="9525" marB="9525"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marL="0" marR="0" lvl="0" indent="0" algn="ctr" defTabSz="914400" rtl="1" eaLnBrk="1" fontAlgn="auto" latinLnBrk="0" hangingPunct="1">
                        <a:lnSpc>
                          <a:spcPct val="115000"/>
                        </a:lnSpc>
                        <a:spcBef>
                          <a:spcPts val="0"/>
                        </a:spcBef>
                        <a:spcAft>
                          <a:spcPts val="0"/>
                        </a:spcAft>
                        <a:buClrTx/>
                        <a:buSzTx/>
                        <a:buFont typeface="Arial" panose="020B0604020202020204" pitchFamily="34" charset="0"/>
                        <a:buNone/>
                        <a:tabLst/>
                        <a:defRPr/>
                      </a:pPr>
                      <a:r>
                        <a:rPr lang="ar-SA" sz="1400" b="1" kern="1200" noProof="0" dirty="0">
                          <a:solidFill>
                            <a:schemeClr val="accent1"/>
                          </a:solidFill>
                          <a:latin typeface="+mn-lt"/>
                          <a:ea typeface="+mn-ea"/>
                          <a:cs typeface="+mn-cs"/>
                        </a:rPr>
                        <a:t>الأثر الحالي</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lumMod val="95000"/>
                      </a:schemeClr>
                    </a:solidFill>
                  </a:tcPr>
                </a:tc>
                <a:tc vMerge="1">
                  <a:txBody>
                    <a:bodyPr/>
                    <a:lstStyle/>
                    <a:p>
                      <a:pPr marL="0" marR="0" lvl="0" indent="0" algn="r" defTabSz="914400" rtl="1" eaLnBrk="1" fontAlgn="auto" latinLnBrk="0" hangingPunct="1">
                        <a:lnSpc>
                          <a:spcPct val="100000"/>
                        </a:lnSpc>
                        <a:spcBef>
                          <a:spcPts val="0"/>
                        </a:spcBef>
                        <a:spcAft>
                          <a:spcPts val="0"/>
                        </a:spcAft>
                        <a:buClrTx/>
                        <a:buSzTx/>
                        <a:buFontTx/>
                        <a:buNone/>
                        <a:tabLst/>
                        <a:defRPr/>
                      </a:pPr>
                      <a:endParaRPr lang="en-GB" sz="1400" b="1" noProof="0" dirty="0"/>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extLst>
                  <a:ext uri="{0D108BD9-81ED-4DB2-BD59-A6C34878D82A}">
                    <a16:rowId xmlns:a16="http://schemas.microsoft.com/office/drawing/2014/main" val="918118369"/>
                  </a:ext>
                </a:extLst>
              </a:tr>
              <a:tr h="0">
                <a:tc vMerge="1">
                  <a:txBody>
                    <a:bodyPr/>
                    <a:lstStyle/>
                    <a:p>
                      <a:pPr marL="0" marR="0" lvl="0" indent="0" algn="r" defTabSz="914400" rtl="1" eaLnBrk="1" fontAlgn="auto" latinLnBrk="0" hangingPunct="1">
                        <a:lnSpc>
                          <a:spcPct val="100000"/>
                        </a:lnSpc>
                        <a:spcBef>
                          <a:spcPts val="0"/>
                        </a:spcBef>
                        <a:spcAft>
                          <a:spcPts val="0"/>
                        </a:spcAft>
                        <a:buClrTx/>
                        <a:buSzTx/>
                        <a:buFontTx/>
                        <a:buNone/>
                        <a:tabLst/>
                        <a:defRPr/>
                      </a:pPr>
                      <a:endParaRPr lang="en-GB" sz="1400" noProof="0" dirty="0"/>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vMerge="1">
                  <a:txBody>
                    <a:bodyPr/>
                    <a:lstStyle/>
                    <a:p>
                      <a:endParaRPr lang="en-US"/>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vMerge="1">
                  <a:txBody>
                    <a:bodyPr/>
                    <a:lstStyle/>
                    <a:p>
                      <a:endParaRPr lang="en-US"/>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marL="171450" indent="-171450" algn="r" rtl="1">
                        <a:lnSpc>
                          <a:spcPct val="115000"/>
                        </a:lnSpc>
                        <a:spcAft>
                          <a:spcPts val="0"/>
                        </a:spcAft>
                        <a:buFont typeface="Arial" panose="020B0604020202020204" pitchFamily="34" charset="0"/>
                        <a:buChar char="•"/>
                      </a:pPr>
                      <a:r>
                        <a:rPr lang="ar-SA" sz="1100" kern="1200" noProof="0" dirty="0">
                          <a:solidFill>
                            <a:schemeClr val="tx1"/>
                          </a:solidFill>
                          <a:effectLst/>
                          <a:latin typeface="+mn-lt"/>
                          <a:ea typeface="+mn-ea"/>
                          <a:cs typeface="+mn-cs"/>
                        </a:rPr>
                        <a:t>تسريع عمليات الصيانة والتحديث عبر توفير توثيق واضح وشامل.</a:t>
                      </a:r>
                    </a:p>
                    <a:p>
                      <a:pPr marL="171450" indent="-171450" algn="r" rtl="1">
                        <a:lnSpc>
                          <a:spcPct val="115000"/>
                        </a:lnSpc>
                        <a:spcAft>
                          <a:spcPts val="0"/>
                        </a:spcAft>
                        <a:buFont typeface="Arial" panose="020B0604020202020204" pitchFamily="34" charset="0"/>
                        <a:buChar char="•"/>
                      </a:pPr>
                      <a:r>
                        <a:rPr lang="ar-SA" sz="1100" kern="1200" noProof="0" dirty="0">
                          <a:solidFill>
                            <a:schemeClr val="tx1"/>
                          </a:solidFill>
                          <a:effectLst/>
                          <a:latin typeface="+mn-lt"/>
                          <a:ea typeface="+mn-ea"/>
                          <a:cs typeface="+mn-cs"/>
                        </a:rPr>
                        <a:t>تمكين نقل المعرفة بين الفرق الفنية بسهولة أكبر.</a:t>
                      </a:r>
                    </a:p>
                    <a:p>
                      <a:pPr marL="171450" indent="-171450" algn="r" rtl="1">
                        <a:lnSpc>
                          <a:spcPct val="115000"/>
                        </a:lnSpc>
                        <a:spcAft>
                          <a:spcPts val="0"/>
                        </a:spcAft>
                        <a:buFont typeface="Arial" panose="020B0604020202020204" pitchFamily="34" charset="0"/>
                        <a:buChar char="•"/>
                      </a:pPr>
                      <a:r>
                        <a:rPr lang="ar-SA" sz="1100" kern="1200" noProof="0" dirty="0">
                          <a:solidFill>
                            <a:schemeClr val="tx1"/>
                          </a:solidFill>
                          <a:effectLst/>
                          <a:latin typeface="+mn-lt"/>
                          <a:ea typeface="+mn-ea"/>
                          <a:cs typeface="+mn-cs"/>
                        </a:rPr>
                        <a:t>تحسين التكامل وتوحيد الإجراءات التقنية.</a:t>
                      </a:r>
                    </a:p>
                  </a:txBody>
                  <a:tcPr marL="9525" marR="9525" marT="9525" marB="9525"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marL="0" marR="0" lvl="0" indent="0" algn="ctr" defTabSz="914400" rtl="1" eaLnBrk="1" fontAlgn="auto" latinLnBrk="0" hangingPunct="1">
                        <a:lnSpc>
                          <a:spcPct val="100000"/>
                        </a:lnSpc>
                        <a:spcBef>
                          <a:spcPts val="0"/>
                        </a:spcBef>
                        <a:spcAft>
                          <a:spcPts val="0"/>
                        </a:spcAft>
                        <a:buClrTx/>
                        <a:buSzTx/>
                        <a:buFont typeface="Arial" panose="020B0604020202020204" pitchFamily="34" charset="0"/>
                        <a:buNone/>
                        <a:tabLst/>
                        <a:defRPr/>
                      </a:pPr>
                      <a:r>
                        <a:rPr lang="ar-SA" sz="1400" b="1" kern="1200" noProof="0" dirty="0">
                          <a:solidFill>
                            <a:schemeClr val="accent1"/>
                          </a:solidFill>
                          <a:latin typeface="+mn-lt"/>
                          <a:ea typeface="+mn-ea"/>
                          <a:cs typeface="+mn-cs"/>
                        </a:rPr>
                        <a:t>الأثر بعد الردم (المعالجة)</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lumMod val="95000"/>
                      </a:schemeClr>
                    </a:solidFill>
                  </a:tcPr>
                </a:tc>
                <a:tc vMerge="1">
                  <a:txBody>
                    <a:bodyPr/>
                    <a:lstStyle/>
                    <a:p>
                      <a:pPr marL="0" marR="0" lvl="0" indent="0" algn="r" defTabSz="914400" rtl="1" eaLnBrk="1" fontAlgn="auto" latinLnBrk="0" hangingPunct="1">
                        <a:lnSpc>
                          <a:spcPct val="100000"/>
                        </a:lnSpc>
                        <a:spcBef>
                          <a:spcPts val="0"/>
                        </a:spcBef>
                        <a:spcAft>
                          <a:spcPts val="0"/>
                        </a:spcAft>
                        <a:buClrTx/>
                        <a:buSzTx/>
                        <a:buFontTx/>
                        <a:buNone/>
                        <a:tabLst/>
                        <a:defRPr/>
                      </a:pPr>
                      <a:endParaRPr lang="en-GB" sz="1400" b="1" noProof="0" dirty="0"/>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extLst>
                  <a:ext uri="{0D108BD9-81ED-4DB2-BD59-A6C34878D82A}">
                    <a16:rowId xmlns:a16="http://schemas.microsoft.com/office/drawing/2014/main" val="4153014111"/>
                  </a:ext>
                </a:extLst>
              </a:tr>
              <a:tr h="0">
                <a:tc vMerge="1">
                  <a:txBody>
                    <a:bodyPr/>
                    <a:lstStyle/>
                    <a:p>
                      <a:pPr marL="0" marR="0" lvl="0" indent="0" algn="r" defTabSz="914400" rtl="1" eaLnBrk="1" fontAlgn="auto" latinLnBrk="0" hangingPunct="1">
                        <a:lnSpc>
                          <a:spcPct val="100000"/>
                        </a:lnSpc>
                        <a:spcBef>
                          <a:spcPts val="0"/>
                        </a:spcBef>
                        <a:spcAft>
                          <a:spcPts val="0"/>
                        </a:spcAft>
                        <a:buClrTx/>
                        <a:buSzTx/>
                        <a:buFontTx/>
                        <a:buNone/>
                        <a:tabLst/>
                        <a:defRPr/>
                      </a:pPr>
                      <a:endParaRPr lang="en-GB" sz="1400" noProof="0" dirty="0"/>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vMerge="1">
                  <a:txBody>
                    <a:bodyPr/>
                    <a:lstStyle/>
                    <a:p>
                      <a:endParaRPr lang="en-US"/>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vMerge="1">
                  <a:txBody>
                    <a:bodyPr/>
                    <a:lstStyle/>
                    <a:p>
                      <a:endParaRPr lang="en-US"/>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marL="171450" indent="-171450" algn="r" defTabSz="914400" rtl="1" eaLnBrk="1" latinLnBrk="0" hangingPunct="1">
                        <a:lnSpc>
                          <a:spcPct val="115000"/>
                        </a:lnSpc>
                        <a:spcAft>
                          <a:spcPts val="0"/>
                        </a:spcAft>
                        <a:buFont typeface="Arial" panose="020B0604020202020204" pitchFamily="34" charset="0"/>
                        <a:buChar char="•"/>
                      </a:pPr>
                      <a:r>
                        <a:rPr lang="ar-SA" sz="1100" kern="1200" noProof="0" dirty="0">
                          <a:solidFill>
                            <a:schemeClr val="tx1"/>
                          </a:solidFill>
                          <a:effectLst/>
                          <a:latin typeface="+mn-lt"/>
                          <a:ea typeface="+mn-ea"/>
                          <a:cs typeface="+mn-cs"/>
                        </a:rPr>
                        <a:t>اعتماد سياسة توثيق موحدة لجميع التطبيقات.</a:t>
                      </a:r>
                    </a:p>
                    <a:p>
                      <a:pPr marL="171450" indent="-171450" algn="r" defTabSz="914400" rtl="1" eaLnBrk="1" latinLnBrk="0" hangingPunct="1">
                        <a:lnSpc>
                          <a:spcPct val="115000"/>
                        </a:lnSpc>
                        <a:spcAft>
                          <a:spcPts val="0"/>
                        </a:spcAft>
                        <a:buFont typeface="Arial" panose="020B0604020202020204" pitchFamily="34" charset="0"/>
                        <a:buChar char="•"/>
                      </a:pPr>
                      <a:r>
                        <a:rPr lang="ar-SA" sz="1100" kern="1200" noProof="0" dirty="0">
                          <a:solidFill>
                            <a:schemeClr val="tx1"/>
                          </a:solidFill>
                          <a:effectLst/>
                          <a:latin typeface="+mn-lt"/>
                          <a:ea typeface="+mn-ea"/>
                          <a:cs typeface="+mn-cs"/>
                        </a:rPr>
                        <a:t>إنشاء نظام مركزي لإدارة وتخزين الوثائق التقنية والإدارية.</a:t>
                      </a:r>
                    </a:p>
                    <a:p>
                      <a:pPr marL="171450" indent="-171450" algn="r" defTabSz="914400" rtl="1" eaLnBrk="1" latinLnBrk="0" hangingPunct="1">
                        <a:lnSpc>
                          <a:spcPct val="115000"/>
                        </a:lnSpc>
                        <a:spcAft>
                          <a:spcPts val="0"/>
                        </a:spcAft>
                        <a:buFont typeface="Arial" panose="020B0604020202020204" pitchFamily="34" charset="0"/>
                        <a:buChar char="•"/>
                      </a:pPr>
                      <a:r>
                        <a:rPr lang="ar-SA" sz="1100" kern="1200" noProof="0" dirty="0">
                          <a:solidFill>
                            <a:schemeClr val="tx1"/>
                          </a:solidFill>
                          <a:effectLst/>
                          <a:latin typeface="+mn-lt"/>
                          <a:ea typeface="+mn-ea"/>
                          <a:cs typeface="+mn-cs"/>
                        </a:rPr>
                        <a:t>إلزام تحديث الوثائق بشكل دوري.</a:t>
                      </a:r>
                    </a:p>
                  </a:txBody>
                  <a:tcPr marL="9525" marR="9525" marT="9525" marB="9525"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marL="0" marR="0" lvl="0" indent="0" algn="ctr" defTabSz="914400" rtl="1" eaLnBrk="1" fontAlgn="auto" latinLnBrk="0" hangingPunct="1">
                        <a:lnSpc>
                          <a:spcPct val="100000"/>
                        </a:lnSpc>
                        <a:spcBef>
                          <a:spcPts val="0"/>
                        </a:spcBef>
                        <a:spcAft>
                          <a:spcPts val="0"/>
                        </a:spcAft>
                        <a:buClrTx/>
                        <a:buSzTx/>
                        <a:buFont typeface="Arial" panose="020B0604020202020204" pitchFamily="34" charset="0"/>
                        <a:buNone/>
                        <a:tabLst/>
                        <a:defRPr/>
                      </a:pPr>
                      <a:r>
                        <a:rPr lang="ar-SA" sz="1400" b="1" kern="1200" noProof="0" dirty="0">
                          <a:solidFill>
                            <a:schemeClr val="accent1"/>
                          </a:solidFill>
                          <a:latin typeface="+mn-lt"/>
                          <a:ea typeface="+mn-ea"/>
                          <a:cs typeface="+mn-cs"/>
                        </a:rPr>
                        <a:t>تغطية الفجوة </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accent1"/>
                      </a:solidFill>
                      <a:prstDash val="solid"/>
                      <a:round/>
                      <a:headEnd type="none" w="med" len="med"/>
                      <a:tailEnd type="none" w="med" len="med"/>
                    </a:lnB>
                    <a:solidFill>
                      <a:schemeClr val="bg1">
                        <a:lumMod val="95000"/>
                      </a:schemeClr>
                    </a:solidFill>
                  </a:tcPr>
                </a:tc>
                <a:tc vMerge="1">
                  <a:txBody>
                    <a:bodyPr/>
                    <a:lstStyle/>
                    <a:p>
                      <a:pPr marL="0" marR="0" lvl="0" indent="0" algn="r" defTabSz="914400" rtl="1" eaLnBrk="1" fontAlgn="auto" latinLnBrk="0" hangingPunct="1">
                        <a:lnSpc>
                          <a:spcPct val="100000"/>
                        </a:lnSpc>
                        <a:spcBef>
                          <a:spcPts val="0"/>
                        </a:spcBef>
                        <a:spcAft>
                          <a:spcPts val="0"/>
                        </a:spcAft>
                        <a:buClrTx/>
                        <a:buSzTx/>
                        <a:buFontTx/>
                        <a:buNone/>
                        <a:tabLst/>
                        <a:defRPr/>
                      </a:pPr>
                      <a:endParaRPr lang="en-GB" sz="1400" b="1" noProof="0" dirty="0"/>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extLst>
                  <a:ext uri="{0D108BD9-81ED-4DB2-BD59-A6C34878D82A}">
                    <a16:rowId xmlns:a16="http://schemas.microsoft.com/office/drawing/2014/main" val="1035545327"/>
                  </a:ext>
                </a:extLst>
              </a:tr>
            </a:tbl>
          </a:graphicData>
        </a:graphic>
      </p:graphicFrame>
      <p:sp>
        <p:nvSpPr>
          <p:cNvPr id="7" name="TextBox 6">
            <a:extLst>
              <a:ext uri="{FF2B5EF4-FFF2-40B4-BE49-F238E27FC236}">
                <a16:creationId xmlns:a16="http://schemas.microsoft.com/office/drawing/2014/main" id="{78FFBCC9-9528-43EE-3448-66EDC46CF782}"/>
              </a:ext>
            </a:extLst>
          </p:cNvPr>
          <p:cNvSpPr txBox="1"/>
          <p:nvPr/>
        </p:nvSpPr>
        <p:spPr>
          <a:xfrm>
            <a:off x="609601" y="857760"/>
            <a:ext cx="10972800" cy="375487"/>
          </a:xfrm>
          <a:prstGeom prst="rect">
            <a:avLst/>
          </a:prstGeom>
          <a:noFill/>
        </p:spPr>
        <p:txBody>
          <a:bodyPr wrap="square">
            <a:spAutoFit/>
          </a:bodyPr>
          <a:lstStyle/>
          <a:p>
            <a:pPr algn="r" rtl="1">
              <a:lnSpc>
                <a:spcPct val="115000"/>
              </a:lnSpc>
              <a:spcAft>
                <a:spcPts val="1000"/>
              </a:spcAft>
            </a:pPr>
            <a:r>
              <a:rPr lang="ar-SA" sz="1600" noProof="0" dirty="0">
                <a:solidFill>
                  <a:srgbClr val="000000"/>
                </a:solidFill>
                <a:latin typeface="Sakkal Majalla" panose="02000000000000000000" pitchFamily="2" charset="-78"/>
                <a:ea typeface="Sakkal Majalla" panose="02000000000000000000" pitchFamily="2" charset="-78"/>
                <a:cs typeface="Sakkal Majalla" panose="02000000000000000000" pitchFamily="2" charset="-78"/>
              </a:rPr>
              <a:t>يهدف هذا القسم من الوثيقة إلى تقديم الملاحظات الخاصة بالوضع الحالي لبنية التطبيقات مع ذكر التوصيات  والتحسينات المفترض تطبيقها في الوضع المستقبلي</a:t>
            </a:r>
          </a:p>
        </p:txBody>
      </p:sp>
    </p:spTree>
    <p:extLst>
      <p:ext uri="{BB962C8B-B14F-4D97-AF65-F5344CB8AC3E}">
        <p14:creationId xmlns:p14="http://schemas.microsoft.com/office/powerpoint/2010/main" val="2195310794"/>
      </p:ext>
    </p:extLst>
  </p:cSld>
  <p:clrMapOvr>
    <a:masterClrMapping/>
  </p:clrMapOvr>
  <mc:AlternateContent xmlns:mc="http://schemas.openxmlformats.org/markup-compatibility/2006" xmlns:p14="http://schemas.microsoft.com/office/powerpoint/2010/main">
    <mc:Choice Requires="p14">
      <p:transition spd="slow" p14:dur="1300">
        <p14:pan dir="r"/>
      </p:transition>
    </mc:Choice>
    <mc:Fallback xmlns="">
      <p:transition spd="slow">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1D3723-79E6-885C-AC29-79E9B8A162D3}"/>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CD7F9276-911E-9FB3-D5DA-B96F8E03B48E}"/>
              </a:ext>
            </a:extLst>
          </p:cNvPr>
          <p:cNvSpPr>
            <a:spLocks noGrp="1"/>
          </p:cNvSpPr>
          <p:nvPr>
            <p:ph type="title"/>
          </p:nvPr>
        </p:nvSpPr>
        <p:spPr>
          <a:xfrm>
            <a:off x="609601" y="301100"/>
            <a:ext cx="10972800" cy="666261"/>
          </a:xfrm>
        </p:spPr>
        <p:txBody>
          <a:bodyPr/>
          <a:lstStyle/>
          <a:p>
            <a:r>
              <a:rPr lang="ar-SA" noProof="0" dirty="0"/>
              <a:t>ملخص تحليل الفجوات لبنية التطبيقات </a:t>
            </a:r>
          </a:p>
        </p:txBody>
      </p:sp>
      <p:sp>
        <p:nvSpPr>
          <p:cNvPr id="3" name="Slide Number Placeholder 2">
            <a:extLst>
              <a:ext uri="{FF2B5EF4-FFF2-40B4-BE49-F238E27FC236}">
                <a16:creationId xmlns:a16="http://schemas.microsoft.com/office/drawing/2014/main" id="{CE807A9C-C238-18C8-ADB0-6A7720A552AD}"/>
              </a:ext>
            </a:extLst>
          </p:cNvPr>
          <p:cNvSpPr>
            <a:spLocks noGrp="1"/>
          </p:cNvSpPr>
          <p:nvPr>
            <p:ph type="sldNum" sz="quarter" idx="12"/>
          </p:nvPr>
        </p:nvSpPr>
        <p:spPr>
          <a:xfrm>
            <a:off x="655320" y="6567058"/>
            <a:ext cx="475896" cy="290942"/>
          </a:xfrm>
        </p:spPr>
        <p:txBody>
          <a:bodyPr/>
          <a:lstStyle/>
          <a:p>
            <a:fld id="{0BE4EC83-A869-464E-AE9F-881796FB085E}" type="slidenum">
              <a:rPr lang="ar-SA" noProof="0" smtClean="0"/>
              <a:pPr/>
              <a:t>28</a:t>
            </a:fld>
            <a:endParaRPr lang="ar-SA" noProof="0" dirty="0"/>
          </a:p>
        </p:txBody>
      </p:sp>
      <p:graphicFrame>
        <p:nvGraphicFramePr>
          <p:cNvPr id="2" name="Table 1">
            <a:extLst>
              <a:ext uri="{FF2B5EF4-FFF2-40B4-BE49-F238E27FC236}">
                <a16:creationId xmlns:a16="http://schemas.microsoft.com/office/drawing/2014/main" id="{DCD54B65-0A17-326B-03FF-0F459BCDA2F2}"/>
              </a:ext>
            </a:extLst>
          </p:cNvPr>
          <p:cNvGraphicFramePr>
            <a:graphicFrameLocks noGrp="1"/>
          </p:cNvGraphicFramePr>
          <p:nvPr>
            <p:extLst>
              <p:ext uri="{D42A27DB-BD31-4B8C-83A1-F6EECF244321}">
                <p14:modId xmlns:p14="http://schemas.microsoft.com/office/powerpoint/2010/main" val="1944157886"/>
              </p:ext>
            </p:extLst>
          </p:nvPr>
        </p:nvGraphicFramePr>
        <p:xfrm>
          <a:off x="609599" y="1203018"/>
          <a:ext cx="10972802" cy="4874136"/>
        </p:xfrm>
        <a:graphic>
          <a:graphicData uri="http://schemas.openxmlformats.org/drawingml/2006/table">
            <a:tbl>
              <a:tblPr firstRow="1" bandRow="1">
                <a:tableStyleId>{2D5ABB26-0587-4C30-8999-92F81FD0307C}</a:tableStyleId>
              </a:tblPr>
              <a:tblGrid>
                <a:gridCol w="1345036">
                  <a:extLst>
                    <a:ext uri="{9D8B030D-6E8A-4147-A177-3AD203B41FA5}">
                      <a16:colId xmlns:a16="http://schemas.microsoft.com/office/drawing/2014/main" val="2801895674"/>
                    </a:ext>
                  </a:extLst>
                </a:gridCol>
                <a:gridCol w="620785">
                  <a:extLst>
                    <a:ext uri="{9D8B030D-6E8A-4147-A177-3AD203B41FA5}">
                      <a16:colId xmlns:a16="http://schemas.microsoft.com/office/drawing/2014/main" val="2976102064"/>
                    </a:ext>
                  </a:extLst>
                </a:gridCol>
                <a:gridCol w="604008">
                  <a:extLst>
                    <a:ext uri="{9D8B030D-6E8A-4147-A177-3AD203B41FA5}">
                      <a16:colId xmlns:a16="http://schemas.microsoft.com/office/drawing/2014/main" val="526736865"/>
                    </a:ext>
                  </a:extLst>
                </a:gridCol>
                <a:gridCol w="4699189">
                  <a:extLst>
                    <a:ext uri="{9D8B030D-6E8A-4147-A177-3AD203B41FA5}">
                      <a16:colId xmlns:a16="http://schemas.microsoft.com/office/drawing/2014/main" val="4106469564"/>
                    </a:ext>
                  </a:extLst>
                </a:gridCol>
                <a:gridCol w="923637">
                  <a:extLst>
                    <a:ext uri="{9D8B030D-6E8A-4147-A177-3AD203B41FA5}">
                      <a16:colId xmlns:a16="http://schemas.microsoft.com/office/drawing/2014/main" val="1154529574"/>
                    </a:ext>
                  </a:extLst>
                </a:gridCol>
                <a:gridCol w="2780147">
                  <a:extLst>
                    <a:ext uri="{9D8B030D-6E8A-4147-A177-3AD203B41FA5}">
                      <a16:colId xmlns:a16="http://schemas.microsoft.com/office/drawing/2014/main" val="1503598667"/>
                    </a:ext>
                  </a:extLst>
                </a:gridCol>
              </a:tblGrid>
              <a:tr h="257315">
                <a:tc>
                  <a:txBody>
                    <a:bodyPr/>
                    <a:lstStyle/>
                    <a:p>
                      <a:pPr algn="ctr" rtl="1"/>
                      <a:r>
                        <a:rPr lang="ar-SA" sz="1400" b="1" noProof="0" dirty="0">
                          <a:solidFill>
                            <a:schemeClr val="bg1"/>
                          </a:solidFill>
                        </a:rPr>
                        <a:t>المصدر</a:t>
                      </a:r>
                      <a:endParaRPr lang="ar-SA" sz="1400" b="1" noProof="0" dirty="0">
                        <a:solidFill>
                          <a:schemeClr val="bg1"/>
                        </a:solidFill>
                        <a:latin typeface="+mj-lt"/>
                      </a:endParaRPr>
                    </a:p>
                  </a:txBody>
                  <a:tcPr anchor="ctr">
                    <a:lnL w="12700" cap="flat" cmpd="sng" algn="ctr">
                      <a:noFill/>
                      <a:prstDash val="solid"/>
                      <a:round/>
                      <a:headEnd type="none" w="med" len="med"/>
                      <a:tailEnd type="none" w="med" len="med"/>
                    </a:lnL>
                    <a:lnR w="12700" cap="flat" cmpd="sng" algn="ctr">
                      <a:solidFill>
                        <a:schemeClr val="bg1"/>
                      </a:solidFill>
                      <a:prstDash val="solid"/>
                      <a:round/>
                      <a:headEnd type="none" w="med" len="med"/>
                      <a:tailEnd type="none" w="med" len="med"/>
                    </a:lnR>
                    <a:solidFill>
                      <a:schemeClr val="accent1"/>
                    </a:solidFill>
                  </a:tcPr>
                </a:tc>
                <a:tc>
                  <a: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lang="ar-SA" sz="1400" b="1" noProof="0" dirty="0">
                          <a:solidFill>
                            <a:schemeClr val="bg1"/>
                          </a:solidFill>
                        </a:rPr>
                        <a:t>الأهمية</a:t>
                      </a:r>
                      <a:endParaRPr lang="ar-SA" sz="1400" b="1" noProof="0" dirty="0">
                        <a:solidFill>
                          <a:schemeClr val="bg1"/>
                        </a:solidFill>
                        <a:latin typeface="+mj-lt"/>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solidFill>
                      <a:schemeClr val="accent1"/>
                    </a:solidFill>
                  </a:tcPr>
                </a:tc>
                <a:tc>
                  <a: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lang="ar-SA" sz="1400" b="1" noProof="0" dirty="0">
                          <a:solidFill>
                            <a:schemeClr val="bg1"/>
                          </a:solidFill>
                        </a:rPr>
                        <a:t>الأولوية</a:t>
                      </a:r>
                      <a:endParaRPr lang="ar-SA" sz="1400" b="1" noProof="0" dirty="0">
                        <a:solidFill>
                          <a:schemeClr val="bg1"/>
                        </a:solidFill>
                        <a:latin typeface="+mj-lt"/>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solidFill>
                      <a:schemeClr val="accent1"/>
                    </a:solidFill>
                  </a:tcPr>
                </a:tc>
                <a:tc gridSpan="2">
                  <a: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lang="ar-SA" sz="1400" b="1" noProof="0" dirty="0">
                          <a:solidFill>
                            <a:schemeClr val="bg1"/>
                          </a:solidFill>
                        </a:rPr>
                        <a:t>التحليل لكل فجوة </a:t>
                      </a:r>
                      <a:endParaRPr lang="ar-SA" sz="1400" b="1" noProof="0" dirty="0">
                        <a:solidFill>
                          <a:schemeClr val="bg1"/>
                        </a:solidFill>
                        <a:latin typeface="+mj-lt"/>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solidFill>
                      <a:schemeClr val="accent1"/>
                    </a:solidFill>
                  </a:tcPr>
                </a:tc>
                <a:tc hMerge="1">
                  <a:txBody>
                    <a:bodyPr/>
                    <a:lstStyle/>
                    <a:p>
                      <a:endParaRPr lang="en-US"/>
                    </a:p>
                  </a:txBody>
                  <a:tcPr/>
                </a:tc>
                <a:tc>
                  <a:txBody>
                    <a:bodyPr/>
                    <a:lstStyle/>
                    <a:p>
                      <a:pPr algn="ctr" rtl="1"/>
                      <a:r>
                        <a:rPr lang="ar-SA" sz="1400" b="1" noProof="0" dirty="0">
                          <a:solidFill>
                            <a:schemeClr val="bg1"/>
                          </a:solidFill>
                        </a:rPr>
                        <a:t>الفجوة</a:t>
                      </a:r>
                      <a:endParaRPr lang="ar-SA" sz="1400" b="1" noProof="0" dirty="0">
                        <a:solidFill>
                          <a:schemeClr val="bg1"/>
                        </a:solidFill>
                        <a:latin typeface="+mj-lt"/>
                      </a:endParaRPr>
                    </a:p>
                  </a:txBody>
                  <a:tcPr anchor="ctr">
                    <a:lnL w="12700" cap="flat" cmpd="sng" algn="ctr">
                      <a:solidFill>
                        <a:schemeClr val="bg1"/>
                      </a:solidFill>
                      <a:prstDash val="solid"/>
                      <a:round/>
                      <a:headEnd type="none" w="med" len="med"/>
                      <a:tailEnd type="none" w="med" len="med"/>
                    </a:lnL>
                    <a:lnR w="12700" cap="flat" cmpd="sng" algn="ctr">
                      <a:noFill/>
                      <a:prstDash val="solid"/>
                      <a:round/>
                      <a:headEnd type="none" w="med" len="med"/>
                      <a:tailEnd type="none" w="med" len="med"/>
                    </a:lnR>
                    <a:solidFill>
                      <a:schemeClr val="accent1"/>
                    </a:solidFill>
                  </a:tcPr>
                </a:tc>
                <a:extLst>
                  <a:ext uri="{0D108BD9-81ED-4DB2-BD59-A6C34878D82A}">
                    <a16:rowId xmlns:a16="http://schemas.microsoft.com/office/drawing/2014/main" val="3304685178"/>
                  </a:ext>
                </a:extLst>
              </a:tr>
              <a:tr h="326790">
                <a:tc rowSpan="4">
                  <a:txBody>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lang="ar-SA" sz="1100" kern="1200" noProof="0" dirty="0">
                          <a:solidFill>
                            <a:schemeClr val="tx1"/>
                          </a:solidFill>
                          <a:effectLst/>
                          <a:latin typeface="+mn-lt"/>
                          <a:ea typeface="+mn-ea"/>
                          <a:cs typeface="+mn-cs"/>
                        </a:rPr>
                        <a:t>حصر وضع التطبيقات (وثيقة الوضع الحالي للتطبيقات) وتوصيات فريق البنية المؤسسية</a:t>
                      </a:r>
                    </a:p>
                    <a:p>
                      <a:pPr marL="0" marR="0" lvl="0" indent="0" algn="r" defTabSz="914400" rtl="1" eaLnBrk="1" fontAlgn="auto" latinLnBrk="0" hangingPunct="1">
                        <a:lnSpc>
                          <a:spcPct val="100000"/>
                        </a:lnSpc>
                        <a:spcBef>
                          <a:spcPts val="0"/>
                        </a:spcBef>
                        <a:spcAft>
                          <a:spcPts val="0"/>
                        </a:spcAft>
                        <a:buClrTx/>
                        <a:buSzTx/>
                        <a:buFontTx/>
                        <a:buNone/>
                        <a:tabLst/>
                        <a:defRPr/>
                      </a:pPr>
                      <a:r>
                        <a:rPr lang="ar-SA" sz="1100" kern="1200" noProof="0" dirty="0">
                          <a:solidFill>
                            <a:schemeClr val="tx1"/>
                          </a:solidFill>
                          <a:effectLst/>
                          <a:latin typeface="+mn-lt"/>
                          <a:ea typeface="+mn-ea"/>
                          <a:cs typeface="+mn-cs"/>
                        </a:rPr>
                        <a:t>، دراسة وثائق التطبيقات للجهة المتوفرة بالوضع الحالي</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B w="12700" cap="flat" cmpd="sng" algn="ctr">
                      <a:solidFill>
                        <a:schemeClr val="accent1"/>
                      </a:solidFill>
                      <a:prstDash val="solid"/>
                      <a:round/>
                      <a:headEnd type="none" w="med" len="med"/>
                      <a:tailEnd type="none" w="med" len="med"/>
                    </a:lnB>
                  </a:tcPr>
                </a:tc>
                <a:tc rowSpan="4">
                  <a:txBody>
                    <a:bodyPr/>
                    <a:lstStyle/>
                    <a:p>
                      <a:pPr marL="0" marR="0" lvl="0" indent="0" algn="ctr" defTabSz="914400" rtl="1" eaLnBrk="1" fontAlgn="auto" latinLnBrk="0" hangingPunct="1">
                        <a:lnSpc>
                          <a:spcPct val="100000"/>
                        </a:lnSpc>
                        <a:spcBef>
                          <a:spcPts val="0"/>
                        </a:spcBef>
                        <a:spcAft>
                          <a:spcPts val="0"/>
                        </a:spcAft>
                        <a:buClrTx/>
                        <a:buSzTx/>
                        <a:buFont typeface="Arial" panose="020B0604020202020204" pitchFamily="34" charset="0"/>
                        <a:buNone/>
                        <a:tabLst/>
                        <a:defRPr/>
                      </a:pPr>
                      <a:r>
                        <a:rPr lang="ar-SA" sz="1100" kern="1200" noProof="0" dirty="0">
                          <a:solidFill>
                            <a:schemeClr val="tx1"/>
                          </a:solidFill>
                          <a:effectLst/>
                          <a:latin typeface="+mn-lt"/>
                          <a:ea typeface="+mn-ea"/>
                          <a:cs typeface="+mn-cs"/>
                        </a:rPr>
                        <a:t>عالية</a:t>
                      </a:r>
                    </a:p>
                  </a:txBody>
                  <a:tcPr anchor="ctr">
                    <a:lnL w="12700" cap="flat" cmpd="sng" algn="ctr">
                      <a:noFill/>
                      <a:prstDash val="solid"/>
                      <a:round/>
                      <a:headEnd type="none" w="med" len="med"/>
                      <a:tailEnd type="none" w="med" len="med"/>
                    </a:lnL>
                    <a:lnR w="12700" cap="flat" cmpd="sng" algn="ctr">
                      <a:solidFill>
                        <a:schemeClr val="bg1"/>
                      </a:solidFill>
                      <a:prstDash val="solid"/>
                      <a:round/>
                      <a:headEnd type="none" w="med" len="med"/>
                      <a:tailEnd type="none" w="med" len="med"/>
                    </a:lnR>
                    <a:lnB w="12700" cap="flat" cmpd="sng" algn="ctr">
                      <a:solidFill>
                        <a:schemeClr val="accent1"/>
                      </a:solidFill>
                      <a:prstDash val="solid"/>
                      <a:round/>
                      <a:headEnd type="none" w="med" len="med"/>
                      <a:tailEnd type="none" w="med" len="med"/>
                    </a:lnB>
                    <a:solidFill>
                      <a:schemeClr val="bg1">
                        <a:lumMod val="65000"/>
                        <a:alpha val="5000"/>
                      </a:schemeClr>
                    </a:solidFill>
                  </a:tcPr>
                </a:tc>
                <a:tc rowSpan="4">
                  <a:txBody>
                    <a:bodyPr/>
                    <a:lstStyle/>
                    <a:p>
                      <a:pPr marL="0" marR="0" lvl="0" indent="0" algn="ctr" defTabSz="914400" rtl="1" eaLnBrk="1" fontAlgn="auto" latinLnBrk="0" hangingPunct="1">
                        <a:lnSpc>
                          <a:spcPct val="100000"/>
                        </a:lnSpc>
                        <a:spcBef>
                          <a:spcPts val="0"/>
                        </a:spcBef>
                        <a:spcAft>
                          <a:spcPts val="0"/>
                        </a:spcAft>
                        <a:buClrTx/>
                        <a:buSzTx/>
                        <a:buFont typeface="Arial" panose="020B0604020202020204" pitchFamily="34" charset="0"/>
                        <a:buNone/>
                        <a:tabLst/>
                        <a:defRPr/>
                      </a:pPr>
                      <a:r>
                        <a:rPr lang="ar-SA" sz="1100" kern="1200" noProof="0" dirty="0">
                          <a:solidFill>
                            <a:schemeClr val="tx1"/>
                          </a:solidFill>
                          <a:effectLst/>
                          <a:latin typeface="+mn-lt"/>
                          <a:ea typeface="+mn-ea"/>
                          <a:cs typeface="+mn-cs"/>
                        </a:rPr>
                        <a:t>عالية</a:t>
                      </a:r>
                    </a:p>
                  </a:txBody>
                  <a:tcPr anchor="ctr">
                    <a:lnL w="12700" cap="flat" cmpd="sng" algn="ctr">
                      <a:solidFill>
                        <a:schemeClr val="bg1"/>
                      </a:solidFill>
                      <a:prstDash val="solid"/>
                      <a:round/>
                      <a:headEnd type="none" w="med" len="med"/>
                      <a:tailEnd type="none" w="med" len="med"/>
                    </a:lnL>
                    <a:lnR w="12700" cap="flat" cmpd="sng" algn="ctr">
                      <a:noFill/>
                      <a:prstDash val="solid"/>
                      <a:round/>
                      <a:headEnd type="none" w="med" len="med"/>
                      <a:tailEnd type="none" w="med" len="med"/>
                    </a:lnR>
                    <a:lnB w="12700" cap="flat" cmpd="sng" algn="ctr">
                      <a:solidFill>
                        <a:schemeClr val="accent1"/>
                      </a:solidFill>
                      <a:prstDash val="solid"/>
                      <a:round/>
                      <a:headEnd type="none" w="med" len="med"/>
                      <a:tailEnd type="none" w="med" len="med"/>
                    </a:lnB>
                    <a:solidFill>
                      <a:schemeClr val="bg1">
                        <a:lumMod val="65000"/>
                        <a:alpha val="5000"/>
                      </a:schemeClr>
                    </a:solidFill>
                  </a:tcPr>
                </a:tc>
                <a:tc>
                  <a:txBody>
                    <a:bodyPr/>
                    <a:lstStyle/>
                    <a:p>
                      <a:pPr algn="r" rtl="1">
                        <a:lnSpc>
                          <a:spcPct val="115000"/>
                        </a:lnSpc>
                        <a:spcAft>
                          <a:spcPts val="800"/>
                        </a:spcAft>
                      </a:pPr>
                      <a:r>
                        <a:rPr lang="ar-SA" sz="1050" kern="1200" noProof="0" dirty="0">
                          <a:solidFill>
                            <a:schemeClr val="tx1"/>
                          </a:solidFill>
                          <a:effectLst/>
                          <a:latin typeface="+mn-lt"/>
                          <a:ea typeface="+mn-ea"/>
                          <a:cs typeface="+mn-cs"/>
                        </a:rPr>
                        <a:t>نقص التوثيق والإجراءات الأمنية المتعلقة بتشفير البيانات واستخدام آليات المصادقة المتقدمة (مثل المصادقة متعددة العوامل)، مما يؤدي إلى فجوات أمنية واضحة في التطبيقات.</a:t>
                      </a:r>
                    </a:p>
                  </a:txBody>
                  <a:tcPr marL="9525" marR="9525" marT="9525" marB="9525"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B w="12700" cap="flat" cmpd="sng" algn="ctr">
                      <a:solidFill>
                        <a:schemeClr val="bg1">
                          <a:lumMod val="85000"/>
                        </a:schemeClr>
                      </a:solidFill>
                      <a:prstDash val="solid"/>
                      <a:round/>
                      <a:headEnd type="none" w="med" len="med"/>
                      <a:tailEnd type="none" w="med" len="med"/>
                    </a:lnB>
                  </a:tcPr>
                </a:tc>
                <a:tc>
                  <a:txBody>
                    <a:bodyPr/>
                    <a:lstStyle/>
                    <a:p>
                      <a:pPr marL="0" marR="0" lvl="0" indent="0" algn="ctr" defTabSz="914400" rtl="1" eaLnBrk="1" fontAlgn="auto" latinLnBrk="0" hangingPunct="1">
                        <a:lnSpc>
                          <a:spcPct val="100000"/>
                        </a:lnSpc>
                        <a:spcBef>
                          <a:spcPts val="0"/>
                        </a:spcBef>
                        <a:spcAft>
                          <a:spcPts val="0"/>
                        </a:spcAft>
                        <a:buClrTx/>
                        <a:buSzTx/>
                        <a:buFont typeface="Arial" panose="020B0604020202020204" pitchFamily="34" charset="0"/>
                        <a:buNone/>
                        <a:tabLst/>
                        <a:defRPr/>
                      </a:pPr>
                      <a:r>
                        <a:rPr lang="ar-SA" sz="1400" b="1" noProof="0" dirty="0">
                          <a:solidFill>
                            <a:schemeClr val="accent1"/>
                          </a:solidFill>
                        </a:rPr>
                        <a:t>الوصف</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B w="12700" cap="flat" cmpd="sng" algn="ctr">
                      <a:solidFill>
                        <a:schemeClr val="bg1">
                          <a:lumMod val="85000"/>
                        </a:schemeClr>
                      </a:solidFill>
                      <a:prstDash val="solid"/>
                      <a:round/>
                      <a:headEnd type="none" w="med" len="med"/>
                      <a:tailEnd type="none" w="med" len="med"/>
                    </a:lnB>
                    <a:solidFill>
                      <a:schemeClr val="bg1">
                        <a:lumMod val="95000"/>
                      </a:schemeClr>
                    </a:solidFill>
                  </a:tcPr>
                </a:tc>
                <a:tc rowSpan="4">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ar-SA" sz="1600" b="1" noProof="0" dirty="0"/>
                        <a:t>GAP-A-03</a:t>
                      </a:r>
                      <a:endParaRPr lang="ar-SA" sz="1400" b="1" kern="1200" noProof="0" dirty="0">
                        <a:solidFill>
                          <a:schemeClr val="tx1"/>
                        </a:solidFill>
                        <a:effectLst/>
                        <a:latin typeface="+mn-lt"/>
                        <a:ea typeface="+mn-ea"/>
                        <a:cs typeface="+mn-cs"/>
                      </a:endParaRPr>
                    </a:p>
                    <a:p>
                      <a:pPr algn="r" rtl="1"/>
                      <a:r>
                        <a:rPr lang="ar-SA" sz="1400" b="1" kern="1200" noProof="0" dirty="0">
                          <a:solidFill>
                            <a:schemeClr val="tx1"/>
                          </a:solidFill>
                          <a:effectLst/>
                          <a:latin typeface="+mn-lt"/>
                          <a:ea typeface="+mn-ea"/>
                          <a:cs typeface="+mn-cs"/>
                        </a:rPr>
                        <a:t>ضعف التوثيق الأمني في العديد من التطبيقات: تشفير البيانات والمصادقة المتقدمة.</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B w="12700" cap="flat" cmpd="sng" algn="ctr">
                      <a:solidFill>
                        <a:schemeClr val="accent1"/>
                      </a:solidFill>
                      <a:prstDash val="solid"/>
                      <a:round/>
                      <a:headEnd type="none" w="med" len="med"/>
                      <a:tailEnd type="none" w="med" len="med"/>
                    </a:lnB>
                  </a:tcPr>
                </a:tc>
                <a:extLst>
                  <a:ext uri="{0D108BD9-81ED-4DB2-BD59-A6C34878D82A}">
                    <a16:rowId xmlns:a16="http://schemas.microsoft.com/office/drawing/2014/main" val="1128065702"/>
                  </a:ext>
                </a:extLst>
              </a:tr>
              <a:tr h="482144">
                <a:tc vMerge="1">
                  <a:txBody>
                    <a:bodyPr/>
                    <a:lstStyle/>
                    <a:p>
                      <a:endParaRPr lang="en-US"/>
                    </a:p>
                  </a:txBody>
                  <a:tcPr/>
                </a:tc>
                <a:tc vMerge="1">
                  <a:txBody>
                    <a:bodyPr/>
                    <a:lstStyle/>
                    <a:p>
                      <a:endParaRPr lang="en-US"/>
                    </a:p>
                  </a:txBody>
                  <a:tcPr/>
                </a:tc>
                <a:tc vMerge="1">
                  <a:txBody>
                    <a:bodyPr/>
                    <a:lstStyle/>
                    <a:p>
                      <a:endParaRPr lang="en-US"/>
                    </a:p>
                  </a:txBody>
                  <a:tcPr/>
                </a:tc>
                <a:tc>
                  <a:txBody>
                    <a:bodyPr/>
                    <a:lstStyle/>
                    <a:p>
                      <a:pPr marL="171450" indent="-171450" algn="r" defTabSz="914400" rtl="1" eaLnBrk="1" latinLnBrk="0" hangingPunct="1">
                        <a:lnSpc>
                          <a:spcPct val="115000"/>
                        </a:lnSpc>
                        <a:spcAft>
                          <a:spcPts val="0"/>
                        </a:spcAft>
                        <a:buFont typeface="Arial" panose="020B0604020202020204" pitchFamily="34" charset="0"/>
                        <a:buChar char="•"/>
                      </a:pPr>
                      <a:r>
                        <a:rPr lang="ar-SA" sz="1050" kern="1200" noProof="0" dirty="0">
                          <a:solidFill>
                            <a:schemeClr val="tx1"/>
                          </a:solidFill>
                          <a:effectLst/>
                          <a:latin typeface="+mn-lt"/>
                          <a:ea typeface="+mn-ea"/>
                          <a:cs typeface="+mn-cs"/>
                        </a:rPr>
                        <a:t>زيادة مخاطر التعرض للاختراق وتسرب البيانات الحساسة.</a:t>
                      </a:r>
                    </a:p>
                    <a:p>
                      <a:pPr marL="171450" indent="-171450" algn="r" defTabSz="914400" rtl="1" eaLnBrk="1" latinLnBrk="0" hangingPunct="1">
                        <a:lnSpc>
                          <a:spcPct val="115000"/>
                        </a:lnSpc>
                        <a:spcAft>
                          <a:spcPts val="0"/>
                        </a:spcAft>
                        <a:buFont typeface="Arial" panose="020B0604020202020204" pitchFamily="34" charset="0"/>
                        <a:buChar char="•"/>
                      </a:pPr>
                      <a:r>
                        <a:rPr lang="ar-SA" sz="1050" kern="1200" noProof="0" dirty="0">
                          <a:solidFill>
                            <a:schemeClr val="tx1"/>
                          </a:solidFill>
                          <a:effectLst/>
                          <a:latin typeface="+mn-lt"/>
                          <a:ea typeface="+mn-ea"/>
                          <a:cs typeface="+mn-cs"/>
                        </a:rPr>
                        <a:t>عدم وضوح الإجراءات الأمنية مما يعوق استجابة الفرق عند حدوث حادث أمني.</a:t>
                      </a:r>
                    </a:p>
                    <a:p>
                      <a:pPr marL="171450" indent="-171450" algn="r" defTabSz="914400" rtl="1" eaLnBrk="1" latinLnBrk="0" hangingPunct="1">
                        <a:lnSpc>
                          <a:spcPct val="115000"/>
                        </a:lnSpc>
                        <a:spcAft>
                          <a:spcPts val="0"/>
                        </a:spcAft>
                        <a:buFont typeface="Arial" panose="020B0604020202020204" pitchFamily="34" charset="0"/>
                        <a:buChar char="•"/>
                      </a:pPr>
                      <a:r>
                        <a:rPr lang="ar-SA" sz="1050" kern="1200" noProof="0" dirty="0">
                          <a:solidFill>
                            <a:schemeClr val="tx1"/>
                          </a:solidFill>
                          <a:effectLst/>
                          <a:latin typeface="+mn-lt"/>
                          <a:ea typeface="+mn-ea"/>
                          <a:cs typeface="+mn-cs"/>
                        </a:rPr>
                        <a:t>عدم الامتثال للمعايير الأمنية الوطنية والدولية.</a:t>
                      </a:r>
                    </a:p>
                  </a:txBody>
                  <a:tcPr marL="9525" marR="9525" marT="9525" marB="9525"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marL="0" marR="0" lvl="0" indent="0" algn="ctr" defTabSz="914400" rtl="1" eaLnBrk="1" fontAlgn="auto" latinLnBrk="0" hangingPunct="1">
                        <a:lnSpc>
                          <a:spcPct val="100000"/>
                        </a:lnSpc>
                        <a:spcBef>
                          <a:spcPts val="0"/>
                        </a:spcBef>
                        <a:spcAft>
                          <a:spcPts val="0"/>
                        </a:spcAft>
                        <a:buClrTx/>
                        <a:buSzTx/>
                        <a:buFont typeface="Arial" panose="020B0604020202020204" pitchFamily="34" charset="0"/>
                        <a:buNone/>
                        <a:tabLst/>
                        <a:defRPr/>
                      </a:pPr>
                      <a:r>
                        <a:rPr lang="ar-SA" sz="1400" b="1" kern="1200" noProof="0" dirty="0">
                          <a:solidFill>
                            <a:schemeClr val="accent1"/>
                          </a:solidFill>
                        </a:rPr>
                        <a:t>الأثر الحالي</a:t>
                      </a:r>
                      <a:endParaRPr lang="ar-SA" sz="1400" b="1" noProof="0" dirty="0">
                        <a:solidFill>
                          <a:schemeClr val="accent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lumMod val="95000"/>
                      </a:schemeClr>
                    </a:solidFill>
                  </a:tcPr>
                </a:tc>
                <a:tc vMerge="1">
                  <a:txBody>
                    <a:bodyPr/>
                    <a:lstStyle/>
                    <a:p>
                      <a:endParaRPr lang="en-US"/>
                    </a:p>
                  </a:txBody>
                  <a:tcPr/>
                </a:tc>
                <a:extLst>
                  <a:ext uri="{0D108BD9-81ED-4DB2-BD59-A6C34878D82A}">
                    <a16:rowId xmlns:a16="http://schemas.microsoft.com/office/drawing/2014/main" val="1163892829"/>
                  </a:ext>
                </a:extLst>
              </a:tr>
              <a:tr h="617556">
                <a:tc vMerge="1">
                  <a:txBody>
                    <a:bodyPr/>
                    <a:lstStyle/>
                    <a:p>
                      <a:endParaRPr lang="en-US"/>
                    </a:p>
                  </a:txBody>
                  <a:tcPr/>
                </a:tc>
                <a:tc vMerge="1">
                  <a:txBody>
                    <a:bodyPr/>
                    <a:lstStyle/>
                    <a:p>
                      <a:endParaRPr lang="en-US"/>
                    </a:p>
                  </a:txBody>
                  <a:tcPr/>
                </a:tc>
                <a:tc vMerge="1">
                  <a:txBody>
                    <a:bodyPr/>
                    <a:lstStyle/>
                    <a:p>
                      <a:endParaRPr lang="en-US"/>
                    </a:p>
                  </a:txBody>
                  <a:tcPr/>
                </a:tc>
                <a:tc>
                  <a:txBody>
                    <a:bodyPr/>
                    <a:lstStyle/>
                    <a:p>
                      <a:pPr marL="171450" indent="-171450" algn="r" defTabSz="914400" rtl="1" eaLnBrk="1" latinLnBrk="0" hangingPunct="1">
                        <a:lnSpc>
                          <a:spcPct val="115000"/>
                        </a:lnSpc>
                        <a:spcAft>
                          <a:spcPts val="0"/>
                        </a:spcAft>
                        <a:buFont typeface="Arial" panose="020B0604020202020204" pitchFamily="34" charset="0"/>
                        <a:buChar char="•"/>
                      </a:pPr>
                      <a:r>
                        <a:rPr lang="ar-SA" sz="1050" kern="1200" noProof="0" dirty="0">
                          <a:solidFill>
                            <a:schemeClr val="tx1"/>
                          </a:solidFill>
                          <a:effectLst/>
                          <a:latin typeface="+mn-lt"/>
                          <a:ea typeface="+mn-ea"/>
                          <a:cs typeface="+mn-cs"/>
                        </a:rPr>
                        <a:t>تحسين حماية البيانات وتقليل احتمالية حدوث اختراقات.</a:t>
                      </a:r>
                    </a:p>
                    <a:p>
                      <a:pPr marL="171450" indent="-171450" algn="r" defTabSz="914400" rtl="1" eaLnBrk="1" latinLnBrk="0" hangingPunct="1">
                        <a:lnSpc>
                          <a:spcPct val="115000"/>
                        </a:lnSpc>
                        <a:spcAft>
                          <a:spcPts val="0"/>
                        </a:spcAft>
                        <a:buFont typeface="Arial" panose="020B0604020202020204" pitchFamily="34" charset="0"/>
                        <a:buChar char="•"/>
                      </a:pPr>
                      <a:r>
                        <a:rPr lang="ar-SA" sz="1050" kern="1200" noProof="0" dirty="0">
                          <a:solidFill>
                            <a:schemeClr val="tx1"/>
                          </a:solidFill>
                          <a:effectLst/>
                          <a:latin typeface="+mn-lt"/>
                          <a:ea typeface="+mn-ea"/>
                          <a:cs typeface="+mn-cs"/>
                        </a:rPr>
                        <a:t>وضوح السياسات والإجراءات الأمنية مما يسهم في سرعة الاستجابة للحوادث.</a:t>
                      </a:r>
                    </a:p>
                    <a:p>
                      <a:pPr marL="171450" indent="-171450" algn="r" defTabSz="914400" rtl="1" eaLnBrk="1" latinLnBrk="0" hangingPunct="1">
                        <a:lnSpc>
                          <a:spcPct val="115000"/>
                        </a:lnSpc>
                        <a:spcAft>
                          <a:spcPts val="0"/>
                        </a:spcAft>
                        <a:buFont typeface="Arial" panose="020B0604020202020204" pitchFamily="34" charset="0"/>
                        <a:buChar char="•"/>
                      </a:pPr>
                      <a:r>
                        <a:rPr lang="ar-SA" sz="1050" kern="1200" noProof="0" dirty="0">
                          <a:solidFill>
                            <a:schemeClr val="tx1"/>
                          </a:solidFill>
                          <a:effectLst/>
                          <a:latin typeface="+mn-lt"/>
                          <a:ea typeface="+mn-ea"/>
                          <a:cs typeface="+mn-cs"/>
                        </a:rPr>
                        <a:t>زيادة الثقة في أنظمة الهيئة من ناحية الأمان والامتثال.</a:t>
                      </a:r>
                    </a:p>
                  </a:txBody>
                  <a:tcPr marL="9525" marR="9525" marT="9525" marB="9525"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marL="0" marR="0" lvl="0" indent="0" algn="ctr" defTabSz="914400" rtl="1" eaLnBrk="1" fontAlgn="auto" latinLnBrk="0" hangingPunct="1">
                        <a:lnSpc>
                          <a:spcPct val="100000"/>
                        </a:lnSpc>
                        <a:spcBef>
                          <a:spcPts val="0"/>
                        </a:spcBef>
                        <a:spcAft>
                          <a:spcPts val="0"/>
                        </a:spcAft>
                        <a:buClrTx/>
                        <a:buSzTx/>
                        <a:buFont typeface="Arial" panose="020B0604020202020204" pitchFamily="34" charset="0"/>
                        <a:buNone/>
                        <a:tabLst/>
                        <a:defRPr/>
                      </a:pPr>
                      <a:r>
                        <a:rPr lang="ar-SA" sz="1400" b="1" noProof="0" dirty="0">
                          <a:solidFill>
                            <a:schemeClr val="accent1"/>
                          </a:solidFill>
                        </a:rPr>
                        <a:t>الأثر بعد الردم (المعالجة)</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lumMod val="95000"/>
                      </a:schemeClr>
                    </a:solidFill>
                  </a:tcPr>
                </a:tc>
                <a:tc vMerge="1">
                  <a:txBody>
                    <a:bodyPr/>
                    <a:lstStyle/>
                    <a:p>
                      <a:endParaRPr lang="en-US"/>
                    </a:p>
                  </a:txBody>
                  <a:tcPr/>
                </a:tc>
                <a:extLst>
                  <a:ext uri="{0D108BD9-81ED-4DB2-BD59-A6C34878D82A}">
                    <a16:rowId xmlns:a16="http://schemas.microsoft.com/office/drawing/2014/main" val="1973569126"/>
                  </a:ext>
                </a:extLst>
              </a:tr>
              <a:tr h="594933">
                <a:tc vMerge="1">
                  <a:txBody>
                    <a:bodyPr/>
                    <a:lstStyle/>
                    <a:p>
                      <a:endParaRPr lang="en-US"/>
                    </a:p>
                  </a:txBody>
                  <a:tcPr/>
                </a:tc>
                <a:tc vMerge="1">
                  <a:txBody>
                    <a:bodyPr/>
                    <a:lstStyle/>
                    <a:p>
                      <a:endParaRPr lang="en-US"/>
                    </a:p>
                  </a:txBody>
                  <a:tcPr/>
                </a:tc>
                <a:tc vMerge="1">
                  <a:txBody>
                    <a:bodyPr/>
                    <a:lstStyle/>
                    <a:p>
                      <a:endParaRPr lang="en-US"/>
                    </a:p>
                  </a:txBody>
                  <a:tcPr/>
                </a:tc>
                <a:tc>
                  <a:txBody>
                    <a:bodyPr/>
                    <a:lstStyle/>
                    <a:p>
                      <a:pPr marL="171450" indent="-171450" algn="r" defTabSz="914400" rtl="1" eaLnBrk="1" latinLnBrk="0" hangingPunct="1">
                        <a:lnSpc>
                          <a:spcPct val="115000"/>
                        </a:lnSpc>
                        <a:spcAft>
                          <a:spcPts val="0"/>
                        </a:spcAft>
                        <a:buFont typeface="Arial" panose="020B0604020202020204" pitchFamily="34" charset="0"/>
                        <a:buChar char="•"/>
                      </a:pPr>
                      <a:r>
                        <a:rPr lang="ar-SA" sz="1050" kern="1200" noProof="0" dirty="0">
                          <a:solidFill>
                            <a:schemeClr val="tx1"/>
                          </a:solidFill>
                          <a:effectLst/>
                          <a:latin typeface="+mn-lt"/>
                          <a:ea typeface="+mn-ea"/>
                          <a:cs typeface="+mn-cs"/>
                        </a:rPr>
                        <a:t>إعداد وتطبيق سياسات توثيق أمنية شاملة تشمل معايير التشفير المتقدمة وآليات المصادقة (SSO، MFA).</a:t>
                      </a:r>
                    </a:p>
                    <a:p>
                      <a:pPr marL="171450" indent="-171450" algn="r" defTabSz="914400" rtl="1" eaLnBrk="1" latinLnBrk="0" hangingPunct="1">
                        <a:lnSpc>
                          <a:spcPct val="115000"/>
                        </a:lnSpc>
                        <a:spcAft>
                          <a:spcPts val="0"/>
                        </a:spcAft>
                        <a:buFont typeface="Arial" panose="020B0604020202020204" pitchFamily="34" charset="0"/>
                        <a:buChar char="•"/>
                      </a:pPr>
                      <a:r>
                        <a:rPr lang="ar-SA" sz="1050" kern="1200" noProof="0" dirty="0">
                          <a:solidFill>
                            <a:schemeClr val="tx1"/>
                          </a:solidFill>
                          <a:effectLst/>
                          <a:latin typeface="+mn-lt"/>
                          <a:ea typeface="+mn-ea"/>
                          <a:cs typeface="+mn-cs"/>
                        </a:rPr>
                        <a:t>إنشاء سجل مركزي لتوثيق إعدادات الأمن والإجراءات المطبقة.</a:t>
                      </a:r>
                    </a:p>
                    <a:p>
                      <a:pPr marL="171450" indent="-171450" algn="r" defTabSz="914400" rtl="1" eaLnBrk="1" latinLnBrk="0" hangingPunct="1">
                        <a:lnSpc>
                          <a:spcPct val="115000"/>
                        </a:lnSpc>
                        <a:spcAft>
                          <a:spcPts val="0"/>
                        </a:spcAft>
                        <a:buFont typeface="Arial" panose="020B0604020202020204" pitchFamily="34" charset="0"/>
                        <a:buChar char="•"/>
                      </a:pPr>
                      <a:r>
                        <a:rPr lang="ar-SA" sz="1050" kern="1200" noProof="0" dirty="0">
                          <a:solidFill>
                            <a:schemeClr val="tx1"/>
                          </a:solidFill>
                          <a:effectLst/>
                          <a:latin typeface="+mn-lt"/>
                          <a:ea typeface="+mn-ea"/>
                          <a:cs typeface="+mn-cs"/>
                        </a:rPr>
                        <a:t>إجراء مراجعات دورية للتأكد من تطبيق أفضل الممارسات الأمنية.</a:t>
                      </a:r>
                    </a:p>
                  </a:txBody>
                  <a:tcPr marL="9525" marR="9525" marT="9525" marB="9525"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marL="0" marR="0" lvl="0" indent="0" algn="ctr" defTabSz="914400" rtl="1" eaLnBrk="1" fontAlgn="auto" latinLnBrk="0" hangingPunct="1">
                        <a:lnSpc>
                          <a:spcPct val="100000"/>
                        </a:lnSpc>
                        <a:spcBef>
                          <a:spcPts val="0"/>
                        </a:spcBef>
                        <a:spcAft>
                          <a:spcPts val="0"/>
                        </a:spcAft>
                        <a:buClrTx/>
                        <a:buSzTx/>
                        <a:buFont typeface="Arial" panose="020B0604020202020204" pitchFamily="34" charset="0"/>
                        <a:buNone/>
                        <a:tabLst/>
                        <a:defRPr/>
                      </a:pPr>
                      <a:r>
                        <a:rPr lang="ar-SA" sz="1400" b="1" noProof="0" dirty="0">
                          <a:solidFill>
                            <a:schemeClr val="accent1"/>
                          </a:solidFill>
                        </a:rPr>
                        <a:t>تغطية الفجوة </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accent1"/>
                      </a:solidFill>
                      <a:prstDash val="solid"/>
                      <a:round/>
                      <a:headEnd type="none" w="med" len="med"/>
                      <a:tailEnd type="none" w="med" len="med"/>
                    </a:lnB>
                    <a:solidFill>
                      <a:schemeClr val="bg1">
                        <a:lumMod val="95000"/>
                      </a:schemeClr>
                    </a:solidFill>
                  </a:tcPr>
                </a:tc>
                <a:tc vMerge="1">
                  <a:txBody>
                    <a:bodyPr/>
                    <a:lstStyle/>
                    <a:p>
                      <a:endParaRPr lang="en-US"/>
                    </a:p>
                  </a:txBody>
                  <a:tcPr/>
                </a:tc>
                <a:extLst>
                  <a:ext uri="{0D108BD9-81ED-4DB2-BD59-A6C34878D82A}">
                    <a16:rowId xmlns:a16="http://schemas.microsoft.com/office/drawing/2014/main" val="4011636746"/>
                  </a:ext>
                </a:extLst>
              </a:tr>
              <a:tr h="326790">
                <a:tc rowSpan="4">
                  <a:txBody>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lang="ar-SA" sz="1100" kern="1200" noProof="0" dirty="0">
                          <a:solidFill>
                            <a:schemeClr val="tx1"/>
                          </a:solidFill>
                          <a:effectLst/>
                          <a:latin typeface="+mn-lt"/>
                          <a:ea typeface="+mn-ea"/>
                          <a:cs typeface="+mn-cs"/>
                        </a:rPr>
                        <a:t>حصر وضع التطبيقات (وثيقة الوضع الحالي للتطبيقات) وتوصيات فريق البنية المؤسسية</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rowSpan="4">
                  <a:txBody>
                    <a:bodyPr/>
                    <a:lstStyle/>
                    <a:p>
                      <a:pPr marL="0" marR="0" lvl="0" indent="0" algn="ctr" defTabSz="914400" rtl="1" eaLnBrk="1" fontAlgn="auto" latinLnBrk="0" hangingPunct="1">
                        <a:lnSpc>
                          <a:spcPct val="100000"/>
                        </a:lnSpc>
                        <a:spcBef>
                          <a:spcPts val="0"/>
                        </a:spcBef>
                        <a:spcAft>
                          <a:spcPts val="0"/>
                        </a:spcAft>
                        <a:buClrTx/>
                        <a:buSzTx/>
                        <a:buFont typeface="Arial" panose="020B0604020202020204" pitchFamily="34" charset="0"/>
                        <a:buNone/>
                        <a:tabLst/>
                        <a:defRPr/>
                      </a:pPr>
                      <a:r>
                        <a:rPr lang="ar-SA" sz="1100" kern="1200" noProof="0" dirty="0">
                          <a:solidFill>
                            <a:schemeClr val="tx1"/>
                          </a:solidFill>
                          <a:effectLst/>
                          <a:latin typeface="+mn-lt"/>
                          <a:ea typeface="+mn-ea"/>
                          <a:cs typeface="+mn-cs"/>
                        </a:rPr>
                        <a:t>عالية</a:t>
                      </a:r>
                    </a:p>
                  </a:txBody>
                  <a:tcPr anchor="ctr">
                    <a:lnL w="12700" cap="flat" cmpd="sng" algn="ctr">
                      <a:no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solidFill>
                      <a:schemeClr val="bg1">
                        <a:lumMod val="85000"/>
                        <a:alpha val="5000"/>
                      </a:schemeClr>
                    </a:solidFill>
                  </a:tcPr>
                </a:tc>
                <a:tc rowSpan="4">
                  <a:txBody>
                    <a:bodyPr/>
                    <a:lstStyle/>
                    <a:p>
                      <a:pPr marL="0" marR="0" lvl="0" indent="0" algn="ctr" defTabSz="914400" rtl="1" eaLnBrk="1" fontAlgn="auto" latinLnBrk="0" hangingPunct="1">
                        <a:lnSpc>
                          <a:spcPct val="100000"/>
                        </a:lnSpc>
                        <a:spcBef>
                          <a:spcPts val="0"/>
                        </a:spcBef>
                        <a:spcAft>
                          <a:spcPts val="0"/>
                        </a:spcAft>
                        <a:buClrTx/>
                        <a:buSzTx/>
                        <a:buFont typeface="Arial" panose="020B0604020202020204" pitchFamily="34" charset="0"/>
                        <a:buNone/>
                        <a:tabLst/>
                        <a:defRPr/>
                      </a:pPr>
                      <a:r>
                        <a:rPr lang="ar-SA" sz="1100" kern="1200" noProof="0" dirty="0">
                          <a:solidFill>
                            <a:schemeClr val="tx1"/>
                          </a:solidFill>
                          <a:effectLst/>
                          <a:latin typeface="+mn-lt"/>
                          <a:ea typeface="+mn-ea"/>
                          <a:cs typeface="+mn-cs"/>
                        </a:rPr>
                        <a:t>عالية</a:t>
                      </a:r>
                    </a:p>
                  </a:txBody>
                  <a:tcPr anchor="ctr">
                    <a:lnL w="12700" cap="flat" cmpd="sng" algn="ctr">
                      <a:solidFill>
                        <a:schemeClr val="bg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solidFill>
                      <a:schemeClr val="bg1">
                        <a:lumMod val="85000"/>
                        <a:alpha val="5000"/>
                      </a:schemeClr>
                    </a:solidFill>
                  </a:tcPr>
                </a:tc>
                <a:tc>
                  <a:txBody>
                    <a:bodyPr/>
                    <a:lstStyle/>
                    <a:p>
                      <a:pPr algn="r" rtl="1">
                        <a:lnSpc>
                          <a:spcPct val="115000"/>
                        </a:lnSpc>
                        <a:spcAft>
                          <a:spcPts val="800"/>
                        </a:spcAft>
                      </a:pPr>
                      <a:r>
                        <a:rPr lang="ar-SA" sz="1050" kern="1200" noProof="0" dirty="0">
                          <a:solidFill>
                            <a:schemeClr val="tx1"/>
                          </a:solidFill>
                          <a:effectLst/>
                          <a:latin typeface="+mn-lt"/>
                          <a:ea typeface="+mn-ea"/>
                          <a:cs typeface="+mn-cs"/>
                        </a:rPr>
                        <a:t>الاعتماد على النماذج التقليدية في تطوير واستضافة التطبيقات دون استغلال الإمكانات الكاملة للتقنيات السحابية الحديثة، مثل استخدام </a:t>
                      </a:r>
                      <a:r>
                        <a:rPr lang="ar-SA" sz="1050" kern="1200" noProof="0" dirty="0" err="1">
                          <a:solidFill>
                            <a:schemeClr val="tx1"/>
                          </a:solidFill>
                          <a:effectLst/>
                          <a:latin typeface="+mn-lt"/>
                          <a:ea typeface="+mn-ea"/>
                          <a:cs typeface="+mn-cs"/>
                        </a:rPr>
                        <a:t>Microservices</a:t>
                      </a:r>
                      <a:r>
                        <a:rPr lang="ar-SA" sz="1050" kern="1200" noProof="0" dirty="0">
                          <a:solidFill>
                            <a:schemeClr val="tx1"/>
                          </a:solidFill>
                          <a:effectLst/>
                          <a:latin typeface="+mn-lt"/>
                          <a:ea typeface="+mn-ea"/>
                          <a:cs typeface="+mn-cs"/>
                        </a:rPr>
                        <a:t> والحاويات </a:t>
                      </a:r>
                      <a:r>
                        <a:rPr lang="ar-SA" sz="1050" kern="1200" noProof="0" dirty="0" err="1">
                          <a:solidFill>
                            <a:schemeClr val="tx1"/>
                          </a:solidFill>
                          <a:effectLst/>
                          <a:latin typeface="+mn-lt"/>
                          <a:ea typeface="+mn-ea"/>
                          <a:cs typeface="+mn-cs"/>
                        </a:rPr>
                        <a:t>Containers</a:t>
                      </a:r>
                      <a:r>
                        <a:rPr lang="ar-SA" sz="1050" kern="1200" noProof="0" dirty="0">
                          <a:solidFill>
                            <a:schemeClr val="tx1"/>
                          </a:solidFill>
                          <a:effectLst/>
                          <a:latin typeface="+mn-lt"/>
                          <a:ea typeface="+mn-ea"/>
                          <a:cs typeface="+mn-cs"/>
                        </a:rPr>
                        <a:t>.</a:t>
                      </a:r>
                    </a:p>
                  </a:txBody>
                  <a:tcPr marL="9525" marR="9525" marT="9525" marB="9525"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marL="0" marR="0" lvl="0" indent="0" algn="ctr" defTabSz="914400" rtl="1" eaLnBrk="1" fontAlgn="auto" latinLnBrk="0" hangingPunct="1">
                        <a:lnSpc>
                          <a:spcPct val="100000"/>
                        </a:lnSpc>
                        <a:spcBef>
                          <a:spcPts val="0"/>
                        </a:spcBef>
                        <a:spcAft>
                          <a:spcPts val="0"/>
                        </a:spcAft>
                        <a:buClrTx/>
                        <a:buSzTx/>
                        <a:buFont typeface="Arial" panose="020B0604020202020204" pitchFamily="34" charset="0"/>
                        <a:buNone/>
                        <a:tabLst/>
                        <a:defRPr/>
                      </a:pPr>
                      <a:r>
                        <a:rPr lang="ar-SA" sz="1400" b="1" kern="1200" noProof="0" dirty="0">
                          <a:solidFill>
                            <a:schemeClr val="accent1"/>
                          </a:solidFill>
                          <a:latin typeface="+mn-lt"/>
                          <a:ea typeface="+mn-ea"/>
                          <a:cs typeface="+mn-cs"/>
                        </a:rPr>
                        <a:t>الوصف</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lumMod val="95000"/>
                      </a:schemeClr>
                    </a:solidFill>
                  </a:tcPr>
                </a:tc>
                <a:tc rowSpan="4">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ar-SA" sz="1600" b="1" u="none" strike="noStrike" kern="1200" cap="none" spc="0" normalizeH="0" baseline="0" noProof="0" dirty="0">
                          <a:ln>
                            <a:noFill/>
                          </a:ln>
                          <a:effectLst/>
                          <a:uLnTx/>
                          <a:uFillTx/>
                        </a:rPr>
                        <a:t>GAP-A-04</a:t>
                      </a:r>
                      <a:endParaRPr kumimoji="0" lang="ar-SA" sz="1600" b="1" i="0" u="none" strike="noStrike" kern="1200" cap="none" spc="0" normalizeH="0" baseline="0" noProof="0" dirty="0">
                        <a:ln>
                          <a:noFill/>
                        </a:ln>
                        <a:solidFill>
                          <a:prstClr val="black"/>
                        </a:solidFill>
                        <a:effectLst/>
                        <a:uLnTx/>
                        <a:uFillTx/>
                        <a:latin typeface="+mn-lt"/>
                        <a:ea typeface="+mn-ea"/>
                        <a:cs typeface="+mn-cs"/>
                      </a:endParaRPr>
                    </a:p>
                    <a:p>
                      <a:pPr marL="0" marR="0" lvl="0" indent="0" algn="r" defTabSz="914400" rtl="1" eaLnBrk="1" fontAlgn="auto" latinLnBrk="0" hangingPunct="1">
                        <a:lnSpc>
                          <a:spcPct val="100000"/>
                        </a:lnSpc>
                        <a:spcBef>
                          <a:spcPts val="0"/>
                        </a:spcBef>
                        <a:spcAft>
                          <a:spcPts val="0"/>
                        </a:spcAft>
                        <a:buClrTx/>
                        <a:buSzTx/>
                        <a:buFontTx/>
                        <a:buNone/>
                        <a:tabLst/>
                        <a:defRPr/>
                      </a:pPr>
                      <a:r>
                        <a:rPr lang="ar-SA" sz="1400" b="1" kern="1200" noProof="0" dirty="0">
                          <a:effectLst/>
                        </a:rPr>
                        <a:t>عدم استثمار كامل للإمكانات السحابية وعناصر البنية التحتية الحديثة </a:t>
                      </a:r>
                      <a:r>
                        <a:rPr lang="ar-SA" sz="1400" b="1" kern="1200" noProof="0" dirty="0" err="1">
                          <a:effectLst/>
                        </a:rPr>
                        <a:t>Microservices</a:t>
                      </a:r>
                      <a:r>
                        <a:rPr lang="ar-SA" sz="1400" b="1" kern="1200" noProof="0" dirty="0">
                          <a:effectLst/>
                        </a:rPr>
                        <a:t>، الحاويات </a:t>
                      </a:r>
                      <a:r>
                        <a:rPr lang="ar-SA" sz="1400" b="1" kern="1200" noProof="0" dirty="0" err="1">
                          <a:effectLst/>
                        </a:rPr>
                        <a:t>Containers</a:t>
                      </a:r>
                      <a:r>
                        <a:rPr lang="ar-SA" sz="1400" b="1" kern="1200" noProof="0" dirty="0">
                          <a:effectLst/>
                        </a:rPr>
                        <a:t> .</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extLst>
                  <a:ext uri="{0D108BD9-81ED-4DB2-BD59-A6C34878D82A}">
                    <a16:rowId xmlns:a16="http://schemas.microsoft.com/office/drawing/2014/main" val="1136131386"/>
                  </a:ext>
                </a:extLst>
              </a:tr>
              <a:tr h="482144">
                <a:tc vMerge="1">
                  <a:txBody>
                    <a:bodyPr/>
                    <a:lstStyle/>
                    <a:p>
                      <a:pPr marL="0" marR="0" lvl="0" indent="0" algn="r" defTabSz="914400" rtl="1" eaLnBrk="1" fontAlgn="auto" latinLnBrk="0" hangingPunct="1">
                        <a:lnSpc>
                          <a:spcPct val="100000"/>
                        </a:lnSpc>
                        <a:spcBef>
                          <a:spcPts val="0"/>
                        </a:spcBef>
                        <a:spcAft>
                          <a:spcPts val="0"/>
                        </a:spcAft>
                        <a:buClrTx/>
                        <a:buSzTx/>
                        <a:buFontTx/>
                        <a:buNone/>
                        <a:tabLst/>
                        <a:defRPr/>
                      </a:pPr>
                      <a:endParaRPr lang="en-GB" sz="1400" noProof="0" dirty="0"/>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vMerge="1">
                  <a:txBody>
                    <a:bodyPr/>
                    <a:lstStyle/>
                    <a:p>
                      <a:endParaRPr lang="en-US"/>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vMerge="1">
                  <a:txBody>
                    <a:bodyPr/>
                    <a:lstStyle/>
                    <a:p>
                      <a:endParaRPr lang="en-US"/>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marL="171450" indent="-171450" algn="r" defTabSz="914400" rtl="1" eaLnBrk="1" latinLnBrk="0" hangingPunct="1">
                        <a:lnSpc>
                          <a:spcPct val="115000"/>
                        </a:lnSpc>
                        <a:spcAft>
                          <a:spcPts val="0"/>
                        </a:spcAft>
                        <a:buFont typeface="Arial" panose="020B0604020202020204" pitchFamily="34" charset="0"/>
                        <a:buChar char="•"/>
                      </a:pPr>
                      <a:r>
                        <a:rPr lang="ar-SA" sz="1050" kern="1200" noProof="0" dirty="0">
                          <a:solidFill>
                            <a:schemeClr val="tx1"/>
                          </a:solidFill>
                          <a:effectLst/>
                          <a:latin typeface="+mn-lt"/>
                          <a:ea typeface="+mn-ea"/>
                          <a:cs typeface="+mn-cs"/>
                        </a:rPr>
                        <a:t>ضعف المرونة في تحديث وتطوير التطبيقات.</a:t>
                      </a:r>
                    </a:p>
                    <a:p>
                      <a:pPr marL="171450" indent="-171450" algn="r" defTabSz="914400" rtl="1" eaLnBrk="1" latinLnBrk="0" hangingPunct="1">
                        <a:lnSpc>
                          <a:spcPct val="115000"/>
                        </a:lnSpc>
                        <a:spcAft>
                          <a:spcPts val="0"/>
                        </a:spcAft>
                        <a:buFont typeface="Arial" panose="020B0604020202020204" pitchFamily="34" charset="0"/>
                        <a:buChar char="•"/>
                      </a:pPr>
                      <a:r>
                        <a:rPr lang="ar-SA" sz="1050" kern="1200" noProof="0" dirty="0">
                          <a:solidFill>
                            <a:schemeClr val="tx1"/>
                          </a:solidFill>
                          <a:effectLst/>
                          <a:latin typeface="+mn-lt"/>
                          <a:ea typeface="+mn-ea"/>
                          <a:cs typeface="+mn-cs"/>
                        </a:rPr>
                        <a:t>زيادة التكاليف التشغيلية والصيانة بسبب قلة قابلية التوسع.</a:t>
                      </a:r>
                    </a:p>
                    <a:p>
                      <a:pPr marL="171450" indent="-171450" algn="r" defTabSz="914400" rtl="1" eaLnBrk="1" latinLnBrk="0" hangingPunct="1">
                        <a:lnSpc>
                          <a:spcPct val="115000"/>
                        </a:lnSpc>
                        <a:spcAft>
                          <a:spcPts val="0"/>
                        </a:spcAft>
                        <a:buFont typeface="Arial" panose="020B0604020202020204" pitchFamily="34" charset="0"/>
                        <a:buChar char="•"/>
                      </a:pPr>
                      <a:r>
                        <a:rPr lang="ar-SA" sz="1050" kern="1200" noProof="0" dirty="0">
                          <a:solidFill>
                            <a:schemeClr val="tx1"/>
                          </a:solidFill>
                          <a:effectLst/>
                          <a:latin typeface="+mn-lt"/>
                          <a:ea typeface="+mn-ea"/>
                          <a:cs typeface="+mn-cs"/>
                        </a:rPr>
                        <a:t>تأخير الاستجابة للتغييرات والمتطلبات الجديدة.</a:t>
                      </a:r>
                    </a:p>
                  </a:txBody>
                  <a:tcPr marL="9525" marR="9525" marT="9525" marB="9525"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marL="0" marR="0" lvl="0" indent="0" algn="ctr" defTabSz="914400" rtl="1" eaLnBrk="1" fontAlgn="auto" latinLnBrk="0" hangingPunct="1">
                        <a:lnSpc>
                          <a:spcPct val="115000"/>
                        </a:lnSpc>
                        <a:spcBef>
                          <a:spcPts val="0"/>
                        </a:spcBef>
                        <a:spcAft>
                          <a:spcPts val="0"/>
                        </a:spcAft>
                        <a:buClrTx/>
                        <a:buSzTx/>
                        <a:buFont typeface="Arial" panose="020B0604020202020204" pitchFamily="34" charset="0"/>
                        <a:buNone/>
                        <a:tabLst/>
                        <a:defRPr/>
                      </a:pPr>
                      <a:r>
                        <a:rPr lang="ar-SA" sz="1400" b="1" kern="1200" noProof="0" dirty="0">
                          <a:solidFill>
                            <a:schemeClr val="accent1"/>
                          </a:solidFill>
                          <a:latin typeface="+mn-lt"/>
                          <a:ea typeface="+mn-ea"/>
                          <a:cs typeface="+mn-cs"/>
                        </a:rPr>
                        <a:t>الأثر الحالي</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lumMod val="95000"/>
                      </a:schemeClr>
                    </a:solidFill>
                  </a:tcPr>
                </a:tc>
                <a:tc vMerge="1">
                  <a:txBody>
                    <a:bodyPr/>
                    <a:lstStyle/>
                    <a:p>
                      <a:pPr marL="0" marR="0" lvl="0" indent="0" algn="r" defTabSz="914400" rtl="1" eaLnBrk="1" fontAlgn="auto" latinLnBrk="0" hangingPunct="1">
                        <a:lnSpc>
                          <a:spcPct val="100000"/>
                        </a:lnSpc>
                        <a:spcBef>
                          <a:spcPts val="0"/>
                        </a:spcBef>
                        <a:spcAft>
                          <a:spcPts val="0"/>
                        </a:spcAft>
                        <a:buClrTx/>
                        <a:buSzTx/>
                        <a:buFontTx/>
                        <a:buNone/>
                        <a:tabLst/>
                        <a:defRPr/>
                      </a:pPr>
                      <a:endParaRPr lang="en-GB" sz="1400" b="1" noProof="0" dirty="0"/>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extLst>
                  <a:ext uri="{0D108BD9-81ED-4DB2-BD59-A6C34878D82A}">
                    <a16:rowId xmlns:a16="http://schemas.microsoft.com/office/drawing/2014/main" val="918118369"/>
                  </a:ext>
                </a:extLst>
              </a:tr>
              <a:tr h="617556">
                <a:tc vMerge="1">
                  <a:txBody>
                    <a:bodyPr/>
                    <a:lstStyle/>
                    <a:p>
                      <a:pPr marL="0" marR="0" lvl="0" indent="0" algn="r" defTabSz="914400" rtl="1" eaLnBrk="1" fontAlgn="auto" latinLnBrk="0" hangingPunct="1">
                        <a:lnSpc>
                          <a:spcPct val="100000"/>
                        </a:lnSpc>
                        <a:spcBef>
                          <a:spcPts val="0"/>
                        </a:spcBef>
                        <a:spcAft>
                          <a:spcPts val="0"/>
                        </a:spcAft>
                        <a:buClrTx/>
                        <a:buSzTx/>
                        <a:buFontTx/>
                        <a:buNone/>
                        <a:tabLst/>
                        <a:defRPr/>
                      </a:pPr>
                      <a:endParaRPr lang="en-GB" sz="1400" noProof="0" dirty="0"/>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vMerge="1">
                  <a:txBody>
                    <a:bodyPr/>
                    <a:lstStyle/>
                    <a:p>
                      <a:endParaRPr lang="en-US"/>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vMerge="1">
                  <a:txBody>
                    <a:bodyPr/>
                    <a:lstStyle/>
                    <a:p>
                      <a:endParaRPr lang="en-US"/>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marL="171450" indent="-171450" algn="r" defTabSz="914400" rtl="1" eaLnBrk="1" latinLnBrk="0" hangingPunct="1">
                        <a:lnSpc>
                          <a:spcPct val="115000"/>
                        </a:lnSpc>
                        <a:spcAft>
                          <a:spcPts val="0"/>
                        </a:spcAft>
                        <a:buFont typeface="Arial" panose="020B0604020202020204" pitchFamily="34" charset="0"/>
                        <a:buChar char="•"/>
                      </a:pPr>
                      <a:r>
                        <a:rPr lang="ar-SA" sz="1050" kern="1200" noProof="0" dirty="0">
                          <a:solidFill>
                            <a:schemeClr val="tx1"/>
                          </a:solidFill>
                          <a:effectLst/>
                          <a:latin typeface="+mn-lt"/>
                          <a:ea typeface="+mn-ea"/>
                          <a:cs typeface="+mn-cs"/>
                        </a:rPr>
                        <a:t>تحقيق مرونة عالية في تطوير التطبيقات وتحديثها بشكل سريع.</a:t>
                      </a:r>
                    </a:p>
                    <a:p>
                      <a:pPr marL="171450" indent="-171450" algn="r" defTabSz="914400" rtl="1" eaLnBrk="1" latinLnBrk="0" hangingPunct="1">
                        <a:lnSpc>
                          <a:spcPct val="115000"/>
                        </a:lnSpc>
                        <a:spcAft>
                          <a:spcPts val="0"/>
                        </a:spcAft>
                        <a:buFont typeface="Arial" panose="020B0604020202020204" pitchFamily="34" charset="0"/>
                        <a:buChar char="•"/>
                      </a:pPr>
                      <a:r>
                        <a:rPr lang="ar-SA" sz="1050" kern="1200" noProof="0" dirty="0">
                          <a:solidFill>
                            <a:schemeClr val="tx1"/>
                          </a:solidFill>
                          <a:effectLst/>
                          <a:latin typeface="+mn-lt"/>
                          <a:ea typeface="+mn-ea"/>
                          <a:cs typeface="+mn-cs"/>
                        </a:rPr>
                        <a:t>خفض التكاليف التشغيلية عبر تحسين استخدام الموارد وتوفير بيئة قابلة للتوسع.</a:t>
                      </a:r>
                    </a:p>
                    <a:p>
                      <a:pPr marL="171450" indent="-171450" algn="r" defTabSz="914400" rtl="1" eaLnBrk="1" latinLnBrk="0" hangingPunct="1">
                        <a:lnSpc>
                          <a:spcPct val="115000"/>
                        </a:lnSpc>
                        <a:spcAft>
                          <a:spcPts val="0"/>
                        </a:spcAft>
                        <a:buFont typeface="Arial" panose="020B0604020202020204" pitchFamily="34" charset="0"/>
                        <a:buChar char="•"/>
                      </a:pPr>
                      <a:r>
                        <a:rPr lang="ar-SA" sz="1050" kern="1200" noProof="0" dirty="0">
                          <a:solidFill>
                            <a:schemeClr val="tx1"/>
                          </a:solidFill>
                          <a:effectLst/>
                          <a:latin typeface="+mn-lt"/>
                          <a:ea typeface="+mn-ea"/>
                          <a:cs typeface="+mn-cs"/>
                        </a:rPr>
                        <a:t>تسريع زمن الاستجابة للتغييرات.</a:t>
                      </a:r>
                    </a:p>
                  </a:txBody>
                  <a:tcPr marL="9525" marR="9525" marT="9525" marB="9525"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marL="0" marR="0" lvl="0" indent="0" algn="ctr" defTabSz="914400" rtl="1" eaLnBrk="1" fontAlgn="auto" latinLnBrk="0" hangingPunct="1">
                        <a:lnSpc>
                          <a:spcPct val="100000"/>
                        </a:lnSpc>
                        <a:spcBef>
                          <a:spcPts val="0"/>
                        </a:spcBef>
                        <a:spcAft>
                          <a:spcPts val="0"/>
                        </a:spcAft>
                        <a:buClrTx/>
                        <a:buSzTx/>
                        <a:buFont typeface="Arial" panose="020B0604020202020204" pitchFamily="34" charset="0"/>
                        <a:buNone/>
                        <a:tabLst/>
                        <a:defRPr/>
                      </a:pPr>
                      <a:r>
                        <a:rPr lang="ar-SA" sz="1400" b="1" kern="1200" noProof="0" dirty="0">
                          <a:solidFill>
                            <a:schemeClr val="accent1"/>
                          </a:solidFill>
                          <a:latin typeface="+mn-lt"/>
                          <a:ea typeface="+mn-ea"/>
                          <a:cs typeface="+mn-cs"/>
                        </a:rPr>
                        <a:t>الأثر بعد الردم (المعالجة)</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lumMod val="95000"/>
                      </a:schemeClr>
                    </a:solidFill>
                  </a:tcPr>
                </a:tc>
                <a:tc vMerge="1">
                  <a:txBody>
                    <a:bodyPr/>
                    <a:lstStyle/>
                    <a:p>
                      <a:pPr marL="0" marR="0" lvl="0" indent="0" algn="r" defTabSz="914400" rtl="1" eaLnBrk="1" fontAlgn="auto" latinLnBrk="0" hangingPunct="1">
                        <a:lnSpc>
                          <a:spcPct val="100000"/>
                        </a:lnSpc>
                        <a:spcBef>
                          <a:spcPts val="0"/>
                        </a:spcBef>
                        <a:spcAft>
                          <a:spcPts val="0"/>
                        </a:spcAft>
                        <a:buClrTx/>
                        <a:buSzTx/>
                        <a:buFontTx/>
                        <a:buNone/>
                        <a:tabLst/>
                        <a:defRPr/>
                      </a:pPr>
                      <a:endParaRPr lang="en-GB" sz="1400" b="1" noProof="0" dirty="0"/>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extLst>
                  <a:ext uri="{0D108BD9-81ED-4DB2-BD59-A6C34878D82A}">
                    <a16:rowId xmlns:a16="http://schemas.microsoft.com/office/drawing/2014/main" val="4153014111"/>
                  </a:ext>
                </a:extLst>
              </a:tr>
              <a:tr h="594933">
                <a:tc vMerge="1">
                  <a:txBody>
                    <a:bodyPr/>
                    <a:lstStyle/>
                    <a:p>
                      <a:pPr marL="0" marR="0" lvl="0" indent="0" algn="r" defTabSz="914400" rtl="1" eaLnBrk="1" fontAlgn="auto" latinLnBrk="0" hangingPunct="1">
                        <a:lnSpc>
                          <a:spcPct val="100000"/>
                        </a:lnSpc>
                        <a:spcBef>
                          <a:spcPts val="0"/>
                        </a:spcBef>
                        <a:spcAft>
                          <a:spcPts val="0"/>
                        </a:spcAft>
                        <a:buClrTx/>
                        <a:buSzTx/>
                        <a:buFontTx/>
                        <a:buNone/>
                        <a:tabLst/>
                        <a:defRPr/>
                      </a:pPr>
                      <a:endParaRPr lang="en-GB" sz="1400" noProof="0" dirty="0"/>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vMerge="1">
                  <a:txBody>
                    <a:bodyPr/>
                    <a:lstStyle/>
                    <a:p>
                      <a:endParaRPr lang="en-US"/>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vMerge="1">
                  <a:txBody>
                    <a:bodyPr/>
                    <a:lstStyle/>
                    <a:p>
                      <a:endParaRPr lang="en-US"/>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marL="171450" indent="-171450" algn="r" defTabSz="914400" rtl="1" eaLnBrk="1" latinLnBrk="0" hangingPunct="1">
                        <a:lnSpc>
                          <a:spcPct val="115000"/>
                        </a:lnSpc>
                        <a:spcAft>
                          <a:spcPts val="0"/>
                        </a:spcAft>
                        <a:buFont typeface="Arial" panose="020B0604020202020204" pitchFamily="34" charset="0"/>
                        <a:buChar char="•"/>
                      </a:pPr>
                      <a:r>
                        <a:rPr lang="ar-SA" sz="1050" kern="1200" noProof="0" dirty="0">
                          <a:solidFill>
                            <a:schemeClr val="tx1"/>
                          </a:solidFill>
                          <a:effectLst/>
                          <a:latin typeface="+mn-lt"/>
                          <a:ea typeface="+mn-ea"/>
                          <a:cs typeface="+mn-cs"/>
                        </a:rPr>
                        <a:t>اعتماد استراتيجية “</a:t>
                      </a:r>
                      <a:r>
                        <a:rPr lang="ar-SA" sz="1050" kern="1200" noProof="0" dirty="0" err="1">
                          <a:solidFill>
                            <a:schemeClr val="tx1"/>
                          </a:solidFill>
                          <a:effectLst/>
                          <a:latin typeface="+mn-lt"/>
                          <a:ea typeface="+mn-ea"/>
                          <a:cs typeface="+mn-cs"/>
                        </a:rPr>
                        <a:t>Cloud-First</a:t>
                      </a:r>
                      <a:r>
                        <a:rPr lang="ar-SA" sz="1050" kern="1200" noProof="0" dirty="0">
                          <a:solidFill>
                            <a:schemeClr val="tx1"/>
                          </a:solidFill>
                          <a:effectLst/>
                          <a:latin typeface="+mn-lt"/>
                          <a:ea typeface="+mn-ea"/>
                          <a:cs typeface="+mn-cs"/>
                        </a:rPr>
                        <a:t>” أو بيئة هجينة لنقل التطبيقات القائمة تدريجيًا إلى السحابة.</a:t>
                      </a:r>
                    </a:p>
                    <a:p>
                      <a:pPr marL="171450" indent="-171450" algn="r" defTabSz="914400" rtl="1" eaLnBrk="1" latinLnBrk="0" hangingPunct="1">
                        <a:lnSpc>
                          <a:spcPct val="115000"/>
                        </a:lnSpc>
                        <a:spcAft>
                          <a:spcPts val="0"/>
                        </a:spcAft>
                        <a:buFont typeface="Arial" panose="020B0604020202020204" pitchFamily="34" charset="0"/>
                        <a:buChar char="•"/>
                      </a:pPr>
                      <a:r>
                        <a:rPr lang="ar-SA" sz="1050" kern="1200" noProof="0" dirty="0">
                          <a:solidFill>
                            <a:schemeClr val="tx1"/>
                          </a:solidFill>
                          <a:effectLst/>
                          <a:latin typeface="+mn-lt"/>
                          <a:ea typeface="+mn-ea"/>
                          <a:cs typeface="+mn-cs"/>
                        </a:rPr>
                        <a:t>إعادة تصميم التطبيقات الرئيسية باستخدام </a:t>
                      </a:r>
                      <a:r>
                        <a:rPr lang="ar-SA" sz="1050" kern="1200" noProof="0" dirty="0" err="1">
                          <a:solidFill>
                            <a:schemeClr val="tx1"/>
                          </a:solidFill>
                          <a:effectLst/>
                          <a:latin typeface="+mn-lt"/>
                          <a:ea typeface="+mn-ea"/>
                          <a:cs typeface="+mn-cs"/>
                        </a:rPr>
                        <a:t>Microservices</a:t>
                      </a:r>
                      <a:r>
                        <a:rPr lang="ar-SA" sz="1050" kern="1200" noProof="0" dirty="0">
                          <a:solidFill>
                            <a:schemeClr val="tx1"/>
                          </a:solidFill>
                          <a:effectLst/>
                          <a:latin typeface="+mn-lt"/>
                          <a:ea typeface="+mn-ea"/>
                          <a:cs typeface="+mn-cs"/>
                        </a:rPr>
                        <a:t> وحاويات </a:t>
                      </a:r>
                      <a:r>
                        <a:rPr lang="ar-SA" sz="1050" kern="1200" noProof="0" dirty="0" err="1">
                          <a:solidFill>
                            <a:schemeClr val="tx1"/>
                          </a:solidFill>
                          <a:effectLst/>
                          <a:latin typeface="+mn-lt"/>
                          <a:ea typeface="+mn-ea"/>
                          <a:cs typeface="+mn-cs"/>
                        </a:rPr>
                        <a:t>Containers</a:t>
                      </a:r>
                      <a:r>
                        <a:rPr lang="ar-SA" sz="1050" kern="1200" noProof="0" dirty="0">
                          <a:solidFill>
                            <a:schemeClr val="tx1"/>
                          </a:solidFill>
                          <a:effectLst/>
                          <a:latin typeface="+mn-lt"/>
                          <a:ea typeface="+mn-ea"/>
                          <a:cs typeface="+mn-cs"/>
                        </a:rPr>
                        <a:t> (مثل </a:t>
                      </a:r>
                      <a:r>
                        <a:rPr lang="ar-SA" sz="1050" kern="1200" noProof="0" dirty="0" err="1">
                          <a:solidFill>
                            <a:schemeClr val="tx1"/>
                          </a:solidFill>
                          <a:effectLst/>
                          <a:latin typeface="+mn-lt"/>
                          <a:ea typeface="+mn-ea"/>
                          <a:cs typeface="+mn-cs"/>
                        </a:rPr>
                        <a:t>Docker</a:t>
                      </a:r>
                      <a:r>
                        <a:rPr lang="ar-SA" sz="1050" kern="1200" noProof="0" dirty="0">
                          <a:solidFill>
                            <a:schemeClr val="tx1"/>
                          </a:solidFill>
                          <a:effectLst/>
                          <a:latin typeface="+mn-lt"/>
                          <a:ea typeface="+mn-ea"/>
                          <a:cs typeface="+mn-cs"/>
                        </a:rPr>
                        <a:t>/</a:t>
                      </a:r>
                      <a:r>
                        <a:rPr lang="ar-SA" sz="1050" kern="1200" noProof="0" dirty="0" err="1">
                          <a:solidFill>
                            <a:schemeClr val="tx1"/>
                          </a:solidFill>
                          <a:effectLst/>
                          <a:latin typeface="+mn-lt"/>
                          <a:ea typeface="+mn-ea"/>
                          <a:cs typeface="+mn-cs"/>
                        </a:rPr>
                        <a:t>Kubernetes</a:t>
                      </a:r>
                      <a:r>
                        <a:rPr lang="ar-SA" sz="1050" kern="1200" noProof="0" dirty="0">
                          <a:solidFill>
                            <a:schemeClr val="tx1"/>
                          </a:solidFill>
                          <a:effectLst/>
                          <a:latin typeface="+mn-lt"/>
                          <a:ea typeface="+mn-ea"/>
                          <a:cs typeface="+mn-cs"/>
                        </a:rPr>
                        <a:t>).</a:t>
                      </a:r>
                    </a:p>
                    <a:p>
                      <a:pPr marL="171450" indent="-171450" algn="r" defTabSz="914400" rtl="1" eaLnBrk="1" latinLnBrk="0" hangingPunct="1">
                        <a:lnSpc>
                          <a:spcPct val="115000"/>
                        </a:lnSpc>
                        <a:spcAft>
                          <a:spcPts val="0"/>
                        </a:spcAft>
                        <a:buFont typeface="Arial" panose="020B0604020202020204" pitchFamily="34" charset="0"/>
                        <a:buChar char="•"/>
                      </a:pPr>
                      <a:r>
                        <a:rPr lang="ar-SA" sz="1050" kern="1200" noProof="0" dirty="0">
                          <a:solidFill>
                            <a:schemeClr val="tx1"/>
                          </a:solidFill>
                          <a:effectLst/>
                          <a:latin typeface="+mn-lt"/>
                          <a:ea typeface="+mn-ea"/>
                          <a:cs typeface="+mn-cs"/>
                        </a:rPr>
                        <a:t>تطبيق ممارسات </a:t>
                      </a:r>
                      <a:r>
                        <a:rPr lang="ar-SA" sz="1050" kern="1200" noProof="0" dirty="0" err="1">
                          <a:solidFill>
                            <a:schemeClr val="tx1"/>
                          </a:solidFill>
                          <a:effectLst/>
                          <a:latin typeface="+mn-lt"/>
                          <a:ea typeface="+mn-ea"/>
                          <a:cs typeface="+mn-cs"/>
                        </a:rPr>
                        <a:t>DevOps</a:t>
                      </a:r>
                      <a:r>
                        <a:rPr lang="ar-SA" sz="1050" kern="1200" noProof="0" dirty="0">
                          <a:solidFill>
                            <a:schemeClr val="tx1"/>
                          </a:solidFill>
                          <a:effectLst/>
                          <a:latin typeface="+mn-lt"/>
                          <a:ea typeface="+mn-ea"/>
                          <a:cs typeface="+mn-cs"/>
                        </a:rPr>
                        <a:t> لتعزيز التكامل والنشر المستمر (CI/CD).</a:t>
                      </a:r>
                    </a:p>
                  </a:txBody>
                  <a:tcPr marL="9525" marR="9525" marT="9525" marB="9525"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marL="0" marR="0" lvl="0" indent="0" algn="ctr" defTabSz="914400" rtl="1" eaLnBrk="1" fontAlgn="auto" latinLnBrk="0" hangingPunct="1">
                        <a:lnSpc>
                          <a:spcPct val="100000"/>
                        </a:lnSpc>
                        <a:spcBef>
                          <a:spcPts val="0"/>
                        </a:spcBef>
                        <a:spcAft>
                          <a:spcPts val="0"/>
                        </a:spcAft>
                        <a:buClrTx/>
                        <a:buSzTx/>
                        <a:buFont typeface="Arial" panose="020B0604020202020204" pitchFamily="34" charset="0"/>
                        <a:buNone/>
                        <a:tabLst/>
                        <a:defRPr/>
                      </a:pPr>
                      <a:r>
                        <a:rPr lang="ar-SA" sz="1400" b="1" kern="1200" noProof="0" dirty="0">
                          <a:solidFill>
                            <a:schemeClr val="accent1"/>
                          </a:solidFill>
                          <a:latin typeface="+mn-lt"/>
                          <a:ea typeface="+mn-ea"/>
                          <a:cs typeface="+mn-cs"/>
                        </a:rPr>
                        <a:t>تغطية الفجوة </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accent1"/>
                      </a:solidFill>
                      <a:prstDash val="solid"/>
                      <a:round/>
                      <a:headEnd type="none" w="med" len="med"/>
                      <a:tailEnd type="none" w="med" len="med"/>
                    </a:lnB>
                    <a:solidFill>
                      <a:schemeClr val="bg1">
                        <a:lumMod val="95000"/>
                      </a:schemeClr>
                    </a:solidFill>
                  </a:tcPr>
                </a:tc>
                <a:tc vMerge="1">
                  <a:txBody>
                    <a:bodyPr/>
                    <a:lstStyle/>
                    <a:p>
                      <a:pPr marL="0" marR="0" lvl="0" indent="0" algn="r" defTabSz="914400" rtl="1" eaLnBrk="1" fontAlgn="auto" latinLnBrk="0" hangingPunct="1">
                        <a:lnSpc>
                          <a:spcPct val="100000"/>
                        </a:lnSpc>
                        <a:spcBef>
                          <a:spcPts val="0"/>
                        </a:spcBef>
                        <a:spcAft>
                          <a:spcPts val="0"/>
                        </a:spcAft>
                        <a:buClrTx/>
                        <a:buSzTx/>
                        <a:buFontTx/>
                        <a:buNone/>
                        <a:tabLst/>
                        <a:defRPr/>
                      </a:pPr>
                      <a:endParaRPr lang="en-GB" sz="1400" b="1" noProof="0" dirty="0"/>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extLst>
                  <a:ext uri="{0D108BD9-81ED-4DB2-BD59-A6C34878D82A}">
                    <a16:rowId xmlns:a16="http://schemas.microsoft.com/office/drawing/2014/main" val="1035545327"/>
                  </a:ext>
                </a:extLst>
              </a:tr>
            </a:tbl>
          </a:graphicData>
        </a:graphic>
      </p:graphicFrame>
    </p:spTree>
    <p:extLst>
      <p:ext uri="{BB962C8B-B14F-4D97-AF65-F5344CB8AC3E}">
        <p14:creationId xmlns:p14="http://schemas.microsoft.com/office/powerpoint/2010/main" val="3212139614"/>
      </p:ext>
    </p:extLst>
  </p:cSld>
  <p:clrMapOvr>
    <a:masterClrMapping/>
  </p:clrMapOvr>
  <mc:AlternateContent xmlns:mc="http://schemas.openxmlformats.org/markup-compatibility/2006" xmlns:p14="http://schemas.microsoft.com/office/powerpoint/2010/main">
    <mc:Choice Requires="p14">
      <p:transition spd="slow" p14:dur="1300">
        <p14:pan dir="r"/>
      </p:transition>
    </mc:Choice>
    <mc:Fallback xmlns="">
      <p:transition spd="slow">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CC387E-C4BE-DA86-A484-4DD5A1ABEC4E}"/>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BAF4721A-F4A4-6413-F461-FBDC1FA4CCA8}"/>
              </a:ext>
            </a:extLst>
          </p:cNvPr>
          <p:cNvSpPr>
            <a:spLocks noGrp="1"/>
          </p:cNvSpPr>
          <p:nvPr>
            <p:ph type="title"/>
          </p:nvPr>
        </p:nvSpPr>
        <p:spPr>
          <a:xfrm>
            <a:off x="609601" y="301100"/>
            <a:ext cx="10972800" cy="666261"/>
          </a:xfrm>
        </p:spPr>
        <p:txBody>
          <a:bodyPr/>
          <a:lstStyle/>
          <a:p>
            <a:r>
              <a:rPr lang="ar-SA" noProof="0" dirty="0"/>
              <a:t>ملخص تحليل الفجوات لبنية التطبيقات </a:t>
            </a:r>
          </a:p>
        </p:txBody>
      </p:sp>
      <p:sp>
        <p:nvSpPr>
          <p:cNvPr id="3" name="Slide Number Placeholder 2">
            <a:extLst>
              <a:ext uri="{FF2B5EF4-FFF2-40B4-BE49-F238E27FC236}">
                <a16:creationId xmlns:a16="http://schemas.microsoft.com/office/drawing/2014/main" id="{093F5F9E-74D6-888B-F61B-4CE2C884E2D3}"/>
              </a:ext>
            </a:extLst>
          </p:cNvPr>
          <p:cNvSpPr>
            <a:spLocks noGrp="1"/>
          </p:cNvSpPr>
          <p:nvPr>
            <p:ph type="sldNum" sz="quarter" idx="12"/>
          </p:nvPr>
        </p:nvSpPr>
        <p:spPr>
          <a:xfrm>
            <a:off x="655320" y="6567058"/>
            <a:ext cx="475896" cy="290942"/>
          </a:xfrm>
        </p:spPr>
        <p:txBody>
          <a:bodyPr/>
          <a:lstStyle/>
          <a:p>
            <a:fld id="{0BE4EC83-A869-464E-AE9F-881796FB085E}" type="slidenum">
              <a:rPr lang="ar-SA" noProof="0" smtClean="0"/>
              <a:pPr/>
              <a:t>29</a:t>
            </a:fld>
            <a:endParaRPr lang="ar-SA" noProof="0" dirty="0"/>
          </a:p>
        </p:txBody>
      </p:sp>
      <p:graphicFrame>
        <p:nvGraphicFramePr>
          <p:cNvPr id="2" name="Table 1">
            <a:extLst>
              <a:ext uri="{FF2B5EF4-FFF2-40B4-BE49-F238E27FC236}">
                <a16:creationId xmlns:a16="http://schemas.microsoft.com/office/drawing/2014/main" id="{60B964F1-AD93-C41F-56AD-FD52388082C2}"/>
              </a:ext>
            </a:extLst>
          </p:cNvPr>
          <p:cNvGraphicFramePr>
            <a:graphicFrameLocks noGrp="1"/>
          </p:cNvGraphicFramePr>
          <p:nvPr>
            <p:extLst>
              <p:ext uri="{D42A27DB-BD31-4B8C-83A1-F6EECF244321}">
                <p14:modId xmlns:p14="http://schemas.microsoft.com/office/powerpoint/2010/main" val="387917256"/>
              </p:ext>
            </p:extLst>
          </p:nvPr>
        </p:nvGraphicFramePr>
        <p:xfrm>
          <a:off x="609599" y="1203018"/>
          <a:ext cx="10972802" cy="4874136"/>
        </p:xfrm>
        <a:graphic>
          <a:graphicData uri="http://schemas.openxmlformats.org/drawingml/2006/table">
            <a:tbl>
              <a:tblPr firstRow="1" bandRow="1">
                <a:tableStyleId>{2D5ABB26-0587-4C30-8999-92F81FD0307C}</a:tableStyleId>
              </a:tblPr>
              <a:tblGrid>
                <a:gridCol w="1345036">
                  <a:extLst>
                    <a:ext uri="{9D8B030D-6E8A-4147-A177-3AD203B41FA5}">
                      <a16:colId xmlns:a16="http://schemas.microsoft.com/office/drawing/2014/main" val="2801895674"/>
                    </a:ext>
                  </a:extLst>
                </a:gridCol>
                <a:gridCol w="620785">
                  <a:extLst>
                    <a:ext uri="{9D8B030D-6E8A-4147-A177-3AD203B41FA5}">
                      <a16:colId xmlns:a16="http://schemas.microsoft.com/office/drawing/2014/main" val="2976102064"/>
                    </a:ext>
                  </a:extLst>
                </a:gridCol>
                <a:gridCol w="604008">
                  <a:extLst>
                    <a:ext uri="{9D8B030D-6E8A-4147-A177-3AD203B41FA5}">
                      <a16:colId xmlns:a16="http://schemas.microsoft.com/office/drawing/2014/main" val="526736865"/>
                    </a:ext>
                  </a:extLst>
                </a:gridCol>
                <a:gridCol w="4699189">
                  <a:extLst>
                    <a:ext uri="{9D8B030D-6E8A-4147-A177-3AD203B41FA5}">
                      <a16:colId xmlns:a16="http://schemas.microsoft.com/office/drawing/2014/main" val="4106469564"/>
                    </a:ext>
                  </a:extLst>
                </a:gridCol>
                <a:gridCol w="923637">
                  <a:extLst>
                    <a:ext uri="{9D8B030D-6E8A-4147-A177-3AD203B41FA5}">
                      <a16:colId xmlns:a16="http://schemas.microsoft.com/office/drawing/2014/main" val="1154529574"/>
                    </a:ext>
                  </a:extLst>
                </a:gridCol>
                <a:gridCol w="2780147">
                  <a:extLst>
                    <a:ext uri="{9D8B030D-6E8A-4147-A177-3AD203B41FA5}">
                      <a16:colId xmlns:a16="http://schemas.microsoft.com/office/drawing/2014/main" val="1503598667"/>
                    </a:ext>
                  </a:extLst>
                </a:gridCol>
              </a:tblGrid>
              <a:tr h="257315">
                <a:tc>
                  <a:txBody>
                    <a:bodyPr/>
                    <a:lstStyle/>
                    <a:p>
                      <a:pPr algn="ctr" rtl="1"/>
                      <a:r>
                        <a:rPr lang="ar-SA" sz="1400" b="1" noProof="0" dirty="0">
                          <a:solidFill>
                            <a:schemeClr val="bg1"/>
                          </a:solidFill>
                        </a:rPr>
                        <a:t>المصدر</a:t>
                      </a:r>
                      <a:endParaRPr lang="ar-SA" sz="1400" b="1" noProof="0" dirty="0">
                        <a:solidFill>
                          <a:schemeClr val="bg1"/>
                        </a:solidFill>
                        <a:latin typeface="+mj-lt"/>
                      </a:endParaRPr>
                    </a:p>
                  </a:txBody>
                  <a:tcPr anchor="ctr">
                    <a:lnL w="12700" cap="flat" cmpd="sng" algn="ctr">
                      <a:noFill/>
                      <a:prstDash val="solid"/>
                      <a:round/>
                      <a:headEnd type="none" w="med" len="med"/>
                      <a:tailEnd type="none" w="med" len="med"/>
                    </a:lnL>
                    <a:lnR w="12700" cap="flat" cmpd="sng" algn="ctr">
                      <a:solidFill>
                        <a:schemeClr val="bg1"/>
                      </a:solidFill>
                      <a:prstDash val="solid"/>
                      <a:round/>
                      <a:headEnd type="none" w="med" len="med"/>
                      <a:tailEnd type="none" w="med" len="med"/>
                    </a:lnR>
                    <a:solidFill>
                      <a:schemeClr val="accent1"/>
                    </a:solidFill>
                  </a:tcPr>
                </a:tc>
                <a:tc>
                  <a: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lang="ar-SA" sz="1400" b="1" noProof="0" dirty="0">
                          <a:solidFill>
                            <a:schemeClr val="bg1"/>
                          </a:solidFill>
                        </a:rPr>
                        <a:t>الأهمية</a:t>
                      </a:r>
                      <a:endParaRPr lang="ar-SA" sz="1400" b="1" noProof="0" dirty="0">
                        <a:solidFill>
                          <a:schemeClr val="bg1"/>
                        </a:solidFill>
                        <a:latin typeface="+mj-lt"/>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solidFill>
                      <a:schemeClr val="accent1"/>
                    </a:solidFill>
                  </a:tcPr>
                </a:tc>
                <a:tc>
                  <a: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lang="ar-SA" sz="1400" b="1" noProof="0" dirty="0">
                          <a:solidFill>
                            <a:schemeClr val="bg1"/>
                          </a:solidFill>
                        </a:rPr>
                        <a:t>الأولوية</a:t>
                      </a:r>
                      <a:endParaRPr lang="ar-SA" sz="1400" b="1" noProof="0" dirty="0">
                        <a:solidFill>
                          <a:schemeClr val="bg1"/>
                        </a:solidFill>
                        <a:latin typeface="+mj-lt"/>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solidFill>
                      <a:schemeClr val="accent1"/>
                    </a:solidFill>
                  </a:tcPr>
                </a:tc>
                <a:tc gridSpan="2">
                  <a: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lang="ar-SA" sz="1400" b="1" noProof="0" dirty="0">
                          <a:solidFill>
                            <a:schemeClr val="bg1"/>
                          </a:solidFill>
                        </a:rPr>
                        <a:t>التحليل لكل فجوة </a:t>
                      </a:r>
                      <a:endParaRPr lang="ar-SA" sz="1400" b="1" noProof="0" dirty="0">
                        <a:solidFill>
                          <a:schemeClr val="bg1"/>
                        </a:solidFill>
                        <a:latin typeface="+mj-lt"/>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solidFill>
                      <a:schemeClr val="accent1"/>
                    </a:solidFill>
                  </a:tcPr>
                </a:tc>
                <a:tc hMerge="1">
                  <a:txBody>
                    <a:bodyPr/>
                    <a:lstStyle/>
                    <a:p>
                      <a:endParaRPr lang="en-US"/>
                    </a:p>
                  </a:txBody>
                  <a:tcPr/>
                </a:tc>
                <a:tc>
                  <a:txBody>
                    <a:bodyPr/>
                    <a:lstStyle/>
                    <a:p>
                      <a:pPr algn="ctr" rtl="1"/>
                      <a:r>
                        <a:rPr lang="ar-SA" sz="1400" b="1" noProof="0" dirty="0">
                          <a:solidFill>
                            <a:schemeClr val="bg1"/>
                          </a:solidFill>
                        </a:rPr>
                        <a:t>الفجوة</a:t>
                      </a:r>
                      <a:endParaRPr lang="ar-SA" sz="1400" b="1" noProof="0" dirty="0">
                        <a:solidFill>
                          <a:schemeClr val="bg1"/>
                        </a:solidFill>
                        <a:latin typeface="+mj-lt"/>
                      </a:endParaRPr>
                    </a:p>
                  </a:txBody>
                  <a:tcPr anchor="ctr">
                    <a:lnL w="12700" cap="flat" cmpd="sng" algn="ctr">
                      <a:solidFill>
                        <a:schemeClr val="bg1"/>
                      </a:solidFill>
                      <a:prstDash val="solid"/>
                      <a:round/>
                      <a:headEnd type="none" w="med" len="med"/>
                      <a:tailEnd type="none" w="med" len="med"/>
                    </a:lnL>
                    <a:lnR w="12700" cap="flat" cmpd="sng" algn="ctr">
                      <a:noFill/>
                      <a:prstDash val="solid"/>
                      <a:round/>
                      <a:headEnd type="none" w="med" len="med"/>
                      <a:tailEnd type="none" w="med" len="med"/>
                    </a:lnR>
                    <a:solidFill>
                      <a:schemeClr val="accent1"/>
                    </a:solidFill>
                  </a:tcPr>
                </a:tc>
                <a:extLst>
                  <a:ext uri="{0D108BD9-81ED-4DB2-BD59-A6C34878D82A}">
                    <a16:rowId xmlns:a16="http://schemas.microsoft.com/office/drawing/2014/main" val="3304685178"/>
                  </a:ext>
                </a:extLst>
              </a:tr>
              <a:tr h="326790">
                <a:tc rowSpan="4">
                  <a:txBody>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lang="ar-SA" sz="1100" kern="1200" noProof="0" dirty="0">
                          <a:solidFill>
                            <a:schemeClr val="tx1"/>
                          </a:solidFill>
                          <a:effectLst/>
                          <a:latin typeface="+mn-lt"/>
                          <a:ea typeface="+mn-ea"/>
                          <a:cs typeface="+mn-cs"/>
                        </a:rPr>
                        <a:t>حصر وضع التطبيقات (وثيقة الوضع الحالي للتطبيقات) وتوصيات فريق البنية المؤسسية</a:t>
                      </a:r>
                    </a:p>
                    <a:p>
                      <a:pPr marL="0" marR="0" lvl="0" indent="0" algn="r" defTabSz="914400" rtl="1" eaLnBrk="1" fontAlgn="auto" latinLnBrk="0" hangingPunct="1">
                        <a:lnSpc>
                          <a:spcPct val="100000"/>
                        </a:lnSpc>
                        <a:spcBef>
                          <a:spcPts val="0"/>
                        </a:spcBef>
                        <a:spcAft>
                          <a:spcPts val="0"/>
                        </a:spcAft>
                        <a:buClrTx/>
                        <a:buSzTx/>
                        <a:buFontTx/>
                        <a:buNone/>
                        <a:tabLst/>
                        <a:defRPr/>
                      </a:pPr>
                      <a:r>
                        <a:rPr lang="ar-SA" sz="1100" kern="1200" noProof="0" dirty="0">
                          <a:solidFill>
                            <a:schemeClr val="tx1"/>
                          </a:solidFill>
                          <a:effectLst/>
                          <a:latin typeface="+mn-lt"/>
                          <a:ea typeface="+mn-ea"/>
                          <a:cs typeface="+mn-cs"/>
                        </a:rPr>
                        <a:t>، دراسة وثائق التطبيقات للجهة المتوفرة بالوضع الحالي</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B w="12700" cap="flat" cmpd="sng" algn="ctr">
                      <a:solidFill>
                        <a:schemeClr val="accent1"/>
                      </a:solidFill>
                      <a:prstDash val="solid"/>
                      <a:round/>
                      <a:headEnd type="none" w="med" len="med"/>
                      <a:tailEnd type="none" w="med" len="med"/>
                    </a:lnB>
                  </a:tcPr>
                </a:tc>
                <a:tc rowSpan="4">
                  <a:txBody>
                    <a:bodyPr/>
                    <a:lstStyle/>
                    <a:p>
                      <a:pPr marL="0" marR="0" lvl="0" indent="0" algn="ctr" defTabSz="914400" rtl="1" eaLnBrk="1" fontAlgn="auto" latinLnBrk="0" hangingPunct="1">
                        <a:lnSpc>
                          <a:spcPct val="100000"/>
                        </a:lnSpc>
                        <a:spcBef>
                          <a:spcPts val="0"/>
                        </a:spcBef>
                        <a:spcAft>
                          <a:spcPts val="0"/>
                        </a:spcAft>
                        <a:buClrTx/>
                        <a:buSzTx/>
                        <a:buFont typeface="Arial" panose="020B0604020202020204" pitchFamily="34" charset="0"/>
                        <a:buNone/>
                        <a:tabLst/>
                        <a:defRPr/>
                      </a:pPr>
                      <a:r>
                        <a:rPr lang="ar-SA" sz="1100" kern="1200" noProof="0" dirty="0">
                          <a:solidFill>
                            <a:schemeClr val="tx1"/>
                          </a:solidFill>
                          <a:effectLst/>
                          <a:latin typeface="+mn-lt"/>
                          <a:ea typeface="+mn-ea"/>
                          <a:cs typeface="+mn-cs"/>
                        </a:rPr>
                        <a:t>متوسطة</a:t>
                      </a:r>
                    </a:p>
                  </a:txBody>
                  <a:tcPr anchor="ctr">
                    <a:lnL w="12700" cap="flat" cmpd="sng" algn="ctr">
                      <a:noFill/>
                      <a:prstDash val="solid"/>
                      <a:round/>
                      <a:headEnd type="none" w="med" len="med"/>
                      <a:tailEnd type="none" w="med" len="med"/>
                    </a:lnL>
                    <a:lnR w="12700" cap="flat" cmpd="sng" algn="ctr">
                      <a:solidFill>
                        <a:schemeClr val="bg1"/>
                      </a:solidFill>
                      <a:prstDash val="solid"/>
                      <a:round/>
                      <a:headEnd type="none" w="med" len="med"/>
                      <a:tailEnd type="none" w="med" len="med"/>
                    </a:lnR>
                    <a:lnB w="12700" cap="flat" cmpd="sng" algn="ctr">
                      <a:solidFill>
                        <a:schemeClr val="accent1"/>
                      </a:solidFill>
                      <a:prstDash val="solid"/>
                      <a:round/>
                      <a:headEnd type="none" w="med" len="med"/>
                      <a:tailEnd type="none" w="med" len="med"/>
                    </a:lnB>
                    <a:solidFill>
                      <a:schemeClr val="bg1">
                        <a:lumMod val="65000"/>
                        <a:alpha val="5000"/>
                      </a:schemeClr>
                    </a:solidFill>
                  </a:tcPr>
                </a:tc>
                <a:tc rowSpan="4">
                  <a:txBody>
                    <a:bodyPr/>
                    <a:lstStyle/>
                    <a:p>
                      <a:pPr marL="0" marR="0" lvl="0" indent="0" algn="ctr" defTabSz="914400" rtl="1" eaLnBrk="1" fontAlgn="auto" latinLnBrk="0" hangingPunct="1">
                        <a:lnSpc>
                          <a:spcPct val="100000"/>
                        </a:lnSpc>
                        <a:spcBef>
                          <a:spcPts val="0"/>
                        </a:spcBef>
                        <a:spcAft>
                          <a:spcPts val="0"/>
                        </a:spcAft>
                        <a:buClrTx/>
                        <a:buSzTx/>
                        <a:buFont typeface="Arial" panose="020B0604020202020204" pitchFamily="34" charset="0"/>
                        <a:buNone/>
                        <a:tabLst/>
                        <a:defRPr/>
                      </a:pPr>
                      <a:r>
                        <a:rPr lang="ar-SA" sz="1100" kern="1200" noProof="0" dirty="0">
                          <a:solidFill>
                            <a:schemeClr val="tx1"/>
                          </a:solidFill>
                          <a:effectLst/>
                          <a:latin typeface="+mn-lt"/>
                          <a:ea typeface="+mn-ea"/>
                          <a:cs typeface="+mn-cs"/>
                        </a:rPr>
                        <a:t>متوسطة</a:t>
                      </a:r>
                    </a:p>
                  </a:txBody>
                  <a:tcPr anchor="ctr">
                    <a:lnL w="12700" cap="flat" cmpd="sng" algn="ctr">
                      <a:solidFill>
                        <a:schemeClr val="bg1"/>
                      </a:solidFill>
                      <a:prstDash val="solid"/>
                      <a:round/>
                      <a:headEnd type="none" w="med" len="med"/>
                      <a:tailEnd type="none" w="med" len="med"/>
                    </a:lnL>
                    <a:lnR w="12700" cap="flat" cmpd="sng" algn="ctr">
                      <a:noFill/>
                      <a:prstDash val="solid"/>
                      <a:round/>
                      <a:headEnd type="none" w="med" len="med"/>
                      <a:tailEnd type="none" w="med" len="med"/>
                    </a:lnR>
                    <a:lnB w="12700" cap="flat" cmpd="sng" algn="ctr">
                      <a:solidFill>
                        <a:schemeClr val="accent1"/>
                      </a:solidFill>
                      <a:prstDash val="solid"/>
                      <a:round/>
                      <a:headEnd type="none" w="med" len="med"/>
                      <a:tailEnd type="none" w="med" len="med"/>
                    </a:lnB>
                    <a:solidFill>
                      <a:schemeClr val="bg1">
                        <a:lumMod val="65000"/>
                        <a:alpha val="5000"/>
                      </a:schemeClr>
                    </a:solidFill>
                  </a:tcPr>
                </a:tc>
                <a:tc>
                  <a:txBody>
                    <a:bodyPr/>
                    <a:lstStyle/>
                    <a:p>
                      <a:pPr algn="r" rtl="1">
                        <a:lnSpc>
                          <a:spcPct val="115000"/>
                        </a:lnSpc>
                        <a:spcAft>
                          <a:spcPts val="800"/>
                        </a:spcAft>
                      </a:pPr>
                      <a:r>
                        <a:rPr lang="ar-SA" sz="1050" kern="1200" noProof="0" dirty="0">
                          <a:solidFill>
                            <a:schemeClr val="tx1"/>
                          </a:solidFill>
                          <a:effectLst/>
                          <a:latin typeface="+mn-lt"/>
                          <a:ea typeface="+mn-ea"/>
                          <a:cs typeface="+mn-cs"/>
                        </a:rPr>
                        <a:t>وجود عدد من التطبيقات التي لا تُستخدم أو التي لا تُقدم قيمة واضحة للأعمال، مما يؤدي إلى استنزاف الموارد التقنية والمالية وتشتت جهود الصيانة والدعم.</a:t>
                      </a:r>
                    </a:p>
                  </a:txBody>
                  <a:tcPr marL="9525" marR="9525" marT="9525" marB="9525"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B w="12700" cap="flat" cmpd="sng" algn="ctr">
                      <a:solidFill>
                        <a:schemeClr val="bg1">
                          <a:lumMod val="85000"/>
                        </a:schemeClr>
                      </a:solidFill>
                      <a:prstDash val="solid"/>
                      <a:round/>
                      <a:headEnd type="none" w="med" len="med"/>
                      <a:tailEnd type="none" w="med" len="med"/>
                    </a:lnB>
                  </a:tcPr>
                </a:tc>
                <a:tc>
                  <a:txBody>
                    <a:bodyPr/>
                    <a:lstStyle/>
                    <a:p>
                      <a:pPr marL="0" marR="0" lvl="0" indent="0" algn="ctr" defTabSz="914400" rtl="1" eaLnBrk="1" fontAlgn="auto" latinLnBrk="0" hangingPunct="1">
                        <a:lnSpc>
                          <a:spcPct val="100000"/>
                        </a:lnSpc>
                        <a:spcBef>
                          <a:spcPts val="0"/>
                        </a:spcBef>
                        <a:spcAft>
                          <a:spcPts val="0"/>
                        </a:spcAft>
                        <a:buClrTx/>
                        <a:buSzTx/>
                        <a:buFont typeface="Arial" panose="020B0604020202020204" pitchFamily="34" charset="0"/>
                        <a:buNone/>
                        <a:tabLst/>
                        <a:defRPr/>
                      </a:pPr>
                      <a:r>
                        <a:rPr lang="ar-SA" sz="1400" b="1" noProof="0" dirty="0">
                          <a:solidFill>
                            <a:schemeClr val="accent1"/>
                          </a:solidFill>
                        </a:rPr>
                        <a:t>الوصف</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B w="12700" cap="flat" cmpd="sng" algn="ctr">
                      <a:solidFill>
                        <a:schemeClr val="bg1">
                          <a:lumMod val="85000"/>
                        </a:schemeClr>
                      </a:solidFill>
                      <a:prstDash val="solid"/>
                      <a:round/>
                      <a:headEnd type="none" w="med" len="med"/>
                      <a:tailEnd type="none" w="med" len="med"/>
                    </a:lnB>
                    <a:solidFill>
                      <a:schemeClr val="bg1">
                        <a:lumMod val="95000"/>
                      </a:schemeClr>
                    </a:solidFill>
                  </a:tcPr>
                </a:tc>
                <a:tc rowSpan="4">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ar-SA" sz="1600" b="1" noProof="0" dirty="0"/>
                        <a:t>GAP-A-05</a:t>
                      </a:r>
                      <a:endParaRPr lang="ar-SA" sz="1400" b="1" kern="1200" noProof="0" dirty="0">
                        <a:solidFill>
                          <a:schemeClr val="tx1"/>
                        </a:solidFill>
                        <a:effectLst/>
                        <a:latin typeface="+mn-lt"/>
                        <a:ea typeface="+mn-ea"/>
                        <a:cs typeface="+mn-cs"/>
                      </a:endParaRPr>
                    </a:p>
                    <a:p>
                      <a:pPr algn="r" rtl="1"/>
                      <a:r>
                        <a:rPr lang="ar-SA" sz="1400" b="1" kern="1200" noProof="0" dirty="0">
                          <a:solidFill>
                            <a:schemeClr val="tx1"/>
                          </a:solidFill>
                          <a:effectLst/>
                          <a:latin typeface="+mn-lt"/>
                          <a:ea typeface="+mn-ea"/>
                          <a:cs typeface="+mn-cs"/>
                        </a:rPr>
                        <a:t>تطبيقات عديمة الاستخدام أو غير فعالة تشكِّل عبئًا تقنيًا وتشغيليًا.</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B w="12700" cap="flat" cmpd="sng" algn="ctr">
                      <a:solidFill>
                        <a:schemeClr val="accent1"/>
                      </a:solidFill>
                      <a:prstDash val="solid"/>
                      <a:round/>
                      <a:headEnd type="none" w="med" len="med"/>
                      <a:tailEnd type="none" w="med" len="med"/>
                    </a:lnB>
                  </a:tcPr>
                </a:tc>
                <a:extLst>
                  <a:ext uri="{0D108BD9-81ED-4DB2-BD59-A6C34878D82A}">
                    <a16:rowId xmlns:a16="http://schemas.microsoft.com/office/drawing/2014/main" val="1128065702"/>
                  </a:ext>
                </a:extLst>
              </a:tr>
              <a:tr h="482144">
                <a:tc vMerge="1">
                  <a:txBody>
                    <a:bodyPr/>
                    <a:lstStyle/>
                    <a:p>
                      <a:endParaRPr lang="en-US"/>
                    </a:p>
                  </a:txBody>
                  <a:tcPr/>
                </a:tc>
                <a:tc vMerge="1">
                  <a:txBody>
                    <a:bodyPr/>
                    <a:lstStyle/>
                    <a:p>
                      <a:endParaRPr lang="en-US"/>
                    </a:p>
                  </a:txBody>
                  <a:tcPr/>
                </a:tc>
                <a:tc vMerge="1">
                  <a:txBody>
                    <a:bodyPr/>
                    <a:lstStyle/>
                    <a:p>
                      <a:endParaRPr lang="en-US"/>
                    </a:p>
                  </a:txBody>
                  <a:tcPr/>
                </a:tc>
                <a:tc>
                  <a:txBody>
                    <a:bodyPr/>
                    <a:lstStyle/>
                    <a:p>
                      <a:pPr marL="171450" indent="-171450" algn="r" defTabSz="914400" rtl="1" eaLnBrk="1" latinLnBrk="0" hangingPunct="1">
                        <a:lnSpc>
                          <a:spcPct val="115000"/>
                        </a:lnSpc>
                        <a:spcAft>
                          <a:spcPts val="0"/>
                        </a:spcAft>
                        <a:buFont typeface="Arial" panose="020B0604020202020204" pitchFamily="34" charset="0"/>
                        <a:buChar char="•"/>
                      </a:pPr>
                      <a:r>
                        <a:rPr lang="ar-SA" sz="1050" kern="1200" noProof="0" dirty="0">
                          <a:solidFill>
                            <a:schemeClr val="tx1"/>
                          </a:solidFill>
                          <a:effectLst/>
                          <a:latin typeface="+mn-lt"/>
                          <a:ea typeface="+mn-ea"/>
                          <a:cs typeface="+mn-cs"/>
                        </a:rPr>
                        <a:t>زيادة التكاليف التشغيلية والصيانة.</a:t>
                      </a:r>
                    </a:p>
                    <a:p>
                      <a:pPr marL="171450" indent="-171450" algn="r" defTabSz="914400" rtl="1" eaLnBrk="1" latinLnBrk="0" hangingPunct="1">
                        <a:lnSpc>
                          <a:spcPct val="115000"/>
                        </a:lnSpc>
                        <a:spcAft>
                          <a:spcPts val="0"/>
                        </a:spcAft>
                        <a:buFont typeface="Arial" panose="020B0604020202020204" pitchFamily="34" charset="0"/>
                        <a:buChar char="•"/>
                      </a:pPr>
                      <a:r>
                        <a:rPr lang="ar-SA" sz="1050" kern="1200" noProof="0" dirty="0">
                          <a:solidFill>
                            <a:schemeClr val="tx1"/>
                          </a:solidFill>
                          <a:effectLst/>
                          <a:latin typeface="+mn-lt"/>
                          <a:ea typeface="+mn-ea"/>
                          <a:cs typeface="+mn-cs"/>
                        </a:rPr>
                        <a:t>تشتت جهود فرق التطوير والصيانة.</a:t>
                      </a:r>
                    </a:p>
                    <a:p>
                      <a:pPr marL="171450" indent="-171450" algn="r" defTabSz="914400" rtl="1" eaLnBrk="1" latinLnBrk="0" hangingPunct="1">
                        <a:lnSpc>
                          <a:spcPct val="115000"/>
                        </a:lnSpc>
                        <a:spcAft>
                          <a:spcPts val="0"/>
                        </a:spcAft>
                        <a:buFont typeface="Arial" panose="020B0604020202020204" pitchFamily="34" charset="0"/>
                        <a:buChar char="•"/>
                      </a:pPr>
                      <a:r>
                        <a:rPr lang="ar-SA" sz="1050" kern="1200" noProof="0" dirty="0">
                          <a:solidFill>
                            <a:schemeClr val="tx1"/>
                          </a:solidFill>
                          <a:effectLst/>
                          <a:latin typeface="+mn-lt"/>
                          <a:ea typeface="+mn-ea"/>
                          <a:cs typeface="+mn-cs"/>
                        </a:rPr>
                        <a:t>صعوبة في تتبع أداء التطبيقات وإدارتها بشكل فعّال.</a:t>
                      </a:r>
                    </a:p>
                  </a:txBody>
                  <a:tcPr marL="9525" marR="9525" marT="9525" marB="9525"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marL="0" marR="0" lvl="0" indent="0" algn="ctr" defTabSz="914400" rtl="1" eaLnBrk="1" fontAlgn="auto" latinLnBrk="0" hangingPunct="1">
                        <a:lnSpc>
                          <a:spcPct val="100000"/>
                        </a:lnSpc>
                        <a:spcBef>
                          <a:spcPts val="0"/>
                        </a:spcBef>
                        <a:spcAft>
                          <a:spcPts val="0"/>
                        </a:spcAft>
                        <a:buClrTx/>
                        <a:buSzTx/>
                        <a:buFont typeface="Arial" panose="020B0604020202020204" pitchFamily="34" charset="0"/>
                        <a:buNone/>
                        <a:tabLst/>
                        <a:defRPr/>
                      </a:pPr>
                      <a:r>
                        <a:rPr lang="ar-SA" sz="1400" b="1" kern="1200" noProof="0" dirty="0">
                          <a:solidFill>
                            <a:schemeClr val="accent1"/>
                          </a:solidFill>
                        </a:rPr>
                        <a:t>الأثر الحالي</a:t>
                      </a:r>
                      <a:endParaRPr lang="ar-SA" sz="1400" b="1" noProof="0" dirty="0">
                        <a:solidFill>
                          <a:schemeClr val="accent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lumMod val="95000"/>
                      </a:schemeClr>
                    </a:solidFill>
                  </a:tcPr>
                </a:tc>
                <a:tc vMerge="1">
                  <a:txBody>
                    <a:bodyPr/>
                    <a:lstStyle/>
                    <a:p>
                      <a:endParaRPr lang="en-US"/>
                    </a:p>
                  </a:txBody>
                  <a:tcPr/>
                </a:tc>
                <a:extLst>
                  <a:ext uri="{0D108BD9-81ED-4DB2-BD59-A6C34878D82A}">
                    <a16:rowId xmlns:a16="http://schemas.microsoft.com/office/drawing/2014/main" val="1163892829"/>
                  </a:ext>
                </a:extLst>
              </a:tr>
              <a:tr h="617556">
                <a:tc vMerge="1">
                  <a:txBody>
                    <a:bodyPr/>
                    <a:lstStyle/>
                    <a:p>
                      <a:endParaRPr lang="en-US"/>
                    </a:p>
                  </a:txBody>
                  <a:tcPr/>
                </a:tc>
                <a:tc vMerge="1">
                  <a:txBody>
                    <a:bodyPr/>
                    <a:lstStyle/>
                    <a:p>
                      <a:endParaRPr lang="en-US"/>
                    </a:p>
                  </a:txBody>
                  <a:tcPr/>
                </a:tc>
                <a:tc vMerge="1">
                  <a:txBody>
                    <a:bodyPr/>
                    <a:lstStyle/>
                    <a:p>
                      <a:endParaRPr lang="en-US"/>
                    </a:p>
                  </a:txBody>
                  <a:tcPr/>
                </a:tc>
                <a:tc>
                  <a:txBody>
                    <a:bodyPr/>
                    <a:lstStyle/>
                    <a:p>
                      <a:pPr marL="171450" indent="-171450" algn="r" defTabSz="914400" rtl="1" eaLnBrk="1" latinLnBrk="0" hangingPunct="1">
                        <a:lnSpc>
                          <a:spcPct val="115000"/>
                        </a:lnSpc>
                        <a:spcAft>
                          <a:spcPts val="0"/>
                        </a:spcAft>
                        <a:buFont typeface="Arial" panose="020B0604020202020204" pitchFamily="34" charset="0"/>
                        <a:buChar char="•"/>
                      </a:pPr>
                      <a:r>
                        <a:rPr lang="ar-SA" sz="1050" kern="1200" noProof="0" dirty="0">
                          <a:solidFill>
                            <a:schemeClr val="tx1"/>
                          </a:solidFill>
                          <a:effectLst/>
                          <a:latin typeface="+mn-lt"/>
                          <a:ea typeface="+mn-ea"/>
                          <a:cs typeface="+mn-cs"/>
                        </a:rPr>
                        <a:t>خفض التكاليف التشغيلية وتحسين كفاءة فرق الدعم.</a:t>
                      </a:r>
                    </a:p>
                    <a:p>
                      <a:pPr marL="171450" indent="-171450" algn="r" defTabSz="914400" rtl="1" eaLnBrk="1" latinLnBrk="0" hangingPunct="1">
                        <a:lnSpc>
                          <a:spcPct val="115000"/>
                        </a:lnSpc>
                        <a:spcAft>
                          <a:spcPts val="0"/>
                        </a:spcAft>
                        <a:buFont typeface="Arial" panose="020B0604020202020204" pitchFamily="34" charset="0"/>
                        <a:buChar char="•"/>
                      </a:pPr>
                      <a:r>
                        <a:rPr lang="ar-SA" sz="1050" kern="1200" noProof="0" dirty="0">
                          <a:solidFill>
                            <a:schemeClr val="tx1"/>
                          </a:solidFill>
                          <a:effectLst/>
                          <a:latin typeface="+mn-lt"/>
                          <a:ea typeface="+mn-ea"/>
                          <a:cs typeface="+mn-cs"/>
                        </a:rPr>
                        <a:t>تركيز الموارد على التطبيقات الفعالة والمستخدمة فعليًا.</a:t>
                      </a:r>
                    </a:p>
                    <a:p>
                      <a:pPr marL="171450" indent="-171450" algn="r" defTabSz="914400" rtl="1" eaLnBrk="1" latinLnBrk="0" hangingPunct="1">
                        <a:lnSpc>
                          <a:spcPct val="115000"/>
                        </a:lnSpc>
                        <a:spcAft>
                          <a:spcPts val="0"/>
                        </a:spcAft>
                        <a:buFont typeface="Arial" panose="020B0604020202020204" pitchFamily="34" charset="0"/>
                        <a:buChar char="•"/>
                      </a:pPr>
                      <a:r>
                        <a:rPr lang="ar-SA" sz="1050" kern="1200" noProof="0" dirty="0">
                          <a:solidFill>
                            <a:schemeClr val="tx1"/>
                          </a:solidFill>
                          <a:effectLst/>
                          <a:latin typeface="+mn-lt"/>
                          <a:ea typeface="+mn-ea"/>
                          <a:cs typeface="+mn-cs"/>
                        </a:rPr>
                        <a:t>تبسيط البيئة التقنية وإدارتها.</a:t>
                      </a:r>
                    </a:p>
                  </a:txBody>
                  <a:tcPr marL="9525" marR="9525" marT="9525" marB="9525"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marL="0" marR="0" lvl="0" indent="0" algn="ctr" defTabSz="914400" rtl="1" eaLnBrk="1" fontAlgn="auto" latinLnBrk="0" hangingPunct="1">
                        <a:lnSpc>
                          <a:spcPct val="100000"/>
                        </a:lnSpc>
                        <a:spcBef>
                          <a:spcPts val="0"/>
                        </a:spcBef>
                        <a:spcAft>
                          <a:spcPts val="0"/>
                        </a:spcAft>
                        <a:buClrTx/>
                        <a:buSzTx/>
                        <a:buFont typeface="Arial" panose="020B0604020202020204" pitchFamily="34" charset="0"/>
                        <a:buNone/>
                        <a:tabLst/>
                        <a:defRPr/>
                      </a:pPr>
                      <a:r>
                        <a:rPr lang="ar-SA" sz="1400" b="1" noProof="0" dirty="0">
                          <a:solidFill>
                            <a:schemeClr val="accent1"/>
                          </a:solidFill>
                        </a:rPr>
                        <a:t>الأثر بعد الردم (المعالجة)</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lumMod val="95000"/>
                      </a:schemeClr>
                    </a:solidFill>
                  </a:tcPr>
                </a:tc>
                <a:tc vMerge="1">
                  <a:txBody>
                    <a:bodyPr/>
                    <a:lstStyle/>
                    <a:p>
                      <a:endParaRPr lang="en-US"/>
                    </a:p>
                  </a:txBody>
                  <a:tcPr/>
                </a:tc>
                <a:extLst>
                  <a:ext uri="{0D108BD9-81ED-4DB2-BD59-A6C34878D82A}">
                    <a16:rowId xmlns:a16="http://schemas.microsoft.com/office/drawing/2014/main" val="1973569126"/>
                  </a:ext>
                </a:extLst>
              </a:tr>
              <a:tr h="594933">
                <a:tc vMerge="1">
                  <a:txBody>
                    <a:bodyPr/>
                    <a:lstStyle/>
                    <a:p>
                      <a:endParaRPr lang="en-US"/>
                    </a:p>
                  </a:txBody>
                  <a:tcPr/>
                </a:tc>
                <a:tc vMerge="1">
                  <a:txBody>
                    <a:bodyPr/>
                    <a:lstStyle/>
                    <a:p>
                      <a:endParaRPr lang="en-US"/>
                    </a:p>
                  </a:txBody>
                  <a:tcPr/>
                </a:tc>
                <a:tc vMerge="1">
                  <a:txBody>
                    <a:bodyPr/>
                    <a:lstStyle/>
                    <a:p>
                      <a:endParaRPr lang="en-US"/>
                    </a:p>
                  </a:txBody>
                  <a:tcPr/>
                </a:tc>
                <a:tc>
                  <a:txBody>
                    <a:bodyPr/>
                    <a:lstStyle/>
                    <a:p>
                      <a:pPr marL="171450" indent="-171450" algn="r" defTabSz="914400" rtl="1" eaLnBrk="1" latinLnBrk="0" hangingPunct="1">
                        <a:lnSpc>
                          <a:spcPct val="115000"/>
                        </a:lnSpc>
                        <a:spcAft>
                          <a:spcPts val="0"/>
                        </a:spcAft>
                        <a:buFont typeface="Arial" panose="020B0604020202020204" pitchFamily="34" charset="0"/>
                        <a:buChar char="•"/>
                      </a:pPr>
                      <a:r>
                        <a:rPr lang="ar-SA" sz="1050" kern="1200" noProof="0" dirty="0">
                          <a:solidFill>
                            <a:schemeClr val="tx1"/>
                          </a:solidFill>
                          <a:effectLst/>
                          <a:latin typeface="+mn-lt"/>
                          <a:ea typeface="+mn-ea"/>
                          <a:cs typeface="+mn-cs"/>
                        </a:rPr>
                        <a:t>إجراء تقييم شامل لتصنيف التطبيقات حسب استخدامها وفعاليتها.</a:t>
                      </a:r>
                    </a:p>
                    <a:p>
                      <a:pPr marL="171450" indent="-171450" algn="r" defTabSz="914400" rtl="1" eaLnBrk="1" latinLnBrk="0" hangingPunct="1">
                        <a:lnSpc>
                          <a:spcPct val="115000"/>
                        </a:lnSpc>
                        <a:spcAft>
                          <a:spcPts val="0"/>
                        </a:spcAft>
                        <a:buFont typeface="Arial" panose="020B0604020202020204" pitchFamily="34" charset="0"/>
                        <a:buChar char="•"/>
                      </a:pPr>
                      <a:r>
                        <a:rPr lang="ar-SA" sz="1050" kern="1200" noProof="0" dirty="0">
                          <a:solidFill>
                            <a:schemeClr val="tx1"/>
                          </a:solidFill>
                          <a:effectLst/>
                          <a:latin typeface="+mn-lt"/>
                          <a:ea typeface="+mn-ea"/>
                          <a:cs typeface="+mn-cs"/>
                        </a:rPr>
                        <a:t>وضع آلية لإيقاف أو إعادة تصميم التطبيقات غير الفعالة.</a:t>
                      </a:r>
                    </a:p>
                    <a:p>
                      <a:pPr marL="171450" indent="-171450" algn="r" defTabSz="914400" rtl="1" eaLnBrk="1" latinLnBrk="0" hangingPunct="1">
                        <a:lnSpc>
                          <a:spcPct val="115000"/>
                        </a:lnSpc>
                        <a:spcAft>
                          <a:spcPts val="0"/>
                        </a:spcAft>
                        <a:buFont typeface="Arial" panose="020B0604020202020204" pitchFamily="34" charset="0"/>
                        <a:buChar char="•"/>
                      </a:pPr>
                      <a:r>
                        <a:rPr lang="ar-SA" sz="1050" kern="1200" noProof="0" dirty="0">
                          <a:solidFill>
                            <a:schemeClr val="tx1"/>
                          </a:solidFill>
                          <a:effectLst/>
                          <a:latin typeface="+mn-lt"/>
                          <a:ea typeface="+mn-ea"/>
                          <a:cs typeface="+mn-cs"/>
                        </a:rPr>
                        <a:t>إعادة توزيع الموارد والتركيز على الأنظمة ذات القيمة المضافة.</a:t>
                      </a:r>
                    </a:p>
                  </a:txBody>
                  <a:tcPr marL="9525" marR="9525" marT="9525" marB="9525"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marL="0" marR="0" lvl="0" indent="0" algn="ctr" defTabSz="914400" rtl="1" eaLnBrk="1" fontAlgn="auto" latinLnBrk="0" hangingPunct="1">
                        <a:lnSpc>
                          <a:spcPct val="100000"/>
                        </a:lnSpc>
                        <a:spcBef>
                          <a:spcPts val="0"/>
                        </a:spcBef>
                        <a:spcAft>
                          <a:spcPts val="0"/>
                        </a:spcAft>
                        <a:buClrTx/>
                        <a:buSzTx/>
                        <a:buFont typeface="Arial" panose="020B0604020202020204" pitchFamily="34" charset="0"/>
                        <a:buNone/>
                        <a:tabLst/>
                        <a:defRPr/>
                      </a:pPr>
                      <a:r>
                        <a:rPr lang="ar-SA" sz="1400" b="1" noProof="0" dirty="0">
                          <a:solidFill>
                            <a:schemeClr val="accent1"/>
                          </a:solidFill>
                        </a:rPr>
                        <a:t>تغطية الفجوة </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accent1"/>
                      </a:solidFill>
                      <a:prstDash val="solid"/>
                      <a:round/>
                      <a:headEnd type="none" w="med" len="med"/>
                      <a:tailEnd type="none" w="med" len="med"/>
                    </a:lnB>
                    <a:solidFill>
                      <a:schemeClr val="bg1">
                        <a:lumMod val="95000"/>
                      </a:schemeClr>
                    </a:solidFill>
                  </a:tcPr>
                </a:tc>
                <a:tc vMerge="1">
                  <a:txBody>
                    <a:bodyPr/>
                    <a:lstStyle/>
                    <a:p>
                      <a:endParaRPr lang="en-US"/>
                    </a:p>
                  </a:txBody>
                  <a:tcPr/>
                </a:tc>
                <a:extLst>
                  <a:ext uri="{0D108BD9-81ED-4DB2-BD59-A6C34878D82A}">
                    <a16:rowId xmlns:a16="http://schemas.microsoft.com/office/drawing/2014/main" val="4011636746"/>
                  </a:ext>
                </a:extLst>
              </a:tr>
              <a:tr h="326790">
                <a:tc rowSpan="4">
                  <a:txBody>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lang="ar-SA" sz="1100" kern="1200" noProof="0" dirty="0">
                          <a:solidFill>
                            <a:schemeClr val="tx1"/>
                          </a:solidFill>
                          <a:effectLst/>
                          <a:latin typeface="+mn-lt"/>
                          <a:ea typeface="+mn-ea"/>
                          <a:cs typeface="+mn-cs"/>
                        </a:rPr>
                        <a:t>حصر وضع التطبيقات (وثيقة الوضع الحالي للتطبيقات) وتوصيات فريق البنية المؤسسية</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rowSpan="4">
                  <a:txBody>
                    <a:bodyPr/>
                    <a:lstStyle/>
                    <a:p>
                      <a:pPr marL="0" marR="0" lvl="0" indent="0" algn="ctr" defTabSz="914400" rtl="1" eaLnBrk="1" fontAlgn="auto" latinLnBrk="0" hangingPunct="1">
                        <a:lnSpc>
                          <a:spcPct val="100000"/>
                        </a:lnSpc>
                        <a:spcBef>
                          <a:spcPts val="0"/>
                        </a:spcBef>
                        <a:spcAft>
                          <a:spcPts val="0"/>
                        </a:spcAft>
                        <a:buClrTx/>
                        <a:buSzTx/>
                        <a:buFont typeface="Arial" panose="020B0604020202020204" pitchFamily="34" charset="0"/>
                        <a:buNone/>
                        <a:tabLst/>
                        <a:defRPr/>
                      </a:pPr>
                      <a:r>
                        <a:rPr lang="ar-SA" sz="1100" kern="1200" noProof="0" dirty="0">
                          <a:solidFill>
                            <a:schemeClr val="tx1"/>
                          </a:solidFill>
                          <a:effectLst/>
                          <a:latin typeface="+mn-lt"/>
                          <a:ea typeface="+mn-ea"/>
                          <a:cs typeface="+mn-cs"/>
                        </a:rPr>
                        <a:t>عالية</a:t>
                      </a:r>
                    </a:p>
                  </a:txBody>
                  <a:tcPr anchor="ctr">
                    <a:lnL w="12700" cap="flat" cmpd="sng" algn="ctr">
                      <a:no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solidFill>
                      <a:schemeClr val="bg1">
                        <a:lumMod val="85000"/>
                        <a:alpha val="5000"/>
                      </a:schemeClr>
                    </a:solidFill>
                  </a:tcPr>
                </a:tc>
                <a:tc rowSpan="4">
                  <a:txBody>
                    <a:bodyPr/>
                    <a:lstStyle/>
                    <a:p>
                      <a:pPr marL="0" marR="0" lvl="0" indent="0" algn="ctr" defTabSz="914400" rtl="1" eaLnBrk="1" fontAlgn="auto" latinLnBrk="0" hangingPunct="1">
                        <a:lnSpc>
                          <a:spcPct val="100000"/>
                        </a:lnSpc>
                        <a:spcBef>
                          <a:spcPts val="0"/>
                        </a:spcBef>
                        <a:spcAft>
                          <a:spcPts val="0"/>
                        </a:spcAft>
                        <a:buClrTx/>
                        <a:buSzTx/>
                        <a:buFont typeface="Arial" panose="020B0604020202020204" pitchFamily="34" charset="0"/>
                        <a:buNone/>
                        <a:tabLst/>
                        <a:defRPr/>
                      </a:pPr>
                      <a:r>
                        <a:rPr lang="ar-SA" sz="1100" kern="1200" noProof="0" dirty="0">
                          <a:solidFill>
                            <a:schemeClr val="tx1"/>
                          </a:solidFill>
                          <a:effectLst/>
                          <a:latin typeface="+mn-lt"/>
                          <a:ea typeface="+mn-ea"/>
                          <a:cs typeface="+mn-cs"/>
                        </a:rPr>
                        <a:t>متوسطة</a:t>
                      </a:r>
                    </a:p>
                  </a:txBody>
                  <a:tcPr anchor="ctr">
                    <a:lnL w="12700" cap="flat" cmpd="sng" algn="ctr">
                      <a:solidFill>
                        <a:schemeClr val="bg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solidFill>
                      <a:schemeClr val="bg1">
                        <a:lumMod val="85000"/>
                        <a:alpha val="5000"/>
                      </a:schemeClr>
                    </a:solidFill>
                  </a:tcPr>
                </a:tc>
                <a:tc>
                  <a:txBody>
                    <a:bodyPr/>
                    <a:lstStyle/>
                    <a:p>
                      <a:pPr algn="r" rtl="1">
                        <a:lnSpc>
                          <a:spcPct val="115000"/>
                        </a:lnSpc>
                        <a:spcAft>
                          <a:spcPts val="800"/>
                        </a:spcAft>
                      </a:pPr>
                      <a:r>
                        <a:rPr lang="ar-SA" sz="1050" kern="1200" noProof="0" dirty="0">
                          <a:solidFill>
                            <a:schemeClr val="tx1"/>
                          </a:solidFill>
                          <a:effectLst/>
                          <a:latin typeface="+mn-lt"/>
                          <a:ea typeface="+mn-ea"/>
                          <a:cs typeface="+mn-cs"/>
                        </a:rPr>
                        <a:t>وجود عدة أدوات لإدارة المراقبة مثل </a:t>
                      </a:r>
                      <a:r>
                        <a:rPr lang="ar-SA" sz="1050" kern="1200" noProof="0" dirty="0" err="1">
                          <a:solidFill>
                            <a:schemeClr val="tx1"/>
                          </a:solidFill>
                          <a:effectLst/>
                          <a:latin typeface="+mn-lt"/>
                          <a:ea typeface="+mn-ea"/>
                          <a:cs typeface="+mn-cs"/>
                        </a:rPr>
                        <a:t>SolarWinds</a:t>
                      </a:r>
                      <a:r>
                        <a:rPr lang="ar-SA" sz="1050" kern="1200" noProof="0" dirty="0">
                          <a:solidFill>
                            <a:schemeClr val="tx1"/>
                          </a:solidFill>
                          <a:effectLst/>
                          <a:latin typeface="+mn-lt"/>
                          <a:ea typeface="+mn-ea"/>
                          <a:cs typeface="+mn-cs"/>
                        </a:rPr>
                        <a:t> </a:t>
                      </a:r>
                      <a:r>
                        <a:rPr lang="ar-SA" sz="1050" kern="1200" noProof="0" dirty="0" err="1">
                          <a:solidFill>
                            <a:schemeClr val="tx1"/>
                          </a:solidFill>
                          <a:effectLst/>
                          <a:latin typeface="+mn-lt"/>
                          <a:ea typeface="+mn-ea"/>
                          <a:cs typeface="+mn-cs"/>
                        </a:rPr>
                        <a:t>وAppDynamics</a:t>
                      </a:r>
                      <a:r>
                        <a:rPr lang="ar-SA" sz="1050" kern="1200" noProof="0" dirty="0">
                          <a:solidFill>
                            <a:schemeClr val="tx1"/>
                          </a:solidFill>
                          <a:effectLst/>
                          <a:latin typeface="+mn-lt"/>
                          <a:ea typeface="+mn-ea"/>
                          <a:cs typeface="+mn-cs"/>
                        </a:rPr>
                        <a:t> وSite24x7 دون توحيد إطار التحليل والحوكمة، مما يؤدي إلى تشتيت البيانات وعدم اتساق التقارير.</a:t>
                      </a:r>
                    </a:p>
                  </a:txBody>
                  <a:tcPr marL="9525" marR="9525" marT="9525" marB="9525"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marL="0" marR="0" lvl="0" indent="0" algn="ctr" defTabSz="914400" rtl="1" eaLnBrk="1" fontAlgn="auto" latinLnBrk="0" hangingPunct="1">
                        <a:lnSpc>
                          <a:spcPct val="100000"/>
                        </a:lnSpc>
                        <a:spcBef>
                          <a:spcPts val="0"/>
                        </a:spcBef>
                        <a:spcAft>
                          <a:spcPts val="0"/>
                        </a:spcAft>
                        <a:buClrTx/>
                        <a:buSzTx/>
                        <a:buFont typeface="Arial" panose="020B0604020202020204" pitchFamily="34" charset="0"/>
                        <a:buNone/>
                        <a:tabLst/>
                        <a:defRPr/>
                      </a:pPr>
                      <a:r>
                        <a:rPr lang="ar-SA" sz="1400" b="1" kern="1200" noProof="0" dirty="0">
                          <a:solidFill>
                            <a:schemeClr val="accent1"/>
                          </a:solidFill>
                          <a:latin typeface="+mn-lt"/>
                          <a:ea typeface="+mn-ea"/>
                          <a:cs typeface="+mn-cs"/>
                        </a:rPr>
                        <a:t>الوصف</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lumMod val="95000"/>
                      </a:schemeClr>
                    </a:solidFill>
                  </a:tcPr>
                </a:tc>
                <a:tc rowSpan="4">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ar-SA" sz="1600" b="1" u="none" strike="noStrike" kern="1200" cap="none" spc="0" normalizeH="0" baseline="0" noProof="0" dirty="0">
                          <a:ln>
                            <a:noFill/>
                          </a:ln>
                          <a:effectLst/>
                          <a:uLnTx/>
                          <a:uFillTx/>
                        </a:rPr>
                        <a:t>GAP-A-06</a:t>
                      </a:r>
                      <a:endParaRPr kumimoji="0" lang="ar-SA" sz="1600" b="1" i="0" u="none" strike="noStrike" kern="1200" cap="none" spc="0" normalizeH="0" baseline="0" noProof="0" dirty="0">
                        <a:ln>
                          <a:noFill/>
                        </a:ln>
                        <a:solidFill>
                          <a:prstClr val="black"/>
                        </a:solidFill>
                        <a:effectLst/>
                        <a:uLnTx/>
                        <a:uFillTx/>
                        <a:latin typeface="+mn-lt"/>
                        <a:ea typeface="+mn-ea"/>
                        <a:cs typeface="+mn-cs"/>
                      </a:endParaRPr>
                    </a:p>
                    <a:p>
                      <a:pPr algn="r" rtl="1"/>
                      <a:r>
                        <a:rPr lang="ar-SA" sz="1400" b="1" kern="1200" noProof="0" dirty="0">
                          <a:solidFill>
                            <a:schemeClr val="tx1"/>
                          </a:solidFill>
                          <a:effectLst/>
                          <a:latin typeface="+mn-lt"/>
                          <a:ea typeface="+mn-ea"/>
                          <a:cs typeface="+mn-cs"/>
                        </a:rPr>
                        <a:t>تعدد أدوات الإدارة والمراقبة </a:t>
                      </a:r>
                      <a:r>
                        <a:rPr lang="ar-SA" sz="1400" b="1" kern="1200" noProof="0" dirty="0" err="1">
                          <a:solidFill>
                            <a:schemeClr val="tx1"/>
                          </a:solidFill>
                          <a:effectLst/>
                          <a:latin typeface="+mn-lt"/>
                          <a:ea typeface="+mn-ea"/>
                          <a:cs typeface="+mn-cs"/>
                        </a:rPr>
                        <a:t>SolarWinds</a:t>
                      </a:r>
                      <a:r>
                        <a:rPr lang="ar-SA" sz="1400" b="1" kern="1200" noProof="0" dirty="0">
                          <a:solidFill>
                            <a:schemeClr val="tx1"/>
                          </a:solidFill>
                          <a:effectLst/>
                          <a:latin typeface="+mn-lt"/>
                          <a:ea typeface="+mn-ea"/>
                          <a:cs typeface="+mn-cs"/>
                        </a:rPr>
                        <a:t>، </a:t>
                      </a:r>
                      <a:r>
                        <a:rPr lang="ar-SA" sz="1400" b="1" kern="1200" noProof="0" dirty="0" err="1">
                          <a:solidFill>
                            <a:schemeClr val="tx1"/>
                          </a:solidFill>
                          <a:effectLst/>
                          <a:latin typeface="+mn-lt"/>
                          <a:ea typeface="+mn-ea"/>
                          <a:cs typeface="+mn-cs"/>
                        </a:rPr>
                        <a:t>AppDynamics</a:t>
                      </a:r>
                      <a:r>
                        <a:rPr lang="ar-SA" sz="1400" b="1" kern="1200" noProof="0" dirty="0">
                          <a:solidFill>
                            <a:schemeClr val="tx1"/>
                          </a:solidFill>
                          <a:effectLst/>
                          <a:latin typeface="+mn-lt"/>
                          <a:ea typeface="+mn-ea"/>
                          <a:cs typeface="+mn-cs"/>
                        </a:rPr>
                        <a:t>، Site24x7  دون توحيد رؤية التحليل والحوكمة.</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extLst>
                  <a:ext uri="{0D108BD9-81ED-4DB2-BD59-A6C34878D82A}">
                    <a16:rowId xmlns:a16="http://schemas.microsoft.com/office/drawing/2014/main" val="1136131386"/>
                  </a:ext>
                </a:extLst>
              </a:tr>
              <a:tr h="482144">
                <a:tc vMerge="1">
                  <a:txBody>
                    <a:bodyPr/>
                    <a:lstStyle/>
                    <a:p>
                      <a:pPr marL="0" marR="0" lvl="0" indent="0" algn="r" defTabSz="914400" rtl="1" eaLnBrk="1" fontAlgn="auto" latinLnBrk="0" hangingPunct="1">
                        <a:lnSpc>
                          <a:spcPct val="100000"/>
                        </a:lnSpc>
                        <a:spcBef>
                          <a:spcPts val="0"/>
                        </a:spcBef>
                        <a:spcAft>
                          <a:spcPts val="0"/>
                        </a:spcAft>
                        <a:buClrTx/>
                        <a:buSzTx/>
                        <a:buFontTx/>
                        <a:buNone/>
                        <a:tabLst/>
                        <a:defRPr/>
                      </a:pPr>
                      <a:endParaRPr lang="en-GB" sz="1400" noProof="0" dirty="0"/>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vMerge="1">
                  <a:txBody>
                    <a:bodyPr/>
                    <a:lstStyle/>
                    <a:p>
                      <a:endParaRPr lang="en-US"/>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vMerge="1">
                  <a:txBody>
                    <a:bodyPr/>
                    <a:lstStyle/>
                    <a:p>
                      <a:endParaRPr lang="en-US"/>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marL="171450" indent="-171450" algn="r" defTabSz="914400" rtl="1" eaLnBrk="1" latinLnBrk="0" hangingPunct="1">
                        <a:lnSpc>
                          <a:spcPct val="115000"/>
                        </a:lnSpc>
                        <a:spcAft>
                          <a:spcPts val="0"/>
                        </a:spcAft>
                        <a:buFont typeface="Arial" panose="020B0604020202020204" pitchFamily="34" charset="0"/>
                        <a:buChar char="•"/>
                      </a:pPr>
                      <a:r>
                        <a:rPr lang="ar-SA" sz="1050" kern="1200" noProof="0" dirty="0">
                          <a:solidFill>
                            <a:schemeClr val="tx1"/>
                          </a:solidFill>
                          <a:effectLst/>
                          <a:latin typeface="+mn-lt"/>
                          <a:ea typeface="+mn-ea"/>
                          <a:cs typeface="+mn-cs"/>
                        </a:rPr>
                        <a:t>عدم قدرة الفرق على الحصول على صورة شاملة وموحدة لأداء الأنظمة.</a:t>
                      </a:r>
                    </a:p>
                    <a:p>
                      <a:pPr marL="171450" indent="-171450" algn="r" defTabSz="914400" rtl="1" eaLnBrk="1" latinLnBrk="0" hangingPunct="1">
                        <a:lnSpc>
                          <a:spcPct val="115000"/>
                        </a:lnSpc>
                        <a:spcAft>
                          <a:spcPts val="0"/>
                        </a:spcAft>
                        <a:buFont typeface="Arial" panose="020B0604020202020204" pitchFamily="34" charset="0"/>
                        <a:buChar char="•"/>
                      </a:pPr>
                      <a:r>
                        <a:rPr lang="ar-SA" sz="1050" kern="1200" noProof="0" dirty="0">
                          <a:solidFill>
                            <a:schemeClr val="tx1"/>
                          </a:solidFill>
                          <a:effectLst/>
                          <a:latin typeface="+mn-lt"/>
                          <a:ea typeface="+mn-ea"/>
                          <a:cs typeface="+mn-cs"/>
                        </a:rPr>
                        <a:t>زيادة التعقيد في إدارة المراقبة والتحليل.</a:t>
                      </a:r>
                    </a:p>
                    <a:p>
                      <a:pPr marL="171450" indent="-171450" algn="r" defTabSz="914400" rtl="1" eaLnBrk="1" latinLnBrk="0" hangingPunct="1">
                        <a:lnSpc>
                          <a:spcPct val="115000"/>
                        </a:lnSpc>
                        <a:spcAft>
                          <a:spcPts val="0"/>
                        </a:spcAft>
                        <a:buFont typeface="Arial" panose="020B0604020202020204" pitchFamily="34" charset="0"/>
                        <a:buChar char="•"/>
                      </a:pPr>
                      <a:r>
                        <a:rPr lang="ar-SA" sz="1050" kern="1200" noProof="0" dirty="0">
                          <a:solidFill>
                            <a:schemeClr val="tx1"/>
                          </a:solidFill>
                          <a:effectLst/>
                          <a:latin typeface="+mn-lt"/>
                          <a:ea typeface="+mn-ea"/>
                          <a:cs typeface="+mn-cs"/>
                        </a:rPr>
                        <a:t>ارتفاع التكاليف التشغيلية نتيجة لتعدد الأدوات.</a:t>
                      </a:r>
                    </a:p>
                  </a:txBody>
                  <a:tcPr marL="9525" marR="9525" marT="9525" marB="9525"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marL="0" marR="0" lvl="0" indent="0" algn="ctr" defTabSz="914400" rtl="1" eaLnBrk="1" fontAlgn="auto" latinLnBrk="0" hangingPunct="1">
                        <a:lnSpc>
                          <a:spcPct val="115000"/>
                        </a:lnSpc>
                        <a:spcBef>
                          <a:spcPts val="0"/>
                        </a:spcBef>
                        <a:spcAft>
                          <a:spcPts val="0"/>
                        </a:spcAft>
                        <a:buClrTx/>
                        <a:buSzTx/>
                        <a:buFont typeface="Arial" panose="020B0604020202020204" pitchFamily="34" charset="0"/>
                        <a:buNone/>
                        <a:tabLst/>
                        <a:defRPr/>
                      </a:pPr>
                      <a:r>
                        <a:rPr lang="ar-SA" sz="1400" b="1" kern="1200" noProof="0" dirty="0">
                          <a:solidFill>
                            <a:schemeClr val="accent1"/>
                          </a:solidFill>
                          <a:latin typeface="+mn-lt"/>
                          <a:ea typeface="+mn-ea"/>
                          <a:cs typeface="+mn-cs"/>
                        </a:rPr>
                        <a:t>الأثر الحالي</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lumMod val="95000"/>
                      </a:schemeClr>
                    </a:solidFill>
                  </a:tcPr>
                </a:tc>
                <a:tc vMerge="1">
                  <a:txBody>
                    <a:bodyPr/>
                    <a:lstStyle/>
                    <a:p>
                      <a:pPr marL="0" marR="0" lvl="0" indent="0" algn="r" defTabSz="914400" rtl="1" eaLnBrk="1" fontAlgn="auto" latinLnBrk="0" hangingPunct="1">
                        <a:lnSpc>
                          <a:spcPct val="100000"/>
                        </a:lnSpc>
                        <a:spcBef>
                          <a:spcPts val="0"/>
                        </a:spcBef>
                        <a:spcAft>
                          <a:spcPts val="0"/>
                        </a:spcAft>
                        <a:buClrTx/>
                        <a:buSzTx/>
                        <a:buFontTx/>
                        <a:buNone/>
                        <a:tabLst/>
                        <a:defRPr/>
                      </a:pPr>
                      <a:endParaRPr lang="en-GB" sz="1400" b="1" noProof="0" dirty="0"/>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extLst>
                  <a:ext uri="{0D108BD9-81ED-4DB2-BD59-A6C34878D82A}">
                    <a16:rowId xmlns:a16="http://schemas.microsoft.com/office/drawing/2014/main" val="918118369"/>
                  </a:ext>
                </a:extLst>
              </a:tr>
              <a:tr h="617556">
                <a:tc vMerge="1">
                  <a:txBody>
                    <a:bodyPr/>
                    <a:lstStyle/>
                    <a:p>
                      <a:pPr marL="0" marR="0" lvl="0" indent="0" algn="r" defTabSz="914400" rtl="1" eaLnBrk="1" fontAlgn="auto" latinLnBrk="0" hangingPunct="1">
                        <a:lnSpc>
                          <a:spcPct val="100000"/>
                        </a:lnSpc>
                        <a:spcBef>
                          <a:spcPts val="0"/>
                        </a:spcBef>
                        <a:spcAft>
                          <a:spcPts val="0"/>
                        </a:spcAft>
                        <a:buClrTx/>
                        <a:buSzTx/>
                        <a:buFontTx/>
                        <a:buNone/>
                        <a:tabLst/>
                        <a:defRPr/>
                      </a:pPr>
                      <a:endParaRPr lang="en-GB" sz="1400" noProof="0" dirty="0"/>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vMerge="1">
                  <a:txBody>
                    <a:bodyPr/>
                    <a:lstStyle/>
                    <a:p>
                      <a:endParaRPr lang="en-US"/>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vMerge="1">
                  <a:txBody>
                    <a:bodyPr/>
                    <a:lstStyle/>
                    <a:p>
                      <a:endParaRPr lang="en-US"/>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marL="171450" indent="-171450" algn="r" defTabSz="914400" rtl="1" eaLnBrk="1" latinLnBrk="0" hangingPunct="1">
                        <a:lnSpc>
                          <a:spcPct val="115000"/>
                        </a:lnSpc>
                        <a:spcAft>
                          <a:spcPts val="0"/>
                        </a:spcAft>
                        <a:buFont typeface="Arial" panose="020B0604020202020204" pitchFamily="34" charset="0"/>
                        <a:buChar char="•"/>
                      </a:pPr>
                      <a:r>
                        <a:rPr lang="ar-SA" sz="1050" kern="1200" noProof="0" dirty="0">
                          <a:solidFill>
                            <a:schemeClr val="tx1"/>
                          </a:solidFill>
                          <a:effectLst/>
                          <a:latin typeface="+mn-lt"/>
                          <a:ea typeface="+mn-ea"/>
                          <a:cs typeface="+mn-cs"/>
                        </a:rPr>
                        <a:t>توحيد رؤية التحليل والحوكمة عبر منصة مركزية تجمع بيانات المراقبة من مختلف الأدوات.</a:t>
                      </a:r>
                    </a:p>
                    <a:p>
                      <a:pPr marL="171450" indent="-171450" algn="r" defTabSz="914400" rtl="1" eaLnBrk="1" latinLnBrk="0" hangingPunct="1">
                        <a:lnSpc>
                          <a:spcPct val="115000"/>
                        </a:lnSpc>
                        <a:spcAft>
                          <a:spcPts val="0"/>
                        </a:spcAft>
                        <a:buFont typeface="Arial" panose="020B0604020202020204" pitchFamily="34" charset="0"/>
                        <a:buChar char="•"/>
                      </a:pPr>
                      <a:r>
                        <a:rPr lang="ar-SA" sz="1050" kern="1200" noProof="0" dirty="0">
                          <a:solidFill>
                            <a:schemeClr val="tx1"/>
                          </a:solidFill>
                          <a:effectLst/>
                          <a:latin typeface="+mn-lt"/>
                          <a:ea typeface="+mn-ea"/>
                          <a:cs typeface="+mn-cs"/>
                        </a:rPr>
                        <a:t>تحسين اتخاذ القرار بناءً على تقارير موحدة ودقيقة.</a:t>
                      </a:r>
                    </a:p>
                    <a:p>
                      <a:pPr marL="171450" indent="-171450" algn="r" defTabSz="914400" rtl="1" eaLnBrk="1" latinLnBrk="0" hangingPunct="1">
                        <a:lnSpc>
                          <a:spcPct val="115000"/>
                        </a:lnSpc>
                        <a:spcAft>
                          <a:spcPts val="0"/>
                        </a:spcAft>
                        <a:buFont typeface="Arial" panose="020B0604020202020204" pitchFamily="34" charset="0"/>
                        <a:buChar char="•"/>
                      </a:pPr>
                      <a:r>
                        <a:rPr lang="ar-SA" sz="1050" kern="1200" noProof="0" dirty="0">
                          <a:solidFill>
                            <a:schemeClr val="tx1"/>
                          </a:solidFill>
                          <a:effectLst/>
                          <a:latin typeface="+mn-lt"/>
                          <a:ea typeface="+mn-ea"/>
                          <a:cs typeface="+mn-cs"/>
                        </a:rPr>
                        <a:t>خفض التكاليف وتبسيط إدارة الأنظمة.</a:t>
                      </a:r>
                    </a:p>
                  </a:txBody>
                  <a:tcPr marL="9525" marR="9525" marT="9525" marB="9525"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marL="0" marR="0" lvl="0" indent="0" algn="ctr" defTabSz="914400" rtl="1" eaLnBrk="1" fontAlgn="auto" latinLnBrk="0" hangingPunct="1">
                        <a:lnSpc>
                          <a:spcPct val="100000"/>
                        </a:lnSpc>
                        <a:spcBef>
                          <a:spcPts val="0"/>
                        </a:spcBef>
                        <a:spcAft>
                          <a:spcPts val="0"/>
                        </a:spcAft>
                        <a:buClrTx/>
                        <a:buSzTx/>
                        <a:buFont typeface="Arial" panose="020B0604020202020204" pitchFamily="34" charset="0"/>
                        <a:buNone/>
                        <a:tabLst/>
                        <a:defRPr/>
                      </a:pPr>
                      <a:r>
                        <a:rPr lang="ar-SA" sz="1400" b="1" kern="1200" noProof="0" dirty="0">
                          <a:solidFill>
                            <a:schemeClr val="accent1"/>
                          </a:solidFill>
                          <a:latin typeface="+mn-lt"/>
                          <a:ea typeface="+mn-ea"/>
                          <a:cs typeface="+mn-cs"/>
                        </a:rPr>
                        <a:t>الأثر بعد الردم (المعالجة)</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lumMod val="95000"/>
                      </a:schemeClr>
                    </a:solidFill>
                  </a:tcPr>
                </a:tc>
                <a:tc vMerge="1">
                  <a:txBody>
                    <a:bodyPr/>
                    <a:lstStyle/>
                    <a:p>
                      <a:pPr marL="0" marR="0" lvl="0" indent="0" algn="r" defTabSz="914400" rtl="1" eaLnBrk="1" fontAlgn="auto" latinLnBrk="0" hangingPunct="1">
                        <a:lnSpc>
                          <a:spcPct val="100000"/>
                        </a:lnSpc>
                        <a:spcBef>
                          <a:spcPts val="0"/>
                        </a:spcBef>
                        <a:spcAft>
                          <a:spcPts val="0"/>
                        </a:spcAft>
                        <a:buClrTx/>
                        <a:buSzTx/>
                        <a:buFontTx/>
                        <a:buNone/>
                        <a:tabLst/>
                        <a:defRPr/>
                      </a:pPr>
                      <a:endParaRPr lang="en-GB" sz="1400" b="1" noProof="0" dirty="0"/>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extLst>
                  <a:ext uri="{0D108BD9-81ED-4DB2-BD59-A6C34878D82A}">
                    <a16:rowId xmlns:a16="http://schemas.microsoft.com/office/drawing/2014/main" val="4153014111"/>
                  </a:ext>
                </a:extLst>
              </a:tr>
              <a:tr h="594933">
                <a:tc vMerge="1">
                  <a:txBody>
                    <a:bodyPr/>
                    <a:lstStyle/>
                    <a:p>
                      <a:pPr marL="0" marR="0" lvl="0" indent="0" algn="r" defTabSz="914400" rtl="1" eaLnBrk="1" fontAlgn="auto" latinLnBrk="0" hangingPunct="1">
                        <a:lnSpc>
                          <a:spcPct val="100000"/>
                        </a:lnSpc>
                        <a:spcBef>
                          <a:spcPts val="0"/>
                        </a:spcBef>
                        <a:spcAft>
                          <a:spcPts val="0"/>
                        </a:spcAft>
                        <a:buClrTx/>
                        <a:buSzTx/>
                        <a:buFontTx/>
                        <a:buNone/>
                        <a:tabLst/>
                        <a:defRPr/>
                      </a:pPr>
                      <a:endParaRPr lang="en-GB" sz="1400" noProof="0" dirty="0"/>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vMerge="1">
                  <a:txBody>
                    <a:bodyPr/>
                    <a:lstStyle/>
                    <a:p>
                      <a:endParaRPr lang="en-US"/>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vMerge="1">
                  <a:txBody>
                    <a:bodyPr/>
                    <a:lstStyle/>
                    <a:p>
                      <a:endParaRPr lang="en-US"/>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marL="171450" indent="-171450" algn="r" defTabSz="914400" rtl="1" eaLnBrk="1" latinLnBrk="0" hangingPunct="1">
                        <a:lnSpc>
                          <a:spcPct val="115000"/>
                        </a:lnSpc>
                        <a:spcAft>
                          <a:spcPts val="0"/>
                        </a:spcAft>
                        <a:buFont typeface="Arial" panose="020B0604020202020204" pitchFamily="34" charset="0"/>
                        <a:buChar char="•"/>
                      </a:pPr>
                      <a:r>
                        <a:rPr lang="ar-SA" sz="1050" kern="1200" noProof="0" dirty="0">
                          <a:solidFill>
                            <a:schemeClr val="tx1"/>
                          </a:solidFill>
                          <a:effectLst/>
                          <a:latin typeface="+mn-lt"/>
                          <a:ea typeface="+mn-ea"/>
                          <a:cs typeface="+mn-cs"/>
                        </a:rPr>
                        <a:t>اعتماد منصة موحَّدة لإدارة ومراقبة الأنظمة (مثل </a:t>
                      </a:r>
                      <a:r>
                        <a:rPr lang="ar-SA" sz="1050" kern="1200" noProof="0" dirty="0" err="1">
                          <a:solidFill>
                            <a:schemeClr val="tx1"/>
                          </a:solidFill>
                          <a:effectLst/>
                          <a:latin typeface="+mn-lt"/>
                          <a:ea typeface="+mn-ea"/>
                          <a:cs typeface="+mn-cs"/>
                        </a:rPr>
                        <a:t>Splunk</a:t>
                      </a:r>
                      <a:r>
                        <a:rPr lang="ar-SA" sz="1050" kern="1200" noProof="0" dirty="0">
                          <a:solidFill>
                            <a:schemeClr val="tx1"/>
                          </a:solidFill>
                          <a:effectLst/>
                          <a:latin typeface="+mn-lt"/>
                          <a:ea typeface="+mn-ea"/>
                          <a:cs typeface="+mn-cs"/>
                        </a:rPr>
                        <a:t> أو </a:t>
                      </a:r>
                      <a:r>
                        <a:rPr lang="ar-SA" sz="1050" kern="1200" noProof="0" dirty="0" err="1">
                          <a:solidFill>
                            <a:schemeClr val="tx1"/>
                          </a:solidFill>
                          <a:effectLst/>
                          <a:latin typeface="+mn-lt"/>
                          <a:ea typeface="+mn-ea"/>
                          <a:cs typeface="+mn-cs"/>
                        </a:rPr>
                        <a:t>Elastic</a:t>
                      </a:r>
                      <a:r>
                        <a:rPr lang="ar-SA" sz="1050" kern="1200" noProof="0" dirty="0">
                          <a:solidFill>
                            <a:schemeClr val="tx1"/>
                          </a:solidFill>
                          <a:effectLst/>
                          <a:latin typeface="+mn-lt"/>
                          <a:ea typeface="+mn-ea"/>
                          <a:cs typeface="+mn-cs"/>
                        </a:rPr>
                        <a:t>) لتجميع البيانات من الأدوات المختلفة.</a:t>
                      </a:r>
                    </a:p>
                    <a:p>
                      <a:pPr marL="171450" indent="-171450" algn="r" defTabSz="914400" rtl="1" eaLnBrk="1" latinLnBrk="0" hangingPunct="1">
                        <a:lnSpc>
                          <a:spcPct val="115000"/>
                        </a:lnSpc>
                        <a:spcAft>
                          <a:spcPts val="0"/>
                        </a:spcAft>
                        <a:buFont typeface="Arial" panose="020B0604020202020204" pitchFamily="34" charset="0"/>
                        <a:buChar char="•"/>
                      </a:pPr>
                      <a:r>
                        <a:rPr lang="ar-SA" sz="1050" kern="1200" noProof="0" dirty="0">
                          <a:solidFill>
                            <a:schemeClr val="tx1"/>
                          </a:solidFill>
                          <a:effectLst/>
                          <a:latin typeface="+mn-lt"/>
                          <a:ea typeface="+mn-ea"/>
                          <a:cs typeface="+mn-cs"/>
                        </a:rPr>
                        <a:t>إعادة توحيد معايير التحليل والحوكمة ضمن إطار موحد.</a:t>
                      </a:r>
                    </a:p>
                  </a:txBody>
                  <a:tcPr marL="9525" marR="9525" marT="9525" marB="9525"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marL="0" marR="0" lvl="0" indent="0" algn="ctr" defTabSz="914400" rtl="1" eaLnBrk="1" fontAlgn="auto" latinLnBrk="0" hangingPunct="1">
                        <a:lnSpc>
                          <a:spcPct val="100000"/>
                        </a:lnSpc>
                        <a:spcBef>
                          <a:spcPts val="0"/>
                        </a:spcBef>
                        <a:spcAft>
                          <a:spcPts val="0"/>
                        </a:spcAft>
                        <a:buClrTx/>
                        <a:buSzTx/>
                        <a:buFont typeface="Arial" panose="020B0604020202020204" pitchFamily="34" charset="0"/>
                        <a:buNone/>
                        <a:tabLst/>
                        <a:defRPr/>
                      </a:pPr>
                      <a:r>
                        <a:rPr lang="ar-SA" sz="1400" b="1" kern="1200" noProof="0" dirty="0">
                          <a:solidFill>
                            <a:schemeClr val="accent1"/>
                          </a:solidFill>
                          <a:latin typeface="+mn-lt"/>
                          <a:ea typeface="+mn-ea"/>
                          <a:cs typeface="+mn-cs"/>
                        </a:rPr>
                        <a:t>تغطية الفجوة </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accent1"/>
                      </a:solidFill>
                      <a:prstDash val="solid"/>
                      <a:round/>
                      <a:headEnd type="none" w="med" len="med"/>
                      <a:tailEnd type="none" w="med" len="med"/>
                    </a:lnB>
                    <a:solidFill>
                      <a:schemeClr val="bg1">
                        <a:lumMod val="95000"/>
                      </a:schemeClr>
                    </a:solidFill>
                  </a:tcPr>
                </a:tc>
                <a:tc vMerge="1">
                  <a:txBody>
                    <a:bodyPr/>
                    <a:lstStyle/>
                    <a:p>
                      <a:pPr marL="0" marR="0" lvl="0" indent="0" algn="r" defTabSz="914400" rtl="1" eaLnBrk="1" fontAlgn="auto" latinLnBrk="0" hangingPunct="1">
                        <a:lnSpc>
                          <a:spcPct val="100000"/>
                        </a:lnSpc>
                        <a:spcBef>
                          <a:spcPts val="0"/>
                        </a:spcBef>
                        <a:spcAft>
                          <a:spcPts val="0"/>
                        </a:spcAft>
                        <a:buClrTx/>
                        <a:buSzTx/>
                        <a:buFontTx/>
                        <a:buNone/>
                        <a:tabLst/>
                        <a:defRPr/>
                      </a:pPr>
                      <a:endParaRPr lang="en-GB" sz="1400" b="1" noProof="0" dirty="0"/>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extLst>
                  <a:ext uri="{0D108BD9-81ED-4DB2-BD59-A6C34878D82A}">
                    <a16:rowId xmlns:a16="http://schemas.microsoft.com/office/drawing/2014/main" val="1035545327"/>
                  </a:ext>
                </a:extLst>
              </a:tr>
            </a:tbl>
          </a:graphicData>
        </a:graphic>
      </p:graphicFrame>
    </p:spTree>
    <p:extLst>
      <p:ext uri="{BB962C8B-B14F-4D97-AF65-F5344CB8AC3E}">
        <p14:creationId xmlns:p14="http://schemas.microsoft.com/office/powerpoint/2010/main" val="103600300"/>
      </p:ext>
    </p:extLst>
  </p:cSld>
  <p:clrMapOvr>
    <a:masterClrMapping/>
  </p:clrMapOvr>
  <mc:AlternateContent xmlns:mc="http://schemas.openxmlformats.org/markup-compatibility/2006" xmlns:p14="http://schemas.microsoft.com/office/powerpoint/2010/main">
    <mc:Choice Requires="p14">
      <p:transition spd="slow" p14:dur="1300">
        <p14:pan dir="r"/>
      </p:transition>
    </mc:Choice>
    <mc:Fallback xmlns="">
      <p:transition spd="slow">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AB3CB2-CC22-341B-FF44-C4E1087B1640}"/>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7D1405A3-F235-ED1E-948B-9C3AD85A343B}"/>
              </a:ext>
            </a:extLst>
          </p:cNvPr>
          <p:cNvSpPr>
            <a:spLocks noGrp="1"/>
          </p:cNvSpPr>
          <p:nvPr>
            <p:ph type="title"/>
          </p:nvPr>
        </p:nvSpPr>
        <p:spPr>
          <a:xfrm>
            <a:off x="609601" y="301100"/>
            <a:ext cx="10972800" cy="666261"/>
          </a:xfrm>
        </p:spPr>
        <p:txBody>
          <a:bodyPr/>
          <a:lstStyle/>
          <a:p>
            <a:r>
              <a:rPr lang="ar-SA" noProof="0" dirty="0"/>
              <a:t>ملخص تحليل الفجوات لبنية التطبيقات </a:t>
            </a:r>
          </a:p>
        </p:txBody>
      </p:sp>
      <p:sp>
        <p:nvSpPr>
          <p:cNvPr id="3" name="Slide Number Placeholder 2">
            <a:extLst>
              <a:ext uri="{FF2B5EF4-FFF2-40B4-BE49-F238E27FC236}">
                <a16:creationId xmlns:a16="http://schemas.microsoft.com/office/drawing/2014/main" id="{00B59BF9-8C09-B4E0-8E41-1AAB4B6109A9}"/>
              </a:ext>
            </a:extLst>
          </p:cNvPr>
          <p:cNvSpPr>
            <a:spLocks noGrp="1"/>
          </p:cNvSpPr>
          <p:nvPr>
            <p:ph type="sldNum" sz="quarter" idx="12"/>
          </p:nvPr>
        </p:nvSpPr>
        <p:spPr>
          <a:xfrm>
            <a:off x="655320" y="6567058"/>
            <a:ext cx="475896" cy="290942"/>
          </a:xfrm>
        </p:spPr>
        <p:txBody>
          <a:bodyPr/>
          <a:lstStyle/>
          <a:p>
            <a:fld id="{0BE4EC83-A869-464E-AE9F-881796FB085E}" type="slidenum">
              <a:rPr lang="ar-SA" noProof="0" smtClean="0"/>
              <a:pPr/>
              <a:t>30</a:t>
            </a:fld>
            <a:endParaRPr lang="ar-SA" noProof="0" dirty="0"/>
          </a:p>
        </p:txBody>
      </p:sp>
      <p:graphicFrame>
        <p:nvGraphicFramePr>
          <p:cNvPr id="2" name="Table 1">
            <a:extLst>
              <a:ext uri="{FF2B5EF4-FFF2-40B4-BE49-F238E27FC236}">
                <a16:creationId xmlns:a16="http://schemas.microsoft.com/office/drawing/2014/main" id="{21F9F6F2-B73B-142B-55B4-E0C590952081}"/>
              </a:ext>
            </a:extLst>
          </p:cNvPr>
          <p:cNvGraphicFramePr>
            <a:graphicFrameLocks noGrp="1"/>
          </p:cNvGraphicFramePr>
          <p:nvPr>
            <p:extLst>
              <p:ext uri="{D42A27DB-BD31-4B8C-83A1-F6EECF244321}">
                <p14:modId xmlns:p14="http://schemas.microsoft.com/office/powerpoint/2010/main" val="2197090392"/>
              </p:ext>
            </p:extLst>
          </p:nvPr>
        </p:nvGraphicFramePr>
        <p:xfrm>
          <a:off x="609599" y="1203018"/>
          <a:ext cx="10972802" cy="4874136"/>
        </p:xfrm>
        <a:graphic>
          <a:graphicData uri="http://schemas.openxmlformats.org/drawingml/2006/table">
            <a:tbl>
              <a:tblPr firstRow="1" bandRow="1">
                <a:tableStyleId>{2D5ABB26-0587-4C30-8999-92F81FD0307C}</a:tableStyleId>
              </a:tblPr>
              <a:tblGrid>
                <a:gridCol w="1345036">
                  <a:extLst>
                    <a:ext uri="{9D8B030D-6E8A-4147-A177-3AD203B41FA5}">
                      <a16:colId xmlns:a16="http://schemas.microsoft.com/office/drawing/2014/main" val="2801895674"/>
                    </a:ext>
                  </a:extLst>
                </a:gridCol>
                <a:gridCol w="620785">
                  <a:extLst>
                    <a:ext uri="{9D8B030D-6E8A-4147-A177-3AD203B41FA5}">
                      <a16:colId xmlns:a16="http://schemas.microsoft.com/office/drawing/2014/main" val="2976102064"/>
                    </a:ext>
                  </a:extLst>
                </a:gridCol>
                <a:gridCol w="604008">
                  <a:extLst>
                    <a:ext uri="{9D8B030D-6E8A-4147-A177-3AD203B41FA5}">
                      <a16:colId xmlns:a16="http://schemas.microsoft.com/office/drawing/2014/main" val="526736865"/>
                    </a:ext>
                  </a:extLst>
                </a:gridCol>
                <a:gridCol w="4699189">
                  <a:extLst>
                    <a:ext uri="{9D8B030D-6E8A-4147-A177-3AD203B41FA5}">
                      <a16:colId xmlns:a16="http://schemas.microsoft.com/office/drawing/2014/main" val="4106469564"/>
                    </a:ext>
                  </a:extLst>
                </a:gridCol>
                <a:gridCol w="923637">
                  <a:extLst>
                    <a:ext uri="{9D8B030D-6E8A-4147-A177-3AD203B41FA5}">
                      <a16:colId xmlns:a16="http://schemas.microsoft.com/office/drawing/2014/main" val="1154529574"/>
                    </a:ext>
                  </a:extLst>
                </a:gridCol>
                <a:gridCol w="2780147">
                  <a:extLst>
                    <a:ext uri="{9D8B030D-6E8A-4147-A177-3AD203B41FA5}">
                      <a16:colId xmlns:a16="http://schemas.microsoft.com/office/drawing/2014/main" val="1503598667"/>
                    </a:ext>
                  </a:extLst>
                </a:gridCol>
              </a:tblGrid>
              <a:tr h="257315">
                <a:tc>
                  <a:txBody>
                    <a:bodyPr/>
                    <a:lstStyle/>
                    <a:p>
                      <a:pPr algn="ctr" rtl="1"/>
                      <a:r>
                        <a:rPr lang="ar-SA" sz="1400" b="1" noProof="0" dirty="0">
                          <a:solidFill>
                            <a:schemeClr val="bg1"/>
                          </a:solidFill>
                        </a:rPr>
                        <a:t>المصدر</a:t>
                      </a:r>
                      <a:endParaRPr lang="ar-SA" sz="1400" b="1" noProof="0" dirty="0">
                        <a:solidFill>
                          <a:schemeClr val="bg1"/>
                        </a:solidFill>
                        <a:latin typeface="+mj-lt"/>
                      </a:endParaRPr>
                    </a:p>
                  </a:txBody>
                  <a:tcPr anchor="ctr">
                    <a:lnL w="12700" cap="flat" cmpd="sng" algn="ctr">
                      <a:noFill/>
                      <a:prstDash val="solid"/>
                      <a:round/>
                      <a:headEnd type="none" w="med" len="med"/>
                      <a:tailEnd type="none" w="med" len="med"/>
                    </a:lnL>
                    <a:lnR w="12700" cap="flat" cmpd="sng" algn="ctr">
                      <a:solidFill>
                        <a:schemeClr val="bg1"/>
                      </a:solidFill>
                      <a:prstDash val="solid"/>
                      <a:round/>
                      <a:headEnd type="none" w="med" len="med"/>
                      <a:tailEnd type="none" w="med" len="med"/>
                    </a:lnR>
                    <a:solidFill>
                      <a:schemeClr val="accent1"/>
                    </a:solidFill>
                  </a:tcPr>
                </a:tc>
                <a:tc>
                  <a: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lang="ar-SA" sz="1400" b="1" noProof="0" dirty="0">
                          <a:solidFill>
                            <a:schemeClr val="bg1"/>
                          </a:solidFill>
                        </a:rPr>
                        <a:t>الأهمية</a:t>
                      </a:r>
                      <a:endParaRPr lang="ar-SA" sz="1400" b="1" noProof="0" dirty="0">
                        <a:solidFill>
                          <a:schemeClr val="bg1"/>
                        </a:solidFill>
                        <a:latin typeface="+mj-lt"/>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solidFill>
                      <a:schemeClr val="accent1"/>
                    </a:solidFill>
                  </a:tcPr>
                </a:tc>
                <a:tc>
                  <a: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lang="ar-SA" sz="1400" b="1" noProof="0" dirty="0">
                          <a:solidFill>
                            <a:schemeClr val="bg1"/>
                          </a:solidFill>
                        </a:rPr>
                        <a:t>الأولوية</a:t>
                      </a:r>
                      <a:endParaRPr lang="ar-SA" sz="1400" b="1" noProof="0" dirty="0">
                        <a:solidFill>
                          <a:schemeClr val="bg1"/>
                        </a:solidFill>
                        <a:latin typeface="+mj-lt"/>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solidFill>
                      <a:schemeClr val="accent1"/>
                    </a:solidFill>
                  </a:tcPr>
                </a:tc>
                <a:tc gridSpan="2">
                  <a: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lang="ar-SA" sz="1400" b="1" noProof="0" dirty="0">
                          <a:solidFill>
                            <a:schemeClr val="bg1"/>
                          </a:solidFill>
                        </a:rPr>
                        <a:t>التحليل لكل فجوة </a:t>
                      </a:r>
                      <a:endParaRPr lang="ar-SA" sz="1400" b="1" noProof="0" dirty="0">
                        <a:solidFill>
                          <a:schemeClr val="bg1"/>
                        </a:solidFill>
                        <a:latin typeface="+mj-lt"/>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solidFill>
                      <a:schemeClr val="accent1"/>
                    </a:solidFill>
                  </a:tcPr>
                </a:tc>
                <a:tc hMerge="1">
                  <a:txBody>
                    <a:bodyPr/>
                    <a:lstStyle/>
                    <a:p>
                      <a:endParaRPr lang="en-US"/>
                    </a:p>
                  </a:txBody>
                  <a:tcPr/>
                </a:tc>
                <a:tc>
                  <a:txBody>
                    <a:bodyPr/>
                    <a:lstStyle/>
                    <a:p>
                      <a:pPr algn="ctr" rtl="1"/>
                      <a:r>
                        <a:rPr lang="ar-SA" sz="1400" b="1" noProof="0" dirty="0">
                          <a:solidFill>
                            <a:schemeClr val="bg1"/>
                          </a:solidFill>
                        </a:rPr>
                        <a:t>الفجوة</a:t>
                      </a:r>
                      <a:endParaRPr lang="ar-SA" sz="1400" b="1" noProof="0" dirty="0">
                        <a:solidFill>
                          <a:schemeClr val="bg1"/>
                        </a:solidFill>
                        <a:latin typeface="+mj-lt"/>
                      </a:endParaRPr>
                    </a:p>
                  </a:txBody>
                  <a:tcPr anchor="ctr">
                    <a:lnL w="12700" cap="flat" cmpd="sng" algn="ctr">
                      <a:solidFill>
                        <a:schemeClr val="bg1"/>
                      </a:solidFill>
                      <a:prstDash val="solid"/>
                      <a:round/>
                      <a:headEnd type="none" w="med" len="med"/>
                      <a:tailEnd type="none" w="med" len="med"/>
                    </a:lnL>
                    <a:lnR w="12700" cap="flat" cmpd="sng" algn="ctr">
                      <a:noFill/>
                      <a:prstDash val="solid"/>
                      <a:round/>
                      <a:headEnd type="none" w="med" len="med"/>
                      <a:tailEnd type="none" w="med" len="med"/>
                    </a:lnR>
                    <a:solidFill>
                      <a:schemeClr val="accent1"/>
                    </a:solidFill>
                  </a:tcPr>
                </a:tc>
                <a:extLst>
                  <a:ext uri="{0D108BD9-81ED-4DB2-BD59-A6C34878D82A}">
                    <a16:rowId xmlns:a16="http://schemas.microsoft.com/office/drawing/2014/main" val="3304685178"/>
                  </a:ext>
                </a:extLst>
              </a:tr>
              <a:tr h="326790">
                <a:tc rowSpan="4">
                  <a:txBody>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lang="ar-SA" sz="1100" kern="1200" noProof="0" dirty="0">
                          <a:solidFill>
                            <a:schemeClr val="tx1"/>
                          </a:solidFill>
                          <a:effectLst/>
                          <a:latin typeface="+mn-lt"/>
                          <a:ea typeface="+mn-ea"/>
                          <a:cs typeface="+mn-cs"/>
                        </a:rPr>
                        <a:t>حصر وضع التطبيقات (وثيقة الوضع الحالي للتطبيقات) وتوصيات فريق البنية المؤسسية</a:t>
                      </a:r>
                    </a:p>
                    <a:p>
                      <a:pPr marL="0" marR="0" lvl="0" indent="0" algn="r" defTabSz="914400" rtl="1" eaLnBrk="1" fontAlgn="auto" latinLnBrk="0" hangingPunct="1">
                        <a:lnSpc>
                          <a:spcPct val="100000"/>
                        </a:lnSpc>
                        <a:spcBef>
                          <a:spcPts val="0"/>
                        </a:spcBef>
                        <a:spcAft>
                          <a:spcPts val="0"/>
                        </a:spcAft>
                        <a:buClrTx/>
                        <a:buSzTx/>
                        <a:buFontTx/>
                        <a:buNone/>
                        <a:tabLst/>
                        <a:defRPr/>
                      </a:pPr>
                      <a:r>
                        <a:rPr lang="ar-SA" sz="1100" kern="1200" noProof="0" dirty="0">
                          <a:solidFill>
                            <a:schemeClr val="tx1"/>
                          </a:solidFill>
                          <a:effectLst/>
                          <a:latin typeface="+mn-lt"/>
                          <a:ea typeface="+mn-ea"/>
                          <a:cs typeface="+mn-cs"/>
                        </a:rPr>
                        <a:t>، دراسة وثائق التطبيقات للجهة المتوفرة بالوضع الحالي</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B w="12700" cap="flat" cmpd="sng" algn="ctr">
                      <a:solidFill>
                        <a:schemeClr val="accent1"/>
                      </a:solidFill>
                      <a:prstDash val="solid"/>
                      <a:round/>
                      <a:headEnd type="none" w="med" len="med"/>
                      <a:tailEnd type="none" w="med" len="med"/>
                    </a:lnB>
                  </a:tcPr>
                </a:tc>
                <a:tc rowSpan="4">
                  <a:txBody>
                    <a:bodyPr/>
                    <a:lstStyle/>
                    <a:p>
                      <a:pPr marL="0" marR="0" lvl="0" indent="0" algn="ctr" defTabSz="914400" rtl="1" eaLnBrk="1" fontAlgn="auto" latinLnBrk="0" hangingPunct="1">
                        <a:lnSpc>
                          <a:spcPct val="100000"/>
                        </a:lnSpc>
                        <a:spcBef>
                          <a:spcPts val="0"/>
                        </a:spcBef>
                        <a:spcAft>
                          <a:spcPts val="0"/>
                        </a:spcAft>
                        <a:buClrTx/>
                        <a:buSzTx/>
                        <a:buFont typeface="Arial" panose="020B0604020202020204" pitchFamily="34" charset="0"/>
                        <a:buNone/>
                        <a:tabLst/>
                        <a:defRPr/>
                      </a:pPr>
                      <a:r>
                        <a:rPr lang="ar-SA" sz="1100" kern="1200" noProof="0" dirty="0">
                          <a:solidFill>
                            <a:schemeClr val="tx1"/>
                          </a:solidFill>
                          <a:effectLst/>
                          <a:latin typeface="+mn-lt"/>
                          <a:ea typeface="+mn-ea"/>
                          <a:cs typeface="+mn-cs"/>
                        </a:rPr>
                        <a:t>متوسطة</a:t>
                      </a:r>
                    </a:p>
                  </a:txBody>
                  <a:tcPr anchor="ctr">
                    <a:lnL w="12700" cap="flat" cmpd="sng" algn="ctr">
                      <a:noFill/>
                      <a:prstDash val="solid"/>
                      <a:round/>
                      <a:headEnd type="none" w="med" len="med"/>
                      <a:tailEnd type="none" w="med" len="med"/>
                    </a:lnL>
                    <a:lnR w="12700" cap="flat" cmpd="sng" algn="ctr">
                      <a:solidFill>
                        <a:schemeClr val="bg1"/>
                      </a:solidFill>
                      <a:prstDash val="solid"/>
                      <a:round/>
                      <a:headEnd type="none" w="med" len="med"/>
                      <a:tailEnd type="none" w="med" len="med"/>
                    </a:lnR>
                    <a:lnB w="12700" cap="flat" cmpd="sng" algn="ctr">
                      <a:solidFill>
                        <a:schemeClr val="accent1"/>
                      </a:solidFill>
                      <a:prstDash val="solid"/>
                      <a:round/>
                      <a:headEnd type="none" w="med" len="med"/>
                      <a:tailEnd type="none" w="med" len="med"/>
                    </a:lnB>
                    <a:solidFill>
                      <a:schemeClr val="bg1">
                        <a:lumMod val="65000"/>
                        <a:alpha val="5000"/>
                      </a:schemeClr>
                    </a:solidFill>
                  </a:tcPr>
                </a:tc>
                <a:tc rowSpan="4">
                  <a:txBody>
                    <a:bodyPr/>
                    <a:lstStyle/>
                    <a:p>
                      <a:pPr marL="0" marR="0" lvl="0" indent="0" algn="ctr" defTabSz="914400" rtl="1" eaLnBrk="1" fontAlgn="auto" latinLnBrk="0" hangingPunct="1">
                        <a:lnSpc>
                          <a:spcPct val="100000"/>
                        </a:lnSpc>
                        <a:spcBef>
                          <a:spcPts val="0"/>
                        </a:spcBef>
                        <a:spcAft>
                          <a:spcPts val="0"/>
                        </a:spcAft>
                        <a:buClrTx/>
                        <a:buSzTx/>
                        <a:buFont typeface="Arial" panose="020B0604020202020204" pitchFamily="34" charset="0"/>
                        <a:buNone/>
                        <a:tabLst/>
                        <a:defRPr/>
                      </a:pPr>
                      <a:r>
                        <a:rPr lang="ar-SA" sz="1100" kern="1200" noProof="0" dirty="0">
                          <a:solidFill>
                            <a:schemeClr val="tx1"/>
                          </a:solidFill>
                          <a:effectLst/>
                          <a:latin typeface="+mn-lt"/>
                          <a:ea typeface="+mn-ea"/>
                          <a:cs typeface="+mn-cs"/>
                        </a:rPr>
                        <a:t>متوسطة</a:t>
                      </a:r>
                    </a:p>
                  </a:txBody>
                  <a:tcPr anchor="ctr">
                    <a:lnL w="12700" cap="flat" cmpd="sng" algn="ctr">
                      <a:solidFill>
                        <a:schemeClr val="bg1"/>
                      </a:solidFill>
                      <a:prstDash val="solid"/>
                      <a:round/>
                      <a:headEnd type="none" w="med" len="med"/>
                      <a:tailEnd type="none" w="med" len="med"/>
                    </a:lnL>
                    <a:lnR w="12700" cap="flat" cmpd="sng" algn="ctr">
                      <a:noFill/>
                      <a:prstDash val="solid"/>
                      <a:round/>
                      <a:headEnd type="none" w="med" len="med"/>
                      <a:tailEnd type="none" w="med" len="med"/>
                    </a:lnR>
                    <a:lnB w="12700" cap="flat" cmpd="sng" algn="ctr">
                      <a:solidFill>
                        <a:schemeClr val="accent1"/>
                      </a:solidFill>
                      <a:prstDash val="solid"/>
                      <a:round/>
                      <a:headEnd type="none" w="med" len="med"/>
                      <a:tailEnd type="none" w="med" len="med"/>
                    </a:lnB>
                    <a:solidFill>
                      <a:schemeClr val="bg1">
                        <a:lumMod val="65000"/>
                        <a:alpha val="5000"/>
                      </a:schemeClr>
                    </a:solidFill>
                  </a:tcPr>
                </a:tc>
                <a:tc>
                  <a:txBody>
                    <a:bodyPr/>
                    <a:lstStyle/>
                    <a:p>
                      <a:pPr algn="r" rtl="1">
                        <a:lnSpc>
                          <a:spcPct val="115000"/>
                        </a:lnSpc>
                        <a:spcAft>
                          <a:spcPts val="800"/>
                        </a:spcAft>
                      </a:pPr>
                      <a:r>
                        <a:rPr lang="ar-SA" sz="1050" kern="1200" noProof="0" dirty="0">
                          <a:solidFill>
                            <a:schemeClr val="tx1"/>
                          </a:solidFill>
                          <a:effectLst/>
                          <a:latin typeface="+mn-lt"/>
                          <a:ea typeface="+mn-ea"/>
                          <a:cs typeface="+mn-cs"/>
                        </a:rPr>
                        <a:t>تعاني التطبيقات من عدم اعتماد نظام موحَّد للمصادقة، مما يؤدي إلى اختلاف طرق الدخول وإدارة الهوية بين الأنظمة. كما يتم استخدام تشفير محدود للبيانات الحساسة، وتختلف آليات إدارة الحقوق والصلاحيات بين التطبيقات دون إطار موحد.</a:t>
                      </a:r>
                    </a:p>
                  </a:txBody>
                  <a:tcPr marL="9525" marR="9525" marT="9525" marB="9525"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B w="12700" cap="flat" cmpd="sng" algn="ctr">
                      <a:solidFill>
                        <a:schemeClr val="bg1">
                          <a:lumMod val="85000"/>
                        </a:schemeClr>
                      </a:solidFill>
                      <a:prstDash val="solid"/>
                      <a:round/>
                      <a:headEnd type="none" w="med" len="med"/>
                      <a:tailEnd type="none" w="med" len="med"/>
                    </a:lnB>
                  </a:tcPr>
                </a:tc>
                <a:tc>
                  <a:txBody>
                    <a:bodyPr/>
                    <a:lstStyle/>
                    <a:p>
                      <a:pPr marL="0" marR="0" lvl="0" indent="0" algn="ctr" defTabSz="914400" rtl="1" eaLnBrk="1" fontAlgn="auto" latinLnBrk="0" hangingPunct="1">
                        <a:lnSpc>
                          <a:spcPct val="100000"/>
                        </a:lnSpc>
                        <a:spcBef>
                          <a:spcPts val="0"/>
                        </a:spcBef>
                        <a:spcAft>
                          <a:spcPts val="0"/>
                        </a:spcAft>
                        <a:buClrTx/>
                        <a:buSzTx/>
                        <a:buFont typeface="Arial" panose="020B0604020202020204" pitchFamily="34" charset="0"/>
                        <a:buNone/>
                        <a:tabLst/>
                        <a:defRPr/>
                      </a:pPr>
                      <a:r>
                        <a:rPr lang="ar-SA" sz="1400" b="1" noProof="0" dirty="0">
                          <a:solidFill>
                            <a:schemeClr val="accent1"/>
                          </a:solidFill>
                        </a:rPr>
                        <a:t>الوصف</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B w="12700" cap="flat" cmpd="sng" algn="ctr">
                      <a:solidFill>
                        <a:schemeClr val="bg1">
                          <a:lumMod val="85000"/>
                        </a:schemeClr>
                      </a:solidFill>
                      <a:prstDash val="solid"/>
                      <a:round/>
                      <a:headEnd type="none" w="med" len="med"/>
                      <a:tailEnd type="none" w="med" len="med"/>
                    </a:lnB>
                    <a:solidFill>
                      <a:schemeClr val="bg1">
                        <a:lumMod val="95000"/>
                      </a:schemeClr>
                    </a:solidFill>
                  </a:tcPr>
                </a:tc>
                <a:tc rowSpan="4">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ar-SA" sz="1400" b="1" kern="1200" noProof="0" dirty="0">
                          <a:solidFill>
                            <a:schemeClr val="tx1"/>
                          </a:solidFill>
                          <a:effectLst/>
                          <a:latin typeface="+mn-lt"/>
                          <a:ea typeface="+mn-ea"/>
                          <a:cs typeface="+mn-cs"/>
                        </a:rPr>
                        <a:t>GAP-A-07</a:t>
                      </a:r>
                    </a:p>
                    <a:p>
                      <a:pPr algn="r" rtl="1"/>
                      <a:r>
                        <a:rPr lang="ar-SA" sz="1400" b="1" kern="1200" noProof="0" dirty="0">
                          <a:solidFill>
                            <a:schemeClr val="tx1"/>
                          </a:solidFill>
                          <a:effectLst/>
                          <a:latin typeface="+mn-lt"/>
                          <a:ea typeface="+mn-ea"/>
                          <a:cs typeface="+mn-cs"/>
                        </a:rPr>
                        <a:t>قصور في المصادقة الموحدة، تشفير محدود، تباين في إدارة الحقوق والصلاحيات.</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B w="12700" cap="flat" cmpd="sng" algn="ctr">
                      <a:solidFill>
                        <a:schemeClr val="accent1"/>
                      </a:solidFill>
                      <a:prstDash val="solid"/>
                      <a:round/>
                      <a:headEnd type="none" w="med" len="med"/>
                      <a:tailEnd type="none" w="med" len="med"/>
                    </a:lnB>
                  </a:tcPr>
                </a:tc>
                <a:extLst>
                  <a:ext uri="{0D108BD9-81ED-4DB2-BD59-A6C34878D82A}">
                    <a16:rowId xmlns:a16="http://schemas.microsoft.com/office/drawing/2014/main" val="1128065702"/>
                  </a:ext>
                </a:extLst>
              </a:tr>
              <a:tr h="482144">
                <a:tc vMerge="1">
                  <a:txBody>
                    <a:bodyPr/>
                    <a:lstStyle/>
                    <a:p>
                      <a:endParaRPr lang="en-US"/>
                    </a:p>
                  </a:txBody>
                  <a:tcPr/>
                </a:tc>
                <a:tc vMerge="1">
                  <a:txBody>
                    <a:bodyPr/>
                    <a:lstStyle/>
                    <a:p>
                      <a:endParaRPr lang="en-US"/>
                    </a:p>
                  </a:txBody>
                  <a:tcPr/>
                </a:tc>
                <a:tc vMerge="1">
                  <a:txBody>
                    <a:bodyPr/>
                    <a:lstStyle/>
                    <a:p>
                      <a:endParaRPr lang="en-US"/>
                    </a:p>
                  </a:txBody>
                  <a:tcPr/>
                </a:tc>
                <a:tc>
                  <a:txBody>
                    <a:bodyPr/>
                    <a:lstStyle/>
                    <a:p>
                      <a:pPr marL="171450" indent="-171450" algn="r" defTabSz="914400" rtl="1" eaLnBrk="1" latinLnBrk="0" hangingPunct="1">
                        <a:lnSpc>
                          <a:spcPct val="115000"/>
                        </a:lnSpc>
                        <a:spcAft>
                          <a:spcPts val="0"/>
                        </a:spcAft>
                        <a:buFont typeface="Arial" panose="020B0604020202020204" pitchFamily="34" charset="0"/>
                        <a:buChar char="•"/>
                      </a:pPr>
                      <a:r>
                        <a:rPr lang="ar-SA" sz="1050" kern="1200" noProof="0" dirty="0">
                          <a:solidFill>
                            <a:schemeClr val="tx1"/>
                          </a:solidFill>
                          <a:effectLst/>
                          <a:latin typeface="+mn-lt"/>
                          <a:ea typeface="+mn-ea"/>
                          <a:cs typeface="+mn-cs"/>
                        </a:rPr>
                        <a:t>زيادة مخاطر الاختراق وتسرب البيانات الحساسة.</a:t>
                      </a:r>
                    </a:p>
                    <a:p>
                      <a:pPr marL="171450" indent="-171450" algn="r" defTabSz="914400" rtl="1" eaLnBrk="1" latinLnBrk="0" hangingPunct="1">
                        <a:lnSpc>
                          <a:spcPct val="115000"/>
                        </a:lnSpc>
                        <a:spcAft>
                          <a:spcPts val="0"/>
                        </a:spcAft>
                        <a:buFont typeface="Arial" panose="020B0604020202020204" pitchFamily="34" charset="0"/>
                        <a:buChar char="•"/>
                      </a:pPr>
                      <a:r>
                        <a:rPr lang="ar-SA" sz="1050" kern="1200" noProof="0" dirty="0">
                          <a:solidFill>
                            <a:schemeClr val="tx1"/>
                          </a:solidFill>
                          <a:effectLst/>
                          <a:latin typeface="+mn-lt"/>
                          <a:ea typeface="+mn-ea"/>
                          <a:cs typeface="+mn-cs"/>
                        </a:rPr>
                        <a:t>صعوبة تتبع صلاحيات الوصول وتوثيقها، مما يؤدي إلى حالات وصول غير مصرح بها.</a:t>
                      </a:r>
                    </a:p>
                    <a:p>
                      <a:pPr marL="171450" indent="-171450" algn="r" defTabSz="914400" rtl="1" eaLnBrk="1" latinLnBrk="0" hangingPunct="1">
                        <a:lnSpc>
                          <a:spcPct val="115000"/>
                        </a:lnSpc>
                        <a:spcAft>
                          <a:spcPts val="0"/>
                        </a:spcAft>
                        <a:buFont typeface="Arial" panose="020B0604020202020204" pitchFamily="34" charset="0"/>
                        <a:buChar char="•"/>
                      </a:pPr>
                      <a:r>
                        <a:rPr lang="ar-SA" sz="1050" kern="1200" noProof="0" dirty="0">
                          <a:solidFill>
                            <a:schemeClr val="tx1"/>
                          </a:solidFill>
                          <a:effectLst/>
                          <a:latin typeface="+mn-lt"/>
                          <a:ea typeface="+mn-ea"/>
                          <a:cs typeface="+mn-cs"/>
                        </a:rPr>
                        <a:t>ضعف الحماية أثناء نقل وتخزين البيانات بسبب التشفير المحدود.</a:t>
                      </a:r>
                    </a:p>
                  </a:txBody>
                  <a:tcPr marL="9525" marR="9525" marT="9525" marB="9525"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marL="0" marR="0" lvl="0" indent="0" algn="ctr" defTabSz="914400" rtl="1" eaLnBrk="1" fontAlgn="auto" latinLnBrk="0" hangingPunct="1">
                        <a:lnSpc>
                          <a:spcPct val="100000"/>
                        </a:lnSpc>
                        <a:spcBef>
                          <a:spcPts val="0"/>
                        </a:spcBef>
                        <a:spcAft>
                          <a:spcPts val="0"/>
                        </a:spcAft>
                        <a:buClrTx/>
                        <a:buSzTx/>
                        <a:buFont typeface="Arial" panose="020B0604020202020204" pitchFamily="34" charset="0"/>
                        <a:buNone/>
                        <a:tabLst/>
                        <a:defRPr/>
                      </a:pPr>
                      <a:r>
                        <a:rPr lang="ar-SA" sz="1400" b="1" kern="1200" noProof="0" dirty="0">
                          <a:solidFill>
                            <a:schemeClr val="accent1"/>
                          </a:solidFill>
                        </a:rPr>
                        <a:t>الأثر الحالي</a:t>
                      </a:r>
                      <a:endParaRPr lang="ar-SA" sz="1400" b="1" noProof="0" dirty="0">
                        <a:solidFill>
                          <a:schemeClr val="accent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lumMod val="95000"/>
                      </a:schemeClr>
                    </a:solidFill>
                  </a:tcPr>
                </a:tc>
                <a:tc vMerge="1">
                  <a:txBody>
                    <a:bodyPr/>
                    <a:lstStyle/>
                    <a:p>
                      <a:endParaRPr lang="en-US"/>
                    </a:p>
                  </a:txBody>
                  <a:tcPr/>
                </a:tc>
                <a:extLst>
                  <a:ext uri="{0D108BD9-81ED-4DB2-BD59-A6C34878D82A}">
                    <a16:rowId xmlns:a16="http://schemas.microsoft.com/office/drawing/2014/main" val="1163892829"/>
                  </a:ext>
                </a:extLst>
              </a:tr>
              <a:tr h="617556">
                <a:tc vMerge="1">
                  <a:txBody>
                    <a:bodyPr/>
                    <a:lstStyle/>
                    <a:p>
                      <a:endParaRPr lang="en-US"/>
                    </a:p>
                  </a:txBody>
                  <a:tcPr/>
                </a:tc>
                <a:tc vMerge="1">
                  <a:txBody>
                    <a:bodyPr/>
                    <a:lstStyle/>
                    <a:p>
                      <a:endParaRPr lang="en-US"/>
                    </a:p>
                  </a:txBody>
                  <a:tcPr/>
                </a:tc>
                <a:tc vMerge="1">
                  <a:txBody>
                    <a:bodyPr/>
                    <a:lstStyle/>
                    <a:p>
                      <a:endParaRPr lang="en-US"/>
                    </a:p>
                  </a:txBody>
                  <a:tcPr/>
                </a:tc>
                <a:tc>
                  <a:txBody>
                    <a:bodyPr/>
                    <a:lstStyle/>
                    <a:p>
                      <a:pPr marL="171450" indent="-171450" algn="r" defTabSz="914400" rtl="1" eaLnBrk="1" latinLnBrk="0" hangingPunct="1">
                        <a:lnSpc>
                          <a:spcPct val="115000"/>
                        </a:lnSpc>
                        <a:spcAft>
                          <a:spcPts val="0"/>
                        </a:spcAft>
                        <a:buFont typeface="Arial" panose="020B0604020202020204" pitchFamily="34" charset="0"/>
                        <a:buChar char="•"/>
                      </a:pPr>
                      <a:r>
                        <a:rPr lang="ar-SA" sz="1050" kern="1200" noProof="0" dirty="0">
                          <a:solidFill>
                            <a:schemeClr val="tx1"/>
                          </a:solidFill>
                          <a:effectLst/>
                          <a:latin typeface="+mn-lt"/>
                          <a:ea typeface="+mn-ea"/>
                          <a:cs typeface="+mn-cs"/>
                        </a:rPr>
                        <a:t>تعزيز أمان الدخول من خلال اعتماد نظام مصادقة موحَّد (SSO) وتفعيل المصادقة متعددة العوامل (MFA).رفع مستوى التشفير لتأمين البيانات أثناء النقل والتخزين.</a:t>
                      </a:r>
                    </a:p>
                    <a:p>
                      <a:pPr marL="171450" indent="-171450" algn="r" defTabSz="914400" rtl="1" eaLnBrk="1" latinLnBrk="0" hangingPunct="1">
                        <a:lnSpc>
                          <a:spcPct val="115000"/>
                        </a:lnSpc>
                        <a:spcAft>
                          <a:spcPts val="0"/>
                        </a:spcAft>
                        <a:buFont typeface="Arial" panose="020B0604020202020204" pitchFamily="34" charset="0"/>
                        <a:buChar char="•"/>
                      </a:pPr>
                      <a:r>
                        <a:rPr lang="ar-SA" sz="1050" kern="1200" noProof="0" dirty="0">
                          <a:solidFill>
                            <a:schemeClr val="tx1"/>
                          </a:solidFill>
                          <a:effectLst/>
                          <a:latin typeface="+mn-lt"/>
                          <a:ea typeface="+mn-ea"/>
                          <a:cs typeface="+mn-cs"/>
                        </a:rPr>
                        <a:t>توحيد إدارة الحقوق والصلاحيات وفق مبدأ “الأقل امتيازاً”، مما يساهم في تقليل فرص الوصول غير المصرح به.</a:t>
                      </a:r>
                    </a:p>
                  </a:txBody>
                  <a:tcPr marL="9525" marR="9525" marT="9525" marB="9525"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marL="0" marR="0" lvl="0" indent="0" algn="ctr" defTabSz="914400" rtl="1" eaLnBrk="1" fontAlgn="auto" latinLnBrk="0" hangingPunct="1">
                        <a:lnSpc>
                          <a:spcPct val="100000"/>
                        </a:lnSpc>
                        <a:spcBef>
                          <a:spcPts val="0"/>
                        </a:spcBef>
                        <a:spcAft>
                          <a:spcPts val="0"/>
                        </a:spcAft>
                        <a:buClrTx/>
                        <a:buSzTx/>
                        <a:buFont typeface="Arial" panose="020B0604020202020204" pitchFamily="34" charset="0"/>
                        <a:buNone/>
                        <a:tabLst/>
                        <a:defRPr/>
                      </a:pPr>
                      <a:r>
                        <a:rPr lang="ar-SA" sz="1400" b="1" noProof="0" dirty="0">
                          <a:solidFill>
                            <a:schemeClr val="accent1"/>
                          </a:solidFill>
                        </a:rPr>
                        <a:t>الأثر بعد الردم (المعالجة)</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lumMod val="95000"/>
                      </a:schemeClr>
                    </a:solidFill>
                  </a:tcPr>
                </a:tc>
                <a:tc vMerge="1">
                  <a:txBody>
                    <a:bodyPr/>
                    <a:lstStyle/>
                    <a:p>
                      <a:endParaRPr lang="en-US"/>
                    </a:p>
                  </a:txBody>
                  <a:tcPr/>
                </a:tc>
                <a:extLst>
                  <a:ext uri="{0D108BD9-81ED-4DB2-BD59-A6C34878D82A}">
                    <a16:rowId xmlns:a16="http://schemas.microsoft.com/office/drawing/2014/main" val="1973569126"/>
                  </a:ext>
                </a:extLst>
              </a:tr>
              <a:tr h="594933">
                <a:tc vMerge="1">
                  <a:txBody>
                    <a:bodyPr/>
                    <a:lstStyle/>
                    <a:p>
                      <a:endParaRPr lang="en-US"/>
                    </a:p>
                  </a:txBody>
                  <a:tcPr/>
                </a:tc>
                <a:tc vMerge="1">
                  <a:txBody>
                    <a:bodyPr/>
                    <a:lstStyle/>
                    <a:p>
                      <a:endParaRPr lang="en-US"/>
                    </a:p>
                  </a:txBody>
                  <a:tcPr/>
                </a:tc>
                <a:tc vMerge="1">
                  <a:txBody>
                    <a:bodyPr/>
                    <a:lstStyle/>
                    <a:p>
                      <a:endParaRPr lang="en-US"/>
                    </a:p>
                  </a:txBody>
                  <a:tcPr/>
                </a:tc>
                <a:tc>
                  <a:txBody>
                    <a:bodyPr/>
                    <a:lstStyle/>
                    <a:p>
                      <a:pPr marL="171450" indent="-171450" algn="r" defTabSz="914400" rtl="1" eaLnBrk="1" latinLnBrk="0" hangingPunct="1">
                        <a:lnSpc>
                          <a:spcPct val="115000"/>
                        </a:lnSpc>
                        <a:spcAft>
                          <a:spcPts val="0"/>
                        </a:spcAft>
                        <a:buFont typeface="Arial" panose="020B0604020202020204" pitchFamily="34" charset="0"/>
                        <a:buChar char="•"/>
                      </a:pPr>
                      <a:r>
                        <a:rPr lang="ar-SA" sz="1050" kern="1200" noProof="0" dirty="0">
                          <a:solidFill>
                            <a:schemeClr val="tx1"/>
                          </a:solidFill>
                          <a:effectLst/>
                          <a:latin typeface="+mn-lt"/>
                          <a:ea typeface="+mn-ea"/>
                          <a:cs typeface="+mn-cs"/>
                        </a:rPr>
                        <a:t>اعتماد حلول متقدمة لإدارة الهوية والوصول (IAM) تشمل SSO </a:t>
                      </a:r>
                      <a:r>
                        <a:rPr lang="ar-SA" sz="1050" kern="1200" noProof="0" dirty="0" err="1">
                          <a:solidFill>
                            <a:schemeClr val="tx1"/>
                          </a:solidFill>
                          <a:effectLst/>
                          <a:latin typeface="+mn-lt"/>
                          <a:ea typeface="+mn-ea"/>
                          <a:cs typeface="+mn-cs"/>
                        </a:rPr>
                        <a:t>وMFA</a:t>
                      </a:r>
                      <a:r>
                        <a:rPr lang="ar-SA" sz="1050" kern="1200" noProof="0" dirty="0">
                          <a:solidFill>
                            <a:schemeClr val="tx1"/>
                          </a:solidFill>
                          <a:effectLst/>
                          <a:latin typeface="+mn-lt"/>
                          <a:ea typeface="+mn-ea"/>
                          <a:cs typeface="+mn-cs"/>
                        </a:rPr>
                        <a:t> لجميع التطبيقات.</a:t>
                      </a:r>
                    </a:p>
                    <a:p>
                      <a:pPr marL="171450" indent="-171450" algn="r" defTabSz="914400" rtl="1" eaLnBrk="1" latinLnBrk="0" hangingPunct="1">
                        <a:lnSpc>
                          <a:spcPct val="115000"/>
                        </a:lnSpc>
                        <a:spcAft>
                          <a:spcPts val="0"/>
                        </a:spcAft>
                        <a:buFont typeface="Arial" panose="020B0604020202020204" pitchFamily="34" charset="0"/>
                        <a:buChar char="•"/>
                      </a:pPr>
                      <a:r>
                        <a:rPr lang="ar-SA" sz="1050" kern="1200" noProof="0" dirty="0">
                          <a:solidFill>
                            <a:schemeClr val="tx1"/>
                          </a:solidFill>
                          <a:effectLst/>
                          <a:latin typeface="+mn-lt"/>
                          <a:ea typeface="+mn-ea"/>
                          <a:cs typeface="+mn-cs"/>
                        </a:rPr>
                        <a:t>تحديث آليات التشفير باستخدام بروتوكولات آمنة (مثل TLS 1.2/1.3).</a:t>
                      </a:r>
                    </a:p>
                    <a:p>
                      <a:pPr marL="171450" indent="-171450" algn="r" defTabSz="914400" rtl="1" eaLnBrk="1" latinLnBrk="0" hangingPunct="1">
                        <a:lnSpc>
                          <a:spcPct val="115000"/>
                        </a:lnSpc>
                        <a:spcAft>
                          <a:spcPts val="0"/>
                        </a:spcAft>
                        <a:buFont typeface="Arial" panose="020B0604020202020204" pitchFamily="34" charset="0"/>
                        <a:buChar char="•"/>
                      </a:pPr>
                      <a:r>
                        <a:rPr lang="ar-SA" sz="1050" kern="1200" noProof="0" dirty="0">
                          <a:solidFill>
                            <a:schemeClr val="tx1"/>
                          </a:solidFill>
                          <a:effectLst/>
                          <a:latin typeface="+mn-lt"/>
                          <a:ea typeface="+mn-ea"/>
                          <a:cs typeface="+mn-cs"/>
                        </a:rPr>
                        <a:t>إنشاء إطار عمل موحَّد لإدارة الحقوق والصلاحيات مع مراجعة دورية وتحديث للسياسات.</a:t>
                      </a:r>
                    </a:p>
                  </a:txBody>
                  <a:tcPr marL="9525" marR="9525" marT="9525" marB="9525"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marL="0" marR="0" lvl="0" indent="0" algn="ctr" defTabSz="914400" rtl="1" eaLnBrk="1" fontAlgn="auto" latinLnBrk="0" hangingPunct="1">
                        <a:lnSpc>
                          <a:spcPct val="100000"/>
                        </a:lnSpc>
                        <a:spcBef>
                          <a:spcPts val="0"/>
                        </a:spcBef>
                        <a:spcAft>
                          <a:spcPts val="0"/>
                        </a:spcAft>
                        <a:buClrTx/>
                        <a:buSzTx/>
                        <a:buFont typeface="Arial" panose="020B0604020202020204" pitchFamily="34" charset="0"/>
                        <a:buNone/>
                        <a:tabLst/>
                        <a:defRPr/>
                      </a:pPr>
                      <a:r>
                        <a:rPr lang="ar-SA" sz="1400" b="1" noProof="0" dirty="0">
                          <a:solidFill>
                            <a:schemeClr val="accent1"/>
                          </a:solidFill>
                        </a:rPr>
                        <a:t>تغطية الفجوة </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accent1"/>
                      </a:solidFill>
                      <a:prstDash val="solid"/>
                      <a:round/>
                      <a:headEnd type="none" w="med" len="med"/>
                      <a:tailEnd type="none" w="med" len="med"/>
                    </a:lnB>
                    <a:solidFill>
                      <a:schemeClr val="bg1">
                        <a:lumMod val="95000"/>
                      </a:schemeClr>
                    </a:solidFill>
                  </a:tcPr>
                </a:tc>
                <a:tc vMerge="1">
                  <a:txBody>
                    <a:bodyPr/>
                    <a:lstStyle/>
                    <a:p>
                      <a:endParaRPr lang="en-US"/>
                    </a:p>
                  </a:txBody>
                  <a:tcPr/>
                </a:tc>
                <a:extLst>
                  <a:ext uri="{0D108BD9-81ED-4DB2-BD59-A6C34878D82A}">
                    <a16:rowId xmlns:a16="http://schemas.microsoft.com/office/drawing/2014/main" val="4011636746"/>
                  </a:ext>
                </a:extLst>
              </a:tr>
              <a:tr h="326790">
                <a:tc rowSpan="4">
                  <a:txBody>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lang="ar-SA" sz="1100" kern="1200" noProof="0" dirty="0">
                          <a:solidFill>
                            <a:schemeClr val="tx1"/>
                          </a:solidFill>
                          <a:effectLst/>
                          <a:latin typeface="+mn-lt"/>
                          <a:ea typeface="+mn-ea"/>
                          <a:cs typeface="+mn-cs"/>
                        </a:rPr>
                        <a:t>حصر وضع التطبيقات (وثيقة الوضع الحالي للتطبيقات) وتوصيات فريق البنية المؤسسية</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rowSpan="4">
                  <a:txBody>
                    <a:bodyPr/>
                    <a:lstStyle/>
                    <a:p>
                      <a:pPr marL="0" marR="0" lvl="0" indent="0" algn="ctr" defTabSz="914400" rtl="1" eaLnBrk="1" fontAlgn="auto" latinLnBrk="0" hangingPunct="1">
                        <a:lnSpc>
                          <a:spcPct val="100000"/>
                        </a:lnSpc>
                        <a:spcBef>
                          <a:spcPts val="0"/>
                        </a:spcBef>
                        <a:spcAft>
                          <a:spcPts val="0"/>
                        </a:spcAft>
                        <a:buClrTx/>
                        <a:buSzTx/>
                        <a:buFont typeface="Arial" panose="020B0604020202020204" pitchFamily="34" charset="0"/>
                        <a:buNone/>
                        <a:tabLst/>
                        <a:defRPr/>
                      </a:pPr>
                      <a:r>
                        <a:rPr kumimoji="0" lang="ar-SA" sz="1100" b="0" i="0" u="none" strike="noStrike" kern="1200" cap="none" spc="0" normalizeH="0" baseline="0" noProof="0" dirty="0">
                          <a:ln>
                            <a:noFill/>
                          </a:ln>
                          <a:solidFill>
                            <a:prstClr val="black"/>
                          </a:solidFill>
                          <a:effectLst/>
                          <a:uLnTx/>
                          <a:uFillTx/>
                          <a:latin typeface="Sakkal Majalla"/>
                          <a:ea typeface="+mn-ea"/>
                          <a:cs typeface="Sakkal Majalla"/>
                        </a:rPr>
                        <a:t>متوسطة</a:t>
                      </a:r>
                      <a:endParaRPr lang="ar-SA" sz="1100" kern="1200" noProof="0" dirty="0">
                        <a:solidFill>
                          <a:schemeClr val="tx1"/>
                        </a:solidFill>
                        <a:effectLst/>
                        <a:latin typeface="+mn-lt"/>
                        <a:ea typeface="+mn-ea"/>
                        <a:cs typeface="+mn-cs"/>
                      </a:endParaRPr>
                    </a:p>
                  </a:txBody>
                  <a:tcPr anchor="ctr">
                    <a:lnL w="12700" cap="flat" cmpd="sng" algn="ctr">
                      <a:no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solidFill>
                      <a:schemeClr val="bg1">
                        <a:lumMod val="85000"/>
                        <a:alpha val="5000"/>
                      </a:schemeClr>
                    </a:solidFill>
                  </a:tcPr>
                </a:tc>
                <a:tc rowSpan="4">
                  <a:txBody>
                    <a:bodyPr/>
                    <a:lstStyle/>
                    <a:p>
                      <a:pPr marL="0" marR="0" lvl="0" indent="0" algn="ctr" defTabSz="914400" rtl="1" eaLnBrk="1" fontAlgn="auto" latinLnBrk="0" hangingPunct="1">
                        <a:lnSpc>
                          <a:spcPct val="100000"/>
                        </a:lnSpc>
                        <a:spcBef>
                          <a:spcPts val="0"/>
                        </a:spcBef>
                        <a:spcAft>
                          <a:spcPts val="0"/>
                        </a:spcAft>
                        <a:buClrTx/>
                        <a:buSzTx/>
                        <a:buFont typeface="Arial" panose="020B0604020202020204" pitchFamily="34" charset="0"/>
                        <a:buNone/>
                        <a:tabLst/>
                        <a:defRPr/>
                      </a:pPr>
                      <a:r>
                        <a:rPr kumimoji="0" lang="ar-SA" sz="1100" b="0" i="0" u="none" strike="noStrike" kern="1200" cap="none" spc="0" normalizeH="0" baseline="0" noProof="0" dirty="0">
                          <a:ln>
                            <a:noFill/>
                          </a:ln>
                          <a:solidFill>
                            <a:prstClr val="black"/>
                          </a:solidFill>
                          <a:effectLst/>
                          <a:uLnTx/>
                          <a:uFillTx/>
                          <a:latin typeface="Sakkal Majalla"/>
                          <a:ea typeface="+mn-ea"/>
                          <a:cs typeface="Sakkal Majalla"/>
                        </a:rPr>
                        <a:t>متوسطة</a:t>
                      </a:r>
                      <a:endParaRPr lang="ar-SA" sz="1100" kern="1200" noProof="0" dirty="0">
                        <a:solidFill>
                          <a:schemeClr val="tx1"/>
                        </a:solidFill>
                        <a:effectLst/>
                        <a:latin typeface="+mn-lt"/>
                        <a:ea typeface="+mn-ea"/>
                        <a:cs typeface="+mn-cs"/>
                      </a:endParaRPr>
                    </a:p>
                  </a:txBody>
                  <a:tcPr anchor="ctr">
                    <a:lnL w="12700" cap="flat" cmpd="sng" algn="ctr">
                      <a:solidFill>
                        <a:schemeClr val="bg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solidFill>
                      <a:schemeClr val="bg1">
                        <a:lumMod val="85000"/>
                        <a:alpha val="5000"/>
                      </a:schemeClr>
                    </a:solidFill>
                  </a:tcPr>
                </a:tc>
                <a:tc>
                  <a:txBody>
                    <a:bodyPr/>
                    <a:lstStyle/>
                    <a:p>
                      <a:pPr algn="r" rtl="1">
                        <a:lnSpc>
                          <a:spcPct val="115000"/>
                        </a:lnSpc>
                        <a:spcAft>
                          <a:spcPts val="800"/>
                        </a:spcAft>
                      </a:pPr>
                      <a:r>
                        <a:rPr lang="ar-SA" sz="1050" kern="1200" noProof="0" dirty="0">
                          <a:solidFill>
                            <a:schemeClr val="tx1"/>
                          </a:solidFill>
                          <a:effectLst/>
                          <a:latin typeface="+mn-lt"/>
                          <a:ea typeface="+mn-ea"/>
                          <a:cs typeface="+mn-cs"/>
                        </a:rPr>
                        <a:t>عدم وجود نظام مركزي يسجل كافة التطبيقات التابعة للهيئة، مما يؤدي إلى غياب توثيق شامل ومُحدّد لمعلومات كل تطبيق من حيث التقنيات والنسخ وأدوار الدعم والصيانة.</a:t>
                      </a:r>
                    </a:p>
                  </a:txBody>
                  <a:tcPr marL="9525" marR="9525" marT="9525" marB="9525"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marL="0" marR="0" lvl="0" indent="0" algn="ctr" defTabSz="914400" rtl="1" eaLnBrk="1" fontAlgn="auto" latinLnBrk="0" hangingPunct="1">
                        <a:lnSpc>
                          <a:spcPct val="100000"/>
                        </a:lnSpc>
                        <a:spcBef>
                          <a:spcPts val="0"/>
                        </a:spcBef>
                        <a:spcAft>
                          <a:spcPts val="0"/>
                        </a:spcAft>
                        <a:buClrTx/>
                        <a:buSzTx/>
                        <a:buFont typeface="Arial" panose="020B0604020202020204" pitchFamily="34" charset="0"/>
                        <a:buNone/>
                        <a:tabLst/>
                        <a:defRPr/>
                      </a:pPr>
                      <a:r>
                        <a:rPr lang="ar-SA" sz="1400" b="1" kern="1200" noProof="0" dirty="0">
                          <a:solidFill>
                            <a:schemeClr val="accent1"/>
                          </a:solidFill>
                          <a:latin typeface="+mn-lt"/>
                          <a:ea typeface="+mn-ea"/>
                          <a:cs typeface="+mn-cs"/>
                        </a:rPr>
                        <a:t>الوصف</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lumMod val="95000"/>
                      </a:schemeClr>
                    </a:solidFill>
                  </a:tcPr>
                </a:tc>
                <a:tc rowSpan="4">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ar-SA" sz="1400" b="1" kern="1200" noProof="0" dirty="0">
                          <a:solidFill>
                            <a:schemeClr val="tx1"/>
                          </a:solidFill>
                          <a:effectLst/>
                          <a:latin typeface="+mn-lt"/>
                          <a:ea typeface="+mn-ea"/>
                          <a:cs typeface="+mn-cs"/>
                        </a:rPr>
                        <a:t>GAP-A-08</a:t>
                      </a:r>
                    </a:p>
                    <a:p>
                      <a:pPr algn="r" rtl="1"/>
                      <a:r>
                        <a:rPr lang="ar-SA" sz="1400" b="1" kern="1200" noProof="0" dirty="0">
                          <a:solidFill>
                            <a:schemeClr val="tx1"/>
                          </a:solidFill>
                          <a:effectLst/>
                          <a:latin typeface="+mn-lt"/>
                          <a:ea typeface="+mn-ea"/>
                          <a:cs typeface="+mn-cs"/>
                        </a:rPr>
                        <a:t>غياب سجل مركزي لتتبع التطبيقات وتقيّدها بمعايير موحَّدة في التطوير والدعم.</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extLst>
                  <a:ext uri="{0D108BD9-81ED-4DB2-BD59-A6C34878D82A}">
                    <a16:rowId xmlns:a16="http://schemas.microsoft.com/office/drawing/2014/main" val="1136131386"/>
                  </a:ext>
                </a:extLst>
              </a:tr>
              <a:tr h="482144">
                <a:tc vMerge="1">
                  <a:txBody>
                    <a:bodyPr/>
                    <a:lstStyle/>
                    <a:p>
                      <a:pPr marL="0" marR="0" lvl="0" indent="0" algn="r" defTabSz="914400" rtl="1" eaLnBrk="1" fontAlgn="auto" latinLnBrk="0" hangingPunct="1">
                        <a:lnSpc>
                          <a:spcPct val="100000"/>
                        </a:lnSpc>
                        <a:spcBef>
                          <a:spcPts val="0"/>
                        </a:spcBef>
                        <a:spcAft>
                          <a:spcPts val="0"/>
                        </a:spcAft>
                        <a:buClrTx/>
                        <a:buSzTx/>
                        <a:buFontTx/>
                        <a:buNone/>
                        <a:tabLst/>
                        <a:defRPr/>
                      </a:pPr>
                      <a:endParaRPr lang="en-GB" sz="1400" noProof="0" dirty="0"/>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vMerge="1">
                  <a:txBody>
                    <a:bodyPr/>
                    <a:lstStyle/>
                    <a:p>
                      <a:endParaRPr lang="en-US"/>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vMerge="1">
                  <a:txBody>
                    <a:bodyPr/>
                    <a:lstStyle/>
                    <a:p>
                      <a:endParaRPr lang="en-US"/>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marL="171450" indent="-171450" algn="r" defTabSz="914400" rtl="1" eaLnBrk="1" latinLnBrk="0" hangingPunct="1">
                        <a:lnSpc>
                          <a:spcPct val="115000"/>
                        </a:lnSpc>
                        <a:spcAft>
                          <a:spcPts val="0"/>
                        </a:spcAft>
                        <a:buFont typeface="Arial" panose="020B0604020202020204" pitchFamily="34" charset="0"/>
                        <a:buChar char="•"/>
                      </a:pPr>
                      <a:r>
                        <a:rPr lang="ar-SA" sz="1050" kern="1200" noProof="0" dirty="0">
                          <a:solidFill>
                            <a:schemeClr val="tx1"/>
                          </a:solidFill>
                          <a:effectLst/>
                          <a:latin typeface="+mn-lt"/>
                          <a:ea typeface="+mn-ea"/>
                          <a:cs typeface="+mn-cs"/>
                        </a:rPr>
                        <a:t>صعوبة تتبع حالة التطبيقات وإدارتها بشكل فعّال.</a:t>
                      </a:r>
                    </a:p>
                    <a:p>
                      <a:pPr marL="171450" indent="-171450" algn="r" defTabSz="914400" rtl="1" eaLnBrk="1" latinLnBrk="0" hangingPunct="1">
                        <a:lnSpc>
                          <a:spcPct val="115000"/>
                        </a:lnSpc>
                        <a:spcAft>
                          <a:spcPts val="0"/>
                        </a:spcAft>
                        <a:buFont typeface="Arial" panose="020B0604020202020204" pitchFamily="34" charset="0"/>
                        <a:buChar char="•"/>
                      </a:pPr>
                      <a:r>
                        <a:rPr lang="ar-SA" sz="1050" kern="1200" noProof="0" dirty="0">
                          <a:solidFill>
                            <a:schemeClr val="tx1"/>
                          </a:solidFill>
                          <a:effectLst/>
                          <a:latin typeface="+mn-lt"/>
                          <a:ea typeface="+mn-ea"/>
                          <a:cs typeface="+mn-cs"/>
                        </a:rPr>
                        <a:t>تشتت الجهود التقنية والصيانة وعدم وضوح من المسؤول عن كل تطبيق.</a:t>
                      </a:r>
                    </a:p>
                    <a:p>
                      <a:pPr marL="171450" indent="-171450" algn="r" defTabSz="914400" rtl="1" eaLnBrk="1" latinLnBrk="0" hangingPunct="1">
                        <a:lnSpc>
                          <a:spcPct val="115000"/>
                        </a:lnSpc>
                        <a:spcAft>
                          <a:spcPts val="0"/>
                        </a:spcAft>
                        <a:buFont typeface="Arial" panose="020B0604020202020204" pitchFamily="34" charset="0"/>
                        <a:buChar char="•"/>
                      </a:pPr>
                      <a:r>
                        <a:rPr lang="ar-SA" sz="1050" kern="1200" noProof="0" dirty="0">
                          <a:solidFill>
                            <a:schemeClr val="tx1"/>
                          </a:solidFill>
                          <a:effectLst/>
                          <a:latin typeface="+mn-lt"/>
                          <a:ea typeface="+mn-ea"/>
                          <a:cs typeface="+mn-cs"/>
                        </a:rPr>
                        <a:t>فقدان الرؤية الشاملة للتحديثات والتحسينات اللازمة.</a:t>
                      </a:r>
                    </a:p>
                  </a:txBody>
                  <a:tcPr marL="9525" marR="9525" marT="9525" marB="9525"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marL="0" marR="0" lvl="0" indent="0" algn="ctr" defTabSz="914400" rtl="1" eaLnBrk="1" fontAlgn="auto" latinLnBrk="0" hangingPunct="1">
                        <a:lnSpc>
                          <a:spcPct val="115000"/>
                        </a:lnSpc>
                        <a:spcBef>
                          <a:spcPts val="0"/>
                        </a:spcBef>
                        <a:spcAft>
                          <a:spcPts val="0"/>
                        </a:spcAft>
                        <a:buClrTx/>
                        <a:buSzTx/>
                        <a:buFont typeface="Arial" panose="020B0604020202020204" pitchFamily="34" charset="0"/>
                        <a:buNone/>
                        <a:tabLst/>
                        <a:defRPr/>
                      </a:pPr>
                      <a:r>
                        <a:rPr lang="ar-SA" sz="1400" b="1" kern="1200" noProof="0" dirty="0">
                          <a:solidFill>
                            <a:schemeClr val="accent1"/>
                          </a:solidFill>
                          <a:latin typeface="+mn-lt"/>
                          <a:ea typeface="+mn-ea"/>
                          <a:cs typeface="+mn-cs"/>
                        </a:rPr>
                        <a:t>الأثر الحالي</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lumMod val="95000"/>
                      </a:schemeClr>
                    </a:solidFill>
                  </a:tcPr>
                </a:tc>
                <a:tc vMerge="1">
                  <a:txBody>
                    <a:bodyPr/>
                    <a:lstStyle/>
                    <a:p>
                      <a:pPr marL="0" marR="0" lvl="0" indent="0" algn="r" defTabSz="914400" rtl="1" eaLnBrk="1" fontAlgn="auto" latinLnBrk="0" hangingPunct="1">
                        <a:lnSpc>
                          <a:spcPct val="100000"/>
                        </a:lnSpc>
                        <a:spcBef>
                          <a:spcPts val="0"/>
                        </a:spcBef>
                        <a:spcAft>
                          <a:spcPts val="0"/>
                        </a:spcAft>
                        <a:buClrTx/>
                        <a:buSzTx/>
                        <a:buFontTx/>
                        <a:buNone/>
                        <a:tabLst/>
                        <a:defRPr/>
                      </a:pPr>
                      <a:endParaRPr lang="en-GB" sz="1400" b="1" noProof="0" dirty="0"/>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extLst>
                  <a:ext uri="{0D108BD9-81ED-4DB2-BD59-A6C34878D82A}">
                    <a16:rowId xmlns:a16="http://schemas.microsoft.com/office/drawing/2014/main" val="918118369"/>
                  </a:ext>
                </a:extLst>
              </a:tr>
              <a:tr h="617556">
                <a:tc vMerge="1">
                  <a:txBody>
                    <a:bodyPr/>
                    <a:lstStyle/>
                    <a:p>
                      <a:pPr marL="0" marR="0" lvl="0" indent="0" algn="r" defTabSz="914400" rtl="1" eaLnBrk="1" fontAlgn="auto" latinLnBrk="0" hangingPunct="1">
                        <a:lnSpc>
                          <a:spcPct val="100000"/>
                        </a:lnSpc>
                        <a:spcBef>
                          <a:spcPts val="0"/>
                        </a:spcBef>
                        <a:spcAft>
                          <a:spcPts val="0"/>
                        </a:spcAft>
                        <a:buClrTx/>
                        <a:buSzTx/>
                        <a:buFontTx/>
                        <a:buNone/>
                        <a:tabLst/>
                        <a:defRPr/>
                      </a:pPr>
                      <a:endParaRPr lang="en-GB" sz="1400" noProof="0" dirty="0"/>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vMerge="1">
                  <a:txBody>
                    <a:bodyPr/>
                    <a:lstStyle/>
                    <a:p>
                      <a:endParaRPr lang="en-US"/>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vMerge="1">
                  <a:txBody>
                    <a:bodyPr/>
                    <a:lstStyle/>
                    <a:p>
                      <a:endParaRPr lang="en-US"/>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marL="171450" indent="-171450" algn="r" defTabSz="914400" rtl="1" eaLnBrk="1" latinLnBrk="0" hangingPunct="1">
                        <a:lnSpc>
                          <a:spcPct val="115000"/>
                        </a:lnSpc>
                        <a:spcAft>
                          <a:spcPts val="0"/>
                        </a:spcAft>
                        <a:buFont typeface="Arial" panose="020B0604020202020204" pitchFamily="34" charset="0"/>
                        <a:buChar char="•"/>
                      </a:pPr>
                      <a:r>
                        <a:rPr lang="ar-SA" sz="1050" kern="1200" noProof="0" dirty="0">
                          <a:solidFill>
                            <a:schemeClr val="tx1"/>
                          </a:solidFill>
                          <a:effectLst/>
                          <a:latin typeface="+mn-lt"/>
                          <a:ea typeface="+mn-ea"/>
                          <a:cs typeface="+mn-cs"/>
                        </a:rPr>
                        <a:t>تحقيق رؤية موحّدة لجميع التطبيقات، مما يسهم في تسهيل عمليات الصيانة والتحديث.</a:t>
                      </a:r>
                    </a:p>
                    <a:p>
                      <a:pPr marL="171450" indent="-171450" algn="r" defTabSz="914400" rtl="1" eaLnBrk="1" latinLnBrk="0" hangingPunct="1">
                        <a:lnSpc>
                          <a:spcPct val="115000"/>
                        </a:lnSpc>
                        <a:spcAft>
                          <a:spcPts val="0"/>
                        </a:spcAft>
                        <a:buFont typeface="Arial" panose="020B0604020202020204" pitchFamily="34" charset="0"/>
                        <a:buChar char="•"/>
                      </a:pPr>
                      <a:r>
                        <a:rPr lang="ar-SA" sz="1050" kern="1200" noProof="0" dirty="0">
                          <a:solidFill>
                            <a:schemeClr val="tx1"/>
                          </a:solidFill>
                          <a:effectLst/>
                          <a:latin typeface="+mn-lt"/>
                          <a:ea typeface="+mn-ea"/>
                          <a:cs typeface="+mn-cs"/>
                        </a:rPr>
                        <a:t>تحسين توزيع الموارد وتحديد أولويات الدعم التقني.</a:t>
                      </a:r>
                    </a:p>
                    <a:p>
                      <a:pPr marL="171450" indent="-171450" algn="r" defTabSz="914400" rtl="1" eaLnBrk="1" latinLnBrk="0" hangingPunct="1">
                        <a:lnSpc>
                          <a:spcPct val="115000"/>
                        </a:lnSpc>
                        <a:spcAft>
                          <a:spcPts val="0"/>
                        </a:spcAft>
                        <a:buFont typeface="Arial" panose="020B0604020202020204" pitchFamily="34" charset="0"/>
                        <a:buChar char="•"/>
                      </a:pPr>
                      <a:r>
                        <a:rPr lang="ar-SA" sz="1050" kern="1200" noProof="0" dirty="0">
                          <a:solidFill>
                            <a:schemeClr val="tx1"/>
                          </a:solidFill>
                          <a:effectLst/>
                          <a:latin typeface="+mn-lt"/>
                          <a:ea typeface="+mn-ea"/>
                          <a:cs typeface="+mn-cs"/>
                        </a:rPr>
                        <a:t>زيادة الفعالية في اتخاذ القرارات التقنية والاستراتيجية.</a:t>
                      </a:r>
                    </a:p>
                  </a:txBody>
                  <a:tcPr marL="9525" marR="9525" marT="9525" marB="9525"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marL="0" marR="0" lvl="0" indent="0" algn="ctr" defTabSz="914400" rtl="1" eaLnBrk="1" fontAlgn="auto" latinLnBrk="0" hangingPunct="1">
                        <a:lnSpc>
                          <a:spcPct val="100000"/>
                        </a:lnSpc>
                        <a:spcBef>
                          <a:spcPts val="0"/>
                        </a:spcBef>
                        <a:spcAft>
                          <a:spcPts val="0"/>
                        </a:spcAft>
                        <a:buClrTx/>
                        <a:buSzTx/>
                        <a:buFont typeface="Arial" panose="020B0604020202020204" pitchFamily="34" charset="0"/>
                        <a:buNone/>
                        <a:tabLst/>
                        <a:defRPr/>
                      </a:pPr>
                      <a:r>
                        <a:rPr lang="ar-SA" sz="1400" b="1" kern="1200" noProof="0" dirty="0">
                          <a:solidFill>
                            <a:schemeClr val="accent1"/>
                          </a:solidFill>
                          <a:latin typeface="+mn-lt"/>
                          <a:ea typeface="+mn-ea"/>
                          <a:cs typeface="+mn-cs"/>
                        </a:rPr>
                        <a:t>الأثر بعد الردم (المعالجة)</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lumMod val="95000"/>
                      </a:schemeClr>
                    </a:solidFill>
                  </a:tcPr>
                </a:tc>
                <a:tc vMerge="1">
                  <a:txBody>
                    <a:bodyPr/>
                    <a:lstStyle/>
                    <a:p>
                      <a:pPr marL="0" marR="0" lvl="0" indent="0" algn="r" defTabSz="914400" rtl="1" eaLnBrk="1" fontAlgn="auto" latinLnBrk="0" hangingPunct="1">
                        <a:lnSpc>
                          <a:spcPct val="100000"/>
                        </a:lnSpc>
                        <a:spcBef>
                          <a:spcPts val="0"/>
                        </a:spcBef>
                        <a:spcAft>
                          <a:spcPts val="0"/>
                        </a:spcAft>
                        <a:buClrTx/>
                        <a:buSzTx/>
                        <a:buFontTx/>
                        <a:buNone/>
                        <a:tabLst/>
                        <a:defRPr/>
                      </a:pPr>
                      <a:endParaRPr lang="en-GB" sz="1400" b="1" noProof="0" dirty="0"/>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extLst>
                  <a:ext uri="{0D108BD9-81ED-4DB2-BD59-A6C34878D82A}">
                    <a16:rowId xmlns:a16="http://schemas.microsoft.com/office/drawing/2014/main" val="4153014111"/>
                  </a:ext>
                </a:extLst>
              </a:tr>
              <a:tr h="594933">
                <a:tc vMerge="1">
                  <a:txBody>
                    <a:bodyPr/>
                    <a:lstStyle/>
                    <a:p>
                      <a:pPr marL="0" marR="0" lvl="0" indent="0" algn="r" defTabSz="914400" rtl="1" eaLnBrk="1" fontAlgn="auto" latinLnBrk="0" hangingPunct="1">
                        <a:lnSpc>
                          <a:spcPct val="100000"/>
                        </a:lnSpc>
                        <a:spcBef>
                          <a:spcPts val="0"/>
                        </a:spcBef>
                        <a:spcAft>
                          <a:spcPts val="0"/>
                        </a:spcAft>
                        <a:buClrTx/>
                        <a:buSzTx/>
                        <a:buFontTx/>
                        <a:buNone/>
                        <a:tabLst/>
                        <a:defRPr/>
                      </a:pPr>
                      <a:endParaRPr lang="en-GB" sz="1400" noProof="0" dirty="0"/>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vMerge="1">
                  <a:txBody>
                    <a:bodyPr/>
                    <a:lstStyle/>
                    <a:p>
                      <a:endParaRPr lang="en-US"/>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vMerge="1">
                  <a:txBody>
                    <a:bodyPr/>
                    <a:lstStyle/>
                    <a:p>
                      <a:endParaRPr lang="en-US"/>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marL="171450" indent="-171450" algn="r" defTabSz="914400" rtl="1" eaLnBrk="1" latinLnBrk="0" hangingPunct="1">
                        <a:lnSpc>
                          <a:spcPct val="115000"/>
                        </a:lnSpc>
                        <a:spcAft>
                          <a:spcPts val="0"/>
                        </a:spcAft>
                        <a:buFont typeface="Arial" panose="020B0604020202020204" pitchFamily="34" charset="0"/>
                        <a:buChar char="•"/>
                      </a:pPr>
                      <a:r>
                        <a:rPr lang="ar-SA" sz="1050" kern="1200" noProof="0" dirty="0">
                          <a:solidFill>
                            <a:schemeClr val="tx1"/>
                          </a:solidFill>
                          <a:effectLst/>
                          <a:latin typeface="+mn-lt"/>
                          <a:ea typeface="+mn-ea"/>
                          <a:cs typeface="+mn-cs"/>
                        </a:rPr>
                        <a:t>إنشاء سجل مركزي لتوثيق جميع التطبيقات يشمل التفاصيل الفنية وإصداراتها ومستوى الدعم.</a:t>
                      </a:r>
                    </a:p>
                    <a:p>
                      <a:pPr marL="171450" indent="-171450" algn="r" defTabSz="914400" rtl="1" eaLnBrk="1" latinLnBrk="0" hangingPunct="1">
                        <a:lnSpc>
                          <a:spcPct val="115000"/>
                        </a:lnSpc>
                        <a:spcAft>
                          <a:spcPts val="0"/>
                        </a:spcAft>
                        <a:buFont typeface="Arial" panose="020B0604020202020204" pitchFamily="34" charset="0"/>
                        <a:buChar char="•"/>
                      </a:pPr>
                      <a:r>
                        <a:rPr lang="ar-SA" sz="1050" kern="1200" noProof="0" dirty="0">
                          <a:solidFill>
                            <a:schemeClr val="tx1"/>
                          </a:solidFill>
                          <a:effectLst/>
                          <a:latin typeface="+mn-lt"/>
                          <a:ea typeface="+mn-ea"/>
                          <a:cs typeface="+mn-cs"/>
                        </a:rPr>
                        <a:t>اعتماد معايير موحّدة في التطوير والصيانة عبر دليل تقني وإجرائي مشترك.</a:t>
                      </a:r>
                    </a:p>
                  </a:txBody>
                  <a:tcPr marL="9525" marR="9525" marT="9525" marB="9525"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marL="0" marR="0" lvl="0" indent="0" algn="ctr" defTabSz="914400" rtl="1" eaLnBrk="1" fontAlgn="auto" latinLnBrk="0" hangingPunct="1">
                        <a:lnSpc>
                          <a:spcPct val="100000"/>
                        </a:lnSpc>
                        <a:spcBef>
                          <a:spcPts val="0"/>
                        </a:spcBef>
                        <a:spcAft>
                          <a:spcPts val="0"/>
                        </a:spcAft>
                        <a:buClrTx/>
                        <a:buSzTx/>
                        <a:buFont typeface="Arial" panose="020B0604020202020204" pitchFamily="34" charset="0"/>
                        <a:buNone/>
                        <a:tabLst/>
                        <a:defRPr/>
                      </a:pPr>
                      <a:r>
                        <a:rPr lang="ar-SA" sz="1400" b="1" kern="1200" noProof="0" dirty="0">
                          <a:solidFill>
                            <a:schemeClr val="accent1"/>
                          </a:solidFill>
                          <a:latin typeface="+mn-lt"/>
                          <a:ea typeface="+mn-ea"/>
                          <a:cs typeface="+mn-cs"/>
                        </a:rPr>
                        <a:t>تغطية الفجوة </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accent1"/>
                      </a:solidFill>
                      <a:prstDash val="solid"/>
                      <a:round/>
                      <a:headEnd type="none" w="med" len="med"/>
                      <a:tailEnd type="none" w="med" len="med"/>
                    </a:lnB>
                    <a:solidFill>
                      <a:schemeClr val="bg1">
                        <a:lumMod val="95000"/>
                      </a:schemeClr>
                    </a:solidFill>
                  </a:tcPr>
                </a:tc>
                <a:tc vMerge="1">
                  <a:txBody>
                    <a:bodyPr/>
                    <a:lstStyle/>
                    <a:p>
                      <a:pPr marL="0" marR="0" lvl="0" indent="0" algn="r" defTabSz="914400" rtl="1" eaLnBrk="1" fontAlgn="auto" latinLnBrk="0" hangingPunct="1">
                        <a:lnSpc>
                          <a:spcPct val="100000"/>
                        </a:lnSpc>
                        <a:spcBef>
                          <a:spcPts val="0"/>
                        </a:spcBef>
                        <a:spcAft>
                          <a:spcPts val="0"/>
                        </a:spcAft>
                        <a:buClrTx/>
                        <a:buSzTx/>
                        <a:buFontTx/>
                        <a:buNone/>
                        <a:tabLst/>
                        <a:defRPr/>
                      </a:pPr>
                      <a:endParaRPr lang="en-GB" sz="1400" b="1" noProof="0" dirty="0"/>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extLst>
                  <a:ext uri="{0D108BD9-81ED-4DB2-BD59-A6C34878D82A}">
                    <a16:rowId xmlns:a16="http://schemas.microsoft.com/office/drawing/2014/main" val="1035545327"/>
                  </a:ext>
                </a:extLst>
              </a:tr>
            </a:tbl>
          </a:graphicData>
        </a:graphic>
      </p:graphicFrame>
    </p:spTree>
    <p:extLst>
      <p:ext uri="{BB962C8B-B14F-4D97-AF65-F5344CB8AC3E}">
        <p14:creationId xmlns:p14="http://schemas.microsoft.com/office/powerpoint/2010/main" val="3680865878"/>
      </p:ext>
    </p:extLst>
  </p:cSld>
  <p:clrMapOvr>
    <a:masterClrMapping/>
  </p:clrMapOvr>
  <mc:AlternateContent xmlns:mc="http://schemas.openxmlformats.org/markup-compatibility/2006" xmlns:p14="http://schemas.microsoft.com/office/powerpoint/2010/main">
    <mc:Choice Requires="p14">
      <p:transition spd="slow" p14:dur="1300">
        <p14:pan dir="r"/>
      </p:transition>
    </mc:Choice>
    <mc:Fallback xmlns="">
      <p:transition spd="slow">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D8018F-6DBC-07FA-A55E-4C168A54F0B5}"/>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AB4A6BA5-249B-F043-2EF2-9055E4C42F9E}"/>
              </a:ext>
            </a:extLst>
          </p:cNvPr>
          <p:cNvSpPr>
            <a:spLocks noGrp="1"/>
          </p:cNvSpPr>
          <p:nvPr>
            <p:ph type="title"/>
          </p:nvPr>
        </p:nvSpPr>
        <p:spPr>
          <a:xfrm>
            <a:off x="609601" y="301100"/>
            <a:ext cx="10972800" cy="666261"/>
          </a:xfrm>
        </p:spPr>
        <p:txBody>
          <a:bodyPr/>
          <a:lstStyle/>
          <a:p>
            <a:r>
              <a:rPr lang="ar-SA" noProof="0" dirty="0"/>
              <a:t>ملخص تحليل الفجوات لبنية التطبيقات </a:t>
            </a:r>
          </a:p>
        </p:txBody>
      </p:sp>
      <p:sp>
        <p:nvSpPr>
          <p:cNvPr id="3" name="Slide Number Placeholder 2">
            <a:extLst>
              <a:ext uri="{FF2B5EF4-FFF2-40B4-BE49-F238E27FC236}">
                <a16:creationId xmlns:a16="http://schemas.microsoft.com/office/drawing/2014/main" id="{C4189D84-BB19-C920-BAF6-78E3D288870A}"/>
              </a:ext>
            </a:extLst>
          </p:cNvPr>
          <p:cNvSpPr>
            <a:spLocks noGrp="1"/>
          </p:cNvSpPr>
          <p:nvPr>
            <p:ph type="sldNum" sz="quarter" idx="12"/>
          </p:nvPr>
        </p:nvSpPr>
        <p:spPr>
          <a:xfrm>
            <a:off x="655320" y="6567058"/>
            <a:ext cx="475896" cy="290942"/>
          </a:xfrm>
        </p:spPr>
        <p:txBody>
          <a:bodyPr/>
          <a:lstStyle/>
          <a:p>
            <a:fld id="{0BE4EC83-A869-464E-AE9F-881796FB085E}" type="slidenum">
              <a:rPr lang="ar-SA" noProof="0" smtClean="0"/>
              <a:pPr/>
              <a:t>31</a:t>
            </a:fld>
            <a:endParaRPr lang="ar-SA" noProof="0" dirty="0"/>
          </a:p>
        </p:txBody>
      </p:sp>
      <p:graphicFrame>
        <p:nvGraphicFramePr>
          <p:cNvPr id="2" name="Table 1">
            <a:extLst>
              <a:ext uri="{FF2B5EF4-FFF2-40B4-BE49-F238E27FC236}">
                <a16:creationId xmlns:a16="http://schemas.microsoft.com/office/drawing/2014/main" id="{307C6624-9A69-3F86-3655-2F89B675224E}"/>
              </a:ext>
            </a:extLst>
          </p:cNvPr>
          <p:cNvGraphicFramePr>
            <a:graphicFrameLocks noGrp="1"/>
          </p:cNvGraphicFramePr>
          <p:nvPr>
            <p:extLst>
              <p:ext uri="{D42A27DB-BD31-4B8C-83A1-F6EECF244321}">
                <p14:modId xmlns:p14="http://schemas.microsoft.com/office/powerpoint/2010/main" val="2672389048"/>
              </p:ext>
            </p:extLst>
          </p:nvPr>
        </p:nvGraphicFramePr>
        <p:xfrm>
          <a:off x="609599" y="1203018"/>
          <a:ext cx="10972802" cy="4874136"/>
        </p:xfrm>
        <a:graphic>
          <a:graphicData uri="http://schemas.openxmlformats.org/drawingml/2006/table">
            <a:tbl>
              <a:tblPr firstRow="1" bandRow="1">
                <a:tableStyleId>{2D5ABB26-0587-4C30-8999-92F81FD0307C}</a:tableStyleId>
              </a:tblPr>
              <a:tblGrid>
                <a:gridCol w="1345036">
                  <a:extLst>
                    <a:ext uri="{9D8B030D-6E8A-4147-A177-3AD203B41FA5}">
                      <a16:colId xmlns:a16="http://schemas.microsoft.com/office/drawing/2014/main" val="2801895674"/>
                    </a:ext>
                  </a:extLst>
                </a:gridCol>
                <a:gridCol w="620785">
                  <a:extLst>
                    <a:ext uri="{9D8B030D-6E8A-4147-A177-3AD203B41FA5}">
                      <a16:colId xmlns:a16="http://schemas.microsoft.com/office/drawing/2014/main" val="2976102064"/>
                    </a:ext>
                  </a:extLst>
                </a:gridCol>
                <a:gridCol w="604008">
                  <a:extLst>
                    <a:ext uri="{9D8B030D-6E8A-4147-A177-3AD203B41FA5}">
                      <a16:colId xmlns:a16="http://schemas.microsoft.com/office/drawing/2014/main" val="526736865"/>
                    </a:ext>
                  </a:extLst>
                </a:gridCol>
                <a:gridCol w="4699189">
                  <a:extLst>
                    <a:ext uri="{9D8B030D-6E8A-4147-A177-3AD203B41FA5}">
                      <a16:colId xmlns:a16="http://schemas.microsoft.com/office/drawing/2014/main" val="4106469564"/>
                    </a:ext>
                  </a:extLst>
                </a:gridCol>
                <a:gridCol w="923637">
                  <a:extLst>
                    <a:ext uri="{9D8B030D-6E8A-4147-A177-3AD203B41FA5}">
                      <a16:colId xmlns:a16="http://schemas.microsoft.com/office/drawing/2014/main" val="1154529574"/>
                    </a:ext>
                  </a:extLst>
                </a:gridCol>
                <a:gridCol w="2780147">
                  <a:extLst>
                    <a:ext uri="{9D8B030D-6E8A-4147-A177-3AD203B41FA5}">
                      <a16:colId xmlns:a16="http://schemas.microsoft.com/office/drawing/2014/main" val="1503598667"/>
                    </a:ext>
                  </a:extLst>
                </a:gridCol>
              </a:tblGrid>
              <a:tr h="257315">
                <a:tc>
                  <a:txBody>
                    <a:bodyPr/>
                    <a:lstStyle/>
                    <a:p>
                      <a:pPr algn="ctr" rtl="1"/>
                      <a:r>
                        <a:rPr lang="ar-SA" sz="1400" b="1" noProof="0" dirty="0">
                          <a:solidFill>
                            <a:schemeClr val="bg1"/>
                          </a:solidFill>
                        </a:rPr>
                        <a:t>المصدر</a:t>
                      </a:r>
                      <a:endParaRPr lang="ar-SA" sz="1400" b="1" noProof="0" dirty="0">
                        <a:solidFill>
                          <a:schemeClr val="bg1"/>
                        </a:solidFill>
                        <a:latin typeface="+mj-lt"/>
                      </a:endParaRPr>
                    </a:p>
                  </a:txBody>
                  <a:tcPr anchor="ctr">
                    <a:lnL w="12700" cap="flat" cmpd="sng" algn="ctr">
                      <a:noFill/>
                      <a:prstDash val="solid"/>
                      <a:round/>
                      <a:headEnd type="none" w="med" len="med"/>
                      <a:tailEnd type="none" w="med" len="med"/>
                    </a:lnL>
                    <a:lnR w="12700" cap="flat" cmpd="sng" algn="ctr">
                      <a:solidFill>
                        <a:schemeClr val="bg1"/>
                      </a:solidFill>
                      <a:prstDash val="solid"/>
                      <a:round/>
                      <a:headEnd type="none" w="med" len="med"/>
                      <a:tailEnd type="none" w="med" len="med"/>
                    </a:lnR>
                    <a:solidFill>
                      <a:schemeClr val="accent1"/>
                    </a:solidFill>
                  </a:tcPr>
                </a:tc>
                <a:tc>
                  <a: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lang="ar-SA" sz="1400" b="1" noProof="0" dirty="0">
                          <a:solidFill>
                            <a:schemeClr val="bg1"/>
                          </a:solidFill>
                        </a:rPr>
                        <a:t>الأهمية</a:t>
                      </a:r>
                      <a:endParaRPr lang="ar-SA" sz="1400" b="1" noProof="0" dirty="0">
                        <a:solidFill>
                          <a:schemeClr val="bg1"/>
                        </a:solidFill>
                        <a:latin typeface="+mj-lt"/>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solidFill>
                      <a:schemeClr val="accent1"/>
                    </a:solidFill>
                  </a:tcPr>
                </a:tc>
                <a:tc>
                  <a: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lang="ar-SA" sz="1400" b="1" noProof="0" dirty="0">
                          <a:solidFill>
                            <a:schemeClr val="bg1"/>
                          </a:solidFill>
                        </a:rPr>
                        <a:t>الأولوية</a:t>
                      </a:r>
                      <a:endParaRPr lang="ar-SA" sz="1400" b="1" noProof="0" dirty="0">
                        <a:solidFill>
                          <a:schemeClr val="bg1"/>
                        </a:solidFill>
                        <a:latin typeface="+mj-lt"/>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solidFill>
                      <a:schemeClr val="accent1"/>
                    </a:solidFill>
                  </a:tcPr>
                </a:tc>
                <a:tc gridSpan="2">
                  <a: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lang="ar-SA" sz="1400" b="1" noProof="0" dirty="0">
                          <a:solidFill>
                            <a:schemeClr val="bg1"/>
                          </a:solidFill>
                        </a:rPr>
                        <a:t>التحليل لكل فجوة </a:t>
                      </a:r>
                      <a:endParaRPr lang="ar-SA" sz="1400" b="1" noProof="0" dirty="0">
                        <a:solidFill>
                          <a:schemeClr val="bg1"/>
                        </a:solidFill>
                        <a:latin typeface="+mj-lt"/>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solidFill>
                      <a:schemeClr val="accent1"/>
                    </a:solidFill>
                  </a:tcPr>
                </a:tc>
                <a:tc hMerge="1">
                  <a:txBody>
                    <a:bodyPr/>
                    <a:lstStyle/>
                    <a:p>
                      <a:endParaRPr lang="en-US"/>
                    </a:p>
                  </a:txBody>
                  <a:tcPr/>
                </a:tc>
                <a:tc>
                  <a:txBody>
                    <a:bodyPr/>
                    <a:lstStyle/>
                    <a:p>
                      <a:pPr algn="ctr" rtl="1"/>
                      <a:r>
                        <a:rPr lang="ar-SA" sz="1400" b="1" noProof="0" dirty="0">
                          <a:solidFill>
                            <a:schemeClr val="bg1"/>
                          </a:solidFill>
                        </a:rPr>
                        <a:t>الفجوة</a:t>
                      </a:r>
                      <a:endParaRPr lang="ar-SA" sz="1400" b="1" noProof="0" dirty="0">
                        <a:solidFill>
                          <a:schemeClr val="bg1"/>
                        </a:solidFill>
                        <a:latin typeface="+mj-lt"/>
                      </a:endParaRPr>
                    </a:p>
                  </a:txBody>
                  <a:tcPr anchor="ctr">
                    <a:lnL w="12700" cap="flat" cmpd="sng" algn="ctr">
                      <a:solidFill>
                        <a:schemeClr val="bg1"/>
                      </a:solidFill>
                      <a:prstDash val="solid"/>
                      <a:round/>
                      <a:headEnd type="none" w="med" len="med"/>
                      <a:tailEnd type="none" w="med" len="med"/>
                    </a:lnL>
                    <a:lnR w="12700" cap="flat" cmpd="sng" algn="ctr">
                      <a:noFill/>
                      <a:prstDash val="solid"/>
                      <a:round/>
                      <a:headEnd type="none" w="med" len="med"/>
                      <a:tailEnd type="none" w="med" len="med"/>
                    </a:lnR>
                    <a:solidFill>
                      <a:schemeClr val="accent1"/>
                    </a:solidFill>
                  </a:tcPr>
                </a:tc>
                <a:extLst>
                  <a:ext uri="{0D108BD9-81ED-4DB2-BD59-A6C34878D82A}">
                    <a16:rowId xmlns:a16="http://schemas.microsoft.com/office/drawing/2014/main" val="3304685178"/>
                  </a:ext>
                </a:extLst>
              </a:tr>
              <a:tr h="326790">
                <a:tc rowSpan="4">
                  <a:txBody>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lang="ar-SA" sz="1100" kern="1200" noProof="0" dirty="0">
                          <a:solidFill>
                            <a:schemeClr val="tx1"/>
                          </a:solidFill>
                          <a:effectLst/>
                          <a:latin typeface="+mn-lt"/>
                          <a:ea typeface="+mn-ea"/>
                          <a:cs typeface="+mn-cs"/>
                        </a:rPr>
                        <a:t>حصر وضع التطبيقات (وثيقة الوضع الحالي للتطبيقات) وتوصيات فريق البنية المؤسسية</a:t>
                      </a:r>
                    </a:p>
                    <a:p>
                      <a:pPr marL="0" marR="0" lvl="0" indent="0" algn="r" defTabSz="914400" rtl="1" eaLnBrk="1" fontAlgn="auto" latinLnBrk="0" hangingPunct="1">
                        <a:lnSpc>
                          <a:spcPct val="100000"/>
                        </a:lnSpc>
                        <a:spcBef>
                          <a:spcPts val="0"/>
                        </a:spcBef>
                        <a:spcAft>
                          <a:spcPts val="0"/>
                        </a:spcAft>
                        <a:buClrTx/>
                        <a:buSzTx/>
                        <a:buFontTx/>
                        <a:buNone/>
                        <a:tabLst/>
                        <a:defRPr/>
                      </a:pPr>
                      <a:r>
                        <a:rPr lang="ar-SA" sz="1100" kern="1200" noProof="0" dirty="0">
                          <a:solidFill>
                            <a:schemeClr val="tx1"/>
                          </a:solidFill>
                          <a:effectLst/>
                          <a:latin typeface="+mn-lt"/>
                          <a:ea typeface="+mn-ea"/>
                          <a:cs typeface="+mn-cs"/>
                        </a:rPr>
                        <a:t>، دراسة وثائق التطبيقات للجهة المتوفرة بالوضع الحالي</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B w="12700" cap="flat" cmpd="sng" algn="ctr">
                      <a:solidFill>
                        <a:schemeClr val="accent1"/>
                      </a:solidFill>
                      <a:prstDash val="solid"/>
                      <a:round/>
                      <a:headEnd type="none" w="med" len="med"/>
                      <a:tailEnd type="none" w="med" len="med"/>
                    </a:lnB>
                  </a:tcPr>
                </a:tc>
                <a:tc rowSpan="4">
                  <a:txBody>
                    <a:bodyPr/>
                    <a:lstStyle/>
                    <a:p>
                      <a:pPr marL="0" marR="0" lvl="0" indent="0" algn="ctr" defTabSz="914400" rtl="1" eaLnBrk="1" fontAlgn="auto" latinLnBrk="0" hangingPunct="1">
                        <a:lnSpc>
                          <a:spcPct val="100000"/>
                        </a:lnSpc>
                        <a:spcBef>
                          <a:spcPts val="0"/>
                        </a:spcBef>
                        <a:spcAft>
                          <a:spcPts val="0"/>
                        </a:spcAft>
                        <a:buClrTx/>
                        <a:buSzTx/>
                        <a:buFont typeface="Arial" panose="020B0604020202020204" pitchFamily="34" charset="0"/>
                        <a:buNone/>
                        <a:tabLst/>
                        <a:defRPr/>
                      </a:pPr>
                      <a:r>
                        <a:rPr lang="ar-SA" sz="1100" kern="1200" noProof="0" dirty="0">
                          <a:solidFill>
                            <a:schemeClr val="tx1"/>
                          </a:solidFill>
                          <a:effectLst/>
                          <a:latin typeface="+mn-lt"/>
                          <a:ea typeface="+mn-ea"/>
                          <a:cs typeface="+mn-cs"/>
                        </a:rPr>
                        <a:t>منخفضة</a:t>
                      </a:r>
                    </a:p>
                  </a:txBody>
                  <a:tcPr anchor="ctr">
                    <a:lnL w="12700" cap="flat" cmpd="sng" algn="ctr">
                      <a:noFill/>
                      <a:prstDash val="solid"/>
                      <a:round/>
                      <a:headEnd type="none" w="med" len="med"/>
                      <a:tailEnd type="none" w="med" len="med"/>
                    </a:lnL>
                    <a:lnR w="12700" cap="flat" cmpd="sng" algn="ctr">
                      <a:solidFill>
                        <a:schemeClr val="bg1"/>
                      </a:solidFill>
                      <a:prstDash val="solid"/>
                      <a:round/>
                      <a:headEnd type="none" w="med" len="med"/>
                      <a:tailEnd type="none" w="med" len="med"/>
                    </a:lnR>
                    <a:lnB w="12700" cap="flat" cmpd="sng" algn="ctr">
                      <a:solidFill>
                        <a:schemeClr val="accent1"/>
                      </a:solidFill>
                      <a:prstDash val="solid"/>
                      <a:round/>
                      <a:headEnd type="none" w="med" len="med"/>
                      <a:tailEnd type="none" w="med" len="med"/>
                    </a:lnB>
                    <a:solidFill>
                      <a:schemeClr val="bg1">
                        <a:lumMod val="65000"/>
                        <a:alpha val="5000"/>
                      </a:schemeClr>
                    </a:solidFill>
                  </a:tcPr>
                </a:tc>
                <a:tc rowSpan="4">
                  <a:txBody>
                    <a:bodyPr/>
                    <a:lstStyle/>
                    <a:p>
                      <a:pPr marL="0" marR="0" lvl="0" indent="0" algn="ctr" defTabSz="914400" rtl="1" eaLnBrk="1" fontAlgn="auto" latinLnBrk="0" hangingPunct="1">
                        <a:lnSpc>
                          <a:spcPct val="100000"/>
                        </a:lnSpc>
                        <a:spcBef>
                          <a:spcPts val="0"/>
                        </a:spcBef>
                        <a:spcAft>
                          <a:spcPts val="0"/>
                        </a:spcAft>
                        <a:buClrTx/>
                        <a:buSzTx/>
                        <a:buFont typeface="Arial" panose="020B0604020202020204" pitchFamily="34" charset="0"/>
                        <a:buNone/>
                        <a:tabLst/>
                        <a:defRPr/>
                      </a:pPr>
                      <a:r>
                        <a:rPr lang="ar-SA" sz="1100" kern="1200" noProof="0" dirty="0">
                          <a:solidFill>
                            <a:schemeClr val="tx1"/>
                          </a:solidFill>
                          <a:effectLst/>
                          <a:latin typeface="+mn-lt"/>
                          <a:ea typeface="+mn-ea"/>
                          <a:cs typeface="+mn-cs"/>
                        </a:rPr>
                        <a:t>منخفضة</a:t>
                      </a:r>
                    </a:p>
                  </a:txBody>
                  <a:tcPr anchor="ctr">
                    <a:lnL w="12700" cap="flat" cmpd="sng" algn="ctr">
                      <a:solidFill>
                        <a:schemeClr val="bg1"/>
                      </a:solidFill>
                      <a:prstDash val="solid"/>
                      <a:round/>
                      <a:headEnd type="none" w="med" len="med"/>
                      <a:tailEnd type="none" w="med" len="med"/>
                    </a:lnL>
                    <a:lnR w="12700" cap="flat" cmpd="sng" algn="ctr">
                      <a:noFill/>
                      <a:prstDash val="solid"/>
                      <a:round/>
                      <a:headEnd type="none" w="med" len="med"/>
                      <a:tailEnd type="none" w="med" len="med"/>
                    </a:lnR>
                    <a:lnB w="12700" cap="flat" cmpd="sng" algn="ctr">
                      <a:solidFill>
                        <a:schemeClr val="accent1"/>
                      </a:solidFill>
                      <a:prstDash val="solid"/>
                      <a:round/>
                      <a:headEnd type="none" w="med" len="med"/>
                      <a:tailEnd type="none" w="med" len="med"/>
                    </a:lnB>
                    <a:solidFill>
                      <a:schemeClr val="bg1">
                        <a:lumMod val="65000"/>
                        <a:alpha val="5000"/>
                      </a:schemeClr>
                    </a:solidFill>
                  </a:tcPr>
                </a:tc>
                <a:tc>
                  <a:txBody>
                    <a:bodyPr/>
                    <a:lstStyle/>
                    <a:p>
                      <a:pPr algn="r" rtl="1">
                        <a:lnSpc>
                          <a:spcPct val="115000"/>
                        </a:lnSpc>
                        <a:spcAft>
                          <a:spcPts val="800"/>
                        </a:spcAft>
                      </a:pPr>
                      <a:r>
                        <a:rPr lang="ar-SA" sz="1050" kern="1200" noProof="0" dirty="0">
                          <a:solidFill>
                            <a:schemeClr val="tx1"/>
                          </a:solidFill>
                          <a:effectLst/>
                          <a:latin typeface="+mn-lt"/>
                          <a:ea typeface="+mn-ea"/>
                          <a:cs typeface="+mn-cs"/>
                        </a:rPr>
                        <a:t>عدم الاستفادة الكاملة من حلول إدارة وتكامل البيانات مثل </a:t>
                      </a:r>
                      <a:r>
                        <a:rPr lang="ar-SA" sz="1050" kern="1200" noProof="0" dirty="0" err="1">
                          <a:solidFill>
                            <a:schemeClr val="tx1"/>
                          </a:solidFill>
                          <a:effectLst/>
                          <a:latin typeface="+mn-lt"/>
                          <a:ea typeface="+mn-ea"/>
                          <a:cs typeface="+mn-cs"/>
                        </a:rPr>
                        <a:t>Denodo</a:t>
                      </a:r>
                      <a:r>
                        <a:rPr lang="ar-SA" sz="1050" kern="1200" noProof="0" dirty="0">
                          <a:solidFill>
                            <a:schemeClr val="tx1"/>
                          </a:solidFill>
                          <a:effectLst/>
                          <a:latin typeface="+mn-lt"/>
                          <a:ea typeface="+mn-ea"/>
                          <a:cs typeface="+mn-cs"/>
                        </a:rPr>
                        <a:t> </a:t>
                      </a:r>
                      <a:r>
                        <a:rPr lang="ar-SA" sz="1050" kern="1200" noProof="0" dirty="0" err="1">
                          <a:solidFill>
                            <a:schemeClr val="tx1"/>
                          </a:solidFill>
                          <a:effectLst/>
                          <a:latin typeface="+mn-lt"/>
                          <a:ea typeface="+mn-ea"/>
                          <a:cs typeface="+mn-cs"/>
                        </a:rPr>
                        <a:t>وTalend</a:t>
                      </a:r>
                      <a:r>
                        <a:rPr lang="ar-SA" sz="1050" kern="1200" noProof="0" dirty="0">
                          <a:solidFill>
                            <a:schemeClr val="tx1"/>
                          </a:solidFill>
                          <a:effectLst/>
                          <a:latin typeface="+mn-lt"/>
                          <a:ea typeface="+mn-ea"/>
                          <a:cs typeface="+mn-cs"/>
                        </a:rPr>
                        <a:t> وCP4D، بالإضافة إلى غياب مستودع بيانات مركزي (</a:t>
                      </a:r>
                      <a:r>
                        <a:rPr lang="ar-SA" sz="1050" kern="1200" noProof="0" dirty="0" err="1">
                          <a:solidFill>
                            <a:schemeClr val="tx1"/>
                          </a:solidFill>
                          <a:effectLst/>
                          <a:latin typeface="+mn-lt"/>
                          <a:ea typeface="+mn-ea"/>
                          <a:cs typeface="+mn-cs"/>
                        </a:rPr>
                        <a:t>Data</a:t>
                      </a:r>
                      <a:r>
                        <a:rPr lang="ar-SA" sz="1050" kern="1200" noProof="0" dirty="0">
                          <a:solidFill>
                            <a:schemeClr val="tx1"/>
                          </a:solidFill>
                          <a:effectLst/>
                          <a:latin typeface="+mn-lt"/>
                          <a:ea typeface="+mn-ea"/>
                          <a:cs typeface="+mn-cs"/>
                        </a:rPr>
                        <a:t> </a:t>
                      </a:r>
                      <a:r>
                        <a:rPr lang="ar-SA" sz="1050" kern="1200" noProof="0" dirty="0" err="1">
                          <a:solidFill>
                            <a:schemeClr val="tx1"/>
                          </a:solidFill>
                          <a:effectLst/>
                          <a:latin typeface="+mn-lt"/>
                          <a:ea typeface="+mn-ea"/>
                          <a:cs typeface="+mn-cs"/>
                        </a:rPr>
                        <a:t>Lake</a:t>
                      </a:r>
                      <a:r>
                        <a:rPr lang="ar-SA" sz="1050" kern="1200" noProof="0" dirty="0">
                          <a:solidFill>
                            <a:schemeClr val="tx1"/>
                          </a:solidFill>
                          <a:effectLst/>
                          <a:latin typeface="+mn-lt"/>
                          <a:ea typeface="+mn-ea"/>
                          <a:cs typeface="+mn-cs"/>
                        </a:rPr>
                        <a:t>) يدمج البيانات من كافة الأنظمة.</a:t>
                      </a:r>
                    </a:p>
                  </a:txBody>
                  <a:tcPr marL="9525" marR="9525" marT="9525" marB="9525"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B w="12700" cap="flat" cmpd="sng" algn="ctr">
                      <a:solidFill>
                        <a:schemeClr val="bg1">
                          <a:lumMod val="85000"/>
                        </a:schemeClr>
                      </a:solidFill>
                      <a:prstDash val="solid"/>
                      <a:round/>
                      <a:headEnd type="none" w="med" len="med"/>
                      <a:tailEnd type="none" w="med" len="med"/>
                    </a:lnB>
                  </a:tcPr>
                </a:tc>
                <a:tc>
                  <a:txBody>
                    <a:bodyPr/>
                    <a:lstStyle/>
                    <a:p>
                      <a:pPr marL="0" marR="0" lvl="0" indent="0" algn="ctr" defTabSz="914400" rtl="1" eaLnBrk="1" fontAlgn="auto" latinLnBrk="0" hangingPunct="1">
                        <a:lnSpc>
                          <a:spcPct val="100000"/>
                        </a:lnSpc>
                        <a:spcBef>
                          <a:spcPts val="0"/>
                        </a:spcBef>
                        <a:spcAft>
                          <a:spcPts val="0"/>
                        </a:spcAft>
                        <a:buClrTx/>
                        <a:buSzTx/>
                        <a:buFont typeface="Arial" panose="020B0604020202020204" pitchFamily="34" charset="0"/>
                        <a:buNone/>
                        <a:tabLst/>
                        <a:defRPr/>
                      </a:pPr>
                      <a:r>
                        <a:rPr lang="ar-SA" sz="1400" b="1" noProof="0" dirty="0">
                          <a:solidFill>
                            <a:schemeClr val="accent1"/>
                          </a:solidFill>
                        </a:rPr>
                        <a:t>الوصف</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B w="12700" cap="flat" cmpd="sng" algn="ctr">
                      <a:solidFill>
                        <a:schemeClr val="bg1">
                          <a:lumMod val="85000"/>
                        </a:schemeClr>
                      </a:solidFill>
                      <a:prstDash val="solid"/>
                      <a:round/>
                      <a:headEnd type="none" w="med" len="med"/>
                      <a:tailEnd type="none" w="med" len="med"/>
                    </a:lnB>
                    <a:solidFill>
                      <a:schemeClr val="bg1">
                        <a:lumMod val="95000"/>
                      </a:schemeClr>
                    </a:solidFill>
                  </a:tcPr>
                </a:tc>
                <a:tc rowSpan="4">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ar-SA" sz="1400" b="1" kern="1200" noProof="0" dirty="0">
                          <a:solidFill>
                            <a:schemeClr val="tx1"/>
                          </a:solidFill>
                          <a:effectLst/>
                          <a:latin typeface="+mn-lt"/>
                          <a:ea typeface="+mn-ea"/>
                          <a:cs typeface="+mn-cs"/>
                        </a:rPr>
                        <a:t>GAP-A-09</a:t>
                      </a:r>
                    </a:p>
                    <a:p>
                      <a:pPr algn="r" rtl="1"/>
                      <a:r>
                        <a:rPr lang="ar-SA" sz="1400" b="1" kern="1200" noProof="0" dirty="0">
                          <a:solidFill>
                            <a:schemeClr val="tx1"/>
                          </a:solidFill>
                          <a:effectLst/>
                          <a:latin typeface="+mn-lt"/>
                          <a:ea typeface="+mn-ea"/>
                          <a:cs typeface="+mn-cs"/>
                        </a:rPr>
                        <a:t>عدم استفادة شاملة من </a:t>
                      </a:r>
                      <a:r>
                        <a:rPr lang="ar-SA" sz="1400" b="1" kern="1200" noProof="0" dirty="0" err="1">
                          <a:solidFill>
                            <a:schemeClr val="tx1"/>
                          </a:solidFill>
                          <a:effectLst/>
                          <a:latin typeface="+mn-lt"/>
                          <a:ea typeface="+mn-ea"/>
                          <a:cs typeface="+mn-cs"/>
                        </a:rPr>
                        <a:t>Denodo</a:t>
                      </a:r>
                      <a:r>
                        <a:rPr lang="ar-SA" sz="1400" b="1" kern="1200" noProof="0" dirty="0">
                          <a:solidFill>
                            <a:schemeClr val="tx1"/>
                          </a:solidFill>
                          <a:effectLst/>
                          <a:latin typeface="+mn-lt"/>
                          <a:ea typeface="+mn-ea"/>
                          <a:cs typeface="+mn-cs"/>
                        </a:rPr>
                        <a:t>/</a:t>
                      </a:r>
                      <a:r>
                        <a:rPr lang="ar-SA" sz="1400" b="1" kern="1200" noProof="0" dirty="0" err="1">
                          <a:solidFill>
                            <a:schemeClr val="tx1"/>
                          </a:solidFill>
                          <a:effectLst/>
                          <a:latin typeface="+mn-lt"/>
                          <a:ea typeface="+mn-ea"/>
                          <a:cs typeface="+mn-cs"/>
                        </a:rPr>
                        <a:t>Talend</a:t>
                      </a:r>
                      <a:r>
                        <a:rPr lang="ar-SA" sz="1400" b="1" kern="1200" noProof="0" dirty="0">
                          <a:solidFill>
                            <a:schemeClr val="tx1"/>
                          </a:solidFill>
                          <a:effectLst/>
                          <a:latin typeface="+mn-lt"/>
                          <a:ea typeface="+mn-ea"/>
                          <a:cs typeface="+mn-cs"/>
                        </a:rPr>
                        <a:t>/CP4D،  ونقص في مستودع بيانات مركزي  (</a:t>
                      </a:r>
                      <a:r>
                        <a:rPr lang="ar-SA" sz="1400" b="1" kern="1200" noProof="0" dirty="0" err="1">
                          <a:solidFill>
                            <a:schemeClr val="tx1"/>
                          </a:solidFill>
                          <a:effectLst/>
                          <a:latin typeface="+mn-lt"/>
                          <a:ea typeface="+mn-ea"/>
                          <a:cs typeface="+mn-cs"/>
                        </a:rPr>
                        <a:t>Data</a:t>
                      </a:r>
                      <a:r>
                        <a:rPr lang="ar-SA" sz="1400" b="1" kern="1200" noProof="0" dirty="0">
                          <a:solidFill>
                            <a:schemeClr val="tx1"/>
                          </a:solidFill>
                          <a:effectLst/>
                          <a:latin typeface="+mn-lt"/>
                          <a:ea typeface="+mn-ea"/>
                          <a:cs typeface="+mn-cs"/>
                        </a:rPr>
                        <a:t> </a:t>
                      </a:r>
                      <a:r>
                        <a:rPr lang="ar-SA" sz="1400" b="1" kern="1200" noProof="0" dirty="0" err="1">
                          <a:solidFill>
                            <a:schemeClr val="tx1"/>
                          </a:solidFill>
                          <a:effectLst/>
                          <a:latin typeface="+mn-lt"/>
                          <a:ea typeface="+mn-ea"/>
                          <a:cs typeface="+mn-cs"/>
                        </a:rPr>
                        <a:t>Lake</a:t>
                      </a:r>
                      <a:r>
                        <a:rPr lang="ar-SA" sz="1400" b="1" kern="1200" noProof="0" dirty="0">
                          <a:solidFill>
                            <a:schemeClr val="tx1"/>
                          </a:solidFill>
                          <a:effectLst/>
                          <a:latin typeface="+mn-lt"/>
                          <a:ea typeface="+mn-ea"/>
                          <a:cs typeface="+mn-cs"/>
                        </a:rPr>
                        <a:t>) يتكامل مع كل الأنظمة.</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B w="12700" cap="flat" cmpd="sng" algn="ctr">
                      <a:solidFill>
                        <a:schemeClr val="accent1"/>
                      </a:solidFill>
                      <a:prstDash val="solid"/>
                      <a:round/>
                      <a:headEnd type="none" w="med" len="med"/>
                      <a:tailEnd type="none" w="med" len="med"/>
                    </a:lnB>
                  </a:tcPr>
                </a:tc>
                <a:extLst>
                  <a:ext uri="{0D108BD9-81ED-4DB2-BD59-A6C34878D82A}">
                    <a16:rowId xmlns:a16="http://schemas.microsoft.com/office/drawing/2014/main" val="1128065702"/>
                  </a:ext>
                </a:extLst>
              </a:tr>
              <a:tr h="482144">
                <a:tc vMerge="1">
                  <a:txBody>
                    <a:bodyPr/>
                    <a:lstStyle/>
                    <a:p>
                      <a:endParaRPr lang="en-US"/>
                    </a:p>
                  </a:txBody>
                  <a:tcPr/>
                </a:tc>
                <a:tc vMerge="1">
                  <a:txBody>
                    <a:bodyPr/>
                    <a:lstStyle/>
                    <a:p>
                      <a:endParaRPr lang="en-US"/>
                    </a:p>
                  </a:txBody>
                  <a:tcPr/>
                </a:tc>
                <a:tc vMerge="1">
                  <a:txBody>
                    <a:bodyPr/>
                    <a:lstStyle/>
                    <a:p>
                      <a:endParaRPr lang="en-US"/>
                    </a:p>
                  </a:txBody>
                  <a:tcPr/>
                </a:tc>
                <a:tc>
                  <a:txBody>
                    <a:bodyPr/>
                    <a:lstStyle/>
                    <a:p>
                      <a:pPr marL="171450" indent="-171450" algn="r" defTabSz="914400" rtl="1" eaLnBrk="1" latinLnBrk="0" hangingPunct="1">
                        <a:lnSpc>
                          <a:spcPct val="115000"/>
                        </a:lnSpc>
                        <a:spcAft>
                          <a:spcPts val="0"/>
                        </a:spcAft>
                        <a:buFont typeface="Arial" panose="020B0604020202020204" pitchFamily="34" charset="0"/>
                        <a:buChar char="•"/>
                      </a:pPr>
                      <a:r>
                        <a:rPr lang="ar-SA" sz="1050" kern="1200" noProof="0" dirty="0">
                          <a:solidFill>
                            <a:schemeClr val="tx1"/>
                          </a:solidFill>
                          <a:effectLst/>
                          <a:latin typeface="+mn-lt"/>
                          <a:ea typeface="+mn-ea"/>
                          <a:cs typeface="+mn-cs"/>
                        </a:rPr>
                        <a:t>غياب رؤية موحَّدة للبيانات المؤسسية.</a:t>
                      </a:r>
                    </a:p>
                    <a:p>
                      <a:pPr marL="171450" indent="-171450" algn="r" defTabSz="914400" rtl="1" eaLnBrk="1" latinLnBrk="0" hangingPunct="1">
                        <a:lnSpc>
                          <a:spcPct val="115000"/>
                        </a:lnSpc>
                        <a:spcAft>
                          <a:spcPts val="0"/>
                        </a:spcAft>
                        <a:buFont typeface="Arial" panose="020B0604020202020204" pitchFamily="34" charset="0"/>
                        <a:buChar char="•"/>
                      </a:pPr>
                      <a:r>
                        <a:rPr lang="ar-SA" sz="1050" kern="1200" noProof="0" dirty="0">
                          <a:solidFill>
                            <a:schemeClr val="tx1"/>
                          </a:solidFill>
                          <a:effectLst/>
                          <a:latin typeface="+mn-lt"/>
                          <a:ea typeface="+mn-ea"/>
                          <a:cs typeface="+mn-cs"/>
                        </a:rPr>
                        <a:t>زيادة الجهود والتكاليف في تجميع البيانات وتحليلها من مصادر متفرقة.</a:t>
                      </a:r>
                    </a:p>
                    <a:p>
                      <a:pPr marL="171450" indent="-171450" algn="r" defTabSz="914400" rtl="1" eaLnBrk="1" latinLnBrk="0" hangingPunct="1">
                        <a:lnSpc>
                          <a:spcPct val="115000"/>
                        </a:lnSpc>
                        <a:spcAft>
                          <a:spcPts val="0"/>
                        </a:spcAft>
                        <a:buFont typeface="Arial" panose="020B0604020202020204" pitchFamily="34" charset="0"/>
                        <a:buChar char="•"/>
                      </a:pPr>
                      <a:r>
                        <a:rPr lang="ar-SA" sz="1050" kern="1200" noProof="0" dirty="0">
                          <a:solidFill>
                            <a:schemeClr val="tx1"/>
                          </a:solidFill>
                          <a:effectLst/>
                          <a:latin typeface="+mn-lt"/>
                          <a:ea typeface="+mn-ea"/>
                          <a:cs typeface="+mn-cs"/>
                        </a:rPr>
                        <a:t>صعوبة استخراج التقارير والتحليلات الشاملة.</a:t>
                      </a:r>
                    </a:p>
                  </a:txBody>
                  <a:tcPr marL="9525" marR="9525" marT="9525" marB="9525"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marL="0" marR="0" lvl="0" indent="0" algn="ctr" defTabSz="914400" rtl="1" eaLnBrk="1" fontAlgn="auto" latinLnBrk="0" hangingPunct="1">
                        <a:lnSpc>
                          <a:spcPct val="100000"/>
                        </a:lnSpc>
                        <a:spcBef>
                          <a:spcPts val="0"/>
                        </a:spcBef>
                        <a:spcAft>
                          <a:spcPts val="0"/>
                        </a:spcAft>
                        <a:buClrTx/>
                        <a:buSzTx/>
                        <a:buFont typeface="Arial" panose="020B0604020202020204" pitchFamily="34" charset="0"/>
                        <a:buNone/>
                        <a:tabLst/>
                        <a:defRPr/>
                      </a:pPr>
                      <a:r>
                        <a:rPr lang="ar-SA" sz="1400" b="1" kern="1200" noProof="0" dirty="0">
                          <a:solidFill>
                            <a:schemeClr val="accent1"/>
                          </a:solidFill>
                        </a:rPr>
                        <a:t>الأثر الحالي</a:t>
                      </a:r>
                      <a:endParaRPr lang="ar-SA" sz="1400" b="1" noProof="0" dirty="0">
                        <a:solidFill>
                          <a:schemeClr val="accent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lumMod val="95000"/>
                      </a:schemeClr>
                    </a:solidFill>
                  </a:tcPr>
                </a:tc>
                <a:tc vMerge="1">
                  <a:txBody>
                    <a:bodyPr/>
                    <a:lstStyle/>
                    <a:p>
                      <a:endParaRPr lang="en-US"/>
                    </a:p>
                  </a:txBody>
                  <a:tcPr/>
                </a:tc>
                <a:extLst>
                  <a:ext uri="{0D108BD9-81ED-4DB2-BD59-A6C34878D82A}">
                    <a16:rowId xmlns:a16="http://schemas.microsoft.com/office/drawing/2014/main" val="1163892829"/>
                  </a:ext>
                </a:extLst>
              </a:tr>
              <a:tr h="617556">
                <a:tc vMerge="1">
                  <a:txBody>
                    <a:bodyPr/>
                    <a:lstStyle/>
                    <a:p>
                      <a:endParaRPr lang="en-US"/>
                    </a:p>
                  </a:txBody>
                  <a:tcPr/>
                </a:tc>
                <a:tc vMerge="1">
                  <a:txBody>
                    <a:bodyPr/>
                    <a:lstStyle/>
                    <a:p>
                      <a:endParaRPr lang="en-US"/>
                    </a:p>
                  </a:txBody>
                  <a:tcPr/>
                </a:tc>
                <a:tc vMerge="1">
                  <a:txBody>
                    <a:bodyPr/>
                    <a:lstStyle/>
                    <a:p>
                      <a:endParaRPr lang="en-US"/>
                    </a:p>
                  </a:txBody>
                  <a:tcPr/>
                </a:tc>
                <a:tc>
                  <a:txBody>
                    <a:bodyPr/>
                    <a:lstStyle/>
                    <a:p>
                      <a:pPr marL="171450" indent="-171450" algn="r" defTabSz="914400" rtl="1" eaLnBrk="1" latinLnBrk="0" hangingPunct="1">
                        <a:lnSpc>
                          <a:spcPct val="115000"/>
                        </a:lnSpc>
                        <a:spcAft>
                          <a:spcPts val="0"/>
                        </a:spcAft>
                        <a:buFont typeface="Arial" panose="020B0604020202020204" pitchFamily="34" charset="0"/>
                        <a:buChar char="•"/>
                      </a:pPr>
                      <a:r>
                        <a:rPr lang="ar-SA" sz="1050" kern="1200" noProof="0" dirty="0">
                          <a:solidFill>
                            <a:schemeClr val="tx1"/>
                          </a:solidFill>
                          <a:effectLst/>
                          <a:latin typeface="+mn-lt"/>
                          <a:ea typeface="+mn-ea"/>
                          <a:cs typeface="+mn-cs"/>
                        </a:rPr>
                        <a:t>تحقيق تكامل موحَّد للبيانات مع تحسين جودتها.</a:t>
                      </a:r>
                    </a:p>
                    <a:p>
                      <a:pPr marL="171450" indent="-171450" algn="r" defTabSz="914400" rtl="1" eaLnBrk="1" latinLnBrk="0" hangingPunct="1">
                        <a:lnSpc>
                          <a:spcPct val="115000"/>
                        </a:lnSpc>
                        <a:spcAft>
                          <a:spcPts val="0"/>
                        </a:spcAft>
                        <a:buFont typeface="Arial" panose="020B0604020202020204" pitchFamily="34" charset="0"/>
                        <a:buChar char="•"/>
                      </a:pPr>
                      <a:r>
                        <a:rPr lang="ar-SA" sz="1050" kern="1200" noProof="0" dirty="0">
                          <a:solidFill>
                            <a:schemeClr val="tx1"/>
                          </a:solidFill>
                          <a:effectLst/>
                          <a:latin typeface="+mn-lt"/>
                          <a:ea typeface="+mn-ea"/>
                          <a:cs typeface="+mn-cs"/>
                        </a:rPr>
                        <a:t>تبسيط عمليات استخراج وتحويل البيانات (ETL) وتوحيدها في منصة واحدة.</a:t>
                      </a:r>
                    </a:p>
                    <a:p>
                      <a:pPr marL="171450" indent="-171450" algn="r" defTabSz="914400" rtl="1" eaLnBrk="1" latinLnBrk="0" hangingPunct="1">
                        <a:lnSpc>
                          <a:spcPct val="115000"/>
                        </a:lnSpc>
                        <a:spcAft>
                          <a:spcPts val="0"/>
                        </a:spcAft>
                        <a:buFont typeface="Arial" panose="020B0604020202020204" pitchFamily="34" charset="0"/>
                        <a:buChar char="•"/>
                      </a:pPr>
                      <a:r>
                        <a:rPr lang="ar-SA" sz="1050" kern="1200" noProof="0" dirty="0">
                          <a:solidFill>
                            <a:schemeClr val="tx1"/>
                          </a:solidFill>
                          <a:effectLst/>
                          <a:latin typeface="+mn-lt"/>
                          <a:ea typeface="+mn-ea"/>
                          <a:cs typeface="+mn-cs"/>
                        </a:rPr>
                        <a:t>تمكين الإدارة من الحصول على تقارير دقيقة وفورية لدعم اتخاذ القرار.</a:t>
                      </a:r>
                    </a:p>
                  </a:txBody>
                  <a:tcPr marL="9525" marR="9525" marT="9525" marB="9525"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marL="0" marR="0" lvl="0" indent="0" algn="ctr" defTabSz="914400" rtl="1" eaLnBrk="1" fontAlgn="auto" latinLnBrk="0" hangingPunct="1">
                        <a:lnSpc>
                          <a:spcPct val="100000"/>
                        </a:lnSpc>
                        <a:spcBef>
                          <a:spcPts val="0"/>
                        </a:spcBef>
                        <a:spcAft>
                          <a:spcPts val="0"/>
                        </a:spcAft>
                        <a:buClrTx/>
                        <a:buSzTx/>
                        <a:buFont typeface="Arial" panose="020B0604020202020204" pitchFamily="34" charset="0"/>
                        <a:buNone/>
                        <a:tabLst/>
                        <a:defRPr/>
                      </a:pPr>
                      <a:r>
                        <a:rPr lang="ar-SA" sz="1400" b="1" noProof="0" dirty="0">
                          <a:solidFill>
                            <a:schemeClr val="accent1"/>
                          </a:solidFill>
                        </a:rPr>
                        <a:t>الأثر بعد الردم (المعالجة)</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lumMod val="95000"/>
                      </a:schemeClr>
                    </a:solidFill>
                  </a:tcPr>
                </a:tc>
                <a:tc vMerge="1">
                  <a:txBody>
                    <a:bodyPr/>
                    <a:lstStyle/>
                    <a:p>
                      <a:endParaRPr lang="en-US"/>
                    </a:p>
                  </a:txBody>
                  <a:tcPr/>
                </a:tc>
                <a:extLst>
                  <a:ext uri="{0D108BD9-81ED-4DB2-BD59-A6C34878D82A}">
                    <a16:rowId xmlns:a16="http://schemas.microsoft.com/office/drawing/2014/main" val="1973569126"/>
                  </a:ext>
                </a:extLst>
              </a:tr>
              <a:tr h="594933">
                <a:tc vMerge="1">
                  <a:txBody>
                    <a:bodyPr/>
                    <a:lstStyle/>
                    <a:p>
                      <a:endParaRPr lang="en-US"/>
                    </a:p>
                  </a:txBody>
                  <a:tcPr/>
                </a:tc>
                <a:tc vMerge="1">
                  <a:txBody>
                    <a:bodyPr/>
                    <a:lstStyle/>
                    <a:p>
                      <a:endParaRPr lang="en-US"/>
                    </a:p>
                  </a:txBody>
                  <a:tcPr/>
                </a:tc>
                <a:tc vMerge="1">
                  <a:txBody>
                    <a:bodyPr/>
                    <a:lstStyle/>
                    <a:p>
                      <a:endParaRPr lang="en-US"/>
                    </a:p>
                  </a:txBody>
                  <a:tcPr/>
                </a:tc>
                <a:tc>
                  <a:txBody>
                    <a:bodyPr/>
                    <a:lstStyle/>
                    <a:p>
                      <a:pPr marL="171450" indent="-171450" algn="r" defTabSz="914400" rtl="1" eaLnBrk="1" latinLnBrk="0" hangingPunct="1">
                        <a:lnSpc>
                          <a:spcPct val="115000"/>
                        </a:lnSpc>
                        <a:spcAft>
                          <a:spcPts val="0"/>
                        </a:spcAft>
                        <a:buFont typeface="Arial" panose="020B0604020202020204" pitchFamily="34" charset="0"/>
                        <a:buChar char="•"/>
                      </a:pPr>
                      <a:r>
                        <a:rPr lang="ar-SA" sz="1050" kern="1200" noProof="0" dirty="0">
                          <a:solidFill>
                            <a:schemeClr val="tx1"/>
                          </a:solidFill>
                          <a:effectLst/>
                          <a:latin typeface="+mn-lt"/>
                          <a:ea typeface="+mn-ea"/>
                          <a:cs typeface="+mn-cs"/>
                        </a:rPr>
                        <a:t>اعتماد وتفعيل حلول </a:t>
                      </a:r>
                      <a:r>
                        <a:rPr lang="ar-SA" sz="1050" kern="1200" noProof="0" dirty="0" err="1">
                          <a:solidFill>
                            <a:schemeClr val="tx1"/>
                          </a:solidFill>
                          <a:effectLst/>
                          <a:latin typeface="+mn-lt"/>
                          <a:ea typeface="+mn-ea"/>
                          <a:cs typeface="+mn-cs"/>
                        </a:rPr>
                        <a:t>Denodo</a:t>
                      </a:r>
                      <a:r>
                        <a:rPr lang="ar-SA" sz="1050" kern="1200" noProof="0" dirty="0">
                          <a:solidFill>
                            <a:schemeClr val="tx1"/>
                          </a:solidFill>
                          <a:effectLst/>
                          <a:latin typeface="+mn-lt"/>
                          <a:ea typeface="+mn-ea"/>
                          <a:cs typeface="+mn-cs"/>
                        </a:rPr>
                        <a:t>/</a:t>
                      </a:r>
                      <a:r>
                        <a:rPr lang="ar-SA" sz="1050" kern="1200" noProof="0" dirty="0" err="1">
                          <a:solidFill>
                            <a:schemeClr val="tx1"/>
                          </a:solidFill>
                          <a:effectLst/>
                          <a:latin typeface="+mn-lt"/>
                          <a:ea typeface="+mn-ea"/>
                          <a:cs typeface="+mn-cs"/>
                        </a:rPr>
                        <a:t>Talend</a:t>
                      </a:r>
                      <a:r>
                        <a:rPr lang="ar-SA" sz="1050" kern="1200" noProof="0" dirty="0">
                          <a:solidFill>
                            <a:schemeClr val="tx1"/>
                          </a:solidFill>
                          <a:effectLst/>
                          <a:latin typeface="+mn-lt"/>
                          <a:ea typeface="+mn-ea"/>
                          <a:cs typeface="+mn-cs"/>
                        </a:rPr>
                        <a:t>/CP4D بشكل شامل في إدارة البيانات.</a:t>
                      </a:r>
                    </a:p>
                    <a:p>
                      <a:pPr marL="171450" indent="-171450" algn="r" defTabSz="914400" rtl="1" eaLnBrk="1" latinLnBrk="0" hangingPunct="1">
                        <a:lnSpc>
                          <a:spcPct val="115000"/>
                        </a:lnSpc>
                        <a:spcAft>
                          <a:spcPts val="0"/>
                        </a:spcAft>
                        <a:buFont typeface="Arial" panose="020B0604020202020204" pitchFamily="34" charset="0"/>
                        <a:buChar char="•"/>
                      </a:pPr>
                      <a:r>
                        <a:rPr lang="ar-SA" sz="1050" kern="1200" noProof="0" dirty="0">
                          <a:solidFill>
                            <a:schemeClr val="tx1"/>
                          </a:solidFill>
                          <a:effectLst/>
                          <a:latin typeface="+mn-lt"/>
                          <a:ea typeface="+mn-ea"/>
                          <a:cs typeface="+mn-cs"/>
                        </a:rPr>
                        <a:t>إنشاء مستودع بيانات مركزي (</a:t>
                      </a:r>
                      <a:r>
                        <a:rPr lang="ar-SA" sz="1050" kern="1200" noProof="0" dirty="0" err="1">
                          <a:solidFill>
                            <a:schemeClr val="tx1"/>
                          </a:solidFill>
                          <a:effectLst/>
                          <a:latin typeface="+mn-lt"/>
                          <a:ea typeface="+mn-ea"/>
                          <a:cs typeface="+mn-cs"/>
                        </a:rPr>
                        <a:t>Data</a:t>
                      </a:r>
                      <a:r>
                        <a:rPr lang="ar-SA" sz="1050" kern="1200" noProof="0" dirty="0">
                          <a:solidFill>
                            <a:schemeClr val="tx1"/>
                          </a:solidFill>
                          <a:effectLst/>
                          <a:latin typeface="+mn-lt"/>
                          <a:ea typeface="+mn-ea"/>
                          <a:cs typeface="+mn-cs"/>
                        </a:rPr>
                        <a:t> </a:t>
                      </a:r>
                      <a:r>
                        <a:rPr lang="ar-SA" sz="1050" kern="1200" noProof="0" dirty="0" err="1">
                          <a:solidFill>
                            <a:schemeClr val="tx1"/>
                          </a:solidFill>
                          <a:effectLst/>
                          <a:latin typeface="+mn-lt"/>
                          <a:ea typeface="+mn-ea"/>
                          <a:cs typeface="+mn-cs"/>
                        </a:rPr>
                        <a:t>Lake</a:t>
                      </a:r>
                      <a:r>
                        <a:rPr lang="ar-SA" sz="1050" kern="1200" noProof="0" dirty="0">
                          <a:solidFill>
                            <a:schemeClr val="tx1"/>
                          </a:solidFill>
                          <a:effectLst/>
                          <a:latin typeface="+mn-lt"/>
                          <a:ea typeface="+mn-ea"/>
                          <a:cs typeface="+mn-cs"/>
                        </a:rPr>
                        <a:t>) يجمع بيانات الأنظمة المختلفة.</a:t>
                      </a:r>
                    </a:p>
                    <a:p>
                      <a:pPr marL="171450" indent="-171450" algn="r" defTabSz="914400" rtl="1" eaLnBrk="1" latinLnBrk="0" hangingPunct="1">
                        <a:lnSpc>
                          <a:spcPct val="115000"/>
                        </a:lnSpc>
                        <a:spcAft>
                          <a:spcPts val="0"/>
                        </a:spcAft>
                        <a:buFont typeface="Arial" panose="020B0604020202020204" pitchFamily="34" charset="0"/>
                        <a:buChar char="•"/>
                      </a:pPr>
                      <a:r>
                        <a:rPr lang="ar-SA" sz="1050" kern="1200" noProof="0" dirty="0">
                          <a:solidFill>
                            <a:schemeClr val="tx1"/>
                          </a:solidFill>
                          <a:effectLst/>
                          <a:latin typeface="+mn-lt"/>
                          <a:ea typeface="+mn-ea"/>
                          <a:cs typeface="+mn-cs"/>
                        </a:rPr>
                        <a:t>تطبيق سياسات جودة بيانات وإجراءات تحديث دورية.</a:t>
                      </a:r>
                    </a:p>
                  </a:txBody>
                  <a:tcPr marL="9525" marR="9525" marT="9525" marB="9525"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marL="0" marR="0" lvl="0" indent="0" algn="ctr" defTabSz="914400" rtl="1" eaLnBrk="1" fontAlgn="auto" latinLnBrk="0" hangingPunct="1">
                        <a:lnSpc>
                          <a:spcPct val="100000"/>
                        </a:lnSpc>
                        <a:spcBef>
                          <a:spcPts val="0"/>
                        </a:spcBef>
                        <a:spcAft>
                          <a:spcPts val="0"/>
                        </a:spcAft>
                        <a:buClrTx/>
                        <a:buSzTx/>
                        <a:buFont typeface="Arial" panose="020B0604020202020204" pitchFamily="34" charset="0"/>
                        <a:buNone/>
                        <a:tabLst/>
                        <a:defRPr/>
                      </a:pPr>
                      <a:r>
                        <a:rPr lang="ar-SA" sz="1400" b="1" noProof="0" dirty="0">
                          <a:solidFill>
                            <a:schemeClr val="accent1"/>
                          </a:solidFill>
                        </a:rPr>
                        <a:t>تغطية الفجوة </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accent1"/>
                      </a:solidFill>
                      <a:prstDash val="solid"/>
                      <a:round/>
                      <a:headEnd type="none" w="med" len="med"/>
                      <a:tailEnd type="none" w="med" len="med"/>
                    </a:lnB>
                    <a:solidFill>
                      <a:schemeClr val="bg1">
                        <a:lumMod val="95000"/>
                      </a:schemeClr>
                    </a:solidFill>
                  </a:tcPr>
                </a:tc>
                <a:tc vMerge="1">
                  <a:txBody>
                    <a:bodyPr/>
                    <a:lstStyle/>
                    <a:p>
                      <a:endParaRPr lang="en-US"/>
                    </a:p>
                  </a:txBody>
                  <a:tcPr/>
                </a:tc>
                <a:extLst>
                  <a:ext uri="{0D108BD9-81ED-4DB2-BD59-A6C34878D82A}">
                    <a16:rowId xmlns:a16="http://schemas.microsoft.com/office/drawing/2014/main" val="4011636746"/>
                  </a:ext>
                </a:extLst>
              </a:tr>
              <a:tr h="326790">
                <a:tc rowSpan="4">
                  <a:txBody>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lang="ar-SA" sz="1100" kern="1200" noProof="0" dirty="0">
                          <a:solidFill>
                            <a:schemeClr val="tx1"/>
                          </a:solidFill>
                          <a:effectLst/>
                          <a:latin typeface="+mn-lt"/>
                          <a:ea typeface="+mn-ea"/>
                          <a:cs typeface="+mn-cs"/>
                        </a:rPr>
                        <a:t>حصر وضع التطبيقات (وثيقة الوضع الحالي للتطبيقات) وتوصيات فريق البنية المؤسسية</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rowSpan="4">
                  <a:txBody>
                    <a:bodyPr/>
                    <a:lstStyle/>
                    <a:p>
                      <a:pPr marL="0" marR="0" lvl="0" indent="0" algn="ctr" defTabSz="914400" rtl="1" eaLnBrk="1" fontAlgn="auto" latinLnBrk="0" hangingPunct="1">
                        <a:lnSpc>
                          <a:spcPct val="100000"/>
                        </a:lnSpc>
                        <a:spcBef>
                          <a:spcPts val="0"/>
                        </a:spcBef>
                        <a:spcAft>
                          <a:spcPts val="0"/>
                        </a:spcAft>
                        <a:buClrTx/>
                        <a:buSzTx/>
                        <a:buFont typeface="Arial" panose="020B0604020202020204" pitchFamily="34" charset="0"/>
                        <a:buNone/>
                        <a:tabLst/>
                        <a:defRPr/>
                      </a:pPr>
                      <a:r>
                        <a:rPr lang="ar-SA" sz="1100" kern="1200" noProof="0" dirty="0">
                          <a:solidFill>
                            <a:schemeClr val="tx1"/>
                          </a:solidFill>
                          <a:effectLst/>
                          <a:latin typeface="+mn-lt"/>
                          <a:ea typeface="+mn-ea"/>
                          <a:cs typeface="+mn-cs"/>
                        </a:rPr>
                        <a:t>عالية</a:t>
                      </a:r>
                    </a:p>
                  </a:txBody>
                  <a:tcPr anchor="ctr">
                    <a:lnL w="12700" cap="flat" cmpd="sng" algn="ctr">
                      <a:no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solidFill>
                      <a:schemeClr val="bg1">
                        <a:lumMod val="85000"/>
                        <a:alpha val="5000"/>
                      </a:schemeClr>
                    </a:solidFill>
                  </a:tcPr>
                </a:tc>
                <a:tc rowSpan="4">
                  <a:txBody>
                    <a:bodyPr/>
                    <a:lstStyle/>
                    <a:p>
                      <a:pPr marL="0" marR="0" lvl="0" indent="0" algn="ctr" defTabSz="914400" rtl="1" eaLnBrk="1" fontAlgn="auto" latinLnBrk="0" hangingPunct="1">
                        <a:lnSpc>
                          <a:spcPct val="100000"/>
                        </a:lnSpc>
                        <a:spcBef>
                          <a:spcPts val="0"/>
                        </a:spcBef>
                        <a:spcAft>
                          <a:spcPts val="0"/>
                        </a:spcAft>
                        <a:buClrTx/>
                        <a:buSzTx/>
                        <a:buFont typeface="Arial" panose="020B0604020202020204" pitchFamily="34" charset="0"/>
                        <a:buNone/>
                        <a:tabLst/>
                        <a:defRPr/>
                      </a:pPr>
                      <a:r>
                        <a:rPr lang="ar-SA" sz="1100" kern="1200" noProof="0" dirty="0">
                          <a:solidFill>
                            <a:schemeClr val="tx1"/>
                          </a:solidFill>
                          <a:effectLst/>
                          <a:latin typeface="+mn-lt"/>
                          <a:ea typeface="+mn-ea"/>
                          <a:cs typeface="+mn-cs"/>
                        </a:rPr>
                        <a:t>متوسطة</a:t>
                      </a:r>
                    </a:p>
                  </a:txBody>
                  <a:tcPr anchor="ctr">
                    <a:lnL w="12700" cap="flat" cmpd="sng" algn="ctr">
                      <a:solidFill>
                        <a:schemeClr val="bg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solidFill>
                      <a:schemeClr val="bg1">
                        <a:lumMod val="85000"/>
                        <a:alpha val="5000"/>
                      </a:schemeClr>
                    </a:solidFill>
                  </a:tcPr>
                </a:tc>
                <a:tc>
                  <a:txBody>
                    <a:bodyPr/>
                    <a:lstStyle/>
                    <a:p>
                      <a:pPr algn="r" rtl="1">
                        <a:lnSpc>
                          <a:spcPct val="115000"/>
                        </a:lnSpc>
                        <a:spcAft>
                          <a:spcPts val="800"/>
                        </a:spcAft>
                      </a:pPr>
                      <a:r>
                        <a:rPr lang="ar-SA" sz="1050" kern="1200" noProof="0" dirty="0">
                          <a:solidFill>
                            <a:schemeClr val="tx1"/>
                          </a:solidFill>
                          <a:effectLst/>
                          <a:latin typeface="+mn-lt"/>
                          <a:ea typeface="+mn-ea"/>
                          <a:cs typeface="+mn-cs"/>
                        </a:rPr>
                        <a:t>عدم الاستفادة الكاملة من أدوات وتطبيقات ذكاء الأعمال (BI) المتاحة، مما يؤدي إلى قصور في استخراج وتحليل البيانات لتقديم تقارير ومؤشرات دقيقة تدعم اتخاذ القرار.</a:t>
                      </a:r>
                    </a:p>
                  </a:txBody>
                  <a:tcPr marL="9525" marR="9525" marT="9525" marB="9525"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marL="0" marR="0" lvl="0" indent="0" algn="ctr" defTabSz="914400" rtl="1" eaLnBrk="1" fontAlgn="auto" latinLnBrk="0" hangingPunct="1">
                        <a:lnSpc>
                          <a:spcPct val="100000"/>
                        </a:lnSpc>
                        <a:spcBef>
                          <a:spcPts val="0"/>
                        </a:spcBef>
                        <a:spcAft>
                          <a:spcPts val="0"/>
                        </a:spcAft>
                        <a:buClrTx/>
                        <a:buSzTx/>
                        <a:buFont typeface="Arial" panose="020B0604020202020204" pitchFamily="34" charset="0"/>
                        <a:buNone/>
                        <a:tabLst/>
                        <a:defRPr/>
                      </a:pPr>
                      <a:r>
                        <a:rPr lang="ar-SA" sz="1400" b="1" kern="1200" noProof="0" dirty="0">
                          <a:solidFill>
                            <a:schemeClr val="accent1"/>
                          </a:solidFill>
                          <a:latin typeface="+mn-lt"/>
                          <a:ea typeface="+mn-ea"/>
                          <a:cs typeface="+mn-cs"/>
                        </a:rPr>
                        <a:t>الوصف</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lumMod val="95000"/>
                      </a:schemeClr>
                    </a:solidFill>
                  </a:tcPr>
                </a:tc>
                <a:tc rowSpan="4">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ar-SA" sz="1400" b="1" kern="1200" noProof="0" dirty="0">
                          <a:solidFill>
                            <a:schemeClr val="tx1"/>
                          </a:solidFill>
                          <a:effectLst/>
                          <a:latin typeface="+mn-lt"/>
                          <a:ea typeface="+mn-ea"/>
                          <a:cs typeface="+mn-cs"/>
                        </a:rPr>
                        <a:t>GAP-A-10</a:t>
                      </a:r>
                    </a:p>
                    <a:p>
                      <a:pPr algn="r" rtl="1"/>
                      <a:r>
                        <a:rPr lang="ar-SA" sz="1400" b="1" kern="1200" noProof="0" dirty="0">
                          <a:solidFill>
                            <a:schemeClr val="tx1"/>
                          </a:solidFill>
                          <a:effectLst/>
                          <a:latin typeface="+mn-lt"/>
                          <a:ea typeface="+mn-ea"/>
                          <a:cs typeface="+mn-cs"/>
                        </a:rPr>
                        <a:t>عدم استفادة شاملة من ادوات وتطبيقات ذكاء الأعمال</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extLst>
                  <a:ext uri="{0D108BD9-81ED-4DB2-BD59-A6C34878D82A}">
                    <a16:rowId xmlns:a16="http://schemas.microsoft.com/office/drawing/2014/main" val="1136131386"/>
                  </a:ext>
                </a:extLst>
              </a:tr>
              <a:tr h="482144">
                <a:tc vMerge="1">
                  <a:txBody>
                    <a:bodyPr/>
                    <a:lstStyle/>
                    <a:p>
                      <a:pPr marL="0" marR="0" lvl="0" indent="0" algn="r" defTabSz="914400" rtl="1" eaLnBrk="1" fontAlgn="auto" latinLnBrk="0" hangingPunct="1">
                        <a:lnSpc>
                          <a:spcPct val="100000"/>
                        </a:lnSpc>
                        <a:spcBef>
                          <a:spcPts val="0"/>
                        </a:spcBef>
                        <a:spcAft>
                          <a:spcPts val="0"/>
                        </a:spcAft>
                        <a:buClrTx/>
                        <a:buSzTx/>
                        <a:buFontTx/>
                        <a:buNone/>
                        <a:tabLst/>
                        <a:defRPr/>
                      </a:pPr>
                      <a:endParaRPr lang="en-GB" sz="1400" noProof="0" dirty="0"/>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vMerge="1">
                  <a:txBody>
                    <a:bodyPr/>
                    <a:lstStyle/>
                    <a:p>
                      <a:endParaRPr lang="en-US"/>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vMerge="1">
                  <a:txBody>
                    <a:bodyPr/>
                    <a:lstStyle/>
                    <a:p>
                      <a:endParaRPr lang="en-US"/>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marL="171450" indent="-171450" algn="r" defTabSz="914400" rtl="1" eaLnBrk="1" latinLnBrk="0" hangingPunct="1">
                        <a:lnSpc>
                          <a:spcPct val="115000"/>
                        </a:lnSpc>
                        <a:spcAft>
                          <a:spcPts val="0"/>
                        </a:spcAft>
                        <a:buFont typeface="Arial" panose="020B0604020202020204" pitchFamily="34" charset="0"/>
                        <a:buChar char="•"/>
                      </a:pPr>
                      <a:r>
                        <a:rPr lang="ar-SA" sz="1050" kern="1200" noProof="0" dirty="0">
                          <a:solidFill>
                            <a:schemeClr val="tx1"/>
                          </a:solidFill>
                          <a:effectLst/>
                          <a:latin typeface="+mn-lt"/>
                          <a:ea typeface="+mn-ea"/>
                          <a:cs typeface="+mn-cs"/>
                        </a:rPr>
                        <a:t>غياب تقارير تحليلية متكاملة ولوحات معلومات تفاعلية.</a:t>
                      </a:r>
                    </a:p>
                    <a:p>
                      <a:pPr marL="171450" indent="-171450" algn="r" defTabSz="914400" rtl="1" eaLnBrk="1" latinLnBrk="0" hangingPunct="1">
                        <a:lnSpc>
                          <a:spcPct val="115000"/>
                        </a:lnSpc>
                        <a:spcAft>
                          <a:spcPts val="0"/>
                        </a:spcAft>
                        <a:buFont typeface="Arial" panose="020B0604020202020204" pitchFamily="34" charset="0"/>
                        <a:buChar char="•"/>
                      </a:pPr>
                      <a:r>
                        <a:rPr lang="ar-SA" sz="1050" kern="1200" noProof="0" dirty="0">
                          <a:solidFill>
                            <a:schemeClr val="tx1"/>
                          </a:solidFill>
                          <a:effectLst/>
                          <a:latin typeface="+mn-lt"/>
                          <a:ea typeface="+mn-ea"/>
                          <a:cs typeface="+mn-cs"/>
                        </a:rPr>
                        <a:t>عدم إمكانية استغلال البيانات في دعم القرارات الإستراتيجية.</a:t>
                      </a:r>
                    </a:p>
                    <a:p>
                      <a:pPr marL="171450" indent="-171450" algn="r" defTabSz="914400" rtl="1" eaLnBrk="1" latinLnBrk="0" hangingPunct="1">
                        <a:lnSpc>
                          <a:spcPct val="115000"/>
                        </a:lnSpc>
                        <a:spcAft>
                          <a:spcPts val="0"/>
                        </a:spcAft>
                        <a:buFont typeface="Arial" panose="020B0604020202020204" pitchFamily="34" charset="0"/>
                        <a:buChar char="•"/>
                      </a:pPr>
                      <a:r>
                        <a:rPr lang="ar-SA" sz="1050" kern="1200" noProof="0" dirty="0">
                          <a:solidFill>
                            <a:schemeClr val="tx1"/>
                          </a:solidFill>
                          <a:effectLst/>
                          <a:latin typeface="+mn-lt"/>
                          <a:ea typeface="+mn-ea"/>
                          <a:cs typeface="+mn-cs"/>
                        </a:rPr>
                        <a:t>صعوبة قياس الأداء وتحليل مؤشرات العمل بشكل دوري.</a:t>
                      </a:r>
                    </a:p>
                  </a:txBody>
                  <a:tcPr marL="9525" marR="9525" marT="9525" marB="9525"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marL="0" marR="0" lvl="0" indent="0" algn="ctr" defTabSz="914400" rtl="1" eaLnBrk="1" fontAlgn="auto" latinLnBrk="0" hangingPunct="1">
                        <a:lnSpc>
                          <a:spcPct val="115000"/>
                        </a:lnSpc>
                        <a:spcBef>
                          <a:spcPts val="0"/>
                        </a:spcBef>
                        <a:spcAft>
                          <a:spcPts val="0"/>
                        </a:spcAft>
                        <a:buClrTx/>
                        <a:buSzTx/>
                        <a:buFont typeface="Arial" panose="020B0604020202020204" pitchFamily="34" charset="0"/>
                        <a:buNone/>
                        <a:tabLst/>
                        <a:defRPr/>
                      </a:pPr>
                      <a:r>
                        <a:rPr lang="ar-SA" sz="1400" b="1" kern="1200" noProof="0" dirty="0">
                          <a:solidFill>
                            <a:schemeClr val="accent1"/>
                          </a:solidFill>
                          <a:latin typeface="+mn-lt"/>
                          <a:ea typeface="+mn-ea"/>
                          <a:cs typeface="+mn-cs"/>
                        </a:rPr>
                        <a:t>الأثر الحالي</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lumMod val="95000"/>
                      </a:schemeClr>
                    </a:solidFill>
                  </a:tcPr>
                </a:tc>
                <a:tc vMerge="1">
                  <a:txBody>
                    <a:bodyPr/>
                    <a:lstStyle/>
                    <a:p>
                      <a:pPr marL="0" marR="0" lvl="0" indent="0" algn="r" defTabSz="914400" rtl="1" eaLnBrk="1" fontAlgn="auto" latinLnBrk="0" hangingPunct="1">
                        <a:lnSpc>
                          <a:spcPct val="100000"/>
                        </a:lnSpc>
                        <a:spcBef>
                          <a:spcPts val="0"/>
                        </a:spcBef>
                        <a:spcAft>
                          <a:spcPts val="0"/>
                        </a:spcAft>
                        <a:buClrTx/>
                        <a:buSzTx/>
                        <a:buFontTx/>
                        <a:buNone/>
                        <a:tabLst/>
                        <a:defRPr/>
                      </a:pPr>
                      <a:endParaRPr lang="en-GB" sz="1400" b="1" noProof="0" dirty="0"/>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extLst>
                  <a:ext uri="{0D108BD9-81ED-4DB2-BD59-A6C34878D82A}">
                    <a16:rowId xmlns:a16="http://schemas.microsoft.com/office/drawing/2014/main" val="918118369"/>
                  </a:ext>
                </a:extLst>
              </a:tr>
              <a:tr h="617556">
                <a:tc vMerge="1">
                  <a:txBody>
                    <a:bodyPr/>
                    <a:lstStyle/>
                    <a:p>
                      <a:pPr marL="0" marR="0" lvl="0" indent="0" algn="r" defTabSz="914400" rtl="1" eaLnBrk="1" fontAlgn="auto" latinLnBrk="0" hangingPunct="1">
                        <a:lnSpc>
                          <a:spcPct val="100000"/>
                        </a:lnSpc>
                        <a:spcBef>
                          <a:spcPts val="0"/>
                        </a:spcBef>
                        <a:spcAft>
                          <a:spcPts val="0"/>
                        </a:spcAft>
                        <a:buClrTx/>
                        <a:buSzTx/>
                        <a:buFontTx/>
                        <a:buNone/>
                        <a:tabLst/>
                        <a:defRPr/>
                      </a:pPr>
                      <a:endParaRPr lang="en-GB" sz="1400" noProof="0" dirty="0"/>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vMerge="1">
                  <a:txBody>
                    <a:bodyPr/>
                    <a:lstStyle/>
                    <a:p>
                      <a:endParaRPr lang="en-US"/>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vMerge="1">
                  <a:txBody>
                    <a:bodyPr/>
                    <a:lstStyle/>
                    <a:p>
                      <a:endParaRPr lang="en-US"/>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marL="171450" indent="-171450" algn="r" defTabSz="914400" rtl="1" eaLnBrk="1" latinLnBrk="0" hangingPunct="1">
                        <a:lnSpc>
                          <a:spcPct val="115000"/>
                        </a:lnSpc>
                        <a:spcAft>
                          <a:spcPts val="0"/>
                        </a:spcAft>
                        <a:buFont typeface="Arial" panose="020B0604020202020204" pitchFamily="34" charset="0"/>
                        <a:buChar char="•"/>
                      </a:pPr>
                      <a:r>
                        <a:rPr lang="ar-SA" sz="1050" kern="1200" noProof="0" dirty="0">
                          <a:solidFill>
                            <a:schemeClr val="tx1"/>
                          </a:solidFill>
                          <a:effectLst/>
                          <a:latin typeface="+mn-lt"/>
                          <a:ea typeface="+mn-ea"/>
                          <a:cs typeface="+mn-cs"/>
                        </a:rPr>
                        <a:t>تمكين الإدارة والفرق الفنية من الحصول على رؤى شاملة ومؤشرات أداء دقيقة.</a:t>
                      </a:r>
                    </a:p>
                    <a:p>
                      <a:pPr marL="171450" indent="-171450" algn="r" defTabSz="914400" rtl="1" eaLnBrk="1" latinLnBrk="0" hangingPunct="1">
                        <a:lnSpc>
                          <a:spcPct val="115000"/>
                        </a:lnSpc>
                        <a:spcAft>
                          <a:spcPts val="0"/>
                        </a:spcAft>
                        <a:buFont typeface="Arial" panose="020B0604020202020204" pitchFamily="34" charset="0"/>
                        <a:buChar char="•"/>
                      </a:pPr>
                      <a:r>
                        <a:rPr lang="ar-SA" sz="1050" kern="1200" noProof="0" dirty="0">
                          <a:solidFill>
                            <a:schemeClr val="tx1"/>
                          </a:solidFill>
                          <a:effectLst/>
                          <a:latin typeface="+mn-lt"/>
                          <a:ea typeface="+mn-ea"/>
                          <a:cs typeface="+mn-cs"/>
                        </a:rPr>
                        <a:t>دعم اتخاذ القرار المبني على البيانات وتحسين العمليات التشغيلية.</a:t>
                      </a:r>
                    </a:p>
                    <a:p>
                      <a:pPr marL="171450" indent="-171450" algn="r" defTabSz="914400" rtl="1" eaLnBrk="1" latinLnBrk="0" hangingPunct="1">
                        <a:lnSpc>
                          <a:spcPct val="115000"/>
                        </a:lnSpc>
                        <a:spcAft>
                          <a:spcPts val="0"/>
                        </a:spcAft>
                        <a:buFont typeface="Arial" panose="020B0604020202020204" pitchFamily="34" charset="0"/>
                        <a:buChar char="•"/>
                      </a:pPr>
                      <a:r>
                        <a:rPr lang="ar-SA" sz="1050" kern="1200" noProof="0" dirty="0">
                          <a:solidFill>
                            <a:schemeClr val="tx1"/>
                          </a:solidFill>
                          <a:effectLst/>
                          <a:latin typeface="+mn-lt"/>
                          <a:ea typeface="+mn-ea"/>
                          <a:cs typeface="+mn-cs"/>
                        </a:rPr>
                        <a:t>زيادة فعالية تحليل الأداء ومراقبة النتائج بانتظام.</a:t>
                      </a:r>
                    </a:p>
                  </a:txBody>
                  <a:tcPr marL="9525" marR="9525" marT="9525" marB="9525"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marL="0" marR="0" lvl="0" indent="0" algn="ctr" defTabSz="914400" rtl="1" eaLnBrk="1" fontAlgn="auto" latinLnBrk="0" hangingPunct="1">
                        <a:lnSpc>
                          <a:spcPct val="100000"/>
                        </a:lnSpc>
                        <a:spcBef>
                          <a:spcPts val="0"/>
                        </a:spcBef>
                        <a:spcAft>
                          <a:spcPts val="0"/>
                        </a:spcAft>
                        <a:buClrTx/>
                        <a:buSzTx/>
                        <a:buFont typeface="Arial" panose="020B0604020202020204" pitchFamily="34" charset="0"/>
                        <a:buNone/>
                        <a:tabLst/>
                        <a:defRPr/>
                      </a:pPr>
                      <a:r>
                        <a:rPr lang="ar-SA" sz="1400" b="1" kern="1200" noProof="0" dirty="0">
                          <a:solidFill>
                            <a:schemeClr val="accent1"/>
                          </a:solidFill>
                          <a:latin typeface="+mn-lt"/>
                          <a:ea typeface="+mn-ea"/>
                          <a:cs typeface="+mn-cs"/>
                        </a:rPr>
                        <a:t>الأثر بعد الردم (المعالجة)</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lumMod val="95000"/>
                      </a:schemeClr>
                    </a:solidFill>
                  </a:tcPr>
                </a:tc>
                <a:tc vMerge="1">
                  <a:txBody>
                    <a:bodyPr/>
                    <a:lstStyle/>
                    <a:p>
                      <a:pPr marL="0" marR="0" lvl="0" indent="0" algn="r" defTabSz="914400" rtl="1" eaLnBrk="1" fontAlgn="auto" latinLnBrk="0" hangingPunct="1">
                        <a:lnSpc>
                          <a:spcPct val="100000"/>
                        </a:lnSpc>
                        <a:spcBef>
                          <a:spcPts val="0"/>
                        </a:spcBef>
                        <a:spcAft>
                          <a:spcPts val="0"/>
                        </a:spcAft>
                        <a:buClrTx/>
                        <a:buSzTx/>
                        <a:buFontTx/>
                        <a:buNone/>
                        <a:tabLst/>
                        <a:defRPr/>
                      </a:pPr>
                      <a:endParaRPr lang="en-GB" sz="1400" b="1" noProof="0" dirty="0"/>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extLst>
                  <a:ext uri="{0D108BD9-81ED-4DB2-BD59-A6C34878D82A}">
                    <a16:rowId xmlns:a16="http://schemas.microsoft.com/office/drawing/2014/main" val="4153014111"/>
                  </a:ext>
                </a:extLst>
              </a:tr>
              <a:tr h="594933">
                <a:tc vMerge="1">
                  <a:txBody>
                    <a:bodyPr/>
                    <a:lstStyle/>
                    <a:p>
                      <a:pPr marL="0" marR="0" lvl="0" indent="0" algn="r" defTabSz="914400" rtl="1" eaLnBrk="1" fontAlgn="auto" latinLnBrk="0" hangingPunct="1">
                        <a:lnSpc>
                          <a:spcPct val="100000"/>
                        </a:lnSpc>
                        <a:spcBef>
                          <a:spcPts val="0"/>
                        </a:spcBef>
                        <a:spcAft>
                          <a:spcPts val="0"/>
                        </a:spcAft>
                        <a:buClrTx/>
                        <a:buSzTx/>
                        <a:buFontTx/>
                        <a:buNone/>
                        <a:tabLst/>
                        <a:defRPr/>
                      </a:pPr>
                      <a:endParaRPr lang="en-GB" sz="1400" noProof="0" dirty="0"/>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vMerge="1">
                  <a:txBody>
                    <a:bodyPr/>
                    <a:lstStyle/>
                    <a:p>
                      <a:endParaRPr lang="en-US"/>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vMerge="1">
                  <a:txBody>
                    <a:bodyPr/>
                    <a:lstStyle/>
                    <a:p>
                      <a:endParaRPr lang="en-US"/>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marL="171450" indent="-171450" algn="r" defTabSz="914400" rtl="1" eaLnBrk="1" latinLnBrk="0" hangingPunct="1">
                        <a:lnSpc>
                          <a:spcPct val="115000"/>
                        </a:lnSpc>
                        <a:spcAft>
                          <a:spcPts val="0"/>
                        </a:spcAft>
                        <a:buFont typeface="Arial" panose="020B0604020202020204" pitchFamily="34" charset="0"/>
                        <a:buChar char="•"/>
                      </a:pPr>
                      <a:r>
                        <a:rPr lang="ar-SA" sz="1050" kern="1200" noProof="0" dirty="0">
                          <a:solidFill>
                            <a:schemeClr val="tx1"/>
                          </a:solidFill>
                          <a:effectLst/>
                          <a:latin typeface="+mn-lt"/>
                          <a:ea typeface="+mn-ea"/>
                          <a:cs typeface="+mn-cs"/>
                        </a:rPr>
                        <a:t>اعتماد وتفعيل حلول ذكاء الأعمال (مثل </a:t>
                      </a:r>
                      <a:r>
                        <a:rPr lang="ar-SA" sz="1050" kern="1200" noProof="0" dirty="0" err="1">
                          <a:solidFill>
                            <a:schemeClr val="tx1"/>
                          </a:solidFill>
                          <a:effectLst/>
                          <a:latin typeface="+mn-lt"/>
                          <a:ea typeface="+mn-ea"/>
                          <a:cs typeface="+mn-cs"/>
                        </a:rPr>
                        <a:t>Power</a:t>
                      </a:r>
                      <a:r>
                        <a:rPr lang="ar-SA" sz="1050" kern="1200" noProof="0" dirty="0">
                          <a:solidFill>
                            <a:schemeClr val="tx1"/>
                          </a:solidFill>
                          <a:effectLst/>
                          <a:latin typeface="+mn-lt"/>
                          <a:ea typeface="+mn-ea"/>
                          <a:cs typeface="+mn-cs"/>
                        </a:rPr>
                        <a:t> BI، </a:t>
                      </a:r>
                      <a:r>
                        <a:rPr lang="ar-SA" sz="1050" kern="1200" noProof="0" dirty="0" err="1">
                          <a:solidFill>
                            <a:schemeClr val="tx1"/>
                          </a:solidFill>
                          <a:effectLst/>
                          <a:latin typeface="+mn-lt"/>
                          <a:ea typeface="+mn-ea"/>
                          <a:cs typeface="+mn-cs"/>
                        </a:rPr>
                        <a:t>Qlik</a:t>
                      </a:r>
                      <a:r>
                        <a:rPr lang="ar-SA" sz="1050" kern="1200" noProof="0" dirty="0">
                          <a:solidFill>
                            <a:schemeClr val="tx1"/>
                          </a:solidFill>
                          <a:effectLst/>
                          <a:latin typeface="+mn-lt"/>
                          <a:ea typeface="+mn-ea"/>
                          <a:cs typeface="+mn-cs"/>
                        </a:rPr>
                        <a:t>، </a:t>
                      </a:r>
                      <a:r>
                        <a:rPr lang="ar-SA" sz="1050" kern="1200" noProof="0" dirty="0" err="1">
                          <a:solidFill>
                            <a:schemeClr val="tx1"/>
                          </a:solidFill>
                          <a:effectLst/>
                          <a:latin typeface="+mn-lt"/>
                          <a:ea typeface="+mn-ea"/>
                          <a:cs typeface="+mn-cs"/>
                        </a:rPr>
                        <a:t>Tableau</a:t>
                      </a:r>
                      <a:r>
                        <a:rPr lang="ar-SA" sz="1050" kern="1200" noProof="0" dirty="0">
                          <a:solidFill>
                            <a:schemeClr val="tx1"/>
                          </a:solidFill>
                          <a:effectLst/>
                          <a:latin typeface="+mn-lt"/>
                          <a:ea typeface="+mn-ea"/>
                          <a:cs typeface="+mn-cs"/>
                        </a:rPr>
                        <a:t>) وربطها بنظام مستودع بيانات مركزي.</a:t>
                      </a:r>
                    </a:p>
                    <a:p>
                      <a:pPr marL="171450" indent="-171450" algn="r" defTabSz="914400" rtl="1" eaLnBrk="1" latinLnBrk="0" hangingPunct="1">
                        <a:lnSpc>
                          <a:spcPct val="115000"/>
                        </a:lnSpc>
                        <a:spcAft>
                          <a:spcPts val="0"/>
                        </a:spcAft>
                        <a:buFont typeface="Arial" panose="020B0604020202020204" pitchFamily="34" charset="0"/>
                        <a:buChar char="•"/>
                      </a:pPr>
                      <a:r>
                        <a:rPr lang="ar-SA" sz="1050" kern="1200" noProof="0" dirty="0">
                          <a:solidFill>
                            <a:schemeClr val="tx1"/>
                          </a:solidFill>
                          <a:effectLst/>
                          <a:latin typeface="+mn-lt"/>
                          <a:ea typeface="+mn-ea"/>
                          <a:cs typeface="+mn-cs"/>
                        </a:rPr>
                        <a:t>توحيد سياسات التحليل وإعداد التقارير بين الوحدات الادارية.</a:t>
                      </a:r>
                    </a:p>
                    <a:p>
                      <a:pPr marL="171450" indent="-171450" algn="r" defTabSz="914400" rtl="1" eaLnBrk="1" latinLnBrk="0" hangingPunct="1">
                        <a:lnSpc>
                          <a:spcPct val="115000"/>
                        </a:lnSpc>
                        <a:spcAft>
                          <a:spcPts val="0"/>
                        </a:spcAft>
                        <a:buFont typeface="Arial" panose="020B0604020202020204" pitchFamily="34" charset="0"/>
                        <a:buChar char="•"/>
                      </a:pPr>
                      <a:r>
                        <a:rPr lang="ar-SA" sz="1050" kern="1200" noProof="0" dirty="0">
                          <a:solidFill>
                            <a:schemeClr val="tx1"/>
                          </a:solidFill>
                          <a:effectLst/>
                          <a:latin typeface="+mn-lt"/>
                          <a:ea typeface="+mn-ea"/>
                          <a:cs typeface="+mn-cs"/>
                        </a:rPr>
                        <a:t>تقديم برامج تدريبية لفرق العمل لتعزيز استخدام هذه الأدوات.</a:t>
                      </a:r>
                    </a:p>
                  </a:txBody>
                  <a:tcPr marL="9525" marR="9525" marT="9525" marB="9525"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marL="0" marR="0" lvl="0" indent="0" algn="ctr" defTabSz="914400" rtl="1" eaLnBrk="1" fontAlgn="auto" latinLnBrk="0" hangingPunct="1">
                        <a:lnSpc>
                          <a:spcPct val="100000"/>
                        </a:lnSpc>
                        <a:spcBef>
                          <a:spcPts val="0"/>
                        </a:spcBef>
                        <a:spcAft>
                          <a:spcPts val="0"/>
                        </a:spcAft>
                        <a:buClrTx/>
                        <a:buSzTx/>
                        <a:buFont typeface="Arial" panose="020B0604020202020204" pitchFamily="34" charset="0"/>
                        <a:buNone/>
                        <a:tabLst/>
                        <a:defRPr/>
                      </a:pPr>
                      <a:r>
                        <a:rPr lang="ar-SA" sz="1400" b="1" kern="1200" noProof="0" dirty="0">
                          <a:solidFill>
                            <a:schemeClr val="accent1"/>
                          </a:solidFill>
                          <a:latin typeface="+mn-lt"/>
                          <a:ea typeface="+mn-ea"/>
                          <a:cs typeface="+mn-cs"/>
                        </a:rPr>
                        <a:t>تغطية الفجوة </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accent1"/>
                      </a:solidFill>
                      <a:prstDash val="solid"/>
                      <a:round/>
                      <a:headEnd type="none" w="med" len="med"/>
                      <a:tailEnd type="none" w="med" len="med"/>
                    </a:lnB>
                    <a:solidFill>
                      <a:schemeClr val="bg1">
                        <a:lumMod val="95000"/>
                      </a:schemeClr>
                    </a:solidFill>
                  </a:tcPr>
                </a:tc>
                <a:tc vMerge="1">
                  <a:txBody>
                    <a:bodyPr/>
                    <a:lstStyle/>
                    <a:p>
                      <a:pPr marL="0" marR="0" lvl="0" indent="0" algn="r" defTabSz="914400" rtl="1" eaLnBrk="1" fontAlgn="auto" latinLnBrk="0" hangingPunct="1">
                        <a:lnSpc>
                          <a:spcPct val="100000"/>
                        </a:lnSpc>
                        <a:spcBef>
                          <a:spcPts val="0"/>
                        </a:spcBef>
                        <a:spcAft>
                          <a:spcPts val="0"/>
                        </a:spcAft>
                        <a:buClrTx/>
                        <a:buSzTx/>
                        <a:buFontTx/>
                        <a:buNone/>
                        <a:tabLst/>
                        <a:defRPr/>
                      </a:pPr>
                      <a:endParaRPr lang="en-GB" sz="1400" b="1" noProof="0" dirty="0"/>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extLst>
                  <a:ext uri="{0D108BD9-81ED-4DB2-BD59-A6C34878D82A}">
                    <a16:rowId xmlns:a16="http://schemas.microsoft.com/office/drawing/2014/main" val="1035545327"/>
                  </a:ext>
                </a:extLst>
              </a:tr>
            </a:tbl>
          </a:graphicData>
        </a:graphic>
      </p:graphicFrame>
    </p:spTree>
    <p:extLst>
      <p:ext uri="{BB962C8B-B14F-4D97-AF65-F5344CB8AC3E}">
        <p14:creationId xmlns:p14="http://schemas.microsoft.com/office/powerpoint/2010/main" val="3812303679"/>
      </p:ext>
    </p:extLst>
  </p:cSld>
  <p:clrMapOvr>
    <a:masterClrMapping/>
  </p:clrMapOvr>
  <mc:AlternateContent xmlns:mc="http://schemas.openxmlformats.org/markup-compatibility/2006" xmlns:p14="http://schemas.microsoft.com/office/powerpoint/2010/main">
    <mc:Choice Requires="p14">
      <p:transition spd="slow" p14:dur="1300">
        <p14:pan dir="r"/>
      </p:transition>
    </mc:Choice>
    <mc:Fallback xmlns="">
      <p:transition spd="slow">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E6B3D9-1748-4396-A9A8-2FDFA138A95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A69F8DE-9AEF-FF01-5931-1793EFF34694}"/>
              </a:ext>
            </a:extLst>
          </p:cNvPr>
          <p:cNvSpPr>
            <a:spLocks noGrp="1"/>
          </p:cNvSpPr>
          <p:nvPr>
            <p:ph type="title"/>
          </p:nvPr>
        </p:nvSpPr>
        <p:spPr/>
        <p:txBody>
          <a:bodyPr/>
          <a:lstStyle/>
          <a:p>
            <a:r>
              <a:rPr lang="ar-SA" noProof="0" dirty="0"/>
              <a:t>ملخص تحليل الفجوات لبنية البيانات</a:t>
            </a:r>
            <a:endParaRPr lang="en-AE" dirty="0"/>
          </a:p>
        </p:txBody>
      </p:sp>
      <p:sp>
        <p:nvSpPr>
          <p:cNvPr id="3" name="Slide Number Placeholder 2">
            <a:extLst>
              <a:ext uri="{FF2B5EF4-FFF2-40B4-BE49-F238E27FC236}">
                <a16:creationId xmlns:a16="http://schemas.microsoft.com/office/drawing/2014/main" id="{68BCDD20-685C-33B1-78F8-E7F7B9347F7C}"/>
              </a:ext>
            </a:extLst>
          </p:cNvPr>
          <p:cNvSpPr>
            <a:spLocks noGrp="1"/>
          </p:cNvSpPr>
          <p:nvPr>
            <p:ph type="sldNum" sz="quarter" idx="12"/>
          </p:nvPr>
        </p:nvSpPr>
        <p:spPr/>
        <p:txBody>
          <a:bodyPr/>
          <a:lstStyle/>
          <a:p>
            <a:fld id="{0BE4EC83-A869-464E-AE9F-881796FB085E}" type="slidenum">
              <a:rPr lang="en-US" smtClean="0"/>
              <a:t>32</a:t>
            </a:fld>
            <a:endParaRPr lang="en-US"/>
          </a:p>
        </p:txBody>
      </p:sp>
      <p:graphicFrame>
        <p:nvGraphicFramePr>
          <p:cNvPr id="4" name="Table 3">
            <a:extLst>
              <a:ext uri="{FF2B5EF4-FFF2-40B4-BE49-F238E27FC236}">
                <a16:creationId xmlns:a16="http://schemas.microsoft.com/office/drawing/2014/main" id="{C7D64F8B-6C3A-9004-10F3-510E0C3137A2}"/>
              </a:ext>
            </a:extLst>
          </p:cNvPr>
          <p:cNvGraphicFramePr>
            <a:graphicFrameLocks noGrp="1"/>
          </p:cNvGraphicFramePr>
          <p:nvPr/>
        </p:nvGraphicFramePr>
        <p:xfrm>
          <a:off x="557022" y="1127761"/>
          <a:ext cx="11077955" cy="5050860"/>
        </p:xfrm>
        <a:graphic>
          <a:graphicData uri="http://schemas.openxmlformats.org/drawingml/2006/table">
            <a:tbl>
              <a:tblPr rtl="1" firstRow="1" bandRow="1">
                <a:tableStyleId>{B301B821-A1FF-4177-AEE7-76D212191A09}</a:tableStyleId>
              </a:tblPr>
              <a:tblGrid>
                <a:gridCol w="763611">
                  <a:extLst>
                    <a:ext uri="{9D8B030D-6E8A-4147-A177-3AD203B41FA5}">
                      <a16:colId xmlns:a16="http://schemas.microsoft.com/office/drawing/2014/main" val="1848166869"/>
                    </a:ext>
                  </a:extLst>
                </a:gridCol>
                <a:gridCol w="924287">
                  <a:extLst>
                    <a:ext uri="{9D8B030D-6E8A-4147-A177-3AD203B41FA5}">
                      <a16:colId xmlns:a16="http://schemas.microsoft.com/office/drawing/2014/main" val="3183077499"/>
                    </a:ext>
                  </a:extLst>
                </a:gridCol>
                <a:gridCol w="1776215">
                  <a:extLst>
                    <a:ext uri="{9D8B030D-6E8A-4147-A177-3AD203B41FA5}">
                      <a16:colId xmlns:a16="http://schemas.microsoft.com/office/drawing/2014/main" val="641879211"/>
                    </a:ext>
                  </a:extLst>
                </a:gridCol>
                <a:gridCol w="1776215">
                  <a:extLst>
                    <a:ext uri="{9D8B030D-6E8A-4147-A177-3AD203B41FA5}">
                      <a16:colId xmlns:a16="http://schemas.microsoft.com/office/drawing/2014/main" val="2407940828"/>
                    </a:ext>
                  </a:extLst>
                </a:gridCol>
                <a:gridCol w="1207041">
                  <a:extLst>
                    <a:ext uri="{9D8B030D-6E8A-4147-A177-3AD203B41FA5}">
                      <a16:colId xmlns:a16="http://schemas.microsoft.com/office/drawing/2014/main" val="2266366844"/>
                    </a:ext>
                  </a:extLst>
                </a:gridCol>
                <a:gridCol w="1637497">
                  <a:extLst>
                    <a:ext uri="{9D8B030D-6E8A-4147-A177-3AD203B41FA5}">
                      <a16:colId xmlns:a16="http://schemas.microsoft.com/office/drawing/2014/main" val="170401669"/>
                    </a:ext>
                  </a:extLst>
                </a:gridCol>
                <a:gridCol w="1074902">
                  <a:extLst>
                    <a:ext uri="{9D8B030D-6E8A-4147-A177-3AD203B41FA5}">
                      <a16:colId xmlns:a16="http://schemas.microsoft.com/office/drawing/2014/main" val="4110629147"/>
                    </a:ext>
                  </a:extLst>
                </a:gridCol>
                <a:gridCol w="614230">
                  <a:extLst>
                    <a:ext uri="{9D8B030D-6E8A-4147-A177-3AD203B41FA5}">
                      <a16:colId xmlns:a16="http://schemas.microsoft.com/office/drawing/2014/main" val="2090639194"/>
                    </a:ext>
                  </a:extLst>
                </a:gridCol>
                <a:gridCol w="479867">
                  <a:extLst>
                    <a:ext uri="{9D8B030D-6E8A-4147-A177-3AD203B41FA5}">
                      <a16:colId xmlns:a16="http://schemas.microsoft.com/office/drawing/2014/main" val="1489210985"/>
                    </a:ext>
                  </a:extLst>
                </a:gridCol>
                <a:gridCol w="824090">
                  <a:extLst>
                    <a:ext uri="{9D8B030D-6E8A-4147-A177-3AD203B41FA5}">
                      <a16:colId xmlns:a16="http://schemas.microsoft.com/office/drawing/2014/main" val="602859565"/>
                    </a:ext>
                  </a:extLst>
                </a:gridCol>
              </a:tblGrid>
              <a:tr h="260804">
                <a:tc>
                  <a:txBody>
                    <a:bodyPr/>
                    <a:lstStyle/>
                    <a:p>
                      <a:pPr marL="0" algn="ctr" defTabSz="914400" rtl="1" eaLnBrk="1" latinLnBrk="0" hangingPunct="1">
                        <a:buNone/>
                      </a:pPr>
                      <a:r>
                        <a:rPr lang="en-US" sz="1400" dirty="0">
                          <a:latin typeface="+mn-lt"/>
                        </a:rPr>
                        <a:t>Code</a:t>
                      </a:r>
                      <a:endParaRPr lang="ar-AE" sz="1400" dirty="0">
                        <a:latin typeface="+mn-lt"/>
                      </a:endParaRPr>
                    </a:p>
                  </a:txBody>
                  <a:tcPr marL="20927" marR="20927" marT="10464" marB="10464" anchor="ctr"/>
                </a:tc>
                <a:tc>
                  <a:txBody>
                    <a:bodyPr/>
                    <a:lstStyle/>
                    <a:p>
                      <a:pPr algn="ctr" rtl="1">
                        <a:buNone/>
                      </a:pPr>
                      <a:r>
                        <a:rPr lang="ar-AE" sz="1400" b="1" dirty="0"/>
                        <a:t>الفجوة</a:t>
                      </a:r>
                      <a:endParaRPr lang="ar-AE" sz="1400" dirty="0">
                        <a:latin typeface="+mn-lt"/>
                      </a:endParaRPr>
                    </a:p>
                  </a:txBody>
                  <a:tcPr marL="20927" marR="20927" marT="10464" marB="10464" anchor="ctr"/>
                </a:tc>
                <a:tc>
                  <a:txBody>
                    <a:bodyPr/>
                    <a:lstStyle/>
                    <a:p>
                      <a:pPr marL="0" algn="ctr" defTabSz="914400" rtl="1" eaLnBrk="1" latinLnBrk="0" hangingPunct="1">
                        <a:buNone/>
                      </a:pPr>
                      <a:r>
                        <a:rPr lang="ar-SA" sz="1400" dirty="0">
                          <a:latin typeface="+mn-lt"/>
                        </a:rPr>
                        <a:t>التصنيف</a:t>
                      </a:r>
                      <a:endParaRPr lang="ar-AE" sz="1400" dirty="0">
                        <a:latin typeface="+mn-lt"/>
                      </a:endParaRPr>
                    </a:p>
                  </a:txBody>
                  <a:tcPr marL="20927" marR="20927" marT="10464" marB="10464" anchor="ctr"/>
                </a:tc>
                <a:tc>
                  <a:txBody>
                    <a:bodyPr/>
                    <a:lstStyle/>
                    <a:p>
                      <a:pPr algn="ctr" rtl="1">
                        <a:buNone/>
                      </a:pPr>
                      <a:r>
                        <a:rPr lang="ar-AE" sz="1400" b="1" dirty="0"/>
                        <a:t>الوصف</a:t>
                      </a:r>
                      <a:endParaRPr lang="ar-AE" sz="1400" dirty="0">
                        <a:latin typeface="+mn-lt"/>
                      </a:endParaRPr>
                    </a:p>
                  </a:txBody>
                  <a:tcPr marL="20927" marR="20927" marT="10464" marB="10464" anchor="ctr"/>
                </a:tc>
                <a:tc>
                  <a:txBody>
                    <a:bodyPr/>
                    <a:lstStyle/>
                    <a:p>
                      <a:pPr algn="ctr" rtl="1">
                        <a:buNone/>
                      </a:pPr>
                      <a:r>
                        <a:rPr lang="ar-AE" sz="1400" b="1" dirty="0"/>
                        <a:t>الأثر الحالي</a:t>
                      </a:r>
                      <a:endParaRPr lang="ar-AE" sz="1400" dirty="0">
                        <a:latin typeface="+mn-lt"/>
                      </a:endParaRPr>
                    </a:p>
                  </a:txBody>
                  <a:tcPr marL="20927" marR="20927" marT="10464" marB="10464" anchor="ctr"/>
                </a:tc>
                <a:tc>
                  <a:txBody>
                    <a:bodyPr/>
                    <a:lstStyle/>
                    <a:p>
                      <a:pPr algn="ctr" rtl="1">
                        <a:buNone/>
                      </a:pPr>
                      <a:r>
                        <a:rPr lang="ar-AE" sz="1400" b="1" dirty="0"/>
                        <a:t>الأثر بعد الردم (المعالجة)</a:t>
                      </a:r>
                      <a:endParaRPr lang="ar-AE" sz="1400" dirty="0">
                        <a:latin typeface="+mn-lt"/>
                      </a:endParaRPr>
                    </a:p>
                  </a:txBody>
                  <a:tcPr marL="20927" marR="20927" marT="10464" marB="10464" anchor="ctr"/>
                </a:tc>
                <a:tc>
                  <a:txBody>
                    <a:bodyPr/>
                    <a:lstStyle/>
                    <a:p>
                      <a:pPr algn="ctr" rtl="1">
                        <a:buNone/>
                      </a:pPr>
                      <a:r>
                        <a:rPr lang="ar-AE" sz="1400" b="1" dirty="0"/>
                        <a:t>تغطية الفجوة</a:t>
                      </a:r>
                      <a:endParaRPr lang="ar-AE" sz="1400" dirty="0">
                        <a:latin typeface="+mn-lt"/>
                      </a:endParaRPr>
                    </a:p>
                  </a:txBody>
                  <a:tcPr marL="20927" marR="20927" marT="10464" marB="10464" anchor="ctr"/>
                </a:tc>
                <a:tc>
                  <a:txBody>
                    <a:bodyPr/>
                    <a:lstStyle/>
                    <a:p>
                      <a:pPr algn="ctr" rtl="1">
                        <a:buNone/>
                      </a:pPr>
                      <a:r>
                        <a:rPr lang="ar-AE" sz="1400" b="1" dirty="0"/>
                        <a:t>الأولوية</a:t>
                      </a:r>
                      <a:endParaRPr lang="ar-AE" sz="1400" dirty="0">
                        <a:latin typeface="+mn-lt"/>
                      </a:endParaRPr>
                    </a:p>
                  </a:txBody>
                  <a:tcPr marL="20927" marR="20927" marT="10464" marB="10464" anchor="ctr"/>
                </a:tc>
                <a:tc>
                  <a:txBody>
                    <a:bodyPr/>
                    <a:lstStyle/>
                    <a:p>
                      <a:pPr algn="ctr" rtl="1">
                        <a:buNone/>
                      </a:pPr>
                      <a:r>
                        <a:rPr lang="ar-AE" sz="1400" b="1" dirty="0"/>
                        <a:t>الأهمية</a:t>
                      </a:r>
                      <a:endParaRPr lang="ar-AE" sz="1400" dirty="0">
                        <a:latin typeface="+mn-lt"/>
                      </a:endParaRPr>
                    </a:p>
                  </a:txBody>
                  <a:tcPr marL="20927" marR="20927" marT="10464" marB="10464" anchor="ctr"/>
                </a:tc>
                <a:tc>
                  <a:txBody>
                    <a:bodyPr/>
                    <a:lstStyle/>
                    <a:p>
                      <a:pPr algn="ctr" rtl="1">
                        <a:buNone/>
                      </a:pPr>
                      <a:r>
                        <a:rPr lang="ar-AE" sz="1400" b="1" dirty="0"/>
                        <a:t>المصدر</a:t>
                      </a:r>
                      <a:endParaRPr lang="ar-AE" sz="1400" dirty="0">
                        <a:latin typeface="+mn-lt"/>
                      </a:endParaRPr>
                    </a:p>
                  </a:txBody>
                  <a:tcPr marL="20927" marR="20927" marT="10464" marB="10464" anchor="ctr"/>
                </a:tc>
                <a:extLst>
                  <a:ext uri="{0D108BD9-81ED-4DB2-BD59-A6C34878D82A}">
                    <a16:rowId xmlns:a16="http://schemas.microsoft.com/office/drawing/2014/main" val="4029457185"/>
                  </a:ext>
                </a:extLst>
              </a:tr>
              <a:tr h="667795">
                <a:tc>
                  <a: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prstClr val="black"/>
                          </a:solidFill>
                          <a:effectLst/>
                          <a:uLnTx/>
                          <a:uFillTx/>
                          <a:latin typeface="Sakkal Majalla"/>
                          <a:ea typeface="+mn-ea"/>
                          <a:cs typeface="Sakkal Majalla"/>
                        </a:rPr>
                        <a:t>GAP-D-01</a:t>
                      </a:r>
                      <a:endParaRPr kumimoji="0" lang="ar-EG" sz="1200" b="1" i="0" u="none" strike="noStrike" kern="1200" cap="none" spc="0" normalizeH="0" baseline="0" noProof="0" dirty="0">
                        <a:ln>
                          <a:noFill/>
                        </a:ln>
                        <a:solidFill>
                          <a:prstClr val="black"/>
                        </a:solidFill>
                        <a:effectLst/>
                        <a:uLnTx/>
                        <a:uFillTx/>
                        <a:latin typeface="Sakkal Majalla"/>
                        <a:ea typeface="+mn-ea"/>
                        <a:cs typeface="Sakkal Majalla"/>
                      </a:endParaRPr>
                    </a:p>
                  </a:txBody>
                  <a:tcPr marL="20927" marR="20927" marT="10464" marB="10464" anchor="ctr"/>
                </a:tc>
                <a:tc>
                  <a:txBody>
                    <a:bodyPr/>
                    <a:lstStyle/>
                    <a:p>
                      <a:pPr algn="r" rtl="1">
                        <a:buNone/>
                      </a:pPr>
                      <a:r>
                        <a:rPr lang="ar-AE" sz="1200" dirty="0"/>
                        <a:t>غياب الدليل الموحد للبيانات</a:t>
                      </a:r>
                      <a:endParaRPr lang="ar-AE" sz="1200" dirty="0">
                        <a:latin typeface="+mn-lt"/>
                      </a:endParaRPr>
                    </a:p>
                  </a:txBody>
                  <a:tcPr marL="20927" marR="20927" marT="10464" marB="10464" anchor="ctr"/>
                </a:tc>
                <a:tc>
                  <a:txBody>
                    <a:bodyPr/>
                    <a:lstStyle/>
                    <a:p>
                      <a:pPr algn="ctr" rtl="1" fontAlgn="ctr"/>
                      <a:r>
                        <a:rPr lang="ar-AE" sz="1200" b="0" i="0" u="none" strike="noStrike">
                          <a:solidFill>
                            <a:srgbClr val="000000"/>
                          </a:solidFill>
                          <a:effectLst/>
                          <a:latin typeface="Aptos Narrow" panose="020B0004020202020204" pitchFamily="34" charset="0"/>
                        </a:rPr>
                        <a:t>البيانات الوصفية ودليل البيانات (2)</a:t>
                      </a:r>
                    </a:p>
                  </a:txBody>
                  <a:tcPr marL="9525" marR="9525" marT="9525" marB="0" anchor="ctr"/>
                </a:tc>
                <a:tc>
                  <a:txBody>
                    <a:bodyPr/>
                    <a:lstStyle/>
                    <a:p>
                      <a:pPr algn="r" rtl="1">
                        <a:buNone/>
                      </a:pPr>
                      <a:r>
                        <a:rPr lang="ar-AE" sz="1200" dirty="0"/>
                        <a:t>يفتقر الدليل الموحد للبيانات إلى الإرساء، فلا توجد مرجعية شاملة تتضمن معلومات الكيانات ومواقع تخزينها</a:t>
                      </a:r>
                      <a:endParaRPr lang="ar-AE" sz="1200" dirty="0">
                        <a:latin typeface="+mn-lt"/>
                      </a:endParaRPr>
                    </a:p>
                  </a:txBody>
                  <a:tcPr marL="20927" marR="20927" marT="10464" marB="10464" anchor="ctr"/>
                </a:tc>
                <a:tc>
                  <a:txBody>
                    <a:bodyPr/>
                    <a:lstStyle/>
                    <a:p>
                      <a:pPr algn="r" rtl="1">
                        <a:buNone/>
                      </a:pPr>
                      <a:r>
                        <a:rPr lang="ar-AE" sz="1200" dirty="0"/>
                        <a:t>تعدّد التعريفات وتكرار المعلومات، مما يحد من التنسيق بين الإدارات</a:t>
                      </a:r>
                      <a:endParaRPr lang="ar-AE" sz="1200" dirty="0">
                        <a:latin typeface="+mn-lt"/>
                      </a:endParaRPr>
                    </a:p>
                  </a:txBody>
                  <a:tcPr marL="20927" marR="20927" marT="10464" marB="10464" anchor="ctr"/>
                </a:tc>
                <a:tc>
                  <a:txBody>
                    <a:bodyPr/>
                    <a:lstStyle/>
                    <a:p>
                      <a:pPr algn="r" rtl="1">
                        <a:buNone/>
                      </a:pPr>
                      <a:r>
                        <a:rPr lang="ar-AE" sz="1200" dirty="0"/>
                        <a:t>دمج وتوحيد التعريفات في دليل مركزي يُحدث دوريًا، ما يُسهّل الوصول للبيانات ويمنع تكرارها</a:t>
                      </a:r>
                      <a:endParaRPr lang="ar-AE" sz="1200" dirty="0">
                        <a:latin typeface="+mn-lt"/>
                      </a:endParaRPr>
                    </a:p>
                  </a:txBody>
                  <a:tcPr marL="20927" marR="20927" marT="10464" marB="10464" anchor="ctr"/>
                </a:tc>
                <a:tc>
                  <a:txBody>
                    <a:bodyPr/>
                    <a:lstStyle/>
                    <a:p>
                      <a:pPr algn="r" rtl="1">
                        <a:buNone/>
                      </a:pPr>
                      <a:r>
                        <a:rPr lang="ar-AE" sz="1200" dirty="0"/>
                        <a:t>إنشاء دليل شامل ومحدّث للبيانات</a:t>
                      </a:r>
                      <a:endParaRPr lang="en-US" sz="1200" dirty="0">
                        <a:latin typeface="+mn-lt"/>
                      </a:endParaRPr>
                    </a:p>
                  </a:txBody>
                  <a:tcPr marL="20927" marR="20927" marT="10464" marB="10464" anchor="ctr"/>
                </a:tc>
                <a:tc>
                  <a:txBody>
                    <a:bodyPr/>
                    <a:lstStyle/>
                    <a:p>
                      <a:pPr algn="ctr" rtl="1">
                        <a:buNone/>
                      </a:pPr>
                      <a:r>
                        <a:rPr lang="ar-AE" sz="1200" dirty="0"/>
                        <a:t>عالية</a:t>
                      </a:r>
                      <a:endParaRPr lang="ar-AE" sz="1200" dirty="0">
                        <a:latin typeface="+mn-lt"/>
                      </a:endParaRPr>
                    </a:p>
                  </a:txBody>
                  <a:tcPr marL="20927" marR="20927" marT="10464" marB="10464" anchor="ctr"/>
                </a:tc>
                <a:tc>
                  <a:txBody>
                    <a:bodyPr/>
                    <a:lstStyle/>
                    <a:p>
                      <a:pPr algn="ctr" rtl="1">
                        <a:buNone/>
                      </a:pPr>
                      <a:r>
                        <a:rPr lang="ar-AE" sz="1200" dirty="0"/>
                        <a:t>عالية</a:t>
                      </a:r>
                      <a:endParaRPr lang="ar-AE" sz="1200" dirty="0">
                        <a:latin typeface="+mn-lt"/>
                      </a:endParaRPr>
                    </a:p>
                  </a:txBody>
                  <a:tcPr marL="20927" marR="20927" marT="10464" marB="10464" anchor="ctr"/>
                </a:tc>
                <a:tc>
                  <a: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ar-AE" sz="1200" b="0" i="0" u="none" strike="noStrike" kern="1200" cap="none" spc="0" normalizeH="0" baseline="0" noProof="0">
                          <a:ln>
                            <a:noFill/>
                          </a:ln>
                          <a:solidFill>
                            <a:prstClr val="black"/>
                          </a:solidFill>
                          <a:effectLst/>
                          <a:uLnTx/>
                          <a:uFillTx/>
                          <a:latin typeface="Sakkal Majalla"/>
                          <a:ea typeface="+mn-ea"/>
                          <a:cs typeface="Sakkal Majalla"/>
                        </a:rPr>
                        <a:t>وثيقة الوضع الحالي و التوجهات المستقبلية</a:t>
                      </a:r>
                      <a:endParaRPr kumimoji="0" lang="ar-AE" sz="1200" b="0" i="0" u="none" strike="noStrike" kern="1200" cap="none" spc="0" normalizeH="0" baseline="0" noProof="0" dirty="0">
                        <a:ln>
                          <a:noFill/>
                        </a:ln>
                        <a:solidFill>
                          <a:prstClr val="black"/>
                        </a:solidFill>
                        <a:effectLst/>
                        <a:uLnTx/>
                        <a:uFillTx/>
                        <a:latin typeface="Sakkal Majalla"/>
                        <a:ea typeface="+mn-ea"/>
                        <a:cs typeface="Sakkal Majalla"/>
                      </a:endParaRPr>
                    </a:p>
                  </a:txBody>
                  <a:tcPr marL="20927" marR="20927" marT="10464" marB="10464" anchor="ctr"/>
                </a:tc>
                <a:extLst>
                  <a:ext uri="{0D108BD9-81ED-4DB2-BD59-A6C34878D82A}">
                    <a16:rowId xmlns:a16="http://schemas.microsoft.com/office/drawing/2014/main" val="2285552734"/>
                  </a:ext>
                </a:extLst>
              </a:tr>
              <a:tr h="667795">
                <a:tc>
                  <a: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prstClr val="black"/>
                          </a:solidFill>
                          <a:effectLst/>
                          <a:uLnTx/>
                          <a:uFillTx/>
                          <a:latin typeface="Sakkal Majalla"/>
                          <a:ea typeface="+mn-ea"/>
                          <a:cs typeface="Sakkal Majalla"/>
                        </a:rPr>
                        <a:t>GAP-D-02</a:t>
                      </a:r>
                      <a:endParaRPr kumimoji="0" lang="ar-EG" sz="1200" b="1" i="0" u="none" strike="noStrike" kern="1200" cap="none" spc="0" normalizeH="0" baseline="0" noProof="0" dirty="0">
                        <a:ln>
                          <a:noFill/>
                        </a:ln>
                        <a:solidFill>
                          <a:prstClr val="black"/>
                        </a:solidFill>
                        <a:effectLst/>
                        <a:uLnTx/>
                        <a:uFillTx/>
                        <a:latin typeface="Sakkal Majalla"/>
                        <a:ea typeface="+mn-ea"/>
                        <a:cs typeface="Sakkal Majalla"/>
                      </a:endParaRPr>
                    </a:p>
                  </a:txBody>
                  <a:tcPr marL="20927" marR="20927" marT="10464" marB="10464" anchor="ctr"/>
                </a:tc>
                <a:tc>
                  <a:txBody>
                    <a:bodyPr/>
                    <a:lstStyle/>
                    <a:p>
                      <a:pPr algn="r" rtl="1"/>
                      <a:r>
                        <a:rPr lang="ar-SA" sz="1200" dirty="0"/>
                        <a:t>نقص جزئي في سياسات حوكمة البيانات</a:t>
                      </a:r>
                    </a:p>
                  </a:txBody>
                  <a:tcPr marL="20927" marR="20927" marT="10464" marB="10464" anchor="ctr"/>
                </a:tc>
                <a:tc>
                  <a:txBody>
                    <a:bodyPr/>
                    <a:lstStyle/>
                    <a:p>
                      <a:pPr algn="ctr" rtl="1" fontAlgn="ctr"/>
                      <a:r>
                        <a:rPr lang="ar-AE" sz="1200" b="0" i="0" u="none" strike="noStrike" dirty="0">
                          <a:solidFill>
                            <a:srgbClr val="000000"/>
                          </a:solidFill>
                          <a:effectLst/>
                          <a:latin typeface="Aptos Narrow" panose="020B0004020202020204" pitchFamily="34" charset="0"/>
                        </a:rPr>
                        <a:t>حوكمة البيانات (1)</a:t>
                      </a:r>
                    </a:p>
                  </a:txBody>
                  <a:tcPr marL="9525" marR="9525" marT="9525" marB="0" anchor="ctr"/>
                </a:tc>
                <a:tc>
                  <a:txBody>
                    <a:bodyPr/>
                    <a:lstStyle/>
                    <a:p>
                      <a:pPr algn="r" rtl="1"/>
                      <a:r>
                        <a:rPr lang="ar-SA" sz="1200" dirty="0"/>
                        <a:t>يوجد مكتب بيانات فعّال، لكن ما زالت بعض السياسات المهمة غير مكتملة مثل سياسة النمذجة وهيكلة البيانات.</a:t>
                      </a:r>
                    </a:p>
                  </a:txBody>
                  <a:tcPr marL="20927" marR="20927" marT="10464" marB="10464" anchor="ctr"/>
                </a:tc>
                <a:tc>
                  <a:txBody>
                    <a:bodyPr/>
                    <a:lstStyle/>
                    <a:p>
                      <a:pPr algn="r" rtl="1"/>
                      <a:r>
                        <a:rPr lang="ar-SA" sz="1200" dirty="0"/>
                        <a:t>تفاوت في إدارة البيانات بين الأنظمة، وصعوبة في توحيد الهياكل مما يؤثر على الكفاءة.</a:t>
                      </a:r>
                    </a:p>
                  </a:txBody>
                  <a:tcPr marL="20927" marR="20927" marT="10464" marB="10464" anchor="ctr"/>
                </a:tc>
                <a:tc>
                  <a:txBody>
                    <a:bodyPr/>
                    <a:lstStyle/>
                    <a:p>
                      <a:pPr algn="r" rtl="1"/>
                      <a:r>
                        <a:rPr lang="ar-SA" sz="1200" dirty="0"/>
                        <a:t>تحسين توحيد السياسات، ورفع كفاءة إدارة البيانات وتحليلها.</a:t>
                      </a:r>
                    </a:p>
                  </a:txBody>
                  <a:tcPr marL="20927" marR="20927" marT="10464" marB="10464" anchor="ctr"/>
                </a:tc>
                <a:tc>
                  <a:txBody>
                    <a:bodyPr/>
                    <a:lstStyle/>
                    <a:p>
                      <a:pPr algn="r" rtl="1"/>
                      <a:r>
                        <a:rPr lang="ar-SA" sz="1200" dirty="0"/>
                        <a:t>استكمال السياسات المتبقية وتحديث إطار حوكمة البيانات.</a:t>
                      </a:r>
                    </a:p>
                  </a:txBody>
                  <a:tcPr marL="20927" marR="20927" marT="10464" marB="10464" anchor="ctr"/>
                </a:tc>
                <a:tc>
                  <a:txBody>
                    <a:bodyPr/>
                    <a:lstStyle/>
                    <a:p>
                      <a:pPr algn="ctr" rtl="1">
                        <a:buNone/>
                      </a:pPr>
                      <a:r>
                        <a:rPr lang="ar-AE" sz="1200" dirty="0"/>
                        <a:t>عالية</a:t>
                      </a:r>
                      <a:endParaRPr lang="ar-AE" sz="1200" dirty="0">
                        <a:latin typeface="+mn-lt"/>
                      </a:endParaRPr>
                    </a:p>
                  </a:txBody>
                  <a:tcPr marL="20927" marR="20927" marT="10464" marB="10464" anchor="ctr"/>
                </a:tc>
                <a:tc>
                  <a:txBody>
                    <a:bodyPr/>
                    <a:lstStyle/>
                    <a:p>
                      <a:pPr algn="ctr" rtl="1">
                        <a:buNone/>
                      </a:pPr>
                      <a:r>
                        <a:rPr lang="ar-AE" sz="1200" dirty="0"/>
                        <a:t>عالية</a:t>
                      </a:r>
                      <a:endParaRPr lang="ar-AE" sz="1200" dirty="0">
                        <a:latin typeface="+mn-lt"/>
                      </a:endParaRPr>
                    </a:p>
                  </a:txBody>
                  <a:tcPr marL="20927" marR="20927" marT="10464" marB="10464" anchor="ctr"/>
                </a:tc>
                <a:tc>
                  <a: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ar-AE" sz="1200" b="0" i="0" u="none" strike="noStrike" kern="1200" cap="none" spc="0" normalizeH="0" baseline="0" noProof="0" dirty="0">
                          <a:ln>
                            <a:noFill/>
                          </a:ln>
                          <a:solidFill>
                            <a:prstClr val="black"/>
                          </a:solidFill>
                          <a:effectLst/>
                          <a:uLnTx/>
                          <a:uFillTx/>
                          <a:latin typeface="Sakkal Majalla"/>
                          <a:ea typeface="+mn-ea"/>
                          <a:cs typeface="Sakkal Majalla"/>
                        </a:rPr>
                        <a:t>وثيقة الوضع الحالي و التوجهات المستقبلية</a:t>
                      </a:r>
                    </a:p>
                  </a:txBody>
                  <a:tcPr marL="20927" marR="20927" marT="10464" marB="10464" anchor="ctr"/>
                </a:tc>
                <a:extLst>
                  <a:ext uri="{0D108BD9-81ED-4DB2-BD59-A6C34878D82A}">
                    <a16:rowId xmlns:a16="http://schemas.microsoft.com/office/drawing/2014/main" val="1911398290"/>
                  </a:ext>
                </a:extLst>
              </a:tr>
              <a:tr h="883345">
                <a:tc>
                  <a: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prstClr val="black"/>
                          </a:solidFill>
                          <a:effectLst/>
                          <a:uLnTx/>
                          <a:uFillTx/>
                          <a:latin typeface="Sakkal Majalla"/>
                          <a:ea typeface="+mn-ea"/>
                          <a:cs typeface="Sakkal Majalla"/>
                        </a:rPr>
                        <a:t>GAP-D-03</a:t>
                      </a:r>
                      <a:endParaRPr kumimoji="0" lang="ar-EG" sz="1200" b="1" i="0" u="none" strike="noStrike" kern="1200" cap="none" spc="0" normalizeH="0" baseline="0" noProof="0" dirty="0">
                        <a:ln>
                          <a:noFill/>
                        </a:ln>
                        <a:solidFill>
                          <a:prstClr val="black"/>
                        </a:solidFill>
                        <a:effectLst/>
                        <a:uLnTx/>
                        <a:uFillTx/>
                        <a:latin typeface="Sakkal Majalla"/>
                        <a:ea typeface="+mn-ea"/>
                        <a:cs typeface="Sakkal Majalla"/>
                      </a:endParaRPr>
                    </a:p>
                  </a:txBody>
                  <a:tcPr marL="20927" marR="20927" marT="10464" marB="10464" anchor="ctr"/>
                </a:tc>
                <a:tc>
                  <a:txBody>
                    <a:bodyPr/>
                    <a:lstStyle/>
                    <a:p>
                      <a:pPr algn="r" rtl="1">
                        <a:buNone/>
                      </a:pPr>
                      <a:r>
                        <a:rPr lang="ar-AE" sz="1200" dirty="0"/>
                        <a:t>عدم </a:t>
                      </a:r>
                      <a:r>
                        <a:rPr lang="ar-SA" sz="1200" dirty="0"/>
                        <a:t>توثيق</a:t>
                      </a:r>
                      <a:r>
                        <a:rPr lang="ar-AE" sz="1200" dirty="0"/>
                        <a:t> خطط التعافي من الكوارث</a:t>
                      </a:r>
                      <a:r>
                        <a:rPr lang="ar-SA" sz="1200"/>
                        <a:t> ل</a:t>
                      </a:r>
                      <a:r>
                        <a:rPr lang="ar-AE" sz="1200"/>
                        <a:t>خزائن </a:t>
                      </a:r>
                      <a:r>
                        <a:rPr lang="ar-SA" sz="1200" dirty="0"/>
                        <a:t>البيانات </a:t>
                      </a:r>
                      <a:r>
                        <a:rPr lang="ar-AE" sz="1200" dirty="0"/>
                        <a:t>الحيوية</a:t>
                      </a:r>
                      <a:endParaRPr lang="ar-AE" sz="1200" dirty="0">
                        <a:latin typeface="+mn-lt"/>
                      </a:endParaRPr>
                    </a:p>
                  </a:txBody>
                  <a:tcPr marL="20927" marR="20927" marT="10464" marB="10464" anchor="ctr"/>
                </a:tc>
                <a:tc>
                  <a:txBody>
                    <a:bodyPr/>
                    <a:lstStyle/>
                    <a:p>
                      <a:pPr algn="ctr" rtl="1" fontAlgn="ctr"/>
                      <a:r>
                        <a:rPr lang="ar-AE" sz="1200" b="0" i="0" u="none" strike="noStrike">
                          <a:solidFill>
                            <a:srgbClr val="000000"/>
                          </a:solidFill>
                          <a:effectLst/>
                          <a:latin typeface="Aptos Narrow" panose="020B0004020202020204" pitchFamily="34" charset="0"/>
                        </a:rPr>
                        <a:t>تخزين البيانات (4)</a:t>
                      </a:r>
                    </a:p>
                  </a:txBody>
                  <a:tcPr marL="9525" marR="9525" marT="9525" marB="0" anchor="ctr"/>
                </a:tc>
                <a:tc>
                  <a:txBody>
                    <a:bodyPr/>
                    <a:lstStyle/>
                    <a:p>
                      <a:pPr algn="r" rtl="1">
                        <a:buNone/>
                      </a:pPr>
                      <a:r>
                        <a:rPr lang="ar-AE" sz="1200" dirty="0"/>
                        <a:t>لا تتوافر </a:t>
                      </a:r>
                      <a:r>
                        <a:rPr lang="ar-SA" sz="1200" dirty="0"/>
                        <a:t>معلومات عن </a:t>
                      </a:r>
                      <a:r>
                        <a:rPr lang="ar-AE" sz="1200" dirty="0"/>
                        <a:t>خطط لضمان استمرارية خزائن </a:t>
                      </a:r>
                      <a:r>
                        <a:rPr lang="ar-SA" sz="1200" dirty="0"/>
                        <a:t>البيانات </a:t>
                      </a:r>
                      <a:r>
                        <a:rPr lang="ar-AE" sz="1200" dirty="0"/>
                        <a:t>الحيوية</a:t>
                      </a:r>
                      <a:endParaRPr lang="ar-AE" sz="1200" dirty="0">
                        <a:latin typeface="+mn-lt"/>
                      </a:endParaRPr>
                    </a:p>
                  </a:txBody>
                  <a:tcPr marL="20927" marR="20927" marT="10464" marB="10464" anchor="ctr"/>
                </a:tc>
                <a:tc>
                  <a:txBody>
                    <a:bodyPr/>
                    <a:lstStyle/>
                    <a:p>
                      <a:pPr algn="r" rtl="1">
                        <a:buNone/>
                      </a:pPr>
                      <a:r>
                        <a:rPr lang="ar-AE" sz="1200" dirty="0"/>
                        <a:t>ارتفاع احتمال انقطاع الخدمات أو فقدان البيانات في حال وقوع كارثة</a:t>
                      </a:r>
                      <a:r>
                        <a:rPr lang="ar-SA" sz="1200" dirty="0"/>
                        <a:t> لعدم وجود توثيق كافي للخطط</a:t>
                      </a:r>
                      <a:endParaRPr lang="ar-AE" sz="1200" dirty="0">
                        <a:latin typeface="+mn-lt"/>
                      </a:endParaRPr>
                    </a:p>
                  </a:txBody>
                  <a:tcPr marL="20927" marR="20927" marT="10464" marB="10464" anchor="ctr"/>
                </a:tc>
                <a:tc>
                  <a:txBody>
                    <a:bodyPr/>
                    <a:lstStyle/>
                    <a:p>
                      <a:pPr algn="r" rtl="1">
                        <a:buNone/>
                      </a:pPr>
                      <a:r>
                        <a:rPr lang="ar-AE" sz="1200" dirty="0"/>
                        <a:t>وضع </a:t>
                      </a:r>
                      <a:r>
                        <a:rPr lang="ar-SA" sz="1200" dirty="0"/>
                        <a:t>توثيق </a:t>
                      </a:r>
                      <a:r>
                        <a:rPr lang="ar-AE" sz="1200" dirty="0"/>
                        <a:t>خطط متكاملة للتعافي من الكوارث </a:t>
                      </a:r>
                      <a:r>
                        <a:rPr lang="ar-SA" sz="1200" dirty="0"/>
                        <a:t> </a:t>
                      </a:r>
                      <a:r>
                        <a:rPr lang="ar-AE" sz="1200" dirty="0"/>
                        <a:t>وتحديد الأولويات </a:t>
                      </a:r>
                      <a:r>
                        <a:rPr lang="en-US" sz="1200" dirty="0"/>
                        <a:t>RTO/RPO، </a:t>
                      </a:r>
                      <a:r>
                        <a:rPr lang="ar-AE" sz="1200" dirty="0"/>
                        <a:t>ما يعزز موثوقية واستمرارية الخدمات</a:t>
                      </a:r>
                      <a:endParaRPr lang="ar-AE" sz="1200" dirty="0">
                        <a:latin typeface="+mn-lt"/>
                      </a:endParaRPr>
                    </a:p>
                  </a:txBody>
                  <a:tcPr marL="20927" marR="20927" marT="10464" marB="10464" anchor="ctr"/>
                </a:tc>
                <a:tc>
                  <a:txBody>
                    <a:bodyPr/>
                    <a:lstStyle/>
                    <a:p>
                      <a:pPr algn="r" rtl="1">
                        <a:buNone/>
                      </a:pPr>
                      <a:r>
                        <a:rPr lang="ar-SA" sz="1200" dirty="0"/>
                        <a:t>توثيق </a:t>
                      </a:r>
                      <a:r>
                        <a:rPr lang="ar-AE" sz="1200" dirty="0"/>
                        <a:t>خطط التعافي لكل خزانة وتحديثها بانتظام</a:t>
                      </a:r>
                      <a:endParaRPr lang="ar-AE" sz="1200" dirty="0">
                        <a:latin typeface="+mn-lt"/>
                      </a:endParaRPr>
                    </a:p>
                  </a:txBody>
                  <a:tcPr marL="20927" marR="20927" marT="10464" marB="10464" anchor="ctr"/>
                </a:tc>
                <a:tc>
                  <a:txBody>
                    <a:bodyPr/>
                    <a:lstStyle/>
                    <a:p>
                      <a:pPr algn="ctr" rtl="1">
                        <a:buNone/>
                      </a:pPr>
                      <a:r>
                        <a:rPr lang="ar-AE" sz="1200"/>
                        <a:t>عالية</a:t>
                      </a:r>
                      <a:endParaRPr lang="ar-AE" sz="1200">
                        <a:latin typeface="+mn-lt"/>
                      </a:endParaRPr>
                    </a:p>
                  </a:txBody>
                  <a:tcPr marL="20927" marR="20927" marT="10464" marB="10464" anchor="ctr"/>
                </a:tc>
                <a:tc>
                  <a:txBody>
                    <a:bodyPr/>
                    <a:lstStyle/>
                    <a:p>
                      <a:pPr algn="ctr" rtl="1">
                        <a:buNone/>
                      </a:pPr>
                      <a:r>
                        <a:rPr lang="ar-AE" sz="1200"/>
                        <a:t>عالية</a:t>
                      </a:r>
                      <a:endParaRPr lang="ar-AE" sz="1200">
                        <a:latin typeface="+mn-lt"/>
                      </a:endParaRPr>
                    </a:p>
                  </a:txBody>
                  <a:tcPr marL="20927" marR="20927" marT="10464" marB="10464" anchor="ctr"/>
                </a:tc>
                <a:tc>
                  <a: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ar-AE" sz="1200" b="0" i="0" u="none" strike="noStrike" kern="1200" cap="none" spc="0" normalizeH="0" baseline="0" noProof="0">
                          <a:ln>
                            <a:noFill/>
                          </a:ln>
                          <a:solidFill>
                            <a:prstClr val="black"/>
                          </a:solidFill>
                          <a:effectLst/>
                          <a:uLnTx/>
                          <a:uFillTx/>
                          <a:latin typeface="Sakkal Majalla"/>
                          <a:ea typeface="+mn-ea"/>
                          <a:cs typeface="Sakkal Majalla"/>
                        </a:rPr>
                        <a:t>وثيقة الوضع الحالي و التوجهات المستقبلية</a:t>
                      </a:r>
                      <a:endParaRPr kumimoji="0" lang="ar-AE" sz="1200" b="0" i="0" u="none" strike="noStrike" kern="1200" cap="none" spc="0" normalizeH="0" baseline="0" noProof="0" dirty="0">
                        <a:ln>
                          <a:noFill/>
                        </a:ln>
                        <a:solidFill>
                          <a:prstClr val="black"/>
                        </a:solidFill>
                        <a:effectLst/>
                        <a:uLnTx/>
                        <a:uFillTx/>
                        <a:latin typeface="Sakkal Majalla"/>
                        <a:ea typeface="+mn-ea"/>
                        <a:cs typeface="Sakkal Majalla"/>
                      </a:endParaRPr>
                    </a:p>
                  </a:txBody>
                  <a:tcPr marL="20927" marR="20927" marT="10464" marB="10464" anchor="ctr"/>
                </a:tc>
                <a:extLst>
                  <a:ext uri="{0D108BD9-81ED-4DB2-BD59-A6C34878D82A}">
                    <a16:rowId xmlns:a16="http://schemas.microsoft.com/office/drawing/2014/main" val="1746732054"/>
                  </a:ext>
                </a:extLst>
              </a:tr>
              <a:tr h="667795">
                <a:tc>
                  <a: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prstClr val="black"/>
                          </a:solidFill>
                          <a:effectLst/>
                          <a:uLnTx/>
                          <a:uFillTx/>
                          <a:latin typeface="Sakkal Majalla"/>
                          <a:ea typeface="+mn-ea"/>
                          <a:cs typeface="Sakkal Majalla"/>
                        </a:rPr>
                        <a:t>GAP-D-04</a:t>
                      </a:r>
                      <a:endParaRPr kumimoji="0" lang="ar-EG" sz="1200" b="1" i="0" u="none" strike="noStrike" kern="1200" cap="none" spc="0" normalizeH="0" baseline="0" noProof="0" dirty="0">
                        <a:ln>
                          <a:noFill/>
                        </a:ln>
                        <a:solidFill>
                          <a:prstClr val="black"/>
                        </a:solidFill>
                        <a:effectLst/>
                        <a:uLnTx/>
                        <a:uFillTx/>
                        <a:latin typeface="Sakkal Majalla"/>
                        <a:ea typeface="+mn-ea"/>
                        <a:cs typeface="Sakkal Majalla"/>
                      </a:endParaRPr>
                    </a:p>
                  </a:txBody>
                  <a:tcPr marL="20927" marR="20927" marT="10464" marB="10464" anchor="ctr"/>
                </a:tc>
                <a:tc>
                  <a:txBody>
                    <a:bodyPr/>
                    <a:lstStyle/>
                    <a:p>
                      <a:pPr algn="r" rtl="1">
                        <a:buNone/>
                      </a:pPr>
                      <a:r>
                        <a:rPr lang="ar-AE" sz="1200"/>
                        <a:t>تناثر قواعد البيانات</a:t>
                      </a:r>
                      <a:endParaRPr lang="ar-AE" sz="1200">
                        <a:latin typeface="+mn-lt"/>
                      </a:endParaRPr>
                    </a:p>
                  </a:txBody>
                  <a:tcPr marL="20927" marR="20927" marT="10464" marB="10464" anchor="ctr"/>
                </a:tc>
                <a:tc>
                  <a:txBody>
                    <a:bodyPr/>
                    <a:lstStyle/>
                    <a:p>
                      <a:pPr algn="ctr" rtl="1" fontAlgn="ctr"/>
                      <a:r>
                        <a:rPr lang="ar-AE" sz="1200" b="0" i="0" u="none" strike="noStrike" dirty="0">
                          <a:solidFill>
                            <a:srgbClr val="000000"/>
                          </a:solidFill>
                          <a:effectLst/>
                          <a:latin typeface="Aptos Narrow" panose="020B0004020202020204" pitchFamily="34" charset="0"/>
                        </a:rPr>
                        <a:t>تكامل البيانات ومشاركتها (7)</a:t>
                      </a:r>
                    </a:p>
                  </a:txBody>
                  <a:tcPr marL="9525" marR="9525" marT="9525" marB="0" anchor="ctr"/>
                </a:tc>
                <a:tc>
                  <a:txBody>
                    <a:bodyPr/>
                    <a:lstStyle/>
                    <a:p>
                      <a:pPr algn="r" rtl="1">
                        <a:buNone/>
                      </a:pPr>
                      <a:r>
                        <a:rPr lang="ar-AE" sz="1200" dirty="0"/>
                        <a:t>تتعدد الأنواع والإصدارات دون استراتيجية فعّالة للدمج والتكامل</a:t>
                      </a:r>
                      <a:endParaRPr lang="ar-AE" sz="1200" dirty="0">
                        <a:latin typeface="+mn-lt"/>
                      </a:endParaRPr>
                    </a:p>
                  </a:txBody>
                  <a:tcPr marL="20927" marR="20927" marT="10464" marB="10464" anchor="ctr"/>
                </a:tc>
                <a:tc>
                  <a:txBody>
                    <a:bodyPr/>
                    <a:lstStyle/>
                    <a:p>
                      <a:pPr algn="r" rtl="1">
                        <a:buNone/>
                      </a:pPr>
                      <a:r>
                        <a:rPr lang="ar-AE" sz="1200" dirty="0"/>
                        <a:t>صعوبة ربط المعلومات وتناقلها، وزيادة التكلفة التشغيلية والصيانة</a:t>
                      </a:r>
                      <a:endParaRPr lang="ar-AE" sz="1200" dirty="0">
                        <a:latin typeface="+mn-lt"/>
                      </a:endParaRPr>
                    </a:p>
                  </a:txBody>
                  <a:tcPr marL="20927" marR="20927" marT="10464" marB="10464" anchor="ctr"/>
                </a:tc>
                <a:tc>
                  <a:txBody>
                    <a:bodyPr/>
                    <a:lstStyle/>
                    <a:p>
                      <a:pPr algn="r" rtl="1">
                        <a:buNone/>
                      </a:pPr>
                      <a:r>
                        <a:rPr lang="ar-AE" sz="1200" dirty="0"/>
                        <a:t>تجميع وترشيد القواعد المكررة في مستودع بيانات مركزي، وتحسين التكامل عبر حلول </a:t>
                      </a:r>
                      <a:r>
                        <a:rPr lang="en-US" sz="1200" dirty="0"/>
                        <a:t>ETL/ELT</a:t>
                      </a:r>
                      <a:endParaRPr lang="en-US" sz="1200" dirty="0">
                        <a:latin typeface="+mn-lt"/>
                      </a:endParaRPr>
                    </a:p>
                  </a:txBody>
                  <a:tcPr marL="20927" marR="20927" marT="10464" marB="10464" anchor="ctr"/>
                </a:tc>
                <a:tc>
                  <a:txBody>
                    <a:bodyPr/>
                    <a:lstStyle/>
                    <a:p>
                      <a:pPr algn="r" rtl="1">
                        <a:buNone/>
                      </a:pPr>
                      <a:r>
                        <a:rPr lang="ar-AE" sz="1200"/>
                        <a:t>تقليل تنوع الإصدارات واعتماد بنية تخزين موحدة</a:t>
                      </a:r>
                      <a:endParaRPr lang="ar-AE" sz="1200">
                        <a:latin typeface="+mn-lt"/>
                      </a:endParaRPr>
                    </a:p>
                  </a:txBody>
                  <a:tcPr marL="20927" marR="20927" marT="10464" marB="10464" anchor="ctr"/>
                </a:tc>
                <a:tc>
                  <a:txBody>
                    <a:bodyPr/>
                    <a:lstStyle/>
                    <a:p>
                      <a:pPr algn="ctr" rtl="1">
                        <a:buNone/>
                      </a:pPr>
                      <a:r>
                        <a:rPr lang="ar-AE" sz="1200"/>
                        <a:t>متوسطة</a:t>
                      </a:r>
                      <a:endParaRPr lang="ar-AE" sz="1200">
                        <a:latin typeface="+mn-lt"/>
                      </a:endParaRPr>
                    </a:p>
                  </a:txBody>
                  <a:tcPr marL="20927" marR="20927" marT="10464" marB="10464" anchor="ctr"/>
                </a:tc>
                <a:tc>
                  <a:txBody>
                    <a:bodyPr/>
                    <a:lstStyle/>
                    <a:p>
                      <a:pPr algn="ctr" rtl="1">
                        <a:buNone/>
                      </a:pPr>
                      <a:r>
                        <a:rPr lang="ar-AE" sz="1200"/>
                        <a:t>عالية</a:t>
                      </a:r>
                      <a:endParaRPr lang="ar-AE" sz="1200">
                        <a:latin typeface="+mn-lt"/>
                      </a:endParaRPr>
                    </a:p>
                  </a:txBody>
                  <a:tcPr marL="20927" marR="20927" marT="10464" marB="10464" anchor="ctr"/>
                </a:tc>
                <a:tc>
                  <a: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ar-AE" sz="1200" b="0" i="0" u="none" strike="noStrike" kern="1200" cap="none" spc="0" normalizeH="0" baseline="0" noProof="0">
                          <a:ln>
                            <a:noFill/>
                          </a:ln>
                          <a:solidFill>
                            <a:prstClr val="black"/>
                          </a:solidFill>
                          <a:effectLst/>
                          <a:uLnTx/>
                          <a:uFillTx/>
                          <a:latin typeface="Sakkal Majalla"/>
                          <a:ea typeface="+mn-ea"/>
                          <a:cs typeface="Sakkal Majalla"/>
                        </a:rPr>
                        <a:t>وثيقة الوضع الحالي و التوجهات المستقبلية</a:t>
                      </a:r>
                      <a:endParaRPr kumimoji="0" lang="ar-AE" sz="1200" b="0" i="0" u="none" strike="noStrike" kern="1200" cap="none" spc="0" normalizeH="0" baseline="0" noProof="0" dirty="0">
                        <a:ln>
                          <a:noFill/>
                        </a:ln>
                        <a:solidFill>
                          <a:prstClr val="black"/>
                        </a:solidFill>
                        <a:effectLst/>
                        <a:uLnTx/>
                        <a:uFillTx/>
                        <a:latin typeface="Sakkal Majalla"/>
                        <a:ea typeface="+mn-ea"/>
                        <a:cs typeface="Sakkal Majalla"/>
                      </a:endParaRPr>
                    </a:p>
                  </a:txBody>
                  <a:tcPr marL="20927" marR="20927" marT="10464" marB="10464" anchor="ctr"/>
                </a:tc>
                <a:extLst>
                  <a:ext uri="{0D108BD9-81ED-4DB2-BD59-A6C34878D82A}">
                    <a16:rowId xmlns:a16="http://schemas.microsoft.com/office/drawing/2014/main" val="1187917283"/>
                  </a:ext>
                </a:extLst>
              </a:tr>
              <a:tr h="883345">
                <a:tc>
                  <a: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prstClr val="black"/>
                          </a:solidFill>
                          <a:effectLst/>
                          <a:uLnTx/>
                          <a:uFillTx/>
                          <a:latin typeface="Sakkal Majalla"/>
                          <a:ea typeface="+mn-ea"/>
                          <a:cs typeface="Sakkal Majalla"/>
                        </a:rPr>
                        <a:t>GAP-D-05</a:t>
                      </a:r>
                      <a:endParaRPr kumimoji="0" lang="ar-EG" sz="1200" b="1" i="0" u="none" strike="noStrike" kern="1200" cap="none" spc="0" normalizeH="0" baseline="0" noProof="0" dirty="0">
                        <a:ln>
                          <a:noFill/>
                        </a:ln>
                        <a:solidFill>
                          <a:prstClr val="black"/>
                        </a:solidFill>
                        <a:effectLst/>
                        <a:uLnTx/>
                        <a:uFillTx/>
                        <a:latin typeface="Sakkal Majalla"/>
                        <a:ea typeface="+mn-ea"/>
                        <a:cs typeface="Sakkal Majalla"/>
                      </a:endParaRPr>
                    </a:p>
                  </a:txBody>
                  <a:tcPr marL="20927" marR="20927" marT="10464" marB="10464" anchor="ctr"/>
                </a:tc>
                <a:tc>
                  <a:txBody>
                    <a:bodyPr/>
                    <a:lstStyle/>
                    <a:p>
                      <a:pPr algn="r" rtl="1"/>
                      <a:r>
                        <a:rPr lang="ar-SA" sz="1200" dirty="0"/>
                        <a:t>توفر منصة دمج بيانات جزئية لا تغطي كافة كيانات البيانات</a:t>
                      </a:r>
                    </a:p>
                  </a:txBody>
                  <a:tcPr marL="20927" marR="20927" marT="10464" marB="10464" anchor="ctr"/>
                </a:tc>
                <a:tc>
                  <a:txBody>
                    <a:bodyPr/>
                    <a:lstStyle/>
                    <a:p>
                      <a:pPr algn="ctr" rtl="1" fontAlgn="ctr"/>
                      <a:r>
                        <a:rPr lang="ar-AE" sz="1200" b="0" i="0" u="none" strike="noStrike" dirty="0">
                          <a:solidFill>
                            <a:srgbClr val="000000"/>
                          </a:solidFill>
                          <a:effectLst/>
                          <a:latin typeface="Aptos Narrow" panose="020B0004020202020204" pitchFamily="34" charset="0"/>
                        </a:rPr>
                        <a:t>تكامل البيانات ومشاركتها (7)</a:t>
                      </a:r>
                    </a:p>
                  </a:txBody>
                  <a:tcPr marL="9525" marR="9525" marT="9525" marB="0" anchor="ctr"/>
                </a:tc>
                <a:tc>
                  <a:txBody>
                    <a:bodyPr/>
                    <a:lstStyle/>
                    <a:p>
                      <a:pPr algn="r" rtl="1"/>
                      <a:r>
                        <a:rPr lang="ar-SA" sz="1200" dirty="0"/>
                        <a:t>تمتلك الهيئة منصة لدمج البيانات، لكنها لا تشمل جميع كيانات البيانات الرئيسة</a:t>
                      </a:r>
                    </a:p>
                  </a:txBody>
                  <a:tcPr marL="20927" marR="20927" marT="10464" marB="10464" anchor="ctr"/>
                </a:tc>
                <a:tc>
                  <a:txBody>
                    <a:bodyPr/>
                    <a:lstStyle/>
                    <a:p>
                      <a:pPr algn="r" rtl="1">
                        <a:buNone/>
                      </a:pPr>
                      <a:r>
                        <a:rPr lang="ar-AE" sz="1200" dirty="0"/>
                        <a:t>ضعف في توحيد البيانات وتكاملها، وصعوبة في الحصول على رؤية شاملة وموحدة، </a:t>
                      </a:r>
                      <a:endParaRPr lang="ar-AE" sz="1200" dirty="0">
                        <a:latin typeface="+mn-lt"/>
                      </a:endParaRPr>
                    </a:p>
                  </a:txBody>
                  <a:tcPr marL="20927" marR="20927" marT="10464" marB="10464" anchor="ctr"/>
                </a:tc>
                <a:tc>
                  <a:txBody>
                    <a:bodyPr/>
                    <a:lstStyle/>
                    <a:p>
                      <a:pPr algn="r" rtl="1"/>
                      <a:r>
                        <a:rPr lang="ar-SA" sz="1200" dirty="0"/>
                        <a:t>تحقيق تكامل شامل يغطي كافة كيانات البيانات، ما يعزز من دقة التحليلات وسرعة الوصول للمعلومة، ويدعم اتخاذ القرار بجودة أعلى.</a:t>
                      </a:r>
                    </a:p>
                  </a:txBody>
                  <a:tcPr marL="20927" marR="20927" marT="10464" marB="10464" anchor="ctr"/>
                </a:tc>
                <a:tc>
                  <a:txBody>
                    <a:bodyPr/>
                    <a:lstStyle/>
                    <a:p>
                      <a:pPr algn="r" rtl="1"/>
                      <a:r>
                        <a:rPr lang="ar-SA" sz="1200" dirty="0"/>
                        <a:t>توسعة منصة دمج البيانات لتشمل كافة كيانات البيانات الرئيسية</a:t>
                      </a:r>
                    </a:p>
                  </a:txBody>
                  <a:tcPr marL="20927" marR="20927" marT="10464" marB="10464" anchor="ctr"/>
                </a:tc>
                <a:tc>
                  <a:txBody>
                    <a:bodyPr/>
                    <a:lstStyle/>
                    <a:p>
                      <a:pPr algn="ctr" rtl="1">
                        <a:buNone/>
                      </a:pPr>
                      <a:r>
                        <a:rPr lang="ar-AE" sz="1200"/>
                        <a:t>عالية</a:t>
                      </a:r>
                      <a:endParaRPr lang="ar-AE" sz="1200">
                        <a:latin typeface="+mn-lt"/>
                      </a:endParaRPr>
                    </a:p>
                  </a:txBody>
                  <a:tcPr marL="20927" marR="20927" marT="10464" marB="10464" anchor="ctr"/>
                </a:tc>
                <a:tc>
                  <a:txBody>
                    <a:bodyPr/>
                    <a:lstStyle/>
                    <a:p>
                      <a:pPr algn="ctr" rtl="1">
                        <a:buNone/>
                      </a:pPr>
                      <a:r>
                        <a:rPr lang="ar-AE" sz="1200"/>
                        <a:t>متوسطة</a:t>
                      </a:r>
                      <a:endParaRPr lang="ar-AE" sz="1200">
                        <a:latin typeface="+mn-lt"/>
                      </a:endParaRPr>
                    </a:p>
                  </a:txBody>
                  <a:tcPr marL="20927" marR="20927" marT="10464" marB="10464" anchor="ctr"/>
                </a:tc>
                <a:tc>
                  <a: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ar-AE" sz="1200" b="0" i="0" u="none" strike="noStrike" kern="1200" cap="none" spc="0" normalizeH="0" baseline="0" noProof="0">
                          <a:ln>
                            <a:noFill/>
                          </a:ln>
                          <a:solidFill>
                            <a:prstClr val="black"/>
                          </a:solidFill>
                          <a:effectLst/>
                          <a:uLnTx/>
                          <a:uFillTx/>
                          <a:latin typeface="Sakkal Majalla"/>
                          <a:ea typeface="+mn-ea"/>
                          <a:cs typeface="Sakkal Majalla"/>
                        </a:rPr>
                        <a:t>وثيقة الوضع الحالي و التوجهات المستقبلية</a:t>
                      </a:r>
                      <a:endParaRPr kumimoji="0" lang="ar-AE" sz="1200" b="0" i="0" u="none" strike="noStrike" kern="1200" cap="none" spc="0" normalizeH="0" baseline="0" noProof="0" dirty="0">
                        <a:ln>
                          <a:noFill/>
                        </a:ln>
                        <a:solidFill>
                          <a:prstClr val="black"/>
                        </a:solidFill>
                        <a:effectLst/>
                        <a:uLnTx/>
                        <a:uFillTx/>
                        <a:latin typeface="Sakkal Majalla"/>
                        <a:ea typeface="+mn-ea"/>
                        <a:cs typeface="Sakkal Majalla"/>
                      </a:endParaRPr>
                    </a:p>
                  </a:txBody>
                  <a:tcPr marL="20927" marR="20927" marT="10464" marB="10464" anchor="ctr"/>
                </a:tc>
                <a:extLst>
                  <a:ext uri="{0D108BD9-81ED-4DB2-BD59-A6C34878D82A}">
                    <a16:rowId xmlns:a16="http://schemas.microsoft.com/office/drawing/2014/main" val="2343610073"/>
                  </a:ext>
                </a:extLst>
              </a:tr>
              <a:tr h="883345">
                <a:tc>
                  <a: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prstClr val="black"/>
                          </a:solidFill>
                          <a:effectLst/>
                          <a:uLnTx/>
                          <a:uFillTx/>
                          <a:latin typeface="Sakkal Majalla"/>
                          <a:ea typeface="+mn-ea"/>
                          <a:cs typeface="Sakkal Majalla"/>
                        </a:rPr>
                        <a:t>GAP-D-06</a:t>
                      </a:r>
                      <a:endParaRPr kumimoji="0" lang="ar-EG" sz="1200" b="1" i="0" u="none" strike="noStrike" kern="1200" cap="none" spc="0" normalizeH="0" baseline="0" noProof="0" dirty="0">
                        <a:ln>
                          <a:noFill/>
                        </a:ln>
                        <a:solidFill>
                          <a:prstClr val="black"/>
                        </a:solidFill>
                        <a:effectLst/>
                        <a:uLnTx/>
                        <a:uFillTx/>
                        <a:latin typeface="Sakkal Majalla"/>
                        <a:ea typeface="+mn-ea"/>
                        <a:cs typeface="Sakkal Majalla"/>
                      </a:endParaRPr>
                    </a:p>
                  </a:txBody>
                  <a:tcPr marL="20927" marR="20927" marT="10464" marB="10464" anchor="ctr"/>
                </a:tc>
                <a:tc>
                  <a:txBody>
                    <a:bodyPr/>
                    <a:lstStyle/>
                    <a:p>
                      <a:pPr algn="r" rtl="1"/>
                      <a:r>
                        <a:rPr lang="ar-SA" sz="1200" dirty="0"/>
                        <a:t>وجود معايير جودة بيانات مفعلة جزئيًا دون تطبيق شامل على جميع كيانات البيانات</a:t>
                      </a:r>
                    </a:p>
                  </a:txBody>
                  <a:tcPr marL="20927" marR="20927" marT="10464" marB="10464" anchor="ctr"/>
                </a:tc>
                <a:tc>
                  <a:txBody>
                    <a:bodyPr/>
                    <a:lstStyle/>
                    <a:p>
                      <a:pPr algn="ctr" rtl="1" fontAlgn="ctr"/>
                      <a:r>
                        <a:rPr lang="ar-AE" sz="1200" b="0" i="0" u="none" strike="noStrike" dirty="0">
                          <a:solidFill>
                            <a:srgbClr val="000000"/>
                          </a:solidFill>
                          <a:effectLst/>
                          <a:latin typeface="Aptos Narrow" panose="020B0004020202020204" pitchFamily="34" charset="0"/>
                        </a:rPr>
                        <a:t>جودة البيانات (3)</a:t>
                      </a:r>
                    </a:p>
                  </a:txBody>
                  <a:tcPr marL="9525" marR="9525" marT="9525" marB="0" anchor="ctr"/>
                </a:tc>
                <a:tc>
                  <a:txBody>
                    <a:bodyPr/>
                    <a:lstStyle/>
                    <a:p>
                      <a:pPr algn="r" rtl="1"/>
                      <a:r>
                        <a:rPr lang="ar-SA" sz="1200" dirty="0"/>
                        <a:t>تتوفر بعض معايير جودة البيانات، إلا أن تفعيلها محدود في نطاق جزئي من الكيانات أو الأنظمة، مما يؤدي إلى تباين في جودة البيانات وصعوبة ضمان موثوقيتها.</a:t>
                      </a:r>
                    </a:p>
                  </a:txBody>
                  <a:tcPr marL="20927" marR="20927" marT="10464" marB="10464" anchor="ctr"/>
                </a:tc>
                <a:tc>
                  <a:txBody>
                    <a:bodyPr/>
                    <a:lstStyle/>
                    <a:p>
                      <a:pPr algn="r" rtl="1">
                        <a:buNone/>
                      </a:pPr>
                      <a:r>
                        <a:rPr lang="ar-AE" sz="1200" dirty="0"/>
                        <a:t>اختلاف مستويات الجودة بين مصادر البيانات، ضعف الثقة في البيانات المستخدمة</a:t>
                      </a:r>
                    </a:p>
                  </a:txBody>
                  <a:tcPr marL="20927" marR="20927" marT="10464" marB="10464" anchor="ctr"/>
                </a:tc>
                <a:tc>
                  <a:txBody>
                    <a:bodyPr/>
                    <a:lstStyle/>
                    <a:p>
                      <a:pPr algn="r" rtl="1">
                        <a:buNone/>
                      </a:pPr>
                      <a:r>
                        <a:rPr lang="ar-AE" sz="1200" dirty="0"/>
                        <a:t>تحقيق توحيد شامل لمعايير جودة البيانات على مستوى </a:t>
                      </a:r>
                      <a:r>
                        <a:rPr lang="ar-SA" sz="1200" dirty="0"/>
                        <a:t>الهيئة</a:t>
                      </a:r>
                      <a:r>
                        <a:rPr lang="ar-AE" sz="1200" dirty="0"/>
                        <a:t>، ما يعزز موثوقية البيانات ويُسهم في تحسين الكفاءة التحليلية ودقة القرارات.</a:t>
                      </a:r>
                    </a:p>
                  </a:txBody>
                  <a:tcPr marL="20927" marR="20927" marT="10464" marB="10464" anchor="ctr"/>
                </a:tc>
                <a:tc>
                  <a:txBody>
                    <a:bodyPr/>
                    <a:lstStyle/>
                    <a:p>
                      <a:pPr algn="r" rtl="1"/>
                      <a:r>
                        <a:rPr lang="ar-SA" sz="1200" dirty="0"/>
                        <a:t>تفعيل شامل لمعايير جودة البيانات على كافة كيانات البيانات، مع وضع آليات متابعة وتقييم مستمر.</a:t>
                      </a:r>
                    </a:p>
                  </a:txBody>
                  <a:tcPr marL="20927" marR="20927" marT="10464" marB="10464" anchor="ctr"/>
                </a:tc>
                <a:tc>
                  <a:txBody>
                    <a:bodyPr/>
                    <a:lstStyle/>
                    <a:p>
                      <a:pPr algn="ctr" rtl="1">
                        <a:buNone/>
                      </a:pPr>
                      <a:r>
                        <a:rPr lang="ar-AE" sz="1200" dirty="0"/>
                        <a:t>متوسطة</a:t>
                      </a:r>
                      <a:endParaRPr lang="ar-AE" sz="1200" dirty="0">
                        <a:latin typeface="+mn-lt"/>
                      </a:endParaRPr>
                    </a:p>
                  </a:txBody>
                  <a:tcPr marL="20927" marR="20927" marT="10464" marB="10464" anchor="ctr"/>
                </a:tc>
                <a:tc>
                  <a:txBody>
                    <a:bodyPr/>
                    <a:lstStyle/>
                    <a:p>
                      <a:pPr algn="ctr" rtl="1">
                        <a:buNone/>
                      </a:pPr>
                      <a:r>
                        <a:rPr lang="ar-AE" sz="1200" dirty="0"/>
                        <a:t>عالية</a:t>
                      </a:r>
                      <a:endParaRPr lang="ar-AE" sz="1200" dirty="0">
                        <a:latin typeface="+mn-lt"/>
                      </a:endParaRPr>
                    </a:p>
                  </a:txBody>
                  <a:tcPr marL="20927" marR="20927" marT="10464" marB="10464" anchor="ctr"/>
                </a:tc>
                <a:tc>
                  <a: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ar-AE" sz="1200" b="0" i="0" u="none" strike="noStrike" kern="1200" cap="none" spc="0" normalizeH="0" baseline="0" noProof="0" dirty="0">
                          <a:ln>
                            <a:noFill/>
                          </a:ln>
                          <a:solidFill>
                            <a:prstClr val="black"/>
                          </a:solidFill>
                          <a:effectLst/>
                          <a:uLnTx/>
                          <a:uFillTx/>
                          <a:latin typeface="Sakkal Majalla"/>
                          <a:ea typeface="+mn-ea"/>
                          <a:cs typeface="Sakkal Majalla"/>
                        </a:rPr>
                        <a:t>وثيقة الوضع الحالي و التوجهات المستقبلية</a:t>
                      </a:r>
                    </a:p>
                  </a:txBody>
                  <a:tcPr marL="20927" marR="20927" marT="10464" marB="10464" anchor="ctr"/>
                </a:tc>
                <a:extLst>
                  <a:ext uri="{0D108BD9-81ED-4DB2-BD59-A6C34878D82A}">
                    <a16:rowId xmlns:a16="http://schemas.microsoft.com/office/drawing/2014/main" val="2194282011"/>
                  </a:ext>
                </a:extLst>
              </a:tr>
            </a:tbl>
          </a:graphicData>
        </a:graphic>
      </p:graphicFrame>
    </p:spTree>
    <p:extLst>
      <p:ext uri="{BB962C8B-B14F-4D97-AF65-F5344CB8AC3E}">
        <p14:creationId xmlns:p14="http://schemas.microsoft.com/office/powerpoint/2010/main" val="310963482"/>
      </p:ext>
    </p:extLst>
  </p:cSld>
  <p:clrMapOvr>
    <a:masterClrMapping/>
  </p:clrMapOvr>
  <mc:AlternateContent xmlns:mc="http://schemas.openxmlformats.org/markup-compatibility/2006" xmlns:p14="http://schemas.microsoft.com/office/powerpoint/2010/main">
    <mc:Choice Requires="p14">
      <p:transition spd="slow" p14:dur="1300">
        <p14:pan dir="r"/>
      </p:transition>
    </mc:Choice>
    <mc:Fallback xmlns="">
      <p:transition spd="slow">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F2B4E8-E77C-FFBA-D0DE-6E41F24FAFB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AD1175B-1296-C350-0E6D-2B68BE3E6EED}"/>
              </a:ext>
            </a:extLst>
          </p:cNvPr>
          <p:cNvSpPr>
            <a:spLocks noGrp="1"/>
          </p:cNvSpPr>
          <p:nvPr>
            <p:ph type="title"/>
          </p:nvPr>
        </p:nvSpPr>
        <p:spPr/>
        <p:txBody>
          <a:bodyPr/>
          <a:lstStyle/>
          <a:p>
            <a:r>
              <a:rPr lang="ar-SA" noProof="0" dirty="0"/>
              <a:t>ملخص تحليل الفجوات لبنية البيانات</a:t>
            </a:r>
            <a:endParaRPr lang="en-AE" dirty="0"/>
          </a:p>
        </p:txBody>
      </p:sp>
      <p:sp>
        <p:nvSpPr>
          <p:cNvPr id="3" name="Slide Number Placeholder 2">
            <a:extLst>
              <a:ext uri="{FF2B5EF4-FFF2-40B4-BE49-F238E27FC236}">
                <a16:creationId xmlns:a16="http://schemas.microsoft.com/office/drawing/2014/main" id="{090B3158-1BFF-C7A5-DD27-F0EE2F196736}"/>
              </a:ext>
            </a:extLst>
          </p:cNvPr>
          <p:cNvSpPr>
            <a:spLocks noGrp="1"/>
          </p:cNvSpPr>
          <p:nvPr>
            <p:ph type="sldNum" sz="quarter" idx="12"/>
          </p:nvPr>
        </p:nvSpPr>
        <p:spPr/>
        <p:txBody>
          <a:bodyPr/>
          <a:lstStyle/>
          <a:p>
            <a:fld id="{0BE4EC83-A869-464E-AE9F-881796FB085E}" type="slidenum">
              <a:rPr lang="en-US" smtClean="0"/>
              <a:t>33</a:t>
            </a:fld>
            <a:endParaRPr lang="en-US"/>
          </a:p>
        </p:txBody>
      </p:sp>
      <p:graphicFrame>
        <p:nvGraphicFramePr>
          <p:cNvPr id="4" name="Table 3">
            <a:extLst>
              <a:ext uri="{FF2B5EF4-FFF2-40B4-BE49-F238E27FC236}">
                <a16:creationId xmlns:a16="http://schemas.microsoft.com/office/drawing/2014/main" id="{A07A0E2C-8BC1-2035-5C90-4610A9E84272}"/>
              </a:ext>
            </a:extLst>
          </p:cNvPr>
          <p:cNvGraphicFramePr>
            <a:graphicFrameLocks noGrp="1"/>
          </p:cNvGraphicFramePr>
          <p:nvPr/>
        </p:nvGraphicFramePr>
        <p:xfrm>
          <a:off x="609600" y="1139190"/>
          <a:ext cx="11025377" cy="4912333"/>
        </p:xfrm>
        <a:graphic>
          <a:graphicData uri="http://schemas.openxmlformats.org/drawingml/2006/table">
            <a:tbl>
              <a:tblPr rtl="1" firstRow="1" bandRow="1">
                <a:tableStyleId>{B301B821-A1FF-4177-AEE7-76D212191A09}</a:tableStyleId>
              </a:tblPr>
              <a:tblGrid>
                <a:gridCol w="759987">
                  <a:extLst>
                    <a:ext uri="{9D8B030D-6E8A-4147-A177-3AD203B41FA5}">
                      <a16:colId xmlns:a16="http://schemas.microsoft.com/office/drawing/2014/main" val="1848166869"/>
                    </a:ext>
                  </a:extLst>
                </a:gridCol>
                <a:gridCol w="919900">
                  <a:extLst>
                    <a:ext uri="{9D8B030D-6E8A-4147-A177-3AD203B41FA5}">
                      <a16:colId xmlns:a16="http://schemas.microsoft.com/office/drawing/2014/main" val="3183077499"/>
                    </a:ext>
                  </a:extLst>
                </a:gridCol>
                <a:gridCol w="1767785">
                  <a:extLst>
                    <a:ext uri="{9D8B030D-6E8A-4147-A177-3AD203B41FA5}">
                      <a16:colId xmlns:a16="http://schemas.microsoft.com/office/drawing/2014/main" val="4234434377"/>
                    </a:ext>
                  </a:extLst>
                </a:gridCol>
                <a:gridCol w="1767785">
                  <a:extLst>
                    <a:ext uri="{9D8B030D-6E8A-4147-A177-3AD203B41FA5}">
                      <a16:colId xmlns:a16="http://schemas.microsoft.com/office/drawing/2014/main" val="2407940828"/>
                    </a:ext>
                  </a:extLst>
                </a:gridCol>
                <a:gridCol w="1201312">
                  <a:extLst>
                    <a:ext uri="{9D8B030D-6E8A-4147-A177-3AD203B41FA5}">
                      <a16:colId xmlns:a16="http://schemas.microsoft.com/office/drawing/2014/main" val="2266366844"/>
                    </a:ext>
                  </a:extLst>
                </a:gridCol>
                <a:gridCol w="1718951">
                  <a:extLst>
                    <a:ext uri="{9D8B030D-6E8A-4147-A177-3AD203B41FA5}">
                      <a16:colId xmlns:a16="http://schemas.microsoft.com/office/drawing/2014/main" val="170401669"/>
                    </a:ext>
                  </a:extLst>
                </a:gridCol>
                <a:gridCol w="1132945">
                  <a:extLst>
                    <a:ext uri="{9D8B030D-6E8A-4147-A177-3AD203B41FA5}">
                      <a16:colId xmlns:a16="http://schemas.microsoft.com/office/drawing/2014/main" val="4110629147"/>
                    </a:ext>
                  </a:extLst>
                </a:gridCol>
                <a:gridCol w="586006">
                  <a:extLst>
                    <a:ext uri="{9D8B030D-6E8A-4147-A177-3AD203B41FA5}">
                      <a16:colId xmlns:a16="http://schemas.microsoft.com/office/drawing/2014/main" val="2090639194"/>
                    </a:ext>
                  </a:extLst>
                </a:gridCol>
                <a:gridCol w="507872">
                  <a:extLst>
                    <a:ext uri="{9D8B030D-6E8A-4147-A177-3AD203B41FA5}">
                      <a16:colId xmlns:a16="http://schemas.microsoft.com/office/drawing/2014/main" val="1489210985"/>
                    </a:ext>
                  </a:extLst>
                </a:gridCol>
                <a:gridCol w="662834">
                  <a:extLst>
                    <a:ext uri="{9D8B030D-6E8A-4147-A177-3AD203B41FA5}">
                      <a16:colId xmlns:a16="http://schemas.microsoft.com/office/drawing/2014/main" val="602859565"/>
                    </a:ext>
                  </a:extLst>
                </a:gridCol>
              </a:tblGrid>
              <a:tr h="228755">
                <a:tc>
                  <a:txBody>
                    <a:bodyPr/>
                    <a:lstStyle/>
                    <a:p>
                      <a:pPr marL="0" algn="ctr" defTabSz="914400" rtl="0" eaLnBrk="1" latinLnBrk="0" hangingPunct="1">
                        <a:buNone/>
                      </a:pPr>
                      <a:r>
                        <a:rPr lang="en-US" sz="1400" dirty="0">
                          <a:latin typeface="+mn-lt"/>
                        </a:rPr>
                        <a:t>Code</a:t>
                      </a:r>
                      <a:endParaRPr lang="ar-AE" sz="1400" dirty="0">
                        <a:latin typeface="+mn-lt"/>
                      </a:endParaRPr>
                    </a:p>
                  </a:txBody>
                  <a:tcPr marL="20927" marR="20927" marT="10464" marB="10464" anchor="ctr"/>
                </a:tc>
                <a:tc>
                  <a:txBody>
                    <a:bodyPr/>
                    <a:lstStyle/>
                    <a:p>
                      <a:pPr algn="ctr" rtl="1">
                        <a:buNone/>
                      </a:pPr>
                      <a:r>
                        <a:rPr lang="ar-AE" sz="1400" b="1" dirty="0"/>
                        <a:t>الفجوة</a:t>
                      </a:r>
                      <a:endParaRPr lang="ar-AE" sz="1400" dirty="0">
                        <a:latin typeface="+mn-lt"/>
                      </a:endParaRPr>
                    </a:p>
                  </a:txBody>
                  <a:tcPr marL="20927" marR="20927" marT="10464" marB="10464" anchor="ctr"/>
                </a:tc>
                <a:tc>
                  <a:txBody>
                    <a:bodyPr/>
                    <a:lstStyle/>
                    <a:p>
                      <a:pPr algn="ctr" rtl="1">
                        <a:buNone/>
                      </a:pPr>
                      <a:r>
                        <a:rPr lang="ar-SA" sz="1400" dirty="0">
                          <a:latin typeface="+mn-lt"/>
                        </a:rPr>
                        <a:t>التصنيف</a:t>
                      </a:r>
                      <a:endParaRPr lang="ar-AE" sz="1400" dirty="0">
                        <a:latin typeface="+mn-lt"/>
                      </a:endParaRPr>
                    </a:p>
                  </a:txBody>
                  <a:tcPr marL="20927" marR="20927" marT="10464" marB="10464" anchor="ctr"/>
                </a:tc>
                <a:tc>
                  <a:txBody>
                    <a:bodyPr/>
                    <a:lstStyle/>
                    <a:p>
                      <a:pPr algn="ctr" rtl="1">
                        <a:buNone/>
                      </a:pPr>
                      <a:r>
                        <a:rPr lang="ar-AE" sz="1400" b="1" dirty="0"/>
                        <a:t>الوصف</a:t>
                      </a:r>
                      <a:endParaRPr lang="ar-AE" sz="1400" dirty="0">
                        <a:latin typeface="+mn-lt"/>
                      </a:endParaRPr>
                    </a:p>
                  </a:txBody>
                  <a:tcPr marL="20927" marR="20927" marT="10464" marB="10464" anchor="ctr"/>
                </a:tc>
                <a:tc>
                  <a:txBody>
                    <a:bodyPr/>
                    <a:lstStyle/>
                    <a:p>
                      <a:pPr algn="ctr" rtl="1">
                        <a:buNone/>
                      </a:pPr>
                      <a:r>
                        <a:rPr lang="ar-AE" sz="1400" b="1" dirty="0"/>
                        <a:t>الأثر الحالي</a:t>
                      </a:r>
                      <a:endParaRPr lang="ar-AE" sz="1400" dirty="0">
                        <a:latin typeface="+mn-lt"/>
                      </a:endParaRPr>
                    </a:p>
                  </a:txBody>
                  <a:tcPr marL="20927" marR="20927" marT="10464" marB="10464" anchor="ctr"/>
                </a:tc>
                <a:tc>
                  <a:txBody>
                    <a:bodyPr/>
                    <a:lstStyle/>
                    <a:p>
                      <a:pPr algn="ctr" rtl="1">
                        <a:buNone/>
                      </a:pPr>
                      <a:r>
                        <a:rPr lang="ar-AE" sz="1400" b="1" dirty="0"/>
                        <a:t>الأثر بعد الردم (المعالجة)</a:t>
                      </a:r>
                      <a:endParaRPr lang="ar-AE" sz="1400" dirty="0">
                        <a:latin typeface="+mn-lt"/>
                      </a:endParaRPr>
                    </a:p>
                  </a:txBody>
                  <a:tcPr marL="20927" marR="20927" marT="10464" marB="10464" anchor="ctr"/>
                </a:tc>
                <a:tc>
                  <a:txBody>
                    <a:bodyPr/>
                    <a:lstStyle/>
                    <a:p>
                      <a:pPr algn="ctr" rtl="1">
                        <a:buNone/>
                      </a:pPr>
                      <a:r>
                        <a:rPr lang="ar-AE" sz="1400" b="1" dirty="0"/>
                        <a:t>تغطية الفجوة</a:t>
                      </a:r>
                      <a:endParaRPr lang="ar-AE" sz="1400" dirty="0">
                        <a:latin typeface="+mn-lt"/>
                      </a:endParaRPr>
                    </a:p>
                  </a:txBody>
                  <a:tcPr marL="20927" marR="20927" marT="10464" marB="10464" anchor="ctr"/>
                </a:tc>
                <a:tc>
                  <a:txBody>
                    <a:bodyPr/>
                    <a:lstStyle/>
                    <a:p>
                      <a:pPr algn="ctr" rtl="1">
                        <a:buNone/>
                      </a:pPr>
                      <a:r>
                        <a:rPr lang="ar-AE" sz="1400" b="1" dirty="0"/>
                        <a:t>الأولوية</a:t>
                      </a:r>
                      <a:endParaRPr lang="ar-AE" sz="1400" dirty="0">
                        <a:latin typeface="+mn-lt"/>
                      </a:endParaRPr>
                    </a:p>
                  </a:txBody>
                  <a:tcPr marL="20927" marR="20927" marT="10464" marB="10464" anchor="ctr"/>
                </a:tc>
                <a:tc>
                  <a:txBody>
                    <a:bodyPr/>
                    <a:lstStyle/>
                    <a:p>
                      <a:pPr algn="ctr" rtl="1">
                        <a:buNone/>
                      </a:pPr>
                      <a:r>
                        <a:rPr lang="ar-AE" sz="1400" b="1" dirty="0"/>
                        <a:t>الأهمية</a:t>
                      </a:r>
                      <a:endParaRPr lang="ar-AE" sz="1400" dirty="0">
                        <a:latin typeface="+mn-lt"/>
                      </a:endParaRPr>
                    </a:p>
                  </a:txBody>
                  <a:tcPr marL="20927" marR="20927" marT="10464" marB="10464" anchor="ctr"/>
                </a:tc>
                <a:tc>
                  <a:txBody>
                    <a:bodyPr/>
                    <a:lstStyle/>
                    <a:p>
                      <a:pPr algn="ctr" rtl="1">
                        <a:buNone/>
                      </a:pPr>
                      <a:r>
                        <a:rPr lang="ar-AE" sz="1400" b="1" dirty="0"/>
                        <a:t>المصدر</a:t>
                      </a:r>
                      <a:endParaRPr lang="ar-AE" sz="1400" dirty="0">
                        <a:latin typeface="+mn-lt"/>
                      </a:endParaRPr>
                    </a:p>
                  </a:txBody>
                  <a:tcPr marL="20927" marR="20927" marT="10464" marB="10464" anchor="ctr"/>
                </a:tc>
                <a:extLst>
                  <a:ext uri="{0D108BD9-81ED-4DB2-BD59-A6C34878D82A}">
                    <a16:rowId xmlns:a16="http://schemas.microsoft.com/office/drawing/2014/main" val="4029457185"/>
                  </a:ext>
                </a:extLst>
              </a:tr>
              <a:tr h="853719">
                <a:tc>
                  <a: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prstClr val="black"/>
                          </a:solidFill>
                          <a:effectLst/>
                          <a:uLnTx/>
                          <a:uFillTx/>
                          <a:latin typeface="Sakkal Majalla"/>
                          <a:ea typeface="+mn-ea"/>
                          <a:cs typeface="Sakkal Majalla"/>
                        </a:rPr>
                        <a:t>GAP-D-07</a:t>
                      </a:r>
                      <a:endParaRPr kumimoji="0" lang="ar-EG" sz="1200" b="1" i="0" u="none" strike="noStrike" kern="1200" cap="none" spc="0" normalizeH="0" baseline="0" noProof="0" dirty="0">
                        <a:ln>
                          <a:noFill/>
                        </a:ln>
                        <a:solidFill>
                          <a:prstClr val="black"/>
                        </a:solidFill>
                        <a:effectLst/>
                        <a:uLnTx/>
                        <a:uFillTx/>
                        <a:latin typeface="Sakkal Majalla"/>
                        <a:ea typeface="+mn-ea"/>
                        <a:cs typeface="Sakkal Majalla"/>
                      </a:endParaRPr>
                    </a:p>
                  </a:txBody>
                  <a:tcPr marL="20927" marR="20927" marT="10464" marB="10464" anchor="ctr"/>
                </a:tc>
                <a:tc>
                  <a:txBody>
                    <a:bodyPr/>
                    <a:lstStyle/>
                    <a:p>
                      <a:pPr algn="r" rtl="1">
                        <a:buNone/>
                      </a:pPr>
                      <a:r>
                        <a:rPr lang="ar-AE" sz="1200" dirty="0"/>
                        <a:t>توفر قدرات تحليلية متقدمة غير مفعلة على مستوى الهيئة</a:t>
                      </a:r>
                      <a:endParaRPr lang="ar-AE" sz="1200" dirty="0">
                        <a:latin typeface="+mn-lt"/>
                      </a:endParaRPr>
                    </a:p>
                  </a:txBody>
                  <a:tcPr marL="20927" marR="20927" marT="10464" marB="10464" anchor="ctr"/>
                </a:tc>
                <a:tc>
                  <a:txBody>
                    <a:bodyPr/>
                    <a:lstStyle/>
                    <a:p>
                      <a:pPr algn="ctr" rtl="1" fontAlgn="ctr"/>
                      <a:r>
                        <a:rPr lang="ar-AE" sz="1200" b="0" i="0" u="none" strike="noStrike">
                          <a:solidFill>
                            <a:srgbClr val="000000"/>
                          </a:solidFill>
                          <a:effectLst/>
                          <a:latin typeface="Aptos Narrow" panose="020B0004020202020204" pitchFamily="34" charset="0"/>
                        </a:rPr>
                        <a:t>ذكاء الأعمال والتحليلات (9)</a:t>
                      </a:r>
                    </a:p>
                  </a:txBody>
                  <a:tcPr marL="9525" marR="9525" marT="9525" marB="0" anchor="ctr"/>
                </a:tc>
                <a:tc>
                  <a:txBody>
                    <a:bodyPr/>
                    <a:lstStyle/>
                    <a:p>
                      <a:pPr algn="r" rtl="1">
                        <a:buNone/>
                      </a:pPr>
                      <a:r>
                        <a:rPr lang="ar-AE" sz="1200" dirty="0"/>
                        <a:t>تمتلك الهيئة أدوات أو تقنيات تدعم التحليلات المتقدمة مثل الذكاء الاصطناعي وتعلم الآلة، لكنها غير مفعلة أو غير مستغلة بشكل شامل على مستوى الوحدات التنظيمية</a:t>
                      </a:r>
                      <a:endParaRPr lang="ar-AE" sz="1200" dirty="0">
                        <a:latin typeface="+mn-lt"/>
                      </a:endParaRPr>
                    </a:p>
                  </a:txBody>
                  <a:tcPr marL="20927" marR="20927" marT="10464" marB="10464" anchor="ctr"/>
                </a:tc>
                <a:tc>
                  <a:txBody>
                    <a:bodyPr/>
                    <a:lstStyle/>
                    <a:p>
                      <a:pPr algn="r" rtl="1">
                        <a:buNone/>
                      </a:pPr>
                      <a:r>
                        <a:rPr lang="ar-AE" sz="1200" dirty="0"/>
                        <a:t>ضعف في التنبؤ واتخاذ القرار الاستباقي، وعدم الاستفادة الكاملة من البيانات المتاحة في تحسين الأداء وتطوير الخدمات.</a:t>
                      </a:r>
                    </a:p>
                  </a:txBody>
                  <a:tcPr marL="20927" marR="20927" marT="10464" marB="10464" anchor="ctr"/>
                </a:tc>
                <a:tc>
                  <a:txBody>
                    <a:bodyPr/>
                    <a:lstStyle/>
                    <a:p>
                      <a:pPr algn="r" rtl="1">
                        <a:buNone/>
                      </a:pPr>
                      <a:r>
                        <a:rPr lang="ar-AE" sz="1200" dirty="0"/>
                        <a:t>تفعيل شامل للتحليلات المتقدمة يعزز قدرة الهيئة على اتخاذ قرارات مبنية على نماذج تنبؤية وتحليلات عميقة، ويرفع من كفاءة وجودة العمليات والخدمات.</a:t>
                      </a:r>
                    </a:p>
                  </a:txBody>
                  <a:tcPr marL="20927" marR="20927" marT="10464" marB="10464" anchor="ctr"/>
                </a:tc>
                <a:tc>
                  <a:txBody>
                    <a:bodyPr/>
                    <a:lstStyle/>
                    <a:p>
                      <a:pPr algn="r" rtl="1">
                        <a:buNone/>
                      </a:pPr>
                      <a:r>
                        <a:rPr lang="ar-AE" sz="1200" dirty="0"/>
                        <a:t>تفعيل الأدوات التحليلية المتقدمة وتوسيع استخدامها عبر الوحدات المختلفة، وربطها بمنصات البيانات.</a:t>
                      </a:r>
                    </a:p>
                  </a:txBody>
                  <a:tcPr marL="20927" marR="20927" marT="10464" marB="10464" anchor="ctr"/>
                </a:tc>
                <a:tc>
                  <a:txBody>
                    <a:bodyPr/>
                    <a:lstStyle/>
                    <a:p>
                      <a:pPr algn="ctr" rtl="1">
                        <a:buNone/>
                      </a:pPr>
                      <a:r>
                        <a:rPr lang="ar-AE" sz="1200"/>
                        <a:t>متوسطة</a:t>
                      </a:r>
                      <a:endParaRPr lang="ar-AE" sz="1200">
                        <a:latin typeface="+mn-lt"/>
                      </a:endParaRPr>
                    </a:p>
                  </a:txBody>
                  <a:tcPr marL="20927" marR="20927" marT="10464" marB="10464" anchor="ctr"/>
                </a:tc>
                <a:tc>
                  <a:txBody>
                    <a:bodyPr/>
                    <a:lstStyle/>
                    <a:p>
                      <a:pPr algn="ctr" rtl="1">
                        <a:buNone/>
                      </a:pPr>
                      <a:r>
                        <a:rPr lang="ar-AE" sz="1200" dirty="0"/>
                        <a:t>متوسطة</a:t>
                      </a:r>
                      <a:endParaRPr lang="ar-AE" sz="1200" dirty="0">
                        <a:latin typeface="+mn-lt"/>
                      </a:endParaRPr>
                    </a:p>
                  </a:txBody>
                  <a:tcPr marL="20927" marR="20927" marT="10464" marB="10464" anchor="ctr"/>
                </a:tc>
                <a:tc>
                  <a:txBody>
                    <a:bodyPr/>
                    <a:lstStyle/>
                    <a:p>
                      <a:pPr algn="ctr" rtl="1">
                        <a:buNone/>
                      </a:pPr>
                      <a:r>
                        <a:rPr lang="ar-AE" sz="1200" dirty="0"/>
                        <a:t>وثيقة الوضع الحالي و التوجهات المستقبلية</a:t>
                      </a:r>
                      <a:endParaRPr lang="ar-AE" sz="1200" dirty="0">
                        <a:latin typeface="+mn-lt"/>
                      </a:endParaRPr>
                    </a:p>
                  </a:txBody>
                  <a:tcPr marL="20927" marR="20927" marT="10464" marB="10464" anchor="ctr"/>
                </a:tc>
                <a:extLst>
                  <a:ext uri="{0D108BD9-81ED-4DB2-BD59-A6C34878D82A}">
                    <a16:rowId xmlns:a16="http://schemas.microsoft.com/office/drawing/2014/main" val="3386048539"/>
                  </a:ext>
                </a:extLst>
              </a:tr>
              <a:tr h="853719">
                <a:tc>
                  <a: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prstClr val="black"/>
                          </a:solidFill>
                          <a:effectLst/>
                          <a:uLnTx/>
                          <a:uFillTx/>
                          <a:latin typeface="Sakkal Majalla"/>
                          <a:ea typeface="+mn-ea"/>
                          <a:cs typeface="Sakkal Majalla"/>
                        </a:rPr>
                        <a:t>GAP-D-08</a:t>
                      </a:r>
                      <a:endParaRPr kumimoji="0" lang="ar-EG" sz="1200" b="1" i="0" u="none" strike="noStrike" kern="1200" cap="none" spc="0" normalizeH="0" baseline="0" noProof="0" dirty="0">
                        <a:ln>
                          <a:noFill/>
                        </a:ln>
                        <a:solidFill>
                          <a:prstClr val="black"/>
                        </a:solidFill>
                        <a:effectLst/>
                        <a:uLnTx/>
                        <a:uFillTx/>
                        <a:latin typeface="Sakkal Majalla"/>
                        <a:ea typeface="+mn-ea"/>
                        <a:cs typeface="Sakkal Majalla"/>
                      </a:endParaRPr>
                    </a:p>
                  </a:txBody>
                  <a:tcPr marL="20927" marR="20927" marT="10464" marB="10464" anchor="ctr"/>
                </a:tc>
                <a:tc>
                  <a:txBody>
                    <a:bodyPr/>
                    <a:lstStyle/>
                    <a:p>
                      <a:pPr algn="r" rtl="1">
                        <a:buNone/>
                      </a:pPr>
                      <a:r>
                        <a:rPr lang="ar-AE" sz="1200" dirty="0"/>
                        <a:t>ضعف توثيق البيانات المفتوحة</a:t>
                      </a:r>
                      <a:endParaRPr lang="ar-AE" sz="1200" dirty="0">
                        <a:latin typeface="+mn-lt"/>
                      </a:endParaRPr>
                    </a:p>
                  </a:txBody>
                  <a:tcPr marL="20927" marR="20927" marT="10464" marB="10464" anchor="ctr"/>
                </a:tc>
                <a:tc>
                  <a:txBody>
                    <a:bodyPr/>
                    <a:lstStyle/>
                    <a:p>
                      <a:pPr algn="ctr" rtl="1" fontAlgn="ctr"/>
                      <a:r>
                        <a:rPr lang="ar-AE" sz="1200" b="0" i="0" u="none" strike="noStrike">
                          <a:solidFill>
                            <a:srgbClr val="000000"/>
                          </a:solidFill>
                          <a:effectLst/>
                          <a:latin typeface="Aptos Narrow" panose="020B0004020202020204" pitchFamily="34" charset="0"/>
                        </a:rPr>
                        <a:t>البيانات المفتوحة (11)</a:t>
                      </a:r>
                    </a:p>
                  </a:txBody>
                  <a:tcPr marL="9525" marR="9525" marT="9525" marB="0" anchor="ctr"/>
                </a:tc>
                <a:tc>
                  <a:txBody>
                    <a:bodyPr/>
                    <a:lstStyle/>
                    <a:p>
                      <a:pPr algn="r" rtl="1">
                        <a:buNone/>
                      </a:pPr>
                      <a:r>
                        <a:rPr lang="ar-AE" sz="1200" dirty="0"/>
                        <a:t>لا توجد عملية منظمة لنشر البيانات المفتوحة وتحديثها بانتظام</a:t>
                      </a:r>
                      <a:endParaRPr lang="ar-AE" sz="1200" dirty="0">
                        <a:latin typeface="+mn-lt"/>
                      </a:endParaRPr>
                    </a:p>
                  </a:txBody>
                  <a:tcPr marL="20927" marR="20927" marT="10464" marB="10464" anchor="ctr"/>
                </a:tc>
                <a:tc>
                  <a:txBody>
                    <a:bodyPr/>
                    <a:lstStyle/>
                    <a:p>
                      <a:pPr algn="r" rtl="1">
                        <a:buNone/>
                      </a:pPr>
                      <a:r>
                        <a:rPr lang="ar-AE" sz="1200"/>
                        <a:t>قلة الشفافية وفقدان فرص الاستفادة من البيانات في تحسين الخدمات أو دعم الأبحاث</a:t>
                      </a:r>
                      <a:endParaRPr lang="ar-AE" sz="1200">
                        <a:latin typeface="+mn-lt"/>
                      </a:endParaRPr>
                    </a:p>
                  </a:txBody>
                  <a:tcPr marL="20927" marR="20927" marT="10464" marB="10464" anchor="ctr"/>
                </a:tc>
                <a:tc>
                  <a:txBody>
                    <a:bodyPr/>
                    <a:lstStyle/>
                    <a:p>
                      <a:pPr algn="r" rtl="1">
                        <a:buNone/>
                      </a:pPr>
                      <a:r>
                        <a:rPr lang="ar-AE" sz="1200"/>
                        <a:t>إنشاء سياسة واضحة ومحدثة لنشر البيانات المفتوحة، بما يتوافق مع لوائح الخصوصية والأمن واحتياجات المستفيد</a:t>
                      </a:r>
                      <a:endParaRPr lang="ar-AE" sz="1200">
                        <a:latin typeface="+mn-lt"/>
                      </a:endParaRPr>
                    </a:p>
                  </a:txBody>
                  <a:tcPr marL="20927" marR="20927" marT="10464" marB="10464" anchor="ctr"/>
                </a:tc>
                <a:tc>
                  <a:txBody>
                    <a:bodyPr/>
                    <a:lstStyle/>
                    <a:p>
                      <a:pPr algn="r" rtl="1">
                        <a:buNone/>
                      </a:pPr>
                      <a:r>
                        <a:rPr lang="ar-AE" sz="1200"/>
                        <a:t>إطلاق بوابة بيانات مفتوحة وتحديثها وفق جدول زمني ثابت</a:t>
                      </a:r>
                      <a:endParaRPr lang="ar-AE" sz="1200">
                        <a:latin typeface="+mn-lt"/>
                      </a:endParaRPr>
                    </a:p>
                  </a:txBody>
                  <a:tcPr marL="20927" marR="20927" marT="10464" marB="10464" anchor="ctr"/>
                </a:tc>
                <a:tc>
                  <a:txBody>
                    <a:bodyPr/>
                    <a:lstStyle/>
                    <a:p>
                      <a:pPr algn="ctr" rtl="1">
                        <a:buNone/>
                      </a:pPr>
                      <a:r>
                        <a:rPr lang="ar-AE" sz="1200"/>
                        <a:t>متوسطة</a:t>
                      </a:r>
                      <a:endParaRPr lang="ar-AE" sz="1200">
                        <a:latin typeface="+mn-lt"/>
                      </a:endParaRPr>
                    </a:p>
                  </a:txBody>
                  <a:tcPr marL="20927" marR="20927" marT="10464" marB="10464" anchor="ctr"/>
                </a:tc>
                <a:tc>
                  <a:txBody>
                    <a:bodyPr/>
                    <a:lstStyle/>
                    <a:p>
                      <a:pPr algn="ctr" rtl="1">
                        <a:buNone/>
                      </a:pPr>
                      <a:r>
                        <a:rPr lang="ar-AE" sz="1200" dirty="0"/>
                        <a:t>متوسطة</a:t>
                      </a:r>
                      <a:endParaRPr lang="ar-AE" sz="1200" dirty="0">
                        <a:latin typeface="+mn-lt"/>
                      </a:endParaRPr>
                    </a:p>
                  </a:txBody>
                  <a:tcPr marL="20927" marR="20927" marT="10464" marB="10464" anchor="ctr"/>
                </a:tc>
                <a:tc>
                  <a: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ar-AE" sz="1200" b="0" i="0" u="none" strike="noStrike" kern="1200" cap="none" spc="0" normalizeH="0" baseline="0" noProof="0">
                          <a:ln>
                            <a:noFill/>
                          </a:ln>
                          <a:solidFill>
                            <a:prstClr val="black"/>
                          </a:solidFill>
                          <a:effectLst/>
                          <a:uLnTx/>
                          <a:uFillTx/>
                          <a:latin typeface="Sakkal Majalla"/>
                          <a:ea typeface="+mn-ea"/>
                          <a:cs typeface="Sakkal Majalla"/>
                        </a:rPr>
                        <a:t>وثيقة الوضع الحالي و التوجهات المستقبلية</a:t>
                      </a:r>
                      <a:endParaRPr kumimoji="0" lang="ar-AE" sz="1200" b="0" i="0" u="none" strike="noStrike" kern="1200" cap="none" spc="0" normalizeH="0" baseline="0" noProof="0" dirty="0">
                        <a:ln>
                          <a:noFill/>
                        </a:ln>
                        <a:solidFill>
                          <a:prstClr val="black"/>
                        </a:solidFill>
                        <a:effectLst/>
                        <a:uLnTx/>
                        <a:uFillTx/>
                        <a:latin typeface="Sakkal Majalla"/>
                        <a:ea typeface="+mn-ea"/>
                        <a:cs typeface="Sakkal Majalla"/>
                      </a:endParaRPr>
                    </a:p>
                  </a:txBody>
                  <a:tcPr marL="20927" marR="20927" marT="10464" marB="10464" anchor="ctr"/>
                </a:tc>
                <a:extLst>
                  <a:ext uri="{0D108BD9-81ED-4DB2-BD59-A6C34878D82A}">
                    <a16:rowId xmlns:a16="http://schemas.microsoft.com/office/drawing/2014/main" val="3067900995"/>
                  </a:ext>
                </a:extLst>
              </a:tr>
              <a:tr h="853719">
                <a:tc>
                  <a: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prstClr val="black"/>
                          </a:solidFill>
                          <a:effectLst/>
                          <a:uLnTx/>
                          <a:uFillTx/>
                          <a:latin typeface="Sakkal Majalla"/>
                          <a:ea typeface="+mn-ea"/>
                          <a:cs typeface="Sakkal Majalla"/>
                        </a:rPr>
                        <a:t>GAP-D-09</a:t>
                      </a:r>
                      <a:endParaRPr kumimoji="0" lang="ar-EG" sz="1200" b="1" i="0" u="none" strike="noStrike" kern="1200" cap="none" spc="0" normalizeH="0" baseline="0" noProof="0" dirty="0">
                        <a:ln>
                          <a:noFill/>
                        </a:ln>
                        <a:solidFill>
                          <a:prstClr val="black"/>
                        </a:solidFill>
                        <a:effectLst/>
                        <a:uLnTx/>
                        <a:uFillTx/>
                        <a:latin typeface="Sakkal Majalla"/>
                        <a:ea typeface="+mn-ea"/>
                        <a:cs typeface="Sakkal Majalla"/>
                      </a:endParaRPr>
                    </a:p>
                  </a:txBody>
                  <a:tcPr marL="20927" marR="20927" marT="10464" marB="10464" anchor="ctr"/>
                </a:tc>
                <a:tc>
                  <a:txBody>
                    <a:bodyPr/>
                    <a:lstStyle/>
                    <a:p>
                      <a:pPr algn="r" rtl="1">
                        <a:buNone/>
                      </a:pPr>
                      <a:r>
                        <a:rPr lang="ar-AE" sz="1200" dirty="0"/>
                        <a:t>استمرار</a:t>
                      </a:r>
                      <a:r>
                        <a:rPr lang="ar-SA" sz="1200" dirty="0"/>
                        <a:t> بعض</a:t>
                      </a:r>
                      <a:r>
                        <a:rPr lang="ar-AE" sz="1200" dirty="0"/>
                        <a:t> التعاملات الورقية</a:t>
                      </a:r>
                      <a:endParaRPr lang="ar-AE" sz="1200" dirty="0">
                        <a:latin typeface="+mn-lt"/>
                      </a:endParaRPr>
                    </a:p>
                  </a:txBody>
                  <a:tcPr marL="20927" marR="20927" marT="10464" marB="10464" anchor="ctr"/>
                </a:tc>
                <a:tc>
                  <a:txBody>
                    <a:bodyPr/>
                    <a:lstStyle/>
                    <a:p>
                      <a:pPr algn="ctr" rtl="1" fontAlgn="ctr"/>
                      <a:r>
                        <a:rPr lang="ar-AE" sz="1200" b="0" i="0" u="none" strike="noStrike">
                          <a:solidFill>
                            <a:srgbClr val="000000"/>
                          </a:solidFill>
                          <a:effectLst/>
                          <a:latin typeface="Aptos Narrow" panose="020B0004020202020204" pitchFamily="34" charset="0"/>
                        </a:rPr>
                        <a:t>إدارة المحتوى والوثائق (5)</a:t>
                      </a:r>
                    </a:p>
                  </a:txBody>
                  <a:tcPr marL="9525" marR="9525" marT="9525" marB="0" anchor="ctr"/>
                </a:tc>
                <a:tc>
                  <a:txBody>
                    <a:bodyPr/>
                    <a:lstStyle/>
                    <a:p>
                      <a:pPr algn="r" rtl="1">
                        <a:buNone/>
                      </a:pPr>
                      <a:r>
                        <a:rPr lang="ar-AE" sz="1200" dirty="0"/>
                        <a:t>الاعتماد على بعض النماذج الورقية في إدخال ومعالجة البيانات</a:t>
                      </a:r>
                      <a:endParaRPr lang="ar-AE" sz="1200" dirty="0">
                        <a:latin typeface="+mn-lt"/>
                      </a:endParaRPr>
                    </a:p>
                  </a:txBody>
                  <a:tcPr marL="20927" marR="20927" marT="10464" marB="10464" anchor="ctr"/>
                </a:tc>
                <a:tc>
                  <a:txBody>
                    <a:bodyPr/>
                    <a:lstStyle/>
                    <a:p>
                      <a:pPr algn="r" rtl="1">
                        <a:buNone/>
                      </a:pPr>
                      <a:r>
                        <a:rPr lang="ar-AE" sz="1200" dirty="0"/>
                        <a:t>بطء سير العمليات وزيادة احتمالات الخطأ البشري وهدر الوقت</a:t>
                      </a:r>
                      <a:endParaRPr lang="ar-AE" sz="1200" dirty="0">
                        <a:latin typeface="+mn-lt"/>
                      </a:endParaRPr>
                    </a:p>
                  </a:txBody>
                  <a:tcPr marL="20927" marR="20927" marT="10464" marB="10464" anchor="ctr"/>
                </a:tc>
                <a:tc>
                  <a:txBody>
                    <a:bodyPr/>
                    <a:lstStyle/>
                    <a:p>
                      <a:pPr algn="r" rtl="1">
                        <a:buNone/>
                      </a:pPr>
                      <a:r>
                        <a:rPr lang="ar-AE" sz="1200" dirty="0"/>
                        <a:t>أتمتة العمليات والاعتماد على النماذج الرقمية وقواعد البيانات المشتركة</a:t>
                      </a:r>
                      <a:endParaRPr lang="ar-AE" sz="1200" dirty="0">
                        <a:latin typeface="+mn-lt"/>
                      </a:endParaRPr>
                    </a:p>
                  </a:txBody>
                  <a:tcPr marL="20927" marR="20927" marT="10464" marB="10464" anchor="ctr"/>
                </a:tc>
                <a:tc>
                  <a:txBody>
                    <a:bodyPr/>
                    <a:lstStyle/>
                    <a:p>
                      <a:pPr algn="r" rtl="1">
                        <a:buNone/>
                      </a:pPr>
                      <a:r>
                        <a:rPr lang="ar-AE" sz="1200" dirty="0"/>
                        <a:t>تحويل النماذج الورقية إلى إلكترونية وإجراء فحوصات دورية لقياس كفاءة التحول</a:t>
                      </a:r>
                      <a:endParaRPr lang="ar-AE" sz="1200" dirty="0">
                        <a:latin typeface="+mn-lt"/>
                      </a:endParaRPr>
                    </a:p>
                  </a:txBody>
                  <a:tcPr marL="20927" marR="20927" marT="10464" marB="10464" anchor="ctr"/>
                </a:tc>
                <a:tc>
                  <a:txBody>
                    <a:bodyPr/>
                    <a:lstStyle/>
                    <a:p>
                      <a:pPr algn="ctr" rtl="1">
                        <a:buNone/>
                      </a:pPr>
                      <a:r>
                        <a:rPr lang="ar-AE" sz="1200" dirty="0"/>
                        <a:t>متوسطة</a:t>
                      </a:r>
                      <a:endParaRPr lang="ar-AE" sz="1200" dirty="0">
                        <a:latin typeface="+mn-lt"/>
                      </a:endParaRPr>
                    </a:p>
                  </a:txBody>
                  <a:tcPr marL="20927" marR="20927" marT="10464" marB="10464" anchor="ctr"/>
                </a:tc>
                <a:tc>
                  <a:txBody>
                    <a:bodyPr/>
                    <a:lstStyle/>
                    <a:p>
                      <a:pPr algn="ctr" rtl="1">
                        <a:buNone/>
                      </a:pPr>
                      <a:r>
                        <a:rPr lang="ar-AE" sz="1200" dirty="0"/>
                        <a:t>متوسطة</a:t>
                      </a:r>
                      <a:endParaRPr lang="ar-AE" sz="1200" dirty="0">
                        <a:latin typeface="+mn-lt"/>
                      </a:endParaRPr>
                    </a:p>
                  </a:txBody>
                  <a:tcPr marL="20927" marR="20927" marT="10464" marB="10464" anchor="ctr"/>
                </a:tc>
                <a:tc>
                  <a: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ar-AE" sz="1200" b="0" i="0" u="none" strike="noStrike" kern="1200" cap="none" spc="0" normalizeH="0" baseline="0" noProof="0">
                          <a:ln>
                            <a:noFill/>
                          </a:ln>
                          <a:solidFill>
                            <a:prstClr val="black"/>
                          </a:solidFill>
                          <a:effectLst/>
                          <a:uLnTx/>
                          <a:uFillTx/>
                          <a:latin typeface="Sakkal Majalla"/>
                          <a:ea typeface="+mn-ea"/>
                          <a:cs typeface="Sakkal Majalla"/>
                        </a:rPr>
                        <a:t>وثيقة الوضع الحالي و التوجهات المستقبلية</a:t>
                      </a:r>
                      <a:endParaRPr kumimoji="0" lang="ar-AE" sz="1200" b="0" i="0" u="none" strike="noStrike" kern="1200" cap="none" spc="0" normalizeH="0" baseline="0" noProof="0" dirty="0">
                        <a:ln>
                          <a:noFill/>
                        </a:ln>
                        <a:solidFill>
                          <a:prstClr val="black"/>
                        </a:solidFill>
                        <a:effectLst/>
                        <a:uLnTx/>
                        <a:uFillTx/>
                        <a:latin typeface="Sakkal Majalla"/>
                        <a:ea typeface="+mn-ea"/>
                        <a:cs typeface="Sakkal Majalla"/>
                      </a:endParaRPr>
                    </a:p>
                  </a:txBody>
                  <a:tcPr marL="20927" marR="20927" marT="10464" marB="10464" anchor="ctr"/>
                </a:tc>
                <a:extLst>
                  <a:ext uri="{0D108BD9-81ED-4DB2-BD59-A6C34878D82A}">
                    <a16:rowId xmlns:a16="http://schemas.microsoft.com/office/drawing/2014/main" val="4205275932"/>
                  </a:ext>
                </a:extLst>
              </a:tr>
              <a:tr h="853719">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prstClr val="black"/>
                          </a:solidFill>
                          <a:effectLst/>
                          <a:uLnTx/>
                          <a:uFillTx/>
                          <a:latin typeface="+mn-lt"/>
                          <a:ea typeface="+mn-ea"/>
                          <a:cs typeface="+mn-cs"/>
                        </a:rPr>
                        <a:t>GAP-D-10</a:t>
                      </a:r>
                      <a:endParaRPr kumimoji="0" lang="ar-EG" sz="1200" b="1" i="0" u="none" strike="noStrike" kern="1200" cap="none" spc="0" normalizeH="0" baseline="0" noProof="0" dirty="0">
                        <a:ln>
                          <a:noFill/>
                        </a:ln>
                        <a:solidFill>
                          <a:prstClr val="black"/>
                        </a:solidFill>
                        <a:effectLst/>
                        <a:uLnTx/>
                        <a:uFillTx/>
                        <a:latin typeface="+mn-lt"/>
                        <a:ea typeface="+mn-ea"/>
                        <a:cs typeface="+mn-cs"/>
                      </a:endParaRPr>
                    </a:p>
                    <a:p>
                      <a:pPr marL="0" algn="ctr" defTabSz="914400" rtl="0" eaLnBrk="1" latinLnBrk="0" hangingPunct="1">
                        <a:buNone/>
                      </a:pPr>
                      <a:endParaRPr lang="ar-AE" sz="1200" dirty="0">
                        <a:latin typeface="+mn-lt"/>
                      </a:endParaRPr>
                    </a:p>
                  </a:txBody>
                  <a:tcPr marL="20927" marR="20927" marT="10464" marB="10464" anchor="ctr"/>
                </a:tc>
                <a:tc>
                  <a:txBody>
                    <a:bodyPr/>
                    <a:lstStyle/>
                    <a:p>
                      <a:pPr algn="r" rtl="1">
                        <a:buNone/>
                      </a:pPr>
                      <a:r>
                        <a:rPr lang="ar-AE" sz="1200" dirty="0">
                          <a:latin typeface="+mn-lt"/>
                        </a:rPr>
                        <a:t>عدم وجود نظام موحّد لإدارة </a:t>
                      </a:r>
                      <a:r>
                        <a:rPr lang="ar-SA" sz="1200" dirty="0">
                          <a:latin typeface="+mn-lt"/>
                        </a:rPr>
                        <a:t>البيانات</a:t>
                      </a:r>
                      <a:r>
                        <a:rPr lang="ar-AE" sz="1200" dirty="0">
                          <a:latin typeface="+mn-lt"/>
                        </a:rPr>
                        <a:t> الوصفية </a:t>
                      </a:r>
                      <a:r>
                        <a:rPr lang="en-US" sz="1200" dirty="0">
                          <a:latin typeface="+mn-lt"/>
                        </a:rPr>
                        <a:t>Metadata</a:t>
                      </a:r>
                    </a:p>
                  </a:txBody>
                  <a:tcPr marL="40111" marR="40111" marT="20055" marB="20055" anchor="ctr"/>
                </a:tc>
                <a:tc>
                  <a:txBody>
                    <a:bodyPr/>
                    <a:lstStyle/>
                    <a:p>
                      <a:pPr algn="ctr" rtl="1" fontAlgn="ctr"/>
                      <a:r>
                        <a:rPr lang="ar-AE" sz="1200" b="0" i="0" u="none" strike="noStrike">
                          <a:solidFill>
                            <a:srgbClr val="000000"/>
                          </a:solidFill>
                          <a:effectLst/>
                          <a:latin typeface="Aptos Narrow" panose="020B0004020202020204" pitchFamily="34" charset="0"/>
                        </a:rPr>
                        <a:t>البيانات الوصفية ودليل البيانات (2)</a:t>
                      </a:r>
                    </a:p>
                  </a:txBody>
                  <a:tcPr marL="9525" marR="9525" marT="9525" marB="0" anchor="ctr"/>
                </a:tc>
                <a:tc>
                  <a:txBody>
                    <a:bodyPr/>
                    <a:lstStyle/>
                    <a:p>
                      <a:pPr algn="r" rtl="1">
                        <a:buNone/>
                      </a:pPr>
                      <a:r>
                        <a:rPr lang="ar-AE" sz="1200" dirty="0">
                          <a:latin typeface="+mn-lt"/>
                        </a:rPr>
                        <a:t>لا تتوفر آلية محددة لإدارة البيانات الوصفية </a:t>
                      </a:r>
                      <a:r>
                        <a:rPr lang="en-US" sz="1200" dirty="0">
                          <a:latin typeface="+mn-lt"/>
                        </a:rPr>
                        <a:t>Metadata</a:t>
                      </a:r>
                      <a:r>
                        <a:rPr lang="ar-SA" sz="1200" dirty="0">
                          <a:latin typeface="+mn-lt"/>
                        </a:rPr>
                        <a:t> </a:t>
                      </a:r>
                      <a:r>
                        <a:rPr lang="ar-AE" sz="1200" dirty="0">
                          <a:latin typeface="+mn-lt"/>
                        </a:rPr>
                        <a:t>وتوحيدها بين الأنظمة والتطبيقات</a:t>
                      </a:r>
                    </a:p>
                  </a:txBody>
                  <a:tcPr marL="40111" marR="40111" marT="20055" marB="20055" anchor="ctr"/>
                </a:tc>
                <a:tc>
                  <a:txBody>
                    <a:bodyPr/>
                    <a:lstStyle/>
                    <a:p>
                      <a:pPr algn="r" rtl="1">
                        <a:buNone/>
                      </a:pPr>
                      <a:r>
                        <a:rPr lang="ar-AE" sz="1200" dirty="0">
                          <a:latin typeface="+mn-lt"/>
                        </a:rPr>
                        <a:t>تضارب في تعريفات البيانات وصعوبة تتبّع مصادرها أو تحديثها، ما قد يؤدي إلى تكرار وتناقض في التقارير والمخرجات</a:t>
                      </a:r>
                    </a:p>
                  </a:txBody>
                  <a:tcPr marL="40111" marR="40111" marT="20055" marB="20055" anchor="ctr"/>
                </a:tc>
                <a:tc>
                  <a:txBody>
                    <a:bodyPr/>
                    <a:lstStyle/>
                    <a:p>
                      <a:pPr algn="r" rtl="1">
                        <a:buNone/>
                      </a:pPr>
                      <a:r>
                        <a:rPr lang="ar-AE" sz="1200" dirty="0">
                          <a:latin typeface="+mn-lt"/>
                        </a:rPr>
                        <a:t>تطوير نظام لإدارة البيانات الوصفية وربطه بجميع الأنظمة لتمكين تتبع المصادر وتسهيل تحديث المعلومات</a:t>
                      </a:r>
                    </a:p>
                  </a:txBody>
                  <a:tcPr marL="40111" marR="40111" marT="20055" marB="20055" anchor="ctr"/>
                </a:tc>
                <a:tc>
                  <a:txBody>
                    <a:bodyPr/>
                    <a:lstStyle/>
                    <a:p>
                      <a:pPr algn="r" rtl="1">
                        <a:buNone/>
                      </a:pPr>
                      <a:r>
                        <a:rPr lang="ar-AE" sz="1200" dirty="0">
                          <a:latin typeface="+mn-lt"/>
                        </a:rPr>
                        <a:t>بناء منصة </a:t>
                      </a:r>
                      <a:r>
                        <a:rPr lang="en-US" sz="1200" dirty="0">
                          <a:latin typeface="+mn-lt"/>
                        </a:rPr>
                        <a:t>Meta-Data </a:t>
                      </a:r>
                      <a:r>
                        <a:rPr lang="ar-AE" sz="1200" dirty="0">
                          <a:latin typeface="+mn-lt"/>
                        </a:rPr>
                        <a:t>مركزية واعتماد معايير موحّدة لهيكلة وتوثيق التعريفات الوصفية</a:t>
                      </a:r>
                    </a:p>
                  </a:txBody>
                  <a:tcPr marL="40111" marR="40111" marT="20055" marB="20055" anchor="ctr"/>
                </a:tc>
                <a:tc>
                  <a:txBody>
                    <a:bodyPr/>
                    <a:lstStyle/>
                    <a:p>
                      <a:pPr algn="ctr" rtl="1">
                        <a:buNone/>
                      </a:pPr>
                      <a:r>
                        <a:rPr lang="ar-AE" sz="1200" dirty="0">
                          <a:latin typeface="+mn-lt"/>
                        </a:rPr>
                        <a:t>متوسطة</a:t>
                      </a:r>
                    </a:p>
                  </a:txBody>
                  <a:tcPr marL="40111" marR="40111" marT="20055" marB="20055" anchor="ctr"/>
                </a:tc>
                <a:tc>
                  <a:txBody>
                    <a:bodyPr/>
                    <a:lstStyle/>
                    <a:p>
                      <a:pPr algn="ctr" rtl="1">
                        <a:buNone/>
                      </a:pPr>
                      <a:r>
                        <a:rPr lang="ar-AE" sz="1200" kern="1200" dirty="0">
                          <a:solidFill>
                            <a:schemeClr val="dk1"/>
                          </a:solidFill>
                          <a:latin typeface="+mn-lt"/>
                          <a:ea typeface="+mn-ea"/>
                          <a:cs typeface="+mn-cs"/>
                        </a:rPr>
                        <a:t>متوسطة</a:t>
                      </a:r>
                    </a:p>
                  </a:txBody>
                  <a:tcPr marL="40111" marR="40111" marT="20055" marB="20055" anchor="ctr"/>
                </a:tc>
                <a:tc>
                  <a: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ar-AE" sz="1200" b="0" i="0" u="none" strike="noStrike" kern="1200" cap="none" spc="0" normalizeH="0" baseline="0" noProof="0" dirty="0">
                          <a:ln>
                            <a:noFill/>
                          </a:ln>
                          <a:solidFill>
                            <a:prstClr val="black"/>
                          </a:solidFill>
                          <a:effectLst/>
                          <a:uLnTx/>
                          <a:uFillTx/>
                          <a:latin typeface="Sakkal Majalla"/>
                          <a:ea typeface="+mn-ea"/>
                          <a:cs typeface="Sakkal Majalla"/>
                        </a:rPr>
                        <a:t>وثيقة الوضع الحالي و التوجهات المستقبلية</a:t>
                      </a:r>
                    </a:p>
                  </a:txBody>
                  <a:tcPr marL="40111" marR="40111" marT="20055" marB="20055" anchor="ctr"/>
                </a:tc>
                <a:extLst>
                  <a:ext uri="{0D108BD9-81ED-4DB2-BD59-A6C34878D82A}">
                    <a16:rowId xmlns:a16="http://schemas.microsoft.com/office/drawing/2014/main" val="3512262893"/>
                  </a:ext>
                </a:extLst>
              </a:tr>
              <a:tr h="1080769">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prstClr val="black"/>
                          </a:solidFill>
                          <a:effectLst/>
                          <a:uLnTx/>
                          <a:uFillTx/>
                          <a:latin typeface="+mn-lt"/>
                          <a:ea typeface="+mn-ea"/>
                          <a:cs typeface="+mn-cs"/>
                        </a:rPr>
                        <a:t>GAP-D-11</a:t>
                      </a:r>
                      <a:endParaRPr kumimoji="0" lang="ar-EG" sz="1200" b="1" i="0" u="none" strike="noStrike" kern="1200" cap="none" spc="0" normalizeH="0" baseline="0" noProof="0" dirty="0">
                        <a:ln>
                          <a:noFill/>
                        </a:ln>
                        <a:solidFill>
                          <a:prstClr val="black"/>
                        </a:solidFill>
                        <a:effectLst/>
                        <a:uLnTx/>
                        <a:uFillTx/>
                        <a:latin typeface="+mn-lt"/>
                        <a:ea typeface="+mn-ea"/>
                        <a:cs typeface="+mn-cs"/>
                      </a:endParaRPr>
                    </a:p>
                  </a:txBody>
                  <a:tcPr marL="20927" marR="20927" marT="10464" marB="10464" anchor="ctr"/>
                </a:tc>
                <a:tc>
                  <a:txBody>
                    <a:bodyPr/>
                    <a:lstStyle/>
                    <a:p>
                      <a:pPr algn="r" rtl="1">
                        <a:buNone/>
                      </a:pPr>
                      <a:r>
                        <a:rPr lang="ar-AE" sz="1200" dirty="0">
                          <a:latin typeface="+mn-lt"/>
                        </a:rPr>
                        <a:t>انعدام اتفاقية مستوى الخدمة </a:t>
                      </a:r>
                      <a:r>
                        <a:rPr lang="ar-SA" sz="1200" dirty="0">
                          <a:latin typeface="+mn-lt"/>
                        </a:rPr>
                        <a:t>(</a:t>
                      </a:r>
                      <a:r>
                        <a:rPr lang="en-US" sz="1200" dirty="0">
                          <a:latin typeface="+mn-lt"/>
                        </a:rPr>
                        <a:t>SLA</a:t>
                      </a:r>
                      <a:r>
                        <a:rPr lang="ar-SA" sz="1200" dirty="0">
                          <a:latin typeface="+mn-lt"/>
                        </a:rPr>
                        <a:t>)</a:t>
                      </a:r>
                      <a:r>
                        <a:rPr lang="en-US" sz="1200" dirty="0">
                          <a:latin typeface="+mn-lt"/>
                        </a:rPr>
                        <a:t> </a:t>
                      </a:r>
                      <a:r>
                        <a:rPr lang="ar-AE" sz="1200" dirty="0">
                          <a:latin typeface="+mn-lt"/>
                        </a:rPr>
                        <a:t>لخدمات البيانات</a:t>
                      </a:r>
                    </a:p>
                  </a:txBody>
                  <a:tcPr marL="40111" marR="40111" marT="20055" marB="20055" anchor="ctr"/>
                </a:tc>
                <a:tc>
                  <a:txBody>
                    <a:bodyPr/>
                    <a:lstStyle/>
                    <a:p>
                      <a:pPr algn="ctr" rtl="1" fontAlgn="ctr"/>
                      <a:r>
                        <a:rPr lang="ar-AE" sz="1200" b="0" i="0" u="none" strike="noStrike" dirty="0">
                          <a:solidFill>
                            <a:srgbClr val="000000"/>
                          </a:solidFill>
                          <a:effectLst/>
                          <a:latin typeface="Aptos Narrow" panose="020B0004020202020204" pitchFamily="34" charset="0"/>
                        </a:rPr>
                        <a:t>حوكمة البيانات (1)</a:t>
                      </a:r>
                    </a:p>
                  </a:txBody>
                  <a:tcPr marL="9525" marR="9525" marT="9525" marB="0" anchor="ctr"/>
                </a:tc>
                <a:tc>
                  <a:txBody>
                    <a:bodyPr/>
                    <a:lstStyle/>
                    <a:p>
                      <a:pPr algn="r" rtl="1">
                        <a:buNone/>
                      </a:pPr>
                      <a:r>
                        <a:rPr lang="ar-AE" sz="1200" dirty="0">
                          <a:latin typeface="+mn-lt"/>
                        </a:rPr>
                        <a:t>غياب وثائق تحدد مستوى الخدمة المتوقّع ومدة الاستجابة والصيانة اللازمة</a:t>
                      </a:r>
                    </a:p>
                  </a:txBody>
                  <a:tcPr marL="40111" marR="40111" marT="20055" marB="20055" anchor="ctr"/>
                </a:tc>
                <a:tc>
                  <a:txBody>
                    <a:bodyPr/>
                    <a:lstStyle/>
                    <a:p>
                      <a:pPr algn="r" rtl="1">
                        <a:buNone/>
                      </a:pPr>
                      <a:r>
                        <a:rPr lang="ar-AE" sz="1200" dirty="0">
                          <a:latin typeface="+mn-lt"/>
                        </a:rPr>
                        <a:t>تفاوت في جودة التسليم وصعوبة محاسبة الفرق التقنية عند تدني الأداء أو تأخر الاستجابة</a:t>
                      </a:r>
                    </a:p>
                  </a:txBody>
                  <a:tcPr marL="40111" marR="40111" marT="20055" marB="20055" anchor="ctr"/>
                </a:tc>
                <a:tc>
                  <a:txBody>
                    <a:bodyPr/>
                    <a:lstStyle/>
                    <a:p>
                      <a:pPr algn="r" rtl="1">
                        <a:buNone/>
                      </a:pPr>
                      <a:r>
                        <a:rPr lang="ar-AE" sz="1200" dirty="0">
                          <a:latin typeface="+mn-lt"/>
                        </a:rPr>
                        <a:t>وضع اتفاقية مستوى الخدمة وتحديد متطلبات زمنية وجودة محددة، مما يضمن التزام كافة الجهات بها</a:t>
                      </a:r>
                    </a:p>
                  </a:txBody>
                  <a:tcPr marL="40111" marR="40111" marT="20055" marB="20055" anchor="ctr"/>
                </a:tc>
                <a:tc>
                  <a:txBody>
                    <a:bodyPr/>
                    <a:lstStyle/>
                    <a:p>
                      <a:pPr algn="r" rtl="1">
                        <a:buNone/>
                      </a:pPr>
                      <a:r>
                        <a:rPr lang="ar-AE" sz="1200" dirty="0">
                          <a:latin typeface="+mn-lt"/>
                        </a:rPr>
                        <a:t>توثيق المعايير الزمنية والجودة لخدمات البيانات، ومراقبة الالتزام بتنفيذها</a:t>
                      </a:r>
                    </a:p>
                  </a:txBody>
                  <a:tcPr marL="40111" marR="40111" marT="20055" marB="20055" anchor="ctr"/>
                </a:tc>
                <a:tc>
                  <a:txBody>
                    <a:bodyPr/>
                    <a:lstStyle/>
                    <a:p>
                      <a:pPr algn="ctr" rtl="1">
                        <a:buNone/>
                      </a:pPr>
                      <a:r>
                        <a:rPr lang="ar-AE" sz="1200" dirty="0">
                          <a:latin typeface="+mn-lt"/>
                        </a:rPr>
                        <a:t>عالية</a:t>
                      </a:r>
                    </a:p>
                  </a:txBody>
                  <a:tcPr marL="40111" marR="40111" marT="20055" marB="20055" anchor="ctr"/>
                </a:tc>
                <a:tc>
                  <a:txBody>
                    <a:bodyPr/>
                    <a:lstStyle/>
                    <a:p>
                      <a:pPr algn="ctr" rtl="1">
                        <a:buNone/>
                      </a:pPr>
                      <a:r>
                        <a:rPr lang="ar-AE" sz="1200" dirty="0">
                          <a:latin typeface="+mn-lt"/>
                        </a:rPr>
                        <a:t>عالية</a:t>
                      </a:r>
                    </a:p>
                  </a:txBody>
                  <a:tcPr marL="40111" marR="40111" marT="20055" marB="20055" anchor="ctr"/>
                </a:tc>
                <a:tc>
                  <a:txBody>
                    <a:bodyPr/>
                    <a:lstStyle/>
                    <a:p>
                      <a:pPr algn="ctr" rtl="1">
                        <a:buNone/>
                      </a:pPr>
                      <a:r>
                        <a:rPr lang="ar-AE" sz="1200" dirty="0"/>
                        <a:t>وثيقة الوضع الحالي و التوجهات المستقبلية</a:t>
                      </a:r>
                      <a:endParaRPr lang="ar-AE" sz="1200" dirty="0">
                        <a:latin typeface="+mn-lt"/>
                      </a:endParaRPr>
                    </a:p>
                  </a:txBody>
                  <a:tcPr marL="20927" marR="20927" marT="10464" marB="10464" anchor="ctr"/>
                </a:tc>
                <a:extLst>
                  <a:ext uri="{0D108BD9-81ED-4DB2-BD59-A6C34878D82A}">
                    <a16:rowId xmlns:a16="http://schemas.microsoft.com/office/drawing/2014/main" val="417752018"/>
                  </a:ext>
                </a:extLst>
              </a:tr>
            </a:tbl>
          </a:graphicData>
        </a:graphic>
      </p:graphicFrame>
    </p:spTree>
    <p:extLst>
      <p:ext uri="{BB962C8B-B14F-4D97-AF65-F5344CB8AC3E}">
        <p14:creationId xmlns:p14="http://schemas.microsoft.com/office/powerpoint/2010/main" val="1908658175"/>
      </p:ext>
    </p:extLst>
  </p:cSld>
  <p:clrMapOvr>
    <a:masterClrMapping/>
  </p:clrMapOvr>
  <mc:AlternateContent xmlns:mc="http://schemas.openxmlformats.org/markup-compatibility/2006" xmlns:p14="http://schemas.microsoft.com/office/powerpoint/2010/main">
    <mc:Choice Requires="p14">
      <p:transition spd="slow" p14:dur="1300">
        <p14:pan dir="r"/>
      </p:transition>
    </mc:Choice>
    <mc:Fallback xmlns="">
      <p:transition spd="slow">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DDFD1F-C4CC-29C6-6DF9-F647E8D21B6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5AA51E0-8129-CCF7-1A29-CB9E84CEA54F}"/>
              </a:ext>
            </a:extLst>
          </p:cNvPr>
          <p:cNvSpPr>
            <a:spLocks noGrp="1"/>
          </p:cNvSpPr>
          <p:nvPr>
            <p:ph type="title"/>
          </p:nvPr>
        </p:nvSpPr>
        <p:spPr/>
        <p:txBody>
          <a:bodyPr/>
          <a:lstStyle/>
          <a:p>
            <a:r>
              <a:rPr lang="ar-SA" noProof="0" dirty="0"/>
              <a:t>ملخص تحليل الفجوات لبنية البيانات</a:t>
            </a:r>
            <a:endParaRPr lang="en-AE" dirty="0"/>
          </a:p>
        </p:txBody>
      </p:sp>
      <p:sp>
        <p:nvSpPr>
          <p:cNvPr id="3" name="Slide Number Placeholder 2">
            <a:extLst>
              <a:ext uri="{FF2B5EF4-FFF2-40B4-BE49-F238E27FC236}">
                <a16:creationId xmlns:a16="http://schemas.microsoft.com/office/drawing/2014/main" id="{8D01DA91-BEB2-B6B3-A868-50A651AFB4A3}"/>
              </a:ext>
            </a:extLst>
          </p:cNvPr>
          <p:cNvSpPr>
            <a:spLocks noGrp="1"/>
          </p:cNvSpPr>
          <p:nvPr>
            <p:ph type="sldNum" sz="quarter" idx="12"/>
          </p:nvPr>
        </p:nvSpPr>
        <p:spPr/>
        <p:txBody>
          <a:bodyPr/>
          <a:lstStyle/>
          <a:p>
            <a:fld id="{0BE4EC83-A869-464E-AE9F-881796FB085E}" type="slidenum">
              <a:rPr lang="en-US" smtClean="0"/>
              <a:t>34</a:t>
            </a:fld>
            <a:endParaRPr lang="en-US"/>
          </a:p>
        </p:txBody>
      </p:sp>
      <p:graphicFrame>
        <p:nvGraphicFramePr>
          <p:cNvPr id="4" name="Table 3">
            <a:extLst>
              <a:ext uri="{FF2B5EF4-FFF2-40B4-BE49-F238E27FC236}">
                <a16:creationId xmlns:a16="http://schemas.microsoft.com/office/drawing/2014/main" id="{766B2993-B279-F131-6E00-85088C737AC7}"/>
              </a:ext>
            </a:extLst>
          </p:cNvPr>
          <p:cNvGraphicFramePr>
            <a:graphicFrameLocks noGrp="1"/>
          </p:cNvGraphicFramePr>
          <p:nvPr/>
        </p:nvGraphicFramePr>
        <p:xfrm>
          <a:off x="621453" y="1227339"/>
          <a:ext cx="10960945" cy="4839163"/>
        </p:xfrm>
        <a:graphic>
          <a:graphicData uri="http://schemas.openxmlformats.org/drawingml/2006/table">
            <a:tbl>
              <a:tblPr rtl="1" firstRow="1" bandRow="1">
                <a:tableStyleId>{B301B821-A1FF-4177-AEE7-76D212191A09}</a:tableStyleId>
              </a:tblPr>
              <a:tblGrid>
                <a:gridCol w="813028">
                  <a:extLst>
                    <a:ext uri="{9D8B030D-6E8A-4147-A177-3AD203B41FA5}">
                      <a16:colId xmlns:a16="http://schemas.microsoft.com/office/drawing/2014/main" val="1848166869"/>
                    </a:ext>
                  </a:extLst>
                </a:gridCol>
                <a:gridCol w="1057241">
                  <a:extLst>
                    <a:ext uri="{9D8B030D-6E8A-4147-A177-3AD203B41FA5}">
                      <a16:colId xmlns:a16="http://schemas.microsoft.com/office/drawing/2014/main" val="3183077499"/>
                    </a:ext>
                  </a:extLst>
                </a:gridCol>
                <a:gridCol w="1057241">
                  <a:extLst>
                    <a:ext uri="{9D8B030D-6E8A-4147-A177-3AD203B41FA5}">
                      <a16:colId xmlns:a16="http://schemas.microsoft.com/office/drawing/2014/main" val="910221352"/>
                    </a:ext>
                  </a:extLst>
                </a:gridCol>
                <a:gridCol w="1577711">
                  <a:extLst>
                    <a:ext uri="{9D8B030D-6E8A-4147-A177-3AD203B41FA5}">
                      <a16:colId xmlns:a16="http://schemas.microsoft.com/office/drawing/2014/main" val="2407940828"/>
                    </a:ext>
                  </a:extLst>
                </a:gridCol>
                <a:gridCol w="1525468">
                  <a:extLst>
                    <a:ext uri="{9D8B030D-6E8A-4147-A177-3AD203B41FA5}">
                      <a16:colId xmlns:a16="http://schemas.microsoft.com/office/drawing/2014/main" val="2266366844"/>
                    </a:ext>
                  </a:extLst>
                </a:gridCol>
                <a:gridCol w="1619504">
                  <a:extLst>
                    <a:ext uri="{9D8B030D-6E8A-4147-A177-3AD203B41FA5}">
                      <a16:colId xmlns:a16="http://schemas.microsoft.com/office/drawing/2014/main" val="170401669"/>
                    </a:ext>
                  </a:extLst>
                </a:gridCol>
                <a:gridCol w="1431434">
                  <a:extLst>
                    <a:ext uri="{9D8B030D-6E8A-4147-A177-3AD203B41FA5}">
                      <a16:colId xmlns:a16="http://schemas.microsoft.com/office/drawing/2014/main" val="4110629147"/>
                    </a:ext>
                  </a:extLst>
                </a:gridCol>
                <a:gridCol w="480628">
                  <a:extLst>
                    <a:ext uri="{9D8B030D-6E8A-4147-A177-3AD203B41FA5}">
                      <a16:colId xmlns:a16="http://schemas.microsoft.com/office/drawing/2014/main" val="2090639194"/>
                    </a:ext>
                  </a:extLst>
                </a:gridCol>
                <a:gridCol w="584432">
                  <a:extLst>
                    <a:ext uri="{9D8B030D-6E8A-4147-A177-3AD203B41FA5}">
                      <a16:colId xmlns:a16="http://schemas.microsoft.com/office/drawing/2014/main" val="1489210985"/>
                    </a:ext>
                  </a:extLst>
                </a:gridCol>
                <a:gridCol w="814258">
                  <a:extLst>
                    <a:ext uri="{9D8B030D-6E8A-4147-A177-3AD203B41FA5}">
                      <a16:colId xmlns:a16="http://schemas.microsoft.com/office/drawing/2014/main" val="602859565"/>
                    </a:ext>
                  </a:extLst>
                </a:gridCol>
              </a:tblGrid>
              <a:tr h="267699">
                <a:tc>
                  <a:txBody>
                    <a:bodyPr/>
                    <a:lstStyle/>
                    <a:p>
                      <a:pPr marL="0" algn="ctr" defTabSz="914400" rtl="0" eaLnBrk="1" latinLnBrk="0" hangingPunct="1">
                        <a:buNone/>
                      </a:pPr>
                      <a:r>
                        <a:rPr lang="en-US" sz="1400" dirty="0">
                          <a:latin typeface="+mn-lt"/>
                        </a:rPr>
                        <a:t>Code</a:t>
                      </a:r>
                      <a:endParaRPr lang="ar-AE" sz="1400" dirty="0">
                        <a:latin typeface="+mn-lt"/>
                      </a:endParaRPr>
                    </a:p>
                  </a:txBody>
                  <a:tcPr marL="20927" marR="20927" marT="10464" marB="10464" anchor="ctr"/>
                </a:tc>
                <a:tc>
                  <a:txBody>
                    <a:bodyPr/>
                    <a:lstStyle/>
                    <a:p>
                      <a:pPr algn="ctr" rtl="1">
                        <a:buNone/>
                      </a:pPr>
                      <a:r>
                        <a:rPr lang="ar-AE" sz="1400" b="1" dirty="0"/>
                        <a:t>الفجوة</a:t>
                      </a:r>
                      <a:endParaRPr lang="ar-AE" sz="1400" dirty="0">
                        <a:latin typeface="+mn-lt"/>
                      </a:endParaRPr>
                    </a:p>
                  </a:txBody>
                  <a:tcPr marL="20927" marR="20927" marT="10464" marB="10464" anchor="ctr"/>
                </a:tc>
                <a:tc>
                  <a:txBody>
                    <a:bodyPr/>
                    <a:lstStyle/>
                    <a:p>
                      <a:pPr algn="ctr" rtl="1">
                        <a:buNone/>
                      </a:pPr>
                      <a:r>
                        <a:rPr lang="ar-AE" sz="1400" dirty="0">
                          <a:latin typeface="+mn-lt"/>
                        </a:rPr>
                        <a:t>التصنيف</a:t>
                      </a:r>
                    </a:p>
                  </a:txBody>
                  <a:tcPr marL="20927" marR="20927" marT="10464" marB="10464" anchor="ctr"/>
                </a:tc>
                <a:tc>
                  <a:txBody>
                    <a:bodyPr/>
                    <a:lstStyle/>
                    <a:p>
                      <a:pPr algn="ctr" rtl="1">
                        <a:buNone/>
                      </a:pPr>
                      <a:r>
                        <a:rPr lang="ar-AE" sz="1400" b="1" dirty="0"/>
                        <a:t>الوصف</a:t>
                      </a:r>
                      <a:endParaRPr lang="ar-AE" sz="1400" dirty="0">
                        <a:latin typeface="+mn-lt"/>
                      </a:endParaRPr>
                    </a:p>
                  </a:txBody>
                  <a:tcPr marL="20927" marR="20927" marT="10464" marB="10464" anchor="ctr"/>
                </a:tc>
                <a:tc>
                  <a:txBody>
                    <a:bodyPr/>
                    <a:lstStyle/>
                    <a:p>
                      <a:pPr algn="ctr" rtl="1">
                        <a:buNone/>
                      </a:pPr>
                      <a:r>
                        <a:rPr lang="ar-AE" sz="1400" b="1" dirty="0"/>
                        <a:t>الأثر الحالي</a:t>
                      </a:r>
                      <a:endParaRPr lang="ar-AE" sz="1400" dirty="0">
                        <a:latin typeface="+mn-lt"/>
                      </a:endParaRPr>
                    </a:p>
                  </a:txBody>
                  <a:tcPr marL="20927" marR="20927" marT="10464" marB="10464" anchor="ctr"/>
                </a:tc>
                <a:tc>
                  <a:txBody>
                    <a:bodyPr/>
                    <a:lstStyle/>
                    <a:p>
                      <a:pPr algn="ctr" rtl="1">
                        <a:buNone/>
                      </a:pPr>
                      <a:r>
                        <a:rPr lang="ar-AE" sz="1400" b="1" dirty="0"/>
                        <a:t>الأثر بعد الردم (المعالجة)</a:t>
                      </a:r>
                      <a:endParaRPr lang="ar-AE" sz="1400" dirty="0">
                        <a:latin typeface="+mn-lt"/>
                      </a:endParaRPr>
                    </a:p>
                  </a:txBody>
                  <a:tcPr marL="20927" marR="20927" marT="10464" marB="10464" anchor="ctr"/>
                </a:tc>
                <a:tc>
                  <a:txBody>
                    <a:bodyPr/>
                    <a:lstStyle/>
                    <a:p>
                      <a:pPr algn="ctr" rtl="1">
                        <a:buNone/>
                      </a:pPr>
                      <a:r>
                        <a:rPr lang="ar-AE" sz="1400" b="1" dirty="0"/>
                        <a:t>تغطية الفجوة</a:t>
                      </a:r>
                      <a:endParaRPr lang="ar-AE" sz="1400" dirty="0">
                        <a:latin typeface="+mn-lt"/>
                      </a:endParaRPr>
                    </a:p>
                  </a:txBody>
                  <a:tcPr marL="20927" marR="20927" marT="10464" marB="10464" anchor="ctr"/>
                </a:tc>
                <a:tc>
                  <a:txBody>
                    <a:bodyPr/>
                    <a:lstStyle/>
                    <a:p>
                      <a:pPr algn="ctr" rtl="1">
                        <a:buNone/>
                      </a:pPr>
                      <a:r>
                        <a:rPr lang="ar-AE" sz="1400" b="1" dirty="0"/>
                        <a:t>الأولوية</a:t>
                      </a:r>
                      <a:endParaRPr lang="ar-AE" sz="1400" dirty="0">
                        <a:latin typeface="+mn-lt"/>
                      </a:endParaRPr>
                    </a:p>
                  </a:txBody>
                  <a:tcPr marL="20927" marR="20927" marT="10464" marB="10464" anchor="ctr"/>
                </a:tc>
                <a:tc>
                  <a:txBody>
                    <a:bodyPr/>
                    <a:lstStyle/>
                    <a:p>
                      <a:pPr algn="ctr" rtl="1">
                        <a:buNone/>
                      </a:pPr>
                      <a:r>
                        <a:rPr lang="ar-AE" sz="1400" b="1" dirty="0"/>
                        <a:t>الأهمية</a:t>
                      </a:r>
                      <a:endParaRPr lang="ar-AE" sz="1400" dirty="0">
                        <a:latin typeface="+mn-lt"/>
                      </a:endParaRPr>
                    </a:p>
                  </a:txBody>
                  <a:tcPr marL="20927" marR="20927" marT="10464" marB="10464" anchor="ctr"/>
                </a:tc>
                <a:tc>
                  <a:txBody>
                    <a:bodyPr/>
                    <a:lstStyle/>
                    <a:p>
                      <a:pPr algn="ctr" rtl="1">
                        <a:buNone/>
                      </a:pPr>
                      <a:r>
                        <a:rPr lang="ar-AE" sz="1400" b="1" dirty="0"/>
                        <a:t>المصدر</a:t>
                      </a:r>
                      <a:endParaRPr lang="ar-AE" sz="1400" dirty="0">
                        <a:latin typeface="+mn-lt"/>
                      </a:endParaRPr>
                    </a:p>
                  </a:txBody>
                  <a:tcPr marL="20927" marR="20927" marT="10464" marB="10464" anchor="ctr"/>
                </a:tc>
                <a:extLst>
                  <a:ext uri="{0D108BD9-81ED-4DB2-BD59-A6C34878D82A}">
                    <a16:rowId xmlns:a16="http://schemas.microsoft.com/office/drawing/2014/main" val="4029457185"/>
                  </a:ext>
                </a:extLst>
              </a:tr>
              <a:tr h="1020973">
                <a:tc>
                  <a: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prstClr val="black"/>
                          </a:solidFill>
                          <a:effectLst/>
                          <a:uLnTx/>
                          <a:uFillTx/>
                          <a:latin typeface="Sakkal Majalla"/>
                          <a:ea typeface="+mn-ea"/>
                          <a:cs typeface="Sakkal Majalla"/>
                        </a:rPr>
                        <a:t>GAP-D-12</a:t>
                      </a:r>
                      <a:endParaRPr kumimoji="0" lang="ar-EG" sz="1200" b="1" i="0" u="none" strike="noStrike" kern="1200" cap="none" spc="0" normalizeH="0" baseline="0" noProof="0" dirty="0">
                        <a:ln>
                          <a:noFill/>
                        </a:ln>
                        <a:solidFill>
                          <a:prstClr val="black"/>
                        </a:solidFill>
                        <a:effectLst/>
                        <a:uLnTx/>
                        <a:uFillTx/>
                        <a:latin typeface="Sakkal Majalla"/>
                        <a:ea typeface="+mn-ea"/>
                        <a:cs typeface="Sakkal Majalla"/>
                      </a:endParaRPr>
                    </a:p>
                  </a:txBody>
                  <a:tcPr marL="20927" marR="20927" marT="10464" marB="10464" anchor="ctr"/>
                </a:tc>
                <a:tc>
                  <a:txBody>
                    <a:bodyPr/>
                    <a:lstStyle/>
                    <a:p>
                      <a:pPr algn="r" rtl="1">
                        <a:buNone/>
                      </a:pPr>
                      <a:r>
                        <a:rPr lang="ar-AE" sz="1200" dirty="0">
                          <a:latin typeface="+mn-lt"/>
                        </a:rPr>
                        <a:t>نقص في سياسات الأرشفة طويلة الأجل</a:t>
                      </a:r>
                    </a:p>
                  </a:txBody>
                  <a:tcPr marL="40111" marR="40111" marT="20055" marB="20055" anchor="ctr"/>
                </a:tc>
                <a:tc>
                  <a:txBody>
                    <a:bodyPr/>
                    <a:lstStyle/>
                    <a:p>
                      <a:pPr algn="ctr" rtl="1" fontAlgn="ctr"/>
                      <a:r>
                        <a:rPr lang="ar-AE" sz="1200" b="0" i="0" u="none" strike="noStrike">
                          <a:solidFill>
                            <a:srgbClr val="000000"/>
                          </a:solidFill>
                          <a:effectLst/>
                          <a:latin typeface="Aptos Narrow" panose="020B0004020202020204" pitchFamily="34" charset="0"/>
                        </a:rPr>
                        <a:t>إدارة المحتوى والوثائق (5)</a:t>
                      </a:r>
                    </a:p>
                  </a:txBody>
                  <a:tcPr marL="9525" marR="9525" marT="9525" marB="0" anchor="ctr"/>
                </a:tc>
                <a:tc>
                  <a:txBody>
                    <a:bodyPr/>
                    <a:lstStyle/>
                    <a:p>
                      <a:pPr algn="r" rtl="1">
                        <a:buNone/>
                      </a:pPr>
                      <a:r>
                        <a:rPr lang="ar-AE" sz="1200" dirty="0">
                          <a:latin typeface="+mn-lt"/>
                        </a:rPr>
                        <a:t>لا توجد سياسة شاملة لأرشفة البيانات القديمة أو محدودة الاستخدام</a:t>
                      </a:r>
                    </a:p>
                  </a:txBody>
                  <a:tcPr marL="40111" marR="40111" marT="20055" marB="20055" anchor="ctr"/>
                </a:tc>
                <a:tc>
                  <a:txBody>
                    <a:bodyPr/>
                    <a:lstStyle/>
                    <a:p>
                      <a:pPr algn="r" rtl="1">
                        <a:buNone/>
                      </a:pPr>
                      <a:r>
                        <a:rPr lang="ar-AE" sz="1200" dirty="0">
                          <a:latin typeface="+mn-lt"/>
                        </a:rPr>
                        <a:t>تضخّم قواعد البيانات بأنواع مختلفة من البيانات، وتأثير سلبي على الأداء وزيادة التكاليف التشغيلية</a:t>
                      </a:r>
                    </a:p>
                  </a:txBody>
                  <a:tcPr marL="40111" marR="40111" marT="20055" marB="20055" anchor="ctr"/>
                </a:tc>
                <a:tc>
                  <a:txBody>
                    <a:bodyPr/>
                    <a:lstStyle/>
                    <a:p>
                      <a:pPr algn="r" rtl="1">
                        <a:buNone/>
                      </a:pPr>
                      <a:r>
                        <a:rPr lang="ar-AE" sz="1200" dirty="0">
                          <a:latin typeface="+mn-lt"/>
                        </a:rPr>
                        <a:t>وضع وتنفيذ سياسة رسمية لأرشفة البيانات حسب دورة حياتها، مع آليات استرجاع واضحة</a:t>
                      </a:r>
                    </a:p>
                  </a:txBody>
                  <a:tcPr marL="40111" marR="40111" marT="20055" marB="20055" anchor="ctr"/>
                </a:tc>
                <a:tc>
                  <a:txBody>
                    <a:bodyPr/>
                    <a:lstStyle/>
                    <a:p>
                      <a:pPr algn="r" rtl="1">
                        <a:buNone/>
                      </a:pPr>
                      <a:r>
                        <a:rPr lang="ar-AE" sz="1200" dirty="0">
                          <a:latin typeface="+mn-lt"/>
                        </a:rPr>
                        <a:t>تخصيص مخازن منفصلة (أرشيف بارد) ونقل البيانات الأقل استخدامًا إليها بصورة دورية</a:t>
                      </a:r>
                    </a:p>
                  </a:txBody>
                  <a:tcPr marL="40111" marR="40111" marT="20055" marB="20055" anchor="ctr"/>
                </a:tc>
                <a:tc>
                  <a:txBody>
                    <a:bodyPr/>
                    <a:lstStyle/>
                    <a:p>
                      <a:pPr algn="ctr" rtl="1">
                        <a:buNone/>
                      </a:pPr>
                      <a:r>
                        <a:rPr lang="ar-AE" sz="1200" dirty="0">
                          <a:latin typeface="+mn-lt"/>
                        </a:rPr>
                        <a:t>متوسطة</a:t>
                      </a:r>
                    </a:p>
                  </a:txBody>
                  <a:tcPr marL="40111" marR="40111" marT="20055" marB="20055" anchor="ctr"/>
                </a:tc>
                <a:tc>
                  <a:txBody>
                    <a:bodyPr/>
                    <a:lstStyle/>
                    <a:p>
                      <a:pPr algn="ctr" rtl="1">
                        <a:buNone/>
                      </a:pPr>
                      <a:r>
                        <a:rPr lang="ar-AE" sz="1200" dirty="0">
                          <a:latin typeface="+mn-lt"/>
                        </a:rPr>
                        <a:t>متوسطة</a:t>
                      </a:r>
                    </a:p>
                  </a:txBody>
                  <a:tcPr marL="40111" marR="40111" marT="20055" marB="20055" anchor="ctr"/>
                </a:tc>
                <a:tc>
                  <a: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ar-AE" sz="1200" b="0" i="0" u="none" strike="noStrike" kern="1200" cap="none" spc="0" normalizeH="0" baseline="0" noProof="0">
                          <a:ln>
                            <a:noFill/>
                          </a:ln>
                          <a:solidFill>
                            <a:prstClr val="black"/>
                          </a:solidFill>
                          <a:effectLst/>
                          <a:uLnTx/>
                          <a:uFillTx/>
                          <a:latin typeface="Sakkal Majalla"/>
                          <a:ea typeface="+mn-ea"/>
                          <a:cs typeface="Sakkal Majalla"/>
                        </a:rPr>
                        <a:t>وثيقة الوضع الحالي و التوجهات المستقبلية</a:t>
                      </a:r>
                      <a:endParaRPr kumimoji="0" lang="ar-AE" sz="1200" b="0" i="0" u="none" strike="noStrike" kern="1200" cap="none" spc="0" normalizeH="0" baseline="0" noProof="0" dirty="0">
                        <a:ln>
                          <a:noFill/>
                        </a:ln>
                        <a:solidFill>
                          <a:prstClr val="black"/>
                        </a:solidFill>
                        <a:effectLst/>
                        <a:uLnTx/>
                        <a:uFillTx/>
                        <a:latin typeface="Sakkal Majalla"/>
                        <a:ea typeface="+mn-ea"/>
                        <a:cs typeface="Sakkal Majalla"/>
                      </a:endParaRPr>
                    </a:p>
                  </a:txBody>
                  <a:tcPr marL="20927" marR="20927" marT="10464" marB="10464" anchor="ctr"/>
                </a:tc>
                <a:extLst>
                  <a:ext uri="{0D108BD9-81ED-4DB2-BD59-A6C34878D82A}">
                    <a16:rowId xmlns:a16="http://schemas.microsoft.com/office/drawing/2014/main" val="3386048539"/>
                  </a:ext>
                </a:extLst>
              </a:tr>
              <a:tr h="1020973">
                <a:tc>
                  <a: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prstClr val="black"/>
                          </a:solidFill>
                          <a:effectLst/>
                          <a:uLnTx/>
                          <a:uFillTx/>
                          <a:latin typeface="Sakkal Majalla"/>
                          <a:ea typeface="+mn-ea"/>
                          <a:cs typeface="Sakkal Majalla"/>
                        </a:rPr>
                        <a:t>GAP-D-13</a:t>
                      </a:r>
                      <a:endParaRPr kumimoji="0" lang="ar-EG" sz="1200" b="1" i="0" u="none" strike="noStrike" kern="1200" cap="none" spc="0" normalizeH="0" baseline="0" noProof="0" dirty="0">
                        <a:ln>
                          <a:noFill/>
                        </a:ln>
                        <a:solidFill>
                          <a:prstClr val="black"/>
                        </a:solidFill>
                        <a:effectLst/>
                        <a:uLnTx/>
                        <a:uFillTx/>
                        <a:latin typeface="Sakkal Majalla"/>
                        <a:ea typeface="+mn-ea"/>
                        <a:cs typeface="Sakkal Majalla"/>
                      </a:endParaRPr>
                    </a:p>
                  </a:txBody>
                  <a:tcPr marL="20927" marR="20927" marT="10464" marB="10464" anchor="ctr"/>
                </a:tc>
                <a:tc>
                  <a:txBody>
                    <a:bodyPr/>
                    <a:lstStyle/>
                    <a:p>
                      <a:pPr algn="r" rtl="1">
                        <a:buNone/>
                      </a:pPr>
                      <a:r>
                        <a:rPr lang="ar-AE" sz="1200" dirty="0">
                          <a:latin typeface="+mn-lt"/>
                        </a:rPr>
                        <a:t>ضعف تحديد الأدوار الخاصة بأمناء البيانات </a:t>
                      </a:r>
                      <a:endParaRPr lang="en-US" sz="1200" dirty="0">
                        <a:latin typeface="+mn-lt"/>
                      </a:endParaRPr>
                    </a:p>
                  </a:txBody>
                  <a:tcPr marL="40111" marR="40111" marT="20055" marB="20055" anchor="ctr"/>
                </a:tc>
                <a:tc>
                  <a:txBody>
                    <a:bodyPr/>
                    <a:lstStyle/>
                    <a:p>
                      <a:pPr algn="ctr" rtl="1" fontAlgn="ctr"/>
                      <a:r>
                        <a:rPr lang="ar-AE" sz="1200" b="0" i="0" u="none" strike="noStrike">
                          <a:solidFill>
                            <a:srgbClr val="000000"/>
                          </a:solidFill>
                          <a:effectLst/>
                          <a:latin typeface="Aptos Narrow" panose="020B0004020202020204" pitchFamily="34" charset="0"/>
                        </a:rPr>
                        <a:t>حوكمة البيانات (1)</a:t>
                      </a:r>
                    </a:p>
                  </a:txBody>
                  <a:tcPr marL="9525" marR="9525" marT="9525" marB="0" anchor="ctr"/>
                </a:tc>
                <a:tc>
                  <a:txBody>
                    <a:bodyPr/>
                    <a:lstStyle/>
                    <a:p>
                      <a:pPr algn="r" rtl="1">
                        <a:buNone/>
                      </a:pPr>
                      <a:r>
                        <a:rPr lang="ar-AE" sz="1200" dirty="0">
                          <a:latin typeface="+mn-lt"/>
                        </a:rPr>
                        <a:t>لا يوجد توصيف واضح لدور أمين البيانات ومسؤولياته في ضمان جودة وتحديث البيانات</a:t>
                      </a:r>
                    </a:p>
                  </a:txBody>
                  <a:tcPr marL="40111" marR="40111" marT="20055" marB="20055" anchor="ctr"/>
                </a:tc>
                <a:tc>
                  <a:txBody>
                    <a:bodyPr/>
                    <a:lstStyle/>
                    <a:p>
                      <a:pPr algn="r" rtl="1">
                        <a:buNone/>
                      </a:pPr>
                      <a:r>
                        <a:rPr lang="ar-AE" sz="1200" dirty="0">
                          <a:latin typeface="+mn-lt"/>
                        </a:rPr>
                        <a:t>تشتت جهود المتابعة والتحديث بين الأقسام، مما يؤدي إلى تضارب في المهام وضعف في الرقابة الشاملة للبيانات</a:t>
                      </a:r>
                    </a:p>
                  </a:txBody>
                  <a:tcPr marL="40111" marR="40111" marT="20055" marB="20055" anchor="ctr"/>
                </a:tc>
                <a:tc>
                  <a:txBody>
                    <a:bodyPr/>
                    <a:lstStyle/>
                    <a:p>
                      <a:pPr algn="r" rtl="1">
                        <a:buNone/>
                      </a:pPr>
                      <a:r>
                        <a:rPr lang="ar-AE" sz="1200" dirty="0">
                          <a:latin typeface="+mn-lt"/>
                        </a:rPr>
                        <a:t>وضع توصيف وظيفي مفصّل لأدوار أمناء البيانات، وتحديد المهام والمسؤوليات وتدريبهم</a:t>
                      </a:r>
                    </a:p>
                  </a:txBody>
                  <a:tcPr marL="40111" marR="40111" marT="20055" marB="20055" anchor="ctr"/>
                </a:tc>
                <a:tc>
                  <a:txBody>
                    <a:bodyPr/>
                    <a:lstStyle/>
                    <a:p>
                      <a:pPr algn="r" rtl="1">
                        <a:buNone/>
                      </a:pPr>
                      <a:r>
                        <a:rPr lang="ar-AE" sz="1200" dirty="0">
                          <a:latin typeface="+mn-lt"/>
                        </a:rPr>
                        <a:t>تعيين أمناء بيانات لكل مجال أو نظام، وتمكينهم من الأدوات والسلطات اللازمة لتنفيذ مهامهم</a:t>
                      </a:r>
                    </a:p>
                  </a:txBody>
                  <a:tcPr marL="40111" marR="40111" marT="20055" marB="20055" anchor="ctr"/>
                </a:tc>
                <a:tc>
                  <a:txBody>
                    <a:bodyPr/>
                    <a:lstStyle/>
                    <a:p>
                      <a:pPr algn="ctr" rtl="1">
                        <a:buNone/>
                      </a:pPr>
                      <a:r>
                        <a:rPr lang="ar-AE" sz="1200" dirty="0">
                          <a:latin typeface="+mn-lt"/>
                        </a:rPr>
                        <a:t>متوسطة</a:t>
                      </a:r>
                    </a:p>
                  </a:txBody>
                  <a:tcPr marL="40111" marR="40111" marT="20055" marB="20055" anchor="ctr"/>
                </a:tc>
                <a:tc>
                  <a:txBody>
                    <a:bodyPr/>
                    <a:lstStyle/>
                    <a:p>
                      <a:pPr algn="ctr" rtl="1">
                        <a:buNone/>
                      </a:pPr>
                      <a:r>
                        <a:rPr lang="ar-AE" sz="1200" dirty="0">
                          <a:latin typeface="+mn-lt"/>
                        </a:rPr>
                        <a:t>متوسطة</a:t>
                      </a:r>
                    </a:p>
                  </a:txBody>
                  <a:tcPr marL="40111" marR="40111" marT="20055" marB="20055" anchor="ctr"/>
                </a:tc>
                <a:tc>
                  <a: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ar-AE" sz="1200" b="0" i="0" u="none" strike="noStrike" kern="1200" cap="none" spc="0" normalizeH="0" baseline="0" noProof="0" dirty="0">
                          <a:ln>
                            <a:noFill/>
                          </a:ln>
                          <a:solidFill>
                            <a:prstClr val="black"/>
                          </a:solidFill>
                          <a:effectLst/>
                          <a:uLnTx/>
                          <a:uFillTx/>
                          <a:latin typeface="Sakkal Majalla"/>
                          <a:ea typeface="+mn-ea"/>
                          <a:cs typeface="Sakkal Majalla"/>
                        </a:rPr>
                        <a:t>وثيقة الوضع الحالي و التوجهات المستقبلية</a:t>
                      </a:r>
                    </a:p>
                  </a:txBody>
                  <a:tcPr marL="20927" marR="20927" marT="10464" marB="10464" anchor="ctr"/>
                </a:tc>
                <a:extLst>
                  <a:ext uri="{0D108BD9-81ED-4DB2-BD59-A6C34878D82A}">
                    <a16:rowId xmlns:a16="http://schemas.microsoft.com/office/drawing/2014/main" val="3067900995"/>
                  </a:ext>
                </a:extLst>
              </a:tr>
              <a:tr h="1020973">
                <a:tc>
                  <a: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prstClr val="black"/>
                          </a:solidFill>
                          <a:effectLst/>
                          <a:uLnTx/>
                          <a:uFillTx/>
                          <a:latin typeface="+mn-lt"/>
                          <a:ea typeface="+mn-ea"/>
                          <a:cs typeface="+mn-cs"/>
                        </a:rPr>
                        <a:t>GAP-D-14</a:t>
                      </a:r>
                      <a:endParaRPr kumimoji="0" lang="ar-EG" sz="1200" b="1" i="0" u="none" strike="noStrike" kern="1200" cap="none" spc="0" normalizeH="0" baseline="0" noProof="0" dirty="0">
                        <a:ln>
                          <a:noFill/>
                        </a:ln>
                        <a:solidFill>
                          <a:prstClr val="black"/>
                        </a:solidFill>
                        <a:effectLst/>
                        <a:uLnTx/>
                        <a:uFillTx/>
                        <a:latin typeface="+mn-lt"/>
                        <a:ea typeface="+mn-ea"/>
                        <a:cs typeface="+mn-cs"/>
                      </a:endParaRPr>
                    </a:p>
                  </a:txBody>
                  <a:tcPr marL="20927" marR="20927" marT="10464" marB="10464" anchor="ctr"/>
                </a:tc>
                <a:tc>
                  <a:txBody>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lang="ar-AE" sz="1200" dirty="0"/>
                        <a:t>فجوة إنشاء كيانات بيانات جديدة لسد احتياجات أتمتة الأعمال والخدمات</a:t>
                      </a:r>
                    </a:p>
                  </a:txBody>
                  <a:tcPr marL="40111" marR="40111" marT="20055" marB="20055" anchor="ctr"/>
                </a:tc>
                <a:tc>
                  <a:txBody>
                    <a:bodyPr/>
                    <a:lstStyle/>
                    <a:p>
                      <a:pPr algn="ctr" rtl="1" fontAlgn="ctr"/>
                      <a:r>
                        <a:rPr lang="ar-AE" sz="1200" b="0" i="0" u="none" strike="noStrike">
                          <a:solidFill>
                            <a:srgbClr val="000000"/>
                          </a:solidFill>
                          <a:effectLst/>
                          <a:latin typeface="Aptos Narrow" panose="020B0004020202020204" pitchFamily="34" charset="0"/>
                        </a:rPr>
                        <a:t>النمذجة وهيكلة البيانات (6)</a:t>
                      </a:r>
                    </a:p>
                  </a:txBody>
                  <a:tcPr marL="9525" marR="9525" marT="9525" marB="0" anchor="ctr"/>
                </a:tc>
                <a:tc>
                  <a:txBody>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lang="ar-AE" sz="1200" dirty="0"/>
                        <a:t>عدم توافر كيانات بيانات تلبي متطلبات الأتمتة للخدمات والأعمال الجديدة، مما يُصعّب توفير قاعدة بيانات شاملة للعمليات المستقبلية</a:t>
                      </a:r>
                    </a:p>
                  </a:txBody>
                  <a:tcPr marL="40111" marR="40111" marT="20055" marB="20055" anchor="ctr"/>
                </a:tc>
                <a:tc>
                  <a:txBody>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lang="ar-AE" sz="1200" dirty="0"/>
                        <a:t>استمرار الاعتماد على إجراءات يدوية أو أنظمة غير متكاملة، مما يُعيق التحول الرقمي الكامل للخدمات والأعمال</a:t>
                      </a:r>
                    </a:p>
                  </a:txBody>
                  <a:tcPr marL="40111" marR="40111" marT="20055" marB="20055" anchor="ctr"/>
                </a:tc>
                <a:tc>
                  <a:txBody>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lang="ar-AE" sz="1200" dirty="0"/>
                        <a:t>تصميم نماذج وكيانات بيانات تلبي الاحتياجات المستحدثة للأتمتة، ما يتيح تطوير خدمات جديدة وأتمتة العمليات بكفاءة عالية</a:t>
                      </a:r>
                    </a:p>
                  </a:txBody>
                  <a:tcPr marL="40111" marR="40111" marT="20055" marB="20055" anchor="ctr"/>
                </a:tc>
                <a:tc>
                  <a:txBody>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lang="ar-AE" sz="1200" dirty="0"/>
                        <a:t>تحليل المتطلبات المستجدة بالتعاون مع إدارات الأعمال، وتحديد الكيانات المطلوبة وإضافتها إلى الدليل الموحد وقواعد البيانات</a:t>
                      </a:r>
                    </a:p>
                  </a:txBody>
                  <a:tcPr marL="40111" marR="40111" marT="20055" marB="20055" anchor="ctr"/>
                </a:tc>
                <a:tc>
                  <a:txBody>
                    <a:bodyPr/>
                    <a:lstStyle/>
                    <a:p>
                      <a:pPr algn="r" rtl="1">
                        <a:buNone/>
                      </a:pPr>
                      <a:r>
                        <a:rPr lang="ar-AE" sz="1200" dirty="0">
                          <a:latin typeface="+mn-lt"/>
                        </a:rPr>
                        <a:t>عالية</a:t>
                      </a:r>
                    </a:p>
                  </a:txBody>
                  <a:tcPr marL="40111" marR="40111" marT="20055" marB="20055" anchor="ctr"/>
                </a:tc>
                <a:tc>
                  <a:txBody>
                    <a:bodyPr/>
                    <a:lstStyle/>
                    <a:p>
                      <a:pPr algn="ctr" rtl="1">
                        <a:buNone/>
                      </a:pPr>
                      <a:r>
                        <a:rPr lang="ar-AE" sz="1200" dirty="0">
                          <a:latin typeface="+mn-lt"/>
                        </a:rPr>
                        <a:t>عالية</a:t>
                      </a:r>
                    </a:p>
                  </a:txBody>
                  <a:tcPr marL="40111" marR="40111" marT="20055" marB="20055" anchor="ctr"/>
                </a:tc>
                <a:tc>
                  <a: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ar-AE" sz="1200" b="0" i="0" u="none" strike="noStrike" kern="1200" cap="none" spc="0" normalizeH="0" baseline="0" noProof="0" dirty="0">
                          <a:ln>
                            <a:noFill/>
                          </a:ln>
                          <a:solidFill>
                            <a:prstClr val="black"/>
                          </a:solidFill>
                          <a:effectLst/>
                          <a:uLnTx/>
                          <a:uFillTx/>
                          <a:latin typeface="Sakkal Majalla"/>
                          <a:ea typeface="+mn-ea"/>
                          <a:cs typeface="Sakkal Majalla"/>
                        </a:rPr>
                        <a:t>وثيقة الوضع الحالي </a:t>
                      </a:r>
                      <a:r>
                        <a:rPr kumimoji="0" lang="ar-SA" sz="1200" b="0" i="0" u="none" strike="noStrike" kern="1200" cap="none" spc="0" normalizeH="0" baseline="0" noProof="0" dirty="0">
                          <a:ln>
                            <a:noFill/>
                          </a:ln>
                          <a:solidFill>
                            <a:prstClr val="black"/>
                          </a:solidFill>
                          <a:effectLst/>
                          <a:uLnTx/>
                          <a:uFillTx/>
                          <a:latin typeface="Sakkal Majalla"/>
                          <a:ea typeface="+mn-ea"/>
                          <a:cs typeface="Sakkal Majalla"/>
                        </a:rPr>
                        <a:t>للأعمال </a:t>
                      </a:r>
                      <a:r>
                        <a:rPr kumimoji="0" lang="ar-AE" sz="1200" b="0" i="0" u="none" strike="noStrike" kern="1200" cap="none" spc="0" normalizeH="0" baseline="0" noProof="0" dirty="0">
                          <a:ln>
                            <a:noFill/>
                          </a:ln>
                          <a:solidFill>
                            <a:prstClr val="black"/>
                          </a:solidFill>
                          <a:effectLst/>
                          <a:uLnTx/>
                          <a:uFillTx/>
                          <a:latin typeface="Sakkal Majalla"/>
                          <a:ea typeface="+mn-ea"/>
                          <a:cs typeface="Sakkal Majalla"/>
                        </a:rPr>
                        <a:t>و التوجهات المستقبلية</a:t>
                      </a:r>
                    </a:p>
                  </a:txBody>
                  <a:tcPr marL="20927" marR="20927" marT="10464" marB="10464" anchor="ctr"/>
                </a:tc>
                <a:extLst>
                  <a:ext uri="{0D108BD9-81ED-4DB2-BD59-A6C34878D82A}">
                    <a16:rowId xmlns:a16="http://schemas.microsoft.com/office/drawing/2014/main" val="4205275932"/>
                  </a:ext>
                </a:extLst>
              </a:tr>
              <a:tr h="1508545">
                <a:tc>
                  <a: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prstClr val="black"/>
                          </a:solidFill>
                          <a:effectLst/>
                          <a:uLnTx/>
                          <a:uFillTx/>
                          <a:latin typeface="+mn-lt"/>
                          <a:ea typeface="+mn-ea"/>
                          <a:cs typeface="+mn-cs"/>
                        </a:rPr>
                        <a:t>GAP-D-15</a:t>
                      </a:r>
                      <a:endParaRPr kumimoji="0" lang="ar-EG" sz="1200" b="1" i="0" u="none" strike="noStrike" kern="1200" cap="none" spc="0" normalizeH="0" baseline="0" noProof="0" dirty="0">
                        <a:ln>
                          <a:noFill/>
                        </a:ln>
                        <a:solidFill>
                          <a:prstClr val="black"/>
                        </a:solidFill>
                        <a:effectLst/>
                        <a:uLnTx/>
                        <a:uFillTx/>
                        <a:latin typeface="+mn-lt"/>
                        <a:ea typeface="+mn-ea"/>
                        <a:cs typeface="+mn-cs"/>
                      </a:endParaRPr>
                    </a:p>
                  </a:txBody>
                  <a:tcPr marL="20927" marR="20927" marT="10464" marB="10464" anchor="ctr"/>
                </a:tc>
                <a:tc>
                  <a:txBody>
                    <a:bodyPr/>
                    <a:lstStyle/>
                    <a:p>
                      <a:pPr algn="r" rtl="1">
                        <a:buNone/>
                      </a:pPr>
                      <a:r>
                        <a:rPr lang="ar-AE" sz="1200" dirty="0">
                          <a:latin typeface="+mn-lt"/>
                        </a:rPr>
                        <a:t>الاعتماد على إدارة البيانات الورقية بدلًا من الأنظمة المؤتمتة</a:t>
                      </a:r>
                    </a:p>
                  </a:txBody>
                  <a:tcPr marL="24310" marR="24310" marT="12155" marB="12155" anchor="ctr"/>
                </a:tc>
                <a:tc>
                  <a:txBody>
                    <a:bodyPr/>
                    <a:lstStyle/>
                    <a:p>
                      <a:pPr algn="ctr" rtl="1" fontAlgn="ctr"/>
                      <a:r>
                        <a:rPr lang="ar-AE" sz="1200" b="0" i="0" u="none" strike="noStrike" dirty="0">
                          <a:solidFill>
                            <a:srgbClr val="000000"/>
                          </a:solidFill>
                          <a:effectLst/>
                          <a:latin typeface="Aptos Narrow" panose="020B0004020202020204" pitchFamily="34" charset="0"/>
                        </a:rPr>
                        <a:t>إدارة المحتوى والوثائق (5)</a:t>
                      </a:r>
                    </a:p>
                  </a:txBody>
                  <a:tcPr marL="9525" marR="9525" marT="9525" marB="0" anchor="ctr"/>
                </a:tc>
                <a:tc>
                  <a:txBody>
                    <a:bodyPr/>
                    <a:lstStyle/>
                    <a:p>
                      <a:pPr algn="r" rtl="1">
                        <a:buNone/>
                      </a:pPr>
                      <a:r>
                        <a:rPr lang="ar-AE" sz="1200">
                          <a:latin typeface="+mn-lt"/>
                        </a:rPr>
                        <a:t>استمرار استخدام المستندات الورقية في حفظ ومعالجة البيانات، ما يعيق الأتمتة الشاملة لمعظم كيانات البيانات</a:t>
                      </a:r>
                    </a:p>
                  </a:txBody>
                  <a:tcPr marL="24310" marR="24310" marT="12155" marB="12155" anchor="ctr"/>
                </a:tc>
                <a:tc>
                  <a:txBody>
                    <a:bodyPr/>
                    <a:lstStyle/>
                    <a:p>
                      <a:pPr algn="r" rtl="1">
                        <a:buNone/>
                      </a:pPr>
                      <a:r>
                        <a:rPr lang="ar-AE" sz="1200" dirty="0">
                          <a:latin typeface="+mn-lt"/>
                        </a:rPr>
                        <a:t>بطء سير العمليات وزيادة احتمالية الخطأ وصعوبة الوصول إلى المعلومات</a:t>
                      </a:r>
                    </a:p>
                  </a:txBody>
                  <a:tcPr marL="24310" marR="24310" marT="12155" marB="12155" anchor="ctr"/>
                </a:tc>
                <a:tc>
                  <a:txBody>
                    <a:bodyPr/>
                    <a:lstStyle/>
                    <a:p>
                      <a:pPr algn="r" rtl="1">
                        <a:buNone/>
                      </a:pPr>
                      <a:r>
                        <a:rPr lang="ar-AE" sz="1200" dirty="0">
                          <a:latin typeface="+mn-lt"/>
                        </a:rPr>
                        <a:t>تبنّي أنظمة مؤتمتة لكافة كيانات البيانات، ما يرفع كفاءة العمليات ويتيح الوصول السريع والآمن إلى المعلومات</a:t>
                      </a:r>
                    </a:p>
                  </a:txBody>
                  <a:tcPr marL="24310" marR="24310" marT="12155" marB="12155" anchor="ctr"/>
                </a:tc>
                <a:tc>
                  <a:txBody>
                    <a:bodyPr/>
                    <a:lstStyle/>
                    <a:p>
                      <a:pPr algn="r" rtl="1">
                        <a:buNone/>
                      </a:pPr>
                      <a:r>
                        <a:rPr lang="ar-AE" sz="1200" dirty="0">
                          <a:latin typeface="+mn-lt"/>
                        </a:rPr>
                        <a:t>تحويل النماذج والسجلات الورقية إلى إلكترونية، وتدريب المستخدمين على استخدام الأنظمة المؤتمتة</a:t>
                      </a:r>
                    </a:p>
                  </a:txBody>
                  <a:tcPr marL="24310" marR="24310" marT="12155" marB="12155" anchor="ctr"/>
                </a:tc>
                <a:tc>
                  <a:txBody>
                    <a:bodyPr/>
                    <a:lstStyle/>
                    <a:p>
                      <a:pPr algn="ctr" rtl="1">
                        <a:buNone/>
                      </a:pPr>
                      <a:r>
                        <a:rPr lang="ar-AE" sz="1200" dirty="0">
                          <a:latin typeface="+mn-lt"/>
                        </a:rPr>
                        <a:t>عالية</a:t>
                      </a:r>
                    </a:p>
                  </a:txBody>
                  <a:tcPr marL="24310" marR="24310" marT="12155" marB="12155" anchor="ctr"/>
                </a:tc>
                <a:tc>
                  <a:txBody>
                    <a:bodyPr/>
                    <a:lstStyle/>
                    <a:p>
                      <a:pPr algn="ctr" rtl="1">
                        <a:buNone/>
                      </a:pPr>
                      <a:r>
                        <a:rPr lang="ar-AE" sz="1200" dirty="0">
                          <a:latin typeface="+mn-lt"/>
                        </a:rPr>
                        <a:t>عالية</a:t>
                      </a:r>
                    </a:p>
                  </a:txBody>
                  <a:tcPr marL="24310" marR="24310" marT="12155" marB="12155" anchor="ctr"/>
                </a:tc>
                <a:tc>
                  <a:txBody>
                    <a:bodyPr/>
                    <a:lstStyle/>
                    <a:p>
                      <a:pPr algn="ctr" rtl="1">
                        <a:buNone/>
                      </a:pPr>
                      <a:r>
                        <a:rPr lang="ar-AE" sz="1200" dirty="0">
                          <a:latin typeface="+mn-lt"/>
                        </a:rPr>
                        <a:t>ملف حصر البيانات</a:t>
                      </a:r>
                    </a:p>
                  </a:txBody>
                  <a:tcPr marL="24310" marR="24310" marT="12155" marB="12155" anchor="ctr"/>
                </a:tc>
                <a:extLst>
                  <a:ext uri="{0D108BD9-81ED-4DB2-BD59-A6C34878D82A}">
                    <a16:rowId xmlns:a16="http://schemas.microsoft.com/office/drawing/2014/main" val="152741407"/>
                  </a:ext>
                </a:extLst>
              </a:tr>
            </a:tbl>
          </a:graphicData>
        </a:graphic>
      </p:graphicFrame>
    </p:spTree>
    <p:extLst>
      <p:ext uri="{BB962C8B-B14F-4D97-AF65-F5344CB8AC3E}">
        <p14:creationId xmlns:p14="http://schemas.microsoft.com/office/powerpoint/2010/main" val="764920742"/>
      </p:ext>
    </p:extLst>
  </p:cSld>
  <p:clrMapOvr>
    <a:masterClrMapping/>
  </p:clrMapOvr>
  <mc:AlternateContent xmlns:mc="http://schemas.openxmlformats.org/markup-compatibility/2006" xmlns:p14="http://schemas.microsoft.com/office/powerpoint/2010/main">
    <mc:Choice Requires="p14">
      <p:transition spd="slow" p14:dur="1300">
        <p14:pan dir="r"/>
      </p:transition>
    </mc:Choice>
    <mc:Fallback xmlns="">
      <p:transition spd="slow">
        <p:fade/>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A7184F-41E6-C39D-F21E-C9FA86E287F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A622C60-CE4C-F3DC-8887-A28CAC90D9D6}"/>
              </a:ext>
            </a:extLst>
          </p:cNvPr>
          <p:cNvSpPr>
            <a:spLocks noGrp="1"/>
          </p:cNvSpPr>
          <p:nvPr>
            <p:ph type="title"/>
          </p:nvPr>
        </p:nvSpPr>
        <p:spPr/>
        <p:txBody>
          <a:bodyPr/>
          <a:lstStyle/>
          <a:p>
            <a:r>
              <a:rPr lang="ar-SA" noProof="0" dirty="0"/>
              <a:t>ملخص تحليل الفجوات لبنية البيانات</a:t>
            </a:r>
            <a:endParaRPr lang="en-AE" dirty="0"/>
          </a:p>
        </p:txBody>
      </p:sp>
      <p:sp>
        <p:nvSpPr>
          <p:cNvPr id="3" name="Slide Number Placeholder 2">
            <a:extLst>
              <a:ext uri="{FF2B5EF4-FFF2-40B4-BE49-F238E27FC236}">
                <a16:creationId xmlns:a16="http://schemas.microsoft.com/office/drawing/2014/main" id="{1CAD233B-BD10-1CA9-BA02-E844EC3109C9}"/>
              </a:ext>
            </a:extLst>
          </p:cNvPr>
          <p:cNvSpPr>
            <a:spLocks noGrp="1"/>
          </p:cNvSpPr>
          <p:nvPr>
            <p:ph type="sldNum" sz="quarter" idx="12"/>
          </p:nvPr>
        </p:nvSpPr>
        <p:spPr/>
        <p:txBody>
          <a:bodyPr/>
          <a:lstStyle/>
          <a:p>
            <a:fld id="{0BE4EC83-A869-464E-AE9F-881796FB085E}" type="slidenum">
              <a:rPr lang="en-US" smtClean="0"/>
              <a:t>35</a:t>
            </a:fld>
            <a:endParaRPr lang="en-US"/>
          </a:p>
        </p:txBody>
      </p:sp>
      <p:graphicFrame>
        <p:nvGraphicFramePr>
          <p:cNvPr id="4" name="Table 3">
            <a:extLst>
              <a:ext uri="{FF2B5EF4-FFF2-40B4-BE49-F238E27FC236}">
                <a16:creationId xmlns:a16="http://schemas.microsoft.com/office/drawing/2014/main" id="{3F51415F-A83D-5C7E-7C4E-E2153A9FA6B4}"/>
              </a:ext>
            </a:extLst>
          </p:cNvPr>
          <p:cNvGraphicFramePr>
            <a:graphicFrameLocks noGrp="1"/>
          </p:cNvGraphicFramePr>
          <p:nvPr/>
        </p:nvGraphicFramePr>
        <p:xfrm>
          <a:off x="609602" y="1150371"/>
          <a:ext cx="10972798" cy="4888119"/>
        </p:xfrm>
        <a:graphic>
          <a:graphicData uri="http://schemas.openxmlformats.org/drawingml/2006/table">
            <a:tbl>
              <a:tblPr rtl="1" firstRow="1" bandRow="1">
                <a:tableStyleId>{B301B821-A1FF-4177-AEE7-76D212191A09}</a:tableStyleId>
              </a:tblPr>
              <a:tblGrid>
                <a:gridCol w="777011">
                  <a:extLst>
                    <a:ext uri="{9D8B030D-6E8A-4147-A177-3AD203B41FA5}">
                      <a16:colId xmlns:a16="http://schemas.microsoft.com/office/drawing/2014/main" val="1848166869"/>
                    </a:ext>
                  </a:extLst>
                </a:gridCol>
                <a:gridCol w="1010406">
                  <a:extLst>
                    <a:ext uri="{9D8B030D-6E8A-4147-A177-3AD203B41FA5}">
                      <a16:colId xmlns:a16="http://schemas.microsoft.com/office/drawing/2014/main" val="3183077499"/>
                    </a:ext>
                  </a:extLst>
                </a:gridCol>
                <a:gridCol w="1507820">
                  <a:extLst>
                    <a:ext uri="{9D8B030D-6E8A-4147-A177-3AD203B41FA5}">
                      <a16:colId xmlns:a16="http://schemas.microsoft.com/office/drawing/2014/main" val="2549066410"/>
                    </a:ext>
                  </a:extLst>
                </a:gridCol>
                <a:gridCol w="1507820">
                  <a:extLst>
                    <a:ext uri="{9D8B030D-6E8A-4147-A177-3AD203B41FA5}">
                      <a16:colId xmlns:a16="http://schemas.microsoft.com/office/drawing/2014/main" val="2407940828"/>
                    </a:ext>
                  </a:extLst>
                </a:gridCol>
                <a:gridCol w="1457892">
                  <a:extLst>
                    <a:ext uri="{9D8B030D-6E8A-4147-A177-3AD203B41FA5}">
                      <a16:colId xmlns:a16="http://schemas.microsoft.com/office/drawing/2014/main" val="2266366844"/>
                    </a:ext>
                  </a:extLst>
                </a:gridCol>
                <a:gridCol w="1547762">
                  <a:extLst>
                    <a:ext uri="{9D8B030D-6E8A-4147-A177-3AD203B41FA5}">
                      <a16:colId xmlns:a16="http://schemas.microsoft.com/office/drawing/2014/main" val="170401669"/>
                    </a:ext>
                  </a:extLst>
                </a:gridCol>
                <a:gridCol w="1368022">
                  <a:extLst>
                    <a:ext uri="{9D8B030D-6E8A-4147-A177-3AD203B41FA5}">
                      <a16:colId xmlns:a16="http://schemas.microsoft.com/office/drawing/2014/main" val="4110629147"/>
                    </a:ext>
                  </a:extLst>
                </a:gridCol>
                <a:gridCol w="459335">
                  <a:extLst>
                    <a:ext uri="{9D8B030D-6E8A-4147-A177-3AD203B41FA5}">
                      <a16:colId xmlns:a16="http://schemas.microsoft.com/office/drawing/2014/main" val="2090639194"/>
                    </a:ext>
                  </a:extLst>
                </a:gridCol>
                <a:gridCol w="558543">
                  <a:extLst>
                    <a:ext uri="{9D8B030D-6E8A-4147-A177-3AD203B41FA5}">
                      <a16:colId xmlns:a16="http://schemas.microsoft.com/office/drawing/2014/main" val="1489210985"/>
                    </a:ext>
                  </a:extLst>
                </a:gridCol>
                <a:gridCol w="778187">
                  <a:extLst>
                    <a:ext uri="{9D8B030D-6E8A-4147-A177-3AD203B41FA5}">
                      <a16:colId xmlns:a16="http://schemas.microsoft.com/office/drawing/2014/main" val="602859565"/>
                    </a:ext>
                  </a:extLst>
                </a:gridCol>
              </a:tblGrid>
              <a:tr h="262506">
                <a:tc>
                  <a:txBody>
                    <a:bodyPr/>
                    <a:lstStyle/>
                    <a:p>
                      <a:pPr marL="0" algn="ctr" defTabSz="914400" rtl="0" eaLnBrk="1" latinLnBrk="0" hangingPunct="1">
                        <a:buNone/>
                      </a:pPr>
                      <a:r>
                        <a:rPr lang="en-US" sz="1400" dirty="0">
                          <a:latin typeface="+mn-lt"/>
                        </a:rPr>
                        <a:t>Code</a:t>
                      </a:r>
                      <a:endParaRPr lang="ar-AE" sz="1400" dirty="0">
                        <a:latin typeface="+mn-lt"/>
                      </a:endParaRPr>
                    </a:p>
                  </a:txBody>
                  <a:tcPr marL="20927" marR="20927" marT="10464" marB="10464" anchor="ctr"/>
                </a:tc>
                <a:tc>
                  <a:txBody>
                    <a:bodyPr/>
                    <a:lstStyle/>
                    <a:p>
                      <a:pPr algn="ctr" rtl="1">
                        <a:buNone/>
                      </a:pPr>
                      <a:r>
                        <a:rPr lang="ar-AE" sz="1400" b="1" dirty="0"/>
                        <a:t>الفجوة</a:t>
                      </a:r>
                      <a:endParaRPr lang="ar-AE" sz="1400" dirty="0">
                        <a:latin typeface="+mn-lt"/>
                      </a:endParaRPr>
                    </a:p>
                  </a:txBody>
                  <a:tcPr marL="20927" marR="20927" marT="10464" marB="10464" anchor="ctr"/>
                </a:tc>
                <a:tc>
                  <a:txBody>
                    <a:bodyPr/>
                    <a:lstStyle/>
                    <a:p>
                      <a:pPr algn="ctr" rtl="1">
                        <a:buNone/>
                      </a:pPr>
                      <a:r>
                        <a:rPr lang="ar-AE" sz="1400" dirty="0">
                          <a:latin typeface="+mn-lt"/>
                        </a:rPr>
                        <a:t>التصنيف</a:t>
                      </a:r>
                    </a:p>
                  </a:txBody>
                  <a:tcPr marL="20927" marR="20927" marT="10464" marB="10464" anchor="ctr"/>
                </a:tc>
                <a:tc>
                  <a:txBody>
                    <a:bodyPr/>
                    <a:lstStyle/>
                    <a:p>
                      <a:pPr algn="ctr" rtl="1">
                        <a:buNone/>
                      </a:pPr>
                      <a:r>
                        <a:rPr lang="ar-AE" sz="1400" b="1" dirty="0"/>
                        <a:t>الوصف</a:t>
                      </a:r>
                      <a:endParaRPr lang="ar-AE" sz="1400" dirty="0">
                        <a:latin typeface="+mn-lt"/>
                      </a:endParaRPr>
                    </a:p>
                  </a:txBody>
                  <a:tcPr marL="20927" marR="20927" marT="10464" marB="10464" anchor="ctr"/>
                </a:tc>
                <a:tc>
                  <a:txBody>
                    <a:bodyPr/>
                    <a:lstStyle/>
                    <a:p>
                      <a:pPr algn="ctr" rtl="1">
                        <a:buNone/>
                      </a:pPr>
                      <a:r>
                        <a:rPr lang="ar-AE" sz="1400" b="1" dirty="0"/>
                        <a:t>الأثر الحالي</a:t>
                      </a:r>
                      <a:endParaRPr lang="ar-AE" sz="1400" dirty="0">
                        <a:latin typeface="+mn-lt"/>
                      </a:endParaRPr>
                    </a:p>
                  </a:txBody>
                  <a:tcPr marL="20927" marR="20927" marT="10464" marB="10464" anchor="ctr"/>
                </a:tc>
                <a:tc>
                  <a:txBody>
                    <a:bodyPr/>
                    <a:lstStyle/>
                    <a:p>
                      <a:pPr algn="ctr" rtl="1">
                        <a:buNone/>
                      </a:pPr>
                      <a:r>
                        <a:rPr lang="ar-AE" sz="1400" b="1" dirty="0"/>
                        <a:t>الأثر بعد الردم (المعالجة)</a:t>
                      </a:r>
                      <a:endParaRPr lang="ar-AE" sz="1400" dirty="0">
                        <a:latin typeface="+mn-lt"/>
                      </a:endParaRPr>
                    </a:p>
                  </a:txBody>
                  <a:tcPr marL="20927" marR="20927" marT="10464" marB="10464" anchor="ctr"/>
                </a:tc>
                <a:tc>
                  <a:txBody>
                    <a:bodyPr/>
                    <a:lstStyle/>
                    <a:p>
                      <a:pPr algn="ctr" rtl="1">
                        <a:buNone/>
                      </a:pPr>
                      <a:r>
                        <a:rPr lang="ar-AE" sz="1400" b="1" dirty="0"/>
                        <a:t>تغطية الفجوة</a:t>
                      </a:r>
                      <a:endParaRPr lang="ar-AE" sz="1400" dirty="0">
                        <a:latin typeface="+mn-lt"/>
                      </a:endParaRPr>
                    </a:p>
                  </a:txBody>
                  <a:tcPr marL="20927" marR="20927" marT="10464" marB="10464" anchor="ctr"/>
                </a:tc>
                <a:tc>
                  <a:txBody>
                    <a:bodyPr/>
                    <a:lstStyle/>
                    <a:p>
                      <a:pPr algn="ctr" rtl="1">
                        <a:buNone/>
                      </a:pPr>
                      <a:r>
                        <a:rPr lang="ar-AE" sz="1400" b="1" dirty="0"/>
                        <a:t>الأولوية</a:t>
                      </a:r>
                      <a:endParaRPr lang="ar-AE" sz="1400" dirty="0">
                        <a:latin typeface="+mn-lt"/>
                      </a:endParaRPr>
                    </a:p>
                  </a:txBody>
                  <a:tcPr marL="20927" marR="20927" marT="10464" marB="10464" anchor="ctr"/>
                </a:tc>
                <a:tc>
                  <a:txBody>
                    <a:bodyPr/>
                    <a:lstStyle/>
                    <a:p>
                      <a:pPr algn="ctr" rtl="1">
                        <a:buNone/>
                      </a:pPr>
                      <a:r>
                        <a:rPr lang="ar-AE" sz="1400" b="1" dirty="0"/>
                        <a:t>الأهمية</a:t>
                      </a:r>
                      <a:endParaRPr lang="ar-AE" sz="1400" dirty="0">
                        <a:latin typeface="+mn-lt"/>
                      </a:endParaRPr>
                    </a:p>
                  </a:txBody>
                  <a:tcPr marL="20927" marR="20927" marT="10464" marB="10464" anchor="ctr"/>
                </a:tc>
                <a:tc>
                  <a:txBody>
                    <a:bodyPr/>
                    <a:lstStyle/>
                    <a:p>
                      <a:pPr algn="ctr" rtl="1">
                        <a:buNone/>
                      </a:pPr>
                      <a:r>
                        <a:rPr lang="ar-AE" sz="1400" b="1" dirty="0"/>
                        <a:t>المصدر</a:t>
                      </a:r>
                      <a:endParaRPr lang="ar-AE" sz="1400" dirty="0">
                        <a:latin typeface="+mn-lt"/>
                      </a:endParaRPr>
                    </a:p>
                  </a:txBody>
                  <a:tcPr marL="20927" marR="20927" marT="10464" marB="10464" anchor="ctr"/>
                </a:tc>
                <a:extLst>
                  <a:ext uri="{0D108BD9-81ED-4DB2-BD59-A6C34878D82A}">
                    <a16:rowId xmlns:a16="http://schemas.microsoft.com/office/drawing/2014/main" val="4029457185"/>
                  </a:ext>
                </a:extLst>
              </a:tr>
              <a:tr h="1001167">
                <a:tc>
                  <a: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prstClr val="black"/>
                          </a:solidFill>
                          <a:effectLst/>
                          <a:uLnTx/>
                          <a:uFillTx/>
                          <a:latin typeface="+mn-lt"/>
                          <a:ea typeface="+mn-ea"/>
                          <a:cs typeface="+mn-cs"/>
                        </a:rPr>
                        <a:t>GAP-D-16</a:t>
                      </a:r>
                      <a:endParaRPr kumimoji="0" lang="ar-EG" sz="1200" b="1" i="0" u="none" strike="noStrike" kern="1200" cap="none" spc="0" normalizeH="0" baseline="0" noProof="0" dirty="0">
                        <a:ln>
                          <a:noFill/>
                        </a:ln>
                        <a:solidFill>
                          <a:prstClr val="black"/>
                        </a:solidFill>
                        <a:effectLst/>
                        <a:uLnTx/>
                        <a:uFillTx/>
                        <a:latin typeface="Sakkal Majalla"/>
                        <a:ea typeface="+mn-ea"/>
                        <a:cs typeface="Sakkal Majalla"/>
                      </a:endParaRPr>
                    </a:p>
                  </a:txBody>
                  <a:tcPr marL="20927" marR="20927" marT="10464" marB="10464" anchor="ctr"/>
                </a:tc>
                <a:tc>
                  <a:txBody>
                    <a:bodyPr/>
                    <a:lstStyle/>
                    <a:p>
                      <a:pPr algn="r" rtl="1">
                        <a:buNone/>
                      </a:pPr>
                      <a:r>
                        <a:rPr lang="ar-AE" sz="1200">
                          <a:latin typeface="+mn-lt"/>
                        </a:rPr>
                        <a:t>عدم استخدام نظام </a:t>
                      </a:r>
                      <a:r>
                        <a:rPr lang="en-US" sz="1200">
                          <a:latin typeface="+mn-lt"/>
                        </a:rPr>
                        <a:t>ECM </a:t>
                      </a:r>
                      <a:r>
                        <a:rPr lang="ar-AE" sz="1200">
                          <a:latin typeface="+mn-lt"/>
                        </a:rPr>
                        <a:t>والاكتفاء بحفظ الملفات على شبكة الهيئة</a:t>
                      </a:r>
                    </a:p>
                  </a:txBody>
                  <a:tcPr marL="24310" marR="24310" marT="12155" marB="12155" anchor="ctr"/>
                </a:tc>
                <a:tc>
                  <a:txBody>
                    <a:bodyPr/>
                    <a:lstStyle/>
                    <a:p>
                      <a:pPr algn="ctr" rtl="1" fontAlgn="ctr"/>
                      <a:r>
                        <a:rPr lang="ar-AE" sz="1200" b="0" i="0" u="none" strike="noStrike">
                          <a:solidFill>
                            <a:srgbClr val="000000"/>
                          </a:solidFill>
                          <a:effectLst/>
                          <a:latin typeface="Aptos Narrow" panose="020B0004020202020204" pitchFamily="34" charset="0"/>
                        </a:rPr>
                        <a:t>إدارة المحتوى والوثائق (5)</a:t>
                      </a:r>
                    </a:p>
                  </a:txBody>
                  <a:tcPr marL="9525" marR="9525" marT="9525" marB="0" anchor="ctr"/>
                </a:tc>
                <a:tc>
                  <a:txBody>
                    <a:bodyPr/>
                    <a:lstStyle/>
                    <a:p>
                      <a:pPr algn="r" rtl="1">
                        <a:buNone/>
                      </a:pPr>
                      <a:r>
                        <a:rPr lang="ar-AE" sz="1200" dirty="0">
                          <a:latin typeface="+mn-lt"/>
                        </a:rPr>
                        <a:t>غياب منصة موحّدة لإدارة المحتوى المؤسسي، مما يقلل من توحيد معايير تخزين الملفات والقدرة على الأرشفة الذكية</a:t>
                      </a:r>
                    </a:p>
                  </a:txBody>
                  <a:tcPr marL="24310" marR="24310" marT="12155" marB="12155" anchor="ctr"/>
                </a:tc>
                <a:tc>
                  <a:txBody>
                    <a:bodyPr/>
                    <a:lstStyle/>
                    <a:p>
                      <a:pPr algn="r" rtl="1">
                        <a:buNone/>
                      </a:pPr>
                      <a:r>
                        <a:rPr lang="ar-AE" sz="1200" dirty="0">
                          <a:latin typeface="+mn-lt"/>
                        </a:rPr>
                        <a:t>تعدّد أماكن الحفظ وصعوبة تتبّع نسخ الملفات أو تطبيق معايير أمنية موحّدة</a:t>
                      </a:r>
                    </a:p>
                  </a:txBody>
                  <a:tcPr marL="24310" marR="24310" marT="12155" marB="12155" anchor="ctr"/>
                </a:tc>
                <a:tc>
                  <a:txBody>
                    <a:bodyPr/>
                    <a:lstStyle/>
                    <a:p>
                      <a:pPr algn="r" rtl="1">
                        <a:buNone/>
                      </a:pPr>
                      <a:r>
                        <a:rPr lang="ar-AE" sz="1200" dirty="0">
                          <a:latin typeface="+mn-lt"/>
                        </a:rPr>
                        <a:t>اعتماد نظام إدارة محتوى مؤسسي (</a:t>
                      </a:r>
                      <a:r>
                        <a:rPr lang="en-US" sz="1200" dirty="0">
                          <a:latin typeface="+mn-lt"/>
                        </a:rPr>
                        <a:t>ECM) </a:t>
                      </a:r>
                      <a:r>
                        <a:rPr lang="ar-AE" sz="1200" dirty="0">
                          <a:latin typeface="+mn-lt"/>
                        </a:rPr>
                        <a:t>يضمن توحيد أساليب الحفظ والأرشفة، وتتبّع التعديلات بكفاءة</a:t>
                      </a:r>
                    </a:p>
                  </a:txBody>
                  <a:tcPr marL="24310" marR="24310" marT="12155" marB="12155" anchor="ctr"/>
                </a:tc>
                <a:tc>
                  <a:txBody>
                    <a:bodyPr/>
                    <a:lstStyle/>
                    <a:p>
                      <a:pPr algn="r" rtl="1">
                        <a:buNone/>
                      </a:pPr>
                      <a:r>
                        <a:rPr lang="ar-AE" sz="1200">
                          <a:latin typeface="+mn-lt"/>
                        </a:rPr>
                        <a:t>تركيب وتشغيل </a:t>
                      </a:r>
                      <a:r>
                        <a:rPr lang="en-US" sz="1200">
                          <a:latin typeface="+mn-lt"/>
                        </a:rPr>
                        <a:t>ECM </a:t>
                      </a:r>
                      <a:r>
                        <a:rPr lang="ar-AE" sz="1200">
                          <a:latin typeface="+mn-lt"/>
                        </a:rPr>
                        <a:t>وربطها بالأنظمة الأساسية لتسهيل البحث والأرشفة وإدارة الصلاحيات</a:t>
                      </a:r>
                    </a:p>
                  </a:txBody>
                  <a:tcPr marL="24310" marR="24310" marT="12155" marB="12155" anchor="ctr"/>
                </a:tc>
                <a:tc>
                  <a:txBody>
                    <a:bodyPr/>
                    <a:lstStyle/>
                    <a:p>
                      <a:pPr algn="ctr" rtl="1">
                        <a:buNone/>
                      </a:pPr>
                      <a:r>
                        <a:rPr lang="ar-AE" sz="1200">
                          <a:latin typeface="+mn-lt"/>
                        </a:rPr>
                        <a:t>متوسطة</a:t>
                      </a:r>
                    </a:p>
                  </a:txBody>
                  <a:tcPr marL="24310" marR="24310" marT="12155" marB="12155" anchor="ctr"/>
                </a:tc>
                <a:tc>
                  <a:txBody>
                    <a:bodyPr/>
                    <a:lstStyle/>
                    <a:p>
                      <a:pPr algn="ctr" rtl="1">
                        <a:buNone/>
                      </a:pPr>
                      <a:r>
                        <a:rPr lang="ar-AE" sz="1200" dirty="0">
                          <a:latin typeface="+mn-lt"/>
                        </a:rPr>
                        <a:t>متوسطة</a:t>
                      </a:r>
                    </a:p>
                  </a:txBody>
                  <a:tcPr marL="24310" marR="24310" marT="12155" marB="12155" anchor="ctr"/>
                </a:tc>
                <a:tc>
                  <a:txBody>
                    <a:bodyPr/>
                    <a:lstStyle/>
                    <a:p>
                      <a:pPr algn="ctr" rtl="1">
                        <a:buNone/>
                      </a:pPr>
                      <a:r>
                        <a:rPr lang="ar-AE" sz="1200" dirty="0">
                          <a:latin typeface="+mn-lt"/>
                        </a:rPr>
                        <a:t>ملف حصر البيانات</a:t>
                      </a:r>
                    </a:p>
                  </a:txBody>
                  <a:tcPr marL="24310" marR="24310" marT="12155" marB="12155" anchor="ctr"/>
                </a:tc>
                <a:extLst>
                  <a:ext uri="{0D108BD9-81ED-4DB2-BD59-A6C34878D82A}">
                    <a16:rowId xmlns:a16="http://schemas.microsoft.com/office/drawing/2014/main" val="3386048539"/>
                  </a:ext>
                </a:extLst>
              </a:tr>
              <a:tr h="1143999">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prstClr val="black"/>
                          </a:solidFill>
                          <a:effectLst/>
                          <a:uLnTx/>
                          <a:uFillTx/>
                          <a:latin typeface="+mn-lt"/>
                          <a:ea typeface="+mn-ea"/>
                          <a:cs typeface="+mn-cs"/>
                        </a:rPr>
                        <a:t>GAP-D-17</a:t>
                      </a:r>
                      <a:endParaRPr kumimoji="0" lang="ar-EG" sz="1200" b="1" i="0" u="none" strike="noStrike" kern="1200" cap="none" spc="0" normalizeH="0" baseline="0" noProof="0" dirty="0">
                        <a:ln>
                          <a:noFill/>
                        </a:ln>
                        <a:solidFill>
                          <a:prstClr val="black"/>
                        </a:solidFill>
                        <a:effectLst/>
                        <a:uLnTx/>
                        <a:uFillTx/>
                        <a:latin typeface="Sakkal Majalla"/>
                        <a:ea typeface="+mn-ea"/>
                        <a:cs typeface="Sakkal Majalla"/>
                      </a:endParaRPr>
                    </a:p>
                  </a:txBody>
                  <a:tcPr marL="20927" marR="20927" marT="10464" marB="10464" anchor="ctr"/>
                </a:tc>
                <a:tc>
                  <a:txBody>
                    <a:bodyPr/>
                    <a:lstStyle/>
                    <a:p>
                      <a:pPr algn="r" rtl="1">
                        <a:buNone/>
                      </a:pPr>
                      <a:r>
                        <a:rPr lang="ar-AE" sz="1200" dirty="0">
                          <a:latin typeface="+mn-lt"/>
                        </a:rPr>
                        <a:t>توفر قدرات الذكاء الاصطناعي وتعلم الآلة دون تفعيل شامل على مستوى الهيئة.</a:t>
                      </a:r>
                    </a:p>
                  </a:txBody>
                  <a:tcPr marL="24310" marR="24310" marT="12155" marB="12155" anchor="ctr"/>
                </a:tc>
                <a:tc>
                  <a:txBody>
                    <a:bodyPr/>
                    <a:lstStyle/>
                    <a:p>
                      <a:pPr algn="ctr" rtl="1" fontAlgn="ctr"/>
                      <a:r>
                        <a:rPr lang="ar-AE" sz="1200" b="0" i="0" u="none" strike="noStrike">
                          <a:solidFill>
                            <a:srgbClr val="000000"/>
                          </a:solidFill>
                          <a:effectLst/>
                          <a:latin typeface="Aptos Narrow" panose="020B0004020202020204" pitchFamily="34" charset="0"/>
                        </a:rPr>
                        <a:t>ذكاء الأعمال والتحليلات (9)</a:t>
                      </a:r>
                    </a:p>
                  </a:txBody>
                  <a:tcPr marL="9525" marR="9525" marT="9525" marB="0" anchor="ctr"/>
                </a:tc>
                <a:tc>
                  <a:txBody>
                    <a:bodyPr/>
                    <a:lstStyle/>
                    <a:p>
                      <a:pPr algn="r" rtl="1">
                        <a:buNone/>
                      </a:pPr>
                      <a:r>
                        <a:rPr lang="ar-AE" sz="1200" dirty="0">
                          <a:latin typeface="+mn-lt"/>
                        </a:rPr>
                        <a:t>تتوفر لدى الهيئة أدوات وتقنيات تدعم تطبيقات الذكاء الاصطناعي وتعلم الآلة، إلا أنها غير مفعلة بشكل </a:t>
                      </a:r>
                      <a:r>
                        <a:rPr lang="ar-SA" sz="1200" dirty="0">
                          <a:latin typeface="+mn-lt"/>
                        </a:rPr>
                        <a:t>كامل</a:t>
                      </a:r>
                      <a:r>
                        <a:rPr lang="ar-AE" sz="1200" dirty="0">
                          <a:latin typeface="+mn-lt"/>
                        </a:rPr>
                        <a:t>، مما يحد من الاستفادة من هذه التقنيات الحديثة.</a:t>
                      </a:r>
                    </a:p>
                  </a:txBody>
                  <a:tcPr marL="24310" marR="24310" marT="12155" marB="12155" anchor="ctr"/>
                </a:tc>
                <a:tc>
                  <a:txBody>
                    <a:bodyPr/>
                    <a:lstStyle/>
                    <a:p>
                      <a:pPr algn="r" rtl="1">
                        <a:buNone/>
                      </a:pPr>
                      <a:r>
                        <a:rPr lang="ar-AE" sz="1200" dirty="0">
                          <a:latin typeface="+mn-lt"/>
                        </a:rPr>
                        <a:t>ضعف في الاستفادة من الذكاء الاصطناعي في تحسين الكفاءة التشغيلية، وغياب التحليلات التنبؤية والقرارات الاستباقية، مما يؤدي إلى استمرار الإجراءات التقليدية.</a:t>
                      </a:r>
                    </a:p>
                  </a:txBody>
                  <a:tcPr marL="24310" marR="24310" marT="12155" marB="12155" anchor="ctr"/>
                </a:tc>
                <a:tc>
                  <a:txBody>
                    <a:bodyPr/>
                    <a:lstStyle/>
                    <a:p>
                      <a:pPr algn="r" rtl="1">
                        <a:buNone/>
                      </a:pPr>
                      <a:r>
                        <a:rPr lang="ar-AE" sz="1200" dirty="0">
                          <a:latin typeface="+mn-lt"/>
                        </a:rPr>
                        <a:t>تفعيل شامل لتقنيات الذكاء الاصطناعي وتعلم الآلة يعزز من الكفاءة التشغيلية، ويدعم الأتمتة، ويسهم في اتخاذ قرارات أكثر دقة وفاعلية، وتحقيق قيمة أكبر من البيانات.</a:t>
                      </a:r>
                    </a:p>
                  </a:txBody>
                  <a:tcPr marL="24310" marR="24310" marT="12155" marB="12155" anchor="ctr"/>
                </a:tc>
                <a:tc>
                  <a:txBody>
                    <a:bodyPr/>
                    <a:lstStyle/>
                    <a:p>
                      <a:pPr algn="r" rtl="1">
                        <a:buNone/>
                      </a:pPr>
                      <a:r>
                        <a:rPr lang="ar-AE" sz="1200" dirty="0">
                          <a:latin typeface="+mn-lt"/>
                        </a:rPr>
                        <a:t>تصميم خطة تفعيل مؤسسي لاستخدام الذكاء الاصطناعي وتعلم الآلة في المجالات ذات الأولوية، وتضمينها في خارطة التحول الرقمي، وتوفير القدرات والحوكمة اللازمة.</a:t>
                      </a:r>
                    </a:p>
                  </a:txBody>
                  <a:tcPr marL="24310" marR="24310" marT="12155" marB="12155" anchor="ctr"/>
                </a:tc>
                <a:tc>
                  <a:txBody>
                    <a:bodyPr/>
                    <a:lstStyle/>
                    <a:p>
                      <a:pPr algn="ctr" rtl="1">
                        <a:buNone/>
                      </a:pPr>
                      <a:r>
                        <a:rPr lang="ar-AE" sz="1200" dirty="0">
                          <a:latin typeface="+mn-lt"/>
                        </a:rPr>
                        <a:t>متوسطة</a:t>
                      </a:r>
                    </a:p>
                  </a:txBody>
                  <a:tcPr marL="24310" marR="24310" marT="12155" marB="12155" anchor="ctr"/>
                </a:tc>
                <a:tc>
                  <a:txBody>
                    <a:bodyPr/>
                    <a:lstStyle/>
                    <a:p>
                      <a:pPr algn="ctr" rtl="1">
                        <a:buNone/>
                      </a:pPr>
                      <a:r>
                        <a:rPr lang="ar-AE" sz="1200" dirty="0">
                          <a:latin typeface="+mn-lt"/>
                        </a:rPr>
                        <a:t>عالية</a:t>
                      </a:r>
                    </a:p>
                  </a:txBody>
                  <a:tcPr marL="24310" marR="24310" marT="12155" marB="12155" anchor="ctr"/>
                </a:tc>
                <a:tc>
                  <a:txBody>
                    <a:bodyPr/>
                    <a:lstStyle/>
                    <a:p>
                      <a:pPr algn="ctr" rtl="1">
                        <a:buNone/>
                      </a:pPr>
                      <a:r>
                        <a:rPr lang="ar-AE" sz="1200" dirty="0">
                          <a:latin typeface="+mn-lt"/>
                        </a:rPr>
                        <a:t>ملف حصر البيانات</a:t>
                      </a:r>
                    </a:p>
                  </a:txBody>
                  <a:tcPr marL="24310" marR="24310" marT="12155" marB="12155" anchor="ctr"/>
                </a:tc>
                <a:extLst>
                  <a:ext uri="{0D108BD9-81ED-4DB2-BD59-A6C34878D82A}">
                    <a16:rowId xmlns:a16="http://schemas.microsoft.com/office/drawing/2014/main" val="3067900995"/>
                  </a:ext>
                </a:extLst>
              </a:tr>
              <a:tr h="1001167">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prstClr val="black"/>
                          </a:solidFill>
                          <a:effectLst/>
                          <a:uLnTx/>
                          <a:uFillTx/>
                          <a:latin typeface="+mn-lt"/>
                          <a:ea typeface="+mn-ea"/>
                          <a:cs typeface="+mn-cs"/>
                        </a:rPr>
                        <a:t>GAP-D-18</a:t>
                      </a:r>
                      <a:endParaRPr kumimoji="0" lang="ar-EG" sz="1200" b="0" i="0" u="none" strike="noStrike" kern="1200" cap="none" spc="0" normalizeH="0" baseline="0" noProof="0" dirty="0">
                        <a:ln>
                          <a:noFill/>
                        </a:ln>
                        <a:solidFill>
                          <a:prstClr val="black"/>
                        </a:solidFill>
                        <a:effectLst/>
                        <a:uLnTx/>
                        <a:uFillTx/>
                        <a:latin typeface="+mn-lt"/>
                        <a:ea typeface="+mn-ea"/>
                        <a:cs typeface="+mn-cs"/>
                      </a:endParaRPr>
                    </a:p>
                  </a:txBody>
                  <a:tcPr marL="20927" marR="20927" marT="10464" marB="10464" anchor="ctr"/>
                </a:tc>
                <a:tc>
                  <a:txBody>
                    <a:bodyPr/>
                    <a:lstStyle/>
                    <a:p>
                      <a:pPr algn="r" rtl="1">
                        <a:buNone/>
                      </a:pPr>
                      <a:r>
                        <a:rPr lang="ar-AE" sz="1200" dirty="0">
                          <a:latin typeface="+mn-lt"/>
                        </a:rPr>
                        <a:t>عدم وجود إجراءات موحّدة لتحديد البيانات الرئيسية والمرجعية</a:t>
                      </a:r>
                    </a:p>
                  </a:txBody>
                  <a:tcPr marL="24310" marR="24310" marT="12155" marB="12155" anchor="ctr"/>
                </a:tc>
                <a:tc>
                  <a:txBody>
                    <a:bodyPr/>
                    <a:lstStyle/>
                    <a:p>
                      <a:pPr algn="ctr" rtl="1" fontAlgn="ctr"/>
                      <a:r>
                        <a:rPr lang="ar-AE" sz="1200" b="0" i="0" u="none" strike="noStrike">
                          <a:solidFill>
                            <a:srgbClr val="000000"/>
                          </a:solidFill>
                          <a:effectLst/>
                          <a:latin typeface="Aptos Narrow" panose="020B0004020202020204" pitchFamily="34" charset="0"/>
                        </a:rPr>
                        <a:t>إدارة البيانات المرجعية والرئيسية (8)</a:t>
                      </a:r>
                    </a:p>
                  </a:txBody>
                  <a:tcPr marL="9525" marR="9525" marT="9525" marB="0" anchor="ctr"/>
                </a:tc>
                <a:tc>
                  <a:txBody>
                    <a:bodyPr/>
                    <a:lstStyle/>
                    <a:p>
                      <a:pPr algn="r" rtl="1">
                        <a:buNone/>
                      </a:pPr>
                      <a:r>
                        <a:rPr lang="ar-AE" sz="1200" dirty="0">
                          <a:latin typeface="+mn-lt"/>
                        </a:rPr>
                        <a:t>غياب إطار واضح لتعريف البيانات الأساسية والمرجعية وضمان تحديثها في مختلف الأنظمة</a:t>
                      </a:r>
                    </a:p>
                  </a:txBody>
                  <a:tcPr marL="24310" marR="24310" marT="12155" marB="12155" anchor="ctr"/>
                </a:tc>
                <a:tc>
                  <a:txBody>
                    <a:bodyPr/>
                    <a:lstStyle/>
                    <a:p>
                      <a:pPr algn="r" rtl="1">
                        <a:buNone/>
                      </a:pPr>
                      <a:r>
                        <a:rPr lang="ar-AE" sz="1200" dirty="0">
                          <a:latin typeface="+mn-lt"/>
                        </a:rPr>
                        <a:t>حدوث تكرار وتضارب في المعلومات الأساسية بين الأنظمة وصعوبة الحفاظ على البيانات الصحيحة</a:t>
                      </a:r>
                    </a:p>
                  </a:txBody>
                  <a:tcPr marL="24310" marR="24310" marT="12155" marB="12155" anchor="ctr"/>
                </a:tc>
                <a:tc>
                  <a:txBody>
                    <a:bodyPr/>
                    <a:lstStyle/>
                    <a:p>
                      <a:pPr algn="r" rtl="1">
                        <a:buNone/>
                      </a:pPr>
                      <a:r>
                        <a:rPr lang="ar-AE" sz="1200" dirty="0">
                          <a:latin typeface="+mn-lt"/>
                        </a:rPr>
                        <a:t>اعتماد إجراءات مركزية لتحديد البيانات الأساسية والمرجعية وتحديثها باستمرار</a:t>
                      </a:r>
                    </a:p>
                  </a:txBody>
                  <a:tcPr marL="24310" marR="24310" marT="12155" marB="12155" anchor="ctr"/>
                </a:tc>
                <a:tc>
                  <a:txBody>
                    <a:bodyPr/>
                    <a:lstStyle/>
                    <a:p>
                      <a:pPr algn="r" rtl="1">
                        <a:buNone/>
                      </a:pPr>
                      <a:r>
                        <a:rPr lang="ar-AE" sz="1200" dirty="0">
                          <a:latin typeface="+mn-lt"/>
                        </a:rPr>
                        <a:t>توحيد قوائم البيانات وإنشاء قواميس بيانات مرجعية وإلزام الأنظمة باعتمادها</a:t>
                      </a:r>
                    </a:p>
                  </a:txBody>
                  <a:tcPr marL="24310" marR="24310" marT="12155" marB="12155" anchor="ctr"/>
                </a:tc>
                <a:tc>
                  <a:txBody>
                    <a:bodyPr/>
                    <a:lstStyle/>
                    <a:p>
                      <a:pPr algn="ctr" rtl="1">
                        <a:buNone/>
                      </a:pPr>
                      <a:r>
                        <a:rPr lang="ar-AE" sz="1200" dirty="0">
                          <a:latin typeface="+mn-lt"/>
                        </a:rPr>
                        <a:t>عالية</a:t>
                      </a:r>
                    </a:p>
                  </a:txBody>
                  <a:tcPr marL="24310" marR="24310" marT="12155" marB="12155" anchor="ctr"/>
                </a:tc>
                <a:tc>
                  <a:txBody>
                    <a:bodyPr/>
                    <a:lstStyle/>
                    <a:p>
                      <a:pPr algn="ctr" rtl="1">
                        <a:buNone/>
                      </a:pPr>
                      <a:r>
                        <a:rPr lang="ar-AE" sz="1200" dirty="0">
                          <a:latin typeface="+mn-lt"/>
                        </a:rPr>
                        <a:t>عالية</a:t>
                      </a:r>
                    </a:p>
                  </a:txBody>
                  <a:tcPr marL="24310" marR="24310" marT="12155" marB="12155" anchor="ctr"/>
                </a:tc>
                <a:tc>
                  <a:txBody>
                    <a:bodyPr/>
                    <a:lstStyle/>
                    <a:p>
                      <a:pPr algn="ctr" rtl="1">
                        <a:buNone/>
                      </a:pPr>
                      <a:r>
                        <a:rPr lang="ar-AE" sz="1200" dirty="0">
                          <a:latin typeface="+mn-lt"/>
                        </a:rPr>
                        <a:t>متطلبات البنية المؤسسية</a:t>
                      </a:r>
                    </a:p>
                  </a:txBody>
                  <a:tcPr marL="24310" marR="24310" marT="12155" marB="12155" anchor="ctr"/>
                </a:tc>
                <a:extLst>
                  <a:ext uri="{0D108BD9-81ED-4DB2-BD59-A6C34878D82A}">
                    <a16:rowId xmlns:a16="http://schemas.microsoft.com/office/drawing/2014/main" val="4205275932"/>
                  </a:ext>
                </a:extLst>
              </a:tr>
              <a:tr h="147928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prstClr val="black"/>
                          </a:solidFill>
                          <a:effectLst/>
                          <a:uLnTx/>
                          <a:uFillTx/>
                          <a:latin typeface="+mn-lt"/>
                          <a:ea typeface="+mn-ea"/>
                          <a:cs typeface="+mn-cs"/>
                        </a:rPr>
                        <a:t>GAP-D-19</a:t>
                      </a:r>
                      <a:endParaRPr kumimoji="0" lang="ar-EG" sz="1200" b="1" i="0" u="none" strike="noStrike" kern="1200" cap="none" spc="0" normalizeH="0" baseline="0" noProof="0" dirty="0">
                        <a:ln>
                          <a:noFill/>
                        </a:ln>
                        <a:solidFill>
                          <a:prstClr val="black"/>
                        </a:solidFill>
                        <a:effectLst/>
                        <a:uLnTx/>
                        <a:uFillTx/>
                        <a:latin typeface="+mn-lt"/>
                        <a:ea typeface="+mn-ea"/>
                        <a:cs typeface="+mn-cs"/>
                      </a:endParaRPr>
                    </a:p>
                  </a:txBody>
                  <a:tcPr marL="20927" marR="20927" marT="10464" marB="10464" anchor="ctr"/>
                </a:tc>
                <a:tc>
                  <a:txBody>
                    <a:bodyPr/>
                    <a:lstStyle/>
                    <a:p>
                      <a:pPr algn="r" rtl="1">
                        <a:buNone/>
                      </a:pPr>
                      <a:r>
                        <a:rPr lang="ar-AE" sz="1200" dirty="0">
                          <a:latin typeface="+mn-lt"/>
                        </a:rPr>
                        <a:t>غياب تقنيات تصنيف </a:t>
                      </a:r>
                      <a:r>
                        <a:rPr lang="ar-SA" sz="1200" dirty="0">
                          <a:latin typeface="+mn-lt"/>
                        </a:rPr>
                        <a:t>البيانات</a:t>
                      </a:r>
                      <a:r>
                        <a:rPr lang="ar-AE" sz="1200" dirty="0">
                          <a:latin typeface="+mn-lt"/>
                        </a:rPr>
                        <a:t> المتقدم</a:t>
                      </a:r>
                    </a:p>
                  </a:txBody>
                  <a:tcPr marL="24310" marR="24310" marT="12155" marB="12155" anchor="ctr"/>
                </a:tc>
                <a:tc>
                  <a:txBody>
                    <a:bodyPr/>
                    <a:lstStyle/>
                    <a:p>
                      <a:pPr algn="ctr" rtl="1" fontAlgn="ctr"/>
                      <a:r>
                        <a:rPr lang="ar-AE" sz="1200" b="0" i="0" u="none" strike="noStrike" dirty="0">
                          <a:solidFill>
                            <a:srgbClr val="000000"/>
                          </a:solidFill>
                          <a:effectLst/>
                          <a:latin typeface="Aptos Narrow" panose="020B0004020202020204" pitchFamily="34" charset="0"/>
                        </a:rPr>
                        <a:t>تصنيف البيانات (13)</a:t>
                      </a:r>
                    </a:p>
                  </a:txBody>
                  <a:tcPr marL="9525" marR="9525" marT="9525" marB="0" anchor="ctr"/>
                </a:tc>
                <a:tc>
                  <a:txBody>
                    <a:bodyPr/>
                    <a:lstStyle/>
                    <a:p>
                      <a:pPr algn="r" rtl="1">
                        <a:buNone/>
                      </a:pPr>
                      <a:r>
                        <a:rPr lang="ar-AE" sz="1200" dirty="0">
                          <a:latin typeface="+mn-lt"/>
                        </a:rPr>
                        <a:t>استخدام أساليب بدائية أو محدودة في تصنيف البيانات، ما يقلل من فاعلية تنظيمها</a:t>
                      </a:r>
                    </a:p>
                  </a:txBody>
                  <a:tcPr marL="24310" marR="24310" marT="12155" marB="12155" anchor="ctr"/>
                </a:tc>
                <a:tc>
                  <a:txBody>
                    <a:bodyPr/>
                    <a:lstStyle/>
                    <a:p>
                      <a:pPr algn="r" rtl="1">
                        <a:buNone/>
                      </a:pPr>
                      <a:r>
                        <a:rPr lang="ar-AE" sz="1200">
                          <a:latin typeface="+mn-lt"/>
                        </a:rPr>
                        <a:t>صعوبة الوصول السريع للبيانات المطلوبة، وإهدار موارد في البحث والربط اليدوي</a:t>
                      </a:r>
                    </a:p>
                  </a:txBody>
                  <a:tcPr marL="24310" marR="24310" marT="12155" marB="12155" anchor="ctr"/>
                </a:tc>
                <a:tc>
                  <a:txBody>
                    <a:bodyPr/>
                    <a:lstStyle/>
                    <a:p>
                      <a:pPr algn="r" rtl="1">
                        <a:buNone/>
                      </a:pPr>
                      <a:r>
                        <a:rPr lang="ar-AE" sz="1200" dirty="0">
                          <a:latin typeface="+mn-lt"/>
                        </a:rPr>
                        <a:t>تطبيق أنظمة ذكية لتصنيف البيانات (مثل التصنيف المؤسسي) مع دعم التحليل الآلي للمحتوى</a:t>
                      </a:r>
                    </a:p>
                  </a:txBody>
                  <a:tcPr marL="24310" marR="24310" marT="12155" marB="12155" anchor="ctr"/>
                </a:tc>
                <a:tc>
                  <a:txBody>
                    <a:bodyPr/>
                    <a:lstStyle/>
                    <a:p>
                      <a:pPr algn="r" rtl="1">
                        <a:buNone/>
                      </a:pPr>
                      <a:r>
                        <a:rPr lang="ar-AE" sz="1200" dirty="0">
                          <a:latin typeface="+mn-lt"/>
                        </a:rPr>
                        <a:t>اعتماد تقنيات متخصصة في التصنيف والمؤشرات الوصفية، ما يرفع كفاءة الأرشفة والبحث</a:t>
                      </a:r>
                    </a:p>
                  </a:txBody>
                  <a:tcPr marL="24310" marR="24310" marT="12155" marB="12155" anchor="ctr"/>
                </a:tc>
                <a:tc>
                  <a:txBody>
                    <a:bodyPr/>
                    <a:lstStyle/>
                    <a:p>
                      <a:pPr algn="ctr" rtl="1">
                        <a:buNone/>
                      </a:pPr>
                      <a:r>
                        <a:rPr lang="ar-AE" sz="1200" dirty="0">
                          <a:latin typeface="+mn-lt"/>
                        </a:rPr>
                        <a:t>متوسطة</a:t>
                      </a:r>
                    </a:p>
                  </a:txBody>
                  <a:tcPr marL="24310" marR="24310" marT="12155" marB="12155" anchor="ctr"/>
                </a:tc>
                <a:tc>
                  <a:txBody>
                    <a:bodyPr/>
                    <a:lstStyle/>
                    <a:p>
                      <a:pPr algn="ctr" rtl="1">
                        <a:buNone/>
                      </a:pPr>
                      <a:r>
                        <a:rPr lang="ar-AE" sz="1200" dirty="0">
                          <a:latin typeface="+mn-lt"/>
                        </a:rPr>
                        <a:t>متوسطة</a:t>
                      </a:r>
                    </a:p>
                  </a:txBody>
                  <a:tcPr marL="24310" marR="24310" marT="12155" marB="12155" anchor="ctr"/>
                </a:tc>
                <a:tc>
                  <a:txBody>
                    <a:bodyPr/>
                    <a:lstStyle/>
                    <a:p>
                      <a:pPr algn="ctr" rtl="1">
                        <a:buNone/>
                      </a:pPr>
                      <a:r>
                        <a:rPr lang="ar-AE" sz="1200" dirty="0">
                          <a:latin typeface="+mn-lt"/>
                        </a:rPr>
                        <a:t>متطلبات البنية المؤسسية</a:t>
                      </a:r>
                    </a:p>
                  </a:txBody>
                  <a:tcPr marL="24310" marR="24310" marT="12155" marB="12155" anchor="ctr"/>
                </a:tc>
                <a:extLst>
                  <a:ext uri="{0D108BD9-81ED-4DB2-BD59-A6C34878D82A}">
                    <a16:rowId xmlns:a16="http://schemas.microsoft.com/office/drawing/2014/main" val="152741407"/>
                  </a:ext>
                </a:extLst>
              </a:tr>
            </a:tbl>
          </a:graphicData>
        </a:graphic>
      </p:graphicFrame>
    </p:spTree>
    <p:extLst>
      <p:ext uri="{BB962C8B-B14F-4D97-AF65-F5344CB8AC3E}">
        <p14:creationId xmlns:p14="http://schemas.microsoft.com/office/powerpoint/2010/main" val="3564497957"/>
      </p:ext>
    </p:extLst>
  </p:cSld>
  <p:clrMapOvr>
    <a:masterClrMapping/>
  </p:clrMapOvr>
  <mc:AlternateContent xmlns:mc="http://schemas.openxmlformats.org/markup-compatibility/2006" xmlns:p14="http://schemas.microsoft.com/office/powerpoint/2010/main">
    <mc:Choice Requires="p14">
      <p:transition spd="slow" p14:dur="1300">
        <p14:pan dir="r"/>
      </p:transition>
    </mc:Choice>
    <mc:Fallback xmlns="">
      <p:transition spd="slow">
        <p:fade/>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982BBE-B487-6566-14FA-F9145ED2490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F650F98-38D0-9BA3-0EE2-1FBC51B5E378}"/>
              </a:ext>
            </a:extLst>
          </p:cNvPr>
          <p:cNvSpPr>
            <a:spLocks noGrp="1"/>
          </p:cNvSpPr>
          <p:nvPr>
            <p:ph type="title"/>
          </p:nvPr>
        </p:nvSpPr>
        <p:spPr/>
        <p:txBody>
          <a:bodyPr/>
          <a:lstStyle/>
          <a:p>
            <a:r>
              <a:rPr lang="ar-SA" noProof="0" dirty="0"/>
              <a:t>ملخص تحليل الفجوات لبنية البيانات</a:t>
            </a:r>
            <a:endParaRPr lang="en-AE" dirty="0"/>
          </a:p>
        </p:txBody>
      </p:sp>
      <p:sp>
        <p:nvSpPr>
          <p:cNvPr id="3" name="Slide Number Placeholder 2">
            <a:extLst>
              <a:ext uri="{FF2B5EF4-FFF2-40B4-BE49-F238E27FC236}">
                <a16:creationId xmlns:a16="http://schemas.microsoft.com/office/drawing/2014/main" id="{6A4E4B08-948D-50A9-6DC1-CA126B5BA6F8}"/>
              </a:ext>
            </a:extLst>
          </p:cNvPr>
          <p:cNvSpPr>
            <a:spLocks noGrp="1"/>
          </p:cNvSpPr>
          <p:nvPr>
            <p:ph type="sldNum" sz="quarter" idx="12"/>
          </p:nvPr>
        </p:nvSpPr>
        <p:spPr/>
        <p:txBody>
          <a:bodyPr/>
          <a:lstStyle/>
          <a:p>
            <a:fld id="{0BE4EC83-A869-464E-AE9F-881796FB085E}" type="slidenum">
              <a:rPr lang="en-US" smtClean="0"/>
              <a:t>36</a:t>
            </a:fld>
            <a:endParaRPr lang="en-US"/>
          </a:p>
        </p:txBody>
      </p:sp>
      <p:graphicFrame>
        <p:nvGraphicFramePr>
          <p:cNvPr id="4" name="Table 3">
            <a:extLst>
              <a:ext uri="{FF2B5EF4-FFF2-40B4-BE49-F238E27FC236}">
                <a16:creationId xmlns:a16="http://schemas.microsoft.com/office/drawing/2014/main" id="{355F8041-410B-899D-E88E-74275E3FD4D9}"/>
              </a:ext>
            </a:extLst>
          </p:cNvPr>
          <p:cNvGraphicFramePr>
            <a:graphicFrameLocks noGrp="1"/>
          </p:cNvGraphicFramePr>
          <p:nvPr>
            <p:extLst>
              <p:ext uri="{D42A27DB-BD31-4B8C-83A1-F6EECF244321}">
                <p14:modId xmlns:p14="http://schemas.microsoft.com/office/powerpoint/2010/main" val="251663482"/>
              </p:ext>
            </p:extLst>
          </p:nvPr>
        </p:nvGraphicFramePr>
        <p:xfrm>
          <a:off x="621453" y="1123950"/>
          <a:ext cx="10960946" cy="4431342"/>
        </p:xfrm>
        <a:graphic>
          <a:graphicData uri="http://schemas.openxmlformats.org/drawingml/2006/table">
            <a:tbl>
              <a:tblPr rtl="1" firstRow="1" bandRow="1">
                <a:tableStyleId>{B301B821-A1FF-4177-AEE7-76D212191A09}</a:tableStyleId>
              </a:tblPr>
              <a:tblGrid>
                <a:gridCol w="776172">
                  <a:extLst>
                    <a:ext uri="{9D8B030D-6E8A-4147-A177-3AD203B41FA5}">
                      <a16:colId xmlns:a16="http://schemas.microsoft.com/office/drawing/2014/main" val="1848166869"/>
                    </a:ext>
                  </a:extLst>
                </a:gridCol>
                <a:gridCol w="1009315">
                  <a:extLst>
                    <a:ext uri="{9D8B030D-6E8A-4147-A177-3AD203B41FA5}">
                      <a16:colId xmlns:a16="http://schemas.microsoft.com/office/drawing/2014/main" val="3183077499"/>
                    </a:ext>
                  </a:extLst>
                </a:gridCol>
                <a:gridCol w="1506191">
                  <a:extLst>
                    <a:ext uri="{9D8B030D-6E8A-4147-A177-3AD203B41FA5}">
                      <a16:colId xmlns:a16="http://schemas.microsoft.com/office/drawing/2014/main" val="3730834252"/>
                    </a:ext>
                  </a:extLst>
                </a:gridCol>
                <a:gridCol w="1506191">
                  <a:extLst>
                    <a:ext uri="{9D8B030D-6E8A-4147-A177-3AD203B41FA5}">
                      <a16:colId xmlns:a16="http://schemas.microsoft.com/office/drawing/2014/main" val="2407940828"/>
                    </a:ext>
                  </a:extLst>
                </a:gridCol>
                <a:gridCol w="1456317">
                  <a:extLst>
                    <a:ext uri="{9D8B030D-6E8A-4147-A177-3AD203B41FA5}">
                      <a16:colId xmlns:a16="http://schemas.microsoft.com/office/drawing/2014/main" val="2266366844"/>
                    </a:ext>
                  </a:extLst>
                </a:gridCol>
                <a:gridCol w="1546090">
                  <a:extLst>
                    <a:ext uri="{9D8B030D-6E8A-4147-A177-3AD203B41FA5}">
                      <a16:colId xmlns:a16="http://schemas.microsoft.com/office/drawing/2014/main" val="170401669"/>
                    </a:ext>
                  </a:extLst>
                </a:gridCol>
                <a:gridCol w="1366544">
                  <a:extLst>
                    <a:ext uri="{9D8B030D-6E8A-4147-A177-3AD203B41FA5}">
                      <a16:colId xmlns:a16="http://schemas.microsoft.com/office/drawing/2014/main" val="4110629147"/>
                    </a:ext>
                  </a:extLst>
                </a:gridCol>
                <a:gridCol w="458839">
                  <a:extLst>
                    <a:ext uri="{9D8B030D-6E8A-4147-A177-3AD203B41FA5}">
                      <a16:colId xmlns:a16="http://schemas.microsoft.com/office/drawing/2014/main" val="2090639194"/>
                    </a:ext>
                  </a:extLst>
                </a:gridCol>
                <a:gridCol w="557940">
                  <a:extLst>
                    <a:ext uri="{9D8B030D-6E8A-4147-A177-3AD203B41FA5}">
                      <a16:colId xmlns:a16="http://schemas.microsoft.com/office/drawing/2014/main" val="1489210985"/>
                    </a:ext>
                  </a:extLst>
                </a:gridCol>
                <a:gridCol w="777347">
                  <a:extLst>
                    <a:ext uri="{9D8B030D-6E8A-4147-A177-3AD203B41FA5}">
                      <a16:colId xmlns:a16="http://schemas.microsoft.com/office/drawing/2014/main" val="602859565"/>
                    </a:ext>
                  </a:extLst>
                </a:gridCol>
              </a:tblGrid>
              <a:tr h="266510">
                <a:tc>
                  <a:txBody>
                    <a:bodyPr/>
                    <a:lstStyle/>
                    <a:p>
                      <a:pPr marL="0" algn="ctr" defTabSz="914400" rtl="0" eaLnBrk="1" latinLnBrk="0" hangingPunct="1">
                        <a:buNone/>
                      </a:pPr>
                      <a:r>
                        <a:rPr lang="en-US" sz="1400" dirty="0">
                          <a:latin typeface="+mn-lt"/>
                        </a:rPr>
                        <a:t>Code</a:t>
                      </a:r>
                      <a:endParaRPr lang="ar-AE" sz="1400" dirty="0">
                        <a:latin typeface="+mn-lt"/>
                      </a:endParaRPr>
                    </a:p>
                  </a:txBody>
                  <a:tcPr marL="20927" marR="20927" marT="10464" marB="10464" anchor="ctr"/>
                </a:tc>
                <a:tc>
                  <a:txBody>
                    <a:bodyPr/>
                    <a:lstStyle/>
                    <a:p>
                      <a:pPr algn="ctr" rtl="1">
                        <a:buNone/>
                      </a:pPr>
                      <a:r>
                        <a:rPr lang="ar-AE" sz="1400" b="1" dirty="0"/>
                        <a:t>الفجوة</a:t>
                      </a:r>
                      <a:endParaRPr lang="ar-AE" sz="1400" dirty="0">
                        <a:latin typeface="+mn-lt"/>
                      </a:endParaRPr>
                    </a:p>
                  </a:txBody>
                  <a:tcPr marL="20927" marR="20927" marT="10464" marB="10464" anchor="ctr"/>
                </a:tc>
                <a:tc>
                  <a:txBody>
                    <a:bodyPr/>
                    <a:lstStyle/>
                    <a:p>
                      <a:pPr algn="ctr" rtl="1">
                        <a:buNone/>
                      </a:pPr>
                      <a:r>
                        <a:rPr lang="ar-AE" sz="1400" dirty="0">
                          <a:latin typeface="+mn-lt"/>
                        </a:rPr>
                        <a:t>التصنيف</a:t>
                      </a:r>
                    </a:p>
                  </a:txBody>
                  <a:tcPr marL="20927" marR="20927" marT="10464" marB="10464" anchor="ctr"/>
                </a:tc>
                <a:tc>
                  <a:txBody>
                    <a:bodyPr/>
                    <a:lstStyle/>
                    <a:p>
                      <a:pPr algn="ctr" rtl="1">
                        <a:buNone/>
                      </a:pPr>
                      <a:r>
                        <a:rPr lang="ar-AE" sz="1400" b="1" dirty="0"/>
                        <a:t>الوصف</a:t>
                      </a:r>
                      <a:endParaRPr lang="ar-AE" sz="1400" dirty="0">
                        <a:latin typeface="+mn-lt"/>
                      </a:endParaRPr>
                    </a:p>
                  </a:txBody>
                  <a:tcPr marL="20927" marR="20927" marT="10464" marB="10464" anchor="ctr"/>
                </a:tc>
                <a:tc>
                  <a:txBody>
                    <a:bodyPr/>
                    <a:lstStyle/>
                    <a:p>
                      <a:pPr algn="ctr" rtl="1">
                        <a:buNone/>
                      </a:pPr>
                      <a:r>
                        <a:rPr lang="ar-AE" sz="1400" b="1" dirty="0"/>
                        <a:t>الأثر الحالي</a:t>
                      </a:r>
                      <a:endParaRPr lang="ar-AE" sz="1400" dirty="0">
                        <a:latin typeface="+mn-lt"/>
                      </a:endParaRPr>
                    </a:p>
                  </a:txBody>
                  <a:tcPr marL="20927" marR="20927" marT="10464" marB="10464" anchor="ctr"/>
                </a:tc>
                <a:tc>
                  <a:txBody>
                    <a:bodyPr/>
                    <a:lstStyle/>
                    <a:p>
                      <a:pPr algn="ctr" rtl="1">
                        <a:buNone/>
                      </a:pPr>
                      <a:r>
                        <a:rPr lang="ar-AE" sz="1400" b="1" dirty="0"/>
                        <a:t>الأثر بعد الردم (المعالجة)</a:t>
                      </a:r>
                      <a:endParaRPr lang="ar-AE" sz="1400" dirty="0">
                        <a:latin typeface="+mn-lt"/>
                      </a:endParaRPr>
                    </a:p>
                  </a:txBody>
                  <a:tcPr marL="20927" marR="20927" marT="10464" marB="10464" anchor="ctr"/>
                </a:tc>
                <a:tc>
                  <a:txBody>
                    <a:bodyPr/>
                    <a:lstStyle/>
                    <a:p>
                      <a:pPr algn="ctr" rtl="1">
                        <a:buNone/>
                      </a:pPr>
                      <a:r>
                        <a:rPr lang="ar-AE" sz="1400" b="1" dirty="0"/>
                        <a:t>تغطية الفجوة</a:t>
                      </a:r>
                      <a:endParaRPr lang="ar-AE" sz="1400" dirty="0">
                        <a:latin typeface="+mn-lt"/>
                      </a:endParaRPr>
                    </a:p>
                  </a:txBody>
                  <a:tcPr marL="20927" marR="20927" marT="10464" marB="10464" anchor="ctr"/>
                </a:tc>
                <a:tc>
                  <a:txBody>
                    <a:bodyPr/>
                    <a:lstStyle/>
                    <a:p>
                      <a:pPr algn="ctr" rtl="1">
                        <a:buNone/>
                      </a:pPr>
                      <a:r>
                        <a:rPr lang="ar-AE" sz="1400" b="1" dirty="0"/>
                        <a:t>الأولوية</a:t>
                      </a:r>
                      <a:endParaRPr lang="ar-AE" sz="1400" dirty="0">
                        <a:latin typeface="+mn-lt"/>
                      </a:endParaRPr>
                    </a:p>
                  </a:txBody>
                  <a:tcPr marL="20927" marR="20927" marT="10464" marB="10464" anchor="ctr"/>
                </a:tc>
                <a:tc>
                  <a:txBody>
                    <a:bodyPr/>
                    <a:lstStyle/>
                    <a:p>
                      <a:pPr algn="ctr" rtl="1">
                        <a:buNone/>
                      </a:pPr>
                      <a:r>
                        <a:rPr lang="ar-AE" sz="1400" b="1" dirty="0"/>
                        <a:t>الأهمية</a:t>
                      </a:r>
                      <a:endParaRPr lang="ar-AE" sz="1400" dirty="0">
                        <a:latin typeface="+mn-lt"/>
                      </a:endParaRPr>
                    </a:p>
                  </a:txBody>
                  <a:tcPr marL="20927" marR="20927" marT="10464" marB="10464" anchor="ctr"/>
                </a:tc>
                <a:tc>
                  <a:txBody>
                    <a:bodyPr/>
                    <a:lstStyle/>
                    <a:p>
                      <a:pPr algn="ctr" rtl="1">
                        <a:buNone/>
                      </a:pPr>
                      <a:r>
                        <a:rPr lang="ar-AE" sz="1400" b="1" dirty="0"/>
                        <a:t>المصدر</a:t>
                      </a:r>
                      <a:endParaRPr lang="ar-AE" sz="1400" dirty="0">
                        <a:latin typeface="+mn-lt"/>
                      </a:endParaRPr>
                    </a:p>
                  </a:txBody>
                  <a:tcPr marL="20927" marR="20927" marT="10464" marB="10464" anchor="ctr"/>
                </a:tc>
                <a:extLst>
                  <a:ext uri="{0D108BD9-81ED-4DB2-BD59-A6C34878D82A}">
                    <a16:rowId xmlns:a16="http://schemas.microsoft.com/office/drawing/2014/main" val="4029457185"/>
                  </a:ext>
                </a:extLst>
              </a:tr>
              <a:tr h="1096050">
                <a:tc>
                  <a: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prstClr val="black"/>
                          </a:solidFill>
                          <a:effectLst/>
                          <a:uLnTx/>
                          <a:uFillTx/>
                          <a:latin typeface="+mn-lt"/>
                          <a:ea typeface="+mn-ea"/>
                          <a:cs typeface="+mn-cs"/>
                        </a:rPr>
                        <a:t>GAP-D-20</a:t>
                      </a:r>
                      <a:endParaRPr kumimoji="0" lang="ar-EG" sz="1200" b="1" i="0" u="none" strike="noStrike" kern="1200" cap="none" spc="0" normalizeH="0" baseline="0" noProof="0" dirty="0">
                        <a:ln>
                          <a:noFill/>
                        </a:ln>
                        <a:solidFill>
                          <a:prstClr val="black"/>
                        </a:solidFill>
                        <a:effectLst/>
                        <a:uLnTx/>
                        <a:uFillTx/>
                        <a:latin typeface="Sakkal Majalla"/>
                        <a:ea typeface="+mn-ea"/>
                        <a:cs typeface="Sakkal Majalla"/>
                      </a:endParaRPr>
                    </a:p>
                  </a:txBody>
                  <a:tcPr marL="20927" marR="20927" marT="10464" marB="10464" anchor="ctr"/>
                </a:tc>
                <a:tc>
                  <a:txBody>
                    <a:bodyPr/>
                    <a:lstStyle/>
                    <a:p>
                      <a:pPr algn="r" rtl="1">
                        <a:buNone/>
                      </a:pPr>
                      <a:r>
                        <a:rPr lang="ar-AE" sz="1200" dirty="0">
                          <a:latin typeface="+mn-lt"/>
                        </a:rPr>
                        <a:t>الحاجة إلى توظيف التقنيات الناشئة لتلبية احتياجات المستفيدين بشكل استباقي</a:t>
                      </a:r>
                    </a:p>
                  </a:txBody>
                  <a:tcPr marL="18232" marR="18232" marT="9116" marB="9116" anchor="ctr"/>
                </a:tc>
                <a:tc>
                  <a:txBody>
                    <a:bodyPr/>
                    <a:lstStyle/>
                    <a:p>
                      <a:pPr algn="ctr" rtl="1" fontAlgn="ctr"/>
                      <a:r>
                        <a:rPr lang="ar-AE" sz="1200" b="0" i="0" u="none" strike="noStrike" kern="1200" dirty="0">
                          <a:solidFill>
                            <a:srgbClr val="000000"/>
                          </a:solidFill>
                          <a:effectLst/>
                          <a:latin typeface="Aptos Narrow" panose="020B0004020202020204" pitchFamily="34" charset="0"/>
                          <a:ea typeface="+mn-ea"/>
                          <a:cs typeface="+mn-cs"/>
                        </a:rPr>
                        <a:t>تحقيق القيمة من البيانات (10)</a:t>
                      </a:r>
                    </a:p>
                  </a:txBody>
                  <a:tcPr marL="9525" marR="9525" marT="9525" marB="0" anchor="ctr"/>
                </a:tc>
                <a:tc>
                  <a:txBody>
                    <a:bodyPr/>
                    <a:lstStyle/>
                    <a:p>
                      <a:pPr algn="r" rtl="1">
                        <a:buNone/>
                      </a:pPr>
                      <a:r>
                        <a:rPr lang="ar-AE" sz="1200" dirty="0">
                          <a:latin typeface="+mn-lt"/>
                        </a:rPr>
                        <a:t>يوجد </a:t>
                      </a:r>
                      <a:r>
                        <a:rPr lang="ar-SA" sz="1200" dirty="0">
                          <a:latin typeface="+mn-lt"/>
                        </a:rPr>
                        <a:t>نقص</a:t>
                      </a:r>
                      <a:r>
                        <a:rPr lang="ar-AE" sz="1200" dirty="0">
                          <a:latin typeface="+mn-lt"/>
                        </a:rPr>
                        <a:t> في الاستفادة من التقنيات الناشئة لتقديم خدمات استباقية، حيث تُقدّم معظم الخدمات بشكل تفاعلي دون توظيف أدوات متقدمة لتوقّع احتياجات المستفيدين.</a:t>
                      </a:r>
                    </a:p>
                  </a:txBody>
                  <a:tcPr marL="18232" marR="18232" marT="9116" marB="9116" anchor="ctr"/>
                </a:tc>
                <a:tc>
                  <a:txBody>
                    <a:bodyPr/>
                    <a:lstStyle/>
                    <a:p>
                      <a:pPr algn="r" rtl="1">
                        <a:buNone/>
                      </a:pPr>
                      <a:r>
                        <a:rPr lang="ar-AE" sz="1200" dirty="0">
                          <a:latin typeface="+mn-lt"/>
                        </a:rPr>
                        <a:t>تأخر في الاستجابة لاحتياجات المستفيدين، وانخفاض رضاهم، وضعف قدرة الهيئة على تقديم خدمات مخصصة وفعّالة بشكل ديناميكي.</a:t>
                      </a:r>
                    </a:p>
                  </a:txBody>
                  <a:tcPr marL="18232" marR="18232" marT="9116" marB="9116" anchor="ctr"/>
                </a:tc>
                <a:tc>
                  <a:txBody>
                    <a:bodyPr/>
                    <a:lstStyle/>
                    <a:p>
                      <a:pPr algn="r" rtl="1">
                        <a:buNone/>
                      </a:pPr>
                      <a:r>
                        <a:rPr lang="ar-AE" sz="1200" dirty="0">
                          <a:latin typeface="+mn-lt"/>
                        </a:rPr>
                        <a:t>رفع مستوى رضا المستفيدين من خلال تقديم خدمات استباقية مبنية على تحليل السلوك والاحتياجات المتوقعة، وتحسين كفاءة العمليات وخفض التكاليف التشغيلية.</a:t>
                      </a:r>
                    </a:p>
                  </a:txBody>
                  <a:tcPr marL="18232" marR="18232" marT="9116" marB="9116" anchor="ctr"/>
                </a:tc>
                <a:tc>
                  <a:txBody>
                    <a:bodyPr/>
                    <a:lstStyle/>
                    <a:p>
                      <a:pPr algn="r" rtl="1">
                        <a:buNone/>
                      </a:pPr>
                      <a:r>
                        <a:rPr lang="ar-AE" sz="1200">
                          <a:latin typeface="+mn-lt"/>
                        </a:rPr>
                        <a:t>تكوين فريق عمل مختص بالذكاء الاصطناعي ومعالجة البيانات الضخمة، وتنفيذ مبادرات ابتكارية للتفاعل مع احتياجات المستفيد</a:t>
                      </a:r>
                    </a:p>
                  </a:txBody>
                  <a:tcPr marL="18232" marR="18232" marT="9116" marB="9116" anchor="ctr"/>
                </a:tc>
                <a:tc>
                  <a:txBody>
                    <a:bodyPr/>
                    <a:lstStyle/>
                    <a:p>
                      <a:pPr algn="ctr" rtl="1">
                        <a:buNone/>
                      </a:pPr>
                      <a:r>
                        <a:rPr lang="ar-AE" sz="1200" dirty="0">
                          <a:latin typeface="+mn-lt"/>
                        </a:rPr>
                        <a:t>عالية</a:t>
                      </a:r>
                    </a:p>
                  </a:txBody>
                  <a:tcPr marL="18232" marR="18232" marT="9116" marB="9116" anchor="ctr"/>
                </a:tc>
                <a:tc>
                  <a:txBody>
                    <a:bodyPr/>
                    <a:lstStyle/>
                    <a:p>
                      <a:pPr algn="ctr" rtl="1">
                        <a:buNone/>
                      </a:pPr>
                      <a:r>
                        <a:rPr lang="ar-AE" sz="1200" dirty="0">
                          <a:latin typeface="+mn-lt"/>
                        </a:rPr>
                        <a:t>عالية</a:t>
                      </a:r>
                    </a:p>
                  </a:txBody>
                  <a:tcPr marL="18232" marR="18232" marT="9116" marB="9116" anchor="ctr"/>
                </a:tc>
                <a:tc>
                  <a:txBody>
                    <a:bodyPr/>
                    <a:lstStyle/>
                    <a:p>
                      <a:pPr algn="ctr" rtl="1">
                        <a:buNone/>
                      </a:pPr>
                      <a:r>
                        <a:rPr lang="ar-AE" sz="1200">
                          <a:latin typeface="+mn-lt"/>
                        </a:rPr>
                        <a:t>متطلبات البنية المؤسسية</a:t>
                      </a:r>
                    </a:p>
                  </a:txBody>
                  <a:tcPr marL="18232" marR="18232" marT="9116" marB="9116" anchor="ctr"/>
                </a:tc>
                <a:extLst>
                  <a:ext uri="{0D108BD9-81ED-4DB2-BD59-A6C34878D82A}">
                    <a16:rowId xmlns:a16="http://schemas.microsoft.com/office/drawing/2014/main" val="3386048539"/>
                  </a:ext>
                </a:extLst>
              </a:tr>
              <a:tr h="10164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prstClr val="black"/>
                          </a:solidFill>
                          <a:effectLst/>
                          <a:uLnTx/>
                          <a:uFillTx/>
                          <a:latin typeface="+mn-lt"/>
                          <a:ea typeface="+mn-ea"/>
                          <a:cs typeface="+mn-cs"/>
                        </a:rPr>
                        <a:t>GAP-D-21</a:t>
                      </a:r>
                      <a:endParaRPr kumimoji="0" lang="ar-EG" sz="1200" b="1" i="0" u="none" strike="noStrike" kern="1200" cap="none" spc="0" normalizeH="0" baseline="0" noProof="0" dirty="0">
                        <a:ln>
                          <a:noFill/>
                        </a:ln>
                        <a:solidFill>
                          <a:prstClr val="black"/>
                        </a:solidFill>
                        <a:effectLst/>
                        <a:uLnTx/>
                        <a:uFillTx/>
                        <a:latin typeface="Sakkal Majalla"/>
                        <a:ea typeface="+mn-ea"/>
                        <a:cs typeface="Sakkal Majalla"/>
                      </a:endParaRPr>
                    </a:p>
                  </a:txBody>
                  <a:tcPr marL="20927" marR="20927" marT="10464" marB="10464" anchor="ctr"/>
                </a:tc>
                <a:tc>
                  <a:txBody>
                    <a:bodyPr/>
                    <a:lstStyle/>
                    <a:p>
                      <a:pPr algn="r" rtl="1">
                        <a:buNone/>
                      </a:pPr>
                      <a:r>
                        <a:rPr lang="ar-AE" sz="1200" dirty="0">
                          <a:latin typeface="+mn-lt"/>
                        </a:rPr>
                        <a:t>عدم الإسراع في تنفيذ نظام منع تسرب البيانات</a:t>
                      </a:r>
                      <a:r>
                        <a:rPr lang="en-US" sz="1200" dirty="0">
                          <a:latin typeface="+mn-lt"/>
                        </a:rPr>
                        <a:t> DLP </a:t>
                      </a:r>
                    </a:p>
                  </a:txBody>
                  <a:tcPr marL="18232" marR="18232" marT="9116" marB="9116" anchor="ctr"/>
                </a:tc>
                <a:tc>
                  <a:txBody>
                    <a:bodyPr/>
                    <a:lstStyle/>
                    <a:p>
                      <a:pPr algn="ctr" rtl="1" fontAlgn="ctr"/>
                      <a:r>
                        <a:rPr lang="ar-AE" sz="1200" b="0" i="0" u="none" strike="noStrike" kern="1200" dirty="0">
                          <a:solidFill>
                            <a:srgbClr val="000000"/>
                          </a:solidFill>
                          <a:effectLst/>
                          <a:latin typeface="Aptos Narrow" panose="020B0004020202020204" pitchFamily="34" charset="0"/>
                          <a:ea typeface="+mn-ea"/>
                          <a:cs typeface="+mn-cs"/>
                        </a:rPr>
                        <a:t>أمن البيانات وحمايتها (15)</a:t>
                      </a:r>
                    </a:p>
                    <a:p>
                      <a:pPr marL="0" marR="0" lvl="0" indent="0" algn="ctr" defTabSz="914400" rtl="1" eaLnBrk="1" fontAlgn="ctr" latinLnBrk="0" hangingPunct="1">
                        <a:lnSpc>
                          <a:spcPct val="100000"/>
                        </a:lnSpc>
                        <a:spcBef>
                          <a:spcPts val="0"/>
                        </a:spcBef>
                        <a:spcAft>
                          <a:spcPts val="0"/>
                        </a:spcAft>
                        <a:buClrTx/>
                        <a:buSzTx/>
                        <a:buFontTx/>
                        <a:buNone/>
                        <a:tabLst/>
                        <a:defRPr/>
                      </a:pPr>
                      <a:r>
                        <a:rPr lang="ar-AE" sz="1200" b="0" i="0" u="none" strike="noStrike" kern="1200" dirty="0">
                          <a:solidFill>
                            <a:srgbClr val="000000"/>
                          </a:solidFill>
                          <a:effectLst/>
                          <a:latin typeface="Aptos Narrow" panose="020B0004020202020204" pitchFamily="34" charset="0"/>
                          <a:ea typeface="+mn-ea"/>
                          <a:cs typeface="+mn-cs"/>
                        </a:rPr>
                        <a:t>حماية البيانات الشخصية (14)</a:t>
                      </a:r>
                    </a:p>
                  </a:txBody>
                  <a:tcPr marL="9525" marR="9525" marT="9525" marB="0" anchor="ctr"/>
                </a:tc>
                <a:tc>
                  <a:txBody>
                    <a:bodyPr/>
                    <a:lstStyle/>
                    <a:p>
                      <a:pPr algn="r" rtl="1">
                        <a:buNone/>
                      </a:pPr>
                      <a:r>
                        <a:rPr lang="ar-AE" sz="1200" dirty="0">
                          <a:latin typeface="+mn-lt"/>
                        </a:rPr>
                        <a:t>غياب حلول فعّالة لرصد التسرب المحتمل للبيانات الحساسة أو منعها</a:t>
                      </a:r>
                    </a:p>
                  </a:txBody>
                  <a:tcPr marL="18232" marR="18232" marT="9116" marB="9116" anchor="ctr"/>
                </a:tc>
                <a:tc>
                  <a:txBody>
                    <a:bodyPr/>
                    <a:lstStyle/>
                    <a:p>
                      <a:pPr algn="r" rtl="1">
                        <a:buNone/>
                      </a:pPr>
                      <a:r>
                        <a:rPr lang="ar-AE" sz="1200" dirty="0">
                          <a:latin typeface="+mn-lt"/>
                        </a:rPr>
                        <a:t>تزايد مخاطر الاختراق أو سوء الاستخدام للبيانات، وعدم القدرة على تتبع التسريبات المحتملة</a:t>
                      </a:r>
                    </a:p>
                  </a:txBody>
                  <a:tcPr marL="18232" marR="18232" marT="9116" marB="9116" anchor="ctr"/>
                </a:tc>
                <a:tc>
                  <a:txBody>
                    <a:bodyPr/>
                    <a:lstStyle/>
                    <a:p>
                      <a:pPr algn="r" rtl="1">
                        <a:buNone/>
                      </a:pPr>
                      <a:r>
                        <a:rPr lang="ar-AE" sz="1200" dirty="0">
                          <a:latin typeface="+mn-lt"/>
                        </a:rPr>
                        <a:t>نشر واعتماد تقنيات </a:t>
                      </a:r>
                      <a:r>
                        <a:rPr lang="en-US" sz="1200" dirty="0">
                          <a:latin typeface="+mn-lt"/>
                        </a:rPr>
                        <a:t>DLP </a:t>
                      </a:r>
                      <a:r>
                        <a:rPr lang="ar-AE" sz="1200" dirty="0">
                          <a:latin typeface="+mn-lt"/>
                        </a:rPr>
                        <a:t>لرصد السلوكيات الشاذة والتفاعل الفوري مع أي نشاط مشبوه</a:t>
                      </a:r>
                    </a:p>
                  </a:txBody>
                  <a:tcPr marL="18232" marR="18232" marT="9116" marB="9116" anchor="ctr"/>
                </a:tc>
                <a:tc>
                  <a:txBody>
                    <a:bodyPr/>
                    <a:lstStyle/>
                    <a:p>
                      <a:pPr algn="r" rtl="1">
                        <a:buNone/>
                      </a:pPr>
                      <a:r>
                        <a:rPr lang="ar-AE" sz="1200">
                          <a:latin typeface="+mn-lt"/>
                        </a:rPr>
                        <a:t>تدريب الموظفين على استخدام النظام ووضع سياسات وتقييمات دورية للأمان</a:t>
                      </a:r>
                    </a:p>
                  </a:txBody>
                  <a:tcPr marL="18232" marR="18232" marT="9116" marB="9116" anchor="ctr"/>
                </a:tc>
                <a:tc>
                  <a:txBody>
                    <a:bodyPr/>
                    <a:lstStyle/>
                    <a:p>
                      <a:pPr algn="ctr" rtl="1">
                        <a:buNone/>
                      </a:pPr>
                      <a:r>
                        <a:rPr lang="ar-AE" sz="1200">
                          <a:latin typeface="+mn-lt"/>
                        </a:rPr>
                        <a:t>عالية</a:t>
                      </a:r>
                    </a:p>
                  </a:txBody>
                  <a:tcPr marL="18232" marR="18232" marT="9116" marB="9116" anchor="ctr"/>
                </a:tc>
                <a:tc>
                  <a:txBody>
                    <a:bodyPr/>
                    <a:lstStyle/>
                    <a:p>
                      <a:pPr algn="ctr" rtl="1">
                        <a:buNone/>
                      </a:pPr>
                      <a:r>
                        <a:rPr lang="ar-AE" sz="1200" dirty="0">
                          <a:latin typeface="+mn-lt"/>
                        </a:rPr>
                        <a:t>عالية</a:t>
                      </a:r>
                    </a:p>
                  </a:txBody>
                  <a:tcPr marL="18232" marR="18232" marT="9116" marB="9116" anchor="ctr"/>
                </a:tc>
                <a:tc>
                  <a:txBody>
                    <a:bodyPr/>
                    <a:lstStyle/>
                    <a:p>
                      <a:pPr algn="ctr" rtl="1">
                        <a:buNone/>
                      </a:pPr>
                      <a:r>
                        <a:rPr lang="ar-AE" sz="1200" dirty="0"/>
                        <a:t>وثيقة الوضع الحالي </a:t>
                      </a:r>
                      <a:endParaRPr lang="ar-AE" sz="1200" dirty="0">
                        <a:latin typeface="+mn-lt"/>
                      </a:endParaRPr>
                    </a:p>
                  </a:txBody>
                  <a:tcPr marL="18232" marR="18232" marT="9116" marB="9116" anchor="ctr"/>
                </a:tc>
                <a:extLst>
                  <a:ext uri="{0D108BD9-81ED-4DB2-BD59-A6C34878D82A}">
                    <a16:rowId xmlns:a16="http://schemas.microsoft.com/office/drawing/2014/main" val="3067900995"/>
                  </a:ext>
                </a:extLst>
              </a:tr>
              <a:tr h="10164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prstClr val="black"/>
                          </a:solidFill>
                          <a:effectLst/>
                          <a:uLnTx/>
                          <a:uFillTx/>
                          <a:latin typeface="+mn-lt"/>
                          <a:ea typeface="+mn-ea"/>
                          <a:cs typeface="+mn-cs"/>
                        </a:rPr>
                        <a:t>GAP-D-22</a:t>
                      </a:r>
                      <a:endParaRPr kumimoji="0" lang="ar-EG" sz="1200" b="1" i="0" u="none" strike="noStrike" kern="1200" cap="none" spc="0" normalizeH="0" baseline="0" noProof="0" dirty="0">
                        <a:ln>
                          <a:noFill/>
                        </a:ln>
                        <a:solidFill>
                          <a:prstClr val="black"/>
                        </a:solidFill>
                        <a:effectLst/>
                        <a:uLnTx/>
                        <a:uFillTx/>
                        <a:latin typeface="+mn-lt"/>
                        <a:ea typeface="+mn-ea"/>
                        <a:cs typeface="+mn-cs"/>
                      </a:endParaRPr>
                    </a:p>
                  </a:txBody>
                  <a:tcPr marL="20927" marR="20927" marT="10464" marB="10464" anchor="ctr"/>
                </a:tc>
                <a:tc>
                  <a:txBody>
                    <a:bodyPr/>
                    <a:lstStyle/>
                    <a:p>
                      <a:pPr algn="r" rtl="1"/>
                      <a:r>
                        <a:rPr lang="ar-SA" sz="1200" dirty="0"/>
                        <a:t>توثيق جزئي لهياكل البيانات ونمذجتها.</a:t>
                      </a:r>
                    </a:p>
                  </a:txBody>
                  <a:tcPr marL="18232" marR="18232" marT="9116" marB="9116" anchor="ctr"/>
                </a:tc>
                <a:tc>
                  <a:txBody>
                    <a:bodyPr/>
                    <a:lstStyle/>
                    <a:p>
                      <a:pPr algn="ctr" rtl="1" fontAlgn="ctr"/>
                      <a:r>
                        <a:rPr lang="ar-AE" sz="1200" b="0" i="0" u="none" strike="noStrike" kern="1200" dirty="0">
                          <a:solidFill>
                            <a:srgbClr val="000000"/>
                          </a:solidFill>
                          <a:effectLst/>
                          <a:latin typeface="Aptos Narrow" panose="020B0004020202020204" pitchFamily="34" charset="0"/>
                          <a:ea typeface="+mn-ea"/>
                          <a:cs typeface="+mn-cs"/>
                        </a:rPr>
                        <a:t>النمذجة وهيكلة البيانات (6)</a:t>
                      </a:r>
                    </a:p>
                  </a:txBody>
                  <a:tcPr marL="9525" marR="9525" marT="9525" marB="0" anchor="ctr"/>
                </a:tc>
                <a:tc>
                  <a:txBody>
                    <a:bodyPr/>
                    <a:lstStyle/>
                    <a:p>
                      <a:pPr algn="r" rtl="1">
                        <a:buNone/>
                      </a:pPr>
                      <a:r>
                        <a:rPr lang="ar-AE" sz="1200" dirty="0">
                          <a:latin typeface="+mn-lt"/>
                        </a:rPr>
                        <a:t>تم توثيق جزء من هياكل البيانات ونماذجها، إلا أن ذلك لا يشمل جميع الأنظمة والمجالات، مما يحد من فهم البيانات وتكاملها بشكل شامل</a:t>
                      </a:r>
                    </a:p>
                  </a:txBody>
                  <a:tcPr marL="18232" marR="18232" marT="9116" marB="9116" anchor="ctr"/>
                </a:tc>
                <a:tc>
                  <a:txBody>
                    <a:bodyPr/>
                    <a:lstStyle/>
                    <a:p>
                      <a:pPr algn="r" rtl="1">
                        <a:buNone/>
                      </a:pPr>
                      <a:r>
                        <a:rPr lang="ar-AE" sz="1200" dirty="0">
                          <a:latin typeface="+mn-lt"/>
                        </a:rPr>
                        <a:t>ضعف في فهم شامل للبيانات، وصعوبة في التكامل والتحليل الدقيق بين الأنظمة.</a:t>
                      </a:r>
                    </a:p>
                  </a:txBody>
                  <a:tcPr marL="18232" marR="18232" marT="9116" marB="9116" anchor="ctr"/>
                </a:tc>
                <a:tc>
                  <a:txBody>
                    <a:bodyPr/>
                    <a:lstStyle/>
                    <a:p>
                      <a:pPr algn="r" rtl="1">
                        <a:buNone/>
                      </a:pPr>
                      <a:r>
                        <a:rPr lang="ar-AE" sz="1200" dirty="0">
                          <a:latin typeface="+mn-lt"/>
                        </a:rPr>
                        <a:t>تحسين تكامل البيانات ودقتها، ودعم تطوير النماذج التحليلية واتخاذ القرار المؤسسي.</a:t>
                      </a:r>
                    </a:p>
                  </a:txBody>
                  <a:tcPr marL="18232" marR="18232" marT="9116" marB="9116" anchor="ctr"/>
                </a:tc>
                <a:tc>
                  <a:txBody>
                    <a:bodyPr/>
                    <a:lstStyle/>
                    <a:p>
                      <a:pPr algn="r" rtl="1">
                        <a:buNone/>
                      </a:pPr>
                      <a:r>
                        <a:rPr lang="ar-AE" sz="1200" dirty="0">
                          <a:latin typeface="+mn-lt"/>
                        </a:rPr>
                        <a:t>استكمال توثيق هياكل البيانات ونمذجتها لكافة الأنظمة، وربطها ضمن إطار موحد لحوكمة البيانات.</a:t>
                      </a:r>
                    </a:p>
                  </a:txBody>
                  <a:tcPr marL="18232" marR="18232" marT="9116" marB="9116" anchor="ctr"/>
                </a:tc>
                <a:tc>
                  <a:txBody>
                    <a:bodyPr/>
                    <a:lstStyle/>
                    <a:p>
                      <a:pPr algn="ctr" rtl="1">
                        <a:buNone/>
                      </a:pPr>
                      <a:r>
                        <a:rPr lang="ar-AE" sz="1200" dirty="0">
                          <a:latin typeface="+mn-lt"/>
                        </a:rPr>
                        <a:t>متوسطة</a:t>
                      </a:r>
                    </a:p>
                  </a:txBody>
                  <a:tcPr marL="18232" marR="18232" marT="9116" marB="9116" anchor="ctr"/>
                </a:tc>
                <a:tc>
                  <a:txBody>
                    <a:bodyPr/>
                    <a:lstStyle/>
                    <a:p>
                      <a:pPr algn="ctr" rtl="1">
                        <a:buNone/>
                      </a:pPr>
                      <a:r>
                        <a:rPr lang="ar-AE" sz="1200" dirty="0">
                          <a:latin typeface="+mn-lt"/>
                        </a:rPr>
                        <a:t>متوسطة</a:t>
                      </a:r>
                    </a:p>
                  </a:txBody>
                  <a:tcPr marL="18232" marR="18232" marT="9116" marB="9116" anchor="ctr"/>
                </a:tc>
                <a:tc>
                  <a:txBody>
                    <a:bodyPr/>
                    <a:lstStyle/>
                    <a:p>
                      <a:pPr algn="ctr" rtl="1">
                        <a:buNone/>
                      </a:pPr>
                      <a:r>
                        <a:rPr lang="ar-AE" sz="1200" dirty="0"/>
                        <a:t>وثيقة الوضع الحالي </a:t>
                      </a:r>
                      <a:endParaRPr lang="ar-AE" sz="1200" dirty="0">
                        <a:latin typeface="+mn-lt"/>
                      </a:endParaRPr>
                    </a:p>
                  </a:txBody>
                  <a:tcPr marL="18232" marR="18232" marT="9116" marB="9116" anchor="ctr"/>
                </a:tc>
                <a:extLst>
                  <a:ext uri="{0D108BD9-81ED-4DB2-BD59-A6C34878D82A}">
                    <a16:rowId xmlns:a16="http://schemas.microsoft.com/office/drawing/2014/main" val="4205275932"/>
                  </a:ext>
                </a:extLst>
              </a:tr>
              <a:tr h="10164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prstClr val="black"/>
                          </a:solidFill>
                          <a:effectLst/>
                          <a:uLnTx/>
                          <a:uFillTx/>
                          <a:latin typeface="+mn-lt"/>
                          <a:ea typeface="+mn-ea"/>
                          <a:cs typeface="+mn-cs"/>
                        </a:rPr>
                        <a:t>GAP-D-23</a:t>
                      </a:r>
                      <a:endParaRPr kumimoji="0" lang="ar-EG" sz="1200" b="1" i="0" u="none" strike="noStrike" kern="1200" cap="none" spc="0" normalizeH="0" baseline="0" noProof="0" dirty="0">
                        <a:ln>
                          <a:noFill/>
                        </a:ln>
                        <a:solidFill>
                          <a:prstClr val="black"/>
                        </a:solidFill>
                        <a:effectLst/>
                        <a:uLnTx/>
                        <a:uFillTx/>
                        <a:latin typeface="Sakkal Majalla"/>
                        <a:ea typeface="+mn-ea"/>
                        <a:cs typeface="Sakkal Majalla"/>
                      </a:endParaRPr>
                    </a:p>
                  </a:txBody>
                  <a:tcPr marL="20927" marR="20927" marT="10464" marB="10464" anchor="ctr"/>
                </a:tc>
                <a:tc>
                  <a:txBody>
                    <a:bodyPr/>
                    <a:lstStyle/>
                    <a:p>
                      <a:pPr algn="r" rtl="1">
                        <a:buNone/>
                      </a:pPr>
                      <a:r>
                        <a:rPr lang="ar-AE" sz="1200" dirty="0">
                          <a:latin typeface="+mn-lt"/>
                        </a:rPr>
                        <a:t>ضعف المنصّة المتاحة للمستخدمين لاستخراج التقارير والتحليلات</a:t>
                      </a:r>
                    </a:p>
                  </a:txBody>
                  <a:tcPr marL="18232" marR="18232" marT="9116" marB="9116" anchor="ctr"/>
                </a:tc>
                <a:tc>
                  <a:txBody>
                    <a:bodyPr/>
                    <a:lstStyle/>
                    <a:p>
                      <a:pPr algn="ctr" rtl="1" fontAlgn="ctr"/>
                      <a:r>
                        <a:rPr lang="ar-AE" sz="1200" b="0" i="0" u="none" strike="noStrike" dirty="0">
                          <a:solidFill>
                            <a:srgbClr val="000000"/>
                          </a:solidFill>
                          <a:effectLst/>
                          <a:latin typeface="Aptos Narrow" panose="020B0004020202020204" pitchFamily="34" charset="0"/>
                        </a:rPr>
                        <a:t>ذكاء الأعمال والتحليلات (9)</a:t>
                      </a:r>
                    </a:p>
                  </a:txBody>
                  <a:tcPr marL="9525" marR="9525" marT="9525" marB="0" anchor="ctr"/>
                </a:tc>
                <a:tc>
                  <a:txBody>
                    <a:bodyPr/>
                    <a:lstStyle/>
                    <a:p>
                      <a:pPr algn="r" rtl="1">
                        <a:buNone/>
                      </a:pPr>
                      <a:r>
                        <a:rPr lang="ar-AE" sz="1200" dirty="0">
                          <a:latin typeface="+mn-lt"/>
                        </a:rPr>
                        <a:t>عدم توفّر منصة متكاملة لتوليد التقارير وتحليل البيانات ذاتيًا دون الحاجة لفرق تقنية</a:t>
                      </a:r>
                    </a:p>
                  </a:txBody>
                  <a:tcPr marL="18232" marR="18232" marT="9116" marB="9116" anchor="ctr"/>
                </a:tc>
                <a:tc>
                  <a:txBody>
                    <a:bodyPr/>
                    <a:lstStyle/>
                    <a:p>
                      <a:pPr algn="r" rtl="1">
                        <a:buNone/>
                      </a:pPr>
                      <a:r>
                        <a:rPr lang="ar-AE" sz="1200" dirty="0">
                          <a:latin typeface="+mn-lt"/>
                        </a:rPr>
                        <a:t>الاعتماد على إدارات تقنية المعلومات لإعداد التقارير بطيء ويعيق سرعة صنع القرار</a:t>
                      </a:r>
                    </a:p>
                  </a:txBody>
                  <a:tcPr marL="18232" marR="18232" marT="9116" marB="9116" anchor="ctr"/>
                </a:tc>
                <a:tc>
                  <a:txBody>
                    <a:bodyPr/>
                    <a:lstStyle/>
                    <a:p>
                      <a:pPr algn="r" rtl="1">
                        <a:buNone/>
                      </a:pPr>
                      <a:r>
                        <a:rPr lang="ar-AE" sz="1200" dirty="0">
                          <a:latin typeface="+mn-lt"/>
                        </a:rPr>
                        <a:t>تطوير منصة تفاعلية للمستخدمين النهائيين (</a:t>
                      </a:r>
                      <a:r>
                        <a:rPr lang="en-US" sz="1200" dirty="0">
                          <a:latin typeface="+mn-lt"/>
                        </a:rPr>
                        <a:t>BI Self-Service) </a:t>
                      </a:r>
                      <a:r>
                        <a:rPr lang="ar-AE" sz="1200" dirty="0">
                          <a:latin typeface="+mn-lt"/>
                        </a:rPr>
                        <a:t>تتيح لهم تحليلات فورية واستخراج التقارير بسهولة</a:t>
                      </a:r>
                    </a:p>
                  </a:txBody>
                  <a:tcPr marL="18232" marR="18232" marT="9116" marB="9116" anchor="ctr"/>
                </a:tc>
                <a:tc>
                  <a:txBody>
                    <a:bodyPr/>
                    <a:lstStyle/>
                    <a:p>
                      <a:pPr algn="r" rtl="1">
                        <a:buNone/>
                      </a:pPr>
                      <a:r>
                        <a:rPr lang="ar-AE" sz="1200" dirty="0">
                          <a:latin typeface="+mn-lt"/>
                        </a:rPr>
                        <a:t>اختيار أداة </a:t>
                      </a:r>
                      <a:r>
                        <a:rPr lang="en-US" sz="1200" dirty="0">
                          <a:latin typeface="+mn-lt"/>
                        </a:rPr>
                        <a:t>BI </a:t>
                      </a:r>
                      <a:r>
                        <a:rPr lang="ar-AE" sz="1200" dirty="0">
                          <a:latin typeface="+mn-lt"/>
                        </a:rPr>
                        <a:t>متخصصة وتأهيل المستخدمين وتوفير مصادر تدريب ودعم</a:t>
                      </a:r>
                    </a:p>
                  </a:txBody>
                  <a:tcPr marL="18232" marR="18232" marT="9116" marB="9116" anchor="ctr"/>
                </a:tc>
                <a:tc>
                  <a:txBody>
                    <a:bodyPr/>
                    <a:lstStyle/>
                    <a:p>
                      <a:pPr algn="ctr" rtl="1">
                        <a:buNone/>
                      </a:pPr>
                      <a:r>
                        <a:rPr lang="ar-AE" sz="1200" dirty="0">
                          <a:latin typeface="+mn-lt"/>
                        </a:rPr>
                        <a:t>متوسطة</a:t>
                      </a:r>
                    </a:p>
                  </a:txBody>
                  <a:tcPr marL="18232" marR="18232" marT="9116" marB="9116" anchor="ctr"/>
                </a:tc>
                <a:tc>
                  <a:txBody>
                    <a:bodyPr/>
                    <a:lstStyle/>
                    <a:p>
                      <a:pPr algn="ctr" rtl="1">
                        <a:buNone/>
                      </a:pPr>
                      <a:r>
                        <a:rPr lang="ar-AE" sz="1200" dirty="0">
                          <a:latin typeface="+mn-lt"/>
                        </a:rPr>
                        <a:t>متوسطة</a:t>
                      </a:r>
                    </a:p>
                  </a:txBody>
                  <a:tcPr marL="18232" marR="18232" marT="9116" marB="9116" anchor="ctr"/>
                </a:tc>
                <a:tc>
                  <a:txBody>
                    <a:bodyPr/>
                    <a:lstStyle/>
                    <a:p>
                      <a:pPr algn="ctr" rtl="1">
                        <a:buNone/>
                      </a:pPr>
                      <a:r>
                        <a:rPr lang="ar-AE" sz="1200" dirty="0">
                          <a:latin typeface="+mn-lt"/>
                        </a:rPr>
                        <a:t>ملف حصر البيانات</a:t>
                      </a:r>
                    </a:p>
                  </a:txBody>
                  <a:tcPr marL="18232" marR="18232" marT="9116" marB="9116" anchor="ctr"/>
                </a:tc>
                <a:extLst>
                  <a:ext uri="{0D108BD9-81ED-4DB2-BD59-A6C34878D82A}">
                    <a16:rowId xmlns:a16="http://schemas.microsoft.com/office/drawing/2014/main" val="2099111771"/>
                  </a:ext>
                </a:extLst>
              </a:tr>
            </a:tbl>
          </a:graphicData>
        </a:graphic>
      </p:graphicFrame>
    </p:spTree>
    <p:extLst>
      <p:ext uri="{BB962C8B-B14F-4D97-AF65-F5344CB8AC3E}">
        <p14:creationId xmlns:p14="http://schemas.microsoft.com/office/powerpoint/2010/main" val="3660971616"/>
      </p:ext>
    </p:extLst>
  </p:cSld>
  <p:clrMapOvr>
    <a:masterClrMapping/>
  </p:clrMapOvr>
  <mc:AlternateContent xmlns:mc="http://schemas.openxmlformats.org/markup-compatibility/2006" xmlns:p14="http://schemas.microsoft.com/office/powerpoint/2010/main">
    <mc:Choice Requires="p14">
      <p:transition spd="slow" p14:dur="1300">
        <p14:pan dir="r"/>
      </p:transition>
    </mc:Choice>
    <mc:Fallback xmlns="">
      <p:transition spd="slow">
        <p:fade/>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17637B-BA7E-C606-236E-606DE5DE67F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DB751F7-FCE5-C253-1724-534228722C9B}"/>
              </a:ext>
            </a:extLst>
          </p:cNvPr>
          <p:cNvSpPr>
            <a:spLocks noGrp="1"/>
          </p:cNvSpPr>
          <p:nvPr>
            <p:ph type="title"/>
          </p:nvPr>
        </p:nvSpPr>
        <p:spPr/>
        <p:txBody>
          <a:bodyPr/>
          <a:lstStyle/>
          <a:p>
            <a:r>
              <a:rPr lang="ar-SA" noProof="0" dirty="0"/>
              <a:t>ملخص تحليل الفجوات لبنية البيانات</a:t>
            </a:r>
            <a:endParaRPr lang="en-AE" dirty="0"/>
          </a:p>
        </p:txBody>
      </p:sp>
      <p:sp>
        <p:nvSpPr>
          <p:cNvPr id="3" name="Slide Number Placeholder 2">
            <a:extLst>
              <a:ext uri="{FF2B5EF4-FFF2-40B4-BE49-F238E27FC236}">
                <a16:creationId xmlns:a16="http://schemas.microsoft.com/office/drawing/2014/main" id="{2CB6A47A-87AE-6344-E876-896FCF9730AA}"/>
              </a:ext>
            </a:extLst>
          </p:cNvPr>
          <p:cNvSpPr>
            <a:spLocks noGrp="1"/>
          </p:cNvSpPr>
          <p:nvPr>
            <p:ph type="sldNum" sz="quarter" idx="12"/>
          </p:nvPr>
        </p:nvSpPr>
        <p:spPr/>
        <p:txBody>
          <a:bodyPr/>
          <a:lstStyle/>
          <a:p>
            <a:fld id="{0BE4EC83-A869-464E-AE9F-881796FB085E}" type="slidenum">
              <a:rPr lang="en-US" smtClean="0"/>
              <a:t>37</a:t>
            </a:fld>
            <a:endParaRPr lang="en-US"/>
          </a:p>
        </p:txBody>
      </p:sp>
      <p:graphicFrame>
        <p:nvGraphicFramePr>
          <p:cNvPr id="4" name="Table 3">
            <a:extLst>
              <a:ext uri="{FF2B5EF4-FFF2-40B4-BE49-F238E27FC236}">
                <a16:creationId xmlns:a16="http://schemas.microsoft.com/office/drawing/2014/main" id="{9053816E-3867-F18A-2608-E2481BB01590}"/>
              </a:ext>
            </a:extLst>
          </p:cNvPr>
          <p:cNvGraphicFramePr>
            <a:graphicFrameLocks noGrp="1"/>
          </p:cNvGraphicFramePr>
          <p:nvPr>
            <p:extLst>
              <p:ext uri="{D42A27DB-BD31-4B8C-83A1-F6EECF244321}">
                <p14:modId xmlns:p14="http://schemas.microsoft.com/office/powerpoint/2010/main" val="2662044296"/>
              </p:ext>
            </p:extLst>
          </p:nvPr>
        </p:nvGraphicFramePr>
        <p:xfrm>
          <a:off x="621453" y="1140543"/>
          <a:ext cx="10960946" cy="5154095"/>
        </p:xfrm>
        <a:graphic>
          <a:graphicData uri="http://schemas.openxmlformats.org/drawingml/2006/table">
            <a:tbl>
              <a:tblPr rtl="1" firstRow="1" bandRow="1">
                <a:tableStyleId>{B301B821-A1FF-4177-AEE7-76D212191A09}</a:tableStyleId>
              </a:tblPr>
              <a:tblGrid>
                <a:gridCol w="776172">
                  <a:extLst>
                    <a:ext uri="{9D8B030D-6E8A-4147-A177-3AD203B41FA5}">
                      <a16:colId xmlns:a16="http://schemas.microsoft.com/office/drawing/2014/main" val="1848166869"/>
                    </a:ext>
                  </a:extLst>
                </a:gridCol>
                <a:gridCol w="1009315">
                  <a:extLst>
                    <a:ext uri="{9D8B030D-6E8A-4147-A177-3AD203B41FA5}">
                      <a16:colId xmlns:a16="http://schemas.microsoft.com/office/drawing/2014/main" val="3183077499"/>
                    </a:ext>
                  </a:extLst>
                </a:gridCol>
                <a:gridCol w="1506191">
                  <a:extLst>
                    <a:ext uri="{9D8B030D-6E8A-4147-A177-3AD203B41FA5}">
                      <a16:colId xmlns:a16="http://schemas.microsoft.com/office/drawing/2014/main" val="2541275625"/>
                    </a:ext>
                  </a:extLst>
                </a:gridCol>
                <a:gridCol w="1506191">
                  <a:extLst>
                    <a:ext uri="{9D8B030D-6E8A-4147-A177-3AD203B41FA5}">
                      <a16:colId xmlns:a16="http://schemas.microsoft.com/office/drawing/2014/main" val="2407940828"/>
                    </a:ext>
                  </a:extLst>
                </a:gridCol>
                <a:gridCol w="1386493">
                  <a:extLst>
                    <a:ext uri="{9D8B030D-6E8A-4147-A177-3AD203B41FA5}">
                      <a16:colId xmlns:a16="http://schemas.microsoft.com/office/drawing/2014/main" val="2266366844"/>
                    </a:ext>
                  </a:extLst>
                </a:gridCol>
                <a:gridCol w="1615913">
                  <a:extLst>
                    <a:ext uri="{9D8B030D-6E8A-4147-A177-3AD203B41FA5}">
                      <a16:colId xmlns:a16="http://schemas.microsoft.com/office/drawing/2014/main" val="170401669"/>
                    </a:ext>
                  </a:extLst>
                </a:gridCol>
                <a:gridCol w="1366545">
                  <a:extLst>
                    <a:ext uri="{9D8B030D-6E8A-4147-A177-3AD203B41FA5}">
                      <a16:colId xmlns:a16="http://schemas.microsoft.com/office/drawing/2014/main" val="4110629147"/>
                    </a:ext>
                  </a:extLst>
                </a:gridCol>
                <a:gridCol w="458839">
                  <a:extLst>
                    <a:ext uri="{9D8B030D-6E8A-4147-A177-3AD203B41FA5}">
                      <a16:colId xmlns:a16="http://schemas.microsoft.com/office/drawing/2014/main" val="2090639194"/>
                    </a:ext>
                  </a:extLst>
                </a:gridCol>
                <a:gridCol w="557940">
                  <a:extLst>
                    <a:ext uri="{9D8B030D-6E8A-4147-A177-3AD203B41FA5}">
                      <a16:colId xmlns:a16="http://schemas.microsoft.com/office/drawing/2014/main" val="1489210985"/>
                    </a:ext>
                  </a:extLst>
                </a:gridCol>
                <a:gridCol w="777347">
                  <a:extLst>
                    <a:ext uri="{9D8B030D-6E8A-4147-A177-3AD203B41FA5}">
                      <a16:colId xmlns:a16="http://schemas.microsoft.com/office/drawing/2014/main" val="602859565"/>
                    </a:ext>
                  </a:extLst>
                </a:gridCol>
              </a:tblGrid>
              <a:tr h="256750">
                <a:tc>
                  <a:txBody>
                    <a:bodyPr/>
                    <a:lstStyle/>
                    <a:p>
                      <a:pPr marL="0" algn="ctr" defTabSz="914400" rtl="0" eaLnBrk="1" latinLnBrk="0" hangingPunct="1">
                        <a:buNone/>
                      </a:pPr>
                      <a:r>
                        <a:rPr lang="en-US" sz="1400" dirty="0">
                          <a:latin typeface="+mn-lt"/>
                        </a:rPr>
                        <a:t>Code</a:t>
                      </a:r>
                      <a:endParaRPr lang="ar-AE" sz="1400" dirty="0">
                        <a:latin typeface="+mn-lt"/>
                      </a:endParaRPr>
                    </a:p>
                  </a:txBody>
                  <a:tcPr marL="20927" marR="20927" marT="10464" marB="10464" anchor="ctr"/>
                </a:tc>
                <a:tc>
                  <a:txBody>
                    <a:bodyPr/>
                    <a:lstStyle/>
                    <a:p>
                      <a:pPr algn="ctr" rtl="1">
                        <a:buNone/>
                      </a:pPr>
                      <a:r>
                        <a:rPr lang="ar-AE" sz="1400" b="1" dirty="0"/>
                        <a:t>الفجوة</a:t>
                      </a:r>
                      <a:endParaRPr lang="ar-AE" sz="1400" dirty="0">
                        <a:latin typeface="+mn-lt"/>
                      </a:endParaRPr>
                    </a:p>
                  </a:txBody>
                  <a:tcPr marL="20927" marR="20927" marT="10464" marB="10464" anchor="ctr"/>
                </a:tc>
                <a:tc>
                  <a:txBody>
                    <a:bodyPr/>
                    <a:lstStyle/>
                    <a:p>
                      <a:pPr algn="ctr" rtl="1">
                        <a:buNone/>
                      </a:pPr>
                      <a:r>
                        <a:rPr lang="ar-AE" sz="1400" dirty="0">
                          <a:latin typeface="+mn-lt"/>
                        </a:rPr>
                        <a:t>التصنيف</a:t>
                      </a:r>
                    </a:p>
                  </a:txBody>
                  <a:tcPr marL="20927" marR="20927" marT="10464" marB="10464" anchor="ctr"/>
                </a:tc>
                <a:tc>
                  <a:txBody>
                    <a:bodyPr/>
                    <a:lstStyle/>
                    <a:p>
                      <a:pPr algn="ctr" rtl="1">
                        <a:buNone/>
                      </a:pPr>
                      <a:r>
                        <a:rPr lang="ar-AE" sz="1400" b="1" dirty="0"/>
                        <a:t>الوصف</a:t>
                      </a:r>
                      <a:endParaRPr lang="ar-AE" sz="1400" dirty="0">
                        <a:latin typeface="+mn-lt"/>
                      </a:endParaRPr>
                    </a:p>
                  </a:txBody>
                  <a:tcPr marL="20927" marR="20927" marT="10464" marB="10464" anchor="ctr"/>
                </a:tc>
                <a:tc>
                  <a:txBody>
                    <a:bodyPr/>
                    <a:lstStyle/>
                    <a:p>
                      <a:pPr algn="ctr" rtl="1">
                        <a:buNone/>
                      </a:pPr>
                      <a:r>
                        <a:rPr lang="ar-AE" sz="1400" b="1" dirty="0"/>
                        <a:t>الأثر الحالي</a:t>
                      </a:r>
                      <a:endParaRPr lang="ar-AE" sz="1400" dirty="0">
                        <a:latin typeface="+mn-lt"/>
                      </a:endParaRPr>
                    </a:p>
                  </a:txBody>
                  <a:tcPr marL="20927" marR="20927" marT="10464" marB="10464" anchor="ctr"/>
                </a:tc>
                <a:tc>
                  <a:txBody>
                    <a:bodyPr/>
                    <a:lstStyle/>
                    <a:p>
                      <a:pPr algn="ctr" rtl="1">
                        <a:buNone/>
                      </a:pPr>
                      <a:r>
                        <a:rPr lang="ar-AE" sz="1400" b="1" dirty="0"/>
                        <a:t>الأثر بعد الردم (المعالجة)</a:t>
                      </a:r>
                      <a:endParaRPr lang="ar-AE" sz="1400" dirty="0">
                        <a:latin typeface="+mn-lt"/>
                      </a:endParaRPr>
                    </a:p>
                  </a:txBody>
                  <a:tcPr marL="20927" marR="20927" marT="10464" marB="10464" anchor="ctr"/>
                </a:tc>
                <a:tc>
                  <a:txBody>
                    <a:bodyPr/>
                    <a:lstStyle/>
                    <a:p>
                      <a:pPr algn="ctr" rtl="1">
                        <a:buNone/>
                      </a:pPr>
                      <a:r>
                        <a:rPr lang="ar-AE" sz="1400" b="1" dirty="0"/>
                        <a:t>تغطية الفجوة</a:t>
                      </a:r>
                      <a:endParaRPr lang="ar-AE" sz="1400" dirty="0">
                        <a:latin typeface="+mn-lt"/>
                      </a:endParaRPr>
                    </a:p>
                  </a:txBody>
                  <a:tcPr marL="20927" marR="20927" marT="10464" marB="10464" anchor="ctr"/>
                </a:tc>
                <a:tc>
                  <a:txBody>
                    <a:bodyPr/>
                    <a:lstStyle/>
                    <a:p>
                      <a:pPr algn="ctr" rtl="1">
                        <a:buNone/>
                      </a:pPr>
                      <a:r>
                        <a:rPr lang="ar-AE" sz="1400" b="1" dirty="0"/>
                        <a:t>الأولوية</a:t>
                      </a:r>
                      <a:endParaRPr lang="ar-AE" sz="1400" dirty="0">
                        <a:latin typeface="+mn-lt"/>
                      </a:endParaRPr>
                    </a:p>
                  </a:txBody>
                  <a:tcPr marL="20927" marR="20927" marT="10464" marB="10464" anchor="ctr"/>
                </a:tc>
                <a:tc>
                  <a:txBody>
                    <a:bodyPr/>
                    <a:lstStyle/>
                    <a:p>
                      <a:pPr algn="ctr" rtl="1">
                        <a:buNone/>
                      </a:pPr>
                      <a:r>
                        <a:rPr lang="ar-AE" sz="1400" b="1" dirty="0"/>
                        <a:t>الأهمية</a:t>
                      </a:r>
                      <a:endParaRPr lang="ar-AE" sz="1400" dirty="0">
                        <a:latin typeface="+mn-lt"/>
                      </a:endParaRPr>
                    </a:p>
                  </a:txBody>
                  <a:tcPr marL="20927" marR="20927" marT="10464" marB="10464" anchor="ctr"/>
                </a:tc>
                <a:tc>
                  <a:txBody>
                    <a:bodyPr/>
                    <a:lstStyle/>
                    <a:p>
                      <a:pPr algn="ctr" rtl="1">
                        <a:buNone/>
                      </a:pPr>
                      <a:r>
                        <a:rPr lang="ar-AE" sz="1400" b="1" dirty="0"/>
                        <a:t>المصدر</a:t>
                      </a:r>
                      <a:endParaRPr lang="ar-AE" sz="1400" dirty="0">
                        <a:latin typeface="+mn-lt"/>
                      </a:endParaRPr>
                    </a:p>
                  </a:txBody>
                  <a:tcPr marL="20927" marR="20927" marT="10464" marB="10464" anchor="ctr"/>
                </a:tc>
                <a:extLst>
                  <a:ext uri="{0D108BD9-81ED-4DB2-BD59-A6C34878D82A}">
                    <a16:rowId xmlns:a16="http://schemas.microsoft.com/office/drawing/2014/main" val="4029457185"/>
                  </a:ext>
                </a:extLst>
              </a:tr>
              <a:tr h="1022044">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prstClr val="black"/>
                          </a:solidFill>
                          <a:effectLst/>
                          <a:uLnTx/>
                          <a:uFillTx/>
                          <a:latin typeface="+mn-lt"/>
                          <a:ea typeface="+mn-ea"/>
                          <a:cs typeface="+mn-cs"/>
                        </a:rPr>
                        <a:t>GAP-D-24</a:t>
                      </a:r>
                      <a:endParaRPr kumimoji="0" lang="ar-EG" sz="1200" b="1" i="0" u="none" strike="noStrike" kern="1200" cap="none" spc="0" normalizeH="0" baseline="0" noProof="0" dirty="0">
                        <a:ln>
                          <a:noFill/>
                        </a:ln>
                        <a:solidFill>
                          <a:prstClr val="black"/>
                        </a:solidFill>
                        <a:effectLst/>
                        <a:uLnTx/>
                        <a:uFillTx/>
                        <a:latin typeface="Sakkal Majalla"/>
                        <a:ea typeface="+mn-ea"/>
                        <a:cs typeface="Sakkal Majalla"/>
                      </a:endParaRPr>
                    </a:p>
                  </a:txBody>
                  <a:tcPr marL="20927" marR="20927" marT="10464" marB="10464" anchor="ctr"/>
                </a:tc>
                <a:tc>
                  <a:txBody>
                    <a:bodyPr/>
                    <a:lstStyle/>
                    <a:p>
                      <a:pPr algn="r" rtl="1">
                        <a:buNone/>
                      </a:pPr>
                      <a:r>
                        <a:rPr lang="ar-AE" sz="1200" dirty="0">
                          <a:latin typeface="+mn-lt"/>
                        </a:rPr>
                        <a:t>غياب مستودع أو دليل مركزي شامل (قاموس بيانات) عن جميع عناصر البيانات المستخدمة</a:t>
                      </a:r>
                    </a:p>
                  </a:txBody>
                  <a:tcPr marL="18232" marR="18232" marT="9116" marB="9116" anchor="ctr"/>
                </a:tc>
                <a:tc>
                  <a:txBody>
                    <a:bodyPr/>
                    <a:lstStyle/>
                    <a:p>
                      <a:pPr algn="ctr" rtl="1" fontAlgn="ctr"/>
                      <a:r>
                        <a:rPr lang="ar-AE" sz="1200" b="0" i="0" u="none" strike="noStrike">
                          <a:solidFill>
                            <a:srgbClr val="000000"/>
                          </a:solidFill>
                          <a:effectLst/>
                          <a:latin typeface="Aptos Narrow" panose="020B0004020202020204" pitchFamily="34" charset="0"/>
                        </a:rPr>
                        <a:t>البيانات الوصفية ودليل البيانات (2)</a:t>
                      </a:r>
                    </a:p>
                  </a:txBody>
                  <a:tcPr marL="9525" marR="9525" marT="9525" marB="0" anchor="ctr"/>
                </a:tc>
                <a:tc>
                  <a:txBody>
                    <a:bodyPr/>
                    <a:lstStyle/>
                    <a:p>
                      <a:pPr algn="r" rtl="1">
                        <a:buNone/>
                      </a:pPr>
                      <a:r>
                        <a:rPr lang="ar-AE" sz="1200">
                          <a:latin typeface="+mn-lt"/>
                        </a:rPr>
                        <a:t>لم تُجمع بيانات عناصر النظام المختلفة في مرجع واحد، ما يصعّب عملية البحث عن خصائص البيانات أو تعريفاتها</a:t>
                      </a:r>
                    </a:p>
                  </a:txBody>
                  <a:tcPr marL="18232" marR="18232" marT="9116" marB="9116" anchor="ctr"/>
                </a:tc>
                <a:tc>
                  <a:txBody>
                    <a:bodyPr/>
                    <a:lstStyle/>
                    <a:p>
                      <a:pPr algn="r" rtl="1">
                        <a:buNone/>
                      </a:pPr>
                      <a:r>
                        <a:rPr lang="ar-AE" sz="1200">
                          <a:latin typeface="+mn-lt"/>
                        </a:rPr>
                        <a:t>التكرار والتضارب في تعريف العناصر وعدم وضوح العلاقات والمسؤوليات</a:t>
                      </a:r>
                    </a:p>
                  </a:txBody>
                  <a:tcPr marL="18232" marR="18232" marT="9116" marB="9116" anchor="ctr"/>
                </a:tc>
                <a:tc>
                  <a:txBody>
                    <a:bodyPr/>
                    <a:lstStyle/>
                    <a:p>
                      <a:pPr algn="r" rtl="1">
                        <a:buNone/>
                      </a:pPr>
                      <a:r>
                        <a:rPr lang="ar-AE" sz="1200" dirty="0">
                          <a:latin typeface="+mn-lt"/>
                        </a:rPr>
                        <a:t>إنشاء قاموس بيانات مركزي وتحديثه دوريًا، ما يسهّل معرفة الخصائص والقيود والمسؤولين عن البيانات</a:t>
                      </a:r>
                    </a:p>
                  </a:txBody>
                  <a:tcPr marL="18232" marR="18232" marT="9116" marB="9116" anchor="ctr"/>
                </a:tc>
                <a:tc>
                  <a:txBody>
                    <a:bodyPr/>
                    <a:lstStyle/>
                    <a:p>
                      <a:pPr algn="r" rtl="1">
                        <a:buNone/>
                      </a:pPr>
                      <a:r>
                        <a:rPr lang="ar-AE" sz="1200" dirty="0">
                          <a:latin typeface="+mn-lt"/>
                        </a:rPr>
                        <a:t>ربط القاموس بجميع الأنظمة واعتماد آليات تزامن أوتوماتيكية لأي تغيير في البنية</a:t>
                      </a:r>
                    </a:p>
                  </a:txBody>
                  <a:tcPr marL="18232" marR="18232" marT="9116" marB="9116" anchor="ctr"/>
                </a:tc>
                <a:tc>
                  <a:txBody>
                    <a:bodyPr/>
                    <a:lstStyle/>
                    <a:p>
                      <a:pPr algn="ctr" rtl="1">
                        <a:buNone/>
                      </a:pPr>
                      <a:r>
                        <a:rPr lang="ar-AE" sz="1200">
                          <a:latin typeface="+mn-lt"/>
                        </a:rPr>
                        <a:t>متوسطة</a:t>
                      </a:r>
                    </a:p>
                  </a:txBody>
                  <a:tcPr marL="18232" marR="18232" marT="9116" marB="9116" anchor="ctr"/>
                </a:tc>
                <a:tc>
                  <a:txBody>
                    <a:bodyPr/>
                    <a:lstStyle/>
                    <a:p>
                      <a:pPr algn="ctr" rtl="1">
                        <a:buNone/>
                      </a:pPr>
                      <a:r>
                        <a:rPr lang="ar-AE" sz="1200">
                          <a:latin typeface="+mn-lt"/>
                        </a:rPr>
                        <a:t>متوسطة</a:t>
                      </a:r>
                    </a:p>
                  </a:txBody>
                  <a:tcPr marL="18232" marR="18232" marT="9116" marB="9116" anchor="ctr"/>
                </a:tc>
                <a:tc>
                  <a:txBody>
                    <a:bodyPr/>
                    <a:lstStyle/>
                    <a:p>
                      <a:pPr algn="ctr" rtl="1">
                        <a:buNone/>
                      </a:pPr>
                      <a:r>
                        <a:rPr lang="ar-AE" sz="1200" dirty="0">
                          <a:latin typeface="+mn-lt"/>
                        </a:rPr>
                        <a:t>ملف حصر البيانات</a:t>
                      </a:r>
                    </a:p>
                  </a:txBody>
                  <a:tcPr marL="18232" marR="18232" marT="9116" marB="9116" anchor="ctr"/>
                </a:tc>
                <a:extLst>
                  <a:ext uri="{0D108BD9-81ED-4DB2-BD59-A6C34878D82A}">
                    <a16:rowId xmlns:a16="http://schemas.microsoft.com/office/drawing/2014/main" val="3067900995"/>
                  </a:ext>
                </a:extLst>
              </a:tr>
              <a:tr h="1126569">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prstClr val="black"/>
                          </a:solidFill>
                          <a:effectLst/>
                          <a:uLnTx/>
                          <a:uFillTx/>
                          <a:latin typeface="+mn-lt"/>
                          <a:ea typeface="+mn-ea"/>
                          <a:cs typeface="+mn-cs"/>
                        </a:rPr>
                        <a:t>GAP-D-25</a:t>
                      </a:r>
                      <a:endParaRPr kumimoji="0" lang="ar-EG" sz="1200" b="1" i="0" u="none" strike="noStrike" kern="1200" cap="none" spc="0" normalizeH="0" baseline="0" noProof="0" dirty="0">
                        <a:ln>
                          <a:noFill/>
                        </a:ln>
                        <a:solidFill>
                          <a:prstClr val="black"/>
                        </a:solidFill>
                        <a:effectLst/>
                        <a:uLnTx/>
                        <a:uFillTx/>
                        <a:latin typeface="+mn-lt"/>
                        <a:ea typeface="+mn-ea"/>
                        <a:cs typeface="+mn-cs"/>
                      </a:endParaRPr>
                    </a:p>
                  </a:txBody>
                  <a:tcPr marL="20927" marR="20927" marT="10464" marB="10464" anchor="ctr"/>
                </a:tc>
                <a:tc>
                  <a:txBody>
                    <a:bodyPr/>
                    <a:lstStyle/>
                    <a:p>
                      <a:pPr algn="r" rtl="1">
                        <a:buNone/>
                      </a:pPr>
                      <a:r>
                        <a:rPr lang="ar-AE" sz="1200" dirty="0">
                          <a:latin typeface="+mn-lt"/>
                        </a:rPr>
                        <a:t>عدم اعتماد تصنيف واضح للبيانات (مرجعية، وصفية، أساسية)</a:t>
                      </a:r>
                    </a:p>
                  </a:txBody>
                  <a:tcPr marL="18232" marR="18232" marT="9116" marB="9116" anchor="ctr"/>
                </a:tc>
                <a:tc>
                  <a:txBody>
                    <a:bodyPr/>
                    <a:lstStyle/>
                    <a:p>
                      <a:pPr algn="ctr" rtl="1" fontAlgn="ctr"/>
                      <a:r>
                        <a:rPr lang="ar-AE" sz="1200" b="0" i="0" u="none" strike="noStrike">
                          <a:solidFill>
                            <a:srgbClr val="000000"/>
                          </a:solidFill>
                          <a:effectLst/>
                          <a:latin typeface="Aptos Narrow" panose="020B0004020202020204" pitchFamily="34" charset="0"/>
                        </a:rPr>
                        <a:t>تصنيف البيانات (13)</a:t>
                      </a:r>
                    </a:p>
                  </a:txBody>
                  <a:tcPr marL="9525" marR="9525" marT="9525" marB="0" anchor="ctr"/>
                </a:tc>
                <a:tc>
                  <a:txBody>
                    <a:bodyPr/>
                    <a:lstStyle/>
                    <a:p>
                      <a:pPr algn="r" rtl="1">
                        <a:buNone/>
                      </a:pPr>
                      <a:r>
                        <a:rPr lang="ar-AE" sz="1200" dirty="0">
                          <a:latin typeface="+mn-lt"/>
                        </a:rPr>
                        <a:t>اختلاط فئات البيانات في الأنظمة دون تحديد نوعها أو استخداماتها</a:t>
                      </a:r>
                    </a:p>
                  </a:txBody>
                  <a:tcPr marL="18232" marR="18232" marT="9116" marB="9116" anchor="ctr"/>
                </a:tc>
                <a:tc>
                  <a:txBody>
                    <a:bodyPr/>
                    <a:lstStyle/>
                    <a:p>
                      <a:pPr algn="r" rtl="1">
                        <a:buNone/>
                      </a:pPr>
                      <a:r>
                        <a:rPr lang="ar-AE" sz="1200" dirty="0">
                          <a:latin typeface="+mn-lt"/>
                        </a:rPr>
                        <a:t>صعوبة إدارة البيانات، وزيادة التكرار، وتعقيد عمليات الحذف أو الأرشفة</a:t>
                      </a:r>
                    </a:p>
                  </a:txBody>
                  <a:tcPr marL="18232" marR="18232" marT="9116" marB="9116" anchor="ctr"/>
                </a:tc>
                <a:tc>
                  <a:txBody>
                    <a:bodyPr/>
                    <a:lstStyle/>
                    <a:p>
                      <a:pPr algn="r" rtl="1">
                        <a:buNone/>
                      </a:pPr>
                      <a:r>
                        <a:rPr lang="ar-AE" sz="1200" dirty="0">
                          <a:latin typeface="+mn-lt"/>
                        </a:rPr>
                        <a:t>تطوير واعتماد نهج تصنيف يشمل البيانات المرجعية والوصفية والأساسية وإلزام كافة الإدارات بتطبيقه</a:t>
                      </a:r>
                    </a:p>
                  </a:txBody>
                  <a:tcPr marL="18232" marR="18232" marT="9116" marB="9116" anchor="ctr"/>
                </a:tc>
                <a:tc>
                  <a:txBody>
                    <a:bodyPr/>
                    <a:lstStyle/>
                    <a:p>
                      <a:pPr algn="r" rtl="1">
                        <a:buNone/>
                      </a:pPr>
                      <a:r>
                        <a:rPr lang="ar-AE" sz="1200" dirty="0">
                          <a:latin typeface="+mn-lt"/>
                        </a:rPr>
                        <a:t>بناء سياسة تصنيف مدعومة بأدوات فنية لضمان الالتزام والتحديث المستمر</a:t>
                      </a:r>
                    </a:p>
                  </a:txBody>
                  <a:tcPr marL="18232" marR="18232" marT="9116" marB="9116" anchor="ctr"/>
                </a:tc>
                <a:tc>
                  <a:txBody>
                    <a:bodyPr/>
                    <a:lstStyle/>
                    <a:p>
                      <a:pPr algn="ctr" rtl="1">
                        <a:buNone/>
                      </a:pPr>
                      <a:r>
                        <a:rPr lang="ar-AE" sz="1200" dirty="0">
                          <a:latin typeface="+mn-lt"/>
                        </a:rPr>
                        <a:t>متوسطة</a:t>
                      </a:r>
                    </a:p>
                  </a:txBody>
                  <a:tcPr marL="18232" marR="18232" marT="9116" marB="9116" anchor="ctr"/>
                </a:tc>
                <a:tc>
                  <a:txBody>
                    <a:bodyPr/>
                    <a:lstStyle/>
                    <a:p>
                      <a:pPr algn="ctr" rtl="1">
                        <a:buNone/>
                      </a:pPr>
                      <a:r>
                        <a:rPr lang="ar-AE" sz="1200">
                          <a:latin typeface="+mn-lt"/>
                        </a:rPr>
                        <a:t>عالية</a:t>
                      </a:r>
                    </a:p>
                  </a:txBody>
                  <a:tcPr marL="18232" marR="18232" marT="9116" marB="9116" anchor="ctr"/>
                </a:tc>
                <a:tc>
                  <a:txBody>
                    <a:bodyPr/>
                    <a:lstStyle/>
                    <a:p>
                      <a:pPr algn="ctr" rtl="1">
                        <a:buNone/>
                      </a:pPr>
                      <a:r>
                        <a:rPr lang="ar-AE" sz="1200" dirty="0"/>
                        <a:t>وثيقة الوضع الحالي </a:t>
                      </a:r>
                      <a:endParaRPr lang="ar-AE" sz="1200" dirty="0">
                        <a:latin typeface="+mn-lt"/>
                      </a:endParaRPr>
                    </a:p>
                  </a:txBody>
                  <a:tcPr marL="18232" marR="18232" marT="9116" marB="9116" anchor="ctr"/>
                </a:tc>
                <a:extLst>
                  <a:ext uri="{0D108BD9-81ED-4DB2-BD59-A6C34878D82A}">
                    <a16:rowId xmlns:a16="http://schemas.microsoft.com/office/drawing/2014/main" val="4205275932"/>
                  </a:ext>
                </a:extLst>
              </a:tr>
              <a:tr h="1374366">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prstClr val="black"/>
                          </a:solidFill>
                          <a:effectLst/>
                          <a:uLnTx/>
                          <a:uFillTx/>
                          <a:latin typeface="+mn-lt"/>
                          <a:ea typeface="+mn-ea"/>
                          <a:cs typeface="+mn-cs"/>
                        </a:rPr>
                        <a:t>GAP-D-26</a:t>
                      </a:r>
                      <a:endParaRPr kumimoji="0" lang="ar-EG" sz="1200" b="1" i="0" u="none" strike="noStrike" kern="1200" cap="none" spc="0" normalizeH="0" baseline="0" noProof="0" dirty="0">
                        <a:ln>
                          <a:noFill/>
                        </a:ln>
                        <a:solidFill>
                          <a:prstClr val="black"/>
                        </a:solidFill>
                        <a:effectLst/>
                        <a:uLnTx/>
                        <a:uFillTx/>
                        <a:latin typeface="+mn-lt"/>
                        <a:ea typeface="+mn-ea"/>
                        <a:cs typeface="+mn-cs"/>
                      </a:endParaRPr>
                    </a:p>
                  </a:txBody>
                  <a:tcPr marL="20927" marR="20927" marT="10464" marB="10464" anchor="ctr"/>
                </a:tc>
                <a:tc>
                  <a:txBody>
                    <a:bodyPr/>
                    <a:lstStyle/>
                    <a:p>
                      <a:pPr algn="r" rtl="1">
                        <a:buNone/>
                      </a:pPr>
                      <a:r>
                        <a:rPr lang="ar-AE" sz="1200" dirty="0">
                          <a:latin typeface="+mn-lt"/>
                        </a:rPr>
                        <a:t>نقص التقييم المستمر لجودة البيانات (التكرار، الإكمال، التكامل) وتعيين مسؤول مختص</a:t>
                      </a:r>
                    </a:p>
                  </a:txBody>
                  <a:tcPr marL="18232" marR="18232" marT="9116" marB="9116" anchor="ctr"/>
                </a:tc>
                <a:tc>
                  <a:txBody>
                    <a:bodyPr/>
                    <a:lstStyle/>
                    <a:p>
                      <a:pPr algn="ctr" rtl="1" fontAlgn="ctr"/>
                      <a:r>
                        <a:rPr lang="ar-AE" sz="1200" b="0" i="0" u="none" strike="noStrike" dirty="0">
                          <a:solidFill>
                            <a:srgbClr val="000000"/>
                          </a:solidFill>
                          <a:effectLst/>
                          <a:latin typeface="Aptos Narrow" panose="020B0004020202020204" pitchFamily="34" charset="0"/>
                        </a:rPr>
                        <a:t>جودة البيانات (3)</a:t>
                      </a:r>
                    </a:p>
                  </a:txBody>
                  <a:tcPr marL="9525" marR="9525" marT="9525" marB="0" anchor="ctr"/>
                </a:tc>
                <a:tc>
                  <a:txBody>
                    <a:bodyPr/>
                    <a:lstStyle/>
                    <a:p>
                      <a:pPr algn="r" rtl="1">
                        <a:buNone/>
                      </a:pPr>
                      <a:r>
                        <a:rPr lang="ar-AE" sz="1200" dirty="0">
                          <a:latin typeface="+mn-lt"/>
                        </a:rPr>
                        <a:t>لا توجد عملية تفتيش دوري للبيانات للوقوف على المشاكل المتعلقة بالتكرار أو النقص أو عدم الترابط</a:t>
                      </a:r>
                    </a:p>
                  </a:txBody>
                  <a:tcPr marL="18232" marR="18232" marT="9116" marB="9116" anchor="ctr"/>
                </a:tc>
                <a:tc>
                  <a:txBody>
                    <a:bodyPr/>
                    <a:lstStyle/>
                    <a:p>
                      <a:pPr algn="r" rtl="1">
                        <a:buNone/>
                      </a:pPr>
                      <a:r>
                        <a:rPr lang="ar-AE" sz="1200" dirty="0">
                          <a:latin typeface="+mn-lt"/>
                        </a:rPr>
                        <a:t>صعوبة اكتشاف الأخطاء المتكررة وضعف في ثقة التقارير الصادرة عن مختلف الأنظمة</a:t>
                      </a:r>
                    </a:p>
                  </a:txBody>
                  <a:tcPr marL="18232" marR="18232" marT="9116" marB="9116" anchor="ctr"/>
                </a:tc>
                <a:tc>
                  <a:txBody>
                    <a:bodyPr/>
                    <a:lstStyle/>
                    <a:p>
                      <a:pPr algn="r" rtl="1">
                        <a:buNone/>
                      </a:pPr>
                      <a:r>
                        <a:rPr lang="ar-AE" sz="1200" dirty="0">
                          <a:latin typeface="+mn-lt"/>
                        </a:rPr>
                        <a:t>إجراء تقييمات دورية لجودة البيانات واعتماد مؤشرات أداء واضحة، وتعيين مسؤول مؤهل لإدارة جودة البيانات</a:t>
                      </a:r>
                    </a:p>
                  </a:txBody>
                  <a:tcPr marL="18232" marR="18232" marT="9116" marB="9116" anchor="ctr"/>
                </a:tc>
                <a:tc>
                  <a:txBody>
                    <a:bodyPr/>
                    <a:lstStyle/>
                    <a:p>
                      <a:pPr algn="r" rtl="1">
                        <a:buNone/>
                      </a:pPr>
                      <a:r>
                        <a:rPr lang="ar-AE" sz="1200" dirty="0">
                          <a:latin typeface="+mn-lt"/>
                        </a:rPr>
                        <a:t>استعمال أدوات مخصصة لفحص الجودة مع نشر تقارير دورية بالإجراءات التصحيحية</a:t>
                      </a:r>
                    </a:p>
                  </a:txBody>
                  <a:tcPr marL="18232" marR="18232" marT="9116" marB="9116" anchor="ctr"/>
                </a:tc>
                <a:tc>
                  <a:txBody>
                    <a:bodyPr/>
                    <a:lstStyle/>
                    <a:p>
                      <a:pPr algn="ctr" rtl="1">
                        <a:buNone/>
                      </a:pPr>
                      <a:r>
                        <a:rPr lang="ar-AE" sz="1200" dirty="0">
                          <a:latin typeface="+mn-lt"/>
                        </a:rPr>
                        <a:t>متوسطة</a:t>
                      </a:r>
                    </a:p>
                  </a:txBody>
                  <a:tcPr marL="18232" marR="18232" marT="9116" marB="9116" anchor="ctr"/>
                </a:tc>
                <a:tc>
                  <a:txBody>
                    <a:bodyPr/>
                    <a:lstStyle/>
                    <a:p>
                      <a:pPr algn="ctr" rtl="1">
                        <a:buNone/>
                      </a:pPr>
                      <a:r>
                        <a:rPr lang="ar-AE" sz="1200" dirty="0">
                          <a:latin typeface="+mn-lt"/>
                        </a:rPr>
                        <a:t>متوسطة</a:t>
                      </a:r>
                    </a:p>
                  </a:txBody>
                  <a:tcPr marL="18232" marR="18232" marT="9116" marB="9116" anchor="ctr"/>
                </a:tc>
                <a:tc>
                  <a: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ar-AE" sz="1200" b="0" i="0" u="none" strike="noStrike" kern="1200" cap="none" spc="0" normalizeH="0" baseline="0" noProof="0" dirty="0">
                          <a:ln>
                            <a:noFill/>
                          </a:ln>
                          <a:solidFill>
                            <a:prstClr val="black"/>
                          </a:solidFill>
                          <a:effectLst/>
                          <a:uLnTx/>
                          <a:uFillTx/>
                          <a:latin typeface="Sakkal Majalla"/>
                          <a:ea typeface="+mn-ea"/>
                          <a:cs typeface="Sakkal Majalla"/>
                        </a:rPr>
                        <a:t>وثيقة الوضع الحالي </a:t>
                      </a:r>
                    </a:p>
                  </a:txBody>
                  <a:tcPr marL="18232" marR="18232" marT="9116" marB="9116" anchor="ctr"/>
                </a:tc>
                <a:extLst>
                  <a:ext uri="{0D108BD9-81ED-4DB2-BD59-A6C34878D82A}">
                    <a16:rowId xmlns:a16="http://schemas.microsoft.com/office/drawing/2014/main" val="152741407"/>
                  </a:ext>
                </a:extLst>
              </a:tr>
              <a:tr h="1374366">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prstClr val="black"/>
                          </a:solidFill>
                          <a:effectLst/>
                          <a:uLnTx/>
                          <a:uFillTx/>
                          <a:latin typeface="+mn-lt"/>
                          <a:ea typeface="+mn-ea"/>
                          <a:cs typeface="+mn-cs"/>
                        </a:rPr>
                        <a:t>GAP-D-27</a:t>
                      </a:r>
                      <a:endParaRPr kumimoji="0" lang="ar-EG" sz="1200" b="1" i="0" u="none" strike="noStrike" kern="1200" cap="none" spc="0" normalizeH="0" baseline="0" noProof="0" dirty="0">
                        <a:ln>
                          <a:noFill/>
                        </a:ln>
                        <a:solidFill>
                          <a:prstClr val="black"/>
                        </a:solidFill>
                        <a:effectLst/>
                        <a:uLnTx/>
                        <a:uFillTx/>
                        <a:latin typeface="Sakkal Majalla"/>
                        <a:ea typeface="+mn-ea"/>
                        <a:cs typeface="Sakkal Majalla"/>
                      </a:endParaRPr>
                    </a:p>
                  </a:txBody>
                  <a:tcPr marL="20927" marR="20927" marT="10464" marB="10464" anchor="ctr"/>
                </a:tc>
                <a:tc>
                  <a:txBody>
                    <a:bodyPr/>
                    <a:lstStyle/>
                    <a:p>
                      <a:pPr algn="r" rtl="1">
                        <a:buNone/>
                      </a:pPr>
                      <a:r>
                        <a:rPr lang="ar-AE" sz="1200" dirty="0">
                          <a:latin typeface="+mn-lt"/>
                        </a:rPr>
                        <a:t>استمرار وجود قواعد بيانات غير مستخدمة وعدم أرشفتها</a:t>
                      </a:r>
                    </a:p>
                  </a:txBody>
                  <a:tcPr marL="18232" marR="18232" marT="9116" marB="9116" anchor="ctr"/>
                </a:tc>
                <a:tc>
                  <a:txBody>
                    <a:bodyPr/>
                    <a:lstStyle/>
                    <a:p>
                      <a:pPr algn="ctr" rtl="1" fontAlgn="ctr"/>
                      <a:r>
                        <a:rPr lang="ar-AE" sz="1200" b="0" i="0" u="none" strike="noStrike">
                          <a:solidFill>
                            <a:srgbClr val="000000"/>
                          </a:solidFill>
                          <a:effectLst/>
                          <a:latin typeface="Aptos Narrow" panose="020B0004020202020204" pitchFamily="34" charset="0"/>
                        </a:rPr>
                        <a:t>تخزين البيانات (4)</a:t>
                      </a:r>
                    </a:p>
                  </a:txBody>
                  <a:tcPr marL="9525" marR="9525" marT="9525" marB="0" anchor="ctr"/>
                </a:tc>
                <a:tc>
                  <a:txBody>
                    <a:bodyPr/>
                    <a:lstStyle/>
                    <a:p>
                      <a:pPr algn="r" rtl="1">
                        <a:buNone/>
                      </a:pPr>
                      <a:r>
                        <a:rPr lang="ar-AE" sz="1200">
                          <a:latin typeface="+mn-lt"/>
                        </a:rPr>
                        <a:t>عدم ترشيد الموارد واستمرار إنفاق الجهد والتخزين على قواعد أو سجلات لا قيمة فعلية لها</a:t>
                      </a:r>
                    </a:p>
                  </a:txBody>
                  <a:tcPr marL="18232" marR="18232" marT="9116" marB="9116" anchor="ctr"/>
                </a:tc>
                <a:tc>
                  <a:txBody>
                    <a:bodyPr/>
                    <a:lstStyle/>
                    <a:p>
                      <a:pPr algn="r" rtl="1">
                        <a:buNone/>
                      </a:pPr>
                      <a:r>
                        <a:rPr lang="ar-AE" sz="1200" dirty="0">
                          <a:latin typeface="+mn-lt"/>
                        </a:rPr>
                        <a:t>ازدحام الخوادم وزيادة التكلفة التشغيلية وصعوبة التركيز على البيانات المهمة</a:t>
                      </a:r>
                    </a:p>
                  </a:txBody>
                  <a:tcPr marL="18232" marR="18232" marT="9116" marB="9116" anchor="ctr"/>
                </a:tc>
                <a:tc>
                  <a:txBody>
                    <a:bodyPr/>
                    <a:lstStyle/>
                    <a:p>
                      <a:pPr algn="r" rtl="1">
                        <a:buNone/>
                      </a:pPr>
                      <a:r>
                        <a:rPr lang="ar-AE" sz="1200" dirty="0">
                          <a:latin typeface="+mn-lt"/>
                        </a:rPr>
                        <a:t>أرشفة أو إغلاق القواعد غير المستخدمة بعد تقييم فاعليتها وأخذ نسخة منها أو تصديرها للأرشيف</a:t>
                      </a:r>
                    </a:p>
                  </a:txBody>
                  <a:tcPr marL="18232" marR="18232" marT="9116" marB="9116" anchor="ctr"/>
                </a:tc>
                <a:tc>
                  <a:txBody>
                    <a:bodyPr/>
                    <a:lstStyle/>
                    <a:p>
                      <a:pPr algn="r" rtl="1">
                        <a:buNone/>
                      </a:pPr>
                      <a:r>
                        <a:rPr lang="ar-AE" sz="1200" dirty="0">
                          <a:latin typeface="+mn-lt"/>
                        </a:rPr>
                        <a:t>وضع آلية مرجعية تحدد صلاحية الاستخدام وإجراءات الغلق أو الأرشفة</a:t>
                      </a:r>
                    </a:p>
                  </a:txBody>
                  <a:tcPr marL="18232" marR="18232" marT="9116" marB="9116" anchor="ctr"/>
                </a:tc>
                <a:tc>
                  <a:txBody>
                    <a:bodyPr/>
                    <a:lstStyle/>
                    <a:p>
                      <a:pPr algn="ctr" rtl="1">
                        <a:buNone/>
                      </a:pPr>
                      <a:r>
                        <a:rPr lang="ar-AE" sz="1200" dirty="0">
                          <a:latin typeface="+mn-lt"/>
                        </a:rPr>
                        <a:t>متوسطة</a:t>
                      </a:r>
                    </a:p>
                  </a:txBody>
                  <a:tcPr marL="18232" marR="18232" marT="9116" marB="9116" anchor="ctr"/>
                </a:tc>
                <a:tc>
                  <a:txBody>
                    <a:bodyPr/>
                    <a:lstStyle/>
                    <a:p>
                      <a:pPr algn="ctr" rtl="1">
                        <a:buNone/>
                      </a:pPr>
                      <a:r>
                        <a:rPr lang="ar-AE" sz="1200" dirty="0">
                          <a:latin typeface="+mn-lt"/>
                        </a:rPr>
                        <a:t>متوسطة</a:t>
                      </a:r>
                    </a:p>
                  </a:txBody>
                  <a:tcPr marL="18232" marR="18232" marT="9116" marB="9116" anchor="ctr"/>
                </a:tc>
                <a:tc>
                  <a: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ar-AE" sz="1200" b="0" i="0" u="none" strike="noStrike" kern="1200" cap="none" spc="0" normalizeH="0" baseline="0" noProof="0" dirty="0">
                          <a:ln>
                            <a:noFill/>
                          </a:ln>
                          <a:solidFill>
                            <a:prstClr val="black"/>
                          </a:solidFill>
                          <a:effectLst/>
                          <a:uLnTx/>
                          <a:uFillTx/>
                          <a:latin typeface="Sakkal Majalla"/>
                          <a:ea typeface="+mn-ea"/>
                          <a:cs typeface="Sakkal Majalla"/>
                        </a:rPr>
                        <a:t>وثيقة الوضع الحالي </a:t>
                      </a:r>
                    </a:p>
                  </a:txBody>
                  <a:tcPr marL="18232" marR="18232" marT="9116" marB="9116" anchor="ctr"/>
                </a:tc>
                <a:extLst>
                  <a:ext uri="{0D108BD9-81ED-4DB2-BD59-A6C34878D82A}">
                    <a16:rowId xmlns:a16="http://schemas.microsoft.com/office/drawing/2014/main" val="4222527366"/>
                  </a:ext>
                </a:extLst>
              </a:tr>
            </a:tbl>
          </a:graphicData>
        </a:graphic>
      </p:graphicFrame>
    </p:spTree>
    <p:extLst>
      <p:ext uri="{BB962C8B-B14F-4D97-AF65-F5344CB8AC3E}">
        <p14:creationId xmlns:p14="http://schemas.microsoft.com/office/powerpoint/2010/main" val="3118238519"/>
      </p:ext>
    </p:extLst>
  </p:cSld>
  <p:clrMapOvr>
    <a:masterClrMapping/>
  </p:clrMapOvr>
  <mc:AlternateContent xmlns:mc="http://schemas.openxmlformats.org/markup-compatibility/2006" xmlns:p14="http://schemas.microsoft.com/office/powerpoint/2010/main">
    <mc:Choice Requires="p14">
      <p:transition spd="slow" p14:dur="1300">
        <p14:pan dir="r"/>
      </p:transition>
    </mc:Choice>
    <mc:Fallback xmlns="">
      <p:transition spd="slow">
        <p:fade/>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28D2ED-1B09-5C42-B60B-978E22749E2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C8F319A-154C-FE23-058E-E1AC5B48CD29}"/>
              </a:ext>
            </a:extLst>
          </p:cNvPr>
          <p:cNvSpPr>
            <a:spLocks noGrp="1"/>
          </p:cNvSpPr>
          <p:nvPr>
            <p:ph type="title"/>
          </p:nvPr>
        </p:nvSpPr>
        <p:spPr/>
        <p:txBody>
          <a:bodyPr/>
          <a:lstStyle/>
          <a:p>
            <a:r>
              <a:rPr lang="ar-SA" noProof="0" dirty="0"/>
              <a:t>ملخص تحليل الفجوات لبنية البيانات</a:t>
            </a:r>
            <a:endParaRPr lang="en-AE" dirty="0"/>
          </a:p>
        </p:txBody>
      </p:sp>
      <p:sp>
        <p:nvSpPr>
          <p:cNvPr id="3" name="Slide Number Placeholder 2">
            <a:extLst>
              <a:ext uri="{FF2B5EF4-FFF2-40B4-BE49-F238E27FC236}">
                <a16:creationId xmlns:a16="http://schemas.microsoft.com/office/drawing/2014/main" id="{162BCF6F-2240-D3C0-4488-8F46FC6B6504}"/>
              </a:ext>
            </a:extLst>
          </p:cNvPr>
          <p:cNvSpPr>
            <a:spLocks noGrp="1"/>
          </p:cNvSpPr>
          <p:nvPr>
            <p:ph type="sldNum" sz="quarter" idx="12"/>
          </p:nvPr>
        </p:nvSpPr>
        <p:spPr/>
        <p:txBody>
          <a:bodyPr/>
          <a:lstStyle/>
          <a:p>
            <a:fld id="{0BE4EC83-A869-464E-AE9F-881796FB085E}" type="slidenum">
              <a:rPr lang="en-US" smtClean="0"/>
              <a:t>38</a:t>
            </a:fld>
            <a:endParaRPr lang="en-US"/>
          </a:p>
        </p:txBody>
      </p:sp>
      <p:graphicFrame>
        <p:nvGraphicFramePr>
          <p:cNvPr id="4" name="Table 3">
            <a:extLst>
              <a:ext uri="{FF2B5EF4-FFF2-40B4-BE49-F238E27FC236}">
                <a16:creationId xmlns:a16="http://schemas.microsoft.com/office/drawing/2014/main" id="{ED314E2A-C45A-6FEF-E1B6-5478312171DA}"/>
              </a:ext>
            </a:extLst>
          </p:cNvPr>
          <p:cNvGraphicFramePr>
            <a:graphicFrameLocks noGrp="1"/>
          </p:cNvGraphicFramePr>
          <p:nvPr>
            <p:extLst>
              <p:ext uri="{D42A27DB-BD31-4B8C-83A1-F6EECF244321}">
                <p14:modId xmlns:p14="http://schemas.microsoft.com/office/powerpoint/2010/main" val="1358225670"/>
              </p:ext>
            </p:extLst>
          </p:nvPr>
        </p:nvGraphicFramePr>
        <p:xfrm>
          <a:off x="621453" y="1158113"/>
          <a:ext cx="10960948" cy="4853930"/>
        </p:xfrm>
        <a:graphic>
          <a:graphicData uri="http://schemas.openxmlformats.org/drawingml/2006/table">
            <a:tbl>
              <a:tblPr rtl="1" firstRow="1" bandRow="1">
                <a:tableStyleId>{B301B821-A1FF-4177-AEE7-76D212191A09}</a:tableStyleId>
              </a:tblPr>
              <a:tblGrid>
                <a:gridCol w="776172">
                  <a:extLst>
                    <a:ext uri="{9D8B030D-6E8A-4147-A177-3AD203B41FA5}">
                      <a16:colId xmlns:a16="http://schemas.microsoft.com/office/drawing/2014/main" val="1848166869"/>
                    </a:ext>
                  </a:extLst>
                </a:gridCol>
                <a:gridCol w="1009315">
                  <a:extLst>
                    <a:ext uri="{9D8B030D-6E8A-4147-A177-3AD203B41FA5}">
                      <a16:colId xmlns:a16="http://schemas.microsoft.com/office/drawing/2014/main" val="3183077499"/>
                    </a:ext>
                  </a:extLst>
                </a:gridCol>
                <a:gridCol w="1154359">
                  <a:extLst>
                    <a:ext uri="{9D8B030D-6E8A-4147-A177-3AD203B41FA5}">
                      <a16:colId xmlns:a16="http://schemas.microsoft.com/office/drawing/2014/main" val="2994891593"/>
                    </a:ext>
                  </a:extLst>
                </a:gridCol>
                <a:gridCol w="1484671">
                  <a:extLst>
                    <a:ext uri="{9D8B030D-6E8A-4147-A177-3AD203B41FA5}">
                      <a16:colId xmlns:a16="http://schemas.microsoft.com/office/drawing/2014/main" val="2407940828"/>
                    </a:ext>
                  </a:extLst>
                </a:gridCol>
                <a:gridCol w="1602658">
                  <a:extLst>
                    <a:ext uri="{9D8B030D-6E8A-4147-A177-3AD203B41FA5}">
                      <a16:colId xmlns:a16="http://schemas.microsoft.com/office/drawing/2014/main" val="2266366844"/>
                    </a:ext>
                  </a:extLst>
                </a:gridCol>
                <a:gridCol w="1415845">
                  <a:extLst>
                    <a:ext uri="{9D8B030D-6E8A-4147-A177-3AD203B41FA5}">
                      <a16:colId xmlns:a16="http://schemas.microsoft.com/office/drawing/2014/main" val="170401669"/>
                    </a:ext>
                  </a:extLst>
                </a:gridCol>
                <a:gridCol w="1723802">
                  <a:extLst>
                    <a:ext uri="{9D8B030D-6E8A-4147-A177-3AD203B41FA5}">
                      <a16:colId xmlns:a16="http://schemas.microsoft.com/office/drawing/2014/main" val="4110629147"/>
                    </a:ext>
                  </a:extLst>
                </a:gridCol>
                <a:gridCol w="458839">
                  <a:extLst>
                    <a:ext uri="{9D8B030D-6E8A-4147-A177-3AD203B41FA5}">
                      <a16:colId xmlns:a16="http://schemas.microsoft.com/office/drawing/2014/main" val="2090639194"/>
                    </a:ext>
                  </a:extLst>
                </a:gridCol>
                <a:gridCol w="557940">
                  <a:extLst>
                    <a:ext uri="{9D8B030D-6E8A-4147-A177-3AD203B41FA5}">
                      <a16:colId xmlns:a16="http://schemas.microsoft.com/office/drawing/2014/main" val="1489210985"/>
                    </a:ext>
                  </a:extLst>
                </a:gridCol>
                <a:gridCol w="777347">
                  <a:extLst>
                    <a:ext uri="{9D8B030D-6E8A-4147-A177-3AD203B41FA5}">
                      <a16:colId xmlns:a16="http://schemas.microsoft.com/office/drawing/2014/main" val="602859565"/>
                    </a:ext>
                  </a:extLst>
                </a:gridCol>
              </a:tblGrid>
              <a:tr h="251660">
                <a:tc>
                  <a:txBody>
                    <a:bodyPr/>
                    <a:lstStyle/>
                    <a:p>
                      <a:pPr marL="0" algn="ctr" defTabSz="914400" rtl="0" eaLnBrk="1" latinLnBrk="0" hangingPunct="1">
                        <a:buNone/>
                      </a:pPr>
                      <a:r>
                        <a:rPr lang="en-US" sz="1400" dirty="0">
                          <a:latin typeface="+mn-lt"/>
                        </a:rPr>
                        <a:t>Code</a:t>
                      </a:r>
                      <a:endParaRPr lang="ar-AE" sz="1400" dirty="0">
                        <a:latin typeface="+mn-lt"/>
                      </a:endParaRPr>
                    </a:p>
                  </a:txBody>
                  <a:tcPr marL="20927" marR="20927" marT="10464" marB="10464" anchor="ctr"/>
                </a:tc>
                <a:tc>
                  <a:txBody>
                    <a:bodyPr/>
                    <a:lstStyle/>
                    <a:p>
                      <a:pPr algn="ctr" rtl="1">
                        <a:buNone/>
                      </a:pPr>
                      <a:r>
                        <a:rPr lang="ar-AE" sz="1400" b="1" dirty="0"/>
                        <a:t>الفجوة</a:t>
                      </a:r>
                      <a:endParaRPr lang="ar-AE" sz="1400" dirty="0">
                        <a:latin typeface="+mn-lt"/>
                      </a:endParaRPr>
                    </a:p>
                  </a:txBody>
                  <a:tcPr marL="20927" marR="20927" marT="10464" marB="10464" anchor="ctr"/>
                </a:tc>
                <a:tc>
                  <a:txBody>
                    <a:bodyPr/>
                    <a:lstStyle/>
                    <a:p>
                      <a:pPr algn="ctr" rtl="1">
                        <a:buNone/>
                      </a:pPr>
                      <a:r>
                        <a:rPr lang="ar-AE" sz="1400" dirty="0">
                          <a:latin typeface="+mn-lt"/>
                        </a:rPr>
                        <a:t>التصنيف</a:t>
                      </a:r>
                    </a:p>
                  </a:txBody>
                  <a:tcPr marL="20927" marR="20927" marT="10464" marB="10464" anchor="ctr"/>
                </a:tc>
                <a:tc>
                  <a:txBody>
                    <a:bodyPr/>
                    <a:lstStyle/>
                    <a:p>
                      <a:pPr algn="ctr" rtl="1">
                        <a:buNone/>
                      </a:pPr>
                      <a:r>
                        <a:rPr lang="ar-AE" sz="1400" b="1" dirty="0"/>
                        <a:t>الوصف</a:t>
                      </a:r>
                      <a:endParaRPr lang="ar-AE" sz="1400" dirty="0">
                        <a:latin typeface="+mn-lt"/>
                      </a:endParaRPr>
                    </a:p>
                  </a:txBody>
                  <a:tcPr marL="20927" marR="20927" marT="10464" marB="10464" anchor="ctr"/>
                </a:tc>
                <a:tc>
                  <a:txBody>
                    <a:bodyPr/>
                    <a:lstStyle/>
                    <a:p>
                      <a:pPr algn="ctr" rtl="1">
                        <a:buNone/>
                      </a:pPr>
                      <a:r>
                        <a:rPr lang="ar-AE" sz="1400" b="1" dirty="0"/>
                        <a:t>الأثر الحالي</a:t>
                      </a:r>
                      <a:endParaRPr lang="ar-AE" sz="1400" dirty="0">
                        <a:latin typeface="+mn-lt"/>
                      </a:endParaRPr>
                    </a:p>
                  </a:txBody>
                  <a:tcPr marL="20927" marR="20927" marT="10464" marB="10464" anchor="ctr"/>
                </a:tc>
                <a:tc>
                  <a:txBody>
                    <a:bodyPr/>
                    <a:lstStyle/>
                    <a:p>
                      <a:pPr algn="ctr" rtl="1">
                        <a:buNone/>
                      </a:pPr>
                      <a:r>
                        <a:rPr lang="ar-AE" sz="1400" b="1" dirty="0"/>
                        <a:t>الأثر بعد الردم (المعالجة)</a:t>
                      </a:r>
                      <a:endParaRPr lang="ar-AE" sz="1400" dirty="0">
                        <a:latin typeface="+mn-lt"/>
                      </a:endParaRPr>
                    </a:p>
                  </a:txBody>
                  <a:tcPr marL="20927" marR="20927" marT="10464" marB="10464" anchor="ctr"/>
                </a:tc>
                <a:tc>
                  <a:txBody>
                    <a:bodyPr/>
                    <a:lstStyle/>
                    <a:p>
                      <a:pPr algn="ctr" rtl="1">
                        <a:buNone/>
                      </a:pPr>
                      <a:r>
                        <a:rPr lang="ar-AE" sz="1400" b="1" dirty="0"/>
                        <a:t>تغطية الفجوة</a:t>
                      </a:r>
                      <a:endParaRPr lang="ar-AE" sz="1400" dirty="0">
                        <a:latin typeface="+mn-lt"/>
                      </a:endParaRPr>
                    </a:p>
                  </a:txBody>
                  <a:tcPr marL="20927" marR="20927" marT="10464" marB="10464" anchor="ctr"/>
                </a:tc>
                <a:tc>
                  <a:txBody>
                    <a:bodyPr/>
                    <a:lstStyle/>
                    <a:p>
                      <a:pPr algn="ctr" rtl="1">
                        <a:buNone/>
                      </a:pPr>
                      <a:r>
                        <a:rPr lang="ar-AE" sz="1400" b="1" dirty="0"/>
                        <a:t>الأولوية</a:t>
                      </a:r>
                      <a:endParaRPr lang="ar-AE" sz="1400" dirty="0">
                        <a:latin typeface="+mn-lt"/>
                      </a:endParaRPr>
                    </a:p>
                  </a:txBody>
                  <a:tcPr marL="20927" marR="20927" marT="10464" marB="10464" anchor="ctr"/>
                </a:tc>
                <a:tc>
                  <a:txBody>
                    <a:bodyPr/>
                    <a:lstStyle/>
                    <a:p>
                      <a:pPr algn="ctr" rtl="1">
                        <a:buNone/>
                      </a:pPr>
                      <a:r>
                        <a:rPr lang="ar-AE" sz="1400" b="1" dirty="0"/>
                        <a:t>الأهمية</a:t>
                      </a:r>
                      <a:endParaRPr lang="ar-AE" sz="1400" dirty="0">
                        <a:latin typeface="+mn-lt"/>
                      </a:endParaRPr>
                    </a:p>
                  </a:txBody>
                  <a:tcPr marL="20927" marR="20927" marT="10464" marB="10464" anchor="ctr"/>
                </a:tc>
                <a:tc>
                  <a:txBody>
                    <a:bodyPr/>
                    <a:lstStyle/>
                    <a:p>
                      <a:pPr algn="ctr" rtl="1">
                        <a:buNone/>
                      </a:pPr>
                      <a:r>
                        <a:rPr lang="ar-AE" sz="1400" b="1" dirty="0"/>
                        <a:t>المصدر</a:t>
                      </a:r>
                      <a:endParaRPr lang="ar-AE" sz="1400" dirty="0">
                        <a:latin typeface="+mn-lt"/>
                      </a:endParaRPr>
                    </a:p>
                  </a:txBody>
                  <a:tcPr marL="20927" marR="20927" marT="10464" marB="10464" anchor="ctr"/>
                </a:tc>
                <a:extLst>
                  <a:ext uri="{0D108BD9-81ED-4DB2-BD59-A6C34878D82A}">
                    <a16:rowId xmlns:a16="http://schemas.microsoft.com/office/drawing/2014/main" val="4029457185"/>
                  </a:ext>
                </a:extLst>
              </a:tr>
              <a:tr h="865423">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prstClr val="black"/>
                          </a:solidFill>
                          <a:effectLst/>
                          <a:uLnTx/>
                          <a:uFillTx/>
                          <a:latin typeface="+mn-lt"/>
                          <a:ea typeface="+mn-ea"/>
                          <a:cs typeface="+mn-cs"/>
                        </a:rPr>
                        <a:t>GAP-D-28</a:t>
                      </a:r>
                      <a:endParaRPr kumimoji="0" lang="ar-EG" sz="1200" b="1" i="0" u="none" strike="noStrike" kern="1200" cap="none" spc="0" normalizeH="0" baseline="0" noProof="0" dirty="0">
                        <a:ln>
                          <a:noFill/>
                        </a:ln>
                        <a:solidFill>
                          <a:prstClr val="black"/>
                        </a:solidFill>
                        <a:effectLst/>
                        <a:uLnTx/>
                        <a:uFillTx/>
                        <a:latin typeface="Sakkal Majalla"/>
                        <a:ea typeface="+mn-ea"/>
                        <a:cs typeface="Sakkal Majalla"/>
                      </a:endParaRPr>
                    </a:p>
                  </a:txBody>
                  <a:tcPr marL="20927" marR="20927" marT="10464" marB="10464" anchor="ctr"/>
                </a:tc>
                <a:tc>
                  <a:txBody>
                    <a:bodyPr/>
                    <a:lstStyle/>
                    <a:p>
                      <a:pPr algn="r" rtl="1">
                        <a:buNone/>
                      </a:pPr>
                      <a:r>
                        <a:rPr lang="ar-AE" sz="1200">
                          <a:latin typeface="+mn-lt"/>
                        </a:rPr>
                        <a:t>غياب مؤشرات أداء نمذجة البيانات (قياس فعالية النماذج وجودتها)</a:t>
                      </a:r>
                    </a:p>
                  </a:txBody>
                  <a:tcPr marL="18232" marR="18232" marT="9116" marB="9116" anchor="ctr"/>
                </a:tc>
                <a:tc>
                  <a:txBody>
                    <a:bodyPr/>
                    <a:lstStyle/>
                    <a:p>
                      <a:pPr algn="ctr" rtl="1" fontAlgn="ctr"/>
                      <a:r>
                        <a:rPr lang="ar-AE" sz="1200" b="0" i="0" u="none" strike="noStrike" kern="1200" dirty="0">
                          <a:solidFill>
                            <a:srgbClr val="000000"/>
                          </a:solidFill>
                          <a:effectLst/>
                          <a:latin typeface="Aptos Narrow" panose="020B0004020202020204" pitchFamily="34" charset="0"/>
                          <a:ea typeface="+mn-ea"/>
                          <a:cs typeface="+mn-cs"/>
                        </a:rPr>
                        <a:t>النمذجة وهيكلة البيانات (6)</a:t>
                      </a:r>
                    </a:p>
                  </a:txBody>
                  <a:tcPr marL="9525" marR="9525" marT="9525" marB="0" anchor="ctr"/>
                </a:tc>
                <a:tc>
                  <a:txBody>
                    <a:bodyPr/>
                    <a:lstStyle/>
                    <a:p>
                      <a:pPr algn="r" rtl="1">
                        <a:buNone/>
                      </a:pPr>
                      <a:r>
                        <a:rPr lang="ar-AE" sz="1200">
                          <a:latin typeface="+mn-lt"/>
                        </a:rPr>
                        <a:t>لا توجد معايير كمية أو نوعية لقياس مدى فعالية النماذج ومدى كفاءتها في تلبية الأهداف الاستراتيجية</a:t>
                      </a:r>
                    </a:p>
                  </a:txBody>
                  <a:tcPr marL="18232" marR="18232" marT="9116" marB="9116" anchor="ctr"/>
                </a:tc>
                <a:tc>
                  <a:txBody>
                    <a:bodyPr/>
                    <a:lstStyle/>
                    <a:p>
                      <a:pPr algn="r" rtl="1">
                        <a:buNone/>
                      </a:pPr>
                      <a:r>
                        <a:rPr lang="ar-AE" sz="1200">
                          <a:latin typeface="+mn-lt"/>
                        </a:rPr>
                        <a:t>عدم القدرة على تقييم ما إذا كانت النماذج تلبي الاحتياجات، وضعف التحسين المستمر</a:t>
                      </a:r>
                    </a:p>
                  </a:txBody>
                  <a:tcPr marL="18232" marR="18232" marT="9116" marB="9116" anchor="ctr"/>
                </a:tc>
                <a:tc>
                  <a:txBody>
                    <a:bodyPr/>
                    <a:lstStyle/>
                    <a:p>
                      <a:pPr algn="r" rtl="1">
                        <a:buNone/>
                      </a:pPr>
                      <a:r>
                        <a:rPr lang="ar-AE" sz="1200">
                          <a:latin typeface="+mn-lt"/>
                        </a:rPr>
                        <a:t>اعتماد مجموعة من مؤشرات الأداء تقيس مدى دقة النماذج وكفاءتها وتحسينها دوريًا</a:t>
                      </a:r>
                    </a:p>
                  </a:txBody>
                  <a:tcPr marL="18232" marR="18232" marT="9116" marB="9116" anchor="ctr"/>
                </a:tc>
                <a:tc>
                  <a:txBody>
                    <a:bodyPr/>
                    <a:lstStyle/>
                    <a:p>
                      <a:pPr algn="r" rtl="1">
                        <a:buNone/>
                      </a:pPr>
                      <a:r>
                        <a:rPr lang="ar-AE" sz="1200" dirty="0">
                          <a:latin typeface="+mn-lt"/>
                        </a:rPr>
                        <a:t>جمع بيانات الأداء ونشر نتائج التقييم والاقتراحات التطويرية ضمن تقارير دورية</a:t>
                      </a:r>
                    </a:p>
                  </a:txBody>
                  <a:tcPr marL="18232" marR="18232" marT="9116" marB="9116" anchor="ctr"/>
                </a:tc>
                <a:tc>
                  <a:txBody>
                    <a:bodyPr/>
                    <a:lstStyle/>
                    <a:p>
                      <a:pPr algn="ctr" rtl="1">
                        <a:buNone/>
                      </a:pPr>
                      <a:r>
                        <a:rPr lang="ar-AE" sz="1200">
                          <a:latin typeface="+mn-lt"/>
                        </a:rPr>
                        <a:t>متوسطة</a:t>
                      </a:r>
                    </a:p>
                  </a:txBody>
                  <a:tcPr marL="18232" marR="18232" marT="9116" marB="9116" anchor="ctr"/>
                </a:tc>
                <a:tc>
                  <a:txBody>
                    <a:bodyPr/>
                    <a:lstStyle/>
                    <a:p>
                      <a:pPr algn="ctr" rtl="1">
                        <a:buNone/>
                      </a:pPr>
                      <a:r>
                        <a:rPr lang="ar-AE" sz="1200" dirty="0">
                          <a:latin typeface="+mn-lt"/>
                        </a:rPr>
                        <a:t>متوسطة</a:t>
                      </a:r>
                    </a:p>
                  </a:txBody>
                  <a:tcPr marL="18232" marR="18232" marT="9116" marB="9116" anchor="ctr"/>
                </a:tc>
                <a:tc>
                  <a: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ar-AE" sz="1200" b="0" i="0" u="none" strike="noStrike" kern="1200" cap="none" spc="0" normalizeH="0" baseline="0" noProof="0" dirty="0">
                          <a:ln>
                            <a:noFill/>
                          </a:ln>
                          <a:solidFill>
                            <a:prstClr val="black"/>
                          </a:solidFill>
                          <a:effectLst/>
                          <a:uLnTx/>
                          <a:uFillTx/>
                          <a:latin typeface="Sakkal Majalla"/>
                          <a:ea typeface="+mn-ea"/>
                          <a:cs typeface="Sakkal Majalla"/>
                        </a:rPr>
                        <a:t>وثيقة الوضع الحالي </a:t>
                      </a:r>
                    </a:p>
                  </a:txBody>
                  <a:tcPr marL="18232" marR="18232" marT="9116" marB="9116" anchor="ctr"/>
                </a:tc>
                <a:extLst>
                  <a:ext uri="{0D108BD9-81ED-4DB2-BD59-A6C34878D82A}">
                    <a16:rowId xmlns:a16="http://schemas.microsoft.com/office/drawing/2014/main" val="3067900995"/>
                  </a:ext>
                </a:extLst>
              </a:tr>
              <a:tr h="865423">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prstClr val="black"/>
                          </a:solidFill>
                          <a:effectLst/>
                          <a:uLnTx/>
                          <a:uFillTx/>
                          <a:latin typeface="+mn-lt"/>
                          <a:ea typeface="+mn-ea"/>
                          <a:cs typeface="+mn-cs"/>
                        </a:rPr>
                        <a:t> GAP-D-29</a:t>
                      </a:r>
                      <a:endParaRPr kumimoji="0" lang="ar-EG" sz="1200" b="1" i="0" u="none" strike="noStrike" kern="1200" cap="none" spc="0" normalizeH="0" baseline="0" noProof="0" dirty="0">
                        <a:ln>
                          <a:noFill/>
                        </a:ln>
                        <a:solidFill>
                          <a:prstClr val="black"/>
                        </a:solidFill>
                        <a:effectLst/>
                        <a:uLnTx/>
                        <a:uFillTx/>
                        <a:latin typeface="+mn-lt"/>
                        <a:ea typeface="+mn-ea"/>
                        <a:cs typeface="+mn-cs"/>
                      </a:endParaRPr>
                    </a:p>
                  </a:txBody>
                  <a:tcPr marL="20927" marR="20927" marT="10464" marB="10464" anchor="ctr"/>
                </a:tc>
                <a:tc>
                  <a:txBody>
                    <a:bodyPr/>
                    <a:lstStyle/>
                    <a:p>
                      <a:pPr algn="r" rtl="1">
                        <a:buNone/>
                      </a:pPr>
                      <a:r>
                        <a:rPr lang="ar-AE" sz="1200" kern="1200" dirty="0">
                          <a:solidFill>
                            <a:schemeClr val="dk1"/>
                          </a:solidFill>
                          <a:latin typeface="+mn-lt"/>
                          <a:ea typeface="+mn-ea"/>
                          <a:cs typeface="+mn-cs"/>
                        </a:rPr>
                        <a:t>عدم تحديث وتوثيق كيانات البيانات المفتوحة بانتظام</a:t>
                      </a:r>
                    </a:p>
                  </a:txBody>
                  <a:tcPr marL="18232" marR="18232" marT="9116" marB="9116" anchor="ctr"/>
                </a:tc>
                <a:tc>
                  <a:txBody>
                    <a:bodyPr/>
                    <a:lstStyle/>
                    <a:p>
                      <a:pPr algn="ctr" rtl="1" fontAlgn="ctr"/>
                      <a:r>
                        <a:rPr lang="ar-AE" sz="1200" b="0" i="0" u="none" strike="noStrike" kern="1200" dirty="0">
                          <a:solidFill>
                            <a:srgbClr val="000000"/>
                          </a:solidFill>
                          <a:effectLst/>
                          <a:latin typeface="Aptos Narrow" panose="020B0004020202020204" pitchFamily="34" charset="0"/>
                          <a:ea typeface="+mn-ea"/>
                          <a:cs typeface="+mn-cs"/>
                        </a:rPr>
                        <a:t>البيانات المفتوحة (11)</a:t>
                      </a:r>
                    </a:p>
                    <a:p>
                      <a:pPr marL="0" marR="0" lvl="0" indent="0" algn="ctr" defTabSz="914400" rtl="1" eaLnBrk="1" fontAlgn="ctr" latinLnBrk="0" hangingPunct="1">
                        <a:lnSpc>
                          <a:spcPct val="100000"/>
                        </a:lnSpc>
                        <a:spcBef>
                          <a:spcPts val="0"/>
                        </a:spcBef>
                        <a:spcAft>
                          <a:spcPts val="0"/>
                        </a:spcAft>
                        <a:buClrTx/>
                        <a:buSzTx/>
                        <a:buFontTx/>
                        <a:buNone/>
                        <a:tabLst/>
                        <a:defRPr/>
                      </a:pPr>
                      <a:r>
                        <a:rPr lang="ar-AE" sz="1200" b="0" i="0" u="none" strike="noStrike" kern="1200" dirty="0">
                          <a:solidFill>
                            <a:srgbClr val="000000"/>
                          </a:solidFill>
                          <a:effectLst/>
                          <a:latin typeface="Aptos Narrow" panose="020B0004020202020204" pitchFamily="34" charset="0"/>
                          <a:ea typeface="+mn-ea"/>
                          <a:cs typeface="+mn-cs"/>
                        </a:rPr>
                        <a:t>حرية المعلومات (12)</a:t>
                      </a:r>
                    </a:p>
                    <a:p>
                      <a:pPr algn="ctr" rtl="1" fontAlgn="ctr"/>
                      <a:endParaRPr lang="ar-AE" sz="1200" b="0" i="0" u="none" strike="noStrike" kern="1200" dirty="0">
                        <a:solidFill>
                          <a:srgbClr val="000000"/>
                        </a:solidFill>
                        <a:effectLst/>
                        <a:latin typeface="Aptos Narrow" panose="020B0004020202020204" pitchFamily="34" charset="0"/>
                        <a:ea typeface="+mn-ea"/>
                        <a:cs typeface="+mn-cs"/>
                      </a:endParaRPr>
                    </a:p>
                  </a:txBody>
                  <a:tcPr marL="9525" marR="9525" marT="9525" marB="0" anchor="ctr"/>
                </a:tc>
                <a:tc>
                  <a:txBody>
                    <a:bodyPr/>
                    <a:lstStyle/>
                    <a:p>
                      <a:pPr algn="r" rtl="1">
                        <a:buNone/>
                      </a:pPr>
                      <a:r>
                        <a:rPr lang="ar-AE" sz="1200" kern="1200" dirty="0">
                          <a:solidFill>
                            <a:schemeClr val="dk1"/>
                          </a:solidFill>
                          <a:latin typeface="+mn-lt"/>
                          <a:ea typeface="+mn-ea"/>
                          <a:cs typeface="+mn-cs"/>
                        </a:rPr>
                        <a:t>نشر البيانات المفتوحة بشكل محدود أو قديم دون تحديثها أو وصفها بشكل كاف</a:t>
                      </a:r>
                    </a:p>
                  </a:txBody>
                  <a:tcPr marL="18232" marR="18232" marT="9116" marB="9116" anchor="ctr"/>
                </a:tc>
                <a:tc>
                  <a:txBody>
                    <a:bodyPr/>
                    <a:lstStyle/>
                    <a:p>
                      <a:pPr algn="r" rtl="1">
                        <a:buNone/>
                      </a:pPr>
                      <a:r>
                        <a:rPr lang="ar-AE" sz="1200" dirty="0">
                          <a:latin typeface="+mn-lt"/>
                        </a:rPr>
                        <a:t>تراجع ثقة المستفيدين وضعف الاستفادة من البيانات المفتوحة في المبادرات أو الدراسات البحثية</a:t>
                      </a:r>
                    </a:p>
                  </a:txBody>
                  <a:tcPr marL="18232" marR="18232" marT="9116" marB="9116" anchor="ctr"/>
                </a:tc>
                <a:tc>
                  <a:txBody>
                    <a:bodyPr/>
                    <a:lstStyle/>
                    <a:p>
                      <a:pPr algn="r" rtl="1">
                        <a:buNone/>
                      </a:pPr>
                      <a:r>
                        <a:rPr lang="ar-AE" sz="1200" dirty="0">
                          <a:latin typeface="+mn-lt"/>
                        </a:rPr>
                        <a:t>وضع جدول زمني منتظم لتحديث الوثائق والكيانات المفتوحة، مع تحديد المسؤول عن إدارتها</a:t>
                      </a:r>
                    </a:p>
                  </a:txBody>
                  <a:tcPr marL="18232" marR="18232" marT="9116" marB="9116" anchor="ctr"/>
                </a:tc>
                <a:tc>
                  <a:txBody>
                    <a:bodyPr/>
                    <a:lstStyle/>
                    <a:p>
                      <a:pPr algn="r" rtl="1">
                        <a:buNone/>
                      </a:pPr>
                      <a:r>
                        <a:rPr lang="ar-AE" sz="1200" dirty="0">
                          <a:latin typeface="+mn-lt"/>
                        </a:rPr>
                        <a:t>إنشاء بوابة إلكترونية للبيانات المفتوحة وإصدار تحديثات دورية لها</a:t>
                      </a:r>
                    </a:p>
                  </a:txBody>
                  <a:tcPr marL="18232" marR="18232" marT="9116" marB="9116" anchor="ctr"/>
                </a:tc>
                <a:tc>
                  <a:txBody>
                    <a:bodyPr/>
                    <a:lstStyle/>
                    <a:p>
                      <a:pPr algn="ctr" rtl="1">
                        <a:buNone/>
                      </a:pPr>
                      <a:r>
                        <a:rPr lang="ar-AE" sz="1200" dirty="0">
                          <a:latin typeface="+mn-lt"/>
                        </a:rPr>
                        <a:t>متوسطة</a:t>
                      </a:r>
                    </a:p>
                  </a:txBody>
                  <a:tcPr marL="18232" marR="18232" marT="9116" marB="9116" anchor="ctr"/>
                </a:tc>
                <a:tc>
                  <a:txBody>
                    <a:bodyPr/>
                    <a:lstStyle/>
                    <a:p>
                      <a:pPr algn="ctr" rtl="1">
                        <a:buNone/>
                      </a:pPr>
                      <a:r>
                        <a:rPr lang="ar-AE" sz="1200" dirty="0">
                          <a:latin typeface="+mn-lt"/>
                        </a:rPr>
                        <a:t>متوسطة</a:t>
                      </a:r>
                    </a:p>
                  </a:txBody>
                  <a:tcPr marL="18232" marR="18232" marT="9116" marB="9116" anchor="ctr"/>
                </a:tc>
                <a:tc>
                  <a: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ar-AE" sz="1200" b="0" i="0" u="none" strike="noStrike" kern="1200" cap="none" spc="0" normalizeH="0" baseline="0" noProof="0" dirty="0">
                          <a:ln>
                            <a:noFill/>
                          </a:ln>
                          <a:solidFill>
                            <a:prstClr val="black"/>
                          </a:solidFill>
                          <a:effectLst/>
                          <a:uLnTx/>
                          <a:uFillTx/>
                          <a:latin typeface="Sakkal Majalla"/>
                          <a:ea typeface="+mn-ea"/>
                          <a:cs typeface="Sakkal Majalla"/>
                        </a:rPr>
                        <a:t>وثيقة الوضع الحالي </a:t>
                      </a:r>
                    </a:p>
                  </a:txBody>
                  <a:tcPr marL="18232" marR="18232" marT="9116" marB="9116" anchor="ctr"/>
                </a:tc>
                <a:extLst>
                  <a:ext uri="{0D108BD9-81ED-4DB2-BD59-A6C34878D82A}">
                    <a16:rowId xmlns:a16="http://schemas.microsoft.com/office/drawing/2014/main" val="4205275932"/>
                  </a:ext>
                </a:extLst>
              </a:tr>
              <a:tr h="1327197">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prstClr val="black"/>
                          </a:solidFill>
                          <a:effectLst/>
                          <a:uLnTx/>
                          <a:uFillTx/>
                          <a:latin typeface="+mn-lt"/>
                          <a:ea typeface="+mn-ea"/>
                          <a:cs typeface="+mn-cs"/>
                        </a:rPr>
                        <a:t> GAP-D-30</a:t>
                      </a:r>
                      <a:endParaRPr kumimoji="0" lang="ar-EG" sz="1200" b="1" i="0" u="none" strike="noStrike" kern="1200" cap="none" spc="0" normalizeH="0" baseline="0" noProof="0" dirty="0">
                        <a:ln>
                          <a:noFill/>
                        </a:ln>
                        <a:solidFill>
                          <a:prstClr val="black"/>
                        </a:solidFill>
                        <a:effectLst/>
                        <a:uLnTx/>
                        <a:uFillTx/>
                        <a:latin typeface="+mn-lt"/>
                        <a:ea typeface="+mn-ea"/>
                        <a:cs typeface="+mn-cs"/>
                      </a:endParaRPr>
                    </a:p>
                  </a:txBody>
                  <a:tcPr marL="20927" marR="20927" marT="10464" marB="10464" anchor="ctr"/>
                </a:tc>
                <a:tc>
                  <a:txBody>
                    <a:bodyPr/>
                    <a:lstStyle/>
                    <a:p>
                      <a:pPr algn="r" rtl="1"/>
                      <a:r>
                        <a:rPr lang="ar-AE" sz="1200" kern="1200" dirty="0">
                          <a:solidFill>
                            <a:schemeClr val="dk1"/>
                          </a:solidFill>
                          <a:latin typeface="+mn-lt"/>
                          <a:ea typeface="+mn-ea"/>
                          <a:cs typeface="+mn-cs"/>
                        </a:rPr>
                        <a:t>ضعف التدريب والتوعية بإدارة البيانات وحوكمتها</a:t>
                      </a:r>
                    </a:p>
                    <a:p>
                      <a:pPr algn="r" rtl="1">
                        <a:buNone/>
                      </a:pPr>
                      <a:endParaRPr lang="ar-AE" sz="1200" kern="1200" dirty="0">
                        <a:solidFill>
                          <a:schemeClr val="dk1"/>
                        </a:solidFill>
                        <a:latin typeface="+mn-lt"/>
                        <a:ea typeface="+mn-ea"/>
                        <a:cs typeface="+mn-cs"/>
                      </a:endParaRPr>
                    </a:p>
                  </a:txBody>
                  <a:tcPr marL="18232" marR="18232" marT="9116" marB="9116" anchor="ctr"/>
                </a:tc>
                <a:tc>
                  <a:txBody>
                    <a:bodyPr/>
                    <a:lstStyle/>
                    <a:p>
                      <a:pPr marL="0" algn="ctr" defTabSz="914400" rtl="1" eaLnBrk="1" fontAlgn="ctr" latinLnBrk="0" hangingPunct="1"/>
                      <a:r>
                        <a:rPr lang="ar-SA" sz="1200" b="0" i="0" u="none" strike="noStrike" kern="1200" dirty="0">
                          <a:solidFill>
                            <a:srgbClr val="000000"/>
                          </a:solidFill>
                          <a:effectLst/>
                          <a:latin typeface="Aptos Narrow" panose="020B0004020202020204" pitchFamily="34" charset="0"/>
                          <a:ea typeface="+mn-ea"/>
                          <a:cs typeface="+mn-cs"/>
                        </a:rPr>
                        <a:t>كافة التصنيفات</a:t>
                      </a:r>
                      <a:endParaRPr lang="ar-AE" sz="1200" b="0" i="0" u="none" strike="noStrike" kern="1200" dirty="0">
                        <a:solidFill>
                          <a:srgbClr val="000000"/>
                        </a:solidFill>
                        <a:effectLst/>
                        <a:latin typeface="Aptos Narrow" panose="020B0004020202020204" pitchFamily="34" charset="0"/>
                        <a:ea typeface="+mn-ea"/>
                        <a:cs typeface="+mn-cs"/>
                      </a:endParaRPr>
                    </a:p>
                  </a:txBody>
                  <a:tcPr marL="9525" marR="9525" marT="9525" marB="0" anchor="ctr"/>
                </a:tc>
                <a:tc>
                  <a:txBody>
                    <a:bodyPr/>
                    <a:lstStyle/>
                    <a:p>
                      <a:pPr algn="r" rtl="1"/>
                      <a:r>
                        <a:rPr lang="ar-AE" sz="1200" kern="1200" dirty="0">
                          <a:solidFill>
                            <a:schemeClr val="dk1"/>
                          </a:solidFill>
                          <a:latin typeface="+mn-lt"/>
                          <a:ea typeface="+mn-ea"/>
                          <a:cs typeface="+mn-cs"/>
                        </a:rPr>
                        <a:t>ضعف التدريب والتوعية في إدارة البيانات وحوكمتها يسبب تدني الالتزام بالسياسات وعدم وضوح الأدوار والمسؤوليات، ويحدّ من التعاون بين الجهات المعنية.</a:t>
                      </a:r>
                    </a:p>
                  </a:txBody>
                  <a:tcPr marL="18232" marR="18232" marT="9116" marB="9116" anchor="ctr"/>
                </a:tc>
                <a:tc>
                  <a:txBody>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lang="ar-AE" sz="1200" kern="1200" dirty="0">
                          <a:solidFill>
                            <a:schemeClr val="dk1"/>
                          </a:solidFill>
                          <a:latin typeface="+mn-lt"/>
                          <a:ea typeface="+mn-ea"/>
                          <a:cs typeface="+mn-cs"/>
                        </a:rPr>
                        <a:t>عدم وضوح الأدوار والمسؤوليات المتعلقة بالبيانات. </a:t>
                      </a:r>
                    </a:p>
                    <a:p>
                      <a:pPr marL="0" marR="0" lvl="0" indent="0" algn="r" defTabSz="914400" rtl="1" eaLnBrk="1" fontAlgn="auto" latinLnBrk="0" hangingPunct="1">
                        <a:lnSpc>
                          <a:spcPct val="100000"/>
                        </a:lnSpc>
                        <a:spcBef>
                          <a:spcPts val="0"/>
                        </a:spcBef>
                        <a:spcAft>
                          <a:spcPts val="0"/>
                        </a:spcAft>
                        <a:buClrTx/>
                        <a:buSzTx/>
                        <a:buFontTx/>
                        <a:buNone/>
                        <a:tabLst/>
                        <a:defRPr/>
                      </a:pPr>
                      <a:r>
                        <a:rPr lang="ar-AE" sz="1200" kern="1200" dirty="0">
                          <a:solidFill>
                            <a:schemeClr val="dk1"/>
                          </a:solidFill>
                          <a:latin typeface="+mn-lt"/>
                          <a:ea typeface="+mn-ea"/>
                          <a:cs typeface="+mn-cs"/>
                        </a:rPr>
                        <a:t>انخفاض مستوى الالتزام بالسياسات والقواعد والإرشادات. </a:t>
                      </a:r>
                    </a:p>
                    <a:p>
                      <a:pPr marL="0" marR="0" lvl="0" indent="0" algn="r" defTabSz="914400" rtl="1" eaLnBrk="1" fontAlgn="auto" latinLnBrk="0" hangingPunct="1">
                        <a:lnSpc>
                          <a:spcPct val="100000"/>
                        </a:lnSpc>
                        <a:spcBef>
                          <a:spcPts val="0"/>
                        </a:spcBef>
                        <a:spcAft>
                          <a:spcPts val="0"/>
                        </a:spcAft>
                        <a:buClrTx/>
                        <a:buSzTx/>
                        <a:buFontTx/>
                        <a:buNone/>
                        <a:tabLst/>
                        <a:defRPr/>
                      </a:pPr>
                      <a:r>
                        <a:rPr lang="ar-AE" sz="1200" kern="1200" dirty="0">
                          <a:solidFill>
                            <a:schemeClr val="dk1"/>
                          </a:solidFill>
                          <a:latin typeface="+mn-lt"/>
                          <a:ea typeface="+mn-ea"/>
                          <a:cs typeface="+mn-cs"/>
                        </a:rPr>
                        <a:t>ضعف التنسيق بين الإدارات وأمناء البيانات.</a:t>
                      </a:r>
                    </a:p>
                  </a:txBody>
                  <a:tcPr marL="18232" marR="18232" marT="9116" marB="9116" anchor="ctr"/>
                </a:tc>
                <a:tc>
                  <a:txBody>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lang="ar-AE" sz="1200" kern="1200" dirty="0">
                          <a:solidFill>
                            <a:schemeClr val="dk1"/>
                          </a:solidFill>
                          <a:latin typeface="+mn-lt"/>
                          <a:ea typeface="+mn-ea"/>
                          <a:cs typeface="+mn-cs"/>
                        </a:rPr>
                        <a:t>رفع كفاءة العاملين وفهمهم لمفاهيم حوكمة البيانات</a:t>
                      </a:r>
                    </a:p>
                    <a:p>
                      <a:pPr marL="0" marR="0" lvl="0" indent="0" algn="r" defTabSz="914400" rtl="1" eaLnBrk="1" fontAlgn="auto" latinLnBrk="0" hangingPunct="1">
                        <a:lnSpc>
                          <a:spcPct val="100000"/>
                        </a:lnSpc>
                        <a:spcBef>
                          <a:spcPts val="0"/>
                        </a:spcBef>
                        <a:spcAft>
                          <a:spcPts val="0"/>
                        </a:spcAft>
                        <a:buClrTx/>
                        <a:buSzTx/>
                        <a:buFontTx/>
                        <a:buNone/>
                        <a:tabLst/>
                        <a:defRPr/>
                      </a:pPr>
                      <a:r>
                        <a:rPr lang="ar-AE" sz="1200" kern="1200" dirty="0">
                          <a:solidFill>
                            <a:schemeClr val="dk1"/>
                          </a:solidFill>
                          <a:latin typeface="+mn-lt"/>
                          <a:ea typeface="+mn-ea"/>
                          <a:cs typeface="+mn-cs"/>
                        </a:rPr>
                        <a:t>تحسّن الامتثال للضوابط والسياسات. </a:t>
                      </a:r>
                    </a:p>
                    <a:p>
                      <a:pPr marL="0" marR="0" lvl="0" indent="0" algn="r" defTabSz="914400" rtl="1" eaLnBrk="1" fontAlgn="auto" latinLnBrk="0" hangingPunct="1">
                        <a:lnSpc>
                          <a:spcPct val="100000"/>
                        </a:lnSpc>
                        <a:spcBef>
                          <a:spcPts val="0"/>
                        </a:spcBef>
                        <a:spcAft>
                          <a:spcPts val="0"/>
                        </a:spcAft>
                        <a:buClrTx/>
                        <a:buSzTx/>
                        <a:buFontTx/>
                        <a:buNone/>
                        <a:tabLst/>
                        <a:defRPr/>
                      </a:pPr>
                      <a:r>
                        <a:rPr lang="ar-AE" sz="1200" kern="1200" dirty="0">
                          <a:solidFill>
                            <a:schemeClr val="dk1"/>
                          </a:solidFill>
                          <a:latin typeface="+mn-lt"/>
                          <a:ea typeface="+mn-ea"/>
                          <a:cs typeface="+mn-cs"/>
                        </a:rPr>
                        <a:t>تقليل الأخطاء والمخاطر المصاحبة للجهل بالممارسات الصحيحة.</a:t>
                      </a:r>
                    </a:p>
                  </a:txBody>
                  <a:tcPr marL="18232" marR="18232" marT="9116" marB="9116" anchor="ctr"/>
                </a:tc>
                <a:tc>
                  <a:txBody>
                    <a:bodyPr/>
                    <a:lstStyle/>
                    <a:p>
                      <a:pPr algn="r" rtl="1"/>
                      <a:r>
                        <a:rPr lang="ar-AE" sz="1200" kern="1200" dirty="0">
                          <a:solidFill>
                            <a:schemeClr val="dk1"/>
                          </a:solidFill>
                          <a:latin typeface="+mn-lt"/>
                          <a:ea typeface="+mn-ea"/>
                          <a:cs typeface="+mn-cs"/>
                        </a:rPr>
                        <a:t>حصر الأدوار ومسح مستويات الوعي.</a:t>
                      </a:r>
                    </a:p>
                    <a:p>
                      <a:pPr algn="r" rtl="1"/>
                      <a:r>
                        <a:rPr lang="ar-AE" sz="1200" kern="1200" dirty="0">
                          <a:solidFill>
                            <a:schemeClr val="dk1"/>
                          </a:solidFill>
                          <a:latin typeface="+mn-lt"/>
                          <a:ea typeface="+mn-ea"/>
                          <a:cs typeface="+mn-cs"/>
                        </a:rPr>
                        <a:t>إعداد منهج وبرامج توعية متنوعة.</a:t>
                      </a:r>
                    </a:p>
                    <a:p>
                      <a:pPr algn="r" rtl="1"/>
                      <a:r>
                        <a:rPr lang="ar-AE" sz="1200" kern="1200" dirty="0">
                          <a:solidFill>
                            <a:schemeClr val="dk1"/>
                          </a:solidFill>
                          <a:latin typeface="+mn-lt"/>
                          <a:ea typeface="+mn-ea"/>
                          <a:cs typeface="+mn-cs"/>
                        </a:rPr>
                        <a:t>عقد دورات وحملات داخلية لتعزيز الالتزام.</a:t>
                      </a:r>
                    </a:p>
                    <a:p>
                      <a:pPr algn="r" rtl="1"/>
                      <a:r>
                        <a:rPr lang="ar-AE" sz="1200" kern="1200" dirty="0">
                          <a:solidFill>
                            <a:schemeClr val="dk1"/>
                          </a:solidFill>
                          <a:latin typeface="+mn-lt"/>
                          <a:ea typeface="+mn-ea"/>
                          <a:cs typeface="+mn-cs"/>
                        </a:rPr>
                        <a:t>قياس الأثر بمؤشرات أداء واختبارات.</a:t>
                      </a:r>
                    </a:p>
                    <a:p>
                      <a:pPr algn="r" rtl="1"/>
                      <a:r>
                        <a:rPr lang="ar-AE" sz="1200" kern="1200" dirty="0">
                          <a:solidFill>
                            <a:schemeClr val="dk1"/>
                          </a:solidFill>
                          <a:latin typeface="+mn-lt"/>
                          <a:ea typeface="+mn-ea"/>
                          <a:cs typeface="+mn-cs"/>
                        </a:rPr>
                        <a:t>توثيق النتائج ودمج التدريب ضمن الخطط السنوية.</a:t>
                      </a:r>
                    </a:p>
                  </a:txBody>
                  <a:tcPr marL="18232" marR="18232" marT="9116" marB="9116" anchor="ctr"/>
                </a:tc>
                <a:tc>
                  <a:txBody>
                    <a:bodyPr/>
                    <a:lstStyle/>
                    <a:p>
                      <a:pPr algn="ctr" rtl="1">
                        <a:buNone/>
                      </a:pPr>
                      <a:r>
                        <a:rPr lang="ar-AE" sz="1200" dirty="0">
                          <a:latin typeface="+mn-lt"/>
                        </a:rPr>
                        <a:t>عالية</a:t>
                      </a:r>
                    </a:p>
                  </a:txBody>
                  <a:tcPr marL="18232" marR="18232" marT="9116" marB="9116" anchor="ctr"/>
                </a:tc>
                <a:tc>
                  <a:txBody>
                    <a:bodyPr/>
                    <a:lstStyle/>
                    <a:p>
                      <a:pPr algn="ctr" rtl="1">
                        <a:buNone/>
                      </a:pPr>
                      <a:r>
                        <a:rPr lang="ar-AE" sz="1200" dirty="0">
                          <a:latin typeface="+mn-lt"/>
                        </a:rPr>
                        <a:t>عالية</a:t>
                      </a:r>
                    </a:p>
                  </a:txBody>
                  <a:tcPr marL="18232" marR="18232" marT="9116" marB="9116" anchor="ctr"/>
                </a:tc>
                <a:tc>
                  <a: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lang="ar-SA" altLang="en-AE" sz="1200" dirty="0"/>
                        <a:t>ضوابط ومواصفات إدارة البيانات الوطنية وحوكمتها وحماية البيانات الشخصية</a:t>
                      </a:r>
                      <a:endParaRPr kumimoji="0" lang="ar-AE" sz="1200" b="0" i="0" u="none" strike="noStrike" kern="1200" cap="none" spc="0" normalizeH="0" baseline="0" noProof="0" dirty="0">
                        <a:ln>
                          <a:noFill/>
                        </a:ln>
                        <a:solidFill>
                          <a:prstClr val="black"/>
                        </a:solidFill>
                        <a:effectLst/>
                        <a:uLnTx/>
                        <a:uFillTx/>
                        <a:latin typeface="Sakkal Majalla"/>
                        <a:ea typeface="+mn-ea"/>
                        <a:cs typeface="Sakkal Majalla"/>
                      </a:endParaRPr>
                    </a:p>
                  </a:txBody>
                  <a:tcPr marL="18232" marR="18232" marT="9116" marB="9116" anchor="ctr"/>
                </a:tc>
                <a:extLst>
                  <a:ext uri="{0D108BD9-81ED-4DB2-BD59-A6C34878D82A}">
                    <a16:rowId xmlns:a16="http://schemas.microsoft.com/office/drawing/2014/main" val="1434359721"/>
                  </a:ext>
                </a:extLst>
              </a:tr>
              <a:tr h="1544227">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prstClr val="black"/>
                          </a:solidFill>
                          <a:effectLst/>
                          <a:uLnTx/>
                          <a:uFillTx/>
                          <a:latin typeface="+mn-lt"/>
                          <a:ea typeface="+mn-ea"/>
                          <a:cs typeface="+mn-cs"/>
                        </a:rPr>
                        <a:t> GAP-D-31</a:t>
                      </a:r>
                      <a:endParaRPr kumimoji="0" lang="ar-EG" sz="1200" b="1" i="0" u="none" strike="noStrike" kern="1200" cap="none" spc="0" normalizeH="0" baseline="0" noProof="0" dirty="0">
                        <a:ln>
                          <a:noFill/>
                        </a:ln>
                        <a:solidFill>
                          <a:prstClr val="black"/>
                        </a:solidFill>
                        <a:effectLst/>
                        <a:uLnTx/>
                        <a:uFillTx/>
                        <a:latin typeface="+mn-lt"/>
                        <a:ea typeface="+mn-ea"/>
                        <a:cs typeface="+mn-cs"/>
                      </a:endParaRPr>
                    </a:p>
                  </a:txBody>
                  <a:tcPr marL="20927" marR="20927" marT="10464" marB="10464" anchor="ctr"/>
                </a:tc>
                <a:tc>
                  <a:txBody>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lang="ar-SA" sz="1200" dirty="0"/>
                        <a:t>غياب النموذج المفاهيمي المؤسسي للبيانات بسبب ضعف توثيق العلاقات بين كيانات البيانات وخزائنها.</a:t>
                      </a:r>
                    </a:p>
                  </a:txBody>
                  <a:tcPr marL="18232" marR="18232" marT="9116" marB="9116" anchor="ctr"/>
                </a:tc>
                <a:tc>
                  <a:txBody>
                    <a:bodyPr/>
                    <a:lstStyle/>
                    <a:p>
                      <a:pPr algn="ctr" rtl="1" fontAlgn="ctr"/>
                      <a:r>
                        <a:rPr lang="ar-AE" sz="1200" b="0" dirty="0"/>
                        <a:t>النمذجة وهيكلة البيانات </a:t>
                      </a:r>
                      <a:r>
                        <a:rPr lang="ar-SA" sz="1200" b="0" dirty="0"/>
                        <a:t>(</a:t>
                      </a:r>
                      <a:r>
                        <a:rPr lang="en-US" sz="1200" b="0" dirty="0"/>
                        <a:t>6</a:t>
                      </a:r>
                      <a:r>
                        <a:rPr lang="ar-SA" sz="1200" b="0" dirty="0"/>
                        <a:t>)</a:t>
                      </a:r>
                      <a:endParaRPr lang="ar-AE" sz="1200" b="0" i="0" u="none" strike="noStrike" dirty="0">
                        <a:solidFill>
                          <a:srgbClr val="000000"/>
                        </a:solidFill>
                        <a:effectLst/>
                        <a:latin typeface="Aptos Narrow" panose="020B0004020202020204" pitchFamily="34" charset="0"/>
                      </a:endParaRPr>
                    </a:p>
                  </a:txBody>
                  <a:tcPr marL="9525" marR="9525" marT="9525" marB="0" anchor="ctr"/>
                </a:tc>
                <a:tc>
                  <a:txBody>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lang="ar-SA" sz="1200" dirty="0"/>
                        <a:t>تفتقر الهيئة إلى نموذج مفاهيمي موحد للبيانات يوضح العلاقات بين كيانات البيانات وخزائنها، ما يعيق بناء نماذج منطقية وفيزيائية مترابطة ويؤثر على تكامل البيانات وجودتها.</a:t>
                      </a:r>
                    </a:p>
                  </a:txBody>
                  <a:tcPr marL="18232" marR="18232" marT="9116" marB="9116" anchor="ctr"/>
                </a:tc>
                <a:tc>
                  <a:txBody>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lang="ar-SA" sz="1200" dirty="0"/>
                        <a:t>ضعف تكامل البيانات.</a:t>
                      </a:r>
                    </a:p>
                    <a:p>
                      <a:pPr marL="0" marR="0" lvl="0" indent="0" algn="r" defTabSz="914400" rtl="1" eaLnBrk="1" fontAlgn="auto" latinLnBrk="0" hangingPunct="1">
                        <a:lnSpc>
                          <a:spcPct val="100000"/>
                        </a:lnSpc>
                        <a:spcBef>
                          <a:spcPts val="0"/>
                        </a:spcBef>
                        <a:spcAft>
                          <a:spcPts val="0"/>
                        </a:spcAft>
                        <a:buClrTx/>
                        <a:buSzTx/>
                        <a:buFontTx/>
                        <a:buNone/>
                        <a:tabLst/>
                        <a:defRPr/>
                      </a:pPr>
                      <a:r>
                        <a:rPr lang="ar-SA" sz="1200" dirty="0"/>
                        <a:t>صعوبة ربط وتحليل المعلومات عبر الأنظمة</a:t>
                      </a:r>
                    </a:p>
                    <a:p>
                      <a:pPr marL="0" marR="0" lvl="0" indent="0" algn="r" defTabSz="914400" rtl="1" eaLnBrk="1" fontAlgn="auto" latinLnBrk="0" hangingPunct="1">
                        <a:lnSpc>
                          <a:spcPct val="100000"/>
                        </a:lnSpc>
                        <a:spcBef>
                          <a:spcPts val="0"/>
                        </a:spcBef>
                        <a:spcAft>
                          <a:spcPts val="0"/>
                        </a:spcAft>
                        <a:buClrTx/>
                        <a:buSzTx/>
                        <a:buFontTx/>
                        <a:buNone/>
                        <a:tabLst/>
                        <a:defRPr/>
                      </a:pPr>
                      <a:r>
                        <a:rPr lang="ar-SA" sz="1200" dirty="0"/>
                        <a:t>.بطء في تطوير الحلول الرقمية</a:t>
                      </a:r>
                    </a:p>
                    <a:p>
                      <a:pPr marL="0" marR="0" lvl="0" indent="0" algn="r" defTabSz="914400" rtl="1" eaLnBrk="1" fontAlgn="auto" latinLnBrk="0" hangingPunct="1">
                        <a:lnSpc>
                          <a:spcPct val="100000"/>
                        </a:lnSpc>
                        <a:spcBef>
                          <a:spcPts val="0"/>
                        </a:spcBef>
                        <a:spcAft>
                          <a:spcPts val="0"/>
                        </a:spcAft>
                        <a:buClrTx/>
                        <a:buSzTx/>
                        <a:buFontTx/>
                        <a:buNone/>
                        <a:tabLst/>
                        <a:defRPr/>
                      </a:pPr>
                      <a:r>
                        <a:rPr lang="ar-SA" sz="1200" dirty="0"/>
                        <a:t>تدني جودة البيانات المستخدمة في دعم اتخاذ القرار.</a:t>
                      </a:r>
                    </a:p>
                  </a:txBody>
                  <a:tcPr marL="18232" marR="18232" marT="9116" marB="9116" anchor="ctr"/>
                </a:tc>
                <a:tc>
                  <a:txBody>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lang="ar-SA" sz="1200" dirty="0"/>
                        <a:t>تحقيق تكامل وتناغم بين كيانات وخزائن البيانات.</a:t>
                      </a:r>
                    </a:p>
                    <a:p>
                      <a:pPr marL="0" marR="0" lvl="0" indent="0" algn="r" defTabSz="914400" rtl="1" eaLnBrk="1" fontAlgn="auto" latinLnBrk="0" hangingPunct="1">
                        <a:lnSpc>
                          <a:spcPct val="100000"/>
                        </a:lnSpc>
                        <a:spcBef>
                          <a:spcPts val="0"/>
                        </a:spcBef>
                        <a:spcAft>
                          <a:spcPts val="0"/>
                        </a:spcAft>
                        <a:buClrTx/>
                        <a:buSzTx/>
                        <a:buFontTx/>
                        <a:buNone/>
                        <a:tabLst/>
                        <a:defRPr/>
                      </a:pPr>
                      <a:r>
                        <a:rPr lang="ar-SA" sz="1200" dirty="0"/>
                        <a:t> تحسين جودة البيانات ودقتها. تسريع تطوير الحلول الرقمية. </a:t>
                      </a:r>
                    </a:p>
                    <a:p>
                      <a:pPr marL="0" marR="0" lvl="0" indent="0" algn="r" defTabSz="914400" rtl="1" eaLnBrk="1" fontAlgn="auto" latinLnBrk="0" hangingPunct="1">
                        <a:lnSpc>
                          <a:spcPct val="100000"/>
                        </a:lnSpc>
                        <a:spcBef>
                          <a:spcPts val="0"/>
                        </a:spcBef>
                        <a:spcAft>
                          <a:spcPts val="0"/>
                        </a:spcAft>
                        <a:buClrTx/>
                        <a:buSzTx/>
                        <a:buFontTx/>
                        <a:buNone/>
                        <a:tabLst/>
                        <a:defRPr/>
                      </a:pPr>
                      <a:r>
                        <a:rPr lang="ar-SA" sz="1200" dirty="0"/>
                        <a:t>دعم اتخاذ القرار المبني على بيانات موثوقة. </a:t>
                      </a:r>
                    </a:p>
                    <a:p>
                      <a:pPr marL="0" marR="0" lvl="0" indent="0" algn="r" defTabSz="914400" rtl="1" eaLnBrk="1" fontAlgn="auto" latinLnBrk="0" hangingPunct="1">
                        <a:lnSpc>
                          <a:spcPct val="100000"/>
                        </a:lnSpc>
                        <a:spcBef>
                          <a:spcPts val="0"/>
                        </a:spcBef>
                        <a:spcAft>
                          <a:spcPts val="0"/>
                        </a:spcAft>
                        <a:buClrTx/>
                        <a:buSzTx/>
                        <a:buFontTx/>
                        <a:buNone/>
                        <a:tabLst/>
                        <a:defRPr/>
                      </a:pPr>
                      <a:r>
                        <a:rPr lang="ar-SA" sz="1200" dirty="0"/>
                        <a:t>رفع كفاءة مشاريع التحليل والتكامل المؤسسي.</a:t>
                      </a:r>
                    </a:p>
                  </a:txBody>
                  <a:tcPr marL="18232" marR="18232" marT="9116" marB="9116" anchor="ctr"/>
                </a:tc>
                <a:tc>
                  <a:txBody>
                    <a:bodyPr/>
                    <a:lstStyle/>
                    <a:p>
                      <a:pPr algn="r" rtl="1"/>
                      <a:r>
                        <a:rPr lang="ar-SA" sz="1200" dirty="0"/>
                        <a:t>إعداد وتوثيق النموذج المفاهيمي وربطه بالنماذج المنطقية والفيزيائية وتحديثه دورياً.</a:t>
                      </a:r>
                    </a:p>
                  </a:txBody>
                  <a:tcPr marL="18232" marR="18232" marT="9116" marB="9116" anchor="ctr"/>
                </a:tc>
                <a:tc>
                  <a:txBody>
                    <a:bodyPr/>
                    <a:lstStyle/>
                    <a:p>
                      <a:pPr algn="ctr" rtl="1">
                        <a:buNone/>
                      </a:pPr>
                      <a:r>
                        <a:rPr lang="ar-SA" sz="1200" dirty="0">
                          <a:latin typeface="+mn-lt"/>
                        </a:rPr>
                        <a:t>متوسطة</a:t>
                      </a:r>
                      <a:endParaRPr lang="ar-AE" sz="1200" dirty="0">
                        <a:latin typeface="+mn-lt"/>
                      </a:endParaRPr>
                    </a:p>
                  </a:txBody>
                  <a:tcPr marL="18232" marR="18232" marT="9116" marB="9116" anchor="ctr"/>
                </a:tc>
                <a:tc>
                  <a:txBody>
                    <a:bodyPr/>
                    <a:lstStyle/>
                    <a:p>
                      <a:pPr algn="ctr" rtl="1">
                        <a:buNone/>
                      </a:pPr>
                      <a:r>
                        <a:rPr lang="ar-SA" sz="1200" dirty="0">
                          <a:latin typeface="+mn-lt"/>
                        </a:rPr>
                        <a:t>متوسطة</a:t>
                      </a:r>
                      <a:endParaRPr lang="ar-AE" sz="1200" dirty="0">
                        <a:latin typeface="+mn-lt"/>
                      </a:endParaRPr>
                    </a:p>
                  </a:txBody>
                  <a:tcPr marL="18232" marR="18232" marT="9116" marB="9116" anchor="ctr"/>
                </a:tc>
                <a:tc>
                  <a: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lang="ar-SA" altLang="en-AE" sz="1200" dirty="0"/>
                        <a:t>ضوابط ومواصفات إدارة البيانات الوطنية وحوكمتها وحماية البيانات الشخصية</a:t>
                      </a:r>
                      <a:endParaRPr kumimoji="0" lang="ar-AE" sz="1200" b="0" i="0" u="none" strike="noStrike" kern="1200" cap="none" spc="0" normalizeH="0" baseline="0" noProof="0" dirty="0">
                        <a:ln>
                          <a:noFill/>
                        </a:ln>
                        <a:solidFill>
                          <a:prstClr val="black"/>
                        </a:solidFill>
                        <a:effectLst/>
                        <a:uLnTx/>
                        <a:uFillTx/>
                        <a:latin typeface="+mn-lt"/>
                        <a:ea typeface="+mn-ea"/>
                        <a:cs typeface="+mn-cs"/>
                      </a:endParaRPr>
                    </a:p>
                  </a:txBody>
                  <a:tcPr marL="18232" marR="18232" marT="9116" marB="9116" anchor="ctr"/>
                </a:tc>
                <a:extLst>
                  <a:ext uri="{0D108BD9-81ED-4DB2-BD59-A6C34878D82A}">
                    <a16:rowId xmlns:a16="http://schemas.microsoft.com/office/drawing/2014/main" val="1643366139"/>
                  </a:ext>
                </a:extLst>
              </a:tr>
            </a:tbl>
          </a:graphicData>
        </a:graphic>
      </p:graphicFrame>
    </p:spTree>
    <p:extLst>
      <p:ext uri="{BB962C8B-B14F-4D97-AF65-F5344CB8AC3E}">
        <p14:creationId xmlns:p14="http://schemas.microsoft.com/office/powerpoint/2010/main" val="2377495474"/>
      </p:ext>
    </p:extLst>
  </p:cSld>
  <p:clrMapOvr>
    <a:masterClrMapping/>
  </p:clrMapOvr>
  <mc:AlternateContent xmlns:mc="http://schemas.openxmlformats.org/markup-compatibility/2006" xmlns:p14="http://schemas.microsoft.com/office/powerpoint/2010/main">
    <mc:Choice Requires="p14">
      <p:transition spd="slow" p14:dur="1300">
        <p14:pan dir="r"/>
      </p:transition>
    </mc:Choice>
    <mc:Fallback xmlns="">
      <p:transition spd="slow">
        <p:fade/>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6B8B28-C802-E91C-6D36-0CD16189CA4A}"/>
              </a:ext>
            </a:extLst>
          </p:cNvPr>
          <p:cNvSpPr>
            <a:spLocks noGrp="1"/>
          </p:cNvSpPr>
          <p:nvPr>
            <p:ph type="title"/>
          </p:nvPr>
        </p:nvSpPr>
        <p:spPr/>
        <p:txBody>
          <a:bodyPr/>
          <a:lstStyle/>
          <a:p>
            <a:r>
              <a:rPr lang="ar-SA" noProof="0" dirty="0"/>
              <a:t>ملخص تحليل الفجوات لبنية التقنية</a:t>
            </a:r>
          </a:p>
        </p:txBody>
      </p:sp>
      <p:sp>
        <p:nvSpPr>
          <p:cNvPr id="3" name="Slide Number Placeholder 2">
            <a:extLst>
              <a:ext uri="{FF2B5EF4-FFF2-40B4-BE49-F238E27FC236}">
                <a16:creationId xmlns:a16="http://schemas.microsoft.com/office/drawing/2014/main" id="{547E9937-8F15-3116-2C9E-FFE503AE29A7}"/>
              </a:ext>
            </a:extLst>
          </p:cNvPr>
          <p:cNvSpPr>
            <a:spLocks noGrp="1"/>
          </p:cNvSpPr>
          <p:nvPr>
            <p:ph type="sldNum" sz="quarter" idx="12"/>
          </p:nvPr>
        </p:nvSpPr>
        <p:spPr/>
        <p:txBody>
          <a:bodyPr/>
          <a:lstStyle/>
          <a:p>
            <a:fld id="{0BE4EC83-A869-464E-AE9F-881796FB085E}" type="slidenum">
              <a:rPr lang="ar-SA" noProof="0" smtClean="0"/>
              <a:t>39</a:t>
            </a:fld>
            <a:endParaRPr lang="ar-SA" noProof="0" dirty="0"/>
          </a:p>
        </p:txBody>
      </p:sp>
      <p:graphicFrame>
        <p:nvGraphicFramePr>
          <p:cNvPr id="4" name="Table 3">
            <a:extLst>
              <a:ext uri="{FF2B5EF4-FFF2-40B4-BE49-F238E27FC236}">
                <a16:creationId xmlns:a16="http://schemas.microsoft.com/office/drawing/2014/main" id="{384C83B6-DFD8-E7ED-14CE-37A01B47C731}"/>
              </a:ext>
            </a:extLst>
          </p:cNvPr>
          <p:cNvGraphicFramePr>
            <a:graphicFrameLocks noGrp="1"/>
          </p:cNvGraphicFramePr>
          <p:nvPr>
            <p:extLst>
              <p:ext uri="{D42A27DB-BD31-4B8C-83A1-F6EECF244321}">
                <p14:modId xmlns:p14="http://schemas.microsoft.com/office/powerpoint/2010/main" val="563864300"/>
              </p:ext>
            </p:extLst>
          </p:nvPr>
        </p:nvGraphicFramePr>
        <p:xfrm>
          <a:off x="818147" y="1227339"/>
          <a:ext cx="10667999" cy="4466073"/>
        </p:xfrm>
        <a:graphic>
          <a:graphicData uri="http://schemas.openxmlformats.org/drawingml/2006/table">
            <a:tbl>
              <a:tblPr rtl="1" firstRow="1" firstCol="1" bandRow="1">
                <a:tableStyleId>{5C22544A-7EE6-4342-B048-85BDC9FD1C3A}</a:tableStyleId>
              </a:tblPr>
              <a:tblGrid>
                <a:gridCol w="1175210">
                  <a:extLst>
                    <a:ext uri="{9D8B030D-6E8A-4147-A177-3AD203B41FA5}">
                      <a16:colId xmlns:a16="http://schemas.microsoft.com/office/drawing/2014/main" val="3510221006"/>
                    </a:ext>
                  </a:extLst>
                </a:gridCol>
                <a:gridCol w="3091989">
                  <a:extLst>
                    <a:ext uri="{9D8B030D-6E8A-4147-A177-3AD203B41FA5}">
                      <a16:colId xmlns:a16="http://schemas.microsoft.com/office/drawing/2014/main" val="3270595412"/>
                    </a:ext>
                  </a:extLst>
                </a:gridCol>
                <a:gridCol w="2133600">
                  <a:extLst>
                    <a:ext uri="{9D8B030D-6E8A-4147-A177-3AD203B41FA5}">
                      <a16:colId xmlns:a16="http://schemas.microsoft.com/office/drawing/2014/main" val="3240003553"/>
                    </a:ext>
                  </a:extLst>
                </a:gridCol>
                <a:gridCol w="2133600">
                  <a:extLst>
                    <a:ext uri="{9D8B030D-6E8A-4147-A177-3AD203B41FA5}">
                      <a16:colId xmlns:a16="http://schemas.microsoft.com/office/drawing/2014/main" val="1167234934"/>
                    </a:ext>
                  </a:extLst>
                </a:gridCol>
                <a:gridCol w="2133600">
                  <a:extLst>
                    <a:ext uri="{9D8B030D-6E8A-4147-A177-3AD203B41FA5}">
                      <a16:colId xmlns:a16="http://schemas.microsoft.com/office/drawing/2014/main" val="825343272"/>
                    </a:ext>
                  </a:extLst>
                </a:gridCol>
              </a:tblGrid>
              <a:tr h="133199">
                <a:tc>
                  <a:txBody>
                    <a:bodyPr/>
                    <a:lstStyle/>
                    <a:p>
                      <a:pPr marL="0" marR="0" algn="r" rtl="1">
                        <a:lnSpc>
                          <a:spcPct val="115000"/>
                        </a:lnSpc>
                        <a:spcAft>
                          <a:spcPts val="1000"/>
                        </a:spcAft>
                      </a:pPr>
                      <a:r>
                        <a:rPr lang="ar-SA" sz="1200" noProof="0" dirty="0">
                          <a:effectLst/>
                        </a:rPr>
                        <a:t>رمز الفجوة</a:t>
                      </a:r>
                      <a:endParaRPr lang="ar-SA" sz="1200" noProof="0" dirty="0">
                        <a:effectLst/>
                        <a:latin typeface="Cambria" panose="02040503050406030204" pitchFamily="18" charset="0"/>
                        <a:ea typeface="MS Mincho" panose="02020609040205080304" pitchFamily="49" charset="-128"/>
                        <a:cs typeface="Arial" panose="020B0604020202020204" pitchFamily="34" charset="0"/>
                      </a:endParaRPr>
                    </a:p>
                  </a:txBody>
                  <a:tcPr marL="51784" marR="51784" marT="0" marB="0"/>
                </a:tc>
                <a:tc>
                  <a:txBody>
                    <a:bodyPr/>
                    <a:lstStyle/>
                    <a:p>
                      <a:pPr marL="0" marR="0" algn="r" rtl="1">
                        <a:lnSpc>
                          <a:spcPct val="115000"/>
                        </a:lnSpc>
                        <a:spcAft>
                          <a:spcPts val="1000"/>
                        </a:spcAft>
                      </a:pPr>
                      <a:r>
                        <a:rPr lang="ar-SA" sz="1200" noProof="0" dirty="0">
                          <a:effectLst/>
                        </a:rPr>
                        <a:t>الفجوة</a:t>
                      </a:r>
                      <a:endParaRPr lang="ar-SA" sz="1200" noProof="0" dirty="0">
                        <a:effectLst/>
                        <a:latin typeface="Cambria" panose="02040503050406030204" pitchFamily="18" charset="0"/>
                        <a:ea typeface="MS Mincho" panose="02020609040205080304" pitchFamily="49" charset="-128"/>
                        <a:cs typeface="Arial" panose="020B0604020202020204" pitchFamily="34" charset="0"/>
                      </a:endParaRPr>
                    </a:p>
                  </a:txBody>
                  <a:tcPr marL="51784" marR="51784" marT="0" marB="0"/>
                </a:tc>
                <a:tc>
                  <a:txBody>
                    <a:bodyPr/>
                    <a:lstStyle/>
                    <a:p>
                      <a:pPr marL="0" marR="0" algn="r" rtl="1">
                        <a:lnSpc>
                          <a:spcPct val="115000"/>
                        </a:lnSpc>
                        <a:spcAft>
                          <a:spcPts val="1000"/>
                        </a:spcAft>
                      </a:pPr>
                      <a:r>
                        <a:rPr lang="ar-SA" sz="1200" noProof="0" dirty="0">
                          <a:effectLst/>
                        </a:rPr>
                        <a:t>حرجية الفجوة</a:t>
                      </a:r>
                      <a:endParaRPr lang="ar-SA" sz="1200" noProof="0" dirty="0">
                        <a:effectLst/>
                        <a:latin typeface="Cambria" panose="02040503050406030204" pitchFamily="18" charset="0"/>
                        <a:ea typeface="MS Mincho" panose="02020609040205080304" pitchFamily="49" charset="-128"/>
                        <a:cs typeface="Arial" panose="020B0604020202020204" pitchFamily="34" charset="0"/>
                      </a:endParaRPr>
                    </a:p>
                  </a:txBody>
                  <a:tcPr marL="51784" marR="51784" marT="0" marB="0"/>
                </a:tc>
                <a:tc>
                  <a:txBody>
                    <a:bodyPr/>
                    <a:lstStyle/>
                    <a:p>
                      <a:pPr marL="0" marR="0" algn="r" rtl="1">
                        <a:lnSpc>
                          <a:spcPct val="115000"/>
                        </a:lnSpc>
                        <a:spcAft>
                          <a:spcPts val="1000"/>
                        </a:spcAft>
                      </a:pPr>
                      <a:r>
                        <a:rPr lang="ar-SA" sz="1200" noProof="0" dirty="0">
                          <a:effectLst/>
                        </a:rPr>
                        <a:t>الحل المقترح</a:t>
                      </a:r>
                      <a:endParaRPr lang="ar-SA" sz="1200" noProof="0" dirty="0">
                        <a:effectLst/>
                        <a:latin typeface="Cambria" panose="02040503050406030204" pitchFamily="18" charset="0"/>
                        <a:ea typeface="MS Mincho" panose="02020609040205080304" pitchFamily="49" charset="-128"/>
                        <a:cs typeface="Arial" panose="020B0604020202020204" pitchFamily="34" charset="0"/>
                      </a:endParaRPr>
                    </a:p>
                  </a:txBody>
                  <a:tcPr marL="51784" marR="51784" marT="0" marB="0"/>
                </a:tc>
                <a:tc>
                  <a:txBody>
                    <a:bodyPr/>
                    <a:lstStyle/>
                    <a:p>
                      <a:pPr marL="0" marR="0" algn="r" rtl="1">
                        <a:lnSpc>
                          <a:spcPct val="115000"/>
                        </a:lnSpc>
                        <a:spcAft>
                          <a:spcPts val="1000"/>
                        </a:spcAft>
                      </a:pPr>
                      <a:r>
                        <a:rPr lang="ar-SA" sz="1200" noProof="0" dirty="0">
                          <a:effectLst/>
                        </a:rPr>
                        <a:t>الأثر بعد الحل</a:t>
                      </a:r>
                      <a:endParaRPr lang="ar-SA" sz="1200" noProof="0" dirty="0">
                        <a:effectLst/>
                        <a:latin typeface="Cambria" panose="02040503050406030204" pitchFamily="18" charset="0"/>
                        <a:ea typeface="MS Mincho" panose="02020609040205080304" pitchFamily="49" charset="-128"/>
                        <a:cs typeface="Arial" panose="020B0604020202020204" pitchFamily="34" charset="0"/>
                      </a:endParaRPr>
                    </a:p>
                  </a:txBody>
                  <a:tcPr marL="51784" marR="51784" marT="0" marB="0"/>
                </a:tc>
                <a:extLst>
                  <a:ext uri="{0D108BD9-81ED-4DB2-BD59-A6C34878D82A}">
                    <a16:rowId xmlns:a16="http://schemas.microsoft.com/office/drawing/2014/main" val="1742444123"/>
                  </a:ext>
                </a:extLst>
              </a:tr>
              <a:tr h="569909">
                <a:tc>
                  <a:txBody>
                    <a:bodyPr/>
                    <a:lstStyle/>
                    <a:p>
                      <a:pPr marL="0" marR="0" algn="ctr" rtl="0">
                        <a:lnSpc>
                          <a:spcPct val="115000"/>
                        </a:lnSpc>
                        <a:spcAft>
                          <a:spcPts val="1000"/>
                        </a:spcAft>
                      </a:pPr>
                      <a:r>
                        <a:rPr lang="ar-SA" sz="1200" noProof="0" dirty="0">
                          <a:effectLst/>
                        </a:rPr>
                        <a:t>GAP-T-1</a:t>
                      </a:r>
                      <a:endParaRPr lang="ar-SA" sz="1200" noProof="0" dirty="0">
                        <a:effectLst/>
                        <a:latin typeface="Cambria" panose="02040503050406030204" pitchFamily="18" charset="0"/>
                        <a:ea typeface="MS Mincho" panose="02020609040205080304" pitchFamily="49" charset="-128"/>
                        <a:cs typeface="Arial" panose="020B0604020202020204" pitchFamily="34" charset="0"/>
                      </a:endParaRPr>
                    </a:p>
                  </a:txBody>
                  <a:tcPr marL="51784" marR="51784" marT="0" marB="0"/>
                </a:tc>
                <a:tc>
                  <a:txBody>
                    <a:bodyPr/>
                    <a:lstStyle/>
                    <a:p>
                      <a:pPr marL="0" marR="0" algn="r" defTabSz="914400" rtl="1" eaLnBrk="1" latinLnBrk="0" hangingPunct="1">
                        <a:lnSpc>
                          <a:spcPct val="115000"/>
                        </a:lnSpc>
                        <a:spcAft>
                          <a:spcPts val="1000"/>
                        </a:spcAft>
                      </a:pPr>
                      <a:r>
                        <a:rPr lang="ar-SA" sz="1200" kern="1200" noProof="0" dirty="0">
                          <a:solidFill>
                            <a:schemeClr val="dk1"/>
                          </a:solidFill>
                          <a:effectLst/>
                          <a:latin typeface="+mn-lt"/>
                          <a:ea typeface="+mn-ea"/>
                          <a:cs typeface="+mn-cs"/>
                        </a:rPr>
                        <a:t>عدم وجود تقسيم واضح للأدوار والمسؤوليات</a:t>
                      </a:r>
                    </a:p>
                  </a:txBody>
                  <a:tcPr marL="51784" marR="51784" marT="0" marB="0"/>
                </a:tc>
                <a:tc>
                  <a:txBody>
                    <a:bodyPr/>
                    <a:lstStyle/>
                    <a:p>
                      <a:pPr marL="0" marR="0" algn="r" defTabSz="914400" rtl="1" eaLnBrk="1" latinLnBrk="0" hangingPunct="1">
                        <a:lnSpc>
                          <a:spcPct val="115000"/>
                        </a:lnSpc>
                        <a:spcAft>
                          <a:spcPts val="1000"/>
                        </a:spcAft>
                      </a:pPr>
                      <a:r>
                        <a:rPr lang="ar-SA" sz="1200" kern="1200" noProof="0" dirty="0">
                          <a:solidFill>
                            <a:schemeClr val="dk1"/>
                          </a:solidFill>
                          <a:effectLst/>
                          <a:latin typeface="+mn-lt"/>
                          <a:ea typeface="+mn-ea"/>
                          <a:cs typeface="+mn-cs"/>
                        </a:rPr>
                        <a:t>عالية</a:t>
                      </a:r>
                    </a:p>
                  </a:txBody>
                  <a:tcPr marL="51784" marR="51784" marT="0" marB="0"/>
                </a:tc>
                <a:tc>
                  <a:txBody>
                    <a:bodyPr/>
                    <a:lstStyle/>
                    <a:p>
                      <a:pPr marL="0" marR="0" algn="r" defTabSz="914400" rtl="1" eaLnBrk="1" latinLnBrk="0" hangingPunct="1">
                        <a:lnSpc>
                          <a:spcPct val="115000"/>
                        </a:lnSpc>
                        <a:spcAft>
                          <a:spcPts val="1000"/>
                        </a:spcAft>
                      </a:pPr>
                      <a:r>
                        <a:rPr lang="ar-SA" sz="1200" kern="1200" noProof="0" dirty="0">
                          <a:solidFill>
                            <a:schemeClr val="dk1"/>
                          </a:solidFill>
                          <a:effectLst/>
                          <a:latin typeface="+mn-lt"/>
                          <a:ea typeface="+mn-ea"/>
                          <a:cs typeface="+mn-cs"/>
                        </a:rPr>
                        <a:t>إعداد هيكل تنظيمي واضح يحدد المسؤوليات داخل NOC</a:t>
                      </a:r>
                    </a:p>
                  </a:txBody>
                  <a:tcPr marL="51784" marR="51784" marT="0" marB="0"/>
                </a:tc>
                <a:tc>
                  <a:txBody>
                    <a:bodyPr/>
                    <a:lstStyle/>
                    <a:p>
                      <a:pPr marL="0" marR="0" algn="r" defTabSz="914400" rtl="1" eaLnBrk="1" latinLnBrk="0" hangingPunct="1">
                        <a:lnSpc>
                          <a:spcPct val="115000"/>
                        </a:lnSpc>
                        <a:spcAft>
                          <a:spcPts val="1000"/>
                        </a:spcAft>
                      </a:pPr>
                      <a:r>
                        <a:rPr lang="ar-SA" sz="1200" kern="1200" noProof="0" dirty="0">
                          <a:solidFill>
                            <a:schemeClr val="dk1"/>
                          </a:solidFill>
                          <a:effectLst/>
                          <a:latin typeface="+mn-lt"/>
                          <a:ea typeface="+mn-ea"/>
                          <a:cs typeface="+mn-cs"/>
                        </a:rPr>
                        <a:t>تحسين كفاءة العمل وتقليل الازدواجية</a:t>
                      </a:r>
                    </a:p>
                  </a:txBody>
                  <a:tcPr marL="51784" marR="51784" marT="0" marB="0"/>
                </a:tc>
                <a:extLst>
                  <a:ext uri="{0D108BD9-81ED-4DB2-BD59-A6C34878D82A}">
                    <a16:rowId xmlns:a16="http://schemas.microsoft.com/office/drawing/2014/main" val="2554154383"/>
                  </a:ext>
                </a:extLst>
              </a:tr>
              <a:tr h="424339">
                <a:tc>
                  <a:txBody>
                    <a:bodyPr/>
                    <a:lstStyle/>
                    <a:p>
                      <a:pPr marL="0" marR="0" algn="ctr" rtl="0">
                        <a:lnSpc>
                          <a:spcPct val="115000"/>
                        </a:lnSpc>
                        <a:spcAft>
                          <a:spcPts val="1000"/>
                        </a:spcAft>
                      </a:pPr>
                      <a:r>
                        <a:rPr lang="ar-SA" sz="1200" noProof="0" dirty="0">
                          <a:effectLst/>
                        </a:rPr>
                        <a:t>GAP-T-2</a:t>
                      </a:r>
                      <a:endParaRPr lang="ar-SA" sz="1200" noProof="0" dirty="0">
                        <a:effectLst/>
                        <a:latin typeface="Cambria" panose="02040503050406030204" pitchFamily="18" charset="0"/>
                        <a:ea typeface="MS Mincho" panose="02020609040205080304" pitchFamily="49" charset="-128"/>
                        <a:cs typeface="Arial" panose="020B0604020202020204" pitchFamily="34" charset="0"/>
                      </a:endParaRPr>
                    </a:p>
                  </a:txBody>
                  <a:tcPr marL="51784" marR="51784" marT="0" marB="0"/>
                </a:tc>
                <a:tc>
                  <a:txBody>
                    <a:bodyPr/>
                    <a:lstStyle/>
                    <a:p>
                      <a:pPr marL="0" marR="0" algn="r" defTabSz="914400" rtl="1" eaLnBrk="1" latinLnBrk="0" hangingPunct="1">
                        <a:lnSpc>
                          <a:spcPct val="115000"/>
                        </a:lnSpc>
                        <a:spcAft>
                          <a:spcPts val="1000"/>
                        </a:spcAft>
                      </a:pPr>
                      <a:r>
                        <a:rPr lang="ar-SA" sz="1200" kern="1200" noProof="0" dirty="0">
                          <a:solidFill>
                            <a:schemeClr val="dk1"/>
                          </a:solidFill>
                          <a:effectLst/>
                          <a:latin typeface="+mn-lt"/>
                          <a:ea typeface="+mn-ea"/>
                          <a:cs typeface="+mn-cs"/>
                        </a:rPr>
                        <a:t>غياب برامج تدريبية دورية للموظفين</a:t>
                      </a:r>
                    </a:p>
                  </a:txBody>
                  <a:tcPr marL="51784" marR="51784" marT="0" marB="0"/>
                </a:tc>
                <a:tc>
                  <a:txBody>
                    <a:bodyPr/>
                    <a:lstStyle/>
                    <a:p>
                      <a:pPr marL="0" marR="0" algn="r" defTabSz="914400" rtl="1" eaLnBrk="1" latinLnBrk="0" hangingPunct="1">
                        <a:lnSpc>
                          <a:spcPct val="115000"/>
                        </a:lnSpc>
                        <a:spcAft>
                          <a:spcPts val="1000"/>
                        </a:spcAft>
                      </a:pPr>
                      <a:r>
                        <a:rPr lang="ar-SA" sz="1200" kern="1200" noProof="0" dirty="0">
                          <a:solidFill>
                            <a:schemeClr val="dk1"/>
                          </a:solidFill>
                          <a:effectLst/>
                          <a:latin typeface="+mn-lt"/>
                          <a:ea typeface="+mn-ea"/>
                          <a:cs typeface="+mn-cs"/>
                        </a:rPr>
                        <a:t>متوسطة</a:t>
                      </a:r>
                    </a:p>
                  </a:txBody>
                  <a:tcPr marL="51784" marR="51784" marT="0" marB="0"/>
                </a:tc>
                <a:tc>
                  <a:txBody>
                    <a:bodyPr/>
                    <a:lstStyle/>
                    <a:p>
                      <a:pPr marL="0" marR="0" algn="r" defTabSz="914400" rtl="1" eaLnBrk="1" latinLnBrk="0" hangingPunct="1">
                        <a:lnSpc>
                          <a:spcPct val="115000"/>
                        </a:lnSpc>
                        <a:spcAft>
                          <a:spcPts val="1000"/>
                        </a:spcAft>
                      </a:pPr>
                      <a:r>
                        <a:rPr lang="ar-SA" sz="1200" kern="1200" noProof="0" dirty="0">
                          <a:solidFill>
                            <a:schemeClr val="dk1"/>
                          </a:solidFill>
                          <a:effectLst/>
                          <a:latin typeface="+mn-lt"/>
                          <a:ea typeface="+mn-ea"/>
                          <a:cs typeface="+mn-cs"/>
                        </a:rPr>
                        <a:t>تصميم وتنفيذ برامج تدريبية دورية</a:t>
                      </a:r>
                    </a:p>
                  </a:txBody>
                  <a:tcPr marL="51784" marR="51784" marT="0" marB="0"/>
                </a:tc>
                <a:tc>
                  <a:txBody>
                    <a:bodyPr/>
                    <a:lstStyle/>
                    <a:p>
                      <a:pPr marL="0" marR="0" algn="r" defTabSz="914400" rtl="1" eaLnBrk="1" latinLnBrk="0" hangingPunct="1">
                        <a:lnSpc>
                          <a:spcPct val="115000"/>
                        </a:lnSpc>
                        <a:spcAft>
                          <a:spcPts val="1000"/>
                        </a:spcAft>
                      </a:pPr>
                      <a:r>
                        <a:rPr lang="ar-SA" sz="1200" kern="1200" noProof="0" dirty="0">
                          <a:solidFill>
                            <a:schemeClr val="dk1"/>
                          </a:solidFill>
                          <a:effectLst/>
                          <a:latin typeface="+mn-lt"/>
                          <a:ea typeface="+mn-ea"/>
                          <a:cs typeface="+mn-cs"/>
                        </a:rPr>
                        <a:t>رفع مستوى الكفاءة وزيادة الجاهزية للموظفين</a:t>
                      </a:r>
                    </a:p>
                  </a:txBody>
                  <a:tcPr marL="51784" marR="51784" marT="0" marB="0"/>
                </a:tc>
                <a:extLst>
                  <a:ext uri="{0D108BD9-81ED-4DB2-BD59-A6C34878D82A}">
                    <a16:rowId xmlns:a16="http://schemas.microsoft.com/office/drawing/2014/main" val="2965337615"/>
                  </a:ext>
                </a:extLst>
              </a:tr>
              <a:tr h="424339">
                <a:tc>
                  <a:txBody>
                    <a:bodyPr/>
                    <a:lstStyle/>
                    <a:p>
                      <a:pPr marL="0" marR="0" algn="ctr" rtl="0">
                        <a:lnSpc>
                          <a:spcPct val="115000"/>
                        </a:lnSpc>
                        <a:spcAft>
                          <a:spcPts val="1000"/>
                        </a:spcAft>
                      </a:pPr>
                      <a:r>
                        <a:rPr lang="ar-SA" sz="1200" noProof="0" dirty="0">
                          <a:effectLst/>
                        </a:rPr>
                        <a:t>GAP-T-3</a:t>
                      </a:r>
                      <a:endParaRPr lang="ar-SA" sz="1200" noProof="0" dirty="0">
                        <a:effectLst/>
                        <a:latin typeface="Cambria" panose="02040503050406030204" pitchFamily="18" charset="0"/>
                        <a:ea typeface="MS Mincho" panose="02020609040205080304" pitchFamily="49" charset="-128"/>
                        <a:cs typeface="Arial" panose="020B0604020202020204" pitchFamily="34" charset="0"/>
                      </a:endParaRPr>
                    </a:p>
                  </a:txBody>
                  <a:tcPr marL="51784" marR="51784" marT="0" marB="0"/>
                </a:tc>
                <a:tc>
                  <a:txBody>
                    <a:bodyPr/>
                    <a:lstStyle/>
                    <a:p>
                      <a:pPr marL="0" marR="0" algn="r" defTabSz="914400" rtl="1" eaLnBrk="1" latinLnBrk="0" hangingPunct="1">
                        <a:lnSpc>
                          <a:spcPct val="115000"/>
                        </a:lnSpc>
                        <a:spcAft>
                          <a:spcPts val="1000"/>
                        </a:spcAft>
                      </a:pPr>
                      <a:r>
                        <a:rPr lang="ar-SA" sz="1200" kern="1200" noProof="0" dirty="0">
                          <a:solidFill>
                            <a:schemeClr val="dk1"/>
                          </a:solidFill>
                          <a:effectLst/>
                          <a:latin typeface="+mn-lt"/>
                          <a:ea typeface="+mn-ea"/>
                          <a:cs typeface="+mn-cs"/>
                        </a:rPr>
                        <a:t>عدم وجود تكامل مع مركز الأمن السيبراني (SOC)</a:t>
                      </a:r>
                    </a:p>
                  </a:txBody>
                  <a:tcPr marL="51784" marR="51784" marT="0" marB="0"/>
                </a:tc>
                <a:tc>
                  <a:txBody>
                    <a:bodyPr/>
                    <a:lstStyle/>
                    <a:p>
                      <a:pPr marL="0" marR="0" algn="r" defTabSz="914400" rtl="1" eaLnBrk="1" latinLnBrk="0" hangingPunct="1">
                        <a:lnSpc>
                          <a:spcPct val="115000"/>
                        </a:lnSpc>
                        <a:spcAft>
                          <a:spcPts val="1000"/>
                        </a:spcAft>
                      </a:pPr>
                      <a:r>
                        <a:rPr lang="ar-SA" sz="1200" kern="1200" noProof="0" dirty="0">
                          <a:solidFill>
                            <a:schemeClr val="dk1"/>
                          </a:solidFill>
                          <a:effectLst/>
                          <a:latin typeface="+mn-lt"/>
                          <a:ea typeface="+mn-ea"/>
                          <a:cs typeface="+mn-cs"/>
                        </a:rPr>
                        <a:t>عالية</a:t>
                      </a:r>
                    </a:p>
                  </a:txBody>
                  <a:tcPr marL="51784" marR="51784" marT="0" marB="0"/>
                </a:tc>
                <a:tc>
                  <a:txBody>
                    <a:bodyPr/>
                    <a:lstStyle/>
                    <a:p>
                      <a:pPr marL="0" marR="0" algn="r" defTabSz="914400" rtl="1" eaLnBrk="1" latinLnBrk="0" hangingPunct="1">
                        <a:lnSpc>
                          <a:spcPct val="115000"/>
                        </a:lnSpc>
                        <a:spcAft>
                          <a:spcPts val="1000"/>
                        </a:spcAft>
                      </a:pPr>
                      <a:r>
                        <a:rPr lang="ar-SA" sz="1200" kern="1200" noProof="0" dirty="0">
                          <a:solidFill>
                            <a:schemeClr val="dk1"/>
                          </a:solidFill>
                          <a:effectLst/>
                          <a:latin typeface="+mn-lt"/>
                          <a:ea typeface="+mn-ea"/>
                          <a:cs typeface="+mn-cs"/>
                        </a:rPr>
                        <a:t>دمج NOC مع SOC لتعزيز الأمن السيبراني</a:t>
                      </a:r>
                    </a:p>
                  </a:txBody>
                  <a:tcPr marL="51784" marR="51784" marT="0" marB="0"/>
                </a:tc>
                <a:tc>
                  <a:txBody>
                    <a:bodyPr/>
                    <a:lstStyle/>
                    <a:p>
                      <a:pPr marL="0" marR="0" algn="r" defTabSz="914400" rtl="1" eaLnBrk="1" latinLnBrk="0" hangingPunct="1">
                        <a:lnSpc>
                          <a:spcPct val="115000"/>
                        </a:lnSpc>
                        <a:spcAft>
                          <a:spcPts val="1000"/>
                        </a:spcAft>
                      </a:pPr>
                      <a:r>
                        <a:rPr lang="ar-SA" sz="1200" kern="1200" noProof="0" dirty="0">
                          <a:solidFill>
                            <a:schemeClr val="dk1"/>
                          </a:solidFill>
                          <a:effectLst/>
                          <a:latin typeface="+mn-lt"/>
                          <a:ea typeface="+mn-ea"/>
                          <a:cs typeface="+mn-cs"/>
                        </a:rPr>
                        <a:t>تحسين الاستجابة للهجمات وتقليل المخاطر الأمنية</a:t>
                      </a:r>
                    </a:p>
                  </a:txBody>
                  <a:tcPr marL="51784" marR="51784" marT="0" marB="0"/>
                </a:tc>
                <a:extLst>
                  <a:ext uri="{0D108BD9-81ED-4DB2-BD59-A6C34878D82A}">
                    <a16:rowId xmlns:a16="http://schemas.microsoft.com/office/drawing/2014/main" val="1275094333"/>
                  </a:ext>
                </a:extLst>
              </a:tr>
              <a:tr h="569909">
                <a:tc>
                  <a:txBody>
                    <a:bodyPr/>
                    <a:lstStyle/>
                    <a:p>
                      <a:pPr marL="0" marR="0" algn="ctr" rtl="0">
                        <a:lnSpc>
                          <a:spcPct val="115000"/>
                        </a:lnSpc>
                        <a:spcAft>
                          <a:spcPts val="1000"/>
                        </a:spcAft>
                      </a:pPr>
                      <a:r>
                        <a:rPr lang="ar-SA" sz="1200" noProof="0" dirty="0">
                          <a:effectLst/>
                        </a:rPr>
                        <a:t>GAP-T-4</a:t>
                      </a:r>
                      <a:endParaRPr lang="ar-SA" sz="1200" noProof="0" dirty="0">
                        <a:effectLst/>
                        <a:latin typeface="Cambria" panose="02040503050406030204" pitchFamily="18" charset="0"/>
                        <a:ea typeface="MS Mincho" panose="02020609040205080304" pitchFamily="49" charset="-128"/>
                        <a:cs typeface="Arial" panose="020B0604020202020204" pitchFamily="34" charset="0"/>
                      </a:endParaRPr>
                    </a:p>
                  </a:txBody>
                  <a:tcPr marL="51784" marR="51784" marT="0" marB="0"/>
                </a:tc>
                <a:tc>
                  <a:txBody>
                    <a:bodyPr/>
                    <a:lstStyle/>
                    <a:p>
                      <a:pPr marL="0" marR="0" algn="r" defTabSz="914400" rtl="1" eaLnBrk="1" latinLnBrk="0" hangingPunct="1">
                        <a:lnSpc>
                          <a:spcPct val="115000"/>
                        </a:lnSpc>
                        <a:spcAft>
                          <a:spcPts val="1000"/>
                        </a:spcAft>
                      </a:pPr>
                      <a:r>
                        <a:rPr lang="ar-SA" sz="1200" kern="1200" noProof="0" dirty="0">
                          <a:solidFill>
                            <a:schemeClr val="dk1"/>
                          </a:solidFill>
                          <a:effectLst/>
                          <a:latin typeface="+mn-lt"/>
                          <a:ea typeface="+mn-ea"/>
                          <a:cs typeface="+mn-cs"/>
                        </a:rPr>
                        <a:t>غياب أدوات  اخذ القرار </a:t>
                      </a:r>
                      <a:r>
                        <a:rPr lang="ar-SA" sz="1200" kern="1200" noProof="0" dirty="0" err="1">
                          <a:solidFill>
                            <a:schemeClr val="dk1"/>
                          </a:solidFill>
                          <a:effectLst/>
                          <a:latin typeface="+mn-lt"/>
                          <a:ea typeface="+mn-ea"/>
                          <a:cs typeface="+mn-cs"/>
                        </a:rPr>
                        <a:t>تلقاءيا</a:t>
                      </a:r>
                      <a:r>
                        <a:rPr lang="ar-SA" sz="1200" kern="1200" noProof="0" dirty="0">
                          <a:solidFill>
                            <a:schemeClr val="dk1"/>
                          </a:solidFill>
                          <a:effectLst/>
                          <a:latin typeface="+mn-lt"/>
                          <a:ea typeface="+mn-ea"/>
                          <a:cs typeface="+mn-cs"/>
                        </a:rPr>
                        <a:t> بعد تحليل حركة المرور واكتشاف الأنماط المشبوهة</a:t>
                      </a:r>
                    </a:p>
                  </a:txBody>
                  <a:tcPr marL="51784" marR="51784" marT="0" marB="0"/>
                </a:tc>
                <a:tc>
                  <a:txBody>
                    <a:bodyPr/>
                    <a:lstStyle/>
                    <a:p>
                      <a:pPr marL="0" marR="0" algn="r" defTabSz="914400" rtl="1" eaLnBrk="1" latinLnBrk="0" hangingPunct="1">
                        <a:lnSpc>
                          <a:spcPct val="115000"/>
                        </a:lnSpc>
                        <a:spcAft>
                          <a:spcPts val="1000"/>
                        </a:spcAft>
                      </a:pPr>
                      <a:r>
                        <a:rPr lang="ar-SA" sz="1200" kern="1200" noProof="0" dirty="0">
                          <a:solidFill>
                            <a:schemeClr val="dk1"/>
                          </a:solidFill>
                          <a:effectLst/>
                          <a:latin typeface="+mn-lt"/>
                          <a:ea typeface="+mn-ea"/>
                          <a:cs typeface="+mn-cs"/>
                        </a:rPr>
                        <a:t>عالية</a:t>
                      </a:r>
                    </a:p>
                  </a:txBody>
                  <a:tcPr marL="51784" marR="51784" marT="0" marB="0"/>
                </a:tc>
                <a:tc>
                  <a:txBody>
                    <a:bodyPr/>
                    <a:lstStyle/>
                    <a:p>
                      <a:pPr marL="0" marR="0" algn="r" defTabSz="914400" rtl="1" eaLnBrk="1" latinLnBrk="0" hangingPunct="1">
                        <a:lnSpc>
                          <a:spcPct val="115000"/>
                        </a:lnSpc>
                        <a:spcAft>
                          <a:spcPts val="1000"/>
                        </a:spcAft>
                      </a:pPr>
                      <a:r>
                        <a:rPr lang="ar-SA" sz="1200" kern="1200" noProof="0" dirty="0">
                          <a:solidFill>
                            <a:schemeClr val="dk1"/>
                          </a:solidFill>
                          <a:effectLst/>
                          <a:latin typeface="+mn-lt"/>
                          <a:ea typeface="+mn-ea"/>
                          <a:cs typeface="+mn-cs"/>
                        </a:rPr>
                        <a:t>تطبيق أدوات متقدمة لتحليل حركة المرور</a:t>
                      </a:r>
                    </a:p>
                  </a:txBody>
                  <a:tcPr marL="51784" marR="51784" marT="0" marB="0"/>
                </a:tc>
                <a:tc>
                  <a:txBody>
                    <a:bodyPr/>
                    <a:lstStyle/>
                    <a:p>
                      <a:pPr marL="0" marR="0" algn="r" defTabSz="914400" rtl="1" eaLnBrk="1" latinLnBrk="0" hangingPunct="1">
                        <a:lnSpc>
                          <a:spcPct val="115000"/>
                        </a:lnSpc>
                        <a:spcAft>
                          <a:spcPts val="1000"/>
                        </a:spcAft>
                      </a:pPr>
                      <a:r>
                        <a:rPr lang="ar-SA" sz="1200" kern="1200" noProof="0" dirty="0">
                          <a:solidFill>
                            <a:schemeClr val="dk1"/>
                          </a:solidFill>
                          <a:effectLst/>
                          <a:latin typeface="+mn-lt"/>
                          <a:ea typeface="+mn-ea"/>
                          <a:cs typeface="+mn-cs"/>
                        </a:rPr>
                        <a:t>تحسين اكتشاف التهديدات وتعزيز الأمان</a:t>
                      </a:r>
                    </a:p>
                  </a:txBody>
                  <a:tcPr marL="51784" marR="51784" marT="0" marB="0"/>
                </a:tc>
                <a:extLst>
                  <a:ext uri="{0D108BD9-81ED-4DB2-BD59-A6C34878D82A}">
                    <a16:rowId xmlns:a16="http://schemas.microsoft.com/office/drawing/2014/main" val="1526201716"/>
                  </a:ext>
                </a:extLst>
              </a:tr>
              <a:tr h="424339">
                <a:tc>
                  <a:txBody>
                    <a:bodyPr/>
                    <a:lstStyle/>
                    <a:p>
                      <a:pPr marL="0" marR="0" algn="ctr" rtl="0">
                        <a:lnSpc>
                          <a:spcPct val="115000"/>
                        </a:lnSpc>
                        <a:spcAft>
                          <a:spcPts val="1000"/>
                        </a:spcAft>
                      </a:pPr>
                      <a:r>
                        <a:rPr lang="ar-SA" sz="1200" noProof="0" dirty="0">
                          <a:effectLst/>
                        </a:rPr>
                        <a:t>GAP-T-5</a:t>
                      </a:r>
                      <a:endParaRPr lang="ar-SA" sz="1200" noProof="0" dirty="0">
                        <a:effectLst/>
                        <a:latin typeface="Cambria" panose="02040503050406030204" pitchFamily="18" charset="0"/>
                        <a:ea typeface="MS Mincho" panose="02020609040205080304" pitchFamily="49" charset="-128"/>
                        <a:cs typeface="Arial" panose="020B0604020202020204" pitchFamily="34" charset="0"/>
                      </a:endParaRPr>
                    </a:p>
                  </a:txBody>
                  <a:tcPr marL="51784" marR="51784" marT="0" marB="0"/>
                </a:tc>
                <a:tc>
                  <a:txBody>
                    <a:bodyPr/>
                    <a:lstStyle/>
                    <a:p>
                      <a:pPr marL="0" marR="0" algn="r" defTabSz="914400" rtl="1" eaLnBrk="1" latinLnBrk="0" hangingPunct="1">
                        <a:lnSpc>
                          <a:spcPct val="115000"/>
                        </a:lnSpc>
                        <a:spcAft>
                          <a:spcPts val="1000"/>
                        </a:spcAft>
                      </a:pPr>
                      <a:r>
                        <a:rPr lang="ar-SA" sz="1200" kern="1200" noProof="0" dirty="0">
                          <a:solidFill>
                            <a:schemeClr val="dk1"/>
                          </a:solidFill>
                          <a:effectLst/>
                          <a:latin typeface="+mn-lt"/>
                          <a:ea typeface="+mn-ea"/>
                          <a:cs typeface="+mn-cs"/>
                        </a:rPr>
                        <a:t>عدم توفر إجراءات واضحة لاستجابة الحوادث الأمنية وعمل سيناريو لعمليات الانقطاع بصورة دورية و موثقة </a:t>
                      </a:r>
                    </a:p>
                  </a:txBody>
                  <a:tcPr marL="51784" marR="51784" marT="0" marB="0"/>
                </a:tc>
                <a:tc>
                  <a:txBody>
                    <a:bodyPr/>
                    <a:lstStyle/>
                    <a:p>
                      <a:pPr marL="0" marR="0" algn="r" defTabSz="914400" rtl="1" eaLnBrk="1" latinLnBrk="0" hangingPunct="1">
                        <a:lnSpc>
                          <a:spcPct val="115000"/>
                        </a:lnSpc>
                        <a:spcAft>
                          <a:spcPts val="1000"/>
                        </a:spcAft>
                      </a:pPr>
                      <a:r>
                        <a:rPr lang="ar-SA" sz="1200" kern="1200" noProof="0" dirty="0">
                          <a:solidFill>
                            <a:schemeClr val="dk1"/>
                          </a:solidFill>
                          <a:effectLst/>
                          <a:latin typeface="+mn-lt"/>
                          <a:ea typeface="+mn-ea"/>
                          <a:cs typeface="+mn-cs"/>
                        </a:rPr>
                        <a:t>عالية</a:t>
                      </a:r>
                    </a:p>
                  </a:txBody>
                  <a:tcPr marL="51784" marR="51784" marT="0" marB="0"/>
                </a:tc>
                <a:tc>
                  <a:txBody>
                    <a:bodyPr/>
                    <a:lstStyle/>
                    <a:p>
                      <a:pPr marL="0" marR="0" algn="r" defTabSz="914400" rtl="1" eaLnBrk="1" latinLnBrk="0" hangingPunct="1">
                        <a:lnSpc>
                          <a:spcPct val="115000"/>
                        </a:lnSpc>
                        <a:spcAft>
                          <a:spcPts val="1000"/>
                        </a:spcAft>
                      </a:pPr>
                      <a:r>
                        <a:rPr lang="ar-SA" sz="1200" kern="1200" noProof="0" dirty="0">
                          <a:solidFill>
                            <a:schemeClr val="dk1"/>
                          </a:solidFill>
                          <a:effectLst/>
                          <a:latin typeface="+mn-lt"/>
                          <a:ea typeface="+mn-ea"/>
                          <a:cs typeface="+mn-cs"/>
                        </a:rPr>
                        <a:t>وضع إجراءات استجابة موثقة وربطها بـ SOC</a:t>
                      </a:r>
                    </a:p>
                  </a:txBody>
                  <a:tcPr marL="51784" marR="51784" marT="0" marB="0"/>
                </a:tc>
                <a:tc>
                  <a:txBody>
                    <a:bodyPr/>
                    <a:lstStyle/>
                    <a:p>
                      <a:pPr marL="0" marR="0" algn="r" defTabSz="914400" rtl="1" eaLnBrk="1" latinLnBrk="0" hangingPunct="1">
                        <a:lnSpc>
                          <a:spcPct val="115000"/>
                        </a:lnSpc>
                        <a:spcAft>
                          <a:spcPts val="1000"/>
                        </a:spcAft>
                      </a:pPr>
                      <a:r>
                        <a:rPr lang="ar-SA" sz="1200" kern="1200" noProof="0" dirty="0">
                          <a:solidFill>
                            <a:schemeClr val="dk1"/>
                          </a:solidFill>
                          <a:effectLst/>
                          <a:latin typeface="+mn-lt"/>
                          <a:ea typeface="+mn-ea"/>
                          <a:cs typeface="+mn-cs"/>
                        </a:rPr>
                        <a:t>تقليل وقت الاستجابة وتحسين التعامل مع الحوادث</a:t>
                      </a:r>
                    </a:p>
                  </a:txBody>
                  <a:tcPr marL="51784" marR="51784" marT="0" marB="0"/>
                </a:tc>
                <a:extLst>
                  <a:ext uri="{0D108BD9-81ED-4DB2-BD59-A6C34878D82A}">
                    <a16:rowId xmlns:a16="http://schemas.microsoft.com/office/drawing/2014/main" val="3028250683"/>
                  </a:ext>
                </a:extLst>
              </a:tr>
              <a:tr h="424339">
                <a:tc>
                  <a:txBody>
                    <a:bodyPr/>
                    <a:lstStyle/>
                    <a:p>
                      <a:pPr marL="0" marR="0" algn="ctr" rtl="0">
                        <a:lnSpc>
                          <a:spcPct val="115000"/>
                        </a:lnSpc>
                        <a:spcAft>
                          <a:spcPts val="1000"/>
                        </a:spcAft>
                      </a:pPr>
                      <a:r>
                        <a:rPr lang="ar-SA" sz="1200" noProof="0" dirty="0">
                          <a:effectLst/>
                        </a:rPr>
                        <a:t>GAP-T-6</a:t>
                      </a:r>
                      <a:endParaRPr lang="ar-SA" sz="1200" noProof="0" dirty="0">
                        <a:effectLst/>
                        <a:latin typeface="Cambria" panose="02040503050406030204" pitchFamily="18" charset="0"/>
                        <a:ea typeface="MS Mincho" panose="02020609040205080304" pitchFamily="49" charset="-128"/>
                        <a:cs typeface="Arial" panose="020B0604020202020204" pitchFamily="34" charset="0"/>
                      </a:endParaRPr>
                    </a:p>
                  </a:txBody>
                  <a:tcPr marL="51784" marR="51784" marT="0" marB="0"/>
                </a:tc>
                <a:tc>
                  <a:txBody>
                    <a:bodyPr/>
                    <a:lstStyle/>
                    <a:p>
                      <a:pPr marL="0" marR="0" algn="r" defTabSz="914400" rtl="1" eaLnBrk="1" latinLnBrk="0" hangingPunct="1">
                        <a:lnSpc>
                          <a:spcPct val="115000"/>
                        </a:lnSpc>
                        <a:spcAft>
                          <a:spcPts val="1000"/>
                        </a:spcAft>
                      </a:pPr>
                      <a:r>
                        <a:rPr lang="ar-SA" sz="1200" kern="1200" noProof="0" dirty="0">
                          <a:solidFill>
                            <a:schemeClr val="dk1"/>
                          </a:solidFill>
                          <a:effectLst/>
                          <a:latin typeface="+mn-lt"/>
                          <a:ea typeface="+mn-ea"/>
                          <a:cs typeface="+mn-cs"/>
                        </a:rPr>
                        <a:t>عدم وجود مستودع معرفة لتوثيق حلول المشاكل الشائعة</a:t>
                      </a:r>
                    </a:p>
                  </a:txBody>
                  <a:tcPr marL="51784" marR="51784" marT="0" marB="0"/>
                </a:tc>
                <a:tc>
                  <a:txBody>
                    <a:bodyPr/>
                    <a:lstStyle/>
                    <a:p>
                      <a:pPr marL="0" marR="0" algn="r" defTabSz="914400" rtl="1" eaLnBrk="1" latinLnBrk="0" hangingPunct="1">
                        <a:lnSpc>
                          <a:spcPct val="115000"/>
                        </a:lnSpc>
                        <a:spcAft>
                          <a:spcPts val="1000"/>
                        </a:spcAft>
                      </a:pPr>
                      <a:r>
                        <a:rPr lang="ar-SA" sz="1200" kern="1200" noProof="0" dirty="0">
                          <a:solidFill>
                            <a:schemeClr val="dk1"/>
                          </a:solidFill>
                          <a:effectLst/>
                          <a:latin typeface="+mn-lt"/>
                          <a:ea typeface="+mn-ea"/>
                          <a:cs typeface="+mn-cs"/>
                        </a:rPr>
                        <a:t>متوسطة</a:t>
                      </a:r>
                    </a:p>
                  </a:txBody>
                  <a:tcPr marL="51784" marR="51784" marT="0" marB="0"/>
                </a:tc>
                <a:tc>
                  <a:txBody>
                    <a:bodyPr/>
                    <a:lstStyle/>
                    <a:p>
                      <a:pPr marL="0" marR="0" algn="r" defTabSz="914400" rtl="1" eaLnBrk="1" latinLnBrk="0" hangingPunct="1">
                        <a:lnSpc>
                          <a:spcPct val="115000"/>
                        </a:lnSpc>
                        <a:spcAft>
                          <a:spcPts val="1000"/>
                        </a:spcAft>
                      </a:pPr>
                      <a:r>
                        <a:rPr lang="ar-SA" sz="1200" kern="1200" noProof="0" dirty="0">
                          <a:solidFill>
                            <a:schemeClr val="dk1"/>
                          </a:solidFill>
                          <a:effectLst/>
                          <a:latin typeface="+mn-lt"/>
                          <a:ea typeface="+mn-ea"/>
                          <a:cs typeface="+mn-cs"/>
                        </a:rPr>
                        <a:t>إنشاء قاعدة بيانات معرفية لحلول المشاكل الشائعة</a:t>
                      </a:r>
                    </a:p>
                  </a:txBody>
                  <a:tcPr marL="51784" marR="51784" marT="0" marB="0"/>
                </a:tc>
                <a:tc>
                  <a:txBody>
                    <a:bodyPr/>
                    <a:lstStyle/>
                    <a:p>
                      <a:pPr marL="0" marR="0" algn="r" defTabSz="914400" rtl="1" eaLnBrk="1" latinLnBrk="0" hangingPunct="1">
                        <a:lnSpc>
                          <a:spcPct val="115000"/>
                        </a:lnSpc>
                        <a:spcAft>
                          <a:spcPts val="1000"/>
                        </a:spcAft>
                      </a:pPr>
                      <a:r>
                        <a:rPr lang="ar-SA" sz="1200" kern="1200" noProof="0" dirty="0">
                          <a:solidFill>
                            <a:schemeClr val="dk1"/>
                          </a:solidFill>
                          <a:effectLst/>
                          <a:latin typeface="+mn-lt"/>
                          <a:ea typeface="+mn-ea"/>
                          <a:cs typeface="+mn-cs"/>
                        </a:rPr>
                        <a:t>تسريع حل المشاكل وتقليل وقت التوقف</a:t>
                      </a:r>
                    </a:p>
                  </a:txBody>
                  <a:tcPr marL="51784" marR="51784" marT="0" marB="0"/>
                </a:tc>
                <a:extLst>
                  <a:ext uri="{0D108BD9-81ED-4DB2-BD59-A6C34878D82A}">
                    <a16:rowId xmlns:a16="http://schemas.microsoft.com/office/drawing/2014/main" val="2120855294"/>
                  </a:ext>
                </a:extLst>
              </a:tr>
              <a:tr h="424339">
                <a:tc>
                  <a:txBody>
                    <a:bodyPr/>
                    <a:lstStyle/>
                    <a:p>
                      <a:pPr marL="0" marR="0" algn="ctr" rtl="0">
                        <a:lnSpc>
                          <a:spcPct val="115000"/>
                        </a:lnSpc>
                        <a:spcAft>
                          <a:spcPts val="1000"/>
                        </a:spcAft>
                      </a:pPr>
                      <a:r>
                        <a:rPr lang="ar-SA" sz="1200" noProof="0" dirty="0">
                          <a:effectLst/>
                        </a:rPr>
                        <a:t>GAP-T-7</a:t>
                      </a:r>
                      <a:endParaRPr lang="ar-SA" sz="1200" noProof="0" dirty="0">
                        <a:effectLst/>
                        <a:latin typeface="Cambria" panose="02040503050406030204" pitchFamily="18" charset="0"/>
                        <a:ea typeface="MS Mincho" panose="02020609040205080304" pitchFamily="49" charset="-128"/>
                        <a:cs typeface="Arial" panose="020B0604020202020204" pitchFamily="34" charset="0"/>
                      </a:endParaRPr>
                    </a:p>
                  </a:txBody>
                  <a:tcPr marL="51784" marR="51784" marT="0" marB="0"/>
                </a:tc>
                <a:tc>
                  <a:txBody>
                    <a:bodyPr/>
                    <a:lstStyle/>
                    <a:p>
                      <a:pPr marL="0" marR="0" algn="r" defTabSz="914400" rtl="1" eaLnBrk="1" latinLnBrk="0" hangingPunct="1">
                        <a:lnSpc>
                          <a:spcPct val="115000"/>
                        </a:lnSpc>
                        <a:spcAft>
                          <a:spcPts val="1000"/>
                        </a:spcAft>
                      </a:pPr>
                      <a:r>
                        <a:rPr lang="ar-SA" sz="1200" kern="1200" noProof="0" dirty="0">
                          <a:solidFill>
                            <a:schemeClr val="dk1"/>
                          </a:solidFill>
                          <a:effectLst/>
                          <a:latin typeface="+mn-lt"/>
                          <a:ea typeface="+mn-ea"/>
                          <a:cs typeface="+mn-cs"/>
                        </a:rPr>
                        <a:t>نقص الأدوات التلقائية لمراقبة اختناقات الأداء على مستوي ال LAN  ولكن يتوافر </a:t>
                      </a:r>
                      <a:r>
                        <a:rPr lang="ar-SA" sz="1200" kern="1200" noProof="0" dirty="0" err="1">
                          <a:solidFill>
                            <a:schemeClr val="dk1"/>
                          </a:solidFill>
                          <a:effectLst/>
                          <a:latin typeface="+mn-lt"/>
                          <a:ea typeface="+mn-ea"/>
                          <a:cs typeface="+mn-cs"/>
                        </a:rPr>
                        <a:t>thousand</a:t>
                      </a:r>
                      <a:r>
                        <a:rPr lang="ar-SA" sz="1200" kern="1200" noProof="0" dirty="0">
                          <a:solidFill>
                            <a:schemeClr val="dk1"/>
                          </a:solidFill>
                          <a:effectLst/>
                          <a:latin typeface="+mn-lt"/>
                          <a:ea typeface="+mn-ea"/>
                          <a:cs typeface="+mn-cs"/>
                        </a:rPr>
                        <a:t> </a:t>
                      </a:r>
                      <a:r>
                        <a:rPr lang="ar-SA" sz="1200" kern="1200" noProof="0" dirty="0" err="1">
                          <a:solidFill>
                            <a:schemeClr val="dk1"/>
                          </a:solidFill>
                          <a:effectLst/>
                          <a:latin typeface="+mn-lt"/>
                          <a:ea typeface="+mn-ea"/>
                          <a:cs typeface="+mn-cs"/>
                        </a:rPr>
                        <a:t>eyes</a:t>
                      </a:r>
                      <a:r>
                        <a:rPr lang="ar-SA" sz="1200" kern="1200" noProof="0" dirty="0">
                          <a:solidFill>
                            <a:schemeClr val="dk1"/>
                          </a:solidFill>
                          <a:effectLst/>
                          <a:latin typeface="+mn-lt"/>
                          <a:ea typeface="+mn-ea"/>
                          <a:cs typeface="+mn-cs"/>
                        </a:rPr>
                        <a:t> على مستوي ال WAN</a:t>
                      </a:r>
                    </a:p>
                  </a:txBody>
                  <a:tcPr marL="51784" marR="51784" marT="0" marB="0"/>
                </a:tc>
                <a:tc>
                  <a:txBody>
                    <a:bodyPr/>
                    <a:lstStyle/>
                    <a:p>
                      <a:pPr marL="0" marR="0" algn="r" defTabSz="914400" rtl="1" eaLnBrk="1" latinLnBrk="0" hangingPunct="1">
                        <a:lnSpc>
                          <a:spcPct val="115000"/>
                        </a:lnSpc>
                        <a:spcAft>
                          <a:spcPts val="1000"/>
                        </a:spcAft>
                      </a:pPr>
                      <a:r>
                        <a:rPr lang="ar-SA" sz="1200" kern="1200" noProof="0" dirty="0">
                          <a:solidFill>
                            <a:schemeClr val="dk1"/>
                          </a:solidFill>
                          <a:effectLst/>
                          <a:latin typeface="+mn-lt"/>
                          <a:ea typeface="+mn-ea"/>
                          <a:cs typeface="+mn-cs"/>
                        </a:rPr>
                        <a:t>متوسطة</a:t>
                      </a:r>
                    </a:p>
                  </a:txBody>
                  <a:tcPr marL="51784" marR="51784" marT="0" marB="0"/>
                </a:tc>
                <a:tc>
                  <a:txBody>
                    <a:bodyPr/>
                    <a:lstStyle/>
                    <a:p>
                      <a:pPr marL="0" marR="0" algn="r" defTabSz="914400" rtl="1" eaLnBrk="1" latinLnBrk="0" hangingPunct="1">
                        <a:lnSpc>
                          <a:spcPct val="115000"/>
                        </a:lnSpc>
                        <a:spcAft>
                          <a:spcPts val="1000"/>
                        </a:spcAft>
                      </a:pPr>
                      <a:r>
                        <a:rPr lang="ar-SA" sz="1200" kern="1200" noProof="0" dirty="0">
                          <a:solidFill>
                            <a:schemeClr val="dk1"/>
                          </a:solidFill>
                          <a:effectLst/>
                          <a:latin typeface="+mn-lt"/>
                          <a:ea typeface="+mn-ea"/>
                          <a:cs typeface="+mn-cs"/>
                        </a:rPr>
                        <a:t>إدخال أدوات تحليل الأداء لاكتشاف الاختناقات</a:t>
                      </a:r>
                    </a:p>
                  </a:txBody>
                  <a:tcPr marL="51784" marR="51784" marT="0" marB="0"/>
                </a:tc>
                <a:tc>
                  <a:txBody>
                    <a:bodyPr/>
                    <a:lstStyle/>
                    <a:p>
                      <a:pPr marL="0" marR="0" algn="r" defTabSz="914400" rtl="1" eaLnBrk="1" latinLnBrk="0" hangingPunct="1">
                        <a:lnSpc>
                          <a:spcPct val="115000"/>
                        </a:lnSpc>
                        <a:spcAft>
                          <a:spcPts val="1000"/>
                        </a:spcAft>
                      </a:pPr>
                      <a:r>
                        <a:rPr lang="ar-SA" sz="1200" kern="1200" noProof="0" dirty="0">
                          <a:solidFill>
                            <a:schemeClr val="dk1"/>
                          </a:solidFill>
                          <a:effectLst/>
                          <a:latin typeface="+mn-lt"/>
                          <a:ea typeface="+mn-ea"/>
                          <a:cs typeface="+mn-cs"/>
                        </a:rPr>
                        <a:t>تحسين أداء الشبكة وتوفير تجربة أفضل للمستخدم</a:t>
                      </a:r>
                    </a:p>
                  </a:txBody>
                  <a:tcPr marL="51784" marR="51784" marT="0" marB="0"/>
                </a:tc>
                <a:extLst>
                  <a:ext uri="{0D108BD9-81ED-4DB2-BD59-A6C34878D82A}">
                    <a16:rowId xmlns:a16="http://schemas.microsoft.com/office/drawing/2014/main" val="4241376576"/>
                  </a:ext>
                </a:extLst>
              </a:tr>
              <a:tr h="424339">
                <a:tc>
                  <a:txBody>
                    <a:bodyPr/>
                    <a:lstStyle/>
                    <a:p>
                      <a:pPr marL="0" marR="0" algn="ctr" rtl="0">
                        <a:lnSpc>
                          <a:spcPct val="115000"/>
                        </a:lnSpc>
                        <a:spcAft>
                          <a:spcPts val="1000"/>
                        </a:spcAft>
                      </a:pPr>
                      <a:r>
                        <a:rPr lang="ar-SA" sz="1200" noProof="0" dirty="0">
                          <a:effectLst/>
                        </a:rPr>
                        <a:t>GAP-T-8</a:t>
                      </a:r>
                      <a:endParaRPr lang="ar-SA" sz="1200" noProof="0" dirty="0">
                        <a:effectLst/>
                        <a:latin typeface="Cambria" panose="02040503050406030204" pitchFamily="18" charset="0"/>
                        <a:ea typeface="MS Mincho" panose="02020609040205080304" pitchFamily="49" charset="-128"/>
                        <a:cs typeface="Arial" panose="020B0604020202020204" pitchFamily="34" charset="0"/>
                      </a:endParaRPr>
                    </a:p>
                  </a:txBody>
                  <a:tcPr marL="51784" marR="51784" marT="0" marB="0"/>
                </a:tc>
                <a:tc>
                  <a:txBody>
                    <a:bodyPr/>
                    <a:lstStyle/>
                    <a:p>
                      <a:pPr marL="0" marR="0" algn="r" defTabSz="914400" rtl="1" eaLnBrk="1" latinLnBrk="0" hangingPunct="1">
                        <a:lnSpc>
                          <a:spcPct val="115000"/>
                        </a:lnSpc>
                        <a:spcAft>
                          <a:spcPts val="1000"/>
                        </a:spcAft>
                      </a:pPr>
                      <a:r>
                        <a:rPr lang="ar-SA" sz="1200" kern="1200" noProof="0" dirty="0">
                          <a:solidFill>
                            <a:schemeClr val="dk1"/>
                          </a:solidFill>
                          <a:effectLst/>
                          <a:latin typeface="+mn-lt"/>
                          <a:ea typeface="+mn-ea"/>
                          <a:cs typeface="+mn-cs"/>
                        </a:rPr>
                        <a:t>عدم وجود أهداف موثقة لمؤشرات RTO/RPO</a:t>
                      </a:r>
                    </a:p>
                  </a:txBody>
                  <a:tcPr marL="51784" marR="51784" marT="0" marB="0"/>
                </a:tc>
                <a:tc>
                  <a:txBody>
                    <a:bodyPr/>
                    <a:lstStyle/>
                    <a:p>
                      <a:pPr marL="0" marR="0" algn="r" defTabSz="914400" rtl="1" eaLnBrk="1" latinLnBrk="0" hangingPunct="1">
                        <a:lnSpc>
                          <a:spcPct val="115000"/>
                        </a:lnSpc>
                        <a:spcAft>
                          <a:spcPts val="1000"/>
                        </a:spcAft>
                      </a:pPr>
                      <a:r>
                        <a:rPr lang="ar-SA" sz="1200" kern="1200" noProof="0" dirty="0">
                          <a:solidFill>
                            <a:schemeClr val="dk1"/>
                          </a:solidFill>
                          <a:effectLst/>
                          <a:latin typeface="+mn-lt"/>
                          <a:ea typeface="+mn-ea"/>
                          <a:cs typeface="+mn-cs"/>
                        </a:rPr>
                        <a:t>عالية</a:t>
                      </a:r>
                    </a:p>
                  </a:txBody>
                  <a:tcPr marL="51784" marR="51784" marT="0" marB="0"/>
                </a:tc>
                <a:tc>
                  <a:txBody>
                    <a:bodyPr/>
                    <a:lstStyle/>
                    <a:p>
                      <a:pPr marL="0" marR="0" algn="r" defTabSz="914400" rtl="1" eaLnBrk="1" latinLnBrk="0" hangingPunct="1">
                        <a:lnSpc>
                          <a:spcPct val="115000"/>
                        </a:lnSpc>
                        <a:spcAft>
                          <a:spcPts val="1000"/>
                        </a:spcAft>
                      </a:pPr>
                      <a:r>
                        <a:rPr lang="ar-SA" sz="1200" kern="1200" noProof="0" dirty="0">
                          <a:solidFill>
                            <a:schemeClr val="dk1"/>
                          </a:solidFill>
                          <a:effectLst/>
                          <a:latin typeface="+mn-lt"/>
                          <a:ea typeface="+mn-ea"/>
                          <a:cs typeface="+mn-cs"/>
                        </a:rPr>
                        <a:t>تحديد وتوثيق أهداف RTO/RPO</a:t>
                      </a:r>
                    </a:p>
                  </a:txBody>
                  <a:tcPr marL="51784" marR="51784" marT="0" marB="0"/>
                </a:tc>
                <a:tc>
                  <a:txBody>
                    <a:bodyPr/>
                    <a:lstStyle/>
                    <a:p>
                      <a:pPr marL="0" marR="0" algn="r" defTabSz="914400" rtl="1" eaLnBrk="1" latinLnBrk="0" hangingPunct="1">
                        <a:lnSpc>
                          <a:spcPct val="115000"/>
                        </a:lnSpc>
                        <a:spcAft>
                          <a:spcPts val="1000"/>
                        </a:spcAft>
                      </a:pPr>
                      <a:r>
                        <a:rPr lang="ar-SA" sz="1200" kern="1200" noProof="0" dirty="0">
                          <a:solidFill>
                            <a:schemeClr val="dk1"/>
                          </a:solidFill>
                          <a:effectLst/>
                          <a:latin typeface="+mn-lt"/>
                          <a:ea typeface="+mn-ea"/>
                          <a:cs typeface="+mn-cs"/>
                        </a:rPr>
                        <a:t>تحسين استمرارية الأعمال والتخطيط لاستعادة الخدمة</a:t>
                      </a:r>
                    </a:p>
                  </a:txBody>
                  <a:tcPr marL="51784" marR="51784" marT="0" marB="0"/>
                </a:tc>
                <a:extLst>
                  <a:ext uri="{0D108BD9-81ED-4DB2-BD59-A6C34878D82A}">
                    <a16:rowId xmlns:a16="http://schemas.microsoft.com/office/drawing/2014/main" val="1053933986"/>
                  </a:ext>
                </a:extLst>
              </a:tr>
              <a:tr h="569909">
                <a:tc>
                  <a:txBody>
                    <a:bodyPr/>
                    <a:lstStyle/>
                    <a:p>
                      <a:pPr marL="0" marR="0" algn="ctr" rtl="0">
                        <a:lnSpc>
                          <a:spcPct val="115000"/>
                        </a:lnSpc>
                        <a:spcAft>
                          <a:spcPts val="1000"/>
                        </a:spcAft>
                      </a:pPr>
                      <a:r>
                        <a:rPr lang="ar-SA" sz="1200" noProof="0" dirty="0">
                          <a:effectLst/>
                        </a:rPr>
                        <a:t>GAP-T-9</a:t>
                      </a:r>
                      <a:endParaRPr lang="ar-SA" sz="1200" noProof="0" dirty="0">
                        <a:effectLst/>
                        <a:latin typeface="Cambria" panose="02040503050406030204" pitchFamily="18" charset="0"/>
                        <a:ea typeface="MS Mincho" panose="02020609040205080304" pitchFamily="49" charset="-128"/>
                        <a:cs typeface="Arial" panose="020B0604020202020204" pitchFamily="34" charset="0"/>
                      </a:endParaRPr>
                    </a:p>
                  </a:txBody>
                  <a:tcPr marL="51784" marR="51784" marT="0" marB="0"/>
                </a:tc>
                <a:tc>
                  <a:txBody>
                    <a:bodyPr/>
                    <a:lstStyle/>
                    <a:p>
                      <a:pPr marL="0" marR="0" algn="r" defTabSz="914400" rtl="1" eaLnBrk="1" latinLnBrk="0" hangingPunct="1">
                        <a:lnSpc>
                          <a:spcPct val="115000"/>
                        </a:lnSpc>
                        <a:spcAft>
                          <a:spcPts val="1000"/>
                        </a:spcAft>
                      </a:pPr>
                      <a:r>
                        <a:rPr lang="ar-SA" sz="1200" kern="1200" noProof="0" dirty="0">
                          <a:solidFill>
                            <a:schemeClr val="dk1"/>
                          </a:solidFill>
                          <a:effectLst/>
                          <a:latin typeface="+mn-lt"/>
                          <a:ea typeface="+mn-ea"/>
                          <a:cs typeface="+mn-cs"/>
                        </a:rPr>
                        <a:t>نقص الأدوات المخصصة لتحليل وتحسين الامتثال لاتفاقيات </a:t>
                      </a:r>
                      <a:r>
                        <a:rPr lang="ar-SA" sz="1200" kern="1200" noProof="0" dirty="0" err="1">
                          <a:solidFill>
                            <a:schemeClr val="dk1"/>
                          </a:solidFill>
                          <a:effectLst/>
                          <a:latin typeface="+mn-lt"/>
                          <a:ea typeface="+mn-ea"/>
                          <a:cs typeface="+mn-cs"/>
                        </a:rPr>
                        <a:t>SLAs</a:t>
                      </a:r>
                      <a:endParaRPr lang="ar-SA" sz="1200" kern="1200" noProof="0" dirty="0">
                        <a:solidFill>
                          <a:schemeClr val="dk1"/>
                        </a:solidFill>
                        <a:effectLst/>
                        <a:latin typeface="+mn-lt"/>
                        <a:ea typeface="+mn-ea"/>
                        <a:cs typeface="+mn-cs"/>
                      </a:endParaRPr>
                    </a:p>
                  </a:txBody>
                  <a:tcPr marL="51784" marR="51784" marT="0" marB="0"/>
                </a:tc>
                <a:tc>
                  <a:txBody>
                    <a:bodyPr/>
                    <a:lstStyle/>
                    <a:p>
                      <a:pPr marL="0" marR="0" algn="r" defTabSz="914400" rtl="1" eaLnBrk="1" latinLnBrk="0" hangingPunct="1">
                        <a:lnSpc>
                          <a:spcPct val="115000"/>
                        </a:lnSpc>
                        <a:spcAft>
                          <a:spcPts val="1000"/>
                        </a:spcAft>
                      </a:pPr>
                      <a:r>
                        <a:rPr lang="ar-SA" sz="1200" kern="1200" noProof="0" dirty="0">
                          <a:solidFill>
                            <a:schemeClr val="dk1"/>
                          </a:solidFill>
                          <a:effectLst/>
                          <a:latin typeface="+mn-lt"/>
                          <a:ea typeface="+mn-ea"/>
                          <a:cs typeface="+mn-cs"/>
                        </a:rPr>
                        <a:t>متوسطة</a:t>
                      </a:r>
                    </a:p>
                  </a:txBody>
                  <a:tcPr marL="51784" marR="51784" marT="0" marB="0"/>
                </a:tc>
                <a:tc>
                  <a:txBody>
                    <a:bodyPr/>
                    <a:lstStyle/>
                    <a:p>
                      <a:pPr marL="0" marR="0" algn="r" defTabSz="914400" rtl="1" eaLnBrk="1" latinLnBrk="0" hangingPunct="1">
                        <a:lnSpc>
                          <a:spcPct val="115000"/>
                        </a:lnSpc>
                        <a:spcAft>
                          <a:spcPts val="1000"/>
                        </a:spcAft>
                      </a:pPr>
                      <a:r>
                        <a:rPr lang="ar-SA" sz="1200" kern="1200" noProof="0" dirty="0">
                          <a:solidFill>
                            <a:schemeClr val="dk1"/>
                          </a:solidFill>
                          <a:effectLst/>
                          <a:latin typeface="+mn-lt"/>
                          <a:ea typeface="+mn-ea"/>
                          <a:cs typeface="+mn-cs"/>
                        </a:rPr>
                        <a:t>تطبيق أدوات تحليل لتحسين التوافق مع </a:t>
                      </a:r>
                      <a:r>
                        <a:rPr lang="ar-SA" sz="1200" kern="1200" noProof="0" dirty="0" err="1">
                          <a:solidFill>
                            <a:schemeClr val="dk1"/>
                          </a:solidFill>
                          <a:effectLst/>
                          <a:latin typeface="+mn-lt"/>
                          <a:ea typeface="+mn-ea"/>
                          <a:cs typeface="+mn-cs"/>
                        </a:rPr>
                        <a:t>SLAs</a:t>
                      </a:r>
                      <a:endParaRPr lang="ar-SA" sz="1200" kern="1200" noProof="0" dirty="0">
                        <a:solidFill>
                          <a:schemeClr val="dk1"/>
                        </a:solidFill>
                        <a:effectLst/>
                        <a:latin typeface="+mn-lt"/>
                        <a:ea typeface="+mn-ea"/>
                        <a:cs typeface="+mn-cs"/>
                      </a:endParaRPr>
                    </a:p>
                  </a:txBody>
                  <a:tcPr marL="51784" marR="51784" marT="0" marB="0"/>
                </a:tc>
                <a:tc>
                  <a:txBody>
                    <a:bodyPr/>
                    <a:lstStyle/>
                    <a:p>
                      <a:pPr marL="0" marR="0" algn="r" defTabSz="914400" rtl="1" eaLnBrk="1" latinLnBrk="0" hangingPunct="1">
                        <a:lnSpc>
                          <a:spcPct val="115000"/>
                        </a:lnSpc>
                        <a:spcAft>
                          <a:spcPts val="1000"/>
                        </a:spcAft>
                      </a:pPr>
                      <a:r>
                        <a:rPr lang="ar-SA" sz="1200" kern="1200" noProof="0" dirty="0">
                          <a:solidFill>
                            <a:schemeClr val="dk1"/>
                          </a:solidFill>
                          <a:effectLst/>
                          <a:latin typeface="+mn-lt"/>
                          <a:ea typeface="+mn-ea"/>
                          <a:cs typeface="+mn-cs"/>
                        </a:rPr>
                        <a:t>تحسين الالتزام بالاتفاقيات وتعزيز ثقة المستخدمين</a:t>
                      </a:r>
                    </a:p>
                  </a:txBody>
                  <a:tcPr marL="51784" marR="51784" marT="0" marB="0"/>
                </a:tc>
                <a:extLst>
                  <a:ext uri="{0D108BD9-81ED-4DB2-BD59-A6C34878D82A}">
                    <a16:rowId xmlns:a16="http://schemas.microsoft.com/office/drawing/2014/main" val="3731281081"/>
                  </a:ext>
                </a:extLst>
              </a:tr>
            </a:tbl>
          </a:graphicData>
        </a:graphic>
      </p:graphicFrame>
    </p:spTree>
    <p:extLst>
      <p:ext uri="{BB962C8B-B14F-4D97-AF65-F5344CB8AC3E}">
        <p14:creationId xmlns:p14="http://schemas.microsoft.com/office/powerpoint/2010/main" val="3519937120"/>
      </p:ext>
    </p:extLst>
  </p:cSld>
  <p:clrMapOvr>
    <a:masterClrMapping/>
  </p:clrMapOvr>
  <mc:AlternateContent xmlns:mc="http://schemas.openxmlformats.org/markup-compatibility/2006" xmlns:p14="http://schemas.microsoft.com/office/powerpoint/2010/main">
    <mc:Choice Requires="p14">
      <p:transition spd="slow" p14:dur="1300">
        <p14:pan dir="r"/>
      </p:transition>
    </mc:Choice>
    <mc:Fallback xmlns="">
      <p:transition spd="slow">
        <p:fade/>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6E3671-2859-90F7-C8B9-3D3037D406F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89ECC90-70AC-EEC8-E852-FA2422A4098B}"/>
              </a:ext>
            </a:extLst>
          </p:cNvPr>
          <p:cNvSpPr>
            <a:spLocks noGrp="1"/>
          </p:cNvSpPr>
          <p:nvPr>
            <p:ph type="title"/>
          </p:nvPr>
        </p:nvSpPr>
        <p:spPr/>
        <p:txBody>
          <a:bodyPr/>
          <a:lstStyle/>
          <a:p>
            <a:r>
              <a:rPr lang="ar-SA" noProof="0" dirty="0"/>
              <a:t>ملخص تحليل الفجوات لبنية التقنية</a:t>
            </a:r>
          </a:p>
        </p:txBody>
      </p:sp>
      <p:sp>
        <p:nvSpPr>
          <p:cNvPr id="3" name="Slide Number Placeholder 2">
            <a:extLst>
              <a:ext uri="{FF2B5EF4-FFF2-40B4-BE49-F238E27FC236}">
                <a16:creationId xmlns:a16="http://schemas.microsoft.com/office/drawing/2014/main" id="{CCB57065-E557-405D-22A7-8DAAB9FD8804}"/>
              </a:ext>
            </a:extLst>
          </p:cNvPr>
          <p:cNvSpPr>
            <a:spLocks noGrp="1"/>
          </p:cNvSpPr>
          <p:nvPr>
            <p:ph type="sldNum" sz="quarter" idx="12"/>
          </p:nvPr>
        </p:nvSpPr>
        <p:spPr/>
        <p:txBody>
          <a:bodyPr/>
          <a:lstStyle/>
          <a:p>
            <a:fld id="{0BE4EC83-A869-464E-AE9F-881796FB085E}" type="slidenum">
              <a:rPr lang="ar-SA" noProof="0" smtClean="0"/>
              <a:t>40</a:t>
            </a:fld>
            <a:endParaRPr lang="ar-SA" noProof="0" dirty="0"/>
          </a:p>
        </p:txBody>
      </p:sp>
      <p:graphicFrame>
        <p:nvGraphicFramePr>
          <p:cNvPr id="5" name="Table 4">
            <a:extLst>
              <a:ext uri="{FF2B5EF4-FFF2-40B4-BE49-F238E27FC236}">
                <a16:creationId xmlns:a16="http://schemas.microsoft.com/office/drawing/2014/main" id="{E1DCAAFE-EAEB-1F1F-06E4-DDA51BAE6976}"/>
              </a:ext>
            </a:extLst>
          </p:cNvPr>
          <p:cNvGraphicFramePr>
            <a:graphicFrameLocks noGrp="1"/>
          </p:cNvGraphicFramePr>
          <p:nvPr>
            <p:extLst>
              <p:ext uri="{D42A27DB-BD31-4B8C-83A1-F6EECF244321}">
                <p14:modId xmlns:p14="http://schemas.microsoft.com/office/powerpoint/2010/main" val="12811198"/>
              </p:ext>
            </p:extLst>
          </p:nvPr>
        </p:nvGraphicFramePr>
        <p:xfrm>
          <a:off x="1405371" y="1169575"/>
          <a:ext cx="9877170" cy="4745949"/>
        </p:xfrm>
        <a:graphic>
          <a:graphicData uri="http://schemas.openxmlformats.org/drawingml/2006/table">
            <a:tbl>
              <a:tblPr rtl="1" firstRow="1" firstCol="1" bandRow="1">
                <a:tableStyleId>{5C22544A-7EE6-4342-B048-85BDC9FD1C3A}</a:tableStyleId>
              </a:tblPr>
              <a:tblGrid>
                <a:gridCol w="968768">
                  <a:extLst>
                    <a:ext uri="{9D8B030D-6E8A-4147-A177-3AD203B41FA5}">
                      <a16:colId xmlns:a16="http://schemas.microsoft.com/office/drawing/2014/main" val="1507829404"/>
                    </a:ext>
                  </a:extLst>
                </a:gridCol>
                <a:gridCol w="3501081">
                  <a:extLst>
                    <a:ext uri="{9D8B030D-6E8A-4147-A177-3AD203B41FA5}">
                      <a16:colId xmlns:a16="http://schemas.microsoft.com/office/drawing/2014/main" val="1616686432"/>
                    </a:ext>
                  </a:extLst>
                </a:gridCol>
                <a:gridCol w="1456453">
                  <a:extLst>
                    <a:ext uri="{9D8B030D-6E8A-4147-A177-3AD203B41FA5}">
                      <a16:colId xmlns:a16="http://schemas.microsoft.com/office/drawing/2014/main" val="3144398232"/>
                    </a:ext>
                  </a:extLst>
                </a:gridCol>
                <a:gridCol w="1975434">
                  <a:extLst>
                    <a:ext uri="{9D8B030D-6E8A-4147-A177-3AD203B41FA5}">
                      <a16:colId xmlns:a16="http://schemas.microsoft.com/office/drawing/2014/main" val="1079806587"/>
                    </a:ext>
                  </a:extLst>
                </a:gridCol>
                <a:gridCol w="1975434">
                  <a:extLst>
                    <a:ext uri="{9D8B030D-6E8A-4147-A177-3AD203B41FA5}">
                      <a16:colId xmlns:a16="http://schemas.microsoft.com/office/drawing/2014/main" val="382664363"/>
                    </a:ext>
                  </a:extLst>
                </a:gridCol>
              </a:tblGrid>
              <a:tr h="136990">
                <a:tc>
                  <a:txBody>
                    <a:bodyPr/>
                    <a:lstStyle/>
                    <a:p>
                      <a:pPr marL="0" marR="0" algn="r" rtl="1">
                        <a:lnSpc>
                          <a:spcPct val="115000"/>
                        </a:lnSpc>
                        <a:spcAft>
                          <a:spcPts val="1000"/>
                        </a:spcAft>
                      </a:pPr>
                      <a:r>
                        <a:rPr lang="ar-SA" sz="1200" noProof="0" dirty="0">
                          <a:effectLst/>
                        </a:rPr>
                        <a:t>رمز الفجوة</a:t>
                      </a:r>
                      <a:endParaRPr lang="ar-SA" sz="1200" noProof="0" dirty="0">
                        <a:effectLst/>
                        <a:latin typeface="Cambria" panose="02040503050406030204" pitchFamily="18" charset="0"/>
                        <a:ea typeface="MS Mincho" panose="02020609040205080304" pitchFamily="49" charset="-128"/>
                        <a:cs typeface="Arial" panose="020B0604020202020204" pitchFamily="34" charset="0"/>
                      </a:endParaRPr>
                    </a:p>
                  </a:txBody>
                  <a:tcPr marL="53258" marR="53258" marT="0" marB="0"/>
                </a:tc>
                <a:tc>
                  <a:txBody>
                    <a:bodyPr/>
                    <a:lstStyle/>
                    <a:p>
                      <a:pPr marL="0" marR="0" algn="r" rtl="1">
                        <a:lnSpc>
                          <a:spcPct val="115000"/>
                        </a:lnSpc>
                        <a:spcAft>
                          <a:spcPts val="1000"/>
                        </a:spcAft>
                      </a:pPr>
                      <a:r>
                        <a:rPr lang="ar-SA" sz="1200" noProof="0" dirty="0">
                          <a:effectLst/>
                        </a:rPr>
                        <a:t>الفجوة</a:t>
                      </a:r>
                      <a:endParaRPr lang="ar-SA" sz="1200" noProof="0" dirty="0">
                        <a:effectLst/>
                        <a:latin typeface="Cambria" panose="02040503050406030204" pitchFamily="18" charset="0"/>
                        <a:ea typeface="MS Mincho" panose="02020609040205080304" pitchFamily="49" charset="-128"/>
                        <a:cs typeface="Arial" panose="020B0604020202020204" pitchFamily="34" charset="0"/>
                      </a:endParaRPr>
                    </a:p>
                  </a:txBody>
                  <a:tcPr marL="53258" marR="53258" marT="0" marB="0"/>
                </a:tc>
                <a:tc>
                  <a:txBody>
                    <a:bodyPr/>
                    <a:lstStyle/>
                    <a:p>
                      <a:pPr marL="0" marR="0" algn="r" rtl="1">
                        <a:lnSpc>
                          <a:spcPct val="115000"/>
                        </a:lnSpc>
                        <a:spcAft>
                          <a:spcPts val="1000"/>
                        </a:spcAft>
                      </a:pPr>
                      <a:r>
                        <a:rPr lang="ar-SA" sz="1200" noProof="0" dirty="0">
                          <a:effectLst/>
                        </a:rPr>
                        <a:t>حرجية الفجوة</a:t>
                      </a:r>
                      <a:endParaRPr lang="ar-SA" sz="1200" noProof="0" dirty="0">
                        <a:effectLst/>
                        <a:latin typeface="Cambria" panose="02040503050406030204" pitchFamily="18" charset="0"/>
                        <a:ea typeface="MS Mincho" panose="02020609040205080304" pitchFamily="49" charset="-128"/>
                        <a:cs typeface="Arial" panose="020B0604020202020204" pitchFamily="34" charset="0"/>
                      </a:endParaRPr>
                    </a:p>
                  </a:txBody>
                  <a:tcPr marL="53258" marR="53258" marT="0" marB="0"/>
                </a:tc>
                <a:tc>
                  <a:txBody>
                    <a:bodyPr/>
                    <a:lstStyle/>
                    <a:p>
                      <a:pPr marL="0" marR="0" algn="r" rtl="1">
                        <a:lnSpc>
                          <a:spcPct val="115000"/>
                        </a:lnSpc>
                        <a:spcAft>
                          <a:spcPts val="1000"/>
                        </a:spcAft>
                      </a:pPr>
                      <a:r>
                        <a:rPr lang="ar-SA" sz="1200" noProof="0" dirty="0">
                          <a:effectLst/>
                        </a:rPr>
                        <a:t>الحل المقترح</a:t>
                      </a:r>
                      <a:endParaRPr lang="ar-SA" sz="1200" noProof="0" dirty="0">
                        <a:effectLst/>
                        <a:latin typeface="Cambria" panose="02040503050406030204" pitchFamily="18" charset="0"/>
                        <a:ea typeface="MS Mincho" panose="02020609040205080304" pitchFamily="49" charset="-128"/>
                        <a:cs typeface="Arial" panose="020B0604020202020204" pitchFamily="34" charset="0"/>
                      </a:endParaRPr>
                    </a:p>
                  </a:txBody>
                  <a:tcPr marL="53258" marR="53258" marT="0" marB="0"/>
                </a:tc>
                <a:tc>
                  <a:txBody>
                    <a:bodyPr/>
                    <a:lstStyle/>
                    <a:p>
                      <a:pPr marL="0" marR="0" algn="r" rtl="1">
                        <a:lnSpc>
                          <a:spcPct val="115000"/>
                        </a:lnSpc>
                        <a:spcAft>
                          <a:spcPts val="1000"/>
                        </a:spcAft>
                      </a:pPr>
                      <a:r>
                        <a:rPr lang="ar-SA" sz="1200" noProof="0" dirty="0">
                          <a:effectLst/>
                        </a:rPr>
                        <a:t>الأثر بعد الحل</a:t>
                      </a:r>
                      <a:endParaRPr lang="ar-SA" sz="1200" noProof="0" dirty="0">
                        <a:effectLst/>
                        <a:latin typeface="Cambria" panose="02040503050406030204" pitchFamily="18" charset="0"/>
                        <a:ea typeface="MS Mincho" panose="02020609040205080304" pitchFamily="49" charset="-128"/>
                        <a:cs typeface="Arial" panose="020B0604020202020204" pitchFamily="34" charset="0"/>
                      </a:endParaRPr>
                    </a:p>
                  </a:txBody>
                  <a:tcPr marL="53258" marR="53258" marT="0" marB="0"/>
                </a:tc>
                <a:extLst>
                  <a:ext uri="{0D108BD9-81ED-4DB2-BD59-A6C34878D82A}">
                    <a16:rowId xmlns:a16="http://schemas.microsoft.com/office/drawing/2014/main" val="2437098971"/>
                  </a:ext>
                </a:extLst>
              </a:tr>
              <a:tr h="286703">
                <a:tc>
                  <a:txBody>
                    <a:bodyPr/>
                    <a:lstStyle/>
                    <a:p>
                      <a:pPr marL="0" marR="0" algn="ctr" rtl="0">
                        <a:lnSpc>
                          <a:spcPct val="115000"/>
                        </a:lnSpc>
                        <a:spcAft>
                          <a:spcPts val="1000"/>
                        </a:spcAft>
                      </a:pPr>
                      <a:r>
                        <a:rPr lang="ar-SA" sz="1200" noProof="0" dirty="0">
                          <a:effectLst/>
                        </a:rPr>
                        <a:t>GAP-T10</a:t>
                      </a:r>
                      <a:endParaRPr lang="ar-SA" sz="1200" noProof="0" dirty="0">
                        <a:effectLst/>
                        <a:latin typeface="Cambria" panose="02040503050406030204" pitchFamily="18" charset="0"/>
                        <a:ea typeface="MS Mincho" panose="02020609040205080304" pitchFamily="49" charset="-128"/>
                        <a:cs typeface="Arial" panose="020B0604020202020204" pitchFamily="34" charset="0"/>
                      </a:endParaRPr>
                    </a:p>
                  </a:txBody>
                  <a:tcPr marL="53258" marR="53258" marT="0" marB="0"/>
                </a:tc>
                <a:tc>
                  <a:txBody>
                    <a:bodyPr/>
                    <a:lstStyle/>
                    <a:p>
                      <a:pPr marL="0" marR="0" algn="r" rtl="1">
                        <a:lnSpc>
                          <a:spcPct val="115000"/>
                        </a:lnSpc>
                        <a:spcAft>
                          <a:spcPts val="1000"/>
                        </a:spcAft>
                      </a:pPr>
                      <a:r>
                        <a:rPr lang="ar-SA" sz="1200" noProof="0" dirty="0">
                          <a:effectLst/>
                        </a:rPr>
                        <a:t>تنوع أنظمة التشغيل</a:t>
                      </a:r>
                      <a:endParaRPr lang="ar-SA" sz="1200" noProof="0" dirty="0">
                        <a:effectLst/>
                        <a:latin typeface="Cambria" panose="02040503050406030204" pitchFamily="18" charset="0"/>
                        <a:ea typeface="MS Mincho" panose="02020609040205080304" pitchFamily="49" charset="-128"/>
                        <a:cs typeface="Arial" panose="020B0604020202020204" pitchFamily="34" charset="0"/>
                      </a:endParaRPr>
                    </a:p>
                  </a:txBody>
                  <a:tcPr marL="53258" marR="53258" marT="0" marB="0"/>
                </a:tc>
                <a:tc>
                  <a:txBody>
                    <a:bodyPr/>
                    <a:lstStyle/>
                    <a:p>
                      <a:pPr marL="0" marR="0" algn="r" rtl="1">
                        <a:lnSpc>
                          <a:spcPct val="115000"/>
                        </a:lnSpc>
                        <a:spcAft>
                          <a:spcPts val="1000"/>
                        </a:spcAft>
                      </a:pPr>
                      <a:r>
                        <a:rPr lang="ar-SA" sz="1200" noProof="0" dirty="0">
                          <a:effectLst/>
                        </a:rPr>
                        <a:t>متوسطة</a:t>
                      </a:r>
                      <a:endParaRPr lang="ar-SA" sz="1200" noProof="0" dirty="0">
                        <a:effectLst/>
                        <a:latin typeface="Cambria" panose="02040503050406030204" pitchFamily="18" charset="0"/>
                        <a:ea typeface="MS Mincho" panose="02020609040205080304" pitchFamily="49" charset="-128"/>
                        <a:cs typeface="Arial" panose="020B0604020202020204" pitchFamily="34" charset="0"/>
                      </a:endParaRPr>
                    </a:p>
                  </a:txBody>
                  <a:tcPr marL="53258" marR="53258" marT="0" marB="0"/>
                </a:tc>
                <a:tc>
                  <a:txBody>
                    <a:bodyPr/>
                    <a:lstStyle/>
                    <a:p>
                      <a:pPr marL="0" marR="0" algn="r" rtl="1">
                        <a:lnSpc>
                          <a:spcPct val="115000"/>
                        </a:lnSpc>
                        <a:spcAft>
                          <a:spcPts val="1000"/>
                        </a:spcAft>
                      </a:pPr>
                      <a:r>
                        <a:rPr lang="ar-SA" sz="1200" noProof="0" dirty="0">
                          <a:effectLst/>
                        </a:rPr>
                        <a:t>توحيد بيئة التشغيل لأنظمة الخوادم</a:t>
                      </a:r>
                      <a:endParaRPr lang="ar-SA" sz="1200" noProof="0" dirty="0">
                        <a:effectLst/>
                        <a:latin typeface="Cambria" panose="02040503050406030204" pitchFamily="18" charset="0"/>
                        <a:ea typeface="MS Mincho" panose="02020609040205080304" pitchFamily="49" charset="-128"/>
                        <a:cs typeface="Arial" panose="020B0604020202020204" pitchFamily="34" charset="0"/>
                      </a:endParaRPr>
                    </a:p>
                  </a:txBody>
                  <a:tcPr marL="53258" marR="53258" marT="0" marB="0"/>
                </a:tc>
                <a:tc>
                  <a:txBody>
                    <a:bodyPr/>
                    <a:lstStyle/>
                    <a:p>
                      <a:pPr marL="0" marR="0" algn="r" rtl="1">
                        <a:lnSpc>
                          <a:spcPct val="115000"/>
                        </a:lnSpc>
                        <a:spcAft>
                          <a:spcPts val="1000"/>
                        </a:spcAft>
                      </a:pPr>
                      <a:r>
                        <a:rPr lang="ar-SA" sz="1200" noProof="0" dirty="0">
                          <a:effectLst/>
                        </a:rPr>
                        <a:t>تحسين التوافقية وتقليل مشاكل الدعم الفني</a:t>
                      </a:r>
                      <a:endParaRPr lang="ar-SA" sz="1200" noProof="0" dirty="0">
                        <a:effectLst/>
                        <a:latin typeface="Cambria" panose="02040503050406030204" pitchFamily="18" charset="0"/>
                        <a:ea typeface="MS Mincho" panose="02020609040205080304" pitchFamily="49" charset="-128"/>
                        <a:cs typeface="Arial" panose="020B0604020202020204" pitchFamily="34" charset="0"/>
                      </a:endParaRPr>
                    </a:p>
                  </a:txBody>
                  <a:tcPr marL="53258" marR="53258" marT="0" marB="0"/>
                </a:tc>
                <a:extLst>
                  <a:ext uri="{0D108BD9-81ED-4DB2-BD59-A6C34878D82A}">
                    <a16:rowId xmlns:a16="http://schemas.microsoft.com/office/drawing/2014/main" val="2131835279"/>
                  </a:ext>
                </a:extLst>
              </a:tr>
              <a:tr h="286703">
                <a:tc>
                  <a:txBody>
                    <a:bodyPr/>
                    <a:lstStyle/>
                    <a:p>
                      <a:pPr marL="0" marR="0" algn="ctr" rtl="0">
                        <a:lnSpc>
                          <a:spcPct val="115000"/>
                        </a:lnSpc>
                        <a:spcAft>
                          <a:spcPts val="1000"/>
                        </a:spcAft>
                      </a:pPr>
                      <a:r>
                        <a:rPr lang="ar-SA" sz="1200" noProof="0" dirty="0">
                          <a:effectLst/>
                        </a:rPr>
                        <a:t>GAP-T11</a:t>
                      </a:r>
                      <a:endParaRPr lang="ar-SA" sz="1200" noProof="0" dirty="0">
                        <a:effectLst/>
                        <a:latin typeface="Cambria" panose="02040503050406030204" pitchFamily="18" charset="0"/>
                        <a:ea typeface="MS Mincho" panose="02020609040205080304" pitchFamily="49" charset="-128"/>
                        <a:cs typeface="Arial" panose="020B0604020202020204" pitchFamily="34" charset="0"/>
                      </a:endParaRPr>
                    </a:p>
                  </a:txBody>
                  <a:tcPr marL="53258" marR="53258" marT="0" marB="0"/>
                </a:tc>
                <a:tc>
                  <a:txBody>
                    <a:bodyPr/>
                    <a:lstStyle/>
                    <a:p>
                      <a:pPr marL="0" marR="0" algn="r" rtl="1">
                        <a:lnSpc>
                          <a:spcPct val="115000"/>
                        </a:lnSpc>
                        <a:spcAft>
                          <a:spcPts val="1000"/>
                        </a:spcAft>
                      </a:pPr>
                      <a:r>
                        <a:rPr lang="ar-SA" sz="1200" noProof="0" dirty="0">
                          <a:effectLst/>
                        </a:rPr>
                        <a:t>تفاوت في مواصفات الأجهزة</a:t>
                      </a:r>
                      <a:endParaRPr lang="ar-SA" sz="1200" noProof="0" dirty="0">
                        <a:effectLst/>
                        <a:latin typeface="Cambria" panose="02040503050406030204" pitchFamily="18" charset="0"/>
                        <a:ea typeface="MS Mincho" panose="02020609040205080304" pitchFamily="49" charset="-128"/>
                        <a:cs typeface="Arial" panose="020B0604020202020204" pitchFamily="34" charset="0"/>
                      </a:endParaRPr>
                    </a:p>
                  </a:txBody>
                  <a:tcPr marL="53258" marR="53258" marT="0" marB="0"/>
                </a:tc>
                <a:tc>
                  <a:txBody>
                    <a:bodyPr/>
                    <a:lstStyle/>
                    <a:p>
                      <a:pPr marL="0" marR="0" algn="r" rtl="1">
                        <a:lnSpc>
                          <a:spcPct val="115000"/>
                        </a:lnSpc>
                        <a:spcAft>
                          <a:spcPts val="1000"/>
                        </a:spcAft>
                      </a:pPr>
                      <a:r>
                        <a:rPr lang="ar-SA" sz="1200" noProof="0" dirty="0">
                          <a:effectLst/>
                        </a:rPr>
                        <a:t>متوسطة</a:t>
                      </a:r>
                      <a:endParaRPr lang="ar-SA" sz="1200" noProof="0" dirty="0">
                        <a:effectLst/>
                        <a:latin typeface="Cambria" panose="02040503050406030204" pitchFamily="18" charset="0"/>
                        <a:ea typeface="MS Mincho" panose="02020609040205080304" pitchFamily="49" charset="-128"/>
                        <a:cs typeface="Arial" panose="020B0604020202020204" pitchFamily="34" charset="0"/>
                      </a:endParaRPr>
                    </a:p>
                  </a:txBody>
                  <a:tcPr marL="53258" marR="53258" marT="0" marB="0"/>
                </a:tc>
                <a:tc>
                  <a:txBody>
                    <a:bodyPr/>
                    <a:lstStyle/>
                    <a:p>
                      <a:pPr marL="0" marR="0" algn="r" rtl="1">
                        <a:lnSpc>
                          <a:spcPct val="115000"/>
                        </a:lnSpc>
                        <a:spcAft>
                          <a:spcPts val="1000"/>
                        </a:spcAft>
                      </a:pPr>
                      <a:r>
                        <a:rPr lang="ar-SA" sz="1200" noProof="0" dirty="0">
                          <a:effectLst/>
                        </a:rPr>
                        <a:t>وضع معايير موحدة لمواصفات الأجهزة</a:t>
                      </a:r>
                      <a:endParaRPr lang="ar-SA" sz="1200" noProof="0" dirty="0">
                        <a:effectLst/>
                        <a:latin typeface="Cambria" panose="02040503050406030204" pitchFamily="18" charset="0"/>
                        <a:ea typeface="MS Mincho" panose="02020609040205080304" pitchFamily="49" charset="-128"/>
                        <a:cs typeface="Arial" panose="020B0604020202020204" pitchFamily="34" charset="0"/>
                      </a:endParaRPr>
                    </a:p>
                  </a:txBody>
                  <a:tcPr marL="53258" marR="53258" marT="0" marB="0"/>
                </a:tc>
                <a:tc>
                  <a:txBody>
                    <a:bodyPr/>
                    <a:lstStyle/>
                    <a:p>
                      <a:pPr marL="0" marR="0" algn="r" rtl="1">
                        <a:lnSpc>
                          <a:spcPct val="115000"/>
                        </a:lnSpc>
                        <a:spcAft>
                          <a:spcPts val="1000"/>
                        </a:spcAft>
                      </a:pPr>
                      <a:r>
                        <a:rPr lang="ar-SA" sz="1200" noProof="0" dirty="0">
                          <a:effectLst/>
                        </a:rPr>
                        <a:t>تحسين الأداء وتقليل التعقيدات التشغيلية</a:t>
                      </a:r>
                      <a:endParaRPr lang="ar-SA" sz="1200" noProof="0" dirty="0">
                        <a:effectLst/>
                        <a:latin typeface="Cambria" panose="02040503050406030204" pitchFamily="18" charset="0"/>
                        <a:ea typeface="MS Mincho" panose="02020609040205080304" pitchFamily="49" charset="-128"/>
                        <a:cs typeface="Arial" panose="020B0604020202020204" pitchFamily="34" charset="0"/>
                      </a:endParaRPr>
                    </a:p>
                  </a:txBody>
                  <a:tcPr marL="53258" marR="53258" marT="0" marB="0"/>
                </a:tc>
                <a:extLst>
                  <a:ext uri="{0D108BD9-81ED-4DB2-BD59-A6C34878D82A}">
                    <a16:rowId xmlns:a16="http://schemas.microsoft.com/office/drawing/2014/main" val="3540756371"/>
                  </a:ext>
                </a:extLst>
              </a:tr>
              <a:tr h="436416">
                <a:tc>
                  <a:txBody>
                    <a:bodyPr/>
                    <a:lstStyle/>
                    <a:p>
                      <a:pPr marL="0" marR="0" algn="ctr" rtl="0">
                        <a:lnSpc>
                          <a:spcPct val="115000"/>
                        </a:lnSpc>
                        <a:spcAft>
                          <a:spcPts val="1000"/>
                        </a:spcAft>
                      </a:pPr>
                      <a:r>
                        <a:rPr lang="ar-SA" sz="1200" noProof="0" dirty="0">
                          <a:effectLst/>
                        </a:rPr>
                        <a:t>GAP-T12</a:t>
                      </a:r>
                      <a:endParaRPr lang="ar-SA" sz="1200" noProof="0" dirty="0">
                        <a:effectLst/>
                        <a:latin typeface="Cambria" panose="02040503050406030204" pitchFamily="18" charset="0"/>
                        <a:ea typeface="MS Mincho" panose="02020609040205080304" pitchFamily="49" charset="-128"/>
                        <a:cs typeface="Arial" panose="020B0604020202020204" pitchFamily="34" charset="0"/>
                      </a:endParaRPr>
                    </a:p>
                  </a:txBody>
                  <a:tcPr marL="53258" marR="53258" marT="0" marB="0"/>
                </a:tc>
                <a:tc>
                  <a:txBody>
                    <a:bodyPr/>
                    <a:lstStyle/>
                    <a:p>
                      <a:pPr marL="0" marR="0" algn="r" rtl="1">
                        <a:lnSpc>
                          <a:spcPct val="115000"/>
                        </a:lnSpc>
                        <a:spcAft>
                          <a:spcPts val="1000"/>
                        </a:spcAft>
                      </a:pPr>
                      <a:r>
                        <a:rPr lang="ar-SA" sz="1200" noProof="0" dirty="0">
                          <a:effectLst/>
                        </a:rPr>
                        <a:t>وجود أنظمة منتهية الدعم او على وشك الانتهاء</a:t>
                      </a:r>
                      <a:endParaRPr lang="ar-SA" sz="1200" noProof="0" dirty="0">
                        <a:effectLst/>
                        <a:latin typeface="Cambria" panose="02040503050406030204" pitchFamily="18" charset="0"/>
                        <a:ea typeface="MS Mincho" panose="02020609040205080304" pitchFamily="49" charset="-128"/>
                        <a:cs typeface="Arial" panose="020B0604020202020204" pitchFamily="34" charset="0"/>
                      </a:endParaRPr>
                    </a:p>
                  </a:txBody>
                  <a:tcPr marL="53258" marR="53258" marT="0" marB="0"/>
                </a:tc>
                <a:tc>
                  <a:txBody>
                    <a:bodyPr/>
                    <a:lstStyle/>
                    <a:p>
                      <a:pPr marL="0" marR="0" algn="r" rtl="1">
                        <a:lnSpc>
                          <a:spcPct val="115000"/>
                        </a:lnSpc>
                        <a:spcAft>
                          <a:spcPts val="1000"/>
                        </a:spcAft>
                      </a:pPr>
                      <a:r>
                        <a:rPr lang="ar-SA" sz="1200" noProof="0" dirty="0">
                          <a:effectLst/>
                        </a:rPr>
                        <a:t>عالية</a:t>
                      </a:r>
                      <a:endParaRPr lang="ar-SA" sz="1200" noProof="0" dirty="0">
                        <a:effectLst/>
                        <a:latin typeface="Cambria" panose="02040503050406030204" pitchFamily="18" charset="0"/>
                        <a:ea typeface="MS Mincho" panose="02020609040205080304" pitchFamily="49" charset="-128"/>
                        <a:cs typeface="Arial" panose="020B0604020202020204" pitchFamily="34" charset="0"/>
                      </a:endParaRPr>
                    </a:p>
                  </a:txBody>
                  <a:tcPr marL="53258" marR="53258" marT="0" marB="0"/>
                </a:tc>
                <a:tc>
                  <a:txBody>
                    <a:bodyPr/>
                    <a:lstStyle/>
                    <a:p>
                      <a:pPr marL="0" marR="0" algn="r" rtl="1">
                        <a:lnSpc>
                          <a:spcPct val="115000"/>
                        </a:lnSpc>
                        <a:spcAft>
                          <a:spcPts val="1000"/>
                        </a:spcAft>
                      </a:pPr>
                      <a:r>
                        <a:rPr lang="ar-SA" sz="1200" noProof="0" dirty="0">
                          <a:effectLst/>
                        </a:rPr>
                        <a:t>ترقية الأنظمة أو استبدالها بأخرى مدعومة</a:t>
                      </a:r>
                      <a:endParaRPr lang="ar-SA" sz="1200" noProof="0" dirty="0">
                        <a:effectLst/>
                        <a:latin typeface="Cambria" panose="02040503050406030204" pitchFamily="18" charset="0"/>
                        <a:ea typeface="MS Mincho" panose="02020609040205080304" pitchFamily="49" charset="-128"/>
                        <a:cs typeface="Arial" panose="020B0604020202020204" pitchFamily="34" charset="0"/>
                      </a:endParaRPr>
                    </a:p>
                  </a:txBody>
                  <a:tcPr marL="53258" marR="53258" marT="0" marB="0"/>
                </a:tc>
                <a:tc>
                  <a:txBody>
                    <a:bodyPr/>
                    <a:lstStyle/>
                    <a:p>
                      <a:pPr marL="0" marR="0" algn="r" rtl="1">
                        <a:lnSpc>
                          <a:spcPct val="115000"/>
                        </a:lnSpc>
                        <a:spcAft>
                          <a:spcPts val="1000"/>
                        </a:spcAft>
                      </a:pPr>
                      <a:r>
                        <a:rPr lang="ar-SA" sz="1200" noProof="0" dirty="0">
                          <a:effectLst/>
                        </a:rPr>
                        <a:t>تقليل المخاطر الأمنية وزيادة استقرار الأنظمة</a:t>
                      </a:r>
                      <a:endParaRPr lang="ar-SA" sz="1200" noProof="0" dirty="0">
                        <a:effectLst/>
                        <a:latin typeface="Cambria" panose="02040503050406030204" pitchFamily="18" charset="0"/>
                        <a:ea typeface="MS Mincho" panose="02020609040205080304" pitchFamily="49" charset="-128"/>
                        <a:cs typeface="Arial" panose="020B0604020202020204" pitchFamily="34" charset="0"/>
                      </a:endParaRPr>
                    </a:p>
                  </a:txBody>
                  <a:tcPr marL="53258" marR="53258" marT="0" marB="0"/>
                </a:tc>
                <a:extLst>
                  <a:ext uri="{0D108BD9-81ED-4DB2-BD59-A6C34878D82A}">
                    <a16:rowId xmlns:a16="http://schemas.microsoft.com/office/drawing/2014/main" val="2610452930"/>
                  </a:ext>
                </a:extLst>
              </a:tr>
              <a:tr h="286703">
                <a:tc>
                  <a:txBody>
                    <a:bodyPr/>
                    <a:lstStyle/>
                    <a:p>
                      <a:pPr marL="0" marR="0" algn="ctr" rtl="0">
                        <a:lnSpc>
                          <a:spcPct val="115000"/>
                        </a:lnSpc>
                        <a:spcAft>
                          <a:spcPts val="1000"/>
                        </a:spcAft>
                      </a:pPr>
                      <a:r>
                        <a:rPr lang="ar-SA" sz="1200" noProof="0" dirty="0">
                          <a:effectLst/>
                        </a:rPr>
                        <a:t>GAP-T13</a:t>
                      </a:r>
                      <a:endParaRPr lang="ar-SA" sz="1200" noProof="0" dirty="0">
                        <a:effectLst/>
                        <a:latin typeface="Cambria" panose="02040503050406030204" pitchFamily="18" charset="0"/>
                        <a:ea typeface="MS Mincho" panose="02020609040205080304" pitchFamily="49" charset="-128"/>
                        <a:cs typeface="Arial" panose="020B0604020202020204" pitchFamily="34" charset="0"/>
                      </a:endParaRPr>
                    </a:p>
                  </a:txBody>
                  <a:tcPr marL="53258" marR="53258" marT="0" marB="0"/>
                </a:tc>
                <a:tc>
                  <a:txBody>
                    <a:bodyPr/>
                    <a:lstStyle/>
                    <a:p>
                      <a:pPr marL="0" marR="0" algn="r" rtl="1">
                        <a:lnSpc>
                          <a:spcPct val="115000"/>
                        </a:lnSpc>
                        <a:spcAft>
                          <a:spcPts val="1000"/>
                        </a:spcAft>
                      </a:pPr>
                      <a:r>
                        <a:rPr lang="ar-SA" sz="1200" noProof="0" dirty="0">
                          <a:effectLst/>
                        </a:rPr>
                        <a:t>عدم التوثيق الكامل لبعض الخوادم</a:t>
                      </a:r>
                      <a:endParaRPr lang="ar-SA" sz="1200" noProof="0" dirty="0">
                        <a:effectLst/>
                        <a:latin typeface="Cambria" panose="02040503050406030204" pitchFamily="18" charset="0"/>
                        <a:ea typeface="MS Mincho" panose="02020609040205080304" pitchFamily="49" charset="-128"/>
                        <a:cs typeface="Arial" panose="020B0604020202020204" pitchFamily="34" charset="0"/>
                      </a:endParaRPr>
                    </a:p>
                  </a:txBody>
                  <a:tcPr marL="53258" marR="53258" marT="0" marB="0"/>
                </a:tc>
                <a:tc>
                  <a:txBody>
                    <a:bodyPr/>
                    <a:lstStyle/>
                    <a:p>
                      <a:pPr marL="0" marR="0" algn="r" rtl="1">
                        <a:lnSpc>
                          <a:spcPct val="115000"/>
                        </a:lnSpc>
                        <a:spcAft>
                          <a:spcPts val="1000"/>
                        </a:spcAft>
                      </a:pPr>
                      <a:r>
                        <a:rPr lang="ar-SA" sz="1200" noProof="0" dirty="0">
                          <a:effectLst/>
                        </a:rPr>
                        <a:t>عالية</a:t>
                      </a:r>
                      <a:endParaRPr lang="ar-SA" sz="1200" noProof="0" dirty="0">
                        <a:effectLst/>
                        <a:latin typeface="Cambria" panose="02040503050406030204" pitchFamily="18" charset="0"/>
                        <a:ea typeface="MS Mincho" panose="02020609040205080304" pitchFamily="49" charset="-128"/>
                        <a:cs typeface="Arial" panose="020B0604020202020204" pitchFamily="34" charset="0"/>
                      </a:endParaRPr>
                    </a:p>
                  </a:txBody>
                  <a:tcPr marL="53258" marR="53258" marT="0" marB="0"/>
                </a:tc>
                <a:tc>
                  <a:txBody>
                    <a:bodyPr/>
                    <a:lstStyle/>
                    <a:p>
                      <a:pPr marL="0" marR="0" algn="r" rtl="1">
                        <a:lnSpc>
                          <a:spcPct val="115000"/>
                        </a:lnSpc>
                        <a:spcAft>
                          <a:spcPts val="1000"/>
                        </a:spcAft>
                      </a:pPr>
                      <a:r>
                        <a:rPr lang="ar-SA" sz="1200" noProof="0" dirty="0">
                          <a:effectLst/>
                        </a:rPr>
                        <a:t>إعداد وثائق شاملة لكل الخوادم</a:t>
                      </a:r>
                      <a:endParaRPr lang="ar-SA" sz="1200" noProof="0" dirty="0">
                        <a:effectLst/>
                        <a:latin typeface="Cambria" panose="02040503050406030204" pitchFamily="18" charset="0"/>
                        <a:ea typeface="MS Mincho" panose="02020609040205080304" pitchFamily="49" charset="-128"/>
                        <a:cs typeface="Arial" panose="020B0604020202020204" pitchFamily="34" charset="0"/>
                      </a:endParaRPr>
                    </a:p>
                  </a:txBody>
                  <a:tcPr marL="53258" marR="53258" marT="0" marB="0"/>
                </a:tc>
                <a:tc>
                  <a:txBody>
                    <a:bodyPr/>
                    <a:lstStyle/>
                    <a:p>
                      <a:pPr marL="0" marR="0" algn="r" rtl="1">
                        <a:lnSpc>
                          <a:spcPct val="115000"/>
                        </a:lnSpc>
                        <a:spcAft>
                          <a:spcPts val="1000"/>
                        </a:spcAft>
                      </a:pPr>
                      <a:r>
                        <a:rPr lang="ar-SA" sz="1200" noProof="0" dirty="0">
                          <a:effectLst/>
                        </a:rPr>
                        <a:t>تحسين الصيانة وتقليل أخطاء التشغيل</a:t>
                      </a:r>
                      <a:endParaRPr lang="ar-SA" sz="1200" noProof="0" dirty="0">
                        <a:effectLst/>
                        <a:latin typeface="Cambria" panose="02040503050406030204" pitchFamily="18" charset="0"/>
                        <a:ea typeface="MS Mincho" panose="02020609040205080304" pitchFamily="49" charset="-128"/>
                        <a:cs typeface="Arial" panose="020B0604020202020204" pitchFamily="34" charset="0"/>
                      </a:endParaRPr>
                    </a:p>
                  </a:txBody>
                  <a:tcPr marL="53258" marR="53258" marT="0" marB="0"/>
                </a:tc>
                <a:extLst>
                  <a:ext uri="{0D108BD9-81ED-4DB2-BD59-A6C34878D82A}">
                    <a16:rowId xmlns:a16="http://schemas.microsoft.com/office/drawing/2014/main" val="1528708624"/>
                  </a:ext>
                </a:extLst>
              </a:tr>
              <a:tr h="735842">
                <a:tc>
                  <a:txBody>
                    <a:bodyPr/>
                    <a:lstStyle/>
                    <a:p>
                      <a:pPr marL="0" marR="0" algn="ctr" rtl="0">
                        <a:lnSpc>
                          <a:spcPct val="115000"/>
                        </a:lnSpc>
                        <a:spcAft>
                          <a:spcPts val="1000"/>
                        </a:spcAft>
                      </a:pPr>
                      <a:r>
                        <a:rPr lang="ar-SA" sz="1200" noProof="0" dirty="0">
                          <a:effectLst/>
                        </a:rPr>
                        <a:t>GAP-T14</a:t>
                      </a:r>
                      <a:endParaRPr lang="ar-SA" sz="1200" noProof="0" dirty="0">
                        <a:effectLst/>
                        <a:latin typeface="Cambria" panose="02040503050406030204" pitchFamily="18" charset="0"/>
                        <a:ea typeface="MS Mincho" panose="02020609040205080304" pitchFamily="49" charset="-128"/>
                        <a:cs typeface="Arial" panose="020B0604020202020204" pitchFamily="34" charset="0"/>
                      </a:endParaRPr>
                    </a:p>
                  </a:txBody>
                  <a:tcPr marL="53258" marR="53258" marT="0" marB="0"/>
                </a:tc>
                <a:tc>
                  <a:txBody>
                    <a:bodyPr/>
                    <a:lstStyle/>
                    <a:p>
                      <a:pPr marL="0" marR="0" algn="r" rtl="1">
                        <a:lnSpc>
                          <a:spcPct val="115000"/>
                        </a:lnSpc>
                        <a:spcAft>
                          <a:spcPts val="1000"/>
                        </a:spcAft>
                      </a:pPr>
                      <a:r>
                        <a:rPr lang="ar-SA" sz="1200" noProof="0" dirty="0">
                          <a:effectLst/>
                        </a:rPr>
                        <a:t>عدم دورة حياة واضحة للخوادم واستراتيجية لإعادة التدوير أو التحديث المستمر</a:t>
                      </a:r>
                      <a:endParaRPr lang="ar-SA" sz="1200" noProof="0" dirty="0">
                        <a:effectLst/>
                        <a:latin typeface="Cambria" panose="02040503050406030204" pitchFamily="18" charset="0"/>
                        <a:ea typeface="MS Mincho" panose="02020609040205080304" pitchFamily="49" charset="-128"/>
                        <a:cs typeface="Arial" panose="020B0604020202020204" pitchFamily="34" charset="0"/>
                      </a:endParaRPr>
                    </a:p>
                  </a:txBody>
                  <a:tcPr marL="53258" marR="53258" marT="0" marB="0"/>
                </a:tc>
                <a:tc>
                  <a:txBody>
                    <a:bodyPr/>
                    <a:lstStyle/>
                    <a:p>
                      <a:pPr marL="0" marR="0" algn="r" rtl="1">
                        <a:lnSpc>
                          <a:spcPct val="115000"/>
                        </a:lnSpc>
                        <a:spcAft>
                          <a:spcPts val="1000"/>
                        </a:spcAft>
                      </a:pPr>
                      <a:r>
                        <a:rPr lang="ar-SA" sz="1200" noProof="0" dirty="0">
                          <a:effectLst/>
                        </a:rPr>
                        <a:t>عالية</a:t>
                      </a:r>
                      <a:endParaRPr lang="ar-SA" sz="1200" noProof="0" dirty="0">
                        <a:effectLst/>
                        <a:latin typeface="Cambria" panose="02040503050406030204" pitchFamily="18" charset="0"/>
                        <a:ea typeface="MS Mincho" panose="02020609040205080304" pitchFamily="49" charset="-128"/>
                        <a:cs typeface="Arial" panose="020B0604020202020204" pitchFamily="34" charset="0"/>
                      </a:endParaRPr>
                    </a:p>
                  </a:txBody>
                  <a:tcPr marL="53258" marR="53258" marT="0" marB="0"/>
                </a:tc>
                <a:tc>
                  <a:txBody>
                    <a:bodyPr/>
                    <a:lstStyle/>
                    <a:p>
                      <a:pPr marL="0" marR="0" algn="r" rtl="1">
                        <a:lnSpc>
                          <a:spcPct val="115000"/>
                        </a:lnSpc>
                        <a:spcAft>
                          <a:spcPts val="1000"/>
                        </a:spcAft>
                      </a:pPr>
                      <a:r>
                        <a:rPr lang="ar-SA" sz="1200" noProof="0" dirty="0">
                          <a:effectLst/>
                        </a:rPr>
                        <a:t>إنشاء سياسة واضحة لدورة حياة الخوادم</a:t>
                      </a:r>
                      <a:endParaRPr lang="ar-SA" sz="1200" noProof="0" dirty="0">
                        <a:effectLst/>
                        <a:latin typeface="Cambria" panose="02040503050406030204" pitchFamily="18" charset="0"/>
                        <a:ea typeface="MS Mincho" panose="02020609040205080304" pitchFamily="49" charset="-128"/>
                        <a:cs typeface="Arial" panose="020B0604020202020204" pitchFamily="34" charset="0"/>
                      </a:endParaRPr>
                    </a:p>
                  </a:txBody>
                  <a:tcPr marL="53258" marR="53258" marT="0" marB="0"/>
                </a:tc>
                <a:tc>
                  <a:txBody>
                    <a:bodyPr/>
                    <a:lstStyle/>
                    <a:p>
                      <a:pPr marL="0" marR="0" algn="r" rtl="1">
                        <a:lnSpc>
                          <a:spcPct val="115000"/>
                        </a:lnSpc>
                        <a:spcAft>
                          <a:spcPts val="1000"/>
                        </a:spcAft>
                      </a:pPr>
                      <a:r>
                        <a:rPr lang="ar-SA" sz="1200" noProof="0" dirty="0">
                          <a:effectLst/>
                        </a:rPr>
                        <a:t>تحسين الاستدامة وإدارة الأصول</a:t>
                      </a:r>
                      <a:endParaRPr lang="ar-SA" sz="1200" noProof="0" dirty="0">
                        <a:effectLst/>
                        <a:latin typeface="Cambria" panose="02040503050406030204" pitchFamily="18" charset="0"/>
                        <a:ea typeface="MS Mincho" panose="02020609040205080304" pitchFamily="49" charset="-128"/>
                        <a:cs typeface="Arial" panose="020B0604020202020204" pitchFamily="34" charset="0"/>
                      </a:endParaRPr>
                    </a:p>
                  </a:txBody>
                  <a:tcPr marL="53258" marR="53258" marT="0" marB="0"/>
                </a:tc>
                <a:extLst>
                  <a:ext uri="{0D108BD9-81ED-4DB2-BD59-A6C34878D82A}">
                    <a16:rowId xmlns:a16="http://schemas.microsoft.com/office/drawing/2014/main" val="166677197"/>
                  </a:ext>
                </a:extLst>
              </a:tr>
              <a:tr h="610962">
                <a:tc>
                  <a:txBody>
                    <a:bodyPr/>
                    <a:lstStyle/>
                    <a:p>
                      <a:pPr marL="0" marR="0" algn="ctr" rtl="0">
                        <a:lnSpc>
                          <a:spcPct val="115000"/>
                        </a:lnSpc>
                        <a:spcAft>
                          <a:spcPts val="1000"/>
                        </a:spcAft>
                      </a:pPr>
                      <a:r>
                        <a:rPr lang="ar-SA" sz="1200" noProof="0" dirty="0">
                          <a:effectLst/>
                        </a:rPr>
                        <a:t>GAP-T15</a:t>
                      </a:r>
                      <a:endParaRPr lang="ar-SA" sz="1200" noProof="0" dirty="0">
                        <a:effectLst/>
                        <a:latin typeface="Cambria" panose="02040503050406030204" pitchFamily="18" charset="0"/>
                        <a:ea typeface="MS Mincho" panose="02020609040205080304" pitchFamily="49" charset="-128"/>
                        <a:cs typeface="Arial" panose="020B0604020202020204" pitchFamily="34" charset="0"/>
                      </a:endParaRPr>
                    </a:p>
                  </a:txBody>
                  <a:tcPr marL="53258" marR="53258" marT="0" marB="0"/>
                </a:tc>
                <a:tc>
                  <a:txBody>
                    <a:bodyPr/>
                    <a:lstStyle/>
                    <a:p>
                      <a:pPr marL="0" marR="0" algn="r" rtl="1">
                        <a:lnSpc>
                          <a:spcPct val="115000"/>
                        </a:lnSpc>
                        <a:spcAft>
                          <a:spcPts val="1000"/>
                        </a:spcAft>
                      </a:pPr>
                      <a:r>
                        <a:rPr lang="ar-SA" sz="1200" noProof="0" dirty="0">
                          <a:effectLst/>
                        </a:rPr>
                        <a:t>تكرار الخوادم على نفس السحابة مما يحقق </a:t>
                      </a:r>
                      <a:r>
                        <a:rPr lang="ar-SA" sz="1200" noProof="0" dirty="0" err="1">
                          <a:effectLst/>
                        </a:rPr>
                        <a:t>توافرية</a:t>
                      </a:r>
                      <a:r>
                        <a:rPr lang="ar-SA" sz="1200" noProof="0" dirty="0">
                          <a:effectLst/>
                        </a:rPr>
                        <a:t> في حالة عمل السحابة ولا توجد هذه الخوادم على سحابة أخرى</a:t>
                      </a:r>
                      <a:endParaRPr lang="ar-SA" sz="1200" noProof="0" dirty="0">
                        <a:effectLst/>
                        <a:latin typeface="Cambria" panose="02040503050406030204" pitchFamily="18" charset="0"/>
                        <a:ea typeface="MS Mincho" panose="02020609040205080304" pitchFamily="49" charset="-128"/>
                        <a:cs typeface="Arial" panose="020B0604020202020204" pitchFamily="34" charset="0"/>
                      </a:endParaRPr>
                    </a:p>
                  </a:txBody>
                  <a:tcPr marL="53258" marR="53258" marT="0" marB="0"/>
                </a:tc>
                <a:tc>
                  <a:txBody>
                    <a:bodyPr/>
                    <a:lstStyle/>
                    <a:p>
                      <a:pPr marL="0" marR="0" algn="r" rtl="1">
                        <a:lnSpc>
                          <a:spcPct val="115000"/>
                        </a:lnSpc>
                        <a:spcAft>
                          <a:spcPts val="1000"/>
                        </a:spcAft>
                      </a:pPr>
                      <a:r>
                        <a:rPr lang="ar-SA" sz="1200" noProof="0" dirty="0">
                          <a:effectLst/>
                        </a:rPr>
                        <a:t>عالية</a:t>
                      </a:r>
                      <a:endParaRPr lang="ar-SA" sz="1200" noProof="0" dirty="0">
                        <a:effectLst/>
                        <a:latin typeface="Cambria" panose="02040503050406030204" pitchFamily="18" charset="0"/>
                        <a:ea typeface="MS Mincho" panose="02020609040205080304" pitchFamily="49" charset="-128"/>
                        <a:cs typeface="Arial" panose="020B0604020202020204" pitchFamily="34" charset="0"/>
                      </a:endParaRPr>
                    </a:p>
                  </a:txBody>
                  <a:tcPr marL="53258" marR="53258" marT="0" marB="0"/>
                </a:tc>
                <a:tc>
                  <a:txBody>
                    <a:bodyPr/>
                    <a:lstStyle/>
                    <a:p>
                      <a:pPr marL="0" marR="0" algn="r" rtl="1">
                        <a:lnSpc>
                          <a:spcPct val="115000"/>
                        </a:lnSpc>
                        <a:spcAft>
                          <a:spcPts val="1000"/>
                        </a:spcAft>
                      </a:pPr>
                      <a:r>
                        <a:rPr lang="ar-SA" sz="1200" noProof="0" dirty="0">
                          <a:effectLst/>
                        </a:rPr>
                        <a:t>توزيع الخوادم عبر بيئات سحابية متعددة</a:t>
                      </a:r>
                      <a:endParaRPr lang="ar-SA" sz="1200" noProof="0" dirty="0">
                        <a:effectLst/>
                        <a:latin typeface="Cambria" panose="02040503050406030204" pitchFamily="18" charset="0"/>
                        <a:ea typeface="MS Mincho" panose="02020609040205080304" pitchFamily="49" charset="-128"/>
                        <a:cs typeface="Arial" panose="020B0604020202020204" pitchFamily="34" charset="0"/>
                      </a:endParaRPr>
                    </a:p>
                  </a:txBody>
                  <a:tcPr marL="53258" marR="53258" marT="0" marB="0"/>
                </a:tc>
                <a:tc>
                  <a:txBody>
                    <a:bodyPr/>
                    <a:lstStyle/>
                    <a:p>
                      <a:pPr marL="0" marR="0" algn="r" rtl="1">
                        <a:lnSpc>
                          <a:spcPct val="115000"/>
                        </a:lnSpc>
                        <a:spcAft>
                          <a:spcPts val="1000"/>
                        </a:spcAft>
                      </a:pPr>
                      <a:r>
                        <a:rPr lang="ar-SA" sz="1200" noProof="0" dirty="0">
                          <a:effectLst/>
                        </a:rPr>
                        <a:t>تحسين </a:t>
                      </a:r>
                      <a:r>
                        <a:rPr lang="ar-SA" sz="1200" noProof="0" dirty="0" err="1">
                          <a:effectLst/>
                        </a:rPr>
                        <a:t>التوافرية</a:t>
                      </a:r>
                      <a:r>
                        <a:rPr lang="ar-SA" sz="1200" noProof="0" dirty="0">
                          <a:effectLst/>
                        </a:rPr>
                        <a:t> والتقليل من نقطة الفشل الواحدة</a:t>
                      </a:r>
                      <a:endParaRPr lang="ar-SA" sz="1200" noProof="0" dirty="0">
                        <a:effectLst/>
                        <a:latin typeface="Cambria" panose="02040503050406030204" pitchFamily="18" charset="0"/>
                        <a:ea typeface="MS Mincho" panose="02020609040205080304" pitchFamily="49" charset="-128"/>
                        <a:cs typeface="Arial" panose="020B0604020202020204" pitchFamily="34" charset="0"/>
                      </a:endParaRPr>
                    </a:p>
                  </a:txBody>
                  <a:tcPr marL="53258" marR="53258" marT="0" marB="0"/>
                </a:tc>
                <a:extLst>
                  <a:ext uri="{0D108BD9-81ED-4DB2-BD59-A6C34878D82A}">
                    <a16:rowId xmlns:a16="http://schemas.microsoft.com/office/drawing/2014/main" val="327688261"/>
                  </a:ext>
                </a:extLst>
              </a:tr>
              <a:tr h="436416">
                <a:tc>
                  <a:txBody>
                    <a:bodyPr/>
                    <a:lstStyle/>
                    <a:p>
                      <a:pPr marL="0" marR="0" algn="ctr" rtl="0">
                        <a:lnSpc>
                          <a:spcPct val="115000"/>
                        </a:lnSpc>
                        <a:spcAft>
                          <a:spcPts val="1000"/>
                        </a:spcAft>
                      </a:pPr>
                      <a:r>
                        <a:rPr lang="ar-SA" sz="1200" noProof="0" dirty="0">
                          <a:effectLst/>
                        </a:rPr>
                        <a:t>GAP-T16</a:t>
                      </a:r>
                      <a:endParaRPr lang="ar-SA" sz="1200" noProof="0" dirty="0">
                        <a:effectLst/>
                        <a:latin typeface="Cambria" panose="02040503050406030204" pitchFamily="18" charset="0"/>
                        <a:ea typeface="MS Mincho" panose="02020609040205080304" pitchFamily="49" charset="-128"/>
                        <a:cs typeface="Arial" panose="020B0604020202020204" pitchFamily="34" charset="0"/>
                      </a:endParaRPr>
                    </a:p>
                  </a:txBody>
                  <a:tcPr marL="53258" marR="53258" marT="0" marB="0"/>
                </a:tc>
                <a:tc>
                  <a:txBody>
                    <a:bodyPr/>
                    <a:lstStyle/>
                    <a:p>
                      <a:pPr marL="0" marR="0" algn="r" rtl="1">
                        <a:lnSpc>
                          <a:spcPct val="115000"/>
                        </a:lnSpc>
                        <a:spcAft>
                          <a:spcPts val="1000"/>
                        </a:spcAft>
                      </a:pPr>
                      <a:r>
                        <a:rPr lang="ar-SA" sz="1200" noProof="0" dirty="0">
                          <a:effectLst/>
                        </a:rPr>
                        <a:t>لا يوجد استخدام تقنية الحاويات </a:t>
                      </a:r>
                      <a:r>
                        <a:rPr lang="ar-SA" sz="1200" noProof="0" dirty="0" err="1">
                          <a:effectLst/>
                        </a:rPr>
                        <a:t>Containers</a:t>
                      </a:r>
                      <a:endParaRPr lang="ar-SA" sz="1200" noProof="0" dirty="0">
                        <a:effectLst/>
                        <a:latin typeface="Cambria" panose="02040503050406030204" pitchFamily="18" charset="0"/>
                        <a:ea typeface="MS Mincho" panose="02020609040205080304" pitchFamily="49" charset="-128"/>
                        <a:cs typeface="Arial" panose="020B0604020202020204" pitchFamily="34" charset="0"/>
                      </a:endParaRPr>
                    </a:p>
                  </a:txBody>
                  <a:tcPr marL="53258" marR="53258" marT="0" marB="0"/>
                </a:tc>
                <a:tc>
                  <a:txBody>
                    <a:bodyPr/>
                    <a:lstStyle/>
                    <a:p>
                      <a:pPr marL="0" marR="0" algn="r" rtl="1">
                        <a:lnSpc>
                          <a:spcPct val="115000"/>
                        </a:lnSpc>
                        <a:spcAft>
                          <a:spcPts val="1000"/>
                        </a:spcAft>
                      </a:pPr>
                      <a:r>
                        <a:rPr lang="ar-SA" sz="1200" noProof="0" dirty="0">
                          <a:effectLst/>
                        </a:rPr>
                        <a:t>متوسطة</a:t>
                      </a:r>
                      <a:endParaRPr lang="ar-SA" sz="1200" noProof="0" dirty="0">
                        <a:effectLst/>
                        <a:latin typeface="Cambria" panose="02040503050406030204" pitchFamily="18" charset="0"/>
                        <a:ea typeface="MS Mincho" panose="02020609040205080304" pitchFamily="49" charset="-128"/>
                        <a:cs typeface="Arial" panose="020B0604020202020204" pitchFamily="34" charset="0"/>
                      </a:endParaRPr>
                    </a:p>
                  </a:txBody>
                  <a:tcPr marL="53258" marR="53258" marT="0" marB="0"/>
                </a:tc>
                <a:tc>
                  <a:txBody>
                    <a:bodyPr/>
                    <a:lstStyle/>
                    <a:p>
                      <a:pPr marL="0" marR="0" algn="r" rtl="1">
                        <a:lnSpc>
                          <a:spcPct val="115000"/>
                        </a:lnSpc>
                        <a:spcAft>
                          <a:spcPts val="1000"/>
                        </a:spcAft>
                      </a:pPr>
                      <a:r>
                        <a:rPr lang="ar-SA" sz="1200" noProof="0" dirty="0">
                          <a:effectLst/>
                        </a:rPr>
                        <a:t>اعتماد تقنية الحاويات لتحسين إدارة التطبيقات</a:t>
                      </a:r>
                      <a:endParaRPr lang="ar-SA" sz="1200" noProof="0" dirty="0">
                        <a:effectLst/>
                        <a:latin typeface="Cambria" panose="02040503050406030204" pitchFamily="18" charset="0"/>
                        <a:ea typeface="MS Mincho" panose="02020609040205080304" pitchFamily="49" charset="-128"/>
                        <a:cs typeface="Arial" panose="020B0604020202020204" pitchFamily="34" charset="0"/>
                      </a:endParaRPr>
                    </a:p>
                  </a:txBody>
                  <a:tcPr marL="53258" marR="53258" marT="0" marB="0"/>
                </a:tc>
                <a:tc>
                  <a:txBody>
                    <a:bodyPr/>
                    <a:lstStyle/>
                    <a:p>
                      <a:pPr marL="0" marR="0" algn="r" rtl="1">
                        <a:lnSpc>
                          <a:spcPct val="115000"/>
                        </a:lnSpc>
                        <a:spcAft>
                          <a:spcPts val="1000"/>
                        </a:spcAft>
                      </a:pPr>
                      <a:r>
                        <a:rPr lang="ar-SA" sz="1200" noProof="0" dirty="0">
                          <a:effectLst/>
                        </a:rPr>
                        <a:t>تعزيز المرونة وسرعة نشر التطبيقات</a:t>
                      </a:r>
                      <a:endParaRPr lang="ar-SA" sz="1200" noProof="0" dirty="0">
                        <a:effectLst/>
                        <a:latin typeface="Cambria" panose="02040503050406030204" pitchFamily="18" charset="0"/>
                        <a:ea typeface="MS Mincho" panose="02020609040205080304" pitchFamily="49" charset="-128"/>
                        <a:cs typeface="Arial" panose="020B0604020202020204" pitchFamily="34" charset="0"/>
                      </a:endParaRPr>
                    </a:p>
                  </a:txBody>
                  <a:tcPr marL="53258" marR="53258" marT="0" marB="0"/>
                </a:tc>
                <a:extLst>
                  <a:ext uri="{0D108BD9-81ED-4DB2-BD59-A6C34878D82A}">
                    <a16:rowId xmlns:a16="http://schemas.microsoft.com/office/drawing/2014/main" val="1107397981"/>
                  </a:ext>
                </a:extLst>
              </a:tr>
              <a:tr h="586129">
                <a:tc>
                  <a:txBody>
                    <a:bodyPr/>
                    <a:lstStyle/>
                    <a:p>
                      <a:pPr marL="0" marR="0" algn="ctr" rtl="0">
                        <a:lnSpc>
                          <a:spcPct val="115000"/>
                        </a:lnSpc>
                        <a:spcAft>
                          <a:spcPts val="1000"/>
                        </a:spcAft>
                      </a:pPr>
                      <a:r>
                        <a:rPr lang="ar-SA" sz="1200" noProof="0" dirty="0">
                          <a:effectLst/>
                        </a:rPr>
                        <a:t>GAP-T17</a:t>
                      </a:r>
                      <a:endParaRPr lang="ar-SA" sz="1200" noProof="0" dirty="0">
                        <a:effectLst/>
                        <a:latin typeface="Cambria" panose="02040503050406030204" pitchFamily="18" charset="0"/>
                        <a:ea typeface="MS Mincho" panose="02020609040205080304" pitchFamily="49" charset="-128"/>
                        <a:cs typeface="Arial" panose="020B0604020202020204" pitchFamily="34" charset="0"/>
                      </a:endParaRPr>
                    </a:p>
                  </a:txBody>
                  <a:tcPr marL="53258" marR="53258" marT="0" marB="0"/>
                </a:tc>
                <a:tc>
                  <a:txBody>
                    <a:bodyPr/>
                    <a:lstStyle/>
                    <a:p>
                      <a:pPr marL="0" marR="0" algn="r" rtl="1">
                        <a:lnSpc>
                          <a:spcPct val="115000"/>
                        </a:lnSpc>
                        <a:spcAft>
                          <a:spcPts val="1000"/>
                        </a:spcAft>
                      </a:pPr>
                      <a:r>
                        <a:rPr lang="ar-SA" sz="1200" noProof="0" dirty="0">
                          <a:effectLst/>
                        </a:rPr>
                        <a:t>عدم وجود أتمتة متكاملة عبر SDN للتحكم الذكي في الشبكة</a:t>
                      </a:r>
                      <a:endParaRPr lang="ar-SA" sz="1200" noProof="0" dirty="0">
                        <a:effectLst/>
                        <a:latin typeface="Cambria" panose="02040503050406030204" pitchFamily="18" charset="0"/>
                        <a:ea typeface="MS Mincho" panose="02020609040205080304" pitchFamily="49" charset="-128"/>
                        <a:cs typeface="Arial" panose="020B0604020202020204" pitchFamily="34" charset="0"/>
                      </a:endParaRPr>
                    </a:p>
                  </a:txBody>
                  <a:tcPr marL="53258" marR="53258" marT="0" marB="0"/>
                </a:tc>
                <a:tc>
                  <a:txBody>
                    <a:bodyPr/>
                    <a:lstStyle/>
                    <a:p>
                      <a:pPr marL="0" marR="0" algn="r" rtl="1">
                        <a:lnSpc>
                          <a:spcPct val="115000"/>
                        </a:lnSpc>
                        <a:spcAft>
                          <a:spcPts val="1000"/>
                        </a:spcAft>
                      </a:pPr>
                      <a:r>
                        <a:rPr lang="ar-SA" sz="1200" noProof="0" dirty="0">
                          <a:effectLst/>
                        </a:rPr>
                        <a:t>عالية</a:t>
                      </a:r>
                      <a:endParaRPr lang="ar-SA" sz="1200" noProof="0" dirty="0">
                        <a:effectLst/>
                        <a:latin typeface="Cambria" panose="02040503050406030204" pitchFamily="18" charset="0"/>
                        <a:ea typeface="MS Mincho" panose="02020609040205080304" pitchFamily="49" charset="-128"/>
                        <a:cs typeface="Arial" panose="020B0604020202020204" pitchFamily="34" charset="0"/>
                      </a:endParaRPr>
                    </a:p>
                  </a:txBody>
                  <a:tcPr marL="53258" marR="53258" marT="0" marB="0"/>
                </a:tc>
                <a:tc>
                  <a:txBody>
                    <a:bodyPr/>
                    <a:lstStyle/>
                    <a:p>
                      <a:pPr marL="0" marR="0" algn="r" rtl="1">
                        <a:lnSpc>
                          <a:spcPct val="115000"/>
                        </a:lnSpc>
                        <a:spcAft>
                          <a:spcPts val="1000"/>
                        </a:spcAft>
                      </a:pPr>
                      <a:r>
                        <a:rPr lang="ar-SA" sz="1200" noProof="0" dirty="0">
                          <a:effectLst/>
                        </a:rPr>
                        <a:t>تطبيق SDN لإدارة الشبكات بشكل ذكي</a:t>
                      </a:r>
                      <a:endParaRPr lang="ar-SA" sz="1200" noProof="0" dirty="0">
                        <a:effectLst/>
                        <a:latin typeface="Cambria" panose="02040503050406030204" pitchFamily="18" charset="0"/>
                        <a:ea typeface="MS Mincho" panose="02020609040205080304" pitchFamily="49" charset="-128"/>
                        <a:cs typeface="Arial" panose="020B0604020202020204" pitchFamily="34" charset="0"/>
                      </a:endParaRPr>
                    </a:p>
                  </a:txBody>
                  <a:tcPr marL="53258" marR="53258" marT="0" marB="0"/>
                </a:tc>
                <a:tc>
                  <a:txBody>
                    <a:bodyPr/>
                    <a:lstStyle/>
                    <a:p>
                      <a:pPr marL="0" marR="0" algn="r" rtl="1">
                        <a:lnSpc>
                          <a:spcPct val="115000"/>
                        </a:lnSpc>
                        <a:spcAft>
                          <a:spcPts val="1000"/>
                        </a:spcAft>
                      </a:pPr>
                      <a:r>
                        <a:rPr lang="ar-SA" sz="1200" noProof="0" dirty="0">
                          <a:effectLst/>
                        </a:rPr>
                        <a:t>تحسين كفاءة وأمان الشبكة</a:t>
                      </a:r>
                      <a:endParaRPr lang="ar-SA" sz="1200" noProof="0" dirty="0">
                        <a:effectLst/>
                        <a:latin typeface="Cambria" panose="02040503050406030204" pitchFamily="18" charset="0"/>
                        <a:ea typeface="MS Mincho" panose="02020609040205080304" pitchFamily="49" charset="-128"/>
                        <a:cs typeface="Arial" panose="020B0604020202020204" pitchFamily="34" charset="0"/>
                      </a:endParaRPr>
                    </a:p>
                  </a:txBody>
                  <a:tcPr marL="53258" marR="53258" marT="0" marB="0"/>
                </a:tc>
                <a:extLst>
                  <a:ext uri="{0D108BD9-81ED-4DB2-BD59-A6C34878D82A}">
                    <a16:rowId xmlns:a16="http://schemas.microsoft.com/office/drawing/2014/main" val="2826095591"/>
                  </a:ext>
                </a:extLst>
              </a:tr>
              <a:tr h="735842">
                <a:tc>
                  <a:txBody>
                    <a:bodyPr/>
                    <a:lstStyle/>
                    <a:p>
                      <a:pPr marL="0" marR="0" algn="ctr" rtl="0">
                        <a:lnSpc>
                          <a:spcPct val="115000"/>
                        </a:lnSpc>
                        <a:spcAft>
                          <a:spcPts val="1000"/>
                        </a:spcAft>
                      </a:pPr>
                      <a:r>
                        <a:rPr lang="ar-SA" sz="1200" noProof="0" dirty="0">
                          <a:effectLst/>
                        </a:rPr>
                        <a:t>GAP-T18</a:t>
                      </a:r>
                      <a:endParaRPr lang="ar-SA" sz="1200" noProof="0" dirty="0">
                        <a:effectLst/>
                        <a:latin typeface="Cambria" panose="02040503050406030204" pitchFamily="18" charset="0"/>
                        <a:ea typeface="MS Mincho" panose="02020609040205080304" pitchFamily="49" charset="-128"/>
                        <a:cs typeface="Arial" panose="020B0604020202020204" pitchFamily="34" charset="0"/>
                      </a:endParaRPr>
                    </a:p>
                  </a:txBody>
                  <a:tcPr marL="53258" marR="53258" marT="0" marB="0"/>
                </a:tc>
                <a:tc>
                  <a:txBody>
                    <a:bodyPr/>
                    <a:lstStyle/>
                    <a:p>
                      <a:pPr marL="0" marR="0" algn="r" rtl="1">
                        <a:lnSpc>
                          <a:spcPct val="115000"/>
                        </a:lnSpc>
                        <a:spcAft>
                          <a:spcPts val="1000"/>
                        </a:spcAft>
                      </a:pPr>
                      <a:r>
                        <a:rPr lang="ar-SA" sz="1200" noProof="0" dirty="0">
                          <a:effectLst/>
                        </a:rPr>
                        <a:t>عدم استخدام تقنيات SOAR (تنسيق الأمان والتشغيل الآلي والاستجابة) داخل SOC.</a:t>
                      </a:r>
                      <a:endParaRPr lang="ar-SA" sz="1200" noProof="0" dirty="0">
                        <a:effectLst/>
                        <a:latin typeface="Cambria" panose="02040503050406030204" pitchFamily="18" charset="0"/>
                        <a:ea typeface="MS Mincho" panose="02020609040205080304" pitchFamily="49" charset="-128"/>
                        <a:cs typeface="Arial" panose="020B0604020202020204" pitchFamily="34" charset="0"/>
                      </a:endParaRPr>
                    </a:p>
                  </a:txBody>
                  <a:tcPr marL="53258" marR="53258" marT="0" marB="0"/>
                </a:tc>
                <a:tc>
                  <a:txBody>
                    <a:bodyPr/>
                    <a:lstStyle/>
                    <a:p>
                      <a:pPr marL="0" marR="0" algn="r" rtl="1">
                        <a:lnSpc>
                          <a:spcPct val="115000"/>
                        </a:lnSpc>
                        <a:spcAft>
                          <a:spcPts val="1000"/>
                        </a:spcAft>
                      </a:pPr>
                      <a:r>
                        <a:rPr lang="ar-SA" sz="1200" noProof="0" dirty="0">
                          <a:effectLst/>
                        </a:rPr>
                        <a:t>عالية</a:t>
                      </a:r>
                      <a:endParaRPr lang="ar-SA" sz="1200" noProof="0" dirty="0">
                        <a:effectLst/>
                        <a:latin typeface="Cambria" panose="02040503050406030204" pitchFamily="18" charset="0"/>
                        <a:ea typeface="MS Mincho" panose="02020609040205080304" pitchFamily="49" charset="-128"/>
                        <a:cs typeface="Arial" panose="020B0604020202020204" pitchFamily="34" charset="0"/>
                      </a:endParaRPr>
                    </a:p>
                  </a:txBody>
                  <a:tcPr marL="53258" marR="53258" marT="0" marB="0"/>
                </a:tc>
                <a:tc>
                  <a:txBody>
                    <a:bodyPr/>
                    <a:lstStyle/>
                    <a:p>
                      <a:pPr marL="0" marR="0" algn="r" rtl="1">
                        <a:lnSpc>
                          <a:spcPct val="115000"/>
                        </a:lnSpc>
                        <a:spcAft>
                          <a:spcPts val="1000"/>
                        </a:spcAft>
                      </a:pPr>
                      <a:r>
                        <a:rPr lang="ar-SA" sz="1200" noProof="0" dirty="0">
                          <a:effectLst/>
                        </a:rPr>
                        <a:t>تطبيق منصة SOAR داخل SOC</a:t>
                      </a:r>
                      <a:endParaRPr lang="ar-SA" sz="1200" noProof="0" dirty="0">
                        <a:effectLst/>
                        <a:latin typeface="Cambria" panose="02040503050406030204" pitchFamily="18" charset="0"/>
                        <a:ea typeface="MS Mincho" panose="02020609040205080304" pitchFamily="49" charset="-128"/>
                        <a:cs typeface="Arial" panose="020B0604020202020204" pitchFamily="34" charset="0"/>
                      </a:endParaRPr>
                    </a:p>
                  </a:txBody>
                  <a:tcPr marL="53258" marR="53258" marT="0" marB="0"/>
                </a:tc>
                <a:tc>
                  <a:txBody>
                    <a:bodyPr/>
                    <a:lstStyle/>
                    <a:p>
                      <a:pPr marL="0" marR="0" algn="r" rtl="1">
                        <a:lnSpc>
                          <a:spcPct val="115000"/>
                        </a:lnSpc>
                        <a:spcAft>
                          <a:spcPts val="1000"/>
                        </a:spcAft>
                      </a:pPr>
                      <a:r>
                        <a:rPr lang="ar-SA" sz="1200" noProof="0" dirty="0">
                          <a:effectLst/>
                        </a:rPr>
                        <a:t>تسريع الاستجابة للحوادث الأمنية وتقليل الأعباء التشغيلية</a:t>
                      </a:r>
                      <a:endParaRPr lang="ar-SA" sz="1200" noProof="0" dirty="0">
                        <a:effectLst/>
                        <a:latin typeface="Cambria" panose="02040503050406030204" pitchFamily="18" charset="0"/>
                        <a:ea typeface="MS Mincho" panose="02020609040205080304" pitchFamily="49" charset="-128"/>
                        <a:cs typeface="Arial" panose="020B0604020202020204" pitchFamily="34" charset="0"/>
                      </a:endParaRPr>
                    </a:p>
                  </a:txBody>
                  <a:tcPr marL="53258" marR="53258" marT="0" marB="0"/>
                </a:tc>
                <a:extLst>
                  <a:ext uri="{0D108BD9-81ED-4DB2-BD59-A6C34878D82A}">
                    <a16:rowId xmlns:a16="http://schemas.microsoft.com/office/drawing/2014/main" val="2631053816"/>
                  </a:ext>
                </a:extLst>
              </a:tr>
            </a:tbl>
          </a:graphicData>
        </a:graphic>
      </p:graphicFrame>
    </p:spTree>
    <p:extLst>
      <p:ext uri="{BB962C8B-B14F-4D97-AF65-F5344CB8AC3E}">
        <p14:creationId xmlns:p14="http://schemas.microsoft.com/office/powerpoint/2010/main" val="2218657499"/>
      </p:ext>
    </p:extLst>
  </p:cSld>
  <p:clrMapOvr>
    <a:masterClrMapping/>
  </p:clrMapOvr>
  <mc:AlternateContent xmlns:mc="http://schemas.openxmlformats.org/markup-compatibility/2006" xmlns:p14="http://schemas.microsoft.com/office/powerpoint/2010/main">
    <mc:Choice Requires="p14">
      <p:transition spd="slow" p14:dur="1300">
        <p14:pan dir="r"/>
      </p:transition>
    </mc:Choice>
    <mc:Fallback xmlns="">
      <p:transition spd="slow">
        <p:fade/>
      </p:transition>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A5A213-C152-885A-8155-BB7474FC71D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A06D384-458C-9BB3-D406-9036AD889C2B}"/>
              </a:ext>
            </a:extLst>
          </p:cNvPr>
          <p:cNvSpPr>
            <a:spLocks noGrp="1"/>
          </p:cNvSpPr>
          <p:nvPr>
            <p:ph type="title"/>
          </p:nvPr>
        </p:nvSpPr>
        <p:spPr/>
        <p:txBody>
          <a:bodyPr/>
          <a:lstStyle/>
          <a:p>
            <a:r>
              <a:rPr lang="ar-SA" noProof="0" dirty="0"/>
              <a:t>ملخص تحليل الفجوات لبنية التقنية</a:t>
            </a:r>
          </a:p>
        </p:txBody>
      </p:sp>
      <p:sp>
        <p:nvSpPr>
          <p:cNvPr id="3" name="Slide Number Placeholder 2">
            <a:extLst>
              <a:ext uri="{FF2B5EF4-FFF2-40B4-BE49-F238E27FC236}">
                <a16:creationId xmlns:a16="http://schemas.microsoft.com/office/drawing/2014/main" id="{33DD6648-CD11-4DD0-277B-C6D07E8DFAB6}"/>
              </a:ext>
            </a:extLst>
          </p:cNvPr>
          <p:cNvSpPr>
            <a:spLocks noGrp="1"/>
          </p:cNvSpPr>
          <p:nvPr>
            <p:ph type="sldNum" sz="quarter" idx="12"/>
          </p:nvPr>
        </p:nvSpPr>
        <p:spPr/>
        <p:txBody>
          <a:bodyPr/>
          <a:lstStyle/>
          <a:p>
            <a:fld id="{0BE4EC83-A869-464E-AE9F-881796FB085E}" type="slidenum">
              <a:rPr lang="ar-SA" noProof="0" smtClean="0"/>
              <a:t>41</a:t>
            </a:fld>
            <a:endParaRPr lang="ar-SA" noProof="0" dirty="0"/>
          </a:p>
        </p:txBody>
      </p:sp>
      <p:graphicFrame>
        <p:nvGraphicFramePr>
          <p:cNvPr id="5" name="Table 4">
            <a:extLst>
              <a:ext uri="{FF2B5EF4-FFF2-40B4-BE49-F238E27FC236}">
                <a16:creationId xmlns:a16="http://schemas.microsoft.com/office/drawing/2014/main" id="{D36544D0-189C-E47B-BB99-0A6AE0A538AA}"/>
              </a:ext>
            </a:extLst>
          </p:cNvPr>
          <p:cNvGraphicFramePr>
            <a:graphicFrameLocks noGrp="1"/>
          </p:cNvGraphicFramePr>
          <p:nvPr>
            <p:extLst>
              <p:ext uri="{D42A27DB-BD31-4B8C-83A1-F6EECF244321}">
                <p14:modId xmlns:p14="http://schemas.microsoft.com/office/powerpoint/2010/main" val="1881816115"/>
              </p:ext>
            </p:extLst>
          </p:nvPr>
        </p:nvGraphicFramePr>
        <p:xfrm>
          <a:off x="1405370" y="1169575"/>
          <a:ext cx="10088797" cy="1701222"/>
        </p:xfrm>
        <a:graphic>
          <a:graphicData uri="http://schemas.openxmlformats.org/drawingml/2006/table">
            <a:tbl>
              <a:tblPr rtl="1" firstRow="1" firstCol="1" bandRow="1">
                <a:tableStyleId>{5C22544A-7EE6-4342-B048-85BDC9FD1C3A}</a:tableStyleId>
              </a:tblPr>
              <a:tblGrid>
                <a:gridCol w="989525">
                  <a:extLst>
                    <a:ext uri="{9D8B030D-6E8A-4147-A177-3AD203B41FA5}">
                      <a16:colId xmlns:a16="http://schemas.microsoft.com/office/drawing/2014/main" val="1507829404"/>
                    </a:ext>
                  </a:extLst>
                </a:gridCol>
                <a:gridCol w="3946326">
                  <a:extLst>
                    <a:ext uri="{9D8B030D-6E8A-4147-A177-3AD203B41FA5}">
                      <a16:colId xmlns:a16="http://schemas.microsoft.com/office/drawing/2014/main" val="1616686432"/>
                    </a:ext>
                  </a:extLst>
                </a:gridCol>
                <a:gridCol w="1117428">
                  <a:extLst>
                    <a:ext uri="{9D8B030D-6E8A-4147-A177-3AD203B41FA5}">
                      <a16:colId xmlns:a16="http://schemas.microsoft.com/office/drawing/2014/main" val="3144398232"/>
                    </a:ext>
                  </a:extLst>
                </a:gridCol>
                <a:gridCol w="2017759">
                  <a:extLst>
                    <a:ext uri="{9D8B030D-6E8A-4147-A177-3AD203B41FA5}">
                      <a16:colId xmlns:a16="http://schemas.microsoft.com/office/drawing/2014/main" val="1079806587"/>
                    </a:ext>
                  </a:extLst>
                </a:gridCol>
                <a:gridCol w="2017759">
                  <a:extLst>
                    <a:ext uri="{9D8B030D-6E8A-4147-A177-3AD203B41FA5}">
                      <a16:colId xmlns:a16="http://schemas.microsoft.com/office/drawing/2014/main" val="382664363"/>
                    </a:ext>
                  </a:extLst>
                </a:gridCol>
              </a:tblGrid>
              <a:tr h="136990">
                <a:tc>
                  <a:txBody>
                    <a:bodyPr/>
                    <a:lstStyle/>
                    <a:p>
                      <a:pPr marL="0" marR="0" algn="r" rtl="1">
                        <a:lnSpc>
                          <a:spcPct val="115000"/>
                        </a:lnSpc>
                        <a:spcAft>
                          <a:spcPts val="1000"/>
                        </a:spcAft>
                      </a:pPr>
                      <a:r>
                        <a:rPr lang="ar-SA" sz="1200" noProof="0" dirty="0">
                          <a:effectLst/>
                        </a:rPr>
                        <a:t>رمز الفجوة</a:t>
                      </a:r>
                      <a:endParaRPr lang="ar-SA" sz="1200" noProof="0" dirty="0">
                        <a:effectLst/>
                        <a:latin typeface="Cambria" panose="02040503050406030204" pitchFamily="18" charset="0"/>
                        <a:ea typeface="MS Mincho" panose="02020609040205080304" pitchFamily="49" charset="-128"/>
                        <a:cs typeface="Arial" panose="020B0604020202020204" pitchFamily="34" charset="0"/>
                      </a:endParaRPr>
                    </a:p>
                  </a:txBody>
                  <a:tcPr marL="53258" marR="53258" marT="0" marB="0"/>
                </a:tc>
                <a:tc>
                  <a:txBody>
                    <a:bodyPr/>
                    <a:lstStyle/>
                    <a:p>
                      <a:pPr marL="0" marR="0" algn="r" rtl="1">
                        <a:lnSpc>
                          <a:spcPct val="115000"/>
                        </a:lnSpc>
                        <a:spcAft>
                          <a:spcPts val="1000"/>
                        </a:spcAft>
                      </a:pPr>
                      <a:r>
                        <a:rPr lang="ar-SA" sz="1200" noProof="0" dirty="0">
                          <a:effectLst/>
                        </a:rPr>
                        <a:t>الفجوة</a:t>
                      </a:r>
                      <a:endParaRPr lang="ar-SA" sz="1200" noProof="0" dirty="0">
                        <a:effectLst/>
                        <a:latin typeface="Cambria" panose="02040503050406030204" pitchFamily="18" charset="0"/>
                        <a:ea typeface="MS Mincho" panose="02020609040205080304" pitchFamily="49" charset="-128"/>
                        <a:cs typeface="Arial" panose="020B0604020202020204" pitchFamily="34" charset="0"/>
                      </a:endParaRPr>
                    </a:p>
                  </a:txBody>
                  <a:tcPr marL="53258" marR="53258" marT="0" marB="0"/>
                </a:tc>
                <a:tc>
                  <a:txBody>
                    <a:bodyPr/>
                    <a:lstStyle/>
                    <a:p>
                      <a:pPr marL="0" marR="0" algn="r" rtl="1">
                        <a:lnSpc>
                          <a:spcPct val="115000"/>
                        </a:lnSpc>
                        <a:spcAft>
                          <a:spcPts val="1000"/>
                        </a:spcAft>
                      </a:pPr>
                      <a:r>
                        <a:rPr lang="ar-SA" sz="1200" noProof="0" dirty="0">
                          <a:effectLst/>
                        </a:rPr>
                        <a:t>حرجية الفجوة</a:t>
                      </a:r>
                      <a:endParaRPr lang="ar-SA" sz="1200" noProof="0" dirty="0">
                        <a:effectLst/>
                        <a:latin typeface="Cambria" panose="02040503050406030204" pitchFamily="18" charset="0"/>
                        <a:ea typeface="MS Mincho" panose="02020609040205080304" pitchFamily="49" charset="-128"/>
                        <a:cs typeface="Arial" panose="020B0604020202020204" pitchFamily="34" charset="0"/>
                      </a:endParaRPr>
                    </a:p>
                  </a:txBody>
                  <a:tcPr marL="53258" marR="53258" marT="0" marB="0"/>
                </a:tc>
                <a:tc>
                  <a:txBody>
                    <a:bodyPr/>
                    <a:lstStyle/>
                    <a:p>
                      <a:pPr marL="0" marR="0" algn="r" rtl="1">
                        <a:lnSpc>
                          <a:spcPct val="115000"/>
                        </a:lnSpc>
                        <a:spcAft>
                          <a:spcPts val="1000"/>
                        </a:spcAft>
                      </a:pPr>
                      <a:r>
                        <a:rPr lang="ar-SA" sz="1200" noProof="0" dirty="0">
                          <a:effectLst/>
                        </a:rPr>
                        <a:t>الحل المقترح</a:t>
                      </a:r>
                      <a:endParaRPr lang="ar-SA" sz="1200" noProof="0" dirty="0">
                        <a:effectLst/>
                        <a:latin typeface="Cambria" panose="02040503050406030204" pitchFamily="18" charset="0"/>
                        <a:ea typeface="MS Mincho" panose="02020609040205080304" pitchFamily="49" charset="-128"/>
                        <a:cs typeface="Arial" panose="020B0604020202020204" pitchFamily="34" charset="0"/>
                      </a:endParaRPr>
                    </a:p>
                  </a:txBody>
                  <a:tcPr marL="53258" marR="53258" marT="0" marB="0"/>
                </a:tc>
                <a:tc>
                  <a:txBody>
                    <a:bodyPr/>
                    <a:lstStyle/>
                    <a:p>
                      <a:pPr marL="0" marR="0" algn="r" rtl="1">
                        <a:lnSpc>
                          <a:spcPct val="115000"/>
                        </a:lnSpc>
                        <a:spcAft>
                          <a:spcPts val="1000"/>
                        </a:spcAft>
                      </a:pPr>
                      <a:r>
                        <a:rPr lang="ar-SA" sz="1200" noProof="0" dirty="0">
                          <a:effectLst/>
                        </a:rPr>
                        <a:t>الأثر بعد الحل</a:t>
                      </a:r>
                      <a:endParaRPr lang="ar-SA" sz="1200" noProof="0" dirty="0">
                        <a:effectLst/>
                        <a:latin typeface="Cambria" panose="02040503050406030204" pitchFamily="18" charset="0"/>
                        <a:ea typeface="MS Mincho" panose="02020609040205080304" pitchFamily="49" charset="-128"/>
                        <a:cs typeface="Arial" panose="020B0604020202020204" pitchFamily="34" charset="0"/>
                      </a:endParaRPr>
                    </a:p>
                  </a:txBody>
                  <a:tcPr marL="53258" marR="53258" marT="0" marB="0"/>
                </a:tc>
                <a:extLst>
                  <a:ext uri="{0D108BD9-81ED-4DB2-BD59-A6C34878D82A}">
                    <a16:rowId xmlns:a16="http://schemas.microsoft.com/office/drawing/2014/main" val="2437098971"/>
                  </a:ext>
                </a:extLst>
              </a:tr>
              <a:tr h="286703">
                <a:tc>
                  <a:txBody>
                    <a:bodyPr/>
                    <a:lstStyle/>
                    <a:p>
                      <a:pPr marL="0" marR="0" algn="ctr" rtl="0">
                        <a:lnSpc>
                          <a:spcPct val="115000"/>
                        </a:lnSpc>
                        <a:spcAft>
                          <a:spcPts val="1000"/>
                        </a:spcAft>
                      </a:pPr>
                      <a:r>
                        <a:rPr lang="ar-SA" sz="1200" noProof="0" dirty="0">
                          <a:effectLst/>
                        </a:rPr>
                        <a:t>GAP-T19</a:t>
                      </a:r>
                      <a:endParaRPr lang="ar-SA" sz="1200" noProof="0" dirty="0">
                        <a:effectLst/>
                        <a:latin typeface="Cambria" panose="02040503050406030204" pitchFamily="18" charset="0"/>
                        <a:ea typeface="MS Mincho" panose="02020609040205080304" pitchFamily="49" charset="-128"/>
                        <a:cs typeface="Arial" panose="020B0604020202020204" pitchFamily="34" charset="0"/>
                      </a:endParaRPr>
                    </a:p>
                  </a:txBody>
                  <a:tcPr marL="53258" marR="53258" marT="0" marB="0"/>
                </a:tc>
                <a:tc>
                  <a:txBody>
                    <a:bodyPr/>
                    <a:lstStyle/>
                    <a:p>
                      <a:pPr marL="0" marR="0" algn="r" defTabSz="914400" rtl="1" eaLnBrk="1" latinLnBrk="0" hangingPunct="1">
                        <a:lnSpc>
                          <a:spcPct val="115000"/>
                        </a:lnSpc>
                        <a:spcAft>
                          <a:spcPts val="1000"/>
                        </a:spcAft>
                      </a:pPr>
                      <a:r>
                        <a:rPr lang="ar-SA" sz="1200" kern="1200" noProof="0" dirty="0">
                          <a:solidFill>
                            <a:schemeClr val="dk1"/>
                          </a:solidFill>
                          <a:effectLst/>
                          <a:latin typeface="+mn-lt"/>
                          <a:ea typeface="+mn-ea"/>
                          <a:cs typeface="+mn-cs"/>
                        </a:rPr>
                        <a:t>وجود بعض مراكز البيانات لا تدعم المرافق الأساسية </a:t>
                      </a:r>
                    </a:p>
                  </a:txBody>
                  <a:tcPr marL="53258" marR="53258" marT="0" marB="0"/>
                </a:tc>
                <a:tc>
                  <a:txBody>
                    <a:bodyPr/>
                    <a:lstStyle/>
                    <a:p>
                      <a:pPr marL="0" marR="0" algn="r" defTabSz="914400" rtl="1" eaLnBrk="1" latinLnBrk="0" hangingPunct="1">
                        <a:lnSpc>
                          <a:spcPct val="115000"/>
                        </a:lnSpc>
                        <a:spcAft>
                          <a:spcPts val="1000"/>
                        </a:spcAft>
                      </a:pPr>
                      <a:r>
                        <a:rPr lang="ar-SA" sz="1200" kern="1200" noProof="0" dirty="0">
                          <a:solidFill>
                            <a:schemeClr val="dk1"/>
                          </a:solidFill>
                          <a:effectLst/>
                          <a:latin typeface="+mn-lt"/>
                          <a:ea typeface="+mn-ea"/>
                          <a:cs typeface="+mn-cs"/>
                        </a:rPr>
                        <a:t>متوسطة</a:t>
                      </a:r>
                    </a:p>
                  </a:txBody>
                  <a:tcPr marL="53258" marR="53258" marT="0" marB="0"/>
                </a:tc>
                <a:tc>
                  <a:txBody>
                    <a:bodyPr/>
                    <a:lstStyle/>
                    <a:p>
                      <a:pPr marL="0" marR="0" algn="r" defTabSz="914400" rtl="1" eaLnBrk="1" latinLnBrk="0" hangingPunct="1">
                        <a:lnSpc>
                          <a:spcPct val="115000"/>
                        </a:lnSpc>
                        <a:spcAft>
                          <a:spcPts val="1000"/>
                        </a:spcAft>
                      </a:pPr>
                      <a:r>
                        <a:rPr lang="ar-SA" sz="1200" kern="1200" noProof="0" dirty="0">
                          <a:solidFill>
                            <a:schemeClr val="dk1"/>
                          </a:solidFill>
                          <a:effectLst/>
                          <a:latin typeface="+mn-lt"/>
                          <a:ea typeface="+mn-ea"/>
                          <a:cs typeface="+mn-cs"/>
                        </a:rPr>
                        <a:t>توحيد بيئة التشغيل لأنظمة الخوادم</a:t>
                      </a:r>
                    </a:p>
                  </a:txBody>
                  <a:tcPr marL="53258" marR="53258" marT="0" marB="0"/>
                </a:tc>
                <a:tc>
                  <a:txBody>
                    <a:bodyPr/>
                    <a:lstStyle/>
                    <a:p>
                      <a:pPr marL="0" marR="0" algn="r" rtl="1">
                        <a:lnSpc>
                          <a:spcPct val="115000"/>
                        </a:lnSpc>
                        <a:spcAft>
                          <a:spcPts val="1000"/>
                        </a:spcAft>
                      </a:pPr>
                      <a:r>
                        <a:rPr lang="ar-SA" sz="1200" noProof="0" dirty="0">
                          <a:effectLst/>
                        </a:rPr>
                        <a:t>تحسين التوافقية وتقليل مشاكل الدعم الفني</a:t>
                      </a:r>
                      <a:endParaRPr lang="ar-SA" sz="1200" noProof="0" dirty="0">
                        <a:effectLst/>
                        <a:latin typeface="Cambria" panose="02040503050406030204" pitchFamily="18" charset="0"/>
                        <a:ea typeface="MS Mincho" panose="02020609040205080304" pitchFamily="49" charset="-128"/>
                        <a:cs typeface="Arial" panose="020B0604020202020204" pitchFamily="34" charset="0"/>
                      </a:endParaRPr>
                    </a:p>
                  </a:txBody>
                  <a:tcPr marL="53258" marR="53258" marT="0" marB="0"/>
                </a:tc>
                <a:extLst>
                  <a:ext uri="{0D108BD9-81ED-4DB2-BD59-A6C34878D82A}">
                    <a16:rowId xmlns:a16="http://schemas.microsoft.com/office/drawing/2014/main" val="2131835279"/>
                  </a:ext>
                </a:extLst>
              </a:tr>
              <a:tr h="286703">
                <a:tc>
                  <a:txBody>
                    <a:bodyPr/>
                    <a:lstStyle/>
                    <a:p>
                      <a:pPr marL="0" marR="0" algn="ctr" rtl="0">
                        <a:lnSpc>
                          <a:spcPct val="115000"/>
                        </a:lnSpc>
                        <a:spcAft>
                          <a:spcPts val="1000"/>
                        </a:spcAft>
                      </a:pPr>
                      <a:r>
                        <a:rPr lang="ar-SA" sz="1200" noProof="0" dirty="0">
                          <a:effectLst/>
                        </a:rPr>
                        <a:t>GAP-T20</a:t>
                      </a:r>
                      <a:endParaRPr lang="ar-SA" sz="1200" noProof="0" dirty="0">
                        <a:effectLst/>
                        <a:latin typeface="Cambria" panose="02040503050406030204" pitchFamily="18" charset="0"/>
                        <a:ea typeface="MS Mincho" panose="02020609040205080304" pitchFamily="49" charset="-128"/>
                        <a:cs typeface="Arial" panose="020B0604020202020204" pitchFamily="34" charset="0"/>
                      </a:endParaRPr>
                    </a:p>
                  </a:txBody>
                  <a:tcPr marL="53258" marR="53258" marT="0" marB="0"/>
                </a:tc>
                <a:tc>
                  <a:txBody>
                    <a:bodyPr/>
                    <a:lstStyle/>
                    <a:p>
                      <a:pPr marL="0" marR="0" algn="r" defTabSz="914400" rtl="1" eaLnBrk="1" latinLnBrk="0" hangingPunct="1">
                        <a:lnSpc>
                          <a:spcPct val="115000"/>
                        </a:lnSpc>
                        <a:spcAft>
                          <a:spcPts val="1000"/>
                        </a:spcAft>
                      </a:pPr>
                      <a:r>
                        <a:rPr lang="ar-SA" sz="1200" kern="1200" noProof="0" dirty="0">
                          <a:solidFill>
                            <a:schemeClr val="dk1"/>
                          </a:solidFill>
                          <a:effectLst/>
                          <a:latin typeface="+mn-lt"/>
                          <a:ea typeface="+mn-ea"/>
                          <a:cs typeface="+mn-cs"/>
                        </a:rPr>
                        <a:t>عدم توفر خدمة نشر وإدارة التكوين التلقائي </a:t>
                      </a:r>
                      <a:r>
                        <a:rPr lang="ar-SA" sz="1200" kern="1200" noProof="0" dirty="0" err="1">
                          <a:solidFill>
                            <a:schemeClr val="dk1"/>
                          </a:solidFill>
                          <a:effectLst/>
                          <a:latin typeface="+mn-lt"/>
                          <a:ea typeface="+mn-ea"/>
                          <a:cs typeface="+mn-cs"/>
                        </a:rPr>
                        <a:t>Automation</a:t>
                      </a:r>
                      <a:r>
                        <a:rPr lang="ar-SA" sz="1200" kern="1200" noProof="0" dirty="0">
                          <a:solidFill>
                            <a:schemeClr val="dk1"/>
                          </a:solidFill>
                          <a:effectLst/>
                          <a:latin typeface="+mn-lt"/>
                          <a:ea typeface="+mn-ea"/>
                          <a:cs typeface="+mn-cs"/>
                        </a:rPr>
                        <a:t> مما يؤدي إلى تباطؤ عمليات النشر</a:t>
                      </a:r>
                    </a:p>
                  </a:txBody>
                  <a:tcPr marL="53258" marR="53258" marT="0" marB="0"/>
                </a:tc>
                <a:tc>
                  <a:txBody>
                    <a:bodyPr/>
                    <a:lstStyle/>
                    <a:p>
                      <a:pPr marL="0" marR="0" algn="r" defTabSz="914400" rtl="1" eaLnBrk="1" latinLnBrk="0" hangingPunct="1">
                        <a:lnSpc>
                          <a:spcPct val="115000"/>
                        </a:lnSpc>
                        <a:spcAft>
                          <a:spcPts val="1000"/>
                        </a:spcAft>
                      </a:pPr>
                      <a:r>
                        <a:rPr lang="ar-SA" sz="1200" kern="1200" noProof="0" dirty="0">
                          <a:solidFill>
                            <a:schemeClr val="dk1"/>
                          </a:solidFill>
                          <a:effectLst/>
                          <a:latin typeface="+mn-lt"/>
                          <a:ea typeface="+mn-ea"/>
                          <a:cs typeface="+mn-cs"/>
                        </a:rPr>
                        <a:t>عالية</a:t>
                      </a:r>
                    </a:p>
                  </a:txBody>
                  <a:tcPr anchor="ctr"/>
                </a:tc>
                <a:tc>
                  <a:txBody>
                    <a:bodyPr/>
                    <a:lstStyle/>
                    <a:p>
                      <a:pPr marL="0" marR="0" algn="r" defTabSz="914400" rtl="1" eaLnBrk="1" latinLnBrk="0" hangingPunct="1">
                        <a:lnSpc>
                          <a:spcPct val="115000"/>
                        </a:lnSpc>
                        <a:spcAft>
                          <a:spcPts val="1000"/>
                        </a:spcAft>
                      </a:pPr>
                      <a:r>
                        <a:rPr lang="ar-SA" sz="1200" kern="1200" noProof="0" dirty="0">
                          <a:solidFill>
                            <a:schemeClr val="dk1"/>
                          </a:solidFill>
                          <a:effectLst/>
                          <a:latin typeface="+mn-lt"/>
                          <a:ea typeface="+mn-ea"/>
                          <a:cs typeface="+mn-cs"/>
                        </a:rPr>
                        <a:t>تطبيق أدوات الأتمتة مثل </a:t>
                      </a:r>
                      <a:r>
                        <a:rPr lang="ar-SA" sz="1200" kern="1200" noProof="0" dirty="0" err="1">
                          <a:solidFill>
                            <a:schemeClr val="dk1"/>
                          </a:solidFill>
                          <a:effectLst/>
                          <a:latin typeface="+mn-lt"/>
                          <a:ea typeface="+mn-ea"/>
                          <a:cs typeface="+mn-cs"/>
                        </a:rPr>
                        <a:t>Ansible</a:t>
                      </a:r>
                      <a:r>
                        <a:rPr lang="ar-SA" sz="1200" kern="1200" noProof="0" dirty="0">
                          <a:solidFill>
                            <a:schemeClr val="dk1"/>
                          </a:solidFill>
                          <a:effectLst/>
                          <a:latin typeface="+mn-lt"/>
                          <a:ea typeface="+mn-ea"/>
                          <a:cs typeface="+mn-cs"/>
                        </a:rPr>
                        <a:t>, </a:t>
                      </a:r>
                      <a:r>
                        <a:rPr lang="ar-SA" sz="1200" kern="1200" noProof="0" dirty="0" err="1">
                          <a:solidFill>
                            <a:schemeClr val="dk1"/>
                          </a:solidFill>
                          <a:effectLst/>
                          <a:latin typeface="+mn-lt"/>
                          <a:ea typeface="+mn-ea"/>
                          <a:cs typeface="+mn-cs"/>
                        </a:rPr>
                        <a:t>Puppet</a:t>
                      </a:r>
                      <a:r>
                        <a:rPr lang="ar-SA" sz="1200" kern="1200" noProof="0" dirty="0">
                          <a:solidFill>
                            <a:schemeClr val="dk1"/>
                          </a:solidFill>
                          <a:effectLst/>
                          <a:latin typeface="+mn-lt"/>
                          <a:ea typeface="+mn-ea"/>
                          <a:cs typeface="+mn-cs"/>
                        </a:rPr>
                        <a:t>, و TFS لتحسين كفاءة عمليات النشر والإدارة</a:t>
                      </a:r>
                    </a:p>
                  </a:txBody>
                  <a:tcPr anchor="ctr"/>
                </a:tc>
                <a:tc>
                  <a:txBody>
                    <a:bodyPr/>
                    <a:lstStyle/>
                    <a:p>
                      <a:pPr marL="0" marR="0" algn="r" defTabSz="914400" rtl="1" eaLnBrk="1" latinLnBrk="0" hangingPunct="1">
                        <a:lnSpc>
                          <a:spcPct val="115000"/>
                        </a:lnSpc>
                        <a:spcAft>
                          <a:spcPts val="1000"/>
                        </a:spcAft>
                      </a:pPr>
                      <a:r>
                        <a:rPr lang="ar-SA" sz="1200" kern="1200" noProof="0" dirty="0">
                          <a:solidFill>
                            <a:schemeClr val="dk1"/>
                          </a:solidFill>
                          <a:effectLst/>
                          <a:latin typeface="+mn-lt"/>
                          <a:ea typeface="+mn-ea"/>
                          <a:cs typeface="+mn-cs"/>
                        </a:rPr>
                        <a:t>تقليل الأخطاء اليدوية، تسريع عمليات النشر، وتحسين استقرار الأنظمة</a:t>
                      </a:r>
                    </a:p>
                  </a:txBody>
                  <a:tcPr anchor="ctr"/>
                </a:tc>
                <a:extLst>
                  <a:ext uri="{0D108BD9-81ED-4DB2-BD59-A6C34878D82A}">
                    <a16:rowId xmlns:a16="http://schemas.microsoft.com/office/drawing/2014/main" val="3540756371"/>
                  </a:ext>
                </a:extLst>
              </a:tr>
              <a:tr h="481831">
                <a:tc>
                  <a:txBody>
                    <a:bodyPr/>
                    <a:lstStyle/>
                    <a:p>
                      <a:pPr marL="0" marR="0" algn="ctr" rtl="0">
                        <a:lnSpc>
                          <a:spcPct val="115000"/>
                        </a:lnSpc>
                        <a:spcAft>
                          <a:spcPts val="1000"/>
                        </a:spcAft>
                      </a:pPr>
                      <a:r>
                        <a:rPr lang="ar-SA" sz="1200" noProof="0" dirty="0">
                          <a:effectLst/>
                        </a:rPr>
                        <a:t>GAP-T21</a:t>
                      </a:r>
                      <a:endParaRPr lang="ar-SA" sz="1200" noProof="0" dirty="0">
                        <a:effectLst/>
                        <a:latin typeface="Cambria" panose="02040503050406030204" pitchFamily="18" charset="0"/>
                        <a:ea typeface="MS Mincho" panose="02020609040205080304" pitchFamily="49" charset="-128"/>
                        <a:cs typeface="Arial" panose="020B0604020202020204" pitchFamily="34" charset="0"/>
                      </a:endParaRPr>
                    </a:p>
                  </a:txBody>
                  <a:tcPr marL="53258" marR="53258" marT="0" marB="0"/>
                </a:tc>
                <a:tc>
                  <a:txBody>
                    <a:bodyPr/>
                    <a:lstStyle/>
                    <a:p>
                      <a:pPr marL="0" marR="0" algn="r" rtl="1">
                        <a:lnSpc>
                          <a:spcPct val="115000"/>
                        </a:lnSpc>
                        <a:spcAft>
                          <a:spcPts val="1000"/>
                        </a:spcAft>
                      </a:pPr>
                      <a:r>
                        <a:rPr lang="ar-SA" sz="1200" noProof="0" dirty="0">
                          <a:effectLst/>
                        </a:rPr>
                        <a:t>عدم دورة حياة واضحة للخوادم واستراتيجية لإعادة التدوير أو التحديث المستمر</a:t>
                      </a:r>
                      <a:endParaRPr lang="ar-SA" sz="1200" noProof="0" dirty="0">
                        <a:effectLst/>
                        <a:latin typeface="Cambria" panose="02040503050406030204" pitchFamily="18" charset="0"/>
                        <a:ea typeface="MS Mincho" panose="02020609040205080304" pitchFamily="49" charset="-128"/>
                        <a:cs typeface="Arial" panose="020B0604020202020204" pitchFamily="34" charset="0"/>
                      </a:endParaRPr>
                    </a:p>
                  </a:txBody>
                  <a:tcPr marL="53258" marR="53258" marT="0" marB="0"/>
                </a:tc>
                <a:tc>
                  <a:txBody>
                    <a:bodyPr/>
                    <a:lstStyle/>
                    <a:p>
                      <a:pPr marL="0" marR="0" algn="r" rtl="1">
                        <a:lnSpc>
                          <a:spcPct val="115000"/>
                        </a:lnSpc>
                        <a:spcAft>
                          <a:spcPts val="1000"/>
                        </a:spcAft>
                      </a:pPr>
                      <a:r>
                        <a:rPr lang="ar-SA" sz="1200" noProof="0" dirty="0">
                          <a:effectLst/>
                        </a:rPr>
                        <a:t>عالية</a:t>
                      </a:r>
                      <a:endParaRPr lang="ar-SA" sz="1200" noProof="0" dirty="0">
                        <a:effectLst/>
                        <a:latin typeface="Cambria" panose="02040503050406030204" pitchFamily="18" charset="0"/>
                        <a:ea typeface="MS Mincho" panose="02020609040205080304" pitchFamily="49" charset="-128"/>
                        <a:cs typeface="Arial" panose="020B0604020202020204" pitchFamily="34" charset="0"/>
                      </a:endParaRPr>
                    </a:p>
                  </a:txBody>
                  <a:tcPr marL="53258" marR="53258" marT="0" marB="0"/>
                </a:tc>
                <a:tc>
                  <a:txBody>
                    <a:bodyPr/>
                    <a:lstStyle/>
                    <a:p>
                      <a:pPr marL="0" marR="0" algn="r" rtl="1">
                        <a:lnSpc>
                          <a:spcPct val="115000"/>
                        </a:lnSpc>
                        <a:spcAft>
                          <a:spcPts val="1000"/>
                        </a:spcAft>
                      </a:pPr>
                      <a:r>
                        <a:rPr lang="ar-SA" sz="1200" noProof="0" dirty="0">
                          <a:effectLst/>
                        </a:rPr>
                        <a:t>إنشاء سياسة واضحة لدورة حياة الخوادم</a:t>
                      </a:r>
                      <a:endParaRPr lang="ar-SA" sz="1200" noProof="0" dirty="0">
                        <a:effectLst/>
                        <a:latin typeface="Cambria" panose="02040503050406030204" pitchFamily="18" charset="0"/>
                        <a:ea typeface="MS Mincho" panose="02020609040205080304" pitchFamily="49" charset="-128"/>
                        <a:cs typeface="Arial" panose="020B0604020202020204" pitchFamily="34" charset="0"/>
                      </a:endParaRPr>
                    </a:p>
                  </a:txBody>
                  <a:tcPr marL="53258" marR="53258" marT="0" marB="0"/>
                </a:tc>
                <a:tc>
                  <a:txBody>
                    <a:bodyPr/>
                    <a:lstStyle/>
                    <a:p>
                      <a:pPr marL="0" marR="0" algn="r" rtl="1">
                        <a:lnSpc>
                          <a:spcPct val="115000"/>
                        </a:lnSpc>
                        <a:spcAft>
                          <a:spcPts val="1000"/>
                        </a:spcAft>
                      </a:pPr>
                      <a:r>
                        <a:rPr lang="ar-SA" sz="1200" noProof="0" dirty="0">
                          <a:effectLst/>
                        </a:rPr>
                        <a:t>تحسين الاستدامة وإدارة الأصول</a:t>
                      </a:r>
                      <a:endParaRPr lang="ar-SA" sz="1200" noProof="0" dirty="0">
                        <a:effectLst/>
                        <a:latin typeface="Cambria" panose="02040503050406030204" pitchFamily="18" charset="0"/>
                        <a:ea typeface="MS Mincho" panose="02020609040205080304" pitchFamily="49" charset="-128"/>
                        <a:cs typeface="Arial" panose="020B0604020202020204" pitchFamily="34" charset="0"/>
                      </a:endParaRPr>
                    </a:p>
                  </a:txBody>
                  <a:tcPr marL="53258" marR="53258" marT="0" marB="0"/>
                </a:tc>
                <a:extLst>
                  <a:ext uri="{0D108BD9-81ED-4DB2-BD59-A6C34878D82A}">
                    <a16:rowId xmlns:a16="http://schemas.microsoft.com/office/drawing/2014/main" val="166677197"/>
                  </a:ext>
                </a:extLst>
              </a:tr>
            </a:tbl>
          </a:graphicData>
        </a:graphic>
      </p:graphicFrame>
    </p:spTree>
    <p:extLst>
      <p:ext uri="{BB962C8B-B14F-4D97-AF65-F5344CB8AC3E}">
        <p14:creationId xmlns:p14="http://schemas.microsoft.com/office/powerpoint/2010/main" val="780894170"/>
      </p:ext>
    </p:extLst>
  </p:cSld>
  <p:clrMapOvr>
    <a:masterClrMapping/>
  </p:clrMapOvr>
  <mc:AlternateContent xmlns:mc="http://schemas.openxmlformats.org/markup-compatibility/2006" xmlns:p14="http://schemas.microsoft.com/office/powerpoint/2010/main">
    <mc:Choice Requires="p14">
      <p:transition spd="slow" p14:dur="1300">
        <p14:pan dir="r"/>
      </p:transition>
    </mc:Choice>
    <mc:Fallback xmlns="">
      <p:transition spd="slow">
        <p:fade/>
      </p:transition>
    </mc:Fallback>
  </mc:AlternateContent>
</p:sld>
</file>

<file path=ppt/theme/theme1.xml><?xml version="1.0" encoding="utf-8"?>
<a:theme xmlns:a="http://schemas.openxmlformats.org/drawingml/2006/main" name="Office Theme">
  <a:themeElements>
    <a:clrScheme name="هيئة تقويم التعليم والتدريب">
      <a:dk1>
        <a:sysClr val="windowText" lastClr="000000"/>
      </a:dk1>
      <a:lt1>
        <a:sysClr val="window" lastClr="FFFFFF"/>
      </a:lt1>
      <a:dk2>
        <a:srgbClr val="44546A"/>
      </a:dk2>
      <a:lt2>
        <a:srgbClr val="E7E6E6"/>
      </a:lt2>
      <a:accent1>
        <a:srgbClr val="4C3C8D"/>
      </a:accent1>
      <a:accent2>
        <a:srgbClr val="3FA0D9"/>
      </a:accent2>
      <a:accent3>
        <a:srgbClr val="F5A053"/>
      </a:accent3>
      <a:accent4>
        <a:srgbClr val="44AC52"/>
      </a:accent4>
      <a:accent5>
        <a:srgbClr val="5C79B9"/>
      </a:accent5>
      <a:accent6>
        <a:srgbClr val="8C493C"/>
      </a:accent6>
      <a:hlink>
        <a:srgbClr val="0563C1"/>
      </a:hlink>
      <a:folHlink>
        <a:srgbClr val="954F72"/>
      </a:folHlink>
    </a:clrScheme>
    <a:fontScheme name="Custom 2">
      <a:majorFont>
        <a:latin typeface="Sakkal Majalla"/>
        <a:ea typeface=""/>
        <a:cs typeface="Sakkal Majalla"/>
      </a:majorFont>
      <a:minorFont>
        <a:latin typeface="Sakkal Majalla"/>
        <a:ea typeface=""/>
        <a:cs typeface="Sakkal Majall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قالب هيئة تقويم التعليم والتدريب" id="{9A6817DC-B17F-4D1B-B5C7-111B32FC2AAE}" vid="{4B21A0E3-9419-4B4C-8023-7E7AF5CFDCD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قالب هيئة تقويم التعليم والتدريب</Template>
  <TotalTime>36718</TotalTime>
  <Words>10949</Words>
  <Application>Microsoft Office PowerPoint</Application>
  <PresentationFormat>Widescreen</PresentationFormat>
  <Paragraphs>1357</Paragraphs>
  <Slides>41</Slides>
  <Notes>8</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41</vt:i4>
      </vt:variant>
    </vt:vector>
  </HeadingPairs>
  <TitlesOfParts>
    <vt:vector size="50" baseType="lpstr">
      <vt:lpstr>Calibri</vt:lpstr>
      <vt:lpstr>Tajawal</vt:lpstr>
      <vt:lpstr>Arial</vt:lpstr>
      <vt:lpstr>DIN Next LT Arabic</vt:lpstr>
      <vt:lpstr>Sakkal Majalla</vt:lpstr>
      <vt:lpstr>Wingdings</vt:lpstr>
      <vt:lpstr>Cambria</vt:lpstr>
      <vt:lpstr>Aptos Narrow</vt:lpstr>
      <vt:lpstr>Office Theme</vt:lpstr>
      <vt:lpstr>فجوات البنية المؤسسية</vt:lpstr>
      <vt:lpstr>PowerPoint Presentation</vt:lpstr>
      <vt:lpstr>PowerPoint Presentation</vt:lpstr>
      <vt:lpstr>PowerPoint Presentation</vt:lpstr>
      <vt:lpstr>المقدمة</vt:lpstr>
      <vt:lpstr>PowerPoint Presentation</vt:lpstr>
      <vt:lpstr>الغرض من الوثيقة</vt:lpstr>
      <vt:lpstr>تحليل فجوات البنية المؤسسية</vt:lpstr>
      <vt:lpstr>ملخص تحليل الفجوات لبنية الأعمال </vt:lpstr>
      <vt:lpstr>ملخص تحليل الفجوات لبنية الأعمال </vt:lpstr>
      <vt:lpstr>ملخص تحليل الفجوات لبنية الأعمال </vt:lpstr>
      <vt:lpstr>ملخص تحليل الفجوات لبنية الأعمال </vt:lpstr>
      <vt:lpstr>ملخص تحليل الفجوات لبنية الأعمال </vt:lpstr>
      <vt:lpstr>ملخص تحليل الفجوات لبنية الأعمال </vt:lpstr>
      <vt:lpstr>ملخص تحليل الفجوات لبنية الأعمال </vt:lpstr>
      <vt:lpstr>ملخص تحليل الفجوات لبنية الأعمال </vt:lpstr>
      <vt:lpstr>ملخص تحليل الفجوات لبنية الأعمال </vt:lpstr>
      <vt:lpstr>ملخص تحليل الفجوات لبنية الأعمال </vt:lpstr>
      <vt:lpstr>ملخص تحليل الفجوات لبنية الأعمال </vt:lpstr>
      <vt:lpstr>ملخص تحليل الفجوات لبنية الأعمال </vt:lpstr>
      <vt:lpstr>ملخص تحليل الفجوات لبنية الأعمال </vt:lpstr>
      <vt:lpstr>ملخص تحليل الفجوات لبنية الأعمال </vt:lpstr>
      <vt:lpstr>ملخص تحليل الفجوات لبنية الأعمال </vt:lpstr>
      <vt:lpstr>ملخص تحليل الفجوات لبنية الأعمال </vt:lpstr>
      <vt:lpstr>ملخص تحليل الفجوات لبنية الأعمال </vt:lpstr>
      <vt:lpstr>ملخص تحليل الفجوات لبنية الأعمال </vt:lpstr>
      <vt:lpstr>ملخص تحليل الفجوات لبنية التطبيقات </vt:lpstr>
      <vt:lpstr>ملخص تحليل الفجوات لبنية التطبيقات </vt:lpstr>
      <vt:lpstr>ملخص تحليل الفجوات لبنية التطبيقات </vt:lpstr>
      <vt:lpstr>ملخص تحليل الفجوات لبنية التطبيقات </vt:lpstr>
      <vt:lpstr>ملخص تحليل الفجوات لبنية التطبيقات </vt:lpstr>
      <vt:lpstr>ملخص تحليل الفجوات لبنية البيانات</vt:lpstr>
      <vt:lpstr>ملخص تحليل الفجوات لبنية البيانات</vt:lpstr>
      <vt:lpstr>ملخص تحليل الفجوات لبنية البيانات</vt:lpstr>
      <vt:lpstr>ملخص تحليل الفجوات لبنية البيانات</vt:lpstr>
      <vt:lpstr>ملخص تحليل الفجوات لبنية البيانات</vt:lpstr>
      <vt:lpstr>ملخص تحليل الفجوات لبنية البيانات</vt:lpstr>
      <vt:lpstr>ملخص تحليل الفجوات لبنية البيانات</vt:lpstr>
      <vt:lpstr>ملخص تحليل الفجوات لبنية التقنية</vt:lpstr>
      <vt:lpstr>ملخص تحليل الفجوات لبنية التقنية</vt:lpstr>
      <vt:lpstr>ملخص تحليل الفجوات لبنية التقنية</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اجتماع إطلاق مشروع</dc:title>
  <dc:creator>ashawky</dc:creator>
  <cp:lastModifiedBy>Sami Elkady</cp:lastModifiedBy>
  <cp:revision>2314</cp:revision>
  <dcterms:created xsi:type="dcterms:W3CDTF">2024-05-29T18:26:52Z</dcterms:created>
  <dcterms:modified xsi:type="dcterms:W3CDTF">2025-05-14T10:55:09Z</dcterms:modified>
</cp:coreProperties>
</file>