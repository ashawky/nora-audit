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2" r:id="rId1"/>
  </p:sldMasterIdLst>
  <p:notesMasterIdLst>
    <p:notesMasterId r:id="rId36"/>
  </p:notesMasterIdLst>
  <p:handoutMasterIdLst>
    <p:handoutMasterId r:id="rId37"/>
  </p:handoutMasterIdLst>
  <p:sldIdLst>
    <p:sldId id="479" r:id="rId2"/>
    <p:sldId id="452" r:id="rId3"/>
    <p:sldId id="525" r:id="rId4"/>
    <p:sldId id="526" r:id="rId5"/>
    <p:sldId id="5509" r:id="rId6"/>
    <p:sldId id="528" r:id="rId7"/>
    <p:sldId id="529" r:id="rId8"/>
    <p:sldId id="2147476628" r:id="rId9"/>
    <p:sldId id="530" r:id="rId10"/>
    <p:sldId id="531" r:id="rId11"/>
    <p:sldId id="532" r:id="rId12"/>
    <p:sldId id="5510" r:id="rId13"/>
    <p:sldId id="5458" r:id="rId14"/>
    <p:sldId id="595" r:id="rId15"/>
    <p:sldId id="5456" r:id="rId16"/>
    <p:sldId id="544" r:id="rId17"/>
    <p:sldId id="545" r:id="rId18"/>
    <p:sldId id="541" r:id="rId19"/>
    <p:sldId id="542" r:id="rId20"/>
    <p:sldId id="5216" r:id="rId21"/>
    <p:sldId id="2147476417" r:id="rId22"/>
    <p:sldId id="2147476569" r:id="rId23"/>
    <p:sldId id="2147476535" r:id="rId24"/>
    <p:sldId id="2147476539" r:id="rId25"/>
    <p:sldId id="2147476451" r:id="rId26"/>
    <p:sldId id="2147476599" r:id="rId27"/>
    <p:sldId id="2147476619" r:id="rId28"/>
    <p:sldId id="2147476555" r:id="rId29"/>
    <p:sldId id="2147476558" r:id="rId30"/>
    <p:sldId id="2147476625" r:id="rId31"/>
    <p:sldId id="2147476626" r:id="rId32"/>
    <p:sldId id="2147476627" r:id="rId33"/>
    <p:sldId id="262" r:id="rId34"/>
    <p:sldId id="27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 clrIdx="0">
    <p:extLst>
      <p:ext uri="{19B8F6BF-5375-455C-9EA6-DF929625EA0E}">
        <p15:presenceInfo xmlns:p15="http://schemas.microsoft.com/office/powerpoint/2012/main" userId="S::dalghadhban@etec.gov.sa::3d4182d2-9ffd-465f-9c22-e5c7ddf2e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59E61"/>
    <a:srgbClr val="1B6B60"/>
    <a:srgbClr val="2FAB7D"/>
    <a:srgbClr val="004E3F"/>
    <a:srgbClr val="025B4F"/>
    <a:srgbClr val="AC1B22"/>
    <a:srgbClr val="D63E20"/>
    <a:srgbClr val="F2F2F2"/>
    <a:srgbClr val="DB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975" autoAdjust="0"/>
    <p:restoredTop sz="93373" autoAdjust="0"/>
  </p:normalViewPr>
  <p:slideViewPr>
    <p:cSldViewPr snapToGrid="0">
      <p:cViewPr varScale="1">
        <p:scale>
          <a:sx n="107" d="100"/>
          <a:sy n="107" d="100"/>
        </p:scale>
        <p:origin x="552" y="102"/>
      </p:cViewPr>
      <p:guideLst/>
    </p:cSldViewPr>
  </p:slid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06T16:23:46.846" idx="1">
    <p:pos x="7670" y="10"/>
    <p:text>يحسن عرض الشريحة</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3/16/2025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3/16/2025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F1EAD9-4EAD-49B8-B3EF-9C89F6A68B19}" type="slidenum">
              <a:rPr lang="en-US" smtClean="0"/>
              <a:t>5</a:t>
            </a:fld>
            <a:endParaRPr lang="en-US"/>
          </a:p>
        </p:txBody>
      </p:sp>
    </p:spTree>
    <p:extLst>
      <p:ext uri="{BB962C8B-B14F-4D97-AF65-F5344CB8AC3E}">
        <p14:creationId xmlns:p14="http://schemas.microsoft.com/office/powerpoint/2010/main" val="1091379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2220277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2639935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2150455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8BAE-95C0-1605-BB98-476357526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AF3AC-7C1E-3FA3-C304-485832509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33525-C610-1A68-EE01-3F91FC07CE8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75B7933-A133-2EEE-0F66-CB21A6CF63FA}"/>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1346320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F7A1-2366-958B-9400-F960F9ABE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7FFD2-DED1-7DBE-B402-D861EF66F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82C14-80E8-DC74-690A-539E7E4EB9D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4A07C87-361F-2FF6-CCA6-05195BD77036}"/>
              </a:ext>
            </a:extLst>
          </p:cNvPr>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2785344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1D86-4793-B5BB-47CA-AAA667E4D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6A507-5F46-EF02-C2D2-EC3FAE298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5EDAE-8E09-9F9D-11AE-04269C6BC93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CFCF195-69C3-BDD9-3409-7B89AB47832B}"/>
              </a:ext>
            </a:extLst>
          </p:cNvPr>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1588648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924C-FECA-AB39-1F46-746AE0EBF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5279A-58B6-7222-9BEE-0E123BEFC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85DEF-CAAF-8C0E-DE32-BD54E27BB21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3190DAE-35CC-E488-363F-C257FF0191A1}"/>
              </a:ext>
            </a:extLst>
          </p:cNvPr>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229943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9AB0-0BE8-FB50-34BC-CA0D3D6D0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C7A85-993C-4D2B-C317-0427A62B3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4574B-48E2-5FC2-BCF1-3D01191818E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53AC359-98DF-B8CC-B6ED-1B9E1B748D8C}"/>
              </a:ext>
            </a:extLst>
          </p:cNvPr>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3095467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sz="11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1832483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59A2-E6EC-AD7A-695D-CD76BBAB4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7F278-6661-ECDD-C38E-86BE23D3D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79508-CAA2-D50A-D271-FB21EABEA07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06F17473-F2EE-2973-11BD-ABF1EAE38233}"/>
              </a:ext>
            </a:extLst>
          </p:cNvPr>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885000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8605-A448-4E63-B0F7-D3F14C486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1E362-908D-D9BF-9E8C-E0F76D7FD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A27D9-BE7C-764A-EA4C-78647207374C}"/>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9786309-FF11-26FB-F932-2F8A92F64ABF}"/>
              </a:ext>
            </a:extLst>
          </p:cNvPr>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2405816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2889727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2546089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8605-A448-4E63-B0F7-D3F14C486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1E362-908D-D9BF-9E8C-E0F76D7FD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A27D9-BE7C-764A-EA4C-78647207374C}"/>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9786309-FF11-26FB-F932-2F8A92F64ABF}"/>
              </a:ext>
            </a:extLst>
          </p:cNvPr>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2124792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3/16/2025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3/16/2025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3/16/2025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3/16/2025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3/16/2025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3/16/2025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3/16/2025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الخاتمة">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0BFF526D-AA45-7247-9B48-443BA8114FEA}"/>
              </a:ext>
            </a:extLst>
          </p:cNvPr>
          <p:cNvSpPr/>
          <p:nvPr userDrawn="1"/>
        </p:nvSpPr>
        <p:spPr>
          <a:xfrm>
            <a:off x="862520" y="999744"/>
            <a:ext cx="10466961" cy="5186908"/>
          </a:xfrm>
          <a:prstGeom prst="rect">
            <a:avLst/>
          </a:prstGeom>
          <a:solidFill>
            <a:srgbClr val="4E3D8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1" fromWordArt="0" anchor="ctr" anchorCtr="0" forceAA="0" compatLnSpc="1">
            <a:prstTxWarp prst="textNoShape">
              <a:avLst/>
            </a:prstTxWarp>
            <a:noAutofit/>
          </a:bodyPr>
          <a:lstStyle/>
          <a:p>
            <a:pPr marL="0" algn="ctr" defTabSz="914400" rtl="0" eaLnBrk="1" latinLnBrk="0" hangingPunct="1"/>
            <a:endParaRPr lang="ar-SA" sz="1463"/>
          </a:p>
        </p:txBody>
      </p:sp>
      <p:grpSp>
        <p:nvGrpSpPr>
          <p:cNvPr id="9" name="مجموعة 8">
            <a:extLst>
              <a:ext uri="{FF2B5EF4-FFF2-40B4-BE49-F238E27FC236}">
                <a16:creationId xmlns:a16="http://schemas.microsoft.com/office/drawing/2014/main" id="{D9B04568-4271-DC40-A96B-EA4203CAD019}"/>
              </a:ext>
            </a:extLst>
          </p:cNvPr>
          <p:cNvGrpSpPr/>
          <p:nvPr userDrawn="1"/>
        </p:nvGrpSpPr>
        <p:grpSpPr>
          <a:xfrm>
            <a:off x="1665112" y="5516881"/>
            <a:ext cx="1089377" cy="168831"/>
            <a:chOff x="7711866" y="6087897"/>
            <a:chExt cx="1035462" cy="197508"/>
          </a:xfrm>
          <a:solidFill>
            <a:srgbClr val="FFAB5C"/>
          </a:solidFill>
        </p:grpSpPr>
        <p:sp>
          <p:nvSpPr>
            <p:cNvPr id="10" name="مستطيل 9">
              <a:extLst>
                <a:ext uri="{FF2B5EF4-FFF2-40B4-BE49-F238E27FC236}">
                  <a16:creationId xmlns:a16="http://schemas.microsoft.com/office/drawing/2014/main" id="{6CE8FC30-07FD-BB47-BB02-CFDB51F8FE6E}"/>
                </a:ext>
              </a:extLst>
            </p:cNvPr>
            <p:cNvSpPr/>
            <p:nvPr userDrawn="1"/>
          </p:nvSpPr>
          <p:spPr>
            <a:xfrm rot="2700000">
              <a:off x="8549821"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a:p>
          </p:txBody>
        </p:sp>
        <p:sp>
          <p:nvSpPr>
            <p:cNvPr id="12" name="مستطيل 11">
              <a:extLst>
                <a:ext uri="{FF2B5EF4-FFF2-40B4-BE49-F238E27FC236}">
                  <a16:creationId xmlns:a16="http://schemas.microsoft.com/office/drawing/2014/main" id="{276788EB-FDAA-2F49-B3E3-77463C5E379A}"/>
                </a:ext>
              </a:extLst>
            </p:cNvPr>
            <p:cNvSpPr/>
            <p:nvPr userDrawn="1"/>
          </p:nvSpPr>
          <p:spPr>
            <a:xfrm rot="2700000">
              <a:off x="8270504"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a:p>
          </p:txBody>
        </p:sp>
        <p:sp>
          <p:nvSpPr>
            <p:cNvPr id="13" name="مستطيل 12">
              <a:extLst>
                <a:ext uri="{FF2B5EF4-FFF2-40B4-BE49-F238E27FC236}">
                  <a16:creationId xmlns:a16="http://schemas.microsoft.com/office/drawing/2014/main" id="{BE235709-9E8E-ED42-8C1A-EF4C97DEB871}"/>
                </a:ext>
              </a:extLst>
            </p:cNvPr>
            <p:cNvSpPr/>
            <p:nvPr userDrawn="1"/>
          </p:nvSpPr>
          <p:spPr>
            <a:xfrm rot="2700000">
              <a:off x="7991185" y="6087897"/>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dirty="0"/>
            </a:p>
          </p:txBody>
        </p:sp>
        <p:sp>
          <p:nvSpPr>
            <p:cNvPr id="15" name="مستطيل 14">
              <a:extLst>
                <a:ext uri="{FF2B5EF4-FFF2-40B4-BE49-F238E27FC236}">
                  <a16:creationId xmlns:a16="http://schemas.microsoft.com/office/drawing/2014/main" id="{89CFBB72-933D-DC42-A172-505E36355153}"/>
                </a:ext>
              </a:extLst>
            </p:cNvPr>
            <p:cNvSpPr/>
            <p:nvPr userDrawn="1"/>
          </p:nvSpPr>
          <p:spPr>
            <a:xfrm rot="2700000">
              <a:off x="7711866"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dirty="0"/>
            </a:p>
          </p:txBody>
        </p:sp>
      </p:grpSp>
    </p:spTree>
    <p:extLst>
      <p:ext uri="{BB962C8B-B14F-4D97-AF65-F5344CB8AC3E}">
        <p14:creationId xmlns:p14="http://schemas.microsoft.com/office/powerpoint/2010/main" val="3070976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comments" Target="../comments/comment1.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6527" y="3749232"/>
            <a:ext cx="3855873" cy="1204833"/>
          </a:xfrm>
        </p:spPr>
        <p:txBody>
          <a:bodyPr/>
          <a:lstStyle/>
          <a:p>
            <a:r>
              <a:rPr lang="ar-SA" dirty="0"/>
              <a:t>التعريف بأساسيات ودور البنية المؤسسية</a:t>
            </a:r>
            <a:endParaRPr lang="en-US" dirty="0"/>
          </a:p>
        </p:txBody>
      </p:sp>
      <p:sp>
        <p:nvSpPr>
          <p:cNvPr id="3" name="Subtitle 2"/>
          <p:cNvSpPr>
            <a:spLocks noGrp="1"/>
          </p:cNvSpPr>
          <p:nvPr>
            <p:ph type="subTitle" idx="1"/>
          </p:nvPr>
        </p:nvSpPr>
        <p:spPr>
          <a:xfrm>
            <a:off x="7726527" y="5000247"/>
            <a:ext cx="3855873" cy="369332"/>
          </a:xfrm>
        </p:spPr>
        <p:txBody>
          <a:bodyPr>
            <a:normAutofit/>
          </a:bodyPr>
          <a:lstStyle/>
          <a:p>
            <a:r>
              <a:rPr lang="ar-EG" dirty="0"/>
              <a:t>الورشة الأولى</a:t>
            </a:r>
          </a:p>
        </p:txBody>
      </p:sp>
    </p:spTree>
    <p:extLst>
      <p:ext uri="{BB962C8B-B14F-4D97-AF65-F5344CB8AC3E}">
        <p14:creationId xmlns:p14="http://schemas.microsoft.com/office/powerpoint/2010/main" val="2668674771"/>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EG" dirty="0"/>
              <a:t>جدول المحتويات</a:t>
            </a:r>
            <a:endParaRPr lang="en-US" dirty="0"/>
          </a:p>
        </p:txBody>
      </p:sp>
      <p:sp>
        <p:nvSpPr>
          <p:cNvPr id="31" name="Text Placeholder 30"/>
          <p:cNvSpPr>
            <a:spLocks noGrp="1"/>
          </p:cNvSpPr>
          <p:nvPr>
            <p:ph type="body" sz="quarter" idx="89"/>
          </p:nvPr>
        </p:nvSpPr>
        <p:spPr>
          <a:xfrm>
            <a:off x="4649821" y="2321786"/>
            <a:ext cx="3217049" cy="228599"/>
          </a:xfrm>
        </p:spPr>
        <p:txBody>
          <a:bodyPr/>
          <a:lstStyle/>
          <a:p>
            <a:r>
              <a:rPr lang="ar-SA" dirty="0"/>
              <a:t>مقدمة  عن البنية المؤسسية</a:t>
            </a:r>
            <a:endParaRPr lang="en-US" dirty="0"/>
          </a:p>
        </p:txBody>
      </p:sp>
      <p:sp>
        <p:nvSpPr>
          <p:cNvPr id="33" name="Text Placeholder 32"/>
          <p:cNvSpPr>
            <a:spLocks noGrp="1"/>
          </p:cNvSpPr>
          <p:nvPr>
            <p:ph type="body" sz="quarter" idx="91"/>
          </p:nvPr>
        </p:nvSpPr>
        <p:spPr>
          <a:xfrm>
            <a:off x="8164007" y="2236679"/>
            <a:ext cx="365760" cy="365760"/>
          </a:xfrm>
        </p:spPr>
        <p:txBody>
          <a:bodyPr/>
          <a:lstStyle/>
          <a:p>
            <a:r>
              <a:rPr lang="ar-EG" dirty="0"/>
              <a:t>1</a:t>
            </a:r>
            <a:endParaRPr lang="en-US" dirty="0"/>
          </a:p>
        </p:txBody>
      </p:sp>
      <p:sp>
        <p:nvSpPr>
          <p:cNvPr id="40" name="Text Placeholder 39"/>
          <p:cNvSpPr>
            <a:spLocks noGrp="1"/>
          </p:cNvSpPr>
          <p:nvPr>
            <p:ph type="body" sz="quarter" idx="98"/>
          </p:nvPr>
        </p:nvSpPr>
        <p:spPr>
          <a:xfrm>
            <a:off x="5112623" y="3341523"/>
            <a:ext cx="2754247" cy="228600"/>
          </a:xfrm>
        </p:spPr>
        <p:txBody>
          <a:bodyPr/>
          <a:lstStyle/>
          <a:p>
            <a:r>
              <a:rPr lang="ar-SA" dirty="0">
                <a:solidFill>
                  <a:schemeClr val="accent1"/>
                </a:solidFill>
              </a:rPr>
              <a:t>أُطر  و منهجيات البنية المؤسسية</a:t>
            </a:r>
            <a:endParaRPr lang="en-US" dirty="0">
              <a:solidFill>
                <a:schemeClr val="accent1"/>
              </a:solidFill>
            </a:endParaRPr>
          </a:p>
        </p:txBody>
      </p:sp>
      <p:sp>
        <p:nvSpPr>
          <p:cNvPr id="42" name="Text Placeholder 41"/>
          <p:cNvSpPr>
            <a:spLocks noGrp="1"/>
          </p:cNvSpPr>
          <p:nvPr>
            <p:ph type="body" sz="quarter" idx="100"/>
          </p:nvPr>
        </p:nvSpPr>
        <p:spPr>
          <a:xfrm>
            <a:off x="8164007" y="3256416"/>
            <a:ext cx="365760" cy="365760"/>
          </a:xfrm>
          <a:solidFill>
            <a:schemeClr val="accent1"/>
          </a:solidFill>
          <a:ln w="15875">
            <a:noFill/>
          </a:ln>
        </p:spPr>
        <p:txBody>
          <a:bodyPr vert="horz" wrap="square" lIns="0" tIns="64008" rIns="0" bIns="0" rtlCol="0" anchor="ctr" anchorCtr="0">
            <a:noAutofit/>
          </a:bodyPr>
          <a:lstStyle/>
          <a:p>
            <a:r>
              <a:rPr lang="ar-EG" dirty="0"/>
              <a:t>2</a:t>
            </a:r>
            <a:endParaRPr lang="en-US" dirty="0"/>
          </a:p>
        </p:txBody>
      </p:sp>
      <p:sp>
        <p:nvSpPr>
          <p:cNvPr id="19" name="Text Placeholder 30">
            <a:extLst>
              <a:ext uri="{FF2B5EF4-FFF2-40B4-BE49-F238E27FC236}">
                <a16:creationId xmlns:a16="http://schemas.microsoft.com/office/drawing/2014/main" id="{951847DE-E670-443D-8754-5708A0AB2029}"/>
              </a:ext>
            </a:extLst>
          </p:cNvPr>
          <p:cNvSpPr txBox="1">
            <a:spLocks/>
          </p:cNvSpPr>
          <p:nvPr/>
        </p:nvSpPr>
        <p:spPr>
          <a:xfrm>
            <a:off x="4649821" y="4265931"/>
            <a:ext cx="3217049" cy="228599"/>
          </a:xfrm>
          <a:prstGeom prst="rect">
            <a:avLst/>
          </a:prstGeom>
        </p:spPr>
        <p:txBody>
          <a:bodyPr vert="horz" lIns="0" tIns="0" rIns="0" bIns="0" rtlCol="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dirty="0"/>
              <a:t>رحلة تأسيس ممارسة البنية المؤسسية</a:t>
            </a:r>
            <a:endParaRPr lang="en-US" dirty="0"/>
          </a:p>
        </p:txBody>
      </p:sp>
      <p:sp>
        <p:nvSpPr>
          <p:cNvPr id="20" name="Text Placeholder 32">
            <a:extLst>
              <a:ext uri="{FF2B5EF4-FFF2-40B4-BE49-F238E27FC236}">
                <a16:creationId xmlns:a16="http://schemas.microsoft.com/office/drawing/2014/main" id="{9DB427ED-C627-4713-8D94-EBC9FCC1C33B}"/>
              </a:ext>
            </a:extLst>
          </p:cNvPr>
          <p:cNvSpPr txBox="1">
            <a:spLocks/>
          </p:cNvSpPr>
          <p:nvPr/>
        </p:nvSpPr>
        <p:spPr>
          <a:xfrm>
            <a:off x="8164007" y="4180824"/>
            <a:ext cx="365760" cy="365760"/>
          </a:xfrm>
          <a:prstGeom prst="rect">
            <a:avLst/>
          </a:prstGeom>
          <a:solidFill>
            <a:schemeClr val="accent2"/>
          </a:solidFill>
          <a:ln w="15875">
            <a:noFill/>
          </a:ln>
        </p:spPr>
        <p:txBody>
          <a:bodyPr vert="horz" wrap="square" lIns="0" tIns="64008" rIns="0" bIns="0" rtlCol="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dirty="0"/>
              <a:t>3</a:t>
            </a:r>
            <a:endParaRPr lang="en-US" dirty="0"/>
          </a:p>
        </p:txBody>
      </p:sp>
    </p:spTree>
    <p:extLst>
      <p:ext uri="{BB962C8B-B14F-4D97-AF65-F5344CB8AC3E}">
        <p14:creationId xmlns:p14="http://schemas.microsoft.com/office/powerpoint/2010/main" val="28621978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928634" y="3925452"/>
            <a:ext cx="5615666" cy="641639"/>
          </a:xfrm>
        </p:spPr>
        <p:txBody>
          <a:bodyPr/>
          <a:lstStyle/>
          <a:p>
            <a:r>
              <a:rPr lang="ar-SA" dirty="0"/>
              <a:t>مقدمة عن البنية المؤسسية</a:t>
            </a:r>
            <a:endParaRPr lang="en-US" dirty="0"/>
          </a:p>
        </p:txBody>
      </p:sp>
      <p:sp>
        <p:nvSpPr>
          <p:cNvPr id="4" name="Text Placeholder 3">
            <a:extLst>
              <a:ext uri="{FF2B5EF4-FFF2-40B4-BE49-F238E27FC236}">
                <a16:creationId xmlns:a16="http://schemas.microsoft.com/office/drawing/2014/main" id="{866E3D32-293C-8B3F-E86A-6038D164FE0B}"/>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DCDA2872-66CF-4DFF-F5B1-E3A839AABB25}"/>
              </a:ext>
            </a:extLst>
          </p:cNvPr>
          <p:cNvSpPr>
            <a:spLocks noGrp="1"/>
          </p:cNvSpPr>
          <p:nvPr>
            <p:ph type="body" sz="quarter" idx="14"/>
          </p:nvPr>
        </p:nvSpPr>
        <p:spPr>
          <a:xfrm>
            <a:off x="9601626" y="2343256"/>
            <a:ext cx="1942674" cy="1181919"/>
          </a:xfrm>
        </p:spPr>
        <p:txBody>
          <a:bodyPr/>
          <a:lstStyle/>
          <a:p>
            <a:r>
              <a:rPr lang="en-US" dirty="0"/>
              <a:t>01</a:t>
            </a:r>
            <a:endParaRPr lang="en-GB" dirty="0"/>
          </a:p>
        </p:txBody>
      </p:sp>
    </p:spTree>
    <p:extLst>
      <p:ext uri="{BB962C8B-B14F-4D97-AF65-F5344CB8AC3E}">
        <p14:creationId xmlns:p14="http://schemas.microsoft.com/office/powerpoint/2010/main" val="304394253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9F7A-CB7A-1CF6-83A7-EEF9F630B5C6}"/>
              </a:ext>
            </a:extLst>
          </p:cNvPr>
          <p:cNvSpPr>
            <a:spLocks noGrp="1"/>
          </p:cNvSpPr>
          <p:nvPr>
            <p:ph type="title"/>
          </p:nvPr>
        </p:nvSpPr>
        <p:spPr>
          <a:xfrm>
            <a:off x="609601" y="561078"/>
            <a:ext cx="10972800" cy="666261"/>
          </a:xfrm>
        </p:spPr>
        <p:txBody>
          <a:bodyPr/>
          <a:lstStyle/>
          <a:p>
            <a:r>
              <a:rPr lang="ar-SA" dirty="0"/>
              <a:t>ما هي البنية المؤسسية</a:t>
            </a:r>
            <a:endParaRPr lang="en-US" dirty="0"/>
          </a:p>
        </p:txBody>
      </p:sp>
      <p:sp>
        <p:nvSpPr>
          <p:cNvPr id="3" name="Slide Number Placeholder 2">
            <a:extLst>
              <a:ext uri="{FF2B5EF4-FFF2-40B4-BE49-F238E27FC236}">
                <a16:creationId xmlns:a16="http://schemas.microsoft.com/office/drawing/2014/main" id="{BD651A17-8150-062F-6324-77F8E4696C0C}"/>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4</a:t>
            </a:fld>
            <a:endParaRPr lang="en-US"/>
          </a:p>
        </p:txBody>
      </p:sp>
      <p:sp>
        <p:nvSpPr>
          <p:cNvPr id="4" name="Rectangle 3">
            <a:extLst>
              <a:ext uri="{FF2B5EF4-FFF2-40B4-BE49-F238E27FC236}">
                <a16:creationId xmlns:a16="http://schemas.microsoft.com/office/drawing/2014/main" id="{769F9823-9F1A-939A-0C22-6E404C698DB0}"/>
              </a:ext>
            </a:extLst>
          </p:cNvPr>
          <p:cNvSpPr/>
          <p:nvPr/>
        </p:nvSpPr>
        <p:spPr>
          <a:xfrm>
            <a:off x="8349444"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5" name="Round Same Side Corner Rectangle 7">
            <a:extLst>
              <a:ext uri="{FF2B5EF4-FFF2-40B4-BE49-F238E27FC236}">
                <a16:creationId xmlns:a16="http://schemas.microsoft.com/office/drawing/2014/main" id="{1CEC4C90-5245-9A97-D246-61808D03AD57}"/>
              </a:ext>
            </a:extLst>
          </p:cNvPr>
          <p:cNvSpPr/>
          <p:nvPr/>
        </p:nvSpPr>
        <p:spPr>
          <a:xfrm>
            <a:off x="8349443" y="2375228"/>
            <a:ext cx="2601351" cy="498524"/>
          </a:xfrm>
          <a:prstGeom prst="round2SameRect">
            <a:avLst/>
          </a:prstGeom>
          <a:solidFill>
            <a:srgbClr val="002060"/>
          </a:solidFill>
        </p:spPr>
        <p:txBody>
          <a:bodyPr wrap="square" rIns="274320" anchor="ctr" anchorCtr="0">
            <a:noAutofit/>
          </a:bodyPr>
          <a:lstStyle/>
          <a:p>
            <a:pPr algn="r" rtl="1"/>
            <a:r>
              <a:rPr lang="ar-EG" b="1" dirty="0">
                <a:solidFill>
                  <a:schemeClr val="bg1"/>
                </a:solidFill>
              </a:rPr>
              <a:t>هيئة الحكومة الرقمية</a:t>
            </a:r>
          </a:p>
        </p:txBody>
      </p:sp>
      <p:sp>
        <p:nvSpPr>
          <p:cNvPr id="6" name="Rectangle 5">
            <a:extLst>
              <a:ext uri="{FF2B5EF4-FFF2-40B4-BE49-F238E27FC236}">
                <a16:creationId xmlns:a16="http://schemas.microsoft.com/office/drawing/2014/main" id="{25313043-C963-8DD0-E1A5-AE0AACCE30EC}"/>
              </a:ext>
            </a:extLst>
          </p:cNvPr>
          <p:cNvSpPr/>
          <p:nvPr/>
        </p:nvSpPr>
        <p:spPr>
          <a:xfrm>
            <a:off x="8349443" y="3250972"/>
            <a:ext cx="2967114" cy="1735197"/>
          </a:xfrm>
          <a:prstGeom prst="rect">
            <a:avLst/>
          </a:prstGeom>
        </p:spPr>
        <p:txBody>
          <a:bodyPr wrap="square" rIns="274320">
            <a:noAutofit/>
          </a:bodyPr>
          <a:lstStyle/>
          <a:p>
            <a:pPr algn="just" rtl="1"/>
            <a:r>
              <a:rPr lang="ar-SA" sz="1400" dirty="0"/>
              <a:t>ممارسات وضوابط تعني بتطبيق رؤية واستراتيجية الجهة الحكومية وذلك بإحداث التغييرات اللازمة للموائمة بين أهداف وإجراءات الأعمال للجهة وبين تقنية المعلومات (البيانات والتطبيقات والبنية التحتية التقنية)</a:t>
            </a:r>
          </a:p>
        </p:txBody>
      </p:sp>
      <p:sp>
        <p:nvSpPr>
          <p:cNvPr id="7" name="Rectangle 6">
            <a:extLst>
              <a:ext uri="{FF2B5EF4-FFF2-40B4-BE49-F238E27FC236}">
                <a16:creationId xmlns:a16="http://schemas.microsoft.com/office/drawing/2014/main" id="{054D6912-2DB3-EBFA-DA41-ED0F75F2D5C5}"/>
              </a:ext>
            </a:extLst>
          </p:cNvPr>
          <p:cNvSpPr/>
          <p:nvPr/>
        </p:nvSpPr>
        <p:spPr>
          <a:xfrm>
            <a:off x="538596"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8" name="Round Same Side Corner Rectangle 26">
            <a:extLst>
              <a:ext uri="{FF2B5EF4-FFF2-40B4-BE49-F238E27FC236}">
                <a16:creationId xmlns:a16="http://schemas.microsoft.com/office/drawing/2014/main" id="{F77DC1BC-6E52-AB38-A946-C382B2885B95}"/>
              </a:ext>
            </a:extLst>
          </p:cNvPr>
          <p:cNvSpPr/>
          <p:nvPr/>
        </p:nvSpPr>
        <p:spPr>
          <a:xfrm>
            <a:off x="538595" y="2375228"/>
            <a:ext cx="2601351" cy="498524"/>
          </a:xfrm>
          <a:prstGeom prst="round2SameRect">
            <a:avLst/>
          </a:prstGeom>
          <a:solidFill>
            <a:srgbClr val="002060"/>
          </a:solidFill>
        </p:spPr>
        <p:txBody>
          <a:bodyPr wrap="square" rIns="274320" anchor="ctr" anchorCtr="0">
            <a:noAutofit/>
          </a:bodyPr>
          <a:lstStyle/>
          <a:p>
            <a:pPr algn="r" rtl="1"/>
            <a:r>
              <a:rPr lang="ar-EG" b="1" dirty="0">
                <a:solidFill>
                  <a:schemeClr val="bg1"/>
                </a:solidFill>
              </a:rPr>
              <a:t>جارتنر</a:t>
            </a:r>
          </a:p>
        </p:txBody>
      </p:sp>
      <p:sp>
        <p:nvSpPr>
          <p:cNvPr id="9" name="Rectangle 8">
            <a:extLst>
              <a:ext uri="{FF2B5EF4-FFF2-40B4-BE49-F238E27FC236}">
                <a16:creationId xmlns:a16="http://schemas.microsoft.com/office/drawing/2014/main" id="{6521FDA6-76A3-620C-C568-9A2D9FCDC01A}"/>
              </a:ext>
            </a:extLst>
          </p:cNvPr>
          <p:cNvSpPr/>
          <p:nvPr/>
        </p:nvSpPr>
        <p:spPr>
          <a:xfrm>
            <a:off x="538595" y="3250972"/>
            <a:ext cx="2967114" cy="1550109"/>
          </a:xfrm>
          <a:prstGeom prst="rect">
            <a:avLst/>
          </a:prstGeom>
        </p:spPr>
        <p:txBody>
          <a:bodyPr wrap="square" rIns="274320">
            <a:noAutofit/>
          </a:bodyPr>
          <a:lstStyle/>
          <a:p>
            <a:pPr algn="just" rtl="1"/>
            <a:r>
              <a:rPr lang="ar-SA" sz="1400" dirty="0"/>
              <a:t>عملية لترجمة رؤية واستراتيجية الجهة والتغيير الفعال في الجهة من خلال إنشاء وتحسين المبادئ والنماذج الأساسية التي تصف حالة الوضع المستقبلي وتمكنها من التطور</a:t>
            </a:r>
          </a:p>
        </p:txBody>
      </p:sp>
      <p:sp>
        <p:nvSpPr>
          <p:cNvPr id="10" name="Rectangle 9">
            <a:extLst>
              <a:ext uri="{FF2B5EF4-FFF2-40B4-BE49-F238E27FC236}">
                <a16:creationId xmlns:a16="http://schemas.microsoft.com/office/drawing/2014/main" id="{40F1348E-3C5B-4AFA-ED48-50CBA2B7EB69}"/>
              </a:ext>
            </a:extLst>
          </p:cNvPr>
          <p:cNvSpPr/>
          <p:nvPr/>
        </p:nvSpPr>
        <p:spPr>
          <a:xfrm>
            <a:off x="10811354"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F1A742-84EB-6A34-21AC-78ABA151B540}"/>
              </a:ext>
            </a:extLst>
          </p:cNvPr>
          <p:cNvSpPr/>
          <p:nvPr/>
        </p:nvSpPr>
        <p:spPr>
          <a:xfrm>
            <a:off x="2983894"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F53C6A28-469B-87E7-8BC5-CABC46FF0E2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25"/>
          <a:stretch/>
        </p:blipFill>
        <p:spPr bwMode="auto">
          <a:xfrm>
            <a:off x="10849415" y="2510339"/>
            <a:ext cx="780649" cy="22830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BDD9EFC-9D7E-1769-3CBF-A5E04A5785CF}"/>
              </a:ext>
            </a:extLst>
          </p:cNvPr>
          <p:cNvSpPr/>
          <p:nvPr/>
        </p:nvSpPr>
        <p:spPr>
          <a:xfrm>
            <a:off x="4444021"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14" name="Round Same Side Corner Rectangle 20">
            <a:extLst>
              <a:ext uri="{FF2B5EF4-FFF2-40B4-BE49-F238E27FC236}">
                <a16:creationId xmlns:a16="http://schemas.microsoft.com/office/drawing/2014/main" id="{8BD38EB8-AF6A-BD90-9DAF-C9979C2033BB}"/>
              </a:ext>
            </a:extLst>
          </p:cNvPr>
          <p:cNvSpPr/>
          <p:nvPr/>
        </p:nvSpPr>
        <p:spPr>
          <a:xfrm>
            <a:off x="4444020" y="2375228"/>
            <a:ext cx="2601351" cy="498524"/>
          </a:xfrm>
          <a:prstGeom prst="round2SameRect">
            <a:avLst/>
          </a:prstGeom>
          <a:solidFill>
            <a:srgbClr val="002060"/>
          </a:solidFill>
        </p:spPr>
        <p:txBody>
          <a:bodyPr wrap="square" rIns="274320" anchor="ctr" anchorCtr="0">
            <a:noAutofit/>
          </a:bodyPr>
          <a:lstStyle/>
          <a:p>
            <a:pPr algn="r" rtl="1"/>
            <a:r>
              <a:rPr lang="ar-SA" b="1" dirty="0">
                <a:solidFill>
                  <a:schemeClr val="bg1"/>
                </a:solidFill>
              </a:rPr>
              <a:t>ا</a:t>
            </a:r>
            <a:r>
              <a:rPr lang="ar-EG" b="1" dirty="0">
                <a:solidFill>
                  <a:schemeClr val="bg1"/>
                </a:solidFill>
              </a:rPr>
              <a:t>لمجموعة المفتوحة </a:t>
            </a:r>
          </a:p>
        </p:txBody>
      </p:sp>
      <p:sp>
        <p:nvSpPr>
          <p:cNvPr id="15" name="Rectangle 14">
            <a:extLst>
              <a:ext uri="{FF2B5EF4-FFF2-40B4-BE49-F238E27FC236}">
                <a16:creationId xmlns:a16="http://schemas.microsoft.com/office/drawing/2014/main" id="{A2BEC521-360B-CDAF-130B-D8FCF21E3F48}"/>
              </a:ext>
            </a:extLst>
          </p:cNvPr>
          <p:cNvSpPr/>
          <p:nvPr/>
        </p:nvSpPr>
        <p:spPr>
          <a:xfrm>
            <a:off x="4444020" y="3250972"/>
            <a:ext cx="2967114" cy="809759"/>
          </a:xfrm>
          <a:prstGeom prst="rect">
            <a:avLst/>
          </a:prstGeom>
        </p:spPr>
        <p:txBody>
          <a:bodyPr wrap="square" rIns="274320">
            <a:noAutofit/>
          </a:bodyPr>
          <a:lstStyle/>
          <a:p>
            <a:pPr algn="just" rtl="1"/>
            <a:r>
              <a:rPr lang="ar-SA" sz="1400" dirty="0"/>
              <a:t>خلق بيئة متكاملة تستجيب للتغيير وتدعم تنفيذ الاستراتيجية من خلال تحسين الأعمال والأنظمة</a:t>
            </a:r>
          </a:p>
        </p:txBody>
      </p:sp>
      <p:sp>
        <p:nvSpPr>
          <p:cNvPr id="16" name="Rectangle 15">
            <a:extLst>
              <a:ext uri="{FF2B5EF4-FFF2-40B4-BE49-F238E27FC236}">
                <a16:creationId xmlns:a16="http://schemas.microsoft.com/office/drawing/2014/main" id="{6763B6B2-DDA2-316B-790A-834933AA2F19}"/>
              </a:ext>
            </a:extLst>
          </p:cNvPr>
          <p:cNvSpPr/>
          <p:nvPr/>
        </p:nvSpPr>
        <p:spPr>
          <a:xfrm>
            <a:off x="6891211"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Архитектура предприятия по TOGAF | OTUS">
            <a:extLst>
              <a:ext uri="{FF2B5EF4-FFF2-40B4-BE49-F238E27FC236}">
                <a16:creationId xmlns:a16="http://schemas.microsoft.com/office/drawing/2014/main" id="{8859D026-8610-5552-77C5-7DD5E05512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3251" y="2433991"/>
            <a:ext cx="732691" cy="3809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Gartner Logo, symbol, meaning, history, PNG, brand">
            <a:extLst>
              <a:ext uri="{FF2B5EF4-FFF2-40B4-BE49-F238E27FC236}">
                <a16:creationId xmlns:a16="http://schemas.microsoft.com/office/drawing/2014/main" id="{B023D6F8-A9D4-1B3F-F825-292C2BDC19F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9740" b="29740"/>
          <a:stretch/>
        </p:blipFill>
        <p:spPr bwMode="auto">
          <a:xfrm>
            <a:off x="3025910" y="2536425"/>
            <a:ext cx="772739" cy="176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35614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ar-SA" dirty="0"/>
              <a:t>ماهي البنية المؤسسية</a:t>
            </a:r>
          </a:p>
        </p:txBody>
      </p:sp>
      <p:sp>
        <p:nvSpPr>
          <p:cNvPr id="7" name="TextBox 6">
            <a:extLst>
              <a:ext uri="{FF2B5EF4-FFF2-40B4-BE49-F238E27FC236}">
                <a16:creationId xmlns:a16="http://schemas.microsoft.com/office/drawing/2014/main" id="{AD5E18D3-5D15-54BB-446B-6BF4CD60163B}"/>
              </a:ext>
            </a:extLst>
          </p:cNvPr>
          <p:cNvSpPr txBox="1"/>
          <p:nvPr/>
        </p:nvSpPr>
        <p:spPr>
          <a:xfrm>
            <a:off x="609600" y="1189689"/>
            <a:ext cx="10972800" cy="1338828"/>
          </a:xfrm>
          <a:prstGeom prst="rect">
            <a:avLst/>
          </a:prstGeom>
          <a:noFill/>
        </p:spPr>
        <p:txBody>
          <a:bodyPr wrap="square" rtlCol="0">
            <a:spAutoFit/>
          </a:bodyPr>
          <a:lstStyle/>
          <a:p>
            <a:pPr algn="r" rtl="1">
              <a:lnSpc>
                <a:spcPct val="150000"/>
              </a:lnSpc>
            </a:pPr>
            <a:r>
              <a:rPr lang="ar-SA" dirty="0">
                <a:solidFill>
                  <a:schemeClr val="tx1">
                    <a:lumMod val="75000"/>
                    <a:lumOff val="25000"/>
                  </a:schemeClr>
                </a:solidFill>
                <a:latin typeface="Sakkal Majalla" panose="02000000000000000000" pitchFamily="2" charset="-78"/>
                <a:cs typeface="Sakkal Majalla" panose="02000000000000000000" pitchFamily="2" charset="-78"/>
              </a:rPr>
              <a:t>البنية المؤسسية هي ممارسات وضوابط تعنى بتطبيق رؤية واستراتيجية الجهة وذلك بإحداث التغييرات اللازمة للموائمة بين أهداف وإجراءات الأعمال وبين تقنية المعلومات التي تستخدمها لتحقيق هذه الرؤية، وبشكل عام فإن البنية المؤسسية تتكون من منظومة عمل متكاملة الأركان والأجزاء (تشمل الهيكل الإداري والتنظيمي والإجرائي والتقني) تتفاعل مع بعضها من أجل تحقيق أهداف موحدة. النقاط التالية توضح مفهوم البنية المؤسسية من منظور الممكنات والقدرات</a:t>
            </a:r>
          </a:p>
        </p:txBody>
      </p:sp>
      <p:sp>
        <p:nvSpPr>
          <p:cNvPr id="8" name="Oval 7">
            <a:extLst>
              <a:ext uri="{FF2B5EF4-FFF2-40B4-BE49-F238E27FC236}">
                <a16:creationId xmlns:a16="http://schemas.microsoft.com/office/drawing/2014/main" id="{6B57C02F-F120-1926-2D28-86602EB49442}"/>
              </a:ext>
            </a:extLst>
          </p:cNvPr>
          <p:cNvSpPr/>
          <p:nvPr/>
        </p:nvSpPr>
        <p:spPr>
          <a:xfrm>
            <a:off x="5341800" y="3576421"/>
            <a:ext cx="1583605" cy="1583605"/>
          </a:xfrm>
          <a:prstGeom prst="ellipse">
            <a:avLst/>
          </a:prstGeom>
          <a:gradFill>
            <a:gsLst>
              <a:gs pos="0">
                <a:schemeClr val="bg1"/>
              </a:gs>
              <a:gs pos="100000">
                <a:srgbClr val="D5D5D5"/>
              </a:gs>
            </a:gsLst>
            <a:lin ang="13500000" scaled="1"/>
          </a:gradFill>
          <a:ln w="31750">
            <a:gradFill>
              <a:gsLst>
                <a:gs pos="0">
                  <a:schemeClr val="bg1">
                    <a:lumMod val="98000"/>
                  </a:schemeClr>
                </a:gs>
                <a:gs pos="100000">
                  <a:srgbClr val="D5D5D5"/>
                </a:gs>
              </a:gsLst>
              <a:lin ang="1320000" scaled="0"/>
            </a:gradFill>
          </a:ln>
          <a:effectLst>
            <a:outerShdw blurRad="177800" dist="5080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9" name="Oval 8">
            <a:extLst>
              <a:ext uri="{FF2B5EF4-FFF2-40B4-BE49-F238E27FC236}">
                <a16:creationId xmlns:a16="http://schemas.microsoft.com/office/drawing/2014/main" id="{B55EFB15-3BD8-2894-479A-275426C2271B}"/>
              </a:ext>
            </a:extLst>
          </p:cNvPr>
          <p:cNvSpPr/>
          <p:nvPr/>
        </p:nvSpPr>
        <p:spPr>
          <a:xfrm>
            <a:off x="5132163" y="3366782"/>
            <a:ext cx="2002881" cy="2002881"/>
          </a:xfrm>
          <a:prstGeom prst="ellipse">
            <a:avLst/>
          </a:prstGeom>
          <a:noFill/>
          <a:ln w="12700">
            <a:solidFill>
              <a:srgbClr val="706F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11" name="Oval 10">
            <a:extLst>
              <a:ext uri="{FF2B5EF4-FFF2-40B4-BE49-F238E27FC236}">
                <a16:creationId xmlns:a16="http://schemas.microsoft.com/office/drawing/2014/main" id="{D572BC2B-D464-8314-4AB0-418E02698FDA}"/>
              </a:ext>
            </a:extLst>
          </p:cNvPr>
          <p:cNvSpPr/>
          <p:nvPr/>
        </p:nvSpPr>
        <p:spPr>
          <a:xfrm>
            <a:off x="4764440" y="2999061"/>
            <a:ext cx="2738324" cy="2738324"/>
          </a:xfrm>
          <a:prstGeom prst="ellipse">
            <a:avLst/>
          </a:prstGeom>
          <a:noFill/>
          <a:ln w="12700">
            <a:solidFill>
              <a:srgbClr val="706F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12" name="Shape">
            <a:extLst>
              <a:ext uri="{FF2B5EF4-FFF2-40B4-BE49-F238E27FC236}">
                <a16:creationId xmlns:a16="http://schemas.microsoft.com/office/drawing/2014/main" id="{F48E2451-934D-1F54-1006-63DA364DB3A9}"/>
              </a:ext>
            </a:extLst>
          </p:cNvPr>
          <p:cNvSpPr>
            <a:spLocks noChangeAspect="1"/>
          </p:cNvSpPr>
          <p:nvPr/>
        </p:nvSpPr>
        <p:spPr>
          <a:xfrm>
            <a:off x="5746252" y="4025792"/>
            <a:ext cx="774702" cy="774701"/>
          </a:xfrm>
          <a:custGeom>
            <a:avLst/>
            <a:gdLst/>
            <a:ahLst/>
            <a:cxnLst>
              <a:cxn ang="0">
                <a:pos x="wd2" y="hd2"/>
              </a:cxn>
              <a:cxn ang="5400000">
                <a:pos x="wd2" y="hd2"/>
              </a:cxn>
              <a:cxn ang="10800000">
                <a:pos x="wd2" y="hd2"/>
              </a:cxn>
              <a:cxn ang="16200000">
                <a:pos x="wd2" y="hd2"/>
              </a:cxn>
            </a:cxnLst>
            <a:rect l="0" t="0" r="r" b="b"/>
            <a:pathLst>
              <a:path w="21600" h="21600" extrusionOk="0">
                <a:moveTo>
                  <a:pt x="8967" y="0"/>
                </a:moveTo>
                <a:cubicBezTo>
                  <a:pt x="8472" y="0"/>
                  <a:pt x="8068" y="402"/>
                  <a:pt x="8068" y="899"/>
                </a:cubicBezTo>
                <a:lnTo>
                  <a:pt x="8068" y="2688"/>
                </a:lnTo>
                <a:cubicBezTo>
                  <a:pt x="7683" y="2815"/>
                  <a:pt x="7310" y="2972"/>
                  <a:pt x="6948" y="3153"/>
                </a:cubicBezTo>
                <a:lnTo>
                  <a:pt x="5689" y="1890"/>
                </a:lnTo>
                <a:cubicBezTo>
                  <a:pt x="5334" y="1550"/>
                  <a:pt x="4773" y="1550"/>
                  <a:pt x="4418" y="1890"/>
                </a:cubicBezTo>
                <a:lnTo>
                  <a:pt x="1885" y="4431"/>
                </a:lnTo>
                <a:cubicBezTo>
                  <a:pt x="1535" y="4782"/>
                  <a:pt x="1535" y="5354"/>
                  <a:pt x="1885" y="5705"/>
                </a:cubicBezTo>
                <a:lnTo>
                  <a:pt x="3144" y="6968"/>
                </a:lnTo>
                <a:cubicBezTo>
                  <a:pt x="2963" y="7331"/>
                  <a:pt x="2807" y="7705"/>
                  <a:pt x="2680" y="8091"/>
                </a:cubicBezTo>
                <a:lnTo>
                  <a:pt x="896" y="8091"/>
                </a:lnTo>
                <a:cubicBezTo>
                  <a:pt x="401" y="8091"/>
                  <a:pt x="0" y="8497"/>
                  <a:pt x="0" y="8993"/>
                </a:cubicBezTo>
                <a:lnTo>
                  <a:pt x="0" y="10790"/>
                </a:lnTo>
                <a:lnTo>
                  <a:pt x="896" y="10790"/>
                </a:lnTo>
                <a:lnTo>
                  <a:pt x="896" y="8993"/>
                </a:lnTo>
                <a:lnTo>
                  <a:pt x="3012" y="8993"/>
                </a:lnTo>
                <a:cubicBezTo>
                  <a:pt x="3212" y="8993"/>
                  <a:pt x="3390" y="8860"/>
                  <a:pt x="3445" y="8668"/>
                </a:cubicBezTo>
                <a:cubicBezTo>
                  <a:pt x="3600" y="8123"/>
                  <a:pt x="3815" y="7596"/>
                  <a:pt x="4086" y="7099"/>
                </a:cubicBezTo>
                <a:cubicBezTo>
                  <a:pt x="4183" y="6924"/>
                  <a:pt x="4150" y="6706"/>
                  <a:pt x="4009" y="6565"/>
                </a:cubicBezTo>
                <a:lnTo>
                  <a:pt x="2518" y="5066"/>
                </a:lnTo>
                <a:lnTo>
                  <a:pt x="5051" y="2525"/>
                </a:lnTo>
                <a:lnTo>
                  <a:pt x="6546" y="4020"/>
                </a:lnTo>
                <a:cubicBezTo>
                  <a:pt x="6687" y="4162"/>
                  <a:pt x="6904" y="4195"/>
                  <a:pt x="7079" y="4098"/>
                </a:cubicBezTo>
                <a:cubicBezTo>
                  <a:pt x="7574" y="3825"/>
                  <a:pt x="8100" y="3611"/>
                  <a:pt x="8643" y="3455"/>
                </a:cubicBezTo>
                <a:cubicBezTo>
                  <a:pt x="8835" y="3399"/>
                  <a:pt x="8967" y="3221"/>
                  <a:pt x="8967" y="3021"/>
                </a:cubicBezTo>
                <a:lnTo>
                  <a:pt x="8967" y="899"/>
                </a:lnTo>
                <a:lnTo>
                  <a:pt x="12551" y="899"/>
                </a:lnTo>
                <a:lnTo>
                  <a:pt x="12551" y="3021"/>
                </a:lnTo>
                <a:cubicBezTo>
                  <a:pt x="12551" y="3221"/>
                  <a:pt x="12684" y="3399"/>
                  <a:pt x="12876" y="3455"/>
                </a:cubicBezTo>
                <a:cubicBezTo>
                  <a:pt x="13419" y="3611"/>
                  <a:pt x="13944" y="3825"/>
                  <a:pt x="14440" y="4098"/>
                </a:cubicBezTo>
                <a:cubicBezTo>
                  <a:pt x="14615" y="4195"/>
                  <a:pt x="14832" y="4162"/>
                  <a:pt x="14973" y="4020"/>
                </a:cubicBezTo>
                <a:lnTo>
                  <a:pt x="16464" y="2525"/>
                </a:lnTo>
                <a:lnTo>
                  <a:pt x="19001" y="5066"/>
                </a:lnTo>
                <a:lnTo>
                  <a:pt x="17506" y="6565"/>
                </a:lnTo>
                <a:cubicBezTo>
                  <a:pt x="17365" y="6706"/>
                  <a:pt x="17336" y="6924"/>
                  <a:pt x="17433" y="7099"/>
                </a:cubicBezTo>
                <a:cubicBezTo>
                  <a:pt x="17705" y="7596"/>
                  <a:pt x="17918" y="8124"/>
                  <a:pt x="18074" y="8668"/>
                </a:cubicBezTo>
                <a:cubicBezTo>
                  <a:pt x="18129" y="8860"/>
                  <a:pt x="18307" y="8993"/>
                  <a:pt x="18507" y="8993"/>
                </a:cubicBezTo>
                <a:lnTo>
                  <a:pt x="20623" y="8993"/>
                </a:lnTo>
                <a:lnTo>
                  <a:pt x="20623" y="10790"/>
                </a:lnTo>
                <a:lnTo>
                  <a:pt x="21519" y="10790"/>
                </a:lnTo>
                <a:lnTo>
                  <a:pt x="21519" y="8989"/>
                </a:lnTo>
                <a:cubicBezTo>
                  <a:pt x="21519" y="8493"/>
                  <a:pt x="21118" y="8091"/>
                  <a:pt x="20623" y="8091"/>
                </a:cubicBezTo>
                <a:lnTo>
                  <a:pt x="18839" y="8091"/>
                </a:lnTo>
                <a:cubicBezTo>
                  <a:pt x="18712" y="7705"/>
                  <a:pt x="18556" y="7331"/>
                  <a:pt x="18375" y="6968"/>
                </a:cubicBezTo>
                <a:lnTo>
                  <a:pt x="19634" y="5705"/>
                </a:lnTo>
                <a:cubicBezTo>
                  <a:pt x="19985" y="5354"/>
                  <a:pt x="19984" y="4782"/>
                  <a:pt x="19634" y="4431"/>
                </a:cubicBezTo>
                <a:lnTo>
                  <a:pt x="17101" y="1890"/>
                </a:lnTo>
                <a:cubicBezTo>
                  <a:pt x="16746" y="1550"/>
                  <a:pt x="16185" y="1550"/>
                  <a:pt x="15830" y="1890"/>
                </a:cubicBezTo>
                <a:lnTo>
                  <a:pt x="14571" y="3153"/>
                </a:lnTo>
                <a:cubicBezTo>
                  <a:pt x="14209" y="2972"/>
                  <a:pt x="13832" y="2815"/>
                  <a:pt x="13447" y="2688"/>
                </a:cubicBezTo>
                <a:lnTo>
                  <a:pt x="13447" y="899"/>
                </a:lnTo>
                <a:cubicBezTo>
                  <a:pt x="13447" y="402"/>
                  <a:pt x="13047" y="0"/>
                  <a:pt x="12551" y="0"/>
                </a:cubicBezTo>
                <a:lnTo>
                  <a:pt x="8967" y="0"/>
                </a:lnTo>
                <a:close/>
                <a:moveTo>
                  <a:pt x="10381" y="1859"/>
                </a:moveTo>
                <a:cubicBezTo>
                  <a:pt x="10381" y="1859"/>
                  <a:pt x="10381" y="2758"/>
                  <a:pt x="10381" y="2758"/>
                </a:cubicBezTo>
                <a:lnTo>
                  <a:pt x="11277" y="2758"/>
                </a:lnTo>
                <a:lnTo>
                  <a:pt x="11277" y="1859"/>
                </a:lnTo>
                <a:lnTo>
                  <a:pt x="10381" y="1859"/>
                </a:lnTo>
                <a:close/>
                <a:moveTo>
                  <a:pt x="4573" y="4462"/>
                </a:moveTo>
                <a:cubicBezTo>
                  <a:pt x="4573" y="4462"/>
                  <a:pt x="4573" y="5360"/>
                  <a:pt x="4573" y="5360"/>
                </a:cubicBezTo>
                <a:lnTo>
                  <a:pt x="5469" y="5360"/>
                </a:lnTo>
                <a:lnTo>
                  <a:pt x="5469" y="4462"/>
                </a:lnTo>
                <a:lnTo>
                  <a:pt x="4573" y="4462"/>
                </a:lnTo>
                <a:close/>
                <a:moveTo>
                  <a:pt x="16189" y="4462"/>
                </a:moveTo>
                <a:cubicBezTo>
                  <a:pt x="16189" y="4462"/>
                  <a:pt x="16189" y="5360"/>
                  <a:pt x="16189" y="5360"/>
                </a:cubicBezTo>
                <a:lnTo>
                  <a:pt x="17085" y="5360"/>
                </a:lnTo>
                <a:lnTo>
                  <a:pt x="17085" y="4462"/>
                </a:lnTo>
                <a:lnTo>
                  <a:pt x="16189" y="4462"/>
                </a:lnTo>
                <a:close/>
                <a:moveTo>
                  <a:pt x="10786" y="5825"/>
                </a:moveTo>
                <a:cubicBezTo>
                  <a:pt x="8311" y="5825"/>
                  <a:pt x="6303" y="7839"/>
                  <a:pt x="6303" y="10322"/>
                </a:cubicBezTo>
                <a:lnTo>
                  <a:pt x="6303" y="10771"/>
                </a:lnTo>
                <a:lnTo>
                  <a:pt x="7199" y="10771"/>
                </a:lnTo>
                <a:lnTo>
                  <a:pt x="7199" y="10322"/>
                </a:lnTo>
                <a:cubicBezTo>
                  <a:pt x="7199" y="8335"/>
                  <a:pt x="8806" y="6724"/>
                  <a:pt x="10786" y="6724"/>
                </a:cubicBezTo>
                <a:cubicBezTo>
                  <a:pt x="12767" y="6724"/>
                  <a:pt x="14370" y="8335"/>
                  <a:pt x="14370" y="10322"/>
                </a:cubicBezTo>
                <a:lnTo>
                  <a:pt x="14370" y="10771"/>
                </a:lnTo>
                <a:lnTo>
                  <a:pt x="15270" y="10771"/>
                </a:lnTo>
                <a:lnTo>
                  <a:pt x="15270" y="10322"/>
                </a:lnTo>
                <a:cubicBezTo>
                  <a:pt x="15270" y="7839"/>
                  <a:pt x="13262" y="5825"/>
                  <a:pt x="10786" y="5825"/>
                </a:cubicBezTo>
                <a:close/>
                <a:moveTo>
                  <a:pt x="10767" y="8056"/>
                </a:moveTo>
                <a:cubicBezTo>
                  <a:pt x="9529" y="8056"/>
                  <a:pt x="8527" y="9061"/>
                  <a:pt x="8527" y="10302"/>
                </a:cubicBezTo>
                <a:lnTo>
                  <a:pt x="8527" y="10752"/>
                </a:lnTo>
                <a:lnTo>
                  <a:pt x="9423" y="10752"/>
                </a:lnTo>
                <a:lnTo>
                  <a:pt x="9423" y="10302"/>
                </a:lnTo>
                <a:cubicBezTo>
                  <a:pt x="9423" y="9557"/>
                  <a:pt x="10024" y="8954"/>
                  <a:pt x="10767" y="8954"/>
                </a:cubicBezTo>
                <a:cubicBezTo>
                  <a:pt x="11510" y="8954"/>
                  <a:pt x="12115" y="9557"/>
                  <a:pt x="12115" y="10302"/>
                </a:cubicBezTo>
                <a:lnTo>
                  <a:pt x="12115" y="10752"/>
                </a:lnTo>
                <a:lnTo>
                  <a:pt x="13011" y="10752"/>
                </a:lnTo>
                <a:lnTo>
                  <a:pt x="13011" y="10302"/>
                </a:lnTo>
                <a:cubicBezTo>
                  <a:pt x="13011" y="9061"/>
                  <a:pt x="12005" y="8056"/>
                  <a:pt x="10767" y="8056"/>
                </a:cubicBezTo>
                <a:close/>
                <a:moveTo>
                  <a:pt x="1854" y="9915"/>
                </a:moveTo>
                <a:cubicBezTo>
                  <a:pt x="1854" y="9915"/>
                  <a:pt x="1854" y="10814"/>
                  <a:pt x="1854" y="10814"/>
                </a:cubicBezTo>
                <a:lnTo>
                  <a:pt x="2750" y="10814"/>
                </a:lnTo>
                <a:lnTo>
                  <a:pt x="2750" y="9915"/>
                </a:lnTo>
                <a:lnTo>
                  <a:pt x="1854" y="9915"/>
                </a:lnTo>
                <a:close/>
                <a:moveTo>
                  <a:pt x="18908" y="9915"/>
                </a:moveTo>
                <a:cubicBezTo>
                  <a:pt x="18908" y="9915"/>
                  <a:pt x="18908" y="10814"/>
                  <a:pt x="18908" y="10814"/>
                </a:cubicBezTo>
                <a:lnTo>
                  <a:pt x="19804" y="10814"/>
                </a:lnTo>
                <a:lnTo>
                  <a:pt x="19804" y="9915"/>
                </a:lnTo>
                <a:lnTo>
                  <a:pt x="18908" y="9915"/>
                </a:lnTo>
                <a:close/>
                <a:moveTo>
                  <a:pt x="10381" y="10411"/>
                </a:moveTo>
                <a:cubicBezTo>
                  <a:pt x="10381" y="10411"/>
                  <a:pt x="10381" y="11966"/>
                  <a:pt x="10381" y="13509"/>
                </a:cubicBezTo>
                <a:lnTo>
                  <a:pt x="3167" y="13509"/>
                </a:lnTo>
                <a:cubicBezTo>
                  <a:pt x="2919" y="13509"/>
                  <a:pt x="2719" y="13710"/>
                  <a:pt x="2719" y="13958"/>
                </a:cubicBezTo>
                <a:lnTo>
                  <a:pt x="2719" y="16205"/>
                </a:lnTo>
                <a:lnTo>
                  <a:pt x="3615" y="16205"/>
                </a:lnTo>
                <a:lnTo>
                  <a:pt x="3615" y="14408"/>
                </a:lnTo>
                <a:lnTo>
                  <a:pt x="10381" y="14408"/>
                </a:lnTo>
                <a:cubicBezTo>
                  <a:pt x="10381" y="15207"/>
                  <a:pt x="10381" y="16255"/>
                  <a:pt x="10381" y="16255"/>
                </a:cubicBezTo>
                <a:lnTo>
                  <a:pt x="11277" y="16255"/>
                </a:lnTo>
                <a:lnTo>
                  <a:pt x="11277" y="14408"/>
                </a:lnTo>
                <a:lnTo>
                  <a:pt x="17962" y="14408"/>
                </a:lnTo>
                <a:lnTo>
                  <a:pt x="17962" y="16205"/>
                </a:lnTo>
                <a:lnTo>
                  <a:pt x="18858" y="16205"/>
                </a:lnTo>
                <a:lnTo>
                  <a:pt x="18858" y="13958"/>
                </a:lnTo>
                <a:cubicBezTo>
                  <a:pt x="18858" y="13710"/>
                  <a:pt x="18658" y="13509"/>
                  <a:pt x="18410" y="13509"/>
                </a:cubicBezTo>
                <a:lnTo>
                  <a:pt x="11277" y="13509"/>
                </a:lnTo>
                <a:lnTo>
                  <a:pt x="11277" y="10411"/>
                </a:lnTo>
                <a:lnTo>
                  <a:pt x="10381" y="10411"/>
                </a:lnTo>
                <a:close/>
                <a:moveTo>
                  <a:pt x="896" y="17103"/>
                </a:moveTo>
                <a:cubicBezTo>
                  <a:pt x="401" y="17103"/>
                  <a:pt x="0" y="17505"/>
                  <a:pt x="0" y="18002"/>
                </a:cubicBezTo>
                <a:lnTo>
                  <a:pt x="0" y="20701"/>
                </a:lnTo>
                <a:cubicBezTo>
                  <a:pt x="0" y="21198"/>
                  <a:pt x="401" y="21600"/>
                  <a:pt x="896" y="21600"/>
                </a:cubicBezTo>
                <a:lnTo>
                  <a:pt x="5380" y="21600"/>
                </a:lnTo>
                <a:cubicBezTo>
                  <a:pt x="5875" y="21600"/>
                  <a:pt x="6276" y="21198"/>
                  <a:pt x="6276" y="20701"/>
                </a:cubicBezTo>
                <a:lnTo>
                  <a:pt x="6276" y="18002"/>
                </a:lnTo>
                <a:cubicBezTo>
                  <a:pt x="6276" y="17505"/>
                  <a:pt x="5875" y="17103"/>
                  <a:pt x="5380" y="17103"/>
                </a:cubicBezTo>
                <a:lnTo>
                  <a:pt x="896" y="17103"/>
                </a:lnTo>
                <a:close/>
                <a:moveTo>
                  <a:pt x="8558" y="17103"/>
                </a:moveTo>
                <a:cubicBezTo>
                  <a:pt x="8063" y="17103"/>
                  <a:pt x="7662" y="17505"/>
                  <a:pt x="7662" y="18002"/>
                </a:cubicBezTo>
                <a:lnTo>
                  <a:pt x="7662" y="20701"/>
                </a:lnTo>
                <a:cubicBezTo>
                  <a:pt x="7662" y="21198"/>
                  <a:pt x="8063" y="21600"/>
                  <a:pt x="8558" y="21600"/>
                </a:cubicBezTo>
                <a:lnTo>
                  <a:pt x="13042" y="21600"/>
                </a:lnTo>
                <a:cubicBezTo>
                  <a:pt x="13537" y="21600"/>
                  <a:pt x="13938" y="21198"/>
                  <a:pt x="13938" y="20701"/>
                </a:cubicBezTo>
                <a:lnTo>
                  <a:pt x="13938" y="18002"/>
                </a:lnTo>
                <a:cubicBezTo>
                  <a:pt x="13938" y="17505"/>
                  <a:pt x="13537" y="17103"/>
                  <a:pt x="13042" y="17103"/>
                </a:cubicBezTo>
                <a:lnTo>
                  <a:pt x="8558" y="17103"/>
                </a:lnTo>
                <a:close/>
                <a:moveTo>
                  <a:pt x="16220" y="17103"/>
                </a:moveTo>
                <a:cubicBezTo>
                  <a:pt x="15725" y="17103"/>
                  <a:pt x="15324" y="17505"/>
                  <a:pt x="15324" y="18002"/>
                </a:cubicBezTo>
                <a:lnTo>
                  <a:pt x="15324" y="20701"/>
                </a:lnTo>
                <a:cubicBezTo>
                  <a:pt x="15324" y="21198"/>
                  <a:pt x="15725" y="21600"/>
                  <a:pt x="16220" y="21600"/>
                </a:cubicBezTo>
                <a:lnTo>
                  <a:pt x="20704" y="21600"/>
                </a:lnTo>
                <a:cubicBezTo>
                  <a:pt x="21199" y="21600"/>
                  <a:pt x="21600" y="21198"/>
                  <a:pt x="21600" y="20701"/>
                </a:cubicBezTo>
                <a:lnTo>
                  <a:pt x="21600" y="18002"/>
                </a:lnTo>
                <a:cubicBezTo>
                  <a:pt x="21600" y="17505"/>
                  <a:pt x="21199" y="17103"/>
                  <a:pt x="20704" y="17103"/>
                </a:cubicBezTo>
                <a:lnTo>
                  <a:pt x="16220" y="17103"/>
                </a:lnTo>
                <a:close/>
                <a:moveTo>
                  <a:pt x="896" y="18002"/>
                </a:moveTo>
                <a:lnTo>
                  <a:pt x="5380" y="18002"/>
                </a:lnTo>
                <a:cubicBezTo>
                  <a:pt x="5380" y="18002"/>
                  <a:pt x="5380" y="20701"/>
                  <a:pt x="5380" y="20701"/>
                </a:cubicBezTo>
                <a:lnTo>
                  <a:pt x="896" y="20701"/>
                </a:lnTo>
                <a:lnTo>
                  <a:pt x="896" y="18002"/>
                </a:lnTo>
                <a:close/>
                <a:moveTo>
                  <a:pt x="8558" y="18002"/>
                </a:moveTo>
                <a:lnTo>
                  <a:pt x="13042" y="18002"/>
                </a:lnTo>
                <a:cubicBezTo>
                  <a:pt x="13042" y="18002"/>
                  <a:pt x="13042" y="20701"/>
                  <a:pt x="13042" y="20701"/>
                </a:cubicBezTo>
                <a:lnTo>
                  <a:pt x="8558" y="20701"/>
                </a:lnTo>
                <a:lnTo>
                  <a:pt x="8558" y="18002"/>
                </a:lnTo>
                <a:close/>
                <a:moveTo>
                  <a:pt x="16220" y="18002"/>
                </a:moveTo>
                <a:lnTo>
                  <a:pt x="20704" y="18002"/>
                </a:lnTo>
                <a:cubicBezTo>
                  <a:pt x="20704" y="18002"/>
                  <a:pt x="20704" y="20701"/>
                  <a:pt x="20704" y="20701"/>
                </a:cubicBezTo>
                <a:lnTo>
                  <a:pt x="16220" y="20701"/>
                </a:lnTo>
                <a:lnTo>
                  <a:pt x="16220" y="18002"/>
                </a:lnTo>
                <a:close/>
                <a:moveTo>
                  <a:pt x="1854" y="18962"/>
                </a:moveTo>
                <a:cubicBezTo>
                  <a:pt x="1854" y="18962"/>
                  <a:pt x="1854" y="19861"/>
                  <a:pt x="1854" y="19861"/>
                </a:cubicBezTo>
                <a:lnTo>
                  <a:pt x="2750" y="19861"/>
                </a:lnTo>
                <a:lnTo>
                  <a:pt x="2750" y="18962"/>
                </a:lnTo>
                <a:lnTo>
                  <a:pt x="1854" y="18962"/>
                </a:lnTo>
                <a:close/>
                <a:moveTo>
                  <a:pt x="3584" y="18962"/>
                </a:moveTo>
                <a:cubicBezTo>
                  <a:pt x="3584" y="18962"/>
                  <a:pt x="3584" y="19861"/>
                  <a:pt x="3584" y="19861"/>
                </a:cubicBezTo>
                <a:lnTo>
                  <a:pt x="4480" y="19861"/>
                </a:lnTo>
                <a:lnTo>
                  <a:pt x="4480" y="18962"/>
                </a:lnTo>
                <a:lnTo>
                  <a:pt x="3584" y="18962"/>
                </a:lnTo>
                <a:close/>
                <a:moveTo>
                  <a:pt x="9516" y="18962"/>
                </a:moveTo>
                <a:cubicBezTo>
                  <a:pt x="9516" y="18962"/>
                  <a:pt x="9516" y="19861"/>
                  <a:pt x="9516" y="19861"/>
                </a:cubicBezTo>
                <a:lnTo>
                  <a:pt x="10412" y="19861"/>
                </a:lnTo>
                <a:lnTo>
                  <a:pt x="10412" y="18962"/>
                </a:lnTo>
                <a:lnTo>
                  <a:pt x="9516" y="18962"/>
                </a:lnTo>
                <a:close/>
                <a:moveTo>
                  <a:pt x="11246" y="18962"/>
                </a:moveTo>
                <a:cubicBezTo>
                  <a:pt x="11246" y="18962"/>
                  <a:pt x="11246" y="19861"/>
                  <a:pt x="11246" y="19861"/>
                </a:cubicBezTo>
                <a:lnTo>
                  <a:pt x="12142" y="19861"/>
                </a:lnTo>
                <a:lnTo>
                  <a:pt x="12142" y="18962"/>
                </a:lnTo>
                <a:lnTo>
                  <a:pt x="11246" y="18962"/>
                </a:lnTo>
                <a:close/>
                <a:moveTo>
                  <a:pt x="17054" y="18962"/>
                </a:moveTo>
                <a:cubicBezTo>
                  <a:pt x="17054" y="18962"/>
                  <a:pt x="17054" y="19861"/>
                  <a:pt x="17054" y="19861"/>
                </a:cubicBezTo>
                <a:lnTo>
                  <a:pt x="17950" y="19861"/>
                </a:lnTo>
                <a:lnTo>
                  <a:pt x="17950" y="18962"/>
                </a:lnTo>
                <a:lnTo>
                  <a:pt x="17054" y="18962"/>
                </a:lnTo>
                <a:close/>
                <a:moveTo>
                  <a:pt x="18908" y="18962"/>
                </a:moveTo>
                <a:cubicBezTo>
                  <a:pt x="18908" y="18962"/>
                  <a:pt x="18908" y="19861"/>
                  <a:pt x="18908" y="19861"/>
                </a:cubicBezTo>
                <a:lnTo>
                  <a:pt x="19804" y="19861"/>
                </a:lnTo>
                <a:lnTo>
                  <a:pt x="19804" y="18962"/>
                </a:lnTo>
                <a:lnTo>
                  <a:pt x="18908" y="18962"/>
                </a:lnTo>
                <a:close/>
              </a:path>
            </a:pathLst>
          </a:custGeom>
          <a:gradFill>
            <a:gsLst>
              <a:gs pos="83000">
                <a:schemeClr val="accent1"/>
              </a:gs>
              <a:gs pos="0">
                <a:schemeClr val="accent2"/>
              </a:gs>
            </a:gsLst>
            <a:lin ang="7800000" scaled="0"/>
          </a:gradFill>
          <a:ln w="12700">
            <a:miter lim="400000"/>
          </a:ln>
        </p:spPr>
        <p:txBody>
          <a:bodyPr lIns="34290" tIns="34290" rIns="34290" bIns="34290" anchor="ctr"/>
          <a:lstStyle/>
          <a:p>
            <a:endParaRPr lang="en-US" sz="2000">
              <a:latin typeface="Sakkal Majalla" panose="02000000000000000000" pitchFamily="2" charset="-78"/>
              <a:cs typeface="Sakkal Majalla" panose="02000000000000000000" pitchFamily="2" charset="-78"/>
            </a:endParaRPr>
          </a:p>
        </p:txBody>
      </p:sp>
      <p:sp>
        <p:nvSpPr>
          <p:cNvPr id="13" name="مستطيل: زوايا مستديرة 13">
            <a:extLst>
              <a:ext uri="{FF2B5EF4-FFF2-40B4-BE49-F238E27FC236}">
                <a16:creationId xmlns:a16="http://schemas.microsoft.com/office/drawing/2014/main" id="{33AA8B94-E391-CC17-9C25-C76114552A72}"/>
              </a:ext>
            </a:extLst>
          </p:cNvPr>
          <p:cNvSpPr/>
          <p:nvPr/>
        </p:nvSpPr>
        <p:spPr>
          <a:xfrm>
            <a:off x="7735783" y="399223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14" name="Rectangle 13">
            <a:extLst>
              <a:ext uri="{FF2B5EF4-FFF2-40B4-BE49-F238E27FC236}">
                <a16:creationId xmlns:a16="http://schemas.microsoft.com/office/drawing/2014/main" id="{2FF524C2-D7B8-14DA-6AA4-EFB90545BAB9}"/>
              </a:ext>
            </a:extLst>
          </p:cNvPr>
          <p:cNvSpPr/>
          <p:nvPr/>
        </p:nvSpPr>
        <p:spPr>
          <a:xfrm>
            <a:off x="7991592" y="4079911"/>
            <a:ext cx="3223984"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تخطيط لترجمة التفكير الاستراتيجي إلى خارطة طريق للتطوير والتكامل المستقبلي</a:t>
            </a:r>
          </a:p>
        </p:txBody>
      </p:sp>
      <p:sp>
        <p:nvSpPr>
          <p:cNvPr id="15" name="Oval 14">
            <a:extLst>
              <a:ext uri="{FF2B5EF4-FFF2-40B4-BE49-F238E27FC236}">
                <a16:creationId xmlns:a16="http://schemas.microsoft.com/office/drawing/2014/main" id="{DD4B0251-D0EB-0AED-44A8-95A5019F9A26}"/>
              </a:ext>
            </a:extLst>
          </p:cNvPr>
          <p:cNvSpPr/>
          <p:nvPr/>
        </p:nvSpPr>
        <p:spPr>
          <a:xfrm>
            <a:off x="11215576" y="418481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2</a:t>
            </a:r>
          </a:p>
        </p:txBody>
      </p:sp>
      <p:sp>
        <p:nvSpPr>
          <p:cNvPr id="16" name="مستطيل: زوايا مستديرة 13">
            <a:extLst>
              <a:ext uri="{FF2B5EF4-FFF2-40B4-BE49-F238E27FC236}">
                <a16:creationId xmlns:a16="http://schemas.microsoft.com/office/drawing/2014/main" id="{D0A3EB05-686E-CA29-EA1F-3DBBFEB321AB}"/>
              </a:ext>
            </a:extLst>
          </p:cNvPr>
          <p:cNvSpPr/>
          <p:nvPr/>
        </p:nvSpPr>
        <p:spPr>
          <a:xfrm>
            <a:off x="7735783" y="488878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A2A188F8-6387-B174-5B4A-BE37F78BF97F}"/>
              </a:ext>
            </a:extLst>
          </p:cNvPr>
          <p:cNvSpPr/>
          <p:nvPr/>
        </p:nvSpPr>
        <p:spPr>
          <a:xfrm>
            <a:off x="7991592" y="4857744"/>
            <a:ext cx="3223984" cy="814064"/>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صنع قرار لتوفير إطار عمل لتقييم واختيار وتبرير خيارات التطوير الاستراتيجي من منظور البنية المؤسسية</a:t>
            </a:r>
          </a:p>
        </p:txBody>
      </p:sp>
      <p:sp>
        <p:nvSpPr>
          <p:cNvPr id="18" name="Oval 17">
            <a:extLst>
              <a:ext uri="{FF2B5EF4-FFF2-40B4-BE49-F238E27FC236}">
                <a16:creationId xmlns:a16="http://schemas.microsoft.com/office/drawing/2014/main" id="{DC889A3B-1628-ECDD-21AF-AC4AB71023E6}"/>
              </a:ext>
            </a:extLst>
          </p:cNvPr>
          <p:cNvSpPr/>
          <p:nvPr/>
        </p:nvSpPr>
        <p:spPr>
          <a:xfrm>
            <a:off x="11215576" y="5081363"/>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3</a:t>
            </a:r>
          </a:p>
        </p:txBody>
      </p:sp>
      <p:grpSp>
        <p:nvGrpSpPr>
          <p:cNvPr id="22" name="Group 21">
            <a:extLst>
              <a:ext uri="{FF2B5EF4-FFF2-40B4-BE49-F238E27FC236}">
                <a16:creationId xmlns:a16="http://schemas.microsoft.com/office/drawing/2014/main" id="{76E8984D-0D92-F728-C15B-0D228C6DC42D}"/>
              </a:ext>
            </a:extLst>
          </p:cNvPr>
          <p:cNvGrpSpPr/>
          <p:nvPr/>
        </p:nvGrpSpPr>
        <p:grpSpPr>
          <a:xfrm>
            <a:off x="7436959" y="4300481"/>
            <a:ext cx="135485" cy="135485"/>
            <a:chOff x="5504842" y="3254287"/>
            <a:chExt cx="102447" cy="102447"/>
          </a:xfrm>
        </p:grpSpPr>
        <p:sp>
          <p:nvSpPr>
            <p:cNvPr id="23" name="Oval 22">
              <a:extLst>
                <a:ext uri="{FF2B5EF4-FFF2-40B4-BE49-F238E27FC236}">
                  <a16:creationId xmlns:a16="http://schemas.microsoft.com/office/drawing/2014/main" id="{DE0AB3DF-8AB4-6FD0-A823-ACBB6136BBC5}"/>
                </a:ext>
              </a:extLst>
            </p:cNvPr>
            <p:cNvSpPr/>
            <p:nvPr/>
          </p:nvSpPr>
          <p:spPr>
            <a:xfrm>
              <a:off x="5504842" y="3254287"/>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24" name="Oval 23">
              <a:extLst>
                <a:ext uri="{FF2B5EF4-FFF2-40B4-BE49-F238E27FC236}">
                  <a16:creationId xmlns:a16="http://schemas.microsoft.com/office/drawing/2014/main" id="{364B1C36-F8E9-BBB5-5E4F-CD879A636610}"/>
                </a:ext>
              </a:extLst>
            </p:cNvPr>
            <p:cNvSpPr/>
            <p:nvPr/>
          </p:nvSpPr>
          <p:spPr>
            <a:xfrm>
              <a:off x="5530453" y="3279898"/>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grpSp>
        <p:nvGrpSpPr>
          <p:cNvPr id="25" name="Group 24">
            <a:extLst>
              <a:ext uri="{FF2B5EF4-FFF2-40B4-BE49-F238E27FC236}">
                <a16:creationId xmlns:a16="http://schemas.microsoft.com/office/drawing/2014/main" id="{4EE76B56-448A-23B4-A81F-63DED3E7A3DF}"/>
              </a:ext>
            </a:extLst>
          </p:cNvPr>
          <p:cNvGrpSpPr/>
          <p:nvPr/>
        </p:nvGrpSpPr>
        <p:grpSpPr>
          <a:xfrm>
            <a:off x="7081044" y="5197032"/>
            <a:ext cx="135485" cy="135485"/>
            <a:chOff x="5514042" y="3824093"/>
            <a:chExt cx="102447" cy="102447"/>
          </a:xfrm>
        </p:grpSpPr>
        <p:sp>
          <p:nvSpPr>
            <p:cNvPr id="26" name="Oval 25">
              <a:extLst>
                <a:ext uri="{FF2B5EF4-FFF2-40B4-BE49-F238E27FC236}">
                  <a16:creationId xmlns:a16="http://schemas.microsoft.com/office/drawing/2014/main" id="{B90DC229-9129-0400-421E-9F72A4827B4F}"/>
                </a:ext>
              </a:extLst>
            </p:cNvPr>
            <p:cNvSpPr/>
            <p:nvPr/>
          </p:nvSpPr>
          <p:spPr>
            <a:xfrm>
              <a:off x="5514042" y="3824093"/>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27" name="Oval 26">
              <a:extLst>
                <a:ext uri="{FF2B5EF4-FFF2-40B4-BE49-F238E27FC236}">
                  <a16:creationId xmlns:a16="http://schemas.microsoft.com/office/drawing/2014/main" id="{701878BA-95A5-A148-DDF7-ACEFEABCCDAB}"/>
                </a:ext>
              </a:extLst>
            </p:cNvPr>
            <p:cNvSpPr/>
            <p:nvPr/>
          </p:nvSpPr>
          <p:spPr>
            <a:xfrm>
              <a:off x="5539654" y="3849704"/>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31" name="مستطيل: زوايا مستديرة 13">
            <a:extLst>
              <a:ext uri="{FF2B5EF4-FFF2-40B4-BE49-F238E27FC236}">
                <a16:creationId xmlns:a16="http://schemas.microsoft.com/office/drawing/2014/main" id="{7D8C6D08-78DC-363B-4969-FAAFFC6044E5}"/>
              </a:ext>
            </a:extLst>
          </p:cNvPr>
          <p:cNvSpPr/>
          <p:nvPr/>
        </p:nvSpPr>
        <p:spPr>
          <a:xfrm>
            <a:off x="7735783" y="3054386"/>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32" name="Rectangle 31">
            <a:extLst>
              <a:ext uri="{FF2B5EF4-FFF2-40B4-BE49-F238E27FC236}">
                <a16:creationId xmlns:a16="http://schemas.microsoft.com/office/drawing/2014/main" id="{A712CB2E-4B2F-FFED-5D87-D3A8F0E5DC38}"/>
              </a:ext>
            </a:extLst>
          </p:cNvPr>
          <p:cNvSpPr/>
          <p:nvPr/>
        </p:nvSpPr>
        <p:spPr>
          <a:xfrm>
            <a:off x="7991592" y="2921582"/>
            <a:ext cx="3223984" cy="1017581"/>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تحليلية لتوفير إمكانيات النمذجة على جميع المستويات ورسم العلاقات والتبعيات بوضوح بين جميع المجالات الرئيسية </a:t>
            </a:r>
            <a:r>
              <a:rPr lang="ar-EG" sz="1200" b="1" dirty="0">
                <a:solidFill>
                  <a:schemeClr val="bg1"/>
                </a:solidFill>
                <a:latin typeface="Sakkal Majalla" panose="02000000000000000000" pitchFamily="2" charset="-78"/>
                <a:cs typeface="Sakkal Majalla" panose="02000000000000000000" pitchFamily="2" charset="-78"/>
              </a:rPr>
              <a:t>(الأعمال والتطبيقات والبيانات والبنية التحتية)</a:t>
            </a:r>
          </a:p>
        </p:txBody>
      </p:sp>
      <p:sp>
        <p:nvSpPr>
          <p:cNvPr id="33" name="Oval 32">
            <a:extLst>
              <a:ext uri="{FF2B5EF4-FFF2-40B4-BE49-F238E27FC236}">
                <a16:creationId xmlns:a16="http://schemas.microsoft.com/office/drawing/2014/main" id="{6242A202-CD08-E58E-F745-67DBFF42C31A}"/>
              </a:ext>
            </a:extLst>
          </p:cNvPr>
          <p:cNvSpPr/>
          <p:nvPr/>
        </p:nvSpPr>
        <p:spPr>
          <a:xfrm>
            <a:off x="11215576" y="3227996"/>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1</a:t>
            </a:r>
          </a:p>
        </p:txBody>
      </p:sp>
      <p:grpSp>
        <p:nvGrpSpPr>
          <p:cNvPr id="39" name="Group 38">
            <a:extLst>
              <a:ext uri="{FF2B5EF4-FFF2-40B4-BE49-F238E27FC236}">
                <a16:creationId xmlns:a16="http://schemas.microsoft.com/office/drawing/2014/main" id="{068D81D7-84AB-C424-9896-260FFE88D046}"/>
              </a:ext>
            </a:extLst>
          </p:cNvPr>
          <p:cNvGrpSpPr/>
          <p:nvPr/>
        </p:nvGrpSpPr>
        <p:grpSpPr>
          <a:xfrm>
            <a:off x="7081044" y="3362629"/>
            <a:ext cx="135485" cy="135485"/>
            <a:chOff x="4998826" y="2842498"/>
            <a:chExt cx="102447" cy="102447"/>
          </a:xfrm>
        </p:grpSpPr>
        <p:sp>
          <p:nvSpPr>
            <p:cNvPr id="40" name="Oval 39">
              <a:extLst>
                <a:ext uri="{FF2B5EF4-FFF2-40B4-BE49-F238E27FC236}">
                  <a16:creationId xmlns:a16="http://schemas.microsoft.com/office/drawing/2014/main" id="{473DB166-C9F5-AB44-55B3-670BE15279A9}"/>
                </a:ext>
              </a:extLst>
            </p:cNvPr>
            <p:cNvSpPr/>
            <p:nvPr/>
          </p:nvSpPr>
          <p:spPr>
            <a:xfrm>
              <a:off x="4998826"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41" name="Oval 40">
              <a:extLst>
                <a:ext uri="{FF2B5EF4-FFF2-40B4-BE49-F238E27FC236}">
                  <a16:creationId xmlns:a16="http://schemas.microsoft.com/office/drawing/2014/main" id="{1F3BD006-0BD2-ED14-A1A6-51273B47CF33}"/>
                </a:ext>
              </a:extLst>
            </p:cNvPr>
            <p:cNvSpPr/>
            <p:nvPr/>
          </p:nvSpPr>
          <p:spPr>
            <a:xfrm>
              <a:off x="5024437"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19" name="مستطيل: زوايا مستديرة 13">
            <a:extLst>
              <a:ext uri="{FF2B5EF4-FFF2-40B4-BE49-F238E27FC236}">
                <a16:creationId xmlns:a16="http://schemas.microsoft.com/office/drawing/2014/main" id="{7E442361-5002-65B6-0528-176EC4A4CAB6}"/>
              </a:ext>
            </a:extLst>
          </p:cNvPr>
          <p:cNvSpPr/>
          <p:nvPr/>
        </p:nvSpPr>
        <p:spPr>
          <a:xfrm flipH="1">
            <a:off x="605961" y="399223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F113FDB6-E664-35A7-036C-5994B3A81DC1}"/>
              </a:ext>
            </a:extLst>
          </p:cNvPr>
          <p:cNvSpPr/>
          <p:nvPr/>
        </p:nvSpPr>
        <p:spPr>
          <a:xfrm flipH="1">
            <a:off x="685247" y="3961193"/>
            <a:ext cx="3311827" cy="814064"/>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 تعكس البنية المؤسسية هيكلية مكونات الجهة وعلاقاتها والمبادئ والإرشادات التي تحكم تطورها بمرور الوقت</a:t>
            </a:r>
          </a:p>
        </p:txBody>
      </p:sp>
      <p:sp>
        <p:nvSpPr>
          <p:cNvPr id="21" name="Oval 20">
            <a:extLst>
              <a:ext uri="{FF2B5EF4-FFF2-40B4-BE49-F238E27FC236}">
                <a16:creationId xmlns:a16="http://schemas.microsoft.com/office/drawing/2014/main" id="{D53F6F6F-1745-BF77-43A1-806BE896B4CC}"/>
              </a:ext>
            </a:extLst>
          </p:cNvPr>
          <p:cNvSpPr/>
          <p:nvPr/>
        </p:nvSpPr>
        <p:spPr>
          <a:xfrm flipH="1">
            <a:off x="4029851" y="418481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5</a:t>
            </a:r>
          </a:p>
        </p:txBody>
      </p:sp>
      <p:grpSp>
        <p:nvGrpSpPr>
          <p:cNvPr id="28" name="Group 27">
            <a:extLst>
              <a:ext uri="{FF2B5EF4-FFF2-40B4-BE49-F238E27FC236}">
                <a16:creationId xmlns:a16="http://schemas.microsoft.com/office/drawing/2014/main" id="{9B3D6434-CDB4-E19D-5A2F-AE5581EBE2FB}"/>
              </a:ext>
            </a:extLst>
          </p:cNvPr>
          <p:cNvGrpSpPr/>
          <p:nvPr/>
        </p:nvGrpSpPr>
        <p:grpSpPr>
          <a:xfrm>
            <a:off x="4715963" y="4300481"/>
            <a:ext cx="135485" cy="135485"/>
            <a:chOff x="3536711" y="3254287"/>
            <a:chExt cx="102447" cy="102447"/>
          </a:xfrm>
        </p:grpSpPr>
        <p:sp>
          <p:nvSpPr>
            <p:cNvPr id="29" name="Oval 28">
              <a:extLst>
                <a:ext uri="{FF2B5EF4-FFF2-40B4-BE49-F238E27FC236}">
                  <a16:creationId xmlns:a16="http://schemas.microsoft.com/office/drawing/2014/main" id="{8B3E9235-24CE-7C5B-647E-1B59B44EA223}"/>
                </a:ext>
              </a:extLst>
            </p:cNvPr>
            <p:cNvSpPr/>
            <p:nvPr/>
          </p:nvSpPr>
          <p:spPr>
            <a:xfrm>
              <a:off x="3536711" y="3254287"/>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F6F6F6"/>
                </a:solidFill>
                <a:latin typeface="Sakkal Majalla" panose="02000000000000000000" pitchFamily="2" charset="-78"/>
                <a:cs typeface="Sakkal Majalla" panose="02000000000000000000" pitchFamily="2" charset="-78"/>
              </a:endParaRPr>
            </a:p>
          </p:txBody>
        </p:sp>
        <p:sp>
          <p:nvSpPr>
            <p:cNvPr id="30" name="Oval 29">
              <a:extLst>
                <a:ext uri="{FF2B5EF4-FFF2-40B4-BE49-F238E27FC236}">
                  <a16:creationId xmlns:a16="http://schemas.microsoft.com/office/drawing/2014/main" id="{A4D2CDBE-902F-E927-7F9B-2E4A0F280450}"/>
                </a:ext>
              </a:extLst>
            </p:cNvPr>
            <p:cNvSpPr/>
            <p:nvPr/>
          </p:nvSpPr>
          <p:spPr>
            <a:xfrm>
              <a:off x="3562323" y="3279898"/>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kkal Majalla" panose="02000000000000000000" pitchFamily="2" charset="-78"/>
                <a:cs typeface="Sakkal Majalla" panose="02000000000000000000" pitchFamily="2" charset="-78"/>
              </a:endParaRPr>
            </a:p>
          </p:txBody>
        </p:sp>
      </p:grpSp>
      <p:sp>
        <p:nvSpPr>
          <p:cNvPr id="34" name="مستطيل: زوايا مستديرة 13">
            <a:extLst>
              <a:ext uri="{FF2B5EF4-FFF2-40B4-BE49-F238E27FC236}">
                <a16:creationId xmlns:a16="http://schemas.microsoft.com/office/drawing/2014/main" id="{AABABBAF-3C9D-F070-2D18-76D9C8550CEC}"/>
              </a:ext>
            </a:extLst>
          </p:cNvPr>
          <p:cNvSpPr/>
          <p:nvPr/>
        </p:nvSpPr>
        <p:spPr>
          <a:xfrm flipH="1">
            <a:off x="605961" y="3054386"/>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35" name="Rectangle 34">
            <a:extLst>
              <a:ext uri="{FF2B5EF4-FFF2-40B4-BE49-F238E27FC236}">
                <a16:creationId xmlns:a16="http://schemas.microsoft.com/office/drawing/2014/main" id="{489C13F1-DDFB-36E3-A8A6-9F901AB3D34C}"/>
              </a:ext>
            </a:extLst>
          </p:cNvPr>
          <p:cNvSpPr/>
          <p:nvPr/>
        </p:nvSpPr>
        <p:spPr>
          <a:xfrm flipH="1">
            <a:off x="685247" y="3142055"/>
            <a:ext cx="3311827"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إدارة التغيير لتوفير إطار لمزامنة وتنسيق أنشطة التنمية عبر مشاريع ومبادرات تطويرية متعددة</a:t>
            </a:r>
          </a:p>
        </p:txBody>
      </p:sp>
      <p:sp>
        <p:nvSpPr>
          <p:cNvPr id="36" name="Oval 35">
            <a:extLst>
              <a:ext uri="{FF2B5EF4-FFF2-40B4-BE49-F238E27FC236}">
                <a16:creationId xmlns:a16="http://schemas.microsoft.com/office/drawing/2014/main" id="{E3AE133A-9ED5-E4F0-B794-CC7A4F9EE5A5}"/>
              </a:ext>
            </a:extLst>
          </p:cNvPr>
          <p:cNvSpPr/>
          <p:nvPr/>
        </p:nvSpPr>
        <p:spPr>
          <a:xfrm flipH="1">
            <a:off x="4029851" y="3227996"/>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4</a:t>
            </a:r>
          </a:p>
        </p:txBody>
      </p:sp>
      <p:grpSp>
        <p:nvGrpSpPr>
          <p:cNvPr id="42" name="Group 41">
            <a:extLst>
              <a:ext uri="{FF2B5EF4-FFF2-40B4-BE49-F238E27FC236}">
                <a16:creationId xmlns:a16="http://schemas.microsoft.com/office/drawing/2014/main" id="{5888D607-D05F-1E01-E993-0156D7B2012D}"/>
              </a:ext>
            </a:extLst>
          </p:cNvPr>
          <p:cNvGrpSpPr/>
          <p:nvPr/>
        </p:nvGrpSpPr>
        <p:grpSpPr>
          <a:xfrm>
            <a:off x="5074780" y="3362629"/>
            <a:ext cx="135485" cy="135485"/>
            <a:chOff x="4056629" y="2842498"/>
            <a:chExt cx="102447" cy="102447"/>
          </a:xfrm>
        </p:grpSpPr>
        <p:sp>
          <p:nvSpPr>
            <p:cNvPr id="43" name="Oval 42">
              <a:extLst>
                <a:ext uri="{FF2B5EF4-FFF2-40B4-BE49-F238E27FC236}">
                  <a16:creationId xmlns:a16="http://schemas.microsoft.com/office/drawing/2014/main" id="{3B43AA20-8F68-62C8-F174-DF3F03929FF3}"/>
                </a:ext>
              </a:extLst>
            </p:cNvPr>
            <p:cNvSpPr/>
            <p:nvPr/>
          </p:nvSpPr>
          <p:spPr>
            <a:xfrm>
              <a:off x="4056629"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44" name="Oval 43">
              <a:extLst>
                <a:ext uri="{FF2B5EF4-FFF2-40B4-BE49-F238E27FC236}">
                  <a16:creationId xmlns:a16="http://schemas.microsoft.com/office/drawing/2014/main" id="{E92181AC-7ED1-29E2-1AFA-D7E013FB8F8F}"/>
                </a:ext>
              </a:extLst>
            </p:cNvPr>
            <p:cNvSpPr/>
            <p:nvPr/>
          </p:nvSpPr>
          <p:spPr>
            <a:xfrm>
              <a:off x="4082240"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2" name="مستطيل: زوايا مستديرة 13">
            <a:extLst>
              <a:ext uri="{FF2B5EF4-FFF2-40B4-BE49-F238E27FC236}">
                <a16:creationId xmlns:a16="http://schemas.microsoft.com/office/drawing/2014/main" id="{00CC3F8F-8B5E-4C0E-BDC5-CF65FD0EF3B1}"/>
              </a:ext>
            </a:extLst>
          </p:cNvPr>
          <p:cNvSpPr/>
          <p:nvPr/>
        </p:nvSpPr>
        <p:spPr>
          <a:xfrm flipH="1">
            <a:off x="605961" y="4885087"/>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3" name="Rectangle 2">
            <a:extLst>
              <a:ext uri="{FF2B5EF4-FFF2-40B4-BE49-F238E27FC236}">
                <a16:creationId xmlns:a16="http://schemas.microsoft.com/office/drawing/2014/main" id="{9995E63A-860C-4C46-D8E5-5EF73F15F0FC}"/>
              </a:ext>
            </a:extLst>
          </p:cNvPr>
          <p:cNvSpPr/>
          <p:nvPr/>
        </p:nvSpPr>
        <p:spPr>
          <a:xfrm flipH="1">
            <a:off x="685247" y="4972761"/>
            <a:ext cx="3311827"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مواءمة بين الأعمال وتقنية المعلومات وتزويد أصحاب المصلحة بعدة مناظير ووجهات نظر مختلفة</a:t>
            </a:r>
          </a:p>
        </p:txBody>
      </p:sp>
      <p:sp>
        <p:nvSpPr>
          <p:cNvPr id="4" name="Oval 3">
            <a:extLst>
              <a:ext uri="{FF2B5EF4-FFF2-40B4-BE49-F238E27FC236}">
                <a16:creationId xmlns:a16="http://schemas.microsoft.com/office/drawing/2014/main" id="{1A01FC42-1901-C658-62F7-EBE20423FBE0}"/>
              </a:ext>
            </a:extLst>
          </p:cNvPr>
          <p:cNvSpPr/>
          <p:nvPr/>
        </p:nvSpPr>
        <p:spPr>
          <a:xfrm flipH="1">
            <a:off x="4029851" y="507766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b="1" dirty="0">
                <a:solidFill>
                  <a:schemeClr val="accent1"/>
                </a:solidFill>
                <a:latin typeface="Sakkal Majalla" panose="02000000000000000000" pitchFamily="2" charset="-78"/>
                <a:cs typeface="Sakkal Majalla" panose="02000000000000000000" pitchFamily="2" charset="-78"/>
              </a:rPr>
              <a:t>6</a:t>
            </a:r>
            <a:endParaRPr lang="en-US" b="1" dirty="0">
              <a:solidFill>
                <a:schemeClr val="accent1"/>
              </a:solidFill>
              <a:latin typeface="Sakkal Majalla" panose="02000000000000000000" pitchFamily="2" charset="-78"/>
              <a:cs typeface="Sakkal Majalla" panose="02000000000000000000" pitchFamily="2" charset="-78"/>
            </a:endParaRPr>
          </a:p>
        </p:txBody>
      </p:sp>
      <p:grpSp>
        <p:nvGrpSpPr>
          <p:cNvPr id="6" name="Group 5">
            <a:extLst>
              <a:ext uri="{FF2B5EF4-FFF2-40B4-BE49-F238E27FC236}">
                <a16:creationId xmlns:a16="http://schemas.microsoft.com/office/drawing/2014/main" id="{F8516B50-93E5-F85A-6A1C-5CB2746BD324}"/>
              </a:ext>
            </a:extLst>
          </p:cNvPr>
          <p:cNvGrpSpPr/>
          <p:nvPr/>
        </p:nvGrpSpPr>
        <p:grpSpPr>
          <a:xfrm>
            <a:off x="5051630" y="5197032"/>
            <a:ext cx="135485" cy="135485"/>
            <a:chOff x="4056629" y="2842498"/>
            <a:chExt cx="102447" cy="102447"/>
          </a:xfrm>
        </p:grpSpPr>
        <p:sp>
          <p:nvSpPr>
            <p:cNvPr id="37" name="Oval 36">
              <a:extLst>
                <a:ext uri="{FF2B5EF4-FFF2-40B4-BE49-F238E27FC236}">
                  <a16:creationId xmlns:a16="http://schemas.microsoft.com/office/drawing/2014/main" id="{A6212D99-2754-CD01-7F56-006843764A49}"/>
                </a:ext>
              </a:extLst>
            </p:cNvPr>
            <p:cNvSpPr/>
            <p:nvPr/>
          </p:nvSpPr>
          <p:spPr>
            <a:xfrm>
              <a:off x="4056629"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38" name="Oval 37">
              <a:extLst>
                <a:ext uri="{FF2B5EF4-FFF2-40B4-BE49-F238E27FC236}">
                  <a16:creationId xmlns:a16="http://schemas.microsoft.com/office/drawing/2014/main" id="{7DC25890-270E-34CC-CC48-95DAF88F3C19}"/>
                </a:ext>
              </a:extLst>
            </p:cNvPr>
            <p:cNvSpPr/>
            <p:nvPr/>
          </p:nvSpPr>
          <p:spPr>
            <a:xfrm>
              <a:off x="4082240"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90230729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651C-BD57-3F27-47A2-485D4B0E56DC}"/>
              </a:ext>
            </a:extLst>
          </p:cNvPr>
          <p:cNvSpPr>
            <a:spLocks noGrp="1"/>
          </p:cNvSpPr>
          <p:nvPr>
            <p:ph type="title"/>
          </p:nvPr>
        </p:nvSpPr>
        <p:spPr>
          <a:xfrm>
            <a:off x="609601" y="561078"/>
            <a:ext cx="10972800" cy="666261"/>
          </a:xfrm>
        </p:spPr>
        <p:txBody>
          <a:bodyPr/>
          <a:lstStyle/>
          <a:p>
            <a:r>
              <a:rPr lang="ar-SA" dirty="0"/>
              <a:t>أهمية البنية المؤسسية</a:t>
            </a:r>
            <a:endParaRPr lang="en-US" dirty="0"/>
          </a:p>
        </p:txBody>
      </p:sp>
      <p:sp>
        <p:nvSpPr>
          <p:cNvPr id="3" name="Slide Number Placeholder 2">
            <a:extLst>
              <a:ext uri="{FF2B5EF4-FFF2-40B4-BE49-F238E27FC236}">
                <a16:creationId xmlns:a16="http://schemas.microsoft.com/office/drawing/2014/main" id="{D57CE0A5-5EF6-FA7E-E41D-095F5E0304D6}"/>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6</a:t>
            </a:fld>
            <a:endParaRPr lang="en-US"/>
          </a:p>
        </p:txBody>
      </p:sp>
      <p:sp>
        <p:nvSpPr>
          <p:cNvPr id="4" name="TextBox 125">
            <a:extLst>
              <a:ext uri="{FF2B5EF4-FFF2-40B4-BE49-F238E27FC236}">
                <a16:creationId xmlns:a16="http://schemas.microsoft.com/office/drawing/2014/main" id="{2DC67AA6-BC36-B295-F241-D062F5965E80}"/>
              </a:ext>
            </a:extLst>
          </p:cNvPr>
          <p:cNvSpPr txBox="1"/>
          <p:nvPr/>
        </p:nvSpPr>
        <p:spPr>
          <a:xfrm>
            <a:off x="10037417"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التغيير الفعال</a:t>
            </a:r>
            <a:endParaRPr lang="en-US" sz="1400" b="1" dirty="0">
              <a:solidFill>
                <a:schemeClr val="accent2"/>
              </a:solidFill>
            </a:endParaRPr>
          </a:p>
        </p:txBody>
      </p:sp>
      <p:grpSp>
        <p:nvGrpSpPr>
          <p:cNvPr id="5" name="Group 4">
            <a:extLst>
              <a:ext uri="{FF2B5EF4-FFF2-40B4-BE49-F238E27FC236}">
                <a16:creationId xmlns:a16="http://schemas.microsoft.com/office/drawing/2014/main" id="{41210AC1-7541-EDE6-7F3E-FFE90793208F}"/>
              </a:ext>
            </a:extLst>
          </p:cNvPr>
          <p:cNvGrpSpPr>
            <a:grpSpLocks noChangeAspect="1"/>
          </p:cNvGrpSpPr>
          <p:nvPr/>
        </p:nvGrpSpPr>
        <p:grpSpPr>
          <a:xfrm>
            <a:off x="10499583" y="1340047"/>
            <a:ext cx="620651" cy="626577"/>
            <a:chOff x="2794001" y="47625"/>
            <a:chExt cx="1995488" cy="2014538"/>
          </a:xfrm>
          <a:solidFill>
            <a:schemeClr val="accent1"/>
          </a:solidFill>
        </p:grpSpPr>
        <p:sp>
          <p:nvSpPr>
            <p:cNvPr id="6" name="Freeform 5">
              <a:extLst>
                <a:ext uri="{FF2B5EF4-FFF2-40B4-BE49-F238E27FC236}">
                  <a16:creationId xmlns:a16="http://schemas.microsoft.com/office/drawing/2014/main" id="{8594BAE7-F961-9FC0-85DB-6795C80EB896}"/>
                </a:ext>
              </a:extLst>
            </p:cNvPr>
            <p:cNvSpPr>
              <a:spLocks noEditPoints="1"/>
            </p:cNvSpPr>
            <p:nvPr/>
          </p:nvSpPr>
          <p:spPr bwMode="auto">
            <a:xfrm>
              <a:off x="2794001" y="47625"/>
              <a:ext cx="1995488" cy="2014538"/>
            </a:xfrm>
            <a:custGeom>
              <a:avLst/>
              <a:gdLst>
                <a:gd name="T0" fmla="*/ 1111 w 4931"/>
                <a:gd name="T1" fmla="*/ 868 h 4981"/>
                <a:gd name="T2" fmla="*/ 563 w 4931"/>
                <a:gd name="T3" fmla="*/ 1614 h 4981"/>
                <a:gd name="T4" fmla="*/ 128 w 4931"/>
                <a:gd name="T5" fmla="*/ 2098 h 4981"/>
                <a:gd name="T6" fmla="*/ 8 w 4931"/>
                <a:gd name="T7" fmla="*/ 2781 h 4981"/>
                <a:gd name="T8" fmla="*/ 364 w 4931"/>
                <a:gd name="T9" fmla="*/ 3503 h 4981"/>
                <a:gd name="T10" fmla="*/ 948 w 4931"/>
                <a:gd name="T11" fmla="*/ 3815 h 4981"/>
                <a:gd name="T12" fmla="*/ 4931 w 4931"/>
                <a:gd name="T13" fmla="*/ 298 h 4981"/>
                <a:gd name="T14" fmla="*/ 2176 w 4931"/>
                <a:gd name="T15" fmla="*/ 9 h 4981"/>
                <a:gd name="T16" fmla="*/ 3715 w 4931"/>
                <a:gd name="T17" fmla="*/ 164 h 4981"/>
                <a:gd name="T18" fmla="*/ 4323 w 4931"/>
                <a:gd name="T19" fmla="*/ 464 h 4981"/>
                <a:gd name="T20" fmla="*/ 1281 w 4931"/>
                <a:gd name="T21" fmla="*/ 4814 h 4981"/>
                <a:gd name="T22" fmla="*/ 1737 w 4931"/>
                <a:gd name="T23" fmla="*/ 3715 h 4981"/>
                <a:gd name="T24" fmla="*/ 2345 w 4931"/>
                <a:gd name="T25" fmla="*/ 2979 h 4981"/>
                <a:gd name="T26" fmla="*/ 2321 w 4931"/>
                <a:gd name="T27" fmla="*/ 2225 h 4981"/>
                <a:gd name="T28" fmla="*/ 2117 w 4931"/>
                <a:gd name="T29" fmla="*/ 1843 h 4981"/>
                <a:gd name="T30" fmla="*/ 2440 w 4931"/>
                <a:gd name="T31" fmla="*/ 1739 h 4981"/>
                <a:gd name="T32" fmla="*/ 2081 w 4931"/>
                <a:gd name="T33" fmla="*/ 1398 h 4981"/>
                <a:gd name="T34" fmla="*/ 2005 w 4931"/>
                <a:gd name="T35" fmla="*/ 1708 h 4981"/>
                <a:gd name="T36" fmla="*/ 1438 w 4931"/>
                <a:gd name="T37" fmla="*/ 1459 h 4981"/>
                <a:gd name="T38" fmla="*/ 3711 w 4931"/>
                <a:gd name="T39" fmla="*/ 526 h 4981"/>
                <a:gd name="T40" fmla="*/ 3711 w 4931"/>
                <a:gd name="T41" fmla="*/ 526 h 4981"/>
                <a:gd name="T42" fmla="*/ 1795 w 4931"/>
                <a:gd name="T43" fmla="*/ 1926 h 4981"/>
                <a:gd name="T44" fmla="*/ 1510 w 4931"/>
                <a:gd name="T45" fmla="*/ 1898 h 4981"/>
                <a:gd name="T46" fmla="*/ 697 w 4931"/>
                <a:gd name="T47" fmla="*/ 2010 h 4981"/>
                <a:gd name="T48" fmla="*/ 406 w 4931"/>
                <a:gd name="T49" fmla="*/ 2766 h 4981"/>
                <a:gd name="T50" fmla="*/ 624 w 4931"/>
                <a:gd name="T51" fmla="*/ 3203 h 4981"/>
                <a:gd name="T52" fmla="*/ 1088 w 4931"/>
                <a:gd name="T53" fmla="*/ 3435 h 4981"/>
                <a:gd name="T54" fmla="*/ 1644 w 4931"/>
                <a:gd name="T55" fmla="*/ 3303 h 4981"/>
                <a:gd name="T56" fmla="*/ 1998 w 4931"/>
                <a:gd name="T57" fmla="*/ 2660 h 4981"/>
                <a:gd name="T58" fmla="*/ 1831 w 4931"/>
                <a:gd name="T59" fmla="*/ 2133 h 4981"/>
                <a:gd name="T60" fmla="*/ 2154 w 4931"/>
                <a:gd name="T61" fmla="*/ 2250 h 4981"/>
                <a:gd name="T62" fmla="*/ 2182 w 4931"/>
                <a:gd name="T63" fmla="*/ 2946 h 4981"/>
                <a:gd name="T64" fmla="*/ 1707 w 4931"/>
                <a:gd name="T65" fmla="*/ 3540 h 4981"/>
                <a:gd name="T66" fmla="*/ 1013 w 4931"/>
                <a:gd name="T67" fmla="*/ 3660 h 4981"/>
                <a:gd name="T68" fmla="*/ 418 w 4931"/>
                <a:gd name="T69" fmla="*/ 3316 h 4981"/>
                <a:gd name="T70" fmla="*/ 171 w 4931"/>
                <a:gd name="T71" fmla="*/ 2766 h 4981"/>
                <a:gd name="T72" fmla="*/ 285 w 4931"/>
                <a:gd name="T73" fmla="*/ 2147 h 4981"/>
                <a:gd name="T74" fmla="*/ 721 w 4931"/>
                <a:gd name="T75" fmla="*/ 1714 h 4981"/>
                <a:gd name="T76" fmla="*/ 1423 w 4931"/>
                <a:gd name="T77" fmla="*/ 1627 h 4981"/>
                <a:gd name="T78" fmla="*/ 1545 w 4931"/>
                <a:gd name="T79" fmla="*/ 2175 h 4981"/>
                <a:gd name="T80" fmla="*/ 1065 w 4931"/>
                <a:gd name="T81" fmla="*/ 2229 h 4981"/>
                <a:gd name="T82" fmla="*/ 783 w 4931"/>
                <a:gd name="T83" fmla="*/ 2521 h 4981"/>
                <a:gd name="T84" fmla="*/ 858 w 4931"/>
                <a:gd name="T85" fmla="*/ 2907 h 4981"/>
                <a:gd name="T86" fmla="*/ 1196 w 4931"/>
                <a:gd name="T87" fmla="*/ 3064 h 4981"/>
                <a:gd name="T88" fmla="*/ 1531 w 4931"/>
                <a:gd name="T89" fmla="*/ 2901 h 4981"/>
                <a:gd name="T90" fmla="*/ 1586 w 4931"/>
                <a:gd name="T91" fmla="*/ 2458 h 4981"/>
                <a:gd name="T92" fmla="*/ 1762 w 4931"/>
                <a:gd name="T93" fmla="*/ 2339 h 4981"/>
                <a:gd name="T94" fmla="*/ 1820 w 4931"/>
                <a:gd name="T95" fmla="*/ 2765 h 4981"/>
                <a:gd name="T96" fmla="*/ 1589 w 4931"/>
                <a:gd name="T97" fmla="*/ 3143 h 4981"/>
                <a:gd name="T98" fmla="*/ 1097 w 4931"/>
                <a:gd name="T99" fmla="*/ 3271 h 4981"/>
                <a:gd name="T100" fmla="*/ 719 w 4931"/>
                <a:gd name="T101" fmla="*/ 3063 h 4981"/>
                <a:gd name="T102" fmla="*/ 563 w 4931"/>
                <a:gd name="T103" fmla="*/ 2691 h 4981"/>
                <a:gd name="T104" fmla="*/ 732 w 4931"/>
                <a:gd name="T105" fmla="*/ 2199 h 4981"/>
                <a:gd name="T106" fmla="*/ 1171 w 4931"/>
                <a:gd name="T107" fmla="*/ 2000 h 4981"/>
                <a:gd name="T108" fmla="*/ 1246 w 4931"/>
                <a:gd name="T109" fmla="*/ 2473 h 4981"/>
                <a:gd name="T110" fmla="*/ 1437 w 4931"/>
                <a:gd name="T111" fmla="*/ 2534 h 4981"/>
                <a:gd name="T112" fmla="*/ 1421 w 4931"/>
                <a:gd name="T113" fmla="*/ 2778 h 4981"/>
                <a:gd name="T114" fmla="*/ 1105 w 4931"/>
                <a:gd name="T115" fmla="*/ 2889 h 4981"/>
                <a:gd name="T116" fmla="*/ 932 w 4931"/>
                <a:gd name="T117" fmla="*/ 2667 h 4981"/>
                <a:gd name="T118" fmla="*/ 1066 w 4931"/>
                <a:gd name="T119" fmla="*/ 2406 h 4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31" h="4981">
                  <a:moveTo>
                    <a:pt x="2176" y="9"/>
                  </a:moveTo>
                  <a:lnTo>
                    <a:pt x="2172" y="21"/>
                  </a:lnTo>
                  <a:lnTo>
                    <a:pt x="2165" y="103"/>
                  </a:lnTo>
                  <a:lnTo>
                    <a:pt x="2165" y="159"/>
                  </a:lnTo>
                  <a:lnTo>
                    <a:pt x="2165" y="298"/>
                  </a:lnTo>
                  <a:lnTo>
                    <a:pt x="1640" y="298"/>
                  </a:lnTo>
                  <a:lnTo>
                    <a:pt x="1115" y="298"/>
                  </a:lnTo>
                  <a:lnTo>
                    <a:pt x="1111" y="868"/>
                  </a:lnTo>
                  <a:lnTo>
                    <a:pt x="1106" y="1439"/>
                  </a:lnTo>
                  <a:lnTo>
                    <a:pt x="1011" y="1451"/>
                  </a:lnTo>
                  <a:lnTo>
                    <a:pt x="963" y="1458"/>
                  </a:lnTo>
                  <a:lnTo>
                    <a:pt x="853" y="1486"/>
                  </a:lnTo>
                  <a:lnTo>
                    <a:pt x="738" y="1526"/>
                  </a:lnTo>
                  <a:lnTo>
                    <a:pt x="631" y="1575"/>
                  </a:lnTo>
                  <a:lnTo>
                    <a:pt x="585" y="1601"/>
                  </a:lnTo>
                  <a:lnTo>
                    <a:pt x="563" y="1614"/>
                  </a:lnTo>
                  <a:lnTo>
                    <a:pt x="507" y="1655"/>
                  </a:lnTo>
                  <a:lnTo>
                    <a:pt x="410" y="1738"/>
                  </a:lnTo>
                  <a:lnTo>
                    <a:pt x="348" y="1798"/>
                  </a:lnTo>
                  <a:lnTo>
                    <a:pt x="306" y="1840"/>
                  </a:lnTo>
                  <a:lnTo>
                    <a:pt x="242" y="1910"/>
                  </a:lnTo>
                  <a:lnTo>
                    <a:pt x="194" y="1976"/>
                  </a:lnTo>
                  <a:lnTo>
                    <a:pt x="151" y="2051"/>
                  </a:lnTo>
                  <a:lnTo>
                    <a:pt x="128" y="2098"/>
                  </a:lnTo>
                  <a:lnTo>
                    <a:pt x="91" y="2176"/>
                  </a:lnTo>
                  <a:lnTo>
                    <a:pt x="50" y="2286"/>
                  </a:lnTo>
                  <a:lnTo>
                    <a:pt x="30" y="2357"/>
                  </a:lnTo>
                  <a:lnTo>
                    <a:pt x="15" y="2428"/>
                  </a:lnTo>
                  <a:lnTo>
                    <a:pt x="5" y="2501"/>
                  </a:lnTo>
                  <a:lnTo>
                    <a:pt x="0" y="2618"/>
                  </a:lnTo>
                  <a:lnTo>
                    <a:pt x="3" y="2704"/>
                  </a:lnTo>
                  <a:lnTo>
                    <a:pt x="8" y="2781"/>
                  </a:lnTo>
                  <a:lnTo>
                    <a:pt x="28" y="2918"/>
                  </a:lnTo>
                  <a:lnTo>
                    <a:pt x="64" y="3044"/>
                  </a:lnTo>
                  <a:lnTo>
                    <a:pt x="118" y="3171"/>
                  </a:lnTo>
                  <a:lnTo>
                    <a:pt x="155" y="3238"/>
                  </a:lnTo>
                  <a:lnTo>
                    <a:pt x="178" y="3277"/>
                  </a:lnTo>
                  <a:lnTo>
                    <a:pt x="232" y="3355"/>
                  </a:lnTo>
                  <a:lnTo>
                    <a:pt x="294" y="3431"/>
                  </a:lnTo>
                  <a:lnTo>
                    <a:pt x="364" y="3503"/>
                  </a:lnTo>
                  <a:lnTo>
                    <a:pt x="439" y="3570"/>
                  </a:lnTo>
                  <a:lnTo>
                    <a:pt x="519" y="3631"/>
                  </a:lnTo>
                  <a:lnTo>
                    <a:pt x="602" y="3684"/>
                  </a:lnTo>
                  <a:lnTo>
                    <a:pt x="686" y="3729"/>
                  </a:lnTo>
                  <a:lnTo>
                    <a:pt x="728" y="3748"/>
                  </a:lnTo>
                  <a:lnTo>
                    <a:pt x="763" y="3762"/>
                  </a:lnTo>
                  <a:lnTo>
                    <a:pt x="829" y="3785"/>
                  </a:lnTo>
                  <a:lnTo>
                    <a:pt x="948" y="3815"/>
                  </a:lnTo>
                  <a:lnTo>
                    <a:pt x="1078" y="3841"/>
                  </a:lnTo>
                  <a:lnTo>
                    <a:pt x="1115" y="3848"/>
                  </a:lnTo>
                  <a:lnTo>
                    <a:pt x="1115" y="4414"/>
                  </a:lnTo>
                  <a:lnTo>
                    <a:pt x="1115" y="4981"/>
                  </a:lnTo>
                  <a:lnTo>
                    <a:pt x="3023" y="4981"/>
                  </a:lnTo>
                  <a:lnTo>
                    <a:pt x="4931" y="4981"/>
                  </a:lnTo>
                  <a:lnTo>
                    <a:pt x="4931" y="2639"/>
                  </a:lnTo>
                  <a:lnTo>
                    <a:pt x="4931" y="298"/>
                  </a:lnTo>
                  <a:lnTo>
                    <a:pt x="4406" y="298"/>
                  </a:lnTo>
                  <a:lnTo>
                    <a:pt x="3883" y="298"/>
                  </a:lnTo>
                  <a:lnTo>
                    <a:pt x="3878" y="151"/>
                  </a:lnTo>
                  <a:lnTo>
                    <a:pt x="3873" y="6"/>
                  </a:lnTo>
                  <a:lnTo>
                    <a:pt x="3030" y="1"/>
                  </a:lnTo>
                  <a:lnTo>
                    <a:pt x="2692" y="0"/>
                  </a:lnTo>
                  <a:lnTo>
                    <a:pt x="2228" y="5"/>
                  </a:lnTo>
                  <a:lnTo>
                    <a:pt x="2176" y="9"/>
                  </a:lnTo>
                  <a:close/>
                  <a:moveTo>
                    <a:pt x="3715" y="231"/>
                  </a:moveTo>
                  <a:lnTo>
                    <a:pt x="3715" y="298"/>
                  </a:lnTo>
                  <a:lnTo>
                    <a:pt x="3023" y="298"/>
                  </a:lnTo>
                  <a:lnTo>
                    <a:pt x="2331" y="298"/>
                  </a:lnTo>
                  <a:lnTo>
                    <a:pt x="2331" y="231"/>
                  </a:lnTo>
                  <a:lnTo>
                    <a:pt x="2331" y="164"/>
                  </a:lnTo>
                  <a:lnTo>
                    <a:pt x="3023" y="164"/>
                  </a:lnTo>
                  <a:lnTo>
                    <a:pt x="3715" y="164"/>
                  </a:lnTo>
                  <a:lnTo>
                    <a:pt x="3715" y="231"/>
                  </a:lnTo>
                  <a:close/>
                  <a:moveTo>
                    <a:pt x="2168" y="609"/>
                  </a:moveTo>
                  <a:lnTo>
                    <a:pt x="2173" y="756"/>
                  </a:lnTo>
                  <a:lnTo>
                    <a:pt x="3023" y="756"/>
                  </a:lnTo>
                  <a:lnTo>
                    <a:pt x="3873" y="756"/>
                  </a:lnTo>
                  <a:lnTo>
                    <a:pt x="3878" y="609"/>
                  </a:lnTo>
                  <a:lnTo>
                    <a:pt x="3883" y="464"/>
                  </a:lnTo>
                  <a:lnTo>
                    <a:pt x="4323" y="464"/>
                  </a:lnTo>
                  <a:lnTo>
                    <a:pt x="4765" y="464"/>
                  </a:lnTo>
                  <a:lnTo>
                    <a:pt x="4773" y="501"/>
                  </a:lnTo>
                  <a:lnTo>
                    <a:pt x="4776" y="637"/>
                  </a:lnTo>
                  <a:lnTo>
                    <a:pt x="4779" y="1817"/>
                  </a:lnTo>
                  <a:lnTo>
                    <a:pt x="4778" y="2673"/>
                  </a:lnTo>
                  <a:lnTo>
                    <a:pt x="4773" y="4806"/>
                  </a:lnTo>
                  <a:lnTo>
                    <a:pt x="3028" y="4811"/>
                  </a:lnTo>
                  <a:lnTo>
                    <a:pt x="1281" y="4814"/>
                  </a:lnTo>
                  <a:lnTo>
                    <a:pt x="1281" y="4331"/>
                  </a:lnTo>
                  <a:lnTo>
                    <a:pt x="1281" y="3848"/>
                  </a:lnTo>
                  <a:lnTo>
                    <a:pt x="1320" y="3841"/>
                  </a:lnTo>
                  <a:lnTo>
                    <a:pt x="1363" y="3832"/>
                  </a:lnTo>
                  <a:lnTo>
                    <a:pt x="1423" y="3823"/>
                  </a:lnTo>
                  <a:lnTo>
                    <a:pt x="1487" y="3810"/>
                  </a:lnTo>
                  <a:lnTo>
                    <a:pt x="1614" y="3771"/>
                  </a:lnTo>
                  <a:lnTo>
                    <a:pt x="1737" y="3715"/>
                  </a:lnTo>
                  <a:lnTo>
                    <a:pt x="1855" y="3644"/>
                  </a:lnTo>
                  <a:lnTo>
                    <a:pt x="1965" y="3559"/>
                  </a:lnTo>
                  <a:lnTo>
                    <a:pt x="2066" y="3462"/>
                  </a:lnTo>
                  <a:lnTo>
                    <a:pt x="2157" y="3353"/>
                  </a:lnTo>
                  <a:lnTo>
                    <a:pt x="2234" y="3235"/>
                  </a:lnTo>
                  <a:lnTo>
                    <a:pt x="2266" y="3173"/>
                  </a:lnTo>
                  <a:lnTo>
                    <a:pt x="2299" y="3104"/>
                  </a:lnTo>
                  <a:lnTo>
                    <a:pt x="2345" y="2979"/>
                  </a:lnTo>
                  <a:lnTo>
                    <a:pt x="2374" y="2855"/>
                  </a:lnTo>
                  <a:lnTo>
                    <a:pt x="2387" y="2718"/>
                  </a:lnTo>
                  <a:lnTo>
                    <a:pt x="2388" y="2639"/>
                  </a:lnTo>
                  <a:lnTo>
                    <a:pt x="2387" y="2590"/>
                  </a:lnTo>
                  <a:lnTo>
                    <a:pt x="2381" y="2493"/>
                  </a:lnTo>
                  <a:lnTo>
                    <a:pt x="2368" y="2401"/>
                  </a:lnTo>
                  <a:lnTo>
                    <a:pt x="2348" y="2311"/>
                  </a:lnTo>
                  <a:lnTo>
                    <a:pt x="2321" y="2225"/>
                  </a:lnTo>
                  <a:lnTo>
                    <a:pt x="2287" y="2142"/>
                  </a:lnTo>
                  <a:lnTo>
                    <a:pt x="2247" y="2061"/>
                  </a:lnTo>
                  <a:lnTo>
                    <a:pt x="2200" y="1983"/>
                  </a:lnTo>
                  <a:lnTo>
                    <a:pt x="2173" y="1944"/>
                  </a:lnTo>
                  <a:lnTo>
                    <a:pt x="2150" y="1912"/>
                  </a:lnTo>
                  <a:lnTo>
                    <a:pt x="2118" y="1861"/>
                  </a:lnTo>
                  <a:lnTo>
                    <a:pt x="2115" y="1851"/>
                  </a:lnTo>
                  <a:lnTo>
                    <a:pt x="2117" y="1843"/>
                  </a:lnTo>
                  <a:lnTo>
                    <a:pt x="2142" y="1811"/>
                  </a:lnTo>
                  <a:lnTo>
                    <a:pt x="2161" y="1793"/>
                  </a:lnTo>
                  <a:lnTo>
                    <a:pt x="2175" y="1780"/>
                  </a:lnTo>
                  <a:lnTo>
                    <a:pt x="2203" y="1762"/>
                  </a:lnTo>
                  <a:lnTo>
                    <a:pt x="2237" y="1752"/>
                  </a:lnTo>
                  <a:lnTo>
                    <a:pt x="2288" y="1746"/>
                  </a:lnTo>
                  <a:lnTo>
                    <a:pt x="2323" y="1744"/>
                  </a:lnTo>
                  <a:lnTo>
                    <a:pt x="2440" y="1739"/>
                  </a:lnTo>
                  <a:lnTo>
                    <a:pt x="2440" y="1664"/>
                  </a:lnTo>
                  <a:lnTo>
                    <a:pt x="2440" y="1589"/>
                  </a:lnTo>
                  <a:lnTo>
                    <a:pt x="2345" y="1584"/>
                  </a:lnTo>
                  <a:lnTo>
                    <a:pt x="2248" y="1579"/>
                  </a:lnTo>
                  <a:lnTo>
                    <a:pt x="2248" y="1489"/>
                  </a:lnTo>
                  <a:lnTo>
                    <a:pt x="2248" y="1398"/>
                  </a:lnTo>
                  <a:lnTo>
                    <a:pt x="2165" y="1398"/>
                  </a:lnTo>
                  <a:lnTo>
                    <a:pt x="2081" y="1398"/>
                  </a:lnTo>
                  <a:lnTo>
                    <a:pt x="2081" y="1518"/>
                  </a:lnTo>
                  <a:lnTo>
                    <a:pt x="2081" y="1553"/>
                  </a:lnTo>
                  <a:lnTo>
                    <a:pt x="2078" y="1604"/>
                  </a:lnTo>
                  <a:lnTo>
                    <a:pt x="2070" y="1639"/>
                  </a:lnTo>
                  <a:lnTo>
                    <a:pt x="2055" y="1664"/>
                  </a:lnTo>
                  <a:lnTo>
                    <a:pt x="2045" y="1676"/>
                  </a:lnTo>
                  <a:lnTo>
                    <a:pt x="2028" y="1693"/>
                  </a:lnTo>
                  <a:lnTo>
                    <a:pt x="2005" y="1708"/>
                  </a:lnTo>
                  <a:lnTo>
                    <a:pt x="1990" y="1711"/>
                  </a:lnTo>
                  <a:lnTo>
                    <a:pt x="1965" y="1707"/>
                  </a:lnTo>
                  <a:lnTo>
                    <a:pt x="1918" y="1681"/>
                  </a:lnTo>
                  <a:lnTo>
                    <a:pt x="1885" y="1658"/>
                  </a:lnTo>
                  <a:lnTo>
                    <a:pt x="1826" y="1617"/>
                  </a:lnTo>
                  <a:lnTo>
                    <a:pt x="1701" y="1548"/>
                  </a:lnTo>
                  <a:lnTo>
                    <a:pt x="1570" y="1495"/>
                  </a:lnTo>
                  <a:lnTo>
                    <a:pt x="1438" y="1459"/>
                  </a:lnTo>
                  <a:lnTo>
                    <a:pt x="1373" y="1449"/>
                  </a:lnTo>
                  <a:lnTo>
                    <a:pt x="1290" y="1439"/>
                  </a:lnTo>
                  <a:lnTo>
                    <a:pt x="1285" y="951"/>
                  </a:lnTo>
                  <a:lnTo>
                    <a:pt x="1281" y="464"/>
                  </a:lnTo>
                  <a:lnTo>
                    <a:pt x="1721" y="464"/>
                  </a:lnTo>
                  <a:lnTo>
                    <a:pt x="2163" y="464"/>
                  </a:lnTo>
                  <a:lnTo>
                    <a:pt x="2168" y="609"/>
                  </a:lnTo>
                  <a:close/>
                  <a:moveTo>
                    <a:pt x="3711" y="526"/>
                  </a:moveTo>
                  <a:lnTo>
                    <a:pt x="3706" y="589"/>
                  </a:lnTo>
                  <a:lnTo>
                    <a:pt x="3023" y="589"/>
                  </a:lnTo>
                  <a:lnTo>
                    <a:pt x="2340" y="589"/>
                  </a:lnTo>
                  <a:lnTo>
                    <a:pt x="2335" y="526"/>
                  </a:lnTo>
                  <a:lnTo>
                    <a:pt x="2330" y="464"/>
                  </a:lnTo>
                  <a:lnTo>
                    <a:pt x="3023" y="464"/>
                  </a:lnTo>
                  <a:lnTo>
                    <a:pt x="3716" y="464"/>
                  </a:lnTo>
                  <a:lnTo>
                    <a:pt x="3711" y="526"/>
                  </a:lnTo>
                  <a:close/>
                  <a:moveTo>
                    <a:pt x="1470" y="1639"/>
                  </a:moveTo>
                  <a:lnTo>
                    <a:pt x="1523" y="1655"/>
                  </a:lnTo>
                  <a:lnTo>
                    <a:pt x="1627" y="1696"/>
                  </a:lnTo>
                  <a:lnTo>
                    <a:pt x="1721" y="1744"/>
                  </a:lnTo>
                  <a:lnTo>
                    <a:pt x="1799" y="1794"/>
                  </a:lnTo>
                  <a:lnTo>
                    <a:pt x="1828" y="1819"/>
                  </a:lnTo>
                  <a:lnTo>
                    <a:pt x="1865" y="1854"/>
                  </a:lnTo>
                  <a:lnTo>
                    <a:pt x="1795" y="1926"/>
                  </a:lnTo>
                  <a:lnTo>
                    <a:pt x="1766" y="1955"/>
                  </a:lnTo>
                  <a:lnTo>
                    <a:pt x="1717" y="1994"/>
                  </a:lnTo>
                  <a:lnTo>
                    <a:pt x="1705" y="1998"/>
                  </a:lnTo>
                  <a:lnTo>
                    <a:pt x="1692" y="1995"/>
                  </a:lnTo>
                  <a:lnTo>
                    <a:pt x="1630" y="1964"/>
                  </a:lnTo>
                  <a:lnTo>
                    <a:pt x="1591" y="1941"/>
                  </a:lnTo>
                  <a:lnTo>
                    <a:pt x="1565" y="1925"/>
                  </a:lnTo>
                  <a:lnTo>
                    <a:pt x="1510" y="1898"/>
                  </a:lnTo>
                  <a:lnTo>
                    <a:pt x="1428" y="1866"/>
                  </a:lnTo>
                  <a:lnTo>
                    <a:pt x="1316" y="1839"/>
                  </a:lnTo>
                  <a:lnTo>
                    <a:pt x="1205" y="1830"/>
                  </a:lnTo>
                  <a:lnTo>
                    <a:pt x="1094" y="1837"/>
                  </a:lnTo>
                  <a:lnTo>
                    <a:pt x="987" y="1860"/>
                  </a:lnTo>
                  <a:lnTo>
                    <a:pt x="884" y="1897"/>
                  </a:lnTo>
                  <a:lnTo>
                    <a:pt x="787" y="1948"/>
                  </a:lnTo>
                  <a:lnTo>
                    <a:pt x="697" y="2010"/>
                  </a:lnTo>
                  <a:lnTo>
                    <a:pt x="616" y="2084"/>
                  </a:lnTo>
                  <a:lnTo>
                    <a:pt x="545" y="2168"/>
                  </a:lnTo>
                  <a:lnTo>
                    <a:pt x="486" y="2261"/>
                  </a:lnTo>
                  <a:lnTo>
                    <a:pt x="440" y="2362"/>
                  </a:lnTo>
                  <a:lnTo>
                    <a:pt x="409" y="2471"/>
                  </a:lnTo>
                  <a:lnTo>
                    <a:pt x="394" y="2585"/>
                  </a:lnTo>
                  <a:lnTo>
                    <a:pt x="397" y="2705"/>
                  </a:lnTo>
                  <a:lnTo>
                    <a:pt x="406" y="2766"/>
                  </a:lnTo>
                  <a:lnTo>
                    <a:pt x="417" y="2819"/>
                  </a:lnTo>
                  <a:lnTo>
                    <a:pt x="444" y="2922"/>
                  </a:lnTo>
                  <a:lnTo>
                    <a:pt x="456" y="2956"/>
                  </a:lnTo>
                  <a:lnTo>
                    <a:pt x="470" y="2987"/>
                  </a:lnTo>
                  <a:lnTo>
                    <a:pt x="502" y="3046"/>
                  </a:lnTo>
                  <a:lnTo>
                    <a:pt x="538" y="3102"/>
                  </a:lnTo>
                  <a:lnTo>
                    <a:pt x="579" y="3154"/>
                  </a:lnTo>
                  <a:lnTo>
                    <a:pt x="624" y="3203"/>
                  </a:lnTo>
                  <a:lnTo>
                    <a:pt x="673" y="3247"/>
                  </a:lnTo>
                  <a:lnTo>
                    <a:pt x="725" y="3288"/>
                  </a:lnTo>
                  <a:lnTo>
                    <a:pt x="780" y="3324"/>
                  </a:lnTo>
                  <a:lnTo>
                    <a:pt x="838" y="3356"/>
                  </a:lnTo>
                  <a:lnTo>
                    <a:pt x="898" y="3383"/>
                  </a:lnTo>
                  <a:lnTo>
                    <a:pt x="960" y="3406"/>
                  </a:lnTo>
                  <a:lnTo>
                    <a:pt x="1023" y="3423"/>
                  </a:lnTo>
                  <a:lnTo>
                    <a:pt x="1088" y="3435"/>
                  </a:lnTo>
                  <a:lnTo>
                    <a:pt x="1154" y="3442"/>
                  </a:lnTo>
                  <a:lnTo>
                    <a:pt x="1220" y="3443"/>
                  </a:lnTo>
                  <a:lnTo>
                    <a:pt x="1287" y="3438"/>
                  </a:lnTo>
                  <a:lnTo>
                    <a:pt x="1320" y="3433"/>
                  </a:lnTo>
                  <a:lnTo>
                    <a:pt x="1371" y="3423"/>
                  </a:lnTo>
                  <a:lnTo>
                    <a:pt x="1469" y="3394"/>
                  </a:lnTo>
                  <a:lnTo>
                    <a:pt x="1560" y="3353"/>
                  </a:lnTo>
                  <a:lnTo>
                    <a:pt x="1644" y="3303"/>
                  </a:lnTo>
                  <a:lnTo>
                    <a:pt x="1720" y="3244"/>
                  </a:lnTo>
                  <a:lnTo>
                    <a:pt x="1788" y="3176"/>
                  </a:lnTo>
                  <a:lnTo>
                    <a:pt x="1847" y="3102"/>
                  </a:lnTo>
                  <a:lnTo>
                    <a:pt x="1898" y="3021"/>
                  </a:lnTo>
                  <a:lnTo>
                    <a:pt x="1938" y="2936"/>
                  </a:lnTo>
                  <a:lnTo>
                    <a:pt x="1969" y="2846"/>
                  </a:lnTo>
                  <a:lnTo>
                    <a:pt x="1989" y="2754"/>
                  </a:lnTo>
                  <a:lnTo>
                    <a:pt x="1998" y="2660"/>
                  </a:lnTo>
                  <a:lnTo>
                    <a:pt x="1995" y="2564"/>
                  </a:lnTo>
                  <a:lnTo>
                    <a:pt x="1981" y="2469"/>
                  </a:lnTo>
                  <a:lnTo>
                    <a:pt x="1954" y="2375"/>
                  </a:lnTo>
                  <a:lnTo>
                    <a:pt x="1914" y="2282"/>
                  </a:lnTo>
                  <a:lnTo>
                    <a:pt x="1888" y="2238"/>
                  </a:lnTo>
                  <a:lnTo>
                    <a:pt x="1865" y="2200"/>
                  </a:lnTo>
                  <a:lnTo>
                    <a:pt x="1834" y="2143"/>
                  </a:lnTo>
                  <a:lnTo>
                    <a:pt x="1831" y="2133"/>
                  </a:lnTo>
                  <a:lnTo>
                    <a:pt x="1836" y="2124"/>
                  </a:lnTo>
                  <a:lnTo>
                    <a:pt x="1878" y="2077"/>
                  </a:lnTo>
                  <a:lnTo>
                    <a:pt x="1908" y="2048"/>
                  </a:lnTo>
                  <a:lnTo>
                    <a:pt x="1985" y="1973"/>
                  </a:lnTo>
                  <a:lnTo>
                    <a:pt x="2030" y="2028"/>
                  </a:lnTo>
                  <a:lnTo>
                    <a:pt x="2056" y="2061"/>
                  </a:lnTo>
                  <a:lnTo>
                    <a:pt x="2107" y="2148"/>
                  </a:lnTo>
                  <a:lnTo>
                    <a:pt x="2154" y="2250"/>
                  </a:lnTo>
                  <a:lnTo>
                    <a:pt x="2191" y="2357"/>
                  </a:lnTo>
                  <a:lnTo>
                    <a:pt x="2205" y="2409"/>
                  </a:lnTo>
                  <a:lnTo>
                    <a:pt x="2215" y="2459"/>
                  </a:lnTo>
                  <a:lnTo>
                    <a:pt x="2227" y="2560"/>
                  </a:lnTo>
                  <a:lnTo>
                    <a:pt x="2230" y="2659"/>
                  </a:lnTo>
                  <a:lnTo>
                    <a:pt x="2223" y="2757"/>
                  </a:lnTo>
                  <a:lnTo>
                    <a:pt x="2207" y="2853"/>
                  </a:lnTo>
                  <a:lnTo>
                    <a:pt x="2182" y="2946"/>
                  </a:lnTo>
                  <a:lnTo>
                    <a:pt x="2149" y="3037"/>
                  </a:lnTo>
                  <a:lnTo>
                    <a:pt x="2108" y="3124"/>
                  </a:lnTo>
                  <a:lnTo>
                    <a:pt x="2059" y="3207"/>
                  </a:lnTo>
                  <a:lnTo>
                    <a:pt x="2002" y="3285"/>
                  </a:lnTo>
                  <a:lnTo>
                    <a:pt x="1938" y="3358"/>
                  </a:lnTo>
                  <a:lnTo>
                    <a:pt x="1867" y="3425"/>
                  </a:lnTo>
                  <a:lnTo>
                    <a:pt x="1790" y="3486"/>
                  </a:lnTo>
                  <a:lnTo>
                    <a:pt x="1707" y="3540"/>
                  </a:lnTo>
                  <a:lnTo>
                    <a:pt x="1617" y="3587"/>
                  </a:lnTo>
                  <a:lnTo>
                    <a:pt x="1523" y="3625"/>
                  </a:lnTo>
                  <a:lnTo>
                    <a:pt x="1473" y="3641"/>
                  </a:lnTo>
                  <a:lnTo>
                    <a:pt x="1446" y="3648"/>
                  </a:lnTo>
                  <a:lnTo>
                    <a:pt x="1384" y="3660"/>
                  </a:lnTo>
                  <a:lnTo>
                    <a:pt x="1276" y="3671"/>
                  </a:lnTo>
                  <a:lnTo>
                    <a:pt x="1121" y="3671"/>
                  </a:lnTo>
                  <a:lnTo>
                    <a:pt x="1013" y="3660"/>
                  </a:lnTo>
                  <a:lnTo>
                    <a:pt x="951" y="3648"/>
                  </a:lnTo>
                  <a:lnTo>
                    <a:pt x="925" y="3641"/>
                  </a:lnTo>
                  <a:lnTo>
                    <a:pt x="854" y="3619"/>
                  </a:lnTo>
                  <a:lnTo>
                    <a:pt x="732" y="3568"/>
                  </a:lnTo>
                  <a:lnTo>
                    <a:pt x="626" y="3505"/>
                  </a:lnTo>
                  <a:lnTo>
                    <a:pt x="525" y="3424"/>
                  </a:lnTo>
                  <a:lnTo>
                    <a:pt x="473" y="3373"/>
                  </a:lnTo>
                  <a:lnTo>
                    <a:pt x="418" y="3316"/>
                  </a:lnTo>
                  <a:lnTo>
                    <a:pt x="351" y="3234"/>
                  </a:lnTo>
                  <a:lnTo>
                    <a:pt x="313" y="3180"/>
                  </a:lnTo>
                  <a:lnTo>
                    <a:pt x="280" y="3124"/>
                  </a:lnTo>
                  <a:lnTo>
                    <a:pt x="252" y="3066"/>
                  </a:lnTo>
                  <a:lnTo>
                    <a:pt x="217" y="2974"/>
                  </a:lnTo>
                  <a:lnTo>
                    <a:pt x="198" y="2904"/>
                  </a:lnTo>
                  <a:lnTo>
                    <a:pt x="187" y="2858"/>
                  </a:lnTo>
                  <a:lnTo>
                    <a:pt x="171" y="2766"/>
                  </a:lnTo>
                  <a:lnTo>
                    <a:pt x="164" y="2673"/>
                  </a:lnTo>
                  <a:lnTo>
                    <a:pt x="165" y="2581"/>
                  </a:lnTo>
                  <a:lnTo>
                    <a:pt x="174" y="2490"/>
                  </a:lnTo>
                  <a:lnTo>
                    <a:pt x="191" y="2400"/>
                  </a:lnTo>
                  <a:lnTo>
                    <a:pt x="216" y="2311"/>
                  </a:lnTo>
                  <a:lnTo>
                    <a:pt x="248" y="2224"/>
                  </a:lnTo>
                  <a:lnTo>
                    <a:pt x="268" y="2181"/>
                  </a:lnTo>
                  <a:lnTo>
                    <a:pt x="285" y="2147"/>
                  </a:lnTo>
                  <a:lnTo>
                    <a:pt x="327" y="2077"/>
                  </a:lnTo>
                  <a:lnTo>
                    <a:pt x="377" y="2009"/>
                  </a:lnTo>
                  <a:lnTo>
                    <a:pt x="433" y="1942"/>
                  </a:lnTo>
                  <a:lnTo>
                    <a:pt x="493" y="1880"/>
                  </a:lnTo>
                  <a:lnTo>
                    <a:pt x="557" y="1823"/>
                  </a:lnTo>
                  <a:lnTo>
                    <a:pt x="623" y="1773"/>
                  </a:lnTo>
                  <a:lnTo>
                    <a:pt x="689" y="1731"/>
                  </a:lnTo>
                  <a:lnTo>
                    <a:pt x="721" y="1714"/>
                  </a:lnTo>
                  <a:lnTo>
                    <a:pt x="768" y="1692"/>
                  </a:lnTo>
                  <a:lnTo>
                    <a:pt x="861" y="1656"/>
                  </a:lnTo>
                  <a:lnTo>
                    <a:pt x="954" y="1628"/>
                  </a:lnTo>
                  <a:lnTo>
                    <a:pt x="1048" y="1610"/>
                  </a:lnTo>
                  <a:lnTo>
                    <a:pt x="1142" y="1600"/>
                  </a:lnTo>
                  <a:lnTo>
                    <a:pt x="1236" y="1600"/>
                  </a:lnTo>
                  <a:lnTo>
                    <a:pt x="1330" y="1609"/>
                  </a:lnTo>
                  <a:lnTo>
                    <a:pt x="1423" y="1627"/>
                  </a:lnTo>
                  <a:lnTo>
                    <a:pt x="1470" y="1639"/>
                  </a:lnTo>
                  <a:close/>
                  <a:moveTo>
                    <a:pt x="1448" y="2051"/>
                  </a:moveTo>
                  <a:lnTo>
                    <a:pt x="1501" y="2076"/>
                  </a:lnTo>
                  <a:lnTo>
                    <a:pt x="1549" y="2102"/>
                  </a:lnTo>
                  <a:lnTo>
                    <a:pt x="1567" y="2116"/>
                  </a:lnTo>
                  <a:lnTo>
                    <a:pt x="1573" y="2130"/>
                  </a:lnTo>
                  <a:lnTo>
                    <a:pt x="1569" y="2146"/>
                  </a:lnTo>
                  <a:lnTo>
                    <a:pt x="1545" y="2175"/>
                  </a:lnTo>
                  <a:lnTo>
                    <a:pt x="1516" y="2204"/>
                  </a:lnTo>
                  <a:lnTo>
                    <a:pt x="1445" y="2278"/>
                  </a:lnTo>
                  <a:lnTo>
                    <a:pt x="1366" y="2243"/>
                  </a:lnTo>
                  <a:lnTo>
                    <a:pt x="1345" y="2234"/>
                  </a:lnTo>
                  <a:lnTo>
                    <a:pt x="1303" y="2220"/>
                  </a:lnTo>
                  <a:lnTo>
                    <a:pt x="1238" y="2209"/>
                  </a:lnTo>
                  <a:lnTo>
                    <a:pt x="1150" y="2210"/>
                  </a:lnTo>
                  <a:lnTo>
                    <a:pt x="1065" y="2229"/>
                  </a:lnTo>
                  <a:lnTo>
                    <a:pt x="985" y="2264"/>
                  </a:lnTo>
                  <a:lnTo>
                    <a:pt x="914" y="2314"/>
                  </a:lnTo>
                  <a:lnTo>
                    <a:pt x="868" y="2360"/>
                  </a:lnTo>
                  <a:lnTo>
                    <a:pt x="841" y="2395"/>
                  </a:lnTo>
                  <a:lnTo>
                    <a:pt x="818" y="2433"/>
                  </a:lnTo>
                  <a:lnTo>
                    <a:pt x="799" y="2473"/>
                  </a:lnTo>
                  <a:lnTo>
                    <a:pt x="791" y="2494"/>
                  </a:lnTo>
                  <a:lnTo>
                    <a:pt x="783" y="2521"/>
                  </a:lnTo>
                  <a:lnTo>
                    <a:pt x="771" y="2575"/>
                  </a:lnTo>
                  <a:lnTo>
                    <a:pt x="766" y="2628"/>
                  </a:lnTo>
                  <a:lnTo>
                    <a:pt x="767" y="2680"/>
                  </a:lnTo>
                  <a:lnTo>
                    <a:pt x="775" y="2730"/>
                  </a:lnTo>
                  <a:lnTo>
                    <a:pt x="788" y="2778"/>
                  </a:lnTo>
                  <a:lnTo>
                    <a:pt x="806" y="2824"/>
                  </a:lnTo>
                  <a:lnTo>
                    <a:pt x="829" y="2867"/>
                  </a:lnTo>
                  <a:lnTo>
                    <a:pt x="858" y="2907"/>
                  </a:lnTo>
                  <a:lnTo>
                    <a:pt x="891" y="2943"/>
                  </a:lnTo>
                  <a:lnTo>
                    <a:pt x="928" y="2976"/>
                  </a:lnTo>
                  <a:lnTo>
                    <a:pt x="969" y="3004"/>
                  </a:lnTo>
                  <a:lnTo>
                    <a:pt x="1014" y="3027"/>
                  </a:lnTo>
                  <a:lnTo>
                    <a:pt x="1062" y="3045"/>
                  </a:lnTo>
                  <a:lnTo>
                    <a:pt x="1114" y="3057"/>
                  </a:lnTo>
                  <a:lnTo>
                    <a:pt x="1168" y="3064"/>
                  </a:lnTo>
                  <a:lnTo>
                    <a:pt x="1196" y="3064"/>
                  </a:lnTo>
                  <a:lnTo>
                    <a:pt x="1246" y="3063"/>
                  </a:lnTo>
                  <a:lnTo>
                    <a:pt x="1312" y="3053"/>
                  </a:lnTo>
                  <a:lnTo>
                    <a:pt x="1352" y="3041"/>
                  </a:lnTo>
                  <a:lnTo>
                    <a:pt x="1389" y="3025"/>
                  </a:lnTo>
                  <a:lnTo>
                    <a:pt x="1424" y="3003"/>
                  </a:lnTo>
                  <a:lnTo>
                    <a:pt x="1476" y="2962"/>
                  </a:lnTo>
                  <a:lnTo>
                    <a:pt x="1510" y="2926"/>
                  </a:lnTo>
                  <a:lnTo>
                    <a:pt x="1531" y="2901"/>
                  </a:lnTo>
                  <a:lnTo>
                    <a:pt x="1568" y="2848"/>
                  </a:lnTo>
                  <a:lnTo>
                    <a:pt x="1596" y="2791"/>
                  </a:lnTo>
                  <a:lnTo>
                    <a:pt x="1615" y="2731"/>
                  </a:lnTo>
                  <a:lnTo>
                    <a:pt x="1625" y="2670"/>
                  </a:lnTo>
                  <a:lnTo>
                    <a:pt x="1626" y="2608"/>
                  </a:lnTo>
                  <a:lnTo>
                    <a:pt x="1617" y="2547"/>
                  </a:lnTo>
                  <a:lnTo>
                    <a:pt x="1599" y="2487"/>
                  </a:lnTo>
                  <a:lnTo>
                    <a:pt x="1586" y="2458"/>
                  </a:lnTo>
                  <a:lnTo>
                    <a:pt x="1558" y="2396"/>
                  </a:lnTo>
                  <a:lnTo>
                    <a:pt x="1626" y="2328"/>
                  </a:lnTo>
                  <a:lnTo>
                    <a:pt x="1655" y="2300"/>
                  </a:lnTo>
                  <a:lnTo>
                    <a:pt x="1687" y="2277"/>
                  </a:lnTo>
                  <a:lnTo>
                    <a:pt x="1705" y="2273"/>
                  </a:lnTo>
                  <a:lnTo>
                    <a:pt x="1721" y="2279"/>
                  </a:lnTo>
                  <a:lnTo>
                    <a:pt x="1736" y="2296"/>
                  </a:lnTo>
                  <a:lnTo>
                    <a:pt x="1762" y="2339"/>
                  </a:lnTo>
                  <a:lnTo>
                    <a:pt x="1783" y="2386"/>
                  </a:lnTo>
                  <a:lnTo>
                    <a:pt x="1795" y="2412"/>
                  </a:lnTo>
                  <a:lnTo>
                    <a:pt x="1811" y="2461"/>
                  </a:lnTo>
                  <a:lnTo>
                    <a:pt x="1819" y="2517"/>
                  </a:lnTo>
                  <a:lnTo>
                    <a:pt x="1823" y="2590"/>
                  </a:lnTo>
                  <a:lnTo>
                    <a:pt x="1823" y="2639"/>
                  </a:lnTo>
                  <a:lnTo>
                    <a:pt x="1823" y="2690"/>
                  </a:lnTo>
                  <a:lnTo>
                    <a:pt x="1820" y="2765"/>
                  </a:lnTo>
                  <a:lnTo>
                    <a:pt x="1810" y="2820"/>
                  </a:lnTo>
                  <a:lnTo>
                    <a:pt x="1792" y="2871"/>
                  </a:lnTo>
                  <a:lnTo>
                    <a:pt x="1778" y="2901"/>
                  </a:lnTo>
                  <a:lnTo>
                    <a:pt x="1762" y="2934"/>
                  </a:lnTo>
                  <a:lnTo>
                    <a:pt x="1726" y="2994"/>
                  </a:lnTo>
                  <a:lnTo>
                    <a:pt x="1685" y="3049"/>
                  </a:lnTo>
                  <a:lnTo>
                    <a:pt x="1639" y="3099"/>
                  </a:lnTo>
                  <a:lnTo>
                    <a:pt x="1589" y="3143"/>
                  </a:lnTo>
                  <a:lnTo>
                    <a:pt x="1535" y="3181"/>
                  </a:lnTo>
                  <a:lnTo>
                    <a:pt x="1478" y="3213"/>
                  </a:lnTo>
                  <a:lnTo>
                    <a:pt x="1419" y="3239"/>
                  </a:lnTo>
                  <a:lnTo>
                    <a:pt x="1357" y="3259"/>
                  </a:lnTo>
                  <a:lnTo>
                    <a:pt x="1293" y="3272"/>
                  </a:lnTo>
                  <a:lnTo>
                    <a:pt x="1228" y="3279"/>
                  </a:lnTo>
                  <a:lnTo>
                    <a:pt x="1163" y="3278"/>
                  </a:lnTo>
                  <a:lnTo>
                    <a:pt x="1097" y="3271"/>
                  </a:lnTo>
                  <a:lnTo>
                    <a:pt x="1031" y="3257"/>
                  </a:lnTo>
                  <a:lnTo>
                    <a:pt x="966" y="3236"/>
                  </a:lnTo>
                  <a:lnTo>
                    <a:pt x="903" y="3207"/>
                  </a:lnTo>
                  <a:lnTo>
                    <a:pt x="871" y="3189"/>
                  </a:lnTo>
                  <a:lnTo>
                    <a:pt x="847" y="3175"/>
                  </a:lnTo>
                  <a:lnTo>
                    <a:pt x="802" y="3142"/>
                  </a:lnTo>
                  <a:lnTo>
                    <a:pt x="759" y="3105"/>
                  </a:lnTo>
                  <a:lnTo>
                    <a:pt x="719" y="3063"/>
                  </a:lnTo>
                  <a:lnTo>
                    <a:pt x="682" y="3019"/>
                  </a:lnTo>
                  <a:lnTo>
                    <a:pt x="650" y="2971"/>
                  </a:lnTo>
                  <a:lnTo>
                    <a:pt x="622" y="2921"/>
                  </a:lnTo>
                  <a:lnTo>
                    <a:pt x="598" y="2868"/>
                  </a:lnTo>
                  <a:lnTo>
                    <a:pt x="588" y="2841"/>
                  </a:lnTo>
                  <a:lnTo>
                    <a:pt x="581" y="2821"/>
                  </a:lnTo>
                  <a:lnTo>
                    <a:pt x="572" y="2774"/>
                  </a:lnTo>
                  <a:lnTo>
                    <a:pt x="563" y="2691"/>
                  </a:lnTo>
                  <a:lnTo>
                    <a:pt x="565" y="2570"/>
                  </a:lnTo>
                  <a:lnTo>
                    <a:pt x="577" y="2486"/>
                  </a:lnTo>
                  <a:lnTo>
                    <a:pt x="588" y="2438"/>
                  </a:lnTo>
                  <a:lnTo>
                    <a:pt x="595" y="2418"/>
                  </a:lnTo>
                  <a:lnTo>
                    <a:pt x="608" y="2383"/>
                  </a:lnTo>
                  <a:lnTo>
                    <a:pt x="643" y="2317"/>
                  </a:lnTo>
                  <a:lnTo>
                    <a:pt x="684" y="2256"/>
                  </a:lnTo>
                  <a:lnTo>
                    <a:pt x="732" y="2199"/>
                  </a:lnTo>
                  <a:lnTo>
                    <a:pt x="785" y="2149"/>
                  </a:lnTo>
                  <a:lnTo>
                    <a:pt x="844" y="2104"/>
                  </a:lnTo>
                  <a:lnTo>
                    <a:pt x="906" y="2066"/>
                  </a:lnTo>
                  <a:lnTo>
                    <a:pt x="972" y="2036"/>
                  </a:lnTo>
                  <a:lnTo>
                    <a:pt x="1006" y="2024"/>
                  </a:lnTo>
                  <a:lnTo>
                    <a:pt x="1031" y="2017"/>
                  </a:lnTo>
                  <a:lnTo>
                    <a:pt x="1084" y="2007"/>
                  </a:lnTo>
                  <a:lnTo>
                    <a:pt x="1171" y="2000"/>
                  </a:lnTo>
                  <a:lnTo>
                    <a:pt x="1292" y="2007"/>
                  </a:lnTo>
                  <a:lnTo>
                    <a:pt x="1376" y="2025"/>
                  </a:lnTo>
                  <a:lnTo>
                    <a:pt x="1426" y="2041"/>
                  </a:lnTo>
                  <a:lnTo>
                    <a:pt x="1448" y="2051"/>
                  </a:lnTo>
                  <a:close/>
                  <a:moveTo>
                    <a:pt x="1303" y="2393"/>
                  </a:moveTo>
                  <a:lnTo>
                    <a:pt x="1304" y="2396"/>
                  </a:lnTo>
                  <a:lnTo>
                    <a:pt x="1292" y="2418"/>
                  </a:lnTo>
                  <a:lnTo>
                    <a:pt x="1246" y="2473"/>
                  </a:lnTo>
                  <a:lnTo>
                    <a:pt x="1200" y="2521"/>
                  </a:lnTo>
                  <a:lnTo>
                    <a:pt x="1081" y="2641"/>
                  </a:lnTo>
                  <a:lnTo>
                    <a:pt x="1140" y="2698"/>
                  </a:lnTo>
                  <a:lnTo>
                    <a:pt x="1198" y="2754"/>
                  </a:lnTo>
                  <a:lnTo>
                    <a:pt x="1315" y="2639"/>
                  </a:lnTo>
                  <a:lnTo>
                    <a:pt x="1361" y="2594"/>
                  </a:lnTo>
                  <a:lnTo>
                    <a:pt x="1416" y="2548"/>
                  </a:lnTo>
                  <a:lnTo>
                    <a:pt x="1437" y="2534"/>
                  </a:lnTo>
                  <a:lnTo>
                    <a:pt x="1441" y="2534"/>
                  </a:lnTo>
                  <a:lnTo>
                    <a:pt x="1447" y="2541"/>
                  </a:lnTo>
                  <a:lnTo>
                    <a:pt x="1455" y="2560"/>
                  </a:lnTo>
                  <a:lnTo>
                    <a:pt x="1461" y="2598"/>
                  </a:lnTo>
                  <a:lnTo>
                    <a:pt x="1459" y="2662"/>
                  </a:lnTo>
                  <a:lnTo>
                    <a:pt x="1445" y="2726"/>
                  </a:lnTo>
                  <a:lnTo>
                    <a:pt x="1433" y="2754"/>
                  </a:lnTo>
                  <a:lnTo>
                    <a:pt x="1421" y="2778"/>
                  </a:lnTo>
                  <a:lnTo>
                    <a:pt x="1391" y="2820"/>
                  </a:lnTo>
                  <a:lnTo>
                    <a:pt x="1355" y="2854"/>
                  </a:lnTo>
                  <a:lnTo>
                    <a:pt x="1316" y="2880"/>
                  </a:lnTo>
                  <a:lnTo>
                    <a:pt x="1273" y="2898"/>
                  </a:lnTo>
                  <a:lnTo>
                    <a:pt x="1226" y="2907"/>
                  </a:lnTo>
                  <a:lnTo>
                    <a:pt x="1178" y="2907"/>
                  </a:lnTo>
                  <a:lnTo>
                    <a:pt x="1129" y="2898"/>
                  </a:lnTo>
                  <a:lnTo>
                    <a:pt x="1105" y="2889"/>
                  </a:lnTo>
                  <a:lnTo>
                    <a:pt x="1084" y="2881"/>
                  </a:lnTo>
                  <a:lnTo>
                    <a:pt x="1047" y="2860"/>
                  </a:lnTo>
                  <a:lnTo>
                    <a:pt x="1015" y="2835"/>
                  </a:lnTo>
                  <a:lnTo>
                    <a:pt x="988" y="2806"/>
                  </a:lnTo>
                  <a:lnTo>
                    <a:pt x="967" y="2774"/>
                  </a:lnTo>
                  <a:lnTo>
                    <a:pt x="950" y="2740"/>
                  </a:lnTo>
                  <a:lnTo>
                    <a:pt x="938" y="2704"/>
                  </a:lnTo>
                  <a:lnTo>
                    <a:pt x="932" y="2667"/>
                  </a:lnTo>
                  <a:lnTo>
                    <a:pt x="930" y="2629"/>
                  </a:lnTo>
                  <a:lnTo>
                    <a:pt x="934" y="2592"/>
                  </a:lnTo>
                  <a:lnTo>
                    <a:pt x="943" y="2555"/>
                  </a:lnTo>
                  <a:lnTo>
                    <a:pt x="957" y="2520"/>
                  </a:lnTo>
                  <a:lnTo>
                    <a:pt x="977" y="2487"/>
                  </a:lnTo>
                  <a:lnTo>
                    <a:pt x="1001" y="2456"/>
                  </a:lnTo>
                  <a:lnTo>
                    <a:pt x="1031" y="2429"/>
                  </a:lnTo>
                  <a:lnTo>
                    <a:pt x="1066" y="2406"/>
                  </a:lnTo>
                  <a:lnTo>
                    <a:pt x="1086" y="2396"/>
                  </a:lnTo>
                  <a:lnTo>
                    <a:pt x="1112" y="2386"/>
                  </a:lnTo>
                  <a:lnTo>
                    <a:pt x="1172" y="2373"/>
                  </a:lnTo>
                  <a:lnTo>
                    <a:pt x="1232" y="2372"/>
                  </a:lnTo>
                  <a:lnTo>
                    <a:pt x="1284" y="2382"/>
                  </a:lnTo>
                  <a:lnTo>
                    <a:pt x="1303" y="23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 name="Freeform 6">
              <a:extLst>
                <a:ext uri="{FF2B5EF4-FFF2-40B4-BE49-F238E27FC236}">
                  <a16:creationId xmlns:a16="http://schemas.microsoft.com/office/drawing/2014/main" id="{7B2754BF-AD01-76D3-3F0C-72775B75C925}"/>
                </a:ext>
              </a:extLst>
            </p:cNvPr>
            <p:cNvSpPr>
              <a:spLocks noEditPoints="1"/>
            </p:cNvSpPr>
            <p:nvPr/>
          </p:nvSpPr>
          <p:spPr bwMode="auto">
            <a:xfrm>
              <a:off x="4303713" y="520700"/>
              <a:ext cx="307975" cy="328613"/>
            </a:xfrm>
            <a:custGeom>
              <a:avLst/>
              <a:gdLst>
                <a:gd name="T0" fmla="*/ 12 w 759"/>
                <a:gd name="T1" fmla="*/ 7 h 814"/>
                <a:gd name="T2" fmla="*/ 7 w 759"/>
                <a:gd name="T3" fmla="*/ 35 h 814"/>
                <a:gd name="T4" fmla="*/ 1 w 759"/>
                <a:gd name="T5" fmla="*/ 258 h 814"/>
                <a:gd name="T6" fmla="*/ 0 w 759"/>
                <a:gd name="T7" fmla="*/ 417 h 814"/>
                <a:gd name="T8" fmla="*/ 0 w 759"/>
                <a:gd name="T9" fmla="*/ 814 h 814"/>
                <a:gd name="T10" fmla="*/ 380 w 759"/>
                <a:gd name="T11" fmla="*/ 811 h 814"/>
                <a:gd name="T12" fmla="*/ 759 w 759"/>
                <a:gd name="T13" fmla="*/ 806 h 814"/>
                <a:gd name="T14" fmla="*/ 759 w 759"/>
                <a:gd name="T15" fmla="*/ 406 h 814"/>
                <a:gd name="T16" fmla="*/ 759 w 759"/>
                <a:gd name="T17" fmla="*/ 6 h 814"/>
                <a:gd name="T18" fmla="*/ 390 w 759"/>
                <a:gd name="T19" fmla="*/ 1 h 814"/>
                <a:gd name="T20" fmla="*/ 243 w 759"/>
                <a:gd name="T21" fmla="*/ 0 h 814"/>
                <a:gd name="T22" fmla="*/ 37 w 759"/>
                <a:gd name="T23" fmla="*/ 4 h 814"/>
                <a:gd name="T24" fmla="*/ 12 w 759"/>
                <a:gd name="T25" fmla="*/ 7 h 814"/>
                <a:gd name="T26" fmla="*/ 597 w 759"/>
                <a:gd name="T27" fmla="*/ 409 h 814"/>
                <a:gd name="T28" fmla="*/ 602 w 759"/>
                <a:gd name="T29" fmla="*/ 647 h 814"/>
                <a:gd name="T30" fmla="*/ 384 w 759"/>
                <a:gd name="T31" fmla="*/ 647 h 814"/>
                <a:gd name="T32" fmla="*/ 167 w 759"/>
                <a:gd name="T33" fmla="*/ 647 h 814"/>
                <a:gd name="T34" fmla="*/ 167 w 759"/>
                <a:gd name="T35" fmla="*/ 406 h 814"/>
                <a:gd name="T36" fmla="*/ 167 w 759"/>
                <a:gd name="T37" fmla="*/ 162 h 814"/>
                <a:gd name="T38" fmla="*/ 380 w 759"/>
                <a:gd name="T39" fmla="*/ 167 h 814"/>
                <a:gd name="T40" fmla="*/ 592 w 759"/>
                <a:gd name="T41" fmla="*/ 172 h 814"/>
                <a:gd name="T42" fmla="*/ 597 w 759"/>
                <a:gd name="T43" fmla="*/ 409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59" h="814">
                  <a:moveTo>
                    <a:pt x="12" y="7"/>
                  </a:moveTo>
                  <a:lnTo>
                    <a:pt x="7" y="35"/>
                  </a:lnTo>
                  <a:lnTo>
                    <a:pt x="1" y="258"/>
                  </a:lnTo>
                  <a:lnTo>
                    <a:pt x="0" y="417"/>
                  </a:lnTo>
                  <a:lnTo>
                    <a:pt x="0" y="814"/>
                  </a:lnTo>
                  <a:lnTo>
                    <a:pt x="380" y="811"/>
                  </a:lnTo>
                  <a:lnTo>
                    <a:pt x="759" y="806"/>
                  </a:lnTo>
                  <a:lnTo>
                    <a:pt x="759" y="406"/>
                  </a:lnTo>
                  <a:lnTo>
                    <a:pt x="759" y="6"/>
                  </a:lnTo>
                  <a:lnTo>
                    <a:pt x="390" y="1"/>
                  </a:lnTo>
                  <a:lnTo>
                    <a:pt x="243" y="0"/>
                  </a:lnTo>
                  <a:lnTo>
                    <a:pt x="37" y="4"/>
                  </a:lnTo>
                  <a:lnTo>
                    <a:pt x="12" y="7"/>
                  </a:lnTo>
                  <a:close/>
                  <a:moveTo>
                    <a:pt x="597" y="409"/>
                  </a:moveTo>
                  <a:lnTo>
                    <a:pt x="602" y="647"/>
                  </a:lnTo>
                  <a:lnTo>
                    <a:pt x="384" y="647"/>
                  </a:lnTo>
                  <a:lnTo>
                    <a:pt x="167" y="647"/>
                  </a:lnTo>
                  <a:lnTo>
                    <a:pt x="167" y="406"/>
                  </a:lnTo>
                  <a:lnTo>
                    <a:pt x="167" y="162"/>
                  </a:lnTo>
                  <a:lnTo>
                    <a:pt x="380" y="167"/>
                  </a:lnTo>
                  <a:lnTo>
                    <a:pt x="592" y="172"/>
                  </a:lnTo>
                  <a:lnTo>
                    <a:pt x="597" y="4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 name="Freeform 7">
              <a:extLst>
                <a:ext uri="{FF2B5EF4-FFF2-40B4-BE49-F238E27FC236}">
                  <a16:creationId xmlns:a16="http://schemas.microsoft.com/office/drawing/2014/main" id="{18D59DC0-ED5D-41B2-3E07-B3B0BEBA30CB}"/>
                </a:ext>
              </a:extLst>
            </p:cNvPr>
            <p:cNvSpPr>
              <a:spLocks/>
            </p:cNvSpPr>
            <p:nvPr/>
          </p:nvSpPr>
          <p:spPr bwMode="auto">
            <a:xfrm>
              <a:off x="3898901" y="566738"/>
              <a:ext cx="288925" cy="66675"/>
            </a:xfrm>
            <a:custGeom>
              <a:avLst/>
              <a:gdLst>
                <a:gd name="T0" fmla="*/ 0 w 715"/>
                <a:gd name="T1" fmla="*/ 83 h 167"/>
                <a:gd name="T2" fmla="*/ 0 w 715"/>
                <a:gd name="T3" fmla="*/ 167 h 167"/>
                <a:gd name="T4" fmla="*/ 355 w 715"/>
                <a:gd name="T5" fmla="*/ 163 h 167"/>
                <a:gd name="T6" fmla="*/ 709 w 715"/>
                <a:gd name="T7" fmla="*/ 158 h 167"/>
                <a:gd name="T8" fmla="*/ 714 w 715"/>
                <a:gd name="T9" fmla="*/ 93 h 167"/>
                <a:gd name="T10" fmla="*/ 715 w 715"/>
                <a:gd name="T11" fmla="*/ 65 h 167"/>
                <a:gd name="T12" fmla="*/ 709 w 715"/>
                <a:gd name="T13" fmla="*/ 33 h 167"/>
                <a:gd name="T14" fmla="*/ 702 w 715"/>
                <a:gd name="T15" fmla="*/ 19 h 167"/>
                <a:gd name="T16" fmla="*/ 697 w 715"/>
                <a:gd name="T17" fmla="*/ 15 h 167"/>
                <a:gd name="T18" fmla="*/ 688 w 715"/>
                <a:gd name="T19" fmla="*/ 12 h 167"/>
                <a:gd name="T20" fmla="*/ 629 w 715"/>
                <a:gd name="T21" fmla="*/ 7 h 167"/>
                <a:gd name="T22" fmla="*/ 475 w 715"/>
                <a:gd name="T23" fmla="*/ 1 h 167"/>
                <a:gd name="T24" fmla="*/ 339 w 715"/>
                <a:gd name="T25" fmla="*/ 0 h 167"/>
                <a:gd name="T26" fmla="*/ 0 w 715"/>
                <a:gd name="T27" fmla="*/ 0 h 167"/>
                <a:gd name="T28" fmla="*/ 0 w 715"/>
                <a:gd name="T29" fmla="*/ 83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5" h="167">
                  <a:moveTo>
                    <a:pt x="0" y="83"/>
                  </a:moveTo>
                  <a:lnTo>
                    <a:pt x="0" y="167"/>
                  </a:lnTo>
                  <a:lnTo>
                    <a:pt x="355" y="163"/>
                  </a:lnTo>
                  <a:lnTo>
                    <a:pt x="709" y="158"/>
                  </a:lnTo>
                  <a:lnTo>
                    <a:pt x="714" y="93"/>
                  </a:lnTo>
                  <a:lnTo>
                    <a:pt x="715" y="65"/>
                  </a:lnTo>
                  <a:lnTo>
                    <a:pt x="709" y="33"/>
                  </a:lnTo>
                  <a:lnTo>
                    <a:pt x="702" y="19"/>
                  </a:lnTo>
                  <a:lnTo>
                    <a:pt x="697" y="15"/>
                  </a:lnTo>
                  <a:lnTo>
                    <a:pt x="688" y="12"/>
                  </a:lnTo>
                  <a:lnTo>
                    <a:pt x="629" y="7"/>
                  </a:lnTo>
                  <a:lnTo>
                    <a:pt x="475" y="1"/>
                  </a:lnTo>
                  <a:lnTo>
                    <a:pt x="339" y="0"/>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 name="Freeform 8">
              <a:extLst>
                <a:ext uri="{FF2B5EF4-FFF2-40B4-BE49-F238E27FC236}">
                  <a16:creationId xmlns:a16="http://schemas.microsoft.com/office/drawing/2014/main" id="{9AD2C60A-7099-3D54-4B48-FD202253468F}"/>
                </a:ext>
              </a:extLst>
            </p:cNvPr>
            <p:cNvSpPr>
              <a:spLocks/>
            </p:cNvSpPr>
            <p:nvPr/>
          </p:nvSpPr>
          <p:spPr bwMode="auto">
            <a:xfrm>
              <a:off x="3865563" y="735013"/>
              <a:ext cx="322263" cy="63500"/>
            </a:xfrm>
            <a:custGeom>
              <a:avLst/>
              <a:gdLst>
                <a:gd name="T0" fmla="*/ 16 w 796"/>
                <a:gd name="T1" fmla="*/ 23 h 158"/>
                <a:gd name="T2" fmla="*/ 8 w 796"/>
                <a:gd name="T3" fmla="*/ 36 h 158"/>
                <a:gd name="T4" fmla="*/ 0 w 796"/>
                <a:gd name="T5" fmla="*/ 80 h 158"/>
                <a:gd name="T6" fmla="*/ 1 w 796"/>
                <a:gd name="T7" fmla="*/ 103 h 158"/>
                <a:gd name="T8" fmla="*/ 6 w 796"/>
                <a:gd name="T9" fmla="*/ 158 h 158"/>
                <a:gd name="T10" fmla="*/ 398 w 796"/>
                <a:gd name="T11" fmla="*/ 158 h 158"/>
                <a:gd name="T12" fmla="*/ 790 w 796"/>
                <a:gd name="T13" fmla="*/ 158 h 158"/>
                <a:gd name="T14" fmla="*/ 795 w 796"/>
                <a:gd name="T15" fmla="*/ 93 h 158"/>
                <a:gd name="T16" fmla="*/ 796 w 796"/>
                <a:gd name="T17" fmla="*/ 64 h 158"/>
                <a:gd name="T18" fmla="*/ 790 w 796"/>
                <a:gd name="T19" fmla="*/ 32 h 158"/>
                <a:gd name="T20" fmla="*/ 783 w 796"/>
                <a:gd name="T21" fmla="*/ 18 h 158"/>
                <a:gd name="T22" fmla="*/ 778 w 796"/>
                <a:gd name="T23" fmla="*/ 15 h 158"/>
                <a:gd name="T24" fmla="*/ 769 w 796"/>
                <a:gd name="T25" fmla="*/ 12 h 158"/>
                <a:gd name="T26" fmla="*/ 706 w 796"/>
                <a:gd name="T27" fmla="*/ 6 h 158"/>
                <a:gd name="T28" fmla="*/ 542 w 796"/>
                <a:gd name="T29" fmla="*/ 1 h 158"/>
                <a:gd name="T30" fmla="*/ 396 w 796"/>
                <a:gd name="T31" fmla="*/ 0 h 158"/>
                <a:gd name="T32" fmla="*/ 204 w 796"/>
                <a:gd name="T33" fmla="*/ 0 h 158"/>
                <a:gd name="T34" fmla="*/ 64 w 796"/>
                <a:gd name="T35" fmla="*/ 7 h 158"/>
                <a:gd name="T36" fmla="*/ 24 w 796"/>
                <a:gd name="T37" fmla="*/ 17 h 158"/>
                <a:gd name="T38" fmla="*/ 16 w 796"/>
                <a:gd name="T39" fmla="*/ 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6" h="158">
                  <a:moveTo>
                    <a:pt x="16" y="23"/>
                  </a:moveTo>
                  <a:lnTo>
                    <a:pt x="8" y="36"/>
                  </a:lnTo>
                  <a:lnTo>
                    <a:pt x="0" y="80"/>
                  </a:lnTo>
                  <a:lnTo>
                    <a:pt x="1" y="103"/>
                  </a:lnTo>
                  <a:lnTo>
                    <a:pt x="6" y="158"/>
                  </a:lnTo>
                  <a:lnTo>
                    <a:pt x="398" y="158"/>
                  </a:lnTo>
                  <a:lnTo>
                    <a:pt x="790" y="158"/>
                  </a:lnTo>
                  <a:lnTo>
                    <a:pt x="795" y="93"/>
                  </a:lnTo>
                  <a:lnTo>
                    <a:pt x="796" y="64"/>
                  </a:lnTo>
                  <a:lnTo>
                    <a:pt x="790" y="32"/>
                  </a:lnTo>
                  <a:lnTo>
                    <a:pt x="783" y="18"/>
                  </a:lnTo>
                  <a:lnTo>
                    <a:pt x="778" y="15"/>
                  </a:lnTo>
                  <a:lnTo>
                    <a:pt x="769" y="12"/>
                  </a:lnTo>
                  <a:lnTo>
                    <a:pt x="706" y="6"/>
                  </a:lnTo>
                  <a:lnTo>
                    <a:pt x="542" y="1"/>
                  </a:lnTo>
                  <a:lnTo>
                    <a:pt x="396" y="0"/>
                  </a:lnTo>
                  <a:lnTo>
                    <a:pt x="204" y="0"/>
                  </a:lnTo>
                  <a:lnTo>
                    <a:pt x="64" y="7"/>
                  </a:lnTo>
                  <a:lnTo>
                    <a:pt x="24" y="17"/>
                  </a:lnTo>
                  <a:lnTo>
                    <a:pt x="16"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 name="Freeform 9">
              <a:extLst>
                <a:ext uri="{FF2B5EF4-FFF2-40B4-BE49-F238E27FC236}">
                  <a16:creationId xmlns:a16="http://schemas.microsoft.com/office/drawing/2014/main" id="{C6068890-5144-708C-3467-576E31C5C11C}"/>
                </a:ext>
              </a:extLst>
            </p:cNvPr>
            <p:cNvSpPr>
              <a:spLocks noEditPoints="1"/>
            </p:cNvSpPr>
            <p:nvPr/>
          </p:nvSpPr>
          <p:spPr bwMode="auto">
            <a:xfrm>
              <a:off x="4303713" y="1003300"/>
              <a:ext cx="311150" cy="328613"/>
            </a:xfrm>
            <a:custGeom>
              <a:avLst/>
              <a:gdLst>
                <a:gd name="T0" fmla="*/ 4 w 767"/>
                <a:gd name="T1" fmla="*/ 404 h 809"/>
                <a:gd name="T2" fmla="*/ 9 w 767"/>
                <a:gd name="T3" fmla="*/ 809 h 809"/>
                <a:gd name="T4" fmla="*/ 384 w 767"/>
                <a:gd name="T5" fmla="*/ 809 h 809"/>
                <a:gd name="T6" fmla="*/ 759 w 767"/>
                <a:gd name="T7" fmla="*/ 809 h 809"/>
                <a:gd name="T8" fmla="*/ 764 w 767"/>
                <a:gd name="T9" fmla="*/ 404 h 809"/>
                <a:gd name="T10" fmla="*/ 767 w 767"/>
                <a:gd name="T11" fmla="*/ 0 h 809"/>
                <a:gd name="T12" fmla="*/ 384 w 767"/>
                <a:gd name="T13" fmla="*/ 0 h 809"/>
                <a:gd name="T14" fmla="*/ 0 w 767"/>
                <a:gd name="T15" fmla="*/ 0 h 809"/>
                <a:gd name="T16" fmla="*/ 4 w 767"/>
                <a:gd name="T17" fmla="*/ 404 h 809"/>
                <a:gd name="T18" fmla="*/ 600 w 767"/>
                <a:gd name="T19" fmla="*/ 409 h 809"/>
                <a:gd name="T20" fmla="*/ 600 w 767"/>
                <a:gd name="T21" fmla="*/ 650 h 809"/>
                <a:gd name="T22" fmla="*/ 384 w 767"/>
                <a:gd name="T23" fmla="*/ 650 h 809"/>
                <a:gd name="T24" fmla="*/ 167 w 767"/>
                <a:gd name="T25" fmla="*/ 650 h 809"/>
                <a:gd name="T26" fmla="*/ 167 w 767"/>
                <a:gd name="T27" fmla="*/ 409 h 809"/>
                <a:gd name="T28" fmla="*/ 167 w 767"/>
                <a:gd name="T29" fmla="*/ 167 h 809"/>
                <a:gd name="T30" fmla="*/ 384 w 767"/>
                <a:gd name="T31" fmla="*/ 167 h 809"/>
                <a:gd name="T32" fmla="*/ 600 w 767"/>
                <a:gd name="T33" fmla="*/ 167 h 809"/>
                <a:gd name="T34" fmla="*/ 600 w 767"/>
                <a:gd name="T35" fmla="*/ 40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7" h="809">
                  <a:moveTo>
                    <a:pt x="4" y="404"/>
                  </a:moveTo>
                  <a:lnTo>
                    <a:pt x="9" y="809"/>
                  </a:lnTo>
                  <a:lnTo>
                    <a:pt x="384" y="809"/>
                  </a:lnTo>
                  <a:lnTo>
                    <a:pt x="759" y="809"/>
                  </a:lnTo>
                  <a:lnTo>
                    <a:pt x="764" y="404"/>
                  </a:lnTo>
                  <a:lnTo>
                    <a:pt x="767" y="0"/>
                  </a:lnTo>
                  <a:lnTo>
                    <a:pt x="384" y="0"/>
                  </a:lnTo>
                  <a:lnTo>
                    <a:pt x="0" y="0"/>
                  </a:lnTo>
                  <a:lnTo>
                    <a:pt x="4" y="404"/>
                  </a:lnTo>
                  <a:close/>
                  <a:moveTo>
                    <a:pt x="600" y="409"/>
                  </a:moveTo>
                  <a:lnTo>
                    <a:pt x="600" y="650"/>
                  </a:lnTo>
                  <a:lnTo>
                    <a:pt x="384" y="650"/>
                  </a:lnTo>
                  <a:lnTo>
                    <a:pt x="167" y="650"/>
                  </a:lnTo>
                  <a:lnTo>
                    <a:pt x="167" y="409"/>
                  </a:lnTo>
                  <a:lnTo>
                    <a:pt x="167" y="167"/>
                  </a:lnTo>
                  <a:lnTo>
                    <a:pt x="384" y="167"/>
                  </a:lnTo>
                  <a:lnTo>
                    <a:pt x="600" y="167"/>
                  </a:lnTo>
                  <a:lnTo>
                    <a:pt x="600" y="4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 name="Freeform 10">
              <a:extLst>
                <a:ext uri="{FF2B5EF4-FFF2-40B4-BE49-F238E27FC236}">
                  <a16:creationId xmlns:a16="http://schemas.microsoft.com/office/drawing/2014/main" id="{C9CAE69B-F4C9-8E11-CD04-9E4936C0ACD4}"/>
                </a:ext>
              </a:extLst>
            </p:cNvPr>
            <p:cNvSpPr>
              <a:spLocks/>
            </p:cNvSpPr>
            <p:nvPr/>
          </p:nvSpPr>
          <p:spPr bwMode="auto">
            <a:xfrm>
              <a:off x="3871913" y="1050925"/>
              <a:ext cx="314325" cy="65088"/>
            </a:xfrm>
            <a:custGeom>
              <a:avLst/>
              <a:gdLst>
                <a:gd name="T0" fmla="*/ 5 w 777"/>
                <a:gd name="T1" fmla="*/ 78 h 158"/>
                <a:gd name="T2" fmla="*/ 10 w 777"/>
                <a:gd name="T3" fmla="*/ 158 h 158"/>
                <a:gd name="T4" fmla="*/ 393 w 777"/>
                <a:gd name="T5" fmla="*/ 158 h 158"/>
                <a:gd name="T6" fmla="*/ 777 w 777"/>
                <a:gd name="T7" fmla="*/ 158 h 158"/>
                <a:gd name="T8" fmla="*/ 777 w 777"/>
                <a:gd name="T9" fmla="*/ 83 h 158"/>
                <a:gd name="T10" fmla="*/ 777 w 777"/>
                <a:gd name="T11" fmla="*/ 8 h 158"/>
                <a:gd name="T12" fmla="*/ 388 w 777"/>
                <a:gd name="T13" fmla="*/ 3 h 158"/>
                <a:gd name="T14" fmla="*/ 0 w 777"/>
                <a:gd name="T15" fmla="*/ 0 h 158"/>
                <a:gd name="T16" fmla="*/ 5 w 777"/>
                <a:gd name="T17" fmla="*/ 7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7" h="158">
                  <a:moveTo>
                    <a:pt x="5" y="78"/>
                  </a:moveTo>
                  <a:lnTo>
                    <a:pt x="10" y="158"/>
                  </a:lnTo>
                  <a:lnTo>
                    <a:pt x="393" y="158"/>
                  </a:lnTo>
                  <a:lnTo>
                    <a:pt x="777" y="158"/>
                  </a:lnTo>
                  <a:lnTo>
                    <a:pt x="777" y="83"/>
                  </a:lnTo>
                  <a:lnTo>
                    <a:pt x="777" y="8"/>
                  </a:lnTo>
                  <a:lnTo>
                    <a:pt x="388" y="3"/>
                  </a:lnTo>
                  <a:lnTo>
                    <a:pt x="0" y="0"/>
                  </a:lnTo>
                  <a:lnTo>
                    <a:pt x="5"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2" name="Freeform 11">
              <a:extLst>
                <a:ext uri="{FF2B5EF4-FFF2-40B4-BE49-F238E27FC236}">
                  <a16:creationId xmlns:a16="http://schemas.microsoft.com/office/drawing/2014/main" id="{C1728274-3652-9125-83CD-23E102978AB4}"/>
                </a:ext>
              </a:extLst>
            </p:cNvPr>
            <p:cNvSpPr>
              <a:spLocks/>
            </p:cNvSpPr>
            <p:nvPr/>
          </p:nvSpPr>
          <p:spPr bwMode="auto">
            <a:xfrm>
              <a:off x="3871913" y="1219200"/>
              <a:ext cx="314325" cy="68263"/>
            </a:xfrm>
            <a:custGeom>
              <a:avLst/>
              <a:gdLst>
                <a:gd name="T0" fmla="*/ 0 w 775"/>
                <a:gd name="T1" fmla="*/ 83 h 166"/>
                <a:gd name="T2" fmla="*/ 0 w 775"/>
                <a:gd name="T3" fmla="*/ 166 h 166"/>
                <a:gd name="T4" fmla="*/ 388 w 775"/>
                <a:gd name="T5" fmla="*/ 163 h 166"/>
                <a:gd name="T6" fmla="*/ 775 w 775"/>
                <a:gd name="T7" fmla="*/ 158 h 166"/>
                <a:gd name="T8" fmla="*/ 775 w 775"/>
                <a:gd name="T9" fmla="*/ 83 h 166"/>
                <a:gd name="T10" fmla="*/ 775 w 775"/>
                <a:gd name="T11" fmla="*/ 8 h 166"/>
                <a:gd name="T12" fmla="*/ 388 w 775"/>
                <a:gd name="T13" fmla="*/ 3 h 166"/>
                <a:gd name="T14" fmla="*/ 0 w 775"/>
                <a:gd name="T15" fmla="*/ 0 h 166"/>
                <a:gd name="T16" fmla="*/ 0 w 775"/>
                <a:gd name="T17" fmla="*/ 8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5" h="166">
                  <a:moveTo>
                    <a:pt x="0" y="83"/>
                  </a:moveTo>
                  <a:lnTo>
                    <a:pt x="0" y="166"/>
                  </a:lnTo>
                  <a:lnTo>
                    <a:pt x="388" y="163"/>
                  </a:lnTo>
                  <a:lnTo>
                    <a:pt x="775" y="158"/>
                  </a:lnTo>
                  <a:lnTo>
                    <a:pt x="775" y="83"/>
                  </a:lnTo>
                  <a:lnTo>
                    <a:pt x="775" y="8"/>
                  </a:lnTo>
                  <a:lnTo>
                    <a:pt x="388" y="3"/>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3" name="Freeform 12">
              <a:extLst>
                <a:ext uri="{FF2B5EF4-FFF2-40B4-BE49-F238E27FC236}">
                  <a16:creationId xmlns:a16="http://schemas.microsoft.com/office/drawing/2014/main" id="{F83A47B3-A374-1B29-41DB-6A85B62547AE}"/>
                </a:ext>
              </a:extLst>
            </p:cNvPr>
            <p:cNvSpPr>
              <a:spLocks noEditPoints="1"/>
            </p:cNvSpPr>
            <p:nvPr/>
          </p:nvSpPr>
          <p:spPr bwMode="auto">
            <a:xfrm>
              <a:off x="4303713" y="1489075"/>
              <a:ext cx="311150" cy="323850"/>
            </a:xfrm>
            <a:custGeom>
              <a:avLst/>
              <a:gdLst>
                <a:gd name="T0" fmla="*/ 0 w 767"/>
                <a:gd name="T1" fmla="*/ 400 h 800"/>
                <a:gd name="T2" fmla="*/ 0 w 767"/>
                <a:gd name="T3" fmla="*/ 800 h 800"/>
                <a:gd name="T4" fmla="*/ 384 w 767"/>
                <a:gd name="T5" fmla="*/ 800 h 800"/>
                <a:gd name="T6" fmla="*/ 767 w 767"/>
                <a:gd name="T7" fmla="*/ 800 h 800"/>
                <a:gd name="T8" fmla="*/ 767 w 767"/>
                <a:gd name="T9" fmla="*/ 400 h 800"/>
                <a:gd name="T10" fmla="*/ 767 w 767"/>
                <a:gd name="T11" fmla="*/ 0 h 800"/>
                <a:gd name="T12" fmla="*/ 384 w 767"/>
                <a:gd name="T13" fmla="*/ 0 h 800"/>
                <a:gd name="T14" fmla="*/ 0 w 767"/>
                <a:gd name="T15" fmla="*/ 0 h 800"/>
                <a:gd name="T16" fmla="*/ 0 w 767"/>
                <a:gd name="T17" fmla="*/ 400 h 800"/>
                <a:gd name="T18" fmla="*/ 592 w 767"/>
                <a:gd name="T19" fmla="*/ 400 h 800"/>
                <a:gd name="T20" fmla="*/ 592 w 767"/>
                <a:gd name="T21" fmla="*/ 642 h 800"/>
                <a:gd name="T22" fmla="*/ 384 w 767"/>
                <a:gd name="T23" fmla="*/ 642 h 800"/>
                <a:gd name="T24" fmla="*/ 175 w 767"/>
                <a:gd name="T25" fmla="*/ 642 h 800"/>
                <a:gd name="T26" fmla="*/ 170 w 767"/>
                <a:gd name="T27" fmla="*/ 395 h 800"/>
                <a:gd name="T28" fmla="*/ 165 w 767"/>
                <a:gd name="T29" fmla="*/ 149 h 800"/>
                <a:gd name="T30" fmla="*/ 379 w 767"/>
                <a:gd name="T31" fmla="*/ 154 h 800"/>
                <a:gd name="T32" fmla="*/ 592 w 767"/>
                <a:gd name="T33" fmla="*/ 159 h 800"/>
                <a:gd name="T34" fmla="*/ 592 w 767"/>
                <a:gd name="T35" fmla="*/ 40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7" h="800">
                  <a:moveTo>
                    <a:pt x="0" y="400"/>
                  </a:moveTo>
                  <a:lnTo>
                    <a:pt x="0" y="800"/>
                  </a:lnTo>
                  <a:lnTo>
                    <a:pt x="384" y="800"/>
                  </a:lnTo>
                  <a:lnTo>
                    <a:pt x="767" y="800"/>
                  </a:lnTo>
                  <a:lnTo>
                    <a:pt x="767" y="400"/>
                  </a:lnTo>
                  <a:lnTo>
                    <a:pt x="767" y="0"/>
                  </a:lnTo>
                  <a:lnTo>
                    <a:pt x="384" y="0"/>
                  </a:lnTo>
                  <a:lnTo>
                    <a:pt x="0" y="0"/>
                  </a:lnTo>
                  <a:lnTo>
                    <a:pt x="0" y="400"/>
                  </a:lnTo>
                  <a:close/>
                  <a:moveTo>
                    <a:pt x="592" y="400"/>
                  </a:moveTo>
                  <a:lnTo>
                    <a:pt x="592" y="642"/>
                  </a:lnTo>
                  <a:lnTo>
                    <a:pt x="384" y="642"/>
                  </a:lnTo>
                  <a:lnTo>
                    <a:pt x="175" y="642"/>
                  </a:lnTo>
                  <a:lnTo>
                    <a:pt x="170" y="395"/>
                  </a:lnTo>
                  <a:lnTo>
                    <a:pt x="165" y="149"/>
                  </a:lnTo>
                  <a:lnTo>
                    <a:pt x="379" y="154"/>
                  </a:lnTo>
                  <a:lnTo>
                    <a:pt x="592" y="159"/>
                  </a:lnTo>
                  <a:lnTo>
                    <a:pt x="592" y="4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4" name="Freeform 13">
              <a:extLst>
                <a:ext uri="{FF2B5EF4-FFF2-40B4-BE49-F238E27FC236}">
                  <a16:creationId xmlns:a16="http://schemas.microsoft.com/office/drawing/2014/main" id="{3B5DEB26-A33C-7690-CC38-7368C63F64F0}"/>
                </a:ext>
              </a:extLst>
            </p:cNvPr>
            <p:cNvSpPr>
              <a:spLocks/>
            </p:cNvSpPr>
            <p:nvPr/>
          </p:nvSpPr>
          <p:spPr bwMode="auto">
            <a:xfrm>
              <a:off x="3697288" y="1530350"/>
              <a:ext cx="488950" cy="66675"/>
            </a:xfrm>
            <a:custGeom>
              <a:avLst/>
              <a:gdLst>
                <a:gd name="T0" fmla="*/ 12 w 1209"/>
                <a:gd name="T1" fmla="*/ 9 h 164"/>
                <a:gd name="T2" fmla="*/ 7 w 1209"/>
                <a:gd name="T3" fmla="*/ 17 h 164"/>
                <a:gd name="T4" fmla="*/ 1 w 1209"/>
                <a:gd name="T5" fmla="*/ 63 h 164"/>
                <a:gd name="T6" fmla="*/ 0 w 1209"/>
                <a:gd name="T7" fmla="*/ 92 h 164"/>
                <a:gd name="T8" fmla="*/ 0 w 1209"/>
                <a:gd name="T9" fmla="*/ 164 h 164"/>
                <a:gd name="T10" fmla="*/ 605 w 1209"/>
                <a:gd name="T11" fmla="*/ 161 h 164"/>
                <a:gd name="T12" fmla="*/ 1209 w 1209"/>
                <a:gd name="T13" fmla="*/ 156 h 164"/>
                <a:gd name="T14" fmla="*/ 1209 w 1209"/>
                <a:gd name="T15" fmla="*/ 81 h 164"/>
                <a:gd name="T16" fmla="*/ 1209 w 1209"/>
                <a:gd name="T17" fmla="*/ 6 h 164"/>
                <a:gd name="T18" fmla="*/ 615 w 1209"/>
                <a:gd name="T19" fmla="*/ 1 h 164"/>
                <a:gd name="T20" fmla="*/ 378 w 1209"/>
                <a:gd name="T21" fmla="*/ 0 h 164"/>
                <a:gd name="T22" fmla="*/ 50 w 1209"/>
                <a:gd name="T23" fmla="*/ 4 h 164"/>
                <a:gd name="T24" fmla="*/ 12 w 1209"/>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9" h="164">
                  <a:moveTo>
                    <a:pt x="12" y="9"/>
                  </a:moveTo>
                  <a:lnTo>
                    <a:pt x="7" y="17"/>
                  </a:lnTo>
                  <a:lnTo>
                    <a:pt x="1" y="63"/>
                  </a:lnTo>
                  <a:lnTo>
                    <a:pt x="0" y="92"/>
                  </a:lnTo>
                  <a:lnTo>
                    <a:pt x="0" y="164"/>
                  </a:lnTo>
                  <a:lnTo>
                    <a:pt x="605" y="161"/>
                  </a:lnTo>
                  <a:lnTo>
                    <a:pt x="1209" y="156"/>
                  </a:lnTo>
                  <a:lnTo>
                    <a:pt x="1209" y="81"/>
                  </a:lnTo>
                  <a:lnTo>
                    <a:pt x="1209" y="6"/>
                  </a:lnTo>
                  <a:lnTo>
                    <a:pt x="615" y="1"/>
                  </a:lnTo>
                  <a:lnTo>
                    <a:pt x="378" y="0"/>
                  </a:lnTo>
                  <a:lnTo>
                    <a:pt x="50" y="4"/>
                  </a:lnTo>
                  <a:lnTo>
                    <a:pt x="12"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5" name="Freeform 14">
              <a:extLst>
                <a:ext uri="{FF2B5EF4-FFF2-40B4-BE49-F238E27FC236}">
                  <a16:creationId xmlns:a16="http://schemas.microsoft.com/office/drawing/2014/main" id="{985AB03E-5E78-AAD6-8E4B-C348645CD7E0}"/>
                </a:ext>
              </a:extLst>
            </p:cNvPr>
            <p:cNvSpPr>
              <a:spLocks/>
            </p:cNvSpPr>
            <p:nvPr/>
          </p:nvSpPr>
          <p:spPr bwMode="auto">
            <a:xfrm>
              <a:off x="3622676" y="1698625"/>
              <a:ext cx="565150" cy="66675"/>
            </a:xfrm>
            <a:custGeom>
              <a:avLst/>
              <a:gdLst>
                <a:gd name="T0" fmla="*/ 12 w 1398"/>
                <a:gd name="T1" fmla="*/ 11 h 166"/>
                <a:gd name="T2" fmla="*/ 7 w 1398"/>
                <a:gd name="T3" fmla="*/ 19 h 166"/>
                <a:gd name="T4" fmla="*/ 1 w 1398"/>
                <a:gd name="T5" fmla="*/ 64 h 166"/>
                <a:gd name="T6" fmla="*/ 0 w 1398"/>
                <a:gd name="T7" fmla="*/ 94 h 166"/>
                <a:gd name="T8" fmla="*/ 0 w 1398"/>
                <a:gd name="T9" fmla="*/ 166 h 166"/>
                <a:gd name="T10" fmla="*/ 697 w 1398"/>
                <a:gd name="T11" fmla="*/ 162 h 166"/>
                <a:gd name="T12" fmla="*/ 1392 w 1398"/>
                <a:gd name="T13" fmla="*/ 157 h 166"/>
                <a:gd name="T14" fmla="*/ 1397 w 1398"/>
                <a:gd name="T15" fmla="*/ 92 h 166"/>
                <a:gd name="T16" fmla="*/ 1398 w 1398"/>
                <a:gd name="T17" fmla="*/ 64 h 166"/>
                <a:gd name="T18" fmla="*/ 1392 w 1398"/>
                <a:gd name="T19" fmla="*/ 32 h 166"/>
                <a:gd name="T20" fmla="*/ 1385 w 1398"/>
                <a:gd name="T21" fmla="*/ 18 h 166"/>
                <a:gd name="T22" fmla="*/ 1380 w 1398"/>
                <a:gd name="T23" fmla="*/ 14 h 166"/>
                <a:gd name="T24" fmla="*/ 1365 w 1398"/>
                <a:gd name="T25" fmla="*/ 11 h 166"/>
                <a:gd name="T26" fmla="*/ 1249 w 1398"/>
                <a:gd name="T27" fmla="*/ 6 h 166"/>
                <a:gd name="T28" fmla="*/ 945 w 1398"/>
                <a:gd name="T29" fmla="*/ 1 h 166"/>
                <a:gd name="T30" fmla="*/ 439 w 1398"/>
                <a:gd name="T31" fmla="*/ 0 h 166"/>
                <a:gd name="T32" fmla="*/ 138 w 1398"/>
                <a:gd name="T33" fmla="*/ 3 h 166"/>
                <a:gd name="T34" fmla="*/ 25 w 1398"/>
                <a:gd name="T35" fmla="*/ 8 h 166"/>
                <a:gd name="T36" fmla="*/ 12 w 1398"/>
                <a:gd name="T37"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98" h="166">
                  <a:moveTo>
                    <a:pt x="12" y="11"/>
                  </a:moveTo>
                  <a:lnTo>
                    <a:pt x="7" y="19"/>
                  </a:lnTo>
                  <a:lnTo>
                    <a:pt x="1" y="64"/>
                  </a:lnTo>
                  <a:lnTo>
                    <a:pt x="0" y="94"/>
                  </a:lnTo>
                  <a:lnTo>
                    <a:pt x="0" y="166"/>
                  </a:lnTo>
                  <a:lnTo>
                    <a:pt x="697" y="162"/>
                  </a:lnTo>
                  <a:lnTo>
                    <a:pt x="1392" y="157"/>
                  </a:lnTo>
                  <a:lnTo>
                    <a:pt x="1397" y="92"/>
                  </a:lnTo>
                  <a:lnTo>
                    <a:pt x="1398" y="64"/>
                  </a:lnTo>
                  <a:lnTo>
                    <a:pt x="1392" y="32"/>
                  </a:lnTo>
                  <a:lnTo>
                    <a:pt x="1385" y="18"/>
                  </a:lnTo>
                  <a:lnTo>
                    <a:pt x="1380" y="14"/>
                  </a:lnTo>
                  <a:lnTo>
                    <a:pt x="1365" y="11"/>
                  </a:lnTo>
                  <a:lnTo>
                    <a:pt x="1249" y="6"/>
                  </a:lnTo>
                  <a:lnTo>
                    <a:pt x="945" y="1"/>
                  </a:lnTo>
                  <a:lnTo>
                    <a:pt x="439" y="0"/>
                  </a:lnTo>
                  <a:lnTo>
                    <a:pt x="138" y="3"/>
                  </a:lnTo>
                  <a:lnTo>
                    <a:pt x="25" y="8"/>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16" name="TextBox 15">
            <a:extLst>
              <a:ext uri="{FF2B5EF4-FFF2-40B4-BE49-F238E27FC236}">
                <a16:creationId xmlns:a16="http://schemas.microsoft.com/office/drawing/2014/main" id="{A371EBBD-AE73-DDF6-24D2-7C67ABCDFB08}"/>
              </a:ext>
            </a:extLst>
          </p:cNvPr>
          <p:cNvSpPr txBox="1"/>
          <p:nvPr/>
        </p:nvSpPr>
        <p:spPr>
          <a:xfrm>
            <a:off x="10037417" y="2579972"/>
            <a:ext cx="1544983" cy="1716648"/>
          </a:xfrm>
          <a:prstGeom prst="rect">
            <a:avLst/>
          </a:prstGeom>
          <a:noFill/>
        </p:spPr>
        <p:txBody>
          <a:bodyPr wrap="square" rtlCol="0">
            <a:spAutoFit/>
          </a:bodyPr>
          <a:lstStyle/>
          <a:p>
            <a:pPr algn="justLow" rtl="1"/>
            <a:r>
              <a:rPr lang="ar-SA" sz="1100" dirty="0"/>
              <a:t>ضمان التكيف مع التغييرات بكفاءة من خلال مواءمة أهداف الأعمال مع أنظمة تقنية المعلومات. وضمان تنفيذ التغييرات بأقل قدر من المخاطر والتحديات.</a:t>
            </a:r>
            <a:endParaRPr lang="en-US" sz="1100" dirty="0"/>
          </a:p>
        </p:txBody>
      </p:sp>
      <p:sp>
        <p:nvSpPr>
          <p:cNvPr id="17" name="TextBox 16">
            <a:extLst>
              <a:ext uri="{FF2B5EF4-FFF2-40B4-BE49-F238E27FC236}">
                <a16:creationId xmlns:a16="http://schemas.microsoft.com/office/drawing/2014/main" id="{431A939F-9BDE-526F-086D-4460DE9D81B2}"/>
              </a:ext>
            </a:extLst>
          </p:cNvPr>
          <p:cNvSpPr txBox="1"/>
          <p:nvPr/>
        </p:nvSpPr>
        <p:spPr>
          <a:xfrm>
            <a:off x="10084074" y="4564575"/>
            <a:ext cx="1451669" cy="953377"/>
          </a:xfrm>
          <a:prstGeom prst="rect">
            <a:avLst/>
          </a:prstGeom>
          <a:noFill/>
        </p:spPr>
        <p:txBody>
          <a:bodyPr wrap="square" rtlCol="0">
            <a:spAutoFit/>
          </a:bodyPr>
          <a:lstStyle/>
          <a:p>
            <a:pPr algn="justLow" rtl="1"/>
            <a:r>
              <a:rPr lang="ar-SA" sz="1000" dirty="0"/>
              <a:t>مثال: اختيار نظام من بين عدة بدائل بناء على معايير تضمن نجاح التغيير مثل التوافق مع البنية التحتية الحالية ونسبة تلبية متطلبات المستخدمين </a:t>
            </a:r>
            <a:endParaRPr lang="en-US" sz="1000" dirty="0"/>
          </a:p>
        </p:txBody>
      </p:sp>
      <p:sp>
        <p:nvSpPr>
          <p:cNvPr id="18" name="TextBox 129">
            <a:extLst>
              <a:ext uri="{FF2B5EF4-FFF2-40B4-BE49-F238E27FC236}">
                <a16:creationId xmlns:a16="http://schemas.microsoft.com/office/drawing/2014/main" id="{948B92C2-A808-CEF4-B764-0C1F7D223C37}"/>
              </a:ext>
            </a:extLst>
          </p:cNvPr>
          <p:cNvSpPr txBox="1"/>
          <p:nvPr/>
        </p:nvSpPr>
        <p:spPr>
          <a:xfrm>
            <a:off x="8466114" y="2121025"/>
            <a:ext cx="1544983" cy="343330"/>
          </a:xfrm>
          <a:prstGeom prst="rect">
            <a:avLst/>
          </a:prstGeom>
          <a:noFill/>
        </p:spPr>
        <p:txBody>
          <a:bodyPr wrap="square" lIns="0" tIns="0" rIns="0" bIns="0" rtlCol="0" anchor="t">
            <a:noAutofit/>
          </a:bodyPr>
          <a:lstStyle/>
          <a:p>
            <a:pPr algn="ctr"/>
            <a:r>
              <a:rPr lang="ar-SA" sz="1400" b="1" dirty="0">
                <a:solidFill>
                  <a:schemeClr val="accent2"/>
                </a:solidFill>
              </a:rPr>
              <a:t>تقليل النفقات</a:t>
            </a:r>
            <a:endParaRPr lang="en-US" sz="1400" b="1" dirty="0">
              <a:solidFill>
                <a:schemeClr val="accent2"/>
              </a:solidFill>
            </a:endParaRPr>
          </a:p>
        </p:txBody>
      </p:sp>
      <p:grpSp>
        <p:nvGrpSpPr>
          <p:cNvPr id="19" name="Group 18">
            <a:extLst>
              <a:ext uri="{FF2B5EF4-FFF2-40B4-BE49-F238E27FC236}">
                <a16:creationId xmlns:a16="http://schemas.microsoft.com/office/drawing/2014/main" id="{F9499C03-2CAF-985F-00D3-915C2B960175}"/>
              </a:ext>
            </a:extLst>
          </p:cNvPr>
          <p:cNvGrpSpPr>
            <a:grpSpLocks noChangeAspect="1"/>
          </p:cNvGrpSpPr>
          <p:nvPr/>
        </p:nvGrpSpPr>
        <p:grpSpPr>
          <a:xfrm>
            <a:off x="8926281" y="1340047"/>
            <a:ext cx="624649" cy="626577"/>
            <a:chOff x="6616700" y="265113"/>
            <a:chExt cx="1543050" cy="1547813"/>
          </a:xfrm>
          <a:solidFill>
            <a:schemeClr val="accent1"/>
          </a:solidFill>
        </p:grpSpPr>
        <p:sp>
          <p:nvSpPr>
            <p:cNvPr id="20" name="Freeform 28">
              <a:extLst>
                <a:ext uri="{FF2B5EF4-FFF2-40B4-BE49-F238E27FC236}">
                  <a16:creationId xmlns:a16="http://schemas.microsoft.com/office/drawing/2014/main" id="{3E27222E-D8AE-D835-E509-BFBC72CFD63B}"/>
                </a:ext>
              </a:extLst>
            </p:cNvPr>
            <p:cNvSpPr>
              <a:spLocks noEditPoints="1"/>
            </p:cNvSpPr>
            <p:nvPr/>
          </p:nvSpPr>
          <p:spPr bwMode="auto">
            <a:xfrm>
              <a:off x="6616700" y="265113"/>
              <a:ext cx="1543050" cy="671513"/>
            </a:xfrm>
            <a:custGeom>
              <a:avLst/>
              <a:gdLst>
                <a:gd name="T0" fmla="*/ 1861 w 4134"/>
                <a:gd name="T1" fmla="*/ 94 h 1799"/>
                <a:gd name="T2" fmla="*/ 1790 w 4134"/>
                <a:gd name="T3" fmla="*/ 229 h 1799"/>
                <a:gd name="T4" fmla="*/ 1556 w 4134"/>
                <a:gd name="T5" fmla="*/ 353 h 1799"/>
                <a:gd name="T6" fmla="*/ 1269 w 4134"/>
                <a:gd name="T7" fmla="*/ 390 h 1799"/>
                <a:gd name="T8" fmla="*/ 902 w 4134"/>
                <a:gd name="T9" fmla="*/ 680 h 1799"/>
                <a:gd name="T10" fmla="*/ 603 w 4134"/>
                <a:gd name="T11" fmla="*/ 826 h 1799"/>
                <a:gd name="T12" fmla="*/ 101 w 4134"/>
                <a:gd name="T13" fmla="*/ 840 h 1799"/>
                <a:gd name="T14" fmla="*/ 17 w 4134"/>
                <a:gd name="T15" fmla="*/ 903 h 1799"/>
                <a:gd name="T16" fmla="*/ 1 w 4134"/>
                <a:gd name="T17" fmla="*/ 1370 h 1799"/>
                <a:gd name="T18" fmla="*/ 31 w 4134"/>
                <a:gd name="T19" fmla="*/ 1564 h 1799"/>
                <a:gd name="T20" fmla="*/ 676 w 4134"/>
                <a:gd name="T21" fmla="*/ 1788 h 1799"/>
                <a:gd name="T22" fmla="*/ 1359 w 4134"/>
                <a:gd name="T23" fmla="*/ 1792 h 1799"/>
                <a:gd name="T24" fmla="*/ 1590 w 4134"/>
                <a:gd name="T25" fmla="*/ 1656 h 1799"/>
                <a:gd name="T26" fmla="*/ 1734 w 4134"/>
                <a:gd name="T27" fmla="*/ 1525 h 1799"/>
                <a:gd name="T28" fmla="*/ 1890 w 4134"/>
                <a:gd name="T29" fmla="*/ 1600 h 1799"/>
                <a:gd name="T30" fmla="*/ 2221 w 4134"/>
                <a:gd name="T31" fmla="*/ 1657 h 1799"/>
                <a:gd name="T32" fmla="*/ 3777 w 4134"/>
                <a:gd name="T33" fmla="*/ 1662 h 1799"/>
                <a:gd name="T34" fmla="*/ 3989 w 4134"/>
                <a:gd name="T35" fmla="*/ 1619 h 1799"/>
                <a:gd name="T36" fmla="*/ 4097 w 4134"/>
                <a:gd name="T37" fmla="*/ 1500 h 1799"/>
                <a:gd name="T38" fmla="*/ 4134 w 4134"/>
                <a:gd name="T39" fmla="*/ 1039 h 1799"/>
                <a:gd name="T40" fmla="*/ 4121 w 4134"/>
                <a:gd name="T41" fmla="*/ 220 h 1799"/>
                <a:gd name="T42" fmla="*/ 4026 w 4134"/>
                <a:gd name="T43" fmla="*/ 68 h 1799"/>
                <a:gd name="T44" fmla="*/ 3787 w 4134"/>
                <a:gd name="T45" fmla="*/ 7 h 1799"/>
                <a:gd name="T46" fmla="*/ 1934 w 4134"/>
                <a:gd name="T47" fmla="*/ 37 h 1799"/>
                <a:gd name="T48" fmla="*/ 3974 w 4134"/>
                <a:gd name="T49" fmla="*/ 208 h 1799"/>
                <a:gd name="T50" fmla="*/ 3984 w 4134"/>
                <a:gd name="T51" fmla="*/ 1448 h 1799"/>
                <a:gd name="T52" fmla="*/ 3859 w 4134"/>
                <a:gd name="T53" fmla="*/ 1508 h 1799"/>
                <a:gd name="T54" fmla="*/ 1967 w 4134"/>
                <a:gd name="T55" fmla="*/ 1475 h 1799"/>
                <a:gd name="T56" fmla="*/ 2258 w 4134"/>
                <a:gd name="T57" fmla="*/ 1286 h 1799"/>
                <a:gd name="T58" fmla="*/ 2535 w 4134"/>
                <a:gd name="T59" fmla="*/ 1250 h 1799"/>
                <a:gd name="T60" fmla="*/ 2989 w 4134"/>
                <a:gd name="T61" fmla="*/ 1228 h 1799"/>
                <a:gd name="T62" fmla="*/ 3020 w 4134"/>
                <a:gd name="T63" fmla="*/ 1150 h 1799"/>
                <a:gd name="T64" fmla="*/ 2925 w 4134"/>
                <a:gd name="T65" fmla="*/ 1107 h 1799"/>
                <a:gd name="T66" fmla="*/ 2467 w 4134"/>
                <a:gd name="T67" fmla="*/ 1017 h 1799"/>
                <a:gd name="T68" fmla="*/ 2432 w 4134"/>
                <a:gd name="T69" fmla="*/ 894 h 1799"/>
                <a:gd name="T70" fmla="*/ 2316 w 4134"/>
                <a:gd name="T71" fmla="*/ 803 h 1799"/>
                <a:gd name="T72" fmla="*/ 2119 w 4134"/>
                <a:gd name="T73" fmla="*/ 800 h 1799"/>
                <a:gd name="T74" fmla="*/ 1917 w 4134"/>
                <a:gd name="T75" fmla="*/ 548 h 1799"/>
                <a:gd name="T76" fmla="*/ 1949 w 4134"/>
                <a:gd name="T77" fmla="*/ 199 h 1799"/>
                <a:gd name="T78" fmla="*/ 2019 w 4134"/>
                <a:gd name="T79" fmla="*/ 149 h 1799"/>
                <a:gd name="T80" fmla="*/ 3456 w 4134"/>
                <a:gd name="T81" fmla="*/ 134 h 1799"/>
                <a:gd name="T82" fmla="*/ 3916 w 4134"/>
                <a:gd name="T83" fmla="*/ 158 h 1799"/>
                <a:gd name="T84" fmla="*/ 1625 w 4134"/>
                <a:gd name="T85" fmla="*/ 886 h 1799"/>
                <a:gd name="T86" fmla="*/ 1518 w 4134"/>
                <a:gd name="T87" fmla="*/ 939 h 1799"/>
                <a:gd name="T88" fmla="*/ 1533 w 4134"/>
                <a:gd name="T89" fmla="*/ 1010 h 1799"/>
                <a:gd name="T90" fmla="*/ 1778 w 4134"/>
                <a:gd name="T91" fmla="*/ 999 h 1799"/>
                <a:gd name="T92" fmla="*/ 2247 w 4134"/>
                <a:gd name="T93" fmla="*/ 934 h 1799"/>
                <a:gd name="T94" fmla="*/ 2321 w 4134"/>
                <a:gd name="T95" fmla="*/ 973 h 1799"/>
                <a:gd name="T96" fmla="*/ 2312 w 4134"/>
                <a:gd name="T97" fmla="*/ 1095 h 1799"/>
                <a:gd name="T98" fmla="*/ 1941 w 4134"/>
                <a:gd name="T99" fmla="*/ 1277 h 1799"/>
                <a:gd name="T100" fmla="*/ 1567 w 4134"/>
                <a:gd name="T101" fmla="*/ 1475 h 1799"/>
                <a:gd name="T102" fmla="*/ 1427 w 4134"/>
                <a:gd name="T103" fmla="*/ 1617 h 1799"/>
                <a:gd name="T104" fmla="*/ 1234 w 4134"/>
                <a:gd name="T105" fmla="*/ 1664 h 1799"/>
                <a:gd name="T106" fmla="*/ 737 w 4134"/>
                <a:gd name="T107" fmla="*/ 1648 h 1799"/>
                <a:gd name="T108" fmla="*/ 617 w 4134"/>
                <a:gd name="T109" fmla="*/ 1293 h 1799"/>
                <a:gd name="T110" fmla="*/ 818 w 4134"/>
                <a:gd name="T111" fmla="*/ 907 h 1799"/>
                <a:gd name="T112" fmla="*/ 1172 w 4134"/>
                <a:gd name="T113" fmla="*/ 634 h 1799"/>
                <a:gd name="T114" fmla="*/ 1424 w 4134"/>
                <a:gd name="T115" fmla="*/ 492 h 1799"/>
                <a:gd name="T116" fmla="*/ 1781 w 4134"/>
                <a:gd name="T117" fmla="*/ 670 h 1799"/>
                <a:gd name="T118" fmla="*/ 472 w 4134"/>
                <a:gd name="T119" fmla="*/ 1559 h 1799"/>
                <a:gd name="T120" fmla="*/ 292 w 4134"/>
                <a:gd name="T121" fmla="*/ 1520 h 1799"/>
                <a:gd name="T122" fmla="*/ 304 w 4134"/>
                <a:gd name="T123" fmla="*/ 970 h 1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34" h="1799">
                  <a:moveTo>
                    <a:pt x="1934" y="37"/>
                  </a:moveTo>
                  <a:lnTo>
                    <a:pt x="1918" y="46"/>
                  </a:lnTo>
                  <a:lnTo>
                    <a:pt x="1888" y="68"/>
                  </a:lnTo>
                  <a:lnTo>
                    <a:pt x="1861" y="94"/>
                  </a:lnTo>
                  <a:lnTo>
                    <a:pt x="1837" y="124"/>
                  </a:lnTo>
                  <a:lnTo>
                    <a:pt x="1817" y="158"/>
                  </a:lnTo>
                  <a:lnTo>
                    <a:pt x="1801" y="193"/>
                  </a:lnTo>
                  <a:lnTo>
                    <a:pt x="1790" y="229"/>
                  </a:lnTo>
                  <a:lnTo>
                    <a:pt x="1784" y="267"/>
                  </a:lnTo>
                  <a:lnTo>
                    <a:pt x="1784" y="285"/>
                  </a:lnTo>
                  <a:lnTo>
                    <a:pt x="1784" y="347"/>
                  </a:lnTo>
                  <a:lnTo>
                    <a:pt x="1556" y="353"/>
                  </a:lnTo>
                  <a:lnTo>
                    <a:pt x="1434" y="357"/>
                  </a:lnTo>
                  <a:lnTo>
                    <a:pt x="1330" y="369"/>
                  </a:lnTo>
                  <a:lnTo>
                    <a:pt x="1286" y="381"/>
                  </a:lnTo>
                  <a:lnTo>
                    <a:pt x="1269" y="390"/>
                  </a:lnTo>
                  <a:lnTo>
                    <a:pt x="1234" y="412"/>
                  </a:lnTo>
                  <a:lnTo>
                    <a:pt x="1085" y="527"/>
                  </a:lnTo>
                  <a:lnTo>
                    <a:pt x="996" y="602"/>
                  </a:lnTo>
                  <a:lnTo>
                    <a:pt x="902" y="680"/>
                  </a:lnTo>
                  <a:lnTo>
                    <a:pt x="798" y="756"/>
                  </a:lnTo>
                  <a:lnTo>
                    <a:pt x="737" y="791"/>
                  </a:lnTo>
                  <a:lnTo>
                    <a:pt x="674" y="813"/>
                  </a:lnTo>
                  <a:lnTo>
                    <a:pt x="603" y="826"/>
                  </a:lnTo>
                  <a:lnTo>
                    <a:pt x="469" y="833"/>
                  </a:lnTo>
                  <a:lnTo>
                    <a:pt x="342" y="833"/>
                  </a:lnTo>
                  <a:lnTo>
                    <a:pt x="218" y="833"/>
                  </a:lnTo>
                  <a:lnTo>
                    <a:pt x="101" y="840"/>
                  </a:lnTo>
                  <a:lnTo>
                    <a:pt x="63" y="852"/>
                  </a:lnTo>
                  <a:lnTo>
                    <a:pt x="43" y="864"/>
                  </a:lnTo>
                  <a:lnTo>
                    <a:pt x="28" y="881"/>
                  </a:lnTo>
                  <a:lnTo>
                    <a:pt x="17" y="903"/>
                  </a:lnTo>
                  <a:lnTo>
                    <a:pt x="6" y="946"/>
                  </a:lnTo>
                  <a:lnTo>
                    <a:pt x="0" y="1078"/>
                  </a:lnTo>
                  <a:lnTo>
                    <a:pt x="1" y="1218"/>
                  </a:lnTo>
                  <a:lnTo>
                    <a:pt x="1" y="1370"/>
                  </a:lnTo>
                  <a:lnTo>
                    <a:pt x="8" y="1501"/>
                  </a:lnTo>
                  <a:lnTo>
                    <a:pt x="16" y="1546"/>
                  </a:lnTo>
                  <a:lnTo>
                    <a:pt x="22" y="1557"/>
                  </a:lnTo>
                  <a:lnTo>
                    <a:pt x="31" y="1564"/>
                  </a:lnTo>
                  <a:lnTo>
                    <a:pt x="84" y="1589"/>
                  </a:lnTo>
                  <a:lnTo>
                    <a:pt x="224" y="1643"/>
                  </a:lnTo>
                  <a:lnTo>
                    <a:pt x="359" y="1687"/>
                  </a:lnTo>
                  <a:lnTo>
                    <a:pt x="676" y="1788"/>
                  </a:lnTo>
                  <a:lnTo>
                    <a:pt x="982" y="1797"/>
                  </a:lnTo>
                  <a:lnTo>
                    <a:pt x="1109" y="1799"/>
                  </a:lnTo>
                  <a:lnTo>
                    <a:pt x="1314" y="1796"/>
                  </a:lnTo>
                  <a:lnTo>
                    <a:pt x="1359" y="1792"/>
                  </a:lnTo>
                  <a:lnTo>
                    <a:pt x="1393" y="1785"/>
                  </a:lnTo>
                  <a:lnTo>
                    <a:pt x="1463" y="1756"/>
                  </a:lnTo>
                  <a:lnTo>
                    <a:pt x="1530" y="1712"/>
                  </a:lnTo>
                  <a:lnTo>
                    <a:pt x="1590" y="1656"/>
                  </a:lnTo>
                  <a:lnTo>
                    <a:pt x="1616" y="1623"/>
                  </a:lnTo>
                  <a:lnTo>
                    <a:pt x="1640" y="1594"/>
                  </a:lnTo>
                  <a:lnTo>
                    <a:pt x="1704" y="1541"/>
                  </a:lnTo>
                  <a:lnTo>
                    <a:pt x="1734" y="1525"/>
                  </a:lnTo>
                  <a:lnTo>
                    <a:pt x="1804" y="1493"/>
                  </a:lnTo>
                  <a:lnTo>
                    <a:pt x="1846" y="1547"/>
                  </a:lnTo>
                  <a:lnTo>
                    <a:pt x="1862" y="1567"/>
                  </a:lnTo>
                  <a:lnTo>
                    <a:pt x="1890" y="1600"/>
                  </a:lnTo>
                  <a:lnTo>
                    <a:pt x="1926" y="1624"/>
                  </a:lnTo>
                  <a:lnTo>
                    <a:pt x="1985" y="1641"/>
                  </a:lnTo>
                  <a:lnTo>
                    <a:pt x="2078" y="1651"/>
                  </a:lnTo>
                  <a:lnTo>
                    <a:pt x="2221" y="1657"/>
                  </a:lnTo>
                  <a:lnTo>
                    <a:pt x="2546" y="1662"/>
                  </a:lnTo>
                  <a:lnTo>
                    <a:pt x="2884" y="1663"/>
                  </a:lnTo>
                  <a:lnTo>
                    <a:pt x="3245" y="1665"/>
                  </a:lnTo>
                  <a:lnTo>
                    <a:pt x="3777" y="1662"/>
                  </a:lnTo>
                  <a:lnTo>
                    <a:pt x="3862" y="1658"/>
                  </a:lnTo>
                  <a:lnTo>
                    <a:pt x="3903" y="1652"/>
                  </a:lnTo>
                  <a:lnTo>
                    <a:pt x="3957" y="1635"/>
                  </a:lnTo>
                  <a:lnTo>
                    <a:pt x="3989" y="1619"/>
                  </a:lnTo>
                  <a:lnTo>
                    <a:pt x="4018" y="1599"/>
                  </a:lnTo>
                  <a:lnTo>
                    <a:pt x="4044" y="1576"/>
                  </a:lnTo>
                  <a:lnTo>
                    <a:pt x="4078" y="1534"/>
                  </a:lnTo>
                  <a:lnTo>
                    <a:pt x="4097" y="1500"/>
                  </a:lnTo>
                  <a:lnTo>
                    <a:pt x="4110" y="1475"/>
                  </a:lnTo>
                  <a:lnTo>
                    <a:pt x="4125" y="1414"/>
                  </a:lnTo>
                  <a:lnTo>
                    <a:pt x="4132" y="1288"/>
                  </a:lnTo>
                  <a:lnTo>
                    <a:pt x="4134" y="1039"/>
                  </a:lnTo>
                  <a:lnTo>
                    <a:pt x="4134" y="842"/>
                  </a:lnTo>
                  <a:lnTo>
                    <a:pt x="4133" y="600"/>
                  </a:lnTo>
                  <a:lnTo>
                    <a:pt x="4127" y="328"/>
                  </a:lnTo>
                  <a:lnTo>
                    <a:pt x="4121" y="220"/>
                  </a:lnTo>
                  <a:lnTo>
                    <a:pt x="4117" y="200"/>
                  </a:lnTo>
                  <a:lnTo>
                    <a:pt x="4108" y="174"/>
                  </a:lnTo>
                  <a:lnTo>
                    <a:pt x="4074" y="119"/>
                  </a:lnTo>
                  <a:lnTo>
                    <a:pt x="4026" y="68"/>
                  </a:lnTo>
                  <a:lnTo>
                    <a:pt x="3972" y="30"/>
                  </a:lnTo>
                  <a:lnTo>
                    <a:pt x="3946" y="18"/>
                  </a:lnTo>
                  <a:lnTo>
                    <a:pt x="3924" y="14"/>
                  </a:lnTo>
                  <a:lnTo>
                    <a:pt x="3787" y="7"/>
                  </a:lnTo>
                  <a:lnTo>
                    <a:pt x="3386" y="1"/>
                  </a:lnTo>
                  <a:lnTo>
                    <a:pt x="2952" y="0"/>
                  </a:lnTo>
                  <a:lnTo>
                    <a:pt x="2007" y="0"/>
                  </a:lnTo>
                  <a:lnTo>
                    <a:pt x="1934" y="37"/>
                  </a:lnTo>
                  <a:close/>
                  <a:moveTo>
                    <a:pt x="3916" y="158"/>
                  </a:moveTo>
                  <a:lnTo>
                    <a:pt x="3935" y="170"/>
                  </a:lnTo>
                  <a:lnTo>
                    <a:pt x="3967" y="197"/>
                  </a:lnTo>
                  <a:lnTo>
                    <a:pt x="3974" y="208"/>
                  </a:lnTo>
                  <a:lnTo>
                    <a:pt x="3978" y="253"/>
                  </a:lnTo>
                  <a:lnTo>
                    <a:pt x="3983" y="598"/>
                  </a:lnTo>
                  <a:lnTo>
                    <a:pt x="3984" y="842"/>
                  </a:lnTo>
                  <a:lnTo>
                    <a:pt x="3984" y="1448"/>
                  </a:lnTo>
                  <a:lnTo>
                    <a:pt x="3941" y="1482"/>
                  </a:lnTo>
                  <a:lnTo>
                    <a:pt x="3933" y="1488"/>
                  </a:lnTo>
                  <a:lnTo>
                    <a:pt x="3914" y="1498"/>
                  </a:lnTo>
                  <a:lnTo>
                    <a:pt x="3859" y="1508"/>
                  </a:lnTo>
                  <a:lnTo>
                    <a:pt x="3535" y="1517"/>
                  </a:lnTo>
                  <a:lnTo>
                    <a:pt x="2951" y="1517"/>
                  </a:lnTo>
                  <a:lnTo>
                    <a:pt x="2006" y="1517"/>
                  </a:lnTo>
                  <a:lnTo>
                    <a:pt x="1967" y="1475"/>
                  </a:lnTo>
                  <a:lnTo>
                    <a:pt x="1929" y="1435"/>
                  </a:lnTo>
                  <a:lnTo>
                    <a:pt x="2044" y="1382"/>
                  </a:lnTo>
                  <a:lnTo>
                    <a:pt x="2152" y="1332"/>
                  </a:lnTo>
                  <a:lnTo>
                    <a:pt x="2258" y="1286"/>
                  </a:lnTo>
                  <a:lnTo>
                    <a:pt x="2312" y="1268"/>
                  </a:lnTo>
                  <a:lnTo>
                    <a:pt x="2364" y="1256"/>
                  </a:lnTo>
                  <a:lnTo>
                    <a:pt x="2421" y="1251"/>
                  </a:lnTo>
                  <a:lnTo>
                    <a:pt x="2535" y="1250"/>
                  </a:lnTo>
                  <a:lnTo>
                    <a:pt x="2652" y="1250"/>
                  </a:lnTo>
                  <a:lnTo>
                    <a:pt x="2838" y="1250"/>
                  </a:lnTo>
                  <a:lnTo>
                    <a:pt x="2955" y="1241"/>
                  </a:lnTo>
                  <a:lnTo>
                    <a:pt x="2989" y="1228"/>
                  </a:lnTo>
                  <a:lnTo>
                    <a:pt x="3001" y="1217"/>
                  </a:lnTo>
                  <a:lnTo>
                    <a:pt x="3013" y="1203"/>
                  </a:lnTo>
                  <a:lnTo>
                    <a:pt x="3024" y="1175"/>
                  </a:lnTo>
                  <a:lnTo>
                    <a:pt x="3020" y="1150"/>
                  </a:lnTo>
                  <a:lnTo>
                    <a:pt x="2999" y="1126"/>
                  </a:lnTo>
                  <a:lnTo>
                    <a:pt x="2982" y="1117"/>
                  </a:lnTo>
                  <a:lnTo>
                    <a:pt x="2973" y="1113"/>
                  </a:lnTo>
                  <a:lnTo>
                    <a:pt x="2925" y="1107"/>
                  </a:lnTo>
                  <a:lnTo>
                    <a:pt x="2809" y="1101"/>
                  </a:lnTo>
                  <a:lnTo>
                    <a:pt x="2711" y="1100"/>
                  </a:lnTo>
                  <a:lnTo>
                    <a:pt x="2467" y="1100"/>
                  </a:lnTo>
                  <a:lnTo>
                    <a:pt x="2467" y="1017"/>
                  </a:lnTo>
                  <a:lnTo>
                    <a:pt x="2467" y="992"/>
                  </a:lnTo>
                  <a:lnTo>
                    <a:pt x="2463" y="955"/>
                  </a:lnTo>
                  <a:lnTo>
                    <a:pt x="2452" y="924"/>
                  </a:lnTo>
                  <a:lnTo>
                    <a:pt x="2432" y="894"/>
                  </a:lnTo>
                  <a:lnTo>
                    <a:pt x="2417" y="877"/>
                  </a:lnTo>
                  <a:lnTo>
                    <a:pt x="2389" y="847"/>
                  </a:lnTo>
                  <a:lnTo>
                    <a:pt x="2347" y="817"/>
                  </a:lnTo>
                  <a:lnTo>
                    <a:pt x="2316" y="803"/>
                  </a:lnTo>
                  <a:lnTo>
                    <a:pt x="2281" y="794"/>
                  </a:lnTo>
                  <a:lnTo>
                    <a:pt x="2243" y="790"/>
                  </a:lnTo>
                  <a:lnTo>
                    <a:pt x="2175" y="792"/>
                  </a:lnTo>
                  <a:lnTo>
                    <a:pt x="2119" y="800"/>
                  </a:lnTo>
                  <a:lnTo>
                    <a:pt x="2012" y="817"/>
                  </a:lnTo>
                  <a:lnTo>
                    <a:pt x="1956" y="828"/>
                  </a:lnTo>
                  <a:lnTo>
                    <a:pt x="1917" y="837"/>
                  </a:lnTo>
                  <a:lnTo>
                    <a:pt x="1917" y="548"/>
                  </a:lnTo>
                  <a:lnTo>
                    <a:pt x="1918" y="440"/>
                  </a:lnTo>
                  <a:lnTo>
                    <a:pt x="1924" y="294"/>
                  </a:lnTo>
                  <a:lnTo>
                    <a:pt x="1936" y="229"/>
                  </a:lnTo>
                  <a:lnTo>
                    <a:pt x="1949" y="199"/>
                  </a:lnTo>
                  <a:lnTo>
                    <a:pt x="1966" y="178"/>
                  </a:lnTo>
                  <a:lnTo>
                    <a:pt x="1987" y="162"/>
                  </a:lnTo>
                  <a:lnTo>
                    <a:pt x="2001" y="155"/>
                  </a:lnTo>
                  <a:lnTo>
                    <a:pt x="2019" y="149"/>
                  </a:lnTo>
                  <a:lnTo>
                    <a:pt x="2128" y="141"/>
                  </a:lnTo>
                  <a:lnTo>
                    <a:pt x="2491" y="134"/>
                  </a:lnTo>
                  <a:lnTo>
                    <a:pt x="2956" y="133"/>
                  </a:lnTo>
                  <a:lnTo>
                    <a:pt x="3456" y="134"/>
                  </a:lnTo>
                  <a:lnTo>
                    <a:pt x="3802" y="141"/>
                  </a:lnTo>
                  <a:lnTo>
                    <a:pt x="3879" y="148"/>
                  </a:lnTo>
                  <a:lnTo>
                    <a:pt x="3907" y="154"/>
                  </a:lnTo>
                  <a:lnTo>
                    <a:pt x="3916" y="158"/>
                  </a:lnTo>
                  <a:close/>
                  <a:moveTo>
                    <a:pt x="1781" y="670"/>
                  </a:moveTo>
                  <a:lnTo>
                    <a:pt x="1776" y="858"/>
                  </a:lnTo>
                  <a:lnTo>
                    <a:pt x="1674" y="877"/>
                  </a:lnTo>
                  <a:lnTo>
                    <a:pt x="1625" y="886"/>
                  </a:lnTo>
                  <a:lnTo>
                    <a:pt x="1562" y="901"/>
                  </a:lnTo>
                  <a:lnTo>
                    <a:pt x="1536" y="912"/>
                  </a:lnTo>
                  <a:lnTo>
                    <a:pt x="1525" y="922"/>
                  </a:lnTo>
                  <a:lnTo>
                    <a:pt x="1518" y="939"/>
                  </a:lnTo>
                  <a:lnTo>
                    <a:pt x="1517" y="955"/>
                  </a:lnTo>
                  <a:lnTo>
                    <a:pt x="1518" y="970"/>
                  </a:lnTo>
                  <a:lnTo>
                    <a:pt x="1522" y="994"/>
                  </a:lnTo>
                  <a:lnTo>
                    <a:pt x="1533" y="1010"/>
                  </a:lnTo>
                  <a:lnTo>
                    <a:pt x="1557" y="1019"/>
                  </a:lnTo>
                  <a:lnTo>
                    <a:pt x="1595" y="1022"/>
                  </a:lnTo>
                  <a:lnTo>
                    <a:pt x="1652" y="1017"/>
                  </a:lnTo>
                  <a:lnTo>
                    <a:pt x="1778" y="999"/>
                  </a:lnTo>
                  <a:lnTo>
                    <a:pt x="1904" y="978"/>
                  </a:lnTo>
                  <a:lnTo>
                    <a:pt x="2022" y="958"/>
                  </a:lnTo>
                  <a:lnTo>
                    <a:pt x="2179" y="936"/>
                  </a:lnTo>
                  <a:lnTo>
                    <a:pt x="2247" y="934"/>
                  </a:lnTo>
                  <a:lnTo>
                    <a:pt x="2277" y="939"/>
                  </a:lnTo>
                  <a:lnTo>
                    <a:pt x="2299" y="949"/>
                  </a:lnTo>
                  <a:lnTo>
                    <a:pt x="2314" y="964"/>
                  </a:lnTo>
                  <a:lnTo>
                    <a:pt x="2321" y="973"/>
                  </a:lnTo>
                  <a:lnTo>
                    <a:pt x="2329" y="988"/>
                  </a:lnTo>
                  <a:lnTo>
                    <a:pt x="2335" y="1025"/>
                  </a:lnTo>
                  <a:lnTo>
                    <a:pt x="2329" y="1063"/>
                  </a:lnTo>
                  <a:lnTo>
                    <a:pt x="2312" y="1095"/>
                  </a:lnTo>
                  <a:lnTo>
                    <a:pt x="2301" y="1105"/>
                  </a:lnTo>
                  <a:lnTo>
                    <a:pt x="2269" y="1123"/>
                  </a:lnTo>
                  <a:lnTo>
                    <a:pt x="2073" y="1216"/>
                  </a:lnTo>
                  <a:lnTo>
                    <a:pt x="1941" y="1277"/>
                  </a:lnTo>
                  <a:lnTo>
                    <a:pt x="1791" y="1346"/>
                  </a:lnTo>
                  <a:lnTo>
                    <a:pt x="1641" y="1424"/>
                  </a:lnTo>
                  <a:lnTo>
                    <a:pt x="1582" y="1461"/>
                  </a:lnTo>
                  <a:lnTo>
                    <a:pt x="1567" y="1475"/>
                  </a:lnTo>
                  <a:lnTo>
                    <a:pt x="1519" y="1525"/>
                  </a:lnTo>
                  <a:lnTo>
                    <a:pt x="1471" y="1578"/>
                  </a:lnTo>
                  <a:lnTo>
                    <a:pt x="1457" y="1593"/>
                  </a:lnTo>
                  <a:lnTo>
                    <a:pt x="1427" y="1617"/>
                  </a:lnTo>
                  <a:lnTo>
                    <a:pt x="1393" y="1635"/>
                  </a:lnTo>
                  <a:lnTo>
                    <a:pt x="1352" y="1649"/>
                  </a:lnTo>
                  <a:lnTo>
                    <a:pt x="1299" y="1658"/>
                  </a:lnTo>
                  <a:lnTo>
                    <a:pt x="1234" y="1664"/>
                  </a:lnTo>
                  <a:lnTo>
                    <a:pt x="1107" y="1666"/>
                  </a:lnTo>
                  <a:lnTo>
                    <a:pt x="992" y="1663"/>
                  </a:lnTo>
                  <a:lnTo>
                    <a:pt x="877" y="1659"/>
                  </a:lnTo>
                  <a:lnTo>
                    <a:pt x="737" y="1648"/>
                  </a:lnTo>
                  <a:lnTo>
                    <a:pt x="677" y="1640"/>
                  </a:lnTo>
                  <a:lnTo>
                    <a:pt x="664" y="1637"/>
                  </a:lnTo>
                  <a:lnTo>
                    <a:pt x="617" y="1617"/>
                  </a:lnTo>
                  <a:lnTo>
                    <a:pt x="617" y="1293"/>
                  </a:lnTo>
                  <a:lnTo>
                    <a:pt x="617" y="970"/>
                  </a:lnTo>
                  <a:lnTo>
                    <a:pt x="694" y="952"/>
                  </a:lnTo>
                  <a:lnTo>
                    <a:pt x="738" y="940"/>
                  </a:lnTo>
                  <a:lnTo>
                    <a:pt x="818" y="907"/>
                  </a:lnTo>
                  <a:lnTo>
                    <a:pt x="904" y="853"/>
                  </a:lnTo>
                  <a:lnTo>
                    <a:pt x="1014" y="768"/>
                  </a:lnTo>
                  <a:lnTo>
                    <a:pt x="1086" y="707"/>
                  </a:lnTo>
                  <a:lnTo>
                    <a:pt x="1172" y="634"/>
                  </a:lnTo>
                  <a:lnTo>
                    <a:pt x="1267" y="561"/>
                  </a:lnTo>
                  <a:lnTo>
                    <a:pt x="1321" y="527"/>
                  </a:lnTo>
                  <a:lnTo>
                    <a:pt x="1371" y="505"/>
                  </a:lnTo>
                  <a:lnTo>
                    <a:pt x="1424" y="492"/>
                  </a:lnTo>
                  <a:lnTo>
                    <a:pt x="1515" y="484"/>
                  </a:lnTo>
                  <a:lnTo>
                    <a:pt x="1597" y="483"/>
                  </a:lnTo>
                  <a:lnTo>
                    <a:pt x="1786" y="483"/>
                  </a:lnTo>
                  <a:lnTo>
                    <a:pt x="1781" y="670"/>
                  </a:lnTo>
                  <a:close/>
                  <a:moveTo>
                    <a:pt x="481" y="1270"/>
                  </a:moveTo>
                  <a:lnTo>
                    <a:pt x="482" y="1423"/>
                  </a:lnTo>
                  <a:lnTo>
                    <a:pt x="478" y="1535"/>
                  </a:lnTo>
                  <a:lnTo>
                    <a:pt x="472" y="1559"/>
                  </a:lnTo>
                  <a:lnTo>
                    <a:pt x="467" y="1566"/>
                  </a:lnTo>
                  <a:lnTo>
                    <a:pt x="464" y="1567"/>
                  </a:lnTo>
                  <a:lnTo>
                    <a:pt x="414" y="1556"/>
                  </a:lnTo>
                  <a:lnTo>
                    <a:pt x="292" y="1520"/>
                  </a:lnTo>
                  <a:lnTo>
                    <a:pt x="142" y="1473"/>
                  </a:lnTo>
                  <a:lnTo>
                    <a:pt x="137" y="1220"/>
                  </a:lnTo>
                  <a:lnTo>
                    <a:pt x="132" y="965"/>
                  </a:lnTo>
                  <a:lnTo>
                    <a:pt x="304" y="970"/>
                  </a:lnTo>
                  <a:lnTo>
                    <a:pt x="476" y="975"/>
                  </a:lnTo>
                  <a:lnTo>
                    <a:pt x="481" y="1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1" name="Freeform 29">
              <a:extLst>
                <a:ext uri="{FF2B5EF4-FFF2-40B4-BE49-F238E27FC236}">
                  <a16:creationId xmlns:a16="http://schemas.microsoft.com/office/drawing/2014/main" id="{8F0F85EB-61E3-591B-8093-350AC8DC8A17}"/>
                </a:ext>
              </a:extLst>
            </p:cNvPr>
            <p:cNvSpPr>
              <a:spLocks noEditPoints="1"/>
            </p:cNvSpPr>
            <p:nvPr/>
          </p:nvSpPr>
          <p:spPr bwMode="auto">
            <a:xfrm>
              <a:off x="7388225" y="371476"/>
              <a:ext cx="179388" cy="149225"/>
            </a:xfrm>
            <a:custGeom>
              <a:avLst/>
              <a:gdLst>
                <a:gd name="T0" fmla="*/ 37 w 482"/>
                <a:gd name="T1" fmla="*/ 39 h 400"/>
                <a:gd name="T2" fmla="*/ 26 w 482"/>
                <a:gd name="T3" fmla="*/ 51 h 400"/>
                <a:gd name="T4" fmla="*/ 11 w 482"/>
                <a:gd name="T5" fmla="*/ 77 h 400"/>
                <a:gd name="T6" fmla="*/ 3 w 482"/>
                <a:gd name="T7" fmla="*/ 112 h 400"/>
                <a:gd name="T8" fmla="*/ 0 w 482"/>
                <a:gd name="T9" fmla="*/ 165 h 400"/>
                <a:gd name="T10" fmla="*/ 0 w 482"/>
                <a:gd name="T11" fmla="*/ 202 h 400"/>
                <a:gd name="T12" fmla="*/ 0 w 482"/>
                <a:gd name="T13" fmla="*/ 240 h 400"/>
                <a:gd name="T14" fmla="*/ 3 w 482"/>
                <a:gd name="T15" fmla="*/ 294 h 400"/>
                <a:gd name="T16" fmla="*/ 12 w 482"/>
                <a:gd name="T17" fmla="*/ 328 h 400"/>
                <a:gd name="T18" fmla="*/ 27 w 482"/>
                <a:gd name="T19" fmla="*/ 352 h 400"/>
                <a:gd name="T20" fmla="*/ 39 w 482"/>
                <a:gd name="T21" fmla="*/ 364 h 400"/>
                <a:gd name="T22" fmla="*/ 51 w 482"/>
                <a:gd name="T23" fmla="*/ 375 h 400"/>
                <a:gd name="T24" fmla="*/ 78 w 482"/>
                <a:gd name="T25" fmla="*/ 389 h 400"/>
                <a:gd name="T26" fmla="*/ 118 w 482"/>
                <a:gd name="T27" fmla="*/ 397 h 400"/>
                <a:gd name="T28" fmla="*/ 183 w 482"/>
                <a:gd name="T29" fmla="*/ 400 h 400"/>
                <a:gd name="T30" fmla="*/ 229 w 482"/>
                <a:gd name="T31" fmla="*/ 400 h 400"/>
                <a:gd name="T32" fmla="*/ 291 w 482"/>
                <a:gd name="T33" fmla="*/ 400 h 400"/>
                <a:gd name="T34" fmla="*/ 389 w 482"/>
                <a:gd name="T35" fmla="*/ 394 h 400"/>
                <a:gd name="T36" fmla="*/ 409 w 482"/>
                <a:gd name="T37" fmla="*/ 390 h 400"/>
                <a:gd name="T38" fmla="*/ 418 w 482"/>
                <a:gd name="T39" fmla="*/ 386 h 400"/>
                <a:gd name="T40" fmla="*/ 434 w 482"/>
                <a:gd name="T41" fmla="*/ 373 h 400"/>
                <a:gd name="T42" fmla="*/ 454 w 482"/>
                <a:gd name="T43" fmla="*/ 345 h 400"/>
                <a:gd name="T44" fmla="*/ 472 w 482"/>
                <a:gd name="T45" fmla="*/ 293 h 400"/>
                <a:gd name="T46" fmla="*/ 482 w 482"/>
                <a:gd name="T47" fmla="*/ 232 h 400"/>
                <a:gd name="T48" fmla="*/ 482 w 482"/>
                <a:gd name="T49" fmla="*/ 168 h 400"/>
                <a:gd name="T50" fmla="*/ 472 w 482"/>
                <a:gd name="T51" fmla="*/ 107 h 400"/>
                <a:gd name="T52" fmla="*/ 454 w 482"/>
                <a:gd name="T53" fmla="*/ 56 h 400"/>
                <a:gd name="T54" fmla="*/ 434 w 482"/>
                <a:gd name="T55" fmla="*/ 27 h 400"/>
                <a:gd name="T56" fmla="*/ 418 w 482"/>
                <a:gd name="T57" fmla="*/ 14 h 400"/>
                <a:gd name="T58" fmla="*/ 409 w 482"/>
                <a:gd name="T59" fmla="*/ 10 h 400"/>
                <a:gd name="T60" fmla="*/ 389 w 482"/>
                <a:gd name="T61" fmla="*/ 7 h 400"/>
                <a:gd name="T62" fmla="*/ 290 w 482"/>
                <a:gd name="T63" fmla="*/ 1 h 400"/>
                <a:gd name="T64" fmla="*/ 227 w 482"/>
                <a:gd name="T65" fmla="*/ 0 h 400"/>
                <a:gd name="T66" fmla="*/ 178 w 482"/>
                <a:gd name="T67" fmla="*/ 0 h 400"/>
                <a:gd name="T68" fmla="*/ 113 w 482"/>
                <a:gd name="T69" fmla="*/ 3 h 400"/>
                <a:gd name="T70" fmla="*/ 74 w 482"/>
                <a:gd name="T71" fmla="*/ 11 h 400"/>
                <a:gd name="T72" fmla="*/ 48 w 482"/>
                <a:gd name="T73" fmla="*/ 27 h 400"/>
                <a:gd name="T74" fmla="*/ 37 w 482"/>
                <a:gd name="T75" fmla="*/ 39 h 400"/>
                <a:gd name="T76" fmla="*/ 334 w 482"/>
                <a:gd name="T77" fmla="*/ 200 h 400"/>
                <a:gd name="T78" fmla="*/ 334 w 482"/>
                <a:gd name="T79" fmla="*/ 267 h 400"/>
                <a:gd name="T80" fmla="*/ 234 w 482"/>
                <a:gd name="T81" fmla="*/ 267 h 400"/>
                <a:gd name="T82" fmla="*/ 134 w 482"/>
                <a:gd name="T83" fmla="*/ 267 h 400"/>
                <a:gd name="T84" fmla="*/ 134 w 482"/>
                <a:gd name="T85" fmla="*/ 200 h 400"/>
                <a:gd name="T86" fmla="*/ 134 w 482"/>
                <a:gd name="T87" fmla="*/ 134 h 400"/>
                <a:gd name="T88" fmla="*/ 234 w 482"/>
                <a:gd name="T89" fmla="*/ 134 h 400"/>
                <a:gd name="T90" fmla="*/ 334 w 482"/>
                <a:gd name="T91" fmla="*/ 134 h 400"/>
                <a:gd name="T92" fmla="*/ 334 w 482"/>
                <a:gd name="T93" fmla="*/ 20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2" h="400">
                  <a:moveTo>
                    <a:pt x="37" y="39"/>
                  </a:moveTo>
                  <a:lnTo>
                    <a:pt x="26" y="51"/>
                  </a:lnTo>
                  <a:lnTo>
                    <a:pt x="11" y="77"/>
                  </a:lnTo>
                  <a:lnTo>
                    <a:pt x="3" y="112"/>
                  </a:lnTo>
                  <a:lnTo>
                    <a:pt x="0" y="165"/>
                  </a:lnTo>
                  <a:lnTo>
                    <a:pt x="0" y="202"/>
                  </a:lnTo>
                  <a:lnTo>
                    <a:pt x="0" y="240"/>
                  </a:lnTo>
                  <a:lnTo>
                    <a:pt x="3" y="294"/>
                  </a:lnTo>
                  <a:lnTo>
                    <a:pt x="12" y="328"/>
                  </a:lnTo>
                  <a:lnTo>
                    <a:pt x="27" y="352"/>
                  </a:lnTo>
                  <a:lnTo>
                    <a:pt x="39" y="364"/>
                  </a:lnTo>
                  <a:lnTo>
                    <a:pt x="51" y="375"/>
                  </a:lnTo>
                  <a:lnTo>
                    <a:pt x="78" y="389"/>
                  </a:lnTo>
                  <a:lnTo>
                    <a:pt x="118" y="397"/>
                  </a:lnTo>
                  <a:lnTo>
                    <a:pt x="183" y="400"/>
                  </a:lnTo>
                  <a:lnTo>
                    <a:pt x="229" y="400"/>
                  </a:lnTo>
                  <a:lnTo>
                    <a:pt x="291" y="400"/>
                  </a:lnTo>
                  <a:lnTo>
                    <a:pt x="389" y="394"/>
                  </a:lnTo>
                  <a:lnTo>
                    <a:pt x="409" y="390"/>
                  </a:lnTo>
                  <a:lnTo>
                    <a:pt x="418" y="386"/>
                  </a:lnTo>
                  <a:lnTo>
                    <a:pt x="434" y="373"/>
                  </a:lnTo>
                  <a:lnTo>
                    <a:pt x="454" y="345"/>
                  </a:lnTo>
                  <a:lnTo>
                    <a:pt x="472" y="293"/>
                  </a:lnTo>
                  <a:lnTo>
                    <a:pt x="482" y="232"/>
                  </a:lnTo>
                  <a:lnTo>
                    <a:pt x="482" y="168"/>
                  </a:lnTo>
                  <a:lnTo>
                    <a:pt x="472" y="107"/>
                  </a:lnTo>
                  <a:lnTo>
                    <a:pt x="454" y="56"/>
                  </a:lnTo>
                  <a:lnTo>
                    <a:pt x="434" y="27"/>
                  </a:lnTo>
                  <a:lnTo>
                    <a:pt x="418" y="14"/>
                  </a:lnTo>
                  <a:lnTo>
                    <a:pt x="409" y="10"/>
                  </a:lnTo>
                  <a:lnTo>
                    <a:pt x="389" y="7"/>
                  </a:lnTo>
                  <a:lnTo>
                    <a:pt x="290" y="1"/>
                  </a:lnTo>
                  <a:lnTo>
                    <a:pt x="227" y="0"/>
                  </a:lnTo>
                  <a:lnTo>
                    <a:pt x="178" y="0"/>
                  </a:lnTo>
                  <a:lnTo>
                    <a:pt x="113" y="3"/>
                  </a:lnTo>
                  <a:lnTo>
                    <a:pt x="74" y="11"/>
                  </a:lnTo>
                  <a:lnTo>
                    <a:pt x="48" y="27"/>
                  </a:lnTo>
                  <a:lnTo>
                    <a:pt x="37" y="39"/>
                  </a:lnTo>
                  <a:close/>
                  <a:moveTo>
                    <a:pt x="334" y="200"/>
                  </a:moveTo>
                  <a:lnTo>
                    <a:pt x="334" y="267"/>
                  </a:lnTo>
                  <a:lnTo>
                    <a:pt x="234" y="267"/>
                  </a:lnTo>
                  <a:lnTo>
                    <a:pt x="134" y="267"/>
                  </a:lnTo>
                  <a:lnTo>
                    <a:pt x="134" y="200"/>
                  </a:lnTo>
                  <a:lnTo>
                    <a:pt x="134" y="134"/>
                  </a:lnTo>
                  <a:lnTo>
                    <a:pt x="234" y="134"/>
                  </a:lnTo>
                  <a:lnTo>
                    <a:pt x="334" y="134"/>
                  </a:lnTo>
                  <a:lnTo>
                    <a:pt x="334"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2" name="Freeform 30">
              <a:extLst>
                <a:ext uri="{FF2B5EF4-FFF2-40B4-BE49-F238E27FC236}">
                  <a16:creationId xmlns:a16="http://schemas.microsoft.com/office/drawing/2014/main" id="{B4BB98F4-0A59-B508-6C4D-492D3692A469}"/>
                </a:ext>
              </a:extLst>
            </p:cNvPr>
            <p:cNvSpPr>
              <a:spLocks noEditPoints="1"/>
            </p:cNvSpPr>
            <p:nvPr/>
          </p:nvSpPr>
          <p:spPr bwMode="auto">
            <a:xfrm>
              <a:off x="7797800" y="625476"/>
              <a:ext cx="257175" cy="155575"/>
            </a:xfrm>
            <a:custGeom>
              <a:avLst/>
              <a:gdLst>
                <a:gd name="T0" fmla="*/ 109 w 685"/>
                <a:gd name="T1" fmla="*/ 24 h 414"/>
                <a:gd name="T2" fmla="*/ 46 w 685"/>
                <a:gd name="T3" fmla="*/ 83 h 414"/>
                <a:gd name="T4" fmla="*/ 16 w 685"/>
                <a:gd name="T5" fmla="*/ 130 h 414"/>
                <a:gd name="T6" fmla="*/ 0 w 685"/>
                <a:gd name="T7" fmla="*/ 195 h 414"/>
                <a:gd name="T8" fmla="*/ 8 w 685"/>
                <a:gd name="T9" fmla="*/ 260 h 414"/>
                <a:gd name="T10" fmla="*/ 36 w 685"/>
                <a:gd name="T11" fmla="*/ 319 h 414"/>
                <a:gd name="T12" fmla="*/ 79 w 685"/>
                <a:gd name="T13" fmla="*/ 367 h 414"/>
                <a:gd name="T14" fmla="*/ 135 w 685"/>
                <a:gd name="T15" fmla="*/ 400 h 414"/>
                <a:gd name="T16" fmla="*/ 200 w 685"/>
                <a:gd name="T17" fmla="*/ 413 h 414"/>
                <a:gd name="T18" fmla="*/ 270 w 685"/>
                <a:gd name="T19" fmla="*/ 401 h 414"/>
                <a:gd name="T20" fmla="*/ 307 w 685"/>
                <a:gd name="T21" fmla="*/ 384 h 414"/>
                <a:gd name="T22" fmla="*/ 356 w 685"/>
                <a:gd name="T23" fmla="*/ 375 h 414"/>
                <a:gd name="T24" fmla="*/ 400 w 685"/>
                <a:gd name="T25" fmla="*/ 393 h 414"/>
                <a:gd name="T26" fmla="*/ 445 w 685"/>
                <a:gd name="T27" fmla="*/ 410 h 414"/>
                <a:gd name="T28" fmla="*/ 505 w 685"/>
                <a:gd name="T29" fmla="*/ 413 h 414"/>
                <a:gd name="T30" fmla="*/ 563 w 685"/>
                <a:gd name="T31" fmla="*/ 394 h 414"/>
                <a:gd name="T32" fmla="*/ 618 w 685"/>
                <a:gd name="T33" fmla="*/ 355 h 414"/>
                <a:gd name="T34" fmla="*/ 647 w 685"/>
                <a:gd name="T35" fmla="*/ 325 h 414"/>
                <a:gd name="T36" fmla="*/ 680 w 685"/>
                <a:gd name="T37" fmla="*/ 265 h 414"/>
                <a:gd name="T38" fmla="*/ 685 w 685"/>
                <a:gd name="T39" fmla="*/ 208 h 414"/>
                <a:gd name="T40" fmla="*/ 679 w 685"/>
                <a:gd name="T41" fmla="*/ 151 h 414"/>
                <a:gd name="T42" fmla="*/ 645 w 685"/>
                <a:gd name="T43" fmla="*/ 90 h 414"/>
                <a:gd name="T44" fmla="*/ 617 w 685"/>
                <a:gd name="T45" fmla="*/ 60 h 414"/>
                <a:gd name="T46" fmla="*/ 559 w 685"/>
                <a:gd name="T47" fmla="*/ 20 h 414"/>
                <a:gd name="T48" fmla="*/ 496 w 685"/>
                <a:gd name="T49" fmla="*/ 1 h 414"/>
                <a:gd name="T50" fmla="*/ 434 w 685"/>
                <a:gd name="T51" fmla="*/ 4 h 414"/>
                <a:gd name="T52" fmla="*/ 391 w 685"/>
                <a:gd name="T53" fmla="*/ 23 h 414"/>
                <a:gd name="T54" fmla="*/ 356 w 685"/>
                <a:gd name="T55" fmla="*/ 42 h 414"/>
                <a:gd name="T56" fmla="*/ 311 w 685"/>
                <a:gd name="T57" fmla="*/ 34 h 414"/>
                <a:gd name="T58" fmla="*/ 271 w 685"/>
                <a:gd name="T59" fmla="*/ 16 h 414"/>
                <a:gd name="T60" fmla="*/ 186 w 685"/>
                <a:gd name="T61" fmla="*/ 2 h 414"/>
                <a:gd name="T62" fmla="*/ 125 w 685"/>
                <a:gd name="T63" fmla="*/ 16 h 414"/>
                <a:gd name="T64" fmla="*/ 243 w 685"/>
                <a:gd name="T65" fmla="*/ 154 h 414"/>
                <a:gd name="T66" fmla="*/ 266 w 685"/>
                <a:gd name="T67" fmla="*/ 190 h 414"/>
                <a:gd name="T68" fmla="*/ 267 w 685"/>
                <a:gd name="T69" fmla="*/ 221 h 414"/>
                <a:gd name="T70" fmla="*/ 233 w 685"/>
                <a:gd name="T71" fmla="*/ 268 h 414"/>
                <a:gd name="T72" fmla="*/ 195 w 685"/>
                <a:gd name="T73" fmla="*/ 283 h 414"/>
                <a:gd name="T74" fmla="*/ 168 w 685"/>
                <a:gd name="T75" fmla="*/ 265 h 414"/>
                <a:gd name="T76" fmla="*/ 136 w 685"/>
                <a:gd name="T77" fmla="*/ 217 h 414"/>
                <a:gd name="T78" fmla="*/ 136 w 685"/>
                <a:gd name="T79" fmla="*/ 199 h 414"/>
                <a:gd name="T80" fmla="*/ 168 w 685"/>
                <a:gd name="T81" fmla="*/ 151 h 414"/>
                <a:gd name="T82" fmla="*/ 195 w 685"/>
                <a:gd name="T83" fmla="*/ 133 h 414"/>
                <a:gd name="T84" fmla="*/ 236 w 685"/>
                <a:gd name="T85" fmla="*/ 150 h 414"/>
                <a:gd name="T86" fmla="*/ 536 w 685"/>
                <a:gd name="T87" fmla="*/ 171 h 414"/>
                <a:gd name="T88" fmla="*/ 551 w 685"/>
                <a:gd name="T89" fmla="*/ 208 h 414"/>
                <a:gd name="T90" fmla="*/ 537 w 685"/>
                <a:gd name="T91" fmla="*/ 241 h 414"/>
                <a:gd name="T92" fmla="*/ 498 w 685"/>
                <a:gd name="T93" fmla="*/ 281 h 414"/>
                <a:gd name="T94" fmla="*/ 479 w 685"/>
                <a:gd name="T95" fmla="*/ 282 h 414"/>
                <a:gd name="T96" fmla="*/ 441 w 685"/>
                <a:gd name="T97" fmla="*/ 259 h 414"/>
                <a:gd name="T98" fmla="*/ 422 w 685"/>
                <a:gd name="T99" fmla="*/ 218 h 414"/>
                <a:gd name="T100" fmla="*/ 426 w 685"/>
                <a:gd name="T101" fmla="*/ 175 h 414"/>
                <a:gd name="T102" fmla="*/ 448 w 685"/>
                <a:gd name="T103" fmla="*/ 151 h 414"/>
                <a:gd name="T104" fmla="*/ 481 w 685"/>
                <a:gd name="T105" fmla="*/ 135 h 414"/>
                <a:gd name="T106" fmla="*/ 514 w 685"/>
                <a:gd name="T107" fmla="*/ 149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5" h="414">
                  <a:moveTo>
                    <a:pt x="125" y="16"/>
                  </a:moveTo>
                  <a:lnTo>
                    <a:pt x="109" y="24"/>
                  </a:lnTo>
                  <a:lnTo>
                    <a:pt x="66" y="61"/>
                  </a:lnTo>
                  <a:lnTo>
                    <a:pt x="46" y="83"/>
                  </a:lnTo>
                  <a:lnTo>
                    <a:pt x="34" y="98"/>
                  </a:lnTo>
                  <a:lnTo>
                    <a:pt x="16" y="130"/>
                  </a:lnTo>
                  <a:lnTo>
                    <a:pt x="5" y="162"/>
                  </a:lnTo>
                  <a:lnTo>
                    <a:pt x="0" y="195"/>
                  </a:lnTo>
                  <a:lnTo>
                    <a:pt x="1" y="228"/>
                  </a:lnTo>
                  <a:lnTo>
                    <a:pt x="8" y="260"/>
                  </a:lnTo>
                  <a:lnTo>
                    <a:pt x="20" y="290"/>
                  </a:lnTo>
                  <a:lnTo>
                    <a:pt x="36" y="319"/>
                  </a:lnTo>
                  <a:lnTo>
                    <a:pt x="56" y="344"/>
                  </a:lnTo>
                  <a:lnTo>
                    <a:pt x="79" y="367"/>
                  </a:lnTo>
                  <a:lnTo>
                    <a:pt x="106" y="386"/>
                  </a:lnTo>
                  <a:lnTo>
                    <a:pt x="135" y="400"/>
                  </a:lnTo>
                  <a:lnTo>
                    <a:pt x="167" y="409"/>
                  </a:lnTo>
                  <a:lnTo>
                    <a:pt x="200" y="413"/>
                  </a:lnTo>
                  <a:lnTo>
                    <a:pt x="235" y="410"/>
                  </a:lnTo>
                  <a:lnTo>
                    <a:pt x="270" y="401"/>
                  </a:lnTo>
                  <a:lnTo>
                    <a:pt x="288" y="393"/>
                  </a:lnTo>
                  <a:lnTo>
                    <a:pt x="307" y="384"/>
                  </a:lnTo>
                  <a:lnTo>
                    <a:pt x="334" y="375"/>
                  </a:lnTo>
                  <a:lnTo>
                    <a:pt x="356" y="375"/>
                  </a:lnTo>
                  <a:lnTo>
                    <a:pt x="382" y="384"/>
                  </a:lnTo>
                  <a:lnTo>
                    <a:pt x="400" y="393"/>
                  </a:lnTo>
                  <a:lnTo>
                    <a:pt x="415" y="400"/>
                  </a:lnTo>
                  <a:lnTo>
                    <a:pt x="445" y="410"/>
                  </a:lnTo>
                  <a:lnTo>
                    <a:pt x="475" y="414"/>
                  </a:lnTo>
                  <a:lnTo>
                    <a:pt x="505" y="413"/>
                  </a:lnTo>
                  <a:lnTo>
                    <a:pt x="535" y="406"/>
                  </a:lnTo>
                  <a:lnTo>
                    <a:pt x="563" y="394"/>
                  </a:lnTo>
                  <a:lnTo>
                    <a:pt x="591" y="377"/>
                  </a:lnTo>
                  <a:lnTo>
                    <a:pt x="618" y="355"/>
                  </a:lnTo>
                  <a:lnTo>
                    <a:pt x="631" y="341"/>
                  </a:lnTo>
                  <a:lnTo>
                    <a:pt x="647" y="325"/>
                  </a:lnTo>
                  <a:lnTo>
                    <a:pt x="668" y="295"/>
                  </a:lnTo>
                  <a:lnTo>
                    <a:pt x="680" y="265"/>
                  </a:lnTo>
                  <a:lnTo>
                    <a:pt x="684" y="230"/>
                  </a:lnTo>
                  <a:lnTo>
                    <a:pt x="685" y="208"/>
                  </a:lnTo>
                  <a:lnTo>
                    <a:pt x="684" y="186"/>
                  </a:lnTo>
                  <a:lnTo>
                    <a:pt x="679" y="151"/>
                  </a:lnTo>
                  <a:lnTo>
                    <a:pt x="667" y="121"/>
                  </a:lnTo>
                  <a:lnTo>
                    <a:pt x="645" y="90"/>
                  </a:lnTo>
                  <a:lnTo>
                    <a:pt x="630" y="73"/>
                  </a:lnTo>
                  <a:lnTo>
                    <a:pt x="617" y="60"/>
                  </a:lnTo>
                  <a:lnTo>
                    <a:pt x="589" y="37"/>
                  </a:lnTo>
                  <a:lnTo>
                    <a:pt x="559" y="20"/>
                  </a:lnTo>
                  <a:lnTo>
                    <a:pt x="528" y="7"/>
                  </a:lnTo>
                  <a:lnTo>
                    <a:pt x="496" y="1"/>
                  </a:lnTo>
                  <a:lnTo>
                    <a:pt x="464" y="0"/>
                  </a:lnTo>
                  <a:lnTo>
                    <a:pt x="434" y="4"/>
                  </a:lnTo>
                  <a:lnTo>
                    <a:pt x="405" y="15"/>
                  </a:lnTo>
                  <a:lnTo>
                    <a:pt x="391" y="23"/>
                  </a:lnTo>
                  <a:lnTo>
                    <a:pt x="377" y="32"/>
                  </a:lnTo>
                  <a:lnTo>
                    <a:pt x="356" y="42"/>
                  </a:lnTo>
                  <a:lnTo>
                    <a:pt x="337" y="43"/>
                  </a:lnTo>
                  <a:lnTo>
                    <a:pt x="311" y="34"/>
                  </a:lnTo>
                  <a:lnTo>
                    <a:pt x="293" y="26"/>
                  </a:lnTo>
                  <a:lnTo>
                    <a:pt x="271" y="16"/>
                  </a:lnTo>
                  <a:lnTo>
                    <a:pt x="228" y="5"/>
                  </a:lnTo>
                  <a:lnTo>
                    <a:pt x="186" y="2"/>
                  </a:lnTo>
                  <a:lnTo>
                    <a:pt x="145" y="9"/>
                  </a:lnTo>
                  <a:lnTo>
                    <a:pt x="125" y="16"/>
                  </a:lnTo>
                  <a:close/>
                  <a:moveTo>
                    <a:pt x="236" y="150"/>
                  </a:moveTo>
                  <a:lnTo>
                    <a:pt x="243" y="154"/>
                  </a:lnTo>
                  <a:lnTo>
                    <a:pt x="255" y="166"/>
                  </a:lnTo>
                  <a:lnTo>
                    <a:pt x="266" y="190"/>
                  </a:lnTo>
                  <a:lnTo>
                    <a:pt x="268" y="208"/>
                  </a:lnTo>
                  <a:lnTo>
                    <a:pt x="267" y="221"/>
                  </a:lnTo>
                  <a:lnTo>
                    <a:pt x="254" y="247"/>
                  </a:lnTo>
                  <a:lnTo>
                    <a:pt x="233" y="268"/>
                  </a:lnTo>
                  <a:lnTo>
                    <a:pt x="207" y="282"/>
                  </a:lnTo>
                  <a:lnTo>
                    <a:pt x="195" y="283"/>
                  </a:lnTo>
                  <a:lnTo>
                    <a:pt x="188" y="281"/>
                  </a:lnTo>
                  <a:lnTo>
                    <a:pt x="168" y="265"/>
                  </a:lnTo>
                  <a:lnTo>
                    <a:pt x="149" y="241"/>
                  </a:lnTo>
                  <a:lnTo>
                    <a:pt x="136" y="217"/>
                  </a:lnTo>
                  <a:lnTo>
                    <a:pt x="135" y="208"/>
                  </a:lnTo>
                  <a:lnTo>
                    <a:pt x="136" y="199"/>
                  </a:lnTo>
                  <a:lnTo>
                    <a:pt x="149" y="175"/>
                  </a:lnTo>
                  <a:lnTo>
                    <a:pt x="168" y="151"/>
                  </a:lnTo>
                  <a:lnTo>
                    <a:pt x="188" y="135"/>
                  </a:lnTo>
                  <a:lnTo>
                    <a:pt x="195" y="133"/>
                  </a:lnTo>
                  <a:lnTo>
                    <a:pt x="209" y="137"/>
                  </a:lnTo>
                  <a:lnTo>
                    <a:pt x="236" y="150"/>
                  </a:lnTo>
                  <a:close/>
                  <a:moveTo>
                    <a:pt x="525" y="160"/>
                  </a:moveTo>
                  <a:lnTo>
                    <a:pt x="536" y="171"/>
                  </a:lnTo>
                  <a:lnTo>
                    <a:pt x="550" y="198"/>
                  </a:lnTo>
                  <a:lnTo>
                    <a:pt x="551" y="208"/>
                  </a:lnTo>
                  <a:lnTo>
                    <a:pt x="550" y="217"/>
                  </a:lnTo>
                  <a:lnTo>
                    <a:pt x="537" y="241"/>
                  </a:lnTo>
                  <a:lnTo>
                    <a:pt x="518" y="265"/>
                  </a:lnTo>
                  <a:lnTo>
                    <a:pt x="498" y="281"/>
                  </a:lnTo>
                  <a:lnTo>
                    <a:pt x="491" y="283"/>
                  </a:lnTo>
                  <a:lnTo>
                    <a:pt x="479" y="282"/>
                  </a:lnTo>
                  <a:lnTo>
                    <a:pt x="458" y="274"/>
                  </a:lnTo>
                  <a:lnTo>
                    <a:pt x="441" y="259"/>
                  </a:lnTo>
                  <a:lnTo>
                    <a:pt x="429" y="240"/>
                  </a:lnTo>
                  <a:lnTo>
                    <a:pt x="422" y="218"/>
                  </a:lnTo>
                  <a:lnTo>
                    <a:pt x="420" y="196"/>
                  </a:lnTo>
                  <a:lnTo>
                    <a:pt x="426" y="175"/>
                  </a:lnTo>
                  <a:lnTo>
                    <a:pt x="438" y="158"/>
                  </a:lnTo>
                  <a:lnTo>
                    <a:pt x="448" y="151"/>
                  </a:lnTo>
                  <a:lnTo>
                    <a:pt x="461" y="143"/>
                  </a:lnTo>
                  <a:lnTo>
                    <a:pt x="481" y="135"/>
                  </a:lnTo>
                  <a:lnTo>
                    <a:pt x="497" y="137"/>
                  </a:lnTo>
                  <a:lnTo>
                    <a:pt x="514" y="149"/>
                  </a:lnTo>
                  <a:lnTo>
                    <a:pt x="525"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3" name="Freeform 57">
              <a:extLst>
                <a:ext uri="{FF2B5EF4-FFF2-40B4-BE49-F238E27FC236}">
                  <a16:creationId xmlns:a16="http://schemas.microsoft.com/office/drawing/2014/main" id="{38DFD551-2C10-1ACC-9FEB-04472A2EC8F7}"/>
                </a:ext>
              </a:extLst>
            </p:cNvPr>
            <p:cNvSpPr>
              <a:spLocks/>
            </p:cNvSpPr>
            <p:nvPr/>
          </p:nvSpPr>
          <p:spPr bwMode="auto">
            <a:xfrm>
              <a:off x="7364413" y="936626"/>
              <a:ext cx="47625" cy="74613"/>
            </a:xfrm>
            <a:custGeom>
              <a:avLst/>
              <a:gdLst>
                <a:gd name="T0" fmla="*/ 5 w 131"/>
                <a:gd name="T1" fmla="*/ 22 h 197"/>
                <a:gd name="T2" fmla="*/ 2 w 131"/>
                <a:gd name="T3" fmla="*/ 35 h 197"/>
                <a:gd name="T4" fmla="*/ 0 w 131"/>
                <a:gd name="T5" fmla="*/ 87 h 197"/>
                <a:gd name="T6" fmla="*/ 2 w 131"/>
                <a:gd name="T7" fmla="*/ 117 h 197"/>
                <a:gd name="T8" fmla="*/ 4 w 131"/>
                <a:gd name="T9" fmla="*/ 139 h 197"/>
                <a:gd name="T10" fmla="*/ 9 w 131"/>
                <a:gd name="T11" fmla="*/ 169 h 197"/>
                <a:gd name="T12" fmla="*/ 19 w 131"/>
                <a:gd name="T13" fmla="*/ 186 h 197"/>
                <a:gd name="T14" fmla="*/ 34 w 131"/>
                <a:gd name="T15" fmla="*/ 194 h 197"/>
                <a:gd name="T16" fmla="*/ 45 w 131"/>
                <a:gd name="T17" fmla="*/ 196 h 197"/>
                <a:gd name="T18" fmla="*/ 62 w 131"/>
                <a:gd name="T19" fmla="*/ 197 h 197"/>
                <a:gd name="T20" fmla="*/ 97 w 131"/>
                <a:gd name="T21" fmla="*/ 189 h 197"/>
                <a:gd name="T22" fmla="*/ 109 w 131"/>
                <a:gd name="T23" fmla="*/ 182 h 197"/>
                <a:gd name="T24" fmla="*/ 114 w 131"/>
                <a:gd name="T25" fmla="*/ 177 h 197"/>
                <a:gd name="T26" fmla="*/ 122 w 131"/>
                <a:gd name="T27" fmla="*/ 161 h 197"/>
                <a:gd name="T28" fmla="*/ 130 w 131"/>
                <a:gd name="T29" fmla="*/ 127 h 197"/>
                <a:gd name="T30" fmla="*/ 131 w 131"/>
                <a:gd name="T31" fmla="*/ 76 h 197"/>
                <a:gd name="T32" fmla="*/ 125 w 131"/>
                <a:gd name="T33" fmla="*/ 42 h 197"/>
                <a:gd name="T34" fmla="*/ 117 w 131"/>
                <a:gd name="T35" fmla="*/ 25 h 197"/>
                <a:gd name="T36" fmla="*/ 112 w 131"/>
                <a:gd name="T37" fmla="*/ 19 h 197"/>
                <a:gd name="T38" fmla="*/ 101 w 131"/>
                <a:gd name="T39" fmla="*/ 10 h 197"/>
                <a:gd name="T40" fmla="*/ 70 w 131"/>
                <a:gd name="T41" fmla="*/ 0 h 197"/>
                <a:gd name="T42" fmla="*/ 37 w 131"/>
                <a:gd name="T43" fmla="*/ 1 h 197"/>
                <a:gd name="T44" fmla="*/ 11 w 131"/>
                <a:gd name="T45" fmla="*/ 13 h 197"/>
                <a:gd name="T46" fmla="*/ 5 w 131"/>
                <a:gd name="T47" fmla="*/ 2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 h="197">
                  <a:moveTo>
                    <a:pt x="5" y="22"/>
                  </a:moveTo>
                  <a:lnTo>
                    <a:pt x="2" y="35"/>
                  </a:lnTo>
                  <a:lnTo>
                    <a:pt x="0" y="87"/>
                  </a:lnTo>
                  <a:lnTo>
                    <a:pt x="2" y="117"/>
                  </a:lnTo>
                  <a:lnTo>
                    <a:pt x="4" y="139"/>
                  </a:lnTo>
                  <a:lnTo>
                    <a:pt x="9" y="169"/>
                  </a:lnTo>
                  <a:lnTo>
                    <a:pt x="19" y="186"/>
                  </a:lnTo>
                  <a:lnTo>
                    <a:pt x="34" y="194"/>
                  </a:lnTo>
                  <a:lnTo>
                    <a:pt x="45" y="196"/>
                  </a:lnTo>
                  <a:lnTo>
                    <a:pt x="62" y="197"/>
                  </a:lnTo>
                  <a:lnTo>
                    <a:pt x="97" y="189"/>
                  </a:lnTo>
                  <a:lnTo>
                    <a:pt x="109" y="182"/>
                  </a:lnTo>
                  <a:lnTo>
                    <a:pt x="114" y="177"/>
                  </a:lnTo>
                  <a:lnTo>
                    <a:pt x="122" y="161"/>
                  </a:lnTo>
                  <a:lnTo>
                    <a:pt x="130" y="127"/>
                  </a:lnTo>
                  <a:lnTo>
                    <a:pt x="131" y="76"/>
                  </a:lnTo>
                  <a:lnTo>
                    <a:pt x="125" y="42"/>
                  </a:lnTo>
                  <a:lnTo>
                    <a:pt x="117" y="25"/>
                  </a:lnTo>
                  <a:lnTo>
                    <a:pt x="112" y="19"/>
                  </a:lnTo>
                  <a:lnTo>
                    <a:pt x="101" y="10"/>
                  </a:lnTo>
                  <a:lnTo>
                    <a:pt x="70" y="0"/>
                  </a:lnTo>
                  <a:lnTo>
                    <a:pt x="37" y="1"/>
                  </a:lnTo>
                  <a:lnTo>
                    <a:pt x="11" y="13"/>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4" name="Freeform 58">
              <a:extLst>
                <a:ext uri="{FF2B5EF4-FFF2-40B4-BE49-F238E27FC236}">
                  <a16:creationId xmlns:a16="http://schemas.microsoft.com/office/drawing/2014/main" id="{747E3922-65A8-05B5-87B2-AD3AA9B01728}"/>
                </a:ext>
              </a:extLst>
            </p:cNvPr>
            <p:cNvSpPr>
              <a:spLocks/>
            </p:cNvSpPr>
            <p:nvPr/>
          </p:nvSpPr>
          <p:spPr bwMode="auto">
            <a:xfrm>
              <a:off x="7129463" y="962026"/>
              <a:ext cx="514350" cy="850900"/>
            </a:xfrm>
            <a:custGeom>
              <a:avLst/>
              <a:gdLst>
                <a:gd name="T0" fmla="*/ 974 w 1379"/>
                <a:gd name="T1" fmla="*/ 47 h 2280"/>
                <a:gd name="T2" fmla="*/ 962 w 1379"/>
                <a:gd name="T3" fmla="*/ 463 h 2280"/>
                <a:gd name="T4" fmla="*/ 961 w 1379"/>
                <a:gd name="T5" fmla="*/ 1516 h 2280"/>
                <a:gd name="T6" fmla="*/ 900 w 1379"/>
                <a:gd name="T7" fmla="*/ 1518 h 2280"/>
                <a:gd name="T8" fmla="*/ 839 w 1379"/>
                <a:gd name="T9" fmla="*/ 1554 h 2280"/>
                <a:gd name="T10" fmla="*/ 833 w 1379"/>
                <a:gd name="T11" fmla="*/ 1603 h 2280"/>
                <a:gd name="T12" fmla="*/ 851 w 1379"/>
                <a:gd name="T13" fmla="*/ 1635 h 2280"/>
                <a:gd name="T14" fmla="*/ 971 w 1379"/>
                <a:gd name="T15" fmla="*/ 1654 h 2280"/>
                <a:gd name="T16" fmla="*/ 1224 w 1379"/>
                <a:gd name="T17" fmla="*/ 1675 h 2280"/>
                <a:gd name="T18" fmla="*/ 863 w 1379"/>
                <a:gd name="T19" fmla="*/ 1990 h 2280"/>
                <a:gd name="T20" fmla="*/ 694 w 1379"/>
                <a:gd name="T21" fmla="*/ 2130 h 2280"/>
                <a:gd name="T22" fmla="*/ 640 w 1379"/>
                <a:gd name="T23" fmla="*/ 2092 h 2280"/>
                <a:gd name="T24" fmla="*/ 323 w 1379"/>
                <a:gd name="T25" fmla="*/ 1820 h 2280"/>
                <a:gd name="T26" fmla="*/ 165 w 1379"/>
                <a:gd name="T27" fmla="*/ 1670 h 2280"/>
                <a:gd name="T28" fmla="*/ 164 w 1379"/>
                <a:gd name="T29" fmla="*/ 1661 h 2280"/>
                <a:gd name="T30" fmla="*/ 311 w 1379"/>
                <a:gd name="T31" fmla="*/ 1651 h 2280"/>
                <a:gd name="T32" fmla="*/ 492 w 1379"/>
                <a:gd name="T33" fmla="*/ 1650 h 2280"/>
                <a:gd name="T34" fmla="*/ 649 w 1379"/>
                <a:gd name="T35" fmla="*/ 1641 h 2280"/>
                <a:gd name="T36" fmla="*/ 678 w 1379"/>
                <a:gd name="T37" fmla="*/ 1615 h 2280"/>
                <a:gd name="T38" fmla="*/ 688 w 1379"/>
                <a:gd name="T39" fmla="*/ 1588 h 2280"/>
                <a:gd name="T40" fmla="*/ 676 w 1379"/>
                <a:gd name="T41" fmla="*/ 1557 h 2280"/>
                <a:gd name="T42" fmla="*/ 659 w 1379"/>
                <a:gd name="T43" fmla="*/ 1539 h 2280"/>
                <a:gd name="T44" fmla="*/ 604 w 1379"/>
                <a:gd name="T45" fmla="*/ 1520 h 2280"/>
                <a:gd name="T46" fmla="*/ 524 w 1379"/>
                <a:gd name="T47" fmla="*/ 1516 h 2280"/>
                <a:gd name="T48" fmla="*/ 411 w 1379"/>
                <a:gd name="T49" fmla="*/ 875 h 2280"/>
                <a:gd name="T50" fmla="*/ 409 w 1379"/>
                <a:gd name="T51" fmla="*/ 391 h 2280"/>
                <a:gd name="T52" fmla="*/ 393 w 1379"/>
                <a:gd name="T53" fmla="*/ 229 h 2280"/>
                <a:gd name="T54" fmla="*/ 378 w 1379"/>
                <a:gd name="T55" fmla="*/ 216 h 2280"/>
                <a:gd name="T56" fmla="*/ 328 w 1379"/>
                <a:gd name="T57" fmla="*/ 208 h 2280"/>
                <a:gd name="T58" fmla="*/ 305 w 1379"/>
                <a:gd name="T59" fmla="*/ 219 h 2280"/>
                <a:gd name="T60" fmla="*/ 286 w 1379"/>
                <a:gd name="T61" fmla="*/ 264 h 2280"/>
                <a:gd name="T62" fmla="*/ 278 w 1379"/>
                <a:gd name="T63" fmla="*/ 660 h 2280"/>
                <a:gd name="T64" fmla="*/ 278 w 1379"/>
                <a:gd name="T65" fmla="*/ 1516 h 2280"/>
                <a:gd name="T66" fmla="*/ 165 w 1379"/>
                <a:gd name="T67" fmla="*/ 1517 h 2280"/>
                <a:gd name="T68" fmla="*/ 82 w 1379"/>
                <a:gd name="T69" fmla="*/ 1537 h 2280"/>
                <a:gd name="T70" fmla="*/ 26 w 1379"/>
                <a:gd name="T71" fmla="*/ 1579 h 2280"/>
                <a:gd name="T72" fmla="*/ 0 w 1379"/>
                <a:gd name="T73" fmla="*/ 1639 h 2280"/>
                <a:gd name="T74" fmla="*/ 4 w 1379"/>
                <a:gd name="T75" fmla="*/ 1693 h 2280"/>
                <a:gd name="T76" fmla="*/ 60 w 1379"/>
                <a:gd name="T77" fmla="*/ 1758 h 2280"/>
                <a:gd name="T78" fmla="*/ 412 w 1379"/>
                <a:gd name="T79" fmla="*/ 2087 h 2280"/>
                <a:gd name="T80" fmla="*/ 622 w 1379"/>
                <a:gd name="T81" fmla="*/ 2261 h 2280"/>
                <a:gd name="T82" fmla="*/ 656 w 1379"/>
                <a:gd name="T83" fmla="*/ 2277 h 2280"/>
                <a:gd name="T84" fmla="*/ 716 w 1379"/>
                <a:gd name="T85" fmla="*/ 2276 h 2280"/>
                <a:gd name="T86" fmla="*/ 765 w 1379"/>
                <a:gd name="T87" fmla="*/ 2246 h 2280"/>
                <a:gd name="T88" fmla="*/ 1033 w 1379"/>
                <a:gd name="T89" fmla="*/ 2026 h 2280"/>
                <a:gd name="T90" fmla="*/ 1299 w 1379"/>
                <a:gd name="T91" fmla="*/ 1788 h 2280"/>
                <a:gd name="T92" fmla="*/ 1364 w 1379"/>
                <a:gd name="T93" fmla="*/ 1711 h 2280"/>
                <a:gd name="T94" fmla="*/ 1379 w 1379"/>
                <a:gd name="T95" fmla="*/ 1657 h 2280"/>
                <a:gd name="T96" fmla="*/ 1362 w 1379"/>
                <a:gd name="T97" fmla="*/ 1605 h 2280"/>
                <a:gd name="T98" fmla="*/ 1329 w 1379"/>
                <a:gd name="T99" fmla="*/ 1565 h 2280"/>
                <a:gd name="T100" fmla="*/ 1287 w 1379"/>
                <a:gd name="T101" fmla="*/ 1531 h 2280"/>
                <a:gd name="T102" fmla="*/ 1216 w 1379"/>
                <a:gd name="T103" fmla="*/ 1517 h 2280"/>
                <a:gd name="T104" fmla="*/ 1094 w 1379"/>
                <a:gd name="T105" fmla="*/ 1516 h 2280"/>
                <a:gd name="T106" fmla="*/ 1094 w 1379"/>
                <a:gd name="T107" fmla="*/ 341 h 2280"/>
                <a:gd name="T108" fmla="*/ 1079 w 1379"/>
                <a:gd name="T109" fmla="*/ 25 h 2280"/>
                <a:gd name="T110" fmla="*/ 1068 w 1379"/>
                <a:gd name="T111" fmla="*/ 10 h 2280"/>
                <a:gd name="T112" fmla="*/ 1024 w 1379"/>
                <a:gd name="T113" fmla="*/ 0 h 2280"/>
                <a:gd name="T114" fmla="*/ 985 w 1379"/>
                <a:gd name="T115" fmla="*/ 20 h 2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9" h="2280">
                  <a:moveTo>
                    <a:pt x="978" y="31"/>
                  </a:moveTo>
                  <a:lnTo>
                    <a:pt x="974" y="47"/>
                  </a:lnTo>
                  <a:lnTo>
                    <a:pt x="968" y="154"/>
                  </a:lnTo>
                  <a:lnTo>
                    <a:pt x="962" y="463"/>
                  </a:lnTo>
                  <a:lnTo>
                    <a:pt x="961" y="790"/>
                  </a:lnTo>
                  <a:lnTo>
                    <a:pt x="961" y="1516"/>
                  </a:lnTo>
                  <a:lnTo>
                    <a:pt x="923" y="1516"/>
                  </a:lnTo>
                  <a:lnTo>
                    <a:pt x="900" y="1518"/>
                  </a:lnTo>
                  <a:lnTo>
                    <a:pt x="864" y="1531"/>
                  </a:lnTo>
                  <a:lnTo>
                    <a:pt x="839" y="1554"/>
                  </a:lnTo>
                  <a:lnTo>
                    <a:pt x="830" y="1585"/>
                  </a:lnTo>
                  <a:lnTo>
                    <a:pt x="833" y="1603"/>
                  </a:lnTo>
                  <a:lnTo>
                    <a:pt x="836" y="1617"/>
                  </a:lnTo>
                  <a:lnTo>
                    <a:pt x="851" y="1635"/>
                  </a:lnTo>
                  <a:lnTo>
                    <a:pt x="890" y="1646"/>
                  </a:lnTo>
                  <a:lnTo>
                    <a:pt x="971" y="1654"/>
                  </a:lnTo>
                  <a:lnTo>
                    <a:pt x="1034" y="1660"/>
                  </a:lnTo>
                  <a:lnTo>
                    <a:pt x="1224" y="1675"/>
                  </a:lnTo>
                  <a:lnTo>
                    <a:pt x="966" y="1900"/>
                  </a:lnTo>
                  <a:lnTo>
                    <a:pt x="863" y="1990"/>
                  </a:lnTo>
                  <a:lnTo>
                    <a:pt x="715" y="2115"/>
                  </a:lnTo>
                  <a:lnTo>
                    <a:pt x="694" y="2130"/>
                  </a:lnTo>
                  <a:lnTo>
                    <a:pt x="687" y="2127"/>
                  </a:lnTo>
                  <a:lnTo>
                    <a:pt x="640" y="2092"/>
                  </a:lnTo>
                  <a:lnTo>
                    <a:pt x="519" y="1993"/>
                  </a:lnTo>
                  <a:lnTo>
                    <a:pt x="323" y="1820"/>
                  </a:lnTo>
                  <a:lnTo>
                    <a:pt x="207" y="1714"/>
                  </a:lnTo>
                  <a:lnTo>
                    <a:pt x="165" y="1670"/>
                  </a:lnTo>
                  <a:lnTo>
                    <a:pt x="161" y="1663"/>
                  </a:lnTo>
                  <a:lnTo>
                    <a:pt x="164" y="1661"/>
                  </a:lnTo>
                  <a:lnTo>
                    <a:pt x="202" y="1656"/>
                  </a:lnTo>
                  <a:lnTo>
                    <a:pt x="311" y="1651"/>
                  </a:lnTo>
                  <a:lnTo>
                    <a:pt x="411" y="1650"/>
                  </a:lnTo>
                  <a:lnTo>
                    <a:pt x="492" y="1650"/>
                  </a:lnTo>
                  <a:lnTo>
                    <a:pt x="596" y="1648"/>
                  </a:lnTo>
                  <a:lnTo>
                    <a:pt x="649" y="1641"/>
                  </a:lnTo>
                  <a:lnTo>
                    <a:pt x="671" y="1626"/>
                  </a:lnTo>
                  <a:lnTo>
                    <a:pt x="678" y="1615"/>
                  </a:lnTo>
                  <a:lnTo>
                    <a:pt x="683" y="1605"/>
                  </a:lnTo>
                  <a:lnTo>
                    <a:pt x="688" y="1588"/>
                  </a:lnTo>
                  <a:lnTo>
                    <a:pt x="685" y="1573"/>
                  </a:lnTo>
                  <a:lnTo>
                    <a:pt x="676" y="1557"/>
                  </a:lnTo>
                  <a:lnTo>
                    <a:pt x="668" y="1548"/>
                  </a:lnTo>
                  <a:lnTo>
                    <a:pt x="659" y="1539"/>
                  </a:lnTo>
                  <a:lnTo>
                    <a:pt x="637" y="1527"/>
                  </a:lnTo>
                  <a:lnTo>
                    <a:pt x="604" y="1520"/>
                  </a:lnTo>
                  <a:lnTo>
                    <a:pt x="557" y="1517"/>
                  </a:lnTo>
                  <a:lnTo>
                    <a:pt x="524" y="1516"/>
                  </a:lnTo>
                  <a:lnTo>
                    <a:pt x="411" y="1516"/>
                  </a:lnTo>
                  <a:lnTo>
                    <a:pt x="411" y="875"/>
                  </a:lnTo>
                  <a:lnTo>
                    <a:pt x="411" y="660"/>
                  </a:lnTo>
                  <a:lnTo>
                    <a:pt x="409" y="391"/>
                  </a:lnTo>
                  <a:lnTo>
                    <a:pt x="402" y="264"/>
                  </a:lnTo>
                  <a:lnTo>
                    <a:pt x="393" y="229"/>
                  </a:lnTo>
                  <a:lnTo>
                    <a:pt x="383" y="219"/>
                  </a:lnTo>
                  <a:lnTo>
                    <a:pt x="378" y="216"/>
                  </a:lnTo>
                  <a:lnTo>
                    <a:pt x="361" y="208"/>
                  </a:lnTo>
                  <a:lnTo>
                    <a:pt x="328" y="208"/>
                  </a:lnTo>
                  <a:lnTo>
                    <a:pt x="311" y="216"/>
                  </a:lnTo>
                  <a:lnTo>
                    <a:pt x="305" y="219"/>
                  </a:lnTo>
                  <a:lnTo>
                    <a:pt x="296" y="229"/>
                  </a:lnTo>
                  <a:lnTo>
                    <a:pt x="286" y="264"/>
                  </a:lnTo>
                  <a:lnTo>
                    <a:pt x="280" y="391"/>
                  </a:lnTo>
                  <a:lnTo>
                    <a:pt x="278" y="660"/>
                  </a:lnTo>
                  <a:lnTo>
                    <a:pt x="278" y="875"/>
                  </a:lnTo>
                  <a:lnTo>
                    <a:pt x="278" y="1516"/>
                  </a:lnTo>
                  <a:lnTo>
                    <a:pt x="189" y="1516"/>
                  </a:lnTo>
                  <a:lnTo>
                    <a:pt x="165" y="1517"/>
                  </a:lnTo>
                  <a:lnTo>
                    <a:pt x="120" y="1524"/>
                  </a:lnTo>
                  <a:lnTo>
                    <a:pt x="82" y="1537"/>
                  </a:lnTo>
                  <a:lnTo>
                    <a:pt x="50" y="1555"/>
                  </a:lnTo>
                  <a:lnTo>
                    <a:pt x="26" y="1579"/>
                  </a:lnTo>
                  <a:lnTo>
                    <a:pt x="9" y="1607"/>
                  </a:lnTo>
                  <a:lnTo>
                    <a:pt x="0" y="1639"/>
                  </a:lnTo>
                  <a:lnTo>
                    <a:pt x="0" y="1674"/>
                  </a:lnTo>
                  <a:lnTo>
                    <a:pt x="4" y="1693"/>
                  </a:lnTo>
                  <a:lnTo>
                    <a:pt x="11" y="1705"/>
                  </a:lnTo>
                  <a:lnTo>
                    <a:pt x="60" y="1758"/>
                  </a:lnTo>
                  <a:lnTo>
                    <a:pt x="189" y="1885"/>
                  </a:lnTo>
                  <a:lnTo>
                    <a:pt x="412" y="2087"/>
                  </a:lnTo>
                  <a:lnTo>
                    <a:pt x="556" y="2210"/>
                  </a:lnTo>
                  <a:lnTo>
                    <a:pt x="622" y="2261"/>
                  </a:lnTo>
                  <a:lnTo>
                    <a:pt x="639" y="2271"/>
                  </a:lnTo>
                  <a:lnTo>
                    <a:pt x="656" y="2277"/>
                  </a:lnTo>
                  <a:lnTo>
                    <a:pt x="698" y="2280"/>
                  </a:lnTo>
                  <a:lnTo>
                    <a:pt x="716" y="2276"/>
                  </a:lnTo>
                  <a:lnTo>
                    <a:pt x="725" y="2273"/>
                  </a:lnTo>
                  <a:lnTo>
                    <a:pt x="765" y="2246"/>
                  </a:lnTo>
                  <a:lnTo>
                    <a:pt x="860" y="2171"/>
                  </a:lnTo>
                  <a:lnTo>
                    <a:pt x="1033" y="2026"/>
                  </a:lnTo>
                  <a:lnTo>
                    <a:pt x="1218" y="1863"/>
                  </a:lnTo>
                  <a:lnTo>
                    <a:pt x="1299" y="1788"/>
                  </a:lnTo>
                  <a:lnTo>
                    <a:pt x="1333" y="1755"/>
                  </a:lnTo>
                  <a:lnTo>
                    <a:pt x="1364" y="1711"/>
                  </a:lnTo>
                  <a:lnTo>
                    <a:pt x="1376" y="1683"/>
                  </a:lnTo>
                  <a:lnTo>
                    <a:pt x="1379" y="1657"/>
                  </a:lnTo>
                  <a:lnTo>
                    <a:pt x="1375" y="1631"/>
                  </a:lnTo>
                  <a:lnTo>
                    <a:pt x="1362" y="1605"/>
                  </a:lnTo>
                  <a:lnTo>
                    <a:pt x="1342" y="1579"/>
                  </a:lnTo>
                  <a:lnTo>
                    <a:pt x="1329" y="1565"/>
                  </a:lnTo>
                  <a:lnTo>
                    <a:pt x="1314" y="1550"/>
                  </a:lnTo>
                  <a:lnTo>
                    <a:pt x="1287" y="1531"/>
                  </a:lnTo>
                  <a:lnTo>
                    <a:pt x="1257" y="1520"/>
                  </a:lnTo>
                  <a:lnTo>
                    <a:pt x="1216" y="1517"/>
                  </a:lnTo>
                  <a:lnTo>
                    <a:pt x="1188" y="1516"/>
                  </a:lnTo>
                  <a:lnTo>
                    <a:pt x="1094" y="1516"/>
                  </a:lnTo>
                  <a:lnTo>
                    <a:pt x="1094" y="768"/>
                  </a:lnTo>
                  <a:lnTo>
                    <a:pt x="1094" y="341"/>
                  </a:lnTo>
                  <a:lnTo>
                    <a:pt x="1087" y="73"/>
                  </a:lnTo>
                  <a:lnTo>
                    <a:pt x="1079" y="25"/>
                  </a:lnTo>
                  <a:lnTo>
                    <a:pt x="1072" y="12"/>
                  </a:lnTo>
                  <a:lnTo>
                    <a:pt x="1068" y="10"/>
                  </a:lnTo>
                  <a:lnTo>
                    <a:pt x="1051" y="4"/>
                  </a:lnTo>
                  <a:lnTo>
                    <a:pt x="1024" y="0"/>
                  </a:lnTo>
                  <a:lnTo>
                    <a:pt x="1002" y="5"/>
                  </a:lnTo>
                  <a:lnTo>
                    <a:pt x="985" y="20"/>
                  </a:lnTo>
                  <a:lnTo>
                    <a:pt x="978"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5" name="Freeform 60">
              <a:extLst>
                <a:ext uri="{FF2B5EF4-FFF2-40B4-BE49-F238E27FC236}">
                  <a16:creationId xmlns:a16="http://schemas.microsoft.com/office/drawing/2014/main" id="{0F7199BD-D226-B10F-C151-6296E0704D6F}"/>
                </a:ext>
              </a:extLst>
            </p:cNvPr>
            <p:cNvSpPr>
              <a:spLocks/>
            </p:cNvSpPr>
            <p:nvPr/>
          </p:nvSpPr>
          <p:spPr bwMode="auto">
            <a:xfrm>
              <a:off x="6950075" y="1011238"/>
              <a:ext cx="201613" cy="417513"/>
            </a:xfrm>
            <a:custGeom>
              <a:avLst/>
              <a:gdLst>
                <a:gd name="T0" fmla="*/ 228 w 541"/>
                <a:gd name="T1" fmla="*/ 19 h 1116"/>
                <a:gd name="T2" fmla="*/ 222 w 541"/>
                <a:gd name="T3" fmla="*/ 28 h 1116"/>
                <a:gd name="T4" fmla="*/ 215 w 541"/>
                <a:gd name="T5" fmla="*/ 82 h 1116"/>
                <a:gd name="T6" fmla="*/ 208 w 541"/>
                <a:gd name="T7" fmla="*/ 252 h 1116"/>
                <a:gd name="T8" fmla="*/ 208 w 541"/>
                <a:gd name="T9" fmla="*/ 456 h 1116"/>
                <a:gd name="T10" fmla="*/ 208 w 541"/>
                <a:gd name="T11" fmla="*/ 872 h 1116"/>
                <a:gd name="T12" fmla="*/ 153 w 541"/>
                <a:gd name="T13" fmla="*/ 819 h 1116"/>
                <a:gd name="T14" fmla="*/ 129 w 541"/>
                <a:gd name="T15" fmla="*/ 797 h 1116"/>
                <a:gd name="T16" fmla="*/ 91 w 541"/>
                <a:gd name="T17" fmla="*/ 774 h 1116"/>
                <a:gd name="T18" fmla="*/ 69 w 541"/>
                <a:gd name="T19" fmla="*/ 766 h 1116"/>
                <a:gd name="T20" fmla="*/ 61 w 541"/>
                <a:gd name="T21" fmla="*/ 766 h 1116"/>
                <a:gd name="T22" fmla="*/ 45 w 541"/>
                <a:gd name="T23" fmla="*/ 767 h 1116"/>
                <a:gd name="T24" fmla="*/ 18 w 541"/>
                <a:gd name="T25" fmla="*/ 785 h 1116"/>
                <a:gd name="T26" fmla="*/ 1 w 541"/>
                <a:gd name="T27" fmla="*/ 813 h 1116"/>
                <a:gd name="T28" fmla="*/ 0 w 541"/>
                <a:gd name="T29" fmla="*/ 845 h 1116"/>
                <a:gd name="T30" fmla="*/ 6 w 541"/>
                <a:gd name="T31" fmla="*/ 861 h 1116"/>
                <a:gd name="T32" fmla="*/ 21 w 541"/>
                <a:gd name="T33" fmla="*/ 883 h 1116"/>
                <a:gd name="T34" fmla="*/ 94 w 541"/>
                <a:gd name="T35" fmla="*/ 961 h 1116"/>
                <a:gd name="T36" fmla="*/ 186 w 541"/>
                <a:gd name="T37" fmla="*/ 1048 h 1116"/>
                <a:gd name="T38" fmla="*/ 259 w 541"/>
                <a:gd name="T39" fmla="*/ 1109 h 1116"/>
                <a:gd name="T40" fmla="*/ 274 w 541"/>
                <a:gd name="T41" fmla="*/ 1116 h 1116"/>
                <a:gd name="T42" fmla="*/ 280 w 541"/>
                <a:gd name="T43" fmla="*/ 1114 h 1116"/>
                <a:gd name="T44" fmla="*/ 306 w 541"/>
                <a:gd name="T45" fmla="*/ 1096 h 1116"/>
                <a:gd name="T46" fmla="*/ 367 w 541"/>
                <a:gd name="T47" fmla="*/ 1044 h 1116"/>
                <a:gd name="T48" fmla="*/ 418 w 541"/>
                <a:gd name="T49" fmla="*/ 996 h 1116"/>
                <a:gd name="T50" fmla="*/ 461 w 541"/>
                <a:gd name="T51" fmla="*/ 953 h 1116"/>
                <a:gd name="T52" fmla="*/ 517 w 541"/>
                <a:gd name="T53" fmla="*/ 888 h 1116"/>
                <a:gd name="T54" fmla="*/ 537 w 541"/>
                <a:gd name="T55" fmla="*/ 851 h 1116"/>
                <a:gd name="T56" fmla="*/ 541 w 541"/>
                <a:gd name="T57" fmla="*/ 830 h 1116"/>
                <a:gd name="T58" fmla="*/ 538 w 541"/>
                <a:gd name="T59" fmla="*/ 811 h 1116"/>
                <a:gd name="T60" fmla="*/ 529 w 541"/>
                <a:gd name="T61" fmla="*/ 794 h 1116"/>
                <a:gd name="T62" fmla="*/ 521 w 541"/>
                <a:gd name="T63" fmla="*/ 786 h 1116"/>
                <a:gd name="T64" fmla="*/ 509 w 541"/>
                <a:gd name="T65" fmla="*/ 775 h 1116"/>
                <a:gd name="T66" fmla="*/ 483 w 541"/>
                <a:gd name="T67" fmla="*/ 767 h 1116"/>
                <a:gd name="T68" fmla="*/ 453 w 541"/>
                <a:gd name="T69" fmla="*/ 774 h 1116"/>
                <a:gd name="T70" fmla="*/ 417 w 541"/>
                <a:gd name="T71" fmla="*/ 799 h 1116"/>
                <a:gd name="T72" fmla="*/ 396 w 541"/>
                <a:gd name="T73" fmla="*/ 819 h 1116"/>
                <a:gd name="T74" fmla="*/ 341 w 541"/>
                <a:gd name="T75" fmla="*/ 872 h 1116"/>
                <a:gd name="T76" fmla="*/ 341 w 541"/>
                <a:gd name="T77" fmla="*/ 452 h 1116"/>
                <a:gd name="T78" fmla="*/ 341 w 541"/>
                <a:gd name="T79" fmla="*/ 202 h 1116"/>
                <a:gd name="T80" fmla="*/ 333 w 541"/>
                <a:gd name="T81" fmla="*/ 54 h 1116"/>
                <a:gd name="T82" fmla="*/ 323 w 541"/>
                <a:gd name="T83" fmla="*/ 28 h 1116"/>
                <a:gd name="T84" fmla="*/ 315 w 541"/>
                <a:gd name="T85" fmla="*/ 19 h 1116"/>
                <a:gd name="T86" fmla="*/ 309 w 541"/>
                <a:gd name="T87" fmla="*/ 16 h 1116"/>
                <a:gd name="T88" fmla="*/ 295 w 541"/>
                <a:gd name="T89" fmla="*/ 8 h 1116"/>
                <a:gd name="T90" fmla="*/ 272 w 541"/>
                <a:gd name="T91" fmla="*/ 0 h 1116"/>
                <a:gd name="T92" fmla="*/ 253 w 541"/>
                <a:gd name="T93" fmla="*/ 1 h 1116"/>
                <a:gd name="T94" fmla="*/ 237 w 541"/>
                <a:gd name="T95" fmla="*/ 10 h 1116"/>
                <a:gd name="T96" fmla="*/ 228 w 541"/>
                <a:gd name="T97" fmla="*/ 19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1" h="1116">
                  <a:moveTo>
                    <a:pt x="228" y="19"/>
                  </a:moveTo>
                  <a:lnTo>
                    <a:pt x="222" y="28"/>
                  </a:lnTo>
                  <a:lnTo>
                    <a:pt x="215" y="82"/>
                  </a:lnTo>
                  <a:lnTo>
                    <a:pt x="208" y="252"/>
                  </a:lnTo>
                  <a:lnTo>
                    <a:pt x="208" y="456"/>
                  </a:lnTo>
                  <a:lnTo>
                    <a:pt x="208" y="872"/>
                  </a:lnTo>
                  <a:lnTo>
                    <a:pt x="153" y="819"/>
                  </a:lnTo>
                  <a:lnTo>
                    <a:pt x="129" y="797"/>
                  </a:lnTo>
                  <a:lnTo>
                    <a:pt x="91" y="774"/>
                  </a:lnTo>
                  <a:lnTo>
                    <a:pt x="69" y="766"/>
                  </a:lnTo>
                  <a:lnTo>
                    <a:pt x="61" y="766"/>
                  </a:lnTo>
                  <a:lnTo>
                    <a:pt x="45" y="767"/>
                  </a:lnTo>
                  <a:lnTo>
                    <a:pt x="18" y="785"/>
                  </a:lnTo>
                  <a:lnTo>
                    <a:pt x="1" y="813"/>
                  </a:lnTo>
                  <a:lnTo>
                    <a:pt x="0" y="845"/>
                  </a:lnTo>
                  <a:lnTo>
                    <a:pt x="6" y="861"/>
                  </a:lnTo>
                  <a:lnTo>
                    <a:pt x="21" y="883"/>
                  </a:lnTo>
                  <a:lnTo>
                    <a:pt x="94" y="961"/>
                  </a:lnTo>
                  <a:lnTo>
                    <a:pt x="186" y="1048"/>
                  </a:lnTo>
                  <a:lnTo>
                    <a:pt x="259" y="1109"/>
                  </a:lnTo>
                  <a:lnTo>
                    <a:pt x="274" y="1116"/>
                  </a:lnTo>
                  <a:lnTo>
                    <a:pt x="280" y="1114"/>
                  </a:lnTo>
                  <a:lnTo>
                    <a:pt x="306" y="1096"/>
                  </a:lnTo>
                  <a:lnTo>
                    <a:pt x="367" y="1044"/>
                  </a:lnTo>
                  <a:lnTo>
                    <a:pt x="418" y="996"/>
                  </a:lnTo>
                  <a:lnTo>
                    <a:pt x="461" y="953"/>
                  </a:lnTo>
                  <a:lnTo>
                    <a:pt x="517" y="888"/>
                  </a:lnTo>
                  <a:lnTo>
                    <a:pt x="537" y="851"/>
                  </a:lnTo>
                  <a:lnTo>
                    <a:pt x="541" y="830"/>
                  </a:lnTo>
                  <a:lnTo>
                    <a:pt x="538" y="811"/>
                  </a:lnTo>
                  <a:lnTo>
                    <a:pt x="529" y="794"/>
                  </a:lnTo>
                  <a:lnTo>
                    <a:pt x="521" y="786"/>
                  </a:lnTo>
                  <a:lnTo>
                    <a:pt x="509" y="775"/>
                  </a:lnTo>
                  <a:lnTo>
                    <a:pt x="483" y="767"/>
                  </a:lnTo>
                  <a:lnTo>
                    <a:pt x="453" y="774"/>
                  </a:lnTo>
                  <a:lnTo>
                    <a:pt x="417" y="799"/>
                  </a:lnTo>
                  <a:lnTo>
                    <a:pt x="396" y="819"/>
                  </a:lnTo>
                  <a:lnTo>
                    <a:pt x="341" y="872"/>
                  </a:lnTo>
                  <a:lnTo>
                    <a:pt x="341" y="452"/>
                  </a:lnTo>
                  <a:lnTo>
                    <a:pt x="341" y="202"/>
                  </a:lnTo>
                  <a:lnTo>
                    <a:pt x="333" y="54"/>
                  </a:lnTo>
                  <a:lnTo>
                    <a:pt x="323" y="28"/>
                  </a:lnTo>
                  <a:lnTo>
                    <a:pt x="315" y="19"/>
                  </a:lnTo>
                  <a:lnTo>
                    <a:pt x="309" y="16"/>
                  </a:lnTo>
                  <a:lnTo>
                    <a:pt x="295" y="8"/>
                  </a:lnTo>
                  <a:lnTo>
                    <a:pt x="272" y="0"/>
                  </a:lnTo>
                  <a:lnTo>
                    <a:pt x="253" y="1"/>
                  </a:lnTo>
                  <a:lnTo>
                    <a:pt x="237" y="10"/>
                  </a:lnTo>
                  <a:lnTo>
                    <a:pt x="22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6" name="Freeform 61">
              <a:extLst>
                <a:ext uri="{FF2B5EF4-FFF2-40B4-BE49-F238E27FC236}">
                  <a16:creationId xmlns:a16="http://schemas.microsoft.com/office/drawing/2014/main" id="{1F91DA18-216B-1B8F-906B-6C23F0B9DD09}"/>
                </a:ext>
              </a:extLst>
            </p:cNvPr>
            <p:cNvSpPr>
              <a:spLocks/>
            </p:cNvSpPr>
            <p:nvPr/>
          </p:nvSpPr>
          <p:spPr bwMode="auto">
            <a:xfrm>
              <a:off x="7618413" y="1012826"/>
              <a:ext cx="204788" cy="415925"/>
            </a:xfrm>
            <a:custGeom>
              <a:avLst/>
              <a:gdLst>
                <a:gd name="T0" fmla="*/ 228 w 550"/>
                <a:gd name="T1" fmla="*/ 28 h 1115"/>
                <a:gd name="T2" fmla="*/ 220 w 550"/>
                <a:gd name="T3" fmla="*/ 39 h 1115"/>
                <a:gd name="T4" fmla="*/ 208 w 550"/>
                <a:gd name="T5" fmla="*/ 83 h 1115"/>
                <a:gd name="T6" fmla="*/ 200 w 550"/>
                <a:gd name="T7" fmla="*/ 237 h 1115"/>
                <a:gd name="T8" fmla="*/ 200 w 550"/>
                <a:gd name="T9" fmla="*/ 465 h 1115"/>
                <a:gd name="T10" fmla="*/ 200 w 550"/>
                <a:gd name="T11" fmla="*/ 871 h 1115"/>
                <a:gd name="T12" fmla="*/ 145 w 550"/>
                <a:gd name="T13" fmla="*/ 818 h 1115"/>
                <a:gd name="T14" fmla="*/ 122 w 550"/>
                <a:gd name="T15" fmla="*/ 796 h 1115"/>
                <a:gd name="T16" fmla="*/ 78 w 550"/>
                <a:gd name="T17" fmla="*/ 768 h 1115"/>
                <a:gd name="T18" fmla="*/ 65 w 550"/>
                <a:gd name="T19" fmla="*/ 765 h 1115"/>
                <a:gd name="T20" fmla="*/ 53 w 550"/>
                <a:gd name="T21" fmla="*/ 766 h 1115"/>
                <a:gd name="T22" fmla="*/ 30 w 550"/>
                <a:gd name="T23" fmla="*/ 777 h 1115"/>
                <a:gd name="T24" fmla="*/ 11 w 550"/>
                <a:gd name="T25" fmla="*/ 795 h 1115"/>
                <a:gd name="T26" fmla="*/ 1 w 550"/>
                <a:gd name="T27" fmla="*/ 819 h 1115"/>
                <a:gd name="T28" fmla="*/ 0 w 550"/>
                <a:gd name="T29" fmla="*/ 831 h 1115"/>
                <a:gd name="T30" fmla="*/ 2 w 550"/>
                <a:gd name="T31" fmla="*/ 838 h 1115"/>
                <a:gd name="T32" fmla="*/ 23 w 550"/>
                <a:gd name="T33" fmla="*/ 867 h 1115"/>
                <a:gd name="T34" fmla="*/ 79 w 550"/>
                <a:gd name="T35" fmla="*/ 932 h 1115"/>
                <a:gd name="T36" fmla="*/ 178 w 550"/>
                <a:gd name="T37" fmla="*/ 1033 h 1115"/>
                <a:gd name="T38" fmla="*/ 241 w 550"/>
                <a:gd name="T39" fmla="*/ 1091 h 1115"/>
                <a:gd name="T40" fmla="*/ 269 w 550"/>
                <a:gd name="T41" fmla="*/ 1113 h 1115"/>
                <a:gd name="T42" fmla="*/ 275 w 550"/>
                <a:gd name="T43" fmla="*/ 1115 h 1115"/>
                <a:gd name="T44" fmla="*/ 281 w 550"/>
                <a:gd name="T45" fmla="*/ 1113 h 1115"/>
                <a:gd name="T46" fmla="*/ 309 w 550"/>
                <a:gd name="T47" fmla="*/ 1091 h 1115"/>
                <a:gd name="T48" fmla="*/ 372 w 550"/>
                <a:gd name="T49" fmla="*/ 1033 h 1115"/>
                <a:gd name="T50" fmla="*/ 471 w 550"/>
                <a:gd name="T51" fmla="*/ 932 h 1115"/>
                <a:gd name="T52" fmla="*/ 527 w 550"/>
                <a:gd name="T53" fmla="*/ 867 h 1115"/>
                <a:gd name="T54" fmla="*/ 548 w 550"/>
                <a:gd name="T55" fmla="*/ 838 h 1115"/>
                <a:gd name="T56" fmla="*/ 550 w 550"/>
                <a:gd name="T57" fmla="*/ 831 h 1115"/>
                <a:gd name="T58" fmla="*/ 549 w 550"/>
                <a:gd name="T59" fmla="*/ 817 h 1115"/>
                <a:gd name="T60" fmla="*/ 542 w 550"/>
                <a:gd name="T61" fmla="*/ 795 h 1115"/>
                <a:gd name="T62" fmla="*/ 529 w 550"/>
                <a:gd name="T63" fmla="*/ 779 h 1115"/>
                <a:gd name="T64" fmla="*/ 511 w 550"/>
                <a:gd name="T65" fmla="*/ 770 h 1115"/>
                <a:gd name="T66" fmla="*/ 489 w 550"/>
                <a:gd name="T67" fmla="*/ 767 h 1115"/>
                <a:gd name="T68" fmla="*/ 464 w 550"/>
                <a:gd name="T69" fmla="*/ 771 h 1115"/>
                <a:gd name="T70" fmla="*/ 438 w 550"/>
                <a:gd name="T71" fmla="*/ 782 h 1115"/>
                <a:gd name="T72" fmla="*/ 411 w 550"/>
                <a:gd name="T73" fmla="*/ 801 h 1115"/>
                <a:gd name="T74" fmla="*/ 398 w 550"/>
                <a:gd name="T75" fmla="*/ 813 h 1115"/>
                <a:gd name="T76" fmla="*/ 350 w 550"/>
                <a:gd name="T77" fmla="*/ 861 h 1115"/>
                <a:gd name="T78" fmla="*/ 350 w 550"/>
                <a:gd name="T79" fmla="*/ 466 h 1115"/>
                <a:gd name="T80" fmla="*/ 349 w 550"/>
                <a:gd name="T81" fmla="*/ 251 h 1115"/>
                <a:gd name="T82" fmla="*/ 341 w 550"/>
                <a:gd name="T83" fmla="*/ 96 h 1115"/>
                <a:gd name="T84" fmla="*/ 331 w 550"/>
                <a:gd name="T85" fmla="*/ 48 h 1115"/>
                <a:gd name="T86" fmla="*/ 323 w 550"/>
                <a:gd name="T87" fmla="*/ 35 h 1115"/>
                <a:gd name="T88" fmla="*/ 312 w 550"/>
                <a:gd name="T89" fmla="*/ 19 h 1115"/>
                <a:gd name="T90" fmla="*/ 289 w 550"/>
                <a:gd name="T91" fmla="*/ 2 h 1115"/>
                <a:gd name="T92" fmla="*/ 266 w 550"/>
                <a:gd name="T93" fmla="*/ 0 h 1115"/>
                <a:gd name="T94" fmla="*/ 241 w 550"/>
                <a:gd name="T95" fmla="*/ 14 h 1115"/>
                <a:gd name="T96" fmla="*/ 228 w 550"/>
                <a:gd name="T97" fmla="*/ 28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1115">
                  <a:moveTo>
                    <a:pt x="228" y="28"/>
                  </a:moveTo>
                  <a:lnTo>
                    <a:pt x="220" y="39"/>
                  </a:lnTo>
                  <a:lnTo>
                    <a:pt x="208" y="83"/>
                  </a:lnTo>
                  <a:lnTo>
                    <a:pt x="200" y="237"/>
                  </a:lnTo>
                  <a:lnTo>
                    <a:pt x="200" y="465"/>
                  </a:lnTo>
                  <a:lnTo>
                    <a:pt x="200" y="871"/>
                  </a:lnTo>
                  <a:lnTo>
                    <a:pt x="145" y="818"/>
                  </a:lnTo>
                  <a:lnTo>
                    <a:pt x="122" y="796"/>
                  </a:lnTo>
                  <a:lnTo>
                    <a:pt x="78" y="768"/>
                  </a:lnTo>
                  <a:lnTo>
                    <a:pt x="65" y="765"/>
                  </a:lnTo>
                  <a:lnTo>
                    <a:pt x="53" y="766"/>
                  </a:lnTo>
                  <a:lnTo>
                    <a:pt x="30" y="777"/>
                  </a:lnTo>
                  <a:lnTo>
                    <a:pt x="11" y="795"/>
                  </a:lnTo>
                  <a:lnTo>
                    <a:pt x="1" y="819"/>
                  </a:lnTo>
                  <a:lnTo>
                    <a:pt x="0" y="831"/>
                  </a:lnTo>
                  <a:lnTo>
                    <a:pt x="2" y="838"/>
                  </a:lnTo>
                  <a:lnTo>
                    <a:pt x="23" y="867"/>
                  </a:lnTo>
                  <a:lnTo>
                    <a:pt x="79" y="932"/>
                  </a:lnTo>
                  <a:lnTo>
                    <a:pt x="178" y="1033"/>
                  </a:lnTo>
                  <a:lnTo>
                    <a:pt x="241" y="1091"/>
                  </a:lnTo>
                  <a:lnTo>
                    <a:pt x="269" y="1113"/>
                  </a:lnTo>
                  <a:lnTo>
                    <a:pt x="275" y="1115"/>
                  </a:lnTo>
                  <a:lnTo>
                    <a:pt x="281" y="1113"/>
                  </a:lnTo>
                  <a:lnTo>
                    <a:pt x="309" y="1091"/>
                  </a:lnTo>
                  <a:lnTo>
                    <a:pt x="372" y="1033"/>
                  </a:lnTo>
                  <a:lnTo>
                    <a:pt x="471" y="932"/>
                  </a:lnTo>
                  <a:lnTo>
                    <a:pt x="527" y="867"/>
                  </a:lnTo>
                  <a:lnTo>
                    <a:pt x="548" y="838"/>
                  </a:lnTo>
                  <a:lnTo>
                    <a:pt x="550" y="831"/>
                  </a:lnTo>
                  <a:lnTo>
                    <a:pt x="549" y="817"/>
                  </a:lnTo>
                  <a:lnTo>
                    <a:pt x="542" y="795"/>
                  </a:lnTo>
                  <a:lnTo>
                    <a:pt x="529" y="779"/>
                  </a:lnTo>
                  <a:lnTo>
                    <a:pt x="511" y="770"/>
                  </a:lnTo>
                  <a:lnTo>
                    <a:pt x="489" y="767"/>
                  </a:lnTo>
                  <a:lnTo>
                    <a:pt x="464" y="771"/>
                  </a:lnTo>
                  <a:lnTo>
                    <a:pt x="438" y="782"/>
                  </a:lnTo>
                  <a:lnTo>
                    <a:pt x="411" y="801"/>
                  </a:lnTo>
                  <a:lnTo>
                    <a:pt x="398" y="813"/>
                  </a:lnTo>
                  <a:lnTo>
                    <a:pt x="350" y="861"/>
                  </a:lnTo>
                  <a:lnTo>
                    <a:pt x="350" y="466"/>
                  </a:lnTo>
                  <a:lnTo>
                    <a:pt x="349" y="251"/>
                  </a:lnTo>
                  <a:lnTo>
                    <a:pt x="341" y="96"/>
                  </a:lnTo>
                  <a:lnTo>
                    <a:pt x="331" y="48"/>
                  </a:lnTo>
                  <a:lnTo>
                    <a:pt x="323" y="35"/>
                  </a:lnTo>
                  <a:lnTo>
                    <a:pt x="312" y="19"/>
                  </a:lnTo>
                  <a:lnTo>
                    <a:pt x="289" y="2"/>
                  </a:lnTo>
                  <a:lnTo>
                    <a:pt x="266" y="0"/>
                  </a:lnTo>
                  <a:lnTo>
                    <a:pt x="241" y="14"/>
                  </a:lnTo>
                  <a:lnTo>
                    <a:pt x="228"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7" name="Freeform 62">
              <a:extLst>
                <a:ext uri="{FF2B5EF4-FFF2-40B4-BE49-F238E27FC236}">
                  <a16:creationId xmlns:a16="http://schemas.microsoft.com/office/drawing/2014/main" id="{471E1758-5D84-DABE-34CD-1E45C352CB12}"/>
                </a:ext>
              </a:extLst>
            </p:cNvPr>
            <p:cNvSpPr>
              <a:spLocks/>
            </p:cNvSpPr>
            <p:nvPr/>
          </p:nvSpPr>
          <p:spPr bwMode="auto">
            <a:xfrm>
              <a:off x="7364413" y="1068388"/>
              <a:ext cx="49213" cy="328613"/>
            </a:xfrm>
            <a:custGeom>
              <a:avLst/>
              <a:gdLst>
                <a:gd name="T0" fmla="*/ 6 w 131"/>
                <a:gd name="T1" fmla="*/ 21 h 881"/>
                <a:gd name="T2" fmla="*/ 3 w 131"/>
                <a:gd name="T3" fmla="*/ 53 h 881"/>
                <a:gd name="T4" fmla="*/ 0 w 131"/>
                <a:gd name="T5" fmla="*/ 290 h 881"/>
                <a:gd name="T6" fmla="*/ 1 w 131"/>
                <a:gd name="T7" fmla="*/ 457 h 881"/>
                <a:gd name="T8" fmla="*/ 6 w 131"/>
                <a:gd name="T9" fmla="*/ 874 h 881"/>
                <a:gd name="T10" fmla="*/ 44 w 131"/>
                <a:gd name="T11" fmla="*/ 879 h 881"/>
                <a:gd name="T12" fmla="*/ 59 w 131"/>
                <a:gd name="T13" fmla="*/ 881 h 881"/>
                <a:gd name="T14" fmla="*/ 84 w 131"/>
                <a:gd name="T15" fmla="*/ 881 h 881"/>
                <a:gd name="T16" fmla="*/ 102 w 131"/>
                <a:gd name="T17" fmla="*/ 871 h 881"/>
                <a:gd name="T18" fmla="*/ 114 w 131"/>
                <a:gd name="T19" fmla="*/ 847 h 881"/>
                <a:gd name="T20" fmla="*/ 123 w 131"/>
                <a:gd name="T21" fmla="*/ 805 h 881"/>
                <a:gd name="T22" fmla="*/ 128 w 131"/>
                <a:gd name="T23" fmla="*/ 739 h 881"/>
                <a:gd name="T24" fmla="*/ 131 w 131"/>
                <a:gd name="T25" fmla="*/ 592 h 881"/>
                <a:gd name="T26" fmla="*/ 131 w 131"/>
                <a:gd name="T27" fmla="*/ 442 h 881"/>
                <a:gd name="T28" fmla="*/ 130 w 131"/>
                <a:gd name="T29" fmla="*/ 245 h 881"/>
                <a:gd name="T30" fmla="*/ 124 w 131"/>
                <a:gd name="T31" fmla="*/ 81 h 881"/>
                <a:gd name="T32" fmla="*/ 116 w 131"/>
                <a:gd name="T33" fmla="*/ 28 h 881"/>
                <a:gd name="T34" fmla="*/ 111 w 131"/>
                <a:gd name="T35" fmla="*/ 19 h 881"/>
                <a:gd name="T36" fmla="*/ 100 w 131"/>
                <a:gd name="T37" fmla="*/ 10 h 881"/>
                <a:gd name="T38" fmla="*/ 69 w 131"/>
                <a:gd name="T39" fmla="*/ 0 h 881"/>
                <a:gd name="T40" fmla="*/ 36 w 131"/>
                <a:gd name="T41" fmla="*/ 1 h 881"/>
                <a:gd name="T42" fmla="*/ 12 w 131"/>
                <a:gd name="T43" fmla="*/ 11 h 881"/>
                <a:gd name="T44" fmla="*/ 6 w 131"/>
                <a:gd name="T45" fmla="*/ 21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881">
                  <a:moveTo>
                    <a:pt x="6" y="21"/>
                  </a:moveTo>
                  <a:lnTo>
                    <a:pt x="3" y="53"/>
                  </a:lnTo>
                  <a:lnTo>
                    <a:pt x="0" y="290"/>
                  </a:lnTo>
                  <a:lnTo>
                    <a:pt x="1" y="457"/>
                  </a:lnTo>
                  <a:lnTo>
                    <a:pt x="6" y="874"/>
                  </a:lnTo>
                  <a:lnTo>
                    <a:pt x="44" y="879"/>
                  </a:lnTo>
                  <a:lnTo>
                    <a:pt x="59" y="881"/>
                  </a:lnTo>
                  <a:lnTo>
                    <a:pt x="84" y="881"/>
                  </a:lnTo>
                  <a:lnTo>
                    <a:pt x="102" y="871"/>
                  </a:lnTo>
                  <a:lnTo>
                    <a:pt x="114" y="847"/>
                  </a:lnTo>
                  <a:lnTo>
                    <a:pt x="123" y="805"/>
                  </a:lnTo>
                  <a:lnTo>
                    <a:pt x="128" y="739"/>
                  </a:lnTo>
                  <a:lnTo>
                    <a:pt x="131" y="592"/>
                  </a:lnTo>
                  <a:lnTo>
                    <a:pt x="131" y="442"/>
                  </a:lnTo>
                  <a:lnTo>
                    <a:pt x="130" y="245"/>
                  </a:lnTo>
                  <a:lnTo>
                    <a:pt x="124" y="81"/>
                  </a:lnTo>
                  <a:lnTo>
                    <a:pt x="116" y="28"/>
                  </a:lnTo>
                  <a:lnTo>
                    <a:pt x="111" y="19"/>
                  </a:lnTo>
                  <a:lnTo>
                    <a:pt x="100" y="10"/>
                  </a:lnTo>
                  <a:lnTo>
                    <a:pt x="69" y="0"/>
                  </a:lnTo>
                  <a:lnTo>
                    <a:pt x="36" y="1"/>
                  </a:lnTo>
                  <a:lnTo>
                    <a:pt x="12" y="11"/>
                  </a:lnTo>
                  <a:lnTo>
                    <a:pt x="6"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28" name="TextBox 27">
            <a:extLst>
              <a:ext uri="{FF2B5EF4-FFF2-40B4-BE49-F238E27FC236}">
                <a16:creationId xmlns:a16="http://schemas.microsoft.com/office/drawing/2014/main" id="{D4FCB2A1-33C1-776D-A8B4-596C206AD971}"/>
              </a:ext>
            </a:extLst>
          </p:cNvPr>
          <p:cNvSpPr txBox="1"/>
          <p:nvPr/>
        </p:nvSpPr>
        <p:spPr>
          <a:xfrm>
            <a:off x="8466114" y="2579972"/>
            <a:ext cx="1544983" cy="1716648"/>
          </a:xfrm>
          <a:prstGeom prst="rect">
            <a:avLst/>
          </a:prstGeom>
          <a:noFill/>
        </p:spPr>
        <p:txBody>
          <a:bodyPr wrap="square" rtlCol="0">
            <a:spAutoFit/>
          </a:bodyPr>
          <a:lstStyle/>
          <a:p>
            <a:pPr algn="justLow" rtl="1"/>
            <a:r>
              <a:rPr lang="ar-SA" sz="1100" dirty="0"/>
              <a:t>تحديد الأنظمة المكررة وتبسيط العمليات والقضاء على النفقات غير الضرورية من خلال توفير نظرة عامة واضحة على الموارد واستخدامها. وهذا يقلل التكاليف في عمليات تقنية المعلومات.</a:t>
            </a:r>
            <a:endParaRPr lang="en-US" sz="1100" dirty="0"/>
          </a:p>
        </p:txBody>
      </p:sp>
      <p:sp>
        <p:nvSpPr>
          <p:cNvPr id="29" name="TextBox 28">
            <a:extLst>
              <a:ext uri="{FF2B5EF4-FFF2-40B4-BE49-F238E27FC236}">
                <a16:creationId xmlns:a16="http://schemas.microsoft.com/office/drawing/2014/main" id="{5E6402DE-019A-4B1F-84BD-8B4296527997}"/>
              </a:ext>
            </a:extLst>
          </p:cNvPr>
          <p:cNvSpPr txBox="1"/>
          <p:nvPr/>
        </p:nvSpPr>
        <p:spPr>
          <a:xfrm>
            <a:off x="8512772" y="4564575"/>
            <a:ext cx="1451669" cy="808925"/>
          </a:xfrm>
          <a:prstGeom prst="rect">
            <a:avLst/>
          </a:prstGeom>
          <a:noFill/>
        </p:spPr>
        <p:txBody>
          <a:bodyPr wrap="square" rtlCol="0">
            <a:spAutoFit/>
          </a:bodyPr>
          <a:lstStyle/>
          <a:p>
            <a:pPr algn="justLow" rtl="1"/>
            <a:r>
              <a:rPr lang="ar-SA" sz="1000" dirty="0"/>
              <a:t>مثال: توحيد أدوات إدارة الوثائق الحالية من خلال نظام واحد من أنظمة متعددة قائمة لتقليل نفقات التراخيص والدعم </a:t>
            </a:r>
            <a:endParaRPr lang="en-US" sz="1000" dirty="0"/>
          </a:p>
        </p:txBody>
      </p:sp>
      <p:sp>
        <p:nvSpPr>
          <p:cNvPr id="30" name="TextBox 141">
            <a:extLst>
              <a:ext uri="{FF2B5EF4-FFF2-40B4-BE49-F238E27FC236}">
                <a16:creationId xmlns:a16="http://schemas.microsoft.com/office/drawing/2014/main" id="{4E8351B2-5D0F-7F77-3D87-3B755F43F535}"/>
              </a:ext>
            </a:extLst>
          </p:cNvPr>
          <p:cNvSpPr txBox="1"/>
          <p:nvPr/>
        </p:nvSpPr>
        <p:spPr>
          <a:xfrm flipH="1">
            <a:off x="6894811"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التركيز على القيمة</a:t>
            </a:r>
            <a:endParaRPr lang="en-US" sz="1400" b="1" dirty="0">
              <a:solidFill>
                <a:schemeClr val="accent2"/>
              </a:solidFill>
            </a:endParaRPr>
          </a:p>
        </p:txBody>
      </p:sp>
      <p:grpSp>
        <p:nvGrpSpPr>
          <p:cNvPr id="31" name="Group 30">
            <a:extLst>
              <a:ext uri="{FF2B5EF4-FFF2-40B4-BE49-F238E27FC236}">
                <a16:creationId xmlns:a16="http://schemas.microsoft.com/office/drawing/2014/main" id="{1971CACE-5559-0053-AD1F-C48A1B1AF25C}"/>
              </a:ext>
            </a:extLst>
          </p:cNvPr>
          <p:cNvGrpSpPr>
            <a:grpSpLocks noChangeAspect="1"/>
          </p:cNvGrpSpPr>
          <p:nvPr/>
        </p:nvGrpSpPr>
        <p:grpSpPr>
          <a:xfrm>
            <a:off x="7376267" y="1340047"/>
            <a:ext cx="582073" cy="626577"/>
            <a:chOff x="3990976" y="5654675"/>
            <a:chExt cx="788988" cy="849313"/>
          </a:xfrm>
          <a:solidFill>
            <a:schemeClr val="accent1"/>
          </a:solidFill>
        </p:grpSpPr>
        <p:sp>
          <p:nvSpPr>
            <p:cNvPr id="32" name="Freeform 152">
              <a:extLst>
                <a:ext uri="{FF2B5EF4-FFF2-40B4-BE49-F238E27FC236}">
                  <a16:creationId xmlns:a16="http://schemas.microsoft.com/office/drawing/2014/main" id="{B2CECBAE-F948-08D5-D8D4-0A58772BA9F3}"/>
                </a:ext>
              </a:extLst>
            </p:cNvPr>
            <p:cNvSpPr>
              <a:spLocks/>
            </p:cNvSpPr>
            <p:nvPr/>
          </p:nvSpPr>
          <p:spPr bwMode="auto">
            <a:xfrm>
              <a:off x="4370388" y="5654675"/>
              <a:ext cx="36513" cy="122238"/>
            </a:xfrm>
            <a:custGeom>
              <a:avLst/>
              <a:gdLst>
                <a:gd name="T0" fmla="*/ 18 w 95"/>
                <a:gd name="T1" fmla="*/ 12 h 324"/>
                <a:gd name="T2" fmla="*/ 12 w 95"/>
                <a:gd name="T3" fmla="*/ 17 h 324"/>
                <a:gd name="T4" fmla="*/ 5 w 95"/>
                <a:gd name="T5" fmla="*/ 39 h 324"/>
                <a:gd name="T6" fmla="*/ 0 w 95"/>
                <a:gd name="T7" fmla="*/ 102 h 324"/>
                <a:gd name="T8" fmla="*/ 1 w 95"/>
                <a:gd name="T9" fmla="*/ 175 h 324"/>
                <a:gd name="T10" fmla="*/ 3 w 95"/>
                <a:gd name="T11" fmla="*/ 226 h 324"/>
                <a:gd name="T12" fmla="*/ 7 w 95"/>
                <a:gd name="T13" fmla="*/ 288 h 324"/>
                <a:gd name="T14" fmla="*/ 13 w 95"/>
                <a:gd name="T15" fmla="*/ 311 h 324"/>
                <a:gd name="T16" fmla="*/ 19 w 95"/>
                <a:gd name="T17" fmla="*/ 319 h 324"/>
                <a:gd name="T18" fmla="*/ 33 w 95"/>
                <a:gd name="T19" fmla="*/ 324 h 324"/>
                <a:gd name="T20" fmla="*/ 48 w 95"/>
                <a:gd name="T21" fmla="*/ 324 h 324"/>
                <a:gd name="T22" fmla="*/ 61 w 95"/>
                <a:gd name="T23" fmla="*/ 324 h 324"/>
                <a:gd name="T24" fmla="*/ 75 w 95"/>
                <a:gd name="T25" fmla="*/ 319 h 324"/>
                <a:gd name="T26" fmla="*/ 82 w 95"/>
                <a:gd name="T27" fmla="*/ 311 h 324"/>
                <a:gd name="T28" fmla="*/ 88 w 95"/>
                <a:gd name="T29" fmla="*/ 290 h 324"/>
                <a:gd name="T30" fmla="*/ 93 w 95"/>
                <a:gd name="T31" fmla="*/ 232 h 324"/>
                <a:gd name="T32" fmla="*/ 94 w 95"/>
                <a:gd name="T33" fmla="*/ 185 h 324"/>
                <a:gd name="T34" fmla="*/ 95 w 95"/>
                <a:gd name="T35" fmla="*/ 128 h 324"/>
                <a:gd name="T36" fmla="*/ 91 w 95"/>
                <a:gd name="T37" fmla="*/ 66 h 324"/>
                <a:gd name="T38" fmla="*/ 85 w 95"/>
                <a:gd name="T39" fmla="*/ 35 h 324"/>
                <a:gd name="T40" fmla="*/ 76 w 95"/>
                <a:gd name="T41" fmla="*/ 15 h 324"/>
                <a:gd name="T42" fmla="*/ 63 w 95"/>
                <a:gd name="T43" fmla="*/ 3 h 324"/>
                <a:gd name="T44" fmla="*/ 48 w 95"/>
                <a:gd name="T45" fmla="*/ 0 h 324"/>
                <a:gd name="T46" fmla="*/ 29 w 95"/>
                <a:gd name="T47" fmla="*/ 6 h 324"/>
                <a:gd name="T48" fmla="*/ 18 w 95"/>
                <a:gd name="T49" fmla="*/ 1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5" h="324">
                  <a:moveTo>
                    <a:pt x="18" y="12"/>
                  </a:moveTo>
                  <a:lnTo>
                    <a:pt x="12" y="17"/>
                  </a:lnTo>
                  <a:lnTo>
                    <a:pt x="5" y="39"/>
                  </a:lnTo>
                  <a:lnTo>
                    <a:pt x="0" y="102"/>
                  </a:lnTo>
                  <a:lnTo>
                    <a:pt x="1" y="175"/>
                  </a:lnTo>
                  <a:lnTo>
                    <a:pt x="3" y="226"/>
                  </a:lnTo>
                  <a:lnTo>
                    <a:pt x="7" y="288"/>
                  </a:lnTo>
                  <a:lnTo>
                    <a:pt x="13" y="311"/>
                  </a:lnTo>
                  <a:lnTo>
                    <a:pt x="19" y="319"/>
                  </a:lnTo>
                  <a:lnTo>
                    <a:pt x="33" y="324"/>
                  </a:lnTo>
                  <a:lnTo>
                    <a:pt x="48" y="324"/>
                  </a:lnTo>
                  <a:lnTo>
                    <a:pt x="61" y="324"/>
                  </a:lnTo>
                  <a:lnTo>
                    <a:pt x="75" y="319"/>
                  </a:lnTo>
                  <a:lnTo>
                    <a:pt x="82" y="311"/>
                  </a:lnTo>
                  <a:lnTo>
                    <a:pt x="88" y="290"/>
                  </a:lnTo>
                  <a:lnTo>
                    <a:pt x="93" y="232"/>
                  </a:lnTo>
                  <a:lnTo>
                    <a:pt x="94" y="185"/>
                  </a:lnTo>
                  <a:lnTo>
                    <a:pt x="95" y="128"/>
                  </a:lnTo>
                  <a:lnTo>
                    <a:pt x="91" y="66"/>
                  </a:lnTo>
                  <a:lnTo>
                    <a:pt x="85" y="35"/>
                  </a:lnTo>
                  <a:lnTo>
                    <a:pt x="76" y="15"/>
                  </a:lnTo>
                  <a:lnTo>
                    <a:pt x="63" y="3"/>
                  </a:lnTo>
                  <a:lnTo>
                    <a:pt x="48" y="0"/>
                  </a:lnTo>
                  <a:lnTo>
                    <a:pt x="29" y="6"/>
                  </a:ln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3" name="Freeform 155">
              <a:extLst>
                <a:ext uri="{FF2B5EF4-FFF2-40B4-BE49-F238E27FC236}">
                  <a16:creationId xmlns:a16="http://schemas.microsoft.com/office/drawing/2014/main" id="{34CB3657-25F9-5AA7-9E60-E6C70C46A011}"/>
                </a:ext>
              </a:extLst>
            </p:cNvPr>
            <p:cNvSpPr>
              <a:spLocks/>
            </p:cNvSpPr>
            <p:nvPr/>
          </p:nvSpPr>
          <p:spPr bwMode="auto">
            <a:xfrm>
              <a:off x="4092576" y="5697538"/>
              <a:ext cx="95250" cy="112713"/>
            </a:xfrm>
            <a:custGeom>
              <a:avLst/>
              <a:gdLst>
                <a:gd name="T0" fmla="*/ 10 w 252"/>
                <a:gd name="T1" fmla="*/ 12 h 298"/>
                <a:gd name="T2" fmla="*/ 5 w 252"/>
                <a:gd name="T3" fmla="*/ 17 h 298"/>
                <a:gd name="T4" fmla="*/ 0 w 252"/>
                <a:gd name="T5" fmla="*/ 29 h 298"/>
                <a:gd name="T6" fmla="*/ 0 w 252"/>
                <a:gd name="T7" fmla="*/ 51 h 298"/>
                <a:gd name="T8" fmla="*/ 19 w 252"/>
                <a:gd name="T9" fmla="*/ 93 h 298"/>
                <a:gd name="T10" fmla="*/ 60 w 252"/>
                <a:gd name="T11" fmla="*/ 151 h 298"/>
                <a:gd name="T12" fmla="*/ 90 w 252"/>
                <a:gd name="T13" fmla="*/ 189 h 298"/>
                <a:gd name="T14" fmla="*/ 124 w 252"/>
                <a:gd name="T15" fmla="*/ 229 h 298"/>
                <a:gd name="T16" fmla="*/ 174 w 252"/>
                <a:gd name="T17" fmla="*/ 280 h 298"/>
                <a:gd name="T18" fmla="*/ 202 w 252"/>
                <a:gd name="T19" fmla="*/ 296 h 298"/>
                <a:gd name="T20" fmla="*/ 217 w 252"/>
                <a:gd name="T21" fmla="*/ 298 h 298"/>
                <a:gd name="T22" fmla="*/ 230 w 252"/>
                <a:gd name="T23" fmla="*/ 292 h 298"/>
                <a:gd name="T24" fmla="*/ 241 w 252"/>
                <a:gd name="T25" fmla="*/ 279 h 298"/>
                <a:gd name="T26" fmla="*/ 247 w 252"/>
                <a:gd name="T27" fmla="*/ 270 h 298"/>
                <a:gd name="T28" fmla="*/ 251 w 252"/>
                <a:gd name="T29" fmla="*/ 262 h 298"/>
                <a:gd name="T30" fmla="*/ 252 w 252"/>
                <a:gd name="T31" fmla="*/ 242 h 298"/>
                <a:gd name="T32" fmla="*/ 242 w 252"/>
                <a:gd name="T33" fmla="*/ 218 h 298"/>
                <a:gd name="T34" fmla="*/ 221 w 252"/>
                <a:gd name="T35" fmla="*/ 186 h 298"/>
                <a:gd name="T36" fmla="*/ 205 w 252"/>
                <a:gd name="T37" fmla="*/ 165 h 298"/>
                <a:gd name="T38" fmla="*/ 160 w 252"/>
                <a:gd name="T39" fmla="*/ 110 h 298"/>
                <a:gd name="T40" fmla="*/ 96 w 252"/>
                <a:gd name="T41" fmla="*/ 36 h 298"/>
                <a:gd name="T42" fmla="*/ 62 w 252"/>
                <a:gd name="T43" fmla="*/ 8 h 298"/>
                <a:gd name="T44" fmla="*/ 44 w 252"/>
                <a:gd name="T45" fmla="*/ 0 h 298"/>
                <a:gd name="T46" fmla="*/ 29 w 252"/>
                <a:gd name="T47" fmla="*/ 0 h 298"/>
                <a:gd name="T48" fmla="*/ 16 w 252"/>
                <a:gd name="T49" fmla="*/ 6 h 298"/>
                <a:gd name="T50" fmla="*/ 10 w 252"/>
                <a:gd name="T51" fmla="*/ 1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2" h="298">
                  <a:moveTo>
                    <a:pt x="10" y="12"/>
                  </a:moveTo>
                  <a:lnTo>
                    <a:pt x="5" y="17"/>
                  </a:lnTo>
                  <a:lnTo>
                    <a:pt x="0" y="29"/>
                  </a:lnTo>
                  <a:lnTo>
                    <a:pt x="0" y="51"/>
                  </a:lnTo>
                  <a:lnTo>
                    <a:pt x="19" y="93"/>
                  </a:lnTo>
                  <a:lnTo>
                    <a:pt x="60" y="151"/>
                  </a:lnTo>
                  <a:lnTo>
                    <a:pt x="90" y="189"/>
                  </a:lnTo>
                  <a:lnTo>
                    <a:pt x="124" y="229"/>
                  </a:lnTo>
                  <a:lnTo>
                    <a:pt x="174" y="280"/>
                  </a:lnTo>
                  <a:lnTo>
                    <a:pt x="202" y="296"/>
                  </a:lnTo>
                  <a:lnTo>
                    <a:pt x="217" y="298"/>
                  </a:lnTo>
                  <a:lnTo>
                    <a:pt x="230" y="292"/>
                  </a:lnTo>
                  <a:lnTo>
                    <a:pt x="241" y="279"/>
                  </a:lnTo>
                  <a:lnTo>
                    <a:pt x="247" y="270"/>
                  </a:lnTo>
                  <a:lnTo>
                    <a:pt x="251" y="262"/>
                  </a:lnTo>
                  <a:lnTo>
                    <a:pt x="252" y="242"/>
                  </a:lnTo>
                  <a:lnTo>
                    <a:pt x="242" y="218"/>
                  </a:lnTo>
                  <a:lnTo>
                    <a:pt x="221" y="186"/>
                  </a:lnTo>
                  <a:lnTo>
                    <a:pt x="205" y="165"/>
                  </a:lnTo>
                  <a:lnTo>
                    <a:pt x="160" y="110"/>
                  </a:lnTo>
                  <a:lnTo>
                    <a:pt x="96" y="36"/>
                  </a:lnTo>
                  <a:lnTo>
                    <a:pt x="62" y="8"/>
                  </a:lnTo>
                  <a:lnTo>
                    <a:pt x="44" y="0"/>
                  </a:lnTo>
                  <a:lnTo>
                    <a:pt x="29" y="0"/>
                  </a:lnTo>
                  <a:lnTo>
                    <a:pt x="16"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4" name="Freeform 156">
              <a:extLst>
                <a:ext uri="{FF2B5EF4-FFF2-40B4-BE49-F238E27FC236}">
                  <a16:creationId xmlns:a16="http://schemas.microsoft.com/office/drawing/2014/main" id="{ABCDC0C2-958D-0CB0-AF69-2957C42BB35E}"/>
                </a:ext>
              </a:extLst>
            </p:cNvPr>
            <p:cNvSpPr>
              <a:spLocks/>
            </p:cNvSpPr>
            <p:nvPr/>
          </p:nvSpPr>
          <p:spPr bwMode="auto">
            <a:xfrm>
              <a:off x="4587876" y="5700713"/>
              <a:ext cx="95250" cy="107950"/>
            </a:xfrm>
            <a:custGeom>
              <a:avLst/>
              <a:gdLst>
                <a:gd name="T0" fmla="*/ 84 w 252"/>
                <a:gd name="T1" fmla="*/ 112 h 287"/>
                <a:gd name="T2" fmla="*/ 34 w 252"/>
                <a:gd name="T3" fmla="*/ 175 h 287"/>
                <a:gd name="T4" fmla="*/ 3 w 252"/>
                <a:gd name="T5" fmla="*/ 228 h 287"/>
                <a:gd name="T6" fmla="*/ 0 w 252"/>
                <a:gd name="T7" fmla="*/ 250 h 287"/>
                <a:gd name="T8" fmla="*/ 4 w 252"/>
                <a:gd name="T9" fmla="*/ 258 h 287"/>
                <a:gd name="T10" fmla="*/ 11 w 252"/>
                <a:gd name="T11" fmla="*/ 268 h 287"/>
                <a:gd name="T12" fmla="*/ 24 w 252"/>
                <a:gd name="T13" fmla="*/ 281 h 287"/>
                <a:gd name="T14" fmla="*/ 38 w 252"/>
                <a:gd name="T15" fmla="*/ 287 h 287"/>
                <a:gd name="T16" fmla="*/ 54 w 252"/>
                <a:gd name="T17" fmla="*/ 286 h 287"/>
                <a:gd name="T18" fmla="*/ 83 w 252"/>
                <a:gd name="T19" fmla="*/ 270 h 287"/>
                <a:gd name="T20" fmla="*/ 135 w 252"/>
                <a:gd name="T21" fmla="*/ 218 h 287"/>
                <a:gd name="T22" fmla="*/ 169 w 252"/>
                <a:gd name="T23" fmla="*/ 177 h 287"/>
                <a:gd name="T24" fmla="*/ 219 w 252"/>
                <a:gd name="T25" fmla="*/ 113 h 287"/>
                <a:gd name="T26" fmla="*/ 250 w 252"/>
                <a:gd name="T27" fmla="*/ 60 h 287"/>
                <a:gd name="T28" fmla="*/ 252 w 252"/>
                <a:gd name="T29" fmla="*/ 38 h 287"/>
                <a:gd name="T30" fmla="*/ 247 w 252"/>
                <a:gd name="T31" fmla="*/ 30 h 287"/>
                <a:gd name="T32" fmla="*/ 241 w 252"/>
                <a:gd name="T33" fmla="*/ 20 h 287"/>
                <a:gd name="T34" fmla="*/ 228 w 252"/>
                <a:gd name="T35" fmla="*/ 7 h 287"/>
                <a:gd name="T36" fmla="*/ 214 w 252"/>
                <a:gd name="T37" fmla="*/ 0 h 287"/>
                <a:gd name="T38" fmla="*/ 198 w 252"/>
                <a:gd name="T39" fmla="*/ 1 h 287"/>
                <a:gd name="T40" fmla="*/ 170 w 252"/>
                <a:gd name="T41" fmla="*/ 17 h 287"/>
                <a:gd name="T42" fmla="*/ 118 w 252"/>
                <a:gd name="T43" fmla="*/ 70 h 287"/>
                <a:gd name="T44" fmla="*/ 84 w 252"/>
                <a:gd name="T45" fmla="*/ 112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2" h="287">
                  <a:moveTo>
                    <a:pt x="84" y="112"/>
                  </a:moveTo>
                  <a:lnTo>
                    <a:pt x="34" y="175"/>
                  </a:lnTo>
                  <a:lnTo>
                    <a:pt x="3" y="228"/>
                  </a:lnTo>
                  <a:lnTo>
                    <a:pt x="0" y="250"/>
                  </a:lnTo>
                  <a:lnTo>
                    <a:pt x="4" y="258"/>
                  </a:lnTo>
                  <a:lnTo>
                    <a:pt x="11" y="268"/>
                  </a:lnTo>
                  <a:lnTo>
                    <a:pt x="24" y="281"/>
                  </a:lnTo>
                  <a:lnTo>
                    <a:pt x="38" y="287"/>
                  </a:lnTo>
                  <a:lnTo>
                    <a:pt x="54" y="286"/>
                  </a:lnTo>
                  <a:lnTo>
                    <a:pt x="83" y="270"/>
                  </a:lnTo>
                  <a:lnTo>
                    <a:pt x="135" y="218"/>
                  </a:lnTo>
                  <a:lnTo>
                    <a:pt x="169" y="177"/>
                  </a:lnTo>
                  <a:lnTo>
                    <a:pt x="219" y="113"/>
                  </a:lnTo>
                  <a:lnTo>
                    <a:pt x="250" y="60"/>
                  </a:lnTo>
                  <a:lnTo>
                    <a:pt x="252" y="38"/>
                  </a:lnTo>
                  <a:lnTo>
                    <a:pt x="247" y="30"/>
                  </a:lnTo>
                  <a:lnTo>
                    <a:pt x="241" y="20"/>
                  </a:lnTo>
                  <a:lnTo>
                    <a:pt x="228" y="7"/>
                  </a:lnTo>
                  <a:lnTo>
                    <a:pt x="214" y="0"/>
                  </a:lnTo>
                  <a:lnTo>
                    <a:pt x="198" y="1"/>
                  </a:lnTo>
                  <a:lnTo>
                    <a:pt x="170" y="17"/>
                  </a:lnTo>
                  <a:lnTo>
                    <a:pt x="118" y="70"/>
                  </a:lnTo>
                  <a:lnTo>
                    <a:pt x="84"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5" name="Freeform 164">
              <a:extLst>
                <a:ext uri="{FF2B5EF4-FFF2-40B4-BE49-F238E27FC236}">
                  <a16:creationId xmlns:a16="http://schemas.microsoft.com/office/drawing/2014/main" id="{57725581-C7EC-44D0-8AA9-59A2A0F01F9F}"/>
                </a:ext>
              </a:extLst>
            </p:cNvPr>
            <p:cNvSpPr>
              <a:spLocks noEditPoints="1"/>
            </p:cNvSpPr>
            <p:nvPr/>
          </p:nvSpPr>
          <p:spPr bwMode="auto">
            <a:xfrm>
              <a:off x="3990976" y="5881688"/>
              <a:ext cx="788988" cy="622300"/>
            </a:xfrm>
            <a:custGeom>
              <a:avLst/>
              <a:gdLst>
                <a:gd name="T0" fmla="*/ 335 w 2083"/>
                <a:gd name="T1" fmla="*/ 187 h 1640"/>
                <a:gd name="T2" fmla="*/ 0 w 2083"/>
                <a:gd name="T3" fmla="*/ 579 h 1640"/>
                <a:gd name="T4" fmla="*/ 505 w 2083"/>
                <a:gd name="T5" fmla="*/ 1117 h 1640"/>
                <a:gd name="T6" fmla="*/ 1016 w 2083"/>
                <a:gd name="T7" fmla="*/ 1625 h 1640"/>
                <a:gd name="T8" fmla="*/ 1050 w 2083"/>
                <a:gd name="T9" fmla="*/ 1639 h 1640"/>
                <a:gd name="T10" fmla="*/ 1339 w 2083"/>
                <a:gd name="T11" fmla="*/ 1371 h 1640"/>
                <a:gd name="T12" fmla="*/ 2000 w 2083"/>
                <a:gd name="T13" fmla="*/ 676 h 1640"/>
                <a:gd name="T14" fmla="*/ 2080 w 2083"/>
                <a:gd name="T15" fmla="*/ 568 h 1640"/>
                <a:gd name="T16" fmla="*/ 1808 w 2083"/>
                <a:gd name="T17" fmla="*/ 236 h 1640"/>
                <a:gd name="T18" fmla="*/ 1609 w 2083"/>
                <a:gd name="T19" fmla="*/ 23 h 1640"/>
                <a:gd name="T20" fmla="*/ 1234 w 2083"/>
                <a:gd name="T21" fmla="*/ 0 h 1640"/>
                <a:gd name="T22" fmla="*/ 543 w 2083"/>
                <a:gd name="T23" fmla="*/ 6 h 1640"/>
                <a:gd name="T24" fmla="*/ 758 w 2083"/>
                <a:gd name="T25" fmla="*/ 160 h 1640"/>
                <a:gd name="T26" fmla="*/ 704 w 2083"/>
                <a:gd name="T27" fmla="*/ 299 h 1640"/>
                <a:gd name="T28" fmla="*/ 725 w 2083"/>
                <a:gd name="T29" fmla="*/ 342 h 1640"/>
                <a:gd name="T30" fmla="*/ 771 w 2083"/>
                <a:gd name="T31" fmla="*/ 349 h 1640"/>
                <a:gd name="T32" fmla="*/ 841 w 2083"/>
                <a:gd name="T33" fmla="*/ 224 h 1640"/>
                <a:gd name="T34" fmla="*/ 1208 w 2083"/>
                <a:gd name="T35" fmla="*/ 115 h 1640"/>
                <a:gd name="T36" fmla="*/ 1363 w 2083"/>
                <a:gd name="T37" fmla="*/ 502 h 1640"/>
                <a:gd name="T38" fmla="*/ 1018 w 2083"/>
                <a:gd name="T39" fmla="*/ 515 h 1640"/>
                <a:gd name="T40" fmla="*/ 233 w 2083"/>
                <a:gd name="T41" fmla="*/ 509 h 1640"/>
                <a:gd name="T42" fmla="*/ 302 w 2083"/>
                <a:gd name="T43" fmla="*/ 382 h 1640"/>
                <a:gd name="T44" fmla="*/ 653 w 2083"/>
                <a:gd name="T45" fmla="*/ 115 h 1640"/>
                <a:gd name="T46" fmla="*/ 765 w 2083"/>
                <a:gd name="T47" fmla="*/ 127 h 1640"/>
                <a:gd name="T48" fmla="*/ 1780 w 2083"/>
                <a:gd name="T49" fmla="*/ 365 h 1640"/>
                <a:gd name="T50" fmla="*/ 1890 w 2083"/>
                <a:gd name="T51" fmla="*/ 497 h 1640"/>
                <a:gd name="T52" fmla="*/ 1805 w 2083"/>
                <a:gd name="T53" fmla="*/ 514 h 1640"/>
                <a:gd name="T54" fmla="*/ 1408 w 2083"/>
                <a:gd name="T55" fmla="*/ 325 h 1640"/>
                <a:gd name="T56" fmla="*/ 1335 w 2083"/>
                <a:gd name="T57" fmla="*/ 126 h 1640"/>
                <a:gd name="T58" fmla="*/ 1446 w 2083"/>
                <a:gd name="T59" fmla="*/ 115 h 1640"/>
                <a:gd name="T60" fmla="*/ 746 w 2083"/>
                <a:gd name="T61" fmla="*/ 985 h 1640"/>
                <a:gd name="T62" fmla="*/ 878 w 2083"/>
                <a:gd name="T63" fmla="*/ 1342 h 1640"/>
                <a:gd name="T64" fmla="*/ 410 w 2083"/>
                <a:gd name="T65" fmla="*/ 869 h 1640"/>
                <a:gd name="T66" fmla="*/ 211 w 2083"/>
                <a:gd name="T67" fmla="*/ 638 h 1640"/>
                <a:gd name="T68" fmla="*/ 608 w 2083"/>
                <a:gd name="T69" fmla="*/ 634 h 1640"/>
                <a:gd name="T70" fmla="*/ 1350 w 2083"/>
                <a:gd name="T71" fmla="*/ 697 h 1640"/>
                <a:gd name="T72" fmla="*/ 1141 w 2083"/>
                <a:gd name="T73" fmla="*/ 1227 h 1640"/>
                <a:gd name="T74" fmla="*/ 1050 w 2083"/>
                <a:gd name="T75" fmla="*/ 1432 h 1640"/>
                <a:gd name="T76" fmla="*/ 900 w 2083"/>
                <a:gd name="T77" fmla="*/ 1085 h 1640"/>
                <a:gd name="T78" fmla="*/ 716 w 2083"/>
                <a:gd name="T79" fmla="*/ 632 h 1640"/>
                <a:gd name="T80" fmla="*/ 1312 w 2083"/>
                <a:gd name="T81" fmla="*/ 638 h 1640"/>
                <a:gd name="T82" fmla="*/ 1831 w 2083"/>
                <a:gd name="T83" fmla="*/ 710 h 1640"/>
                <a:gd name="T84" fmla="*/ 1230 w 2083"/>
                <a:gd name="T85" fmla="*/ 1329 h 1640"/>
                <a:gd name="T86" fmla="*/ 1351 w 2083"/>
                <a:gd name="T87" fmla="*/ 977 h 1640"/>
                <a:gd name="T88" fmla="*/ 1905 w 2083"/>
                <a:gd name="T89" fmla="*/ 632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3" h="1640">
                  <a:moveTo>
                    <a:pt x="505" y="9"/>
                  </a:moveTo>
                  <a:lnTo>
                    <a:pt x="481" y="30"/>
                  </a:lnTo>
                  <a:lnTo>
                    <a:pt x="335" y="187"/>
                  </a:lnTo>
                  <a:lnTo>
                    <a:pt x="150" y="395"/>
                  </a:lnTo>
                  <a:lnTo>
                    <a:pt x="15" y="555"/>
                  </a:lnTo>
                  <a:lnTo>
                    <a:pt x="0" y="579"/>
                  </a:lnTo>
                  <a:lnTo>
                    <a:pt x="28" y="614"/>
                  </a:lnTo>
                  <a:lnTo>
                    <a:pt x="302" y="907"/>
                  </a:lnTo>
                  <a:lnTo>
                    <a:pt x="505" y="1117"/>
                  </a:lnTo>
                  <a:lnTo>
                    <a:pt x="748" y="1369"/>
                  </a:lnTo>
                  <a:lnTo>
                    <a:pt x="959" y="1576"/>
                  </a:lnTo>
                  <a:lnTo>
                    <a:pt x="1016" y="1625"/>
                  </a:lnTo>
                  <a:lnTo>
                    <a:pt x="1039" y="1639"/>
                  </a:lnTo>
                  <a:lnTo>
                    <a:pt x="1045" y="1640"/>
                  </a:lnTo>
                  <a:lnTo>
                    <a:pt x="1050" y="1639"/>
                  </a:lnTo>
                  <a:lnTo>
                    <a:pt x="1072" y="1625"/>
                  </a:lnTo>
                  <a:lnTo>
                    <a:pt x="1129" y="1577"/>
                  </a:lnTo>
                  <a:lnTo>
                    <a:pt x="1339" y="1371"/>
                  </a:lnTo>
                  <a:lnTo>
                    <a:pt x="1581" y="1120"/>
                  </a:lnTo>
                  <a:lnTo>
                    <a:pt x="1782" y="911"/>
                  </a:lnTo>
                  <a:lnTo>
                    <a:pt x="2000" y="676"/>
                  </a:lnTo>
                  <a:lnTo>
                    <a:pt x="2076" y="588"/>
                  </a:lnTo>
                  <a:lnTo>
                    <a:pt x="2083" y="575"/>
                  </a:lnTo>
                  <a:lnTo>
                    <a:pt x="2080" y="568"/>
                  </a:lnTo>
                  <a:lnTo>
                    <a:pt x="2049" y="525"/>
                  </a:lnTo>
                  <a:lnTo>
                    <a:pt x="1963" y="418"/>
                  </a:lnTo>
                  <a:lnTo>
                    <a:pt x="1808" y="236"/>
                  </a:lnTo>
                  <a:lnTo>
                    <a:pt x="1666" y="78"/>
                  </a:lnTo>
                  <a:lnTo>
                    <a:pt x="1623" y="35"/>
                  </a:lnTo>
                  <a:lnTo>
                    <a:pt x="1609" y="23"/>
                  </a:lnTo>
                  <a:lnTo>
                    <a:pt x="1565" y="7"/>
                  </a:lnTo>
                  <a:lnTo>
                    <a:pt x="1458" y="1"/>
                  </a:lnTo>
                  <a:lnTo>
                    <a:pt x="1234" y="0"/>
                  </a:lnTo>
                  <a:lnTo>
                    <a:pt x="1053" y="0"/>
                  </a:lnTo>
                  <a:lnTo>
                    <a:pt x="841" y="1"/>
                  </a:lnTo>
                  <a:lnTo>
                    <a:pt x="543" y="6"/>
                  </a:lnTo>
                  <a:lnTo>
                    <a:pt x="505" y="9"/>
                  </a:lnTo>
                  <a:close/>
                  <a:moveTo>
                    <a:pt x="766" y="130"/>
                  </a:moveTo>
                  <a:lnTo>
                    <a:pt x="758" y="160"/>
                  </a:lnTo>
                  <a:lnTo>
                    <a:pt x="730" y="232"/>
                  </a:lnTo>
                  <a:lnTo>
                    <a:pt x="718" y="261"/>
                  </a:lnTo>
                  <a:lnTo>
                    <a:pt x="704" y="299"/>
                  </a:lnTo>
                  <a:lnTo>
                    <a:pt x="703" y="320"/>
                  </a:lnTo>
                  <a:lnTo>
                    <a:pt x="714" y="334"/>
                  </a:lnTo>
                  <a:lnTo>
                    <a:pt x="725" y="342"/>
                  </a:lnTo>
                  <a:lnTo>
                    <a:pt x="740" y="352"/>
                  </a:lnTo>
                  <a:lnTo>
                    <a:pt x="759" y="355"/>
                  </a:lnTo>
                  <a:lnTo>
                    <a:pt x="771" y="349"/>
                  </a:lnTo>
                  <a:lnTo>
                    <a:pt x="790" y="328"/>
                  </a:lnTo>
                  <a:lnTo>
                    <a:pt x="821" y="269"/>
                  </a:lnTo>
                  <a:lnTo>
                    <a:pt x="841" y="224"/>
                  </a:lnTo>
                  <a:lnTo>
                    <a:pt x="886" y="115"/>
                  </a:lnTo>
                  <a:lnTo>
                    <a:pt x="1048" y="115"/>
                  </a:lnTo>
                  <a:lnTo>
                    <a:pt x="1208" y="115"/>
                  </a:lnTo>
                  <a:lnTo>
                    <a:pt x="1283" y="302"/>
                  </a:lnTo>
                  <a:lnTo>
                    <a:pt x="1343" y="450"/>
                  </a:lnTo>
                  <a:lnTo>
                    <a:pt x="1363" y="502"/>
                  </a:lnTo>
                  <a:lnTo>
                    <a:pt x="1356" y="505"/>
                  </a:lnTo>
                  <a:lnTo>
                    <a:pt x="1269" y="510"/>
                  </a:lnTo>
                  <a:lnTo>
                    <a:pt x="1018" y="515"/>
                  </a:lnTo>
                  <a:lnTo>
                    <a:pt x="785" y="515"/>
                  </a:lnTo>
                  <a:lnTo>
                    <a:pt x="551" y="515"/>
                  </a:lnTo>
                  <a:lnTo>
                    <a:pt x="233" y="509"/>
                  </a:lnTo>
                  <a:lnTo>
                    <a:pt x="200" y="505"/>
                  </a:lnTo>
                  <a:lnTo>
                    <a:pt x="209" y="491"/>
                  </a:lnTo>
                  <a:lnTo>
                    <a:pt x="302" y="382"/>
                  </a:lnTo>
                  <a:lnTo>
                    <a:pt x="370" y="305"/>
                  </a:lnTo>
                  <a:lnTo>
                    <a:pt x="540" y="115"/>
                  </a:lnTo>
                  <a:lnTo>
                    <a:pt x="653" y="115"/>
                  </a:lnTo>
                  <a:lnTo>
                    <a:pt x="698" y="116"/>
                  </a:lnTo>
                  <a:lnTo>
                    <a:pt x="747" y="122"/>
                  </a:lnTo>
                  <a:lnTo>
                    <a:pt x="765" y="127"/>
                  </a:lnTo>
                  <a:lnTo>
                    <a:pt x="766" y="130"/>
                  </a:lnTo>
                  <a:close/>
                  <a:moveTo>
                    <a:pt x="1716" y="294"/>
                  </a:moveTo>
                  <a:lnTo>
                    <a:pt x="1780" y="365"/>
                  </a:lnTo>
                  <a:lnTo>
                    <a:pt x="1874" y="474"/>
                  </a:lnTo>
                  <a:lnTo>
                    <a:pt x="1888" y="494"/>
                  </a:lnTo>
                  <a:lnTo>
                    <a:pt x="1890" y="497"/>
                  </a:lnTo>
                  <a:lnTo>
                    <a:pt x="1889" y="503"/>
                  </a:lnTo>
                  <a:lnTo>
                    <a:pt x="1878" y="509"/>
                  </a:lnTo>
                  <a:lnTo>
                    <a:pt x="1805" y="514"/>
                  </a:lnTo>
                  <a:lnTo>
                    <a:pt x="1691" y="512"/>
                  </a:lnTo>
                  <a:lnTo>
                    <a:pt x="1481" y="507"/>
                  </a:lnTo>
                  <a:lnTo>
                    <a:pt x="1408" y="325"/>
                  </a:lnTo>
                  <a:lnTo>
                    <a:pt x="1350" y="180"/>
                  </a:lnTo>
                  <a:lnTo>
                    <a:pt x="1333" y="129"/>
                  </a:lnTo>
                  <a:lnTo>
                    <a:pt x="1335" y="126"/>
                  </a:lnTo>
                  <a:lnTo>
                    <a:pt x="1352" y="121"/>
                  </a:lnTo>
                  <a:lnTo>
                    <a:pt x="1401" y="116"/>
                  </a:lnTo>
                  <a:lnTo>
                    <a:pt x="1446" y="115"/>
                  </a:lnTo>
                  <a:lnTo>
                    <a:pt x="1558" y="115"/>
                  </a:lnTo>
                  <a:lnTo>
                    <a:pt x="1716" y="294"/>
                  </a:lnTo>
                  <a:close/>
                  <a:moveTo>
                    <a:pt x="746" y="985"/>
                  </a:moveTo>
                  <a:lnTo>
                    <a:pt x="801" y="1126"/>
                  </a:lnTo>
                  <a:lnTo>
                    <a:pt x="873" y="1320"/>
                  </a:lnTo>
                  <a:lnTo>
                    <a:pt x="878" y="1342"/>
                  </a:lnTo>
                  <a:lnTo>
                    <a:pt x="855" y="1323"/>
                  </a:lnTo>
                  <a:lnTo>
                    <a:pt x="663" y="1131"/>
                  </a:lnTo>
                  <a:lnTo>
                    <a:pt x="410" y="869"/>
                  </a:lnTo>
                  <a:lnTo>
                    <a:pt x="221" y="668"/>
                  </a:lnTo>
                  <a:lnTo>
                    <a:pt x="200" y="642"/>
                  </a:lnTo>
                  <a:lnTo>
                    <a:pt x="211" y="638"/>
                  </a:lnTo>
                  <a:lnTo>
                    <a:pt x="322" y="633"/>
                  </a:lnTo>
                  <a:lnTo>
                    <a:pt x="405" y="632"/>
                  </a:lnTo>
                  <a:lnTo>
                    <a:pt x="608" y="634"/>
                  </a:lnTo>
                  <a:lnTo>
                    <a:pt x="746" y="985"/>
                  </a:lnTo>
                  <a:close/>
                  <a:moveTo>
                    <a:pt x="1366" y="645"/>
                  </a:moveTo>
                  <a:lnTo>
                    <a:pt x="1350" y="697"/>
                  </a:lnTo>
                  <a:lnTo>
                    <a:pt x="1295" y="842"/>
                  </a:lnTo>
                  <a:lnTo>
                    <a:pt x="1221" y="1029"/>
                  </a:lnTo>
                  <a:lnTo>
                    <a:pt x="1141" y="1227"/>
                  </a:lnTo>
                  <a:lnTo>
                    <a:pt x="1109" y="1309"/>
                  </a:lnTo>
                  <a:lnTo>
                    <a:pt x="1059" y="1421"/>
                  </a:lnTo>
                  <a:lnTo>
                    <a:pt x="1050" y="1432"/>
                  </a:lnTo>
                  <a:lnTo>
                    <a:pt x="1037" y="1413"/>
                  </a:lnTo>
                  <a:lnTo>
                    <a:pt x="955" y="1225"/>
                  </a:lnTo>
                  <a:lnTo>
                    <a:pt x="900" y="1085"/>
                  </a:lnTo>
                  <a:lnTo>
                    <a:pt x="787" y="805"/>
                  </a:lnTo>
                  <a:lnTo>
                    <a:pt x="738" y="685"/>
                  </a:lnTo>
                  <a:lnTo>
                    <a:pt x="716" y="632"/>
                  </a:lnTo>
                  <a:lnTo>
                    <a:pt x="1041" y="632"/>
                  </a:lnTo>
                  <a:lnTo>
                    <a:pt x="1171" y="633"/>
                  </a:lnTo>
                  <a:lnTo>
                    <a:pt x="1312" y="638"/>
                  </a:lnTo>
                  <a:lnTo>
                    <a:pt x="1362" y="643"/>
                  </a:lnTo>
                  <a:lnTo>
                    <a:pt x="1366" y="645"/>
                  </a:lnTo>
                  <a:close/>
                  <a:moveTo>
                    <a:pt x="1831" y="710"/>
                  </a:moveTo>
                  <a:lnTo>
                    <a:pt x="1667" y="887"/>
                  </a:lnTo>
                  <a:lnTo>
                    <a:pt x="1362" y="1200"/>
                  </a:lnTo>
                  <a:lnTo>
                    <a:pt x="1230" y="1329"/>
                  </a:lnTo>
                  <a:lnTo>
                    <a:pt x="1216" y="1339"/>
                  </a:lnTo>
                  <a:lnTo>
                    <a:pt x="1246" y="1250"/>
                  </a:lnTo>
                  <a:lnTo>
                    <a:pt x="1351" y="977"/>
                  </a:lnTo>
                  <a:lnTo>
                    <a:pt x="1488" y="632"/>
                  </a:lnTo>
                  <a:lnTo>
                    <a:pt x="1696" y="632"/>
                  </a:lnTo>
                  <a:lnTo>
                    <a:pt x="1905" y="632"/>
                  </a:lnTo>
                  <a:lnTo>
                    <a:pt x="1831" y="7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36" name="TextBox 35">
            <a:extLst>
              <a:ext uri="{FF2B5EF4-FFF2-40B4-BE49-F238E27FC236}">
                <a16:creationId xmlns:a16="http://schemas.microsoft.com/office/drawing/2014/main" id="{A08BE568-F0BA-7B30-F982-D6714FBE2C74}"/>
              </a:ext>
            </a:extLst>
          </p:cNvPr>
          <p:cNvSpPr txBox="1"/>
          <p:nvPr/>
        </p:nvSpPr>
        <p:spPr>
          <a:xfrm>
            <a:off x="6894811" y="2579972"/>
            <a:ext cx="1544983" cy="1716648"/>
          </a:xfrm>
          <a:prstGeom prst="rect">
            <a:avLst/>
          </a:prstGeom>
          <a:noFill/>
        </p:spPr>
        <p:txBody>
          <a:bodyPr wrap="square" rtlCol="0">
            <a:spAutoFit/>
          </a:bodyPr>
          <a:lstStyle/>
          <a:p>
            <a:pPr algn="justLow" rtl="1"/>
            <a:r>
              <a:rPr lang="ar-SA" sz="1100" dirty="0"/>
              <a:t>مواءمة مبادرات التحول مع أولويات الأعمال، بما يضمن</a:t>
            </a:r>
            <a:r>
              <a:rPr lang="en-US" sz="1100" dirty="0"/>
              <a:t> </a:t>
            </a:r>
            <a:r>
              <a:rPr lang="ar-SA" sz="1100" dirty="0"/>
              <a:t>تركيز الموارد على الأنشطة ذات القيمة العالية التي تدعم أهداف الأعمال بشكل مباشر. ومنع الإنفاق الباهظ على المشاريع ذات الأولوية المنخفضة.</a:t>
            </a:r>
            <a:endParaRPr lang="en-US" sz="1100" dirty="0"/>
          </a:p>
        </p:txBody>
      </p:sp>
      <p:sp>
        <p:nvSpPr>
          <p:cNvPr id="37" name="TextBox 36">
            <a:extLst>
              <a:ext uri="{FF2B5EF4-FFF2-40B4-BE49-F238E27FC236}">
                <a16:creationId xmlns:a16="http://schemas.microsoft.com/office/drawing/2014/main" id="{59644EC2-145F-33BF-CEAB-BC2A8D047491}"/>
              </a:ext>
            </a:extLst>
          </p:cNvPr>
          <p:cNvSpPr txBox="1"/>
          <p:nvPr/>
        </p:nvSpPr>
        <p:spPr>
          <a:xfrm>
            <a:off x="6941469" y="4564575"/>
            <a:ext cx="1451669" cy="808925"/>
          </a:xfrm>
          <a:prstGeom prst="rect">
            <a:avLst/>
          </a:prstGeom>
          <a:noFill/>
        </p:spPr>
        <p:txBody>
          <a:bodyPr wrap="square" rtlCol="0">
            <a:spAutoFit/>
          </a:bodyPr>
          <a:lstStyle/>
          <a:p>
            <a:pPr algn="justLow" rtl="1"/>
            <a:r>
              <a:rPr lang="ar-SA" sz="1000" dirty="0"/>
              <a:t>مثال: إلغاء أو تقليص ميزانيات مشاريع لأنها لا تخدم الشريحة الأوسع من المستفيدين وذات مردود محدود على الأعمال</a:t>
            </a:r>
            <a:endParaRPr lang="en-US" sz="1000" dirty="0"/>
          </a:p>
        </p:txBody>
      </p:sp>
      <p:sp>
        <p:nvSpPr>
          <p:cNvPr id="38" name="TextBox 133">
            <a:extLst>
              <a:ext uri="{FF2B5EF4-FFF2-40B4-BE49-F238E27FC236}">
                <a16:creationId xmlns:a16="http://schemas.microsoft.com/office/drawing/2014/main" id="{CB3E239F-88F3-4B63-BCAF-22460A45F38A}"/>
              </a:ext>
            </a:extLst>
          </p:cNvPr>
          <p:cNvSpPr txBox="1"/>
          <p:nvPr/>
        </p:nvSpPr>
        <p:spPr>
          <a:xfrm>
            <a:off x="5323508"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دعم صناع القرار</a:t>
            </a:r>
            <a:endParaRPr lang="en-US" sz="1400" b="1" dirty="0">
              <a:solidFill>
                <a:schemeClr val="accent2"/>
              </a:solidFill>
            </a:endParaRPr>
          </a:p>
        </p:txBody>
      </p:sp>
      <p:grpSp>
        <p:nvGrpSpPr>
          <p:cNvPr id="39" name="Group 38">
            <a:extLst>
              <a:ext uri="{FF2B5EF4-FFF2-40B4-BE49-F238E27FC236}">
                <a16:creationId xmlns:a16="http://schemas.microsoft.com/office/drawing/2014/main" id="{DC3C0B28-E4C6-7197-3568-9474B462217C}"/>
              </a:ext>
            </a:extLst>
          </p:cNvPr>
          <p:cNvGrpSpPr>
            <a:grpSpLocks noChangeAspect="1"/>
          </p:cNvGrpSpPr>
          <p:nvPr/>
        </p:nvGrpSpPr>
        <p:grpSpPr>
          <a:xfrm>
            <a:off x="5781009" y="1340047"/>
            <a:ext cx="629982" cy="626577"/>
            <a:chOff x="33338" y="1033463"/>
            <a:chExt cx="2055813" cy="2044701"/>
          </a:xfrm>
          <a:solidFill>
            <a:schemeClr val="accent1"/>
          </a:solidFill>
        </p:grpSpPr>
        <p:sp>
          <p:nvSpPr>
            <p:cNvPr id="40" name="Freeform 5">
              <a:extLst>
                <a:ext uri="{FF2B5EF4-FFF2-40B4-BE49-F238E27FC236}">
                  <a16:creationId xmlns:a16="http://schemas.microsoft.com/office/drawing/2014/main" id="{C91182B1-FB04-DCBF-FD8B-C19B07893DA4}"/>
                </a:ext>
              </a:extLst>
            </p:cNvPr>
            <p:cNvSpPr>
              <a:spLocks noEditPoints="1"/>
            </p:cNvSpPr>
            <p:nvPr/>
          </p:nvSpPr>
          <p:spPr bwMode="auto">
            <a:xfrm>
              <a:off x="33338" y="1033463"/>
              <a:ext cx="1689100" cy="2044700"/>
            </a:xfrm>
            <a:custGeom>
              <a:avLst/>
              <a:gdLst>
                <a:gd name="T0" fmla="*/ 1498 w 4150"/>
                <a:gd name="T1" fmla="*/ 73 h 5030"/>
                <a:gd name="T2" fmla="*/ 1384 w 4150"/>
                <a:gd name="T3" fmla="*/ 193 h 5030"/>
                <a:gd name="T4" fmla="*/ 1334 w 4150"/>
                <a:gd name="T5" fmla="*/ 336 h 5030"/>
                <a:gd name="T6" fmla="*/ 1169 w 4150"/>
                <a:gd name="T7" fmla="*/ 432 h 5030"/>
                <a:gd name="T8" fmla="*/ 993 w 4150"/>
                <a:gd name="T9" fmla="*/ 448 h 5030"/>
                <a:gd name="T10" fmla="*/ 967 w 4150"/>
                <a:gd name="T11" fmla="*/ 538 h 5030"/>
                <a:gd name="T12" fmla="*/ 575 w 4150"/>
                <a:gd name="T13" fmla="*/ 698 h 5030"/>
                <a:gd name="T14" fmla="*/ 204 w 4150"/>
                <a:gd name="T15" fmla="*/ 718 h 5030"/>
                <a:gd name="T16" fmla="*/ 83 w 4150"/>
                <a:gd name="T17" fmla="*/ 773 h 5030"/>
                <a:gd name="T18" fmla="*/ 0 w 4150"/>
                <a:gd name="T19" fmla="*/ 890 h 5030"/>
                <a:gd name="T20" fmla="*/ 6 w 4150"/>
                <a:gd name="T21" fmla="*/ 4680 h 5030"/>
                <a:gd name="T22" fmla="*/ 29 w 4150"/>
                <a:gd name="T23" fmla="*/ 4882 h 5030"/>
                <a:gd name="T24" fmla="*/ 104 w 4150"/>
                <a:gd name="T25" fmla="*/ 4966 h 5030"/>
                <a:gd name="T26" fmla="*/ 2034 w 4150"/>
                <a:gd name="T27" fmla="*/ 5028 h 5030"/>
                <a:gd name="T28" fmla="*/ 3904 w 4150"/>
                <a:gd name="T29" fmla="*/ 5020 h 5030"/>
                <a:gd name="T30" fmla="*/ 4025 w 4150"/>
                <a:gd name="T31" fmla="*/ 4973 h 5030"/>
                <a:gd name="T32" fmla="*/ 4127 w 4150"/>
                <a:gd name="T33" fmla="*/ 4853 h 5030"/>
                <a:gd name="T34" fmla="*/ 4143 w 4150"/>
                <a:gd name="T35" fmla="*/ 4636 h 5030"/>
                <a:gd name="T36" fmla="*/ 4150 w 4150"/>
                <a:gd name="T37" fmla="*/ 2142 h 5030"/>
                <a:gd name="T38" fmla="*/ 4135 w 4150"/>
                <a:gd name="T39" fmla="*/ 976 h 5030"/>
                <a:gd name="T40" fmla="*/ 4093 w 4150"/>
                <a:gd name="T41" fmla="*/ 812 h 5030"/>
                <a:gd name="T42" fmla="*/ 4037 w 4150"/>
                <a:gd name="T43" fmla="*/ 764 h 5030"/>
                <a:gd name="T44" fmla="*/ 3926 w 4150"/>
                <a:gd name="T45" fmla="*/ 716 h 5030"/>
                <a:gd name="T46" fmla="*/ 3530 w 4150"/>
                <a:gd name="T47" fmla="*/ 698 h 5030"/>
                <a:gd name="T48" fmla="*/ 3183 w 4150"/>
                <a:gd name="T49" fmla="*/ 552 h 5030"/>
                <a:gd name="T50" fmla="*/ 3142 w 4150"/>
                <a:gd name="T51" fmla="*/ 464 h 5030"/>
                <a:gd name="T52" fmla="*/ 2975 w 4150"/>
                <a:gd name="T53" fmla="*/ 445 h 5030"/>
                <a:gd name="T54" fmla="*/ 2791 w 4150"/>
                <a:gd name="T55" fmla="*/ 314 h 5030"/>
                <a:gd name="T56" fmla="*/ 2707 w 4150"/>
                <a:gd name="T57" fmla="*/ 143 h 5030"/>
                <a:gd name="T58" fmla="*/ 2593 w 4150"/>
                <a:gd name="T59" fmla="*/ 43 h 5030"/>
                <a:gd name="T60" fmla="*/ 2417 w 4150"/>
                <a:gd name="T61" fmla="*/ 9 h 5030"/>
                <a:gd name="T62" fmla="*/ 1828 w 4150"/>
                <a:gd name="T63" fmla="*/ 0 h 5030"/>
                <a:gd name="T64" fmla="*/ 1575 w 4150"/>
                <a:gd name="T65" fmla="*/ 28 h 5030"/>
                <a:gd name="T66" fmla="*/ 2588 w 4150"/>
                <a:gd name="T67" fmla="*/ 227 h 5030"/>
                <a:gd name="T68" fmla="*/ 2645 w 4150"/>
                <a:gd name="T69" fmla="*/ 355 h 5030"/>
                <a:gd name="T70" fmla="*/ 1479 w 4150"/>
                <a:gd name="T71" fmla="*/ 432 h 5030"/>
                <a:gd name="T72" fmla="*/ 1515 w 4150"/>
                <a:gd name="T73" fmla="*/ 292 h 5030"/>
                <a:gd name="T74" fmla="*/ 1617 w 4150"/>
                <a:gd name="T75" fmla="*/ 185 h 5030"/>
                <a:gd name="T76" fmla="*/ 1766 w 4150"/>
                <a:gd name="T77" fmla="*/ 150 h 5030"/>
                <a:gd name="T78" fmla="*/ 2272 w 4150"/>
                <a:gd name="T79" fmla="*/ 149 h 5030"/>
                <a:gd name="T80" fmla="*/ 2509 w 4150"/>
                <a:gd name="T81" fmla="*/ 175 h 5030"/>
                <a:gd name="T82" fmla="*/ 2075 w 4150"/>
                <a:gd name="T83" fmla="*/ 1007 h 5030"/>
                <a:gd name="T84" fmla="*/ 1115 w 4150"/>
                <a:gd name="T85" fmla="*/ 598 h 5030"/>
                <a:gd name="T86" fmla="*/ 3030 w 4150"/>
                <a:gd name="T87" fmla="*/ 802 h 5030"/>
                <a:gd name="T88" fmla="*/ 980 w 4150"/>
                <a:gd name="T89" fmla="*/ 1111 h 5030"/>
                <a:gd name="T90" fmla="*/ 1018 w 4150"/>
                <a:gd name="T91" fmla="*/ 1135 h 5030"/>
                <a:gd name="T92" fmla="*/ 2075 w 4150"/>
                <a:gd name="T93" fmla="*/ 1148 h 5030"/>
                <a:gd name="T94" fmla="*/ 3133 w 4150"/>
                <a:gd name="T95" fmla="*/ 1135 h 5030"/>
                <a:gd name="T96" fmla="*/ 3171 w 4150"/>
                <a:gd name="T97" fmla="*/ 1111 h 5030"/>
                <a:gd name="T98" fmla="*/ 3192 w 4150"/>
                <a:gd name="T99" fmla="*/ 857 h 5030"/>
                <a:gd name="T100" fmla="*/ 3800 w 4150"/>
                <a:gd name="T101" fmla="*/ 852 h 5030"/>
                <a:gd name="T102" fmla="*/ 3939 w 4150"/>
                <a:gd name="T103" fmla="*/ 877 h 5030"/>
                <a:gd name="T104" fmla="*/ 3974 w 4150"/>
                <a:gd name="T105" fmla="*/ 906 h 5030"/>
                <a:gd name="T106" fmla="*/ 4000 w 4150"/>
                <a:gd name="T107" fmla="*/ 1677 h 5030"/>
                <a:gd name="T108" fmla="*/ 3959 w 4150"/>
                <a:gd name="T109" fmla="*/ 4840 h 5030"/>
                <a:gd name="T110" fmla="*/ 930 w 4150"/>
                <a:gd name="T111" fmla="*/ 4882 h 5030"/>
                <a:gd name="T112" fmla="*/ 226 w 4150"/>
                <a:gd name="T113" fmla="*/ 4863 h 5030"/>
                <a:gd name="T114" fmla="*/ 150 w 4150"/>
                <a:gd name="T115" fmla="*/ 4813 h 5030"/>
                <a:gd name="T116" fmla="*/ 189 w 4150"/>
                <a:gd name="T117" fmla="*/ 903 h 5030"/>
                <a:gd name="T118" fmla="*/ 250 w 4150"/>
                <a:gd name="T119" fmla="*/ 860 h 5030"/>
                <a:gd name="T120" fmla="*/ 617 w 4150"/>
                <a:gd name="T121" fmla="*/ 853 h 5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50" h="5030">
                  <a:moveTo>
                    <a:pt x="1575" y="28"/>
                  </a:moveTo>
                  <a:lnTo>
                    <a:pt x="1548" y="42"/>
                  </a:lnTo>
                  <a:lnTo>
                    <a:pt x="1498" y="73"/>
                  </a:lnTo>
                  <a:lnTo>
                    <a:pt x="1453" y="109"/>
                  </a:lnTo>
                  <a:lnTo>
                    <a:pt x="1415" y="149"/>
                  </a:lnTo>
                  <a:lnTo>
                    <a:pt x="1384" y="193"/>
                  </a:lnTo>
                  <a:lnTo>
                    <a:pt x="1360" y="239"/>
                  </a:lnTo>
                  <a:lnTo>
                    <a:pt x="1343" y="287"/>
                  </a:lnTo>
                  <a:lnTo>
                    <a:pt x="1334" y="336"/>
                  </a:lnTo>
                  <a:lnTo>
                    <a:pt x="1334" y="362"/>
                  </a:lnTo>
                  <a:lnTo>
                    <a:pt x="1334" y="432"/>
                  </a:lnTo>
                  <a:lnTo>
                    <a:pt x="1169" y="432"/>
                  </a:lnTo>
                  <a:lnTo>
                    <a:pt x="1091" y="433"/>
                  </a:lnTo>
                  <a:lnTo>
                    <a:pt x="1019" y="440"/>
                  </a:lnTo>
                  <a:lnTo>
                    <a:pt x="993" y="448"/>
                  </a:lnTo>
                  <a:lnTo>
                    <a:pt x="987" y="453"/>
                  </a:lnTo>
                  <a:lnTo>
                    <a:pt x="980" y="468"/>
                  </a:lnTo>
                  <a:lnTo>
                    <a:pt x="967" y="538"/>
                  </a:lnTo>
                  <a:lnTo>
                    <a:pt x="964" y="582"/>
                  </a:lnTo>
                  <a:lnTo>
                    <a:pt x="959" y="690"/>
                  </a:lnTo>
                  <a:lnTo>
                    <a:pt x="575" y="698"/>
                  </a:lnTo>
                  <a:lnTo>
                    <a:pt x="427" y="702"/>
                  </a:lnTo>
                  <a:lnTo>
                    <a:pt x="276" y="710"/>
                  </a:lnTo>
                  <a:lnTo>
                    <a:pt x="204" y="718"/>
                  </a:lnTo>
                  <a:lnTo>
                    <a:pt x="151" y="730"/>
                  </a:lnTo>
                  <a:lnTo>
                    <a:pt x="113" y="748"/>
                  </a:lnTo>
                  <a:lnTo>
                    <a:pt x="83" y="773"/>
                  </a:lnTo>
                  <a:lnTo>
                    <a:pt x="56" y="806"/>
                  </a:lnTo>
                  <a:lnTo>
                    <a:pt x="42" y="827"/>
                  </a:lnTo>
                  <a:lnTo>
                    <a:pt x="0" y="890"/>
                  </a:lnTo>
                  <a:lnTo>
                    <a:pt x="0" y="2863"/>
                  </a:lnTo>
                  <a:lnTo>
                    <a:pt x="0" y="4090"/>
                  </a:lnTo>
                  <a:lnTo>
                    <a:pt x="6" y="4680"/>
                  </a:lnTo>
                  <a:lnTo>
                    <a:pt x="12" y="4794"/>
                  </a:lnTo>
                  <a:lnTo>
                    <a:pt x="19" y="4853"/>
                  </a:lnTo>
                  <a:lnTo>
                    <a:pt x="29" y="4882"/>
                  </a:lnTo>
                  <a:lnTo>
                    <a:pt x="35" y="4892"/>
                  </a:lnTo>
                  <a:lnTo>
                    <a:pt x="52" y="4916"/>
                  </a:lnTo>
                  <a:lnTo>
                    <a:pt x="104" y="4966"/>
                  </a:lnTo>
                  <a:lnTo>
                    <a:pt x="130" y="4985"/>
                  </a:lnTo>
                  <a:lnTo>
                    <a:pt x="192" y="5023"/>
                  </a:lnTo>
                  <a:lnTo>
                    <a:pt x="2034" y="5028"/>
                  </a:lnTo>
                  <a:lnTo>
                    <a:pt x="2905" y="5030"/>
                  </a:lnTo>
                  <a:lnTo>
                    <a:pt x="3662" y="5026"/>
                  </a:lnTo>
                  <a:lnTo>
                    <a:pt x="3904" y="5020"/>
                  </a:lnTo>
                  <a:lnTo>
                    <a:pt x="3937" y="5015"/>
                  </a:lnTo>
                  <a:lnTo>
                    <a:pt x="3967" y="5005"/>
                  </a:lnTo>
                  <a:lnTo>
                    <a:pt x="4025" y="4973"/>
                  </a:lnTo>
                  <a:lnTo>
                    <a:pt x="4076" y="4929"/>
                  </a:lnTo>
                  <a:lnTo>
                    <a:pt x="4115" y="4880"/>
                  </a:lnTo>
                  <a:lnTo>
                    <a:pt x="4127" y="4853"/>
                  </a:lnTo>
                  <a:lnTo>
                    <a:pt x="4131" y="4843"/>
                  </a:lnTo>
                  <a:lnTo>
                    <a:pt x="4137" y="4792"/>
                  </a:lnTo>
                  <a:lnTo>
                    <a:pt x="4143" y="4636"/>
                  </a:lnTo>
                  <a:lnTo>
                    <a:pt x="4150" y="3906"/>
                  </a:lnTo>
                  <a:lnTo>
                    <a:pt x="4150" y="2865"/>
                  </a:lnTo>
                  <a:lnTo>
                    <a:pt x="4150" y="2142"/>
                  </a:lnTo>
                  <a:lnTo>
                    <a:pt x="4148" y="1456"/>
                  </a:lnTo>
                  <a:lnTo>
                    <a:pt x="4144" y="1161"/>
                  </a:lnTo>
                  <a:lnTo>
                    <a:pt x="4135" y="976"/>
                  </a:lnTo>
                  <a:lnTo>
                    <a:pt x="4121" y="872"/>
                  </a:lnTo>
                  <a:lnTo>
                    <a:pt x="4106" y="831"/>
                  </a:lnTo>
                  <a:lnTo>
                    <a:pt x="4093" y="812"/>
                  </a:lnTo>
                  <a:lnTo>
                    <a:pt x="4071" y="792"/>
                  </a:lnTo>
                  <a:lnTo>
                    <a:pt x="4052" y="777"/>
                  </a:lnTo>
                  <a:lnTo>
                    <a:pt x="4037" y="764"/>
                  </a:lnTo>
                  <a:lnTo>
                    <a:pt x="4006" y="744"/>
                  </a:lnTo>
                  <a:lnTo>
                    <a:pt x="3970" y="728"/>
                  </a:lnTo>
                  <a:lnTo>
                    <a:pt x="3926" y="716"/>
                  </a:lnTo>
                  <a:lnTo>
                    <a:pt x="3840" y="705"/>
                  </a:lnTo>
                  <a:lnTo>
                    <a:pt x="3660" y="699"/>
                  </a:lnTo>
                  <a:lnTo>
                    <a:pt x="3530" y="698"/>
                  </a:lnTo>
                  <a:lnTo>
                    <a:pt x="3184" y="698"/>
                  </a:lnTo>
                  <a:lnTo>
                    <a:pt x="3184" y="602"/>
                  </a:lnTo>
                  <a:lnTo>
                    <a:pt x="3183" y="552"/>
                  </a:lnTo>
                  <a:lnTo>
                    <a:pt x="3175" y="502"/>
                  </a:lnTo>
                  <a:lnTo>
                    <a:pt x="3163" y="480"/>
                  </a:lnTo>
                  <a:lnTo>
                    <a:pt x="3142" y="464"/>
                  </a:lnTo>
                  <a:lnTo>
                    <a:pt x="3111" y="455"/>
                  </a:lnTo>
                  <a:lnTo>
                    <a:pt x="3043" y="447"/>
                  </a:lnTo>
                  <a:lnTo>
                    <a:pt x="2975" y="445"/>
                  </a:lnTo>
                  <a:lnTo>
                    <a:pt x="2809" y="440"/>
                  </a:lnTo>
                  <a:lnTo>
                    <a:pt x="2797" y="352"/>
                  </a:lnTo>
                  <a:lnTo>
                    <a:pt x="2791" y="314"/>
                  </a:lnTo>
                  <a:lnTo>
                    <a:pt x="2773" y="249"/>
                  </a:lnTo>
                  <a:lnTo>
                    <a:pt x="2746" y="194"/>
                  </a:lnTo>
                  <a:lnTo>
                    <a:pt x="2707" y="143"/>
                  </a:lnTo>
                  <a:lnTo>
                    <a:pt x="2682" y="117"/>
                  </a:lnTo>
                  <a:lnTo>
                    <a:pt x="2645" y="79"/>
                  </a:lnTo>
                  <a:lnTo>
                    <a:pt x="2593" y="43"/>
                  </a:lnTo>
                  <a:lnTo>
                    <a:pt x="2551" y="26"/>
                  </a:lnTo>
                  <a:lnTo>
                    <a:pt x="2494" y="15"/>
                  </a:lnTo>
                  <a:lnTo>
                    <a:pt x="2417" y="9"/>
                  </a:lnTo>
                  <a:lnTo>
                    <a:pt x="2251" y="3"/>
                  </a:lnTo>
                  <a:lnTo>
                    <a:pt x="2084" y="2"/>
                  </a:lnTo>
                  <a:lnTo>
                    <a:pt x="1828" y="0"/>
                  </a:lnTo>
                  <a:lnTo>
                    <a:pt x="1655" y="7"/>
                  </a:lnTo>
                  <a:lnTo>
                    <a:pt x="1597" y="19"/>
                  </a:lnTo>
                  <a:lnTo>
                    <a:pt x="1575" y="28"/>
                  </a:lnTo>
                  <a:close/>
                  <a:moveTo>
                    <a:pt x="2509" y="175"/>
                  </a:moveTo>
                  <a:lnTo>
                    <a:pt x="2539" y="191"/>
                  </a:lnTo>
                  <a:lnTo>
                    <a:pt x="2588" y="227"/>
                  </a:lnTo>
                  <a:lnTo>
                    <a:pt x="2621" y="272"/>
                  </a:lnTo>
                  <a:lnTo>
                    <a:pt x="2641" y="325"/>
                  </a:lnTo>
                  <a:lnTo>
                    <a:pt x="2645" y="355"/>
                  </a:lnTo>
                  <a:lnTo>
                    <a:pt x="2655" y="432"/>
                  </a:lnTo>
                  <a:lnTo>
                    <a:pt x="2067" y="432"/>
                  </a:lnTo>
                  <a:lnTo>
                    <a:pt x="1479" y="432"/>
                  </a:lnTo>
                  <a:lnTo>
                    <a:pt x="1489" y="370"/>
                  </a:lnTo>
                  <a:lnTo>
                    <a:pt x="1495" y="342"/>
                  </a:lnTo>
                  <a:lnTo>
                    <a:pt x="1515" y="292"/>
                  </a:lnTo>
                  <a:lnTo>
                    <a:pt x="1546" y="246"/>
                  </a:lnTo>
                  <a:lnTo>
                    <a:pt x="1590" y="205"/>
                  </a:lnTo>
                  <a:lnTo>
                    <a:pt x="1617" y="185"/>
                  </a:lnTo>
                  <a:lnTo>
                    <a:pt x="1636" y="173"/>
                  </a:lnTo>
                  <a:lnTo>
                    <a:pt x="1680" y="158"/>
                  </a:lnTo>
                  <a:lnTo>
                    <a:pt x="1766" y="150"/>
                  </a:lnTo>
                  <a:lnTo>
                    <a:pt x="1932" y="148"/>
                  </a:lnTo>
                  <a:lnTo>
                    <a:pt x="2062" y="148"/>
                  </a:lnTo>
                  <a:lnTo>
                    <a:pt x="2272" y="149"/>
                  </a:lnTo>
                  <a:lnTo>
                    <a:pt x="2434" y="157"/>
                  </a:lnTo>
                  <a:lnTo>
                    <a:pt x="2491" y="167"/>
                  </a:lnTo>
                  <a:lnTo>
                    <a:pt x="2509" y="175"/>
                  </a:lnTo>
                  <a:close/>
                  <a:moveTo>
                    <a:pt x="3030" y="802"/>
                  </a:moveTo>
                  <a:lnTo>
                    <a:pt x="3025" y="1007"/>
                  </a:lnTo>
                  <a:lnTo>
                    <a:pt x="2075" y="1007"/>
                  </a:lnTo>
                  <a:lnTo>
                    <a:pt x="1125" y="1007"/>
                  </a:lnTo>
                  <a:lnTo>
                    <a:pt x="1120" y="802"/>
                  </a:lnTo>
                  <a:lnTo>
                    <a:pt x="1115" y="598"/>
                  </a:lnTo>
                  <a:lnTo>
                    <a:pt x="2075" y="598"/>
                  </a:lnTo>
                  <a:lnTo>
                    <a:pt x="3035" y="598"/>
                  </a:lnTo>
                  <a:lnTo>
                    <a:pt x="3030" y="802"/>
                  </a:lnTo>
                  <a:close/>
                  <a:moveTo>
                    <a:pt x="964" y="982"/>
                  </a:moveTo>
                  <a:lnTo>
                    <a:pt x="967" y="1033"/>
                  </a:lnTo>
                  <a:lnTo>
                    <a:pt x="980" y="1111"/>
                  </a:lnTo>
                  <a:lnTo>
                    <a:pt x="987" y="1127"/>
                  </a:lnTo>
                  <a:lnTo>
                    <a:pt x="991" y="1130"/>
                  </a:lnTo>
                  <a:lnTo>
                    <a:pt x="1018" y="1135"/>
                  </a:lnTo>
                  <a:lnTo>
                    <a:pt x="1106" y="1141"/>
                  </a:lnTo>
                  <a:lnTo>
                    <a:pt x="1513" y="1148"/>
                  </a:lnTo>
                  <a:lnTo>
                    <a:pt x="2075" y="1148"/>
                  </a:lnTo>
                  <a:lnTo>
                    <a:pt x="2638" y="1148"/>
                  </a:lnTo>
                  <a:lnTo>
                    <a:pt x="3045" y="1141"/>
                  </a:lnTo>
                  <a:lnTo>
                    <a:pt x="3133" y="1135"/>
                  </a:lnTo>
                  <a:lnTo>
                    <a:pt x="3160" y="1130"/>
                  </a:lnTo>
                  <a:lnTo>
                    <a:pt x="3164" y="1127"/>
                  </a:lnTo>
                  <a:lnTo>
                    <a:pt x="3171" y="1111"/>
                  </a:lnTo>
                  <a:lnTo>
                    <a:pt x="3184" y="1033"/>
                  </a:lnTo>
                  <a:lnTo>
                    <a:pt x="3187" y="982"/>
                  </a:lnTo>
                  <a:lnTo>
                    <a:pt x="3192" y="857"/>
                  </a:lnTo>
                  <a:lnTo>
                    <a:pt x="3509" y="852"/>
                  </a:lnTo>
                  <a:lnTo>
                    <a:pt x="3632" y="850"/>
                  </a:lnTo>
                  <a:lnTo>
                    <a:pt x="3800" y="852"/>
                  </a:lnTo>
                  <a:lnTo>
                    <a:pt x="3876" y="859"/>
                  </a:lnTo>
                  <a:lnTo>
                    <a:pt x="3912" y="866"/>
                  </a:lnTo>
                  <a:lnTo>
                    <a:pt x="3939" y="877"/>
                  </a:lnTo>
                  <a:lnTo>
                    <a:pt x="3960" y="891"/>
                  </a:lnTo>
                  <a:lnTo>
                    <a:pt x="3969" y="900"/>
                  </a:lnTo>
                  <a:lnTo>
                    <a:pt x="3974" y="906"/>
                  </a:lnTo>
                  <a:lnTo>
                    <a:pt x="3983" y="929"/>
                  </a:lnTo>
                  <a:lnTo>
                    <a:pt x="3993" y="1025"/>
                  </a:lnTo>
                  <a:lnTo>
                    <a:pt x="4000" y="1677"/>
                  </a:lnTo>
                  <a:lnTo>
                    <a:pt x="4000" y="2865"/>
                  </a:lnTo>
                  <a:lnTo>
                    <a:pt x="4000" y="4800"/>
                  </a:lnTo>
                  <a:lnTo>
                    <a:pt x="3959" y="4840"/>
                  </a:lnTo>
                  <a:lnTo>
                    <a:pt x="3919" y="4882"/>
                  </a:lnTo>
                  <a:lnTo>
                    <a:pt x="2079" y="4882"/>
                  </a:lnTo>
                  <a:lnTo>
                    <a:pt x="930" y="4882"/>
                  </a:lnTo>
                  <a:lnTo>
                    <a:pt x="383" y="4876"/>
                  </a:lnTo>
                  <a:lnTo>
                    <a:pt x="279" y="4870"/>
                  </a:lnTo>
                  <a:lnTo>
                    <a:pt x="226" y="4863"/>
                  </a:lnTo>
                  <a:lnTo>
                    <a:pt x="202" y="4853"/>
                  </a:lnTo>
                  <a:lnTo>
                    <a:pt x="194" y="4847"/>
                  </a:lnTo>
                  <a:lnTo>
                    <a:pt x="150" y="4813"/>
                  </a:lnTo>
                  <a:lnTo>
                    <a:pt x="150" y="2875"/>
                  </a:lnTo>
                  <a:lnTo>
                    <a:pt x="150" y="937"/>
                  </a:lnTo>
                  <a:lnTo>
                    <a:pt x="189" y="903"/>
                  </a:lnTo>
                  <a:lnTo>
                    <a:pt x="205" y="889"/>
                  </a:lnTo>
                  <a:lnTo>
                    <a:pt x="238" y="866"/>
                  </a:lnTo>
                  <a:lnTo>
                    <a:pt x="250" y="860"/>
                  </a:lnTo>
                  <a:lnTo>
                    <a:pt x="279" y="856"/>
                  </a:lnTo>
                  <a:lnTo>
                    <a:pt x="479" y="853"/>
                  </a:lnTo>
                  <a:lnTo>
                    <a:pt x="617" y="853"/>
                  </a:lnTo>
                  <a:lnTo>
                    <a:pt x="959" y="857"/>
                  </a:lnTo>
                  <a:lnTo>
                    <a:pt x="964"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1" name="Freeform 6">
              <a:extLst>
                <a:ext uri="{FF2B5EF4-FFF2-40B4-BE49-F238E27FC236}">
                  <a16:creationId xmlns:a16="http://schemas.microsoft.com/office/drawing/2014/main" id="{527B6A19-95E1-7A72-B0B1-6CCF03787F36}"/>
                </a:ext>
              </a:extLst>
            </p:cNvPr>
            <p:cNvSpPr>
              <a:spLocks/>
            </p:cNvSpPr>
            <p:nvPr/>
          </p:nvSpPr>
          <p:spPr bwMode="auto">
            <a:xfrm>
              <a:off x="841375" y="1539876"/>
              <a:ext cx="60325" cy="190500"/>
            </a:xfrm>
            <a:custGeom>
              <a:avLst/>
              <a:gdLst>
                <a:gd name="T0" fmla="*/ 16 w 150"/>
                <a:gd name="T1" fmla="*/ 32 h 467"/>
                <a:gd name="T2" fmla="*/ 10 w 150"/>
                <a:gd name="T3" fmla="*/ 55 h 467"/>
                <a:gd name="T4" fmla="*/ 1 w 150"/>
                <a:gd name="T5" fmla="*/ 161 h 467"/>
                <a:gd name="T6" fmla="*/ 0 w 150"/>
                <a:gd name="T7" fmla="*/ 229 h 467"/>
                <a:gd name="T8" fmla="*/ 0 w 150"/>
                <a:gd name="T9" fmla="*/ 290 h 467"/>
                <a:gd name="T10" fmla="*/ 9 w 150"/>
                <a:gd name="T11" fmla="*/ 382 h 467"/>
                <a:gd name="T12" fmla="*/ 23 w 150"/>
                <a:gd name="T13" fmla="*/ 426 h 467"/>
                <a:gd name="T14" fmla="*/ 36 w 150"/>
                <a:gd name="T15" fmla="*/ 447 h 467"/>
                <a:gd name="T16" fmla="*/ 51 w 150"/>
                <a:gd name="T17" fmla="*/ 460 h 467"/>
                <a:gd name="T18" fmla="*/ 70 w 150"/>
                <a:gd name="T19" fmla="*/ 466 h 467"/>
                <a:gd name="T20" fmla="*/ 81 w 150"/>
                <a:gd name="T21" fmla="*/ 467 h 467"/>
                <a:gd name="T22" fmla="*/ 92 w 150"/>
                <a:gd name="T23" fmla="*/ 467 h 467"/>
                <a:gd name="T24" fmla="*/ 109 w 150"/>
                <a:gd name="T25" fmla="*/ 463 h 467"/>
                <a:gd name="T26" fmla="*/ 123 w 150"/>
                <a:gd name="T27" fmla="*/ 453 h 467"/>
                <a:gd name="T28" fmla="*/ 133 w 150"/>
                <a:gd name="T29" fmla="*/ 436 h 467"/>
                <a:gd name="T30" fmla="*/ 144 w 150"/>
                <a:gd name="T31" fmla="*/ 394 h 467"/>
                <a:gd name="T32" fmla="*/ 149 w 150"/>
                <a:gd name="T33" fmla="*/ 296 h 467"/>
                <a:gd name="T34" fmla="*/ 150 w 150"/>
                <a:gd name="T35" fmla="*/ 224 h 467"/>
                <a:gd name="T36" fmla="*/ 149 w 150"/>
                <a:gd name="T37" fmla="*/ 113 h 467"/>
                <a:gd name="T38" fmla="*/ 141 w 150"/>
                <a:gd name="T39" fmla="*/ 36 h 467"/>
                <a:gd name="T40" fmla="*/ 131 w 150"/>
                <a:gd name="T41" fmla="*/ 14 h 467"/>
                <a:gd name="T42" fmla="*/ 123 w 150"/>
                <a:gd name="T43" fmla="*/ 10 h 467"/>
                <a:gd name="T44" fmla="*/ 105 w 150"/>
                <a:gd name="T45" fmla="*/ 4 h 467"/>
                <a:gd name="T46" fmla="*/ 73 w 150"/>
                <a:gd name="T47" fmla="*/ 0 h 467"/>
                <a:gd name="T48" fmla="*/ 45 w 150"/>
                <a:gd name="T49" fmla="*/ 6 h 467"/>
                <a:gd name="T50" fmla="*/ 24 w 150"/>
                <a:gd name="T51" fmla="*/ 21 h 467"/>
                <a:gd name="T52" fmla="*/ 16 w 150"/>
                <a:gd name="T53" fmla="*/ 3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467">
                  <a:moveTo>
                    <a:pt x="16" y="32"/>
                  </a:moveTo>
                  <a:lnTo>
                    <a:pt x="10" y="55"/>
                  </a:lnTo>
                  <a:lnTo>
                    <a:pt x="1" y="161"/>
                  </a:lnTo>
                  <a:lnTo>
                    <a:pt x="0" y="229"/>
                  </a:lnTo>
                  <a:lnTo>
                    <a:pt x="0" y="290"/>
                  </a:lnTo>
                  <a:lnTo>
                    <a:pt x="9" y="382"/>
                  </a:lnTo>
                  <a:lnTo>
                    <a:pt x="23" y="426"/>
                  </a:lnTo>
                  <a:lnTo>
                    <a:pt x="36" y="447"/>
                  </a:lnTo>
                  <a:lnTo>
                    <a:pt x="51" y="460"/>
                  </a:lnTo>
                  <a:lnTo>
                    <a:pt x="70" y="466"/>
                  </a:lnTo>
                  <a:lnTo>
                    <a:pt x="81" y="467"/>
                  </a:lnTo>
                  <a:lnTo>
                    <a:pt x="92" y="467"/>
                  </a:lnTo>
                  <a:lnTo>
                    <a:pt x="109" y="463"/>
                  </a:lnTo>
                  <a:lnTo>
                    <a:pt x="123" y="453"/>
                  </a:lnTo>
                  <a:lnTo>
                    <a:pt x="133" y="436"/>
                  </a:lnTo>
                  <a:lnTo>
                    <a:pt x="144" y="394"/>
                  </a:lnTo>
                  <a:lnTo>
                    <a:pt x="149" y="296"/>
                  </a:lnTo>
                  <a:lnTo>
                    <a:pt x="150" y="224"/>
                  </a:lnTo>
                  <a:lnTo>
                    <a:pt x="149" y="113"/>
                  </a:lnTo>
                  <a:lnTo>
                    <a:pt x="141" y="36"/>
                  </a:lnTo>
                  <a:lnTo>
                    <a:pt x="131" y="14"/>
                  </a:lnTo>
                  <a:lnTo>
                    <a:pt x="123" y="10"/>
                  </a:lnTo>
                  <a:lnTo>
                    <a:pt x="105" y="4"/>
                  </a:lnTo>
                  <a:lnTo>
                    <a:pt x="73" y="0"/>
                  </a:lnTo>
                  <a:lnTo>
                    <a:pt x="45" y="6"/>
                  </a:lnTo>
                  <a:lnTo>
                    <a:pt x="24" y="21"/>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2" name="Freeform 7">
              <a:extLst>
                <a:ext uri="{FF2B5EF4-FFF2-40B4-BE49-F238E27FC236}">
                  <a16:creationId xmlns:a16="http://schemas.microsoft.com/office/drawing/2014/main" id="{A42A6013-F70D-FC01-1B85-1D7F526839EF}"/>
                </a:ext>
              </a:extLst>
            </p:cNvPr>
            <p:cNvSpPr>
              <a:spLocks/>
            </p:cNvSpPr>
            <p:nvPr/>
          </p:nvSpPr>
          <p:spPr bwMode="auto">
            <a:xfrm>
              <a:off x="576263" y="1574801"/>
              <a:ext cx="120650" cy="182563"/>
            </a:xfrm>
            <a:custGeom>
              <a:avLst/>
              <a:gdLst>
                <a:gd name="T0" fmla="*/ 28 w 296"/>
                <a:gd name="T1" fmla="*/ 30 h 447"/>
                <a:gd name="T2" fmla="*/ 16 w 296"/>
                <a:gd name="T3" fmla="*/ 43 h 447"/>
                <a:gd name="T4" fmla="*/ 1 w 296"/>
                <a:gd name="T5" fmla="*/ 73 h 447"/>
                <a:gd name="T6" fmla="*/ 0 w 296"/>
                <a:gd name="T7" fmla="*/ 85 h 447"/>
                <a:gd name="T8" fmla="*/ 1 w 296"/>
                <a:gd name="T9" fmla="*/ 94 h 447"/>
                <a:gd name="T10" fmla="*/ 15 w 296"/>
                <a:gd name="T11" fmla="*/ 129 h 447"/>
                <a:gd name="T12" fmla="*/ 55 w 296"/>
                <a:gd name="T13" fmla="*/ 207 h 447"/>
                <a:gd name="T14" fmla="*/ 126 w 296"/>
                <a:gd name="T15" fmla="*/ 329 h 447"/>
                <a:gd name="T16" fmla="*/ 174 w 296"/>
                <a:gd name="T17" fmla="*/ 403 h 447"/>
                <a:gd name="T18" fmla="*/ 197 w 296"/>
                <a:gd name="T19" fmla="*/ 434 h 447"/>
                <a:gd name="T20" fmla="*/ 205 w 296"/>
                <a:gd name="T21" fmla="*/ 440 h 447"/>
                <a:gd name="T22" fmla="*/ 219 w 296"/>
                <a:gd name="T23" fmla="*/ 447 h 447"/>
                <a:gd name="T24" fmla="*/ 248 w 296"/>
                <a:gd name="T25" fmla="*/ 446 h 447"/>
                <a:gd name="T26" fmla="*/ 274 w 296"/>
                <a:gd name="T27" fmla="*/ 431 h 447"/>
                <a:gd name="T28" fmla="*/ 293 w 296"/>
                <a:gd name="T29" fmla="*/ 403 h 447"/>
                <a:gd name="T30" fmla="*/ 296 w 296"/>
                <a:gd name="T31" fmla="*/ 385 h 447"/>
                <a:gd name="T32" fmla="*/ 296 w 296"/>
                <a:gd name="T33" fmla="*/ 376 h 447"/>
                <a:gd name="T34" fmla="*/ 287 w 296"/>
                <a:gd name="T35" fmla="*/ 341 h 447"/>
                <a:gd name="T36" fmla="*/ 255 w 296"/>
                <a:gd name="T37" fmla="*/ 264 h 447"/>
                <a:gd name="T38" fmla="*/ 225 w 296"/>
                <a:gd name="T39" fmla="*/ 203 h 447"/>
                <a:gd name="T40" fmla="*/ 185 w 296"/>
                <a:gd name="T41" fmla="*/ 130 h 447"/>
                <a:gd name="T42" fmla="*/ 140 w 296"/>
                <a:gd name="T43" fmla="*/ 57 h 447"/>
                <a:gd name="T44" fmla="*/ 115 w 296"/>
                <a:gd name="T45" fmla="*/ 25 h 447"/>
                <a:gd name="T46" fmla="*/ 94 w 296"/>
                <a:gd name="T47" fmla="*/ 6 h 447"/>
                <a:gd name="T48" fmla="*/ 75 w 296"/>
                <a:gd name="T49" fmla="*/ 0 h 447"/>
                <a:gd name="T50" fmla="*/ 57 w 296"/>
                <a:gd name="T51" fmla="*/ 4 h 447"/>
                <a:gd name="T52" fmla="*/ 38 w 296"/>
                <a:gd name="T53" fmla="*/ 19 h 447"/>
                <a:gd name="T54" fmla="*/ 28 w 296"/>
                <a:gd name="T55" fmla="*/ 3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6" h="447">
                  <a:moveTo>
                    <a:pt x="28" y="30"/>
                  </a:moveTo>
                  <a:lnTo>
                    <a:pt x="16" y="43"/>
                  </a:lnTo>
                  <a:lnTo>
                    <a:pt x="1" y="73"/>
                  </a:lnTo>
                  <a:lnTo>
                    <a:pt x="0" y="85"/>
                  </a:lnTo>
                  <a:lnTo>
                    <a:pt x="1" y="94"/>
                  </a:lnTo>
                  <a:lnTo>
                    <a:pt x="15" y="129"/>
                  </a:lnTo>
                  <a:lnTo>
                    <a:pt x="55" y="207"/>
                  </a:lnTo>
                  <a:lnTo>
                    <a:pt x="126" y="329"/>
                  </a:lnTo>
                  <a:lnTo>
                    <a:pt x="174" y="403"/>
                  </a:lnTo>
                  <a:lnTo>
                    <a:pt x="197" y="434"/>
                  </a:lnTo>
                  <a:lnTo>
                    <a:pt x="205" y="440"/>
                  </a:lnTo>
                  <a:lnTo>
                    <a:pt x="219" y="447"/>
                  </a:lnTo>
                  <a:lnTo>
                    <a:pt x="248" y="446"/>
                  </a:lnTo>
                  <a:lnTo>
                    <a:pt x="274" y="431"/>
                  </a:lnTo>
                  <a:lnTo>
                    <a:pt x="293" y="403"/>
                  </a:lnTo>
                  <a:lnTo>
                    <a:pt x="296" y="385"/>
                  </a:lnTo>
                  <a:lnTo>
                    <a:pt x="296" y="376"/>
                  </a:lnTo>
                  <a:lnTo>
                    <a:pt x="287" y="341"/>
                  </a:lnTo>
                  <a:lnTo>
                    <a:pt x="255" y="264"/>
                  </a:lnTo>
                  <a:lnTo>
                    <a:pt x="225" y="203"/>
                  </a:lnTo>
                  <a:lnTo>
                    <a:pt x="185" y="130"/>
                  </a:lnTo>
                  <a:lnTo>
                    <a:pt x="140" y="57"/>
                  </a:lnTo>
                  <a:lnTo>
                    <a:pt x="115" y="25"/>
                  </a:lnTo>
                  <a:lnTo>
                    <a:pt x="94" y="6"/>
                  </a:lnTo>
                  <a:lnTo>
                    <a:pt x="75" y="0"/>
                  </a:lnTo>
                  <a:lnTo>
                    <a:pt x="57" y="4"/>
                  </a:lnTo>
                  <a:lnTo>
                    <a:pt x="38" y="19"/>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3" name="Freeform 8">
              <a:extLst>
                <a:ext uri="{FF2B5EF4-FFF2-40B4-BE49-F238E27FC236}">
                  <a16:creationId xmlns:a16="http://schemas.microsoft.com/office/drawing/2014/main" id="{6DFD4EC1-4069-623B-BCAB-53468C58BBF1}"/>
                </a:ext>
              </a:extLst>
            </p:cNvPr>
            <p:cNvSpPr>
              <a:spLocks/>
            </p:cNvSpPr>
            <p:nvPr/>
          </p:nvSpPr>
          <p:spPr bwMode="auto">
            <a:xfrm>
              <a:off x="1060450" y="1581151"/>
              <a:ext cx="127000" cy="174625"/>
            </a:xfrm>
            <a:custGeom>
              <a:avLst/>
              <a:gdLst>
                <a:gd name="T0" fmla="*/ 167 w 312"/>
                <a:gd name="T1" fmla="*/ 38 h 429"/>
                <a:gd name="T2" fmla="*/ 150 w 312"/>
                <a:gd name="T3" fmla="*/ 61 h 429"/>
                <a:gd name="T4" fmla="*/ 94 w 312"/>
                <a:gd name="T5" fmla="*/ 161 h 429"/>
                <a:gd name="T6" fmla="*/ 62 w 312"/>
                <a:gd name="T7" fmla="*/ 221 h 429"/>
                <a:gd name="T8" fmla="*/ 23 w 312"/>
                <a:gd name="T9" fmla="*/ 298 h 429"/>
                <a:gd name="T10" fmla="*/ 0 w 312"/>
                <a:gd name="T11" fmla="*/ 361 h 429"/>
                <a:gd name="T12" fmla="*/ 0 w 312"/>
                <a:gd name="T13" fmla="*/ 385 h 429"/>
                <a:gd name="T14" fmla="*/ 5 w 312"/>
                <a:gd name="T15" fmla="*/ 394 h 429"/>
                <a:gd name="T16" fmla="*/ 16 w 312"/>
                <a:gd name="T17" fmla="*/ 408 h 429"/>
                <a:gd name="T18" fmla="*/ 47 w 312"/>
                <a:gd name="T19" fmla="*/ 425 h 429"/>
                <a:gd name="T20" fmla="*/ 84 w 312"/>
                <a:gd name="T21" fmla="*/ 429 h 429"/>
                <a:gd name="T22" fmla="*/ 116 w 312"/>
                <a:gd name="T23" fmla="*/ 419 h 429"/>
                <a:gd name="T24" fmla="*/ 128 w 312"/>
                <a:gd name="T25" fmla="*/ 408 h 429"/>
                <a:gd name="T26" fmla="*/ 147 w 312"/>
                <a:gd name="T27" fmla="*/ 382 h 429"/>
                <a:gd name="T28" fmla="*/ 205 w 312"/>
                <a:gd name="T29" fmla="*/ 285 h 429"/>
                <a:gd name="T30" fmla="*/ 265 w 312"/>
                <a:gd name="T31" fmla="*/ 172 h 429"/>
                <a:gd name="T32" fmla="*/ 307 w 312"/>
                <a:gd name="T33" fmla="*/ 84 h 429"/>
                <a:gd name="T34" fmla="*/ 312 w 312"/>
                <a:gd name="T35" fmla="*/ 66 h 429"/>
                <a:gd name="T36" fmla="*/ 311 w 312"/>
                <a:gd name="T37" fmla="*/ 53 h 429"/>
                <a:gd name="T38" fmla="*/ 303 w 312"/>
                <a:gd name="T39" fmla="*/ 31 h 429"/>
                <a:gd name="T40" fmla="*/ 288 w 312"/>
                <a:gd name="T41" fmla="*/ 15 h 429"/>
                <a:gd name="T42" fmla="*/ 268 w 312"/>
                <a:gd name="T43" fmla="*/ 5 h 429"/>
                <a:gd name="T44" fmla="*/ 246 w 312"/>
                <a:gd name="T45" fmla="*/ 0 h 429"/>
                <a:gd name="T46" fmla="*/ 222 w 312"/>
                <a:gd name="T47" fmla="*/ 2 h 429"/>
                <a:gd name="T48" fmla="*/ 198 w 312"/>
                <a:gd name="T49" fmla="*/ 11 h 429"/>
                <a:gd name="T50" fmla="*/ 176 w 312"/>
                <a:gd name="T51" fmla="*/ 27 h 429"/>
                <a:gd name="T52" fmla="*/ 167 w 312"/>
                <a:gd name="T53" fmla="*/ 38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2" h="429">
                  <a:moveTo>
                    <a:pt x="167" y="38"/>
                  </a:moveTo>
                  <a:lnTo>
                    <a:pt x="150" y="61"/>
                  </a:lnTo>
                  <a:lnTo>
                    <a:pt x="94" y="161"/>
                  </a:lnTo>
                  <a:lnTo>
                    <a:pt x="62" y="221"/>
                  </a:lnTo>
                  <a:lnTo>
                    <a:pt x="23" y="298"/>
                  </a:lnTo>
                  <a:lnTo>
                    <a:pt x="0" y="361"/>
                  </a:lnTo>
                  <a:lnTo>
                    <a:pt x="0" y="385"/>
                  </a:lnTo>
                  <a:lnTo>
                    <a:pt x="5" y="394"/>
                  </a:lnTo>
                  <a:lnTo>
                    <a:pt x="16" y="408"/>
                  </a:lnTo>
                  <a:lnTo>
                    <a:pt x="47" y="425"/>
                  </a:lnTo>
                  <a:lnTo>
                    <a:pt x="84" y="429"/>
                  </a:lnTo>
                  <a:lnTo>
                    <a:pt x="116" y="419"/>
                  </a:lnTo>
                  <a:lnTo>
                    <a:pt x="128" y="408"/>
                  </a:lnTo>
                  <a:lnTo>
                    <a:pt x="147" y="382"/>
                  </a:lnTo>
                  <a:lnTo>
                    <a:pt x="205" y="285"/>
                  </a:lnTo>
                  <a:lnTo>
                    <a:pt x="265" y="172"/>
                  </a:lnTo>
                  <a:lnTo>
                    <a:pt x="307" y="84"/>
                  </a:lnTo>
                  <a:lnTo>
                    <a:pt x="312" y="66"/>
                  </a:lnTo>
                  <a:lnTo>
                    <a:pt x="311" y="53"/>
                  </a:lnTo>
                  <a:lnTo>
                    <a:pt x="303" y="31"/>
                  </a:lnTo>
                  <a:lnTo>
                    <a:pt x="288" y="15"/>
                  </a:lnTo>
                  <a:lnTo>
                    <a:pt x="268" y="5"/>
                  </a:lnTo>
                  <a:lnTo>
                    <a:pt x="246" y="0"/>
                  </a:lnTo>
                  <a:lnTo>
                    <a:pt x="222" y="2"/>
                  </a:lnTo>
                  <a:lnTo>
                    <a:pt x="198" y="11"/>
                  </a:lnTo>
                  <a:lnTo>
                    <a:pt x="176" y="27"/>
                  </a:lnTo>
                  <a:lnTo>
                    <a:pt x="16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4" name="Freeform 9">
              <a:extLst>
                <a:ext uri="{FF2B5EF4-FFF2-40B4-BE49-F238E27FC236}">
                  <a16:creationId xmlns:a16="http://schemas.microsoft.com/office/drawing/2014/main" id="{25C2F70C-97D6-E77D-558B-5AE05C68AC88}"/>
                </a:ext>
              </a:extLst>
            </p:cNvPr>
            <p:cNvSpPr>
              <a:spLocks/>
            </p:cNvSpPr>
            <p:nvPr/>
          </p:nvSpPr>
          <p:spPr bwMode="auto">
            <a:xfrm>
              <a:off x="339725" y="1697038"/>
              <a:ext cx="176213" cy="152400"/>
            </a:xfrm>
            <a:custGeom>
              <a:avLst/>
              <a:gdLst>
                <a:gd name="T0" fmla="*/ 29 w 434"/>
                <a:gd name="T1" fmla="*/ 28 h 373"/>
                <a:gd name="T2" fmla="*/ 17 w 434"/>
                <a:gd name="T3" fmla="*/ 41 h 373"/>
                <a:gd name="T4" fmla="*/ 2 w 434"/>
                <a:gd name="T5" fmla="*/ 73 h 373"/>
                <a:gd name="T6" fmla="*/ 0 w 434"/>
                <a:gd name="T7" fmla="*/ 86 h 373"/>
                <a:gd name="T8" fmla="*/ 2 w 434"/>
                <a:gd name="T9" fmla="*/ 92 h 373"/>
                <a:gd name="T10" fmla="*/ 23 w 434"/>
                <a:gd name="T11" fmla="*/ 116 h 373"/>
                <a:gd name="T12" fmla="*/ 82 w 434"/>
                <a:gd name="T13" fmla="*/ 172 h 373"/>
                <a:gd name="T14" fmla="*/ 190 w 434"/>
                <a:gd name="T15" fmla="*/ 263 h 373"/>
                <a:gd name="T16" fmla="*/ 295 w 434"/>
                <a:gd name="T17" fmla="*/ 341 h 373"/>
                <a:gd name="T18" fmla="*/ 330 w 434"/>
                <a:gd name="T19" fmla="*/ 363 h 373"/>
                <a:gd name="T20" fmla="*/ 340 w 434"/>
                <a:gd name="T21" fmla="*/ 368 h 373"/>
                <a:gd name="T22" fmla="*/ 359 w 434"/>
                <a:gd name="T23" fmla="*/ 373 h 373"/>
                <a:gd name="T24" fmla="*/ 377 w 434"/>
                <a:gd name="T25" fmla="*/ 373 h 373"/>
                <a:gd name="T26" fmla="*/ 394 w 434"/>
                <a:gd name="T27" fmla="*/ 368 h 373"/>
                <a:gd name="T28" fmla="*/ 408 w 434"/>
                <a:gd name="T29" fmla="*/ 360 h 373"/>
                <a:gd name="T30" fmla="*/ 420 w 434"/>
                <a:gd name="T31" fmla="*/ 347 h 373"/>
                <a:gd name="T32" fmla="*/ 429 w 434"/>
                <a:gd name="T33" fmla="*/ 331 h 373"/>
                <a:gd name="T34" fmla="*/ 433 w 434"/>
                <a:gd name="T35" fmla="*/ 312 h 373"/>
                <a:gd name="T36" fmla="*/ 434 w 434"/>
                <a:gd name="T37" fmla="*/ 301 h 373"/>
                <a:gd name="T38" fmla="*/ 433 w 434"/>
                <a:gd name="T39" fmla="*/ 288 h 373"/>
                <a:gd name="T40" fmla="*/ 425 w 434"/>
                <a:gd name="T41" fmla="*/ 264 h 373"/>
                <a:gd name="T42" fmla="*/ 407 w 434"/>
                <a:gd name="T43" fmla="*/ 240 h 373"/>
                <a:gd name="T44" fmla="*/ 377 w 434"/>
                <a:gd name="T45" fmla="*/ 211 h 373"/>
                <a:gd name="T46" fmla="*/ 355 w 434"/>
                <a:gd name="T47" fmla="*/ 194 h 373"/>
                <a:gd name="T48" fmla="*/ 273 w 434"/>
                <a:gd name="T49" fmla="*/ 132 h 373"/>
                <a:gd name="T50" fmla="*/ 185 w 434"/>
                <a:gd name="T51" fmla="*/ 66 h 373"/>
                <a:gd name="T52" fmla="*/ 150 w 434"/>
                <a:gd name="T53" fmla="*/ 39 h 373"/>
                <a:gd name="T54" fmla="*/ 101 w 434"/>
                <a:gd name="T55" fmla="*/ 8 h 373"/>
                <a:gd name="T56" fmla="*/ 76 w 434"/>
                <a:gd name="T57" fmla="*/ 0 h 373"/>
                <a:gd name="T58" fmla="*/ 62 w 434"/>
                <a:gd name="T59" fmla="*/ 2 h 373"/>
                <a:gd name="T60" fmla="*/ 42 w 434"/>
                <a:gd name="T61" fmla="*/ 13 h 373"/>
                <a:gd name="T62" fmla="*/ 29 w 434"/>
                <a:gd name="T63" fmla="*/ 28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4" h="373">
                  <a:moveTo>
                    <a:pt x="29" y="28"/>
                  </a:moveTo>
                  <a:lnTo>
                    <a:pt x="17" y="41"/>
                  </a:lnTo>
                  <a:lnTo>
                    <a:pt x="2" y="73"/>
                  </a:lnTo>
                  <a:lnTo>
                    <a:pt x="0" y="86"/>
                  </a:lnTo>
                  <a:lnTo>
                    <a:pt x="2" y="92"/>
                  </a:lnTo>
                  <a:lnTo>
                    <a:pt x="23" y="116"/>
                  </a:lnTo>
                  <a:lnTo>
                    <a:pt x="82" y="172"/>
                  </a:lnTo>
                  <a:lnTo>
                    <a:pt x="190" y="263"/>
                  </a:lnTo>
                  <a:lnTo>
                    <a:pt x="295" y="341"/>
                  </a:lnTo>
                  <a:lnTo>
                    <a:pt x="330" y="363"/>
                  </a:lnTo>
                  <a:lnTo>
                    <a:pt x="340" y="368"/>
                  </a:lnTo>
                  <a:lnTo>
                    <a:pt x="359" y="373"/>
                  </a:lnTo>
                  <a:lnTo>
                    <a:pt x="377" y="373"/>
                  </a:lnTo>
                  <a:lnTo>
                    <a:pt x="394" y="368"/>
                  </a:lnTo>
                  <a:lnTo>
                    <a:pt x="408" y="360"/>
                  </a:lnTo>
                  <a:lnTo>
                    <a:pt x="420" y="347"/>
                  </a:lnTo>
                  <a:lnTo>
                    <a:pt x="429" y="331"/>
                  </a:lnTo>
                  <a:lnTo>
                    <a:pt x="433" y="312"/>
                  </a:lnTo>
                  <a:lnTo>
                    <a:pt x="434" y="301"/>
                  </a:lnTo>
                  <a:lnTo>
                    <a:pt x="433" y="288"/>
                  </a:lnTo>
                  <a:lnTo>
                    <a:pt x="425" y="264"/>
                  </a:lnTo>
                  <a:lnTo>
                    <a:pt x="407" y="240"/>
                  </a:lnTo>
                  <a:lnTo>
                    <a:pt x="377" y="211"/>
                  </a:lnTo>
                  <a:lnTo>
                    <a:pt x="355" y="194"/>
                  </a:lnTo>
                  <a:lnTo>
                    <a:pt x="273" y="132"/>
                  </a:lnTo>
                  <a:lnTo>
                    <a:pt x="185" y="66"/>
                  </a:lnTo>
                  <a:lnTo>
                    <a:pt x="150" y="39"/>
                  </a:lnTo>
                  <a:lnTo>
                    <a:pt x="101" y="8"/>
                  </a:lnTo>
                  <a:lnTo>
                    <a:pt x="76" y="0"/>
                  </a:lnTo>
                  <a:lnTo>
                    <a:pt x="62" y="2"/>
                  </a:lnTo>
                  <a:lnTo>
                    <a:pt x="42" y="13"/>
                  </a:lnTo>
                  <a:lnTo>
                    <a:pt x="29"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5" name="Freeform 10">
              <a:extLst>
                <a:ext uri="{FF2B5EF4-FFF2-40B4-BE49-F238E27FC236}">
                  <a16:creationId xmlns:a16="http://schemas.microsoft.com/office/drawing/2014/main" id="{8A2D79D8-B95B-54C3-9777-78CA6F0DC9E7}"/>
                </a:ext>
              </a:extLst>
            </p:cNvPr>
            <p:cNvSpPr>
              <a:spLocks/>
            </p:cNvSpPr>
            <p:nvPr/>
          </p:nvSpPr>
          <p:spPr bwMode="auto">
            <a:xfrm>
              <a:off x="1235075" y="1697038"/>
              <a:ext cx="176213" cy="155575"/>
            </a:xfrm>
            <a:custGeom>
              <a:avLst/>
              <a:gdLst>
                <a:gd name="T0" fmla="*/ 215 w 434"/>
                <a:gd name="T1" fmla="*/ 95 h 383"/>
                <a:gd name="T2" fmla="*/ 155 w 434"/>
                <a:gd name="T3" fmla="*/ 141 h 383"/>
                <a:gd name="T4" fmla="*/ 71 w 434"/>
                <a:gd name="T5" fmla="*/ 209 h 383"/>
                <a:gd name="T6" fmla="*/ 22 w 434"/>
                <a:gd name="T7" fmla="*/ 256 h 383"/>
                <a:gd name="T8" fmla="*/ 2 w 434"/>
                <a:gd name="T9" fmla="*/ 289 h 383"/>
                <a:gd name="T10" fmla="*/ 0 w 434"/>
                <a:gd name="T11" fmla="*/ 301 h 383"/>
                <a:gd name="T12" fmla="*/ 2 w 434"/>
                <a:gd name="T13" fmla="*/ 315 h 383"/>
                <a:gd name="T14" fmla="*/ 15 w 434"/>
                <a:gd name="T15" fmla="*/ 343 h 383"/>
                <a:gd name="T16" fmla="*/ 37 w 434"/>
                <a:gd name="T17" fmla="*/ 367 h 383"/>
                <a:gd name="T18" fmla="*/ 62 w 434"/>
                <a:gd name="T19" fmla="*/ 382 h 383"/>
                <a:gd name="T20" fmla="*/ 74 w 434"/>
                <a:gd name="T21" fmla="*/ 383 h 383"/>
                <a:gd name="T22" fmla="*/ 83 w 434"/>
                <a:gd name="T23" fmla="*/ 381 h 383"/>
                <a:gd name="T24" fmla="*/ 120 w 434"/>
                <a:gd name="T25" fmla="*/ 359 h 383"/>
                <a:gd name="T26" fmla="*/ 204 w 434"/>
                <a:gd name="T27" fmla="*/ 298 h 383"/>
                <a:gd name="T28" fmla="*/ 331 w 434"/>
                <a:gd name="T29" fmla="*/ 192 h 383"/>
                <a:gd name="T30" fmla="*/ 405 w 434"/>
                <a:gd name="T31" fmla="*/ 123 h 383"/>
                <a:gd name="T32" fmla="*/ 431 w 434"/>
                <a:gd name="T33" fmla="*/ 92 h 383"/>
                <a:gd name="T34" fmla="*/ 434 w 434"/>
                <a:gd name="T35" fmla="*/ 85 h 383"/>
                <a:gd name="T36" fmla="*/ 432 w 434"/>
                <a:gd name="T37" fmla="*/ 72 h 383"/>
                <a:gd name="T38" fmla="*/ 417 w 434"/>
                <a:gd name="T39" fmla="*/ 44 h 383"/>
                <a:gd name="T40" fmla="*/ 393 w 434"/>
                <a:gd name="T41" fmla="*/ 18 h 383"/>
                <a:gd name="T42" fmla="*/ 367 w 434"/>
                <a:gd name="T43" fmla="*/ 1 h 383"/>
                <a:gd name="T44" fmla="*/ 355 w 434"/>
                <a:gd name="T45" fmla="*/ 0 h 383"/>
                <a:gd name="T46" fmla="*/ 341 w 434"/>
                <a:gd name="T47" fmla="*/ 5 h 383"/>
                <a:gd name="T48" fmla="*/ 265 w 434"/>
                <a:gd name="T49" fmla="*/ 56 h 383"/>
                <a:gd name="T50" fmla="*/ 215 w 434"/>
                <a:gd name="T51" fmla="*/ 95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4" h="383">
                  <a:moveTo>
                    <a:pt x="215" y="95"/>
                  </a:moveTo>
                  <a:lnTo>
                    <a:pt x="155" y="141"/>
                  </a:lnTo>
                  <a:lnTo>
                    <a:pt x="71" y="209"/>
                  </a:lnTo>
                  <a:lnTo>
                    <a:pt x="22" y="256"/>
                  </a:lnTo>
                  <a:lnTo>
                    <a:pt x="2" y="289"/>
                  </a:lnTo>
                  <a:lnTo>
                    <a:pt x="0" y="301"/>
                  </a:lnTo>
                  <a:lnTo>
                    <a:pt x="2" y="315"/>
                  </a:lnTo>
                  <a:lnTo>
                    <a:pt x="15" y="343"/>
                  </a:lnTo>
                  <a:lnTo>
                    <a:pt x="37" y="367"/>
                  </a:lnTo>
                  <a:lnTo>
                    <a:pt x="62" y="382"/>
                  </a:lnTo>
                  <a:lnTo>
                    <a:pt x="74" y="383"/>
                  </a:lnTo>
                  <a:lnTo>
                    <a:pt x="83" y="381"/>
                  </a:lnTo>
                  <a:lnTo>
                    <a:pt x="120" y="359"/>
                  </a:lnTo>
                  <a:lnTo>
                    <a:pt x="204" y="298"/>
                  </a:lnTo>
                  <a:lnTo>
                    <a:pt x="331" y="192"/>
                  </a:lnTo>
                  <a:lnTo>
                    <a:pt x="405" y="123"/>
                  </a:lnTo>
                  <a:lnTo>
                    <a:pt x="431" y="92"/>
                  </a:lnTo>
                  <a:lnTo>
                    <a:pt x="434" y="85"/>
                  </a:lnTo>
                  <a:lnTo>
                    <a:pt x="432" y="72"/>
                  </a:lnTo>
                  <a:lnTo>
                    <a:pt x="417" y="44"/>
                  </a:lnTo>
                  <a:lnTo>
                    <a:pt x="393" y="18"/>
                  </a:lnTo>
                  <a:lnTo>
                    <a:pt x="367" y="1"/>
                  </a:lnTo>
                  <a:lnTo>
                    <a:pt x="355" y="0"/>
                  </a:lnTo>
                  <a:lnTo>
                    <a:pt x="341" y="5"/>
                  </a:lnTo>
                  <a:lnTo>
                    <a:pt x="265" y="56"/>
                  </a:lnTo>
                  <a:lnTo>
                    <a:pt x="215"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6" name="Freeform 11">
              <a:extLst>
                <a:ext uri="{FF2B5EF4-FFF2-40B4-BE49-F238E27FC236}">
                  <a16:creationId xmlns:a16="http://schemas.microsoft.com/office/drawing/2014/main" id="{EBA1229E-5178-4C7D-51E7-519E4D4D8E58}"/>
                </a:ext>
              </a:extLst>
            </p:cNvPr>
            <p:cNvSpPr>
              <a:spLocks noEditPoints="1"/>
            </p:cNvSpPr>
            <p:nvPr/>
          </p:nvSpPr>
          <p:spPr bwMode="auto">
            <a:xfrm>
              <a:off x="319088" y="1833563"/>
              <a:ext cx="1112838" cy="563563"/>
            </a:xfrm>
            <a:custGeom>
              <a:avLst/>
              <a:gdLst>
                <a:gd name="T0" fmla="*/ 776 w 2734"/>
                <a:gd name="T1" fmla="*/ 125 h 1388"/>
                <a:gd name="T2" fmla="*/ 320 w 2734"/>
                <a:gd name="T3" fmla="*/ 387 h 1388"/>
                <a:gd name="T4" fmla="*/ 28 w 2734"/>
                <a:gd name="T5" fmla="*/ 637 h 1388"/>
                <a:gd name="T6" fmla="*/ 23 w 2734"/>
                <a:gd name="T7" fmla="*/ 757 h 1388"/>
                <a:gd name="T8" fmla="*/ 227 w 2734"/>
                <a:gd name="T9" fmla="*/ 946 h 1388"/>
                <a:gd name="T10" fmla="*/ 685 w 2734"/>
                <a:gd name="T11" fmla="*/ 1235 h 1388"/>
                <a:gd name="T12" fmla="*/ 1027 w 2734"/>
                <a:gd name="T13" fmla="*/ 1363 h 1388"/>
                <a:gd name="T14" fmla="*/ 1359 w 2734"/>
                <a:gd name="T15" fmla="*/ 1388 h 1388"/>
                <a:gd name="T16" fmla="*/ 1751 w 2734"/>
                <a:gd name="T17" fmla="*/ 1349 h 1388"/>
                <a:gd name="T18" fmla="*/ 2113 w 2734"/>
                <a:gd name="T19" fmla="*/ 1198 h 1388"/>
                <a:gd name="T20" fmla="*/ 2551 w 2734"/>
                <a:gd name="T21" fmla="*/ 907 h 1388"/>
                <a:gd name="T22" fmla="*/ 2733 w 2734"/>
                <a:gd name="T23" fmla="*/ 716 h 1388"/>
                <a:gd name="T24" fmla="*/ 2681 w 2734"/>
                <a:gd name="T25" fmla="*/ 624 h 1388"/>
                <a:gd name="T26" fmla="*/ 2348 w 2734"/>
                <a:gd name="T27" fmla="*/ 340 h 1388"/>
                <a:gd name="T28" fmla="*/ 1789 w 2734"/>
                <a:gd name="T29" fmla="*/ 67 h 1388"/>
                <a:gd name="T30" fmla="*/ 1446 w 2734"/>
                <a:gd name="T31" fmla="*/ 3 h 1388"/>
                <a:gd name="T32" fmla="*/ 1115 w 2734"/>
                <a:gd name="T33" fmla="*/ 23 h 1388"/>
                <a:gd name="T34" fmla="*/ 1731 w 2734"/>
                <a:gd name="T35" fmla="*/ 293 h 1388"/>
                <a:gd name="T36" fmla="*/ 1882 w 2734"/>
                <a:gd name="T37" fmla="*/ 503 h 1388"/>
                <a:gd name="T38" fmla="*/ 1907 w 2734"/>
                <a:gd name="T39" fmla="*/ 706 h 1388"/>
                <a:gd name="T40" fmla="*/ 1876 w 2734"/>
                <a:gd name="T41" fmla="*/ 916 h 1388"/>
                <a:gd name="T42" fmla="*/ 1742 w 2734"/>
                <a:gd name="T43" fmla="*/ 1101 h 1388"/>
                <a:gd name="T44" fmla="*/ 1482 w 2734"/>
                <a:gd name="T45" fmla="*/ 1235 h 1388"/>
                <a:gd name="T46" fmla="*/ 1196 w 2734"/>
                <a:gd name="T47" fmla="*/ 1223 h 1388"/>
                <a:gd name="T48" fmla="*/ 951 w 2734"/>
                <a:gd name="T49" fmla="*/ 1062 h 1388"/>
                <a:gd name="T50" fmla="*/ 841 w 2734"/>
                <a:gd name="T51" fmla="*/ 874 h 1388"/>
                <a:gd name="T52" fmla="*/ 826 w 2734"/>
                <a:gd name="T53" fmla="*/ 651 h 1388"/>
                <a:gd name="T54" fmla="*/ 864 w 2734"/>
                <a:gd name="T55" fmla="*/ 468 h 1388"/>
                <a:gd name="T56" fmla="*/ 985 w 2734"/>
                <a:gd name="T57" fmla="*/ 306 h 1388"/>
                <a:gd name="T58" fmla="*/ 1164 w 2734"/>
                <a:gd name="T59" fmla="*/ 190 h 1388"/>
                <a:gd name="T60" fmla="*/ 1370 w 2734"/>
                <a:gd name="T61" fmla="*/ 153 h 1388"/>
                <a:gd name="T62" fmla="*/ 1585 w 2734"/>
                <a:gd name="T63" fmla="*/ 202 h 1388"/>
                <a:gd name="T64" fmla="*/ 689 w 2734"/>
                <a:gd name="T65" fmla="*/ 516 h 1388"/>
                <a:gd name="T66" fmla="*/ 669 w 2734"/>
                <a:gd name="T67" fmla="*/ 812 h 1388"/>
                <a:gd name="T68" fmla="*/ 742 w 2734"/>
                <a:gd name="T69" fmla="*/ 1033 h 1388"/>
                <a:gd name="T70" fmla="*/ 717 w 2734"/>
                <a:gd name="T71" fmla="*/ 1082 h 1388"/>
                <a:gd name="T72" fmla="*/ 242 w 2734"/>
                <a:gd name="T73" fmla="*/ 758 h 1388"/>
                <a:gd name="T74" fmla="*/ 461 w 2734"/>
                <a:gd name="T75" fmla="*/ 481 h 1388"/>
                <a:gd name="T76" fmla="*/ 770 w 2734"/>
                <a:gd name="T77" fmla="*/ 298 h 1388"/>
                <a:gd name="T78" fmla="*/ 732 w 2734"/>
                <a:gd name="T79" fmla="*/ 405 h 1388"/>
                <a:gd name="T80" fmla="*/ 2351 w 2734"/>
                <a:gd name="T81" fmla="*/ 527 h 1388"/>
                <a:gd name="T82" fmla="*/ 2535 w 2734"/>
                <a:gd name="T83" fmla="*/ 679 h 1388"/>
                <a:gd name="T84" fmla="*/ 2522 w 2734"/>
                <a:gd name="T85" fmla="*/ 736 h 1388"/>
                <a:gd name="T86" fmla="*/ 2040 w 2734"/>
                <a:gd name="T87" fmla="*/ 1070 h 1388"/>
                <a:gd name="T88" fmla="*/ 1971 w 2734"/>
                <a:gd name="T89" fmla="*/ 1083 h 1388"/>
                <a:gd name="T90" fmla="*/ 2053 w 2734"/>
                <a:gd name="T91" fmla="*/ 882 h 1388"/>
                <a:gd name="T92" fmla="*/ 2061 w 2734"/>
                <a:gd name="T93" fmla="*/ 565 h 1388"/>
                <a:gd name="T94" fmla="*/ 1968 w 2734"/>
                <a:gd name="T95" fmla="*/ 307 h 1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734" h="1388">
                  <a:moveTo>
                    <a:pt x="1075" y="31"/>
                  </a:moveTo>
                  <a:lnTo>
                    <a:pt x="1014" y="46"/>
                  </a:lnTo>
                  <a:lnTo>
                    <a:pt x="893" y="81"/>
                  </a:lnTo>
                  <a:lnTo>
                    <a:pt x="776" y="125"/>
                  </a:lnTo>
                  <a:lnTo>
                    <a:pt x="661" y="176"/>
                  </a:lnTo>
                  <a:lnTo>
                    <a:pt x="548" y="237"/>
                  </a:lnTo>
                  <a:lnTo>
                    <a:pt x="434" y="307"/>
                  </a:lnTo>
                  <a:lnTo>
                    <a:pt x="320" y="387"/>
                  </a:lnTo>
                  <a:lnTo>
                    <a:pt x="203" y="478"/>
                  </a:lnTo>
                  <a:lnTo>
                    <a:pt x="144" y="528"/>
                  </a:lnTo>
                  <a:lnTo>
                    <a:pt x="84" y="579"/>
                  </a:lnTo>
                  <a:lnTo>
                    <a:pt x="28" y="637"/>
                  </a:lnTo>
                  <a:lnTo>
                    <a:pt x="7" y="670"/>
                  </a:lnTo>
                  <a:lnTo>
                    <a:pt x="0" y="699"/>
                  </a:lnTo>
                  <a:lnTo>
                    <a:pt x="5" y="727"/>
                  </a:lnTo>
                  <a:lnTo>
                    <a:pt x="23" y="757"/>
                  </a:lnTo>
                  <a:lnTo>
                    <a:pt x="53" y="791"/>
                  </a:lnTo>
                  <a:lnTo>
                    <a:pt x="72" y="810"/>
                  </a:lnTo>
                  <a:lnTo>
                    <a:pt x="122" y="857"/>
                  </a:lnTo>
                  <a:lnTo>
                    <a:pt x="227" y="946"/>
                  </a:lnTo>
                  <a:lnTo>
                    <a:pt x="337" y="1029"/>
                  </a:lnTo>
                  <a:lnTo>
                    <a:pt x="450" y="1105"/>
                  </a:lnTo>
                  <a:lnTo>
                    <a:pt x="566" y="1174"/>
                  </a:lnTo>
                  <a:lnTo>
                    <a:pt x="685" y="1235"/>
                  </a:lnTo>
                  <a:lnTo>
                    <a:pt x="807" y="1289"/>
                  </a:lnTo>
                  <a:lnTo>
                    <a:pt x="930" y="1334"/>
                  </a:lnTo>
                  <a:lnTo>
                    <a:pt x="992" y="1353"/>
                  </a:lnTo>
                  <a:lnTo>
                    <a:pt x="1027" y="1363"/>
                  </a:lnTo>
                  <a:lnTo>
                    <a:pt x="1096" y="1377"/>
                  </a:lnTo>
                  <a:lnTo>
                    <a:pt x="1178" y="1385"/>
                  </a:lnTo>
                  <a:lnTo>
                    <a:pt x="1287" y="1388"/>
                  </a:lnTo>
                  <a:lnTo>
                    <a:pt x="1359" y="1388"/>
                  </a:lnTo>
                  <a:lnTo>
                    <a:pt x="1465" y="1388"/>
                  </a:lnTo>
                  <a:lnTo>
                    <a:pt x="1596" y="1379"/>
                  </a:lnTo>
                  <a:lnTo>
                    <a:pt x="1675" y="1367"/>
                  </a:lnTo>
                  <a:lnTo>
                    <a:pt x="1751" y="1349"/>
                  </a:lnTo>
                  <a:lnTo>
                    <a:pt x="1829" y="1325"/>
                  </a:lnTo>
                  <a:lnTo>
                    <a:pt x="1957" y="1273"/>
                  </a:lnTo>
                  <a:lnTo>
                    <a:pt x="2059" y="1225"/>
                  </a:lnTo>
                  <a:lnTo>
                    <a:pt x="2113" y="1198"/>
                  </a:lnTo>
                  <a:lnTo>
                    <a:pt x="2226" y="1133"/>
                  </a:lnTo>
                  <a:lnTo>
                    <a:pt x="2341" y="1061"/>
                  </a:lnTo>
                  <a:lnTo>
                    <a:pt x="2451" y="984"/>
                  </a:lnTo>
                  <a:lnTo>
                    <a:pt x="2551" y="907"/>
                  </a:lnTo>
                  <a:lnTo>
                    <a:pt x="2635" y="835"/>
                  </a:lnTo>
                  <a:lnTo>
                    <a:pt x="2697" y="773"/>
                  </a:lnTo>
                  <a:lnTo>
                    <a:pt x="2724" y="736"/>
                  </a:lnTo>
                  <a:lnTo>
                    <a:pt x="2733" y="716"/>
                  </a:lnTo>
                  <a:lnTo>
                    <a:pt x="2734" y="708"/>
                  </a:lnTo>
                  <a:lnTo>
                    <a:pt x="2733" y="699"/>
                  </a:lnTo>
                  <a:lnTo>
                    <a:pt x="2720" y="675"/>
                  </a:lnTo>
                  <a:lnTo>
                    <a:pt x="2681" y="624"/>
                  </a:lnTo>
                  <a:lnTo>
                    <a:pt x="2597" y="539"/>
                  </a:lnTo>
                  <a:lnTo>
                    <a:pt x="2490" y="446"/>
                  </a:lnTo>
                  <a:lnTo>
                    <a:pt x="2432" y="401"/>
                  </a:lnTo>
                  <a:lnTo>
                    <a:pt x="2348" y="340"/>
                  </a:lnTo>
                  <a:lnTo>
                    <a:pt x="2177" y="234"/>
                  </a:lnTo>
                  <a:lnTo>
                    <a:pt x="2005" y="147"/>
                  </a:lnTo>
                  <a:lnTo>
                    <a:pt x="1875" y="95"/>
                  </a:lnTo>
                  <a:lnTo>
                    <a:pt x="1789" y="67"/>
                  </a:lnTo>
                  <a:lnTo>
                    <a:pt x="1702" y="43"/>
                  </a:lnTo>
                  <a:lnTo>
                    <a:pt x="1616" y="25"/>
                  </a:lnTo>
                  <a:lnTo>
                    <a:pt x="1531" y="11"/>
                  </a:lnTo>
                  <a:lnTo>
                    <a:pt x="1446" y="3"/>
                  </a:lnTo>
                  <a:lnTo>
                    <a:pt x="1362" y="0"/>
                  </a:lnTo>
                  <a:lnTo>
                    <a:pt x="1279" y="2"/>
                  </a:lnTo>
                  <a:lnTo>
                    <a:pt x="1196" y="10"/>
                  </a:lnTo>
                  <a:lnTo>
                    <a:pt x="1115" y="23"/>
                  </a:lnTo>
                  <a:lnTo>
                    <a:pt x="1075" y="31"/>
                  </a:lnTo>
                  <a:close/>
                  <a:moveTo>
                    <a:pt x="1612" y="215"/>
                  </a:moveTo>
                  <a:lnTo>
                    <a:pt x="1654" y="237"/>
                  </a:lnTo>
                  <a:lnTo>
                    <a:pt x="1731" y="293"/>
                  </a:lnTo>
                  <a:lnTo>
                    <a:pt x="1797" y="361"/>
                  </a:lnTo>
                  <a:lnTo>
                    <a:pt x="1851" y="439"/>
                  </a:lnTo>
                  <a:lnTo>
                    <a:pt x="1872" y="481"/>
                  </a:lnTo>
                  <a:lnTo>
                    <a:pt x="1882" y="503"/>
                  </a:lnTo>
                  <a:lnTo>
                    <a:pt x="1896" y="547"/>
                  </a:lnTo>
                  <a:lnTo>
                    <a:pt x="1904" y="599"/>
                  </a:lnTo>
                  <a:lnTo>
                    <a:pt x="1907" y="665"/>
                  </a:lnTo>
                  <a:lnTo>
                    <a:pt x="1907" y="706"/>
                  </a:lnTo>
                  <a:lnTo>
                    <a:pt x="1907" y="752"/>
                  </a:lnTo>
                  <a:lnTo>
                    <a:pt x="1904" y="819"/>
                  </a:lnTo>
                  <a:lnTo>
                    <a:pt x="1894" y="870"/>
                  </a:lnTo>
                  <a:lnTo>
                    <a:pt x="1876" y="916"/>
                  </a:lnTo>
                  <a:lnTo>
                    <a:pt x="1862" y="943"/>
                  </a:lnTo>
                  <a:lnTo>
                    <a:pt x="1842" y="979"/>
                  </a:lnTo>
                  <a:lnTo>
                    <a:pt x="1795" y="1045"/>
                  </a:lnTo>
                  <a:lnTo>
                    <a:pt x="1742" y="1101"/>
                  </a:lnTo>
                  <a:lnTo>
                    <a:pt x="1683" y="1148"/>
                  </a:lnTo>
                  <a:lnTo>
                    <a:pt x="1619" y="1186"/>
                  </a:lnTo>
                  <a:lnTo>
                    <a:pt x="1552" y="1215"/>
                  </a:lnTo>
                  <a:lnTo>
                    <a:pt x="1482" y="1235"/>
                  </a:lnTo>
                  <a:lnTo>
                    <a:pt x="1410" y="1246"/>
                  </a:lnTo>
                  <a:lnTo>
                    <a:pt x="1338" y="1247"/>
                  </a:lnTo>
                  <a:lnTo>
                    <a:pt x="1266" y="1240"/>
                  </a:lnTo>
                  <a:lnTo>
                    <a:pt x="1196" y="1223"/>
                  </a:lnTo>
                  <a:lnTo>
                    <a:pt x="1128" y="1196"/>
                  </a:lnTo>
                  <a:lnTo>
                    <a:pt x="1064" y="1161"/>
                  </a:lnTo>
                  <a:lnTo>
                    <a:pt x="1005" y="1116"/>
                  </a:lnTo>
                  <a:lnTo>
                    <a:pt x="951" y="1062"/>
                  </a:lnTo>
                  <a:lnTo>
                    <a:pt x="904" y="999"/>
                  </a:lnTo>
                  <a:lnTo>
                    <a:pt x="884" y="963"/>
                  </a:lnTo>
                  <a:lnTo>
                    <a:pt x="865" y="928"/>
                  </a:lnTo>
                  <a:lnTo>
                    <a:pt x="841" y="874"/>
                  </a:lnTo>
                  <a:lnTo>
                    <a:pt x="829" y="821"/>
                  </a:lnTo>
                  <a:lnTo>
                    <a:pt x="825" y="750"/>
                  </a:lnTo>
                  <a:lnTo>
                    <a:pt x="825" y="698"/>
                  </a:lnTo>
                  <a:lnTo>
                    <a:pt x="826" y="651"/>
                  </a:lnTo>
                  <a:lnTo>
                    <a:pt x="829" y="582"/>
                  </a:lnTo>
                  <a:lnTo>
                    <a:pt x="837" y="532"/>
                  </a:lnTo>
                  <a:lnTo>
                    <a:pt x="853" y="490"/>
                  </a:lnTo>
                  <a:lnTo>
                    <a:pt x="864" y="468"/>
                  </a:lnTo>
                  <a:lnTo>
                    <a:pt x="878" y="441"/>
                  </a:lnTo>
                  <a:lnTo>
                    <a:pt x="911" y="392"/>
                  </a:lnTo>
                  <a:lnTo>
                    <a:pt x="946" y="346"/>
                  </a:lnTo>
                  <a:lnTo>
                    <a:pt x="985" y="306"/>
                  </a:lnTo>
                  <a:lnTo>
                    <a:pt x="1026" y="269"/>
                  </a:lnTo>
                  <a:lnTo>
                    <a:pt x="1070" y="238"/>
                  </a:lnTo>
                  <a:lnTo>
                    <a:pt x="1116" y="211"/>
                  </a:lnTo>
                  <a:lnTo>
                    <a:pt x="1164" y="190"/>
                  </a:lnTo>
                  <a:lnTo>
                    <a:pt x="1213" y="173"/>
                  </a:lnTo>
                  <a:lnTo>
                    <a:pt x="1264" y="161"/>
                  </a:lnTo>
                  <a:lnTo>
                    <a:pt x="1317" y="154"/>
                  </a:lnTo>
                  <a:lnTo>
                    <a:pt x="1370" y="153"/>
                  </a:lnTo>
                  <a:lnTo>
                    <a:pt x="1423" y="157"/>
                  </a:lnTo>
                  <a:lnTo>
                    <a:pt x="1477" y="167"/>
                  </a:lnTo>
                  <a:lnTo>
                    <a:pt x="1531" y="181"/>
                  </a:lnTo>
                  <a:lnTo>
                    <a:pt x="1585" y="202"/>
                  </a:lnTo>
                  <a:lnTo>
                    <a:pt x="1612" y="215"/>
                  </a:lnTo>
                  <a:close/>
                  <a:moveTo>
                    <a:pt x="732" y="405"/>
                  </a:moveTo>
                  <a:lnTo>
                    <a:pt x="716" y="442"/>
                  </a:lnTo>
                  <a:lnTo>
                    <a:pt x="689" y="516"/>
                  </a:lnTo>
                  <a:lnTo>
                    <a:pt x="672" y="590"/>
                  </a:lnTo>
                  <a:lnTo>
                    <a:pt x="662" y="664"/>
                  </a:lnTo>
                  <a:lnTo>
                    <a:pt x="662" y="738"/>
                  </a:lnTo>
                  <a:lnTo>
                    <a:pt x="669" y="812"/>
                  </a:lnTo>
                  <a:lnTo>
                    <a:pt x="686" y="886"/>
                  </a:lnTo>
                  <a:lnTo>
                    <a:pt x="711" y="960"/>
                  </a:lnTo>
                  <a:lnTo>
                    <a:pt x="727" y="996"/>
                  </a:lnTo>
                  <a:lnTo>
                    <a:pt x="742" y="1033"/>
                  </a:lnTo>
                  <a:lnTo>
                    <a:pt x="761" y="1086"/>
                  </a:lnTo>
                  <a:lnTo>
                    <a:pt x="760" y="1095"/>
                  </a:lnTo>
                  <a:lnTo>
                    <a:pt x="754" y="1096"/>
                  </a:lnTo>
                  <a:lnTo>
                    <a:pt x="717" y="1082"/>
                  </a:lnTo>
                  <a:lnTo>
                    <a:pt x="625" y="1031"/>
                  </a:lnTo>
                  <a:lnTo>
                    <a:pt x="460" y="924"/>
                  </a:lnTo>
                  <a:lnTo>
                    <a:pt x="300" y="808"/>
                  </a:lnTo>
                  <a:lnTo>
                    <a:pt x="242" y="758"/>
                  </a:lnTo>
                  <a:lnTo>
                    <a:pt x="175" y="698"/>
                  </a:lnTo>
                  <a:lnTo>
                    <a:pt x="217" y="665"/>
                  </a:lnTo>
                  <a:lnTo>
                    <a:pt x="290" y="606"/>
                  </a:lnTo>
                  <a:lnTo>
                    <a:pt x="461" y="481"/>
                  </a:lnTo>
                  <a:lnTo>
                    <a:pt x="625" y="372"/>
                  </a:lnTo>
                  <a:lnTo>
                    <a:pt x="718" y="318"/>
                  </a:lnTo>
                  <a:lnTo>
                    <a:pt x="759" y="300"/>
                  </a:lnTo>
                  <a:lnTo>
                    <a:pt x="770" y="298"/>
                  </a:lnTo>
                  <a:lnTo>
                    <a:pt x="772" y="300"/>
                  </a:lnTo>
                  <a:lnTo>
                    <a:pt x="769" y="316"/>
                  </a:lnTo>
                  <a:lnTo>
                    <a:pt x="752" y="362"/>
                  </a:lnTo>
                  <a:lnTo>
                    <a:pt x="732" y="405"/>
                  </a:lnTo>
                  <a:close/>
                  <a:moveTo>
                    <a:pt x="2082" y="351"/>
                  </a:moveTo>
                  <a:lnTo>
                    <a:pt x="2126" y="377"/>
                  </a:lnTo>
                  <a:lnTo>
                    <a:pt x="2235" y="447"/>
                  </a:lnTo>
                  <a:lnTo>
                    <a:pt x="2351" y="527"/>
                  </a:lnTo>
                  <a:lnTo>
                    <a:pt x="2453" y="604"/>
                  </a:lnTo>
                  <a:lnTo>
                    <a:pt x="2492" y="636"/>
                  </a:lnTo>
                  <a:lnTo>
                    <a:pt x="2511" y="653"/>
                  </a:lnTo>
                  <a:lnTo>
                    <a:pt x="2535" y="679"/>
                  </a:lnTo>
                  <a:lnTo>
                    <a:pt x="2545" y="697"/>
                  </a:lnTo>
                  <a:lnTo>
                    <a:pt x="2543" y="712"/>
                  </a:lnTo>
                  <a:lnTo>
                    <a:pt x="2537" y="720"/>
                  </a:lnTo>
                  <a:lnTo>
                    <a:pt x="2522" y="736"/>
                  </a:lnTo>
                  <a:lnTo>
                    <a:pt x="2466" y="783"/>
                  </a:lnTo>
                  <a:lnTo>
                    <a:pt x="2346" y="873"/>
                  </a:lnTo>
                  <a:lnTo>
                    <a:pt x="2157" y="1000"/>
                  </a:lnTo>
                  <a:lnTo>
                    <a:pt x="2040" y="1070"/>
                  </a:lnTo>
                  <a:lnTo>
                    <a:pt x="1988" y="1096"/>
                  </a:lnTo>
                  <a:lnTo>
                    <a:pt x="1975" y="1098"/>
                  </a:lnTo>
                  <a:lnTo>
                    <a:pt x="1972" y="1097"/>
                  </a:lnTo>
                  <a:lnTo>
                    <a:pt x="1971" y="1083"/>
                  </a:lnTo>
                  <a:lnTo>
                    <a:pt x="1985" y="1043"/>
                  </a:lnTo>
                  <a:lnTo>
                    <a:pt x="2004" y="1001"/>
                  </a:lnTo>
                  <a:lnTo>
                    <a:pt x="2023" y="961"/>
                  </a:lnTo>
                  <a:lnTo>
                    <a:pt x="2053" y="882"/>
                  </a:lnTo>
                  <a:lnTo>
                    <a:pt x="2072" y="806"/>
                  </a:lnTo>
                  <a:lnTo>
                    <a:pt x="2079" y="729"/>
                  </a:lnTo>
                  <a:lnTo>
                    <a:pt x="2076" y="650"/>
                  </a:lnTo>
                  <a:lnTo>
                    <a:pt x="2061" y="565"/>
                  </a:lnTo>
                  <a:lnTo>
                    <a:pt x="2034" y="474"/>
                  </a:lnTo>
                  <a:lnTo>
                    <a:pt x="1996" y="373"/>
                  </a:lnTo>
                  <a:lnTo>
                    <a:pt x="1972" y="318"/>
                  </a:lnTo>
                  <a:lnTo>
                    <a:pt x="1968" y="307"/>
                  </a:lnTo>
                  <a:lnTo>
                    <a:pt x="1973" y="299"/>
                  </a:lnTo>
                  <a:lnTo>
                    <a:pt x="2015" y="314"/>
                  </a:lnTo>
                  <a:lnTo>
                    <a:pt x="2082" y="3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7" name="Freeform 12">
              <a:extLst>
                <a:ext uri="{FF2B5EF4-FFF2-40B4-BE49-F238E27FC236}">
                  <a16:creationId xmlns:a16="http://schemas.microsoft.com/office/drawing/2014/main" id="{F5FC1E4E-ABCE-461F-5441-870D3BCA93C5}"/>
                </a:ext>
              </a:extLst>
            </p:cNvPr>
            <p:cNvSpPr>
              <a:spLocks noEditPoints="1"/>
            </p:cNvSpPr>
            <p:nvPr/>
          </p:nvSpPr>
          <p:spPr bwMode="auto">
            <a:xfrm>
              <a:off x="706438" y="1947863"/>
              <a:ext cx="334963" cy="336550"/>
            </a:xfrm>
            <a:custGeom>
              <a:avLst/>
              <a:gdLst>
                <a:gd name="T0" fmla="*/ 263 w 820"/>
                <a:gd name="T1" fmla="*/ 34 h 826"/>
                <a:gd name="T2" fmla="*/ 140 w 820"/>
                <a:gd name="T3" fmla="*/ 105 h 826"/>
                <a:gd name="T4" fmla="*/ 75 w 820"/>
                <a:gd name="T5" fmla="*/ 179 h 826"/>
                <a:gd name="T6" fmla="*/ 26 w 820"/>
                <a:gd name="T7" fmla="*/ 274 h 826"/>
                <a:gd name="T8" fmla="*/ 0 w 820"/>
                <a:gd name="T9" fmla="*/ 402 h 826"/>
                <a:gd name="T10" fmla="*/ 15 w 820"/>
                <a:gd name="T11" fmla="*/ 525 h 826"/>
                <a:gd name="T12" fmla="*/ 64 w 820"/>
                <a:gd name="T13" fmla="*/ 636 h 826"/>
                <a:gd name="T14" fmla="*/ 142 w 820"/>
                <a:gd name="T15" fmla="*/ 728 h 826"/>
                <a:gd name="T16" fmla="*/ 245 w 820"/>
                <a:gd name="T17" fmla="*/ 793 h 826"/>
                <a:gd name="T18" fmla="*/ 366 w 820"/>
                <a:gd name="T19" fmla="*/ 825 h 826"/>
                <a:gd name="T20" fmla="*/ 501 w 820"/>
                <a:gd name="T21" fmla="*/ 816 h 826"/>
                <a:gd name="T22" fmla="*/ 578 w 820"/>
                <a:gd name="T23" fmla="*/ 791 h 826"/>
                <a:gd name="T24" fmla="*/ 715 w 820"/>
                <a:gd name="T25" fmla="*/ 694 h 826"/>
                <a:gd name="T26" fmla="*/ 798 w 820"/>
                <a:gd name="T27" fmla="*/ 555 h 826"/>
                <a:gd name="T28" fmla="*/ 820 w 820"/>
                <a:gd name="T29" fmla="*/ 390 h 826"/>
                <a:gd name="T30" fmla="*/ 791 w 820"/>
                <a:gd name="T31" fmla="*/ 261 h 826"/>
                <a:gd name="T32" fmla="*/ 762 w 820"/>
                <a:gd name="T33" fmla="*/ 203 h 826"/>
                <a:gd name="T34" fmla="*/ 704 w 820"/>
                <a:gd name="T35" fmla="*/ 132 h 826"/>
                <a:gd name="T36" fmla="*/ 631 w 820"/>
                <a:gd name="T37" fmla="*/ 73 h 826"/>
                <a:gd name="T38" fmla="*/ 549 w 820"/>
                <a:gd name="T39" fmla="*/ 31 h 826"/>
                <a:gd name="T40" fmla="*/ 492 w 820"/>
                <a:gd name="T41" fmla="*/ 13 h 826"/>
                <a:gd name="T42" fmla="*/ 387 w 820"/>
                <a:gd name="T43" fmla="*/ 0 h 826"/>
                <a:gd name="T44" fmla="*/ 301 w 820"/>
                <a:gd name="T45" fmla="*/ 21 h 826"/>
                <a:gd name="T46" fmla="*/ 619 w 820"/>
                <a:gd name="T47" fmla="*/ 266 h 826"/>
                <a:gd name="T48" fmla="*/ 659 w 820"/>
                <a:gd name="T49" fmla="*/ 334 h 826"/>
                <a:gd name="T50" fmla="*/ 663 w 820"/>
                <a:gd name="T51" fmla="*/ 407 h 826"/>
                <a:gd name="T52" fmla="*/ 650 w 820"/>
                <a:gd name="T53" fmla="*/ 508 h 826"/>
                <a:gd name="T54" fmla="*/ 620 w 820"/>
                <a:gd name="T55" fmla="*/ 572 h 826"/>
                <a:gd name="T56" fmla="*/ 571 w 820"/>
                <a:gd name="T57" fmla="*/ 621 h 826"/>
                <a:gd name="T58" fmla="*/ 523 w 820"/>
                <a:gd name="T59" fmla="*/ 649 h 826"/>
                <a:gd name="T60" fmla="*/ 438 w 820"/>
                <a:gd name="T61" fmla="*/ 677 h 826"/>
                <a:gd name="T62" fmla="*/ 334 w 820"/>
                <a:gd name="T63" fmla="*/ 662 h 826"/>
                <a:gd name="T64" fmla="*/ 278 w 820"/>
                <a:gd name="T65" fmla="*/ 637 h 826"/>
                <a:gd name="T66" fmla="*/ 201 w 820"/>
                <a:gd name="T67" fmla="*/ 569 h 826"/>
                <a:gd name="T68" fmla="*/ 159 w 820"/>
                <a:gd name="T69" fmla="*/ 482 h 826"/>
                <a:gd name="T70" fmla="*/ 154 w 820"/>
                <a:gd name="T71" fmla="*/ 383 h 826"/>
                <a:gd name="T72" fmla="*/ 178 w 820"/>
                <a:gd name="T73" fmla="*/ 307 h 826"/>
                <a:gd name="T74" fmla="*/ 210 w 820"/>
                <a:gd name="T75" fmla="*/ 253 h 826"/>
                <a:gd name="T76" fmla="*/ 260 w 820"/>
                <a:gd name="T77" fmla="*/ 202 h 826"/>
                <a:gd name="T78" fmla="*/ 323 w 820"/>
                <a:gd name="T79" fmla="*/ 175 h 826"/>
                <a:gd name="T80" fmla="*/ 404 w 820"/>
                <a:gd name="T81" fmla="*/ 168 h 826"/>
                <a:gd name="T82" fmla="*/ 463 w 820"/>
                <a:gd name="T83" fmla="*/ 171 h 826"/>
                <a:gd name="T84" fmla="*/ 544 w 820"/>
                <a:gd name="T85" fmla="*/ 192 h 826"/>
                <a:gd name="T86" fmla="*/ 598 w 820"/>
                <a:gd name="T87" fmla="*/ 244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0" h="826">
                  <a:moveTo>
                    <a:pt x="301" y="21"/>
                  </a:moveTo>
                  <a:lnTo>
                    <a:pt x="263" y="34"/>
                  </a:lnTo>
                  <a:lnTo>
                    <a:pt x="197" y="66"/>
                  </a:lnTo>
                  <a:lnTo>
                    <a:pt x="140" y="105"/>
                  </a:lnTo>
                  <a:lnTo>
                    <a:pt x="94" y="152"/>
                  </a:lnTo>
                  <a:lnTo>
                    <a:pt x="75" y="179"/>
                  </a:lnTo>
                  <a:lnTo>
                    <a:pt x="55" y="210"/>
                  </a:lnTo>
                  <a:lnTo>
                    <a:pt x="26" y="274"/>
                  </a:lnTo>
                  <a:lnTo>
                    <a:pt x="8" y="338"/>
                  </a:lnTo>
                  <a:lnTo>
                    <a:pt x="0" y="402"/>
                  </a:lnTo>
                  <a:lnTo>
                    <a:pt x="3" y="465"/>
                  </a:lnTo>
                  <a:lnTo>
                    <a:pt x="15" y="525"/>
                  </a:lnTo>
                  <a:lnTo>
                    <a:pt x="35" y="583"/>
                  </a:lnTo>
                  <a:lnTo>
                    <a:pt x="64" y="636"/>
                  </a:lnTo>
                  <a:lnTo>
                    <a:pt x="100" y="685"/>
                  </a:lnTo>
                  <a:lnTo>
                    <a:pt x="142" y="728"/>
                  </a:lnTo>
                  <a:lnTo>
                    <a:pt x="191" y="764"/>
                  </a:lnTo>
                  <a:lnTo>
                    <a:pt x="245" y="793"/>
                  </a:lnTo>
                  <a:lnTo>
                    <a:pt x="303" y="814"/>
                  </a:lnTo>
                  <a:lnTo>
                    <a:pt x="366" y="825"/>
                  </a:lnTo>
                  <a:lnTo>
                    <a:pt x="432" y="826"/>
                  </a:lnTo>
                  <a:lnTo>
                    <a:pt x="501" y="816"/>
                  </a:lnTo>
                  <a:lnTo>
                    <a:pt x="536" y="806"/>
                  </a:lnTo>
                  <a:lnTo>
                    <a:pt x="578" y="791"/>
                  </a:lnTo>
                  <a:lnTo>
                    <a:pt x="653" y="749"/>
                  </a:lnTo>
                  <a:lnTo>
                    <a:pt x="715" y="694"/>
                  </a:lnTo>
                  <a:lnTo>
                    <a:pt x="763" y="629"/>
                  </a:lnTo>
                  <a:lnTo>
                    <a:pt x="798" y="555"/>
                  </a:lnTo>
                  <a:lnTo>
                    <a:pt x="817" y="475"/>
                  </a:lnTo>
                  <a:lnTo>
                    <a:pt x="820" y="390"/>
                  </a:lnTo>
                  <a:lnTo>
                    <a:pt x="806" y="304"/>
                  </a:lnTo>
                  <a:lnTo>
                    <a:pt x="791" y="261"/>
                  </a:lnTo>
                  <a:lnTo>
                    <a:pt x="783" y="241"/>
                  </a:lnTo>
                  <a:lnTo>
                    <a:pt x="762" y="203"/>
                  </a:lnTo>
                  <a:lnTo>
                    <a:pt x="736" y="167"/>
                  </a:lnTo>
                  <a:lnTo>
                    <a:pt x="704" y="132"/>
                  </a:lnTo>
                  <a:lnTo>
                    <a:pt x="669" y="101"/>
                  </a:lnTo>
                  <a:lnTo>
                    <a:pt x="631" y="73"/>
                  </a:lnTo>
                  <a:lnTo>
                    <a:pt x="591" y="49"/>
                  </a:lnTo>
                  <a:lnTo>
                    <a:pt x="549" y="31"/>
                  </a:lnTo>
                  <a:lnTo>
                    <a:pt x="528" y="24"/>
                  </a:lnTo>
                  <a:lnTo>
                    <a:pt x="492" y="13"/>
                  </a:lnTo>
                  <a:lnTo>
                    <a:pt x="435" y="1"/>
                  </a:lnTo>
                  <a:lnTo>
                    <a:pt x="387" y="0"/>
                  </a:lnTo>
                  <a:lnTo>
                    <a:pt x="334" y="11"/>
                  </a:lnTo>
                  <a:lnTo>
                    <a:pt x="301" y="21"/>
                  </a:lnTo>
                  <a:close/>
                  <a:moveTo>
                    <a:pt x="598" y="244"/>
                  </a:moveTo>
                  <a:lnTo>
                    <a:pt x="619" y="266"/>
                  </a:lnTo>
                  <a:lnTo>
                    <a:pt x="646" y="301"/>
                  </a:lnTo>
                  <a:lnTo>
                    <a:pt x="659" y="334"/>
                  </a:lnTo>
                  <a:lnTo>
                    <a:pt x="663" y="377"/>
                  </a:lnTo>
                  <a:lnTo>
                    <a:pt x="663" y="407"/>
                  </a:lnTo>
                  <a:lnTo>
                    <a:pt x="662" y="451"/>
                  </a:lnTo>
                  <a:lnTo>
                    <a:pt x="650" y="508"/>
                  </a:lnTo>
                  <a:lnTo>
                    <a:pt x="637" y="542"/>
                  </a:lnTo>
                  <a:lnTo>
                    <a:pt x="620" y="572"/>
                  </a:lnTo>
                  <a:lnTo>
                    <a:pt x="598" y="598"/>
                  </a:lnTo>
                  <a:lnTo>
                    <a:pt x="571" y="621"/>
                  </a:lnTo>
                  <a:lnTo>
                    <a:pt x="540" y="641"/>
                  </a:lnTo>
                  <a:lnTo>
                    <a:pt x="523" y="649"/>
                  </a:lnTo>
                  <a:lnTo>
                    <a:pt x="492" y="662"/>
                  </a:lnTo>
                  <a:lnTo>
                    <a:pt x="438" y="677"/>
                  </a:lnTo>
                  <a:lnTo>
                    <a:pt x="388" y="677"/>
                  </a:lnTo>
                  <a:lnTo>
                    <a:pt x="334" y="662"/>
                  </a:lnTo>
                  <a:lnTo>
                    <a:pt x="303" y="649"/>
                  </a:lnTo>
                  <a:lnTo>
                    <a:pt x="278" y="637"/>
                  </a:lnTo>
                  <a:lnTo>
                    <a:pt x="236" y="606"/>
                  </a:lnTo>
                  <a:lnTo>
                    <a:pt x="201" y="569"/>
                  </a:lnTo>
                  <a:lnTo>
                    <a:pt x="175" y="528"/>
                  </a:lnTo>
                  <a:lnTo>
                    <a:pt x="159" y="482"/>
                  </a:lnTo>
                  <a:lnTo>
                    <a:pt x="151" y="433"/>
                  </a:lnTo>
                  <a:lnTo>
                    <a:pt x="154" y="383"/>
                  </a:lnTo>
                  <a:lnTo>
                    <a:pt x="167" y="332"/>
                  </a:lnTo>
                  <a:lnTo>
                    <a:pt x="178" y="307"/>
                  </a:lnTo>
                  <a:lnTo>
                    <a:pt x="188" y="287"/>
                  </a:lnTo>
                  <a:lnTo>
                    <a:pt x="210" y="253"/>
                  </a:lnTo>
                  <a:lnTo>
                    <a:pt x="234" y="225"/>
                  </a:lnTo>
                  <a:lnTo>
                    <a:pt x="260" y="202"/>
                  </a:lnTo>
                  <a:lnTo>
                    <a:pt x="289" y="186"/>
                  </a:lnTo>
                  <a:lnTo>
                    <a:pt x="323" y="175"/>
                  </a:lnTo>
                  <a:lnTo>
                    <a:pt x="361" y="169"/>
                  </a:lnTo>
                  <a:lnTo>
                    <a:pt x="404" y="168"/>
                  </a:lnTo>
                  <a:lnTo>
                    <a:pt x="428" y="169"/>
                  </a:lnTo>
                  <a:lnTo>
                    <a:pt x="463" y="171"/>
                  </a:lnTo>
                  <a:lnTo>
                    <a:pt x="511" y="177"/>
                  </a:lnTo>
                  <a:lnTo>
                    <a:pt x="544" y="192"/>
                  </a:lnTo>
                  <a:lnTo>
                    <a:pt x="577" y="222"/>
                  </a:lnTo>
                  <a:lnTo>
                    <a:pt x="598" y="2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8" name="Freeform 13">
              <a:extLst>
                <a:ext uri="{FF2B5EF4-FFF2-40B4-BE49-F238E27FC236}">
                  <a16:creationId xmlns:a16="http://schemas.microsoft.com/office/drawing/2014/main" id="{A4987C9A-C117-D932-02EA-4A6BC49CF6F4}"/>
                </a:ext>
              </a:extLst>
            </p:cNvPr>
            <p:cNvSpPr>
              <a:spLocks/>
            </p:cNvSpPr>
            <p:nvPr/>
          </p:nvSpPr>
          <p:spPr bwMode="auto">
            <a:xfrm>
              <a:off x="190500" y="1873251"/>
              <a:ext cx="214313" cy="109538"/>
            </a:xfrm>
            <a:custGeom>
              <a:avLst/>
              <a:gdLst>
                <a:gd name="T0" fmla="*/ 20 w 529"/>
                <a:gd name="T1" fmla="*/ 18 h 269"/>
                <a:gd name="T2" fmla="*/ 11 w 529"/>
                <a:gd name="T3" fmla="*/ 29 h 269"/>
                <a:gd name="T4" fmla="*/ 1 w 529"/>
                <a:gd name="T5" fmla="*/ 64 h 269"/>
                <a:gd name="T6" fmla="*/ 0 w 529"/>
                <a:gd name="T7" fmla="*/ 83 h 269"/>
                <a:gd name="T8" fmla="*/ 0 w 529"/>
                <a:gd name="T9" fmla="*/ 92 h 269"/>
                <a:gd name="T10" fmla="*/ 3 w 529"/>
                <a:gd name="T11" fmla="*/ 108 h 269"/>
                <a:gd name="T12" fmla="*/ 11 w 529"/>
                <a:gd name="T13" fmla="*/ 122 h 269"/>
                <a:gd name="T14" fmla="*/ 28 w 529"/>
                <a:gd name="T15" fmla="*/ 136 h 269"/>
                <a:gd name="T16" fmla="*/ 75 w 529"/>
                <a:gd name="T17" fmla="*/ 158 h 269"/>
                <a:gd name="T18" fmla="*/ 197 w 529"/>
                <a:gd name="T19" fmla="*/ 200 h 269"/>
                <a:gd name="T20" fmla="*/ 295 w 529"/>
                <a:gd name="T21" fmla="*/ 231 h 269"/>
                <a:gd name="T22" fmla="*/ 351 w 529"/>
                <a:gd name="T23" fmla="*/ 249 h 269"/>
                <a:gd name="T24" fmla="*/ 429 w 529"/>
                <a:gd name="T25" fmla="*/ 268 h 269"/>
                <a:gd name="T26" fmla="*/ 467 w 529"/>
                <a:gd name="T27" fmla="*/ 269 h 269"/>
                <a:gd name="T28" fmla="*/ 486 w 529"/>
                <a:gd name="T29" fmla="*/ 264 h 269"/>
                <a:gd name="T30" fmla="*/ 501 w 529"/>
                <a:gd name="T31" fmla="*/ 254 h 269"/>
                <a:gd name="T32" fmla="*/ 513 w 529"/>
                <a:gd name="T33" fmla="*/ 239 h 269"/>
                <a:gd name="T34" fmla="*/ 518 w 529"/>
                <a:gd name="T35" fmla="*/ 230 h 269"/>
                <a:gd name="T36" fmla="*/ 524 w 529"/>
                <a:gd name="T37" fmla="*/ 218 h 269"/>
                <a:gd name="T38" fmla="*/ 529 w 529"/>
                <a:gd name="T39" fmla="*/ 197 h 269"/>
                <a:gd name="T40" fmla="*/ 524 w 529"/>
                <a:gd name="T41" fmla="*/ 178 h 269"/>
                <a:gd name="T42" fmla="*/ 510 w 529"/>
                <a:gd name="T43" fmla="*/ 159 h 269"/>
                <a:gd name="T44" fmla="*/ 485 w 529"/>
                <a:gd name="T45" fmla="*/ 141 h 269"/>
                <a:gd name="T46" fmla="*/ 447 w 529"/>
                <a:gd name="T47" fmla="*/ 122 h 269"/>
                <a:gd name="T48" fmla="*/ 366 w 529"/>
                <a:gd name="T49" fmla="*/ 90 h 269"/>
                <a:gd name="T50" fmla="*/ 288 w 529"/>
                <a:gd name="T51" fmla="*/ 65 h 269"/>
                <a:gd name="T52" fmla="*/ 141 w 529"/>
                <a:gd name="T53" fmla="*/ 19 h 269"/>
                <a:gd name="T54" fmla="*/ 54 w 529"/>
                <a:gd name="T55" fmla="*/ 0 h 269"/>
                <a:gd name="T56" fmla="*/ 30 w 529"/>
                <a:gd name="T57" fmla="*/ 8 h 269"/>
                <a:gd name="T58" fmla="*/ 20 w 529"/>
                <a:gd name="T59" fmla="*/ 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9" h="269">
                  <a:moveTo>
                    <a:pt x="20" y="18"/>
                  </a:moveTo>
                  <a:lnTo>
                    <a:pt x="11" y="29"/>
                  </a:lnTo>
                  <a:lnTo>
                    <a:pt x="1" y="64"/>
                  </a:lnTo>
                  <a:lnTo>
                    <a:pt x="0" y="83"/>
                  </a:lnTo>
                  <a:lnTo>
                    <a:pt x="0" y="92"/>
                  </a:lnTo>
                  <a:lnTo>
                    <a:pt x="3" y="108"/>
                  </a:lnTo>
                  <a:lnTo>
                    <a:pt x="11" y="122"/>
                  </a:lnTo>
                  <a:lnTo>
                    <a:pt x="28" y="136"/>
                  </a:lnTo>
                  <a:lnTo>
                    <a:pt x="75" y="158"/>
                  </a:lnTo>
                  <a:lnTo>
                    <a:pt x="197" y="200"/>
                  </a:lnTo>
                  <a:lnTo>
                    <a:pt x="295" y="231"/>
                  </a:lnTo>
                  <a:lnTo>
                    <a:pt x="351" y="249"/>
                  </a:lnTo>
                  <a:lnTo>
                    <a:pt x="429" y="268"/>
                  </a:lnTo>
                  <a:lnTo>
                    <a:pt x="467" y="269"/>
                  </a:lnTo>
                  <a:lnTo>
                    <a:pt x="486" y="264"/>
                  </a:lnTo>
                  <a:lnTo>
                    <a:pt x="501" y="254"/>
                  </a:lnTo>
                  <a:lnTo>
                    <a:pt x="513" y="239"/>
                  </a:lnTo>
                  <a:lnTo>
                    <a:pt x="518" y="230"/>
                  </a:lnTo>
                  <a:lnTo>
                    <a:pt x="524" y="218"/>
                  </a:lnTo>
                  <a:lnTo>
                    <a:pt x="529" y="197"/>
                  </a:lnTo>
                  <a:lnTo>
                    <a:pt x="524" y="178"/>
                  </a:lnTo>
                  <a:lnTo>
                    <a:pt x="510" y="159"/>
                  </a:lnTo>
                  <a:lnTo>
                    <a:pt x="485" y="141"/>
                  </a:lnTo>
                  <a:lnTo>
                    <a:pt x="447" y="122"/>
                  </a:lnTo>
                  <a:lnTo>
                    <a:pt x="366" y="90"/>
                  </a:lnTo>
                  <a:lnTo>
                    <a:pt x="288" y="65"/>
                  </a:lnTo>
                  <a:lnTo>
                    <a:pt x="141" y="19"/>
                  </a:lnTo>
                  <a:lnTo>
                    <a:pt x="54" y="0"/>
                  </a:lnTo>
                  <a:lnTo>
                    <a:pt x="30" y="8"/>
                  </a:lnTo>
                  <a:lnTo>
                    <a:pt x="2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9" name="Freeform 14">
              <a:extLst>
                <a:ext uri="{FF2B5EF4-FFF2-40B4-BE49-F238E27FC236}">
                  <a16:creationId xmlns:a16="http://schemas.microsoft.com/office/drawing/2014/main" id="{AFC3176D-FCFC-E28D-CE05-BAF692CA51EB}"/>
                </a:ext>
              </a:extLst>
            </p:cNvPr>
            <p:cNvSpPr>
              <a:spLocks/>
            </p:cNvSpPr>
            <p:nvPr/>
          </p:nvSpPr>
          <p:spPr bwMode="auto">
            <a:xfrm>
              <a:off x="1354138" y="1879601"/>
              <a:ext cx="220663" cy="107950"/>
            </a:xfrm>
            <a:custGeom>
              <a:avLst/>
              <a:gdLst>
                <a:gd name="T0" fmla="*/ 225 w 539"/>
                <a:gd name="T1" fmla="*/ 69 h 262"/>
                <a:gd name="T2" fmla="*/ 149 w 539"/>
                <a:gd name="T3" fmla="*/ 94 h 262"/>
                <a:gd name="T4" fmla="*/ 71 w 539"/>
                <a:gd name="T5" fmla="*/ 125 h 262"/>
                <a:gd name="T6" fmla="*/ 35 w 539"/>
                <a:gd name="T7" fmla="*/ 144 h 262"/>
                <a:gd name="T8" fmla="*/ 12 w 539"/>
                <a:gd name="T9" fmla="*/ 161 h 262"/>
                <a:gd name="T10" fmla="*/ 0 w 539"/>
                <a:gd name="T11" fmla="*/ 179 h 262"/>
                <a:gd name="T12" fmla="*/ 0 w 539"/>
                <a:gd name="T13" fmla="*/ 197 h 262"/>
                <a:gd name="T14" fmla="*/ 8 w 539"/>
                <a:gd name="T15" fmla="*/ 217 h 262"/>
                <a:gd name="T16" fmla="*/ 15 w 539"/>
                <a:gd name="T17" fmla="*/ 229 h 262"/>
                <a:gd name="T18" fmla="*/ 22 w 539"/>
                <a:gd name="T19" fmla="*/ 237 h 262"/>
                <a:gd name="T20" fmla="*/ 35 w 539"/>
                <a:gd name="T21" fmla="*/ 251 h 262"/>
                <a:gd name="T22" fmla="*/ 53 w 539"/>
                <a:gd name="T23" fmla="*/ 259 h 262"/>
                <a:gd name="T24" fmla="*/ 76 w 539"/>
                <a:gd name="T25" fmla="*/ 262 h 262"/>
                <a:gd name="T26" fmla="*/ 124 w 539"/>
                <a:gd name="T27" fmla="*/ 258 h 262"/>
                <a:gd name="T28" fmla="*/ 230 w 539"/>
                <a:gd name="T29" fmla="*/ 232 h 262"/>
                <a:gd name="T30" fmla="*/ 307 w 539"/>
                <a:gd name="T31" fmla="*/ 209 h 262"/>
                <a:gd name="T32" fmla="*/ 367 w 539"/>
                <a:gd name="T33" fmla="*/ 190 h 262"/>
                <a:gd name="T34" fmla="*/ 456 w 539"/>
                <a:gd name="T35" fmla="*/ 156 h 262"/>
                <a:gd name="T36" fmla="*/ 511 w 539"/>
                <a:gd name="T37" fmla="*/ 125 h 262"/>
                <a:gd name="T38" fmla="*/ 532 w 539"/>
                <a:gd name="T39" fmla="*/ 102 h 262"/>
                <a:gd name="T40" fmla="*/ 538 w 539"/>
                <a:gd name="T41" fmla="*/ 87 h 262"/>
                <a:gd name="T42" fmla="*/ 539 w 539"/>
                <a:gd name="T43" fmla="*/ 79 h 262"/>
                <a:gd name="T44" fmla="*/ 537 w 539"/>
                <a:gd name="T45" fmla="*/ 69 h 262"/>
                <a:gd name="T46" fmla="*/ 517 w 539"/>
                <a:gd name="T47" fmla="*/ 44 h 262"/>
                <a:gd name="T48" fmla="*/ 489 w 539"/>
                <a:gd name="T49" fmla="*/ 18 h 262"/>
                <a:gd name="T50" fmla="*/ 461 w 539"/>
                <a:gd name="T51" fmla="*/ 2 h 262"/>
                <a:gd name="T52" fmla="*/ 452 w 539"/>
                <a:gd name="T53" fmla="*/ 0 h 262"/>
                <a:gd name="T54" fmla="*/ 390 w 539"/>
                <a:gd name="T55" fmla="*/ 17 h 262"/>
                <a:gd name="T56" fmla="*/ 225 w 539"/>
                <a:gd name="T57" fmla="*/ 6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39" h="262">
                  <a:moveTo>
                    <a:pt x="225" y="69"/>
                  </a:moveTo>
                  <a:lnTo>
                    <a:pt x="149" y="94"/>
                  </a:lnTo>
                  <a:lnTo>
                    <a:pt x="71" y="125"/>
                  </a:lnTo>
                  <a:lnTo>
                    <a:pt x="35" y="144"/>
                  </a:lnTo>
                  <a:lnTo>
                    <a:pt x="12" y="161"/>
                  </a:lnTo>
                  <a:lnTo>
                    <a:pt x="0" y="179"/>
                  </a:lnTo>
                  <a:lnTo>
                    <a:pt x="0" y="197"/>
                  </a:lnTo>
                  <a:lnTo>
                    <a:pt x="8" y="217"/>
                  </a:lnTo>
                  <a:lnTo>
                    <a:pt x="15" y="229"/>
                  </a:lnTo>
                  <a:lnTo>
                    <a:pt x="22" y="237"/>
                  </a:lnTo>
                  <a:lnTo>
                    <a:pt x="35" y="251"/>
                  </a:lnTo>
                  <a:lnTo>
                    <a:pt x="53" y="259"/>
                  </a:lnTo>
                  <a:lnTo>
                    <a:pt x="76" y="262"/>
                  </a:lnTo>
                  <a:lnTo>
                    <a:pt x="124" y="258"/>
                  </a:lnTo>
                  <a:lnTo>
                    <a:pt x="230" y="232"/>
                  </a:lnTo>
                  <a:lnTo>
                    <a:pt x="307" y="209"/>
                  </a:lnTo>
                  <a:lnTo>
                    <a:pt x="367" y="190"/>
                  </a:lnTo>
                  <a:lnTo>
                    <a:pt x="456" y="156"/>
                  </a:lnTo>
                  <a:lnTo>
                    <a:pt x="511" y="125"/>
                  </a:lnTo>
                  <a:lnTo>
                    <a:pt x="532" y="102"/>
                  </a:lnTo>
                  <a:lnTo>
                    <a:pt x="538" y="87"/>
                  </a:lnTo>
                  <a:lnTo>
                    <a:pt x="539" y="79"/>
                  </a:lnTo>
                  <a:lnTo>
                    <a:pt x="537" y="69"/>
                  </a:lnTo>
                  <a:lnTo>
                    <a:pt x="517" y="44"/>
                  </a:lnTo>
                  <a:lnTo>
                    <a:pt x="489" y="18"/>
                  </a:lnTo>
                  <a:lnTo>
                    <a:pt x="461" y="2"/>
                  </a:lnTo>
                  <a:lnTo>
                    <a:pt x="452" y="0"/>
                  </a:lnTo>
                  <a:lnTo>
                    <a:pt x="390" y="17"/>
                  </a:lnTo>
                  <a:lnTo>
                    <a:pt x="225"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0" name="Freeform 15">
              <a:extLst>
                <a:ext uri="{FF2B5EF4-FFF2-40B4-BE49-F238E27FC236}">
                  <a16:creationId xmlns:a16="http://schemas.microsoft.com/office/drawing/2014/main" id="{ACAAED17-CDCA-B110-408C-5C1ECADB8FB2}"/>
                </a:ext>
              </a:extLst>
            </p:cNvPr>
            <p:cNvSpPr>
              <a:spLocks/>
            </p:cNvSpPr>
            <p:nvPr/>
          </p:nvSpPr>
          <p:spPr bwMode="auto">
            <a:xfrm>
              <a:off x="644525" y="2516188"/>
              <a:ext cx="933450" cy="61913"/>
            </a:xfrm>
            <a:custGeom>
              <a:avLst/>
              <a:gdLst>
                <a:gd name="T0" fmla="*/ 27 w 2294"/>
                <a:gd name="T1" fmla="*/ 27 h 150"/>
                <a:gd name="T2" fmla="*/ 16 w 2294"/>
                <a:gd name="T3" fmla="*/ 38 h 150"/>
                <a:gd name="T4" fmla="*/ 2 w 2294"/>
                <a:gd name="T5" fmla="*/ 65 h 150"/>
                <a:gd name="T6" fmla="*/ 0 w 2294"/>
                <a:gd name="T7" fmla="*/ 75 h 150"/>
                <a:gd name="T8" fmla="*/ 2 w 2294"/>
                <a:gd name="T9" fmla="*/ 86 h 150"/>
                <a:gd name="T10" fmla="*/ 16 w 2294"/>
                <a:gd name="T11" fmla="*/ 112 h 150"/>
                <a:gd name="T12" fmla="*/ 27 w 2294"/>
                <a:gd name="T13" fmla="*/ 124 h 150"/>
                <a:gd name="T14" fmla="*/ 32 w 2294"/>
                <a:gd name="T15" fmla="*/ 128 h 150"/>
                <a:gd name="T16" fmla="*/ 55 w 2294"/>
                <a:gd name="T17" fmla="*/ 135 h 150"/>
                <a:gd name="T18" fmla="*/ 130 w 2294"/>
                <a:gd name="T19" fmla="*/ 143 h 150"/>
                <a:gd name="T20" fmla="*/ 528 w 2294"/>
                <a:gd name="T21" fmla="*/ 150 h 150"/>
                <a:gd name="T22" fmla="*/ 1159 w 2294"/>
                <a:gd name="T23" fmla="*/ 150 h 150"/>
                <a:gd name="T24" fmla="*/ 2265 w 2294"/>
                <a:gd name="T25" fmla="*/ 150 h 150"/>
                <a:gd name="T26" fmla="*/ 2285 w 2294"/>
                <a:gd name="T27" fmla="*/ 115 h 150"/>
                <a:gd name="T28" fmla="*/ 2294 w 2294"/>
                <a:gd name="T29" fmla="*/ 96 h 150"/>
                <a:gd name="T30" fmla="*/ 2294 w 2294"/>
                <a:gd name="T31" fmla="*/ 61 h 150"/>
                <a:gd name="T32" fmla="*/ 2285 w 2294"/>
                <a:gd name="T33" fmla="*/ 40 h 150"/>
                <a:gd name="T34" fmla="*/ 2267 w 2294"/>
                <a:gd name="T35" fmla="*/ 0 h 150"/>
                <a:gd name="T36" fmla="*/ 1160 w 2294"/>
                <a:gd name="T37" fmla="*/ 0 h 150"/>
                <a:gd name="T38" fmla="*/ 529 w 2294"/>
                <a:gd name="T39" fmla="*/ 1 h 150"/>
                <a:gd name="T40" fmla="*/ 130 w 2294"/>
                <a:gd name="T41" fmla="*/ 8 h 150"/>
                <a:gd name="T42" fmla="*/ 55 w 2294"/>
                <a:gd name="T43" fmla="*/ 16 h 150"/>
                <a:gd name="T44" fmla="*/ 32 w 2294"/>
                <a:gd name="T45" fmla="*/ 23 h 150"/>
                <a:gd name="T46" fmla="*/ 27 w 2294"/>
                <a:gd name="T4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4" h="150">
                  <a:moveTo>
                    <a:pt x="27" y="27"/>
                  </a:moveTo>
                  <a:lnTo>
                    <a:pt x="16" y="38"/>
                  </a:lnTo>
                  <a:lnTo>
                    <a:pt x="2" y="65"/>
                  </a:lnTo>
                  <a:lnTo>
                    <a:pt x="0" y="75"/>
                  </a:lnTo>
                  <a:lnTo>
                    <a:pt x="2" y="86"/>
                  </a:lnTo>
                  <a:lnTo>
                    <a:pt x="16" y="112"/>
                  </a:lnTo>
                  <a:lnTo>
                    <a:pt x="27" y="124"/>
                  </a:lnTo>
                  <a:lnTo>
                    <a:pt x="32" y="128"/>
                  </a:lnTo>
                  <a:lnTo>
                    <a:pt x="55" y="135"/>
                  </a:lnTo>
                  <a:lnTo>
                    <a:pt x="130" y="143"/>
                  </a:lnTo>
                  <a:lnTo>
                    <a:pt x="528" y="150"/>
                  </a:lnTo>
                  <a:lnTo>
                    <a:pt x="1159" y="150"/>
                  </a:lnTo>
                  <a:lnTo>
                    <a:pt x="2265" y="150"/>
                  </a:lnTo>
                  <a:lnTo>
                    <a:pt x="2285" y="115"/>
                  </a:lnTo>
                  <a:lnTo>
                    <a:pt x="2294" y="96"/>
                  </a:lnTo>
                  <a:lnTo>
                    <a:pt x="2294" y="61"/>
                  </a:lnTo>
                  <a:lnTo>
                    <a:pt x="2285" y="40"/>
                  </a:lnTo>
                  <a:lnTo>
                    <a:pt x="2267" y="0"/>
                  </a:lnTo>
                  <a:lnTo>
                    <a:pt x="1160" y="0"/>
                  </a:lnTo>
                  <a:lnTo>
                    <a:pt x="529" y="1"/>
                  </a:lnTo>
                  <a:lnTo>
                    <a:pt x="130" y="8"/>
                  </a:lnTo>
                  <a:lnTo>
                    <a:pt x="55" y="16"/>
                  </a:lnTo>
                  <a:lnTo>
                    <a:pt x="32" y="23"/>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1" name="Freeform 16">
              <a:extLst>
                <a:ext uri="{FF2B5EF4-FFF2-40B4-BE49-F238E27FC236}">
                  <a16:creationId xmlns:a16="http://schemas.microsoft.com/office/drawing/2014/main" id="{7385E9CF-9667-E5B2-F0B3-B68D8AF668FC}"/>
                </a:ext>
              </a:extLst>
            </p:cNvPr>
            <p:cNvSpPr>
              <a:spLocks/>
            </p:cNvSpPr>
            <p:nvPr/>
          </p:nvSpPr>
          <p:spPr bwMode="auto">
            <a:xfrm>
              <a:off x="169863" y="2524126"/>
              <a:ext cx="379413" cy="385763"/>
            </a:xfrm>
            <a:custGeom>
              <a:avLst/>
              <a:gdLst>
                <a:gd name="T0" fmla="*/ 20 w 933"/>
                <a:gd name="T1" fmla="*/ 20 h 950"/>
                <a:gd name="T2" fmla="*/ 14 w 933"/>
                <a:gd name="T3" fmla="*/ 29 h 950"/>
                <a:gd name="T4" fmla="*/ 7 w 933"/>
                <a:gd name="T5" fmla="*/ 85 h 950"/>
                <a:gd name="T6" fmla="*/ 0 w 933"/>
                <a:gd name="T7" fmla="*/ 264 h 950"/>
                <a:gd name="T8" fmla="*/ 0 w 933"/>
                <a:gd name="T9" fmla="*/ 478 h 950"/>
                <a:gd name="T10" fmla="*/ 0 w 933"/>
                <a:gd name="T11" fmla="*/ 741 h 950"/>
                <a:gd name="T12" fmla="*/ 8 w 933"/>
                <a:gd name="T13" fmla="*/ 894 h 950"/>
                <a:gd name="T14" fmla="*/ 17 w 933"/>
                <a:gd name="T15" fmla="*/ 921 h 950"/>
                <a:gd name="T16" fmla="*/ 26 w 933"/>
                <a:gd name="T17" fmla="*/ 930 h 950"/>
                <a:gd name="T18" fmla="*/ 31 w 933"/>
                <a:gd name="T19" fmla="*/ 933 h 950"/>
                <a:gd name="T20" fmla="*/ 44 w 933"/>
                <a:gd name="T21" fmla="*/ 937 h 950"/>
                <a:gd name="T22" fmla="*/ 111 w 933"/>
                <a:gd name="T23" fmla="*/ 943 h 950"/>
                <a:gd name="T24" fmla="*/ 292 w 933"/>
                <a:gd name="T25" fmla="*/ 949 h 950"/>
                <a:gd name="T26" fmla="*/ 466 w 933"/>
                <a:gd name="T27" fmla="*/ 950 h 950"/>
                <a:gd name="T28" fmla="*/ 641 w 933"/>
                <a:gd name="T29" fmla="*/ 949 h 950"/>
                <a:gd name="T30" fmla="*/ 821 w 933"/>
                <a:gd name="T31" fmla="*/ 943 h 950"/>
                <a:gd name="T32" fmla="*/ 889 w 933"/>
                <a:gd name="T33" fmla="*/ 937 h 950"/>
                <a:gd name="T34" fmla="*/ 901 w 933"/>
                <a:gd name="T35" fmla="*/ 933 h 950"/>
                <a:gd name="T36" fmla="*/ 911 w 933"/>
                <a:gd name="T37" fmla="*/ 927 h 950"/>
                <a:gd name="T38" fmla="*/ 924 w 933"/>
                <a:gd name="T39" fmla="*/ 907 h 950"/>
                <a:gd name="T40" fmla="*/ 933 w 933"/>
                <a:gd name="T41" fmla="*/ 838 h 950"/>
                <a:gd name="T42" fmla="*/ 933 w 933"/>
                <a:gd name="T43" fmla="*/ 733 h 950"/>
                <a:gd name="T44" fmla="*/ 933 w 933"/>
                <a:gd name="T45" fmla="*/ 676 h 950"/>
                <a:gd name="T46" fmla="*/ 931 w 933"/>
                <a:gd name="T47" fmla="*/ 600 h 950"/>
                <a:gd name="T48" fmla="*/ 924 w 933"/>
                <a:gd name="T49" fmla="*/ 560 h 950"/>
                <a:gd name="T50" fmla="*/ 910 w 933"/>
                <a:gd name="T51" fmla="*/ 540 h 950"/>
                <a:gd name="T52" fmla="*/ 900 w 933"/>
                <a:gd name="T53" fmla="*/ 533 h 950"/>
                <a:gd name="T54" fmla="*/ 883 w 933"/>
                <a:gd name="T55" fmla="*/ 526 h 950"/>
                <a:gd name="T56" fmla="*/ 858 w 933"/>
                <a:gd name="T57" fmla="*/ 524 h 950"/>
                <a:gd name="T58" fmla="*/ 842 w 933"/>
                <a:gd name="T59" fmla="*/ 529 h 950"/>
                <a:gd name="T60" fmla="*/ 833 w 933"/>
                <a:gd name="T61" fmla="*/ 533 h 950"/>
                <a:gd name="T62" fmla="*/ 824 w 933"/>
                <a:gd name="T63" fmla="*/ 539 h 950"/>
                <a:gd name="T64" fmla="*/ 810 w 933"/>
                <a:gd name="T65" fmla="*/ 556 h 950"/>
                <a:gd name="T66" fmla="*/ 802 w 933"/>
                <a:gd name="T67" fmla="*/ 587 h 950"/>
                <a:gd name="T68" fmla="*/ 798 w 933"/>
                <a:gd name="T69" fmla="*/ 637 h 950"/>
                <a:gd name="T70" fmla="*/ 796 w 933"/>
                <a:gd name="T71" fmla="*/ 672 h 950"/>
                <a:gd name="T72" fmla="*/ 791 w 933"/>
                <a:gd name="T73" fmla="*/ 792 h 950"/>
                <a:gd name="T74" fmla="*/ 475 w 933"/>
                <a:gd name="T75" fmla="*/ 792 h 950"/>
                <a:gd name="T76" fmla="*/ 158 w 933"/>
                <a:gd name="T77" fmla="*/ 792 h 950"/>
                <a:gd name="T78" fmla="*/ 153 w 933"/>
                <a:gd name="T79" fmla="*/ 470 h 950"/>
                <a:gd name="T80" fmla="*/ 150 w 933"/>
                <a:gd name="T81" fmla="*/ 150 h 950"/>
                <a:gd name="T82" fmla="*/ 521 w 933"/>
                <a:gd name="T83" fmla="*/ 150 h 950"/>
                <a:gd name="T84" fmla="*/ 656 w 933"/>
                <a:gd name="T85" fmla="*/ 150 h 950"/>
                <a:gd name="T86" fmla="*/ 827 w 933"/>
                <a:gd name="T87" fmla="*/ 146 h 950"/>
                <a:gd name="T88" fmla="*/ 892 w 933"/>
                <a:gd name="T89" fmla="*/ 135 h 950"/>
                <a:gd name="T90" fmla="*/ 917 w 933"/>
                <a:gd name="T91" fmla="*/ 124 h 950"/>
                <a:gd name="T92" fmla="*/ 929 w 933"/>
                <a:gd name="T93" fmla="*/ 109 h 950"/>
                <a:gd name="T94" fmla="*/ 933 w 933"/>
                <a:gd name="T95" fmla="*/ 88 h 950"/>
                <a:gd name="T96" fmla="*/ 933 w 933"/>
                <a:gd name="T97" fmla="*/ 75 h 950"/>
                <a:gd name="T98" fmla="*/ 933 w 933"/>
                <a:gd name="T99" fmla="*/ 62 h 950"/>
                <a:gd name="T100" fmla="*/ 929 w 933"/>
                <a:gd name="T101" fmla="*/ 41 h 950"/>
                <a:gd name="T102" fmla="*/ 916 w 933"/>
                <a:gd name="T103" fmla="*/ 26 h 950"/>
                <a:gd name="T104" fmla="*/ 889 w 933"/>
                <a:gd name="T105" fmla="*/ 15 h 950"/>
                <a:gd name="T106" fmla="*/ 815 w 933"/>
                <a:gd name="T107" fmla="*/ 4 h 950"/>
                <a:gd name="T108" fmla="*/ 621 w 933"/>
                <a:gd name="T109" fmla="*/ 0 h 950"/>
                <a:gd name="T110" fmla="*/ 466 w 933"/>
                <a:gd name="T111" fmla="*/ 0 h 950"/>
                <a:gd name="T112" fmla="*/ 257 w 933"/>
                <a:gd name="T113" fmla="*/ 1 h 950"/>
                <a:gd name="T114" fmla="*/ 84 w 933"/>
                <a:gd name="T115" fmla="*/ 7 h 950"/>
                <a:gd name="T116" fmla="*/ 29 w 933"/>
                <a:gd name="T117" fmla="*/ 15 h 950"/>
                <a:gd name="T118" fmla="*/ 20 w 933"/>
                <a:gd name="T119" fmla="*/ 20 h 9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33" h="950">
                  <a:moveTo>
                    <a:pt x="20" y="20"/>
                  </a:moveTo>
                  <a:lnTo>
                    <a:pt x="14" y="29"/>
                  </a:lnTo>
                  <a:lnTo>
                    <a:pt x="7" y="85"/>
                  </a:lnTo>
                  <a:lnTo>
                    <a:pt x="0" y="264"/>
                  </a:lnTo>
                  <a:lnTo>
                    <a:pt x="0" y="478"/>
                  </a:lnTo>
                  <a:lnTo>
                    <a:pt x="0" y="741"/>
                  </a:lnTo>
                  <a:lnTo>
                    <a:pt x="8" y="894"/>
                  </a:lnTo>
                  <a:lnTo>
                    <a:pt x="17" y="921"/>
                  </a:lnTo>
                  <a:lnTo>
                    <a:pt x="26" y="930"/>
                  </a:lnTo>
                  <a:lnTo>
                    <a:pt x="31" y="933"/>
                  </a:lnTo>
                  <a:lnTo>
                    <a:pt x="44" y="937"/>
                  </a:lnTo>
                  <a:lnTo>
                    <a:pt x="111" y="943"/>
                  </a:lnTo>
                  <a:lnTo>
                    <a:pt x="292" y="949"/>
                  </a:lnTo>
                  <a:lnTo>
                    <a:pt x="466" y="950"/>
                  </a:lnTo>
                  <a:lnTo>
                    <a:pt x="641" y="949"/>
                  </a:lnTo>
                  <a:lnTo>
                    <a:pt x="821" y="943"/>
                  </a:lnTo>
                  <a:lnTo>
                    <a:pt x="889" y="937"/>
                  </a:lnTo>
                  <a:lnTo>
                    <a:pt x="901" y="933"/>
                  </a:lnTo>
                  <a:lnTo>
                    <a:pt x="911" y="927"/>
                  </a:lnTo>
                  <a:lnTo>
                    <a:pt x="924" y="907"/>
                  </a:lnTo>
                  <a:lnTo>
                    <a:pt x="933" y="838"/>
                  </a:lnTo>
                  <a:lnTo>
                    <a:pt x="933" y="733"/>
                  </a:lnTo>
                  <a:lnTo>
                    <a:pt x="933" y="676"/>
                  </a:lnTo>
                  <a:lnTo>
                    <a:pt x="931" y="600"/>
                  </a:lnTo>
                  <a:lnTo>
                    <a:pt x="924" y="560"/>
                  </a:lnTo>
                  <a:lnTo>
                    <a:pt x="910" y="540"/>
                  </a:lnTo>
                  <a:lnTo>
                    <a:pt x="900" y="533"/>
                  </a:lnTo>
                  <a:lnTo>
                    <a:pt x="883" y="526"/>
                  </a:lnTo>
                  <a:lnTo>
                    <a:pt x="858" y="524"/>
                  </a:lnTo>
                  <a:lnTo>
                    <a:pt x="842" y="529"/>
                  </a:lnTo>
                  <a:lnTo>
                    <a:pt x="833" y="533"/>
                  </a:lnTo>
                  <a:lnTo>
                    <a:pt x="824" y="539"/>
                  </a:lnTo>
                  <a:lnTo>
                    <a:pt x="810" y="556"/>
                  </a:lnTo>
                  <a:lnTo>
                    <a:pt x="802" y="587"/>
                  </a:lnTo>
                  <a:lnTo>
                    <a:pt x="798" y="637"/>
                  </a:lnTo>
                  <a:lnTo>
                    <a:pt x="796" y="672"/>
                  </a:lnTo>
                  <a:lnTo>
                    <a:pt x="791" y="792"/>
                  </a:lnTo>
                  <a:lnTo>
                    <a:pt x="475" y="792"/>
                  </a:lnTo>
                  <a:lnTo>
                    <a:pt x="158" y="792"/>
                  </a:lnTo>
                  <a:lnTo>
                    <a:pt x="153" y="470"/>
                  </a:lnTo>
                  <a:lnTo>
                    <a:pt x="150" y="150"/>
                  </a:lnTo>
                  <a:lnTo>
                    <a:pt x="521" y="150"/>
                  </a:lnTo>
                  <a:lnTo>
                    <a:pt x="656" y="150"/>
                  </a:lnTo>
                  <a:lnTo>
                    <a:pt x="827" y="146"/>
                  </a:lnTo>
                  <a:lnTo>
                    <a:pt x="892" y="135"/>
                  </a:lnTo>
                  <a:lnTo>
                    <a:pt x="917" y="124"/>
                  </a:lnTo>
                  <a:lnTo>
                    <a:pt x="929" y="109"/>
                  </a:lnTo>
                  <a:lnTo>
                    <a:pt x="933" y="88"/>
                  </a:lnTo>
                  <a:lnTo>
                    <a:pt x="933" y="75"/>
                  </a:lnTo>
                  <a:lnTo>
                    <a:pt x="933" y="62"/>
                  </a:lnTo>
                  <a:lnTo>
                    <a:pt x="929" y="41"/>
                  </a:lnTo>
                  <a:lnTo>
                    <a:pt x="916" y="26"/>
                  </a:lnTo>
                  <a:lnTo>
                    <a:pt x="889" y="15"/>
                  </a:lnTo>
                  <a:lnTo>
                    <a:pt x="815" y="4"/>
                  </a:lnTo>
                  <a:lnTo>
                    <a:pt x="621" y="0"/>
                  </a:lnTo>
                  <a:lnTo>
                    <a:pt x="466" y="0"/>
                  </a:lnTo>
                  <a:lnTo>
                    <a:pt x="257" y="1"/>
                  </a:lnTo>
                  <a:lnTo>
                    <a:pt x="84" y="7"/>
                  </a:lnTo>
                  <a:lnTo>
                    <a:pt x="29"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2" name="Freeform 17">
              <a:extLst>
                <a:ext uri="{FF2B5EF4-FFF2-40B4-BE49-F238E27FC236}">
                  <a16:creationId xmlns:a16="http://schemas.microsoft.com/office/drawing/2014/main" id="{77ACD392-A520-DAAD-57CC-6B8C9B876F74}"/>
                </a:ext>
              </a:extLst>
            </p:cNvPr>
            <p:cNvSpPr>
              <a:spLocks/>
            </p:cNvSpPr>
            <p:nvPr/>
          </p:nvSpPr>
          <p:spPr bwMode="auto">
            <a:xfrm>
              <a:off x="266700" y="2617788"/>
              <a:ext cx="301625" cy="193675"/>
            </a:xfrm>
            <a:custGeom>
              <a:avLst/>
              <a:gdLst>
                <a:gd name="T0" fmla="*/ 440 w 740"/>
                <a:gd name="T1" fmla="*/ 142 h 475"/>
                <a:gd name="T2" fmla="*/ 361 w 740"/>
                <a:gd name="T3" fmla="*/ 199 h 475"/>
                <a:gd name="T4" fmla="*/ 249 w 740"/>
                <a:gd name="T5" fmla="*/ 276 h 475"/>
                <a:gd name="T6" fmla="*/ 233 w 740"/>
                <a:gd name="T7" fmla="*/ 284 h 475"/>
                <a:gd name="T8" fmla="*/ 224 w 740"/>
                <a:gd name="T9" fmla="*/ 278 h 475"/>
                <a:gd name="T10" fmla="*/ 186 w 740"/>
                <a:gd name="T11" fmla="*/ 223 h 475"/>
                <a:gd name="T12" fmla="*/ 163 w 740"/>
                <a:gd name="T13" fmla="*/ 182 h 475"/>
                <a:gd name="T14" fmla="*/ 146 w 740"/>
                <a:gd name="T15" fmla="*/ 152 h 475"/>
                <a:gd name="T16" fmla="*/ 120 w 740"/>
                <a:gd name="T17" fmla="*/ 112 h 475"/>
                <a:gd name="T18" fmla="*/ 99 w 740"/>
                <a:gd name="T19" fmla="*/ 91 h 475"/>
                <a:gd name="T20" fmla="*/ 78 w 740"/>
                <a:gd name="T21" fmla="*/ 86 h 475"/>
                <a:gd name="T22" fmla="*/ 65 w 740"/>
                <a:gd name="T23" fmla="*/ 87 h 475"/>
                <a:gd name="T24" fmla="*/ 49 w 740"/>
                <a:gd name="T25" fmla="*/ 89 h 475"/>
                <a:gd name="T26" fmla="*/ 24 w 740"/>
                <a:gd name="T27" fmla="*/ 96 h 475"/>
                <a:gd name="T28" fmla="*/ 8 w 740"/>
                <a:gd name="T29" fmla="*/ 108 h 475"/>
                <a:gd name="T30" fmla="*/ 0 w 740"/>
                <a:gd name="T31" fmla="*/ 126 h 475"/>
                <a:gd name="T32" fmla="*/ 0 w 740"/>
                <a:gd name="T33" fmla="*/ 151 h 475"/>
                <a:gd name="T34" fmla="*/ 9 w 740"/>
                <a:gd name="T35" fmla="*/ 184 h 475"/>
                <a:gd name="T36" fmla="*/ 37 w 740"/>
                <a:gd name="T37" fmla="*/ 252 h 475"/>
                <a:gd name="T38" fmla="*/ 68 w 740"/>
                <a:gd name="T39" fmla="*/ 314 h 475"/>
                <a:gd name="T40" fmla="*/ 94 w 740"/>
                <a:gd name="T41" fmla="*/ 363 h 475"/>
                <a:gd name="T42" fmla="*/ 131 w 740"/>
                <a:gd name="T43" fmla="*/ 428 h 475"/>
                <a:gd name="T44" fmla="*/ 157 w 740"/>
                <a:gd name="T45" fmla="*/ 462 h 475"/>
                <a:gd name="T46" fmla="*/ 181 w 740"/>
                <a:gd name="T47" fmla="*/ 475 h 475"/>
                <a:gd name="T48" fmla="*/ 195 w 740"/>
                <a:gd name="T49" fmla="*/ 475 h 475"/>
                <a:gd name="T50" fmla="*/ 209 w 740"/>
                <a:gd name="T51" fmla="*/ 472 h 475"/>
                <a:gd name="T52" fmla="*/ 264 w 740"/>
                <a:gd name="T53" fmla="*/ 444 h 475"/>
                <a:gd name="T54" fmla="*/ 387 w 740"/>
                <a:gd name="T55" fmla="*/ 367 h 475"/>
                <a:gd name="T56" fmla="*/ 577 w 740"/>
                <a:gd name="T57" fmla="*/ 231 h 475"/>
                <a:gd name="T58" fmla="*/ 688 w 740"/>
                <a:gd name="T59" fmla="*/ 141 h 475"/>
                <a:gd name="T60" fmla="*/ 730 w 740"/>
                <a:gd name="T61" fmla="*/ 99 h 475"/>
                <a:gd name="T62" fmla="*/ 736 w 740"/>
                <a:gd name="T63" fmla="*/ 87 h 475"/>
                <a:gd name="T64" fmla="*/ 740 w 740"/>
                <a:gd name="T65" fmla="*/ 70 h 475"/>
                <a:gd name="T66" fmla="*/ 734 w 740"/>
                <a:gd name="T67" fmla="*/ 39 h 475"/>
                <a:gd name="T68" fmla="*/ 716 w 740"/>
                <a:gd name="T69" fmla="*/ 15 h 475"/>
                <a:gd name="T70" fmla="*/ 687 w 740"/>
                <a:gd name="T71" fmla="*/ 2 h 475"/>
                <a:gd name="T72" fmla="*/ 670 w 740"/>
                <a:gd name="T73" fmla="*/ 0 h 475"/>
                <a:gd name="T74" fmla="*/ 660 w 740"/>
                <a:gd name="T75" fmla="*/ 2 h 475"/>
                <a:gd name="T76" fmla="*/ 617 w 740"/>
                <a:gd name="T77" fmla="*/ 24 h 475"/>
                <a:gd name="T78" fmla="*/ 519 w 740"/>
                <a:gd name="T79" fmla="*/ 85 h 475"/>
                <a:gd name="T80" fmla="*/ 440 w 740"/>
                <a:gd name="T81" fmla="*/ 14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40" h="475">
                  <a:moveTo>
                    <a:pt x="440" y="142"/>
                  </a:moveTo>
                  <a:lnTo>
                    <a:pt x="361" y="199"/>
                  </a:lnTo>
                  <a:lnTo>
                    <a:pt x="249" y="276"/>
                  </a:lnTo>
                  <a:lnTo>
                    <a:pt x="233" y="284"/>
                  </a:lnTo>
                  <a:lnTo>
                    <a:pt x="224" y="278"/>
                  </a:lnTo>
                  <a:lnTo>
                    <a:pt x="186" y="223"/>
                  </a:lnTo>
                  <a:lnTo>
                    <a:pt x="163" y="182"/>
                  </a:lnTo>
                  <a:lnTo>
                    <a:pt x="146" y="152"/>
                  </a:lnTo>
                  <a:lnTo>
                    <a:pt x="120" y="112"/>
                  </a:lnTo>
                  <a:lnTo>
                    <a:pt x="99" y="91"/>
                  </a:lnTo>
                  <a:lnTo>
                    <a:pt x="78" y="86"/>
                  </a:lnTo>
                  <a:lnTo>
                    <a:pt x="65" y="87"/>
                  </a:lnTo>
                  <a:lnTo>
                    <a:pt x="49" y="89"/>
                  </a:lnTo>
                  <a:lnTo>
                    <a:pt x="24" y="96"/>
                  </a:lnTo>
                  <a:lnTo>
                    <a:pt x="8" y="108"/>
                  </a:lnTo>
                  <a:lnTo>
                    <a:pt x="0" y="126"/>
                  </a:lnTo>
                  <a:lnTo>
                    <a:pt x="0" y="151"/>
                  </a:lnTo>
                  <a:lnTo>
                    <a:pt x="9" y="184"/>
                  </a:lnTo>
                  <a:lnTo>
                    <a:pt x="37" y="252"/>
                  </a:lnTo>
                  <a:lnTo>
                    <a:pt x="68" y="314"/>
                  </a:lnTo>
                  <a:lnTo>
                    <a:pt x="94" y="363"/>
                  </a:lnTo>
                  <a:lnTo>
                    <a:pt x="131" y="428"/>
                  </a:lnTo>
                  <a:lnTo>
                    <a:pt x="157" y="462"/>
                  </a:lnTo>
                  <a:lnTo>
                    <a:pt x="181" y="475"/>
                  </a:lnTo>
                  <a:lnTo>
                    <a:pt x="195" y="475"/>
                  </a:lnTo>
                  <a:lnTo>
                    <a:pt x="209" y="472"/>
                  </a:lnTo>
                  <a:lnTo>
                    <a:pt x="264" y="444"/>
                  </a:lnTo>
                  <a:lnTo>
                    <a:pt x="387" y="367"/>
                  </a:lnTo>
                  <a:lnTo>
                    <a:pt x="577" y="231"/>
                  </a:lnTo>
                  <a:lnTo>
                    <a:pt x="688" y="141"/>
                  </a:lnTo>
                  <a:lnTo>
                    <a:pt x="730" y="99"/>
                  </a:lnTo>
                  <a:lnTo>
                    <a:pt x="736" y="87"/>
                  </a:lnTo>
                  <a:lnTo>
                    <a:pt x="740" y="70"/>
                  </a:lnTo>
                  <a:lnTo>
                    <a:pt x="734" y="39"/>
                  </a:lnTo>
                  <a:lnTo>
                    <a:pt x="716" y="15"/>
                  </a:lnTo>
                  <a:lnTo>
                    <a:pt x="687" y="2"/>
                  </a:lnTo>
                  <a:lnTo>
                    <a:pt x="670" y="0"/>
                  </a:lnTo>
                  <a:lnTo>
                    <a:pt x="660" y="2"/>
                  </a:lnTo>
                  <a:lnTo>
                    <a:pt x="617" y="24"/>
                  </a:lnTo>
                  <a:lnTo>
                    <a:pt x="519" y="85"/>
                  </a:lnTo>
                  <a:lnTo>
                    <a:pt x="440"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3" name="Freeform 18">
              <a:extLst>
                <a:ext uri="{FF2B5EF4-FFF2-40B4-BE49-F238E27FC236}">
                  <a16:creationId xmlns:a16="http://schemas.microsoft.com/office/drawing/2014/main" id="{000804D7-4B6F-E0C8-9F02-FEF271FBA95E}"/>
                </a:ext>
              </a:extLst>
            </p:cNvPr>
            <p:cNvSpPr>
              <a:spLocks/>
            </p:cNvSpPr>
            <p:nvPr/>
          </p:nvSpPr>
          <p:spPr bwMode="auto">
            <a:xfrm>
              <a:off x="646113" y="2686051"/>
              <a:ext cx="935038" cy="61913"/>
            </a:xfrm>
            <a:custGeom>
              <a:avLst/>
              <a:gdLst>
                <a:gd name="T0" fmla="*/ 10 w 2296"/>
                <a:gd name="T1" fmla="*/ 42 h 150"/>
                <a:gd name="T2" fmla="*/ 5 w 2296"/>
                <a:gd name="T3" fmla="*/ 54 h 150"/>
                <a:gd name="T4" fmla="*/ 0 w 2296"/>
                <a:gd name="T5" fmla="*/ 73 h 150"/>
                <a:gd name="T6" fmla="*/ 2 w 2296"/>
                <a:gd name="T7" fmla="*/ 90 h 150"/>
                <a:gd name="T8" fmla="*/ 13 w 2296"/>
                <a:gd name="T9" fmla="*/ 107 h 150"/>
                <a:gd name="T10" fmla="*/ 21 w 2296"/>
                <a:gd name="T11" fmla="*/ 117 h 150"/>
                <a:gd name="T12" fmla="*/ 27 w 2296"/>
                <a:gd name="T13" fmla="*/ 123 h 150"/>
                <a:gd name="T14" fmla="*/ 43 w 2296"/>
                <a:gd name="T15" fmla="*/ 132 h 150"/>
                <a:gd name="T16" fmla="*/ 101 w 2296"/>
                <a:gd name="T17" fmla="*/ 142 h 150"/>
                <a:gd name="T18" fmla="*/ 473 w 2296"/>
                <a:gd name="T19" fmla="*/ 150 h 150"/>
                <a:gd name="T20" fmla="*/ 1148 w 2296"/>
                <a:gd name="T21" fmla="*/ 150 h 150"/>
                <a:gd name="T22" fmla="*/ 1772 w 2296"/>
                <a:gd name="T23" fmla="*/ 150 h 150"/>
                <a:gd name="T24" fmla="*/ 2167 w 2296"/>
                <a:gd name="T25" fmla="*/ 142 h 150"/>
                <a:gd name="T26" fmla="*/ 2242 w 2296"/>
                <a:gd name="T27" fmla="*/ 135 h 150"/>
                <a:gd name="T28" fmla="*/ 2264 w 2296"/>
                <a:gd name="T29" fmla="*/ 128 h 150"/>
                <a:gd name="T30" fmla="*/ 2270 w 2296"/>
                <a:gd name="T31" fmla="*/ 123 h 150"/>
                <a:gd name="T32" fmla="*/ 2281 w 2296"/>
                <a:gd name="T33" fmla="*/ 112 h 150"/>
                <a:gd name="T34" fmla="*/ 2294 w 2296"/>
                <a:gd name="T35" fmla="*/ 85 h 150"/>
                <a:gd name="T36" fmla="*/ 2296 w 2296"/>
                <a:gd name="T37" fmla="*/ 57 h 150"/>
                <a:gd name="T38" fmla="*/ 2286 w 2296"/>
                <a:gd name="T39" fmla="*/ 31 h 150"/>
                <a:gd name="T40" fmla="*/ 2276 w 2296"/>
                <a:gd name="T41" fmla="*/ 20 h 150"/>
                <a:gd name="T42" fmla="*/ 2271 w 2296"/>
                <a:gd name="T43" fmla="*/ 17 h 150"/>
                <a:gd name="T44" fmla="*/ 2240 w 2296"/>
                <a:gd name="T45" fmla="*/ 13 h 150"/>
                <a:gd name="T46" fmla="*/ 2139 w 2296"/>
                <a:gd name="T47" fmla="*/ 7 h 150"/>
                <a:gd name="T48" fmla="*/ 1704 w 2296"/>
                <a:gd name="T49" fmla="*/ 1 h 150"/>
                <a:gd name="T50" fmla="*/ 1143 w 2296"/>
                <a:gd name="T51" fmla="*/ 0 h 150"/>
                <a:gd name="T52" fmla="*/ 30 w 2296"/>
                <a:gd name="T53" fmla="*/ 0 h 150"/>
                <a:gd name="T54" fmla="*/ 10 w 2296"/>
                <a:gd name="T55" fmla="*/ 4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96" h="150">
                  <a:moveTo>
                    <a:pt x="10" y="42"/>
                  </a:moveTo>
                  <a:lnTo>
                    <a:pt x="5" y="54"/>
                  </a:lnTo>
                  <a:lnTo>
                    <a:pt x="0" y="73"/>
                  </a:lnTo>
                  <a:lnTo>
                    <a:pt x="2" y="90"/>
                  </a:lnTo>
                  <a:lnTo>
                    <a:pt x="13" y="107"/>
                  </a:lnTo>
                  <a:lnTo>
                    <a:pt x="21" y="117"/>
                  </a:lnTo>
                  <a:lnTo>
                    <a:pt x="27" y="123"/>
                  </a:lnTo>
                  <a:lnTo>
                    <a:pt x="43" y="132"/>
                  </a:lnTo>
                  <a:lnTo>
                    <a:pt x="101" y="142"/>
                  </a:lnTo>
                  <a:lnTo>
                    <a:pt x="473" y="150"/>
                  </a:lnTo>
                  <a:lnTo>
                    <a:pt x="1148" y="150"/>
                  </a:lnTo>
                  <a:lnTo>
                    <a:pt x="1772" y="150"/>
                  </a:lnTo>
                  <a:lnTo>
                    <a:pt x="2167" y="142"/>
                  </a:lnTo>
                  <a:lnTo>
                    <a:pt x="2242" y="135"/>
                  </a:lnTo>
                  <a:lnTo>
                    <a:pt x="2264" y="128"/>
                  </a:lnTo>
                  <a:lnTo>
                    <a:pt x="2270" y="123"/>
                  </a:lnTo>
                  <a:lnTo>
                    <a:pt x="2281" y="112"/>
                  </a:lnTo>
                  <a:lnTo>
                    <a:pt x="2294" y="85"/>
                  </a:lnTo>
                  <a:lnTo>
                    <a:pt x="2296" y="57"/>
                  </a:lnTo>
                  <a:lnTo>
                    <a:pt x="2286" y="31"/>
                  </a:lnTo>
                  <a:lnTo>
                    <a:pt x="2276" y="20"/>
                  </a:lnTo>
                  <a:lnTo>
                    <a:pt x="2271" y="17"/>
                  </a:lnTo>
                  <a:lnTo>
                    <a:pt x="2240" y="13"/>
                  </a:lnTo>
                  <a:lnTo>
                    <a:pt x="2139" y="7"/>
                  </a:lnTo>
                  <a:lnTo>
                    <a:pt x="1704" y="1"/>
                  </a:lnTo>
                  <a:lnTo>
                    <a:pt x="1143" y="0"/>
                  </a:lnTo>
                  <a:lnTo>
                    <a:pt x="30" y="0"/>
                  </a:lnTo>
                  <a:lnTo>
                    <a:pt x="1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4" name="Freeform 19">
              <a:extLst>
                <a:ext uri="{FF2B5EF4-FFF2-40B4-BE49-F238E27FC236}">
                  <a16:creationId xmlns:a16="http://schemas.microsoft.com/office/drawing/2014/main" id="{94E91DB1-3B5C-7349-18B4-CC8BA03DB250}"/>
                </a:ext>
              </a:extLst>
            </p:cNvPr>
            <p:cNvSpPr>
              <a:spLocks/>
            </p:cNvSpPr>
            <p:nvPr/>
          </p:nvSpPr>
          <p:spPr bwMode="auto">
            <a:xfrm>
              <a:off x="646113" y="2849563"/>
              <a:ext cx="933450" cy="66675"/>
            </a:xfrm>
            <a:custGeom>
              <a:avLst/>
              <a:gdLst>
                <a:gd name="T0" fmla="*/ 31 w 2294"/>
                <a:gd name="T1" fmla="*/ 33 h 167"/>
                <a:gd name="T2" fmla="*/ 16 w 2294"/>
                <a:gd name="T3" fmla="*/ 49 h 167"/>
                <a:gd name="T4" fmla="*/ 0 w 2294"/>
                <a:gd name="T5" fmla="*/ 78 h 167"/>
                <a:gd name="T6" fmla="*/ 1 w 2294"/>
                <a:gd name="T7" fmla="*/ 104 h 167"/>
                <a:gd name="T8" fmla="*/ 18 w 2294"/>
                <a:gd name="T9" fmla="*/ 128 h 167"/>
                <a:gd name="T10" fmla="*/ 34 w 2294"/>
                <a:gd name="T11" fmla="*/ 140 h 167"/>
                <a:gd name="T12" fmla="*/ 41 w 2294"/>
                <a:gd name="T13" fmla="*/ 144 h 167"/>
                <a:gd name="T14" fmla="*/ 67 w 2294"/>
                <a:gd name="T15" fmla="*/ 151 h 167"/>
                <a:gd name="T16" fmla="*/ 146 w 2294"/>
                <a:gd name="T17" fmla="*/ 159 h 167"/>
                <a:gd name="T18" fmla="*/ 539 w 2294"/>
                <a:gd name="T19" fmla="*/ 166 h 167"/>
                <a:gd name="T20" fmla="*/ 1147 w 2294"/>
                <a:gd name="T21" fmla="*/ 167 h 167"/>
                <a:gd name="T22" fmla="*/ 1756 w 2294"/>
                <a:gd name="T23" fmla="*/ 166 h 167"/>
                <a:gd name="T24" fmla="*/ 2149 w 2294"/>
                <a:gd name="T25" fmla="*/ 159 h 167"/>
                <a:gd name="T26" fmla="*/ 2228 w 2294"/>
                <a:gd name="T27" fmla="*/ 151 h 167"/>
                <a:gd name="T28" fmla="*/ 2254 w 2294"/>
                <a:gd name="T29" fmla="*/ 144 h 167"/>
                <a:gd name="T30" fmla="*/ 2261 w 2294"/>
                <a:gd name="T31" fmla="*/ 140 h 167"/>
                <a:gd name="T32" fmla="*/ 2277 w 2294"/>
                <a:gd name="T33" fmla="*/ 128 h 167"/>
                <a:gd name="T34" fmla="*/ 2294 w 2294"/>
                <a:gd name="T35" fmla="*/ 99 h 167"/>
                <a:gd name="T36" fmla="*/ 2294 w 2294"/>
                <a:gd name="T37" fmla="*/ 68 h 167"/>
                <a:gd name="T38" fmla="*/ 2277 w 2294"/>
                <a:gd name="T39" fmla="*/ 39 h 167"/>
                <a:gd name="T40" fmla="*/ 2261 w 2294"/>
                <a:gd name="T41" fmla="*/ 27 h 167"/>
                <a:gd name="T42" fmla="*/ 2254 w 2294"/>
                <a:gd name="T43" fmla="*/ 22 h 167"/>
                <a:gd name="T44" fmla="*/ 2228 w 2294"/>
                <a:gd name="T45" fmla="*/ 15 h 167"/>
                <a:gd name="T46" fmla="*/ 2149 w 2294"/>
                <a:gd name="T47" fmla="*/ 8 h 167"/>
                <a:gd name="T48" fmla="*/ 1754 w 2294"/>
                <a:gd name="T49" fmla="*/ 0 h 167"/>
                <a:gd name="T50" fmla="*/ 1144 w 2294"/>
                <a:gd name="T51" fmla="*/ 0 h 167"/>
                <a:gd name="T52" fmla="*/ 480 w 2294"/>
                <a:gd name="T53" fmla="*/ 0 h 167"/>
                <a:gd name="T54" fmla="*/ 113 w 2294"/>
                <a:gd name="T55" fmla="*/ 8 h 167"/>
                <a:gd name="T56" fmla="*/ 54 w 2294"/>
                <a:gd name="T57" fmla="*/ 18 h 167"/>
                <a:gd name="T58" fmla="*/ 37 w 2294"/>
                <a:gd name="T59" fmla="*/ 27 h 167"/>
                <a:gd name="T60" fmla="*/ 31 w 2294"/>
                <a:gd name="T61" fmla="*/ 33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94" h="167">
                  <a:moveTo>
                    <a:pt x="31" y="33"/>
                  </a:moveTo>
                  <a:lnTo>
                    <a:pt x="16" y="49"/>
                  </a:lnTo>
                  <a:lnTo>
                    <a:pt x="0" y="78"/>
                  </a:lnTo>
                  <a:lnTo>
                    <a:pt x="1" y="104"/>
                  </a:lnTo>
                  <a:lnTo>
                    <a:pt x="18" y="128"/>
                  </a:lnTo>
                  <a:lnTo>
                    <a:pt x="34" y="140"/>
                  </a:lnTo>
                  <a:lnTo>
                    <a:pt x="41" y="144"/>
                  </a:lnTo>
                  <a:lnTo>
                    <a:pt x="67" y="151"/>
                  </a:lnTo>
                  <a:lnTo>
                    <a:pt x="146" y="159"/>
                  </a:lnTo>
                  <a:lnTo>
                    <a:pt x="539" y="166"/>
                  </a:lnTo>
                  <a:lnTo>
                    <a:pt x="1147" y="167"/>
                  </a:lnTo>
                  <a:lnTo>
                    <a:pt x="1756" y="166"/>
                  </a:lnTo>
                  <a:lnTo>
                    <a:pt x="2149" y="159"/>
                  </a:lnTo>
                  <a:lnTo>
                    <a:pt x="2228" y="151"/>
                  </a:lnTo>
                  <a:lnTo>
                    <a:pt x="2254" y="144"/>
                  </a:lnTo>
                  <a:lnTo>
                    <a:pt x="2261" y="140"/>
                  </a:lnTo>
                  <a:lnTo>
                    <a:pt x="2277" y="128"/>
                  </a:lnTo>
                  <a:lnTo>
                    <a:pt x="2294" y="99"/>
                  </a:lnTo>
                  <a:lnTo>
                    <a:pt x="2294" y="68"/>
                  </a:lnTo>
                  <a:lnTo>
                    <a:pt x="2277" y="39"/>
                  </a:lnTo>
                  <a:lnTo>
                    <a:pt x="2261" y="27"/>
                  </a:lnTo>
                  <a:lnTo>
                    <a:pt x="2254" y="22"/>
                  </a:lnTo>
                  <a:lnTo>
                    <a:pt x="2228" y="15"/>
                  </a:lnTo>
                  <a:lnTo>
                    <a:pt x="2149" y="8"/>
                  </a:lnTo>
                  <a:lnTo>
                    <a:pt x="1754" y="0"/>
                  </a:lnTo>
                  <a:lnTo>
                    <a:pt x="1144" y="0"/>
                  </a:lnTo>
                  <a:lnTo>
                    <a:pt x="480" y="0"/>
                  </a:lnTo>
                  <a:lnTo>
                    <a:pt x="113" y="8"/>
                  </a:lnTo>
                  <a:lnTo>
                    <a:pt x="54" y="18"/>
                  </a:lnTo>
                  <a:lnTo>
                    <a:pt x="37" y="27"/>
                  </a:lnTo>
                  <a:lnTo>
                    <a:pt x="31"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5" name="Freeform 38">
              <a:extLst>
                <a:ext uri="{FF2B5EF4-FFF2-40B4-BE49-F238E27FC236}">
                  <a16:creationId xmlns:a16="http://schemas.microsoft.com/office/drawing/2014/main" id="{22FBD029-3ABC-A4B8-AF29-A920333ECA43}"/>
                </a:ext>
              </a:extLst>
            </p:cNvPr>
            <p:cNvSpPr>
              <a:spLocks noEditPoints="1"/>
            </p:cNvSpPr>
            <p:nvPr/>
          </p:nvSpPr>
          <p:spPr bwMode="auto">
            <a:xfrm>
              <a:off x="1804988" y="1603376"/>
              <a:ext cx="284163" cy="1474788"/>
            </a:xfrm>
            <a:custGeom>
              <a:avLst/>
              <a:gdLst>
                <a:gd name="T0" fmla="*/ 253 w 700"/>
                <a:gd name="T1" fmla="*/ 12 h 3629"/>
                <a:gd name="T2" fmla="*/ 191 w 700"/>
                <a:gd name="T3" fmla="*/ 28 h 3629"/>
                <a:gd name="T4" fmla="*/ 83 w 700"/>
                <a:gd name="T5" fmla="*/ 107 h 3629"/>
                <a:gd name="T6" fmla="*/ 24 w 700"/>
                <a:gd name="T7" fmla="*/ 182 h 3629"/>
                <a:gd name="T8" fmla="*/ 14 w 700"/>
                <a:gd name="T9" fmla="*/ 223 h 3629"/>
                <a:gd name="T10" fmla="*/ 1 w 700"/>
                <a:gd name="T11" fmla="*/ 744 h 3629"/>
                <a:gd name="T12" fmla="*/ 0 w 700"/>
                <a:gd name="T13" fmla="*/ 2507 h 3629"/>
                <a:gd name="T14" fmla="*/ 144 w 700"/>
                <a:gd name="T15" fmla="*/ 3077 h 3629"/>
                <a:gd name="T16" fmla="*/ 282 w 700"/>
                <a:gd name="T17" fmla="*/ 3571 h 3629"/>
                <a:gd name="T18" fmla="*/ 323 w 700"/>
                <a:gd name="T19" fmla="*/ 3628 h 3629"/>
                <a:gd name="T20" fmla="*/ 357 w 700"/>
                <a:gd name="T21" fmla="*/ 3627 h 3629"/>
                <a:gd name="T22" fmla="*/ 381 w 700"/>
                <a:gd name="T23" fmla="*/ 3619 h 3629"/>
                <a:gd name="T24" fmla="*/ 409 w 700"/>
                <a:gd name="T25" fmla="*/ 3581 h 3629"/>
                <a:gd name="T26" fmla="*/ 471 w 700"/>
                <a:gd name="T27" fmla="*/ 3385 h 3629"/>
                <a:gd name="T28" fmla="*/ 560 w 700"/>
                <a:gd name="T29" fmla="*/ 3045 h 3629"/>
                <a:gd name="T30" fmla="*/ 645 w 700"/>
                <a:gd name="T31" fmla="*/ 2719 h 3629"/>
                <a:gd name="T32" fmla="*/ 683 w 700"/>
                <a:gd name="T33" fmla="*/ 2571 h 3629"/>
                <a:gd name="T34" fmla="*/ 700 w 700"/>
                <a:gd name="T35" fmla="*/ 2003 h 3629"/>
                <a:gd name="T36" fmla="*/ 700 w 700"/>
                <a:gd name="T37" fmla="*/ 857 h 3629"/>
                <a:gd name="T38" fmla="*/ 686 w 700"/>
                <a:gd name="T39" fmla="*/ 225 h 3629"/>
                <a:gd name="T40" fmla="*/ 672 w 700"/>
                <a:gd name="T41" fmla="*/ 180 h 3629"/>
                <a:gd name="T42" fmla="*/ 599 w 700"/>
                <a:gd name="T43" fmla="*/ 88 h 3629"/>
                <a:gd name="T44" fmla="*/ 530 w 700"/>
                <a:gd name="T45" fmla="*/ 37 h 3629"/>
                <a:gd name="T46" fmla="*/ 439 w 700"/>
                <a:gd name="T47" fmla="*/ 13 h 3629"/>
                <a:gd name="T48" fmla="*/ 292 w 700"/>
                <a:gd name="T49" fmla="*/ 0 h 3629"/>
                <a:gd name="T50" fmla="*/ 502 w 700"/>
                <a:gd name="T51" fmla="*/ 212 h 3629"/>
                <a:gd name="T52" fmla="*/ 538 w 700"/>
                <a:gd name="T53" fmla="*/ 257 h 3629"/>
                <a:gd name="T54" fmla="*/ 550 w 700"/>
                <a:gd name="T55" fmla="*/ 362 h 3629"/>
                <a:gd name="T56" fmla="*/ 550 w 700"/>
                <a:gd name="T57" fmla="*/ 564 h 3629"/>
                <a:gd name="T58" fmla="*/ 147 w 700"/>
                <a:gd name="T59" fmla="*/ 564 h 3629"/>
                <a:gd name="T60" fmla="*/ 155 w 700"/>
                <a:gd name="T61" fmla="*/ 352 h 3629"/>
                <a:gd name="T62" fmla="*/ 171 w 700"/>
                <a:gd name="T63" fmla="*/ 244 h 3629"/>
                <a:gd name="T64" fmla="*/ 205 w 700"/>
                <a:gd name="T65" fmla="*/ 204 h 3629"/>
                <a:gd name="T66" fmla="*/ 247 w 700"/>
                <a:gd name="T67" fmla="*/ 176 h 3629"/>
                <a:gd name="T68" fmla="*/ 323 w 700"/>
                <a:gd name="T69" fmla="*/ 164 h 3629"/>
                <a:gd name="T70" fmla="*/ 383 w 700"/>
                <a:gd name="T71" fmla="*/ 164 h 3629"/>
                <a:gd name="T72" fmla="*/ 459 w 700"/>
                <a:gd name="T73" fmla="*/ 178 h 3629"/>
                <a:gd name="T74" fmla="*/ 502 w 700"/>
                <a:gd name="T75" fmla="*/ 212 h 3629"/>
                <a:gd name="T76" fmla="*/ 550 w 700"/>
                <a:gd name="T77" fmla="*/ 2382 h 3629"/>
                <a:gd name="T78" fmla="*/ 159 w 700"/>
                <a:gd name="T79" fmla="*/ 2372 h 3629"/>
                <a:gd name="T80" fmla="*/ 153 w 700"/>
                <a:gd name="T81" fmla="*/ 1239 h 3629"/>
                <a:gd name="T82" fmla="*/ 159 w 700"/>
                <a:gd name="T83" fmla="*/ 734 h 3629"/>
                <a:gd name="T84" fmla="*/ 187 w 700"/>
                <a:gd name="T85" fmla="*/ 721 h 3629"/>
                <a:gd name="T86" fmla="*/ 359 w 700"/>
                <a:gd name="T87" fmla="*/ 714 h 3629"/>
                <a:gd name="T88" fmla="*/ 550 w 700"/>
                <a:gd name="T89" fmla="*/ 1547 h 3629"/>
                <a:gd name="T90" fmla="*/ 513 w 700"/>
                <a:gd name="T91" fmla="*/ 2603 h 3629"/>
                <a:gd name="T92" fmla="*/ 407 w 700"/>
                <a:gd name="T93" fmla="*/ 3022 h 3629"/>
                <a:gd name="T94" fmla="*/ 350 w 700"/>
                <a:gd name="T95" fmla="*/ 3202 h 3629"/>
                <a:gd name="T96" fmla="*/ 319 w 700"/>
                <a:gd name="T97" fmla="*/ 3110 h 3629"/>
                <a:gd name="T98" fmla="*/ 247 w 700"/>
                <a:gd name="T99" fmla="*/ 2839 h 3629"/>
                <a:gd name="T100" fmla="*/ 184 w 700"/>
                <a:gd name="T101" fmla="*/ 2571 h 3629"/>
                <a:gd name="T102" fmla="*/ 201 w 700"/>
                <a:gd name="T103" fmla="*/ 2555 h 3629"/>
                <a:gd name="T104" fmla="*/ 350 w 700"/>
                <a:gd name="T105" fmla="*/ 2547 h 3629"/>
                <a:gd name="T106" fmla="*/ 497 w 700"/>
                <a:gd name="T107" fmla="*/ 2554 h 3629"/>
                <a:gd name="T108" fmla="*/ 517 w 700"/>
                <a:gd name="T109" fmla="*/ 2567 h 3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00" h="3629">
                  <a:moveTo>
                    <a:pt x="275" y="4"/>
                  </a:moveTo>
                  <a:lnTo>
                    <a:pt x="253" y="12"/>
                  </a:lnTo>
                  <a:lnTo>
                    <a:pt x="214" y="21"/>
                  </a:lnTo>
                  <a:lnTo>
                    <a:pt x="191" y="28"/>
                  </a:lnTo>
                  <a:lnTo>
                    <a:pt x="137" y="60"/>
                  </a:lnTo>
                  <a:lnTo>
                    <a:pt x="83" y="107"/>
                  </a:lnTo>
                  <a:lnTo>
                    <a:pt x="38" y="158"/>
                  </a:lnTo>
                  <a:lnTo>
                    <a:pt x="24" y="182"/>
                  </a:lnTo>
                  <a:lnTo>
                    <a:pt x="20" y="191"/>
                  </a:lnTo>
                  <a:lnTo>
                    <a:pt x="14" y="223"/>
                  </a:lnTo>
                  <a:lnTo>
                    <a:pt x="7" y="315"/>
                  </a:lnTo>
                  <a:lnTo>
                    <a:pt x="1" y="744"/>
                  </a:lnTo>
                  <a:lnTo>
                    <a:pt x="0" y="1369"/>
                  </a:lnTo>
                  <a:lnTo>
                    <a:pt x="0" y="2507"/>
                  </a:lnTo>
                  <a:lnTo>
                    <a:pt x="67" y="2774"/>
                  </a:lnTo>
                  <a:lnTo>
                    <a:pt x="144" y="3077"/>
                  </a:lnTo>
                  <a:lnTo>
                    <a:pt x="241" y="3443"/>
                  </a:lnTo>
                  <a:lnTo>
                    <a:pt x="282" y="3571"/>
                  </a:lnTo>
                  <a:lnTo>
                    <a:pt x="303" y="3613"/>
                  </a:lnTo>
                  <a:lnTo>
                    <a:pt x="323" y="3628"/>
                  </a:lnTo>
                  <a:lnTo>
                    <a:pt x="344" y="3629"/>
                  </a:lnTo>
                  <a:lnTo>
                    <a:pt x="357" y="3627"/>
                  </a:lnTo>
                  <a:lnTo>
                    <a:pt x="366" y="3626"/>
                  </a:lnTo>
                  <a:lnTo>
                    <a:pt x="381" y="3619"/>
                  </a:lnTo>
                  <a:lnTo>
                    <a:pt x="395" y="3605"/>
                  </a:lnTo>
                  <a:lnTo>
                    <a:pt x="409" y="3581"/>
                  </a:lnTo>
                  <a:lnTo>
                    <a:pt x="431" y="3523"/>
                  </a:lnTo>
                  <a:lnTo>
                    <a:pt x="471" y="3385"/>
                  </a:lnTo>
                  <a:lnTo>
                    <a:pt x="499" y="3281"/>
                  </a:lnTo>
                  <a:lnTo>
                    <a:pt x="560" y="3045"/>
                  </a:lnTo>
                  <a:lnTo>
                    <a:pt x="607" y="2864"/>
                  </a:lnTo>
                  <a:lnTo>
                    <a:pt x="645" y="2719"/>
                  </a:lnTo>
                  <a:lnTo>
                    <a:pt x="675" y="2606"/>
                  </a:lnTo>
                  <a:lnTo>
                    <a:pt x="683" y="2571"/>
                  </a:lnTo>
                  <a:lnTo>
                    <a:pt x="693" y="2440"/>
                  </a:lnTo>
                  <a:lnTo>
                    <a:pt x="700" y="2003"/>
                  </a:lnTo>
                  <a:lnTo>
                    <a:pt x="700" y="1379"/>
                  </a:lnTo>
                  <a:lnTo>
                    <a:pt x="700" y="857"/>
                  </a:lnTo>
                  <a:lnTo>
                    <a:pt x="693" y="383"/>
                  </a:lnTo>
                  <a:lnTo>
                    <a:pt x="686" y="225"/>
                  </a:lnTo>
                  <a:lnTo>
                    <a:pt x="682" y="202"/>
                  </a:lnTo>
                  <a:lnTo>
                    <a:pt x="672" y="180"/>
                  </a:lnTo>
                  <a:lnTo>
                    <a:pt x="641" y="134"/>
                  </a:lnTo>
                  <a:lnTo>
                    <a:pt x="599" y="88"/>
                  </a:lnTo>
                  <a:lnTo>
                    <a:pt x="553" y="51"/>
                  </a:lnTo>
                  <a:lnTo>
                    <a:pt x="530" y="37"/>
                  </a:lnTo>
                  <a:lnTo>
                    <a:pt x="509" y="29"/>
                  </a:lnTo>
                  <a:lnTo>
                    <a:pt x="439" y="13"/>
                  </a:lnTo>
                  <a:lnTo>
                    <a:pt x="358" y="2"/>
                  </a:lnTo>
                  <a:lnTo>
                    <a:pt x="292" y="0"/>
                  </a:lnTo>
                  <a:lnTo>
                    <a:pt x="275" y="4"/>
                  </a:lnTo>
                  <a:close/>
                  <a:moveTo>
                    <a:pt x="502" y="212"/>
                  </a:moveTo>
                  <a:lnTo>
                    <a:pt x="518" y="229"/>
                  </a:lnTo>
                  <a:lnTo>
                    <a:pt x="538" y="257"/>
                  </a:lnTo>
                  <a:lnTo>
                    <a:pt x="548" y="297"/>
                  </a:lnTo>
                  <a:lnTo>
                    <a:pt x="550" y="362"/>
                  </a:lnTo>
                  <a:lnTo>
                    <a:pt x="550" y="412"/>
                  </a:lnTo>
                  <a:lnTo>
                    <a:pt x="550" y="564"/>
                  </a:lnTo>
                  <a:lnTo>
                    <a:pt x="349" y="564"/>
                  </a:lnTo>
                  <a:lnTo>
                    <a:pt x="147" y="564"/>
                  </a:lnTo>
                  <a:lnTo>
                    <a:pt x="154" y="404"/>
                  </a:lnTo>
                  <a:lnTo>
                    <a:pt x="155" y="352"/>
                  </a:lnTo>
                  <a:lnTo>
                    <a:pt x="161" y="283"/>
                  </a:lnTo>
                  <a:lnTo>
                    <a:pt x="171" y="244"/>
                  </a:lnTo>
                  <a:lnTo>
                    <a:pt x="190" y="217"/>
                  </a:lnTo>
                  <a:lnTo>
                    <a:pt x="205" y="204"/>
                  </a:lnTo>
                  <a:lnTo>
                    <a:pt x="219" y="192"/>
                  </a:lnTo>
                  <a:lnTo>
                    <a:pt x="247" y="176"/>
                  </a:lnTo>
                  <a:lnTo>
                    <a:pt x="279" y="168"/>
                  </a:lnTo>
                  <a:lnTo>
                    <a:pt x="323" y="164"/>
                  </a:lnTo>
                  <a:lnTo>
                    <a:pt x="352" y="164"/>
                  </a:lnTo>
                  <a:lnTo>
                    <a:pt x="383" y="164"/>
                  </a:lnTo>
                  <a:lnTo>
                    <a:pt x="428" y="168"/>
                  </a:lnTo>
                  <a:lnTo>
                    <a:pt x="459" y="178"/>
                  </a:lnTo>
                  <a:lnTo>
                    <a:pt x="487" y="197"/>
                  </a:lnTo>
                  <a:lnTo>
                    <a:pt x="502" y="212"/>
                  </a:lnTo>
                  <a:close/>
                  <a:moveTo>
                    <a:pt x="550" y="1547"/>
                  </a:moveTo>
                  <a:lnTo>
                    <a:pt x="550" y="2382"/>
                  </a:lnTo>
                  <a:lnTo>
                    <a:pt x="355" y="2377"/>
                  </a:lnTo>
                  <a:lnTo>
                    <a:pt x="159" y="2372"/>
                  </a:lnTo>
                  <a:lnTo>
                    <a:pt x="154" y="1564"/>
                  </a:lnTo>
                  <a:lnTo>
                    <a:pt x="153" y="1239"/>
                  </a:lnTo>
                  <a:lnTo>
                    <a:pt x="155" y="788"/>
                  </a:lnTo>
                  <a:lnTo>
                    <a:pt x="159" y="734"/>
                  </a:lnTo>
                  <a:lnTo>
                    <a:pt x="162" y="729"/>
                  </a:lnTo>
                  <a:lnTo>
                    <a:pt x="187" y="721"/>
                  </a:lnTo>
                  <a:lnTo>
                    <a:pt x="265" y="715"/>
                  </a:lnTo>
                  <a:lnTo>
                    <a:pt x="359" y="714"/>
                  </a:lnTo>
                  <a:lnTo>
                    <a:pt x="550" y="714"/>
                  </a:lnTo>
                  <a:lnTo>
                    <a:pt x="550" y="1547"/>
                  </a:lnTo>
                  <a:close/>
                  <a:moveTo>
                    <a:pt x="517" y="2567"/>
                  </a:moveTo>
                  <a:lnTo>
                    <a:pt x="513" y="2603"/>
                  </a:lnTo>
                  <a:lnTo>
                    <a:pt x="468" y="2791"/>
                  </a:lnTo>
                  <a:lnTo>
                    <a:pt x="407" y="3022"/>
                  </a:lnTo>
                  <a:lnTo>
                    <a:pt x="359" y="3188"/>
                  </a:lnTo>
                  <a:lnTo>
                    <a:pt x="350" y="3202"/>
                  </a:lnTo>
                  <a:lnTo>
                    <a:pt x="344" y="3189"/>
                  </a:lnTo>
                  <a:lnTo>
                    <a:pt x="319" y="3110"/>
                  </a:lnTo>
                  <a:lnTo>
                    <a:pt x="304" y="3056"/>
                  </a:lnTo>
                  <a:lnTo>
                    <a:pt x="247" y="2839"/>
                  </a:lnTo>
                  <a:lnTo>
                    <a:pt x="188" y="2602"/>
                  </a:lnTo>
                  <a:lnTo>
                    <a:pt x="184" y="2571"/>
                  </a:lnTo>
                  <a:lnTo>
                    <a:pt x="185" y="2564"/>
                  </a:lnTo>
                  <a:lnTo>
                    <a:pt x="201" y="2555"/>
                  </a:lnTo>
                  <a:lnTo>
                    <a:pt x="264" y="2548"/>
                  </a:lnTo>
                  <a:lnTo>
                    <a:pt x="350" y="2547"/>
                  </a:lnTo>
                  <a:lnTo>
                    <a:pt x="432" y="2548"/>
                  </a:lnTo>
                  <a:lnTo>
                    <a:pt x="497" y="2554"/>
                  </a:lnTo>
                  <a:lnTo>
                    <a:pt x="516" y="2562"/>
                  </a:lnTo>
                  <a:lnTo>
                    <a:pt x="517" y="25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56" name="TextBox 55">
            <a:extLst>
              <a:ext uri="{FF2B5EF4-FFF2-40B4-BE49-F238E27FC236}">
                <a16:creationId xmlns:a16="http://schemas.microsoft.com/office/drawing/2014/main" id="{0E7DCA4C-6A7C-B70B-D873-5C37EA0A35B7}"/>
              </a:ext>
            </a:extLst>
          </p:cNvPr>
          <p:cNvSpPr txBox="1"/>
          <p:nvPr/>
        </p:nvSpPr>
        <p:spPr>
          <a:xfrm>
            <a:off x="5323508" y="2579972"/>
            <a:ext cx="1544983" cy="1716648"/>
          </a:xfrm>
          <a:prstGeom prst="rect">
            <a:avLst/>
          </a:prstGeom>
          <a:noFill/>
        </p:spPr>
        <p:txBody>
          <a:bodyPr wrap="square" rtlCol="0">
            <a:spAutoFit/>
          </a:bodyPr>
          <a:lstStyle/>
          <a:p>
            <a:pPr algn="justLow" rtl="1"/>
            <a:r>
              <a:rPr lang="ar-SA" sz="1100" dirty="0"/>
              <a:t>توفر لصناع القرار رؤية شاملة للحالة الحالية للجهة والسيناريوهات المستقبلية المحتملة، مما يتيح خيارات مستنيرة واستراتيجية. فيتم دمج البيانات والعمليات والأهداف من أجل تحليل أفضل</a:t>
            </a:r>
            <a:endParaRPr lang="en-US" sz="1100" dirty="0"/>
          </a:p>
        </p:txBody>
      </p:sp>
      <p:sp>
        <p:nvSpPr>
          <p:cNvPr id="57" name="TextBox 56">
            <a:extLst>
              <a:ext uri="{FF2B5EF4-FFF2-40B4-BE49-F238E27FC236}">
                <a16:creationId xmlns:a16="http://schemas.microsoft.com/office/drawing/2014/main" id="{5DB8BDB0-F6F3-A6D0-CA3C-0219B730D536}"/>
              </a:ext>
            </a:extLst>
          </p:cNvPr>
          <p:cNvSpPr txBox="1"/>
          <p:nvPr/>
        </p:nvSpPr>
        <p:spPr>
          <a:xfrm>
            <a:off x="5370166" y="4564575"/>
            <a:ext cx="1451669" cy="808925"/>
          </a:xfrm>
          <a:prstGeom prst="rect">
            <a:avLst/>
          </a:prstGeom>
          <a:noFill/>
        </p:spPr>
        <p:txBody>
          <a:bodyPr wrap="square" rtlCol="0">
            <a:spAutoFit/>
          </a:bodyPr>
          <a:lstStyle/>
          <a:p>
            <a:pPr algn="justLow" rtl="1"/>
            <a:r>
              <a:rPr lang="ar-SA" sz="1000" dirty="0"/>
              <a:t>مثال:</a:t>
            </a:r>
            <a:r>
              <a:rPr lang="en-US" sz="1000" dirty="0"/>
              <a:t> </a:t>
            </a:r>
            <a:r>
              <a:rPr lang="ar-SA" sz="1000" dirty="0"/>
              <a:t>استعمال أدوات تحليل الأثر لمعرفة كيف ستتأثر الجهة على مختلف المستويات عند الانتقال للاستضافة السحابية</a:t>
            </a:r>
            <a:endParaRPr lang="en-US" sz="1000" dirty="0"/>
          </a:p>
        </p:txBody>
      </p:sp>
      <p:sp>
        <p:nvSpPr>
          <p:cNvPr id="58" name="TextBox 145">
            <a:extLst>
              <a:ext uri="{FF2B5EF4-FFF2-40B4-BE49-F238E27FC236}">
                <a16:creationId xmlns:a16="http://schemas.microsoft.com/office/drawing/2014/main" id="{CED1A2E3-84A0-AF3B-2253-C99FD8FD47A1}"/>
              </a:ext>
            </a:extLst>
          </p:cNvPr>
          <p:cNvSpPr txBox="1"/>
          <p:nvPr/>
        </p:nvSpPr>
        <p:spPr>
          <a:xfrm flipH="1">
            <a:off x="3752206"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تعزيز أمن المعلومات</a:t>
            </a:r>
            <a:endParaRPr lang="en-US" sz="1400" b="1" dirty="0">
              <a:solidFill>
                <a:schemeClr val="accent2"/>
              </a:solidFill>
            </a:endParaRPr>
          </a:p>
        </p:txBody>
      </p:sp>
      <p:grpSp>
        <p:nvGrpSpPr>
          <p:cNvPr id="59" name="Group 58">
            <a:extLst>
              <a:ext uri="{FF2B5EF4-FFF2-40B4-BE49-F238E27FC236}">
                <a16:creationId xmlns:a16="http://schemas.microsoft.com/office/drawing/2014/main" id="{15D4AA55-048B-E755-2566-01F0D3AEDBD9}"/>
              </a:ext>
            </a:extLst>
          </p:cNvPr>
          <p:cNvGrpSpPr>
            <a:grpSpLocks noChangeAspect="1"/>
          </p:cNvGrpSpPr>
          <p:nvPr/>
        </p:nvGrpSpPr>
        <p:grpSpPr>
          <a:xfrm>
            <a:off x="4219457" y="1340047"/>
            <a:ext cx="610480" cy="626577"/>
            <a:chOff x="3987066" y="1892996"/>
            <a:chExt cx="713403" cy="732213"/>
          </a:xfrm>
          <a:solidFill>
            <a:schemeClr val="accent1"/>
          </a:solidFill>
        </p:grpSpPr>
        <p:sp>
          <p:nvSpPr>
            <p:cNvPr id="60" name="Freeform 8">
              <a:extLst>
                <a:ext uri="{FF2B5EF4-FFF2-40B4-BE49-F238E27FC236}">
                  <a16:creationId xmlns:a16="http://schemas.microsoft.com/office/drawing/2014/main" id="{2DBCDA04-3258-4F56-C682-C955D9717E8B}"/>
                </a:ext>
              </a:extLst>
            </p:cNvPr>
            <p:cNvSpPr>
              <a:spLocks noEditPoints="1"/>
            </p:cNvSpPr>
            <p:nvPr/>
          </p:nvSpPr>
          <p:spPr bwMode="auto">
            <a:xfrm>
              <a:off x="3987066" y="1892996"/>
              <a:ext cx="713403" cy="732213"/>
            </a:xfrm>
            <a:custGeom>
              <a:avLst/>
              <a:gdLst>
                <a:gd name="T0" fmla="*/ 1010 w 3992"/>
                <a:gd name="T1" fmla="*/ 240 h 4103"/>
                <a:gd name="T2" fmla="*/ 736 w 3992"/>
                <a:gd name="T3" fmla="*/ 329 h 4103"/>
                <a:gd name="T4" fmla="*/ 175 w 3992"/>
                <a:gd name="T5" fmla="*/ 513 h 4103"/>
                <a:gd name="T6" fmla="*/ 16 w 3992"/>
                <a:gd name="T7" fmla="*/ 738 h 4103"/>
                <a:gd name="T8" fmla="*/ 121 w 3992"/>
                <a:gd name="T9" fmla="*/ 3782 h 4103"/>
                <a:gd name="T10" fmla="*/ 2432 w 3992"/>
                <a:gd name="T11" fmla="*/ 3910 h 4103"/>
                <a:gd name="T12" fmla="*/ 3310 w 3992"/>
                <a:gd name="T13" fmla="*/ 3692 h 4103"/>
                <a:gd name="T14" fmla="*/ 3884 w 3992"/>
                <a:gd name="T15" fmla="*/ 2783 h 4103"/>
                <a:gd name="T16" fmla="*/ 3850 w 3992"/>
                <a:gd name="T17" fmla="*/ 1855 h 4103"/>
                <a:gd name="T18" fmla="*/ 2991 w 3992"/>
                <a:gd name="T19" fmla="*/ 1494 h 4103"/>
                <a:gd name="T20" fmla="*/ 2776 w 3992"/>
                <a:gd name="T21" fmla="*/ 588 h 4103"/>
                <a:gd name="T22" fmla="*/ 2405 w 3992"/>
                <a:gd name="T23" fmla="*/ 500 h 4103"/>
                <a:gd name="T24" fmla="*/ 2097 w 3992"/>
                <a:gd name="T25" fmla="*/ 336 h 4103"/>
                <a:gd name="T26" fmla="*/ 1818 w 3992"/>
                <a:gd name="T27" fmla="*/ 232 h 4103"/>
                <a:gd name="T28" fmla="*/ 1651 w 3992"/>
                <a:gd name="T29" fmla="*/ 9 h 4103"/>
                <a:gd name="T30" fmla="*/ 1120 w 3992"/>
                <a:gd name="T31" fmla="*/ 33 h 4103"/>
                <a:gd name="T32" fmla="*/ 1693 w 3992"/>
                <a:gd name="T33" fmla="*/ 325 h 4103"/>
                <a:gd name="T34" fmla="*/ 1980 w 3992"/>
                <a:gd name="T35" fmla="*/ 397 h 4103"/>
                <a:gd name="T36" fmla="*/ 809 w 3992"/>
                <a:gd name="T37" fmla="*/ 547 h 4103"/>
                <a:gd name="T38" fmla="*/ 1037 w 3992"/>
                <a:gd name="T39" fmla="*/ 367 h 4103"/>
                <a:gd name="T40" fmla="*/ 1155 w 3992"/>
                <a:gd name="T41" fmla="*/ 188 h 4103"/>
                <a:gd name="T42" fmla="*/ 1564 w 3992"/>
                <a:gd name="T43" fmla="*/ 119 h 4103"/>
                <a:gd name="T44" fmla="*/ 736 w 3992"/>
                <a:gd name="T45" fmla="*/ 791 h 4103"/>
                <a:gd name="T46" fmla="*/ 815 w 3992"/>
                <a:gd name="T47" fmla="*/ 826 h 4103"/>
                <a:gd name="T48" fmla="*/ 257 w 3992"/>
                <a:gd name="T49" fmla="*/ 2860 h 4103"/>
                <a:gd name="T50" fmla="*/ 735 w 3992"/>
                <a:gd name="T51" fmla="*/ 3557 h 4103"/>
                <a:gd name="T52" fmla="*/ 578 w 3992"/>
                <a:gd name="T53" fmla="*/ 3683 h 4103"/>
                <a:gd name="T54" fmla="*/ 140 w 3992"/>
                <a:gd name="T55" fmla="*/ 3496 h 4103"/>
                <a:gd name="T56" fmla="*/ 171 w 3992"/>
                <a:gd name="T57" fmla="*/ 656 h 4103"/>
                <a:gd name="T58" fmla="*/ 2662 w 3992"/>
                <a:gd name="T59" fmla="*/ 655 h 4103"/>
                <a:gd name="T60" fmla="*/ 2567 w 3992"/>
                <a:gd name="T61" fmla="*/ 1218 h 4103"/>
                <a:gd name="T62" fmla="*/ 1984 w 3992"/>
                <a:gd name="T63" fmla="*/ 815 h 4103"/>
                <a:gd name="T64" fmla="*/ 2141 w 3992"/>
                <a:gd name="T65" fmla="*/ 756 h 4103"/>
                <a:gd name="T66" fmla="*/ 2404 w 3992"/>
                <a:gd name="T67" fmla="*/ 620 h 4103"/>
                <a:gd name="T68" fmla="*/ 1415 w 3992"/>
                <a:gd name="T69" fmla="*/ 997 h 4103"/>
                <a:gd name="T70" fmla="*/ 851 w 3992"/>
                <a:gd name="T71" fmla="*/ 1033 h 4103"/>
                <a:gd name="T72" fmla="*/ 1902 w 3992"/>
                <a:gd name="T73" fmla="*/ 1133 h 4103"/>
                <a:gd name="T74" fmla="*/ 2430 w 3992"/>
                <a:gd name="T75" fmla="*/ 1238 h 4103"/>
                <a:gd name="T76" fmla="*/ 2179 w 3992"/>
                <a:gd name="T77" fmla="*/ 1566 h 4103"/>
                <a:gd name="T78" fmla="*/ 1892 w 3992"/>
                <a:gd name="T79" fmla="*/ 1708 h 4103"/>
                <a:gd name="T80" fmla="*/ 1166 w 3992"/>
                <a:gd name="T81" fmla="*/ 2118 h 4103"/>
                <a:gd name="T82" fmla="*/ 1293 w 3992"/>
                <a:gd name="T83" fmla="*/ 2233 h 4103"/>
                <a:gd name="T84" fmla="*/ 1309 w 3992"/>
                <a:gd name="T85" fmla="*/ 2617 h 4103"/>
                <a:gd name="T86" fmla="*/ 1154 w 3992"/>
                <a:gd name="T87" fmla="*/ 2706 h 4103"/>
                <a:gd name="T88" fmla="*/ 1641 w 3992"/>
                <a:gd name="T89" fmla="*/ 2891 h 4103"/>
                <a:gd name="T90" fmla="*/ 828 w 3992"/>
                <a:gd name="T91" fmla="*/ 3428 h 4103"/>
                <a:gd name="T92" fmla="*/ 754 w 3992"/>
                <a:gd name="T93" fmla="*/ 3129 h 4103"/>
                <a:gd name="T94" fmla="*/ 384 w 3992"/>
                <a:gd name="T95" fmla="*/ 3013 h 4103"/>
                <a:gd name="T96" fmla="*/ 445 w 3992"/>
                <a:gd name="T97" fmla="*/ 974 h 4103"/>
                <a:gd name="T98" fmla="*/ 3436 w 3992"/>
                <a:gd name="T99" fmla="*/ 1772 h 4103"/>
                <a:gd name="T100" fmla="*/ 3783 w 3992"/>
                <a:gd name="T101" fmla="*/ 2670 h 4103"/>
                <a:gd name="T102" fmla="*/ 3316 w 3992"/>
                <a:gd name="T103" fmla="*/ 3505 h 4103"/>
                <a:gd name="T104" fmla="*/ 2650 w 3992"/>
                <a:gd name="T105" fmla="*/ 3898 h 4103"/>
                <a:gd name="T106" fmla="*/ 1878 w 3992"/>
                <a:gd name="T107" fmla="*/ 3095 h 4103"/>
                <a:gd name="T108" fmla="*/ 1642 w 3992"/>
                <a:gd name="T109" fmla="*/ 2358 h 4103"/>
                <a:gd name="T110" fmla="*/ 2314 w 3992"/>
                <a:gd name="T111" fmla="*/ 1666 h 4103"/>
                <a:gd name="T112" fmla="*/ 3102 w 3992"/>
                <a:gd name="T113" fmla="*/ 1648 h 4103"/>
                <a:gd name="T114" fmla="*/ 611 w 3992"/>
                <a:gd name="T115" fmla="*/ 3292 h 4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92" h="4103">
                  <a:moveTo>
                    <a:pt x="1120" y="33"/>
                  </a:moveTo>
                  <a:lnTo>
                    <a:pt x="1100" y="47"/>
                  </a:lnTo>
                  <a:lnTo>
                    <a:pt x="1063" y="88"/>
                  </a:lnTo>
                  <a:lnTo>
                    <a:pt x="1035" y="139"/>
                  </a:lnTo>
                  <a:lnTo>
                    <a:pt x="1019" y="192"/>
                  </a:lnTo>
                  <a:lnTo>
                    <a:pt x="1017" y="217"/>
                  </a:lnTo>
                  <a:lnTo>
                    <a:pt x="1017" y="227"/>
                  </a:lnTo>
                  <a:lnTo>
                    <a:pt x="1010" y="240"/>
                  </a:lnTo>
                  <a:lnTo>
                    <a:pt x="993" y="247"/>
                  </a:lnTo>
                  <a:lnTo>
                    <a:pt x="959" y="250"/>
                  </a:lnTo>
                  <a:lnTo>
                    <a:pt x="934" y="250"/>
                  </a:lnTo>
                  <a:lnTo>
                    <a:pt x="897" y="251"/>
                  </a:lnTo>
                  <a:lnTo>
                    <a:pt x="824" y="265"/>
                  </a:lnTo>
                  <a:lnTo>
                    <a:pt x="799" y="275"/>
                  </a:lnTo>
                  <a:lnTo>
                    <a:pt x="776" y="289"/>
                  </a:lnTo>
                  <a:lnTo>
                    <a:pt x="736" y="329"/>
                  </a:lnTo>
                  <a:lnTo>
                    <a:pt x="704" y="378"/>
                  </a:lnTo>
                  <a:lnTo>
                    <a:pt x="685" y="429"/>
                  </a:lnTo>
                  <a:lnTo>
                    <a:pt x="684" y="453"/>
                  </a:lnTo>
                  <a:lnTo>
                    <a:pt x="684" y="500"/>
                  </a:lnTo>
                  <a:lnTo>
                    <a:pt x="430" y="500"/>
                  </a:lnTo>
                  <a:lnTo>
                    <a:pt x="333" y="500"/>
                  </a:lnTo>
                  <a:lnTo>
                    <a:pt x="228" y="506"/>
                  </a:lnTo>
                  <a:lnTo>
                    <a:pt x="175" y="513"/>
                  </a:lnTo>
                  <a:lnTo>
                    <a:pt x="133" y="525"/>
                  </a:lnTo>
                  <a:lnTo>
                    <a:pt x="101" y="542"/>
                  </a:lnTo>
                  <a:lnTo>
                    <a:pt x="74" y="565"/>
                  </a:lnTo>
                  <a:lnTo>
                    <a:pt x="50" y="594"/>
                  </a:lnTo>
                  <a:lnTo>
                    <a:pt x="39" y="612"/>
                  </a:lnTo>
                  <a:lnTo>
                    <a:pt x="34" y="620"/>
                  </a:lnTo>
                  <a:lnTo>
                    <a:pt x="25" y="648"/>
                  </a:lnTo>
                  <a:lnTo>
                    <a:pt x="16" y="738"/>
                  </a:lnTo>
                  <a:lnTo>
                    <a:pt x="7" y="1254"/>
                  </a:lnTo>
                  <a:lnTo>
                    <a:pt x="4" y="2133"/>
                  </a:lnTo>
                  <a:lnTo>
                    <a:pt x="0" y="3608"/>
                  </a:lnTo>
                  <a:lnTo>
                    <a:pt x="37" y="3682"/>
                  </a:lnTo>
                  <a:lnTo>
                    <a:pt x="50" y="3707"/>
                  </a:lnTo>
                  <a:lnTo>
                    <a:pt x="73" y="3747"/>
                  </a:lnTo>
                  <a:lnTo>
                    <a:pt x="98" y="3770"/>
                  </a:lnTo>
                  <a:lnTo>
                    <a:pt x="121" y="3782"/>
                  </a:lnTo>
                  <a:lnTo>
                    <a:pt x="171" y="3796"/>
                  </a:lnTo>
                  <a:lnTo>
                    <a:pt x="279" y="3808"/>
                  </a:lnTo>
                  <a:lnTo>
                    <a:pt x="447" y="3814"/>
                  </a:lnTo>
                  <a:lnTo>
                    <a:pt x="838" y="3817"/>
                  </a:lnTo>
                  <a:lnTo>
                    <a:pt x="1249" y="3817"/>
                  </a:lnTo>
                  <a:lnTo>
                    <a:pt x="2305" y="3817"/>
                  </a:lnTo>
                  <a:lnTo>
                    <a:pt x="2390" y="3880"/>
                  </a:lnTo>
                  <a:lnTo>
                    <a:pt x="2432" y="3910"/>
                  </a:lnTo>
                  <a:lnTo>
                    <a:pt x="2550" y="3988"/>
                  </a:lnTo>
                  <a:lnTo>
                    <a:pt x="2607" y="4023"/>
                  </a:lnTo>
                  <a:lnTo>
                    <a:pt x="2740" y="4103"/>
                  </a:lnTo>
                  <a:lnTo>
                    <a:pt x="2807" y="4065"/>
                  </a:lnTo>
                  <a:lnTo>
                    <a:pt x="2884" y="4022"/>
                  </a:lnTo>
                  <a:lnTo>
                    <a:pt x="3033" y="3924"/>
                  </a:lnTo>
                  <a:lnTo>
                    <a:pt x="3175" y="3814"/>
                  </a:lnTo>
                  <a:lnTo>
                    <a:pt x="3310" y="3692"/>
                  </a:lnTo>
                  <a:lnTo>
                    <a:pt x="3435" y="3562"/>
                  </a:lnTo>
                  <a:lnTo>
                    <a:pt x="3550" y="3424"/>
                  </a:lnTo>
                  <a:lnTo>
                    <a:pt x="3651" y="3280"/>
                  </a:lnTo>
                  <a:lnTo>
                    <a:pt x="3738" y="3132"/>
                  </a:lnTo>
                  <a:lnTo>
                    <a:pt x="3775" y="3057"/>
                  </a:lnTo>
                  <a:lnTo>
                    <a:pt x="3800" y="3003"/>
                  </a:lnTo>
                  <a:lnTo>
                    <a:pt x="3845" y="2894"/>
                  </a:lnTo>
                  <a:lnTo>
                    <a:pt x="3884" y="2783"/>
                  </a:lnTo>
                  <a:lnTo>
                    <a:pt x="3916" y="2669"/>
                  </a:lnTo>
                  <a:lnTo>
                    <a:pt x="3943" y="2553"/>
                  </a:lnTo>
                  <a:lnTo>
                    <a:pt x="3964" y="2435"/>
                  </a:lnTo>
                  <a:lnTo>
                    <a:pt x="3978" y="2316"/>
                  </a:lnTo>
                  <a:lnTo>
                    <a:pt x="3987" y="2196"/>
                  </a:lnTo>
                  <a:lnTo>
                    <a:pt x="3989" y="2135"/>
                  </a:lnTo>
                  <a:lnTo>
                    <a:pt x="3992" y="1943"/>
                  </a:lnTo>
                  <a:lnTo>
                    <a:pt x="3850" y="1855"/>
                  </a:lnTo>
                  <a:lnTo>
                    <a:pt x="3786" y="1815"/>
                  </a:lnTo>
                  <a:lnTo>
                    <a:pt x="3660" y="1743"/>
                  </a:lnTo>
                  <a:lnTo>
                    <a:pt x="3539" y="1680"/>
                  </a:lnTo>
                  <a:lnTo>
                    <a:pt x="3421" y="1625"/>
                  </a:lnTo>
                  <a:lnTo>
                    <a:pt x="3307" y="1579"/>
                  </a:lnTo>
                  <a:lnTo>
                    <a:pt x="3197" y="1542"/>
                  </a:lnTo>
                  <a:lnTo>
                    <a:pt x="3092" y="1514"/>
                  </a:lnTo>
                  <a:lnTo>
                    <a:pt x="2991" y="1494"/>
                  </a:lnTo>
                  <a:lnTo>
                    <a:pt x="2942" y="1488"/>
                  </a:lnTo>
                  <a:lnTo>
                    <a:pt x="2825" y="1475"/>
                  </a:lnTo>
                  <a:lnTo>
                    <a:pt x="2817" y="1058"/>
                  </a:lnTo>
                  <a:lnTo>
                    <a:pt x="2814" y="902"/>
                  </a:lnTo>
                  <a:lnTo>
                    <a:pt x="2808" y="746"/>
                  </a:lnTo>
                  <a:lnTo>
                    <a:pt x="2801" y="673"/>
                  </a:lnTo>
                  <a:lnTo>
                    <a:pt x="2791" y="623"/>
                  </a:lnTo>
                  <a:lnTo>
                    <a:pt x="2776" y="588"/>
                  </a:lnTo>
                  <a:lnTo>
                    <a:pt x="2756" y="563"/>
                  </a:lnTo>
                  <a:lnTo>
                    <a:pt x="2729" y="543"/>
                  </a:lnTo>
                  <a:lnTo>
                    <a:pt x="2712" y="533"/>
                  </a:lnTo>
                  <a:lnTo>
                    <a:pt x="2695" y="523"/>
                  </a:lnTo>
                  <a:lnTo>
                    <a:pt x="2654" y="510"/>
                  </a:lnTo>
                  <a:lnTo>
                    <a:pt x="2589" y="503"/>
                  </a:lnTo>
                  <a:lnTo>
                    <a:pt x="2483" y="500"/>
                  </a:lnTo>
                  <a:lnTo>
                    <a:pt x="2405" y="500"/>
                  </a:lnTo>
                  <a:lnTo>
                    <a:pt x="2321" y="500"/>
                  </a:lnTo>
                  <a:lnTo>
                    <a:pt x="2215" y="498"/>
                  </a:lnTo>
                  <a:lnTo>
                    <a:pt x="2165" y="491"/>
                  </a:lnTo>
                  <a:lnTo>
                    <a:pt x="2151" y="478"/>
                  </a:lnTo>
                  <a:lnTo>
                    <a:pt x="2150" y="467"/>
                  </a:lnTo>
                  <a:lnTo>
                    <a:pt x="2148" y="444"/>
                  </a:lnTo>
                  <a:lnTo>
                    <a:pt x="2129" y="391"/>
                  </a:lnTo>
                  <a:lnTo>
                    <a:pt x="2097" y="336"/>
                  </a:lnTo>
                  <a:lnTo>
                    <a:pt x="2057" y="292"/>
                  </a:lnTo>
                  <a:lnTo>
                    <a:pt x="2037" y="278"/>
                  </a:lnTo>
                  <a:lnTo>
                    <a:pt x="2011" y="266"/>
                  </a:lnTo>
                  <a:lnTo>
                    <a:pt x="1940" y="251"/>
                  </a:lnTo>
                  <a:lnTo>
                    <a:pt x="1902" y="250"/>
                  </a:lnTo>
                  <a:lnTo>
                    <a:pt x="1860" y="249"/>
                  </a:lnTo>
                  <a:lnTo>
                    <a:pt x="1827" y="241"/>
                  </a:lnTo>
                  <a:lnTo>
                    <a:pt x="1818" y="232"/>
                  </a:lnTo>
                  <a:lnTo>
                    <a:pt x="1817" y="225"/>
                  </a:lnTo>
                  <a:lnTo>
                    <a:pt x="1815" y="202"/>
                  </a:lnTo>
                  <a:lnTo>
                    <a:pt x="1797" y="147"/>
                  </a:lnTo>
                  <a:lnTo>
                    <a:pt x="1766" y="92"/>
                  </a:lnTo>
                  <a:lnTo>
                    <a:pt x="1728" y="47"/>
                  </a:lnTo>
                  <a:lnTo>
                    <a:pt x="1709" y="33"/>
                  </a:lnTo>
                  <a:lnTo>
                    <a:pt x="1691" y="23"/>
                  </a:lnTo>
                  <a:lnTo>
                    <a:pt x="1651" y="9"/>
                  </a:lnTo>
                  <a:lnTo>
                    <a:pt x="1590" y="2"/>
                  </a:lnTo>
                  <a:lnTo>
                    <a:pt x="1489" y="0"/>
                  </a:lnTo>
                  <a:lnTo>
                    <a:pt x="1415" y="0"/>
                  </a:lnTo>
                  <a:lnTo>
                    <a:pt x="1341" y="0"/>
                  </a:lnTo>
                  <a:lnTo>
                    <a:pt x="1240" y="2"/>
                  </a:lnTo>
                  <a:lnTo>
                    <a:pt x="1178" y="9"/>
                  </a:lnTo>
                  <a:lnTo>
                    <a:pt x="1138" y="23"/>
                  </a:lnTo>
                  <a:lnTo>
                    <a:pt x="1120" y="33"/>
                  </a:lnTo>
                  <a:close/>
                  <a:moveTo>
                    <a:pt x="1650" y="150"/>
                  </a:moveTo>
                  <a:lnTo>
                    <a:pt x="1659" y="159"/>
                  </a:lnTo>
                  <a:lnTo>
                    <a:pt x="1671" y="180"/>
                  </a:lnTo>
                  <a:lnTo>
                    <a:pt x="1679" y="206"/>
                  </a:lnTo>
                  <a:lnTo>
                    <a:pt x="1683" y="238"/>
                  </a:lnTo>
                  <a:lnTo>
                    <a:pt x="1684" y="257"/>
                  </a:lnTo>
                  <a:lnTo>
                    <a:pt x="1685" y="287"/>
                  </a:lnTo>
                  <a:lnTo>
                    <a:pt x="1693" y="325"/>
                  </a:lnTo>
                  <a:lnTo>
                    <a:pt x="1701" y="342"/>
                  </a:lnTo>
                  <a:lnTo>
                    <a:pt x="1705" y="347"/>
                  </a:lnTo>
                  <a:lnTo>
                    <a:pt x="1720" y="353"/>
                  </a:lnTo>
                  <a:lnTo>
                    <a:pt x="1798" y="366"/>
                  </a:lnTo>
                  <a:lnTo>
                    <a:pt x="1849" y="370"/>
                  </a:lnTo>
                  <a:lnTo>
                    <a:pt x="1901" y="373"/>
                  </a:lnTo>
                  <a:lnTo>
                    <a:pt x="1955" y="384"/>
                  </a:lnTo>
                  <a:lnTo>
                    <a:pt x="1980" y="397"/>
                  </a:lnTo>
                  <a:lnTo>
                    <a:pt x="1998" y="415"/>
                  </a:lnTo>
                  <a:lnTo>
                    <a:pt x="2009" y="442"/>
                  </a:lnTo>
                  <a:lnTo>
                    <a:pt x="2016" y="498"/>
                  </a:lnTo>
                  <a:lnTo>
                    <a:pt x="2017" y="553"/>
                  </a:lnTo>
                  <a:lnTo>
                    <a:pt x="2017" y="667"/>
                  </a:lnTo>
                  <a:lnTo>
                    <a:pt x="1414" y="663"/>
                  </a:lnTo>
                  <a:lnTo>
                    <a:pt x="809" y="658"/>
                  </a:lnTo>
                  <a:lnTo>
                    <a:pt x="809" y="547"/>
                  </a:lnTo>
                  <a:lnTo>
                    <a:pt x="809" y="495"/>
                  </a:lnTo>
                  <a:lnTo>
                    <a:pt x="818" y="441"/>
                  </a:lnTo>
                  <a:lnTo>
                    <a:pt x="830" y="415"/>
                  </a:lnTo>
                  <a:lnTo>
                    <a:pt x="849" y="397"/>
                  </a:lnTo>
                  <a:lnTo>
                    <a:pt x="876" y="384"/>
                  </a:lnTo>
                  <a:lnTo>
                    <a:pt x="933" y="373"/>
                  </a:lnTo>
                  <a:lnTo>
                    <a:pt x="989" y="370"/>
                  </a:lnTo>
                  <a:lnTo>
                    <a:pt x="1037" y="367"/>
                  </a:lnTo>
                  <a:lnTo>
                    <a:pt x="1089" y="358"/>
                  </a:lnTo>
                  <a:lnTo>
                    <a:pt x="1113" y="348"/>
                  </a:lnTo>
                  <a:lnTo>
                    <a:pt x="1130" y="335"/>
                  </a:lnTo>
                  <a:lnTo>
                    <a:pt x="1141" y="316"/>
                  </a:lnTo>
                  <a:lnTo>
                    <a:pt x="1150" y="277"/>
                  </a:lnTo>
                  <a:lnTo>
                    <a:pt x="1150" y="240"/>
                  </a:lnTo>
                  <a:lnTo>
                    <a:pt x="1151" y="220"/>
                  </a:lnTo>
                  <a:lnTo>
                    <a:pt x="1155" y="188"/>
                  </a:lnTo>
                  <a:lnTo>
                    <a:pt x="1165" y="163"/>
                  </a:lnTo>
                  <a:lnTo>
                    <a:pt x="1183" y="145"/>
                  </a:lnTo>
                  <a:lnTo>
                    <a:pt x="1211" y="132"/>
                  </a:lnTo>
                  <a:lnTo>
                    <a:pt x="1252" y="123"/>
                  </a:lnTo>
                  <a:lnTo>
                    <a:pt x="1337" y="117"/>
                  </a:lnTo>
                  <a:lnTo>
                    <a:pt x="1420" y="117"/>
                  </a:lnTo>
                  <a:lnTo>
                    <a:pt x="1481" y="117"/>
                  </a:lnTo>
                  <a:lnTo>
                    <a:pt x="1564" y="119"/>
                  </a:lnTo>
                  <a:lnTo>
                    <a:pt x="1611" y="126"/>
                  </a:lnTo>
                  <a:lnTo>
                    <a:pt x="1639" y="140"/>
                  </a:lnTo>
                  <a:lnTo>
                    <a:pt x="1650" y="150"/>
                  </a:lnTo>
                  <a:close/>
                  <a:moveTo>
                    <a:pt x="680" y="692"/>
                  </a:moveTo>
                  <a:lnTo>
                    <a:pt x="684" y="720"/>
                  </a:lnTo>
                  <a:lnTo>
                    <a:pt x="699" y="761"/>
                  </a:lnTo>
                  <a:lnTo>
                    <a:pt x="719" y="781"/>
                  </a:lnTo>
                  <a:lnTo>
                    <a:pt x="736" y="791"/>
                  </a:lnTo>
                  <a:lnTo>
                    <a:pt x="768" y="799"/>
                  </a:lnTo>
                  <a:lnTo>
                    <a:pt x="795" y="800"/>
                  </a:lnTo>
                  <a:lnTo>
                    <a:pt x="817" y="801"/>
                  </a:lnTo>
                  <a:lnTo>
                    <a:pt x="841" y="807"/>
                  </a:lnTo>
                  <a:lnTo>
                    <a:pt x="850" y="813"/>
                  </a:lnTo>
                  <a:lnTo>
                    <a:pt x="850" y="817"/>
                  </a:lnTo>
                  <a:lnTo>
                    <a:pt x="848" y="820"/>
                  </a:lnTo>
                  <a:lnTo>
                    <a:pt x="815" y="826"/>
                  </a:lnTo>
                  <a:lnTo>
                    <a:pt x="717" y="832"/>
                  </a:lnTo>
                  <a:lnTo>
                    <a:pt x="615" y="833"/>
                  </a:lnTo>
                  <a:lnTo>
                    <a:pt x="380" y="833"/>
                  </a:lnTo>
                  <a:lnTo>
                    <a:pt x="327" y="887"/>
                  </a:lnTo>
                  <a:lnTo>
                    <a:pt x="272" y="942"/>
                  </a:lnTo>
                  <a:lnTo>
                    <a:pt x="260" y="1883"/>
                  </a:lnTo>
                  <a:lnTo>
                    <a:pt x="257" y="2269"/>
                  </a:lnTo>
                  <a:lnTo>
                    <a:pt x="257" y="2860"/>
                  </a:lnTo>
                  <a:lnTo>
                    <a:pt x="260" y="2972"/>
                  </a:lnTo>
                  <a:lnTo>
                    <a:pt x="272" y="3120"/>
                  </a:lnTo>
                  <a:lnTo>
                    <a:pt x="470" y="3333"/>
                  </a:lnTo>
                  <a:lnTo>
                    <a:pt x="531" y="3399"/>
                  </a:lnTo>
                  <a:lnTo>
                    <a:pt x="617" y="3486"/>
                  </a:lnTo>
                  <a:lnTo>
                    <a:pt x="672" y="3532"/>
                  </a:lnTo>
                  <a:lnTo>
                    <a:pt x="714" y="3552"/>
                  </a:lnTo>
                  <a:lnTo>
                    <a:pt x="735" y="3557"/>
                  </a:lnTo>
                  <a:lnTo>
                    <a:pt x="797" y="3561"/>
                  </a:lnTo>
                  <a:lnTo>
                    <a:pt x="1170" y="3566"/>
                  </a:lnTo>
                  <a:lnTo>
                    <a:pt x="1422" y="3567"/>
                  </a:lnTo>
                  <a:lnTo>
                    <a:pt x="2040" y="3565"/>
                  </a:lnTo>
                  <a:lnTo>
                    <a:pt x="2099" y="3625"/>
                  </a:lnTo>
                  <a:lnTo>
                    <a:pt x="2159" y="3683"/>
                  </a:lnTo>
                  <a:lnTo>
                    <a:pt x="1179" y="3683"/>
                  </a:lnTo>
                  <a:lnTo>
                    <a:pt x="578" y="3683"/>
                  </a:lnTo>
                  <a:lnTo>
                    <a:pt x="244" y="3676"/>
                  </a:lnTo>
                  <a:lnTo>
                    <a:pt x="190" y="3666"/>
                  </a:lnTo>
                  <a:lnTo>
                    <a:pt x="173" y="3656"/>
                  </a:lnTo>
                  <a:lnTo>
                    <a:pt x="167" y="3650"/>
                  </a:lnTo>
                  <a:lnTo>
                    <a:pt x="161" y="3644"/>
                  </a:lnTo>
                  <a:lnTo>
                    <a:pt x="151" y="3624"/>
                  </a:lnTo>
                  <a:lnTo>
                    <a:pt x="144" y="3581"/>
                  </a:lnTo>
                  <a:lnTo>
                    <a:pt x="140" y="3496"/>
                  </a:lnTo>
                  <a:lnTo>
                    <a:pt x="134" y="3061"/>
                  </a:lnTo>
                  <a:lnTo>
                    <a:pt x="134" y="2165"/>
                  </a:lnTo>
                  <a:lnTo>
                    <a:pt x="134" y="1485"/>
                  </a:lnTo>
                  <a:lnTo>
                    <a:pt x="140" y="891"/>
                  </a:lnTo>
                  <a:lnTo>
                    <a:pt x="147" y="704"/>
                  </a:lnTo>
                  <a:lnTo>
                    <a:pt x="152" y="682"/>
                  </a:lnTo>
                  <a:lnTo>
                    <a:pt x="157" y="672"/>
                  </a:lnTo>
                  <a:lnTo>
                    <a:pt x="171" y="656"/>
                  </a:lnTo>
                  <a:lnTo>
                    <a:pt x="189" y="643"/>
                  </a:lnTo>
                  <a:lnTo>
                    <a:pt x="214" y="634"/>
                  </a:lnTo>
                  <a:lnTo>
                    <a:pt x="267" y="625"/>
                  </a:lnTo>
                  <a:lnTo>
                    <a:pt x="379" y="621"/>
                  </a:lnTo>
                  <a:lnTo>
                    <a:pt x="459" y="622"/>
                  </a:lnTo>
                  <a:lnTo>
                    <a:pt x="675" y="625"/>
                  </a:lnTo>
                  <a:lnTo>
                    <a:pt x="680" y="692"/>
                  </a:lnTo>
                  <a:close/>
                  <a:moveTo>
                    <a:pt x="2662" y="655"/>
                  </a:moveTo>
                  <a:lnTo>
                    <a:pt x="2671" y="665"/>
                  </a:lnTo>
                  <a:lnTo>
                    <a:pt x="2683" y="705"/>
                  </a:lnTo>
                  <a:lnTo>
                    <a:pt x="2692" y="852"/>
                  </a:lnTo>
                  <a:lnTo>
                    <a:pt x="2692" y="1080"/>
                  </a:lnTo>
                  <a:lnTo>
                    <a:pt x="2692" y="1475"/>
                  </a:lnTo>
                  <a:lnTo>
                    <a:pt x="2630" y="1480"/>
                  </a:lnTo>
                  <a:lnTo>
                    <a:pt x="2567" y="1485"/>
                  </a:lnTo>
                  <a:lnTo>
                    <a:pt x="2567" y="1218"/>
                  </a:lnTo>
                  <a:lnTo>
                    <a:pt x="2567" y="950"/>
                  </a:lnTo>
                  <a:lnTo>
                    <a:pt x="2519" y="897"/>
                  </a:lnTo>
                  <a:lnTo>
                    <a:pt x="2470" y="842"/>
                  </a:lnTo>
                  <a:lnTo>
                    <a:pt x="2227" y="837"/>
                  </a:lnTo>
                  <a:lnTo>
                    <a:pt x="2129" y="833"/>
                  </a:lnTo>
                  <a:lnTo>
                    <a:pt x="2024" y="825"/>
                  </a:lnTo>
                  <a:lnTo>
                    <a:pt x="1987" y="818"/>
                  </a:lnTo>
                  <a:lnTo>
                    <a:pt x="1984" y="815"/>
                  </a:lnTo>
                  <a:lnTo>
                    <a:pt x="1984" y="812"/>
                  </a:lnTo>
                  <a:lnTo>
                    <a:pt x="1992" y="807"/>
                  </a:lnTo>
                  <a:lnTo>
                    <a:pt x="2015" y="801"/>
                  </a:lnTo>
                  <a:lnTo>
                    <a:pt x="2035" y="800"/>
                  </a:lnTo>
                  <a:lnTo>
                    <a:pt x="2065" y="799"/>
                  </a:lnTo>
                  <a:lnTo>
                    <a:pt x="2109" y="788"/>
                  </a:lnTo>
                  <a:lnTo>
                    <a:pt x="2131" y="772"/>
                  </a:lnTo>
                  <a:lnTo>
                    <a:pt x="2141" y="756"/>
                  </a:lnTo>
                  <a:lnTo>
                    <a:pt x="2149" y="727"/>
                  </a:lnTo>
                  <a:lnTo>
                    <a:pt x="2150" y="702"/>
                  </a:lnTo>
                  <a:lnTo>
                    <a:pt x="2151" y="676"/>
                  </a:lnTo>
                  <a:lnTo>
                    <a:pt x="2157" y="635"/>
                  </a:lnTo>
                  <a:lnTo>
                    <a:pt x="2162" y="627"/>
                  </a:lnTo>
                  <a:lnTo>
                    <a:pt x="2180" y="622"/>
                  </a:lnTo>
                  <a:lnTo>
                    <a:pt x="2312" y="618"/>
                  </a:lnTo>
                  <a:lnTo>
                    <a:pt x="2404" y="620"/>
                  </a:lnTo>
                  <a:lnTo>
                    <a:pt x="2471" y="621"/>
                  </a:lnTo>
                  <a:lnTo>
                    <a:pt x="2565" y="626"/>
                  </a:lnTo>
                  <a:lnTo>
                    <a:pt x="2621" y="634"/>
                  </a:lnTo>
                  <a:lnTo>
                    <a:pt x="2652" y="646"/>
                  </a:lnTo>
                  <a:lnTo>
                    <a:pt x="2662" y="655"/>
                  </a:lnTo>
                  <a:close/>
                  <a:moveTo>
                    <a:pt x="1850" y="900"/>
                  </a:moveTo>
                  <a:lnTo>
                    <a:pt x="1850" y="1000"/>
                  </a:lnTo>
                  <a:lnTo>
                    <a:pt x="1415" y="997"/>
                  </a:lnTo>
                  <a:lnTo>
                    <a:pt x="980" y="992"/>
                  </a:lnTo>
                  <a:lnTo>
                    <a:pt x="977" y="895"/>
                  </a:lnTo>
                  <a:lnTo>
                    <a:pt x="975" y="800"/>
                  </a:lnTo>
                  <a:lnTo>
                    <a:pt x="1414" y="800"/>
                  </a:lnTo>
                  <a:lnTo>
                    <a:pt x="1850" y="800"/>
                  </a:lnTo>
                  <a:lnTo>
                    <a:pt x="1850" y="900"/>
                  </a:lnTo>
                  <a:close/>
                  <a:moveTo>
                    <a:pt x="850" y="1012"/>
                  </a:moveTo>
                  <a:lnTo>
                    <a:pt x="851" y="1033"/>
                  </a:lnTo>
                  <a:lnTo>
                    <a:pt x="857" y="1067"/>
                  </a:lnTo>
                  <a:lnTo>
                    <a:pt x="873" y="1092"/>
                  </a:lnTo>
                  <a:lnTo>
                    <a:pt x="907" y="1110"/>
                  </a:lnTo>
                  <a:lnTo>
                    <a:pt x="963" y="1122"/>
                  </a:lnTo>
                  <a:lnTo>
                    <a:pt x="1048" y="1129"/>
                  </a:lnTo>
                  <a:lnTo>
                    <a:pt x="1236" y="1133"/>
                  </a:lnTo>
                  <a:lnTo>
                    <a:pt x="1425" y="1133"/>
                  </a:lnTo>
                  <a:lnTo>
                    <a:pt x="1902" y="1133"/>
                  </a:lnTo>
                  <a:lnTo>
                    <a:pt x="1942" y="1092"/>
                  </a:lnTo>
                  <a:lnTo>
                    <a:pt x="1959" y="1073"/>
                  </a:lnTo>
                  <a:lnTo>
                    <a:pt x="1981" y="1028"/>
                  </a:lnTo>
                  <a:lnTo>
                    <a:pt x="1984" y="1008"/>
                  </a:lnTo>
                  <a:lnTo>
                    <a:pt x="1984" y="965"/>
                  </a:lnTo>
                  <a:lnTo>
                    <a:pt x="2205" y="970"/>
                  </a:lnTo>
                  <a:lnTo>
                    <a:pt x="2425" y="975"/>
                  </a:lnTo>
                  <a:lnTo>
                    <a:pt x="2430" y="1238"/>
                  </a:lnTo>
                  <a:lnTo>
                    <a:pt x="2432" y="1372"/>
                  </a:lnTo>
                  <a:lnTo>
                    <a:pt x="2427" y="1474"/>
                  </a:lnTo>
                  <a:lnTo>
                    <a:pt x="2419" y="1503"/>
                  </a:lnTo>
                  <a:lnTo>
                    <a:pt x="2414" y="1507"/>
                  </a:lnTo>
                  <a:lnTo>
                    <a:pt x="2374" y="1518"/>
                  </a:lnTo>
                  <a:lnTo>
                    <a:pt x="2292" y="1543"/>
                  </a:lnTo>
                  <a:lnTo>
                    <a:pt x="2260" y="1553"/>
                  </a:lnTo>
                  <a:lnTo>
                    <a:pt x="2179" y="1566"/>
                  </a:lnTo>
                  <a:lnTo>
                    <a:pt x="2046" y="1575"/>
                  </a:lnTo>
                  <a:lnTo>
                    <a:pt x="1830" y="1581"/>
                  </a:lnTo>
                  <a:lnTo>
                    <a:pt x="1675" y="1583"/>
                  </a:lnTo>
                  <a:lnTo>
                    <a:pt x="1159" y="1592"/>
                  </a:lnTo>
                  <a:lnTo>
                    <a:pt x="1159" y="1642"/>
                  </a:lnTo>
                  <a:lnTo>
                    <a:pt x="1159" y="1692"/>
                  </a:lnTo>
                  <a:lnTo>
                    <a:pt x="1525" y="1700"/>
                  </a:lnTo>
                  <a:lnTo>
                    <a:pt x="1892" y="1708"/>
                  </a:lnTo>
                  <a:lnTo>
                    <a:pt x="1697" y="1822"/>
                  </a:lnTo>
                  <a:lnTo>
                    <a:pt x="1500" y="1937"/>
                  </a:lnTo>
                  <a:lnTo>
                    <a:pt x="1500" y="2017"/>
                  </a:lnTo>
                  <a:lnTo>
                    <a:pt x="1500" y="2098"/>
                  </a:lnTo>
                  <a:lnTo>
                    <a:pt x="1330" y="2103"/>
                  </a:lnTo>
                  <a:lnTo>
                    <a:pt x="1272" y="2105"/>
                  </a:lnTo>
                  <a:lnTo>
                    <a:pt x="1200" y="2109"/>
                  </a:lnTo>
                  <a:lnTo>
                    <a:pt x="1166" y="2118"/>
                  </a:lnTo>
                  <a:lnTo>
                    <a:pt x="1155" y="2135"/>
                  </a:lnTo>
                  <a:lnTo>
                    <a:pt x="1154" y="2148"/>
                  </a:lnTo>
                  <a:lnTo>
                    <a:pt x="1152" y="2160"/>
                  </a:lnTo>
                  <a:lnTo>
                    <a:pt x="1154" y="2180"/>
                  </a:lnTo>
                  <a:lnTo>
                    <a:pt x="1162" y="2197"/>
                  </a:lnTo>
                  <a:lnTo>
                    <a:pt x="1177" y="2210"/>
                  </a:lnTo>
                  <a:lnTo>
                    <a:pt x="1213" y="2224"/>
                  </a:lnTo>
                  <a:lnTo>
                    <a:pt x="1293" y="2233"/>
                  </a:lnTo>
                  <a:lnTo>
                    <a:pt x="1350" y="2233"/>
                  </a:lnTo>
                  <a:lnTo>
                    <a:pt x="1494" y="2233"/>
                  </a:lnTo>
                  <a:lnTo>
                    <a:pt x="1515" y="2378"/>
                  </a:lnTo>
                  <a:lnTo>
                    <a:pt x="1532" y="2502"/>
                  </a:lnTo>
                  <a:lnTo>
                    <a:pt x="1545" y="2570"/>
                  </a:lnTo>
                  <a:lnTo>
                    <a:pt x="1554" y="2617"/>
                  </a:lnTo>
                  <a:lnTo>
                    <a:pt x="1379" y="2617"/>
                  </a:lnTo>
                  <a:lnTo>
                    <a:pt x="1309" y="2617"/>
                  </a:lnTo>
                  <a:lnTo>
                    <a:pt x="1216" y="2621"/>
                  </a:lnTo>
                  <a:lnTo>
                    <a:pt x="1178" y="2629"/>
                  </a:lnTo>
                  <a:lnTo>
                    <a:pt x="1162" y="2638"/>
                  </a:lnTo>
                  <a:lnTo>
                    <a:pt x="1154" y="2649"/>
                  </a:lnTo>
                  <a:lnTo>
                    <a:pt x="1151" y="2664"/>
                  </a:lnTo>
                  <a:lnTo>
                    <a:pt x="1150" y="2673"/>
                  </a:lnTo>
                  <a:lnTo>
                    <a:pt x="1151" y="2686"/>
                  </a:lnTo>
                  <a:lnTo>
                    <a:pt x="1154" y="2706"/>
                  </a:lnTo>
                  <a:lnTo>
                    <a:pt x="1163" y="2722"/>
                  </a:lnTo>
                  <a:lnTo>
                    <a:pt x="1179" y="2733"/>
                  </a:lnTo>
                  <a:lnTo>
                    <a:pt x="1220" y="2744"/>
                  </a:lnTo>
                  <a:lnTo>
                    <a:pt x="1318" y="2750"/>
                  </a:lnTo>
                  <a:lnTo>
                    <a:pt x="1392" y="2750"/>
                  </a:lnTo>
                  <a:lnTo>
                    <a:pt x="1594" y="2750"/>
                  </a:lnTo>
                  <a:lnTo>
                    <a:pt x="1624" y="2842"/>
                  </a:lnTo>
                  <a:lnTo>
                    <a:pt x="1641" y="2891"/>
                  </a:lnTo>
                  <a:lnTo>
                    <a:pt x="1698" y="3024"/>
                  </a:lnTo>
                  <a:lnTo>
                    <a:pt x="1771" y="3169"/>
                  </a:lnTo>
                  <a:lnTo>
                    <a:pt x="1844" y="3296"/>
                  </a:lnTo>
                  <a:lnTo>
                    <a:pt x="1874" y="3342"/>
                  </a:lnTo>
                  <a:lnTo>
                    <a:pt x="1934" y="3425"/>
                  </a:lnTo>
                  <a:lnTo>
                    <a:pt x="1372" y="3430"/>
                  </a:lnTo>
                  <a:lnTo>
                    <a:pt x="1145" y="3431"/>
                  </a:lnTo>
                  <a:lnTo>
                    <a:pt x="828" y="3428"/>
                  </a:lnTo>
                  <a:lnTo>
                    <a:pt x="789" y="3425"/>
                  </a:lnTo>
                  <a:lnTo>
                    <a:pt x="783" y="3422"/>
                  </a:lnTo>
                  <a:lnTo>
                    <a:pt x="775" y="3402"/>
                  </a:lnTo>
                  <a:lnTo>
                    <a:pt x="768" y="3343"/>
                  </a:lnTo>
                  <a:lnTo>
                    <a:pt x="767" y="3275"/>
                  </a:lnTo>
                  <a:lnTo>
                    <a:pt x="767" y="3229"/>
                  </a:lnTo>
                  <a:lnTo>
                    <a:pt x="764" y="3168"/>
                  </a:lnTo>
                  <a:lnTo>
                    <a:pt x="754" y="3129"/>
                  </a:lnTo>
                  <a:lnTo>
                    <a:pt x="734" y="3098"/>
                  </a:lnTo>
                  <a:lnTo>
                    <a:pt x="719" y="3080"/>
                  </a:lnTo>
                  <a:lnTo>
                    <a:pt x="702" y="3062"/>
                  </a:lnTo>
                  <a:lnTo>
                    <a:pt x="674" y="3038"/>
                  </a:lnTo>
                  <a:lnTo>
                    <a:pt x="636" y="3026"/>
                  </a:lnTo>
                  <a:lnTo>
                    <a:pt x="574" y="3021"/>
                  </a:lnTo>
                  <a:lnTo>
                    <a:pt x="527" y="3018"/>
                  </a:lnTo>
                  <a:lnTo>
                    <a:pt x="384" y="3013"/>
                  </a:lnTo>
                  <a:lnTo>
                    <a:pt x="384" y="2010"/>
                  </a:lnTo>
                  <a:lnTo>
                    <a:pt x="384" y="1505"/>
                  </a:lnTo>
                  <a:lnTo>
                    <a:pt x="391" y="1112"/>
                  </a:lnTo>
                  <a:lnTo>
                    <a:pt x="396" y="1021"/>
                  </a:lnTo>
                  <a:lnTo>
                    <a:pt x="401" y="991"/>
                  </a:lnTo>
                  <a:lnTo>
                    <a:pt x="404" y="987"/>
                  </a:lnTo>
                  <a:lnTo>
                    <a:pt x="411" y="982"/>
                  </a:lnTo>
                  <a:lnTo>
                    <a:pt x="445" y="974"/>
                  </a:lnTo>
                  <a:lnTo>
                    <a:pt x="538" y="967"/>
                  </a:lnTo>
                  <a:lnTo>
                    <a:pt x="637" y="967"/>
                  </a:lnTo>
                  <a:lnTo>
                    <a:pt x="850" y="967"/>
                  </a:lnTo>
                  <a:lnTo>
                    <a:pt x="850" y="1012"/>
                  </a:lnTo>
                  <a:close/>
                  <a:moveTo>
                    <a:pt x="3102" y="1648"/>
                  </a:moveTo>
                  <a:lnTo>
                    <a:pt x="3167" y="1666"/>
                  </a:lnTo>
                  <a:lnTo>
                    <a:pt x="3299" y="1712"/>
                  </a:lnTo>
                  <a:lnTo>
                    <a:pt x="3436" y="1772"/>
                  </a:lnTo>
                  <a:lnTo>
                    <a:pt x="3585" y="1851"/>
                  </a:lnTo>
                  <a:lnTo>
                    <a:pt x="3667" y="1898"/>
                  </a:lnTo>
                  <a:lnTo>
                    <a:pt x="3859" y="2010"/>
                  </a:lnTo>
                  <a:lnTo>
                    <a:pt x="3857" y="2167"/>
                  </a:lnTo>
                  <a:lnTo>
                    <a:pt x="3855" y="2239"/>
                  </a:lnTo>
                  <a:lnTo>
                    <a:pt x="3842" y="2384"/>
                  </a:lnTo>
                  <a:lnTo>
                    <a:pt x="3818" y="2528"/>
                  </a:lnTo>
                  <a:lnTo>
                    <a:pt x="3783" y="2670"/>
                  </a:lnTo>
                  <a:lnTo>
                    <a:pt x="3737" y="2811"/>
                  </a:lnTo>
                  <a:lnTo>
                    <a:pt x="3681" y="2949"/>
                  </a:lnTo>
                  <a:lnTo>
                    <a:pt x="3615" y="3085"/>
                  </a:lnTo>
                  <a:lnTo>
                    <a:pt x="3538" y="3218"/>
                  </a:lnTo>
                  <a:lnTo>
                    <a:pt x="3495" y="3283"/>
                  </a:lnTo>
                  <a:lnTo>
                    <a:pt x="3465" y="3327"/>
                  </a:lnTo>
                  <a:lnTo>
                    <a:pt x="3395" y="3416"/>
                  </a:lnTo>
                  <a:lnTo>
                    <a:pt x="3316" y="3505"/>
                  </a:lnTo>
                  <a:lnTo>
                    <a:pt x="3230" y="3593"/>
                  </a:lnTo>
                  <a:lnTo>
                    <a:pt x="3139" y="3677"/>
                  </a:lnTo>
                  <a:lnTo>
                    <a:pt x="3044" y="3756"/>
                  </a:lnTo>
                  <a:lnTo>
                    <a:pt x="2949" y="3828"/>
                  </a:lnTo>
                  <a:lnTo>
                    <a:pt x="2855" y="3890"/>
                  </a:lnTo>
                  <a:lnTo>
                    <a:pt x="2809" y="3917"/>
                  </a:lnTo>
                  <a:lnTo>
                    <a:pt x="2742" y="3955"/>
                  </a:lnTo>
                  <a:lnTo>
                    <a:pt x="2650" y="3898"/>
                  </a:lnTo>
                  <a:lnTo>
                    <a:pt x="2584" y="3857"/>
                  </a:lnTo>
                  <a:lnTo>
                    <a:pt x="2459" y="3769"/>
                  </a:lnTo>
                  <a:lnTo>
                    <a:pt x="2341" y="3674"/>
                  </a:lnTo>
                  <a:lnTo>
                    <a:pt x="2232" y="3571"/>
                  </a:lnTo>
                  <a:lnTo>
                    <a:pt x="2130" y="3462"/>
                  </a:lnTo>
                  <a:lnTo>
                    <a:pt x="2037" y="3346"/>
                  </a:lnTo>
                  <a:lnTo>
                    <a:pt x="1953" y="3224"/>
                  </a:lnTo>
                  <a:lnTo>
                    <a:pt x="1878" y="3095"/>
                  </a:lnTo>
                  <a:lnTo>
                    <a:pt x="1844" y="3028"/>
                  </a:lnTo>
                  <a:lnTo>
                    <a:pt x="1819" y="2978"/>
                  </a:lnTo>
                  <a:lnTo>
                    <a:pt x="1776" y="2879"/>
                  </a:lnTo>
                  <a:lnTo>
                    <a:pt x="1739" y="2779"/>
                  </a:lnTo>
                  <a:lnTo>
                    <a:pt x="1707" y="2679"/>
                  </a:lnTo>
                  <a:lnTo>
                    <a:pt x="1680" y="2576"/>
                  </a:lnTo>
                  <a:lnTo>
                    <a:pt x="1659" y="2469"/>
                  </a:lnTo>
                  <a:lnTo>
                    <a:pt x="1642" y="2358"/>
                  </a:lnTo>
                  <a:lnTo>
                    <a:pt x="1630" y="2241"/>
                  </a:lnTo>
                  <a:lnTo>
                    <a:pt x="1625" y="2180"/>
                  </a:lnTo>
                  <a:lnTo>
                    <a:pt x="1614" y="2020"/>
                  </a:lnTo>
                  <a:lnTo>
                    <a:pt x="1787" y="1917"/>
                  </a:lnTo>
                  <a:lnTo>
                    <a:pt x="1898" y="1852"/>
                  </a:lnTo>
                  <a:lnTo>
                    <a:pt x="2095" y="1751"/>
                  </a:lnTo>
                  <a:lnTo>
                    <a:pt x="2229" y="1696"/>
                  </a:lnTo>
                  <a:lnTo>
                    <a:pt x="2314" y="1666"/>
                  </a:lnTo>
                  <a:lnTo>
                    <a:pt x="2399" y="1642"/>
                  </a:lnTo>
                  <a:lnTo>
                    <a:pt x="2483" y="1624"/>
                  </a:lnTo>
                  <a:lnTo>
                    <a:pt x="2525" y="1617"/>
                  </a:lnTo>
                  <a:lnTo>
                    <a:pt x="2584" y="1610"/>
                  </a:lnTo>
                  <a:lnTo>
                    <a:pt x="2732" y="1607"/>
                  </a:lnTo>
                  <a:lnTo>
                    <a:pt x="2894" y="1615"/>
                  </a:lnTo>
                  <a:lnTo>
                    <a:pt x="3043" y="1635"/>
                  </a:lnTo>
                  <a:lnTo>
                    <a:pt x="3102" y="1648"/>
                  </a:lnTo>
                  <a:close/>
                  <a:moveTo>
                    <a:pt x="630" y="3170"/>
                  </a:moveTo>
                  <a:lnTo>
                    <a:pt x="638" y="3182"/>
                  </a:lnTo>
                  <a:lnTo>
                    <a:pt x="648" y="3227"/>
                  </a:lnTo>
                  <a:lnTo>
                    <a:pt x="650" y="3279"/>
                  </a:lnTo>
                  <a:lnTo>
                    <a:pt x="646" y="3306"/>
                  </a:lnTo>
                  <a:lnTo>
                    <a:pt x="641" y="3314"/>
                  </a:lnTo>
                  <a:lnTo>
                    <a:pt x="637" y="3313"/>
                  </a:lnTo>
                  <a:lnTo>
                    <a:pt x="611" y="3292"/>
                  </a:lnTo>
                  <a:lnTo>
                    <a:pt x="552" y="3228"/>
                  </a:lnTo>
                  <a:lnTo>
                    <a:pt x="479" y="3150"/>
                  </a:lnTo>
                  <a:lnTo>
                    <a:pt x="545" y="3150"/>
                  </a:lnTo>
                  <a:lnTo>
                    <a:pt x="572" y="3151"/>
                  </a:lnTo>
                  <a:lnTo>
                    <a:pt x="618" y="3162"/>
                  </a:lnTo>
                  <a:lnTo>
                    <a:pt x="630" y="3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1" name="Freeform 9">
              <a:extLst>
                <a:ext uri="{FF2B5EF4-FFF2-40B4-BE49-F238E27FC236}">
                  <a16:creationId xmlns:a16="http://schemas.microsoft.com/office/drawing/2014/main" id="{726536C5-35C9-4E1E-6F24-62DEF22109DF}"/>
                </a:ext>
              </a:extLst>
            </p:cNvPr>
            <p:cNvSpPr>
              <a:spLocks/>
            </p:cNvSpPr>
            <p:nvPr/>
          </p:nvSpPr>
          <p:spPr bwMode="auto">
            <a:xfrm>
              <a:off x="4057637" y="1899264"/>
              <a:ext cx="75971" cy="56435"/>
            </a:xfrm>
            <a:custGeom>
              <a:avLst/>
              <a:gdLst>
                <a:gd name="T0" fmla="*/ 289 w 424"/>
                <a:gd name="T1" fmla="*/ 41 h 314"/>
                <a:gd name="T2" fmla="*/ 247 w 424"/>
                <a:gd name="T3" fmla="*/ 81 h 314"/>
                <a:gd name="T4" fmla="*/ 202 w 424"/>
                <a:gd name="T5" fmla="*/ 117 h 314"/>
                <a:gd name="T6" fmla="*/ 155 w 424"/>
                <a:gd name="T7" fmla="*/ 151 h 314"/>
                <a:gd name="T8" fmla="*/ 122 w 424"/>
                <a:gd name="T9" fmla="*/ 107 h 314"/>
                <a:gd name="T10" fmla="*/ 107 w 424"/>
                <a:gd name="T11" fmla="*/ 89 h 314"/>
                <a:gd name="T12" fmla="*/ 75 w 424"/>
                <a:gd name="T13" fmla="*/ 68 h 314"/>
                <a:gd name="T14" fmla="*/ 51 w 424"/>
                <a:gd name="T15" fmla="*/ 65 h 314"/>
                <a:gd name="T16" fmla="*/ 37 w 424"/>
                <a:gd name="T17" fmla="*/ 68 h 314"/>
                <a:gd name="T18" fmla="*/ 17 w 424"/>
                <a:gd name="T19" fmla="*/ 81 h 314"/>
                <a:gd name="T20" fmla="*/ 7 w 424"/>
                <a:gd name="T21" fmla="*/ 97 h 314"/>
                <a:gd name="T22" fmla="*/ 2 w 424"/>
                <a:gd name="T23" fmla="*/ 107 h 314"/>
                <a:gd name="T24" fmla="*/ 0 w 424"/>
                <a:gd name="T25" fmla="*/ 129 h 314"/>
                <a:gd name="T26" fmla="*/ 10 w 424"/>
                <a:gd name="T27" fmla="*/ 156 h 314"/>
                <a:gd name="T28" fmla="*/ 33 w 424"/>
                <a:gd name="T29" fmla="*/ 196 h 314"/>
                <a:gd name="T30" fmla="*/ 50 w 424"/>
                <a:gd name="T31" fmla="*/ 222 h 314"/>
                <a:gd name="T32" fmla="*/ 79 w 424"/>
                <a:gd name="T33" fmla="*/ 264 h 314"/>
                <a:gd name="T34" fmla="*/ 116 w 424"/>
                <a:gd name="T35" fmla="*/ 301 h 314"/>
                <a:gd name="T36" fmla="*/ 137 w 424"/>
                <a:gd name="T37" fmla="*/ 313 h 314"/>
                <a:gd name="T38" fmla="*/ 145 w 424"/>
                <a:gd name="T39" fmla="*/ 314 h 314"/>
                <a:gd name="T40" fmla="*/ 155 w 424"/>
                <a:gd name="T41" fmla="*/ 312 h 314"/>
                <a:gd name="T42" fmla="*/ 186 w 424"/>
                <a:gd name="T43" fmla="*/ 295 h 314"/>
                <a:gd name="T44" fmla="*/ 251 w 424"/>
                <a:gd name="T45" fmla="*/ 247 h 314"/>
                <a:gd name="T46" fmla="*/ 348 w 424"/>
                <a:gd name="T47" fmla="*/ 161 h 314"/>
                <a:gd name="T48" fmla="*/ 402 w 424"/>
                <a:gd name="T49" fmla="*/ 102 h 314"/>
                <a:gd name="T50" fmla="*/ 422 w 424"/>
                <a:gd name="T51" fmla="*/ 74 h 314"/>
                <a:gd name="T52" fmla="*/ 424 w 424"/>
                <a:gd name="T53" fmla="*/ 66 h 314"/>
                <a:gd name="T54" fmla="*/ 423 w 424"/>
                <a:gd name="T55" fmla="*/ 52 h 314"/>
                <a:gd name="T56" fmla="*/ 417 w 424"/>
                <a:gd name="T57" fmla="*/ 30 h 314"/>
                <a:gd name="T58" fmla="*/ 405 w 424"/>
                <a:gd name="T59" fmla="*/ 14 h 314"/>
                <a:gd name="T60" fmla="*/ 388 w 424"/>
                <a:gd name="T61" fmla="*/ 4 h 314"/>
                <a:gd name="T62" fmla="*/ 369 w 424"/>
                <a:gd name="T63" fmla="*/ 0 h 314"/>
                <a:gd name="T64" fmla="*/ 347 w 424"/>
                <a:gd name="T65" fmla="*/ 3 h 314"/>
                <a:gd name="T66" fmla="*/ 323 w 424"/>
                <a:gd name="T67" fmla="*/ 13 h 314"/>
                <a:gd name="T68" fmla="*/ 300 w 424"/>
                <a:gd name="T69" fmla="*/ 29 h 314"/>
                <a:gd name="T70" fmla="*/ 289 w 424"/>
                <a:gd name="T71" fmla="*/ 41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314">
                  <a:moveTo>
                    <a:pt x="289" y="41"/>
                  </a:moveTo>
                  <a:lnTo>
                    <a:pt x="247" y="81"/>
                  </a:lnTo>
                  <a:lnTo>
                    <a:pt x="202" y="117"/>
                  </a:lnTo>
                  <a:lnTo>
                    <a:pt x="155" y="151"/>
                  </a:lnTo>
                  <a:lnTo>
                    <a:pt x="122" y="107"/>
                  </a:lnTo>
                  <a:lnTo>
                    <a:pt x="107" y="89"/>
                  </a:lnTo>
                  <a:lnTo>
                    <a:pt x="75" y="68"/>
                  </a:lnTo>
                  <a:lnTo>
                    <a:pt x="51" y="65"/>
                  </a:lnTo>
                  <a:lnTo>
                    <a:pt x="37" y="68"/>
                  </a:lnTo>
                  <a:lnTo>
                    <a:pt x="17" y="81"/>
                  </a:lnTo>
                  <a:lnTo>
                    <a:pt x="7" y="97"/>
                  </a:lnTo>
                  <a:lnTo>
                    <a:pt x="2" y="107"/>
                  </a:lnTo>
                  <a:lnTo>
                    <a:pt x="0" y="129"/>
                  </a:lnTo>
                  <a:lnTo>
                    <a:pt x="10" y="156"/>
                  </a:lnTo>
                  <a:lnTo>
                    <a:pt x="33" y="196"/>
                  </a:lnTo>
                  <a:lnTo>
                    <a:pt x="50" y="222"/>
                  </a:lnTo>
                  <a:lnTo>
                    <a:pt x="79" y="264"/>
                  </a:lnTo>
                  <a:lnTo>
                    <a:pt x="116" y="301"/>
                  </a:lnTo>
                  <a:lnTo>
                    <a:pt x="137" y="313"/>
                  </a:lnTo>
                  <a:lnTo>
                    <a:pt x="145" y="314"/>
                  </a:lnTo>
                  <a:lnTo>
                    <a:pt x="155" y="312"/>
                  </a:lnTo>
                  <a:lnTo>
                    <a:pt x="186" y="295"/>
                  </a:lnTo>
                  <a:lnTo>
                    <a:pt x="251" y="247"/>
                  </a:lnTo>
                  <a:lnTo>
                    <a:pt x="348" y="161"/>
                  </a:lnTo>
                  <a:lnTo>
                    <a:pt x="402" y="102"/>
                  </a:lnTo>
                  <a:lnTo>
                    <a:pt x="422" y="74"/>
                  </a:lnTo>
                  <a:lnTo>
                    <a:pt x="424" y="66"/>
                  </a:lnTo>
                  <a:lnTo>
                    <a:pt x="423" y="52"/>
                  </a:lnTo>
                  <a:lnTo>
                    <a:pt x="417" y="30"/>
                  </a:lnTo>
                  <a:lnTo>
                    <a:pt x="405" y="14"/>
                  </a:lnTo>
                  <a:lnTo>
                    <a:pt x="388" y="4"/>
                  </a:lnTo>
                  <a:lnTo>
                    <a:pt x="369" y="0"/>
                  </a:lnTo>
                  <a:lnTo>
                    <a:pt x="347" y="3"/>
                  </a:lnTo>
                  <a:lnTo>
                    <a:pt x="323" y="13"/>
                  </a:lnTo>
                  <a:lnTo>
                    <a:pt x="300" y="29"/>
                  </a:lnTo>
                  <a:lnTo>
                    <a:pt x="289"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2" name="Freeform 10">
              <a:extLst>
                <a:ext uri="{FF2B5EF4-FFF2-40B4-BE49-F238E27FC236}">
                  <a16:creationId xmlns:a16="http://schemas.microsoft.com/office/drawing/2014/main" id="{B2EC9E11-5296-676F-368F-6ED725D86C0A}"/>
                </a:ext>
              </a:extLst>
            </p:cNvPr>
            <p:cNvSpPr>
              <a:spLocks/>
            </p:cNvSpPr>
            <p:nvPr/>
          </p:nvSpPr>
          <p:spPr bwMode="auto">
            <a:xfrm>
              <a:off x="4058361" y="1899264"/>
              <a:ext cx="75247" cy="58606"/>
            </a:xfrm>
            <a:custGeom>
              <a:avLst/>
              <a:gdLst>
                <a:gd name="T0" fmla="*/ 248 w 423"/>
                <a:gd name="T1" fmla="*/ 83 h 326"/>
                <a:gd name="T2" fmla="*/ 166 w 423"/>
                <a:gd name="T3" fmla="*/ 167 h 326"/>
                <a:gd name="T4" fmla="*/ 123 w 423"/>
                <a:gd name="T5" fmla="*/ 113 h 326"/>
                <a:gd name="T6" fmla="*/ 111 w 423"/>
                <a:gd name="T7" fmla="*/ 100 h 326"/>
                <a:gd name="T8" fmla="*/ 90 w 423"/>
                <a:gd name="T9" fmla="*/ 81 h 326"/>
                <a:gd name="T10" fmla="*/ 72 w 423"/>
                <a:gd name="T11" fmla="*/ 72 h 326"/>
                <a:gd name="T12" fmla="*/ 54 w 423"/>
                <a:gd name="T13" fmla="*/ 71 h 326"/>
                <a:gd name="T14" fmla="*/ 44 w 423"/>
                <a:gd name="T15" fmla="*/ 73 h 326"/>
                <a:gd name="T16" fmla="*/ 24 w 423"/>
                <a:gd name="T17" fmla="*/ 81 h 326"/>
                <a:gd name="T18" fmla="*/ 6 w 423"/>
                <a:gd name="T19" fmla="*/ 98 h 326"/>
                <a:gd name="T20" fmla="*/ 0 w 423"/>
                <a:gd name="T21" fmla="*/ 112 h 326"/>
                <a:gd name="T22" fmla="*/ 0 w 423"/>
                <a:gd name="T23" fmla="*/ 139 h 326"/>
                <a:gd name="T24" fmla="*/ 20 w 423"/>
                <a:gd name="T25" fmla="*/ 187 h 326"/>
                <a:gd name="T26" fmla="*/ 39 w 423"/>
                <a:gd name="T27" fmla="*/ 218 h 326"/>
                <a:gd name="T28" fmla="*/ 64 w 423"/>
                <a:gd name="T29" fmla="*/ 257 h 326"/>
                <a:gd name="T30" fmla="*/ 102 w 423"/>
                <a:gd name="T31" fmla="*/ 305 h 326"/>
                <a:gd name="T32" fmla="*/ 124 w 423"/>
                <a:gd name="T33" fmla="*/ 322 h 326"/>
                <a:gd name="T34" fmla="*/ 137 w 423"/>
                <a:gd name="T35" fmla="*/ 326 h 326"/>
                <a:gd name="T36" fmla="*/ 159 w 423"/>
                <a:gd name="T37" fmla="*/ 323 h 326"/>
                <a:gd name="T38" fmla="*/ 176 w 423"/>
                <a:gd name="T39" fmla="*/ 315 h 326"/>
                <a:gd name="T40" fmla="*/ 203 w 423"/>
                <a:gd name="T41" fmla="*/ 298 h 326"/>
                <a:gd name="T42" fmla="*/ 282 w 423"/>
                <a:gd name="T43" fmla="*/ 230 h 326"/>
                <a:gd name="T44" fmla="*/ 362 w 423"/>
                <a:gd name="T45" fmla="*/ 149 h 326"/>
                <a:gd name="T46" fmla="*/ 406 w 423"/>
                <a:gd name="T47" fmla="*/ 97 h 326"/>
                <a:gd name="T48" fmla="*/ 421 w 423"/>
                <a:gd name="T49" fmla="*/ 74 h 326"/>
                <a:gd name="T50" fmla="*/ 423 w 423"/>
                <a:gd name="T51" fmla="*/ 67 h 326"/>
                <a:gd name="T52" fmla="*/ 422 w 423"/>
                <a:gd name="T53" fmla="*/ 54 h 326"/>
                <a:gd name="T54" fmla="*/ 411 w 423"/>
                <a:gd name="T55" fmla="*/ 31 h 326"/>
                <a:gd name="T56" fmla="*/ 393 w 423"/>
                <a:gd name="T57" fmla="*/ 12 h 326"/>
                <a:gd name="T58" fmla="*/ 369 w 423"/>
                <a:gd name="T59" fmla="*/ 1 h 326"/>
                <a:gd name="T60" fmla="*/ 356 w 423"/>
                <a:gd name="T61" fmla="*/ 0 h 326"/>
                <a:gd name="T62" fmla="*/ 349 w 423"/>
                <a:gd name="T63" fmla="*/ 1 h 326"/>
                <a:gd name="T64" fmla="*/ 327 w 423"/>
                <a:gd name="T65" fmla="*/ 14 h 326"/>
                <a:gd name="T66" fmla="*/ 282 w 423"/>
                <a:gd name="T67" fmla="*/ 50 h 326"/>
                <a:gd name="T68" fmla="*/ 248 w 423"/>
                <a:gd name="T69" fmla="*/ 83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3" h="326">
                  <a:moveTo>
                    <a:pt x="248" y="83"/>
                  </a:moveTo>
                  <a:lnTo>
                    <a:pt x="166" y="167"/>
                  </a:lnTo>
                  <a:lnTo>
                    <a:pt x="123" y="113"/>
                  </a:lnTo>
                  <a:lnTo>
                    <a:pt x="111" y="100"/>
                  </a:lnTo>
                  <a:lnTo>
                    <a:pt x="90" y="81"/>
                  </a:lnTo>
                  <a:lnTo>
                    <a:pt x="72" y="72"/>
                  </a:lnTo>
                  <a:lnTo>
                    <a:pt x="54" y="71"/>
                  </a:lnTo>
                  <a:lnTo>
                    <a:pt x="44" y="73"/>
                  </a:lnTo>
                  <a:lnTo>
                    <a:pt x="24" y="81"/>
                  </a:lnTo>
                  <a:lnTo>
                    <a:pt x="6" y="98"/>
                  </a:lnTo>
                  <a:lnTo>
                    <a:pt x="0" y="112"/>
                  </a:lnTo>
                  <a:lnTo>
                    <a:pt x="0" y="139"/>
                  </a:lnTo>
                  <a:lnTo>
                    <a:pt x="20" y="187"/>
                  </a:lnTo>
                  <a:lnTo>
                    <a:pt x="39" y="218"/>
                  </a:lnTo>
                  <a:lnTo>
                    <a:pt x="64" y="257"/>
                  </a:lnTo>
                  <a:lnTo>
                    <a:pt x="102" y="305"/>
                  </a:lnTo>
                  <a:lnTo>
                    <a:pt x="124" y="322"/>
                  </a:lnTo>
                  <a:lnTo>
                    <a:pt x="137" y="326"/>
                  </a:lnTo>
                  <a:lnTo>
                    <a:pt x="159" y="323"/>
                  </a:lnTo>
                  <a:lnTo>
                    <a:pt x="176" y="315"/>
                  </a:lnTo>
                  <a:lnTo>
                    <a:pt x="203" y="298"/>
                  </a:lnTo>
                  <a:lnTo>
                    <a:pt x="282" y="230"/>
                  </a:lnTo>
                  <a:lnTo>
                    <a:pt x="362" y="149"/>
                  </a:lnTo>
                  <a:lnTo>
                    <a:pt x="406" y="97"/>
                  </a:lnTo>
                  <a:lnTo>
                    <a:pt x="421" y="74"/>
                  </a:lnTo>
                  <a:lnTo>
                    <a:pt x="423" y="67"/>
                  </a:lnTo>
                  <a:lnTo>
                    <a:pt x="422" y="54"/>
                  </a:lnTo>
                  <a:lnTo>
                    <a:pt x="411" y="31"/>
                  </a:lnTo>
                  <a:lnTo>
                    <a:pt x="393" y="12"/>
                  </a:lnTo>
                  <a:lnTo>
                    <a:pt x="369" y="1"/>
                  </a:lnTo>
                  <a:lnTo>
                    <a:pt x="356" y="0"/>
                  </a:lnTo>
                  <a:lnTo>
                    <a:pt x="349" y="1"/>
                  </a:lnTo>
                  <a:lnTo>
                    <a:pt x="327" y="14"/>
                  </a:lnTo>
                  <a:lnTo>
                    <a:pt x="282" y="50"/>
                  </a:lnTo>
                  <a:lnTo>
                    <a:pt x="248"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3" name="Freeform 11">
              <a:extLst>
                <a:ext uri="{FF2B5EF4-FFF2-40B4-BE49-F238E27FC236}">
                  <a16:creationId xmlns:a16="http://schemas.microsoft.com/office/drawing/2014/main" id="{72BCDC2F-AE29-4D3F-B6B7-5ADCF5EE5943}"/>
                </a:ext>
              </a:extLst>
            </p:cNvPr>
            <p:cNvSpPr>
              <a:spLocks/>
            </p:cNvSpPr>
            <p:nvPr/>
          </p:nvSpPr>
          <p:spPr bwMode="auto">
            <a:xfrm>
              <a:off x="4056914" y="1899264"/>
              <a:ext cx="76694" cy="58606"/>
            </a:xfrm>
            <a:custGeom>
              <a:avLst/>
              <a:gdLst>
                <a:gd name="T0" fmla="*/ 255 w 429"/>
                <a:gd name="T1" fmla="*/ 83 h 330"/>
                <a:gd name="T2" fmla="*/ 167 w 429"/>
                <a:gd name="T3" fmla="*/ 166 h 330"/>
                <a:gd name="T4" fmla="*/ 130 w 429"/>
                <a:gd name="T5" fmla="*/ 116 h 330"/>
                <a:gd name="T6" fmla="*/ 115 w 429"/>
                <a:gd name="T7" fmla="*/ 96 h 330"/>
                <a:gd name="T8" fmla="*/ 88 w 429"/>
                <a:gd name="T9" fmla="*/ 73 h 330"/>
                <a:gd name="T10" fmla="*/ 63 w 429"/>
                <a:gd name="T11" fmla="*/ 69 h 330"/>
                <a:gd name="T12" fmla="*/ 35 w 429"/>
                <a:gd name="T13" fmla="*/ 84 h 330"/>
                <a:gd name="T14" fmla="*/ 20 w 429"/>
                <a:gd name="T15" fmla="*/ 100 h 330"/>
                <a:gd name="T16" fmla="*/ 10 w 429"/>
                <a:gd name="T17" fmla="*/ 111 h 330"/>
                <a:gd name="T18" fmla="*/ 0 w 429"/>
                <a:gd name="T19" fmla="*/ 131 h 330"/>
                <a:gd name="T20" fmla="*/ 7 w 429"/>
                <a:gd name="T21" fmla="*/ 156 h 330"/>
                <a:gd name="T22" fmla="*/ 33 w 429"/>
                <a:gd name="T23" fmla="*/ 197 h 330"/>
                <a:gd name="T24" fmla="*/ 55 w 429"/>
                <a:gd name="T25" fmla="*/ 230 h 330"/>
                <a:gd name="T26" fmla="*/ 83 w 429"/>
                <a:gd name="T27" fmla="*/ 268 h 330"/>
                <a:gd name="T28" fmla="*/ 122 w 429"/>
                <a:gd name="T29" fmla="*/ 311 h 330"/>
                <a:gd name="T30" fmla="*/ 142 w 429"/>
                <a:gd name="T31" fmla="*/ 327 h 330"/>
                <a:gd name="T32" fmla="*/ 149 w 429"/>
                <a:gd name="T33" fmla="*/ 330 h 330"/>
                <a:gd name="T34" fmla="*/ 157 w 429"/>
                <a:gd name="T35" fmla="*/ 329 h 330"/>
                <a:gd name="T36" fmla="*/ 188 w 429"/>
                <a:gd name="T37" fmla="*/ 312 h 330"/>
                <a:gd name="T38" fmla="*/ 253 w 429"/>
                <a:gd name="T39" fmla="*/ 261 h 330"/>
                <a:gd name="T40" fmla="*/ 351 w 429"/>
                <a:gd name="T41" fmla="*/ 168 h 330"/>
                <a:gd name="T42" fmla="*/ 407 w 429"/>
                <a:gd name="T43" fmla="*/ 105 h 330"/>
                <a:gd name="T44" fmla="*/ 427 w 429"/>
                <a:gd name="T45" fmla="*/ 74 h 330"/>
                <a:gd name="T46" fmla="*/ 429 w 429"/>
                <a:gd name="T47" fmla="*/ 65 h 330"/>
                <a:gd name="T48" fmla="*/ 427 w 429"/>
                <a:gd name="T49" fmla="*/ 54 h 330"/>
                <a:gd name="T50" fmla="*/ 413 w 429"/>
                <a:gd name="T51" fmla="*/ 32 h 330"/>
                <a:gd name="T52" fmla="*/ 391 w 429"/>
                <a:gd name="T53" fmla="*/ 13 h 330"/>
                <a:gd name="T54" fmla="*/ 365 w 429"/>
                <a:gd name="T55" fmla="*/ 1 h 330"/>
                <a:gd name="T56" fmla="*/ 354 w 429"/>
                <a:gd name="T57" fmla="*/ 0 h 330"/>
                <a:gd name="T58" fmla="*/ 345 w 429"/>
                <a:gd name="T59" fmla="*/ 4 h 330"/>
                <a:gd name="T60" fmla="*/ 291 w 429"/>
                <a:gd name="T61" fmla="*/ 49 h 330"/>
                <a:gd name="T62" fmla="*/ 255 w 429"/>
                <a:gd name="T63" fmla="*/ 8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9" h="330">
                  <a:moveTo>
                    <a:pt x="255" y="83"/>
                  </a:moveTo>
                  <a:lnTo>
                    <a:pt x="167" y="166"/>
                  </a:lnTo>
                  <a:lnTo>
                    <a:pt x="130" y="116"/>
                  </a:lnTo>
                  <a:lnTo>
                    <a:pt x="115" y="96"/>
                  </a:lnTo>
                  <a:lnTo>
                    <a:pt x="88" y="73"/>
                  </a:lnTo>
                  <a:lnTo>
                    <a:pt x="63" y="69"/>
                  </a:lnTo>
                  <a:lnTo>
                    <a:pt x="35" y="84"/>
                  </a:lnTo>
                  <a:lnTo>
                    <a:pt x="20" y="100"/>
                  </a:lnTo>
                  <a:lnTo>
                    <a:pt x="10" y="111"/>
                  </a:lnTo>
                  <a:lnTo>
                    <a:pt x="0" y="131"/>
                  </a:lnTo>
                  <a:lnTo>
                    <a:pt x="7" y="156"/>
                  </a:lnTo>
                  <a:lnTo>
                    <a:pt x="33" y="197"/>
                  </a:lnTo>
                  <a:lnTo>
                    <a:pt x="55" y="230"/>
                  </a:lnTo>
                  <a:lnTo>
                    <a:pt x="83" y="268"/>
                  </a:lnTo>
                  <a:lnTo>
                    <a:pt x="122" y="311"/>
                  </a:lnTo>
                  <a:lnTo>
                    <a:pt x="142" y="327"/>
                  </a:lnTo>
                  <a:lnTo>
                    <a:pt x="149" y="330"/>
                  </a:lnTo>
                  <a:lnTo>
                    <a:pt x="157" y="329"/>
                  </a:lnTo>
                  <a:lnTo>
                    <a:pt x="188" y="312"/>
                  </a:lnTo>
                  <a:lnTo>
                    <a:pt x="253" y="261"/>
                  </a:lnTo>
                  <a:lnTo>
                    <a:pt x="351" y="168"/>
                  </a:lnTo>
                  <a:lnTo>
                    <a:pt x="407" y="105"/>
                  </a:lnTo>
                  <a:lnTo>
                    <a:pt x="427" y="74"/>
                  </a:lnTo>
                  <a:lnTo>
                    <a:pt x="429" y="65"/>
                  </a:lnTo>
                  <a:lnTo>
                    <a:pt x="427" y="54"/>
                  </a:lnTo>
                  <a:lnTo>
                    <a:pt x="413" y="32"/>
                  </a:lnTo>
                  <a:lnTo>
                    <a:pt x="391" y="13"/>
                  </a:lnTo>
                  <a:lnTo>
                    <a:pt x="365" y="1"/>
                  </a:lnTo>
                  <a:lnTo>
                    <a:pt x="354" y="0"/>
                  </a:lnTo>
                  <a:lnTo>
                    <a:pt x="345" y="4"/>
                  </a:lnTo>
                  <a:lnTo>
                    <a:pt x="291" y="49"/>
                  </a:lnTo>
                  <a:lnTo>
                    <a:pt x="255"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4" name="Freeform 12">
              <a:extLst>
                <a:ext uri="{FF2B5EF4-FFF2-40B4-BE49-F238E27FC236}">
                  <a16:creationId xmlns:a16="http://schemas.microsoft.com/office/drawing/2014/main" id="{5A6718B3-0146-F561-4EC0-FEDE06458F4A}"/>
                </a:ext>
              </a:extLst>
            </p:cNvPr>
            <p:cNvSpPr>
              <a:spLocks noEditPoints="1"/>
            </p:cNvSpPr>
            <p:nvPr/>
          </p:nvSpPr>
          <p:spPr bwMode="auto">
            <a:xfrm>
              <a:off x="4299497" y="2200142"/>
              <a:ext cx="352361" cy="365383"/>
            </a:xfrm>
            <a:custGeom>
              <a:avLst/>
              <a:gdLst>
                <a:gd name="T0" fmla="*/ 762 w 1968"/>
                <a:gd name="T1" fmla="*/ 13 h 2046"/>
                <a:gd name="T2" fmla="*/ 612 w 1968"/>
                <a:gd name="T3" fmla="*/ 47 h 2046"/>
                <a:gd name="T4" fmla="*/ 416 w 1968"/>
                <a:gd name="T5" fmla="*/ 119 h 2046"/>
                <a:gd name="T6" fmla="*/ 130 w 1968"/>
                <a:gd name="T7" fmla="*/ 270 h 2046"/>
                <a:gd name="T8" fmla="*/ 0 w 1968"/>
                <a:gd name="T9" fmla="*/ 446 h 2046"/>
                <a:gd name="T10" fmla="*/ 13 w 1968"/>
                <a:gd name="T11" fmla="*/ 630 h 2046"/>
                <a:gd name="T12" fmla="*/ 72 w 1968"/>
                <a:gd name="T13" fmla="*/ 894 h 2046"/>
                <a:gd name="T14" fmla="*/ 170 w 1968"/>
                <a:gd name="T15" fmla="*/ 1161 h 2046"/>
                <a:gd name="T16" fmla="*/ 301 w 1968"/>
                <a:gd name="T17" fmla="*/ 1410 h 2046"/>
                <a:gd name="T18" fmla="*/ 380 w 1968"/>
                <a:gd name="T19" fmla="*/ 1524 h 2046"/>
                <a:gd name="T20" fmla="*/ 628 w 1968"/>
                <a:gd name="T21" fmla="*/ 1790 h 2046"/>
                <a:gd name="T22" fmla="*/ 828 w 1968"/>
                <a:gd name="T23" fmla="*/ 1956 h 2046"/>
                <a:gd name="T24" fmla="*/ 939 w 1968"/>
                <a:gd name="T25" fmla="*/ 2033 h 2046"/>
                <a:gd name="T26" fmla="*/ 981 w 1968"/>
                <a:gd name="T27" fmla="*/ 2046 h 2046"/>
                <a:gd name="T28" fmla="*/ 1015 w 1968"/>
                <a:gd name="T29" fmla="*/ 2031 h 2046"/>
                <a:gd name="T30" fmla="*/ 1243 w 1968"/>
                <a:gd name="T31" fmla="*/ 1866 h 2046"/>
                <a:gd name="T32" fmla="*/ 1501 w 1968"/>
                <a:gd name="T33" fmla="*/ 1610 h 2046"/>
                <a:gd name="T34" fmla="*/ 1705 w 1968"/>
                <a:gd name="T35" fmla="*/ 1320 h 2046"/>
                <a:gd name="T36" fmla="*/ 1849 w 1968"/>
                <a:gd name="T37" fmla="*/ 1002 h 2046"/>
                <a:gd name="T38" fmla="*/ 1889 w 1968"/>
                <a:gd name="T39" fmla="*/ 865 h 2046"/>
                <a:gd name="T40" fmla="*/ 1933 w 1968"/>
                <a:gd name="T41" fmla="*/ 656 h 2046"/>
                <a:gd name="T42" fmla="*/ 1958 w 1968"/>
                <a:gd name="T43" fmla="*/ 455 h 2046"/>
                <a:gd name="T44" fmla="*/ 1888 w 1968"/>
                <a:gd name="T45" fmla="*/ 308 h 2046"/>
                <a:gd name="T46" fmla="*/ 1662 w 1968"/>
                <a:gd name="T47" fmla="*/ 184 h 2046"/>
                <a:gd name="T48" fmla="*/ 1376 w 1968"/>
                <a:gd name="T49" fmla="*/ 61 h 2046"/>
                <a:gd name="T50" fmla="*/ 1292 w 1968"/>
                <a:gd name="T51" fmla="*/ 36 h 2046"/>
                <a:gd name="T52" fmla="*/ 1102 w 1968"/>
                <a:gd name="T53" fmla="*/ 8 h 2046"/>
                <a:gd name="T54" fmla="*/ 852 w 1968"/>
                <a:gd name="T55" fmla="*/ 3 h 2046"/>
                <a:gd name="T56" fmla="*/ 1292 w 1968"/>
                <a:gd name="T57" fmla="*/ 166 h 2046"/>
                <a:gd name="T58" fmla="*/ 1477 w 1968"/>
                <a:gd name="T59" fmla="*/ 238 h 2046"/>
                <a:gd name="T60" fmla="*/ 1763 w 1968"/>
                <a:gd name="T61" fmla="*/ 382 h 2046"/>
                <a:gd name="T62" fmla="*/ 1812 w 1968"/>
                <a:gd name="T63" fmla="*/ 417 h 2046"/>
                <a:gd name="T64" fmla="*/ 1831 w 1968"/>
                <a:gd name="T65" fmla="*/ 470 h 2046"/>
                <a:gd name="T66" fmla="*/ 1818 w 1968"/>
                <a:gd name="T67" fmla="*/ 581 h 2046"/>
                <a:gd name="T68" fmla="*/ 1794 w 1968"/>
                <a:gd name="T69" fmla="*/ 720 h 2046"/>
                <a:gd name="T70" fmla="*/ 1699 w 1968"/>
                <a:gd name="T71" fmla="*/ 1034 h 2046"/>
                <a:gd name="T72" fmla="*/ 1526 w 1968"/>
                <a:gd name="T73" fmla="*/ 1364 h 2046"/>
                <a:gd name="T74" fmla="*/ 1326 w 1968"/>
                <a:gd name="T75" fmla="*/ 1617 h 2046"/>
                <a:gd name="T76" fmla="*/ 1193 w 1968"/>
                <a:gd name="T77" fmla="*/ 1744 h 2046"/>
                <a:gd name="T78" fmla="*/ 1085 w 1968"/>
                <a:gd name="T79" fmla="*/ 1830 h 2046"/>
                <a:gd name="T80" fmla="*/ 882 w 1968"/>
                <a:gd name="T81" fmla="*/ 1840 h 2046"/>
                <a:gd name="T82" fmla="*/ 719 w 1968"/>
                <a:gd name="T83" fmla="*/ 1703 h 2046"/>
                <a:gd name="T84" fmla="*/ 608 w 1968"/>
                <a:gd name="T85" fmla="*/ 1593 h 2046"/>
                <a:gd name="T86" fmla="*/ 414 w 1968"/>
                <a:gd name="T87" fmla="*/ 1343 h 2046"/>
                <a:gd name="T88" fmla="*/ 268 w 1968"/>
                <a:gd name="T89" fmla="*/ 1065 h 2046"/>
                <a:gd name="T90" fmla="*/ 169 w 1968"/>
                <a:gd name="T91" fmla="*/ 757 h 2046"/>
                <a:gd name="T92" fmla="*/ 127 w 1968"/>
                <a:gd name="T93" fmla="*/ 505 h 2046"/>
                <a:gd name="T94" fmla="*/ 247 w 1968"/>
                <a:gd name="T95" fmla="*/ 351 h 2046"/>
                <a:gd name="T96" fmla="*/ 467 w 1968"/>
                <a:gd name="T97" fmla="*/ 236 h 2046"/>
                <a:gd name="T98" fmla="*/ 739 w 1968"/>
                <a:gd name="T99" fmla="*/ 147 h 2046"/>
                <a:gd name="T100" fmla="*/ 849 w 1968"/>
                <a:gd name="T101" fmla="*/ 131 h 2046"/>
                <a:gd name="T102" fmla="*/ 1119 w 1968"/>
                <a:gd name="T103" fmla="*/ 141 h 2046"/>
                <a:gd name="T104" fmla="*/ 1292 w 1968"/>
                <a:gd name="T105" fmla="*/ 166 h 2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68" h="2046">
                  <a:moveTo>
                    <a:pt x="800" y="8"/>
                  </a:moveTo>
                  <a:lnTo>
                    <a:pt x="762" y="13"/>
                  </a:lnTo>
                  <a:lnTo>
                    <a:pt x="687" y="28"/>
                  </a:lnTo>
                  <a:lnTo>
                    <a:pt x="612" y="47"/>
                  </a:lnTo>
                  <a:lnTo>
                    <a:pt x="536" y="71"/>
                  </a:lnTo>
                  <a:lnTo>
                    <a:pt x="416" y="119"/>
                  </a:lnTo>
                  <a:lnTo>
                    <a:pt x="235" y="210"/>
                  </a:lnTo>
                  <a:lnTo>
                    <a:pt x="130" y="270"/>
                  </a:lnTo>
                  <a:lnTo>
                    <a:pt x="0" y="345"/>
                  </a:lnTo>
                  <a:lnTo>
                    <a:pt x="0" y="446"/>
                  </a:lnTo>
                  <a:lnTo>
                    <a:pt x="1" y="505"/>
                  </a:lnTo>
                  <a:lnTo>
                    <a:pt x="13" y="630"/>
                  </a:lnTo>
                  <a:lnTo>
                    <a:pt x="37" y="760"/>
                  </a:lnTo>
                  <a:lnTo>
                    <a:pt x="72" y="894"/>
                  </a:lnTo>
                  <a:lnTo>
                    <a:pt x="117" y="1028"/>
                  </a:lnTo>
                  <a:lnTo>
                    <a:pt x="170" y="1161"/>
                  </a:lnTo>
                  <a:lnTo>
                    <a:pt x="232" y="1289"/>
                  </a:lnTo>
                  <a:lnTo>
                    <a:pt x="301" y="1410"/>
                  </a:lnTo>
                  <a:lnTo>
                    <a:pt x="338" y="1466"/>
                  </a:lnTo>
                  <a:lnTo>
                    <a:pt x="380" y="1524"/>
                  </a:lnTo>
                  <a:lnTo>
                    <a:pt x="494" y="1656"/>
                  </a:lnTo>
                  <a:lnTo>
                    <a:pt x="628" y="1790"/>
                  </a:lnTo>
                  <a:lnTo>
                    <a:pt x="765" y="1909"/>
                  </a:lnTo>
                  <a:lnTo>
                    <a:pt x="828" y="1956"/>
                  </a:lnTo>
                  <a:lnTo>
                    <a:pt x="877" y="1991"/>
                  </a:lnTo>
                  <a:lnTo>
                    <a:pt x="939" y="2033"/>
                  </a:lnTo>
                  <a:lnTo>
                    <a:pt x="967" y="2045"/>
                  </a:lnTo>
                  <a:lnTo>
                    <a:pt x="981" y="2046"/>
                  </a:lnTo>
                  <a:lnTo>
                    <a:pt x="1000" y="2040"/>
                  </a:lnTo>
                  <a:lnTo>
                    <a:pt x="1015" y="2031"/>
                  </a:lnTo>
                  <a:lnTo>
                    <a:pt x="1094" y="1979"/>
                  </a:lnTo>
                  <a:lnTo>
                    <a:pt x="1243" y="1866"/>
                  </a:lnTo>
                  <a:lnTo>
                    <a:pt x="1379" y="1743"/>
                  </a:lnTo>
                  <a:lnTo>
                    <a:pt x="1501" y="1610"/>
                  </a:lnTo>
                  <a:lnTo>
                    <a:pt x="1610" y="1469"/>
                  </a:lnTo>
                  <a:lnTo>
                    <a:pt x="1705" y="1320"/>
                  </a:lnTo>
                  <a:lnTo>
                    <a:pt x="1785" y="1164"/>
                  </a:lnTo>
                  <a:lnTo>
                    <a:pt x="1849" y="1002"/>
                  </a:lnTo>
                  <a:lnTo>
                    <a:pt x="1875" y="918"/>
                  </a:lnTo>
                  <a:lnTo>
                    <a:pt x="1889" y="865"/>
                  </a:lnTo>
                  <a:lnTo>
                    <a:pt x="1913" y="764"/>
                  </a:lnTo>
                  <a:lnTo>
                    <a:pt x="1933" y="656"/>
                  </a:lnTo>
                  <a:lnTo>
                    <a:pt x="1950" y="530"/>
                  </a:lnTo>
                  <a:lnTo>
                    <a:pt x="1958" y="455"/>
                  </a:lnTo>
                  <a:lnTo>
                    <a:pt x="1968" y="360"/>
                  </a:lnTo>
                  <a:lnTo>
                    <a:pt x="1888" y="308"/>
                  </a:lnTo>
                  <a:lnTo>
                    <a:pt x="1824" y="269"/>
                  </a:lnTo>
                  <a:lnTo>
                    <a:pt x="1662" y="184"/>
                  </a:lnTo>
                  <a:lnTo>
                    <a:pt x="1489" y="105"/>
                  </a:lnTo>
                  <a:lnTo>
                    <a:pt x="1376" y="61"/>
                  </a:lnTo>
                  <a:lnTo>
                    <a:pt x="1315" y="42"/>
                  </a:lnTo>
                  <a:lnTo>
                    <a:pt x="1292" y="36"/>
                  </a:lnTo>
                  <a:lnTo>
                    <a:pt x="1232" y="25"/>
                  </a:lnTo>
                  <a:lnTo>
                    <a:pt x="1102" y="8"/>
                  </a:lnTo>
                  <a:lnTo>
                    <a:pt x="972" y="0"/>
                  </a:lnTo>
                  <a:lnTo>
                    <a:pt x="852" y="3"/>
                  </a:lnTo>
                  <a:lnTo>
                    <a:pt x="800" y="8"/>
                  </a:lnTo>
                  <a:close/>
                  <a:moveTo>
                    <a:pt x="1292" y="166"/>
                  </a:moveTo>
                  <a:lnTo>
                    <a:pt x="1337" y="180"/>
                  </a:lnTo>
                  <a:lnTo>
                    <a:pt x="1477" y="238"/>
                  </a:lnTo>
                  <a:lnTo>
                    <a:pt x="1634" y="313"/>
                  </a:lnTo>
                  <a:lnTo>
                    <a:pt x="1763" y="382"/>
                  </a:lnTo>
                  <a:lnTo>
                    <a:pt x="1798" y="406"/>
                  </a:lnTo>
                  <a:lnTo>
                    <a:pt x="1812" y="417"/>
                  </a:lnTo>
                  <a:lnTo>
                    <a:pt x="1827" y="437"/>
                  </a:lnTo>
                  <a:lnTo>
                    <a:pt x="1831" y="470"/>
                  </a:lnTo>
                  <a:lnTo>
                    <a:pt x="1825" y="532"/>
                  </a:lnTo>
                  <a:lnTo>
                    <a:pt x="1818" y="581"/>
                  </a:lnTo>
                  <a:lnTo>
                    <a:pt x="1812" y="628"/>
                  </a:lnTo>
                  <a:lnTo>
                    <a:pt x="1794" y="720"/>
                  </a:lnTo>
                  <a:lnTo>
                    <a:pt x="1760" y="857"/>
                  </a:lnTo>
                  <a:lnTo>
                    <a:pt x="1699" y="1034"/>
                  </a:lnTo>
                  <a:lnTo>
                    <a:pt x="1621" y="1203"/>
                  </a:lnTo>
                  <a:lnTo>
                    <a:pt x="1526" y="1364"/>
                  </a:lnTo>
                  <a:lnTo>
                    <a:pt x="1417" y="1513"/>
                  </a:lnTo>
                  <a:lnTo>
                    <a:pt x="1326" y="1617"/>
                  </a:lnTo>
                  <a:lnTo>
                    <a:pt x="1261" y="1682"/>
                  </a:lnTo>
                  <a:lnTo>
                    <a:pt x="1193" y="1744"/>
                  </a:lnTo>
                  <a:lnTo>
                    <a:pt x="1122" y="1802"/>
                  </a:lnTo>
                  <a:lnTo>
                    <a:pt x="1085" y="1830"/>
                  </a:lnTo>
                  <a:lnTo>
                    <a:pt x="980" y="1908"/>
                  </a:lnTo>
                  <a:lnTo>
                    <a:pt x="882" y="1840"/>
                  </a:lnTo>
                  <a:lnTo>
                    <a:pt x="836" y="1805"/>
                  </a:lnTo>
                  <a:lnTo>
                    <a:pt x="719" y="1703"/>
                  </a:lnTo>
                  <a:lnTo>
                    <a:pt x="665" y="1651"/>
                  </a:lnTo>
                  <a:lnTo>
                    <a:pt x="608" y="1593"/>
                  </a:lnTo>
                  <a:lnTo>
                    <a:pt x="505" y="1472"/>
                  </a:lnTo>
                  <a:lnTo>
                    <a:pt x="414" y="1343"/>
                  </a:lnTo>
                  <a:lnTo>
                    <a:pt x="335" y="1208"/>
                  </a:lnTo>
                  <a:lnTo>
                    <a:pt x="268" y="1065"/>
                  </a:lnTo>
                  <a:lnTo>
                    <a:pt x="213" y="915"/>
                  </a:lnTo>
                  <a:lnTo>
                    <a:pt x="169" y="757"/>
                  </a:lnTo>
                  <a:lnTo>
                    <a:pt x="138" y="591"/>
                  </a:lnTo>
                  <a:lnTo>
                    <a:pt x="127" y="505"/>
                  </a:lnTo>
                  <a:lnTo>
                    <a:pt x="118" y="428"/>
                  </a:lnTo>
                  <a:lnTo>
                    <a:pt x="247" y="351"/>
                  </a:lnTo>
                  <a:lnTo>
                    <a:pt x="323" y="307"/>
                  </a:lnTo>
                  <a:lnTo>
                    <a:pt x="467" y="236"/>
                  </a:lnTo>
                  <a:lnTo>
                    <a:pt x="604" y="184"/>
                  </a:lnTo>
                  <a:lnTo>
                    <a:pt x="739" y="147"/>
                  </a:lnTo>
                  <a:lnTo>
                    <a:pt x="808" y="135"/>
                  </a:lnTo>
                  <a:lnTo>
                    <a:pt x="849" y="131"/>
                  </a:lnTo>
                  <a:lnTo>
                    <a:pt x="974" y="131"/>
                  </a:lnTo>
                  <a:lnTo>
                    <a:pt x="1119" y="141"/>
                  </a:lnTo>
                  <a:lnTo>
                    <a:pt x="1248" y="157"/>
                  </a:lnTo>
                  <a:lnTo>
                    <a:pt x="1292"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5" name="Freeform 13">
              <a:extLst>
                <a:ext uri="{FF2B5EF4-FFF2-40B4-BE49-F238E27FC236}">
                  <a16:creationId xmlns:a16="http://schemas.microsoft.com/office/drawing/2014/main" id="{6B21FFF0-B8E1-4CD5-944B-E598B1122233}"/>
                </a:ext>
              </a:extLst>
            </p:cNvPr>
            <p:cNvSpPr>
              <a:spLocks noEditPoints="1"/>
            </p:cNvSpPr>
            <p:nvPr/>
          </p:nvSpPr>
          <p:spPr bwMode="auto">
            <a:xfrm>
              <a:off x="4400592" y="1899264"/>
              <a:ext cx="96230" cy="151941"/>
            </a:xfrm>
            <a:custGeom>
              <a:avLst/>
              <a:gdLst>
                <a:gd name="T0" fmla="*/ 134 w 538"/>
                <a:gd name="T1" fmla="*/ 46 h 850"/>
                <a:gd name="T2" fmla="*/ 42 w 538"/>
                <a:gd name="T3" fmla="*/ 138 h 850"/>
                <a:gd name="T4" fmla="*/ 0 w 538"/>
                <a:gd name="T5" fmla="*/ 255 h 850"/>
                <a:gd name="T6" fmla="*/ 14 w 538"/>
                <a:gd name="T7" fmla="*/ 374 h 850"/>
                <a:gd name="T8" fmla="*/ 66 w 538"/>
                <a:gd name="T9" fmla="*/ 449 h 850"/>
                <a:gd name="T10" fmla="*/ 96 w 538"/>
                <a:gd name="T11" fmla="*/ 487 h 850"/>
                <a:gd name="T12" fmla="*/ 108 w 538"/>
                <a:gd name="T13" fmla="*/ 579 h 850"/>
                <a:gd name="T14" fmla="*/ 108 w 538"/>
                <a:gd name="T15" fmla="*/ 663 h 850"/>
                <a:gd name="T16" fmla="*/ 121 w 538"/>
                <a:gd name="T17" fmla="*/ 756 h 850"/>
                <a:gd name="T18" fmla="*/ 156 w 538"/>
                <a:gd name="T19" fmla="*/ 801 h 850"/>
                <a:gd name="T20" fmla="*/ 195 w 538"/>
                <a:gd name="T21" fmla="*/ 831 h 850"/>
                <a:gd name="T22" fmla="*/ 250 w 538"/>
                <a:gd name="T23" fmla="*/ 850 h 850"/>
                <a:gd name="T24" fmla="*/ 307 w 538"/>
                <a:gd name="T25" fmla="*/ 844 h 850"/>
                <a:gd name="T26" fmla="*/ 364 w 538"/>
                <a:gd name="T27" fmla="*/ 813 h 850"/>
                <a:gd name="T28" fmla="*/ 395 w 538"/>
                <a:gd name="T29" fmla="*/ 785 h 850"/>
                <a:gd name="T30" fmla="*/ 430 w 538"/>
                <a:gd name="T31" fmla="*/ 721 h 850"/>
                <a:gd name="T32" fmla="*/ 438 w 538"/>
                <a:gd name="T33" fmla="*/ 622 h 850"/>
                <a:gd name="T34" fmla="*/ 447 w 538"/>
                <a:gd name="T35" fmla="*/ 529 h 850"/>
                <a:gd name="T36" fmla="*/ 474 w 538"/>
                <a:gd name="T37" fmla="*/ 450 h 850"/>
                <a:gd name="T38" fmla="*/ 501 w 538"/>
                <a:gd name="T39" fmla="*/ 406 h 850"/>
                <a:gd name="T40" fmla="*/ 534 w 538"/>
                <a:gd name="T41" fmla="*/ 322 h 850"/>
                <a:gd name="T42" fmla="*/ 536 w 538"/>
                <a:gd name="T43" fmla="*/ 253 h 850"/>
                <a:gd name="T44" fmla="*/ 507 w 538"/>
                <a:gd name="T45" fmla="*/ 162 h 850"/>
                <a:gd name="T46" fmla="*/ 447 w 538"/>
                <a:gd name="T47" fmla="*/ 82 h 850"/>
                <a:gd name="T48" fmla="*/ 366 w 538"/>
                <a:gd name="T49" fmla="*/ 26 h 850"/>
                <a:gd name="T50" fmla="*/ 316 w 538"/>
                <a:gd name="T51" fmla="*/ 9 h 850"/>
                <a:gd name="T52" fmla="*/ 236 w 538"/>
                <a:gd name="T53" fmla="*/ 3 h 850"/>
                <a:gd name="T54" fmla="*/ 164 w 538"/>
                <a:gd name="T55" fmla="*/ 31 h 850"/>
                <a:gd name="T56" fmla="*/ 371 w 538"/>
                <a:gd name="T57" fmla="*/ 193 h 850"/>
                <a:gd name="T58" fmla="*/ 401 w 538"/>
                <a:gd name="T59" fmla="*/ 243 h 850"/>
                <a:gd name="T60" fmla="*/ 407 w 538"/>
                <a:gd name="T61" fmla="*/ 293 h 850"/>
                <a:gd name="T62" fmla="*/ 388 w 538"/>
                <a:gd name="T63" fmla="*/ 341 h 850"/>
                <a:gd name="T64" fmla="*/ 358 w 538"/>
                <a:gd name="T65" fmla="*/ 377 h 850"/>
                <a:gd name="T66" fmla="*/ 320 w 538"/>
                <a:gd name="T67" fmla="*/ 420 h 850"/>
                <a:gd name="T68" fmla="*/ 308 w 538"/>
                <a:gd name="T69" fmla="*/ 520 h 850"/>
                <a:gd name="T70" fmla="*/ 307 w 538"/>
                <a:gd name="T71" fmla="*/ 640 h 850"/>
                <a:gd name="T72" fmla="*/ 290 w 538"/>
                <a:gd name="T73" fmla="*/ 717 h 850"/>
                <a:gd name="T74" fmla="*/ 276 w 538"/>
                <a:gd name="T75" fmla="*/ 723 h 850"/>
                <a:gd name="T76" fmla="*/ 251 w 538"/>
                <a:gd name="T77" fmla="*/ 718 h 850"/>
                <a:gd name="T78" fmla="*/ 232 w 538"/>
                <a:gd name="T79" fmla="*/ 675 h 850"/>
                <a:gd name="T80" fmla="*/ 224 w 538"/>
                <a:gd name="T81" fmla="*/ 561 h 850"/>
                <a:gd name="T82" fmla="*/ 221 w 538"/>
                <a:gd name="T83" fmla="*/ 460 h 850"/>
                <a:gd name="T84" fmla="*/ 190 w 538"/>
                <a:gd name="T85" fmla="*/ 389 h 850"/>
                <a:gd name="T86" fmla="*/ 154 w 538"/>
                <a:gd name="T87" fmla="*/ 346 h 850"/>
                <a:gd name="T88" fmla="*/ 125 w 538"/>
                <a:gd name="T89" fmla="*/ 282 h 850"/>
                <a:gd name="T90" fmla="*/ 125 w 538"/>
                <a:gd name="T91" fmla="*/ 261 h 850"/>
                <a:gd name="T92" fmla="*/ 154 w 538"/>
                <a:gd name="T93" fmla="*/ 203 h 850"/>
                <a:gd name="T94" fmla="*/ 232 w 538"/>
                <a:gd name="T95" fmla="*/ 140 h 850"/>
                <a:gd name="T96" fmla="*/ 266 w 538"/>
                <a:gd name="T97" fmla="*/ 132 h 850"/>
                <a:gd name="T98" fmla="*/ 299 w 538"/>
                <a:gd name="T99" fmla="*/ 140 h 850"/>
                <a:gd name="T100" fmla="*/ 359 w 538"/>
                <a:gd name="T101" fmla="*/ 18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8" h="850">
                  <a:moveTo>
                    <a:pt x="164" y="31"/>
                  </a:moveTo>
                  <a:lnTo>
                    <a:pt x="134" y="46"/>
                  </a:lnTo>
                  <a:lnTo>
                    <a:pt x="82" y="87"/>
                  </a:lnTo>
                  <a:lnTo>
                    <a:pt x="42" y="138"/>
                  </a:lnTo>
                  <a:lnTo>
                    <a:pt x="14" y="195"/>
                  </a:lnTo>
                  <a:lnTo>
                    <a:pt x="0" y="255"/>
                  </a:lnTo>
                  <a:lnTo>
                    <a:pt x="0" y="316"/>
                  </a:lnTo>
                  <a:lnTo>
                    <a:pt x="14" y="374"/>
                  </a:lnTo>
                  <a:lnTo>
                    <a:pt x="44" y="426"/>
                  </a:lnTo>
                  <a:lnTo>
                    <a:pt x="66" y="449"/>
                  </a:lnTo>
                  <a:lnTo>
                    <a:pt x="79" y="462"/>
                  </a:lnTo>
                  <a:lnTo>
                    <a:pt x="96" y="487"/>
                  </a:lnTo>
                  <a:lnTo>
                    <a:pt x="105" y="522"/>
                  </a:lnTo>
                  <a:lnTo>
                    <a:pt x="108" y="579"/>
                  </a:lnTo>
                  <a:lnTo>
                    <a:pt x="108" y="621"/>
                  </a:lnTo>
                  <a:lnTo>
                    <a:pt x="108" y="663"/>
                  </a:lnTo>
                  <a:lnTo>
                    <a:pt x="111" y="720"/>
                  </a:lnTo>
                  <a:lnTo>
                    <a:pt x="121" y="756"/>
                  </a:lnTo>
                  <a:lnTo>
                    <a:pt x="140" y="784"/>
                  </a:lnTo>
                  <a:lnTo>
                    <a:pt x="156" y="801"/>
                  </a:lnTo>
                  <a:lnTo>
                    <a:pt x="169" y="813"/>
                  </a:lnTo>
                  <a:lnTo>
                    <a:pt x="195" y="831"/>
                  </a:lnTo>
                  <a:lnTo>
                    <a:pt x="222" y="844"/>
                  </a:lnTo>
                  <a:lnTo>
                    <a:pt x="250" y="850"/>
                  </a:lnTo>
                  <a:lnTo>
                    <a:pt x="279" y="850"/>
                  </a:lnTo>
                  <a:lnTo>
                    <a:pt x="307" y="844"/>
                  </a:lnTo>
                  <a:lnTo>
                    <a:pt x="336" y="831"/>
                  </a:lnTo>
                  <a:lnTo>
                    <a:pt x="364" y="813"/>
                  </a:lnTo>
                  <a:lnTo>
                    <a:pt x="378" y="801"/>
                  </a:lnTo>
                  <a:lnTo>
                    <a:pt x="395" y="785"/>
                  </a:lnTo>
                  <a:lnTo>
                    <a:pt x="418" y="757"/>
                  </a:lnTo>
                  <a:lnTo>
                    <a:pt x="430" y="721"/>
                  </a:lnTo>
                  <a:lnTo>
                    <a:pt x="436" y="665"/>
                  </a:lnTo>
                  <a:lnTo>
                    <a:pt x="438" y="622"/>
                  </a:lnTo>
                  <a:lnTo>
                    <a:pt x="440" y="586"/>
                  </a:lnTo>
                  <a:lnTo>
                    <a:pt x="447" y="529"/>
                  </a:lnTo>
                  <a:lnTo>
                    <a:pt x="458" y="486"/>
                  </a:lnTo>
                  <a:lnTo>
                    <a:pt x="474" y="450"/>
                  </a:lnTo>
                  <a:lnTo>
                    <a:pt x="484" y="432"/>
                  </a:lnTo>
                  <a:lnTo>
                    <a:pt x="501" y="406"/>
                  </a:lnTo>
                  <a:lnTo>
                    <a:pt x="527" y="346"/>
                  </a:lnTo>
                  <a:lnTo>
                    <a:pt x="534" y="322"/>
                  </a:lnTo>
                  <a:lnTo>
                    <a:pt x="538" y="300"/>
                  </a:lnTo>
                  <a:lnTo>
                    <a:pt x="536" y="253"/>
                  </a:lnTo>
                  <a:lnTo>
                    <a:pt x="526" y="207"/>
                  </a:lnTo>
                  <a:lnTo>
                    <a:pt x="507" y="162"/>
                  </a:lnTo>
                  <a:lnTo>
                    <a:pt x="480" y="120"/>
                  </a:lnTo>
                  <a:lnTo>
                    <a:pt x="447" y="82"/>
                  </a:lnTo>
                  <a:lnTo>
                    <a:pt x="409" y="50"/>
                  </a:lnTo>
                  <a:lnTo>
                    <a:pt x="366" y="26"/>
                  </a:lnTo>
                  <a:lnTo>
                    <a:pt x="343" y="17"/>
                  </a:lnTo>
                  <a:lnTo>
                    <a:pt x="316" y="9"/>
                  </a:lnTo>
                  <a:lnTo>
                    <a:pt x="274" y="0"/>
                  </a:lnTo>
                  <a:lnTo>
                    <a:pt x="236" y="3"/>
                  </a:lnTo>
                  <a:lnTo>
                    <a:pt x="193" y="18"/>
                  </a:lnTo>
                  <a:lnTo>
                    <a:pt x="164" y="31"/>
                  </a:lnTo>
                  <a:close/>
                  <a:moveTo>
                    <a:pt x="359" y="181"/>
                  </a:moveTo>
                  <a:lnTo>
                    <a:pt x="371" y="193"/>
                  </a:lnTo>
                  <a:lnTo>
                    <a:pt x="389" y="218"/>
                  </a:lnTo>
                  <a:lnTo>
                    <a:pt x="401" y="243"/>
                  </a:lnTo>
                  <a:lnTo>
                    <a:pt x="407" y="268"/>
                  </a:lnTo>
                  <a:lnTo>
                    <a:pt x="407" y="293"/>
                  </a:lnTo>
                  <a:lnTo>
                    <a:pt x="401" y="317"/>
                  </a:lnTo>
                  <a:lnTo>
                    <a:pt x="388" y="341"/>
                  </a:lnTo>
                  <a:lnTo>
                    <a:pt x="370" y="365"/>
                  </a:lnTo>
                  <a:lnTo>
                    <a:pt x="358" y="377"/>
                  </a:lnTo>
                  <a:lnTo>
                    <a:pt x="341" y="393"/>
                  </a:lnTo>
                  <a:lnTo>
                    <a:pt x="320" y="420"/>
                  </a:lnTo>
                  <a:lnTo>
                    <a:pt x="310" y="457"/>
                  </a:lnTo>
                  <a:lnTo>
                    <a:pt x="308" y="520"/>
                  </a:lnTo>
                  <a:lnTo>
                    <a:pt x="308" y="567"/>
                  </a:lnTo>
                  <a:lnTo>
                    <a:pt x="307" y="640"/>
                  </a:lnTo>
                  <a:lnTo>
                    <a:pt x="299" y="699"/>
                  </a:lnTo>
                  <a:lnTo>
                    <a:pt x="290" y="717"/>
                  </a:lnTo>
                  <a:lnTo>
                    <a:pt x="284" y="721"/>
                  </a:lnTo>
                  <a:lnTo>
                    <a:pt x="276" y="723"/>
                  </a:lnTo>
                  <a:lnTo>
                    <a:pt x="263" y="724"/>
                  </a:lnTo>
                  <a:lnTo>
                    <a:pt x="251" y="718"/>
                  </a:lnTo>
                  <a:lnTo>
                    <a:pt x="242" y="705"/>
                  </a:lnTo>
                  <a:lnTo>
                    <a:pt x="232" y="675"/>
                  </a:lnTo>
                  <a:lnTo>
                    <a:pt x="225" y="607"/>
                  </a:lnTo>
                  <a:lnTo>
                    <a:pt x="224" y="561"/>
                  </a:lnTo>
                  <a:lnTo>
                    <a:pt x="224" y="518"/>
                  </a:lnTo>
                  <a:lnTo>
                    <a:pt x="221" y="460"/>
                  </a:lnTo>
                  <a:lnTo>
                    <a:pt x="211" y="421"/>
                  </a:lnTo>
                  <a:lnTo>
                    <a:pt x="190" y="389"/>
                  </a:lnTo>
                  <a:lnTo>
                    <a:pt x="174" y="371"/>
                  </a:lnTo>
                  <a:lnTo>
                    <a:pt x="154" y="346"/>
                  </a:lnTo>
                  <a:lnTo>
                    <a:pt x="132" y="306"/>
                  </a:lnTo>
                  <a:lnTo>
                    <a:pt x="125" y="282"/>
                  </a:lnTo>
                  <a:lnTo>
                    <a:pt x="124" y="272"/>
                  </a:lnTo>
                  <a:lnTo>
                    <a:pt x="125" y="261"/>
                  </a:lnTo>
                  <a:lnTo>
                    <a:pt x="132" y="238"/>
                  </a:lnTo>
                  <a:lnTo>
                    <a:pt x="154" y="203"/>
                  </a:lnTo>
                  <a:lnTo>
                    <a:pt x="196" y="161"/>
                  </a:lnTo>
                  <a:lnTo>
                    <a:pt x="232" y="140"/>
                  </a:lnTo>
                  <a:lnTo>
                    <a:pt x="255" y="133"/>
                  </a:lnTo>
                  <a:lnTo>
                    <a:pt x="266" y="132"/>
                  </a:lnTo>
                  <a:lnTo>
                    <a:pt x="276" y="133"/>
                  </a:lnTo>
                  <a:lnTo>
                    <a:pt x="299" y="140"/>
                  </a:lnTo>
                  <a:lnTo>
                    <a:pt x="336" y="160"/>
                  </a:lnTo>
                  <a:lnTo>
                    <a:pt x="359"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66" name="TextBox 65">
            <a:extLst>
              <a:ext uri="{FF2B5EF4-FFF2-40B4-BE49-F238E27FC236}">
                <a16:creationId xmlns:a16="http://schemas.microsoft.com/office/drawing/2014/main" id="{19E03105-32E8-40C5-6DEA-11C4D5B90E55}"/>
              </a:ext>
            </a:extLst>
          </p:cNvPr>
          <p:cNvSpPr txBox="1"/>
          <p:nvPr/>
        </p:nvSpPr>
        <p:spPr>
          <a:xfrm>
            <a:off x="3752206" y="2579972"/>
            <a:ext cx="1544983" cy="1716648"/>
          </a:xfrm>
          <a:prstGeom prst="rect">
            <a:avLst/>
          </a:prstGeom>
          <a:noFill/>
        </p:spPr>
        <p:txBody>
          <a:bodyPr wrap="square" rtlCol="0">
            <a:spAutoFit/>
          </a:bodyPr>
          <a:lstStyle/>
          <a:p>
            <a:pPr algn="justLow" rtl="1"/>
            <a:r>
              <a:rPr lang="ar-SA" sz="1100" dirty="0"/>
              <a:t>تعزيز الأمان من خلال توفير فهم شامل لأصول تقنية المعلومات، وتحديد نقاط الضعف، وتنفيذ ممارسات أمنية موحدة في جميع أنحاء الجهة.</a:t>
            </a:r>
            <a:endParaRPr lang="en-US" sz="1100" dirty="0"/>
          </a:p>
        </p:txBody>
      </p:sp>
      <p:sp>
        <p:nvSpPr>
          <p:cNvPr id="67" name="TextBox 66">
            <a:extLst>
              <a:ext uri="{FF2B5EF4-FFF2-40B4-BE49-F238E27FC236}">
                <a16:creationId xmlns:a16="http://schemas.microsoft.com/office/drawing/2014/main" id="{2AC9FE2E-E995-1784-3260-3194EE36E4C1}"/>
              </a:ext>
            </a:extLst>
          </p:cNvPr>
          <p:cNvSpPr txBox="1"/>
          <p:nvPr/>
        </p:nvSpPr>
        <p:spPr>
          <a:xfrm>
            <a:off x="3798863" y="4564575"/>
            <a:ext cx="1451669" cy="808925"/>
          </a:xfrm>
          <a:prstGeom prst="rect">
            <a:avLst/>
          </a:prstGeom>
          <a:noFill/>
        </p:spPr>
        <p:txBody>
          <a:bodyPr wrap="square" rtlCol="0">
            <a:spAutoFit/>
          </a:bodyPr>
          <a:lstStyle/>
          <a:p>
            <a:pPr algn="justLow" rtl="1"/>
            <a:r>
              <a:rPr lang="ar-SA" sz="1000" dirty="0"/>
              <a:t>مثال: تحديد الفجوات والمخاطر الأمنية في بنية أحد التطبيقات وترشيح بدائل تصميمية أحدث وأكثر أمانا </a:t>
            </a:r>
            <a:endParaRPr lang="en-US" sz="1000" dirty="0"/>
          </a:p>
        </p:txBody>
      </p:sp>
      <p:sp>
        <p:nvSpPr>
          <p:cNvPr id="68" name="TextBox 145">
            <a:extLst>
              <a:ext uri="{FF2B5EF4-FFF2-40B4-BE49-F238E27FC236}">
                <a16:creationId xmlns:a16="http://schemas.microsoft.com/office/drawing/2014/main" id="{78B468A5-84C0-AF8A-ED96-980D8E357652}"/>
              </a:ext>
            </a:extLst>
          </p:cNvPr>
          <p:cNvSpPr txBox="1"/>
          <p:nvPr/>
        </p:nvSpPr>
        <p:spPr>
          <a:xfrm flipH="1">
            <a:off x="2180903"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تبسيط التعقيد في مشهد تقنية المعلومات</a:t>
            </a:r>
            <a:endParaRPr lang="en-US" sz="1400" b="1" dirty="0">
              <a:solidFill>
                <a:schemeClr val="accent2"/>
              </a:solidFill>
            </a:endParaRPr>
          </a:p>
        </p:txBody>
      </p:sp>
      <p:sp>
        <p:nvSpPr>
          <p:cNvPr id="69" name="Freeform 39">
            <a:extLst>
              <a:ext uri="{FF2B5EF4-FFF2-40B4-BE49-F238E27FC236}">
                <a16:creationId xmlns:a16="http://schemas.microsoft.com/office/drawing/2014/main" id="{47609A2B-1EE1-8F11-A3E6-586D09CF28A8}"/>
              </a:ext>
            </a:extLst>
          </p:cNvPr>
          <p:cNvSpPr>
            <a:spLocks noChangeAspect="1" noEditPoints="1"/>
          </p:cNvSpPr>
          <p:nvPr/>
        </p:nvSpPr>
        <p:spPr bwMode="auto">
          <a:xfrm>
            <a:off x="2640106" y="1340047"/>
            <a:ext cx="626577" cy="626577"/>
          </a:xfrm>
          <a:custGeom>
            <a:avLst/>
            <a:gdLst>
              <a:gd name="T0" fmla="*/ 1020 w 4950"/>
              <a:gd name="T1" fmla="*/ 471 h 4951"/>
              <a:gd name="T2" fmla="*/ 501 w 4950"/>
              <a:gd name="T3" fmla="*/ 1651 h 4951"/>
              <a:gd name="T4" fmla="*/ 15 w 4950"/>
              <a:gd name="T5" fmla="*/ 3116 h 4951"/>
              <a:gd name="T6" fmla="*/ 467 w 4950"/>
              <a:gd name="T7" fmla="*/ 3940 h 4951"/>
              <a:gd name="T8" fmla="*/ 1807 w 4950"/>
              <a:gd name="T9" fmla="*/ 4497 h 4951"/>
              <a:gd name="T10" fmla="*/ 2901 w 4950"/>
              <a:gd name="T11" fmla="*/ 4818 h 4951"/>
              <a:gd name="T12" fmla="*/ 3747 w 4950"/>
              <a:gd name="T13" fmla="*/ 4392 h 4951"/>
              <a:gd name="T14" fmla="*/ 4459 w 4950"/>
              <a:gd name="T15" fmla="*/ 3262 h 4951"/>
              <a:gd name="T16" fmla="*/ 4703 w 4950"/>
              <a:gd name="T17" fmla="*/ 1783 h 4951"/>
              <a:gd name="T18" fmla="*/ 3948 w 4950"/>
              <a:gd name="T19" fmla="*/ 467 h 4951"/>
              <a:gd name="T20" fmla="*/ 2477 w 4950"/>
              <a:gd name="T21" fmla="*/ 0 h 4951"/>
              <a:gd name="T22" fmla="*/ 3674 w 4950"/>
              <a:gd name="T23" fmla="*/ 753 h 4951"/>
              <a:gd name="T24" fmla="*/ 4241 w 4950"/>
              <a:gd name="T25" fmla="*/ 1641 h 4951"/>
              <a:gd name="T26" fmla="*/ 3862 w 4950"/>
              <a:gd name="T27" fmla="*/ 798 h 4951"/>
              <a:gd name="T28" fmla="*/ 3373 w 4950"/>
              <a:gd name="T29" fmla="*/ 1650 h 4951"/>
              <a:gd name="T30" fmla="*/ 2076 w 4950"/>
              <a:gd name="T31" fmla="*/ 1331 h 4951"/>
              <a:gd name="T32" fmla="*/ 1556 w 4950"/>
              <a:gd name="T33" fmla="*/ 1247 h 4951"/>
              <a:gd name="T34" fmla="*/ 982 w 4950"/>
              <a:gd name="T35" fmla="*/ 827 h 4951"/>
              <a:gd name="T36" fmla="*/ 716 w 4950"/>
              <a:gd name="T37" fmla="*/ 1569 h 4951"/>
              <a:gd name="T38" fmla="*/ 1643 w 4950"/>
              <a:gd name="T39" fmla="*/ 682 h 4951"/>
              <a:gd name="T40" fmla="*/ 1273 w 4950"/>
              <a:gd name="T41" fmla="*/ 1052 h 4951"/>
              <a:gd name="T42" fmla="*/ 1347 w 4950"/>
              <a:gd name="T43" fmla="*/ 1999 h 4951"/>
              <a:gd name="T44" fmla="*/ 1134 w 4950"/>
              <a:gd name="T45" fmla="*/ 2512 h 4951"/>
              <a:gd name="T46" fmla="*/ 1389 w 4950"/>
              <a:gd name="T47" fmla="*/ 2788 h 4951"/>
              <a:gd name="T48" fmla="*/ 920 w 4950"/>
              <a:gd name="T49" fmla="*/ 3183 h 4951"/>
              <a:gd name="T50" fmla="*/ 1064 w 4950"/>
              <a:gd name="T51" fmla="*/ 1481 h 4951"/>
              <a:gd name="T52" fmla="*/ 3845 w 4950"/>
              <a:gd name="T53" fmla="*/ 1385 h 4951"/>
              <a:gd name="T54" fmla="*/ 3858 w 4950"/>
              <a:gd name="T55" fmla="*/ 3190 h 4951"/>
              <a:gd name="T56" fmla="*/ 3545 w 4950"/>
              <a:gd name="T57" fmla="*/ 2820 h 4951"/>
              <a:gd name="T58" fmla="*/ 3853 w 4950"/>
              <a:gd name="T59" fmla="*/ 2488 h 4951"/>
              <a:gd name="T60" fmla="*/ 3672 w 4950"/>
              <a:gd name="T61" fmla="*/ 1833 h 4951"/>
              <a:gd name="T62" fmla="*/ 2690 w 4950"/>
              <a:gd name="T63" fmla="*/ 1445 h 4951"/>
              <a:gd name="T64" fmla="*/ 2720 w 4950"/>
              <a:gd name="T65" fmla="*/ 1787 h 4951"/>
              <a:gd name="T66" fmla="*/ 2574 w 4950"/>
              <a:gd name="T67" fmla="*/ 2409 h 4951"/>
              <a:gd name="T68" fmla="*/ 2805 w 4950"/>
              <a:gd name="T69" fmla="*/ 2953 h 4951"/>
              <a:gd name="T70" fmla="*/ 3099 w 4950"/>
              <a:gd name="T71" fmla="*/ 3296 h 4951"/>
              <a:gd name="T72" fmla="*/ 1877 w 4950"/>
              <a:gd name="T73" fmla="*/ 3333 h 4951"/>
              <a:gd name="T74" fmla="*/ 2138 w 4950"/>
              <a:gd name="T75" fmla="*/ 2929 h 4951"/>
              <a:gd name="T76" fmla="*/ 2368 w 4950"/>
              <a:gd name="T77" fmla="*/ 2417 h 4951"/>
              <a:gd name="T78" fmla="*/ 2274 w 4950"/>
              <a:gd name="T79" fmla="*/ 1840 h 4951"/>
              <a:gd name="T80" fmla="*/ 2033 w 4950"/>
              <a:gd name="T81" fmla="*/ 1516 h 4951"/>
              <a:gd name="T82" fmla="*/ 1977 w 4950"/>
              <a:gd name="T83" fmla="*/ 2065 h 4951"/>
              <a:gd name="T84" fmla="*/ 3430 w 4950"/>
              <a:gd name="T85" fmla="*/ 1962 h 4951"/>
              <a:gd name="T86" fmla="*/ 2840 w 4950"/>
              <a:gd name="T87" fmla="*/ 1897 h 4951"/>
              <a:gd name="T88" fmla="*/ 312 w 4950"/>
              <a:gd name="T89" fmla="*/ 1937 h 4951"/>
              <a:gd name="T90" fmla="*/ 2222 w 4950"/>
              <a:gd name="T91" fmla="*/ 2299 h 4951"/>
              <a:gd name="T92" fmla="*/ 1522 w 4950"/>
              <a:gd name="T93" fmla="*/ 2241 h 4951"/>
              <a:gd name="T94" fmla="*/ 2757 w 4950"/>
              <a:gd name="T95" fmla="*/ 2397 h 4951"/>
              <a:gd name="T96" fmla="*/ 2072 w 4950"/>
              <a:gd name="T97" fmla="*/ 2617 h 4951"/>
              <a:gd name="T98" fmla="*/ 1553 w 4950"/>
              <a:gd name="T99" fmla="*/ 2750 h 4951"/>
              <a:gd name="T100" fmla="*/ 3423 w 4950"/>
              <a:gd name="T101" fmla="*/ 2653 h 4951"/>
              <a:gd name="T102" fmla="*/ 2865 w 4950"/>
              <a:gd name="T103" fmla="*/ 2630 h 4951"/>
              <a:gd name="T104" fmla="*/ 1956 w 4950"/>
              <a:gd name="T105" fmla="*/ 3110 h 4951"/>
              <a:gd name="T106" fmla="*/ 1587 w 4950"/>
              <a:gd name="T107" fmla="*/ 2943 h 4951"/>
              <a:gd name="T108" fmla="*/ 3310 w 4950"/>
              <a:gd name="T109" fmla="*/ 3130 h 4951"/>
              <a:gd name="T110" fmla="*/ 3137 w 4950"/>
              <a:gd name="T111" fmla="*/ 2933 h 4951"/>
              <a:gd name="T112" fmla="*/ 1727 w 4950"/>
              <a:gd name="T113" fmla="*/ 3420 h 4951"/>
              <a:gd name="T114" fmla="*/ 3211 w 4950"/>
              <a:gd name="T115" fmla="*/ 3426 h 4951"/>
              <a:gd name="T116" fmla="*/ 4153 w 4950"/>
              <a:gd name="T117" fmla="*/ 3527 h 4951"/>
              <a:gd name="T118" fmla="*/ 3115 w 4950"/>
              <a:gd name="T119" fmla="*/ 4335 h 4951"/>
              <a:gd name="T120" fmla="*/ 1558 w 4950"/>
              <a:gd name="T121" fmla="*/ 4217 h 4951"/>
              <a:gd name="T122" fmla="*/ 745 w 4950"/>
              <a:gd name="T123" fmla="*/ 3428 h 4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50" h="4951">
                <a:moveTo>
                  <a:pt x="2103" y="13"/>
                </a:moveTo>
                <a:lnTo>
                  <a:pt x="2092" y="29"/>
                </a:lnTo>
                <a:lnTo>
                  <a:pt x="2044" y="131"/>
                </a:lnTo>
                <a:lnTo>
                  <a:pt x="2015" y="202"/>
                </a:lnTo>
                <a:lnTo>
                  <a:pt x="1987" y="272"/>
                </a:lnTo>
                <a:lnTo>
                  <a:pt x="1940" y="376"/>
                </a:lnTo>
                <a:lnTo>
                  <a:pt x="1928" y="393"/>
                </a:lnTo>
                <a:lnTo>
                  <a:pt x="1914" y="404"/>
                </a:lnTo>
                <a:lnTo>
                  <a:pt x="1840" y="434"/>
                </a:lnTo>
                <a:lnTo>
                  <a:pt x="1792" y="450"/>
                </a:lnTo>
                <a:lnTo>
                  <a:pt x="1737" y="470"/>
                </a:lnTo>
                <a:lnTo>
                  <a:pt x="1595" y="528"/>
                </a:lnTo>
                <a:lnTo>
                  <a:pt x="1532" y="558"/>
                </a:lnTo>
                <a:lnTo>
                  <a:pt x="1388" y="630"/>
                </a:lnTo>
                <a:lnTo>
                  <a:pt x="1207" y="548"/>
                </a:lnTo>
                <a:lnTo>
                  <a:pt x="1133" y="516"/>
                </a:lnTo>
                <a:lnTo>
                  <a:pt x="1020" y="471"/>
                </a:lnTo>
                <a:lnTo>
                  <a:pt x="1000" y="467"/>
                </a:lnTo>
                <a:lnTo>
                  <a:pt x="990" y="471"/>
                </a:lnTo>
                <a:lnTo>
                  <a:pt x="940" y="512"/>
                </a:lnTo>
                <a:lnTo>
                  <a:pt x="818" y="625"/>
                </a:lnTo>
                <a:lnTo>
                  <a:pt x="624" y="819"/>
                </a:lnTo>
                <a:lnTo>
                  <a:pt x="512" y="941"/>
                </a:lnTo>
                <a:lnTo>
                  <a:pt x="471" y="992"/>
                </a:lnTo>
                <a:lnTo>
                  <a:pt x="467" y="1002"/>
                </a:lnTo>
                <a:lnTo>
                  <a:pt x="471" y="1022"/>
                </a:lnTo>
                <a:lnTo>
                  <a:pt x="511" y="1124"/>
                </a:lnTo>
                <a:lnTo>
                  <a:pt x="542" y="1190"/>
                </a:lnTo>
                <a:lnTo>
                  <a:pt x="572" y="1257"/>
                </a:lnTo>
                <a:lnTo>
                  <a:pt x="613" y="1360"/>
                </a:lnTo>
                <a:lnTo>
                  <a:pt x="617" y="1380"/>
                </a:lnTo>
                <a:lnTo>
                  <a:pt x="613" y="1395"/>
                </a:lnTo>
                <a:lnTo>
                  <a:pt x="581" y="1476"/>
                </a:lnTo>
                <a:lnTo>
                  <a:pt x="501" y="1651"/>
                </a:lnTo>
                <a:lnTo>
                  <a:pt x="452" y="1750"/>
                </a:lnTo>
                <a:lnTo>
                  <a:pt x="447" y="1757"/>
                </a:lnTo>
                <a:lnTo>
                  <a:pt x="422" y="1768"/>
                </a:lnTo>
                <a:lnTo>
                  <a:pt x="343" y="1777"/>
                </a:lnTo>
                <a:lnTo>
                  <a:pt x="242" y="1780"/>
                </a:lnTo>
                <a:lnTo>
                  <a:pt x="160" y="1782"/>
                </a:lnTo>
                <a:lnTo>
                  <a:pt x="66" y="1791"/>
                </a:lnTo>
                <a:lnTo>
                  <a:pt x="29" y="1799"/>
                </a:lnTo>
                <a:lnTo>
                  <a:pt x="22" y="1803"/>
                </a:lnTo>
                <a:lnTo>
                  <a:pt x="19" y="1807"/>
                </a:lnTo>
                <a:lnTo>
                  <a:pt x="13" y="1825"/>
                </a:lnTo>
                <a:lnTo>
                  <a:pt x="7" y="1880"/>
                </a:lnTo>
                <a:lnTo>
                  <a:pt x="1" y="2129"/>
                </a:lnTo>
                <a:lnTo>
                  <a:pt x="0" y="2467"/>
                </a:lnTo>
                <a:lnTo>
                  <a:pt x="0" y="2838"/>
                </a:lnTo>
                <a:lnTo>
                  <a:pt x="8" y="3071"/>
                </a:lnTo>
                <a:lnTo>
                  <a:pt x="15" y="3116"/>
                </a:lnTo>
                <a:lnTo>
                  <a:pt x="22" y="3131"/>
                </a:lnTo>
                <a:lnTo>
                  <a:pt x="27" y="3135"/>
                </a:lnTo>
                <a:lnTo>
                  <a:pt x="36" y="3141"/>
                </a:lnTo>
                <a:lnTo>
                  <a:pt x="71" y="3150"/>
                </a:lnTo>
                <a:lnTo>
                  <a:pt x="161" y="3162"/>
                </a:lnTo>
                <a:lnTo>
                  <a:pt x="253" y="3167"/>
                </a:lnTo>
                <a:lnTo>
                  <a:pt x="450" y="3175"/>
                </a:lnTo>
                <a:lnTo>
                  <a:pt x="527" y="3342"/>
                </a:lnTo>
                <a:lnTo>
                  <a:pt x="588" y="3478"/>
                </a:lnTo>
                <a:lnTo>
                  <a:pt x="612" y="3542"/>
                </a:lnTo>
                <a:lnTo>
                  <a:pt x="612" y="3551"/>
                </a:lnTo>
                <a:lnTo>
                  <a:pt x="603" y="3589"/>
                </a:lnTo>
                <a:lnTo>
                  <a:pt x="573" y="3677"/>
                </a:lnTo>
                <a:lnTo>
                  <a:pt x="543" y="3748"/>
                </a:lnTo>
                <a:lnTo>
                  <a:pt x="513" y="3819"/>
                </a:lnTo>
                <a:lnTo>
                  <a:pt x="471" y="3923"/>
                </a:lnTo>
                <a:lnTo>
                  <a:pt x="467" y="3940"/>
                </a:lnTo>
                <a:lnTo>
                  <a:pt x="471" y="3950"/>
                </a:lnTo>
                <a:lnTo>
                  <a:pt x="512" y="3999"/>
                </a:lnTo>
                <a:lnTo>
                  <a:pt x="626" y="4119"/>
                </a:lnTo>
                <a:lnTo>
                  <a:pt x="822" y="4310"/>
                </a:lnTo>
                <a:lnTo>
                  <a:pt x="945" y="4422"/>
                </a:lnTo>
                <a:lnTo>
                  <a:pt x="995" y="4463"/>
                </a:lnTo>
                <a:lnTo>
                  <a:pt x="1005" y="4467"/>
                </a:lnTo>
                <a:lnTo>
                  <a:pt x="1022" y="4464"/>
                </a:lnTo>
                <a:lnTo>
                  <a:pt x="1086" y="4443"/>
                </a:lnTo>
                <a:lnTo>
                  <a:pt x="1122" y="4427"/>
                </a:lnTo>
                <a:lnTo>
                  <a:pt x="1209" y="4388"/>
                </a:lnTo>
                <a:lnTo>
                  <a:pt x="1297" y="4350"/>
                </a:lnTo>
                <a:lnTo>
                  <a:pt x="1387" y="4312"/>
                </a:lnTo>
                <a:lnTo>
                  <a:pt x="1530" y="4382"/>
                </a:lnTo>
                <a:lnTo>
                  <a:pt x="1595" y="4412"/>
                </a:lnTo>
                <a:lnTo>
                  <a:pt x="1745" y="4475"/>
                </a:lnTo>
                <a:lnTo>
                  <a:pt x="1807" y="4497"/>
                </a:lnTo>
                <a:lnTo>
                  <a:pt x="1937" y="4542"/>
                </a:lnTo>
                <a:lnTo>
                  <a:pt x="2010" y="4725"/>
                </a:lnTo>
                <a:lnTo>
                  <a:pt x="2041" y="4799"/>
                </a:lnTo>
                <a:lnTo>
                  <a:pt x="2083" y="4886"/>
                </a:lnTo>
                <a:lnTo>
                  <a:pt x="2103" y="4921"/>
                </a:lnTo>
                <a:lnTo>
                  <a:pt x="2110" y="4928"/>
                </a:lnTo>
                <a:lnTo>
                  <a:pt x="2121" y="4933"/>
                </a:lnTo>
                <a:lnTo>
                  <a:pt x="2182" y="4941"/>
                </a:lnTo>
                <a:lnTo>
                  <a:pt x="2331" y="4949"/>
                </a:lnTo>
                <a:lnTo>
                  <a:pt x="2579" y="4951"/>
                </a:lnTo>
                <a:lnTo>
                  <a:pt x="2736" y="4945"/>
                </a:lnTo>
                <a:lnTo>
                  <a:pt x="2805" y="4939"/>
                </a:lnTo>
                <a:lnTo>
                  <a:pt x="2822" y="4935"/>
                </a:lnTo>
                <a:lnTo>
                  <a:pt x="2833" y="4929"/>
                </a:lnTo>
                <a:lnTo>
                  <a:pt x="2855" y="4909"/>
                </a:lnTo>
                <a:lnTo>
                  <a:pt x="2876" y="4873"/>
                </a:lnTo>
                <a:lnTo>
                  <a:pt x="2901" y="4818"/>
                </a:lnTo>
                <a:lnTo>
                  <a:pt x="2915" y="4780"/>
                </a:lnTo>
                <a:lnTo>
                  <a:pt x="2946" y="4698"/>
                </a:lnTo>
                <a:lnTo>
                  <a:pt x="2980" y="4616"/>
                </a:lnTo>
                <a:lnTo>
                  <a:pt x="3001" y="4577"/>
                </a:lnTo>
                <a:lnTo>
                  <a:pt x="3023" y="4550"/>
                </a:lnTo>
                <a:lnTo>
                  <a:pt x="3048" y="4530"/>
                </a:lnTo>
                <a:lnTo>
                  <a:pt x="3097" y="4507"/>
                </a:lnTo>
                <a:lnTo>
                  <a:pt x="3143" y="4492"/>
                </a:lnTo>
                <a:lnTo>
                  <a:pt x="3199" y="4473"/>
                </a:lnTo>
                <a:lnTo>
                  <a:pt x="3341" y="4415"/>
                </a:lnTo>
                <a:lnTo>
                  <a:pt x="3405" y="4385"/>
                </a:lnTo>
                <a:lnTo>
                  <a:pt x="3463" y="4358"/>
                </a:lnTo>
                <a:lnTo>
                  <a:pt x="3550" y="4321"/>
                </a:lnTo>
                <a:lnTo>
                  <a:pt x="3565" y="4317"/>
                </a:lnTo>
                <a:lnTo>
                  <a:pt x="3580" y="4321"/>
                </a:lnTo>
                <a:lnTo>
                  <a:pt x="3679" y="4361"/>
                </a:lnTo>
                <a:lnTo>
                  <a:pt x="3747" y="4392"/>
                </a:lnTo>
                <a:lnTo>
                  <a:pt x="3815" y="4422"/>
                </a:lnTo>
                <a:lnTo>
                  <a:pt x="3922" y="4463"/>
                </a:lnTo>
                <a:lnTo>
                  <a:pt x="3943" y="4467"/>
                </a:lnTo>
                <a:lnTo>
                  <a:pt x="3954" y="4463"/>
                </a:lnTo>
                <a:lnTo>
                  <a:pt x="4005" y="4422"/>
                </a:lnTo>
                <a:lnTo>
                  <a:pt x="4128" y="4310"/>
                </a:lnTo>
                <a:lnTo>
                  <a:pt x="4324" y="4119"/>
                </a:lnTo>
                <a:lnTo>
                  <a:pt x="4438" y="3998"/>
                </a:lnTo>
                <a:lnTo>
                  <a:pt x="4479" y="3948"/>
                </a:lnTo>
                <a:lnTo>
                  <a:pt x="4483" y="3938"/>
                </a:lnTo>
                <a:lnTo>
                  <a:pt x="4479" y="3921"/>
                </a:lnTo>
                <a:lnTo>
                  <a:pt x="4434" y="3810"/>
                </a:lnTo>
                <a:lnTo>
                  <a:pt x="4400" y="3735"/>
                </a:lnTo>
                <a:lnTo>
                  <a:pt x="4317" y="3552"/>
                </a:lnTo>
                <a:lnTo>
                  <a:pt x="4383" y="3422"/>
                </a:lnTo>
                <a:lnTo>
                  <a:pt x="4412" y="3366"/>
                </a:lnTo>
                <a:lnTo>
                  <a:pt x="4459" y="3262"/>
                </a:lnTo>
                <a:lnTo>
                  <a:pt x="4470" y="3230"/>
                </a:lnTo>
                <a:lnTo>
                  <a:pt x="4488" y="3167"/>
                </a:lnTo>
                <a:lnTo>
                  <a:pt x="4682" y="3167"/>
                </a:lnTo>
                <a:lnTo>
                  <a:pt x="4781" y="3166"/>
                </a:lnTo>
                <a:lnTo>
                  <a:pt x="4868" y="3157"/>
                </a:lnTo>
                <a:lnTo>
                  <a:pt x="4902" y="3147"/>
                </a:lnTo>
                <a:lnTo>
                  <a:pt x="4913" y="3140"/>
                </a:lnTo>
                <a:lnTo>
                  <a:pt x="4950" y="3115"/>
                </a:lnTo>
                <a:lnTo>
                  <a:pt x="4950" y="2468"/>
                </a:lnTo>
                <a:lnTo>
                  <a:pt x="4949" y="2147"/>
                </a:lnTo>
                <a:lnTo>
                  <a:pt x="4943" y="1890"/>
                </a:lnTo>
                <a:lnTo>
                  <a:pt x="4935" y="1814"/>
                </a:lnTo>
                <a:lnTo>
                  <a:pt x="4930" y="1803"/>
                </a:lnTo>
                <a:lnTo>
                  <a:pt x="4923" y="1799"/>
                </a:lnTo>
                <a:lnTo>
                  <a:pt x="4890" y="1791"/>
                </a:lnTo>
                <a:lnTo>
                  <a:pt x="4799" y="1784"/>
                </a:lnTo>
                <a:lnTo>
                  <a:pt x="4703" y="1783"/>
                </a:lnTo>
                <a:lnTo>
                  <a:pt x="4498" y="1783"/>
                </a:lnTo>
                <a:lnTo>
                  <a:pt x="4480" y="1732"/>
                </a:lnTo>
                <a:lnTo>
                  <a:pt x="4450" y="1658"/>
                </a:lnTo>
                <a:lnTo>
                  <a:pt x="4390" y="1533"/>
                </a:lnTo>
                <a:lnTo>
                  <a:pt x="4318" y="1385"/>
                </a:lnTo>
                <a:lnTo>
                  <a:pt x="4402" y="1198"/>
                </a:lnTo>
                <a:lnTo>
                  <a:pt x="4434" y="1122"/>
                </a:lnTo>
                <a:lnTo>
                  <a:pt x="4466" y="1031"/>
                </a:lnTo>
                <a:lnTo>
                  <a:pt x="4476" y="993"/>
                </a:lnTo>
                <a:lnTo>
                  <a:pt x="4475" y="985"/>
                </a:lnTo>
                <a:lnTo>
                  <a:pt x="4469" y="974"/>
                </a:lnTo>
                <a:lnTo>
                  <a:pt x="4426" y="923"/>
                </a:lnTo>
                <a:lnTo>
                  <a:pt x="4313" y="804"/>
                </a:lnTo>
                <a:lnTo>
                  <a:pt x="4123" y="618"/>
                </a:lnTo>
                <a:lnTo>
                  <a:pt x="4005" y="510"/>
                </a:lnTo>
                <a:lnTo>
                  <a:pt x="3957" y="470"/>
                </a:lnTo>
                <a:lnTo>
                  <a:pt x="3948" y="467"/>
                </a:lnTo>
                <a:lnTo>
                  <a:pt x="3929" y="471"/>
                </a:lnTo>
                <a:lnTo>
                  <a:pt x="3817" y="516"/>
                </a:lnTo>
                <a:lnTo>
                  <a:pt x="3742" y="548"/>
                </a:lnTo>
                <a:lnTo>
                  <a:pt x="3560" y="630"/>
                </a:lnTo>
                <a:lnTo>
                  <a:pt x="3428" y="565"/>
                </a:lnTo>
                <a:lnTo>
                  <a:pt x="3369" y="536"/>
                </a:lnTo>
                <a:lnTo>
                  <a:pt x="3220" y="473"/>
                </a:lnTo>
                <a:lnTo>
                  <a:pt x="3155" y="450"/>
                </a:lnTo>
                <a:lnTo>
                  <a:pt x="3010" y="402"/>
                </a:lnTo>
                <a:lnTo>
                  <a:pt x="2943" y="228"/>
                </a:lnTo>
                <a:lnTo>
                  <a:pt x="2914" y="157"/>
                </a:lnTo>
                <a:lnTo>
                  <a:pt x="2865" y="47"/>
                </a:lnTo>
                <a:lnTo>
                  <a:pt x="2852" y="27"/>
                </a:lnTo>
                <a:lnTo>
                  <a:pt x="2843" y="19"/>
                </a:lnTo>
                <a:lnTo>
                  <a:pt x="2806" y="8"/>
                </a:lnTo>
                <a:lnTo>
                  <a:pt x="2674" y="0"/>
                </a:lnTo>
                <a:lnTo>
                  <a:pt x="2477" y="0"/>
                </a:lnTo>
                <a:lnTo>
                  <a:pt x="2335" y="1"/>
                </a:lnTo>
                <a:lnTo>
                  <a:pt x="2132" y="8"/>
                </a:lnTo>
                <a:lnTo>
                  <a:pt x="2103" y="13"/>
                </a:lnTo>
                <a:close/>
                <a:moveTo>
                  <a:pt x="2810" y="330"/>
                </a:moveTo>
                <a:lnTo>
                  <a:pt x="2838" y="399"/>
                </a:lnTo>
                <a:lnTo>
                  <a:pt x="2888" y="505"/>
                </a:lnTo>
                <a:lnTo>
                  <a:pt x="2902" y="523"/>
                </a:lnTo>
                <a:lnTo>
                  <a:pt x="2920" y="534"/>
                </a:lnTo>
                <a:lnTo>
                  <a:pt x="3012" y="571"/>
                </a:lnTo>
                <a:lnTo>
                  <a:pt x="3072" y="590"/>
                </a:lnTo>
                <a:lnTo>
                  <a:pt x="3140" y="613"/>
                </a:lnTo>
                <a:lnTo>
                  <a:pt x="3308" y="682"/>
                </a:lnTo>
                <a:lnTo>
                  <a:pt x="3380" y="718"/>
                </a:lnTo>
                <a:lnTo>
                  <a:pt x="3508" y="782"/>
                </a:lnTo>
                <a:lnTo>
                  <a:pt x="3555" y="800"/>
                </a:lnTo>
                <a:lnTo>
                  <a:pt x="3571" y="796"/>
                </a:lnTo>
                <a:lnTo>
                  <a:pt x="3674" y="753"/>
                </a:lnTo>
                <a:lnTo>
                  <a:pt x="3745" y="722"/>
                </a:lnTo>
                <a:lnTo>
                  <a:pt x="3918" y="643"/>
                </a:lnTo>
                <a:lnTo>
                  <a:pt x="4110" y="835"/>
                </a:lnTo>
                <a:lnTo>
                  <a:pt x="4302" y="1027"/>
                </a:lnTo>
                <a:lnTo>
                  <a:pt x="4227" y="1200"/>
                </a:lnTo>
                <a:lnTo>
                  <a:pt x="4196" y="1269"/>
                </a:lnTo>
                <a:lnTo>
                  <a:pt x="4154" y="1375"/>
                </a:lnTo>
                <a:lnTo>
                  <a:pt x="4150" y="1393"/>
                </a:lnTo>
                <a:lnTo>
                  <a:pt x="4153" y="1408"/>
                </a:lnTo>
                <a:lnTo>
                  <a:pt x="4186" y="1480"/>
                </a:lnTo>
                <a:lnTo>
                  <a:pt x="4210" y="1525"/>
                </a:lnTo>
                <a:lnTo>
                  <a:pt x="4234" y="1569"/>
                </a:lnTo>
                <a:lnTo>
                  <a:pt x="4256" y="1621"/>
                </a:lnTo>
                <a:lnTo>
                  <a:pt x="4262" y="1642"/>
                </a:lnTo>
                <a:lnTo>
                  <a:pt x="4260" y="1645"/>
                </a:lnTo>
                <a:lnTo>
                  <a:pt x="4257" y="1646"/>
                </a:lnTo>
                <a:lnTo>
                  <a:pt x="4241" y="1641"/>
                </a:lnTo>
                <a:lnTo>
                  <a:pt x="4205" y="1616"/>
                </a:lnTo>
                <a:lnTo>
                  <a:pt x="4143" y="1565"/>
                </a:lnTo>
                <a:lnTo>
                  <a:pt x="4086" y="1508"/>
                </a:lnTo>
                <a:lnTo>
                  <a:pt x="4067" y="1483"/>
                </a:lnTo>
                <a:lnTo>
                  <a:pt x="4043" y="1449"/>
                </a:lnTo>
                <a:lnTo>
                  <a:pt x="4018" y="1394"/>
                </a:lnTo>
                <a:lnTo>
                  <a:pt x="4005" y="1354"/>
                </a:lnTo>
                <a:lnTo>
                  <a:pt x="3992" y="1282"/>
                </a:lnTo>
                <a:lnTo>
                  <a:pt x="3984" y="1153"/>
                </a:lnTo>
                <a:lnTo>
                  <a:pt x="3983" y="1068"/>
                </a:lnTo>
                <a:lnTo>
                  <a:pt x="3983" y="961"/>
                </a:lnTo>
                <a:lnTo>
                  <a:pt x="3976" y="862"/>
                </a:lnTo>
                <a:lnTo>
                  <a:pt x="3968" y="827"/>
                </a:lnTo>
                <a:lnTo>
                  <a:pt x="3963" y="820"/>
                </a:lnTo>
                <a:lnTo>
                  <a:pt x="3950" y="809"/>
                </a:lnTo>
                <a:lnTo>
                  <a:pt x="3912" y="798"/>
                </a:lnTo>
                <a:lnTo>
                  <a:pt x="3862" y="798"/>
                </a:lnTo>
                <a:lnTo>
                  <a:pt x="3805" y="809"/>
                </a:lnTo>
                <a:lnTo>
                  <a:pt x="3743" y="828"/>
                </a:lnTo>
                <a:lnTo>
                  <a:pt x="3680" y="857"/>
                </a:lnTo>
                <a:lnTo>
                  <a:pt x="3619" y="892"/>
                </a:lnTo>
                <a:lnTo>
                  <a:pt x="3564" y="934"/>
                </a:lnTo>
                <a:lnTo>
                  <a:pt x="3540" y="957"/>
                </a:lnTo>
                <a:lnTo>
                  <a:pt x="3517" y="980"/>
                </a:lnTo>
                <a:lnTo>
                  <a:pt x="3479" y="1025"/>
                </a:lnTo>
                <a:lnTo>
                  <a:pt x="3448" y="1071"/>
                </a:lnTo>
                <a:lnTo>
                  <a:pt x="3424" y="1121"/>
                </a:lnTo>
                <a:lnTo>
                  <a:pt x="3406" y="1175"/>
                </a:lnTo>
                <a:lnTo>
                  <a:pt x="3394" y="1237"/>
                </a:lnTo>
                <a:lnTo>
                  <a:pt x="3384" y="1348"/>
                </a:lnTo>
                <a:lnTo>
                  <a:pt x="3383" y="1442"/>
                </a:lnTo>
                <a:lnTo>
                  <a:pt x="3383" y="1525"/>
                </a:lnTo>
                <a:lnTo>
                  <a:pt x="3377" y="1638"/>
                </a:lnTo>
                <a:lnTo>
                  <a:pt x="3373" y="1650"/>
                </a:lnTo>
                <a:lnTo>
                  <a:pt x="3363" y="1645"/>
                </a:lnTo>
                <a:lnTo>
                  <a:pt x="3304" y="1595"/>
                </a:lnTo>
                <a:lnTo>
                  <a:pt x="3263" y="1558"/>
                </a:lnTo>
                <a:lnTo>
                  <a:pt x="3241" y="1538"/>
                </a:lnTo>
                <a:lnTo>
                  <a:pt x="3187" y="1497"/>
                </a:lnTo>
                <a:lnTo>
                  <a:pt x="3094" y="1437"/>
                </a:lnTo>
                <a:lnTo>
                  <a:pt x="2953" y="1365"/>
                </a:lnTo>
                <a:lnTo>
                  <a:pt x="2846" y="1322"/>
                </a:lnTo>
                <a:lnTo>
                  <a:pt x="2777" y="1301"/>
                </a:lnTo>
                <a:lnTo>
                  <a:pt x="2745" y="1293"/>
                </a:lnTo>
                <a:lnTo>
                  <a:pt x="2696" y="1283"/>
                </a:lnTo>
                <a:lnTo>
                  <a:pt x="2595" y="1269"/>
                </a:lnTo>
                <a:lnTo>
                  <a:pt x="2491" y="1265"/>
                </a:lnTo>
                <a:lnTo>
                  <a:pt x="2385" y="1269"/>
                </a:lnTo>
                <a:lnTo>
                  <a:pt x="2280" y="1281"/>
                </a:lnTo>
                <a:lnTo>
                  <a:pt x="2177" y="1302"/>
                </a:lnTo>
                <a:lnTo>
                  <a:pt x="2076" y="1331"/>
                </a:lnTo>
                <a:lnTo>
                  <a:pt x="1979" y="1368"/>
                </a:lnTo>
                <a:lnTo>
                  <a:pt x="1933" y="1390"/>
                </a:lnTo>
                <a:lnTo>
                  <a:pt x="1886" y="1415"/>
                </a:lnTo>
                <a:lnTo>
                  <a:pt x="1776" y="1486"/>
                </a:lnTo>
                <a:lnTo>
                  <a:pt x="1673" y="1562"/>
                </a:lnTo>
                <a:lnTo>
                  <a:pt x="1620" y="1609"/>
                </a:lnTo>
                <a:lnTo>
                  <a:pt x="1602" y="1630"/>
                </a:lnTo>
                <a:lnTo>
                  <a:pt x="1600" y="1637"/>
                </a:lnTo>
                <a:lnTo>
                  <a:pt x="1599" y="1642"/>
                </a:lnTo>
                <a:lnTo>
                  <a:pt x="1591" y="1649"/>
                </a:lnTo>
                <a:lnTo>
                  <a:pt x="1585" y="1650"/>
                </a:lnTo>
                <a:lnTo>
                  <a:pt x="1582" y="1647"/>
                </a:lnTo>
                <a:lnTo>
                  <a:pt x="1575" y="1612"/>
                </a:lnTo>
                <a:lnTo>
                  <a:pt x="1567" y="1512"/>
                </a:lnTo>
                <a:lnTo>
                  <a:pt x="1563" y="1420"/>
                </a:lnTo>
                <a:lnTo>
                  <a:pt x="1562" y="1347"/>
                </a:lnTo>
                <a:lnTo>
                  <a:pt x="1556" y="1247"/>
                </a:lnTo>
                <a:lnTo>
                  <a:pt x="1546" y="1182"/>
                </a:lnTo>
                <a:lnTo>
                  <a:pt x="1527" y="1128"/>
                </a:lnTo>
                <a:lnTo>
                  <a:pt x="1512" y="1097"/>
                </a:lnTo>
                <a:lnTo>
                  <a:pt x="1501" y="1075"/>
                </a:lnTo>
                <a:lnTo>
                  <a:pt x="1474" y="1033"/>
                </a:lnTo>
                <a:lnTo>
                  <a:pt x="1428" y="973"/>
                </a:lnTo>
                <a:lnTo>
                  <a:pt x="1353" y="905"/>
                </a:lnTo>
                <a:lnTo>
                  <a:pt x="1290" y="864"/>
                </a:lnTo>
                <a:lnTo>
                  <a:pt x="1246" y="842"/>
                </a:lnTo>
                <a:lnTo>
                  <a:pt x="1223" y="833"/>
                </a:lnTo>
                <a:lnTo>
                  <a:pt x="1185" y="821"/>
                </a:lnTo>
                <a:lnTo>
                  <a:pt x="1111" y="805"/>
                </a:lnTo>
                <a:lnTo>
                  <a:pt x="1047" y="801"/>
                </a:lnTo>
                <a:lnTo>
                  <a:pt x="1011" y="807"/>
                </a:lnTo>
                <a:lnTo>
                  <a:pt x="993" y="815"/>
                </a:lnTo>
                <a:lnTo>
                  <a:pt x="987" y="820"/>
                </a:lnTo>
                <a:lnTo>
                  <a:pt x="982" y="827"/>
                </a:lnTo>
                <a:lnTo>
                  <a:pt x="974" y="861"/>
                </a:lnTo>
                <a:lnTo>
                  <a:pt x="968" y="955"/>
                </a:lnTo>
                <a:lnTo>
                  <a:pt x="967" y="1057"/>
                </a:lnTo>
                <a:lnTo>
                  <a:pt x="966" y="1144"/>
                </a:lnTo>
                <a:lnTo>
                  <a:pt x="959" y="1274"/>
                </a:lnTo>
                <a:lnTo>
                  <a:pt x="945" y="1345"/>
                </a:lnTo>
                <a:lnTo>
                  <a:pt x="932" y="1386"/>
                </a:lnTo>
                <a:lnTo>
                  <a:pt x="905" y="1442"/>
                </a:lnTo>
                <a:lnTo>
                  <a:pt x="880" y="1478"/>
                </a:lnTo>
                <a:lnTo>
                  <a:pt x="857" y="1507"/>
                </a:lnTo>
                <a:lnTo>
                  <a:pt x="799" y="1568"/>
                </a:lnTo>
                <a:lnTo>
                  <a:pt x="740" y="1619"/>
                </a:lnTo>
                <a:lnTo>
                  <a:pt x="707" y="1641"/>
                </a:lnTo>
                <a:lnTo>
                  <a:pt x="692" y="1645"/>
                </a:lnTo>
                <a:lnTo>
                  <a:pt x="688" y="1643"/>
                </a:lnTo>
                <a:lnTo>
                  <a:pt x="688" y="1634"/>
                </a:lnTo>
                <a:lnTo>
                  <a:pt x="716" y="1569"/>
                </a:lnTo>
                <a:lnTo>
                  <a:pt x="740" y="1525"/>
                </a:lnTo>
                <a:lnTo>
                  <a:pt x="764" y="1480"/>
                </a:lnTo>
                <a:lnTo>
                  <a:pt x="797" y="1410"/>
                </a:lnTo>
                <a:lnTo>
                  <a:pt x="800" y="1397"/>
                </a:lnTo>
                <a:lnTo>
                  <a:pt x="796" y="1380"/>
                </a:lnTo>
                <a:lnTo>
                  <a:pt x="753" y="1275"/>
                </a:lnTo>
                <a:lnTo>
                  <a:pt x="722" y="1205"/>
                </a:lnTo>
                <a:lnTo>
                  <a:pt x="645" y="1030"/>
                </a:lnTo>
                <a:lnTo>
                  <a:pt x="837" y="838"/>
                </a:lnTo>
                <a:lnTo>
                  <a:pt x="1030" y="645"/>
                </a:lnTo>
                <a:lnTo>
                  <a:pt x="1203" y="723"/>
                </a:lnTo>
                <a:lnTo>
                  <a:pt x="1342" y="783"/>
                </a:lnTo>
                <a:lnTo>
                  <a:pt x="1393" y="800"/>
                </a:lnTo>
                <a:lnTo>
                  <a:pt x="1409" y="795"/>
                </a:lnTo>
                <a:lnTo>
                  <a:pt x="1505" y="751"/>
                </a:lnTo>
                <a:lnTo>
                  <a:pt x="1570" y="718"/>
                </a:lnTo>
                <a:lnTo>
                  <a:pt x="1643" y="682"/>
                </a:lnTo>
                <a:lnTo>
                  <a:pt x="1810" y="613"/>
                </a:lnTo>
                <a:lnTo>
                  <a:pt x="1878" y="590"/>
                </a:lnTo>
                <a:lnTo>
                  <a:pt x="1938" y="570"/>
                </a:lnTo>
                <a:lnTo>
                  <a:pt x="2033" y="532"/>
                </a:lnTo>
                <a:lnTo>
                  <a:pt x="2052" y="518"/>
                </a:lnTo>
                <a:lnTo>
                  <a:pt x="2066" y="499"/>
                </a:lnTo>
                <a:lnTo>
                  <a:pt x="2110" y="403"/>
                </a:lnTo>
                <a:lnTo>
                  <a:pt x="2133" y="342"/>
                </a:lnTo>
                <a:lnTo>
                  <a:pt x="2181" y="220"/>
                </a:lnTo>
                <a:lnTo>
                  <a:pt x="2205" y="170"/>
                </a:lnTo>
                <a:lnTo>
                  <a:pt x="2211" y="165"/>
                </a:lnTo>
                <a:lnTo>
                  <a:pt x="2245" y="157"/>
                </a:lnTo>
                <a:lnTo>
                  <a:pt x="2351" y="152"/>
                </a:lnTo>
                <a:lnTo>
                  <a:pt x="2482" y="153"/>
                </a:lnTo>
                <a:lnTo>
                  <a:pt x="2742" y="158"/>
                </a:lnTo>
                <a:lnTo>
                  <a:pt x="2810" y="330"/>
                </a:lnTo>
                <a:close/>
                <a:moveTo>
                  <a:pt x="1273" y="1052"/>
                </a:moveTo>
                <a:lnTo>
                  <a:pt x="1312" y="1087"/>
                </a:lnTo>
                <a:lnTo>
                  <a:pt x="1352" y="1136"/>
                </a:lnTo>
                <a:lnTo>
                  <a:pt x="1371" y="1171"/>
                </a:lnTo>
                <a:lnTo>
                  <a:pt x="1385" y="1212"/>
                </a:lnTo>
                <a:lnTo>
                  <a:pt x="1393" y="1261"/>
                </a:lnTo>
                <a:lnTo>
                  <a:pt x="1400" y="1354"/>
                </a:lnTo>
                <a:lnTo>
                  <a:pt x="1400" y="1438"/>
                </a:lnTo>
                <a:lnTo>
                  <a:pt x="1400" y="1647"/>
                </a:lnTo>
                <a:lnTo>
                  <a:pt x="1342" y="1733"/>
                </a:lnTo>
                <a:lnTo>
                  <a:pt x="1319" y="1769"/>
                </a:lnTo>
                <a:lnTo>
                  <a:pt x="1287" y="1824"/>
                </a:lnTo>
                <a:lnTo>
                  <a:pt x="1283" y="1835"/>
                </a:lnTo>
                <a:lnTo>
                  <a:pt x="1285" y="1846"/>
                </a:lnTo>
                <a:lnTo>
                  <a:pt x="1303" y="1889"/>
                </a:lnTo>
                <a:lnTo>
                  <a:pt x="1317" y="1917"/>
                </a:lnTo>
                <a:lnTo>
                  <a:pt x="1330" y="1944"/>
                </a:lnTo>
                <a:lnTo>
                  <a:pt x="1347" y="1999"/>
                </a:lnTo>
                <a:lnTo>
                  <a:pt x="1351" y="2052"/>
                </a:lnTo>
                <a:lnTo>
                  <a:pt x="1344" y="2104"/>
                </a:lnTo>
                <a:lnTo>
                  <a:pt x="1324" y="2155"/>
                </a:lnTo>
                <a:lnTo>
                  <a:pt x="1292" y="2206"/>
                </a:lnTo>
                <a:lnTo>
                  <a:pt x="1248" y="2257"/>
                </a:lnTo>
                <a:lnTo>
                  <a:pt x="1192" y="2308"/>
                </a:lnTo>
                <a:lnTo>
                  <a:pt x="1158" y="2333"/>
                </a:lnTo>
                <a:lnTo>
                  <a:pt x="1131" y="2354"/>
                </a:lnTo>
                <a:lnTo>
                  <a:pt x="1094" y="2385"/>
                </a:lnTo>
                <a:lnTo>
                  <a:pt x="1075" y="2410"/>
                </a:lnTo>
                <a:lnTo>
                  <a:pt x="1069" y="2433"/>
                </a:lnTo>
                <a:lnTo>
                  <a:pt x="1070" y="2447"/>
                </a:lnTo>
                <a:lnTo>
                  <a:pt x="1072" y="2460"/>
                </a:lnTo>
                <a:lnTo>
                  <a:pt x="1081" y="2481"/>
                </a:lnTo>
                <a:lnTo>
                  <a:pt x="1094" y="2497"/>
                </a:lnTo>
                <a:lnTo>
                  <a:pt x="1112" y="2507"/>
                </a:lnTo>
                <a:lnTo>
                  <a:pt x="1134" y="2512"/>
                </a:lnTo>
                <a:lnTo>
                  <a:pt x="1158" y="2510"/>
                </a:lnTo>
                <a:lnTo>
                  <a:pt x="1186" y="2502"/>
                </a:lnTo>
                <a:lnTo>
                  <a:pt x="1215" y="2488"/>
                </a:lnTo>
                <a:lnTo>
                  <a:pt x="1230" y="2478"/>
                </a:lnTo>
                <a:lnTo>
                  <a:pt x="1297" y="2435"/>
                </a:lnTo>
                <a:lnTo>
                  <a:pt x="1342" y="2485"/>
                </a:lnTo>
                <a:lnTo>
                  <a:pt x="1357" y="2501"/>
                </a:lnTo>
                <a:lnTo>
                  <a:pt x="1376" y="2525"/>
                </a:lnTo>
                <a:lnTo>
                  <a:pt x="1382" y="2550"/>
                </a:lnTo>
                <a:lnTo>
                  <a:pt x="1377" y="2586"/>
                </a:lnTo>
                <a:lnTo>
                  <a:pt x="1372" y="2612"/>
                </a:lnTo>
                <a:lnTo>
                  <a:pt x="1367" y="2634"/>
                </a:lnTo>
                <a:lnTo>
                  <a:pt x="1362" y="2672"/>
                </a:lnTo>
                <a:lnTo>
                  <a:pt x="1363" y="2704"/>
                </a:lnTo>
                <a:lnTo>
                  <a:pt x="1371" y="2739"/>
                </a:lnTo>
                <a:lnTo>
                  <a:pt x="1378" y="2758"/>
                </a:lnTo>
                <a:lnTo>
                  <a:pt x="1389" y="2788"/>
                </a:lnTo>
                <a:lnTo>
                  <a:pt x="1401" y="2837"/>
                </a:lnTo>
                <a:lnTo>
                  <a:pt x="1401" y="2881"/>
                </a:lnTo>
                <a:lnTo>
                  <a:pt x="1389" y="2930"/>
                </a:lnTo>
                <a:lnTo>
                  <a:pt x="1378" y="2960"/>
                </a:lnTo>
                <a:lnTo>
                  <a:pt x="1365" y="2996"/>
                </a:lnTo>
                <a:lnTo>
                  <a:pt x="1360" y="3041"/>
                </a:lnTo>
                <a:lnTo>
                  <a:pt x="1363" y="3070"/>
                </a:lnTo>
                <a:lnTo>
                  <a:pt x="1367" y="3085"/>
                </a:lnTo>
                <a:lnTo>
                  <a:pt x="1372" y="3107"/>
                </a:lnTo>
                <a:lnTo>
                  <a:pt x="1377" y="3142"/>
                </a:lnTo>
                <a:lnTo>
                  <a:pt x="1375" y="3148"/>
                </a:lnTo>
                <a:lnTo>
                  <a:pt x="1330" y="3158"/>
                </a:lnTo>
                <a:lnTo>
                  <a:pt x="1197" y="3178"/>
                </a:lnTo>
                <a:lnTo>
                  <a:pt x="1151" y="3184"/>
                </a:lnTo>
                <a:lnTo>
                  <a:pt x="1067" y="3190"/>
                </a:lnTo>
                <a:lnTo>
                  <a:pt x="991" y="3190"/>
                </a:lnTo>
                <a:lnTo>
                  <a:pt x="920" y="3183"/>
                </a:lnTo>
                <a:lnTo>
                  <a:pt x="856" y="3171"/>
                </a:lnTo>
                <a:lnTo>
                  <a:pt x="798" y="3152"/>
                </a:lnTo>
                <a:lnTo>
                  <a:pt x="744" y="3127"/>
                </a:lnTo>
                <a:lnTo>
                  <a:pt x="695" y="3095"/>
                </a:lnTo>
                <a:lnTo>
                  <a:pt x="672" y="3077"/>
                </a:lnTo>
                <a:lnTo>
                  <a:pt x="617" y="3030"/>
                </a:lnTo>
                <a:lnTo>
                  <a:pt x="617" y="2478"/>
                </a:lnTo>
                <a:lnTo>
                  <a:pt x="618" y="2256"/>
                </a:lnTo>
                <a:lnTo>
                  <a:pt x="625" y="1945"/>
                </a:lnTo>
                <a:lnTo>
                  <a:pt x="630" y="1907"/>
                </a:lnTo>
                <a:lnTo>
                  <a:pt x="668" y="1873"/>
                </a:lnTo>
                <a:lnTo>
                  <a:pt x="767" y="1798"/>
                </a:lnTo>
                <a:lnTo>
                  <a:pt x="817" y="1761"/>
                </a:lnTo>
                <a:lnTo>
                  <a:pt x="902" y="1690"/>
                </a:lnTo>
                <a:lnTo>
                  <a:pt x="970" y="1621"/>
                </a:lnTo>
                <a:lnTo>
                  <a:pt x="1024" y="1553"/>
                </a:lnTo>
                <a:lnTo>
                  <a:pt x="1064" y="1481"/>
                </a:lnTo>
                <a:lnTo>
                  <a:pt x="1091" y="1404"/>
                </a:lnTo>
                <a:lnTo>
                  <a:pt x="1108" y="1318"/>
                </a:lnTo>
                <a:lnTo>
                  <a:pt x="1116" y="1222"/>
                </a:lnTo>
                <a:lnTo>
                  <a:pt x="1117" y="1168"/>
                </a:lnTo>
                <a:lnTo>
                  <a:pt x="1117" y="1096"/>
                </a:lnTo>
                <a:lnTo>
                  <a:pt x="1123" y="994"/>
                </a:lnTo>
                <a:lnTo>
                  <a:pt x="1127" y="980"/>
                </a:lnTo>
                <a:lnTo>
                  <a:pt x="1130" y="977"/>
                </a:lnTo>
                <a:lnTo>
                  <a:pt x="1141" y="974"/>
                </a:lnTo>
                <a:lnTo>
                  <a:pt x="1162" y="977"/>
                </a:lnTo>
                <a:lnTo>
                  <a:pt x="1200" y="996"/>
                </a:lnTo>
                <a:lnTo>
                  <a:pt x="1247" y="1029"/>
                </a:lnTo>
                <a:lnTo>
                  <a:pt x="1273" y="1052"/>
                </a:lnTo>
                <a:close/>
                <a:moveTo>
                  <a:pt x="3833" y="1180"/>
                </a:moveTo>
                <a:lnTo>
                  <a:pt x="3833" y="1240"/>
                </a:lnTo>
                <a:lnTo>
                  <a:pt x="3837" y="1325"/>
                </a:lnTo>
                <a:lnTo>
                  <a:pt x="3845" y="1385"/>
                </a:lnTo>
                <a:lnTo>
                  <a:pt x="3862" y="1434"/>
                </a:lnTo>
                <a:lnTo>
                  <a:pt x="3875" y="1462"/>
                </a:lnTo>
                <a:lnTo>
                  <a:pt x="3896" y="1503"/>
                </a:lnTo>
                <a:lnTo>
                  <a:pt x="3956" y="1590"/>
                </a:lnTo>
                <a:lnTo>
                  <a:pt x="4038" y="1679"/>
                </a:lnTo>
                <a:lnTo>
                  <a:pt x="4139" y="1768"/>
                </a:lnTo>
                <a:lnTo>
                  <a:pt x="4197" y="1812"/>
                </a:lnTo>
                <a:lnTo>
                  <a:pt x="4317" y="1900"/>
                </a:lnTo>
                <a:lnTo>
                  <a:pt x="4313" y="2478"/>
                </a:lnTo>
                <a:lnTo>
                  <a:pt x="4308" y="3057"/>
                </a:lnTo>
                <a:lnTo>
                  <a:pt x="4238" y="3105"/>
                </a:lnTo>
                <a:lnTo>
                  <a:pt x="4218" y="3118"/>
                </a:lnTo>
                <a:lnTo>
                  <a:pt x="4172" y="3140"/>
                </a:lnTo>
                <a:lnTo>
                  <a:pt x="4122" y="3159"/>
                </a:lnTo>
                <a:lnTo>
                  <a:pt x="4068" y="3173"/>
                </a:lnTo>
                <a:lnTo>
                  <a:pt x="3981" y="3187"/>
                </a:lnTo>
                <a:lnTo>
                  <a:pt x="3858" y="3190"/>
                </a:lnTo>
                <a:lnTo>
                  <a:pt x="3795" y="3183"/>
                </a:lnTo>
                <a:lnTo>
                  <a:pt x="3712" y="3173"/>
                </a:lnTo>
                <a:lnTo>
                  <a:pt x="3634" y="3161"/>
                </a:lnTo>
                <a:lnTo>
                  <a:pt x="3602" y="3153"/>
                </a:lnTo>
                <a:lnTo>
                  <a:pt x="3583" y="3142"/>
                </a:lnTo>
                <a:lnTo>
                  <a:pt x="3574" y="3127"/>
                </a:lnTo>
                <a:lnTo>
                  <a:pt x="3573" y="3095"/>
                </a:lnTo>
                <a:lnTo>
                  <a:pt x="3577" y="3062"/>
                </a:lnTo>
                <a:lnTo>
                  <a:pt x="3579" y="3039"/>
                </a:lnTo>
                <a:lnTo>
                  <a:pt x="3579" y="2999"/>
                </a:lnTo>
                <a:lnTo>
                  <a:pt x="3573" y="2965"/>
                </a:lnTo>
                <a:lnTo>
                  <a:pt x="3563" y="2933"/>
                </a:lnTo>
                <a:lnTo>
                  <a:pt x="3555" y="2917"/>
                </a:lnTo>
                <a:lnTo>
                  <a:pt x="3545" y="2897"/>
                </a:lnTo>
                <a:lnTo>
                  <a:pt x="3535" y="2870"/>
                </a:lnTo>
                <a:lnTo>
                  <a:pt x="3535" y="2847"/>
                </a:lnTo>
                <a:lnTo>
                  <a:pt x="3545" y="2820"/>
                </a:lnTo>
                <a:lnTo>
                  <a:pt x="3555" y="2800"/>
                </a:lnTo>
                <a:lnTo>
                  <a:pt x="3565" y="2777"/>
                </a:lnTo>
                <a:lnTo>
                  <a:pt x="3578" y="2717"/>
                </a:lnTo>
                <a:lnTo>
                  <a:pt x="3580" y="2652"/>
                </a:lnTo>
                <a:lnTo>
                  <a:pt x="3571" y="2591"/>
                </a:lnTo>
                <a:lnTo>
                  <a:pt x="3562" y="2567"/>
                </a:lnTo>
                <a:lnTo>
                  <a:pt x="3560" y="2561"/>
                </a:lnTo>
                <a:lnTo>
                  <a:pt x="3563" y="2544"/>
                </a:lnTo>
                <a:lnTo>
                  <a:pt x="3579" y="2511"/>
                </a:lnTo>
                <a:lnTo>
                  <a:pt x="3600" y="2487"/>
                </a:lnTo>
                <a:lnTo>
                  <a:pt x="3650" y="2432"/>
                </a:lnTo>
                <a:lnTo>
                  <a:pt x="3712" y="2475"/>
                </a:lnTo>
                <a:lnTo>
                  <a:pt x="3738" y="2492"/>
                </a:lnTo>
                <a:lnTo>
                  <a:pt x="3778" y="2511"/>
                </a:lnTo>
                <a:lnTo>
                  <a:pt x="3810" y="2514"/>
                </a:lnTo>
                <a:lnTo>
                  <a:pt x="3838" y="2501"/>
                </a:lnTo>
                <a:lnTo>
                  <a:pt x="3853" y="2488"/>
                </a:lnTo>
                <a:lnTo>
                  <a:pt x="3869" y="2473"/>
                </a:lnTo>
                <a:lnTo>
                  <a:pt x="3881" y="2449"/>
                </a:lnTo>
                <a:lnTo>
                  <a:pt x="3882" y="2434"/>
                </a:lnTo>
                <a:lnTo>
                  <a:pt x="3875" y="2409"/>
                </a:lnTo>
                <a:lnTo>
                  <a:pt x="3845" y="2375"/>
                </a:lnTo>
                <a:lnTo>
                  <a:pt x="3822" y="2357"/>
                </a:lnTo>
                <a:lnTo>
                  <a:pt x="3786" y="2330"/>
                </a:lnTo>
                <a:lnTo>
                  <a:pt x="3722" y="2277"/>
                </a:lnTo>
                <a:lnTo>
                  <a:pt x="3671" y="2227"/>
                </a:lnTo>
                <a:lnTo>
                  <a:pt x="3635" y="2182"/>
                </a:lnTo>
                <a:lnTo>
                  <a:pt x="3623" y="2163"/>
                </a:lnTo>
                <a:lnTo>
                  <a:pt x="3612" y="2138"/>
                </a:lnTo>
                <a:lnTo>
                  <a:pt x="3601" y="2076"/>
                </a:lnTo>
                <a:lnTo>
                  <a:pt x="3605" y="2007"/>
                </a:lnTo>
                <a:lnTo>
                  <a:pt x="3622" y="1939"/>
                </a:lnTo>
                <a:lnTo>
                  <a:pt x="3637" y="1907"/>
                </a:lnTo>
                <a:lnTo>
                  <a:pt x="3672" y="1833"/>
                </a:lnTo>
                <a:lnTo>
                  <a:pt x="3615" y="1755"/>
                </a:lnTo>
                <a:lnTo>
                  <a:pt x="3558" y="1675"/>
                </a:lnTo>
                <a:lnTo>
                  <a:pt x="3558" y="1430"/>
                </a:lnTo>
                <a:lnTo>
                  <a:pt x="3558" y="1187"/>
                </a:lnTo>
                <a:lnTo>
                  <a:pt x="3608" y="1115"/>
                </a:lnTo>
                <a:lnTo>
                  <a:pt x="3629" y="1088"/>
                </a:lnTo>
                <a:lnTo>
                  <a:pt x="3688" y="1035"/>
                </a:lnTo>
                <a:lnTo>
                  <a:pt x="3753" y="993"/>
                </a:lnTo>
                <a:lnTo>
                  <a:pt x="3793" y="976"/>
                </a:lnTo>
                <a:lnTo>
                  <a:pt x="3812" y="974"/>
                </a:lnTo>
                <a:lnTo>
                  <a:pt x="3818" y="977"/>
                </a:lnTo>
                <a:lnTo>
                  <a:pt x="3821" y="981"/>
                </a:lnTo>
                <a:lnTo>
                  <a:pt x="3827" y="1014"/>
                </a:lnTo>
                <a:lnTo>
                  <a:pt x="3833" y="1102"/>
                </a:lnTo>
                <a:lnTo>
                  <a:pt x="3833" y="1180"/>
                </a:lnTo>
                <a:close/>
                <a:moveTo>
                  <a:pt x="2637" y="1435"/>
                </a:moveTo>
                <a:lnTo>
                  <a:pt x="2690" y="1445"/>
                </a:lnTo>
                <a:lnTo>
                  <a:pt x="2815" y="1479"/>
                </a:lnTo>
                <a:lnTo>
                  <a:pt x="2867" y="1498"/>
                </a:lnTo>
                <a:lnTo>
                  <a:pt x="2911" y="1518"/>
                </a:lnTo>
                <a:lnTo>
                  <a:pt x="3016" y="1576"/>
                </a:lnTo>
                <a:lnTo>
                  <a:pt x="3114" y="1639"/>
                </a:lnTo>
                <a:lnTo>
                  <a:pt x="3164" y="1678"/>
                </a:lnTo>
                <a:lnTo>
                  <a:pt x="3182" y="1696"/>
                </a:lnTo>
                <a:lnTo>
                  <a:pt x="3183" y="1702"/>
                </a:lnTo>
                <a:lnTo>
                  <a:pt x="3181" y="1705"/>
                </a:lnTo>
                <a:lnTo>
                  <a:pt x="3156" y="1710"/>
                </a:lnTo>
                <a:lnTo>
                  <a:pt x="3083" y="1716"/>
                </a:lnTo>
                <a:lnTo>
                  <a:pt x="3017" y="1717"/>
                </a:lnTo>
                <a:lnTo>
                  <a:pt x="2949" y="1717"/>
                </a:lnTo>
                <a:lnTo>
                  <a:pt x="2848" y="1727"/>
                </a:lnTo>
                <a:lnTo>
                  <a:pt x="2792" y="1742"/>
                </a:lnTo>
                <a:lnTo>
                  <a:pt x="2761" y="1757"/>
                </a:lnTo>
                <a:lnTo>
                  <a:pt x="2720" y="1787"/>
                </a:lnTo>
                <a:lnTo>
                  <a:pt x="2695" y="1815"/>
                </a:lnTo>
                <a:lnTo>
                  <a:pt x="2676" y="1840"/>
                </a:lnTo>
                <a:lnTo>
                  <a:pt x="2650" y="1896"/>
                </a:lnTo>
                <a:lnTo>
                  <a:pt x="2637" y="1955"/>
                </a:lnTo>
                <a:lnTo>
                  <a:pt x="2639" y="2015"/>
                </a:lnTo>
                <a:lnTo>
                  <a:pt x="2647" y="2045"/>
                </a:lnTo>
                <a:lnTo>
                  <a:pt x="2652" y="2064"/>
                </a:lnTo>
                <a:lnTo>
                  <a:pt x="2657" y="2092"/>
                </a:lnTo>
                <a:lnTo>
                  <a:pt x="2652" y="2115"/>
                </a:lnTo>
                <a:lnTo>
                  <a:pt x="2636" y="2141"/>
                </a:lnTo>
                <a:lnTo>
                  <a:pt x="2623" y="2158"/>
                </a:lnTo>
                <a:lnTo>
                  <a:pt x="2607" y="2181"/>
                </a:lnTo>
                <a:lnTo>
                  <a:pt x="2583" y="2227"/>
                </a:lnTo>
                <a:lnTo>
                  <a:pt x="2567" y="2273"/>
                </a:lnTo>
                <a:lnTo>
                  <a:pt x="2560" y="2319"/>
                </a:lnTo>
                <a:lnTo>
                  <a:pt x="2563" y="2365"/>
                </a:lnTo>
                <a:lnTo>
                  <a:pt x="2574" y="2409"/>
                </a:lnTo>
                <a:lnTo>
                  <a:pt x="2594" y="2452"/>
                </a:lnTo>
                <a:lnTo>
                  <a:pt x="2623" y="2492"/>
                </a:lnTo>
                <a:lnTo>
                  <a:pt x="2642" y="2512"/>
                </a:lnTo>
                <a:lnTo>
                  <a:pt x="2660" y="2530"/>
                </a:lnTo>
                <a:lnTo>
                  <a:pt x="2682" y="2558"/>
                </a:lnTo>
                <a:lnTo>
                  <a:pt x="2692" y="2585"/>
                </a:lnTo>
                <a:lnTo>
                  <a:pt x="2692" y="2622"/>
                </a:lnTo>
                <a:lnTo>
                  <a:pt x="2688" y="2648"/>
                </a:lnTo>
                <a:lnTo>
                  <a:pt x="2686" y="2682"/>
                </a:lnTo>
                <a:lnTo>
                  <a:pt x="2694" y="2745"/>
                </a:lnTo>
                <a:lnTo>
                  <a:pt x="2717" y="2804"/>
                </a:lnTo>
                <a:lnTo>
                  <a:pt x="2754" y="2855"/>
                </a:lnTo>
                <a:lnTo>
                  <a:pt x="2778" y="2877"/>
                </a:lnTo>
                <a:lnTo>
                  <a:pt x="2792" y="2888"/>
                </a:lnTo>
                <a:lnTo>
                  <a:pt x="2808" y="2907"/>
                </a:lnTo>
                <a:lnTo>
                  <a:pt x="2812" y="2926"/>
                </a:lnTo>
                <a:lnTo>
                  <a:pt x="2805" y="2953"/>
                </a:lnTo>
                <a:lnTo>
                  <a:pt x="2798" y="2972"/>
                </a:lnTo>
                <a:lnTo>
                  <a:pt x="2793" y="2988"/>
                </a:lnTo>
                <a:lnTo>
                  <a:pt x="2788" y="3020"/>
                </a:lnTo>
                <a:lnTo>
                  <a:pt x="2787" y="3052"/>
                </a:lnTo>
                <a:lnTo>
                  <a:pt x="2793" y="3085"/>
                </a:lnTo>
                <a:lnTo>
                  <a:pt x="2804" y="3117"/>
                </a:lnTo>
                <a:lnTo>
                  <a:pt x="2820" y="3148"/>
                </a:lnTo>
                <a:lnTo>
                  <a:pt x="2853" y="3194"/>
                </a:lnTo>
                <a:lnTo>
                  <a:pt x="2883" y="3223"/>
                </a:lnTo>
                <a:lnTo>
                  <a:pt x="2903" y="3241"/>
                </a:lnTo>
                <a:lnTo>
                  <a:pt x="2936" y="3265"/>
                </a:lnTo>
                <a:lnTo>
                  <a:pt x="2967" y="3278"/>
                </a:lnTo>
                <a:lnTo>
                  <a:pt x="3003" y="3283"/>
                </a:lnTo>
                <a:lnTo>
                  <a:pt x="3025" y="3283"/>
                </a:lnTo>
                <a:lnTo>
                  <a:pt x="3055" y="3284"/>
                </a:lnTo>
                <a:lnTo>
                  <a:pt x="3088" y="3290"/>
                </a:lnTo>
                <a:lnTo>
                  <a:pt x="3099" y="3296"/>
                </a:lnTo>
                <a:lnTo>
                  <a:pt x="3100" y="3300"/>
                </a:lnTo>
                <a:lnTo>
                  <a:pt x="3096" y="3309"/>
                </a:lnTo>
                <a:lnTo>
                  <a:pt x="3060" y="3340"/>
                </a:lnTo>
                <a:lnTo>
                  <a:pt x="2999" y="3379"/>
                </a:lnTo>
                <a:lnTo>
                  <a:pt x="2926" y="3418"/>
                </a:lnTo>
                <a:lnTo>
                  <a:pt x="2888" y="3435"/>
                </a:lnTo>
                <a:lnTo>
                  <a:pt x="2830" y="3458"/>
                </a:lnTo>
                <a:lnTo>
                  <a:pt x="2704" y="3492"/>
                </a:lnTo>
                <a:lnTo>
                  <a:pt x="2573" y="3511"/>
                </a:lnTo>
                <a:lnTo>
                  <a:pt x="2440" y="3514"/>
                </a:lnTo>
                <a:lnTo>
                  <a:pt x="2307" y="3502"/>
                </a:lnTo>
                <a:lnTo>
                  <a:pt x="2178" y="3477"/>
                </a:lnTo>
                <a:lnTo>
                  <a:pt x="2058" y="3437"/>
                </a:lnTo>
                <a:lnTo>
                  <a:pt x="1975" y="3397"/>
                </a:lnTo>
                <a:lnTo>
                  <a:pt x="1924" y="3367"/>
                </a:lnTo>
                <a:lnTo>
                  <a:pt x="1900" y="3350"/>
                </a:lnTo>
                <a:lnTo>
                  <a:pt x="1877" y="3333"/>
                </a:lnTo>
                <a:lnTo>
                  <a:pt x="1858" y="3314"/>
                </a:lnTo>
                <a:lnTo>
                  <a:pt x="1852" y="3303"/>
                </a:lnTo>
                <a:lnTo>
                  <a:pt x="1853" y="3295"/>
                </a:lnTo>
                <a:lnTo>
                  <a:pt x="1861" y="3289"/>
                </a:lnTo>
                <a:lnTo>
                  <a:pt x="1884" y="3284"/>
                </a:lnTo>
                <a:lnTo>
                  <a:pt x="1908" y="3283"/>
                </a:lnTo>
                <a:lnTo>
                  <a:pt x="1938" y="3282"/>
                </a:lnTo>
                <a:lnTo>
                  <a:pt x="1994" y="3268"/>
                </a:lnTo>
                <a:lnTo>
                  <a:pt x="2044" y="3241"/>
                </a:lnTo>
                <a:lnTo>
                  <a:pt x="2088" y="3204"/>
                </a:lnTo>
                <a:lnTo>
                  <a:pt x="2123" y="3159"/>
                </a:lnTo>
                <a:lnTo>
                  <a:pt x="2147" y="3109"/>
                </a:lnTo>
                <a:lnTo>
                  <a:pt x="2159" y="3056"/>
                </a:lnTo>
                <a:lnTo>
                  <a:pt x="2157" y="3002"/>
                </a:lnTo>
                <a:lnTo>
                  <a:pt x="2150" y="2975"/>
                </a:lnTo>
                <a:lnTo>
                  <a:pt x="2144" y="2956"/>
                </a:lnTo>
                <a:lnTo>
                  <a:pt x="2138" y="2929"/>
                </a:lnTo>
                <a:lnTo>
                  <a:pt x="2143" y="2909"/>
                </a:lnTo>
                <a:lnTo>
                  <a:pt x="2158" y="2889"/>
                </a:lnTo>
                <a:lnTo>
                  <a:pt x="2172" y="2877"/>
                </a:lnTo>
                <a:lnTo>
                  <a:pt x="2198" y="2851"/>
                </a:lnTo>
                <a:lnTo>
                  <a:pt x="2236" y="2797"/>
                </a:lnTo>
                <a:lnTo>
                  <a:pt x="2257" y="2740"/>
                </a:lnTo>
                <a:lnTo>
                  <a:pt x="2263" y="2675"/>
                </a:lnTo>
                <a:lnTo>
                  <a:pt x="2260" y="2640"/>
                </a:lnTo>
                <a:lnTo>
                  <a:pt x="2257" y="2612"/>
                </a:lnTo>
                <a:lnTo>
                  <a:pt x="2256" y="2575"/>
                </a:lnTo>
                <a:lnTo>
                  <a:pt x="2263" y="2552"/>
                </a:lnTo>
                <a:lnTo>
                  <a:pt x="2280" y="2534"/>
                </a:lnTo>
                <a:lnTo>
                  <a:pt x="2293" y="2525"/>
                </a:lnTo>
                <a:lnTo>
                  <a:pt x="2307" y="2515"/>
                </a:lnTo>
                <a:lnTo>
                  <a:pt x="2332" y="2489"/>
                </a:lnTo>
                <a:lnTo>
                  <a:pt x="2352" y="2455"/>
                </a:lnTo>
                <a:lnTo>
                  <a:pt x="2368" y="2417"/>
                </a:lnTo>
                <a:lnTo>
                  <a:pt x="2378" y="2375"/>
                </a:lnTo>
                <a:lnTo>
                  <a:pt x="2383" y="2332"/>
                </a:lnTo>
                <a:lnTo>
                  <a:pt x="2382" y="2290"/>
                </a:lnTo>
                <a:lnTo>
                  <a:pt x="2375" y="2249"/>
                </a:lnTo>
                <a:lnTo>
                  <a:pt x="2368" y="2230"/>
                </a:lnTo>
                <a:lnTo>
                  <a:pt x="2360" y="2212"/>
                </a:lnTo>
                <a:lnTo>
                  <a:pt x="2333" y="2171"/>
                </a:lnTo>
                <a:lnTo>
                  <a:pt x="2318" y="2153"/>
                </a:lnTo>
                <a:lnTo>
                  <a:pt x="2307" y="2142"/>
                </a:lnTo>
                <a:lnTo>
                  <a:pt x="2293" y="2122"/>
                </a:lnTo>
                <a:lnTo>
                  <a:pt x="2290" y="2101"/>
                </a:lnTo>
                <a:lnTo>
                  <a:pt x="2295" y="2072"/>
                </a:lnTo>
                <a:lnTo>
                  <a:pt x="2302" y="2052"/>
                </a:lnTo>
                <a:lnTo>
                  <a:pt x="2310" y="2020"/>
                </a:lnTo>
                <a:lnTo>
                  <a:pt x="2313" y="1956"/>
                </a:lnTo>
                <a:lnTo>
                  <a:pt x="2301" y="1896"/>
                </a:lnTo>
                <a:lnTo>
                  <a:pt x="2274" y="1840"/>
                </a:lnTo>
                <a:lnTo>
                  <a:pt x="2255" y="1815"/>
                </a:lnTo>
                <a:lnTo>
                  <a:pt x="2230" y="1787"/>
                </a:lnTo>
                <a:lnTo>
                  <a:pt x="2189" y="1757"/>
                </a:lnTo>
                <a:lnTo>
                  <a:pt x="2158" y="1742"/>
                </a:lnTo>
                <a:lnTo>
                  <a:pt x="2102" y="1727"/>
                </a:lnTo>
                <a:lnTo>
                  <a:pt x="2001" y="1717"/>
                </a:lnTo>
                <a:lnTo>
                  <a:pt x="1933" y="1717"/>
                </a:lnTo>
                <a:lnTo>
                  <a:pt x="1867" y="1716"/>
                </a:lnTo>
                <a:lnTo>
                  <a:pt x="1794" y="1710"/>
                </a:lnTo>
                <a:lnTo>
                  <a:pt x="1769" y="1705"/>
                </a:lnTo>
                <a:lnTo>
                  <a:pt x="1767" y="1702"/>
                </a:lnTo>
                <a:lnTo>
                  <a:pt x="1771" y="1692"/>
                </a:lnTo>
                <a:lnTo>
                  <a:pt x="1814" y="1652"/>
                </a:lnTo>
                <a:lnTo>
                  <a:pt x="1883" y="1602"/>
                </a:lnTo>
                <a:lnTo>
                  <a:pt x="1960" y="1554"/>
                </a:lnTo>
                <a:lnTo>
                  <a:pt x="1995" y="1535"/>
                </a:lnTo>
                <a:lnTo>
                  <a:pt x="2033" y="1516"/>
                </a:lnTo>
                <a:lnTo>
                  <a:pt x="2110" y="1485"/>
                </a:lnTo>
                <a:lnTo>
                  <a:pt x="2188" y="1459"/>
                </a:lnTo>
                <a:lnTo>
                  <a:pt x="2267" y="1441"/>
                </a:lnTo>
                <a:lnTo>
                  <a:pt x="2347" y="1428"/>
                </a:lnTo>
                <a:lnTo>
                  <a:pt x="2428" y="1422"/>
                </a:lnTo>
                <a:lnTo>
                  <a:pt x="2511" y="1422"/>
                </a:lnTo>
                <a:lnTo>
                  <a:pt x="2594" y="1429"/>
                </a:lnTo>
                <a:lnTo>
                  <a:pt x="2637" y="1435"/>
                </a:lnTo>
                <a:close/>
                <a:moveTo>
                  <a:pt x="2123" y="1910"/>
                </a:moveTo>
                <a:lnTo>
                  <a:pt x="2135" y="1923"/>
                </a:lnTo>
                <a:lnTo>
                  <a:pt x="2148" y="1957"/>
                </a:lnTo>
                <a:lnTo>
                  <a:pt x="2148" y="1994"/>
                </a:lnTo>
                <a:lnTo>
                  <a:pt x="2135" y="2028"/>
                </a:lnTo>
                <a:lnTo>
                  <a:pt x="2123" y="2042"/>
                </a:lnTo>
                <a:lnTo>
                  <a:pt x="2114" y="2049"/>
                </a:lnTo>
                <a:lnTo>
                  <a:pt x="2082" y="2059"/>
                </a:lnTo>
                <a:lnTo>
                  <a:pt x="1977" y="2065"/>
                </a:lnTo>
                <a:lnTo>
                  <a:pt x="1828" y="2063"/>
                </a:lnTo>
                <a:lnTo>
                  <a:pt x="1560" y="2058"/>
                </a:lnTo>
                <a:lnTo>
                  <a:pt x="1535" y="2015"/>
                </a:lnTo>
                <a:lnTo>
                  <a:pt x="1528" y="2001"/>
                </a:lnTo>
                <a:lnTo>
                  <a:pt x="1520" y="1980"/>
                </a:lnTo>
                <a:lnTo>
                  <a:pt x="1520" y="1962"/>
                </a:lnTo>
                <a:lnTo>
                  <a:pt x="1530" y="1941"/>
                </a:lnTo>
                <a:lnTo>
                  <a:pt x="1538" y="1927"/>
                </a:lnTo>
                <a:lnTo>
                  <a:pt x="1567" y="1883"/>
                </a:lnTo>
                <a:lnTo>
                  <a:pt x="1833" y="1883"/>
                </a:lnTo>
                <a:lnTo>
                  <a:pt x="1976" y="1884"/>
                </a:lnTo>
                <a:lnTo>
                  <a:pt x="2081" y="1892"/>
                </a:lnTo>
                <a:lnTo>
                  <a:pt x="2114" y="1902"/>
                </a:lnTo>
                <a:lnTo>
                  <a:pt x="2123" y="1910"/>
                </a:lnTo>
                <a:close/>
                <a:moveTo>
                  <a:pt x="3412" y="1927"/>
                </a:moveTo>
                <a:lnTo>
                  <a:pt x="3420" y="1941"/>
                </a:lnTo>
                <a:lnTo>
                  <a:pt x="3430" y="1962"/>
                </a:lnTo>
                <a:lnTo>
                  <a:pt x="3430" y="1980"/>
                </a:lnTo>
                <a:lnTo>
                  <a:pt x="3422" y="2001"/>
                </a:lnTo>
                <a:lnTo>
                  <a:pt x="3415" y="2015"/>
                </a:lnTo>
                <a:lnTo>
                  <a:pt x="3390" y="2058"/>
                </a:lnTo>
                <a:lnTo>
                  <a:pt x="3142" y="2063"/>
                </a:lnTo>
                <a:lnTo>
                  <a:pt x="3039" y="2064"/>
                </a:lnTo>
                <a:lnTo>
                  <a:pt x="2885" y="2062"/>
                </a:lnTo>
                <a:lnTo>
                  <a:pt x="2857" y="2060"/>
                </a:lnTo>
                <a:lnTo>
                  <a:pt x="2844" y="2056"/>
                </a:lnTo>
                <a:lnTo>
                  <a:pt x="2823" y="2042"/>
                </a:lnTo>
                <a:lnTo>
                  <a:pt x="2809" y="2023"/>
                </a:lnTo>
                <a:lnTo>
                  <a:pt x="2800" y="1999"/>
                </a:lnTo>
                <a:lnTo>
                  <a:pt x="2798" y="1974"/>
                </a:lnTo>
                <a:lnTo>
                  <a:pt x="2801" y="1949"/>
                </a:lnTo>
                <a:lnTo>
                  <a:pt x="2812" y="1926"/>
                </a:lnTo>
                <a:lnTo>
                  <a:pt x="2829" y="1905"/>
                </a:lnTo>
                <a:lnTo>
                  <a:pt x="2840" y="1897"/>
                </a:lnTo>
                <a:lnTo>
                  <a:pt x="2862" y="1892"/>
                </a:lnTo>
                <a:lnTo>
                  <a:pt x="3015" y="1884"/>
                </a:lnTo>
                <a:lnTo>
                  <a:pt x="3120" y="1883"/>
                </a:lnTo>
                <a:lnTo>
                  <a:pt x="3383" y="1883"/>
                </a:lnTo>
                <a:lnTo>
                  <a:pt x="3412" y="1927"/>
                </a:lnTo>
                <a:close/>
                <a:moveTo>
                  <a:pt x="463" y="2472"/>
                </a:moveTo>
                <a:lnTo>
                  <a:pt x="467" y="3002"/>
                </a:lnTo>
                <a:lnTo>
                  <a:pt x="313" y="2997"/>
                </a:lnTo>
                <a:lnTo>
                  <a:pt x="158" y="2992"/>
                </a:lnTo>
                <a:lnTo>
                  <a:pt x="153" y="2483"/>
                </a:lnTo>
                <a:lnTo>
                  <a:pt x="153" y="2279"/>
                </a:lnTo>
                <a:lnTo>
                  <a:pt x="155" y="1990"/>
                </a:lnTo>
                <a:lnTo>
                  <a:pt x="158" y="1953"/>
                </a:lnTo>
                <a:lnTo>
                  <a:pt x="161" y="1948"/>
                </a:lnTo>
                <a:lnTo>
                  <a:pt x="180" y="1940"/>
                </a:lnTo>
                <a:lnTo>
                  <a:pt x="240" y="1935"/>
                </a:lnTo>
                <a:lnTo>
                  <a:pt x="312" y="1937"/>
                </a:lnTo>
                <a:lnTo>
                  <a:pt x="458" y="1942"/>
                </a:lnTo>
                <a:lnTo>
                  <a:pt x="463" y="2472"/>
                </a:lnTo>
                <a:close/>
                <a:moveTo>
                  <a:pt x="4792" y="2467"/>
                </a:moveTo>
                <a:lnTo>
                  <a:pt x="4792" y="2992"/>
                </a:lnTo>
                <a:lnTo>
                  <a:pt x="4638" y="2997"/>
                </a:lnTo>
                <a:lnTo>
                  <a:pt x="4483" y="3002"/>
                </a:lnTo>
                <a:lnTo>
                  <a:pt x="4483" y="2478"/>
                </a:lnTo>
                <a:lnTo>
                  <a:pt x="4484" y="2269"/>
                </a:lnTo>
                <a:lnTo>
                  <a:pt x="4490" y="1978"/>
                </a:lnTo>
                <a:lnTo>
                  <a:pt x="4495" y="1943"/>
                </a:lnTo>
                <a:lnTo>
                  <a:pt x="4508" y="1939"/>
                </a:lnTo>
                <a:lnTo>
                  <a:pt x="4592" y="1936"/>
                </a:lnTo>
                <a:lnTo>
                  <a:pt x="4650" y="1937"/>
                </a:lnTo>
                <a:lnTo>
                  <a:pt x="4792" y="1942"/>
                </a:lnTo>
                <a:lnTo>
                  <a:pt x="4792" y="2467"/>
                </a:lnTo>
                <a:close/>
                <a:moveTo>
                  <a:pt x="2215" y="2285"/>
                </a:moveTo>
                <a:lnTo>
                  <a:pt x="2222" y="2299"/>
                </a:lnTo>
                <a:lnTo>
                  <a:pt x="2230" y="2320"/>
                </a:lnTo>
                <a:lnTo>
                  <a:pt x="2230" y="2338"/>
                </a:lnTo>
                <a:lnTo>
                  <a:pt x="2220" y="2359"/>
                </a:lnTo>
                <a:lnTo>
                  <a:pt x="2212" y="2373"/>
                </a:lnTo>
                <a:lnTo>
                  <a:pt x="2183" y="2417"/>
                </a:lnTo>
                <a:lnTo>
                  <a:pt x="1837" y="2417"/>
                </a:lnTo>
                <a:lnTo>
                  <a:pt x="1669" y="2416"/>
                </a:lnTo>
                <a:lnTo>
                  <a:pt x="1526" y="2410"/>
                </a:lnTo>
                <a:lnTo>
                  <a:pt x="1478" y="2402"/>
                </a:lnTo>
                <a:lnTo>
                  <a:pt x="1470" y="2397"/>
                </a:lnTo>
                <a:lnTo>
                  <a:pt x="1460" y="2385"/>
                </a:lnTo>
                <a:lnTo>
                  <a:pt x="1451" y="2352"/>
                </a:lnTo>
                <a:lnTo>
                  <a:pt x="1453" y="2314"/>
                </a:lnTo>
                <a:lnTo>
                  <a:pt x="1467" y="2278"/>
                </a:lnTo>
                <a:lnTo>
                  <a:pt x="1478" y="2263"/>
                </a:lnTo>
                <a:lnTo>
                  <a:pt x="1488" y="2254"/>
                </a:lnTo>
                <a:lnTo>
                  <a:pt x="1522" y="2241"/>
                </a:lnTo>
                <a:lnTo>
                  <a:pt x="1648" y="2235"/>
                </a:lnTo>
                <a:lnTo>
                  <a:pt x="1848" y="2237"/>
                </a:lnTo>
                <a:lnTo>
                  <a:pt x="2190" y="2242"/>
                </a:lnTo>
                <a:lnTo>
                  <a:pt x="2215" y="2285"/>
                </a:lnTo>
                <a:close/>
                <a:moveTo>
                  <a:pt x="3470" y="2262"/>
                </a:moveTo>
                <a:lnTo>
                  <a:pt x="3482" y="2273"/>
                </a:lnTo>
                <a:lnTo>
                  <a:pt x="3496" y="2301"/>
                </a:lnTo>
                <a:lnTo>
                  <a:pt x="3499" y="2333"/>
                </a:lnTo>
                <a:lnTo>
                  <a:pt x="3492" y="2367"/>
                </a:lnTo>
                <a:lnTo>
                  <a:pt x="3483" y="2385"/>
                </a:lnTo>
                <a:lnTo>
                  <a:pt x="3477" y="2395"/>
                </a:lnTo>
                <a:lnTo>
                  <a:pt x="3449" y="2408"/>
                </a:lnTo>
                <a:lnTo>
                  <a:pt x="3326" y="2416"/>
                </a:lnTo>
                <a:lnTo>
                  <a:pt x="3122" y="2417"/>
                </a:lnTo>
                <a:lnTo>
                  <a:pt x="2930" y="2416"/>
                </a:lnTo>
                <a:lnTo>
                  <a:pt x="2797" y="2409"/>
                </a:lnTo>
                <a:lnTo>
                  <a:pt x="2757" y="2397"/>
                </a:lnTo>
                <a:lnTo>
                  <a:pt x="2747" y="2388"/>
                </a:lnTo>
                <a:lnTo>
                  <a:pt x="2734" y="2376"/>
                </a:lnTo>
                <a:lnTo>
                  <a:pt x="2720" y="2349"/>
                </a:lnTo>
                <a:lnTo>
                  <a:pt x="2719" y="2320"/>
                </a:lnTo>
                <a:lnTo>
                  <a:pt x="2731" y="2288"/>
                </a:lnTo>
                <a:lnTo>
                  <a:pt x="2743" y="2270"/>
                </a:lnTo>
                <a:lnTo>
                  <a:pt x="2752" y="2258"/>
                </a:lnTo>
                <a:lnTo>
                  <a:pt x="2780" y="2243"/>
                </a:lnTo>
                <a:lnTo>
                  <a:pt x="2849" y="2235"/>
                </a:lnTo>
                <a:lnTo>
                  <a:pt x="2991" y="2233"/>
                </a:lnTo>
                <a:lnTo>
                  <a:pt x="3103" y="2233"/>
                </a:lnTo>
                <a:lnTo>
                  <a:pt x="3290" y="2234"/>
                </a:lnTo>
                <a:lnTo>
                  <a:pt x="3420" y="2241"/>
                </a:lnTo>
                <a:lnTo>
                  <a:pt x="3459" y="2253"/>
                </a:lnTo>
                <a:lnTo>
                  <a:pt x="3470" y="2262"/>
                </a:lnTo>
                <a:close/>
                <a:moveTo>
                  <a:pt x="2063" y="2610"/>
                </a:moveTo>
                <a:lnTo>
                  <a:pt x="2072" y="2617"/>
                </a:lnTo>
                <a:lnTo>
                  <a:pt x="2085" y="2633"/>
                </a:lnTo>
                <a:lnTo>
                  <a:pt x="2095" y="2651"/>
                </a:lnTo>
                <a:lnTo>
                  <a:pt x="2100" y="2672"/>
                </a:lnTo>
                <a:lnTo>
                  <a:pt x="2100" y="2683"/>
                </a:lnTo>
                <a:lnTo>
                  <a:pt x="2100" y="2699"/>
                </a:lnTo>
                <a:lnTo>
                  <a:pt x="2095" y="2724"/>
                </a:lnTo>
                <a:lnTo>
                  <a:pt x="2082" y="2744"/>
                </a:lnTo>
                <a:lnTo>
                  <a:pt x="2061" y="2759"/>
                </a:lnTo>
                <a:lnTo>
                  <a:pt x="2030" y="2770"/>
                </a:lnTo>
                <a:lnTo>
                  <a:pt x="1986" y="2777"/>
                </a:lnTo>
                <a:lnTo>
                  <a:pt x="1895" y="2783"/>
                </a:lnTo>
                <a:lnTo>
                  <a:pt x="1808" y="2783"/>
                </a:lnTo>
                <a:lnTo>
                  <a:pt x="1740" y="2783"/>
                </a:lnTo>
                <a:lnTo>
                  <a:pt x="1648" y="2781"/>
                </a:lnTo>
                <a:lnTo>
                  <a:pt x="1596" y="2774"/>
                </a:lnTo>
                <a:lnTo>
                  <a:pt x="1566" y="2760"/>
                </a:lnTo>
                <a:lnTo>
                  <a:pt x="1553" y="2750"/>
                </a:lnTo>
                <a:lnTo>
                  <a:pt x="1538" y="2734"/>
                </a:lnTo>
                <a:lnTo>
                  <a:pt x="1520" y="2700"/>
                </a:lnTo>
                <a:lnTo>
                  <a:pt x="1519" y="2666"/>
                </a:lnTo>
                <a:lnTo>
                  <a:pt x="1535" y="2633"/>
                </a:lnTo>
                <a:lnTo>
                  <a:pt x="1550" y="2617"/>
                </a:lnTo>
                <a:lnTo>
                  <a:pt x="1561" y="2606"/>
                </a:lnTo>
                <a:lnTo>
                  <a:pt x="1590" y="2593"/>
                </a:lnTo>
                <a:lnTo>
                  <a:pt x="1643" y="2586"/>
                </a:lnTo>
                <a:lnTo>
                  <a:pt x="1735" y="2583"/>
                </a:lnTo>
                <a:lnTo>
                  <a:pt x="1805" y="2583"/>
                </a:lnTo>
                <a:lnTo>
                  <a:pt x="1920" y="2584"/>
                </a:lnTo>
                <a:lnTo>
                  <a:pt x="2015" y="2592"/>
                </a:lnTo>
                <a:lnTo>
                  <a:pt x="2051" y="2602"/>
                </a:lnTo>
                <a:lnTo>
                  <a:pt x="2063" y="2610"/>
                </a:lnTo>
                <a:close/>
                <a:moveTo>
                  <a:pt x="3387" y="2603"/>
                </a:moveTo>
                <a:lnTo>
                  <a:pt x="3404" y="2619"/>
                </a:lnTo>
                <a:lnTo>
                  <a:pt x="3423" y="2653"/>
                </a:lnTo>
                <a:lnTo>
                  <a:pt x="3425" y="2689"/>
                </a:lnTo>
                <a:lnTo>
                  <a:pt x="3409" y="2725"/>
                </a:lnTo>
                <a:lnTo>
                  <a:pt x="3393" y="2742"/>
                </a:lnTo>
                <a:lnTo>
                  <a:pt x="3379" y="2755"/>
                </a:lnTo>
                <a:lnTo>
                  <a:pt x="3350" y="2773"/>
                </a:lnTo>
                <a:lnTo>
                  <a:pt x="3300" y="2781"/>
                </a:lnTo>
                <a:lnTo>
                  <a:pt x="3209" y="2783"/>
                </a:lnTo>
                <a:lnTo>
                  <a:pt x="3138" y="2783"/>
                </a:lnTo>
                <a:lnTo>
                  <a:pt x="3027" y="2783"/>
                </a:lnTo>
                <a:lnTo>
                  <a:pt x="2935" y="2775"/>
                </a:lnTo>
                <a:lnTo>
                  <a:pt x="2899" y="2764"/>
                </a:lnTo>
                <a:lnTo>
                  <a:pt x="2887" y="2757"/>
                </a:lnTo>
                <a:lnTo>
                  <a:pt x="2879" y="2751"/>
                </a:lnTo>
                <a:lnTo>
                  <a:pt x="2866" y="2736"/>
                </a:lnTo>
                <a:lnTo>
                  <a:pt x="2854" y="2710"/>
                </a:lnTo>
                <a:lnTo>
                  <a:pt x="2851" y="2670"/>
                </a:lnTo>
                <a:lnTo>
                  <a:pt x="2865" y="2630"/>
                </a:lnTo>
                <a:lnTo>
                  <a:pt x="2878" y="2613"/>
                </a:lnTo>
                <a:lnTo>
                  <a:pt x="2887" y="2604"/>
                </a:lnTo>
                <a:lnTo>
                  <a:pt x="2915" y="2592"/>
                </a:lnTo>
                <a:lnTo>
                  <a:pt x="3004" y="2584"/>
                </a:lnTo>
                <a:lnTo>
                  <a:pt x="3133" y="2583"/>
                </a:lnTo>
                <a:lnTo>
                  <a:pt x="3241" y="2584"/>
                </a:lnTo>
                <a:lnTo>
                  <a:pt x="3341" y="2591"/>
                </a:lnTo>
                <a:lnTo>
                  <a:pt x="3378" y="2599"/>
                </a:lnTo>
                <a:lnTo>
                  <a:pt x="3387" y="2603"/>
                </a:lnTo>
                <a:close/>
                <a:moveTo>
                  <a:pt x="1967" y="2967"/>
                </a:moveTo>
                <a:lnTo>
                  <a:pt x="1980" y="2982"/>
                </a:lnTo>
                <a:lnTo>
                  <a:pt x="1998" y="3018"/>
                </a:lnTo>
                <a:lnTo>
                  <a:pt x="2000" y="3033"/>
                </a:lnTo>
                <a:lnTo>
                  <a:pt x="1998" y="3049"/>
                </a:lnTo>
                <a:lnTo>
                  <a:pt x="1980" y="3085"/>
                </a:lnTo>
                <a:lnTo>
                  <a:pt x="1967" y="3100"/>
                </a:lnTo>
                <a:lnTo>
                  <a:pt x="1956" y="3110"/>
                </a:lnTo>
                <a:lnTo>
                  <a:pt x="1929" y="3123"/>
                </a:lnTo>
                <a:lnTo>
                  <a:pt x="1885" y="3130"/>
                </a:lnTo>
                <a:lnTo>
                  <a:pt x="1812" y="3133"/>
                </a:lnTo>
                <a:lnTo>
                  <a:pt x="1758" y="3133"/>
                </a:lnTo>
                <a:lnTo>
                  <a:pt x="1705" y="3133"/>
                </a:lnTo>
                <a:lnTo>
                  <a:pt x="1631" y="3130"/>
                </a:lnTo>
                <a:lnTo>
                  <a:pt x="1587" y="3123"/>
                </a:lnTo>
                <a:lnTo>
                  <a:pt x="1561" y="3110"/>
                </a:lnTo>
                <a:lnTo>
                  <a:pt x="1550" y="3100"/>
                </a:lnTo>
                <a:lnTo>
                  <a:pt x="1537" y="3085"/>
                </a:lnTo>
                <a:lnTo>
                  <a:pt x="1519" y="3049"/>
                </a:lnTo>
                <a:lnTo>
                  <a:pt x="1517" y="3033"/>
                </a:lnTo>
                <a:lnTo>
                  <a:pt x="1519" y="3018"/>
                </a:lnTo>
                <a:lnTo>
                  <a:pt x="1537" y="2982"/>
                </a:lnTo>
                <a:lnTo>
                  <a:pt x="1550" y="2967"/>
                </a:lnTo>
                <a:lnTo>
                  <a:pt x="1561" y="2957"/>
                </a:lnTo>
                <a:lnTo>
                  <a:pt x="1587" y="2943"/>
                </a:lnTo>
                <a:lnTo>
                  <a:pt x="1631" y="2936"/>
                </a:lnTo>
                <a:lnTo>
                  <a:pt x="1705" y="2933"/>
                </a:lnTo>
                <a:lnTo>
                  <a:pt x="1758" y="2933"/>
                </a:lnTo>
                <a:lnTo>
                  <a:pt x="1812" y="2933"/>
                </a:lnTo>
                <a:lnTo>
                  <a:pt x="1885" y="2936"/>
                </a:lnTo>
                <a:lnTo>
                  <a:pt x="1929" y="2943"/>
                </a:lnTo>
                <a:lnTo>
                  <a:pt x="1956" y="2957"/>
                </a:lnTo>
                <a:lnTo>
                  <a:pt x="1967" y="2967"/>
                </a:lnTo>
                <a:close/>
                <a:moveTo>
                  <a:pt x="3398" y="2977"/>
                </a:moveTo>
                <a:lnTo>
                  <a:pt x="3414" y="2996"/>
                </a:lnTo>
                <a:lnTo>
                  <a:pt x="3430" y="3025"/>
                </a:lnTo>
                <a:lnTo>
                  <a:pt x="3428" y="3049"/>
                </a:lnTo>
                <a:lnTo>
                  <a:pt x="3409" y="3075"/>
                </a:lnTo>
                <a:lnTo>
                  <a:pt x="3392" y="3092"/>
                </a:lnTo>
                <a:lnTo>
                  <a:pt x="3379" y="3105"/>
                </a:lnTo>
                <a:lnTo>
                  <a:pt x="3352" y="3122"/>
                </a:lnTo>
                <a:lnTo>
                  <a:pt x="3310" y="3130"/>
                </a:lnTo>
                <a:lnTo>
                  <a:pt x="3238" y="3133"/>
                </a:lnTo>
                <a:lnTo>
                  <a:pt x="3183" y="3133"/>
                </a:lnTo>
                <a:lnTo>
                  <a:pt x="3133" y="3133"/>
                </a:lnTo>
                <a:lnTo>
                  <a:pt x="3063" y="3130"/>
                </a:lnTo>
                <a:lnTo>
                  <a:pt x="3020" y="3123"/>
                </a:lnTo>
                <a:lnTo>
                  <a:pt x="2994" y="3110"/>
                </a:lnTo>
                <a:lnTo>
                  <a:pt x="2983" y="3100"/>
                </a:lnTo>
                <a:lnTo>
                  <a:pt x="2970" y="3085"/>
                </a:lnTo>
                <a:lnTo>
                  <a:pt x="2952" y="3049"/>
                </a:lnTo>
                <a:lnTo>
                  <a:pt x="2950" y="3033"/>
                </a:lnTo>
                <a:lnTo>
                  <a:pt x="2952" y="3018"/>
                </a:lnTo>
                <a:lnTo>
                  <a:pt x="2970" y="2982"/>
                </a:lnTo>
                <a:lnTo>
                  <a:pt x="2983" y="2967"/>
                </a:lnTo>
                <a:lnTo>
                  <a:pt x="2994" y="2957"/>
                </a:lnTo>
                <a:lnTo>
                  <a:pt x="3020" y="2943"/>
                </a:lnTo>
                <a:lnTo>
                  <a:pt x="3064" y="2936"/>
                </a:lnTo>
                <a:lnTo>
                  <a:pt x="3137" y="2933"/>
                </a:lnTo>
                <a:lnTo>
                  <a:pt x="3190" y="2933"/>
                </a:lnTo>
                <a:lnTo>
                  <a:pt x="3248" y="2933"/>
                </a:lnTo>
                <a:lnTo>
                  <a:pt x="3323" y="2936"/>
                </a:lnTo>
                <a:lnTo>
                  <a:pt x="3363" y="2944"/>
                </a:lnTo>
                <a:lnTo>
                  <a:pt x="3387" y="2962"/>
                </a:lnTo>
                <a:lnTo>
                  <a:pt x="3398" y="2977"/>
                </a:lnTo>
                <a:close/>
                <a:moveTo>
                  <a:pt x="770" y="3312"/>
                </a:moveTo>
                <a:lnTo>
                  <a:pt x="790" y="3319"/>
                </a:lnTo>
                <a:lnTo>
                  <a:pt x="845" y="3330"/>
                </a:lnTo>
                <a:lnTo>
                  <a:pt x="953" y="3340"/>
                </a:lnTo>
                <a:lnTo>
                  <a:pt x="1132" y="3340"/>
                </a:lnTo>
                <a:lnTo>
                  <a:pt x="1319" y="3325"/>
                </a:lnTo>
                <a:lnTo>
                  <a:pt x="1405" y="3312"/>
                </a:lnTo>
                <a:lnTo>
                  <a:pt x="1568" y="3282"/>
                </a:lnTo>
                <a:lnTo>
                  <a:pt x="1638" y="3345"/>
                </a:lnTo>
                <a:lnTo>
                  <a:pt x="1667" y="3371"/>
                </a:lnTo>
                <a:lnTo>
                  <a:pt x="1727" y="3420"/>
                </a:lnTo>
                <a:lnTo>
                  <a:pt x="1791" y="3465"/>
                </a:lnTo>
                <a:lnTo>
                  <a:pt x="1857" y="3507"/>
                </a:lnTo>
                <a:lnTo>
                  <a:pt x="1962" y="3562"/>
                </a:lnTo>
                <a:lnTo>
                  <a:pt x="2071" y="3608"/>
                </a:lnTo>
                <a:lnTo>
                  <a:pt x="2147" y="3633"/>
                </a:lnTo>
                <a:lnTo>
                  <a:pt x="2185" y="3643"/>
                </a:lnTo>
                <a:lnTo>
                  <a:pt x="2213" y="3650"/>
                </a:lnTo>
                <a:lnTo>
                  <a:pt x="2279" y="3661"/>
                </a:lnTo>
                <a:lnTo>
                  <a:pt x="2393" y="3671"/>
                </a:lnTo>
                <a:lnTo>
                  <a:pt x="2557" y="3671"/>
                </a:lnTo>
                <a:lnTo>
                  <a:pt x="2671" y="3661"/>
                </a:lnTo>
                <a:lnTo>
                  <a:pt x="2738" y="3650"/>
                </a:lnTo>
                <a:lnTo>
                  <a:pt x="2767" y="3643"/>
                </a:lnTo>
                <a:lnTo>
                  <a:pt x="2830" y="3625"/>
                </a:lnTo>
                <a:lnTo>
                  <a:pt x="2962" y="3573"/>
                </a:lnTo>
                <a:lnTo>
                  <a:pt x="3091" y="3504"/>
                </a:lnTo>
                <a:lnTo>
                  <a:pt x="3211" y="3426"/>
                </a:lnTo>
                <a:lnTo>
                  <a:pt x="3263" y="3383"/>
                </a:lnTo>
                <a:lnTo>
                  <a:pt x="3385" y="3282"/>
                </a:lnTo>
                <a:lnTo>
                  <a:pt x="3547" y="3312"/>
                </a:lnTo>
                <a:lnTo>
                  <a:pt x="3631" y="3325"/>
                </a:lnTo>
                <a:lnTo>
                  <a:pt x="3816" y="3339"/>
                </a:lnTo>
                <a:lnTo>
                  <a:pt x="3994" y="3339"/>
                </a:lnTo>
                <a:lnTo>
                  <a:pt x="4104" y="3329"/>
                </a:lnTo>
                <a:lnTo>
                  <a:pt x="4161" y="3319"/>
                </a:lnTo>
                <a:lnTo>
                  <a:pt x="4182" y="3312"/>
                </a:lnTo>
                <a:lnTo>
                  <a:pt x="4211" y="3300"/>
                </a:lnTo>
                <a:lnTo>
                  <a:pt x="4256" y="3289"/>
                </a:lnTo>
                <a:lnTo>
                  <a:pt x="4263" y="3290"/>
                </a:lnTo>
                <a:lnTo>
                  <a:pt x="4263" y="3300"/>
                </a:lnTo>
                <a:lnTo>
                  <a:pt x="4234" y="3364"/>
                </a:lnTo>
                <a:lnTo>
                  <a:pt x="4210" y="3408"/>
                </a:lnTo>
                <a:lnTo>
                  <a:pt x="4186" y="3454"/>
                </a:lnTo>
                <a:lnTo>
                  <a:pt x="4153" y="3527"/>
                </a:lnTo>
                <a:lnTo>
                  <a:pt x="4150" y="3543"/>
                </a:lnTo>
                <a:lnTo>
                  <a:pt x="4154" y="3564"/>
                </a:lnTo>
                <a:lnTo>
                  <a:pt x="4197" y="3673"/>
                </a:lnTo>
                <a:lnTo>
                  <a:pt x="4228" y="3745"/>
                </a:lnTo>
                <a:lnTo>
                  <a:pt x="4307" y="3918"/>
                </a:lnTo>
                <a:lnTo>
                  <a:pt x="4125" y="4100"/>
                </a:lnTo>
                <a:lnTo>
                  <a:pt x="4050" y="4174"/>
                </a:lnTo>
                <a:lnTo>
                  <a:pt x="3962" y="4253"/>
                </a:lnTo>
                <a:lnTo>
                  <a:pt x="3926" y="4281"/>
                </a:lnTo>
                <a:lnTo>
                  <a:pt x="3918" y="4283"/>
                </a:lnTo>
                <a:lnTo>
                  <a:pt x="3899" y="4279"/>
                </a:lnTo>
                <a:lnTo>
                  <a:pt x="3794" y="4239"/>
                </a:lnTo>
                <a:lnTo>
                  <a:pt x="3725" y="4208"/>
                </a:lnTo>
                <a:lnTo>
                  <a:pt x="3555" y="4132"/>
                </a:lnTo>
                <a:lnTo>
                  <a:pt x="3373" y="4223"/>
                </a:lnTo>
                <a:lnTo>
                  <a:pt x="3293" y="4262"/>
                </a:lnTo>
                <a:lnTo>
                  <a:pt x="3115" y="4335"/>
                </a:lnTo>
                <a:lnTo>
                  <a:pt x="3047" y="4358"/>
                </a:lnTo>
                <a:lnTo>
                  <a:pt x="2989" y="4376"/>
                </a:lnTo>
                <a:lnTo>
                  <a:pt x="2921" y="4403"/>
                </a:lnTo>
                <a:lnTo>
                  <a:pt x="2893" y="4417"/>
                </a:lnTo>
                <a:lnTo>
                  <a:pt x="2888" y="4422"/>
                </a:lnTo>
                <a:lnTo>
                  <a:pt x="2878" y="4440"/>
                </a:lnTo>
                <a:lnTo>
                  <a:pt x="2835" y="4543"/>
                </a:lnTo>
                <a:lnTo>
                  <a:pt x="2808" y="4612"/>
                </a:lnTo>
                <a:lnTo>
                  <a:pt x="2745" y="4783"/>
                </a:lnTo>
                <a:lnTo>
                  <a:pt x="2475" y="4783"/>
                </a:lnTo>
                <a:lnTo>
                  <a:pt x="2205" y="4783"/>
                </a:lnTo>
                <a:lnTo>
                  <a:pt x="2132" y="4595"/>
                </a:lnTo>
                <a:lnTo>
                  <a:pt x="2057" y="4408"/>
                </a:lnTo>
                <a:lnTo>
                  <a:pt x="1892" y="4355"/>
                </a:lnTo>
                <a:lnTo>
                  <a:pt x="1816" y="4329"/>
                </a:lnTo>
                <a:lnTo>
                  <a:pt x="1634" y="4254"/>
                </a:lnTo>
                <a:lnTo>
                  <a:pt x="1558" y="4217"/>
                </a:lnTo>
                <a:lnTo>
                  <a:pt x="1392" y="4132"/>
                </a:lnTo>
                <a:lnTo>
                  <a:pt x="1223" y="4207"/>
                </a:lnTo>
                <a:lnTo>
                  <a:pt x="1154" y="4237"/>
                </a:lnTo>
                <a:lnTo>
                  <a:pt x="1050" y="4279"/>
                </a:lnTo>
                <a:lnTo>
                  <a:pt x="1032" y="4283"/>
                </a:lnTo>
                <a:lnTo>
                  <a:pt x="1024" y="4281"/>
                </a:lnTo>
                <a:lnTo>
                  <a:pt x="988" y="4252"/>
                </a:lnTo>
                <a:lnTo>
                  <a:pt x="901" y="4173"/>
                </a:lnTo>
                <a:lnTo>
                  <a:pt x="763" y="4038"/>
                </a:lnTo>
                <a:lnTo>
                  <a:pt x="682" y="3954"/>
                </a:lnTo>
                <a:lnTo>
                  <a:pt x="653" y="3919"/>
                </a:lnTo>
                <a:lnTo>
                  <a:pt x="650" y="3912"/>
                </a:lnTo>
                <a:lnTo>
                  <a:pt x="654" y="3896"/>
                </a:lnTo>
                <a:lnTo>
                  <a:pt x="697" y="3793"/>
                </a:lnTo>
                <a:lnTo>
                  <a:pt x="728" y="3722"/>
                </a:lnTo>
                <a:lnTo>
                  <a:pt x="807" y="3548"/>
                </a:lnTo>
                <a:lnTo>
                  <a:pt x="745" y="3428"/>
                </a:lnTo>
                <a:lnTo>
                  <a:pt x="716" y="3372"/>
                </a:lnTo>
                <a:lnTo>
                  <a:pt x="692" y="3320"/>
                </a:lnTo>
                <a:lnTo>
                  <a:pt x="685" y="3299"/>
                </a:lnTo>
                <a:lnTo>
                  <a:pt x="688" y="3288"/>
                </a:lnTo>
                <a:lnTo>
                  <a:pt x="699" y="3286"/>
                </a:lnTo>
                <a:lnTo>
                  <a:pt x="733" y="3297"/>
                </a:lnTo>
                <a:lnTo>
                  <a:pt x="770" y="331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600"/>
          </a:p>
        </p:txBody>
      </p:sp>
      <p:sp>
        <p:nvSpPr>
          <p:cNvPr id="70" name="TextBox 69">
            <a:extLst>
              <a:ext uri="{FF2B5EF4-FFF2-40B4-BE49-F238E27FC236}">
                <a16:creationId xmlns:a16="http://schemas.microsoft.com/office/drawing/2014/main" id="{8B3FCC78-A390-692F-D013-F73EA36E04CE}"/>
              </a:ext>
            </a:extLst>
          </p:cNvPr>
          <p:cNvSpPr txBox="1"/>
          <p:nvPr/>
        </p:nvSpPr>
        <p:spPr>
          <a:xfrm>
            <a:off x="2180903" y="2579972"/>
            <a:ext cx="1544983" cy="1716648"/>
          </a:xfrm>
          <a:prstGeom prst="rect">
            <a:avLst/>
          </a:prstGeom>
          <a:noFill/>
        </p:spPr>
        <p:txBody>
          <a:bodyPr wrap="square" rtlCol="0">
            <a:spAutoFit/>
          </a:bodyPr>
          <a:lstStyle/>
          <a:p>
            <a:pPr algn="justLow" rtl="1"/>
            <a:r>
              <a:rPr lang="ar-SA" sz="1100" dirty="0"/>
              <a:t>إزالة التعقيد من خلال توحيد الأنظمة وتقليل عدد التطبيقات المتداخلة وإنشاء حلول قابلة للتشغيل المتبادل وأسهل في الصيانة والتوسع.</a:t>
            </a:r>
            <a:endParaRPr lang="en-US" sz="1100" dirty="0"/>
          </a:p>
        </p:txBody>
      </p:sp>
      <p:sp>
        <p:nvSpPr>
          <p:cNvPr id="71" name="TextBox 70">
            <a:extLst>
              <a:ext uri="{FF2B5EF4-FFF2-40B4-BE49-F238E27FC236}">
                <a16:creationId xmlns:a16="http://schemas.microsoft.com/office/drawing/2014/main" id="{CB11D718-9A3C-097C-AFF7-74B3EED91828}"/>
              </a:ext>
            </a:extLst>
          </p:cNvPr>
          <p:cNvSpPr txBox="1"/>
          <p:nvPr/>
        </p:nvSpPr>
        <p:spPr>
          <a:xfrm>
            <a:off x="2227561" y="4564575"/>
            <a:ext cx="1451669" cy="953377"/>
          </a:xfrm>
          <a:prstGeom prst="rect">
            <a:avLst/>
          </a:prstGeom>
          <a:noFill/>
        </p:spPr>
        <p:txBody>
          <a:bodyPr wrap="square" rtlCol="0">
            <a:spAutoFit/>
          </a:bodyPr>
          <a:lstStyle/>
          <a:p>
            <a:pPr algn="justLow" rtl="1"/>
            <a:r>
              <a:rPr lang="ar-SA" sz="1000" dirty="0"/>
              <a:t>مثال: الانتقال بتطبيق </a:t>
            </a:r>
            <a:r>
              <a:rPr lang="en-US" sz="1000" dirty="0"/>
              <a:t>CRM</a:t>
            </a:r>
            <a:r>
              <a:rPr lang="ar-SA" sz="1000" dirty="0"/>
              <a:t> من الاستضافة المحلية إلى خدمات استضافة سحابية لتقليل نفقات ومخاطر التشغيل وتحسين إتاحة الخدمات</a:t>
            </a:r>
            <a:endParaRPr lang="en-US" sz="1000" dirty="0"/>
          </a:p>
        </p:txBody>
      </p:sp>
      <p:sp>
        <p:nvSpPr>
          <p:cNvPr id="72" name="TextBox 133">
            <a:extLst>
              <a:ext uri="{FF2B5EF4-FFF2-40B4-BE49-F238E27FC236}">
                <a16:creationId xmlns:a16="http://schemas.microsoft.com/office/drawing/2014/main" id="{853B6D19-33C4-0210-C061-17A01AED6971}"/>
              </a:ext>
            </a:extLst>
          </p:cNvPr>
          <p:cNvSpPr txBox="1"/>
          <p:nvPr/>
        </p:nvSpPr>
        <p:spPr>
          <a:xfrm>
            <a:off x="609600"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تحسين الكفاءة التشغيلية</a:t>
            </a:r>
            <a:endParaRPr lang="en-US" sz="1400" b="1" dirty="0">
              <a:solidFill>
                <a:schemeClr val="accent2"/>
              </a:solidFill>
            </a:endParaRPr>
          </a:p>
        </p:txBody>
      </p:sp>
      <p:grpSp>
        <p:nvGrpSpPr>
          <p:cNvPr id="73" name="Group 72">
            <a:extLst>
              <a:ext uri="{FF2B5EF4-FFF2-40B4-BE49-F238E27FC236}">
                <a16:creationId xmlns:a16="http://schemas.microsoft.com/office/drawing/2014/main" id="{ACDF4C31-D6D6-37A4-D37E-524209F61881}"/>
              </a:ext>
            </a:extLst>
          </p:cNvPr>
          <p:cNvGrpSpPr>
            <a:grpSpLocks noChangeAspect="1"/>
          </p:cNvGrpSpPr>
          <p:nvPr/>
        </p:nvGrpSpPr>
        <p:grpSpPr>
          <a:xfrm>
            <a:off x="1067532" y="1340047"/>
            <a:ext cx="629119" cy="626577"/>
            <a:chOff x="1005916" y="1450053"/>
            <a:chExt cx="661043" cy="658371"/>
          </a:xfrm>
          <a:solidFill>
            <a:schemeClr val="accent1"/>
          </a:solidFill>
        </p:grpSpPr>
        <p:sp>
          <p:nvSpPr>
            <p:cNvPr id="74" name="Freeform 155">
              <a:extLst>
                <a:ext uri="{FF2B5EF4-FFF2-40B4-BE49-F238E27FC236}">
                  <a16:creationId xmlns:a16="http://schemas.microsoft.com/office/drawing/2014/main" id="{7A05B721-20A1-BBC7-F6F6-BB2095836C82}"/>
                </a:ext>
              </a:extLst>
            </p:cNvPr>
            <p:cNvSpPr>
              <a:spLocks noEditPoints="1"/>
            </p:cNvSpPr>
            <p:nvPr/>
          </p:nvSpPr>
          <p:spPr bwMode="auto">
            <a:xfrm>
              <a:off x="1021061" y="1450053"/>
              <a:ext cx="498010" cy="589772"/>
            </a:xfrm>
            <a:custGeom>
              <a:avLst/>
              <a:gdLst>
                <a:gd name="T0" fmla="*/ 423 w 2379"/>
                <a:gd name="T1" fmla="*/ 298 h 2817"/>
                <a:gd name="T2" fmla="*/ 554 w 2379"/>
                <a:gd name="T3" fmla="*/ 422 h 2817"/>
                <a:gd name="T4" fmla="*/ 339 w 2379"/>
                <a:gd name="T5" fmla="*/ 488 h 2817"/>
                <a:gd name="T6" fmla="*/ 47 w 2379"/>
                <a:gd name="T7" fmla="*/ 572 h 2817"/>
                <a:gd name="T8" fmla="*/ 40 w 2379"/>
                <a:gd name="T9" fmla="*/ 942 h 2817"/>
                <a:gd name="T10" fmla="*/ 137 w 2379"/>
                <a:gd name="T11" fmla="*/ 1625 h 2817"/>
                <a:gd name="T12" fmla="*/ 658 w 2379"/>
                <a:gd name="T13" fmla="*/ 2093 h 2817"/>
                <a:gd name="T14" fmla="*/ 913 w 2379"/>
                <a:gd name="T15" fmla="*/ 2210 h 2817"/>
                <a:gd name="T16" fmla="*/ 817 w 2379"/>
                <a:gd name="T17" fmla="*/ 2470 h 2817"/>
                <a:gd name="T18" fmla="*/ 1138 w 2379"/>
                <a:gd name="T19" fmla="*/ 2600 h 2817"/>
                <a:gd name="T20" fmla="*/ 1313 w 2379"/>
                <a:gd name="T21" fmla="*/ 2677 h 2817"/>
                <a:gd name="T22" fmla="*/ 1669 w 2379"/>
                <a:gd name="T23" fmla="*/ 2799 h 2817"/>
                <a:gd name="T24" fmla="*/ 1770 w 2379"/>
                <a:gd name="T25" fmla="*/ 2545 h 2817"/>
                <a:gd name="T26" fmla="*/ 2024 w 2379"/>
                <a:gd name="T27" fmla="*/ 2649 h 2817"/>
                <a:gd name="T28" fmla="*/ 2141 w 2379"/>
                <a:gd name="T29" fmla="*/ 2287 h 2817"/>
                <a:gd name="T30" fmla="*/ 2258 w 2379"/>
                <a:gd name="T31" fmla="*/ 2149 h 2817"/>
                <a:gd name="T32" fmla="*/ 2372 w 2379"/>
                <a:gd name="T33" fmla="*/ 1822 h 2817"/>
                <a:gd name="T34" fmla="*/ 2108 w 2379"/>
                <a:gd name="T35" fmla="*/ 1682 h 2817"/>
                <a:gd name="T36" fmla="*/ 2228 w 2379"/>
                <a:gd name="T37" fmla="*/ 1463 h 2817"/>
                <a:gd name="T38" fmla="*/ 1876 w 2379"/>
                <a:gd name="T39" fmla="*/ 1295 h 2817"/>
                <a:gd name="T40" fmla="*/ 1716 w 2379"/>
                <a:gd name="T41" fmla="*/ 1250 h 2817"/>
                <a:gd name="T42" fmla="*/ 1436 w 2379"/>
                <a:gd name="T43" fmla="*/ 931 h 2817"/>
                <a:gd name="T44" fmla="*/ 957 w 2379"/>
                <a:gd name="T45" fmla="*/ 475 h 2817"/>
                <a:gd name="T46" fmla="*/ 1020 w 2379"/>
                <a:gd name="T47" fmla="*/ 326 h 2817"/>
                <a:gd name="T48" fmla="*/ 1016 w 2379"/>
                <a:gd name="T49" fmla="*/ 15 h 2817"/>
                <a:gd name="T50" fmla="*/ 748 w 2379"/>
                <a:gd name="T51" fmla="*/ 234 h 2817"/>
                <a:gd name="T52" fmla="*/ 663 w 2379"/>
                <a:gd name="T53" fmla="*/ 450 h 2817"/>
                <a:gd name="T54" fmla="*/ 276 w 2379"/>
                <a:gd name="T55" fmla="*/ 584 h 2817"/>
                <a:gd name="T56" fmla="*/ 132 w 2379"/>
                <a:gd name="T57" fmla="*/ 654 h 2817"/>
                <a:gd name="T58" fmla="*/ 1024 w 2379"/>
                <a:gd name="T59" fmla="*/ 625 h 2817"/>
                <a:gd name="T60" fmla="*/ 1368 w 2379"/>
                <a:gd name="T61" fmla="*/ 1067 h 2817"/>
                <a:gd name="T62" fmla="*/ 1236 w 2379"/>
                <a:gd name="T63" fmla="*/ 1596 h 2817"/>
                <a:gd name="T64" fmla="*/ 746 w 2379"/>
                <a:gd name="T65" fmla="*/ 1825 h 2817"/>
                <a:gd name="T66" fmla="*/ 213 w 2379"/>
                <a:gd name="T67" fmla="*/ 1551 h 2817"/>
                <a:gd name="T68" fmla="*/ 200 w 2379"/>
                <a:gd name="T69" fmla="*/ 859 h 2817"/>
                <a:gd name="T70" fmla="*/ 975 w 2379"/>
                <a:gd name="T71" fmla="*/ 602 h 2817"/>
                <a:gd name="T72" fmla="*/ 1787 w 2379"/>
                <a:gd name="T73" fmla="*/ 1464 h 2817"/>
                <a:gd name="T74" fmla="*/ 2079 w 2379"/>
                <a:gd name="T75" fmla="*/ 1426 h 2817"/>
                <a:gd name="T76" fmla="*/ 2000 w 2379"/>
                <a:gd name="T77" fmla="*/ 1674 h 2817"/>
                <a:gd name="T78" fmla="*/ 2276 w 2379"/>
                <a:gd name="T79" fmla="*/ 1945 h 2817"/>
                <a:gd name="T80" fmla="*/ 1998 w 2379"/>
                <a:gd name="T81" fmla="*/ 2202 h 2817"/>
                <a:gd name="T82" fmla="*/ 1888 w 2379"/>
                <a:gd name="T83" fmla="*/ 2470 h 2817"/>
                <a:gd name="T84" fmla="*/ 1625 w 2379"/>
                <a:gd name="T85" fmla="*/ 2530 h 2817"/>
                <a:gd name="T86" fmla="*/ 1398 w 2379"/>
                <a:gd name="T87" fmla="*/ 2526 h 2817"/>
                <a:gd name="T88" fmla="*/ 1133 w 2379"/>
                <a:gd name="T89" fmla="*/ 2467 h 2817"/>
                <a:gd name="T90" fmla="*/ 995 w 2379"/>
                <a:gd name="T91" fmla="*/ 2310 h 2817"/>
                <a:gd name="T92" fmla="*/ 888 w 2379"/>
                <a:gd name="T93" fmla="*/ 2053 h 2817"/>
                <a:gd name="T94" fmla="*/ 811 w 2379"/>
                <a:gd name="T95" fmla="*/ 1934 h 2817"/>
                <a:gd name="T96" fmla="*/ 1096 w 2379"/>
                <a:gd name="T97" fmla="*/ 1962 h 2817"/>
                <a:gd name="T98" fmla="*/ 1422 w 2379"/>
                <a:gd name="T99" fmla="*/ 2355 h 2817"/>
                <a:gd name="T100" fmla="*/ 1846 w 2379"/>
                <a:gd name="T101" fmla="*/ 2202 h 2817"/>
                <a:gd name="T102" fmla="*/ 1852 w 2379"/>
                <a:gd name="T103" fmla="*/ 2035 h 2817"/>
                <a:gd name="T104" fmla="*/ 1557 w 2379"/>
                <a:gd name="T105" fmla="*/ 2261 h 2817"/>
                <a:gd name="T106" fmla="*/ 1203 w 2379"/>
                <a:gd name="T107" fmla="*/ 2017 h 2817"/>
                <a:gd name="T108" fmla="*/ 1545 w 2379"/>
                <a:gd name="T109" fmla="*/ 1626 h 2817"/>
                <a:gd name="T110" fmla="*/ 1899 w 2379"/>
                <a:gd name="T111" fmla="*/ 1891 h 2817"/>
                <a:gd name="T112" fmla="*/ 1726 w 2379"/>
                <a:gd name="T113" fmla="*/ 1583 h 2817"/>
                <a:gd name="T114" fmla="*/ 1455 w 2379"/>
                <a:gd name="T115" fmla="*/ 1409 h 2817"/>
                <a:gd name="T116" fmla="*/ 1613 w 2379"/>
                <a:gd name="T117" fmla="*/ 1272 h 2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79" h="2817">
                  <a:moveTo>
                    <a:pt x="438" y="24"/>
                  </a:moveTo>
                  <a:lnTo>
                    <a:pt x="430" y="30"/>
                  </a:lnTo>
                  <a:lnTo>
                    <a:pt x="417" y="50"/>
                  </a:lnTo>
                  <a:lnTo>
                    <a:pt x="408" y="80"/>
                  </a:lnTo>
                  <a:lnTo>
                    <a:pt x="401" y="122"/>
                  </a:lnTo>
                  <a:lnTo>
                    <a:pt x="399" y="149"/>
                  </a:lnTo>
                  <a:lnTo>
                    <a:pt x="397" y="194"/>
                  </a:lnTo>
                  <a:lnTo>
                    <a:pt x="403" y="247"/>
                  </a:lnTo>
                  <a:lnTo>
                    <a:pt x="411" y="275"/>
                  </a:lnTo>
                  <a:lnTo>
                    <a:pt x="423" y="298"/>
                  </a:lnTo>
                  <a:lnTo>
                    <a:pt x="439" y="315"/>
                  </a:lnTo>
                  <a:lnTo>
                    <a:pt x="459" y="328"/>
                  </a:lnTo>
                  <a:lnTo>
                    <a:pt x="485" y="335"/>
                  </a:lnTo>
                  <a:lnTo>
                    <a:pt x="499" y="337"/>
                  </a:lnTo>
                  <a:lnTo>
                    <a:pt x="517" y="339"/>
                  </a:lnTo>
                  <a:lnTo>
                    <a:pt x="539" y="345"/>
                  </a:lnTo>
                  <a:lnTo>
                    <a:pt x="550" y="357"/>
                  </a:lnTo>
                  <a:lnTo>
                    <a:pt x="554" y="380"/>
                  </a:lnTo>
                  <a:lnTo>
                    <a:pt x="554" y="397"/>
                  </a:lnTo>
                  <a:lnTo>
                    <a:pt x="554" y="422"/>
                  </a:lnTo>
                  <a:lnTo>
                    <a:pt x="550" y="455"/>
                  </a:lnTo>
                  <a:lnTo>
                    <a:pt x="532" y="476"/>
                  </a:lnTo>
                  <a:lnTo>
                    <a:pt x="495" y="495"/>
                  </a:lnTo>
                  <a:lnTo>
                    <a:pt x="464" y="507"/>
                  </a:lnTo>
                  <a:lnTo>
                    <a:pt x="440" y="516"/>
                  </a:lnTo>
                  <a:lnTo>
                    <a:pt x="408" y="526"/>
                  </a:lnTo>
                  <a:lnTo>
                    <a:pt x="387" y="525"/>
                  </a:lnTo>
                  <a:lnTo>
                    <a:pt x="368" y="514"/>
                  </a:lnTo>
                  <a:lnTo>
                    <a:pt x="356" y="504"/>
                  </a:lnTo>
                  <a:lnTo>
                    <a:pt x="339" y="488"/>
                  </a:lnTo>
                  <a:lnTo>
                    <a:pt x="303" y="463"/>
                  </a:lnTo>
                  <a:lnTo>
                    <a:pt x="267" y="444"/>
                  </a:lnTo>
                  <a:lnTo>
                    <a:pt x="234" y="435"/>
                  </a:lnTo>
                  <a:lnTo>
                    <a:pt x="219" y="434"/>
                  </a:lnTo>
                  <a:lnTo>
                    <a:pt x="206" y="435"/>
                  </a:lnTo>
                  <a:lnTo>
                    <a:pt x="176" y="448"/>
                  </a:lnTo>
                  <a:lnTo>
                    <a:pt x="142" y="470"/>
                  </a:lnTo>
                  <a:lnTo>
                    <a:pt x="108" y="500"/>
                  </a:lnTo>
                  <a:lnTo>
                    <a:pt x="75" y="535"/>
                  </a:lnTo>
                  <a:lnTo>
                    <a:pt x="47" y="572"/>
                  </a:lnTo>
                  <a:lnTo>
                    <a:pt x="26" y="608"/>
                  </a:lnTo>
                  <a:lnTo>
                    <a:pt x="14" y="640"/>
                  </a:lnTo>
                  <a:lnTo>
                    <a:pt x="13" y="654"/>
                  </a:lnTo>
                  <a:lnTo>
                    <a:pt x="16" y="669"/>
                  </a:lnTo>
                  <a:lnTo>
                    <a:pt x="43" y="716"/>
                  </a:lnTo>
                  <a:lnTo>
                    <a:pt x="63" y="740"/>
                  </a:lnTo>
                  <a:lnTo>
                    <a:pt x="113" y="797"/>
                  </a:lnTo>
                  <a:lnTo>
                    <a:pt x="81" y="854"/>
                  </a:lnTo>
                  <a:lnTo>
                    <a:pt x="66" y="881"/>
                  </a:lnTo>
                  <a:lnTo>
                    <a:pt x="40" y="942"/>
                  </a:lnTo>
                  <a:lnTo>
                    <a:pt x="20" y="1009"/>
                  </a:lnTo>
                  <a:lnTo>
                    <a:pt x="7" y="1080"/>
                  </a:lnTo>
                  <a:lnTo>
                    <a:pt x="0" y="1153"/>
                  </a:lnTo>
                  <a:lnTo>
                    <a:pt x="0" y="1227"/>
                  </a:lnTo>
                  <a:lnTo>
                    <a:pt x="6" y="1301"/>
                  </a:lnTo>
                  <a:lnTo>
                    <a:pt x="20" y="1371"/>
                  </a:lnTo>
                  <a:lnTo>
                    <a:pt x="29" y="1405"/>
                  </a:lnTo>
                  <a:lnTo>
                    <a:pt x="45" y="1453"/>
                  </a:lnTo>
                  <a:lnTo>
                    <a:pt x="86" y="1542"/>
                  </a:lnTo>
                  <a:lnTo>
                    <a:pt x="137" y="1625"/>
                  </a:lnTo>
                  <a:lnTo>
                    <a:pt x="198" y="1700"/>
                  </a:lnTo>
                  <a:lnTo>
                    <a:pt x="268" y="1766"/>
                  </a:lnTo>
                  <a:lnTo>
                    <a:pt x="345" y="1823"/>
                  </a:lnTo>
                  <a:lnTo>
                    <a:pt x="430" y="1870"/>
                  </a:lnTo>
                  <a:lnTo>
                    <a:pt x="520" y="1906"/>
                  </a:lnTo>
                  <a:lnTo>
                    <a:pt x="568" y="1919"/>
                  </a:lnTo>
                  <a:lnTo>
                    <a:pt x="646" y="1937"/>
                  </a:lnTo>
                  <a:lnTo>
                    <a:pt x="646" y="2019"/>
                  </a:lnTo>
                  <a:lnTo>
                    <a:pt x="647" y="2054"/>
                  </a:lnTo>
                  <a:lnTo>
                    <a:pt x="658" y="2093"/>
                  </a:lnTo>
                  <a:lnTo>
                    <a:pt x="671" y="2113"/>
                  </a:lnTo>
                  <a:lnTo>
                    <a:pt x="688" y="2129"/>
                  </a:lnTo>
                  <a:lnTo>
                    <a:pt x="711" y="2140"/>
                  </a:lnTo>
                  <a:lnTo>
                    <a:pt x="756" y="2149"/>
                  </a:lnTo>
                  <a:lnTo>
                    <a:pt x="796" y="2150"/>
                  </a:lnTo>
                  <a:lnTo>
                    <a:pt x="820" y="2151"/>
                  </a:lnTo>
                  <a:lnTo>
                    <a:pt x="858" y="2157"/>
                  </a:lnTo>
                  <a:lnTo>
                    <a:pt x="887" y="2170"/>
                  </a:lnTo>
                  <a:lnTo>
                    <a:pt x="905" y="2187"/>
                  </a:lnTo>
                  <a:lnTo>
                    <a:pt x="913" y="2210"/>
                  </a:lnTo>
                  <a:lnTo>
                    <a:pt x="910" y="2236"/>
                  </a:lnTo>
                  <a:lnTo>
                    <a:pt x="896" y="2266"/>
                  </a:lnTo>
                  <a:lnTo>
                    <a:pt x="872" y="2299"/>
                  </a:lnTo>
                  <a:lnTo>
                    <a:pt x="854" y="2317"/>
                  </a:lnTo>
                  <a:lnTo>
                    <a:pt x="839" y="2333"/>
                  </a:lnTo>
                  <a:lnTo>
                    <a:pt x="815" y="2361"/>
                  </a:lnTo>
                  <a:lnTo>
                    <a:pt x="801" y="2387"/>
                  </a:lnTo>
                  <a:lnTo>
                    <a:pt x="796" y="2413"/>
                  </a:lnTo>
                  <a:lnTo>
                    <a:pt x="801" y="2440"/>
                  </a:lnTo>
                  <a:lnTo>
                    <a:pt x="817" y="2470"/>
                  </a:lnTo>
                  <a:lnTo>
                    <a:pt x="858" y="2521"/>
                  </a:lnTo>
                  <a:lnTo>
                    <a:pt x="903" y="2564"/>
                  </a:lnTo>
                  <a:lnTo>
                    <a:pt x="947" y="2605"/>
                  </a:lnTo>
                  <a:lnTo>
                    <a:pt x="1006" y="2650"/>
                  </a:lnTo>
                  <a:lnTo>
                    <a:pt x="1033" y="2666"/>
                  </a:lnTo>
                  <a:lnTo>
                    <a:pt x="1041" y="2667"/>
                  </a:lnTo>
                  <a:lnTo>
                    <a:pt x="1048" y="2666"/>
                  </a:lnTo>
                  <a:lnTo>
                    <a:pt x="1069" y="2656"/>
                  </a:lnTo>
                  <a:lnTo>
                    <a:pt x="1110" y="2627"/>
                  </a:lnTo>
                  <a:lnTo>
                    <a:pt x="1138" y="2600"/>
                  </a:lnTo>
                  <a:lnTo>
                    <a:pt x="1157" y="2581"/>
                  </a:lnTo>
                  <a:lnTo>
                    <a:pt x="1187" y="2555"/>
                  </a:lnTo>
                  <a:lnTo>
                    <a:pt x="1211" y="2542"/>
                  </a:lnTo>
                  <a:lnTo>
                    <a:pt x="1234" y="2540"/>
                  </a:lnTo>
                  <a:lnTo>
                    <a:pt x="1246" y="2542"/>
                  </a:lnTo>
                  <a:lnTo>
                    <a:pt x="1266" y="2548"/>
                  </a:lnTo>
                  <a:lnTo>
                    <a:pt x="1293" y="2564"/>
                  </a:lnTo>
                  <a:lnTo>
                    <a:pt x="1307" y="2593"/>
                  </a:lnTo>
                  <a:lnTo>
                    <a:pt x="1312" y="2642"/>
                  </a:lnTo>
                  <a:lnTo>
                    <a:pt x="1313" y="2677"/>
                  </a:lnTo>
                  <a:lnTo>
                    <a:pt x="1313" y="2719"/>
                  </a:lnTo>
                  <a:lnTo>
                    <a:pt x="1324" y="2764"/>
                  </a:lnTo>
                  <a:lnTo>
                    <a:pt x="1337" y="2785"/>
                  </a:lnTo>
                  <a:lnTo>
                    <a:pt x="1359" y="2800"/>
                  </a:lnTo>
                  <a:lnTo>
                    <a:pt x="1389" y="2809"/>
                  </a:lnTo>
                  <a:lnTo>
                    <a:pt x="1454" y="2816"/>
                  </a:lnTo>
                  <a:lnTo>
                    <a:pt x="1516" y="2817"/>
                  </a:lnTo>
                  <a:lnTo>
                    <a:pt x="1577" y="2816"/>
                  </a:lnTo>
                  <a:lnTo>
                    <a:pt x="1640" y="2809"/>
                  </a:lnTo>
                  <a:lnTo>
                    <a:pt x="1669" y="2799"/>
                  </a:lnTo>
                  <a:lnTo>
                    <a:pt x="1690" y="2782"/>
                  </a:lnTo>
                  <a:lnTo>
                    <a:pt x="1703" y="2759"/>
                  </a:lnTo>
                  <a:lnTo>
                    <a:pt x="1712" y="2709"/>
                  </a:lnTo>
                  <a:lnTo>
                    <a:pt x="1713" y="2660"/>
                  </a:lnTo>
                  <a:lnTo>
                    <a:pt x="1713" y="2630"/>
                  </a:lnTo>
                  <a:lnTo>
                    <a:pt x="1716" y="2591"/>
                  </a:lnTo>
                  <a:lnTo>
                    <a:pt x="1724" y="2568"/>
                  </a:lnTo>
                  <a:lnTo>
                    <a:pt x="1742" y="2556"/>
                  </a:lnTo>
                  <a:lnTo>
                    <a:pt x="1756" y="2550"/>
                  </a:lnTo>
                  <a:lnTo>
                    <a:pt x="1770" y="2545"/>
                  </a:lnTo>
                  <a:lnTo>
                    <a:pt x="1793" y="2544"/>
                  </a:lnTo>
                  <a:lnTo>
                    <a:pt x="1817" y="2554"/>
                  </a:lnTo>
                  <a:lnTo>
                    <a:pt x="1851" y="2580"/>
                  </a:lnTo>
                  <a:lnTo>
                    <a:pt x="1874" y="2600"/>
                  </a:lnTo>
                  <a:lnTo>
                    <a:pt x="1907" y="2627"/>
                  </a:lnTo>
                  <a:lnTo>
                    <a:pt x="1953" y="2656"/>
                  </a:lnTo>
                  <a:lnTo>
                    <a:pt x="1976" y="2666"/>
                  </a:lnTo>
                  <a:lnTo>
                    <a:pt x="1984" y="2667"/>
                  </a:lnTo>
                  <a:lnTo>
                    <a:pt x="1994" y="2665"/>
                  </a:lnTo>
                  <a:lnTo>
                    <a:pt x="2024" y="2649"/>
                  </a:lnTo>
                  <a:lnTo>
                    <a:pt x="2082" y="2602"/>
                  </a:lnTo>
                  <a:lnTo>
                    <a:pt x="2165" y="2518"/>
                  </a:lnTo>
                  <a:lnTo>
                    <a:pt x="2211" y="2459"/>
                  </a:lnTo>
                  <a:lnTo>
                    <a:pt x="2228" y="2429"/>
                  </a:lnTo>
                  <a:lnTo>
                    <a:pt x="2229" y="2419"/>
                  </a:lnTo>
                  <a:lnTo>
                    <a:pt x="2228" y="2410"/>
                  </a:lnTo>
                  <a:lnTo>
                    <a:pt x="2218" y="2386"/>
                  </a:lnTo>
                  <a:lnTo>
                    <a:pt x="2189" y="2341"/>
                  </a:lnTo>
                  <a:lnTo>
                    <a:pt x="2163" y="2310"/>
                  </a:lnTo>
                  <a:lnTo>
                    <a:pt x="2141" y="2287"/>
                  </a:lnTo>
                  <a:lnTo>
                    <a:pt x="2115" y="2254"/>
                  </a:lnTo>
                  <a:lnTo>
                    <a:pt x="2105" y="2231"/>
                  </a:lnTo>
                  <a:lnTo>
                    <a:pt x="2108" y="2208"/>
                  </a:lnTo>
                  <a:lnTo>
                    <a:pt x="2114" y="2194"/>
                  </a:lnTo>
                  <a:lnTo>
                    <a:pt x="2121" y="2180"/>
                  </a:lnTo>
                  <a:lnTo>
                    <a:pt x="2136" y="2163"/>
                  </a:lnTo>
                  <a:lnTo>
                    <a:pt x="2157" y="2154"/>
                  </a:lnTo>
                  <a:lnTo>
                    <a:pt x="2193" y="2150"/>
                  </a:lnTo>
                  <a:lnTo>
                    <a:pt x="2219" y="2150"/>
                  </a:lnTo>
                  <a:lnTo>
                    <a:pt x="2258" y="2149"/>
                  </a:lnTo>
                  <a:lnTo>
                    <a:pt x="2308" y="2140"/>
                  </a:lnTo>
                  <a:lnTo>
                    <a:pt x="2334" y="2130"/>
                  </a:lnTo>
                  <a:lnTo>
                    <a:pt x="2343" y="2124"/>
                  </a:lnTo>
                  <a:lnTo>
                    <a:pt x="2354" y="2115"/>
                  </a:lnTo>
                  <a:lnTo>
                    <a:pt x="2369" y="2094"/>
                  </a:lnTo>
                  <a:lnTo>
                    <a:pt x="2377" y="2059"/>
                  </a:lnTo>
                  <a:lnTo>
                    <a:pt x="2379" y="1998"/>
                  </a:lnTo>
                  <a:lnTo>
                    <a:pt x="2379" y="1952"/>
                  </a:lnTo>
                  <a:lnTo>
                    <a:pt x="2379" y="1888"/>
                  </a:lnTo>
                  <a:lnTo>
                    <a:pt x="2372" y="1822"/>
                  </a:lnTo>
                  <a:lnTo>
                    <a:pt x="2363" y="1790"/>
                  </a:lnTo>
                  <a:lnTo>
                    <a:pt x="2349" y="1769"/>
                  </a:lnTo>
                  <a:lnTo>
                    <a:pt x="2329" y="1755"/>
                  </a:lnTo>
                  <a:lnTo>
                    <a:pt x="2286" y="1744"/>
                  </a:lnTo>
                  <a:lnTo>
                    <a:pt x="2244" y="1742"/>
                  </a:lnTo>
                  <a:lnTo>
                    <a:pt x="2208" y="1741"/>
                  </a:lnTo>
                  <a:lnTo>
                    <a:pt x="2158" y="1736"/>
                  </a:lnTo>
                  <a:lnTo>
                    <a:pt x="2129" y="1723"/>
                  </a:lnTo>
                  <a:lnTo>
                    <a:pt x="2113" y="1699"/>
                  </a:lnTo>
                  <a:lnTo>
                    <a:pt x="2108" y="1682"/>
                  </a:lnTo>
                  <a:lnTo>
                    <a:pt x="2106" y="1672"/>
                  </a:lnTo>
                  <a:lnTo>
                    <a:pt x="2110" y="1651"/>
                  </a:lnTo>
                  <a:lnTo>
                    <a:pt x="2123" y="1625"/>
                  </a:lnTo>
                  <a:lnTo>
                    <a:pt x="2147" y="1594"/>
                  </a:lnTo>
                  <a:lnTo>
                    <a:pt x="2164" y="1575"/>
                  </a:lnTo>
                  <a:lnTo>
                    <a:pt x="2190" y="1546"/>
                  </a:lnTo>
                  <a:lnTo>
                    <a:pt x="2218" y="1503"/>
                  </a:lnTo>
                  <a:lnTo>
                    <a:pt x="2228" y="1481"/>
                  </a:lnTo>
                  <a:lnTo>
                    <a:pt x="2229" y="1474"/>
                  </a:lnTo>
                  <a:lnTo>
                    <a:pt x="2228" y="1463"/>
                  </a:lnTo>
                  <a:lnTo>
                    <a:pt x="2211" y="1434"/>
                  </a:lnTo>
                  <a:lnTo>
                    <a:pt x="2164" y="1377"/>
                  </a:lnTo>
                  <a:lnTo>
                    <a:pt x="2080" y="1296"/>
                  </a:lnTo>
                  <a:lnTo>
                    <a:pt x="2021" y="1251"/>
                  </a:lnTo>
                  <a:lnTo>
                    <a:pt x="1990" y="1235"/>
                  </a:lnTo>
                  <a:lnTo>
                    <a:pt x="1979" y="1234"/>
                  </a:lnTo>
                  <a:lnTo>
                    <a:pt x="1970" y="1234"/>
                  </a:lnTo>
                  <a:lnTo>
                    <a:pt x="1947" y="1243"/>
                  </a:lnTo>
                  <a:lnTo>
                    <a:pt x="1905" y="1269"/>
                  </a:lnTo>
                  <a:lnTo>
                    <a:pt x="1876" y="1295"/>
                  </a:lnTo>
                  <a:lnTo>
                    <a:pt x="1856" y="1314"/>
                  </a:lnTo>
                  <a:lnTo>
                    <a:pt x="1827" y="1338"/>
                  </a:lnTo>
                  <a:lnTo>
                    <a:pt x="1805" y="1348"/>
                  </a:lnTo>
                  <a:lnTo>
                    <a:pt x="1782" y="1345"/>
                  </a:lnTo>
                  <a:lnTo>
                    <a:pt x="1768" y="1340"/>
                  </a:lnTo>
                  <a:lnTo>
                    <a:pt x="1754" y="1335"/>
                  </a:lnTo>
                  <a:lnTo>
                    <a:pt x="1735" y="1323"/>
                  </a:lnTo>
                  <a:lnTo>
                    <a:pt x="1724" y="1304"/>
                  </a:lnTo>
                  <a:lnTo>
                    <a:pt x="1718" y="1273"/>
                  </a:lnTo>
                  <a:lnTo>
                    <a:pt x="1716" y="1250"/>
                  </a:lnTo>
                  <a:lnTo>
                    <a:pt x="1713" y="1197"/>
                  </a:lnTo>
                  <a:lnTo>
                    <a:pt x="1704" y="1142"/>
                  </a:lnTo>
                  <a:lnTo>
                    <a:pt x="1694" y="1117"/>
                  </a:lnTo>
                  <a:lnTo>
                    <a:pt x="1678" y="1099"/>
                  </a:lnTo>
                  <a:lnTo>
                    <a:pt x="1655" y="1087"/>
                  </a:lnTo>
                  <a:lnTo>
                    <a:pt x="1606" y="1075"/>
                  </a:lnTo>
                  <a:lnTo>
                    <a:pt x="1556" y="1069"/>
                  </a:lnTo>
                  <a:lnTo>
                    <a:pt x="1476" y="1059"/>
                  </a:lnTo>
                  <a:lnTo>
                    <a:pt x="1448" y="967"/>
                  </a:lnTo>
                  <a:lnTo>
                    <a:pt x="1436" y="931"/>
                  </a:lnTo>
                  <a:lnTo>
                    <a:pt x="1406" y="862"/>
                  </a:lnTo>
                  <a:lnTo>
                    <a:pt x="1369" y="797"/>
                  </a:lnTo>
                  <a:lnTo>
                    <a:pt x="1325" y="737"/>
                  </a:lnTo>
                  <a:lnTo>
                    <a:pt x="1275" y="681"/>
                  </a:lnTo>
                  <a:lnTo>
                    <a:pt x="1218" y="629"/>
                  </a:lnTo>
                  <a:lnTo>
                    <a:pt x="1156" y="583"/>
                  </a:lnTo>
                  <a:lnTo>
                    <a:pt x="1087" y="542"/>
                  </a:lnTo>
                  <a:lnTo>
                    <a:pt x="1051" y="524"/>
                  </a:lnTo>
                  <a:lnTo>
                    <a:pt x="1009" y="503"/>
                  </a:lnTo>
                  <a:lnTo>
                    <a:pt x="957" y="475"/>
                  </a:lnTo>
                  <a:lnTo>
                    <a:pt x="939" y="458"/>
                  </a:lnTo>
                  <a:lnTo>
                    <a:pt x="933" y="446"/>
                  </a:lnTo>
                  <a:lnTo>
                    <a:pt x="931" y="424"/>
                  </a:lnTo>
                  <a:lnTo>
                    <a:pt x="933" y="404"/>
                  </a:lnTo>
                  <a:lnTo>
                    <a:pt x="935" y="385"/>
                  </a:lnTo>
                  <a:lnTo>
                    <a:pt x="941" y="360"/>
                  </a:lnTo>
                  <a:lnTo>
                    <a:pt x="954" y="345"/>
                  </a:lnTo>
                  <a:lnTo>
                    <a:pt x="977" y="336"/>
                  </a:lnTo>
                  <a:lnTo>
                    <a:pt x="994" y="332"/>
                  </a:lnTo>
                  <a:lnTo>
                    <a:pt x="1020" y="326"/>
                  </a:lnTo>
                  <a:lnTo>
                    <a:pt x="1047" y="313"/>
                  </a:lnTo>
                  <a:lnTo>
                    <a:pt x="1060" y="300"/>
                  </a:lnTo>
                  <a:lnTo>
                    <a:pt x="1072" y="272"/>
                  </a:lnTo>
                  <a:lnTo>
                    <a:pt x="1079" y="210"/>
                  </a:lnTo>
                  <a:lnTo>
                    <a:pt x="1079" y="164"/>
                  </a:lnTo>
                  <a:lnTo>
                    <a:pt x="1079" y="135"/>
                  </a:lnTo>
                  <a:lnTo>
                    <a:pt x="1077" y="89"/>
                  </a:lnTo>
                  <a:lnTo>
                    <a:pt x="1068" y="54"/>
                  </a:lnTo>
                  <a:lnTo>
                    <a:pt x="1049" y="30"/>
                  </a:lnTo>
                  <a:lnTo>
                    <a:pt x="1016" y="15"/>
                  </a:lnTo>
                  <a:lnTo>
                    <a:pt x="966" y="6"/>
                  </a:lnTo>
                  <a:lnTo>
                    <a:pt x="853" y="0"/>
                  </a:lnTo>
                  <a:lnTo>
                    <a:pt x="738" y="0"/>
                  </a:lnTo>
                  <a:lnTo>
                    <a:pt x="603" y="1"/>
                  </a:lnTo>
                  <a:lnTo>
                    <a:pt x="489" y="8"/>
                  </a:lnTo>
                  <a:lnTo>
                    <a:pt x="448" y="17"/>
                  </a:lnTo>
                  <a:lnTo>
                    <a:pt x="438" y="24"/>
                  </a:lnTo>
                  <a:close/>
                  <a:moveTo>
                    <a:pt x="976" y="170"/>
                  </a:moveTo>
                  <a:lnTo>
                    <a:pt x="981" y="234"/>
                  </a:lnTo>
                  <a:lnTo>
                    <a:pt x="748" y="234"/>
                  </a:lnTo>
                  <a:lnTo>
                    <a:pt x="513" y="234"/>
                  </a:lnTo>
                  <a:lnTo>
                    <a:pt x="513" y="167"/>
                  </a:lnTo>
                  <a:lnTo>
                    <a:pt x="513" y="99"/>
                  </a:lnTo>
                  <a:lnTo>
                    <a:pt x="743" y="104"/>
                  </a:lnTo>
                  <a:lnTo>
                    <a:pt x="971" y="109"/>
                  </a:lnTo>
                  <a:lnTo>
                    <a:pt x="976" y="170"/>
                  </a:lnTo>
                  <a:close/>
                  <a:moveTo>
                    <a:pt x="826" y="395"/>
                  </a:moveTo>
                  <a:lnTo>
                    <a:pt x="831" y="450"/>
                  </a:lnTo>
                  <a:lnTo>
                    <a:pt x="748" y="450"/>
                  </a:lnTo>
                  <a:lnTo>
                    <a:pt x="663" y="450"/>
                  </a:lnTo>
                  <a:lnTo>
                    <a:pt x="663" y="390"/>
                  </a:lnTo>
                  <a:lnTo>
                    <a:pt x="663" y="332"/>
                  </a:lnTo>
                  <a:lnTo>
                    <a:pt x="743" y="337"/>
                  </a:lnTo>
                  <a:lnTo>
                    <a:pt x="769" y="339"/>
                  </a:lnTo>
                  <a:lnTo>
                    <a:pt x="801" y="344"/>
                  </a:lnTo>
                  <a:lnTo>
                    <a:pt x="818" y="355"/>
                  </a:lnTo>
                  <a:lnTo>
                    <a:pt x="824" y="378"/>
                  </a:lnTo>
                  <a:lnTo>
                    <a:pt x="826" y="395"/>
                  </a:lnTo>
                  <a:close/>
                  <a:moveTo>
                    <a:pt x="274" y="577"/>
                  </a:moveTo>
                  <a:lnTo>
                    <a:pt x="276" y="584"/>
                  </a:lnTo>
                  <a:lnTo>
                    <a:pt x="273" y="600"/>
                  </a:lnTo>
                  <a:lnTo>
                    <a:pt x="255" y="631"/>
                  </a:lnTo>
                  <a:lnTo>
                    <a:pt x="233" y="655"/>
                  </a:lnTo>
                  <a:lnTo>
                    <a:pt x="217" y="670"/>
                  </a:lnTo>
                  <a:lnTo>
                    <a:pt x="195" y="689"/>
                  </a:lnTo>
                  <a:lnTo>
                    <a:pt x="178" y="695"/>
                  </a:lnTo>
                  <a:lnTo>
                    <a:pt x="164" y="690"/>
                  </a:lnTo>
                  <a:lnTo>
                    <a:pt x="156" y="684"/>
                  </a:lnTo>
                  <a:lnTo>
                    <a:pt x="144" y="673"/>
                  </a:lnTo>
                  <a:lnTo>
                    <a:pt x="132" y="654"/>
                  </a:lnTo>
                  <a:lnTo>
                    <a:pt x="134" y="632"/>
                  </a:lnTo>
                  <a:lnTo>
                    <a:pt x="151" y="605"/>
                  </a:lnTo>
                  <a:lnTo>
                    <a:pt x="166" y="589"/>
                  </a:lnTo>
                  <a:lnTo>
                    <a:pt x="182" y="573"/>
                  </a:lnTo>
                  <a:lnTo>
                    <a:pt x="215" y="554"/>
                  </a:lnTo>
                  <a:lnTo>
                    <a:pt x="245" y="551"/>
                  </a:lnTo>
                  <a:lnTo>
                    <a:pt x="262" y="560"/>
                  </a:lnTo>
                  <a:lnTo>
                    <a:pt x="271" y="570"/>
                  </a:lnTo>
                  <a:lnTo>
                    <a:pt x="274" y="577"/>
                  </a:lnTo>
                  <a:close/>
                  <a:moveTo>
                    <a:pt x="1024" y="625"/>
                  </a:moveTo>
                  <a:lnTo>
                    <a:pt x="1075" y="652"/>
                  </a:lnTo>
                  <a:lnTo>
                    <a:pt x="1143" y="699"/>
                  </a:lnTo>
                  <a:lnTo>
                    <a:pt x="1184" y="734"/>
                  </a:lnTo>
                  <a:lnTo>
                    <a:pt x="1221" y="772"/>
                  </a:lnTo>
                  <a:lnTo>
                    <a:pt x="1256" y="814"/>
                  </a:lnTo>
                  <a:lnTo>
                    <a:pt x="1302" y="882"/>
                  </a:lnTo>
                  <a:lnTo>
                    <a:pt x="1328" y="934"/>
                  </a:lnTo>
                  <a:lnTo>
                    <a:pt x="1341" y="962"/>
                  </a:lnTo>
                  <a:lnTo>
                    <a:pt x="1359" y="1012"/>
                  </a:lnTo>
                  <a:lnTo>
                    <a:pt x="1368" y="1067"/>
                  </a:lnTo>
                  <a:lnTo>
                    <a:pt x="1371" y="1141"/>
                  </a:lnTo>
                  <a:lnTo>
                    <a:pt x="1371" y="1192"/>
                  </a:lnTo>
                  <a:lnTo>
                    <a:pt x="1371" y="1243"/>
                  </a:lnTo>
                  <a:lnTo>
                    <a:pt x="1368" y="1318"/>
                  </a:lnTo>
                  <a:lnTo>
                    <a:pt x="1358" y="1373"/>
                  </a:lnTo>
                  <a:lnTo>
                    <a:pt x="1340" y="1424"/>
                  </a:lnTo>
                  <a:lnTo>
                    <a:pt x="1326" y="1454"/>
                  </a:lnTo>
                  <a:lnTo>
                    <a:pt x="1314" y="1479"/>
                  </a:lnTo>
                  <a:lnTo>
                    <a:pt x="1286" y="1527"/>
                  </a:lnTo>
                  <a:lnTo>
                    <a:pt x="1236" y="1596"/>
                  </a:lnTo>
                  <a:lnTo>
                    <a:pt x="1177" y="1659"/>
                  </a:lnTo>
                  <a:lnTo>
                    <a:pt x="1133" y="1696"/>
                  </a:lnTo>
                  <a:lnTo>
                    <a:pt x="1087" y="1730"/>
                  </a:lnTo>
                  <a:lnTo>
                    <a:pt x="1039" y="1759"/>
                  </a:lnTo>
                  <a:lnTo>
                    <a:pt x="1014" y="1772"/>
                  </a:lnTo>
                  <a:lnTo>
                    <a:pt x="979" y="1789"/>
                  </a:lnTo>
                  <a:lnTo>
                    <a:pt x="924" y="1811"/>
                  </a:lnTo>
                  <a:lnTo>
                    <a:pt x="869" y="1822"/>
                  </a:lnTo>
                  <a:lnTo>
                    <a:pt x="797" y="1825"/>
                  </a:lnTo>
                  <a:lnTo>
                    <a:pt x="746" y="1825"/>
                  </a:lnTo>
                  <a:lnTo>
                    <a:pt x="696" y="1825"/>
                  </a:lnTo>
                  <a:lnTo>
                    <a:pt x="624" y="1822"/>
                  </a:lnTo>
                  <a:lnTo>
                    <a:pt x="568" y="1811"/>
                  </a:lnTo>
                  <a:lnTo>
                    <a:pt x="512" y="1789"/>
                  </a:lnTo>
                  <a:lnTo>
                    <a:pt x="476" y="1772"/>
                  </a:lnTo>
                  <a:lnTo>
                    <a:pt x="439" y="1754"/>
                  </a:lnTo>
                  <a:lnTo>
                    <a:pt x="372" y="1712"/>
                  </a:lnTo>
                  <a:lnTo>
                    <a:pt x="312" y="1663"/>
                  </a:lnTo>
                  <a:lnTo>
                    <a:pt x="259" y="1610"/>
                  </a:lnTo>
                  <a:lnTo>
                    <a:pt x="213" y="1551"/>
                  </a:lnTo>
                  <a:lnTo>
                    <a:pt x="175" y="1488"/>
                  </a:lnTo>
                  <a:lnTo>
                    <a:pt x="145" y="1422"/>
                  </a:lnTo>
                  <a:lnTo>
                    <a:pt x="123" y="1353"/>
                  </a:lnTo>
                  <a:lnTo>
                    <a:pt x="108" y="1282"/>
                  </a:lnTo>
                  <a:lnTo>
                    <a:pt x="102" y="1210"/>
                  </a:lnTo>
                  <a:lnTo>
                    <a:pt x="105" y="1138"/>
                  </a:lnTo>
                  <a:lnTo>
                    <a:pt x="115" y="1066"/>
                  </a:lnTo>
                  <a:lnTo>
                    <a:pt x="135" y="995"/>
                  </a:lnTo>
                  <a:lnTo>
                    <a:pt x="163" y="925"/>
                  </a:lnTo>
                  <a:lnTo>
                    <a:pt x="200" y="859"/>
                  </a:lnTo>
                  <a:lnTo>
                    <a:pt x="246" y="795"/>
                  </a:lnTo>
                  <a:lnTo>
                    <a:pt x="273" y="765"/>
                  </a:lnTo>
                  <a:lnTo>
                    <a:pt x="312" y="726"/>
                  </a:lnTo>
                  <a:lnTo>
                    <a:pt x="396" y="659"/>
                  </a:lnTo>
                  <a:lnTo>
                    <a:pt x="485" y="609"/>
                  </a:lnTo>
                  <a:lnTo>
                    <a:pt x="578" y="575"/>
                  </a:lnTo>
                  <a:lnTo>
                    <a:pt x="675" y="556"/>
                  </a:lnTo>
                  <a:lnTo>
                    <a:pt x="774" y="555"/>
                  </a:lnTo>
                  <a:lnTo>
                    <a:pt x="874" y="570"/>
                  </a:lnTo>
                  <a:lnTo>
                    <a:pt x="975" y="602"/>
                  </a:lnTo>
                  <a:lnTo>
                    <a:pt x="1024" y="625"/>
                  </a:lnTo>
                  <a:close/>
                  <a:moveTo>
                    <a:pt x="1613" y="1272"/>
                  </a:moveTo>
                  <a:lnTo>
                    <a:pt x="1613" y="1306"/>
                  </a:lnTo>
                  <a:lnTo>
                    <a:pt x="1619" y="1344"/>
                  </a:lnTo>
                  <a:lnTo>
                    <a:pt x="1627" y="1365"/>
                  </a:lnTo>
                  <a:lnTo>
                    <a:pt x="1646" y="1391"/>
                  </a:lnTo>
                  <a:lnTo>
                    <a:pt x="1691" y="1422"/>
                  </a:lnTo>
                  <a:lnTo>
                    <a:pt x="1724" y="1440"/>
                  </a:lnTo>
                  <a:lnTo>
                    <a:pt x="1752" y="1454"/>
                  </a:lnTo>
                  <a:lnTo>
                    <a:pt x="1787" y="1464"/>
                  </a:lnTo>
                  <a:lnTo>
                    <a:pt x="1808" y="1465"/>
                  </a:lnTo>
                  <a:lnTo>
                    <a:pt x="1838" y="1459"/>
                  </a:lnTo>
                  <a:lnTo>
                    <a:pt x="1881" y="1431"/>
                  </a:lnTo>
                  <a:lnTo>
                    <a:pt x="1906" y="1409"/>
                  </a:lnTo>
                  <a:lnTo>
                    <a:pt x="1931" y="1386"/>
                  </a:lnTo>
                  <a:lnTo>
                    <a:pt x="1975" y="1354"/>
                  </a:lnTo>
                  <a:lnTo>
                    <a:pt x="1984" y="1350"/>
                  </a:lnTo>
                  <a:lnTo>
                    <a:pt x="1996" y="1354"/>
                  </a:lnTo>
                  <a:lnTo>
                    <a:pt x="2036" y="1383"/>
                  </a:lnTo>
                  <a:lnTo>
                    <a:pt x="2079" y="1426"/>
                  </a:lnTo>
                  <a:lnTo>
                    <a:pt x="2109" y="1464"/>
                  </a:lnTo>
                  <a:lnTo>
                    <a:pt x="2113" y="1475"/>
                  </a:lnTo>
                  <a:lnTo>
                    <a:pt x="2109" y="1486"/>
                  </a:lnTo>
                  <a:lnTo>
                    <a:pt x="2077" y="1526"/>
                  </a:lnTo>
                  <a:lnTo>
                    <a:pt x="2054" y="1550"/>
                  </a:lnTo>
                  <a:lnTo>
                    <a:pt x="2031" y="1574"/>
                  </a:lnTo>
                  <a:lnTo>
                    <a:pt x="2009" y="1606"/>
                  </a:lnTo>
                  <a:lnTo>
                    <a:pt x="2001" y="1627"/>
                  </a:lnTo>
                  <a:lnTo>
                    <a:pt x="1998" y="1649"/>
                  </a:lnTo>
                  <a:lnTo>
                    <a:pt x="2000" y="1674"/>
                  </a:lnTo>
                  <a:lnTo>
                    <a:pt x="2012" y="1718"/>
                  </a:lnTo>
                  <a:lnTo>
                    <a:pt x="2028" y="1755"/>
                  </a:lnTo>
                  <a:lnTo>
                    <a:pt x="2041" y="1783"/>
                  </a:lnTo>
                  <a:lnTo>
                    <a:pt x="2061" y="1813"/>
                  </a:lnTo>
                  <a:lnTo>
                    <a:pt x="2077" y="1827"/>
                  </a:lnTo>
                  <a:lnTo>
                    <a:pt x="2107" y="1842"/>
                  </a:lnTo>
                  <a:lnTo>
                    <a:pt x="2167" y="1850"/>
                  </a:lnTo>
                  <a:lnTo>
                    <a:pt x="2209" y="1850"/>
                  </a:lnTo>
                  <a:lnTo>
                    <a:pt x="2281" y="1850"/>
                  </a:lnTo>
                  <a:lnTo>
                    <a:pt x="2276" y="1945"/>
                  </a:lnTo>
                  <a:lnTo>
                    <a:pt x="2271" y="2042"/>
                  </a:lnTo>
                  <a:lnTo>
                    <a:pt x="2178" y="2047"/>
                  </a:lnTo>
                  <a:lnTo>
                    <a:pt x="2141" y="2049"/>
                  </a:lnTo>
                  <a:lnTo>
                    <a:pt x="2100" y="2058"/>
                  </a:lnTo>
                  <a:lnTo>
                    <a:pt x="2078" y="2067"/>
                  </a:lnTo>
                  <a:lnTo>
                    <a:pt x="2060" y="2081"/>
                  </a:lnTo>
                  <a:lnTo>
                    <a:pt x="2044" y="2100"/>
                  </a:lnTo>
                  <a:lnTo>
                    <a:pt x="2023" y="2139"/>
                  </a:lnTo>
                  <a:lnTo>
                    <a:pt x="2008" y="2175"/>
                  </a:lnTo>
                  <a:lnTo>
                    <a:pt x="1998" y="2202"/>
                  </a:lnTo>
                  <a:lnTo>
                    <a:pt x="1992" y="2236"/>
                  </a:lnTo>
                  <a:lnTo>
                    <a:pt x="1994" y="2256"/>
                  </a:lnTo>
                  <a:lnTo>
                    <a:pt x="2004" y="2286"/>
                  </a:lnTo>
                  <a:lnTo>
                    <a:pt x="2039" y="2333"/>
                  </a:lnTo>
                  <a:lnTo>
                    <a:pt x="2068" y="2364"/>
                  </a:lnTo>
                  <a:lnTo>
                    <a:pt x="2119" y="2417"/>
                  </a:lnTo>
                  <a:lnTo>
                    <a:pt x="2049" y="2487"/>
                  </a:lnTo>
                  <a:lnTo>
                    <a:pt x="1979" y="2557"/>
                  </a:lnTo>
                  <a:lnTo>
                    <a:pt x="1918" y="2499"/>
                  </a:lnTo>
                  <a:lnTo>
                    <a:pt x="1888" y="2470"/>
                  </a:lnTo>
                  <a:lnTo>
                    <a:pt x="1853" y="2444"/>
                  </a:lnTo>
                  <a:lnTo>
                    <a:pt x="1832" y="2434"/>
                  </a:lnTo>
                  <a:lnTo>
                    <a:pt x="1811" y="2430"/>
                  </a:lnTo>
                  <a:lnTo>
                    <a:pt x="1789" y="2431"/>
                  </a:lnTo>
                  <a:lnTo>
                    <a:pt x="1751" y="2443"/>
                  </a:lnTo>
                  <a:lnTo>
                    <a:pt x="1718" y="2459"/>
                  </a:lnTo>
                  <a:lnTo>
                    <a:pt x="1685" y="2474"/>
                  </a:lnTo>
                  <a:lnTo>
                    <a:pt x="1652" y="2496"/>
                  </a:lnTo>
                  <a:lnTo>
                    <a:pt x="1636" y="2511"/>
                  </a:lnTo>
                  <a:lnTo>
                    <a:pt x="1625" y="2530"/>
                  </a:lnTo>
                  <a:lnTo>
                    <a:pt x="1618" y="2552"/>
                  </a:lnTo>
                  <a:lnTo>
                    <a:pt x="1613" y="2595"/>
                  </a:lnTo>
                  <a:lnTo>
                    <a:pt x="1613" y="2635"/>
                  </a:lnTo>
                  <a:lnTo>
                    <a:pt x="1613" y="2717"/>
                  </a:lnTo>
                  <a:lnTo>
                    <a:pt x="1513" y="2717"/>
                  </a:lnTo>
                  <a:lnTo>
                    <a:pt x="1413" y="2717"/>
                  </a:lnTo>
                  <a:lnTo>
                    <a:pt x="1413" y="2632"/>
                  </a:lnTo>
                  <a:lnTo>
                    <a:pt x="1412" y="2593"/>
                  </a:lnTo>
                  <a:lnTo>
                    <a:pt x="1406" y="2549"/>
                  </a:lnTo>
                  <a:lnTo>
                    <a:pt x="1398" y="2526"/>
                  </a:lnTo>
                  <a:lnTo>
                    <a:pt x="1385" y="2506"/>
                  </a:lnTo>
                  <a:lnTo>
                    <a:pt x="1368" y="2489"/>
                  </a:lnTo>
                  <a:lnTo>
                    <a:pt x="1334" y="2466"/>
                  </a:lnTo>
                  <a:lnTo>
                    <a:pt x="1301" y="2450"/>
                  </a:lnTo>
                  <a:lnTo>
                    <a:pt x="1269" y="2437"/>
                  </a:lnTo>
                  <a:lnTo>
                    <a:pt x="1231" y="2427"/>
                  </a:lnTo>
                  <a:lnTo>
                    <a:pt x="1209" y="2426"/>
                  </a:lnTo>
                  <a:lnTo>
                    <a:pt x="1189" y="2430"/>
                  </a:lnTo>
                  <a:lnTo>
                    <a:pt x="1168" y="2441"/>
                  </a:lnTo>
                  <a:lnTo>
                    <a:pt x="1133" y="2467"/>
                  </a:lnTo>
                  <a:lnTo>
                    <a:pt x="1104" y="2494"/>
                  </a:lnTo>
                  <a:lnTo>
                    <a:pt x="1041" y="2552"/>
                  </a:lnTo>
                  <a:lnTo>
                    <a:pt x="978" y="2490"/>
                  </a:lnTo>
                  <a:lnTo>
                    <a:pt x="951" y="2464"/>
                  </a:lnTo>
                  <a:lnTo>
                    <a:pt x="916" y="2420"/>
                  </a:lnTo>
                  <a:lnTo>
                    <a:pt x="913" y="2409"/>
                  </a:lnTo>
                  <a:lnTo>
                    <a:pt x="916" y="2399"/>
                  </a:lnTo>
                  <a:lnTo>
                    <a:pt x="948" y="2358"/>
                  </a:lnTo>
                  <a:lnTo>
                    <a:pt x="971" y="2334"/>
                  </a:lnTo>
                  <a:lnTo>
                    <a:pt x="995" y="2310"/>
                  </a:lnTo>
                  <a:lnTo>
                    <a:pt x="1017" y="2278"/>
                  </a:lnTo>
                  <a:lnTo>
                    <a:pt x="1025" y="2257"/>
                  </a:lnTo>
                  <a:lnTo>
                    <a:pt x="1027" y="2235"/>
                  </a:lnTo>
                  <a:lnTo>
                    <a:pt x="1024" y="2211"/>
                  </a:lnTo>
                  <a:lnTo>
                    <a:pt x="1010" y="2169"/>
                  </a:lnTo>
                  <a:lnTo>
                    <a:pt x="993" y="2134"/>
                  </a:lnTo>
                  <a:lnTo>
                    <a:pt x="979" y="2108"/>
                  </a:lnTo>
                  <a:lnTo>
                    <a:pt x="958" y="2076"/>
                  </a:lnTo>
                  <a:lnTo>
                    <a:pt x="932" y="2060"/>
                  </a:lnTo>
                  <a:lnTo>
                    <a:pt x="888" y="2053"/>
                  </a:lnTo>
                  <a:lnTo>
                    <a:pt x="854" y="2050"/>
                  </a:lnTo>
                  <a:lnTo>
                    <a:pt x="820" y="2047"/>
                  </a:lnTo>
                  <a:lnTo>
                    <a:pt x="779" y="2041"/>
                  </a:lnTo>
                  <a:lnTo>
                    <a:pt x="759" y="2030"/>
                  </a:lnTo>
                  <a:lnTo>
                    <a:pt x="754" y="2009"/>
                  </a:lnTo>
                  <a:lnTo>
                    <a:pt x="754" y="1992"/>
                  </a:lnTo>
                  <a:lnTo>
                    <a:pt x="754" y="1976"/>
                  </a:lnTo>
                  <a:lnTo>
                    <a:pt x="760" y="1955"/>
                  </a:lnTo>
                  <a:lnTo>
                    <a:pt x="776" y="1942"/>
                  </a:lnTo>
                  <a:lnTo>
                    <a:pt x="811" y="1934"/>
                  </a:lnTo>
                  <a:lnTo>
                    <a:pt x="838" y="1930"/>
                  </a:lnTo>
                  <a:lnTo>
                    <a:pt x="876" y="1925"/>
                  </a:lnTo>
                  <a:lnTo>
                    <a:pt x="961" y="1905"/>
                  </a:lnTo>
                  <a:lnTo>
                    <a:pt x="994" y="1894"/>
                  </a:lnTo>
                  <a:lnTo>
                    <a:pt x="1054" y="1873"/>
                  </a:lnTo>
                  <a:lnTo>
                    <a:pt x="1081" y="1867"/>
                  </a:lnTo>
                  <a:lnTo>
                    <a:pt x="1084" y="1868"/>
                  </a:lnTo>
                  <a:lnTo>
                    <a:pt x="1089" y="1883"/>
                  </a:lnTo>
                  <a:lnTo>
                    <a:pt x="1095" y="1924"/>
                  </a:lnTo>
                  <a:lnTo>
                    <a:pt x="1096" y="1962"/>
                  </a:lnTo>
                  <a:lnTo>
                    <a:pt x="1097" y="2006"/>
                  </a:lnTo>
                  <a:lnTo>
                    <a:pt x="1113" y="2086"/>
                  </a:lnTo>
                  <a:lnTo>
                    <a:pt x="1145" y="2158"/>
                  </a:lnTo>
                  <a:lnTo>
                    <a:pt x="1193" y="2222"/>
                  </a:lnTo>
                  <a:lnTo>
                    <a:pt x="1224" y="2252"/>
                  </a:lnTo>
                  <a:lnTo>
                    <a:pt x="1244" y="2269"/>
                  </a:lnTo>
                  <a:lnTo>
                    <a:pt x="1286" y="2299"/>
                  </a:lnTo>
                  <a:lnTo>
                    <a:pt x="1330" y="2323"/>
                  </a:lnTo>
                  <a:lnTo>
                    <a:pt x="1376" y="2342"/>
                  </a:lnTo>
                  <a:lnTo>
                    <a:pt x="1422" y="2355"/>
                  </a:lnTo>
                  <a:lnTo>
                    <a:pt x="1469" y="2363"/>
                  </a:lnTo>
                  <a:lnTo>
                    <a:pt x="1517" y="2365"/>
                  </a:lnTo>
                  <a:lnTo>
                    <a:pt x="1564" y="2362"/>
                  </a:lnTo>
                  <a:lnTo>
                    <a:pt x="1610" y="2354"/>
                  </a:lnTo>
                  <a:lnTo>
                    <a:pt x="1655" y="2341"/>
                  </a:lnTo>
                  <a:lnTo>
                    <a:pt x="1699" y="2323"/>
                  </a:lnTo>
                  <a:lnTo>
                    <a:pt x="1740" y="2300"/>
                  </a:lnTo>
                  <a:lnTo>
                    <a:pt x="1778" y="2272"/>
                  </a:lnTo>
                  <a:lnTo>
                    <a:pt x="1814" y="2239"/>
                  </a:lnTo>
                  <a:lnTo>
                    <a:pt x="1846" y="2202"/>
                  </a:lnTo>
                  <a:lnTo>
                    <a:pt x="1874" y="2160"/>
                  </a:lnTo>
                  <a:lnTo>
                    <a:pt x="1886" y="2137"/>
                  </a:lnTo>
                  <a:lnTo>
                    <a:pt x="1894" y="2122"/>
                  </a:lnTo>
                  <a:lnTo>
                    <a:pt x="1904" y="2097"/>
                  </a:lnTo>
                  <a:lnTo>
                    <a:pt x="1905" y="2079"/>
                  </a:lnTo>
                  <a:lnTo>
                    <a:pt x="1900" y="2064"/>
                  </a:lnTo>
                  <a:lnTo>
                    <a:pt x="1894" y="2057"/>
                  </a:lnTo>
                  <a:lnTo>
                    <a:pt x="1883" y="2044"/>
                  </a:lnTo>
                  <a:lnTo>
                    <a:pt x="1865" y="2036"/>
                  </a:lnTo>
                  <a:lnTo>
                    <a:pt x="1852" y="2035"/>
                  </a:lnTo>
                  <a:lnTo>
                    <a:pt x="1833" y="2044"/>
                  </a:lnTo>
                  <a:lnTo>
                    <a:pt x="1805" y="2073"/>
                  </a:lnTo>
                  <a:lnTo>
                    <a:pt x="1789" y="2095"/>
                  </a:lnTo>
                  <a:lnTo>
                    <a:pt x="1771" y="2124"/>
                  </a:lnTo>
                  <a:lnTo>
                    <a:pt x="1735" y="2169"/>
                  </a:lnTo>
                  <a:lnTo>
                    <a:pt x="1697" y="2203"/>
                  </a:lnTo>
                  <a:lnTo>
                    <a:pt x="1652" y="2230"/>
                  </a:lnTo>
                  <a:lnTo>
                    <a:pt x="1624" y="2242"/>
                  </a:lnTo>
                  <a:lnTo>
                    <a:pt x="1602" y="2250"/>
                  </a:lnTo>
                  <a:lnTo>
                    <a:pt x="1557" y="2261"/>
                  </a:lnTo>
                  <a:lnTo>
                    <a:pt x="1511" y="2264"/>
                  </a:lnTo>
                  <a:lnTo>
                    <a:pt x="1464" y="2260"/>
                  </a:lnTo>
                  <a:lnTo>
                    <a:pt x="1419" y="2249"/>
                  </a:lnTo>
                  <a:lnTo>
                    <a:pt x="1375" y="2231"/>
                  </a:lnTo>
                  <a:lnTo>
                    <a:pt x="1333" y="2206"/>
                  </a:lnTo>
                  <a:lnTo>
                    <a:pt x="1294" y="2175"/>
                  </a:lnTo>
                  <a:lnTo>
                    <a:pt x="1276" y="2157"/>
                  </a:lnTo>
                  <a:lnTo>
                    <a:pt x="1255" y="2132"/>
                  </a:lnTo>
                  <a:lnTo>
                    <a:pt x="1222" y="2077"/>
                  </a:lnTo>
                  <a:lnTo>
                    <a:pt x="1203" y="2017"/>
                  </a:lnTo>
                  <a:lnTo>
                    <a:pt x="1195" y="1954"/>
                  </a:lnTo>
                  <a:lnTo>
                    <a:pt x="1200" y="1890"/>
                  </a:lnTo>
                  <a:lnTo>
                    <a:pt x="1216" y="1829"/>
                  </a:lnTo>
                  <a:lnTo>
                    <a:pt x="1245" y="1771"/>
                  </a:lnTo>
                  <a:lnTo>
                    <a:pt x="1285" y="1719"/>
                  </a:lnTo>
                  <a:lnTo>
                    <a:pt x="1309" y="1697"/>
                  </a:lnTo>
                  <a:lnTo>
                    <a:pt x="1340" y="1673"/>
                  </a:lnTo>
                  <a:lnTo>
                    <a:pt x="1406" y="1640"/>
                  </a:lnTo>
                  <a:lnTo>
                    <a:pt x="1475" y="1625"/>
                  </a:lnTo>
                  <a:lnTo>
                    <a:pt x="1545" y="1626"/>
                  </a:lnTo>
                  <a:lnTo>
                    <a:pt x="1613" y="1643"/>
                  </a:lnTo>
                  <a:lnTo>
                    <a:pt x="1678" y="1675"/>
                  </a:lnTo>
                  <a:lnTo>
                    <a:pt x="1736" y="1722"/>
                  </a:lnTo>
                  <a:lnTo>
                    <a:pt x="1785" y="1783"/>
                  </a:lnTo>
                  <a:lnTo>
                    <a:pt x="1804" y="1819"/>
                  </a:lnTo>
                  <a:lnTo>
                    <a:pt x="1820" y="1848"/>
                  </a:lnTo>
                  <a:lnTo>
                    <a:pt x="1848" y="1886"/>
                  </a:lnTo>
                  <a:lnTo>
                    <a:pt x="1868" y="1898"/>
                  </a:lnTo>
                  <a:lnTo>
                    <a:pt x="1880" y="1899"/>
                  </a:lnTo>
                  <a:lnTo>
                    <a:pt x="1899" y="1891"/>
                  </a:lnTo>
                  <a:lnTo>
                    <a:pt x="1911" y="1877"/>
                  </a:lnTo>
                  <a:lnTo>
                    <a:pt x="1916" y="1870"/>
                  </a:lnTo>
                  <a:lnTo>
                    <a:pt x="1922" y="1855"/>
                  </a:lnTo>
                  <a:lnTo>
                    <a:pt x="1919" y="1825"/>
                  </a:lnTo>
                  <a:lnTo>
                    <a:pt x="1906" y="1794"/>
                  </a:lnTo>
                  <a:lnTo>
                    <a:pt x="1893" y="1763"/>
                  </a:lnTo>
                  <a:lnTo>
                    <a:pt x="1860" y="1708"/>
                  </a:lnTo>
                  <a:lnTo>
                    <a:pt x="1821" y="1659"/>
                  </a:lnTo>
                  <a:lnTo>
                    <a:pt x="1776" y="1617"/>
                  </a:lnTo>
                  <a:lnTo>
                    <a:pt x="1726" y="1583"/>
                  </a:lnTo>
                  <a:lnTo>
                    <a:pt x="1671" y="1556"/>
                  </a:lnTo>
                  <a:lnTo>
                    <a:pt x="1612" y="1538"/>
                  </a:lnTo>
                  <a:lnTo>
                    <a:pt x="1550" y="1528"/>
                  </a:lnTo>
                  <a:lnTo>
                    <a:pt x="1518" y="1527"/>
                  </a:lnTo>
                  <a:lnTo>
                    <a:pt x="1461" y="1525"/>
                  </a:lnTo>
                  <a:lnTo>
                    <a:pt x="1426" y="1517"/>
                  </a:lnTo>
                  <a:lnTo>
                    <a:pt x="1420" y="1507"/>
                  </a:lnTo>
                  <a:lnTo>
                    <a:pt x="1423" y="1500"/>
                  </a:lnTo>
                  <a:lnTo>
                    <a:pt x="1434" y="1472"/>
                  </a:lnTo>
                  <a:lnTo>
                    <a:pt x="1455" y="1409"/>
                  </a:lnTo>
                  <a:lnTo>
                    <a:pt x="1470" y="1345"/>
                  </a:lnTo>
                  <a:lnTo>
                    <a:pt x="1479" y="1289"/>
                  </a:lnTo>
                  <a:lnTo>
                    <a:pt x="1479" y="1267"/>
                  </a:lnTo>
                  <a:lnTo>
                    <a:pt x="1480" y="1241"/>
                  </a:lnTo>
                  <a:lnTo>
                    <a:pt x="1485" y="1207"/>
                  </a:lnTo>
                  <a:lnTo>
                    <a:pt x="1501" y="1190"/>
                  </a:lnTo>
                  <a:lnTo>
                    <a:pt x="1533" y="1184"/>
                  </a:lnTo>
                  <a:lnTo>
                    <a:pt x="1558" y="1184"/>
                  </a:lnTo>
                  <a:lnTo>
                    <a:pt x="1613" y="1184"/>
                  </a:lnTo>
                  <a:lnTo>
                    <a:pt x="1613" y="12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5" name="Freeform 156">
              <a:extLst>
                <a:ext uri="{FF2B5EF4-FFF2-40B4-BE49-F238E27FC236}">
                  <a16:creationId xmlns:a16="http://schemas.microsoft.com/office/drawing/2014/main" id="{7B7C2967-9ED5-730F-410E-1AF64B2FF28D}"/>
                </a:ext>
              </a:extLst>
            </p:cNvPr>
            <p:cNvSpPr>
              <a:spLocks/>
            </p:cNvSpPr>
            <p:nvPr/>
          </p:nvSpPr>
          <p:spPr bwMode="auto">
            <a:xfrm>
              <a:off x="1058479" y="1450053"/>
              <a:ext cx="231632" cy="229851"/>
            </a:xfrm>
            <a:custGeom>
              <a:avLst/>
              <a:gdLst>
                <a:gd name="T0" fmla="*/ 342 w 1102"/>
                <a:gd name="T1" fmla="*/ 37 h 1099"/>
                <a:gd name="T2" fmla="*/ 215 w 1102"/>
                <a:gd name="T3" fmla="*/ 112 h 1099"/>
                <a:gd name="T4" fmla="*/ 116 w 1102"/>
                <a:gd name="T5" fmla="*/ 214 h 1099"/>
                <a:gd name="T6" fmla="*/ 46 w 1102"/>
                <a:gd name="T7" fmla="*/ 344 h 1099"/>
                <a:gd name="T8" fmla="*/ 12 w 1102"/>
                <a:gd name="T9" fmla="*/ 459 h 1099"/>
                <a:gd name="T10" fmla="*/ 0 w 1102"/>
                <a:gd name="T11" fmla="*/ 537 h 1099"/>
                <a:gd name="T12" fmla="*/ 7 w 1102"/>
                <a:gd name="T13" fmla="*/ 626 h 1099"/>
                <a:gd name="T14" fmla="*/ 21 w 1102"/>
                <a:gd name="T15" fmla="*/ 687 h 1099"/>
                <a:gd name="T16" fmla="*/ 81 w 1102"/>
                <a:gd name="T17" fmla="*/ 821 h 1099"/>
                <a:gd name="T18" fmla="*/ 171 w 1102"/>
                <a:gd name="T19" fmla="*/ 937 h 1099"/>
                <a:gd name="T20" fmla="*/ 284 w 1102"/>
                <a:gd name="T21" fmla="*/ 1028 h 1099"/>
                <a:gd name="T22" fmla="*/ 379 w 1102"/>
                <a:gd name="T23" fmla="*/ 1072 h 1099"/>
                <a:gd name="T24" fmla="*/ 486 w 1102"/>
                <a:gd name="T25" fmla="*/ 1096 h 1099"/>
                <a:gd name="T26" fmla="*/ 635 w 1102"/>
                <a:gd name="T27" fmla="*/ 1092 h 1099"/>
                <a:gd name="T28" fmla="*/ 780 w 1102"/>
                <a:gd name="T29" fmla="*/ 1050 h 1099"/>
                <a:gd name="T30" fmla="*/ 908 w 1102"/>
                <a:gd name="T31" fmla="*/ 974 h 1099"/>
                <a:gd name="T32" fmla="*/ 958 w 1102"/>
                <a:gd name="T33" fmla="*/ 927 h 1099"/>
                <a:gd name="T34" fmla="*/ 1035 w 1102"/>
                <a:gd name="T35" fmla="*/ 832 h 1099"/>
                <a:gd name="T36" fmla="*/ 1085 w 1102"/>
                <a:gd name="T37" fmla="*/ 738 h 1099"/>
                <a:gd name="T38" fmla="*/ 1102 w 1102"/>
                <a:gd name="T39" fmla="*/ 660 h 1099"/>
                <a:gd name="T40" fmla="*/ 1087 w 1102"/>
                <a:gd name="T41" fmla="*/ 622 h 1099"/>
                <a:gd name="T42" fmla="*/ 1055 w 1102"/>
                <a:gd name="T43" fmla="*/ 601 h 1099"/>
                <a:gd name="T44" fmla="*/ 1028 w 1102"/>
                <a:gd name="T45" fmla="*/ 616 h 1099"/>
                <a:gd name="T46" fmla="*/ 984 w 1102"/>
                <a:gd name="T47" fmla="*/ 701 h 1099"/>
                <a:gd name="T48" fmla="*/ 933 w 1102"/>
                <a:gd name="T49" fmla="*/ 793 h 1099"/>
                <a:gd name="T50" fmla="*/ 850 w 1102"/>
                <a:gd name="T51" fmla="*/ 889 h 1099"/>
                <a:gd name="T52" fmla="*/ 749 w 1102"/>
                <a:gd name="T53" fmla="*/ 954 h 1099"/>
                <a:gd name="T54" fmla="*/ 630 w 1102"/>
                <a:gd name="T55" fmla="*/ 989 h 1099"/>
                <a:gd name="T56" fmla="*/ 569 w 1102"/>
                <a:gd name="T57" fmla="*/ 994 h 1099"/>
                <a:gd name="T58" fmla="*/ 458 w 1102"/>
                <a:gd name="T59" fmla="*/ 983 h 1099"/>
                <a:gd name="T60" fmla="*/ 356 w 1102"/>
                <a:gd name="T61" fmla="*/ 946 h 1099"/>
                <a:gd name="T62" fmla="*/ 268 w 1102"/>
                <a:gd name="T63" fmla="*/ 886 h 1099"/>
                <a:gd name="T64" fmla="*/ 195 w 1102"/>
                <a:gd name="T65" fmla="*/ 809 h 1099"/>
                <a:gd name="T66" fmla="*/ 141 w 1102"/>
                <a:gd name="T67" fmla="*/ 717 h 1099"/>
                <a:gd name="T68" fmla="*/ 110 w 1102"/>
                <a:gd name="T69" fmla="*/ 616 h 1099"/>
                <a:gd name="T70" fmla="*/ 105 w 1102"/>
                <a:gd name="T71" fmla="*/ 508 h 1099"/>
                <a:gd name="T72" fmla="*/ 121 w 1102"/>
                <a:gd name="T73" fmla="*/ 426 h 1099"/>
                <a:gd name="T74" fmla="*/ 168 w 1102"/>
                <a:gd name="T75" fmla="*/ 314 h 1099"/>
                <a:gd name="T76" fmla="*/ 223 w 1102"/>
                <a:gd name="T77" fmla="*/ 239 h 1099"/>
                <a:gd name="T78" fmla="*/ 292 w 1102"/>
                <a:gd name="T79" fmla="*/ 177 h 1099"/>
                <a:gd name="T80" fmla="*/ 354 w 1102"/>
                <a:gd name="T81" fmla="*/ 141 h 1099"/>
                <a:gd name="T82" fmla="*/ 422 w 1102"/>
                <a:gd name="T83" fmla="*/ 112 h 1099"/>
                <a:gd name="T84" fmla="*/ 514 w 1102"/>
                <a:gd name="T85" fmla="*/ 92 h 1099"/>
                <a:gd name="T86" fmla="*/ 606 w 1102"/>
                <a:gd name="T87" fmla="*/ 92 h 1099"/>
                <a:gd name="T88" fmla="*/ 758 w 1102"/>
                <a:gd name="T89" fmla="*/ 134 h 1099"/>
                <a:gd name="T90" fmla="*/ 854 w 1102"/>
                <a:gd name="T91" fmla="*/ 198 h 1099"/>
                <a:gd name="T92" fmla="*/ 919 w 1102"/>
                <a:gd name="T93" fmla="*/ 266 h 1099"/>
                <a:gd name="T94" fmla="*/ 970 w 1102"/>
                <a:gd name="T95" fmla="*/ 349 h 1099"/>
                <a:gd name="T96" fmla="*/ 994 w 1102"/>
                <a:gd name="T97" fmla="*/ 403 h 1099"/>
                <a:gd name="T98" fmla="*/ 1035 w 1102"/>
                <a:gd name="T99" fmla="*/ 456 h 1099"/>
                <a:gd name="T100" fmla="*/ 1065 w 1102"/>
                <a:gd name="T101" fmla="*/ 452 h 1099"/>
                <a:gd name="T102" fmla="*/ 1085 w 1102"/>
                <a:gd name="T103" fmla="*/ 432 h 1099"/>
                <a:gd name="T104" fmla="*/ 1094 w 1102"/>
                <a:gd name="T105" fmla="*/ 388 h 1099"/>
                <a:gd name="T106" fmla="*/ 1072 w 1102"/>
                <a:gd name="T107" fmla="*/ 326 h 1099"/>
                <a:gd name="T108" fmla="*/ 1014 w 1102"/>
                <a:gd name="T109" fmla="*/ 226 h 1099"/>
                <a:gd name="T110" fmla="*/ 933 w 1102"/>
                <a:gd name="T111" fmla="*/ 138 h 1099"/>
                <a:gd name="T112" fmla="*/ 835 w 1102"/>
                <a:gd name="T113" fmla="*/ 66 h 1099"/>
                <a:gd name="T114" fmla="*/ 751 w 1102"/>
                <a:gd name="T115" fmla="*/ 26 h 1099"/>
                <a:gd name="T116" fmla="*/ 693 w 1102"/>
                <a:gd name="T117" fmla="*/ 10 h 1099"/>
                <a:gd name="T118" fmla="*/ 512 w 1102"/>
                <a:gd name="T119" fmla="*/ 0 h 1099"/>
                <a:gd name="T120" fmla="*/ 379 w 1102"/>
                <a:gd name="T121" fmla="*/ 22 h 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02" h="1099">
                  <a:moveTo>
                    <a:pt x="379" y="22"/>
                  </a:moveTo>
                  <a:lnTo>
                    <a:pt x="342" y="37"/>
                  </a:lnTo>
                  <a:lnTo>
                    <a:pt x="275" y="71"/>
                  </a:lnTo>
                  <a:lnTo>
                    <a:pt x="215" y="112"/>
                  </a:lnTo>
                  <a:lnTo>
                    <a:pt x="162" y="160"/>
                  </a:lnTo>
                  <a:lnTo>
                    <a:pt x="116" y="214"/>
                  </a:lnTo>
                  <a:lnTo>
                    <a:pt x="77" y="275"/>
                  </a:lnTo>
                  <a:lnTo>
                    <a:pt x="46" y="344"/>
                  </a:lnTo>
                  <a:lnTo>
                    <a:pt x="21" y="419"/>
                  </a:lnTo>
                  <a:lnTo>
                    <a:pt x="12" y="459"/>
                  </a:lnTo>
                  <a:lnTo>
                    <a:pt x="7" y="488"/>
                  </a:lnTo>
                  <a:lnTo>
                    <a:pt x="0" y="537"/>
                  </a:lnTo>
                  <a:lnTo>
                    <a:pt x="0" y="580"/>
                  </a:lnTo>
                  <a:lnTo>
                    <a:pt x="7" y="626"/>
                  </a:lnTo>
                  <a:lnTo>
                    <a:pt x="12" y="652"/>
                  </a:lnTo>
                  <a:lnTo>
                    <a:pt x="21" y="687"/>
                  </a:lnTo>
                  <a:lnTo>
                    <a:pt x="46" y="755"/>
                  </a:lnTo>
                  <a:lnTo>
                    <a:pt x="81" y="821"/>
                  </a:lnTo>
                  <a:lnTo>
                    <a:pt x="123" y="882"/>
                  </a:lnTo>
                  <a:lnTo>
                    <a:pt x="171" y="937"/>
                  </a:lnTo>
                  <a:lnTo>
                    <a:pt x="225" y="986"/>
                  </a:lnTo>
                  <a:lnTo>
                    <a:pt x="284" y="1028"/>
                  </a:lnTo>
                  <a:lnTo>
                    <a:pt x="347" y="1060"/>
                  </a:lnTo>
                  <a:lnTo>
                    <a:pt x="379" y="1072"/>
                  </a:lnTo>
                  <a:lnTo>
                    <a:pt x="414" y="1083"/>
                  </a:lnTo>
                  <a:lnTo>
                    <a:pt x="486" y="1096"/>
                  </a:lnTo>
                  <a:lnTo>
                    <a:pt x="560" y="1099"/>
                  </a:lnTo>
                  <a:lnTo>
                    <a:pt x="635" y="1092"/>
                  </a:lnTo>
                  <a:lnTo>
                    <a:pt x="709" y="1076"/>
                  </a:lnTo>
                  <a:lnTo>
                    <a:pt x="780" y="1050"/>
                  </a:lnTo>
                  <a:lnTo>
                    <a:pt x="847" y="1016"/>
                  </a:lnTo>
                  <a:lnTo>
                    <a:pt x="908" y="974"/>
                  </a:lnTo>
                  <a:lnTo>
                    <a:pt x="936" y="949"/>
                  </a:lnTo>
                  <a:lnTo>
                    <a:pt x="958" y="927"/>
                  </a:lnTo>
                  <a:lnTo>
                    <a:pt x="1000" y="880"/>
                  </a:lnTo>
                  <a:lnTo>
                    <a:pt x="1035" y="832"/>
                  </a:lnTo>
                  <a:lnTo>
                    <a:pt x="1064" y="784"/>
                  </a:lnTo>
                  <a:lnTo>
                    <a:pt x="1085" y="738"/>
                  </a:lnTo>
                  <a:lnTo>
                    <a:pt x="1098" y="696"/>
                  </a:lnTo>
                  <a:lnTo>
                    <a:pt x="1102" y="660"/>
                  </a:lnTo>
                  <a:lnTo>
                    <a:pt x="1095" y="632"/>
                  </a:lnTo>
                  <a:lnTo>
                    <a:pt x="1087" y="622"/>
                  </a:lnTo>
                  <a:lnTo>
                    <a:pt x="1073" y="609"/>
                  </a:lnTo>
                  <a:lnTo>
                    <a:pt x="1055" y="601"/>
                  </a:lnTo>
                  <a:lnTo>
                    <a:pt x="1044" y="602"/>
                  </a:lnTo>
                  <a:lnTo>
                    <a:pt x="1028" y="616"/>
                  </a:lnTo>
                  <a:lnTo>
                    <a:pt x="1002" y="663"/>
                  </a:lnTo>
                  <a:lnTo>
                    <a:pt x="984" y="701"/>
                  </a:lnTo>
                  <a:lnTo>
                    <a:pt x="968" y="733"/>
                  </a:lnTo>
                  <a:lnTo>
                    <a:pt x="933" y="793"/>
                  </a:lnTo>
                  <a:lnTo>
                    <a:pt x="894" y="845"/>
                  </a:lnTo>
                  <a:lnTo>
                    <a:pt x="850" y="889"/>
                  </a:lnTo>
                  <a:lnTo>
                    <a:pt x="802" y="925"/>
                  </a:lnTo>
                  <a:lnTo>
                    <a:pt x="749" y="954"/>
                  </a:lnTo>
                  <a:lnTo>
                    <a:pt x="692" y="975"/>
                  </a:lnTo>
                  <a:lnTo>
                    <a:pt x="630" y="989"/>
                  </a:lnTo>
                  <a:lnTo>
                    <a:pt x="597" y="992"/>
                  </a:lnTo>
                  <a:lnTo>
                    <a:pt x="569" y="994"/>
                  </a:lnTo>
                  <a:lnTo>
                    <a:pt x="512" y="992"/>
                  </a:lnTo>
                  <a:lnTo>
                    <a:pt x="458" y="983"/>
                  </a:lnTo>
                  <a:lnTo>
                    <a:pt x="406" y="967"/>
                  </a:lnTo>
                  <a:lnTo>
                    <a:pt x="356" y="946"/>
                  </a:lnTo>
                  <a:lnTo>
                    <a:pt x="310" y="919"/>
                  </a:lnTo>
                  <a:lnTo>
                    <a:pt x="268" y="886"/>
                  </a:lnTo>
                  <a:lnTo>
                    <a:pt x="229" y="850"/>
                  </a:lnTo>
                  <a:lnTo>
                    <a:pt x="195" y="809"/>
                  </a:lnTo>
                  <a:lnTo>
                    <a:pt x="165" y="765"/>
                  </a:lnTo>
                  <a:lnTo>
                    <a:pt x="141" y="717"/>
                  </a:lnTo>
                  <a:lnTo>
                    <a:pt x="123" y="668"/>
                  </a:lnTo>
                  <a:lnTo>
                    <a:pt x="110" y="616"/>
                  </a:lnTo>
                  <a:lnTo>
                    <a:pt x="104" y="563"/>
                  </a:lnTo>
                  <a:lnTo>
                    <a:pt x="105" y="508"/>
                  </a:lnTo>
                  <a:lnTo>
                    <a:pt x="113" y="453"/>
                  </a:lnTo>
                  <a:lnTo>
                    <a:pt x="121" y="426"/>
                  </a:lnTo>
                  <a:lnTo>
                    <a:pt x="136" y="378"/>
                  </a:lnTo>
                  <a:lnTo>
                    <a:pt x="168" y="314"/>
                  </a:lnTo>
                  <a:lnTo>
                    <a:pt x="194" y="274"/>
                  </a:lnTo>
                  <a:lnTo>
                    <a:pt x="223" y="239"/>
                  </a:lnTo>
                  <a:lnTo>
                    <a:pt x="256" y="206"/>
                  </a:lnTo>
                  <a:lnTo>
                    <a:pt x="292" y="177"/>
                  </a:lnTo>
                  <a:lnTo>
                    <a:pt x="332" y="152"/>
                  </a:lnTo>
                  <a:lnTo>
                    <a:pt x="354" y="141"/>
                  </a:lnTo>
                  <a:lnTo>
                    <a:pt x="376" y="130"/>
                  </a:lnTo>
                  <a:lnTo>
                    <a:pt x="422" y="112"/>
                  </a:lnTo>
                  <a:lnTo>
                    <a:pt x="467" y="100"/>
                  </a:lnTo>
                  <a:lnTo>
                    <a:pt x="514" y="92"/>
                  </a:lnTo>
                  <a:lnTo>
                    <a:pt x="560" y="89"/>
                  </a:lnTo>
                  <a:lnTo>
                    <a:pt x="606" y="92"/>
                  </a:lnTo>
                  <a:lnTo>
                    <a:pt x="673" y="103"/>
                  </a:lnTo>
                  <a:lnTo>
                    <a:pt x="758" y="134"/>
                  </a:lnTo>
                  <a:lnTo>
                    <a:pt x="817" y="170"/>
                  </a:lnTo>
                  <a:lnTo>
                    <a:pt x="854" y="198"/>
                  </a:lnTo>
                  <a:lnTo>
                    <a:pt x="888" y="230"/>
                  </a:lnTo>
                  <a:lnTo>
                    <a:pt x="919" y="266"/>
                  </a:lnTo>
                  <a:lnTo>
                    <a:pt x="946" y="306"/>
                  </a:lnTo>
                  <a:lnTo>
                    <a:pt x="970" y="349"/>
                  </a:lnTo>
                  <a:lnTo>
                    <a:pt x="981" y="372"/>
                  </a:lnTo>
                  <a:lnTo>
                    <a:pt x="994" y="403"/>
                  </a:lnTo>
                  <a:lnTo>
                    <a:pt x="1018" y="442"/>
                  </a:lnTo>
                  <a:lnTo>
                    <a:pt x="1035" y="456"/>
                  </a:lnTo>
                  <a:lnTo>
                    <a:pt x="1047" y="458"/>
                  </a:lnTo>
                  <a:lnTo>
                    <a:pt x="1065" y="452"/>
                  </a:lnTo>
                  <a:lnTo>
                    <a:pt x="1077" y="441"/>
                  </a:lnTo>
                  <a:lnTo>
                    <a:pt x="1085" y="432"/>
                  </a:lnTo>
                  <a:lnTo>
                    <a:pt x="1094" y="417"/>
                  </a:lnTo>
                  <a:lnTo>
                    <a:pt x="1094" y="388"/>
                  </a:lnTo>
                  <a:lnTo>
                    <a:pt x="1082" y="352"/>
                  </a:lnTo>
                  <a:lnTo>
                    <a:pt x="1072" y="326"/>
                  </a:lnTo>
                  <a:lnTo>
                    <a:pt x="1046" y="275"/>
                  </a:lnTo>
                  <a:lnTo>
                    <a:pt x="1014" y="226"/>
                  </a:lnTo>
                  <a:lnTo>
                    <a:pt x="976" y="180"/>
                  </a:lnTo>
                  <a:lnTo>
                    <a:pt x="933" y="138"/>
                  </a:lnTo>
                  <a:lnTo>
                    <a:pt x="886" y="99"/>
                  </a:lnTo>
                  <a:lnTo>
                    <a:pt x="835" y="66"/>
                  </a:lnTo>
                  <a:lnTo>
                    <a:pt x="779" y="37"/>
                  </a:lnTo>
                  <a:lnTo>
                    <a:pt x="751" y="26"/>
                  </a:lnTo>
                  <a:lnTo>
                    <a:pt x="734" y="20"/>
                  </a:lnTo>
                  <a:lnTo>
                    <a:pt x="693" y="10"/>
                  </a:lnTo>
                  <a:lnTo>
                    <a:pt x="619" y="1"/>
                  </a:lnTo>
                  <a:lnTo>
                    <a:pt x="512" y="0"/>
                  </a:lnTo>
                  <a:lnTo>
                    <a:pt x="415" y="12"/>
                  </a:lnTo>
                  <a:lnTo>
                    <a:pt x="37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6" name="Freeform 157">
              <a:extLst>
                <a:ext uri="{FF2B5EF4-FFF2-40B4-BE49-F238E27FC236}">
                  <a16:creationId xmlns:a16="http://schemas.microsoft.com/office/drawing/2014/main" id="{42AA3DF6-B301-551B-7E8F-5F18AD54BD46}"/>
                </a:ext>
              </a:extLst>
            </p:cNvPr>
            <p:cNvSpPr>
              <a:spLocks noEditPoints="1"/>
            </p:cNvSpPr>
            <p:nvPr/>
          </p:nvSpPr>
          <p:spPr bwMode="auto">
            <a:xfrm>
              <a:off x="1145787" y="1450053"/>
              <a:ext cx="59690" cy="111362"/>
            </a:xfrm>
            <a:custGeom>
              <a:avLst/>
              <a:gdLst>
                <a:gd name="T0" fmla="*/ 110 w 282"/>
                <a:gd name="T1" fmla="*/ 12 h 534"/>
                <a:gd name="T2" fmla="*/ 105 w 282"/>
                <a:gd name="T3" fmla="*/ 22 h 534"/>
                <a:gd name="T4" fmla="*/ 99 w 282"/>
                <a:gd name="T5" fmla="*/ 86 h 534"/>
                <a:gd name="T6" fmla="*/ 98 w 282"/>
                <a:gd name="T7" fmla="*/ 130 h 534"/>
                <a:gd name="T8" fmla="*/ 98 w 282"/>
                <a:gd name="T9" fmla="*/ 164 h 534"/>
                <a:gd name="T10" fmla="*/ 94 w 282"/>
                <a:gd name="T11" fmla="*/ 211 h 534"/>
                <a:gd name="T12" fmla="*/ 84 w 282"/>
                <a:gd name="T13" fmla="*/ 246 h 534"/>
                <a:gd name="T14" fmla="*/ 64 w 282"/>
                <a:gd name="T15" fmla="*/ 277 h 534"/>
                <a:gd name="T16" fmla="*/ 48 w 282"/>
                <a:gd name="T17" fmla="*/ 295 h 534"/>
                <a:gd name="T18" fmla="*/ 27 w 282"/>
                <a:gd name="T19" fmla="*/ 320 h 534"/>
                <a:gd name="T20" fmla="*/ 7 w 282"/>
                <a:gd name="T21" fmla="*/ 356 h 534"/>
                <a:gd name="T22" fmla="*/ 1 w 282"/>
                <a:gd name="T23" fmla="*/ 378 h 534"/>
                <a:gd name="T24" fmla="*/ 0 w 282"/>
                <a:gd name="T25" fmla="*/ 400 h 534"/>
                <a:gd name="T26" fmla="*/ 5 w 282"/>
                <a:gd name="T27" fmla="*/ 423 h 534"/>
                <a:gd name="T28" fmla="*/ 22 w 282"/>
                <a:gd name="T29" fmla="*/ 457 h 534"/>
                <a:gd name="T30" fmla="*/ 41 w 282"/>
                <a:gd name="T31" fmla="*/ 482 h 534"/>
                <a:gd name="T32" fmla="*/ 54 w 282"/>
                <a:gd name="T33" fmla="*/ 496 h 534"/>
                <a:gd name="T34" fmla="*/ 76 w 282"/>
                <a:gd name="T35" fmla="*/ 516 h 534"/>
                <a:gd name="T36" fmla="*/ 99 w 282"/>
                <a:gd name="T37" fmla="*/ 528 h 534"/>
                <a:gd name="T38" fmla="*/ 126 w 282"/>
                <a:gd name="T39" fmla="*/ 533 h 534"/>
                <a:gd name="T40" fmla="*/ 141 w 282"/>
                <a:gd name="T41" fmla="*/ 534 h 534"/>
                <a:gd name="T42" fmla="*/ 164 w 282"/>
                <a:gd name="T43" fmla="*/ 532 h 534"/>
                <a:gd name="T44" fmla="*/ 205 w 282"/>
                <a:gd name="T45" fmla="*/ 520 h 534"/>
                <a:gd name="T46" fmla="*/ 238 w 282"/>
                <a:gd name="T47" fmla="*/ 497 h 534"/>
                <a:gd name="T48" fmla="*/ 262 w 282"/>
                <a:gd name="T49" fmla="*/ 466 h 534"/>
                <a:gd name="T50" fmla="*/ 277 w 282"/>
                <a:gd name="T51" fmla="*/ 430 h 534"/>
                <a:gd name="T52" fmla="*/ 282 w 282"/>
                <a:gd name="T53" fmla="*/ 391 h 534"/>
                <a:gd name="T54" fmla="*/ 275 w 282"/>
                <a:gd name="T55" fmla="*/ 353 h 534"/>
                <a:gd name="T56" fmla="*/ 255 w 282"/>
                <a:gd name="T57" fmla="*/ 316 h 534"/>
                <a:gd name="T58" fmla="*/ 240 w 282"/>
                <a:gd name="T59" fmla="*/ 300 h 534"/>
                <a:gd name="T60" fmla="*/ 227 w 282"/>
                <a:gd name="T61" fmla="*/ 288 h 534"/>
                <a:gd name="T62" fmla="*/ 211 w 282"/>
                <a:gd name="T63" fmla="*/ 264 h 534"/>
                <a:gd name="T64" fmla="*/ 202 w 282"/>
                <a:gd name="T65" fmla="*/ 234 h 534"/>
                <a:gd name="T66" fmla="*/ 198 w 282"/>
                <a:gd name="T67" fmla="*/ 189 h 534"/>
                <a:gd name="T68" fmla="*/ 198 w 282"/>
                <a:gd name="T69" fmla="*/ 157 h 534"/>
                <a:gd name="T70" fmla="*/ 197 w 282"/>
                <a:gd name="T71" fmla="*/ 114 h 534"/>
                <a:gd name="T72" fmla="*/ 192 w 282"/>
                <a:gd name="T73" fmla="*/ 44 h 534"/>
                <a:gd name="T74" fmla="*/ 188 w 282"/>
                <a:gd name="T75" fmla="*/ 27 h 534"/>
                <a:gd name="T76" fmla="*/ 183 w 282"/>
                <a:gd name="T77" fmla="*/ 18 h 534"/>
                <a:gd name="T78" fmla="*/ 164 w 282"/>
                <a:gd name="T79" fmla="*/ 4 h 534"/>
                <a:gd name="T80" fmla="*/ 141 w 282"/>
                <a:gd name="T81" fmla="*/ 0 h 534"/>
                <a:gd name="T82" fmla="*/ 118 w 282"/>
                <a:gd name="T83" fmla="*/ 5 h 534"/>
                <a:gd name="T84" fmla="*/ 110 w 282"/>
                <a:gd name="T85" fmla="*/ 12 h 534"/>
                <a:gd name="T86" fmla="*/ 181 w 282"/>
                <a:gd name="T87" fmla="*/ 390 h 534"/>
                <a:gd name="T88" fmla="*/ 180 w 282"/>
                <a:gd name="T89" fmla="*/ 401 h 534"/>
                <a:gd name="T90" fmla="*/ 171 w 282"/>
                <a:gd name="T91" fmla="*/ 420 h 534"/>
                <a:gd name="T92" fmla="*/ 165 w 282"/>
                <a:gd name="T93" fmla="*/ 425 h 534"/>
                <a:gd name="T94" fmla="*/ 156 w 282"/>
                <a:gd name="T95" fmla="*/ 429 h 534"/>
                <a:gd name="T96" fmla="*/ 134 w 282"/>
                <a:gd name="T97" fmla="*/ 423 h 534"/>
                <a:gd name="T98" fmla="*/ 114 w 282"/>
                <a:gd name="T99" fmla="*/ 408 h 534"/>
                <a:gd name="T100" fmla="*/ 106 w 282"/>
                <a:gd name="T101" fmla="*/ 395 h 534"/>
                <a:gd name="T102" fmla="*/ 106 w 282"/>
                <a:gd name="T103" fmla="*/ 386 h 534"/>
                <a:gd name="T104" fmla="*/ 108 w 282"/>
                <a:gd name="T105" fmla="*/ 382 h 534"/>
                <a:gd name="T106" fmla="*/ 115 w 282"/>
                <a:gd name="T107" fmla="*/ 374 h 534"/>
                <a:gd name="T108" fmla="*/ 138 w 282"/>
                <a:gd name="T109" fmla="*/ 367 h 534"/>
                <a:gd name="T110" fmla="*/ 162 w 282"/>
                <a:gd name="T111" fmla="*/ 370 h 534"/>
                <a:gd name="T112" fmla="*/ 180 w 282"/>
                <a:gd name="T113" fmla="*/ 381 h 534"/>
                <a:gd name="T114" fmla="*/ 181 w 282"/>
                <a:gd name="T115" fmla="*/ 390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2" h="534">
                  <a:moveTo>
                    <a:pt x="110" y="12"/>
                  </a:moveTo>
                  <a:lnTo>
                    <a:pt x="105" y="22"/>
                  </a:lnTo>
                  <a:lnTo>
                    <a:pt x="99" y="86"/>
                  </a:lnTo>
                  <a:lnTo>
                    <a:pt x="98" y="130"/>
                  </a:lnTo>
                  <a:lnTo>
                    <a:pt x="98" y="164"/>
                  </a:lnTo>
                  <a:lnTo>
                    <a:pt x="94" y="211"/>
                  </a:lnTo>
                  <a:lnTo>
                    <a:pt x="84" y="246"/>
                  </a:lnTo>
                  <a:lnTo>
                    <a:pt x="64" y="277"/>
                  </a:lnTo>
                  <a:lnTo>
                    <a:pt x="48" y="295"/>
                  </a:lnTo>
                  <a:lnTo>
                    <a:pt x="27" y="320"/>
                  </a:lnTo>
                  <a:lnTo>
                    <a:pt x="7" y="356"/>
                  </a:lnTo>
                  <a:lnTo>
                    <a:pt x="1" y="378"/>
                  </a:lnTo>
                  <a:lnTo>
                    <a:pt x="0" y="400"/>
                  </a:lnTo>
                  <a:lnTo>
                    <a:pt x="5" y="423"/>
                  </a:lnTo>
                  <a:lnTo>
                    <a:pt x="22" y="457"/>
                  </a:lnTo>
                  <a:lnTo>
                    <a:pt x="41" y="482"/>
                  </a:lnTo>
                  <a:lnTo>
                    <a:pt x="54" y="496"/>
                  </a:lnTo>
                  <a:lnTo>
                    <a:pt x="76" y="516"/>
                  </a:lnTo>
                  <a:lnTo>
                    <a:pt x="99" y="528"/>
                  </a:lnTo>
                  <a:lnTo>
                    <a:pt x="126" y="533"/>
                  </a:lnTo>
                  <a:lnTo>
                    <a:pt x="141" y="534"/>
                  </a:lnTo>
                  <a:lnTo>
                    <a:pt x="164" y="532"/>
                  </a:lnTo>
                  <a:lnTo>
                    <a:pt x="205" y="520"/>
                  </a:lnTo>
                  <a:lnTo>
                    <a:pt x="238" y="497"/>
                  </a:lnTo>
                  <a:lnTo>
                    <a:pt x="262" y="466"/>
                  </a:lnTo>
                  <a:lnTo>
                    <a:pt x="277" y="430"/>
                  </a:lnTo>
                  <a:lnTo>
                    <a:pt x="282" y="391"/>
                  </a:lnTo>
                  <a:lnTo>
                    <a:pt x="275" y="353"/>
                  </a:lnTo>
                  <a:lnTo>
                    <a:pt x="255" y="316"/>
                  </a:lnTo>
                  <a:lnTo>
                    <a:pt x="240" y="300"/>
                  </a:lnTo>
                  <a:lnTo>
                    <a:pt x="227" y="288"/>
                  </a:lnTo>
                  <a:lnTo>
                    <a:pt x="211" y="264"/>
                  </a:lnTo>
                  <a:lnTo>
                    <a:pt x="202" y="234"/>
                  </a:lnTo>
                  <a:lnTo>
                    <a:pt x="198" y="189"/>
                  </a:lnTo>
                  <a:lnTo>
                    <a:pt x="198" y="157"/>
                  </a:lnTo>
                  <a:lnTo>
                    <a:pt x="197" y="114"/>
                  </a:lnTo>
                  <a:lnTo>
                    <a:pt x="192" y="44"/>
                  </a:lnTo>
                  <a:lnTo>
                    <a:pt x="188" y="27"/>
                  </a:lnTo>
                  <a:lnTo>
                    <a:pt x="183" y="18"/>
                  </a:lnTo>
                  <a:lnTo>
                    <a:pt x="164" y="4"/>
                  </a:lnTo>
                  <a:lnTo>
                    <a:pt x="141" y="0"/>
                  </a:lnTo>
                  <a:lnTo>
                    <a:pt x="118" y="5"/>
                  </a:lnTo>
                  <a:lnTo>
                    <a:pt x="110" y="12"/>
                  </a:lnTo>
                  <a:close/>
                  <a:moveTo>
                    <a:pt x="181" y="390"/>
                  </a:moveTo>
                  <a:lnTo>
                    <a:pt x="180" y="401"/>
                  </a:lnTo>
                  <a:lnTo>
                    <a:pt x="171" y="420"/>
                  </a:lnTo>
                  <a:lnTo>
                    <a:pt x="165" y="425"/>
                  </a:lnTo>
                  <a:lnTo>
                    <a:pt x="156" y="429"/>
                  </a:lnTo>
                  <a:lnTo>
                    <a:pt x="134" y="423"/>
                  </a:lnTo>
                  <a:lnTo>
                    <a:pt x="114" y="408"/>
                  </a:lnTo>
                  <a:lnTo>
                    <a:pt x="106" y="395"/>
                  </a:lnTo>
                  <a:lnTo>
                    <a:pt x="106" y="386"/>
                  </a:lnTo>
                  <a:lnTo>
                    <a:pt x="108" y="382"/>
                  </a:lnTo>
                  <a:lnTo>
                    <a:pt x="115" y="374"/>
                  </a:lnTo>
                  <a:lnTo>
                    <a:pt x="138" y="367"/>
                  </a:lnTo>
                  <a:lnTo>
                    <a:pt x="162" y="370"/>
                  </a:lnTo>
                  <a:lnTo>
                    <a:pt x="180" y="381"/>
                  </a:lnTo>
                  <a:lnTo>
                    <a:pt x="181" y="3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7" name="Freeform 158">
              <a:extLst>
                <a:ext uri="{FF2B5EF4-FFF2-40B4-BE49-F238E27FC236}">
                  <a16:creationId xmlns:a16="http://schemas.microsoft.com/office/drawing/2014/main" id="{E6930921-989C-261B-2DEA-87B6F4368EF4}"/>
                </a:ext>
              </a:extLst>
            </p:cNvPr>
            <p:cNvSpPr>
              <a:spLocks noEditPoints="1"/>
            </p:cNvSpPr>
            <p:nvPr/>
          </p:nvSpPr>
          <p:spPr bwMode="auto">
            <a:xfrm>
              <a:off x="1292784" y="1450053"/>
              <a:ext cx="89981" cy="91762"/>
            </a:xfrm>
            <a:custGeom>
              <a:avLst/>
              <a:gdLst>
                <a:gd name="T0" fmla="*/ 157 w 433"/>
                <a:gd name="T1" fmla="*/ 6 h 438"/>
                <a:gd name="T2" fmla="*/ 141 w 433"/>
                <a:gd name="T3" fmla="*/ 11 h 438"/>
                <a:gd name="T4" fmla="*/ 111 w 433"/>
                <a:gd name="T5" fmla="*/ 26 h 438"/>
                <a:gd name="T6" fmla="*/ 83 w 433"/>
                <a:gd name="T7" fmla="*/ 47 h 438"/>
                <a:gd name="T8" fmla="*/ 58 w 433"/>
                <a:gd name="T9" fmla="*/ 71 h 438"/>
                <a:gd name="T10" fmla="*/ 37 w 433"/>
                <a:gd name="T11" fmla="*/ 99 h 438"/>
                <a:gd name="T12" fmla="*/ 19 w 433"/>
                <a:gd name="T13" fmla="*/ 129 h 438"/>
                <a:gd name="T14" fmla="*/ 7 w 433"/>
                <a:gd name="T15" fmla="*/ 161 h 438"/>
                <a:gd name="T16" fmla="*/ 1 w 433"/>
                <a:gd name="T17" fmla="*/ 194 h 438"/>
                <a:gd name="T18" fmla="*/ 0 w 433"/>
                <a:gd name="T19" fmla="*/ 210 h 438"/>
                <a:gd name="T20" fmla="*/ 1 w 433"/>
                <a:gd name="T21" fmla="*/ 233 h 438"/>
                <a:gd name="T22" fmla="*/ 10 w 433"/>
                <a:gd name="T23" fmla="*/ 277 h 438"/>
                <a:gd name="T24" fmla="*/ 26 w 433"/>
                <a:gd name="T25" fmla="*/ 317 h 438"/>
                <a:gd name="T26" fmla="*/ 50 w 433"/>
                <a:gd name="T27" fmla="*/ 354 h 438"/>
                <a:gd name="T28" fmla="*/ 80 w 433"/>
                <a:gd name="T29" fmla="*/ 385 h 438"/>
                <a:gd name="T30" fmla="*/ 115 w 433"/>
                <a:gd name="T31" fmla="*/ 410 h 438"/>
                <a:gd name="T32" fmla="*/ 153 w 433"/>
                <a:gd name="T33" fmla="*/ 428 h 438"/>
                <a:gd name="T34" fmla="*/ 195 w 433"/>
                <a:gd name="T35" fmla="*/ 437 h 438"/>
                <a:gd name="T36" fmla="*/ 217 w 433"/>
                <a:gd name="T37" fmla="*/ 438 h 438"/>
                <a:gd name="T38" fmla="*/ 237 w 433"/>
                <a:gd name="T39" fmla="*/ 437 h 438"/>
                <a:gd name="T40" fmla="*/ 276 w 433"/>
                <a:gd name="T41" fmla="*/ 427 h 438"/>
                <a:gd name="T42" fmla="*/ 314 w 433"/>
                <a:gd name="T43" fmla="*/ 408 h 438"/>
                <a:gd name="T44" fmla="*/ 349 w 433"/>
                <a:gd name="T45" fmla="*/ 382 h 438"/>
                <a:gd name="T46" fmla="*/ 380 w 433"/>
                <a:gd name="T47" fmla="*/ 350 h 438"/>
                <a:gd name="T48" fmla="*/ 405 w 433"/>
                <a:gd name="T49" fmla="*/ 313 h 438"/>
                <a:gd name="T50" fmla="*/ 423 w 433"/>
                <a:gd name="T51" fmla="*/ 273 h 438"/>
                <a:gd name="T52" fmla="*/ 432 w 433"/>
                <a:gd name="T53" fmla="*/ 231 h 438"/>
                <a:gd name="T54" fmla="*/ 433 w 433"/>
                <a:gd name="T55" fmla="*/ 210 h 438"/>
                <a:gd name="T56" fmla="*/ 432 w 433"/>
                <a:gd name="T57" fmla="*/ 185 h 438"/>
                <a:gd name="T58" fmla="*/ 419 w 433"/>
                <a:gd name="T59" fmla="*/ 139 h 438"/>
                <a:gd name="T60" fmla="*/ 396 w 433"/>
                <a:gd name="T61" fmla="*/ 97 h 438"/>
                <a:gd name="T62" fmla="*/ 363 w 433"/>
                <a:gd name="T63" fmla="*/ 60 h 438"/>
                <a:gd name="T64" fmla="*/ 323 w 433"/>
                <a:gd name="T65" fmla="*/ 31 h 438"/>
                <a:gd name="T66" fmla="*/ 279 w 433"/>
                <a:gd name="T67" fmla="*/ 10 h 438"/>
                <a:gd name="T68" fmla="*/ 231 w 433"/>
                <a:gd name="T69" fmla="*/ 0 h 438"/>
                <a:gd name="T70" fmla="*/ 181 w 433"/>
                <a:gd name="T71" fmla="*/ 1 h 438"/>
                <a:gd name="T72" fmla="*/ 157 w 433"/>
                <a:gd name="T73" fmla="*/ 6 h 438"/>
                <a:gd name="T74" fmla="*/ 277 w 433"/>
                <a:gd name="T75" fmla="*/ 118 h 438"/>
                <a:gd name="T76" fmla="*/ 289 w 433"/>
                <a:gd name="T77" fmla="*/ 128 h 438"/>
                <a:gd name="T78" fmla="*/ 310 w 433"/>
                <a:gd name="T79" fmla="*/ 158 h 438"/>
                <a:gd name="T80" fmla="*/ 324 w 433"/>
                <a:gd name="T81" fmla="*/ 195 h 438"/>
                <a:gd name="T82" fmla="*/ 329 w 433"/>
                <a:gd name="T83" fmla="*/ 232 h 438"/>
                <a:gd name="T84" fmla="*/ 327 w 433"/>
                <a:gd name="T85" fmla="*/ 248 h 438"/>
                <a:gd name="T86" fmla="*/ 321 w 433"/>
                <a:gd name="T87" fmla="*/ 262 h 438"/>
                <a:gd name="T88" fmla="*/ 294 w 433"/>
                <a:gd name="T89" fmla="*/ 293 h 438"/>
                <a:gd name="T90" fmla="*/ 256 w 433"/>
                <a:gd name="T91" fmla="*/ 320 h 438"/>
                <a:gd name="T92" fmla="*/ 217 w 433"/>
                <a:gd name="T93" fmla="*/ 336 h 438"/>
                <a:gd name="T94" fmla="*/ 200 w 433"/>
                <a:gd name="T95" fmla="*/ 338 h 438"/>
                <a:gd name="T96" fmla="*/ 193 w 433"/>
                <a:gd name="T97" fmla="*/ 337 h 438"/>
                <a:gd name="T98" fmla="*/ 178 w 433"/>
                <a:gd name="T99" fmla="*/ 330 h 438"/>
                <a:gd name="T100" fmla="*/ 153 w 433"/>
                <a:gd name="T101" fmla="*/ 310 h 438"/>
                <a:gd name="T102" fmla="*/ 122 w 433"/>
                <a:gd name="T103" fmla="*/ 272 h 438"/>
                <a:gd name="T104" fmla="*/ 102 w 433"/>
                <a:gd name="T105" fmla="*/ 230 h 438"/>
                <a:gd name="T106" fmla="*/ 100 w 433"/>
                <a:gd name="T107" fmla="*/ 213 h 438"/>
                <a:gd name="T108" fmla="*/ 101 w 433"/>
                <a:gd name="T109" fmla="*/ 198 h 438"/>
                <a:gd name="T110" fmla="*/ 110 w 433"/>
                <a:gd name="T111" fmla="*/ 171 h 438"/>
                <a:gd name="T112" fmla="*/ 128 w 433"/>
                <a:gd name="T113" fmla="*/ 147 h 438"/>
                <a:gd name="T114" fmla="*/ 151 w 433"/>
                <a:gd name="T115" fmla="*/ 127 h 438"/>
                <a:gd name="T116" fmla="*/ 178 w 433"/>
                <a:gd name="T117" fmla="*/ 112 h 438"/>
                <a:gd name="T118" fmla="*/ 207 w 433"/>
                <a:gd name="T119" fmla="*/ 104 h 438"/>
                <a:gd name="T120" fmla="*/ 236 w 433"/>
                <a:gd name="T121" fmla="*/ 103 h 438"/>
                <a:gd name="T122" fmla="*/ 264 w 433"/>
                <a:gd name="T123" fmla="*/ 110 h 438"/>
                <a:gd name="T124" fmla="*/ 277 w 433"/>
                <a:gd name="T125" fmla="*/ 11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3" h="438">
                  <a:moveTo>
                    <a:pt x="157" y="6"/>
                  </a:moveTo>
                  <a:lnTo>
                    <a:pt x="141" y="11"/>
                  </a:lnTo>
                  <a:lnTo>
                    <a:pt x="111" y="26"/>
                  </a:lnTo>
                  <a:lnTo>
                    <a:pt x="83" y="47"/>
                  </a:lnTo>
                  <a:lnTo>
                    <a:pt x="58" y="71"/>
                  </a:lnTo>
                  <a:lnTo>
                    <a:pt x="37" y="99"/>
                  </a:lnTo>
                  <a:lnTo>
                    <a:pt x="19" y="129"/>
                  </a:lnTo>
                  <a:lnTo>
                    <a:pt x="7" y="161"/>
                  </a:lnTo>
                  <a:lnTo>
                    <a:pt x="1" y="194"/>
                  </a:lnTo>
                  <a:lnTo>
                    <a:pt x="0" y="210"/>
                  </a:lnTo>
                  <a:lnTo>
                    <a:pt x="1" y="233"/>
                  </a:lnTo>
                  <a:lnTo>
                    <a:pt x="10" y="277"/>
                  </a:lnTo>
                  <a:lnTo>
                    <a:pt x="26" y="317"/>
                  </a:lnTo>
                  <a:lnTo>
                    <a:pt x="50" y="354"/>
                  </a:lnTo>
                  <a:lnTo>
                    <a:pt x="80" y="385"/>
                  </a:lnTo>
                  <a:lnTo>
                    <a:pt x="115" y="410"/>
                  </a:lnTo>
                  <a:lnTo>
                    <a:pt x="153" y="428"/>
                  </a:lnTo>
                  <a:lnTo>
                    <a:pt x="195" y="437"/>
                  </a:lnTo>
                  <a:lnTo>
                    <a:pt x="217" y="438"/>
                  </a:lnTo>
                  <a:lnTo>
                    <a:pt x="237" y="437"/>
                  </a:lnTo>
                  <a:lnTo>
                    <a:pt x="276" y="427"/>
                  </a:lnTo>
                  <a:lnTo>
                    <a:pt x="314" y="408"/>
                  </a:lnTo>
                  <a:lnTo>
                    <a:pt x="349" y="382"/>
                  </a:lnTo>
                  <a:lnTo>
                    <a:pt x="380" y="350"/>
                  </a:lnTo>
                  <a:lnTo>
                    <a:pt x="405" y="313"/>
                  </a:lnTo>
                  <a:lnTo>
                    <a:pt x="423" y="273"/>
                  </a:lnTo>
                  <a:lnTo>
                    <a:pt x="432" y="231"/>
                  </a:lnTo>
                  <a:lnTo>
                    <a:pt x="433" y="210"/>
                  </a:lnTo>
                  <a:lnTo>
                    <a:pt x="432" y="185"/>
                  </a:lnTo>
                  <a:lnTo>
                    <a:pt x="419" y="139"/>
                  </a:lnTo>
                  <a:lnTo>
                    <a:pt x="396" y="97"/>
                  </a:lnTo>
                  <a:lnTo>
                    <a:pt x="363" y="60"/>
                  </a:lnTo>
                  <a:lnTo>
                    <a:pt x="323" y="31"/>
                  </a:lnTo>
                  <a:lnTo>
                    <a:pt x="279" y="10"/>
                  </a:lnTo>
                  <a:lnTo>
                    <a:pt x="231" y="0"/>
                  </a:lnTo>
                  <a:lnTo>
                    <a:pt x="181" y="1"/>
                  </a:lnTo>
                  <a:lnTo>
                    <a:pt x="157" y="6"/>
                  </a:lnTo>
                  <a:close/>
                  <a:moveTo>
                    <a:pt x="277" y="118"/>
                  </a:moveTo>
                  <a:lnTo>
                    <a:pt x="289" y="128"/>
                  </a:lnTo>
                  <a:lnTo>
                    <a:pt x="310" y="158"/>
                  </a:lnTo>
                  <a:lnTo>
                    <a:pt x="324" y="195"/>
                  </a:lnTo>
                  <a:lnTo>
                    <a:pt x="329" y="232"/>
                  </a:lnTo>
                  <a:lnTo>
                    <a:pt x="327" y="248"/>
                  </a:lnTo>
                  <a:lnTo>
                    <a:pt x="321" y="262"/>
                  </a:lnTo>
                  <a:lnTo>
                    <a:pt x="294" y="293"/>
                  </a:lnTo>
                  <a:lnTo>
                    <a:pt x="256" y="320"/>
                  </a:lnTo>
                  <a:lnTo>
                    <a:pt x="217" y="336"/>
                  </a:lnTo>
                  <a:lnTo>
                    <a:pt x="200" y="338"/>
                  </a:lnTo>
                  <a:lnTo>
                    <a:pt x="193" y="337"/>
                  </a:lnTo>
                  <a:lnTo>
                    <a:pt x="178" y="330"/>
                  </a:lnTo>
                  <a:lnTo>
                    <a:pt x="153" y="310"/>
                  </a:lnTo>
                  <a:lnTo>
                    <a:pt x="122" y="272"/>
                  </a:lnTo>
                  <a:lnTo>
                    <a:pt x="102" y="230"/>
                  </a:lnTo>
                  <a:lnTo>
                    <a:pt x="100" y="213"/>
                  </a:lnTo>
                  <a:lnTo>
                    <a:pt x="101" y="198"/>
                  </a:lnTo>
                  <a:lnTo>
                    <a:pt x="110" y="171"/>
                  </a:lnTo>
                  <a:lnTo>
                    <a:pt x="128" y="147"/>
                  </a:lnTo>
                  <a:lnTo>
                    <a:pt x="151" y="127"/>
                  </a:lnTo>
                  <a:lnTo>
                    <a:pt x="178" y="112"/>
                  </a:lnTo>
                  <a:lnTo>
                    <a:pt x="207" y="104"/>
                  </a:lnTo>
                  <a:lnTo>
                    <a:pt x="236" y="103"/>
                  </a:lnTo>
                  <a:lnTo>
                    <a:pt x="264" y="110"/>
                  </a:lnTo>
                  <a:lnTo>
                    <a:pt x="277"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8" name="Freeform 170">
              <a:extLst>
                <a:ext uri="{FF2B5EF4-FFF2-40B4-BE49-F238E27FC236}">
                  <a16:creationId xmlns:a16="http://schemas.microsoft.com/office/drawing/2014/main" id="{D6EC072D-9A6E-F22E-24A0-3EA496C2DF45}"/>
                </a:ext>
              </a:extLst>
            </p:cNvPr>
            <p:cNvSpPr>
              <a:spLocks noEditPoints="1"/>
            </p:cNvSpPr>
            <p:nvPr/>
          </p:nvSpPr>
          <p:spPr bwMode="auto">
            <a:xfrm>
              <a:off x="1005916" y="1450053"/>
              <a:ext cx="661043" cy="658371"/>
            </a:xfrm>
            <a:custGeom>
              <a:avLst/>
              <a:gdLst>
                <a:gd name="T0" fmla="*/ 1534 w 3154"/>
                <a:gd name="T1" fmla="*/ 219 h 3142"/>
                <a:gd name="T2" fmla="*/ 1571 w 3154"/>
                <a:gd name="T3" fmla="*/ 404 h 3142"/>
                <a:gd name="T4" fmla="*/ 2078 w 3154"/>
                <a:gd name="T5" fmla="*/ 536 h 3142"/>
                <a:gd name="T6" fmla="*/ 2594 w 3154"/>
                <a:gd name="T7" fmla="*/ 1026 h 3142"/>
                <a:gd name="T8" fmla="*/ 2713 w 3154"/>
                <a:gd name="T9" fmla="*/ 1353 h 3142"/>
                <a:gd name="T10" fmla="*/ 2726 w 3154"/>
                <a:gd name="T11" fmla="*/ 1732 h 3142"/>
                <a:gd name="T12" fmla="*/ 2610 w 3154"/>
                <a:gd name="T13" fmla="*/ 2099 h 3142"/>
                <a:gd name="T14" fmla="*/ 2407 w 3154"/>
                <a:gd name="T15" fmla="*/ 2384 h 3142"/>
                <a:gd name="T16" fmla="*/ 1953 w 3154"/>
                <a:gd name="T17" fmla="*/ 2667 h 3142"/>
                <a:gd name="T18" fmla="*/ 1496 w 3154"/>
                <a:gd name="T19" fmla="*/ 2724 h 3142"/>
                <a:gd name="T20" fmla="*/ 912 w 3154"/>
                <a:gd name="T21" fmla="*/ 2516 h 3142"/>
                <a:gd name="T22" fmla="*/ 779 w 3154"/>
                <a:gd name="T23" fmla="*/ 2463 h 3142"/>
                <a:gd name="T24" fmla="*/ 777 w 3154"/>
                <a:gd name="T25" fmla="*/ 2527 h 3142"/>
                <a:gd name="T26" fmla="*/ 1078 w 3154"/>
                <a:gd name="T27" fmla="*/ 2724 h 3142"/>
                <a:gd name="T28" fmla="*/ 1525 w 3154"/>
                <a:gd name="T29" fmla="*/ 2841 h 3142"/>
                <a:gd name="T30" fmla="*/ 1264 w 3154"/>
                <a:gd name="T31" fmla="*/ 3015 h 3142"/>
                <a:gd name="T32" fmla="*/ 741 w 3154"/>
                <a:gd name="T33" fmla="*/ 2783 h 3142"/>
                <a:gd name="T34" fmla="*/ 346 w 3154"/>
                <a:gd name="T35" fmla="*/ 2377 h 3142"/>
                <a:gd name="T36" fmla="*/ 144 w 3154"/>
                <a:gd name="T37" fmla="*/ 1901 h 3142"/>
                <a:gd name="T38" fmla="*/ 222 w 3154"/>
                <a:gd name="T39" fmla="*/ 1636 h 3142"/>
                <a:gd name="T40" fmla="*/ 431 w 3154"/>
                <a:gd name="T41" fmla="*/ 2080 h 3142"/>
                <a:gd name="T42" fmla="*/ 626 w 3154"/>
                <a:gd name="T43" fmla="*/ 2375 h 3142"/>
                <a:gd name="T44" fmla="*/ 686 w 3154"/>
                <a:gd name="T45" fmla="*/ 2353 h 3142"/>
                <a:gd name="T46" fmla="*/ 622 w 3154"/>
                <a:gd name="T47" fmla="*/ 2222 h 3142"/>
                <a:gd name="T48" fmla="*/ 459 w 3154"/>
                <a:gd name="T49" fmla="*/ 1850 h 3142"/>
                <a:gd name="T50" fmla="*/ 418 w 3154"/>
                <a:gd name="T51" fmla="*/ 1588 h 3142"/>
                <a:gd name="T52" fmla="*/ 270 w 3154"/>
                <a:gd name="T53" fmla="*/ 1532 h 3142"/>
                <a:gd name="T54" fmla="*/ 27 w 3154"/>
                <a:gd name="T55" fmla="*/ 1559 h 3142"/>
                <a:gd name="T56" fmla="*/ 39 w 3154"/>
                <a:gd name="T57" fmla="*/ 1883 h 3142"/>
                <a:gd name="T58" fmla="*/ 176 w 3154"/>
                <a:gd name="T59" fmla="*/ 2287 h 3142"/>
                <a:gd name="T60" fmla="*/ 466 w 3154"/>
                <a:gd name="T61" fmla="*/ 2692 h 3142"/>
                <a:gd name="T62" fmla="*/ 870 w 3154"/>
                <a:gd name="T63" fmla="*/ 2982 h 3142"/>
                <a:gd name="T64" fmla="*/ 1248 w 3154"/>
                <a:gd name="T65" fmla="*/ 3120 h 3142"/>
                <a:gd name="T66" fmla="*/ 1926 w 3154"/>
                <a:gd name="T67" fmla="*/ 3117 h 3142"/>
                <a:gd name="T68" fmla="*/ 2326 w 3154"/>
                <a:gd name="T69" fmla="*/ 2966 h 3142"/>
                <a:gd name="T70" fmla="*/ 2750 w 3154"/>
                <a:gd name="T71" fmla="*/ 2635 h 3142"/>
                <a:gd name="T72" fmla="*/ 3039 w 3154"/>
                <a:gd name="T73" fmla="*/ 2173 h 3142"/>
                <a:gd name="T74" fmla="*/ 3145 w 3154"/>
                <a:gd name="T75" fmla="*/ 1791 h 3142"/>
                <a:gd name="T76" fmla="*/ 3119 w 3154"/>
                <a:gd name="T77" fmla="*/ 1226 h 3142"/>
                <a:gd name="T78" fmla="*/ 2893 w 3154"/>
                <a:gd name="T79" fmla="*/ 703 h 3142"/>
                <a:gd name="T80" fmla="*/ 2466 w 3154"/>
                <a:gd name="T81" fmla="*/ 270 h 3142"/>
                <a:gd name="T82" fmla="*/ 1900 w 3154"/>
                <a:gd name="T83" fmla="*/ 32 h 3142"/>
                <a:gd name="T84" fmla="*/ 1593 w 3154"/>
                <a:gd name="T85" fmla="*/ 5 h 3142"/>
                <a:gd name="T86" fmla="*/ 1970 w 3154"/>
                <a:gd name="T87" fmla="*/ 157 h 3142"/>
                <a:gd name="T88" fmla="*/ 2388 w 3154"/>
                <a:gd name="T89" fmla="*/ 342 h 3142"/>
                <a:gd name="T90" fmla="*/ 2718 w 3154"/>
                <a:gd name="T91" fmla="*/ 636 h 3142"/>
                <a:gd name="T92" fmla="*/ 2929 w 3154"/>
                <a:gd name="T93" fmla="*/ 982 h 3142"/>
                <a:gd name="T94" fmla="*/ 3040 w 3154"/>
                <a:gd name="T95" fmla="*/ 1424 h 3142"/>
                <a:gd name="T96" fmla="*/ 2822 w 3154"/>
                <a:gd name="T97" fmla="*/ 1364 h 3142"/>
                <a:gd name="T98" fmla="*/ 2635 w 3154"/>
                <a:gd name="T99" fmla="*/ 897 h 3142"/>
                <a:gd name="T100" fmla="*/ 2342 w 3154"/>
                <a:gd name="T101" fmla="*/ 578 h 3142"/>
                <a:gd name="T102" fmla="*/ 1999 w 3154"/>
                <a:gd name="T103" fmla="*/ 395 h 3142"/>
                <a:gd name="T104" fmla="*/ 1634 w 3154"/>
                <a:gd name="T105" fmla="*/ 207 h 3142"/>
                <a:gd name="T106" fmla="*/ 1693 w 3154"/>
                <a:gd name="T107" fmla="*/ 101 h 3142"/>
                <a:gd name="T108" fmla="*/ 3034 w 3154"/>
                <a:gd name="T109" fmla="*/ 1837 h 3142"/>
                <a:gd name="T110" fmla="*/ 2867 w 3154"/>
                <a:gd name="T111" fmla="*/ 2296 h 3142"/>
                <a:gd name="T112" fmla="*/ 2412 w 3154"/>
                <a:gd name="T113" fmla="*/ 2795 h 3142"/>
                <a:gd name="T114" fmla="*/ 1927 w 3154"/>
                <a:gd name="T115" fmla="*/ 3007 h 3142"/>
                <a:gd name="T116" fmla="*/ 1634 w 3154"/>
                <a:gd name="T117" fmla="*/ 2836 h 3142"/>
                <a:gd name="T118" fmla="*/ 2130 w 3154"/>
                <a:gd name="T119" fmla="*/ 2705 h 3142"/>
                <a:gd name="T120" fmla="*/ 2552 w 3154"/>
                <a:gd name="T121" fmla="*/ 2376 h 3142"/>
                <a:gd name="T122" fmla="*/ 2767 w 3154"/>
                <a:gd name="T123" fmla="*/ 1984 h 3142"/>
                <a:gd name="T124" fmla="*/ 2834 w 3154"/>
                <a:gd name="T125" fmla="*/ 1632 h 3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54" h="3142">
                  <a:moveTo>
                    <a:pt x="1564" y="27"/>
                  </a:moveTo>
                  <a:lnTo>
                    <a:pt x="1555" y="38"/>
                  </a:lnTo>
                  <a:lnTo>
                    <a:pt x="1543" y="65"/>
                  </a:lnTo>
                  <a:lnTo>
                    <a:pt x="1534" y="134"/>
                  </a:lnTo>
                  <a:lnTo>
                    <a:pt x="1534" y="219"/>
                  </a:lnTo>
                  <a:lnTo>
                    <a:pt x="1535" y="293"/>
                  </a:lnTo>
                  <a:lnTo>
                    <a:pt x="1542" y="364"/>
                  </a:lnTo>
                  <a:lnTo>
                    <a:pt x="1550" y="390"/>
                  </a:lnTo>
                  <a:lnTo>
                    <a:pt x="1555" y="396"/>
                  </a:lnTo>
                  <a:lnTo>
                    <a:pt x="1571" y="404"/>
                  </a:lnTo>
                  <a:lnTo>
                    <a:pt x="1659" y="424"/>
                  </a:lnTo>
                  <a:lnTo>
                    <a:pt x="1717" y="432"/>
                  </a:lnTo>
                  <a:lnTo>
                    <a:pt x="1794" y="444"/>
                  </a:lnTo>
                  <a:lnTo>
                    <a:pt x="1941" y="482"/>
                  </a:lnTo>
                  <a:lnTo>
                    <a:pt x="2078" y="536"/>
                  </a:lnTo>
                  <a:lnTo>
                    <a:pt x="2204" y="605"/>
                  </a:lnTo>
                  <a:lnTo>
                    <a:pt x="2320" y="689"/>
                  </a:lnTo>
                  <a:lnTo>
                    <a:pt x="2424" y="787"/>
                  </a:lnTo>
                  <a:lnTo>
                    <a:pt x="2515" y="900"/>
                  </a:lnTo>
                  <a:lnTo>
                    <a:pt x="2594" y="1026"/>
                  </a:lnTo>
                  <a:lnTo>
                    <a:pt x="2627" y="1094"/>
                  </a:lnTo>
                  <a:lnTo>
                    <a:pt x="2643" y="1130"/>
                  </a:lnTo>
                  <a:lnTo>
                    <a:pt x="2672" y="1204"/>
                  </a:lnTo>
                  <a:lnTo>
                    <a:pt x="2695" y="1278"/>
                  </a:lnTo>
                  <a:lnTo>
                    <a:pt x="2713" y="1353"/>
                  </a:lnTo>
                  <a:lnTo>
                    <a:pt x="2726" y="1429"/>
                  </a:lnTo>
                  <a:lnTo>
                    <a:pt x="2734" y="1505"/>
                  </a:lnTo>
                  <a:lnTo>
                    <a:pt x="2736" y="1581"/>
                  </a:lnTo>
                  <a:lnTo>
                    <a:pt x="2733" y="1657"/>
                  </a:lnTo>
                  <a:lnTo>
                    <a:pt x="2726" y="1732"/>
                  </a:lnTo>
                  <a:lnTo>
                    <a:pt x="2713" y="1808"/>
                  </a:lnTo>
                  <a:lnTo>
                    <a:pt x="2695" y="1882"/>
                  </a:lnTo>
                  <a:lnTo>
                    <a:pt x="2672" y="1956"/>
                  </a:lnTo>
                  <a:lnTo>
                    <a:pt x="2643" y="2028"/>
                  </a:lnTo>
                  <a:lnTo>
                    <a:pt x="2610" y="2099"/>
                  </a:lnTo>
                  <a:lnTo>
                    <a:pt x="2572" y="2168"/>
                  </a:lnTo>
                  <a:lnTo>
                    <a:pt x="2529" y="2236"/>
                  </a:lnTo>
                  <a:lnTo>
                    <a:pt x="2505" y="2269"/>
                  </a:lnTo>
                  <a:lnTo>
                    <a:pt x="2476" y="2308"/>
                  </a:lnTo>
                  <a:lnTo>
                    <a:pt x="2407" y="2384"/>
                  </a:lnTo>
                  <a:lnTo>
                    <a:pt x="2329" y="2454"/>
                  </a:lnTo>
                  <a:lnTo>
                    <a:pt x="2242" y="2519"/>
                  </a:lnTo>
                  <a:lnTo>
                    <a:pt x="2150" y="2577"/>
                  </a:lnTo>
                  <a:lnTo>
                    <a:pt x="2053" y="2626"/>
                  </a:lnTo>
                  <a:lnTo>
                    <a:pt x="1953" y="2667"/>
                  </a:lnTo>
                  <a:lnTo>
                    <a:pt x="1851" y="2698"/>
                  </a:lnTo>
                  <a:lnTo>
                    <a:pt x="1800" y="2709"/>
                  </a:lnTo>
                  <a:lnTo>
                    <a:pt x="1741" y="2719"/>
                  </a:lnTo>
                  <a:lnTo>
                    <a:pt x="1620" y="2729"/>
                  </a:lnTo>
                  <a:lnTo>
                    <a:pt x="1496" y="2724"/>
                  </a:lnTo>
                  <a:lnTo>
                    <a:pt x="1372" y="2707"/>
                  </a:lnTo>
                  <a:lnTo>
                    <a:pt x="1249" y="2677"/>
                  </a:lnTo>
                  <a:lnTo>
                    <a:pt x="1130" y="2635"/>
                  </a:lnTo>
                  <a:lnTo>
                    <a:pt x="1017" y="2581"/>
                  </a:lnTo>
                  <a:lnTo>
                    <a:pt x="912" y="2516"/>
                  </a:lnTo>
                  <a:lnTo>
                    <a:pt x="864" y="2479"/>
                  </a:lnTo>
                  <a:lnTo>
                    <a:pt x="845" y="2466"/>
                  </a:lnTo>
                  <a:lnTo>
                    <a:pt x="811" y="2454"/>
                  </a:lnTo>
                  <a:lnTo>
                    <a:pt x="790" y="2457"/>
                  </a:lnTo>
                  <a:lnTo>
                    <a:pt x="779" y="2463"/>
                  </a:lnTo>
                  <a:lnTo>
                    <a:pt x="771" y="2474"/>
                  </a:lnTo>
                  <a:lnTo>
                    <a:pt x="767" y="2489"/>
                  </a:lnTo>
                  <a:lnTo>
                    <a:pt x="767" y="2497"/>
                  </a:lnTo>
                  <a:lnTo>
                    <a:pt x="768" y="2506"/>
                  </a:lnTo>
                  <a:lnTo>
                    <a:pt x="777" y="2527"/>
                  </a:lnTo>
                  <a:lnTo>
                    <a:pt x="807" y="2562"/>
                  </a:lnTo>
                  <a:lnTo>
                    <a:pt x="874" y="2614"/>
                  </a:lnTo>
                  <a:lnTo>
                    <a:pt x="969" y="2671"/>
                  </a:lnTo>
                  <a:lnTo>
                    <a:pt x="1025" y="2699"/>
                  </a:lnTo>
                  <a:lnTo>
                    <a:pt x="1078" y="2724"/>
                  </a:lnTo>
                  <a:lnTo>
                    <a:pt x="1169" y="2762"/>
                  </a:lnTo>
                  <a:lnTo>
                    <a:pt x="1258" y="2790"/>
                  </a:lnTo>
                  <a:lnTo>
                    <a:pt x="1357" y="2812"/>
                  </a:lnTo>
                  <a:lnTo>
                    <a:pt x="1417" y="2822"/>
                  </a:lnTo>
                  <a:lnTo>
                    <a:pt x="1525" y="2841"/>
                  </a:lnTo>
                  <a:lnTo>
                    <a:pt x="1530" y="2947"/>
                  </a:lnTo>
                  <a:lnTo>
                    <a:pt x="1535" y="3054"/>
                  </a:lnTo>
                  <a:lnTo>
                    <a:pt x="1439" y="3044"/>
                  </a:lnTo>
                  <a:lnTo>
                    <a:pt x="1380" y="3037"/>
                  </a:lnTo>
                  <a:lnTo>
                    <a:pt x="1264" y="3015"/>
                  </a:lnTo>
                  <a:lnTo>
                    <a:pt x="1151" y="2985"/>
                  </a:lnTo>
                  <a:lnTo>
                    <a:pt x="1042" y="2946"/>
                  </a:lnTo>
                  <a:lnTo>
                    <a:pt x="937" y="2899"/>
                  </a:lnTo>
                  <a:lnTo>
                    <a:pt x="837" y="2845"/>
                  </a:lnTo>
                  <a:lnTo>
                    <a:pt x="741" y="2783"/>
                  </a:lnTo>
                  <a:lnTo>
                    <a:pt x="650" y="2714"/>
                  </a:lnTo>
                  <a:lnTo>
                    <a:pt x="565" y="2639"/>
                  </a:lnTo>
                  <a:lnTo>
                    <a:pt x="485" y="2558"/>
                  </a:lnTo>
                  <a:lnTo>
                    <a:pt x="412" y="2470"/>
                  </a:lnTo>
                  <a:lnTo>
                    <a:pt x="346" y="2377"/>
                  </a:lnTo>
                  <a:lnTo>
                    <a:pt x="287" y="2279"/>
                  </a:lnTo>
                  <a:lnTo>
                    <a:pt x="236" y="2176"/>
                  </a:lnTo>
                  <a:lnTo>
                    <a:pt x="193" y="2069"/>
                  </a:lnTo>
                  <a:lnTo>
                    <a:pt x="158" y="1958"/>
                  </a:lnTo>
                  <a:lnTo>
                    <a:pt x="144" y="1901"/>
                  </a:lnTo>
                  <a:lnTo>
                    <a:pt x="133" y="1849"/>
                  </a:lnTo>
                  <a:lnTo>
                    <a:pt x="118" y="1744"/>
                  </a:lnTo>
                  <a:lnTo>
                    <a:pt x="117" y="1707"/>
                  </a:lnTo>
                  <a:lnTo>
                    <a:pt x="117" y="1631"/>
                  </a:lnTo>
                  <a:lnTo>
                    <a:pt x="222" y="1636"/>
                  </a:lnTo>
                  <a:lnTo>
                    <a:pt x="325" y="1641"/>
                  </a:lnTo>
                  <a:lnTo>
                    <a:pt x="337" y="1752"/>
                  </a:lnTo>
                  <a:lnTo>
                    <a:pt x="345" y="1810"/>
                  </a:lnTo>
                  <a:lnTo>
                    <a:pt x="380" y="1942"/>
                  </a:lnTo>
                  <a:lnTo>
                    <a:pt x="431" y="2080"/>
                  </a:lnTo>
                  <a:lnTo>
                    <a:pt x="492" y="2204"/>
                  </a:lnTo>
                  <a:lnTo>
                    <a:pt x="524" y="2254"/>
                  </a:lnTo>
                  <a:lnTo>
                    <a:pt x="553" y="2298"/>
                  </a:lnTo>
                  <a:lnTo>
                    <a:pt x="599" y="2355"/>
                  </a:lnTo>
                  <a:lnTo>
                    <a:pt x="626" y="2375"/>
                  </a:lnTo>
                  <a:lnTo>
                    <a:pt x="641" y="2380"/>
                  </a:lnTo>
                  <a:lnTo>
                    <a:pt x="656" y="2378"/>
                  </a:lnTo>
                  <a:lnTo>
                    <a:pt x="670" y="2369"/>
                  </a:lnTo>
                  <a:lnTo>
                    <a:pt x="677" y="2362"/>
                  </a:lnTo>
                  <a:lnTo>
                    <a:pt x="686" y="2353"/>
                  </a:lnTo>
                  <a:lnTo>
                    <a:pt x="694" y="2337"/>
                  </a:lnTo>
                  <a:lnTo>
                    <a:pt x="687" y="2315"/>
                  </a:lnTo>
                  <a:lnTo>
                    <a:pt x="663" y="2279"/>
                  </a:lnTo>
                  <a:lnTo>
                    <a:pt x="644" y="2252"/>
                  </a:lnTo>
                  <a:lnTo>
                    <a:pt x="622" y="2222"/>
                  </a:lnTo>
                  <a:lnTo>
                    <a:pt x="581" y="2155"/>
                  </a:lnTo>
                  <a:lnTo>
                    <a:pt x="544" y="2082"/>
                  </a:lnTo>
                  <a:lnTo>
                    <a:pt x="510" y="2005"/>
                  </a:lnTo>
                  <a:lnTo>
                    <a:pt x="482" y="1927"/>
                  </a:lnTo>
                  <a:lnTo>
                    <a:pt x="459" y="1850"/>
                  </a:lnTo>
                  <a:lnTo>
                    <a:pt x="443" y="1776"/>
                  </a:lnTo>
                  <a:lnTo>
                    <a:pt x="434" y="1709"/>
                  </a:lnTo>
                  <a:lnTo>
                    <a:pt x="434" y="1679"/>
                  </a:lnTo>
                  <a:lnTo>
                    <a:pt x="432" y="1648"/>
                  </a:lnTo>
                  <a:lnTo>
                    <a:pt x="418" y="1588"/>
                  </a:lnTo>
                  <a:lnTo>
                    <a:pt x="407" y="1569"/>
                  </a:lnTo>
                  <a:lnTo>
                    <a:pt x="399" y="1557"/>
                  </a:lnTo>
                  <a:lnTo>
                    <a:pt x="377" y="1542"/>
                  </a:lnTo>
                  <a:lnTo>
                    <a:pt x="339" y="1535"/>
                  </a:lnTo>
                  <a:lnTo>
                    <a:pt x="270" y="1532"/>
                  </a:lnTo>
                  <a:lnTo>
                    <a:pt x="217" y="1532"/>
                  </a:lnTo>
                  <a:lnTo>
                    <a:pt x="132" y="1533"/>
                  </a:lnTo>
                  <a:lnTo>
                    <a:pt x="62" y="1542"/>
                  </a:lnTo>
                  <a:lnTo>
                    <a:pt x="35" y="1552"/>
                  </a:lnTo>
                  <a:lnTo>
                    <a:pt x="27" y="1559"/>
                  </a:lnTo>
                  <a:lnTo>
                    <a:pt x="6" y="1581"/>
                  </a:lnTo>
                  <a:lnTo>
                    <a:pt x="0" y="1592"/>
                  </a:lnTo>
                  <a:lnTo>
                    <a:pt x="2" y="1631"/>
                  </a:lnTo>
                  <a:lnTo>
                    <a:pt x="16" y="1748"/>
                  </a:lnTo>
                  <a:lnTo>
                    <a:pt x="39" y="1883"/>
                  </a:lnTo>
                  <a:lnTo>
                    <a:pt x="65" y="2003"/>
                  </a:lnTo>
                  <a:lnTo>
                    <a:pt x="77" y="2044"/>
                  </a:lnTo>
                  <a:lnTo>
                    <a:pt x="94" y="2095"/>
                  </a:lnTo>
                  <a:lnTo>
                    <a:pt x="133" y="2193"/>
                  </a:lnTo>
                  <a:lnTo>
                    <a:pt x="176" y="2287"/>
                  </a:lnTo>
                  <a:lnTo>
                    <a:pt x="224" y="2377"/>
                  </a:lnTo>
                  <a:lnTo>
                    <a:pt x="278" y="2463"/>
                  </a:lnTo>
                  <a:lnTo>
                    <a:pt x="336" y="2544"/>
                  </a:lnTo>
                  <a:lnTo>
                    <a:pt x="398" y="2620"/>
                  </a:lnTo>
                  <a:lnTo>
                    <a:pt x="466" y="2692"/>
                  </a:lnTo>
                  <a:lnTo>
                    <a:pt x="538" y="2760"/>
                  </a:lnTo>
                  <a:lnTo>
                    <a:pt x="614" y="2822"/>
                  </a:lnTo>
                  <a:lnTo>
                    <a:pt x="695" y="2880"/>
                  </a:lnTo>
                  <a:lnTo>
                    <a:pt x="780" y="2934"/>
                  </a:lnTo>
                  <a:lnTo>
                    <a:pt x="870" y="2982"/>
                  </a:lnTo>
                  <a:lnTo>
                    <a:pt x="964" y="3026"/>
                  </a:lnTo>
                  <a:lnTo>
                    <a:pt x="1062" y="3064"/>
                  </a:lnTo>
                  <a:lnTo>
                    <a:pt x="1164" y="3098"/>
                  </a:lnTo>
                  <a:lnTo>
                    <a:pt x="1217" y="3112"/>
                  </a:lnTo>
                  <a:lnTo>
                    <a:pt x="1248" y="3120"/>
                  </a:lnTo>
                  <a:lnTo>
                    <a:pt x="1329" y="3131"/>
                  </a:lnTo>
                  <a:lnTo>
                    <a:pt x="1477" y="3142"/>
                  </a:lnTo>
                  <a:lnTo>
                    <a:pt x="1695" y="3141"/>
                  </a:lnTo>
                  <a:lnTo>
                    <a:pt x="1844" y="3129"/>
                  </a:lnTo>
                  <a:lnTo>
                    <a:pt x="1926" y="3117"/>
                  </a:lnTo>
                  <a:lnTo>
                    <a:pt x="1959" y="3109"/>
                  </a:lnTo>
                  <a:lnTo>
                    <a:pt x="2014" y="3094"/>
                  </a:lnTo>
                  <a:lnTo>
                    <a:pt x="2122" y="3057"/>
                  </a:lnTo>
                  <a:lnTo>
                    <a:pt x="2226" y="3015"/>
                  </a:lnTo>
                  <a:lnTo>
                    <a:pt x="2326" y="2966"/>
                  </a:lnTo>
                  <a:lnTo>
                    <a:pt x="2420" y="2911"/>
                  </a:lnTo>
                  <a:lnTo>
                    <a:pt x="2510" y="2851"/>
                  </a:lnTo>
                  <a:lnTo>
                    <a:pt x="2595" y="2784"/>
                  </a:lnTo>
                  <a:lnTo>
                    <a:pt x="2675" y="2712"/>
                  </a:lnTo>
                  <a:lnTo>
                    <a:pt x="2750" y="2635"/>
                  </a:lnTo>
                  <a:lnTo>
                    <a:pt x="2819" y="2552"/>
                  </a:lnTo>
                  <a:lnTo>
                    <a:pt x="2883" y="2465"/>
                  </a:lnTo>
                  <a:lnTo>
                    <a:pt x="2941" y="2372"/>
                  </a:lnTo>
                  <a:lnTo>
                    <a:pt x="2993" y="2275"/>
                  </a:lnTo>
                  <a:lnTo>
                    <a:pt x="3039" y="2173"/>
                  </a:lnTo>
                  <a:lnTo>
                    <a:pt x="3079" y="2067"/>
                  </a:lnTo>
                  <a:lnTo>
                    <a:pt x="3113" y="1956"/>
                  </a:lnTo>
                  <a:lnTo>
                    <a:pt x="3127" y="1899"/>
                  </a:lnTo>
                  <a:lnTo>
                    <a:pt x="3134" y="1867"/>
                  </a:lnTo>
                  <a:lnTo>
                    <a:pt x="3145" y="1791"/>
                  </a:lnTo>
                  <a:lnTo>
                    <a:pt x="3154" y="1662"/>
                  </a:lnTo>
                  <a:lnTo>
                    <a:pt x="3152" y="1475"/>
                  </a:lnTo>
                  <a:lnTo>
                    <a:pt x="3140" y="1341"/>
                  </a:lnTo>
                  <a:lnTo>
                    <a:pt x="3127" y="1261"/>
                  </a:lnTo>
                  <a:lnTo>
                    <a:pt x="3119" y="1226"/>
                  </a:lnTo>
                  <a:lnTo>
                    <a:pt x="3103" y="1162"/>
                  </a:lnTo>
                  <a:lnTo>
                    <a:pt x="3063" y="1040"/>
                  </a:lnTo>
                  <a:lnTo>
                    <a:pt x="3015" y="922"/>
                  </a:lnTo>
                  <a:lnTo>
                    <a:pt x="2958" y="810"/>
                  </a:lnTo>
                  <a:lnTo>
                    <a:pt x="2893" y="703"/>
                  </a:lnTo>
                  <a:lnTo>
                    <a:pt x="2821" y="603"/>
                  </a:lnTo>
                  <a:lnTo>
                    <a:pt x="2742" y="509"/>
                  </a:lnTo>
                  <a:lnTo>
                    <a:pt x="2656" y="422"/>
                  </a:lnTo>
                  <a:lnTo>
                    <a:pt x="2564" y="343"/>
                  </a:lnTo>
                  <a:lnTo>
                    <a:pt x="2466" y="270"/>
                  </a:lnTo>
                  <a:lnTo>
                    <a:pt x="2362" y="206"/>
                  </a:lnTo>
                  <a:lnTo>
                    <a:pt x="2254" y="149"/>
                  </a:lnTo>
                  <a:lnTo>
                    <a:pt x="2140" y="101"/>
                  </a:lnTo>
                  <a:lnTo>
                    <a:pt x="2022" y="62"/>
                  </a:lnTo>
                  <a:lnTo>
                    <a:pt x="1900" y="32"/>
                  </a:lnTo>
                  <a:lnTo>
                    <a:pt x="1774" y="12"/>
                  </a:lnTo>
                  <a:lnTo>
                    <a:pt x="1710" y="6"/>
                  </a:lnTo>
                  <a:lnTo>
                    <a:pt x="1674" y="2"/>
                  </a:lnTo>
                  <a:lnTo>
                    <a:pt x="1624" y="0"/>
                  </a:lnTo>
                  <a:lnTo>
                    <a:pt x="1593" y="5"/>
                  </a:lnTo>
                  <a:lnTo>
                    <a:pt x="1573" y="17"/>
                  </a:lnTo>
                  <a:lnTo>
                    <a:pt x="1564" y="27"/>
                  </a:lnTo>
                  <a:close/>
                  <a:moveTo>
                    <a:pt x="1830" y="124"/>
                  </a:moveTo>
                  <a:lnTo>
                    <a:pt x="1878" y="133"/>
                  </a:lnTo>
                  <a:lnTo>
                    <a:pt x="1970" y="157"/>
                  </a:lnTo>
                  <a:lnTo>
                    <a:pt x="2060" y="184"/>
                  </a:lnTo>
                  <a:lnTo>
                    <a:pt x="2147" y="217"/>
                  </a:lnTo>
                  <a:lnTo>
                    <a:pt x="2230" y="254"/>
                  </a:lnTo>
                  <a:lnTo>
                    <a:pt x="2311" y="296"/>
                  </a:lnTo>
                  <a:lnTo>
                    <a:pt x="2388" y="342"/>
                  </a:lnTo>
                  <a:lnTo>
                    <a:pt x="2461" y="392"/>
                  </a:lnTo>
                  <a:lnTo>
                    <a:pt x="2531" y="447"/>
                  </a:lnTo>
                  <a:lnTo>
                    <a:pt x="2597" y="506"/>
                  </a:lnTo>
                  <a:lnTo>
                    <a:pt x="2660" y="569"/>
                  </a:lnTo>
                  <a:lnTo>
                    <a:pt x="2718" y="636"/>
                  </a:lnTo>
                  <a:lnTo>
                    <a:pt x="2772" y="706"/>
                  </a:lnTo>
                  <a:lnTo>
                    <a:pt x="2823" y="781"/>
                  </a:lnTo>
                  <a:lnTo>
                    <a:pt x="2868" y="859"/>
                  </a:lnTo>
                  <a:lnTo>
                    <a:pt x="2910" y="940"/>
                  </a:lnTo>
                  <a:lnTo>
                    <a:pt x="2929" y="982"/>
                  </a:lnTo>
                  <a:lnTo>
                    <a:pt x="2954" y="1043"/>
                  </a:lnTo>
                  <a:lnTo>
                    <a:pt x="2995" y="1162"/>
                  </a:lnTo>
                  <a:lnTo>
                    <a:pt x="3023" y="1273"/>
                  </a:lnTo>
                  <a:lnTo>
                    <a:pt x="3039" y="1377"/>
                  </a:lnTo>
                  <a:lnTo>
                    <a:pt x="3040" y="1424"/>
                  </a:lnTo>
                  <a:lnTo>
                    <a:pt x="3042" y="1524"/>
                  </a:lnTo>
                  <a:lnTo>
                    <a:pt x="2942" y="1524"/>
                  </a:lnTo>
                  <a:lnTo>
                    <a:pt x="2842" y="1524"/>
                  </a:lnTo>
                  <a:lnTo>
                    <a:pt x="2829" y="1416"/>
                  </a:lnTo>
                  <a:lnTo>
                    <a:pt x="2822" y="1364"/>
                  </a:lnTo>
                  <a:lnTo>
                    <a:pt x="2801" y="1265"/>
                  </a:lnTo>
                  <a:lnTo>
                    <a:pt x="2772" y="1168"/>
                  </a:lnTo>
                  <a:lnTo>
                    <a:pt x="2735" y="1075"/>
                  </a:lnTo>
                  <a:lnTo>
                    <a:pt x="2689" y="985"/>
                  </a:lnTo>
                  <a:lnTo>
                    <a:pt x="2635" y="897"/>
                  </a:lnTo>
                  <a:lnTo>
                    <a:pt x="2572" y="812"/>
                  </a:lnTo>
                  <a:lnTo>
                    <a:pt x="2500" y="729"/>
                  </a:lnTo>
                  <a:lnTo>
                    <a:pt x="2460" y="689"/>
                  </a:lnTo>
                  <a:lnTo>
                    <a:pt x="2416" y="645"/>
                  </a:lnTo>
                  <a:lnTo>
                    <a:pt x="2342" y="578"/>
                  </a:lnTo>
                  <a:lnTo>
                    <a:pt x="2275" y="528"/>
                  </a:lnTo>
                  <a:lnTo>
                    <a:pt x="2202" y="485"/>
                  </a:lnTo>
                  <a:lnTo>
                    <a:pt x="2157" y="462"/>
                  </a:lnTo>
                  <a:lnTo>
                    <a:pt x="2105" y="437"/>
                  </a:lnTo>
                  <a:lnTo>
                    <a:pt x="1999" y="395"/>
                  </a:lnTo>
                  <a:lnTo>
                    <a:pt x="1885" y="361"/>
                  </a:lnTo>
                  <a:lnTo>
                    <a:pt x="1763" y="335"/>
                  </a:lnTo>
                  <a:lnTo>
                    <a:pt x="1697" y="324"/>
                  </a:lnTo>
                  <a:lnTo>
                    <a:pt x="1634" y="314"/>
                  </a:lnTo>
                  <a:lnTo>
                    <a:pt x="1634" y="207"/>
                  </a:lnTo>
                  <a:lnTo>
                    <a:pt x="1633" y="164"/>
                  </a:lnTo>
                  <a:lnTo>
                    <a:pt x="1637" y="124"/>
                  </a:lnTo>
                  <a:lnTo>
                    <a:pt x="1647" y="108"/>
                  </a:lnTo>
                  <a:lnTo>
                    <a:pt x="1664" y="101"/>
                  </a:lnTo>
                  <a:lnTo>
                    <a:pt x="1693" y="101"/>
                  </a:lnTo>
                  <a:lnTo>
                    <a:pt x="1760" y="111"/>
                  </a:lnTo>
                  <a:lnTo>
                    <a:pt x="1830" y="124"/>
                  </a:lnTo>
                  <a:close/>
                  <a:moveTo>
                    <a:pt x="3050" y="1697"/>
                  </a:moveTo>
                  <a:lnTo>
                    <a:pt x="3049" y="1737"/>
                  </a:lnTo>
                  <a:lnTo>
                    <a:pt x="3034" y="1837"/>
                  </a:lnTo>
                  <a:lnTo>
                    <a:pt x="3008" y="1951"/>
                  </a:lnTo>
                  <a:lnTo>
                    <a:pt x="2974" y="2063"/>
                  </a:lnTo>
                  <a:lnTo>
                    <a:pt x="2955" y="2112"/>
                  </a:lnTo>
                  <a:lnTo>
                    <a:pt x="2929" y="2175"/>
                  </a:lnTo>
                  <a:lnTo>
                    <a:pt x="2867" y="2296"/>
                  </a:lnTo>
                  <a:lnTo>
                    <a:pt x="2795" y="2411"/>
                  </a:lnTo>
                  <a:lnTo>
                    <a:pt x="2712" y="2519"/>
                  </a:lnTo>
                  <a:lnTo>
                    <a:pt x="2620" y="2620"/>
                  </a:lnTo>
                  <a:lnTo>
                    <a:pt x="2519" y="2712"/>
                  </a:lnTo>
                  <a:lnTo>
                    <a:pt x="2412" y="2795"/>
                  </a:lnTo>
                  <a:lnTo>
                    <a:pt x="2298" y="2866"/>
                  </a:lnTo>
                  <a:lnTo>
                    <a:pt x="2239" y="2897"/>
                  </a:lnTo>
                  <a:lnTo>
                    <a:pt x="2187" y="2922"/>
                  </a:lnTo>
                  <a:lnTo>
                    <a:pt x="2062" y="2968"/>
                  </a:lnTo>
                  <a:lnTo>
                    <a:pt x="1927" y="3007"/>
                  </a:lnTo>
                  <a:lnTo>
                    <a:pt x="1798" y="3035"/>
                  </a:lnTo>
                  <a:lnTo>
                    <a:pt x="1742" y="3042"/>
                  </a:lnTo>
                  <a:lnTo>
                    <a:pt x="1634" y="3054"/>
                  </a:lnTo>
                  <a:lnTo>
                    <a:pt x="1634" y="2944"/>
                  </a:lnTo>
                  <a:lnTo>
                    <a:pt x="1634" y="2836"/>
                  </a:lnTo>
                  <a:lnTo>
                    <a:pt x="1739" y="2824"/>
                  </a:lnTo>
                  <a:lnTo>
                    <a:pt x="1795" y="2816"/>
                  </a:lnTo>
                  <a:lnTo>
                    <a:pt x="1908" y="2791"/>
                  </a:lnTo>
                  <a:lnTo>
                    <a:pt x="2020" y="2753"/>
                  </a:lnTo>
                  <a:lnTo>
                    <a:pt x="2130" y="2705"/>
                  </a:lnTo>
                  <a:lnTo>
                    <a:pt x="2235" y="2647"/>
                  </a:lnTo>
                  <a:lnTo>
                    <a:pt x="2335" y="2579"/>
                  </a:lnTo>
                  <a:lnTo>
                    <a:pt x="2429" y="2503"/>
                  </a:lnTo>
                  <a:lnTo>
                    <a:pt x="2514" y="2420"/>
                  </a:lnTo>
                  <a:lnTo>
                    <a:pt x="2552" y="2376"/>
                  </a:lnTo>
                  <a:lnTo>
                    <a:pt x="2579" y="2341"/>
                  </a:lnTo>
                  <a:lnTo>
                    <a:pt x="2633" y="2262"/>
                  </a:lnTo>
                  <a:lnTo>
                    <a:pt x="2683" y="2174"/>
                  </a:lnTo>
                  <a:lnTo>
                    <a:pt x="2728" y="2080"/>
                  </a:lnTo>
                  <a:lnTo>
                    <a:pt x="2767" y="1984"/>
                  </a:lnTo>
                  <a:lnTo>
                    <a:pt x="2798" y="1889"/>
                  </a:lnTo>
                  <a:lnTo>
                    <a:pt x="2821" y="1800"/>
                  </a:lnTo>
                  <a:lnTo>
                    <a:pt x="2833" y="1719"/>
                  </a:lnTo>
                  <a:lnTo>
                    <a:pt x="2834" y="1684"/>
                  </a:lnTo>
                  <a:lnTo>
                    <a:pt x="2834" y="1632"/>
                  </a:lnTo>
                  <a:lnTo>
                    <a:pt x="2942" y="1632"/>
                  </a:lnTo>
                  <a:lnTo>
                    <a:pt x="3050" y="1632"/>
                  </a:lnTo>
                  <a:lnTo>
                    <a:pt x="3050" y="16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79" name="TextBox 78">
            <a:extLst>
              <a:ext uri="{FF2B5EF4-FFF2-40B4-BE49-F238E27FC236}">
                <a16:creationId xmlns:a16="http://schemas.microsoft.com/office/drawing/2014/main" id="{E13CB00C-5189-6E3C-D75C-FC11DBC43571}"/>
              </a:ext>
            </a:extLst>
          </p:cNvPr>
          <p:cNvSpPr txBox="1"/>
          <p:nvPr/>
        </p:nvSpPr>
        <p:spPr>
          <a:xfrm>
            <a:off x="609600" y="2579972"/>
            <a:ext cx="1544983" cy="1716648"/>
          </a:xfrm>
          <a:prstGeom prst="rect">
            <a:avLst/>
          </a:prstGeom>
          <a:noFill/>
        </p:spPr>
        <p:txBody>
          <a:bodyPr wrap="square" rtlCol="0">
            <a:spAutoFit/>
          </a:bodyPr>
          <a:lstStyle/>
          <a:p>
            <a:pPr algn="justLow" rtl="1"/>
            <a:r>
              <a:rPr lang="ar-SA" sz="1100" dirty="0"/>
              <a:t>من خلال مواءمة العمليات والتقنيات والموارد، تعمل البنية </a:t>
            </a:r>
            <a:r>
              <a:rPr lang="ar-SA" sz="1100"/>
              <a:t>المؤسسية</a:t>
            </a:r>
            <a:r>
              <a:rPr lang="en-US" sz="1100"/>
              <a:t> </a:t>
            </a:r>
            <a:r>
              <a:rPr lang="ar-SA" sz="1100" dirty="0"/>
              <a:t>على تقليل عدم الكفاءة والتكرار، مما يضمن عمليات سلسة ومبسطة في جميع أنحاء الجهة.</a:t>
            </a:r>
            <a:endParaRPr lang="en-US" sz="1100" dirty="0"/>
          </a:p>
        </p:txBody>
      </p:sp>
      <p:sp>
        <p:nvSpPr>
          <p:cNvPr id="80" name="TextBox 79">
            <a:extLst>
              <a:ext uri="{FF2B5EF4-FFF2-40B4-BE49-F238E27FC236}">
                <a16:creationId xmlns:a16="http://schemas.microsoft.com/office/drawing/2014/main" id="{EBA7477E-84D9-2A6E-CCE7-ADE90A644B60}"/>
              </a:ext>
            </a:extLst>
          </p:cNvPr>
          <p:cNvSpPr txBox="1"/>
          <p:nvPr/>
        </p:nvSpPr>
        <p:spPr>
          <a:xfrm>
            <a:off x="656258" y="4564575"/>
            <a:ext cx="1451669" cy="808925"/>
          </a:xfrm>
          <a:prstGeom prst="rect">
            <a:avLst/>
          </a:prstGeom>
          <a:noFill/>
        </p:spPr>
        <p:txBody>
          <a:bodyPr wrap="square" rtlCol="0">
            <a:spAutoFit/>
          </a:bodyPr>
          <a:lstStyle/>
          <a:p>
            <a:pPr algn="justLow" rtl="1"/>
            <a:r>
              <a:rPr lang="ar-SA" sz="1000" dirty="0"/>
              <a:t>مثال: اقتراح تكاملات بين عدة تطبيقات ينتج عنها تسهيل العمل على الموظفين وتقليل أخطاء الإدخال</a:t>
            </a:r>
            <a:endParaRPr lang="en-US" sz="1000" dirty="0"/>
          </a:p>
        </p:txBody>
      </p:sp>
      <p:cxnSp>
        <p:nvCxnSpPr>
          <p:cNvPr id="81" name="Straight Connector 80">
            <a:extLst>
              <a:ext uri="{FF2B5EF4-FFF2-40B4-BE49-F238E27FC236}">
                <a16:creationId xmlns:a16="http://schemas.microsoft.com/office/drawing/2014/main" id="{446220AC-12AE-E624-3F4A-5A1CDD4244EF}"/>
              </a:ext>
            </a:extLst>
          </p:cNvPr>
          <p:cNvCxnSpPr/>
          <p:nvPr/>
        </p:nvCxnSpPr>
        <p:spPr>
          <a:xfrm flipH="1">
            <a:off x="618715" y="4486726"/>
            <a:ext cx="1080057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7465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67D8B-09BC-EDCD-E52D-0198BAAB735C}"/>
              </a:ext>
            </a:extLst>
          </p:cNvPr>
          <p:cNvSpPr>
            <a:spLocks noGrp="1"/>
          </p:cNvSpPr>
          <p:nvPr>
            <p:ph type="title"/>
          </p:nvPr>
        </p:nvSpPr>
        <p:spPr>
          <a:xfrm>
            <a:off x="609601" y="561078"/>
            <a:ext cx="10972800" cy="666261"/>
          </a:xfrm>
        </p:spPr>
        <p:txBody>
          <a:bodyPr/>
          <a:lstStyle/>
          <a:p>
            <a:r>
              <a:rPr lang="ar-SA" dirty="0"/>
              <a:t>دور البنية المؤسسية</a:t>
            </a:r>
            <a:endParaRPr lang="en-US" dirty="0"/>
          </a:p>
        </p:txBody>
      </p:sp>
      <p:sp>
        <p:nvSpPr>
          <p:cNvPr id="3" name="Slide Number Placeholder 2">
            <a:extLst>
              <a:ext uri="{FF2B5EF4-FFF2-40B4-BE49-F238E27FC236}">
                <a16:creationId xmlns:a16="http://schemas.microsoft.com/office/drawing/2014/main" id="{31107D7A-25A2-01A0-5ABF-A622202064D5}"/>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7</a:t>
            </a:fld>
            <a:endParaRPr lang="en-US"/>
          </a:p>
        </p:txBody>
      </p:sp>
      <p:sp>
        <p:nvSpPr>
          <p:cNvPr id="4" name="Rectangle 3">
            <a:extLst>
              <a:ext uri="{FF2B5EF4-FFF2-40B4-BE49-F238E27FC236}">
                <a16:creationId xmlns:a16="http://schemas.microsoft.com/office/drawing/2014/main" id="{A055A110-8FC2-BAD5-2E81-CBFBD39ECF7D}"/>
              </a:ext>
            </a:extLst>
          </p:cNvPr>
          <p:cNvSpPr/>
          <p:nvPr/>
        </p:nvSpPr>
        <p:spPr>
          <a:xfrm>
            <a:off x="6017413" y="1687107"/>
            <a:ext cx="4256748" cy="276999"/>
          </a:xfrm>
          <a:prstGeom prst="rect">
            <a:avLst/>
          </a:prstGeom>
        </p:spPr>
        <p:txBody>
          <a:bodyPr wrap="square" anchor="ctr" anchorCtr="0">
            <a:spAutoFit/>
          </a:bodyPr>
          <a:lstStyle/>
          <a:p>
            <a:pPr algn="justLow" rtl="1"/>
            <a:r>
              <a:rPr lang="ar-SA" sz="1200" b="1" dirty="0"/>
              <a:t>تطوير وتحديث ومراجعة استراتيجية البنية المؤسسية</a:t>
            </a:r>
          </a:p>
        </p:txBody>
      </p:sp>
      <p:grpSp>
        <p:nvGrpSpPr>
          <p:cNvPr id="5" name="Group 4">
            <a:extLst>
              <a:ext uri="{FF2B5EF4-FFF2-40B4-BE49-F238E27FC236}">
                <a16:creationId xmlns:a16="http://schemas.microsoft.com/office/drawing/2014/main" id="{36FB0208-C4FD-6042-15DD-5C48DB57770B}"/>
              </a:ext>
            </a:extLst>
          </p:cNvPr>
          <p:cNvGrpSpPr/>
          <p:nvPr/>
        </p:nvGrpSpPr>
        <p:grpSpPr>
          <a:xfrm>
            <a:off x="10492007" y="1496496"/>
            <a:ext cx="650505" cy="650505"/>
            <a:chOff x="9889067" y="2857200"/>
            <a:chExt cx="1095022" cy="1095022"/>
          </a:xfrm>
        </p:grpSpPr>
        <p:sp>
          <p:nvSpPr>
            <p:cNvPr id="6" name="Arc 5">
              <a:extLst>
                <a:ext uri="{FF2B5EF4-FFF2-40B4-BE49-F238E27FC236}">
                  <a16:creationId xmlns:a16="http://schemas.microsoft.com/office/drawing/2014/main" id="{002299C7-8B36-D118-808E-39F84260B07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Arc 6">
              <a:extLst>
                <a:ext uri="{FF2B5EF4-FFF2-40B4-BE49-F238E27FC236}">
                  <a16:creationId xmlns:a16="http://schemas.microsoft.com/office/drawing/2014/main" id="{18809DB8-4D10-BB3B-A88D-60E478FA5F10}"/>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8" name="Rectangle 7">
            <a:extLst>
              <a:ext uri="{FF2B5EF4-FFF2-40B4-BE49-F238E27FC236}">
                <a16:creationId xmlns:a16="http://schemas.microsoft.com/office/drawing/2014/main" id="{01C682EA-542F-B989-BE8B-9B8E793EB316}"/>
              </a:ext>
            </a:extLst>
          </p:cNvPr>
          <p:cNvSpPr/>
          <p:nvPr/>
        </p:nvSpPr>
        <p:spPr>
          <a:xfrm>
            <a:off x="731520" y="1687107"/>
            <a:ext cx="4256748" cy="276999"/>
          </a:xfrm>
          <a:prstGeom prst="rect">
            <a:avLst/>
          </a:prstGeom>
        </p:spPr>
        <p:txBody>
          <a:bodyPr wrap="square" anchor="ctr" anchorCtr="0">
            <a:spAutoFit/>
          </a:bodyPr>
          <a:lstStyle/>
          <a:p>
            <a:pPr algn="justLow" rtl="1"/>
            <a:r>
              <a:rPr lang="ar-SA" sz="1200" b="1" dirty="0"/>
              <a:t>تحديد الأولويات الاستراتيجية في خارطة طريق التحول الرقمي </a:t>
            </a:r>
          </a:p>
        </p:txBody>
      </p:sp>
      <p:sp>
        <p:nvSpPr>
          <p:cNvPr id="9" name="Oval 8">
            <a:extLst>
              <a:ext uri="{FF2B5EF4-FFF2-40B4-BE49-F238E27FC236}">
                <a16:creationId xmlns:a16="http://schemas.microsoft.com/office/drawing/2014/main" id="{A873E654-4341-2AFD-4AB3-A94F89EAF91D}"/>
              </a:ext>
            </a:extLst>
          </p:cNvPr>
          <p:cNvSpPr/>
          <p:nvPr/>
        </p:nvSpPr>
        <p:spPr>
          <a:xfrm flipH="1">
            <a:off x="10359279" y="18525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1</a:t>
            </a:r>
          </a:p>
        </p:txBody>
      </p:sp>
      <p:grpSp>
        <p:nvGrpSpPr>
          <p:cNvPr id="10" name="Group 9">
            <a:extLst>
              <a:ext uri="{FF2B5EF4-FFF2-40B4-BE49-F238E27FC236}">
                <a16:creationId xmlns:a16="http://schemas.microsoft.com/office/drawing/2014/main" id="{C2CEC89A-CC1F-9215-E404-8A9DDA3AAE6B}"/>
              </a:ext>
            </a:extLst>
          </p:cNvPr>
          <p:cNvGrpSpPr/>
          <p:nvPr/>
        </p:nvGrpSpPr>
        <p:grpSpPr>
          <a:xfrm>
            <a:off x="5206114" y="1496496"/>
            <a:ext cx="650505" cy="650505"/>
            <a:chOff x="9889067" y="2857200"/>
            <a:chExt cx="1095022" cy="1095022"/>
          </a:xfrm>
        </p:grpSpPr>
        <p:sp>
          <p:nvSpPr>
            <p:cNvPr id="11" name="Arc 10">
              <a:extLst>
                <a:ext uri="{FF2B5EF4-FFF2-40B4-BE49-F238E27FC236}">
                  <a16:creationId xmlns:a16="http://schemas.microsoft.com/office/drawing/2014/main" id="{043843DD-6FE5-321B-D3DC-045C70CED766}"/>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Arc 11">
              <a:extLst>
                <a:ext uri="{FF2B5EF4-FFF2-40B4-BE49-F238E27FC236}">
                  <a16:creationId xmlns:a16="http://schemas.microsoft.com/office/drawing/2014/main" id="{EBCFBF38-EB25-A27E-505B-26ACB94DA9A9}"/>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3" name="Oval 12">
            <a:extLst>
              <a:ext uri="{FF2B5EF4-FFF2-40B4-BE49-F238E27FC236}">
                <a16:creationId xmlns:a16="http://schemas.microsoft.com/office/drawing/2014/main" id="{9D224B7A-D475-0F46-BAA8-B3C3C4EFAE8C}"/>
              </a:ext>
            </a:extLst>
          </p:cNvPr>
          <p:cNvSpPr/>
          <p:nvPr/>
        </p:nvSpPr>
        <p:spPr>
          <a:xfrm flipH="1">
            <a:off x="5073386" y="18525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2</a:t>
            </a:r>
          </a:p>
        </p:txBody>
      </p:sp>
      <p:sp>
        <p:nvSpPr>
          <p:cNvPr id="14" name="Rectangle 13">
            <a:extLst>
              <a:ext uri="{FF2B5EF4-FFF2-40B4-BE49-F238E27FC236}">
                <a16:creationId xmlns:a16="http://schemas.microsoft.com/office/drawing/2014/main" id="{2C2F4587-19BA-3BB0-92B1-694B0CC02CEF}"/>
              </a:ext>
            </a:extLst>
          </p:cNvPr>
          <p:cNvSpPr/>
          <p:nvPr/>
        </p:nvSpPr>
        <p:spPr>
          <a:xfrm>
            <a:off x="6017413" y="2631404"/>
            <a:ext cx="4256748" cy="276999"/>
          </a:xfrm>
          <a:prstGeom prst="rect">
            <a:avLst/>
          </a:prstGeom>
        </p:spPr>
        <p:txBody>
          <a:bodyPr wrap="square" anchor="ctr" anchorCtr="0">
            <a:spAutoFit/>
          </a:bodyPr>
          <a:lstStyle/>
          <a:p>
            <a:pPr algn="justLow" rtl="1"/>
            <a:r>
              <a:rPr lang="ar-SA" sz="1200" b="1" dirty="0"/>
              <a:t>توثيق وتحديث مكونات البنية المؤسسية</a:t>
            </a:r>
          </a:p>
        </p:txBody>
      </p:sp>
      <p:grpSp>
        <p:nvGrpSpPr>
          <p:cNvPr id="15" name="Group 14">
            <a:extLst>
              <a:ext uri="{FF2B5EF4-FFF2-40B4-BE49-F238E27FC236}">
                <a16:creationId xmlns:a16="http://schemas.microsoft.com/office/drawing/2014/main" id="{22B6E112-416C-B609-791B-3C42D7398B6B}"/>
              </a:ext>
            </a:extLst>
          </p:cNvPr>
          <p:cNvGrpSpPr/>
          <p:nvPr/>
        </p:nvGrpSpPr>
        <p:grpSpPr>
          <a:xfrm>
            <a:off x="10492007" y="2440793"/>
            <a:ext cx="650505" cy="650505"/>
            <a:chOff x="9889067" y="2857200"/>
            <a:chExt cx="1095022" cy="1095022"/>
          </a:xfrm>
        </p:grpSpPr>
        <p:sp>
          <p:nvSpPr>
            <p:cNvPr id="16" name="Arc 15">
              <a:extLst>
                <a:ext uri="{FF2B5EF4-FFF2-40B4-BE49-F238E27FC236}">
                  <a16:creationId xmlns:a16="http://schemas.microsoft.com/office/drawing/2014/main" id="{AC940CC4-5C95-1DD4-43D5-2CC0FA192A9B}"/>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 16">
              <a:extLst>
                <a:ext uri="{FF2B5EF4-FFF2-40B4-BE49-F238E27FC236}">
                  <a16:creationId xmlns:a16="http://schemas.microsoft.com/office/drawing/2014/main" id="{2CEF27BB-BD80-9FC1-1C64-67EEDF1BD70D}"/>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18" name="Rectangle 17">
            <a:extLst>
              <a:ext uri="{FF2B5EF4-FFF2-40B4-BE49-F238E27FC236}">
                <a16:creationId xmlns:a16="http://schemas.microsoft.com/office/drawing/2014/main" id="{D8978F00-9F72-8701-C4DF-887F5B52A022}"/>
              </a:ext>
            </a:extLst>
          </p:cNvPr>
          <p:cNvSpPr/>
          <p:nvPr/>
        </p:nvSpPr>
        <p:spPr>
          <a:xfrm>
            <a:off x="731520" y="2631404"/>
            <a:ext cx="4256748" cy="276999"/>
          </a:xfrm>
          <a:prstGeom prst="rect">
            <a:avLst/>
          </a:prstGeom>
        </p:spPr>
        <p:txBody>
          <a:bodyPr wrap="square" anchor="ctr" anchorCtr="0">
            <a:spAutoFit/>
          </a:bodyPr>
          <a:lstStyle/>
          <a:p>
            <a:pPr algn="justLow" rtl="1"/>
            <a:r>
              <a:rPr lang="ar-SA" sz="1200" b="1" dirty="0"/>
              <a:t>ضمان الامتثال لمبادئ ومعايير البنية المؤسسية المحددة</a:t>
            </a:r>
          </a:p>
        </p:txBody>
      </p:sp>
      <p:sp>
        <p:nvSpPr>
          <p:cNvPr id="19" name="Oval 18">
            <a:extLst>
              <a:ext uri="{FF2B5EF4-FFF2-40B4-BE49-F238E27FC236}">
                <a16:creationId xmlns:a16="http://schemas.microsoft.com/office/drawing/2014/main" id="{B695116B-D3C9-972B-D637-DCB7313F9D8B}"/>
              </a:ext>
            </a:extLst>
          </p:cNvPr>
          <p:cNvSpPr/>
          <p:nvPr/>
        </p:nvSpPr>
        <p:spPr>
          <a:xfrm flipH="1">
            <a:off x="10274161" y="2764504"/>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3</a:t>
            </a:r>
          </a:p>
        </p:txBody>
      </p:sp>
      <p:grpSp>
        <p:nvGrpSpPr>
          <p:cNvPr id="20" name="Group 19">
            <a:extLst>
              <a:ext uri="{FF2B5EF4-FFF2-40B4-BE49-F238E27FC236}">
                <a16:creationId xmlns:a16="http://schemas.microsoft.com/office/drawing/2014/main" id="{D4CF281D-403F-17C7-24A3-F14790F169B8}"/>
              </a:ext>
            </a:extLst>
          </p:cNvPr>
          <p:cNvGrpSpPr/>
          <p:nvPr/>
        </p:nvGrpSpPr>
        <p:grpSpPr>
          <a:xfrm>
            <a:off x="5206114" y="2440793"/>
            <a:ext cx="650505" cy="650505"/>
            <a:chOff x="9889067" y="2857200"/>
            <a:chExt cx="1095022" cy="1095022"/>
          </a:xfrm>
        </p:grpSpPr>
        <p:sp>
          <p:nvSpPr>
            <p:cNvPr id="21" name="Arc 20">
              <a:extLst>
                <a:ext uri="{FF2B5EF4-FFF2-40B4-BE49-F238E27FC236}">
                  <a16:creationId xmlns:a16="http://schemas.microsoft.com/office/drawing/2014/main" id="{B664AD45-7BD0-F14D-ECCA-B9157C71137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Arc 21">
              <a:extLst>
                <a:ext uri="{FF2B5EF4-FFF2-40B4-BE49-F238E27FC236}">
                  <a16:creationId xmlns:a16="http://schemas.microsoft.com/office/drawing/2014/main" id="{EC231915-C80D-FEC0-289E-04FA933AA43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3" name="Oval 22">
            <a:extLst>
              <a:ext uri="{FF2B5EF4-FFF2-40B4-BE49-F238E27FC236}">
                <a16:creationId xmlns:a16="http://schemas.microsoft.com/office/drawing/2014/main" id="{AEDCABD5-F6FE-3D67-898C-5C77213501AB}"/>
              </a:ext>
            </a:extLst>
          </p:cNvPr>
          <p:cNvSpPr/>
          <p:nvPr/>
        </p:nvSpPr>
        <p:spPr>
          <a:xfrm flipH="1">
            <a:off x="5073386" y="2796838"/>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4</a:t>
            </a:r>
          </a:p>
        </p:txBody>
      </p:sp>
      <p:sp>
        <p:nvSpPr>
          <p:cNvPr id="24" name="Rectangle 23">
            <a:extLst>
              <a:ext uri="{FF2B5EF4-FFF2-40B4-BE49-F238E27FC236}">
                <a16:creationId xmlns:a16="http://schemas.microsoft.com/office/drawing/2014/main" id="{6772A775-E8C3-C0A6-6271-0FED5B071C7A}"/>
              </a:ext>
            </a:extLst>
          </p:cNvPr>
          <p:cNvSpPr/>
          <p:nvPr/>
        </p:nvSpPr>
        <p:spPr>
          <a:xfrm>
            <a:off x="6017413" y="3580807"/>
            <a:ext cx="4256748" cy="276999"/>
          </a:xfrm>
          <a:prstGeom prst="rect">
            <a:avLst/>
          </a:prstGeom>
        </p:spPr>
        <p:txBody>
          <a:bodyPr wrap="square" anchor="ctr" anchorCtr="0">
            <a:spAutoFit/>
          </a:bodyPr>
          <a:lstStyle/>
          <a:p>
            <a:pPr algn="justLow" rtl="1"/>
            <a:r>
              <a:rPr lang="ar-SA" sz="1200" b="1" dirty="0"/>
              <a:t>تقديم توصيات بشأن بممارسة البنية المؤسسية</a:t>
            </a:r>
          </a:p>
        </p:txBody>
      </p:sp>
      <p:grpSp>
        <p:nvGrpSpPr>
          <p:cNvPr id="25" name="Group 24">
            <a:extLst>
              <a:ext uri="{FF2B5EF4-FFF2-40B4-BE49-F238E27FC236}">
                <a16:creationId xmlns:a16="http://schemas.microsoft.com/office/drawing/2014/main" id="{294A5AF4-C027-11BC-5B4A-6DC84DDB73D3}"/>
              </a:ext>
            </a:extLst>
          </p:cNvPr>
          <p:cNvGrpSpPr/>
          <p:nvPr/>
        </p:nvGrpSpPr>
        <p:grpSpPr>
          <a:xfrm>
            <a:off x="10492007" y="3390196"/>
            <a:ext cx="650505" cy="650505"/>
            <a:chOff x="9889067" y="2857200"/>
            <a:chExt cx="1095022" cy="1095022"/>
          </a:xfrm>
        </p:grpSpPr>
        <p:sp>
          <p:nvSpPr>
            <p:cNvPr id="26" name="Arc 25">
              <a:extLst>
                <a:ext uri="{FF2B5EF4-FFF2-40B4-BE49-F238E27FC236}">
                  <a16:creationId xmlns:a16="http://schemas.microsoft.com/office/drawing/2014/main" id="{501CFA7C-247B-688F-13C5-CC95AA9D34E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 name="Arc 26">
              <a:extLst>
                <a:ext uri="{FF2B5EF4-FFF2-40B4-BE49-F238E27FC236}">
                  <a16:creationId xmlns:a16="http://schemas.microsoft.com/office/drawing/2014/main" id="{DEDFCAB6-1827-910F-C30F-F78282D61A35}"/>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28" name="Group 27">
            <a:extLst>
              <a:ext uri="{FF2B5EF4-FFF2-40B4-BE49-F238E27FC236}">
                <a16:creationId xmlns:a16="http://schemas.microsoft.com/office/drawing/2014/main" id="{B5D73170-97FB-181F-B23C-42D0DE74C318}"/>
              </a:ext>
            </a:extLst>
          </p:cNvPr>
          <p:cNvGrpSpPr>
            <a:grpSpLocks noChangeAspect="1"/>
          </p:cNvGrpSpPr>
          <p:nvPr/>
        </p:nvGrpSpPr>
        <p:grpSpPr>
          <a:xfrm>
            <a:off x="10635259" y="3532568"/>
            <a:ext cx="364000" cy="365760"/>
            <a:chOff x="10656888" y="4908551"/>
            <a:chExt cx="1312863" cy="1319213"/>
          </a:xfrm>
          <a:solidFill>
            <a:schemeClr val="accent1"/>
          </a:solidFill>
        </p:grpSpPr>
        <p:sp>
          <p:nvSpPr>
            <p:cNvPr id="29" name="Freeform 608">
              <a:extLst>
                <a:ext uri="{FF2B5EF4-FFF2-40B4-BE49-F238E27FC236}">
                  <a16:creationId xmlns:a16="http://schemas.microsoft.com/office/drawing/2014/main" id="{2F044EBD-C8E7-2E51-695D-99810BA3C3F7}"/>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609">
              <a:extLst>
                <a:ext uri="{FF2B5EF4-FFF2-40B4-BE49-F238E27FC236}">
                  <a16:creationId xmlns:a16="http://schemas.microsoft.com/office/drawing/2014/main" id="{1BD54B1E-8DCF-3705-7904-7693C1FE4F69}"/>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610">
              <a:extLst>
                <a:ext uri="{FF2B5EF4-FFF2-40B4-BE49-F238E27FC236}">
                  <a16:creationId xmlns:a16="http://schemas.microsoft.com/office/drawing/2014/main" id="{09FF6FCC-723B-F525-9805-6758FDD5753E}"/>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611">
              <a:extLst>
                <a:ext uri="{FF2B5EF4-FFF2-40B4-BE49-F238E27FC236}">
                  <a16:creationId xmlns:a16="http://schemas.microsoft.com/office/drawing/2014/main" id="{7B8516F2-195A-B0BB-A0C9-36FE29DBD388}"/>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612">
              <a:extLst>
                <a:ext uri="{FF2B5EF4-FFF2-40B4-BE49-F238E27FC236}">
                  <a16:creationId xmlns:a16="http://schemas.microsoft.com/office/drawing/2014/main" id="{0736CC11-66B1-7C84-C9BA-3B989D87F561}"/>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613">
              <a:extLst>
                <a:ext uri="{FF2B5EF4-FFF2-40B4-BE49-F238E27FC236}">
                  <a16:creationId xmlns:a16="http://schemas.microsoft.com/office/drawing/2014/main" id="{9340708B-55B7-6920-6BA9-F59710123634}"/>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614">
              <a:extLst>
                <a:ext uri="{FF2B5EF4-FFF2-40B4-BE49-F238E27FC236}">
                  <a16:creationId xmlns:a16="http://schemas.microsoft.com/office/drawing/2014/main" id="{B1F694C8-EDE4-1EBE-3B3A-619104879042}"/>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615">
              <a:extLst>
                <a:ext uri="{FF2B5EF4-FFF2-40B4-BE49-F238E27FC236}">
                  <a16:creationId xmlns:a16="http://schemas.microsoft.com/office/drawing/2014/main" id="{77B59574-15E1-D9A2-E78F-8A86BFD37D16}"/>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616">
              <a:extLst>
                <a:ext uri="{FF2B5EF4-FFF2-40B4-BE49-F238E27FC236}">
                  <a16:creationId xmlns:a16="http://schemas.microsoft.com/office/drawing/2014/main" id="{285E3818-9B23-E795-77A8-094689271543}"/>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617">
              <a:extLst>
                <a:ext uri="{FF2B5EF4-FFF2-40B4-BE49-F238E27FC236}">
                  <a16:creationId xmlns:a16="http://schemas.microsoft.com/office/drawing/2014/main" id="{58780A1E-9773-C44D-911B-F83BC999EC19}"/>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618">
              <a:extLst>
                <a:ext uri="{FF2B5EF4-FFF2-40B4-BE49-F238E27FC236}">
                  <a16:creationId xmlns:a16="http://schemas.microsoft.com/office/drawing/2014/main" id="{3CAFA33D-8FD4-AF74-BA98-D553831E28F0}"/>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619">
              <a:extLst>
                <a:ext uri="{FF2B5EF4-FFF2-40B4-BE49-F238E27FC236}">
                  <a16:creationId xmlns:a16="http://schemas.microsoft.com/office/drawing/2014/main" id="{C9E820F4-567C-2185-64FD-8E947B8DF50A}"/>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620">
              <a:extLst>
                <a:ext uri="{FF2B5EF4-FFF2-40B4-BE49-F238E27FC236}">
                  <a16:creationId xmlns:a16="http://schemas.microsoft.com/office/drawing/2014/main" id="{F418E04B-B4A7-D989-676A-4EEB444BCBA2}"/>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24">
              <a:extLst>
                <a:ext uri="{FF2B5EF4-FFF2-40B4-BE49-F238E27FC236}">
                  <a16:creationId xmlns:a16="http://schemas.microsoft.com/office/drawing/2014/main" id="{7E937D93-4574-38E4-43C6-A17B50FA58A8}"/>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3" name="Rectangle 42">
            <a:extLst>
              <a:ext uri="{FF2B5EF4-FFF2-40B4-BE49-F238E27FC236}">
                <a16:creationId xmlns:a16="http://schemas.microsoft.com/office/drawing/2014/main" id="{1FBC14AB-A6D6-9C74-5B96-5E2039E65072}"/>
              </a:ext>
            </a:extLst>
          </p:cNvPr>
          <p:cNvSpPr/>
          <p:nvPr/>
        </p:nvSpPr>
        <p:spPr>
          <a:xfrm>
            <a:off x="731520" y="3580807"/>
            <a:ext cx="4256748" cy="276999"/>
          </a:xfrm>
          <a:prstGeom prst="rect">
            <a:avLst/>
          </a:prstGeom>
        </p:spPr>
        <p:txBody>
          <a:bodyPr wrap="square" anchor="ctr" anchorCtr="0">
            <a:spAutoFit/>
          </a:bodyPr>
          <a:lstStyle/>
          <a:p>
            <a:pPr algn="justLow" rtl="1"/>
            <a:r>
              <a:rPr lang="ar-SA" sz="1200" b="1" dirty="0"/>
              <a:t>الدعم في اتفاقيات الشراكات الرقمية</a:t>
            </a:r>
          </a:p>
        </p:txBody>
      </p:sp>
      <p:sp>
        <p:nvSpPr>
          <p:cNvPr id="44" name="Oval 43">
            <a:extLst>
              <a:ext uri="{FF2B5EF4-FFF2-40B4-BE49-F238E27FC236}">
                <a16:creationId xmlns:a16="http://schemas.microsoft.com/office/drawing/2014/main" id="{6E9C1AEC-EFAB-E1FC-EFE7-39798DBCF3DA}"/>
              </a:ext>
            </a:extLst>
          </p:cNvPr>
          <p:cNvSpPr/>
          <p:nvPr/>
        </p:nvSpPr>
        <p:spPr>
          <a:xfrm flipH="1">
            <a:off x="10274161" y="3713907"/>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5</a:t>
            </a:r>
          </a:p>
        </p:txBody>
      </p:sp>
      <p:grpSp>
        <p:nvGrpSpPr>
          <p:cNvPr id="45" name="Group 44">
            <a:extLst>
              <a:ext uri="{FF2B5EF4-FFF2-40B4-BE49-F238E27FC236}">
                <a16:creationId xmlns:a16="http://schemas.microsoft.com/office/drawing/2014/main" id="{1658CBA6-E8F1-01E0-0E72-288953EFD113}"/>
              </a:ext>
            </a:extLst>
          </p:cNvPr>
          <p:cNvGrpSpPr/>
          <p:nvPr/>
        </p:nvGrpSpPr>
        <p:grpSpPr>
          <a:xfrm>
            <a:off x="5206114" y="3390196"/>
            <a:ext cx="650505" cy="650505"/>
            <a:chOff x="9889067" y="2857200"/>
            <a:chExt cx="1095022" cy="1095022"/>
          </a:xfrm>
        </p:grpSpPr>
        <p:sp>
          <p:nvSpPr>
            <p:cNvPr id="46" name="Arc 45">
              <a:extLst>
                <a:ext uri="{FF2B5EF4-FFF2-40B4-BE49-F238E27FC236}">
                  <a16:creationId xmlns:a16="http://schemas.microsoft.com/office/drawing/2014/main" id="{0B8CDF04-EED2-AF16-59A8-1E46BE72083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7" name="Arc 46">
              <a:extLst>
                <a:ext uri="{FF2B5EF4-FFF2-40B4-BE49-F238E27FC236}">
                  <a16:creationId xmlns:a16="http://schemas.microsoft.com/office/drawing/2014/main" id="{4F2B6580-5071-8EC5-BC6A-B039C45DDACF}"/>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48" name="Oval 47">
            <a:extLst>
              <a:ext uri="{FF2B5EF4-FFF2-40B4-BE49-F238E27FC236}">
                <a16:creationId xmlns:a16="http://schemas.microsoft.com/office/drawing/2014/main" id="{7651B1A4-3228-EFF0-B1BE-57AF9D17B8AE}"/>
              </a:ext>
            </a:extLst>
          </p:cNvPr>
          <p:cNvSpPr/>
          <p:nvPr/>
        </p:nvSpPr>
        <p:spPr>
          <a:xfrm flipH="1">
            <a:off x="5073386" y="37462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6</a:t>
            </a:r>
          </a:p>
        </p:txBody>
      </p:sp>
      <p:sp>
        <p:nvSpPr>
          <p:cNvPr id="49" name="Rectangle 48">
            <a:extLst>
              <a:ext uri="{FF2B5EF4-FFF2-40B4-BE49-F238E27FC236}">
                <a16:creationId xmlns:a16="http://schemas.microsoft.com/office/drawing/2014/main" id="{B206453C-D717-0783-C150-95231CCB0B5C}"/>
              </a:ext>
            </a:extLst>
          </p:cNvPr>
          <p:cNvSpPr/>
          <p:nvPr/>
        </p:nvSpPr>
        <p:spPr>
          <a:xfrm>
            <a:off x="6017413" y="4521350"/>
            <a:ext cx="4256748" cy="276999"/>
          </a:xfrm>
          <a:prstGeom prst="rect">
            <a:avLst/>
          </a:prstGeom>
        </p:spPr>
        <p:txBody>
          <a:bodyPr wrap="square" anchor="ctr" anchorCtr="0">
            <a:spAutoFit/>
          </a:bodyPr>
          <a:lstStyle/>
          <a:p>
            <a:pPr algn="justLow" rtl="1"/>
            <a:r>
              <a:rPr lang="ar-SA" sz="1200" b="1" dirty="0"/>
              <a:t>مراجعة متطلبات الأعمال للمشاريع الرقمية</a:t>
            </a:r>
          </a:p>
        </p:txBody>
      </p:sp>
      <p:grpSp>
        <p:nvGrpSpPr>
          <p:cNvPr id="50" name="Group 49">
            <a:extLst>
              <a:ext uri="{FF2B5EF4-FFF2-40B4-BE49-F238E27FC236}">
                <a16:creationId xmlns:a16="http://schemas.microsoft.com/office/drawing/2014/main" id="{2AEF3156-2E1E-39D0-9FD3-E752BC8E24C6}"/>
              </a:ext>
            </a:extLst>
          </p:cNvPr>
          <p:cNvGrpSpPr/>
          <p:nvPr/>
        </p:nvGrpSpPr>
        <p:grpSpPr>
          <a:xfrm>
            <a:off x="10492007" y="4330739"/>
            <a:ext cx="650505" cy="650505"/>
            <a:chOff x="9889067" y="2857200"/>
            <a:chExt cx="1095022" cy="1095022"/>
          </a:xfrm>
        </p:grpSpPr>
        <p:sp>
          <p:nvSpPr>
            <p:cNvPr id="51" name="Arc 50">
              <a:extLst>
                <a:ext uri="{FF2B5EF4-FFF2-40B4-BE49-F238E27FC236}">
                  <a16:creationId xmlns:a16="http://schemas.microsoft.com/office/drawing/2014/main" id="{BFE3B58B-D408-33B3-5222-D7730FCFB79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2" name="Arc 51">
              <a:extLst>
                <a:ext uri="{FF2B5EF4-FFF2-40B4-BE49-F238E27FC236}">
                  <a16:creationId xmlns:a16="http://schemas.microsoft.com/office/drawing/2014/main" id="{D7068701-A5A6-8E62-1914-A8279F177128}"/>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53" name="Rectangle 52">
            <a:extLst>
              <a:ext uri="{FF2B5EF4-FFF2-40B4-BE49-F238E27FC236}">
                <a16:creationId xmlns:a16="http://schemas.microsoft.com/office/drawing/2014/main" id="{63F3FAE1-F251-10A3-E63F-60908D7B498F}"/>
              </a:ext>
            </a:extLst>
          </p:cNvPr>
          <p:cNvSpPr/>
          <p:nvPr/>
        </p:nvSpPr>
        <p:spPr>
          <a:xfrm>
            <a:off x="731520" y="4521350"/>
            <a:ext cx="4256748" cy="276999"/>
          </a:xfrm>
          <a:prstGeom prst="rect">
            <a:avLst/>
          </a:prstGeom>
        </p:spPr>
        <p:txBody>
          <a:bodyPr wrap="square" anchor="ctr" anchorCtr="0">
            <a:spAutoFit/>
          </a:bodyPr>
          <a:lstStyle/>
          <a:p>
            <a:pPr algn="justLow" rtl="1"/>
            <a:r>
              <a:rPr lang="ar-SA" sz="1200" b="1" dirty="0"/>
              <a:t>مراجعة كراسات الشروط والمواصفات </a:t>
            </a:r>
          </a:p>
        </p:txBody>
      </p:sp>
      <p:sp>
        <p:nvSpPr>
          <p:cNvPr id="54" name="Oval 53">
            <a:extLst>
              <a:ext uri="{FF2B5EF4-FFF2-40B4-BE49-F238E27FC236}">
                <a16:creationId xmlns:a16="http://schemas.microsoft.com/office/drawing/2014/main" id="{4ACFE134-11C2-D283-D8F3-50D7D852AB5A}"/>
              </a:ext>
            </a:extLst>
          </p:cNvPr>
          <p:cNvSpPr/>
          <p:nvPr/>
        </p:nvSpPr>
        <p:spPr>
          <a:xfrm flipH="1">
            <a:off x="10274161" y="465445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7</a:t>
            </a:r>
          </a:p>
        </p:txBody>
      </p:sp>
      <p:grpSp>
        <p:nvGrpSpPr>
          <p:cNvPr id="55" name="Group 54">
            <a:extLst>
              <a:ext uri="{FF2B5EF4-FFF2-40B4-BE49-F238E27FC236}">
                <a16:creationId xmlns:a16="http://schemas.microsoft.com/office/drawing/2014/main" id="{B90DF97A-657D-9A90-FF1E-FDACCEE4181B}"/>
              </a:ext>
            </a:extLst>
          </p:cNvPr>
          <p:cNvGrpSpPr/>
          <p:nvPr/>
        </p:nvGrpSpPr>
        <p:grpSpPr>
          <a:xfrm>
            <a:off x="5206114" y="4330739"/>
            <a:ext cx="650505" cy="650505"/>
            <a:chOff x="9889067" y="2857200"/>
            <a:chExt cx="1095022" cy="1095022"/>
          </a:xfrm>
        </p:grpSpPr>
        <p:sp>
          <p:nvSpPr>
            <p:cNvPr id="56" name="Arc 55">
              <a:extLst>
                <a:ext uri="{FF2B5EF4-FFF2-40B4-BE49-F238E27FC236}">
                  <a16:creationId xmlns:a16="http://schemas.microsoft.com/office/drawing/2014/main" id="{366302CD-F0DE-4742-E3B7-44401B486487}"/>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Arc 56">
              <a:extLst>
                <a:ext uri="{FF2B5EF4-FFF2-40B4-BE49-F238E27FC236}">
                  <a16:creationId xmlns:a16="http://schemas.microsoft.com/office/drawing/2014/main" id="{BBF8AC01-AF57-A41D-6DC9-08C789AC27EA}"/>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58" name="Oval 57">
            <a:extLst>
              <a:ext uri="{FF2B5EF4-FFF2-40B4-BE49-F238E27FC236}">
                <a16:creationId xmlns:a16="http://schemas.microsoft.com/office/drawing/2014/main" id="{09868A86-4649-D054-7333-C07401F7B12A}"/>
              </a:ext>
            </a:extLst>
          </p:cNvPr>
          <p:cNvSpPr/>
          <p:nvPr/>
        </p:nvSpPr>
        <p:spPr>
          <a:xfrm flipH="1">
            <a:off x="5073386" y="4686784"/>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8</a:t>
            </a:r>
          </a:p>
        </p:txBody>
      </p:sp>
      <p:sp>
        <p:nvSpPr>
          <p:cNvPr id="59" name="Rectangle 58">
            <a:extLst>
              <a:ext uri="{FF2B5EF4-FFF2-40B4-BE49-F238E27FC236}">
                <a16:creationId xmlns:a16="http://schemas.microsoft.com/office/drawing/2014/main" id="{FE690EC7-D06A-E54A-AE4F-5405EBB013B8}"/>
              </a:ext>
            </a:extLst>
          </p:cNvPr>
          <p:cNvSpPr/>
          <p:nvPr/>
        </p:nvSpPr>
        <p:spPr>
          <a:xfrm>
            <a:off x="6017413" y="5469400"/>
            <a:ext cx="4256748" cy="276999"/>
          </a:xfrm>
          <a:prstGeom prst="rect">
            <a:avLst/>
          </a:prstGeom>
        </p:spPr>
        <p:txBody>
          <a:bodyPr wrap="square" anchor="ctr" anchorCtr="0">
            <a:spAutoFit/>
          </a:bodyPr>
          <a:lstStyle/>
          <a:p>
            <a:pPr algn="justLow" rtl="1"/>
            <a:r>
              <a:rPr lang="ar-SA" sz="1200" b="1" dirty="0"/>
              <a:t>مراجعة وتقييم العروض الفنية للمشاريع الرقمية</a:t>
            </a:r>
          </a:p>
        </p:txBody>
      </p:sp>
      <p:grpSp>
        <p:nvGrpSpPr>
          <p:cNvPr id="60" name="Group 59">
            <a:extLst>
              <a:ext uri="{FF2B5EF4-FFF2-40B4-BE49-F238E27FC236}">
                <a16:creationId xmlns:a16="http://schemas.microsoft.com/office/drawing/2014/main" id="{F8FE95FC-EA5F-03DC-2E8D-0AE9BF2C96A9}"/>
              </a:ext>
            </a:extLst>
          </p:cNvPr>
          <p:cNvGrpSpPr/>
          <p:nvPr/>
        </p:nvGrpSpPr>
        <p:grpSpPr>
          <a:xfrm>
            <a:off x="10492007" y="5278789"/>
            <a:ext cx="650505" cy="650505"/>
            <a:chOff x="9889067" y="2857200"/>
            <a:chExt cx="1095022" cy="1095022"/>
          </a:xfrm>
        </p:grpSpPr>
        <p:sp>
          <p:nvSpPr>
            <p:cNvPr id="61" name="Arc 60">
              <a:extLst>
                <a:ext uri="{FF2B5EF4-FFF2-40B4-BE49-F238E27FC236}">
                  <a16:creationId xmlns:a16="http://schemas.microsoft.com/office/drawing/2014/main" id="{90B78BFF-8B82-9762-AC5D-20E61FA1159D}"/>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2" name="Arc 61">
              <a:extLst>
                <a:ext uri="{FF2B5EF4-FFF2-40B4-BE49-F238E27FC236}">
                  <a16:creationId xmlns:a16="http://schemas.microsoft.com/office/drawing/2014/main" id="{FD8651E5-DBEB-7EE9-933D-F2EE31FE7B1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3" name="Rectangle 62">
            <a:extLst>
              <a:ext uri="{FF2B5EF4-FFF2-40B4-BE49-F238E27FC236}">
                <a16:creationId xmlns:a16="http://schemas.microsoft.com/office/drawing/2014/main" id="{D92C6AE9-64D7-1C56-192D-F44874040C38}"/>
              </a:ext>
            </a:extLst>
          </p:cNvPr>
          <p:cNvSpPr/>
          <p:nvPr/>
        </p:nvSpPr>
        <p:spPr>
          <a:xfrm>
            <a:off x="731520" y="5469400"/>
            <a:ext cx="4256748" cy="276999"/>
          </a:xfrm>
          <a:prstGeom prst="rect">
            <a:avLst/>
          </a:prstGeom>
        </p:spPr>
        <p:txBody>
          <a:bodyPr wrap="square" anchor="ctr" anchorCtr="0">
            <a:spAutoFit/>
          </a:bodyPr>
          <a:lstStyle/>
          <a:p>
            <a:pPr algn="justLow" rtl="1"/>
            <a:r>
              <a:rPr lang="ar-SA" sz="1200" b="1" dirty="0"/>
              <a:t>نشر ثقافة ممارسة البنية المؤسسية</a:t>
            </a:r>
          </a:p>
        </p:txBody>
      </p:sp>
      <p:sp>
        <p:nvSpPr>
          <p:cNvPr id="64" name="Oval 63">
            <a:extLst>
              <a:ext uri="{FF2B5EF4-FFF2-40B4-BE49-F238E27FC236}">
                <a16:creationId xmlns:a16="http://schemas.microsoft.com/office/drawing/2014/main" id="{061014C7-364A-FD9D-96F9-B47E4492D8F0}"/>
              </a:ext>
            </a:extLst>
          </p:cNvPr>
          <p:cNvSpPr/>
          <p:nvPr/>
        </p:nvSpPr>
        <p:spPr>
          <a:xfrm flipH="1">
            <a:off x="10274161" y="560250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9</a:t>
            </a:r>
          </a:p>
        </p:txBody>
      </p:sp>
      <p:grpSp>
        <p:nvGrpSpPr>
          <p:cNvPr id="65" name="Group 64">
            <a:extLst>
              <a:ext uri="{FF2B5EF4-FFF2-40B4-BE49-F238E27FC236}">
                <a16:creationId xmlns:a16="http://schemas.microsoft.com/office/drawing/2014/main" id="{CFBEAB87-7390-266D-D680-4E2E768679D5}"/>
              </a:ext>
            </a:extLst>
          </p:cNvPr>
          <p:cNvGrpSpPr/>
          <p:nvPr/>
        </p:nvGrpSpPr>
        <p:grpSpPr>
          <a:xfrm>
            <a:off x="5206114" y="5278789"/>
            <a:ext cx="650505" cy="650505"/>
            <a:chOff x="9889067" y="2857200"/>
            <a:chExt cx="1095022" cy="1095022"/>
          </a:xfrm>
        </p:grpSpPr>
        <p:sp>
          <p:nvSpPr>
            <p:cNvPr id="66" name="Arc 65">
              <a:extLst>
                <a:ext uri="{FF2B5EF4-FFF2-40B4-BE49-F238E27FC236}">
                  <a16:creationId xmlns:a16="http://schemas.microsoft.com/office/drawing/2014/main" id="{DC4C3C44-57C9-47C2-A8C4-1FEA1054F82D}"/>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7" name="Arc 66">
              <a:extLst>
                <a:ext uri="{FF2B5EF4-FFF2-40B4-BE49-F238E27FC236}">
                  <a16:creationId xmlns:a16="http://schemas.microsoft.com/office/drawing/2014/main" id="{1324967A-03CE-B720-F23A-09E3A36F400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8" name="Oval 67">
            <a:extLst>
              <a:ext uri="{FF2B5EF4-FFF2-40B4-BE49-F238E27FC236}">
                <a16:creationId xmlns:a16="http://schemas.microsoft.com/office/drawing/2014/main" id="{F339ACC8-EB7D-EA04-111D-13CF6C2CDA67}"/>
              </a:ext>
            </a:extLst>
          </p:cNvPr>
          <p:cNvSpPr/>
          <p:nvPr/>
        </p:nvSpPr>
        <p:spPr>
          <a:xfrm flipH="1">
            <a:off x="5028529" y="5634834"/>
            <a:ext cx="355168"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10</a:t>
            </a:r>
          </a:p>
        </p:txBody>
      </p:sp>
      <p:grpSp>
        <p:nvGrpSpPr>
          <p:cNvPr id="69" name="Group 68">
            <a:extLst>
              <a:ext uri="{FF2B5EF4-FFF2-40B4-BE49-F238E27FC236}">
                <a16:creationId xmlns:a16="http://schemas.microsoft.com/office/drawing/2014/main" id="{6AD395CB-39DC-D80F-1565-77F8E1D326D7}"/>
              </a:ext>
            </a:extLst>
          </p:cNvPr>
          <p:cNvGrpSpPr>
            <a:grpSpLocks noChangeAspect="1"/>
          </p:cNvGrpSpPr>
          <p:nvPr/>
        </p:nvGrpSpPr>
        <p:grpSpPr>
          <a:xfrm>
            <a:off x="5374612" y="1638868"/>
            <a:ext cx="313508" cy="365760"/>
            <a:chOff x="10645776" y="334963"/>
            <a:chExt cx="1228725" cy="1433513"/>
          </a:xfrm>
          <a:solidFill>
            <a:schemeClr val="accent1"/>
          </a:solidFill>
        </p:grpSpPr>
        <p:sp>
          <p:nvSpPr>
            <p:cNvPr id="70" name="Freeform 20">
              <a:extLst>
                <a:ext uri="{FF2B5EF4-FFF2-40B4-BE49-F238E27FC236}">
                  <a16:creationId xmlns:a16="http://schemas.microsoft.com/office/drawing/2014/main" id="{71382F28-9DEF-2852-C405-B125DF6B09A2}"/>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21">
              <a:extLst>
                <a:ext uri="{FF2B5EF4-FFF2-40B4-BE49-F238E27FC236}">
                  <a16:creationId xmlns:a16="http://schemas.microsoft.com/office/drawing/2014/main" id="{D7EB4EB6-B8FE-9401-47A5-773BC9EA0D9A}"/>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22">
              <a:extLst>
                <a:ext uri="{FF2B5EF4-FFF2-40B4-BE49-F238E27FC236}">
                  <a16:creationId xmlns:a16="http://schemas.microsoft.com/office/drawing/2014/main" id="{6B936F49-16E8-8E0E-23E8-3703A623210B}"/>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23">
              <a:extLst>
                <a:ext uri="{FF2B5EF4-FFF2-40B4-BE49-F238E27FC236}">
                  <a16:creationId xmlns:a16="http://schemas.microsoft.com/office/drawing/2014/main" id="{FAE924AE-4E17-66B0-24E6-8F253EE319C8}"/>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24">
              <a:extLst>
                <a:ext uri="{FF2B5EF4-FFF2-40B4-BE49-F238E27FC236}">
                  <a16:creationId xmlns:a16="http://schemas.microsoft.com/office/drawing/2014/main" id="{33D21AD5-54EA-45A1-1680-59158A4B6997}"/>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25">
              <a:extLst>
                <a:ext uri="{FF2B5EF4-FFF2-40B4-BE49-F238E27FC236}">
                  <a16:creationId xmlns:a16="http://schemas.microsoft.com/office/drawing/2014/main" id="{090DA4AA-7306-174E-C8BB-173614C66132}"/>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6" name="Group 75">
            <a:extLst>
              <a:ext uri="{FF2B5EF4-FFF2-40B4-BE49-F238E27FC236}">
                <a16:creationId xmlns:a16="http://schemas.microsoft.com/office/drawing/2014/main" id="{A235835B-E1C7-9979-F6A0-646598FA7E7C}"/>
              </a:ext>
            </a:extLst>
          </p:cNvPr>
          <p:cNvGrpSpPr>
            <a:grpSpLocks noChangeAspect="1"/>
          </p:cNvGrpSpPr>
          <p:nvPr/>
        </p:nvGrpSpPr>
        <p:grpSpPr>
          <a:xfrm>
            <a:off x="5390405" y="4473111"/>
            <a:ext cx="281922" cy="365760"/>
            <a:chOff x="10399713" y="2660650"/>
            <a:chExt cx="1516063" cy="1966913"/>
          </a:xfrm>
          <a:solidFill>
            <a:schemeClr val="accent1"/>
          </a:solidFill>
        </p:grpSpPr>
        <p:sp>
          <p:nvSpPr>
            <p:cNvPr id="77" name="Freeform 56">
              <a:extLst>
                <a:ext uri="{FF2B5EF4-FFF2-40B4-BE49-F238E27FC236}">
                  <a16:creationId xmlns:a16="http://schemas.microsoft.com/office/drawing/2014/main" id="{C64F48C7-1037-CD9D-ACD6-51641AA1942A}"/>
                </a:ext>
              </a:extLst>
            </p:cNvPr>
            <p:cNvSpPr>
              <a:spLocks noEditPoints="1"/>
            </p:cNvSpPr>
            <p:nvPr/>
          </p:nvSpPr>
          <p:spPr bwMode="auto">
            <a:xfrm>
              <a:off x="10399713" y="2660650"/>
              <a:ext cx="1516063" cy="1966913"/>
            </a:xfrm>
            <a:custGeom>
              <a:avLst/>
              <a:gdLst>
                <a:gd name="T0" fmla="*/ 18 w 3833"/>
                <a:gd name="T1" fmla="*/ 16 h 4982"/>
                <a:gd name="T2" fmla="*/ 7 w 3833"/>
                <a:gd name="T3" fmla="*/ 268 h 4982"/>
                <a:gd name="T4" fmla="*/ 0 w 3833"/>
                <a:gd name="T5" fmla="*/ 2491 h 4982"/>
                <a:gd name="T6" fmla="*/ 7 w 3833"/>
                <a:gd name="T7" fmla="*/ 4787 h 4982"/>
                <a:gd name="T8" fmla="*/ 22 w 3833"/>
                <a:gd name="T9" fmla="*/ 4969 h 4982"/>
                <a:gd name="T10" fmla="*/ 120 w 3833"/>
                <a:gd name="T11" fmla="*/ 4976 h 4982"/>
                <a:gd name="T12" fmla="*/ 1530 w 3833"/>
                <a:gd name="T13" fmla="*/ 4982 h 4982"/>
                <a:gd name="T14" fmla="*/ 3420 w 3833"/>
                <a:gd name="T15" fmla="*/ 4569 h 4982"/>
                <a:gd name="T16" fmla="*/ 3833 w 3833"/>
                <a:gd name="T17" fmla="*/ 2097 h 4982"/>
                <a:gd name="T18" fmla="*/ 3826 w 3833"/>
                <a:gd name="T19" fmla="*/ 256 h 4982"/>
                <a:gd name="T20" fmla="*/ 3816 w 3833"/>
                <a:gd name="T21" fmla="*/ 25 h 4982"/>
                <a:gd name="T22" fmla="*/ 3807 w 3833"/>
                <a:gd name="T23" fmla="*/ 16 h 4982"/>
                <a:gd name="T24" fmla="*/ 3596 w 3833"/>
                <a:gd name="T25" fmla="*/ 6 h 4982"/>
                <a:gd name="T26" fmla="*/ 1918 w 3833"/>
                <a:gd name="T27" fmla="*/ 1 h 4982"/>
                <a:gd name="T28" fmla="*/ 134 w 3833"/>
                <a:gd name="T29" fmla="*/ 7 h 4982"/>
                <a:gd name="T30" fmla="*/ 3663 w 3833"/>
                <a:gd name="T31" fmla="*/ 2111 h 4982"/>
                <a:gd name="T32" fmla="*/ 3288 w 3833"/>
                <a:gd name="T33" fmla="*/ 4052 h 4982"/>
                <a:gd name="T34" fmla="*/ 2903 w 3833"/>
                <a:gd name="T35" fmla="*/ 4437 h 4982"/>
                <a:gd name="T36" fmla="*/ 1536 w 3833"/>
                <a:gd name="T37" fmla="*/ 4812 h 4982"/>
                <a:gd name="T38" fmla="*/ 170 w 3833"/>
                <a:gd name="T39" fmla="*/ 2507 h 4982"/>
                <a:gd name="T40" fmla="*/ 171 w 3833"/>
                <a:gd name="T41" fmla="*/ 324 h 4982"/>
                <a:gd name="T42" fmla="*/ 178 w 3833"/>
                <a:gd name="T43" fmla="*/ 183 h 4982"/>
                <a:gd name="T44" fmla="*/ 355 w 3833"/>
                <a:gd name="T45" fmla="*/ 172 h 4982"/>
                <a:gd name="T46" fmla="*/ 1920 w 3833"/>
                <a:gd name="T47" fmla="*/ 169 h 4982"/>
                <a:gd name="T48" fmla="*/ 3663 w 3833"/>
                <a:gd name="T49" fmla="*/ 2111 h 4982"/>
                <a:gd name="T50" fmla="*/ 3520 w 3833"/>
                <a:gd name="T51" fmla="*/ 4247 h 4982"/>
                <a:gd name="T52" fmla="*/ 3237 w 3833"/>
                <a:gd name="T53" fmla="*/ 4534 h 4982"/>
                <a:gd name="T54" fmla="*/ 3095 w 3833"/>
                <a:gd name="T55" fmla="*/ 4662 h 4982"/>
                <a:gd name="T56" fmla="*/ 3082 w 3833"/>
                <a:gd name="T57" fmla="*/ 4664 h 4982"/>
                <a:gd name="T58" fmla="*/ 3067 w 3833"/>
                <a:gd name="T59" fmla="*/ 4561 h 4982"/>
                <a:gd name="T60" fmla="*/ 3067 w 3833"/>
                <a:gd name="T61" fmla="*/ 4366 h 4982"/>
                <a:gd name="T62" fmla="*/ 3078 w 3833"/>
                <a:gd name="T63" fmla="*/ 4227 h 4982"/>
                <a:gd name="T64" fmla="*/ 3226 w 3833"/>
                <a:gd name="T65" fmla="*/ 4217 h 4982"/>
                <a:gd name="T66" fmla="*/ 3493 w 3833"/>
                <a:gd name="T67" fmla="*/ 4220 h 4982"/>
                <a:gd name="T68" fmla="*/ 3533 w 3833"/>
                <a:gd name="T69" fmla="*/ 4227 h 4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33" h="4982">
                  <a:moveTo>
                    <a:pt x="21" y="11"/>
                  </a:moveTo>
                  <a:lnTo>
                    <a:pt x="18" y="16"/>
                  </a:lnTo>
                  <a:lnTo>
                    <a:pt x="13" y="71"/>
                  </a:lnTo>
                  <a:lnTo>
                    <a:pt x="7" y="268"/>
                  </a:lnTo>
                  <a:lnTo>
                    <a:pt x="0" y="1201"/>
                  </a:lnTo>
                  <a:lnTo>
                    <a:pt x="0" y="2491"/>
                  </a:lnTo>
                  <a:lnTo>
                    <a:pt x="0" y="3919"/>
                  </a:lnTo>
                  <a:lnTo>
                    <a:pt x="7" y="4787"/>
                  </a:lnTo>
                  <a:lnTo>
                    <a:pt x="15" y="4934"/>
                  </a:lnTo>
                  <a:lnTo>
                    <a:pt x="22" y="4969"/>
                  </a:lnTo>
                  <a:lnTo>
                    <a:pt x="26" y="4972"/>
                  </a:lnTo>
                  <a:lnTo>
                    <a:pt x="120" y="4976"/>
                  </a:lnTo>
                  <a:lnTo>
                    <a:pt x="938" y="4982"/>
                  </a:lnTo>
                  <a:lnTo>
                    <a:pt x="1530" y="4982"/>
                  </a:lnTo>
                  <a:lnTo>
                    <a:pt x="3008" y="4982"/>
                  </a:lnTo>
                  <a:lnTo>
                    <a:pt x="3420" y="4569"/>
                  </a:lnTo>
                  <a:lnTo>
                    <a:pt x="3833" y="4157"/>
                  </a:lnTo>
                  <a:lnTo>
                    <a:pt x="3833" y="2097"/>
                  </a:lnTo>
                  <a:lnTo>
                    <a:pt x="3832" y="1050"/>
                  </a:lnTo>
                  <a:lnTo>
                    <a:pt x="3826" y="256"/>
                  </a:lnTo>
                  <a:lnTo>
                    <a:pt x="3820" y="79"/>
                  </a:lnTo>
                  <a:lnTo>
                    <a:pt x="3816" y="25"/>
                  </a:lnTo>
                  <a:lnTo>
                    <a:pt x="3813" y="19"/>
                  </a:lnTo>
                  <a:lnTo>
                    <a:pt x="3807" y="16"/>
                  </a:lnTo>
                  <a:lnTo>
                    <a:pt x="3758" y="12"/>
                  </a:lnTo>
                  <a:lnTo>
                    <a:pt x="3596" y="6"/>
                  </a:lnTo>
                  <a:lnTo>
                    <a:pt x="2871" y="0"/>
                  </a:lnTo>
                  <a:lnTo>
                    <a:pt x="1918" y="1"/>
                  </a:lnTo>
                  <a:lnTo>
                    <a:pt x="1166" y="1"/>
                  </a:lnTo>
                  <a:lnTo>
                    <a:pt x="134" y="7"/>
                  </a:lnTo>
                  <a:lnTo>
                    <a:pt x="21" y="11"/>
                  </a:lnTo>
                  <a:close/>
                  <a:moveTo>
                    <a:pt x="3663" y="2111"/>
                  </a:moveTo>
                  <a:lnTo>
                    <a:pt x="3666" y="4049"/>
                  </a:lnTo>
                  <a:lnTo>
                    <a:pt x="3288" y="4052"/>
                  </a:lnTo>
                  <a:lnTo>
                    <a:pt x="2908" y="4057"/>
                  </a:lnTo>
                  <a:lnTo>
                    <a:pt x="2903" y="4437"/>
                  </a:lnTo>
                  <a:lnTo>
                    <a:pt x="2900" y="4816"/>
                  </a:lnTo>
                  <a:lnTo>
                    <a:pt x="1536" y="4812"/>
                  </a:lnTo>
                  <a:lnTo>
                    <a:pt x="175" y="4807"/>
                  </a:lnTo>
                  <a:lnTo>
                    <a:pt x="170" y="2507"/>
                  </a:lnTo>
                  <a:lnTo>
                    <a:pt x="169" y="1586"/>
                  </a:lnTo>
                  <a:lnTo>
                    <a:pt x="171" y="324"/>
                  </a:lnTo>
                  <a:lnTo>
                    <a:pt x="175" y="186"/>
                  </a:lnTo>
                  <a:lnTo>
                    <a:pt x="178" y="183"/>
                  </a:lnTo>
                  <a:lnTo>
                    <a:pt x="217" y="178"/>
                  </a:lnTo>
                  <a:lnTo>
                    <a:pt x="355" y="172"/>
                  </a:lnTo>
                  <a:lnTo>
                    <a:pt x="1011" y="167"/>
                  </a:lnTo>
                  <a:lnTo>
                    <a:pt x="1920" y="169"/>
                  </a:lnTo>
                  <a:lnTo>
                    <a:pt x="3658" y="174"/>
                  </a:lnTo>
                  <a:lnTo>
                    <a:pt x="3663" y="2111"/>
                  </a:lnTo>
                  <a:close/>
                  <a:moveTo>
                    <a:pt x="3533" y="4227"/>
                  </a:moveTo>
                  <a:lnTo>
                    <a:pt x="3520" y="4247"/>
                  </a:lnTo>
                  <a:lnTo>
                    <a:pt x="3400" y="4373"/>
                  </a:lnTo>
                  <a:lnTo>
                    <a:pt x="3237" y="4534"/>
                  </a:lnTo>
                  <a:lnTo>
                    <a:pt x="3136" y="4628"/>
                  </a:lnTo>
                  <a:lnTo>
                    <a:pt x="3095" y="4662"/>
                  </a:lnTo>
                  <a:lnTo>
                    <a:pt x="3088" y="4666"/>
                  </a:lnTo>
                  <a:lnTo>
                    <a:pt x="3082" y="4664"/>
                  </a:lnTo>
                  <a:lnTo>
                    <a:pt x="3074" y="4642"/>
                  </a:lnTo>
                  <a:lnTo>
                    <a:pt x="3067" y="4561"/>
                  </a:lnTo>
                  <a:lnTo>
                    <a:pt x="3066" y="4452"/>
                  </a:lnTo>
                  <a:lnTo>
                    <a:pt x="3067" y="4366"/>
                  </a:lnTo>
                  <a:lnTo>
                    <a:pt x="3073" y="4243"/>
                  </a:lnTo>
                  <a:lnTo>
                    <a:pt x="3078" y="4227"/>
                  </a:lnTo>
                  <a:lnTo>
                    <a:pt x="3096" y="4222"/>
                  </a:lnTo>
                  <a:lnTo>
                    <a:pt x="3226" y="4217"/>
                  </a:lnTo>
                  <a:lnTo>
                    <a:pt x="3394" y="4217"/>
                  </a:lnTo>
                  <a:lnTo>
                    <a:pt x="3493" y="4220"/>
                  </a:lnTo>
                  <a:lnTo>
                    <a:pt x="3530" y="4225"/>
                  </a:lnTo>
                  <a:lnTo>
                    <a:pt x="3533" y="4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57">
              <a:extLst>
                <a:ext uri="{FF2B5EF4-FFF2-40B4-BE49-F238E27FC236}">
                  <a16:creationId xmlns:a16="http://schemas.microsoft.com/office/drawing/2014/main" id="{8C49BA7F-FD3D-11D4-25B0-D1D7EC3364B7}"/>
                </a:ext>
              </a:extLst>
            </p:cNvPr>
            <p:cNvSpPr>
              <a:spLocks noEditPoints="1"/>
            </p:cNvSpPr>
            <p:nvPr/>
          </p:nvSpPr>
          <p:spPr bwMode="auto">
            <a:xfrm>
              <a:off x="10755313" y="2846388"/>
              <a:ext cx="804863" cy="682625"/>
            </a:xfrm>
            <a:custGeom>
              <a:avLst/>
              <a:gdLst>
                <a:gd name="T0" fmla="*/ 678 w 2033"/>
                <a:gd name="T1" fmla="*/ 61 h 1732"/>
                <a:gd name="T2" fmla="*/ 633 w 2033"/>
                <a:gd name="T3" fmla="*/ 190 h 1732"/>
                <a:gd name="T4" fmla="*/ 96 w 2033"/>
                <a:gd name="T5" fmla="*/ 274 h 1732"/>
                <a:gd name="T6" fmla="*/ 0 w 2033"/>
                <a:gd name="T7" fmla="*/ 672 h 1732"/>
                <a:gd name="T8" fmla="*/ 9 w 2033"/>
                <a:gd name="T9" fmla="*/ 960 h 1732"/>
                <a:gd name="T10" fmla="*/ 56 w 2033"/>
                <a:gd name="T11" fmla="*/ 1029 h 1732"/>
                <a:gd name="T12" fmla="*/ 83 w 2033"/>
                <a:gd name="T13" fmla="*/ 1255 h 1732"/>
                <a:gd name="T14" fmla="*/ 135 w 2033"/>
                <a:gd name="T15" fmla="*/ 1689 h 1732"/>
                <a:gd name="T16" fmla="*/ 1853 w 2033"/>
                <a:gd name="T17" fmla="*/ 1732 h 1732"/>
                <a:gd name="T18" fmla="*/ 1950 w 2033"/>
                <a:gd name="T19" fmla="*/ 1350 h 1732"/>
                <a:gd name="T20" fmla="*/ 1960 w 2033"/>
                <a:gd name="T21" fmla="*/ 1067 h 1732"/>
                <a:gd name="T22" fmla="*/ 2005 w 2033"/>
                <a:gd name="T23" fmla="*/ 985 h 1732"/>
                <a:gd name="T24" fmla="*/ 2033 w 2033"/>
                <a:gd name="T25" fmla="*/ 765 h 1732"/>
                <a:gd name="T26" fmla="*/ 2029 w 2033"/>
                <a:gd name="T27" fmla="*/ 489 h 1732"/>
                <a:gd name="T28" fmla="*/ 1984 w 2033"/>
                <a:gd name="T29" fmla="*/ 330 h 1732"/>
                <a:gd name="T30" fmla="*/ 1891 w 2033"/>
                <a:gd name="T31" fmla="*/ 278 h 1732"/>
                <a:gd name="T32" fmla="*/ 1618 w 2033"/>
                <a:gd name="T33" fmla="*/ 267 h 1732"/>
                <a:gd name="T34" fmla="*/ 1394 w 2033"/>
                <a:gd name="T35" fmla="*/ 156 h 1732"/>
                <a:gd name="T36" fmla="*/ 1335 w 2033"/>
                <a:gd name="T37" fmla="*/ 41 h 1732"/>
                <a:gd name="T38" fmla="*/ 1123 w 2033"/>
                <a:gd name="T39" fmla="*/ 0 h 1732"/>
                <a:gd name="T40" fmla="*/ 767 w 2033"/>
                <a:gd name="T41" fmla="*/ 9 h 1732"/>
                <a:gd name="T42" fmla="*/ 1225 w 2033"/>
                <a:gd name="T43" fmla="*/ 269 h 1732"/>
                <a:gd name="T44" fmla="*/ 803 w 2033"/>
                <a:gd name="T45" fmla="*/ 217 h 1732"/>
                <a:gd name="T46" fmla="*/ 1235 w 2033"/>
                <a:gd name="T47" fmla="*/ 165 h 1732"/>
                <a:gd name="T48" fmla="*/ 1858 w 2033"/>
                <a:gd name="T49" fmla="*/ 907 h 1732"/>
                <a:gd name="T50" fmla="*/ 1395 w 2033"/>
                <a:gd name="T51" fmla="*/ 966 h 1732"/>
                <a:gd name="T52" fmla="*/ 1314 w 2033"/>
                <a:gd name="T53" fmla="*/ 961 h 1732"/>
                <a:gd name="T54" fmla="*/ 1268 w 2033"/>
                <a:gd name="T55" fmla="*/ 884 h 1732"/>
                <a:gd name="T56" fmla="*/ 1098 w 2033"/>
                <a:gd name="T57" fmla="*/ 764 h 1732"/>
                <a:gd name="T58" fmla="*/ 997 w 2033"/>
                <a:gd name="T59" fmla="*/ 754 h 1732"/>
                <a:gd name="T60" fmla="*/ 862 w 2033"/>
                <a:gd name="T61" fmla="*/ 800 h 1732"/>
                <a:gd name="T62" fmla="*/ 747 w 2033"/>
                <a:gd name="T63" fmla="*/ 907 h 1732"/>
                <a:gd name="T64" fmla="*/ 450 w 2033"/>
                <a:gd name="T65" fmla="*/ 942 h 1732"/>
                <a:gd name="T66" fmla="*/ 180 w 2033"/>
                <a:gd name="T67" fmla="*/ 905 h 1732"/>
                <a:gd name="T68" fmla="*/ 166 w 2033"/>
                <a:gd name="T69" fmla="*/ 664 h 1732"/>
                <a:gd name="T70" fmla="*/ 1868 w 2033"/>
                <a:gd name="T71" fmla="*/ 432 h 1732"/>
                <a:gd name="T72" fmla="*/ 1132 w 2033"/>
                <a:gd name="T73" fmla="*/ 974 h 1732"/>
                <a:gd name="T74" fmla="*/ 1158 w 2033"/>
                <a:gd name="T75" fmla="*/ 1050 h 1732"/>
                <a:gd name="T76" fmla="*/ 1153 w 2033"/>
                <a:gd name="T77" fmla="*/ 1110 h 1732"/>
                <a:gd name="T78" fmla="*/ 1065 w 2033"/>
                <a:gd name="T79" fmla="*/ 1205 h 1732"/>
                <a:gd name="T80" fmla="*/ 928 w 2033"/>
                <a:gd name="T81" fmla="*/ 1185 h 1732"/>
                <a:gd name="T82" fmla="*/ 881 w 2033"/>
                <a:gd name="T83" fmla="*/ 1119 h 1732"/>
                <a:gd name="T84" fmla="*/ 873 w 2033"/>
                <a:gd name="T85" fmla="*/ 1041 h 1732"/>
                <a:gd name="T86" fmla="*/ 961 w 2033"/>
                <a:gd name="T87" fmla="*/ 935 h 1732"/>
                <a:gd name="T88" fmla="*/ 1092 w 2033"/>
                <a:gd name="T89" fmla="*/ 940 h 1732"/>
                <a:gd name="T90" fmla="*/ 550 w 2033"/>
                <a:gd name="T91" fmla="*/ 1120 h 1732"/>
                <a:gd name="T92" fmla="*/ 753 w 2033"/>
                <a:gd name="T93" fmla="*/ 1226 h 1732"/>
                <a:gd name="T94" fmla="*/ 843 w 2033"/>
                <a:gd name="T95" fmla="*/ 1321 h 1732"/>
                <a:gd name="T96" fmla="*/ 956 w 2033"/>
                <a:gd name="T97" fmla="*/ 1368 h 1732"/>
                <a:gd name="T98" fmla="*/ 1078 w 2033"/>
                <a:gd name="T99" fmla="*/ 1367 h 1732"/>
                <a:gd name="T100" fmla="*/ 1192 w 2033"/>
                <a:gd name="T101" fmla="*/ 1317 h 1732"/>
                <a:gd name="T102" fmla="*/ 1284 w 2033"/>
                <a:gd name="T103" fmla="*/ 1220 h 1732"/>
                <a:gd name="T104" fmla="*/ 1543 w 2033"/>
                <a:gd name="T105" fmla="*/ 1112 h 1732"/>
                <a:gd name="T106" fmla="*/ 1780 w 2033"/>
                <a:gd name="T107" fmla="*/ 1090 h 1732"/>
                <a:gd name="T108" fmla="*/ 1798 w 2033"/>
                <a:gd name="T109" fmla="*/ 1215 h 1732"/>
                <a:gd name="T110" fmla="*/ 1016 w 2033"/>
                <a:gd name="T111" fmla="*/ 1574 h 1732"/>
                <a:gd name="T112" fmla="*/ 236 w 2033"/>
                <a:gd name="T113" fmla="*/ 1259 h 1732"/>
                <a:gd name="T114" fmla="*/ 244 w 2033"/>
                <a:gd name="T115" fmla="*/ 1096 h 1732"/>
                <a:gd name="T116" fmla="*/ 320 w 2033"/>
                <a:gd name="T117" fmla="*/ 1090 h 1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3" h="1732">
                  <a:moveTo>
                    <a:pt x="740" y="15"/>
                  </a:moveTo>
                  <a:lnTo>
                    <a:pt x="717" y="26"/>
                  </a:lnTo>
                  <a:lnTo>
                    <a:pt x="678" y="61"/>
                  </a:lnTo>
                  <a:lnTo>
                    <a:pt x="650" y="108"/>
                  </a:lnTo>
                  <a:lnTo>
                    <a:pt x="634" y="162"/>
                  </a:lnTo>
                  <a:lnTo>
                    <a:pt x="633" y="190"/>
                  </a:lnTo>
                  <a:lnTo>
                    <a:pt x="633" y="262"/>
                  </a:lnTo>
                  <a:lnTo>
                    <a:pt x="365" y="269"/>
                  </a:lnTo>
                  <a:lnTo>
                    <a:pt x="96" y="274"/>
                  </a:lnTo>
                  <a:lnTo>
                    <a:pt x="48" y="329"/>
                  </a:lnTo>
                  <a:lnTo>
                    <a:pt x="0" y="382"/>
                  </a:lnTo>
                  <a:lnTo>
                    <a:pt x="0" y="672"/>
                  </a:lnTo>
                  <a:lnTo>
                    <a:pt x="0" y="770"/>
                  </a:lnTo>
                  <a:lnTo>
                    <a:pt x="2" y="895"/>
                  </a:lnTo>
                  <a:lnTo>
                    <a:pt x="9" y="960"/>
                  </a:lnTo>
                  <a:lnTo>
                    <a:pt x="27" y="995"/>
                  </a:lnTo>
                  <a:lnTo>
                    <a:pt x="41" y="1012"/>
                  </a:lnTo>
                  <a:lnTo>
                    <a:pt x="56" y="1029"/>
                  </a:lnTo>
                  <a:lnTo>
                    <a:pt x="73" y="1065"/>
                  </a:lnTo>
                  <a:lnTo>
                    <a:pt x="81" y="1130"/>
                  </a:lnTo>
                  <a:lnTo>
                    <a:pt x="83" y="1255"/>
                  </a:lnTo>
                  <a:lnTo>
                    <a:pt x="83" y="1354"/>
                  </a:lnTo>
                  <a:lnTo>
                    <a:pt x="83" y="1645"/>
                  </a:lnTo>
                  <a:lnTo>
                    <a:pt x="135" y="1689"/>
                  </a:lnTo>
                  <a:lnTo>
                    <a:pt x="186" y="1732"/>
                  </a:lnTo>
                  <a:lnTo>
                    <a:pt x="1020" y="1732"/>
                  </a:lnTo>
                  <a:lnTo>
                    <a:pt x="1853" y="1732"/>
                  </a:lnTo>
                  <a:lnTo>
                    <a:pt x="1901" y="1684"/>
                  </a:lnTo>
                  <a:lnTo>
                    <a:pt x="1950" y="1635"/>
                  </a:lnTo>
                  <a:lnTo>
                    <a:pt x="1950" y="1350"/>
                  </a:lnTo>
                  <a:lnTo>
                    <a:pt x="1950" y="1255"/>
                  </a:lnTo>
                  <a:lnTo>
                    <a:pt x="1952" y="1134"/>
                  </a:lnTo>
                  <a:lnTo>
                    <a:pt x="1960" y="1067"/>
                  </a:lnTo>
                  <a:lnTo>
                    <a:pt x="1978" y="1026"/>
                  </a:lnTo>
                  <a:lnTo>
                    <a:pt x="1991" y="1005"/>
                  </a:lnTo>
                  <a:lnTo>
                    <a:pt x="2005" y="985"/>
                  </a:lnTo>
                  <a:lnTo>
                    <a:pt x="2022" y="944"/>
                  </a:lnTo>
                  <a:lnTo>
                    <a:pt x="2031" y="880"/>
                  </a:lnTo>
                  <a:lnTo>
                    <a:pt x="2033" y="765"/>
                  </a:lnTo>
                  <a:lnTo>
                    <a:pt x="2033" y="675"/>
                  </a:lnTo>
                  <a:lnTo>
                    <a:pt x="2033" y="604"/>
                  </a:lnTo>
                  <a:lnTo>
                    <a:pt x="2029" y="489"/>
                  </a:lnTo>
                  <a:lnTo>
                    <a:pt x="2017" y="402"/>
                  </a:lnTo>
                  <a:lnTo>
                    <a:pt x="2000" y="355"/>
                  </a:lnTo>
                  <a:lnTo>
                    <a:pt x="1984" y="330"/>
                  </a:lnTo>
                  <a:lnTo>
                    <a:pt x="1964" y="310"/>
                  </a:lnTo>
                  <a:lnTo>
                    <a:pt x="1938" y="295"/>
                  </a:lnTo>
                  <a:lnTo>
                    <a:pt x="1891" y="278"/>
                  </a:lnTo>
                  <a:lnTo>
                    <a:pt x="1805" y="268"/>
                  </a:lnTo>
                  <a:lnTo>
                    <a:pt x="1689" y="266"/>
                  </a:lnTo>
                  <a:lnTo>
                    <a:pt x="1618" y="267"/>
                  </a:lnTo>
                  <a:lnTo>
                    <a:pt x="1408" y="270"/>
                  </a:lnTo>
                  <a:lnTo>
                    <a:pt x="1398" y="185"/>
                  </a:lnTo>
                  <a:lnTo>
                    <a:pt x="1394" y="156"/>
                  </a:lnTo>
                  <a:lnTo>
                    <a:pt x="1382" y="107"/>
                  </a:lnTo>
                  <a:lnTo>
                    <a:pt x="1363" y="69"/>
                  </a:lnTo>
                  <a:lnTo>
                    <a:pt x="1335" y="41"/>
                  </a:lnTo>
                  <a:lnTo>
                    <a:pt x="1295" y="22"/>
                  </a:lnTo>
                  <a:lnTo>
                    <a:pt x="1239" y="9"/>
                  </a:lnTo>
                  <a:lnTo>
                    <a:pt x="1123" y="0"/>
                  </a:lnTo>
                  <a:lnTo>
                    <a:pt x="1013" y="0"/>
                  </a:lnTo>
                  <a:lnTo>
                    <a:pt x="915" y="1"/>
                  </a:lnTo>
                  <a:lnTo>
                    <a:pt x="767" y="9"/>
                  </a:lnTo>
                  <a:lnTo>
                    <a:pt x="740" y="15"/>
                  </a:lnTo>
                  <a:close/>
                  <a:moveTo>
                    <a:pt x="1230" y="217"/>
                  </a:moveTo>
                  <a:lnTo>
                    <a:pt x="1225" y="269"/>
                  </a:lnTo>
                  <a:lnTo>
                    <a:pt x="1016" y="269"/>
                  </a:lnTo>
                  <a:lnTo>
                    <a:pt x="808" y="269"/>
                  </a:lnTo>
                  <a:lnTo>
                    <a:pt x="803" y="217"/>
                  </a:lnTo>
                  <a:lnTo>
                    <a:pt x="798" y="165"/>
                  </a:lnTo>
                  <a:lnTo>
                    <a:pt x="1016" y="165"/>
                  </a:lnTo>
                  <a:lnTo>
                    <a:pt x="1235" y="165"/>
                  </a:lnTo>
                  <a:lnTo>
                    <a:pt x="1230" y="217"/>
                  </a:lnTo>
                  <a:close/>
                  <a:moveTo>
                    <a:pt x="1863" y="669"/>
                  </a:moveTo>
                  <a:lnTo>
                    <a:pt x="1858" y="907"/>
                  </a:lnTo>
                  <a:lnTo>
                    <a:pt x="1766" y="920"/>
                  </a:lnTo>
                  <a:lnTo>
                    <a:pt x="1579" y="946"/>
                  </a:lnTo>
                  <a:lnTo>
                    <a:pt x="1395" y="966"/>
                  </a:lnTo>
                  <a:lnTo>
                    <a:pt x="1330" y="969"/>
                  </a:lnTo>
                  <a:lnTo>
                    <a:pt x="1321" y="967"/>
                  </a:lnTo>
                  <a:lnTo>
                    <a:pt x="1314" y="961"/>
                  </a:lnTo>
                  <a:lnTo>
                    <a:pt x="1293" y="929"/>
                  </a:lnTo>
                  <a:lnTo>
                    <a:pt x="1283" y="909"/>
                  </a:lnTo>
                  <a:lnTo>
                    <a:pt x="1268" y="884"/>
                  </a:lnTo>
                  <a:lnTo>
                    <a:pt x="1222" y="835"/>
                  </a:lnTo>
                  <a:lnTo>
                    <a:pt x="1162" y="793"/>
                  </a:lnTo>
                  <a:lnTo>
                    <a:pt x="1098" y="764"/>
                  </a:lnTo>
                  <a:lnTo>
                    <a:pt x="1068" y="757"/>
                  </a:lnTo>
                  <a:lnTo>
                    <a:pt x="1045" y="754"/>
                  </a:lnTo>
                  <a:lnTo>
                    <a:pt x="997" y="754"/>
                  </a:lnTo>
                  <a:lnTo>
                    <a:pt x="951" y="763"/>
                  </a:lnTo>
                  <a:lnTo>
                    <a:pt x="905" y="778"/>
                  </a:lnTo>
                  <a:lnTo>
                    <a:pt x="862" y="800"/>
                  </a:lnTo>
                  <a:lnTo>
                    <a:pt x="820" y="830"/>
                  </a:lnTo>
                  <a:lnTo>
                    <a:pt x="782" y="865"/>
                  </a:lnTo>
                  <a:lnTo>
                    <a:pt x="747" y="907"/>
                  </a:lnTo>
                  <a:lnTo>
                    <a:pt x="731" y="930"/>
                  </a:lnTo>
                  <a:lnTo>
                    <a:pt x="706" y="969"/>
                  </a:lnTo>
                  <a:lnTo>
                    <a:pt x="450" y="942"/>
                  </a:lnTo>
                  <a:lnTo>
                    <a:pt x="347" y="931"/>
                  </a:lnTo>
                  <a:lnTo>
                    <a:pt x="200" y="911"/>
                  </a:lnTo>
                  <a:lnTo>
                    <a:pt x="180" y="905"/>
                  </a:lnTo>
                  <a:lnTo>
                    <a:pt x="175" y="889"/>
                  </a:lnTo>
                  <a:lnTo>
                    <a:pt x="167" y="757"/>
                  </a:lnTo>
                  <a:lnTo>
                    <a:pt x="166" y="664"/>
                  </a:lnTo>
                  <a:lnTo>
                    <a:pt x="166" y="432"/>
                  </a:lnTo>
                  <a:lnTo>
                    <a:pt x="1016" y="432"/>
                  </a:lnTo>
                  <a:lnTo>
                    <a:pt x="1868" y="432"/>
                  </a:lnTo>
                  <a:lnTo>
                    <a:pt x="1863" y="669"/>
                  </a:lnTo>
                  <a:close/>
                  <a:moveTo>
                    <a:pt x="1125" y="965"/>
                  </a:moveTo>
                  <a:lnTo>
                    <a:pt x="1132" y="974"/>
                  </a:lnTo>
                  <a:lnTo>
                    <a:pt x="1145" y="996"/>
                  </a:lnTo>
                  <a:lnTo>
                    <a:pt x="1153" y="1021"/>
                  </a:lnTo>
                  <a:lnTo>
                    <a:pt x="1158" y="1050"/>
                  </a:lnTo>
                  <a:lnTo>
                    <a:pt x="1158" y="1067"/>
                  </a:lnTo>
                  <a:lnTo>
                    <a:pt x="1158" y="1082"/>
                  </a:lnTo>
                  <a:lnTo>
                    <a:pt x="1153" y="1110"/>
                  </a:lnTo>
                  <a:lnTo>
                    <a:pt x="1138" y="1146"/>
                  </a:lnTo>
                  <a:lnTo>
                    <a:pt x="1106" y="1182"/>
                  </a:lnTo>
                  <a:lnTo>
                    <a:pt x="1065" y="1205"/>
                  </a:lnTo>
                  <a:lnTo>
                    <a:pt x="1018" y="1214"/>
                  </a:lnTo>
                  <a:lnTo>
                    <a:pt x="971" y="1207"/>
                  </a:lnTo>
                  <a:lnTo>
                    <a:pt x="928" y="1185"/>
                  </a:lnTo>
                  <a:lnTo>
                    <a:pt x="902" y="1157"/>
                  </a:lnTo>
                  <a:lnTo>
                    <a:pt x="887" y="1133"/>
                  </a:lnTo>
                  <a:lnTo>
                    <a:pt x="881" y="1119"/>
                  </a:lnTo>
                  <a:lnTo>
                    <a:pt x="877" y="1105"/>
                  </a:lnTo>
                  <a:lnTo>
                    <a:pt x="872" y="1079"/>
                  </a:lnTo>
                  <a:lnTo>
                    <a:pt x="873" y="1041"/>
                  </a:lnTo>
                  <a:lnTo>
                    <a:pt x="890" y="996"/>
                  </a:lnTo>
                  <a:lnTo>
                    <a:pt x="921" y="960"/>
                  </a:lnTo>
                  <a:lnTo>
                    <a:pt x="961" y="935"/>
                  </a:lnTo>
                  <a:lnTo>
                    <a:pt x="1008" y="922"/>
                  </a:lnTo>
                  <a:lnTo>
                    <a:pt x="1056" y="925"/>
                  </a:lnTo>
                  <a:lnTo>
                    <a:pt x="1092" y="940"/>
                  </a:lnTo>
                  <a:lnTo>
                    <a:pt x="1114" y="955"/>
                  </a:lnTo>
                  <a:lnTo>
                    <a:pt x="1125" y="965"/>
                  </a:lnTo>
                  <a:close/>
                  <a:moveTo>
                    <a:pt x="550" y="1120"/>
                  </a:moveTo>
                  <a:lnTo>
                    <a:pt x="706" y="1140"/>
                  </a:lnTo>
                  <a:lnTo>
                    <a:pt x="741" y="1205"/>
                  </a:lnTo>
                  <a:lnTo>
                    <a:pt x="753" y="1226"/>
                  </a:lnTo>
                  <a:lnTo>
                    <a:pt x="779" y="1263"/>
                  </a:lnTo>
                  <a:lnTo>
                    <a:pt x="809" y="1295"/>
                  </a:lnTo>
                  <a:lnTo>
                    <a:pt x="843" y="1321"/>
                  </a:lnTo>
                  <a:lnTo>
                    <a:pt x="879" y="1342"/>
                  </a:lnTo>
                  <a:lnTo>
                    <a:pt x="917" y="1358"/>
                  </a:lnTo>
                  <a:lnTo>
                    <a:pt x="956" y="1368"/>
                  </a:lnTo>
                  <a:lnTo>
                    <a:pt x="997" y="1373"/>
                  </a:lnTo>
                  <a:lnTo>
                    <a:pt x="1037" y="1373"/>
                  </a:lnTo>
                  <a:lnTo>
                    <a:pt x="1078" y="1367"/>
                  </a:lnTo>
                  <a:lnTo>
                    <a:pt x="1117" y="1356"/>
                  </a:lnTo>
                  <a:lnTo>
                    <a:pt x="1156" y="1339"/>
                  </a:lnTo>
                  <a:lnTo>
                    <a:pt x="1192" y="1317"/>
                  </a:lnTo>
                  <a:lnTo>
                    <a:pt x="1226" y="1290"/>
                  </a:lnTo>
                  <a:lnTo>
                    <a:pt x="1257" y="1258"/>
                  </a:lnTo>
                  <a:lnTo>
                    <a:pt x="1284" y="1220"/>
                  </a:lnTo>
                  <a:lnTo>
                    <a:pt x="1296" y="1199"/>
                  </a:lnTo>
                  <a:lnTo>
                    <a:pt x="1328" y="1140"/>
                  </a:lnTo>
                  <a:lnTo>
                    <a:pt x="1543" y="1112"/>
                  </a:lnTo>
                  <a:lnTo>
                    <a:pt x="1630" y="1101"/>
                  </a:lnTo>
                  <a:lnTo>
                    <a:pt x="1759" y="1090"/>
                  </a:lnTo>
                  <a:lnTo>
                    <a:pt x="1780" y="1090"/>
                  </a:lnTo>
                  <a:lnTo>
                    <a:pt x="1786" y="1094"/>
                  </a:lnTo>
                  <a:lnTo>
                    <a:pt x="1793" y="1122"/>
                  </a:lnTo>
                  <a:lnTo>
                    <a:pt x="1798" y="1215"/>
                  </a:lnTo>
                  <a:lnTo>
                    <a:pt x="1796" y="1335"/>
                  </a:lnTo>
                  <a:lnTo>
                    <a:pt x="1791" y="1574"/>
                  </a:lnTo>
                  <a:lnTo>
                    <a:pt x="1016" y="1574"/>
                  </a:lnTo>
                  <a:lnTo>
                    <a:pt x="241" y="1574"/>
                  </a:lnTo>
                  <a:lnTo>
                    <a:pt x="236" y="1350"/>
                  </a:lnTo>
                  <a:lnTo>
                    <a:pt x="236" y="1259"/>
                  </a:lnTo>
                  <a:lnTo>
                    <a:pt x="238" y="1124"/>
                  </a:lnTo>
                  <a:lnTo>
                    <a:pt x="241" y="1102"/>
                  </a:lnTo>
                  <a:lnTo>
                    <a:pt x="244" y="1096"/>
                  </a:lnTo>
                  <a:lnTo>
                    <a:pt x="254" y="1089"/>
                  </a:lnTo>
                  <a:lnTo>
                    <a:pt x="285" y="1086"/>
                  </a:lnTo>
                  <a:lnTo>
                    <a:pt x="320" y="1090"/>
                  </a:lnTo>
                  <a:lnTo>
                    <a:pt x="411" y="1104"/>
                  </a:lnTo>
                  <a:lnTo>
                    <a:pt x="550"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58">
              <a:extLst>
                <a:ext uri="{FF2B5EF4-FFF2-40B4-BE49-F238E27FC236}">
                  <a16:creationId xmlns:a16="http://schemas.microsoft.com/office/drawing/2014/main" id="{0E50E26F-E657-54C0-B240-F588DFD0DB77}"/>
                </a:ext>
              </a:extLst>
            </p:cNvPr>
            <p:cNvSpPr>
              <a:spLocks/>
            </p:cNvSpPr>
            <p:nvPr/>
          </p:nvSpPr>
          <p:spPr bwMode="auto">
            <a:xfrm>
              <a:off x="10637838" y="3595688"/>
              <a:ext cx="1039813" cy="65088"/>
            </a:xfrm>
            <a:custGeom>
              <a:avLst/>
              <a:gdLst>
                <a:gd name="T0" fmla="*/ 0 w 2633"/>
                <a:gd name="T1" fmla="*/ 83 h 166"/>
                <a:gd name="T2" fmla="*/ 0 w 2633"/>
                <a:gd name="T3" fmla="*/ 166 h 166"/>
                <a:gd name="T4" fmla="*/ 1316 w 2633"/>
                <a:gd name="T5" fmla="*/ 166 h 166"/>
                <a:gd name="T6" fmla="*/ 2633 w 2633"/>
                <a:gd name="T7" fmla="*/ 166 h 166"/>
                <a:gd name="T8" fmla="*/ 2633 w 2633"/>
                <a:gd name="T9" fmla="*/ 83 h 166"/>
                <a:gd name="T10" fmla="*/ 2633 w 2633"/>
                <a:gd name="T11" fmla="*/ 0 h 166"/>
                <a:gd name="T12" fmla="*/ 1316 w 2633"/>
                <a:gd name="T13" fmla="*/ 0 h 166"/>
                <a:gd name="T14" fmla="*/ 0 w 2633"/>
                <a:gd name="T15" fmla="*/ 0 h 166"/>
                <a:gd name="T16" fmla="*/ 0 w 2633"/>
                <a:gd name="T17" fmla="*/ 8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3" h="166">
                  <a:moveTo>
                    <a:pt x="0" y="83"/>
                  </a:moveTo>
                  <a:lnTo>
                    <a:pt x="0" y="166"/>
                  </a:lnTo>
                  <a:lnTo>
                    <a:pt x="1316" y="166"/>
                  </a:lnTo>
                  <a:lnTo>
                    <a:pt x="2633" y="166"/>
                  </a:lnTo>
                  <a:lnTo>
                    <a:pt x="2633" y="83"/>
                  </a:lnTo>
                  <a:lnTo>
                    <a:pt x="2633" y="0"/>
                  </a:lnTo>
                  <a:lnTo>
                    <a:pt x="1316" y="0"/>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59">
              <a:extLst>
                <a:ext uri="{FF2B5EF4-FFF2-40B4-BE49-F238E27FC236}">
                  <a16:creationId xmlns:a16="http://schemas.microsoft.com/office/drawing/2014/main" id="{078BA556-7E66-4078-5205-0768FAEAFF20}"/>
                </a:ext>
              </a:extLst>
            </p:cNvPr>
            <p:cNvSpPr>
              <a:spLocks noEditPoints="1"/>
            </p:cNvSpPr>
            <p:nvPr/>
          </p:nvSpPr>
          <p:spPr bwMode="auto">
            <a:xfrm>
              <a:off x="10644188" y="3832225"/>
              <a:ext cx="236538" cy="246063"/>
            </a:xfrm>
            <a:custGeom>
              <a:avLst/>
              <a:gdLst>
                <a:gd name="T0" fmla="*/ 4 w 597"/>
                <a:gd name="T1" fmla="*/ 21 h 625"/>
                <a:gd name="T2" fmla="*/ 2 w 597"/>
                <a:gd name="T3" fmla="*/ 46 h 625"/>
                <a:gd name="T4" fmla="*/ 0 w 597"/>
                <a:gd name="T5" fmla="*/ 216 h 625"/>
                <a:gd name="T6" fmla="*/ 1 w 597"/>
                <a:gd name="T7" fmla="*/ 333 h 625"/>
                <a:gd name="T8" fmla="*/ 6 w 597"/>
                <a:gd name="T9" fmla="*/ 625 h 625"/>
                <a:gd name="T10" fmla="*/ 297 w 597"/>
                <a:gd name="T11" fmla="*/ 625 h 625"/>
                <a:gd name="T12" fmla="*/ 589 w 597"/>
                <a:gd name="T13" fmla="*/ 625 h 625"/>
                <a:gd name="T14" fmla="*/ 594 w 597"/>
                <a:gd name="T15" fmla="*/ 311 h 625"/>
                <a:gd name="T16" fmla="*/ 597 w 597"/>
                <a:gd name="T17" fmla="*/ 0 h 625"/>
                <a:gd name="T18" fmla="*/ 306 w 597"/>
                <a:gd name="T19" fmla="*/ 0 h 625"/>
                <a:gd name="T20" fmla="*/ 157 w 597"/>
                <a:gd name="T21" fmla="*/ 0 h 625"/>
                <a:gd name="T22" fmla="*/ 42 w 597"/>
                <a:gd name="T23" fmla="*/ 7 h 625"/>
                <a:gd name="T24" fmla="*/ 9 w 597"/>
                <a:gd name="T25" fmla="*/ 15 h 625"/>
                <a:gd name="T26" fmla="*/ 4 w 597"/>
                <a:gd name="T27" fmla="*/ 21 h 625"/>
                <a:gd name="T28" fmla="*/ 431 w 597"/>
                <a:gd name="T29" fmla="*/ 316 h 625"/>
                <a:gd name="T30" fmla="*/ 431 w 597"/>
                <a:gd name="T31" fmla="*/ 468 h 625"/>
                <a:gd name="T32" fmla="*/ 302 w 597"/>
                <a:gd name="T33" fmla="*/ 463 h 625"/>
                <a:gd name="T34" fmla="*/ 172 w 597"/>
                <a:gd name="T35" fmla="*/ 458 h 625"/>
                <a:gd name="T36" fmla="*/ 167 w 597"/>
                <a:gd name="T37" fmla="*/ 335 h 625"/>
                <a:gd name="T38" fmla="*/ 165 w 597"/>
                <a:gd name="T39" fmla="*/ 284 h 625"/>
                <a:gd name="T40" fmla="*/ 167 w 597"/>
                <a:gd name="T41" fmla="*/ 204 h 625"/>
                <a:gd name="T42" fmla="*/ 171 w 597"/>
                <a:gd name="T43" fmla="*/ 188 h 625"/>
                <a:gd name="T44" fmla="*/ 174 w 597"/>
                <a:gd name="T45" fmla="*/ 183 h 625"/>
                <a:gd name="T46" fmla="*/ 192 w 597"/>
                <a:gd name="T47" fmla="*/ 174 h 625"/>
                <a:gd name="T48" fmla="*/ 245 w 597"/>
                <a:gd name="T49" fmla="*/ 167 h 625"/>
                <a:gd name="T50" fmla="*/ 306 w 597"/>
                <a:gd name="T51" fmla="*/ 166 h 625"/>
                <a:gd name="T52" fmla="*/ 431 w 597"/>
                <a:gd name="T53" fmla="*/ 166 h 625"/>
                <a:gd name="T54" fmla="*/ 431 w 597"/>
                <a:gd name="T55" fmla="*/ 316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97" h="625">
                  <a:moveTo>
                    <a:pt x="4" y="21"/>
                  </a:moveTo>
                  <a:lnTo>
                    <a:pt x="2" y="46"/>
                  </a:lnTo>
                  <a:lnTo>
                    <a:pt x="0" y="216"/>
                  </a:lnTo>
                  <a:lnTo>
                    <a:pt x="1" y="333"/>
                  </a:lnTo>
                  <a:lnTo>
                    <a:pt x="6" y="625"/>
                  </a:lnTo>
                  <a:lnTo>
                    <a:pt x="297" y="625"/>
                  </a:lnTo>
                  <a:lnTo>
                    <a:pt x="589" y="625"/>
                  </a:lnTo>
                  <a:lnTo>
                    <a:pt x="594" y="311"/>
                  </a:lnTo>
                  <a:lnTo>
                    <a:pt x="597" y="0"/>
                  </a:lnTo>
                  <a:lnTo>
                    <a:pt x="306" y="0"/>
                  </a:lnTo>
                  <a:lnTo>
                    <a:pt x="157" y="0"/>
                  </a:lnTo>
                  <a:lnTo>
                    <a:pt x="42" y="7"/>
                  </a:lnTo>
                  <a:lnTo>
                    <a:pt x="9" y="15"/>
                  </a:lnTo>
                  <a:lnTo>
                    <a:pt x="4" y="21"/>
                  </a:lnTo>
                  <a:close/>
                  <a:moveTo>
                    <a:pt x="431" y="316"/>
                  </a:moveTo>
                  <a:lnTo>
                    <a:pt x="431" y="468"/>
                  </a:lnTo>
                  <a:lnTo>
                    <a:pt x="302" y="463"/>
                  </a:lnTo>
                  <a:lnTo>
                    <a:pt x="172" y="458"/>
                  </a:lnTo>
                  <a:lnTo>
                    <a:pt x="167" y="335"/>
                  </a:lnTo>
                  <a:lnTo>
                    <a:pt x="165" y="284"/>
                  </a:lnTo>
                  <a:lnTo>
                    <a:pt x="167" y="204"/>
                  </a:lnTo>
                  <a:lnTo>
                    <a:pt x="171" y="188"/>
                  </a:lnTo>
                  <a:lnTo>
                    <a:pt x="174" y="183"/>
                  </a:lnTo>
                  <a:lnTo>
                    <a:pt x="192" y="174"/>
                  </a:lnTo>
                  <a:lnTo>
                    <a:pt x="245" y="167"/>
                  </a:lnTo>
                  <a:lnTo>
                    <a:pt x="306" y="166"/>
                  </a:lnTo>
                  <a:lnTo>
                    <a:pt x="431" y="166"/>
                  </a:lnTo>
                  <a:lnTo>
                    <a:pt x="431" y="3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60">
              <a:extLst>
                <a:ext uri="{FF2B5EF4-FFF2-40B4-BE49-F238E27FC236}">
                  <a16:creationId xmlns:a16="http://schemas.microsoft.com/office/drawing/2014/main" id="{E4A05FCB-4E84-584F-50EF-7BC35EC75A75}"/>
                </a:ext>
              </a:extLst>
            </p:cNvPr>
            <p:cNvSpPr>
              <a:spLocks/>
            </p:cNvSpPr>
            <p:nvPr/>
          </p:nvSpPr>
          <p:spPr bwMode="auto">
            <a:xfrm>
              <a:off x="10974388" y="3859213"/>
              <a:ext cx="331788" cy="61913"/>
            </a:xfrm>
            <a:custGeom>
              <a:avLst/>
              <a:gdLst>
                <a:gd name="T0" fmla="*/ 18 w 839"/>
                <a:gd name="T1" fmla="*/ 14 h 158"/>
                <a:gd name="T2" fmla="*/ 13 w 839"/>
                <a:gd name="T3" fmla="*/ 18 h 158"/>
                <a:gd name="T4" fmla="*/ 6 w 839"/>
                <a:gd name="T5" fmla="*/ 32 h 158"/>
                <a:gd name="T6" fmla="*/ 0 w 839"/>
                <a:gd name="T7" fmla="*/ 64 h 158"/>
                <a:gd name="T8" fmla="*/ 1 w 839"/>
                <a:gd name="T9" fmla="*/ 93 h 158"/>
                <a:gd name="T10" fmla="*/ 6 w 839"/>
                <a:gd name="T11" fmla="*/ 158 h 158"/>
                <a:gd name="T12" fmla="*/ 423 w 839"/>
                <a:gd name="T13" fmla="*/ 158 h 158"/>
                <a:gd name="T14" fmla="*/ 839 w 839"/>
                <a:gd name="T15" fmla="*/ 158 h 158"/>
                <a:gd name="T16" fmla="*/ 833 w 839"/>
                <a:gd name="T17" fmla="*/ 91 h 158"/>
                <a:gd name="T18" fmla="*/ 831 w 839"/>
                <a:gd name="T19" fmla="*/ 64 h 158"/>
                <a:gd name="T20" fmla="*/ 823 w 839"/>
                <a:gd name="T21" fmla="*/ 21 h 158"/>
                <a:gd name="T22" fmla="*/ 819 w 839"/>
                <a:gd name="T23" fmla="*/ 11 h 158"/>
                <a:gd name="T24" fmla="*/ 812 w 839"/>
                <a:gd name="T25" fmla="*/ 8 h 158"/>
                <a:gd name="T26" fmla="*/ 746 w 839"/>
                <a:gd name="T27" fmla="*/ 3 h 158"/>
                <a:gd name="T28" fmla="*/ 571 w 839"/>
                <a:gd name="T29" fmla="*/ 0 h 158"/>
                <a:gd name="T30" fmla="*/ 278 w 839"/>
                <a:gd name="T31" fmla="*/ 1 h 158"/>
                <a:gd name="T32" fmla="*/ 99 w 839"/>
                <a:gd name="T33" fmla="*/ 6 h 158"/>
                <a:gd name="T34" fmla="*/ 28 w 839"/>
                <a:gd name="T35" fmla="*/ 11 h 158"/>
                <a:gd name="T36" fmla="*/ 18 w 839"/>
                <a:gd name="T37" fmla="*/ 1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9" h="158">
                  <a:moveTo>
                    <a:pt x="18" y="14"/>
                  </a:moveTo>
                  <a:lnTo>
                    <a:pt x="13" y="18"/>
                  </a:lnTo>
                  <a:lnTo>
                    <a:pt x="6" y="32"/>
                  </a:lnTo>
                  <a:lnTo>
                    <a:pt x="0" y="64"/>
                  </a:lnTo>
                  <a:lnTo>
                    <a:pt x="1" y="93"/>
                  </a:lnTo>
                  <a:lnTo>
                    <a:pt x="6" y="158"/>
                  </a:lnTo>
                  <a:lnTo>
                    <a:pt x="423" y="158"/>
                  </a:lnTo>
                  <a:lnTo>
                    <a:pt x="839" y="158"/>
                  </a:lnTo>
                  <a:lnTo>
                    <a:pt x="833" y="91"/>
                  </a:lnTo>
                  <a:lnTo>
                    <a:pt x="831" y="64"/>
                  </a:lnTo>
                  <a:lnTo>
                    <a:pt x="823" y="21"/>
                  </a:lnTo>
                  <a:lnTo>
                    <a:pt x="819" y="11"/>
                  </a:lnTo>
                  <a:lnTo>
                    <a:pt x="812" y="8"/>
                  </a:lnTo>
                  <a:lnTo>
                    <a:pt x="746" y="3"/>
                  </a:lnTo>
                  <a:lnTo>
                    <a:pt x="571" y="0"/>
                  </a:lnTo>
                  <a:lnTo>
                    <a:pt x="278" y="1"/>
                  </a:lnTo>
                  <a:lnTo>
                    <a:pt x="99" y="6"/>
                  </a:lnTo>
                  <a:lnTo>
                    <a:pt x="28" y="11"/>
                  </a:lnTo>
                  <a:lnTo>
                    <a:pt x="18"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61">
              <a:extLst>
                <a:ext uri="{FF2B5EF4-FFF2-40B4-BE49-F238E27FC236}">
                  <a16:creationId xmlns:a16="http://schemas.microsoft.com/office/drawing/2014/main" id="{B1FCCBC8-C4A4-B11F-E85B-E45C3D918E75}"/>
                </a:ext>
              </a:extLst>
            </p:cNvPr>
            <p:cNvSpPr>
              <a:spLocks/>
            </p:cNvSpPr>
            <p:nvPr/>
          </p:nvSpPr>
          <p:spPr bwMode="auto">
            <a:xfrm>
              <a:off x="10974388" y="3997325"/>
              <a:ext cx="693738" cy="61913"/>
            </a:xfrm>
            <a:custGeom>
              <a:avLst/>
              <a:gdLst>
                <a:gd name="T0" fmla="*/ 5 w 1757"/>
                <a:gd name="T1" fmla="*/ 22 h 157"/>
                <a:gd name="T2" fmla="*/ 2 w 1757"/>
                <a:gd name="T3" fmla="*/ 34 h 157"/>
                <a:gd name="T4" fmla="*/ 0 w 1757"/>
                <a:gd name="T5" fmla="*/ 78 h 157"/>
                <a:gd name="T6" fmla="*/ 2 w 1757"/>
                <a:gd name="T7" fmla="*/ 102 h 157"/>
                <a:gd name="T8" fmla="*/ 7 w 1757"/>
                <a:gd name="T9" fmla="*/ 157 h 157"/>
                <a:gd name="T10" fmla="*/ 882 w 1757"/>
                <a:gd name="T11" fmla="*/ 157 h 157"/>
                <a:gd name="T12" fmla="*/ 1757 w 1757"/>
                <a:gd name="T13" fmla="*/ 157 h 157"/>
                <a:gd name="T14" fmla="*/ 1757 w 1757"/>
                <a:gd name="T15" fmla="*/ 82 h 157"/>
                <a:gd name="T16" fmla="*/ 1757 w 1757"/>
                <a:gd name="T17" fmla="*/ 7 h 157"/>
                <a:gd name="T18" fmla="*/ 885 w 1757"/>
                <a:gd name="T19" fmla="*/ 2 h 157"/>
                <a:gd name="T20" fmla="*/ 407 w 1757"/>
                <a:gd name="T21" fmla="*/ 0 h 157"/>
                <a:gd name="T22" fmla="*/ 88 w 1757"/>
                <a:gd name="T23" fmla="*/ 5 h 157"/>
                <a:gd name="T24" fmla="*/ 26 w 1757"/>
                <a:gd name="T25" fmla="*/ 12 h 157"/>
                <a:gd name="T26" fmla="*/ 8 w 1757"/>
                <a:gd name="T27" fmla="*/ 18 h 157"/>
                <a:gd name="T28" fmla="*/ 5 w 17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7" h="157">
                  <a:moveTo>
                    <a:pt x="5" y="22"/>
                  </a:moveTo>
                  <a:lnTo>
                    <a:pt x="2" y="34"/>
                  </a:lnTo>
                  <a:lnTo>
                    <a:pt x="0" y="78"/>
                  </a:lnTo>
                  <a:lnTo>
                    <a:pt x="2" y="102"/>
                  </a:lnTo>
                  <a:lnTo>
                    <a:pt x="7" y="157"/>
                  </a:lnTo>
                  <a:lnTo>
                    <a:pt x="882" y="157"/>
                  </a:lnTo>
                  <a:lnTo>
                    <a:pt x="1757" y="157"/>
                  </a:lnTo>
                  <a:lnTo>
                    <a:pt x="1757" y="82"/>
                  </a:lnTo>
                  <a:lnTo>
                    <a:pt x="1757" y="7"/>
                  </a:lnTo>
                  <a:lnTo>
                    <a:pt x="885" y="2"/>
                  </a:lnTo>
                  <a:lnTo>
                    <a:pt x="407" y="0"/>
                  </a:lnTo>
                  <a:lnTo>
                    <a:pt x="88" y="5"/>
                  </a:lnTo>
                  <a:lnTo>
                    <a:pt x="26" y="12"/>
                  </a:lnTo>
                  <a:lnTo>
                    <a:pt x="8"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62">
              <a:extLst>
                <a:ext uri="{FF2B5EF4-FFF2-40B4-BE49-F238E27FC236}">
                  <a16:creationId xmlns:a16="http://schemas.microsoft.com/office/drawing/2014/main" id="{BA5F8680-60AF-2AD3-A0D2-F622FDECD452}"/>
                </a:ext>
              </a:extLst>
            </p:cNvPr>
            <p:cNvSpPr>
              <a:spLocks noEditPoints="1"/>
            </p:cNvSpPr>
            <p:nvPr/>
          </p:nvSpPr>
          <p:spPr bwMode="auto">
            <a:xfrm>
              <a:off x="10644188" y="4187825"/>
              <a:ext cx="236538" cy="246063"/>
            </a:xfrm>
            <a:custGeom>
              <a:avLst/>
              <a:gdLst>
                <a:gd name="T0" fmla="*/ 4 w 597"/>
                <a:gd name="T1" fmla="*/ 21 h 625"/>
                <a:gd name="T2" fmla="*/ 2 w 597"/>
                <a:gd name="T3" fmla="*/ 46 h 625"/>
                <a:gd name="T4" fmla="*/ 0 w 597"/>
                <a:gd name="T5" fmla="*/ 216 h 625"/>
                <a:gd name="T6" fmla="*/ 1 w 597"/>
                <a:gd name="T7" fmla="*/ 333 h 625"/>
                <a:gd name="T8" fmla="*/ 6 w 597"/>
                <a:gd name="T9" fmla="*/ 625 h 625"/>
                <a:gd name="T10" fmla="*/ 297 w 597"/>
                <a:gd name="T11" fmla="*/ 625 h 625"/>
                <a:gd name="T12" fmla="*/ 589 w 597"/>
                <a:gd name="T13" fmla="*/ 625 h 625"/>
                <a:gd name="T14" fmla="*/ 594 w 597"/>
                <a:gd name="T15" fmla="*/ 311 h 625"/>
                <a:gd name="T16" fmla="*/ 597 w 597"/>
                <a:gd name="T17" fmla="*/ 0 h 625"/>
                <a:gd name="T18" fmla="*/ 306 w 597"/>
                <a:gd name="T19" fmla="*/ 0 h 625"/>
                <a:gd name="T20" fmla="*/ 157 w 597"/>
                <a:gd name="T21" fmla="*/ 0 h 625"/>
                <a:gd name="T22" fmla="*/ 42 w 597"/>
                <a:gd name="T23" fmla="*/ 7 h 625"/>
                <a:gd name="T24" fmla="*/ 9 w 597"/>
                <a:gd name="T25" fmla="*/ 15 h 625"/>
                <a:gd name="T26" fmla="*/ 4 w 597"/>
                <a:gd name="T27" fmla="*/ 21 h 625"/>
                <a:gd name="T28" fmla="*/ 427 w 597"/>
                <a:gd name="T29" fmla="*/ 311 h 625"/>
                <a:gd name="T30" fmla="*/ 422 w 597"/>
                <a:gd name="T31" fmla="*/ 458 h 625"/>
                <a:gd name="T32" fmla="*/ 297 w 597"/>
                <a:gd name="T33" fmla="*/ 458 h 625"/>
                <a:gd name="T34" fmla="*/ 172 w 597"/>
                <a:gd name="T35" fmla="*/ 458 h 625"/>
                <a:gd name="T36" fmla="*/ 167 w 597"/>
                <a:gd name="T37" fmla="*/ 311 h 625"/>
                <a:gd name="T38" fmla="*/ 162 w 597"/>
                <a:gd name="T39" fmla="*/ 166 h 625"/>
                <a:gd name="T40" fmla="*/ 297 w 597"/>
                <a:gd name="T41" fmla="*/ 166 h 625"/>
                <a:gd name="T42" fmla="*/ 432 w 597"/>
                <a:gd name="T43" fmla="*/ 166 h 625"/>
                <a:gd name="T44" fmla="*/ 427 w 597"/>
                <a:gd name="T45" fmla="*/ 311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97" h="625">
                  <a:moveTo>
                    <a:pt x="4" y="21"/>
                  </a:moveTo>
                  <a:lnTo>
                    <a:pt x="2" y="46"/>
                  </a:lnTo>
                  <a:lnTo>
                    <a:pt x="0" y="216"/>
                  </a:lnTo>
                  <a:lnTo>
                    <a:pt x="1" y="333"/>
                  </a:lnTo>
                  <a:lnTo>
                    <a:pt x="6" y="625"/>
                  </a:lnTo>
                  <a:lnTo>
                    <a:pt x="297" y="625"/>
                  </a:lnTo>
                  <a:lnTo>
                    <a:pt x="589" y="625"/>
                  </a:lnTo>
                  <a:lnTo>
                    <a:pt x="594" y="311"/>
                  </a:lnTo>
                  <a:lnTo>
                    <a:pt x="597" y="0"/>
                  </a:lnTo>
                  <a:lnTo>
                    <a:pt x="306" y="0"/>
                  </a:lnTo>
                  <a:lnTo>
                    <a:pt x="157" y="0"/>
                  </a:lnTo>
                  <a:lnTo>
                    <a:pt x="42" y="7"/>
                  </a:lnTo>
                  <a:lnTo>
                    <a:pt x="9" y="15"/>
                  </a:lnTo>
                  <a:lnTo>
                    <a:pt x="4" y="21"/>
                  </a:lnTo>
                  <a:close/>
                  <a:moveTo>
                    <a:pt x="427" y="311"/>
                  </a:moveTo>
                  <a:lnTo>
                    <a:pt x="422" y="458"/>
                  </a:lnTo>
                  <a:lnTo>
                    <a:pt x="297" y="458"/>
                  </a:lnTo>
                  <a:lnTo>
                    <a:pt x="172" y="458"/>
                  </a:lnTo>
                  <a:lnTo>
                    <a:pt x="167" y="311"/>
                  </a:lnTo>
                  <a:lnTo>
                    <a:pt x="162" y="166"/>
                  </a:lnTo>
                  <a:lnTo>
                    <a:pt x="297" y="166"/>
                  </a:lnTo>
                  <a:lnTo>
                    <a:pt x="432" y="166"/>
                  </a:lnTo>
                  <a:lnTo>
                    <a:pt x="427" y="3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63">
              <a:extLst>
                <a:ext uri="{FF2B5EF4-FFF2-40B4-BE49-F238E27FC236}">
                  <a16:creationId xmlns:a16="http://schemas.microsoft.com/office/drawing/2014/main" id="{E69ECDC0-9309-EA66-2965-7AA97E03BD66}"/>
                </a:ext>
              </a:extLst>
            </p:cNvPr>
            <p:cNvSpPr>
              <a:spLocks/>
            </p:cNvSpPr>
            <p:nvPr/>
          </p:nvSpPr>
          <p:spPr bwMode="auto">
            <a:xfrm>
              <a:off x="10974388" y="4213225"/>
              <a:ext cx="328613" cy="66675"/>
            </a:xfrm>
            <a:custGeom>
              <a:avLst/>
              <a:gdLst>
                <a:gd name="T0" fmla="*/ 5 w 832"/>
                <a:gd name="T1" fmla="*/ 24 h 167"/>
                <a:gd name="T2" fmla="*/ 2 w 832"/>
                <a:gd name="T3" fmla="*/ 36 h 167"/>
                <a:gd name="T4" fmla="*/ 0 w 832"/>
                <a:gd name="T5" fmla="*/ 80 h 167"/>
                <a:gd name="T6" fmla="*/ 2 w 832"/>
                <a:gd name="T7" fmla="*/ 104 h 167"/>
                <a:gd name="T8" fmla="*/ 7 w 832"/>
                <a:gd name="T9" fmla="*/ 159 h 167"/>
                <a:gd name="T10" fmla="*/ 420 w 832"/>
                <a:gd name="T11" fmla="*/ 164 h 167"/>
                <a:gd name="T12" fmla="*/ 832 w 832"/>
                <a:gd name="T13" fmla="*/ 167 h 167"/>
                <a:gd name="T14" fmla="*/ 832 w 832"/>
                <a:gd name="T15" fmla="*/ 84 h 167"/>
                <a:gd name="T16" fmla="*/ 832 w 832"/>
                <a:gd name="T17" fmla="*/ 0 h 167"/>
                <a:gd name="T18" fmla="*/ 424 w 832"/>
                <a:gd name="T19" fmla="*/ 0 h 167"/>
                <a:gd name="T20" fmla="*/ 204 w 832"/>
                <a:gd name="T21" fmla="*/ 1 h 167"/>
                <a:gd name="T22" fmla="*/ 50 w 832"/>
                <a:gd name="T23" fmla="*/ 8 h 167"/>
                <a:gd name="T24" fmla="*/ 17 w 832"/>
                <a:gd name="T25" fmla="*/ 15 h 167"/>
                <a:gd name="T26" fmla="*/ 7 w 832"/>
                <a:gd name="T27" fmla="*/ 20 h 167"/>
                <a:gd name="T28" fmla="*/ 5 w 832"/>
                <a:gd name="T29" fmla="*/ 2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2" h="167">
                  <a:moveTo>
                    <a:pt x="5" y="24"/>
                  </a:moveTo>
                  <a:lnTo>
                    <a:pt x="2" y="36"/>
                  </a:lnTo>
                  <a:lnTo>
                    <a:pt x="0" y="80"/>
                  </a:lnTo>
                  <a:lnTo>
                    <a:pt x="2" y="104"/>
                  </a:lnTo>
                  <a:lnTo>
                    <a:pt x="7" y="159"/>
                  </a:lnTo>
                  <a:lnTo>
                    <a:pt x="420" y="164"/>
                  </a:lnTo>
                  <a:lnTo>
                    <a:pt x="832" y="167"/>
                  </a:lnTo>
                  <a:lnTo>
                    <a:pt x="832" y="84"/>
                  </a:lnTo>
                  <a:lnTo>
                    <a:pt x="832" y="0"/>
                  </a:lnTo>
                  <a:lnTo>
                    <a:pt x="424" y="0"/>
                  </a:lnTo>
                  <a:lnTo>
                    <a:pt x="204" y="1"/>
                  </a:lnTo>
                  <a:lnTo>
                    <a:pt x="50" y="8"/>
                  </a:lnTo>
                  <a:lnTo>
                    <a:pt x="17" y="15"/>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64">
              <a:extLst>
                <a:ext uri="{FF2B5EF4-FFF2-40B4-BE49-F238E27FC236}">
                  <a16:creationId xmlns:a16="http://schemas.microsoft.com/office/drawing/2014/main" id="{A5680D76-1400-4198-E369-606173ECD0E6}"/>
                </a:ext>
              </a:extLst>
            </p:cNvPr>
            <p:cNvSpPr>
              <a:spLocks/>
            </p:cNvSpPr>
            <p:nvPr/>
          </p:nvSpPr>
          <p:spPr bwMode="auto">
            <a:xfrm>
              <a:off x="10974388" y="4352925"/>
              <a:ext cx="469900" cy="63500"/>
            </a:xfrm>
            <a:custGeom>
              <a:avLst/>
              <a:gdLst>
                <a:gd name="T0" fmla="*/ 5 w 1191"/>
                <a:gd name="T1" fmla="*/ 22 h 162"/>
                <a:gd name="T2" fmla="*/ 2 w 1191"/>
                <a:gd name="T3" fmla="*/ 34 h 162"/>
                <a:gd name="T4" fmla="*/ 0 w 1191"/>
                <a:gd name="T5" fmla="*/ 78 h 162"/>
                <a:gd name="T6" fmla="*/ 2 w 1191"/>
                <a:gd name="T7" fmla="*/ 102 h 162"/>
                <a:gd name="T8" fmla="*/ 7 w 1191"/>
                <a:gd name="T9" fmla="*/ 157 h 162"/>
                <a:gd name="T10" fmla="*/ 589 w 1191"/>
                <a:gd name="T11" fmla="*/ 162 h 162"/>
                <a:gd name="T12" fmla="*/ 860 w 1191"/>
                <a:gd name="T13" fmla="*/ 162 h 162"/>
                <a:gd name="T14" fmla="*/ 1099 w 1191"/>
                <a:gd name="T15" fmla="*/ 158 h 162"/>
                <a:gd name="T16" fmla="*/ 1174 w 1191"/>
                <a:gd name="T17" fmla="*/ 152 h 162"/>
                <a:gd name="T18" fmla="*/ 1182 w 1191"/>
                <a:gd name="T19" fmla="*/ 148 h 162"/>
                <a:gd name="T20" fmla="*/ 1187 w 1191"/>
                <a:gd name="T21" fmla="*/ 138 h 162"/>
                <a:gd name="T22" fmla="*/ 1191 w 1191"/>
                <a:gd name="T23" fmla="*/ 94 h 162"/>
                <a:gd name="T24" fmla="*/ 1190 w 1191"/>
                <a:gd name="T25" fmla="*/ 68 h 162"/>
                <a:gd name="T26" fmla="*/ 1189 w 1191"/>
                <a:gd name="T27" fmla="*/ 7 h 162"/>
                <a:gd name="T28" fmla="*/ 602 w 1191"/>
                <a:gd name="T29" fmla="*/ 2 h 162"/>
                <a:gd name="T30" fmla="*/ 281 w 1191"/>
                <a:gd name="T31" fmla="*/ 0 h 162"/>
                <a:gd name="T32" fmla="*/ 64 w 1191"/>
                <a:gd name="T33" fmla="*/ 5 h 162"/>
                <a:gd name="T34" fmla="*/ 21 w 1191"/>
                <a:gd name="T35" fmla="*/ 12 h 162"/>
                <a:gd name="T36" fmla="*/ 8 w 1191"/>
                <a:gd name="T37" fmla="*/ 18 h 162"/>
                <a:gd name="T38" fmla="*/ 5 w 1191"/>
                <a:gd name="T39" fmla="*/ 2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1" h="162">
                  <a:moveTo>
                    <a:pt x="5" y="22"/>
                  </a:moveTo>
                  <a:lnTo>
                    <a:pt x="2" y="34"/>
                  </a:lnTo>
                  <a:lnTo>
                    <a:pt x="0" y="78"/>
                  </a:lnTo>
                  <a:lnTo>
                    <a:pt x="2" y="102"/>
                  </a:lnTo>
                  <a:lnTo>
                    <a:pt x="7" y="157"/>
                  </a:lnTo>
                  <a:lnTo>
                    <a:pt x="589" y="162"/>
                  </a:lnTo>
                  <a:lnTo>
                    <a:pt x="860" y="162"/>
                  </a:lnTo>
                  <a:lnTo>
                    <a:pt x="1099" y="158"/>
                  </a:lnTo>
                  <a:lnTo>
                    <a:pt x="1174" y="152"/>
                  </a:lnTo>
                  <a:lnTo>
                    <a:pt x="1182" y="148"/>
                  </a:lnTo>
                  <a:lnTo>
                    <a:pt x="1187" y="138"/>
                  </a:lnTo>
                  <a:lnTo>
                    <a:pt x="1191" y="94"/>
                  </a:lnTo>
                  <a:lnTo>
                    <a:pt x="1190" y="68"/>
                  </a:lnTo>
                  <a:lnTo>
                    <a:pt x="1189" y="7"/>
                  </a:lnTo>
                  <a:lnTo>
                    <a:pt x="602" y="2"/>
                  </a:lnTo>
                  <a:lnTo>
                    <a:pt x="281" y="0"/>
                  </a:lnTo>
                  <a:lnTo>
                    <a:pt x="64" y="5"/>
                  </a:lnTo>
                  <a:lnTo>
                    <a:pt x="21" y="12"/>
                  </a:lnTo>
                  <a:lnTo>
                    <a:pt x="8"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6" name="Group 85">
            <a:extLst>
              <a:ext uri="{FF2B5EF4-FFF2-40B4-BE49-F238E27FC236}">
                <a16:creationId xmlns:a16="http://schemas.microsoft.com/office/drawing/2014/main" id="{F741CF5C-0B14-7218-1CAA-AD6F4D2F90D2}"/>
              </a:ext>
            </a:extLst>
          </p:cNvPr>
          <p:cNvGrpSpPr>
            <a:grpSpLocks noChangeAspect="1"/>
          </p:cNvGrpSpPr>
          <p:nvPr/>
        </p:nvGrpSpPr>
        <p:grpSpPr>
          <a:xfrm>
            <a:off x="10633926" y="5421161"/>
            <a:ext cx="366666" cy="365760"/>
            <a:chOff x="257175" y="207963"/>
            <a:chExt cx="1928813" cy="1924050"/>
          </a:xfrm>
          <a:solidFill>
            <a:schemeClr val="accent1"/>
          </a:solidFill>
        </p:grpSpPr>
        <p:sp>
          <p:nvSpPr>
            <p:cNvPr id="87" name="Freeform 12">
              <a:extLst>
                <a:ext uri="{FF2B5EF4-FFF2-40B4-BE49-F238E27FC236}">
                  <a16:creationId xmlns:a16="http://schemas.microsoft.com/office/drawing/2014/main" id="{DB270A50-94BA-6195-0F8F-B8AF3C4C7BC8}"/>
                </a:ext>
              </a:extLst>
            </p:cNvPr>
            <p:cNvSpPr>
              <a:spLocks noEditPoints="1"/>
            </p:cNvSpPr>
            <p:nvPr/>
          </p:nvSpPr>
          <p:spPr bwMode="auto">
            <a:xfrm>
              <a:off x="257175" y="207963"/>
              <a:ext cx="1928813" cy="1924050"/>
            </a:xfrm>
            <a:custGeom>
              <a:avLst/>
              <a:gdLst>
                <a:gd name="T0" fmla="*/ 1547 w 4883"/>
                <a:gd name="T1" fmla="*/ 278 h 4873"/>
                <a:gd name="T2" fmla="*/ 322 w 4883"/>
                <a:gd name="T3" fmla="*/ 498 h 4873"/>
                <a:gd name="T4" fmla="*/ 80 w 4883"/>
                <a:gd name="T5" fmla="*/ 3725 h 4873"/>
                <a:gd name="T6" fmla="*/ 71 w 4883"/>
                <a:gd name="T7" fmla="*/ 4199 h 4873"/>
                <a:gd name="T8" fmla="*/ 3912 w 4883"/>
                <a:gd name="T9" fmla="*/ 4665 h 4873"/>
                <a:gd name="T10" fmla="*/ 4404 w 4883"/>
                <a:gd name="T11" fmla="*/ 4843 h 4873"/>
                <a:gd name="T12" fmla="*/ 4638 w 4883"/>
                <a:gd name="T13" fmla="*/ 4518 h 4873"/>
                <a:gd name="T14" fmla="*/ 4711 w 4883"/>
                <a:gd name="T15" fmla="*/ 4306 h 4873"/>
                <a:gd name="T16" fmla="*/ 4883 w 4883"/>
                <a:gd name="T17" fmla="*/ 3884 h 4873"/>
                <a:gd name="T18" fmla="*/ 4633 w 4883"/>
                <a:gd name="T19" fmla="*/ 535 h 4873"/>
                <a:gd name="T20" fmla="*/ 3463 w 4883"/>
                <a:gd name="T21" fmla="*/ 379 h 4873"/>
                <a:gd name="T22" fmla="*/ 2795 w 4883"/>
                <a:gd name="T23" fmla="*/ 34 h 4873"/>
                <a:gd name="T24" fmla="*/ 2793 w 4883"/>
                <a:gd name="T25" fmla="*/ 202 h 4873"/>
                <a:gd name="T26" fmla="*/ 3593 w 4883"/>
                <a:gd name="T27" fmla="*/ 773 h 4873"/>
                <a:gd name="T28" fmla="*/ 3815 w 4883"/>
                <a:gd name="T29" fmla="*/ 1672 h 4873"/>
                <a:gd name="T30" fmla="*/ 3548 w 4883"/>
                <a:gd name="T31" fmla="*/ 2360 h 4873"/>
                <a:gd name="T32" fmla="*/ 2908 w 4883"/>
                <a:gd name="T33" fmla="*/ 2833 h 4873"/>
                <a:gd name="T34" fmla="*/ 2257 w 4883"/>
                <a:gd name="T35" fmla="*/ 2900 h 4873"/>
                <a:gd name="T36" fmla="*/ 1574 w 4883"/>
                <a:gd name="T37" fmla="*/ 2605 h 4873"/>
                <a:gd name="T38" fmla="*/ 1088 w 4883"/>
                <a:gd name="T39" fmla="*/ 1818 h 4873"/>
                <a:gd name="T40" fmla="*/ 1159 w 4883"/>
                <a:gd name="T41" fmla="*/ 1023 h 4873"/>
                <a:gd name="T42" fmla="*/ 1695 w 4883"/>
                <a:gd name="T43" fmla="*/ 375 h 4873"/>
                <a:gd name="T44" fmla="*/ 2520 w 4883"/>
                <a:gd name="T45" fmla="*/ 165 h 4873"/>
                <a:gd name="T46" fmla="*/ 1059 w 4883"/>
                <a:gd name="T47" fmla="*/ 798 h 4873"/>
                <a:gd name="T48" fmla="*/ 2322 w 4883"/>
                <a:gd name="T49" fmla="*/ 3563 h 4873"/>
                <a:gd name="T50" fmla="*/ 3211 w 4883"/>
                <a:gd name="T51" fmla="*/ 3728 h 4873"/>
                <a:gd name="T52" fmla="*/ 1990 w 4883"/>
                <a:gd name="T53" fmla="*/ 3895 h 4873"/>
                <a:gd name="T54" fmla="*/ 331 w 4883"/>
                <a:gd name="T55" fmla="*/ 724 h 4873"/>
                <a:gd name="T56" fmla="*/ 4542 w 4883"/>
                <a:gd name="T57" fmla="*/ 684 h 4873"/>
                <a:gd name="T58" fmla="*/ 4190 w 4883"/>
                <a:gd name="T59" fmla="*/ 3730 h 4873"/>
                <a:gd name="T60" fmla="*/ 4253 w 4883"/>
                <a:gd name="T61" fmla="*/ 3562 h 4873"/>
                <a:gd name="T62" fmla="*/ 3717 w 4883"/>
                <a:gd name="T63" fmla="*/ 655 h 4873"/>
                <a:gd name="T64" fmla="*/ 983 w 4883"/>
                <a:gd name="T65" fmla="*/ 1019 h 4873"/>
                <a:gd name="T66" fmla="*/ 906 w 4883"/>
                <a:gd name="T67" fmla="*/ 1696 h 4873"/>
                <a:gd name="T68" fmla="*/ 1164 w 4883"/>
                <a:gd name="T69" fmla="*/ 2399 h 4873"/>
                <a:gd name="T70" fmla="*/ 1770 w 4883"/>
                <a:gd name="T71" fmla="*/ 2924 h 4873"/>
                <a:gd name="T72" fmla="*/ 2455 w 4883"/>
                <a:gd name="T73" fmla="*/ 3076 h 4873"/>
                <a:gd name="T74" fmla="*/ 2844 w 4883"/>
                <a:gd name="T75" fmla="*/ 3164 h 4873"/>
                <a:gd name="T76" fmla="*/ 2273 w 4883"/>
                <a:gd name="T77" fmla="*/ 3410 h 4873"/>
                <a:gd name="T78" fmla="*/ 650 w 4883"/>
                <a:gd name="T79" fmla="*/ 2880 h 4873"/>
                <a:gd name="T80" fmla="*/ 883 w 4883"/>
                <a:gd name="T81" fmla="*/ 962 h 4873"/>
                <a:gd name="T82" fmla="*/ 4058 w 4883"/>
                <a:gd name="T83" fmla="*/ 3409 h 4873"/>
                <a:gd name="T84" fmla="*/ 3578 w 4883"/>
                <a:gd name="T85" fmla="*/ 2574 h 4873"/>
                <a:gd name="T86" fmla="*/ 3938 w 4883"/>
                <a:gd name="T87" fmla="*/ 1920 h 4873"/>
                <a:gd name="T88" fmla="*/ 3959 w 4883"/>
                <a:gd name="T89" fmla="*/ 1242 h 4873"/>
                <a:gd name="T90" fmla="*/ 4067 w 4883"/>
                <a:gd name="T91" fmla="*/ 965 h 4873"/>
                <a:gd name="T92" fmla="*/ 4467 w 4883"/>
                <a:gd name="T93" fmla="*/ 4413 h 4873"/>
                <a:gd name="T94" fmla="*/ 4258 w 4883"/>
                <a:gd name="T95" fmla="*/ 4712 h 4873"/>
                <a:gd name="T96" fmla="*/ 3952 w 4883"/>
                <a:gd name="T97" fmla="*/ 4440 h 4873"/>
                <a:gd name="T98" fmla="*/ 3217 w 4883"/>
                <a:gd name="T99" fmla="*/ 2867 h 4873"/>
                <a:gd name="T100" fmla="*/ 1807 w 4883"/>
                <a:gd name="T101" fmla="*/ 3970 h 4873"/>
                <a:gd name="T102" fmla="*/ 3252 w 4883"/>
                <a:gd name="T103" fmla="*/ 3896 h 4873"/>
                <a:gd name="T104" fmla="*/ 3419 w 4883"/>
                <a:gd name="T105" fmla="*/ 4206 h 4873"/>
                <a:gd name="T106" fmla="*/ 167 w 4883"/>
                <a:gd name="T107" fmla="*/ 4005 h 4873"/>
                <a:gd name="T108" fmla="*/ 4712 w 4883"/>
                <a:gd name="T109" fmla="*/ 4044 h 4873"/>
                <a:gd name="T110" fmla="*/ 4511 w 4883"/>
                <a:gd name="T111" fmla="*/ 4170 h 4873"/>
                <a:gd name="T112" fmla="*/ 4437 w 4883"/>
                <a:gd name="T113" fmla="*/ 3896 h 4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83" h="4873">
                  <a:moveTo>
                    <a:pt x="2158" y="19"/>
                  </a:moveTo>
                  <a:lnTo>
                    <a:pt x="2108" y="29"/>
                  </a:lnTo>
                  <a:lnTo>
                    <a:pt x="2008" y="55"/>
                  </a:lnTo>
                  <a:lnTo>
                    <a:pt x="1911" y="87"/>
                  </a:lnTo>
                  <a:lnTo>
                    <a:pt x="1816" y="126"/>
                  </a:lnTo>
                  <a:lnTo>
                    <a:pt x="1723" y="171"/>
                  </a:lnTo>
                  <a:lnTo>
                    <a:pt x="1634" y="222"/>
                  </a:lnTo>
                  <a:lnTo>
                    <a:pt x="1547" y="278"/>
                  </a:lnTo>
                  <a:lnTo>
                    <a:pt x="1465" y="340"/>
                  </a:lnTo>
                  <a:lnTo>
                    <a:pt x="1425" y="374"/>
                  </a:lnTo>
                  <a:lnTo>
                    <a:pt x="1303" y="479"/>
                  </a:lnTo>
                  <a:lnTo>
                    <a:pt x="825" y="479"/>
                  </a:lnTo>
                  <a:lnTo>
                    <a:pt x="644" y="479"/>
                  </a:lnTo>
                  <a:lnTo>
                    <a:pt x="463" y="482"/>
                  </a:lnTo>
                  <a:lnTo>
                    <a:pt x="380" y="488"/>
                  </a:lnTo>
                  <a:lnTo>
                    <a:pt x="322" y="498"/>
                  </a:lnTo>
                  <a:lnTo>
                    <a:pt x="281" y="513"/>
                  </a:lnTo>
                  <a:lnTo>
                    <a:pt x="251" y="535"/>
                  </a:lnTo>
                  <a:lnTo>
                    <a:pt x="224" y="565"/>
                  </a:lnTo>
                  <a:lnTo>
                    <a:pt x="210" y="584"/>
                  </a:lnTo>
                  <a:lnTo>
                    <a:pt x="167" y="640"/>
                  </a:lnTo>
                  <a:lnTo>
                    <a:pt x="163" y="2180"/>
                  </a:lnTo>
                  <a:lnTo>
                    <a:pt x="158" y="3720"/>
                  </a:lnTo>
                  <a:lnTo>
                    <a:pt x="80" y="3725"/>
                  </a:lnTo>
                  <a:lnTo>
                    <a:pt x="0" y="3730"/>
                  </a:lnTo>
                  <a:lnTo>
                    <a:pt x="0" y="3884"/>
                  </a:lnTo>
                  <a:lnTo>
                    <a:pt x="1" y="3949"/>
                  </a:lnTo>
                  <a:lnTo>
                    <a:pt x="10" y="4064"/>
                  </a:lnTo>
                  <a:lnTo>
                    <a:pt x="17" y="4097"/>
                  </a:lnTo>
                  <a:lnTo>
                    <a:pt x="22" y="4113"/>
                  </a:lnTo>
                  <a:lnTo>
                    <a:pt x="37" y="4147"/>
                  </a:lnTo>
                  <a:lnTo>
                    <a:pt x="71" y="4199"/>
                  </a:lnTo>
                  <a:lnTo>
                    <a:pt x="133" y="4265"/>
                  </a:lnTo>
                  <a:lnTo>
                    <a:pt x="204" y="4320"/>
                  </a:lnTo>
                  <a:lnTo>
                    <a:pt x="240" y="4339"/>
                  </a:lnTo>
                  <a:lnTo>
                    <a:pt x="325" y="4379"/>
                  </a:lnTo>
                  <a:lnTo>
                    <a:pt x="2017" y="4379"/>
                  </a:lnTo>
                  <a:lnTo>
                    <a:pt x="3708" y="4379"/>
                  </a:lnTo>
                  <a:lnTo>
                    <a:pt x="3817" y="4534"/>
                  </a:lnTo>
                  <a:lnTo>
                    <a:pt x="3912" y="4665"/>
                  </a:lnTo>
                  <a:lnTo>
                    <a:pt x="3973" y="4742"/>
                  </a:lnTo>
                  <a:lnTo>
                    <a:pt x="4000" y="4770"/>
                  </a:lnTo>
                  <a:lnTo>
                    <a:pt x="4059" y="4816"/>
                  </a:lnTo>
                  <a:lnTo>
                    <a:pt x="4124" y="4848"/>
                  </a:lnTo>
                  <a:lnTo>
                    <a:pt x="4193" y="4868"/>
                  </a:lnTo>
                  <a:lnTo>
                    <a:pt x="4265" y="4873"/>
                  </a:lnTo>
                  <a:lnTo>
                    <a:pt x="4336" y="4865"/>
                  </a:lnTo>
                  <a:lnTo>
                    <a:pt x="4404" y="4843"/>
                  </a:lnTo>
                  <a:lnTo>
                    <a:pt x="4469" y="4807"/>
                  </a:lnTo>
                  <a:lnTo>
                    <a:pt x="4498" y="4784"/>
                  </a:lnTo>
                  <a:lnTo>
                    <a:pt x="4536" y="4751"/>
                  </a:lnTo>
                  <a:lnTo>
                    <a:pt x="4578" y="4700"/>
                  </a:lnTo>
                  <a:lnTo>
                    <a:pt x="4600" y="4665"/>
                  </a:lnTo>
                  <a:lnTo>
                    <a:pt x="4616" y="4627"/>
                  </a:lnTo>
                  <a:lnTo>
                    <a:pt x="4628" y="4587"/>
                  </a:lnTo>
                  <a:lnTo>
                    <a:pt x="4638" y="4518"/>
                  </a:lnTo>
                  <a:lnTo>
                    <a:pt x="4638" y="4465"/>
                  </a:lnTo>
                  <a:lnTo>
                    <a:pt x="4638" y="4427"/>
                  </a:lnTo>
                  <a:lnTo>
                    <a:pt x="4640" y="4376"/>
                  </a:lnTo>
                  <a:lnTo>
                    <a:pt x="4647" y="4348"/>
                  </a:lnTo>
                  <a:lnTo>
                    <a:pt x="4662" y="4334"/>
                  </a:lnTo>
                  <a:lnTo>
                    <a:pt x="4673" y="4329"/>
                  </a:lnTo>
                  <a:lnTo>
                    <a:pt x="4685" y="4324"/>
                  </a:lnTo>
                  <a:lnTo>
                    <a:pt x="4711" y="4306"/>
                  </a:lnTo>
                  <a:lnTo>
                    <a:pt x="4755" y="4266"/>
                  </a:lnTo>
                  <a:lnTo>
                    <a:pt x="4812" y="4198"/>
                  </a:lnTo>
                  <a:lnTo>
                    <a:pt x="4846" y="4146"/>
                  </a:lnTo>
                  <a:lnTo>
                    <a:pt x="4861" y="4115"/>
                  </a:lnTo>
                  <a:lnTo>
                    <a:pt x="4865" y="4102"/>
                  </a:lnTo>
                  <a:lnTo>
                    <a:pt x="4872" y="4067"/>
                  </a:lnTo>
                  <a:lnTo>
                    <a:pt x="4882" y="3949"/>
                  </a:lnTo>
                  <a:lnTo>
                    <a:pt x="4883" y="3884"/>
                  </a:lnTo>
                  <a:lnTo>
                    <a:pt x="4883" y="3730"/>
                  </a:lnTo>
                  <a:lnTo>
                    <a:pt x="4805" y="3725"/>
                  </a:lnTo>
                  <a:lnTo>
                    <a:pt x="4725" y="3720"/>
                  </a:lnTo>
                  <a:lnTo>
                    <a:pt x="4720" y="2180"/>
                  </a:lnTo>
                  <a:lnTo>
                    <a:pt x="4717" y="640"/>
                  </a:lnTo>
                  <a:lnTo>
                    <a:pt x="4673" y="584"/>
                  </a:lnTo>
                  <a:lnTo>
                    <a:pt x="4659" y="565"/>
                  </a:lnTo>
                  <a:lnTo>
                    <a:pt x="4633" y="535"/>
                  </a:lnTo>
                  <a:lnTo>
                    <a:pt x="4603" y="513"/>
                  </a:lnTo>
                  <a:lnTo>
                    <a:pt x="4562" y="498"/>
                  </a:lnTo>
                  <a:lnTo>
                    <a:pt x="4503" y="488"/>
                  </a:lnTo>
                  <a:lnTo>
                    <a:pt x="4420" y="482"/>
                  </a:lnTo>
                  <a:lnTo>
                    <a:pt x="4240" y="479"/>
                  </a:lnTo>
                  <a:lnTo>
                    <a:pt x="4058" y="479"/>
                  </a:lnTo>
                  <a:lnTo>
                    <a:pt x="3582" y="479"/>
                  </a:lnTo>
                  <a:lnTo>
                    <a:pt x="3463" y="379"/>
                  </a:lnTo>
                  <a:lnTo>
                    <a:pt x="3387" y="316"/>
                  </a:lnTo>
                  <a:lnTo>
                    <a:pt x="3276" y="238"/>
                  </a:lnTo>
                  <a:lnTo>
                    <a:pt x="3201" y="193"/>
                  </a:lnTo>
                  <a:lnTo>
                    <a:pt x="3125" y="153"/>
                  </a:lnTo>
                  <a:lnTo>
                    <a:pt x="3046" y="117"/>
                  </a:lnTo>
                  <a:lnTo>
                    <a:pt x="2919" y="70"/>
                  </a:lnTo>
                  <a:lnTo>
                    <a:pt x="2825" y="42"/>
                  </a:lnTo>
                  <a:lnTo>
                    <a:pt x="2795" y="34"/>
                  </a:lnTo>
                  <a:lnTo>
                    <a:pt x="2722" y="21"/>
                  </a:lnTo>
                  <a:lnTo>
                    <a:pt x="2592" y="7"/>
                  </a:lnTo>
                  <a:lnTo>
                    <a:pt x="2401" y="0"/>
                  </a:lnTo>
                  <a:lnTo>
                    <a:pt x="2268" y="5"/>
                  </a:lnTo>
                  <a:lnTo>
                    <a:pt x="2191" y="13"/>
                  </a:lnTo>
                  <a:lnTo>
                    <a:pt x="2158" y="19"/>
                  </a:lnTo>
                  <a:close/>
                  <a:moveTo>
                    <a:pt x="2728" y="187"/>
                  </a:moveTo>
                  <a:lnTo>
                    <a:pt x="2793" y="202"/>
                  </a:lnTo>
                  <a:lnTo>
                    <a:pt x="2917" y="241"/>
                  </a:lnTo>
                  <a:lnTo>
                    <a:pt x="3035" y="290"/>
                  </a:lnTo>
                  <a:lnTo>
                    <a:pt x="3147" y="350"/>
                  </a:lnTo>
                  <a:lnTo>
                    <a:pt x="3252" y="418"/>
                  </a:lnTo>
                  <a:lnTo>
                    <a:pt x="3349" y="495"/>
                  </a:lnTo>
                  <a:lnTo>
                    <a:pt x="3439" y="581"/>
                  </a:lnTo>
                  <a:lnTo>
                    <a:pt x="3520" y="673"/>
                  </a:lnTo>
                  <a:lnTo>
                    <a:pt x="3593" y="773"/>
                  </a:lnTo>
                  <a:lnTo>
                    <a:pt x="3656" y="878"/>
                  </a:lnTo>
                  <a:lnTo>
                    <a:pt x="3710" y="990"/>
                  </a:lnTo>
                  <a:lnTo>
                    <a:pt x="3754" y="1106"/>
                  </a:lnTo>
                  <a:lnTo>
                    <a:pt x="3788" y="1226"/>
                  </a:lnTo>
                  <a:lnTo>
                    <a:pt x="3810" y="1350"/>
                  </a:lnTo>
                  <a:lnTo>
                    <a:pt x="3821" y="1477"/>
                  </a:lnTo>
                  <a:lnTo>
                    <a:pt x="3821" y="1606"/>
                  </a:lnTo>
                  <a:lnTo>
                    <a:pt x="3815" y="1672"/>
                  </a:lnTo>
                  <a:lnTo>
                    <a:pt x="3809" y="1723"/>
                  </a:lnTo>
                  <a:lnTo>
                    <a:pt x="3791" y="1824"/>
                  </a:lnTo>
                  <a:lnTo>
                    <a:pt x="3767" y="1922"/>
                  </a:lnTo>
                  <a:lnTo>
                    <a:pt x="3736" y="2016"/>
                  </a:lnTo>
                  <a:lnTo>
                    <a:pt x="3698" y="2108"/>
                  </a:lnTo>
                  <a:lnTo>
                    <a:pt x="3654" y="2196"/>
                  </a:lnTo>
                  <a:lnTo>
                    <a:pt x="3604" y="2280"/>
                  </a:lnTo>
                  <a:lnTo>
                    <a:pt x="3548" y="2360"/>
                  </a:lnTo>
                  <a:lnTo>
                    <a:pt x="3486" y="2436"/>
                  </a:lnTo>
                  <a:lnTo>
                    <a:pt x="3419" y="2508"/>
                  </a:lnTo>
                  <a:lnTo>
                    <a:pt x="3346" y="2575"/>
                  </a:lnTo>
                  <a:lnTo>
                    <a:pt x="3268" y="2637"/>
                  </a:lnTo>
                  <a:lnTo>
                    <a:pt x="3185" y="2694"/>
                  </a:lnTo>
                  <a:lnTo>
                    <a:pt x="3097" y="2746"/>
                  </a:lnTo>
                  <a:lnTo>
                    <a:pt x="3005" y="2792"/>
                  </a:lnTo>
                  <a:lnTo>
                    <a:pt x="2908" y="2833"/>
                  </a:lnTo>
                  <a:lnTo>
                    <a:pt x="2858" y="2850"/>
                  </a:lnTo>
                  <a:lnTo>
                    <a:pt x="2809" y="2866"/>
                  </a:lnTo>
                  <a:lnTo>
                    <a:pt x="2731" y="2887"/>
                  </a:lnTo>
                  <a:lnTo>
                    <a:pt x="2650" y="2897"/>
                  </a:lnTo>
                  <a:lnTo>
                    <a:pt x="2534" y="2901"/>
                  </a:lnTo>
                  <a:lnTo>
                    <a:pt x="2450" y="2902"/>
                  </a:lnTo>
                  <a:lnTo>
                    <a:pt x="2371" y="2902"/>
                  </a:lnTo>
                  <a:lnTo>
                    <a:pt x="2257" y="2900"/>
                  </a:lnTo>
                  <a:lnTo>
                    <a:pt x="2176" y="2892"/>
                  </a:lnTo>
                  <a:lnTo>
                    <a:pt x="2106" y="2876"/>
                  </a:lnTo>
                  <a:lnTo>
                    <a:pt x="2067" y="2864"/>
                  </a:lnTo>
                  <a:lnTo>
                    <a:pt x="2005" y="2844"/>
                  </a:lnTo>
                  <a:lnTo>
                    <a:pt x="1888" y="2797"/>
                  </a:lnTo>
                  <a:lnTo>
                    <a:pt x="1776" y="2741"/>
                  </a:lnTo>
                  <a:lnTo>
                    <a:pt x="1672" y="2677"/>
                  </a:lnTo>
                  <a:lnTo>
                    <a:pt x="1574" y="2605"/>
                  </a:lnTo>
                  <a:lnTo>
                    <a:pt x="1484" y="2527"/>
                  </a:lnTo>
                  <a:lnTo>
                    <a:pt x="1402" y="2441"/>
                  </a:lnTo>
                  <a:lnTo>
                    <a:pt x="1327" y="2350"/>
                  </a:lnTo>
                  <a:lnTo>
                    <a:pt x="1261" y="2253"/>
                  </a:lnTo>
                  <a:lnTo>
                    <a:pt x="1204" y="2151"/>
                  </a:lnTo>
                  <a:lnTo>
                    <a:pt x="1156" y="2044"/>
                  </a:lnTo>
                  <a:lnTo>
                    <a:pt x="1117" y="1932"/>
                  </a:lnTo>
                  <a:lnTo>
                    <a:pt x="1088" y="1818"/>
                  </a:lnTo>
                  <a:lnTo>
                    <a:pt x="1069" y="1700"/>
                  </a:lnTo>
                  <a:lnTo>
                    <a:pt x="1061" y="1579"/>
                  </a:lnTo>
                  <a:lnTo>
                    <a:pt x="1063" y="1456"/>
                  </a:lnTo>
                  <a:lnTo>
                    <a:pt x="1068" y="1394"/>
                  </a:lnTo>
                  <a:lnTo>
                    <a:pt x="1075" y="1338"/>
                  </a:lnTo>
                  <a:lnTo>
                    <a:pt x="1095" y="1230"/>
                  </a:lnTo>
                  <a:lnTo>
                    <a:pt x="1123" y="1124"/>
                  </a:lnTo>
                  <a:lnTo>
                    <a:pt x="1159" y="1023"/>
                  </a:lnTo>
                  <a:lnTo>
                    <a:pt x="1202" y="925"/>
                  </a:lnTo>
                  <a:lnTo>
                    <a:pt x="1253" y="831"/>
                  </a:lnTo>
                  <a:lnTo>
                    <a:pt x="1311" y="741"/>
                  </a:lnTo>
                  <a:lnTo>
                    <a:pt x="1376" y="657"/>
                  </a:lnTo>
                  <a:lnTo>
                    <a:pt x="1447" y="578"/>
                  </a:lnTo>
                  <a:lnTo>
                    <a:pt x="1524" y="504"/>
                  </a:lnTo>
                  <a:lnTo>
                    <a:pt x="1607" y="436"/>
                  </a:lnTo>
                  <a:lnTo>
                    <a:pt x="1695" y="375"/>
                  </a:lnTo>
                  <a:lnTo>
                    <a:pt x="1788" y="320"/>
                  </a:lnTo>
                  <a:lnTo>
                    <a:pt x="1886" y="272"/>
                  </a:lnTo>
                  <a:lnTo>
                    <a:pt x="1989" y="232"/>
                  </a:lnTo>
                  <a:lnTo>
                    <a:pt x="2095" y="199"/>
                  </a:lnTo>
                  <a:lnTo>
                    <a:pt x="2150" y="185"/>
                  </a:lnTo>
                  <a:lnTo>
                    <a:pt x="2204" y="176"/>
                  </a:lnTo>
                  <a:lnTo>
                    <a:pt x="2353" y="165"/>
                  </a:lnTo>
                  <a:lnTo>
                    <a:pt x="2520" y="165"/>
                  </a:lnTo>
                  <a:lnTo>
                    <a:pt x="2672" y="177"/>
                  </a:lnTo>
                  <a:lnTo>
                    <a:pt x="2728" y="187"/>
                  </a:lnTo>
                  <a:close/>
                  <a:moveTo>
                    <a:pt x="1167" y="655"/>
                  </a:moveTo>
                  <a:lnTo>
                    <a:pt x="1164" y="664"/>
                  </a:lnTo>
                  <a:lnTo>
                    <a:pt x="1143" y="699"/>
                  </a:lnTo>
                  <a:lnTo>
                    <a:pt x="1095" y="765"/>
                  </a:lnTo>
                  <a:lnTo>
                    <a:pt x="1068" y="792"/>
                  </a:lnTo>
                  <a:lnTo>
                    <a:pt x="1059" y="798"/>
                  </a:lnTo>
                  <a:lnTo>
                    <a:pt x="1019" y="806"/>
                  </a:lnTo>
                  <a:lnTo>
                    <a:pt x="904" y="812"/>
                  </a:lnTo>
                  <a:lnTo>
                    <a:pt x="767" y="810"/>
                  </a:lnTo>
                  <a:lnTo>
                    <a:pt x="492" y="807"/>
                  </a:lnTo>
                  <a:lnTo>
                    <a:pt x="487" y="2185"/>
                  </a:lnTo>
                  <a:lnTo>
                    <a:pt x="483" y="3562"/>
                  </a:lnTo>
                  <a:lnTo>
                    <a:pt x="1795" y="3562"/>
                  </a:lnTo>
                  <a:lnTo>
                    <a:pt x="2322" y="3563"/>
                  </a:lnTo>
                  <a:lnTo>
                    <a:pt x="2898" y="3568"/>
                  </a:lnTo>
                  <a:lnTo>
                    <a:pt x="3103" y="3573"/>
                  </a:lnTo>
                  <a:lnTo>
                    <a:pt x="3125" y="3575"/>
                  </a:lnTo>
                  <a:lnTo>
                    <a:pt x="3149" y="3599"/>
                  </a:lnTo>
                  <a:lnTo>
                    <a:pt x="3223" y="3697"/>
                  </a:lnTo>
                  <a:lnTo>
                    <a:pt x="3233" y="3719"/>
                  </a:lnTo>
                  <a:lnTo>
                    <a:pt x="3231" y="3722"/>
                  </a:lnTo>
                  <a:lnTo>
                    <a:pt x="3211" y="3728"/>
                  </a:lnTo>
                  <a:lnTo>
                    <a:pt x="3195" y="3729"/>
                  </a:lnTo>
                  <a:lnTo>
                    <a:pt x="3185" y="3730"/>
                  </a:lnTo>
                  <a:lnTo>
                    <a:pt x="3152" y="3742"/>
                  </a:lnTo>
                  <a:lnTo>
                    <a:pt x="3080" y="3778"/>
                  </a:lnTo>
                  <a:lnTo>
                    <a:pt x="3025" y="3812"/>
                  </a:lnTo>
                  <a:lnTo>
                    <a:pt x="2893" y="3895"/>
                  </a:lnTo>
                  <a:lnTo>
                    <a:pt x="2442" y="3895"/>
                  </a:lnTo>
                  <a:lnTo>
                    <a:pt x="1990" y="3895"/>
                  </a:lnTo>
                  <a:lnTo>
                    <a:pt x="1865" y="3815"/>
                  </a:lnTo>
                  <a:lnTo>
                    <a:pt x="1742" y="3737"/>
                  </a:lnTo>
                  <a:lnTo>
                    <a:pt x="1033" y="3729"/>
                  </a:lnTo>
                  <a:lnTo>
                    <a:pt x="325" y="3720"/>
                  </a:lnTo>
                  <a:lnTo>
                    <a:pt x="320" y="2222"/>
                  </a:lnTo>
                  <a:lnTo>
                    <a:pt x="318" y="1373"/>
                  </a:lnTo>
                  <a:lnTo>
                    <a:pt x="324" y="829"/>
                  </a:lnTo>
                  <a:lnTo>
                    <a:pt x="331" y="724"/>
                  </a:lnTo>
                  <a:lnTo>
                    <a:pt x="338" y="691"/>
                  </a:lnTo>
                  <a:lnTo>
                    <a:pt x="342" y="684"/>
                  </a:lnTo>
                  <a:lnTo>
                    <a:pt x="367" y="645"/>
                  </a:lnTo>
                  <a:lnTo>
                    <a:pt x="767" y="645"/>
                  </a:lnTo>
                  <a:lnTo>
                    <a:pt x="927" y="646"/>
                  </a:lnTo>
                  <a:lnTo>
                    <a:pt x="1144" y="652"/>
                  </a:lnTo>
                  <a:lnTo>
                    <a:pt x="1167" y="655"/>
                  </a:lnTo>
                  <a:close/>
                  <a:moveTo>
                    <a:pt x="4542" y="684"/>
                  </a:moveTo>
                  <a:lnTo>
                    <a:pt x="4546" y="691"/>
                  </a:lnTo>
                  <a:lnTo>
                    <a:pt x="4552" y="724"/>
                  </a:lnTo>
                  <a:lnTo>
                    <a:pt x="4559" y="829"/>
                  </a:lnTo>
                  <a:lnTo>
                    <a:pt x="4565" y="1373"/>
                  </a:lnTo>
                  <a:lnTo>
                    <a:pt x="4563" y="2222"/>
                  </a:lnTo>
                  <a:lnTo>
                    <a:pt x="4558" y="3720"/>
                  </a:lnTo>
                  <a:lnTo>
                    <a:pt x="4373" y="3725"/>
                  </a:lnTo>
                  <a:lnTo>
                    <a:pt x="4190" y="3730"/>
                  </a:lnTo>
                  <a:lnTo>
                    <a:pt x="4137" y="3657"/>
                  </a:lnTo>
                  <a:lnTo>
                    <a:pt x="4117" y="3626"/>
                  </a:lnTo>
                  <a:lnTo>
                    <a:pt x="4098" y="3591"/>
                  </a:lnTo>
                  <a:lnTo>
                    <a:pt x="4094" y="3575"/>
                  </a:lnTo>
                  <a:lnTo>
                    <a:pt x="4095" y="3572"/>
                  </a:lnTo>
                  <a:lnTo>
                    <a:pt x="4107" y="3568"/>
                  </a:lnTo>
                  <a:lnTo>
                    <a:pt x="4193" y="3563"/>
                  </a:lnTo>
                  <a:lnTo>
                    <a:pt x="4253" y="3562"/>
                  </a:lnTo>
                  <a:lnTo>
                    <a:pt x="4400" y="3562"/>
                  </a:lnTo>
                  <a:lnTo>
                    <a:pt x="4397" y="2185"/>
                  </a:lnTo>
                  <a:lnTo>
                    <a:pt x="4392" y="807"/>
                  </a:lnTo>
                  <a:lnTo>
                    <a:pt x="4105" y="810"/>
                  </a:lnTo>
                  <a:lnTo>
                    <a:pt x="3820" y="814"/>
                  </a:lnTo>
                  <a:lnTo>
                    <a:pt x="3768" y="739"/>
                  </a:lnTo>
                  <a:lnTo>
                    <a:pt x="3728" y="680"/>
                  </a:lnTo>
                  <a:lnTo>
                    <a:pt x="3717" y="655"/>
                  </a:lnTo>
                  <a:lnTo>
                    <a:pt x="3739" y="652"/>
                  </a:lnTo>
                  <a:lnTo>
                    <a:pt x="3957" y="646"/>
                  </a:lnTo>
                  <a:lnTo>
                    <a:pt x="4117" y="645"/>
                  </a:lnTo>
                  <a:lnTo>
                    <a:pt x="4517" y="645"/>
                  </a:lnTo>
                  <a:lnTo>
                    <a:pt x="4542" y="684"/>
                  </a:lnTo>
                  <a:close/>
                  <a:moveTo>
                    <a:pt x="988" y="972"/>
                  </a:moveTo>
                  <a:lnTo>
                    <a:pt x="991" y="980"/>
                  </a:lnTo>
                  <a:lnTo>
                    <a:pt x="983" y="1019"/>
                  </a:lnTo>
                  <a:lnTo>
                    <a:pt x="975" y="1044"/>
                  </a:lnTo>
                  <a:lnTo>
                    <a:pt x="961" y="1081"/>
                  </a:lnTo>
                  <a:lnTo>
                    <a:pt x="938" y="1167"/>
                  </a:lnTo>
                  <a:lnTo>
                    <a:pt x="920" y="1265"/>
                  </a:lnTo>
                  <a:lnTo>
                    <a:pt x="908" y="1370"/>
                  </a:lnTo>
                  <a:lnTo>
                    <a:pt x="901" y="1480"/>
                  </a:lnTo>
                  <a:lnTo>
                    <a:pt x="900" y="1590"/>
                  </a:lnTo>
                  <a:lnTo>
                    <a:pt x="906" y="1696"/>
                  </a:lnTo>
                  <a:lnTo>
                    <a:pt x="918" y="1796"/>
                  </a:lnTo>
                  <a:lnTo>
                    <a:pt x="927" y="1842"/>
                  </a:lnTo>
                  <a:lnTo>
                    <a:pt x="939" y="1900"/>
                  </a:lnTo>
                  <a:lnTo>
                    <a:pt x="969" y="2010"/>
                  </a:lnTo>
                  <a:lnTo>
                    <a:pt x="1006" y="2114"/>
                  </a:lnTo>
                  <a:lnTo>
                    <a:pt x="1051" y="2212"/>
                  </a:lnTo>
                  <a:lnTo>
                    <a:pt x="1103" y="2307"/>
                  </a:lnTo>
                  <a:lnTo>
                    <a:pt x="1164" y="2399"/>
                  </a:lnTo>
                  <a:lnTo>
                    <a:pt x="1234" y="2488"/>
                  </a:lnTo>
                  <a:lnTo>
                    <a:pt x="1313" y="2576"/>
                  </a:lnTo>
                  <a:lnTo>
                    <a:pt x="1357" y="2620"/>
                  </a:lnTo>
                  <a:lnTo>
                    <a:pt x="1402" y="2665"/>
                  </a:lnTo>
                  <a:lnTo>
                    <a:pt x="1492" y="2744"/>
                  </a:lnTo>
                  <a:lnTo>
                    <a:pt x="1582" y="2813"/>
                  </a:lnTo>
                  <a:lnTo>
                    <a:pt x="1674" y="2873"/>
                  </a:lnTo>
                  <a:lnTo>
                    <a:pt x="1770" y="2924"/>
                  </a:lnTo>
                  <a:lnTo>
                    <a:pt x="1870" y="2967"/>
                  </a:lnTo>
                  <a:lnTo>
                    <a:pt x="1977" y="3004"/>
                  </a:lnTo>
                  <a:lnTo>
                    <a:pt x="2092" y="3034"/>
                  </a:lnTo>
                  <a:lnTo>
                    <a:pt x="2153" y="3047"/>
                  </a:lnTo>
                  <a:lnTo>
                    <a:pt x="2203" y="3057"/>
                  </a:lnTo>
                  <a:lnTo>
                    <a:pt x="2288" y="3070"/>
                  </a:lnTo>
                  <a:lnTo>
                    <a:pt x="2367" y="3076"/>
                  </a:lnTo>
                  <a:lnTo>
                    <a:pt x="2455" y="3076"/>
                  </a:lnTo>
                  <a:lnTo>
                    <a:pt x="2508" y="3074"/>
                  </a:lnTo>
                  <a:lnTo>
                    <a:pt x="2584" y="3069"/>
                  </a:lnTo>
                  <a:lnTo>
                    <a:pt x="2702" y="3058"/>
                  </a:lnTo>
                  <a:lnTo>
                    <a:pt x="2727" y="3054"/>
                  </a:lnTo>
                  <a:lnTo>
                    <a:pt x="2737" y="3052"/>
                  </a:lnTo>
                  <a:lnTo>
                    <a:pt x="2760" y="3062"/>
                  </a:lnTo>
                  <a:lnTo>
                    <a:pt x="2794" y="3097"/>
                  </a:lnTo>
                  <a:lnTo>
                    <a:pt x="2844" y="3164"/>
                  </a:lnTo>
                  <a:lnTo>
                    <a:pt x="2880" y="3214"/>
                  </a:lnTo>
                  <a:lnTo>
                    <a:pt x="2927" y="3282"/>
                  </a:lnTo>
                  <a:lnTo>
                    <a:pt x="2975" y="3362"/>
                  </a:lnTo>
                  <a:lnTo>
                    <a:pt x="2990" y="3393"/>
                  </a:lnTo>
                  <a:lnTo>
                    <a:pt x="2990" y="3399"/>
                  </a:lnTo>
                  <a:lnTo>
                    <a:pt x="2971" y="3401"/>
                  </a:lnTo>
                  <a:lnTo>
                    <a:pt x="2782" y="3406"/>
                  </a:lnTo>
                  <a:lnTo>
                    <a:pt x="2273" y="3410"/>
                  </a:lnTo>
                  <a:lnTo>
                    <a:pt x="1415" y="3412"/>
                  </a:lnTo>
                  <a:lnTo>
                    <a:pt x="899" y="3409"/>
                  </a:lnTo>
                  <a:lnTo>
                    <a:pt x="702" y="3405"/>
                  </a:lnTo>
                  <a:lnTo>
                    <a:pt x="677" y="3402"/>
                  </a:lnTo>
                  <a:lnTo>
                    <a:pt x="672" y="3399"/>
                  </a:lnTo>
                  <a:lnTo>
                    <a:pt x="665" y="3380"/>
                  </a:lnTo>
                  <a:lnTo>
                    <a:pt x="658" y="3306"/>
                  </a:lnTo>
                  <a:lnTo>
                    <a:pt x="650" y="2880"/>
                  </a:lnTo>
                  <a:lnTo>
                    <a:pt x="650" y="2189"/>
                  </a:lnTo>
                  <a:lnTo>
                    <a:pt x="651" y="1706"/>
                  </a:lnTo>
                  <a:lnTo>
                    <a:pt x="655" y="1179"/>
                  </a:lnTo>
                  <a:lnTo>
                    <a:pt x="659" y="992"/>
                  </a:lnTo>
                  <a:lnTo>
                    <a:pt x="662" y="974"/>
                  </a:lnTo>
                  <a:lnTo>
                    <a:pt x="676" y="969"/>
                  </a:lnTo>
                  <a:lnTo>
                    <a:pt x="766" y="963"/>
                  </a:lnTo>
                  <a:lnTo>
                    <a:pt x="883" y="962"/>
                  </a:lnTo>
                  <a:lnTo>
                    <a:pt x="974" y="967"/>
                  </a:lnTo>
                  <a:lnTo>
                    <a:pt x="988" y="972"/>
                  </a:lnTo>
                  <a:close/>
                  <a:moveTo>
                    <a:pt x="4230" y="2182"/>
                  </a:moveTo>
                  <a:lnTo>
                    <a:pt x="4233" y="3395"/>
                  </a:lnTo>
                  <a:lnTo>
                    <a:pt x="4195" y="3404"/>
                  </a:lnTo>
                  <a:lnTo>
                    <a:pt x="4175" y="3408"/>
                  </a:lnTo>
                  <a:lnTo>
                    <a:pt x="4100" y="3411"/>
                  </a:lnTo>
                  <a:lnTo>
                    <a:pt x="4058" y="3409"/>
                  </a:lnTo>
                  <a:lnTo>
                    <a:pt x="3958" y="3404"/>
                  </a:lnTo>
                  <a:lnTo>
                    <a:pt x="3720" y="3070"/>
                  </a:lnTo>
                  <a:lnTo>
                    <a:pt x="3533" y="2807"/>
                  </a:lnTo>
                  <a:lnTo>
                    <a:pt x="3472" y="2715"/>
                  </a:lnTo>
                  <a:lnTo>
                    <a:pt x="3471" y="2709"/>
                  </a:lnTo>
                  <a:lnTo>
                    <a:pt x="3486" y="2683"/>
                  </a:lnTo>
                  <a:lnTo>
                    <a:pt x="3533" y="2623"/>
                  </a:lnTo>
                  <a:lnTo>
                    <a:pt x="3578" y="2574"/>
                  </a:lnTo>
                  <a:lnTo>
                    <a:pt x="3613" y="2537"/>
                  </a:lnTo>
                  <a:lnTo>
                    <a:pt x="3677" y="2460"/>
                  </a:lnTo>
                  <a:lnTo>
                    <a:pt x="3734" y="2380"/>
                  </a:lnTo>
                  <a:lnTo>
                    <a:pt x="3786" y="2296"/>
                  </a:lnTo>
                  <a:lnTo>
                    <a:pt x="3832" y="2209"/>
                  </a:lnTo>
                  <a:lnTo>
                    <a:pt x="3873" y="2117"/>
                  </a:lnTo>
                  <a:lnTo>
                    <a:pt x="3908" y="2021"/>
                  </a:lnTo>
                  <a:lnTo>
                    <a:pt x="3938" y="1920"/>
                  </a:lnTo>
                  <a:lnTo>
                    <a:pt x="3952" y="1867"/>
                  </a:lnTo>
                  <a:lnTo>
                    <a:pt x="3960" y="1827"/>
                  </a:lnTo>
                  <a:lnTo>
                    <a:pt x="3973" y="1739"/>
                  </a:lnTo>
                  <a:lnTo>
                    <a:pt x="3980" y="1642"/>
                  </a:lnTo>
                  <a:lnTo>
                    <a:pt x="3983" y="1541"/>
                  </a:lnTo>
                  <a:lnTo>
                    <a:pt x="3980" y="1438"/>
                  </a:lnTo>
                  <a:lnTo>
                    <a:pt x="3972" y="1338"/>
                  </a:lnTo>
                  <a:lnTo>
                    <a:pt x="3959" y="1242"/>
                  </a:lnTo>
                  <a:lnTo>
                    <a:pt x="3941" y="1156"/>
                  </a:lnTo>
                  <a:lnTo>
                    <a:pt x="3930" y="1117"/>
                  </a:lnTo>
                  <a:lnTo>
                    <a:pt x="3914" y="1061"/>
                  </a:lnTo>
                  <a:lnTo>
                    <a:pt x="3897" y="982"/>
                  </a:lnTo>
                  <a:lnTo>
                    <a:pt x="3898" y="970"/>
                  </a:lnTo>
                  <a:lnTo>
                    <a:pt x="3911" y="967"/>
                  </a:lnTo>
                  <a:lnTo>
                    <a:pt x="4002" y="965"/>
                  </a:lnTo>
                  <a:lnTo>
                    <a:pt x="4067" y="965"/>
                  </a:lnTo>
                  <a:lnTo>
                    <a:pt x="4225" y="970"/>
                  </a:lnTo>
                  <a:lnTo>
                    <a:pt x="4230" y="2182"/>
                  </a:lnTo>
                  <a:close/>
                  <a:moveTo>
                    <a:pt x="3432" y="2942"/>
                  </a:moveTo>
                  <a:lnTo>
                    <a:pt x="3603" y="3184"/>
                  </a:lnTo>
                  <a:lnTo>
                    <a:pt x="3972" y="3704"/>
                  </a:lnTo>
                  <a:lnTo>
                    <a:pt x="4328" y="4205"/>
                  </a:lnTo>
                  <a:lnTo>
                    <a:pt x="4453" y="4387"/>
                  </a:lnTo>
                  <a:lnTo>
                    <a:pt x="4467" y="4413"/>
                  </a:lnTo>
                  <a:lnTo>
                    <a:pt x="4480" y="4467"/>
                  </a:lnTo>
                  <a:lnTo>
                    <a:pt x="4478" y="4522"/>
                  </a:lnTo>
                  <a:lnTo>
                    <a:pt x="4461" y="4575"/>
                  </a:lnTo>
                  <a:lnTo>
                    <a:pt x="4432" y="4624"/>
                  </a:lnTo>
                  <a:lnTo>
                    <a:pt x="4393" y="4664"/>
                  </a:lnTo>
                  <a:lnTo>
                    <a:pt x="4344" y="4694"/>
                  </a:lnTo>
                  <a:lnTo>
                    <a:pt x="4289" y="4711"/>
                  </a:lnTo>
                  <a:lnTo>
                    <a:pt x="4258" y="4712"/>
                  </a:lnTo>
                  <a:lnTo>
                    <a:pt x="4241" y="4712"/>
                  </a:lnTo>
                  <a:lnTo>
                    <a:pt x="4208" y="4707"/>
                  </a:lnTo>
                  <a:lnTo>
                    <a:pt x="4177" y="4695"/>
                  </a:lnTo>
                  <a:lnTo>
                    <a:pt x="4146" y="4675"/>
                  </a:lnTo>
                  <a:lnTo>
                    <a:pt x="4112" y="4645"/>
                  </a:lnTo>
                  <a:lnTo>
                    <a:pt x="4075" y="4604"/>
                  </a:lnTo>
                  <a:lnTo>
                    <a:pt x="4008" y="4520"/>
                  </a:lnTo>
                  <a:lnTo>
                    <a:pt x="3952" y="4440"/>
                  </a:lnTo>
                  <a:lnTo>
                    <a:pt x="3515" y="3828"/>
                  </a:lnTo>
                  <a:lnTo>
                    <a:pt x="2985" y="3077"/>
                  </a:lnTo>
                  <a:lnTo>
                    <a:pt x="2937" y="3004"/>
                  </a:lnTo>
                  <a:lnTo>
                    <a:pt x="2962" y="2991"/>
                  </a:lnTo>
                  <a:lnTo>
                    <a:pt x="3033" y="2960"/>
                  </a:lnTo>
                  <a:lnTo>
                    <a:pt x="3075" y="2942"/>
                  </a:lnTo>
                  <a:lnTo>
                    <a:pt x="3175" y="2891"/>
                  </a:lnTo>
                  <a:lnTo>
                    <a:pt x="3217" y="2867"/>
                  </a:lnTo>
                  <a:lnTo>
                    <a:pt x="3254" y="2845"/>
                  </a:lnTo>
                  <a:lnTo>
                    <a:pt x="3314" y="2817"/>
                  </a:lnTo>
                  <a:lnTo>
                    <a:pt x="3325" y="2814"/>
                  </a:lnTo>
                  <a:lnTo>
                    <a:pt x="3330" y="2815"/>
                  </a:lnTo>
                  <a:lnTo>
                    <a:pt x="3350" y="2835"/>
                  </a:lnTo>
                  <a:lnTo>
                    <a:pt x="3395" y="2891"/>
                  </a:lnTo>
                  <a:lnTo>
                    <a:pt x="3432" y="2942"/>
                  </a:lnTo>
                  <a:close/>
                  <a:moveTo>
                    <a:pt x="1807" y="3970"/>
                  </a:moveTo>
                  <a:lnTo>
                    <a:pt x="1922" y="4045"/>
                  </a:lnTo>
                  <a:lnTo>
                    <a:pt x="2442" y="4045"/>
                  </a:lnTo>
                  <a:lnTo>
                    <a:pt x="2962" y="4045"/>
                  </a:lnTo>
                  <a:lnTo>
                    <a:pt x="3077" y="3970"/>
                  </a:lnTo>
                  <a:lnTo>
                    <a:pt x="3111" y="3948"/>
                  </a:lnTo>
                  <a:lnTo>
                    <a:pt x="3165" y="3918"/>
                  </a:lnTo>
                  <a:lnTo>
                    <a:pt x="3208" y="3902"/>
                  </a:lnTo>
                  <a:lnTo>
                    <a:pt x="3252" y="3896"/>
                  </a:lnTo>
                  <a:lnTo>
                    <a:pt x="3278" y="3895"/>
                  </a:lnTo>
                  <a:lnTo>
                    <a:pt x="3363" y="3895"/>
                  </a:lnTo>
                  <a:lnTo>
                    <a:pt x="3462" y="4032"/>
                  </a:lnTo>
                  <a:lnTo>
                    <a:pt x="3540" y="4145"/>
                  </a:lnTo>
                  <a:lnTo>
                    <a:pt x="3573" y="4192"/>
                  </a:lnTo>
                  <a:lnTo>
                    <a:pt x="3573" y="4195"/>
                  </a:lnTo>
                  <a:lnTo>
                    <a:pt x="3542" y="4200"/>
                  </a:lnTo>
                  <a:lnTo>
                    <a:pt x="3419" y="4206"/>
                  </a:lnTo>
                  <a:lnTo>
                    <a:pt x="2808" y="4210"/>
                  </a:lnTo>
                  <a:lnTo>
                    <a:pt x="1942" y="4209"/>
                  </a:lnTo>
                  <a:lnTo>
                    <a:pt x="298" y="4204"/>
                  </a:lnTo>
                  <a:lnTo>
                    <a:pt x="232" y="4134"/>
                  </a:lnTo>
                  <a:lnTo>
                    <a:pt x="211" y="4111"/>
                  </a:lnTo>
                  <a:lnTo>
                    <a:pt x="185" y="4076"/>
                  </a:lnTo>
                  <a:lnTo>
                    <a:pt x="171" y="4044"/>
                  </a:lnTo>
                  <a:lnTo>
                    <a:pt x="167" y="4005"/>
                  </a:lnTo>
                  <a:lnTo>
                    <a:pt x="167" y="3979"/>
                  </a:lnTo>
                  <a:lnTo>
                    <a:pt x="167" y="3895"/>
                  </a:lnTo>
                  <a:lnTo>
                    <a:pt x="930" y="3895"/>
                  </a:lnTo>
                  <a:lnTo>
                    <a:pt x="1692" y="3895"/>
                  </a:lnTo>
                  <a:lnTo>
                    <a:pt x="1807" y="3970"/>
                  </a:lnTo>
                  <a:close/>
                  <a:moveTo>
                    <a:pt x="4717" y="3979"/>
                  </a:moveTo>
                  <a:lnTo>
                    <a:pt x="4716" y="4005"/>
                  </a:lnTo>
                  <a:lnTo>
                    <a:pt x="4712" y="4044"/>
                  </a:lnTo>
                  <a:lnTo>
                    <a:pt x="4699" y="4075"/>
                  </a:lnTo>
                  <a:lnTo>
                    <a:pt x="4674" y="4108"/>
                  </a:lnTo>
                  <a:lnTo>
                    <a:pt x="4655" y="4129"/>
                  </a:lnTo>
                  <a:lnTo>
                    <a:pt x="4621" y="4163"/>
                  </a:lnTo>
                  <a:lnTo>
                    <a:pt x="4583" y="4191"/>
                  </a:lnTo>
                  <a:lnTo>
                    <a:pt x="4559" y="4196"/>
                  </a:lnTo>
                  <a:lnTo>
                    <a:pt x="4536" y="4189"/>
                  </a:lnTo>
                  <a:lnTo>
                    <a:pt x="4511" y="4170"/>
                  </a:lnTo>
                  <a:lnTo>
                    <a:pt x="4465" y="4118"/>
                  </a:lnTo>
                  <a:lnTo>
                    <a:pt x="4423" y="4062"/>
                  </a:lnTo>
                  <a:lnTo>
                    <a:pt x="4382" y="4005"/>
                  </a:lnTo>
                  <a:lnTo>
                    <a:pt x="4324" y="3921"/>
                  </a:lnTo>
                  <a:lnTo>
                    <a:pt x="4318" y="3907"/>
                  </a:lnTo>
                  <a:lnTo>
                    <a:pt x="4321" y="3905"/>
                  </a:lnTo>
                  <a:lnTo>
                    <a:pt x="4350" y="3900"/>
                  </a:lnTo>
                  <a:lnTo>
                    <a:pt x="4437" y="3896"/>
                  </a:lnTo>
                  <a:lnTo>
                    <a:pt x="4517" y="3895"/>
                  </a:lnTo>
                  <a:lnTo>
                    <a:pt x="4717" y="3895"/>
                  </a:lnTo>
                  <a:lnTo>
                    <a:pt x="4717" y="39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13">
              <a:extLst>
                <a:ext uri="{FF2B5EF4-FFF2-40B4-BE49-F238E27FC236}">
                  <a16:creationId xmlns:a16="http://schemas.microsoft.com/office/drawing/2014/main" id="{B96BBB24-5AE2-189E-496B-B8B68E80C95A}"/>
                </a:ext>
              </a:extLst>
            </p:cNvPr>
            <p:cNvSpPr>
              <a:spLocks noEditPoints="1"/>
            </p:cNvSpPr>
            <p:nvPr/>
          </p:nvSpPr>
          <p:spPr bwMode="auto">
            <a:xfrm>
              <a:off x="804863" y="333375"/>
              <a:ext cx="835025" cy="768350"/>
            </a:xfrm>
            <a:custGeom>
              <a:avLst/>
              <a:gdLst>
                <a:gd name="T0" fmla="*/ 859 w 2113"/>
                <a:gd name="T1" fmla="*/ 54 h 1947"/>
                <a:gd name="T2" fmla="*/ 726 w 2113"/>
                <a:gd name="T3" fmla="*/ 173 h 1947"/>
                <a:gd name="T4" fmla="*/ 656 w 2113"/>
                <a:gd name="T5" fmla="*/ 350 h 1947"/>
                <a:gd name="T6" fmla="*/ 387 w 2113"/>
                <a:gd name="T7" fmla="*/ 497 h 1947"/>
                <a:gd name="T8" fmla="*/ 7 w 2113"/>
                <a:gd name="T9" fmla="*/ 630 h 1947"/>
                <a:gd name="T10" fmla="*/ 2 w 2113"/>
                <a:gd name="T11" fmla="*/ 1624 h 1947"/>
                <a:gd name="T12" fmla="*/ 35 w 2113"/>
                <a:gd name="T13" fmla="*/ 1836 h 1947"/>
                <a:gd name="T14" fmla="*/ 113 w 2113"/>
                <a:gd name="T15" fmla="*/ 1909 h 1947"/>
                <a:gd name="T16" fmla="*/ 1943 w 2113"/>
                <a:gd name="T17" fmla="*/ 1947 h 1947"/>
                <a:gd name="T18" fmla="*/ 2054 w 2113"/>
                <a:gd name="T19" fmla="*/ 1868 h 1947"/>
                <a:gd name="T20" fmla="*/ 2106 w 2113"/>
                <a:gd name="T21" fmla="*/ 1722 h 1947"/>
                <a:gd name="T22" fmla="*/ 2112 w 2113"/>
                <a:gd name="T23" fmla="*/ 1194 h 1947"/>
                <a:gd name="T24" fmla="*/ 1982 w 2113"/>
                <a:gd name="T25" fmla="*/ 505 h 1947"/>
                <a:gd name="T26" fmla="*/ 1462 w 2113"/>
                <a:gd name="T27" fmla="*/ 384 h 1947"/>
                <a:gd name="T28" fmla="*/ 1414 w 2113"/>
                <a:gd name="T29" fmla="*/ 221 h 1947"/>
                <a:gd name="T30" fmla="*/ 1292 w 2113"/>
                <a:gd name="T31" fmla="*/ 78 h 1947"/>
                <a:gd name="T32" fmla="*/ 1147 w 2113"/>
                <a:gd name="T33" fmla="*/ 15 h 1947"/>
                <a:gd name="T34" fmla="*/ 1027 w 2113"/>
                <a:gd name="T35" fmla="*/ 1 h 1947"/>
                <a:gd name="T36" fmla="*/ 1178 w 2113"/>
                <a:gd name="T37" fmla="*/ 197 h 1947"/>
                <a:gd name="T38" fmla="*/ 1282 w 2113"/>
                <a:gd name="T39" fmla="*/ 318 h 1947"/>
                <a:gd name="T40" fmla="*/ 1290 w 2113"/>
                <a:gd name="T41" fmla="*/ 489 h 1947"/>
                <a:gd name="T42" fmla="*/ 818 w 2113"/>
                <a:gd name="T43" fmla="*/ 414 h 1947"/>
                <a:gd name="T44" fmla="*/ 842 w 2113"/>
                <a:gd name="T45" fmla="*/ 296 h 1947"/>
                <a:gd name="T46" fmla="*/ 939 w 2113"/>
                <a:gd name="T47" fmla="*/ 194 h 1947"/>
                <a:gd name="T48" fmla="*/ 1057 w 2113"/>
                <a:gd name="T49" fmla="*/ 164 h 1947"/>
                <a:gd name="T50" fmla="*/ 1178 w 2113"/>
                <a:gd name="T51" fmla="*/ 197 h 1947"/>
                <a:gd name="T52" fmla="*/ 1947 w 2113"/>
                <a:gd name="T53" fmla="*/ 704 h 1947"/>
                <a:gd name="T54" fmla="*/ 1919 w 2113"/>
                <a:gd name="T55" fmla="*/ 761 h 1947"/>
                <a:gd name="T56" fmla="*/ 1707 w 2113"/>
                <a:gd name="T57" fmla="*/ 862 h 1947"/>
                <a:gd name="T58" fmla="*/ 1384 w 2113"/>
                <a:gd name="T59" fmla="*/ 985 h 1947"/>
                <a:gd name="T60" fmla="*/ 1142 w 2113"/>
                <a:gd name="T61" fmla="*/ 1020 h 1947"/>
                <a:gd name="T62" fmla="*/ 865 w 2113"/>
                <a:gd name="T63" fmla="*/ 1012 h 1947"/>
                <a:gd name="T64" fmla="*/ 655 w 2113"/>
                <a:gd name="T65" fmla="*/ 961 h 1947"/>
                <a:gd name="T66" fmla="*/ 319 w 2113"/>
                <a:gd name="T67" fmla="*/ 825 h 1947"/>
                <a:gd name="T68" fmla="*/ 172 w 2113"/>
                <a:gd name="T69" fmla="*/ 741 h 1947"/>
                <a:gd name="T70" fmla="*/ 181 w 2113"/>
                <a:gd name="T71" fmla="*/ 685 h 1947"/>
                <a:gd name="T72" fmla="*/ 216 w 2113"/>
                <a:gd name="T73" fmla="*/ 662 h 1947"/>
                <a:gd name="T74" fmla="*/ 1057 w 2113"/>
                <a:gd name="T75" fmla="*/ 647 h 1947"/>
                <a:gd name="T76" fmla="*/ 1897 w 2113"/>
                <a:gd name="T77" fmla="*/ 662 h 1947"/>
                <a:gd name="T78" fmla="*/ 423 w 2113"/>
                <a:gd name="T79" fmla="*/ 1044 h 1947"/>
                <a:gd name="T80" fmla="*/ 831 w 2113"/>
                <a:gd name="T81" fmla="*/ 1172 h 1947"/>
                <a:gd name="T82" fmla="*/ 1138 w 2113"/>
                <a:gd name="T83" fmla="*/ 1186 h 1947"/>
                <a:gd name="T84" fmla="*/ 1591 w 2113"/>
                <a:gd name="T85" fmla="*/ 1084 h 1947"/>
                <a:gd name="T86" fmla="*/ 1920 w 2113"/>
                <a:gd name="T87" fmla="*/ 952 h 1947"/>
                <a:gd name="T88" fmla="*/ 1941 w 2113"/>
                <a:gd name="T89" fmla="*/ 971 h 1947"/>
                <a:gd name="T90" fmla="*/ 1940 w 2113"/>
                <a:gd name="T91" fmla="*/ 1754 h 1947"/>
                <a:gd name="T92" fmla="*/ 1783 w 2113"/>
                <a:gd name="T93" fmla="*/ 1790 h 1947"/>
                <a:gd name="T94" fmla="*/ 650 w 2113"/>
                <a:gd name="T95" fmla="*/ 1796 h 1947"/>
                <a:gd name="T96" fmla="*/ 215 w 2113"/>
                <a:gd name="T97" fmla="*/ 1775 h 1947"/>
                <a:gd name="T98" fmla="*/ 166 w 2113"/>
                <a:gd name="T99" fmla="*/ 1107 h 1947"/>
                <a:gd name="T100" fmla="*/ 189 w 2113"/>
                <a:gd name="T101" fmla="*/ 951 h 1947"/>
                <a:gd name="T102" fmla="*/ 423 w 2113"/>
                <a:gd name="T103" fmla="*/ 1044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3" h="1947">
                  <a:moveTo>
                    <a:pt x="945" y="20"/>
                  </a:moveTo>
                  <a:lnTo>
                    <a:pt x="915" y="29"/>
                  </a:lnTo>
                  <a:lnTo>
                    <a:pt x="859" y="54"/>
                  </a:lnTo>
                  <a:lnTo>
                    <a:pt x="808" y="87"/>
                  </a:lnTo>
                  <a:lnTo>
                    <a:pt x="764" y="127"/>
                  </a:lnTo>
                  <a:lnTo>
                    <a:pt x="726" y="173"/>
                  </a:lnTo>
                  <a:lnTo>
                    <a:pt x="695" y="227"/>
                  </a:lnTo>
                  <a:lnTo>
                    <a:pt x="672" y="286"/>
                  </a:lnTo>
                  <a:lnTo>
                    <a:pt x="656" y="350"/>
                  </a:lnTo>
                  <a:lnTo>
                    <a:pt x="652" y="384"/>
                  </a:lnTo>
                  <a:lnTo>
                    <a:pt x="640" y="489"/>
                  </a:lnTo>
                  <a:lnTo>
                    <a:pt x="387" y="497"/>
                  </a:lnTo>
                  <a:lnTo>
                    <a:pt x="132" y="505"/>
                  </a:lnTo>
                  <a:lnTo>
                    <a:pt x="70" y="569"/>
                  </a:lnTo>
                  <a:lnTo>
                    <a:pt x="7" y="630"/>
                  </a:lnTo>
                  <a:lnTo>
                    <a:pt x="2" y="1194"/>
                  </a:lnTo>
                  <a:lnTo>
                    <a:pt x="0" y="1410"/>
                  </a:lnTo>
                  <a:lnTo>
                    <a:pt x="2" y="1624"/>
                  </a:lnTo>
                  <a:lnTo>
                    <a:pt x="8" y="1722"/>
                  </a:lnTo>
                  <a:lnTo>
                    <a:pt x="18" y="1790"/>
                  </a:lnTo>
                  <a:lnTo>
                    <a:pt x="35" y="1836"/>
                  </a:lnTo>
                  <a:lnTo>
                    <a:pt x="60" y="1868"/>
                  </a:lnTo>
                  <a:lnTo>
                    <a:pt x="93" y="1895"/>
                  </a:lnTo>
                  <a:lnTo>
                    <a:pt x="113" y="1909"/>
                  </a:lnTo>
                  <a:lnTo>
                    <a:pt x="170" y="1947"/>
                  </a:lnTo>
                  <a:lnTo>
                    <a:pt x="1057" y="1947"/>
                  </a:lnTo>
                  <a:lnTo>
                    <a:pt x="1943" y="1947"/>
                  </a:lnTo>
                  <a:lnTo>
                    <a:pt x="2000" y="1909"/>
                  </a:lnTo>
                  <a:lnTo>
                    <a:pt x="2021" y="1895"/>
                  </a:lnTo>
                  <a:lnTo>
                    <a:pt x="2054" y="1868"/>
                  </a:lnTo>
                  <a:lnTo>
                    <a:pt x="2078" y="1836"/>
                  </a:lnTo>
                  <a:lnTo>
                    <a:pt x="2095" y="1790"/>
                  </a:lnTo>
                  <a:lnTo>
                    <a:pt x="2106" y="1722"/>
                  </a:lnTo>
                  <a:lnTo>
                    <a:pt x="2111" y="1624"/>
                  </a:lnTo>
                  <a:lnTo>
                    <a:pt x="2113" y="1410"/>
                  </a:lnTo>
                  <a:lnTo>
                    <a:pt x="2112" y="1194"/>
                  </a:lnTo>
                  <a:lnTo>
                    <a:pt x="2107" y="630"/>
                  </a:lnTo>
                  <a:lnTo>
                    <a:pt x="2043" y="569"/>
                  </a:lnTo>
                  <a:lnTo>
                    <a:pt x="1982" y="505"/>
                  </a:lnTo>
                  <a:lnTo>
                    <a:pt x="1727" y="497"/>
                  </a:lnTo>
                  <a:lnTo>
                    <a:pt x="1473" y="489"/>
                  </a:lnTo>
                  <a:lnTo>
                    <a:pt x="1462" y="384"/>
                  </a:lnTo>
                  <a:lnTo>
                    <a:pt x="1457" y="348"/>
                  </a:lnTo>
                  <a:lnTo>
                    <a:pt x="1440" y="282"/>
                  </a:lnTo>
                  <a:lnTo>
                    <a:pt x="1414" y="221"/>
                  </a:lnTo>
                  <a:lnTo>
                    <a:pt x="1381" y="167"/>
                  </a:lnTo>
                  <a:lnTo>
                    <a:pt x="1340" y="119"/>
                  </a:lnTo>
                  <a:lnTo>
                    <a:pt x="1292" y="78"/>
                  </a:lnTo>
                  <a:lnTo>
                    <a:pt x="1238" y="46"/>
                  </a:lnTo>
                  <a:lnTo>
                    <a:pt x="1179" y="23"/>
                  </a:lnTo>
                  <a:lnTo>
                    <a:pt x="1147" y="15"/>
                  </a:lnTo>
                  <a:lnTo>
                    <a:pt x="1112" y="8"/>
                  </a:lnTo>
                  <a:lnTo>
                    <a:pt x="1065" y="0"/>
                  </a:lnTo>
                  <a:lnTo>
                    <a:pt x="1027" y="1"/>
                  </a:lnTo>
                  <a:lnTo>
                    <a:pt x="979" y="11"/>
                  </a:lnTo>
                  <a:lnTo>
                    <a:pt x="945" y="20"/>
                  </a:lnTo>
                  <a:close/>
                  <a:moveTo>
                    <a:pt x="1178" y="197"/>
                  </a:moveTo>
                  <a:lnTo>
                    <a:pt x="1207" y="216"/>
                  </a:lnTo>
                  <a:lnTo>
                    <a:pt x="1252" y="263"/>
                  </a:lnTo>
                  <a:lnTo>
                    <a:pt x="1282" y="318"/>
                  </a:lnTo>
                  <a:lnTo>
                    <a:pt x="1295" y="380"/>
                  </a:lnTo>
                  <a:lnTo>
                    <a:pt x="1295" y="414"/>
                  </a:lnTo>
                  <a:lnTo>
                    <a:pt x="1290" y="489"/>
                  </a:lnTo>
                  <a:lnTo>
                    <a:pt x="1057" y="489"/>
                  </a:lnTo>
                  <a:lnTo>
                    <a:pt x="823" y="489"/>
                  </a:lnTo>
                  <a:lnTo>
                    <a:pt x="818" y="414"/>
                  </a:lnTo>
                  <a:lnTo>
                    <a:pt x="818" y="389"/>
                  </a:lnTo>
                  <a:lnTo>
                    <a:pt x="825" y="340"/>
                  </a:lnTo>
                  <a:lnTo>
                    <a:pt x="842" y="296"/>
                  </a:lnTo>
                  <a:lnTo>
                    <a:pt x="867" y="256"/>
                  </a:lnTo>
                  <a:lnTo>
                    <a:pt x="900" y="221"/>
                  </a:lnTo>
                  <a:lnTo>
                    <a:pt x="939" y="194"/>
                  </a:lnTo>
                  <a:lnTo>
                    <a:pt x="983" y="175"/>
                  </a:lnTo>
                  <a:lnTo>
                    <a:pt x="1031" y="165"/>
                  </a:lnTo>
                  <a:lnTo>
                    <a:pt x="1057" y="164"/>
                  </a:lnTo>
                  <a:lnTo>
                    <a:pt x="1086" y="166"/>
                  </a:lnTo>
                  <a:lnTo>
                    <a:pt x="1152" y="184"/>
                  </a:lnTo>
                  <a:lnTo>
                    <a:pt x="1178" y="197"/>
                  </a:lnTo>
                  <a:close/>
                  <a:moveTo>
                    <a:pt x="1922" y="674"/>
                  </a:moveTo>
                  <a:lnTo>
                    <a:pt x="1933" y="685"/>
                  </a:lnTo>
                  <a:lnTo>
                    <a:pt x="1947" y="704"/>
                  </a:lnTo>
                  <a:lnTo>
                    <a:pt x="1950" y="723"/>
                  </a:lnTo>
                  <a:lnTo>
                    <a:pt x="1942" y="741"/>
                  </a:lnTo>
                  <a:lnTo>
                    <a:pt x="1919" y="761"/>
                  </a:lnTo>
                  <a:lnTo>
                    <a:pt x="1881" y="784"/>
                  </a:lnTo>
                  <a:lnTo>
                    <a:pt x="1794" y="825"/>
                  </a:lnTo>
                  <a:lnTo>
                    <a:pt x="1707" y="862"/>
                  </a:lnTo>
                  <a:lnTo>
                    <a:pt x="1591" y="911"/>
                  </a:lnTo>
                  <a:lnTo>
                    <a:pt x="1459" y="961"/>
                  </a:lnTo>
                  <a:lnTo>
                    <a:pt x="1384" y="985"/>
                  </a:lnTo>
                  <a:lnTo>
                    <a:pt x="1315" y="1001"/>
                  </a:lnTo>
                  <a:lnTo>
                    <a:pt x="1249" y="1012"/>
                  </a:lnTo>
                  <a:lnTo>
                    <a:pt x="1142" y="1020"/>
                  </a:lnTo>
                  <a:lnTo>
                    <a:pt x="1057" y="1020"/>
                  </a:lnTo>
                  <a:lnTo>
                    <a:pt x="971" y="1020"/>
                  </a:lnTo>
                  <a:lnTo>
                    <a:pt x="865" y="1012"/>
                  </a:lnTo>
                  <a:lnTo>
                    <a:pt x="798" y="1001"/>
                  </a:lnTo>
                  <a:lnTo>
                    <a:pt x="730" y="985"/>
                  </a:lnTo>
                  <a:lnTo>
                    <a:pt x="655" y="961"/>
                  </a:lnTo>
                  <a:lnTo>
                    <a:pt x="522" y="911"/>
                  </a:lnTo>
                  <a:lnTo>
                    <a:pt x="407" y="862"/>
                  </a:lnTo>
                  <a:lnTo>
                    <a:pt x="319" y="825"/>
                  </a:lnTo>
                  <a:lnTo>
                    <a:pt x="232" y="784"/>
                  </a:lnTo>
                  <a:lnTo>
                    <a:pt x="194" y="761"/>
                  </a:lnTo>
                  <a:lnTo>
                    <a:pt x="172" y="741"/>
                  </a:lnTo>
                  <a:lnTo>
                    <a:pt x="163" y="723"/>
                  </a:lnTo>
                  <a:lnTo>
                    <a:pt x="167" y="704"/>
                  </a:lnTo>
                  <a:lnTo>
                    <a:pt x="181" y="685"/>
                  </a:lnTo>
                  <a:lnTo>
                    <a:pt x="192" y="674"/>
                  </a:lnTo>
                  <a:lnTo>
                    <a:pt x="197" y="669"/>
                  </a:lnTo>
                  <a:lnTo>
                    <a:pt x="216" y="662"/>
                  </a:lnTo>
                  <a:lnTo>
                    <a:pt x="276" y="655"/>
                  </a:lnTo>
                  <a:lnTo>
                    <a:pt x="581" y="647"/>
                  </a:lnTo>
                  <a:lnTo>
                    <a:pt x="1057" y="647"/>
                  </a:lnTo>
                  <a:lnTo>
                    <a:pt x="1532" y="647"/>
                  </a:lnTo>
                  <a:lnTo>
                    <a:pt x="1837" y="655"/>
                  </a:lnTo>
                  <a:lnTo>
                    <a:pt x="1897" y="662"/>
                  </a:lnTo>
                  <a:lnTo>
                    <a:pt x="1917" y="669"/>
                  </a:lnTo>
                  <a:lnTo>
                    <a:pt x="1922" y="674"/>
                  </a:lnTo>
                  <a:close/>
                  <a:moveTo>
                    <a:pt x="423" y="1044"/>
                  </a:moveTo>
                  <a:lnTo>
                    <a:pt x="522" y="1084"/>
                  </a:lnTo>
                  <a:lnTo>
                    <a:pt x="687" y="1140"/>
                  </a:lnTo>
                  <a:lnTo>
                    <a:pt x="831" y="1172"/>
                  </a:lnTo>
                  <a:lnTo>
                    <a:pt x="976" y="1186"/>
                  </a:lnTo>
                  <a:lnTo>
                    <a:pt x="1057" y="1187"/>
                  </a:lnTo>
                  <a:lnTo>
                    <a:pt x="1138" y="1186"/>
                  </a:lnTo>
                  <a:lnTo>
                    <a:pt x="1283" y="1172"/>
                  </a:lnTo>
                  <a:lnTo>
                    <a:pt x="1427" y="1140"/>
                  </a:lnTo>
                  <a:lnTo>
                    <a:pt x="1591" y="1084"/>
                  </a:lnTo>
                  <a:lnTo>
                    <a:pt x="1690" y="1044"/>
                  </a:lnTo>
                  <a:lnTo>
                    <a:pt x="1852" y="978"/>
                  </a:lnTo>
                  <a:lnTo>
                    <a:pt x="1920" y="952"/>
                  </a:lnTo>
                  <a:lnTo>
                    <a:pt x="1925" y="951"/>
                  </a:lnTo>
                  <a:lnTo>
                    <a:pt x="1933" y="952"/>
                  </a:lnTo>
                  <a:lnTo>
                    <a:pt x="1941" y="971"/>
                  </a:lnTo>
                  <a:lnTo>
                    <a:pt x="1947" y="1107"/>
                  </a:lnTo>
                  <a:lnTo>
                    <a:pt x="1945" y="1349"/>
                  </a:lnTo>
                  <a:lnTo>
                    <a:pt x="1940" y="1754"/>
                  </a:lnTo>
                  <a:lnTo>
                    <a:pt x="1898" y="1775"/>
                  </a:lnTo>
                  <a:lnTo>
                    <a:pt x="1881" y="1781"/>
                  </a:lnTo>
                  <a:lnTo>
                    <a:pt x="1783" y="1790"/>
                  </a:lnTo>
                  <a:lnTo>
                    <a:pt x="1464" y="1796"/>
                  </a:lnTo>
                  <a:lnTo>
                    <a:pt x="1057" y="1797"/>
                  </a:lnTo>
                  <a:lnTo>
                    <a:pt x="650" y="1796"/>
                  </a:lnTo>
                  <a:lnTo>
                    <a:pt x="330" y="1790"/>
                  </a:lnTo>
                  <a:lnTo>
                    <a:pt x="232" y="1781"/>
                  </a:lnTo>
                  <a:lnTo>
                    <a:pt x="215" y="1775"/>
                  </a:lnTo>
                  <a:lnTo>
                    <a:pt x="173" y="1754"/>
                  </a:lnTo>
                  <a:lnTo>
                    <a:pt x="168" y="1349"/>
                  </a:lnTo>
                  <a:lnTo>
                    <a:pt x="166" y="1107"/>
                  </a:lnTo>
                  <a:lnTo>
                    <a:pt x="173" y="971"/>
                  </a:lnTo>
                  <a:lnTo>
                    <a:pt x="181" y="952"/>
                  </a:lnTo>
                  <a:lnTo>
                    <a:pt x="189" y="951"/>
                  </a:lnTo>
                  <a:lnTo>
                    <a:pt x="193" y="952"/>
                  </a:lnTo>
                  <a:lnTo>
                    <a:pt x="262" y="978"/>
                  </a:lnTo>
                  <a:lnTo>
                    <a:pt x="423" y="10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9" name="Group 88">
            <a:extLst>
              <a:ext uri="{FF2B5EF4-FFF2-40B4-BE49-F238E27FC236}">
                <a16:creationId xmlns:a16="http://schemas.microsoft.com/office/drawing/2014/main" id="{83780A51-6F4A-A553-7396-D7F804A80871}"/>
              </a:ext>
            </a:extLst>
          </p:cNvPr>
          <p:cNvGrpSpPr>
            <a:grpSpLocks noChangeAspect="1"/>
          </p:cNvGrpSpPr>
          <p:nvPr/>
        </p:nvGrpSpPr>
        <p:grpSpPr>
          <a:xfrm>
            <a:off x="5348486" y="5421161"/>
            <a:ext cx="365760" cy="365760"/>
            <a:chOff x="2703513" y="561975"/>
            <a:chExt cx="1525588" cy="1525588"/>
          </a:xfrm>
          <a:solidFill>
            <a:schemeClr val="accent1"/>
          </a:solidFill>
        </p:grpSpPr>
        <p:sp>
          <p:nvSpPr>
            <p:cNvPr id="90" name="Freeform 44">
              <a:extLst>
                <a:ext uri="{FF2B5EF4-FFF2-40B4-BE49-F238E27FC236}">
                  <a16:creationId xmlns:a16="http://schemas.microsoft.com/office/drawing/2014/main" id="{0CB5CA97-CC8F-3D73-5298-8F26046AAE07}"/>
                </a:ext>
              </a:extLst>
            </p:cNvPr>
            <p:cNvSpPr>
              <a:spLocks noEditPoints="1"/>
            </p:cNvSpPr>
            <p:nvPr/>
          </p:nvSpPr>
          <p:spPr bwMode="auto">
            <a:xfrm>
              <a:off x="2703513" y="561975"/>
              <a:ext cx="1525588" cy="1525588"/>
            </a:xfrm>
            <a:custGeom>
              <a:avLst/>
              <a:gdLst>
                <a:gd name="T0" fmla="*/ 48 w 3932"/>
                <a:gd name="T1" fmla="*/ 1528 h 3933"/>
                <a:gd name="T2" fmla="*/ 350 w 3932"/>
                <a:gd name="T3" fmla="*/ 3088 h 3933"/>
                <a:gd name="T4" fmla="*/ 563 w 3932"/>
                <a:gd name="T5" fmla="*/ 3655 h 3933"/>
                <a:gd name="T6" fmla="*/ 1132 w 3932"/>
                <a:gd name="T7" fmla="*/ 3306 h 3933"/>
                <a:gd name="T8" fmla="*/ 806 w 3932"/>
                <a:gd name="T9" fmla="*/ 3019 h 3933"/>
                <a:gd name="T10" fmla="*/ 409 w 3932"/>
                <a:gd name="T11" fmla="*/ 1440 h 3933"/>
                <a:gd name="T12" fmla="*/ 1999 w 3932"/>
                <a:gd name="T13" fmla="*/ 322 h 3933"/>
                <a:gd name="T14" fmla="*/ 2214 w 3932"/>
                <a:gd name="T15" fmla="*/ 988 h 3933"/>
                <a:gd name="T16" fmla="*/ 886 w 3932"/>
                <a:gd name="T17" fmla="*/ 905 h 3933"/>
                <a:gd name="T18" fmla="*/ 616 w 3932"/>
                <a:gd name="T19" fmla="*/ 2032 h 3933"/>
                <a:gd name="T20" fmla="*/ 2134 w 3932"/>
                <a:gd name="T21" fmla="*/ 2960 h 3933"/>
                <a:gd name="T22" fmla="*/ 3154 w 3932"/>
                <a:gd name="T23" fmla="*/ 1167 h 3933"/>
                <a:gd name="T24" fmla="*/ 3496 w 3932"/>
                <a:gd name="T25" fmla="*/ 1367 h 3933"/>
                <a:gd name="T26" fmla="*/ 3224 w 3932"/>
                <a:gd name="T27" fmla="*/ 3021 h 3933"/>
                <a:gd name="T28" fmla="*/ 2046 w 3932"/>
                <a:gd name="T29" fmla="*/ 3605 h 3933"/>
                <a:gd name="T30" fmla="*/ 1219 w 3932"/>
                <a:gd name="T31" fmla="*/ 3611 h 3933"/>
                <a:gd name="T32" fmla="*/ 2053 w 3932"/>
                <a:gd name="T33" fmla="*/ 3933 h 3933"/>
                <a:gd name="T34" fmla="*/ 3446 w 3932"/>
                <a:gd name="T35" fmla="*/ 3264 h 3933"/>
                <a:gd name="T36" fmla="*/ 3902 w 3932"/>
                <a:gd name="T37" fmla="*/ 1621 h 3933"/>
                <a:gd name="T38" fmla="*/ 3848 w 3932"/>
                <a:gd name="T39" fmla="*/ 283 h 3933"/>
                <a:gd name="T40" fmla="*/ 3323 w 3932"/>
                <a:gd name="T41" fmla="*/ 301 h 3933"/>
                <a:gd name="T42" fmla="*/ 1926 w 3932"/>
                <a:gd name="T43" fmla="*/ 0 h 3933"/>
                <a:gd name="T44" fmla="*/ 3081 w 3932"/>
                <a:gd name="T45" fmla="*/ 525 h 3933"/>
                <a:gd name="T46" fmla="*/ 1992 w 3932"/>
                <a:gd name="T47" fmla="*/ 223 h 3933"/>
                <a:gd name="T48" fmla="*/ 693 w 3932"/>
                <a:gd name="T49" fmla="*/ 780 h 3933"/>
                <a:gd name="T50" fmla="*/ 226 w 3932"/>
                <a:gd name="T51" fmla="*/ 2016 h 3933"/>
                <a:gd name="T52" fmla="*/ 750 w 3932"/>
                <a:gd name="T53" fmla="*/ 3221 h 3933"/>
                <a:gd name="T54" fmla="*/ 262 w 3932"/>
                <a:gd name="T55" fmla="*/ 2747 h 3933"/>
                <a:gd name="T56" fmla="*/ 347 w 3932"/>
                <a:gd name="T57" fmla="*/ 1023 h 3933"/>
                <a:gd name="T58" fmla="*/ 1523 w 3932"/>
                <a:gd name="T59" fmla="*/ 147 h 3933"/>
                <a:gd name="T60" fmla="*/ 3735 w 3932"/>
                <a:gd name="T61" fmla="*/ 350 h 3933"/>
                <a:gd name="T62" fmla="*/ 3586 w 3932"/>
                <a:gd name="T63" fmla="*/ 194 h 3933"/>
                <a:gd name="T64" fmla="*/ 2923 w 3932"/>
                <a:gd name="T65" fmla="*/ 912 h 3933"/>
                <a:gd name="T66" fmla="*/ 3670 w 3932"/>
                <a:gd name="T67" fmla="*/ 1196 h 3933"/>
                <a:gd name="T68" fmla="*/ 3630 w 3932"/>
                <a:gd name="T69" fmla="*/ 2829 h 3933"/>
                <a:gd name="T70" fmla="*/ 2159 w 3932"/>
                <a:gd name="T71" fmla="*/ 3828 h 3933"/>
                <a:gd name="T72" fmla="*/ 1322 w 3932"/>
                <a:gd name="T73" fmla="*/ 3629 h 3933"/>
                <a:gd name="T74" fmla="*/ 2681 w 3932"/>
                <a:gd name="T75" fmla="*/ 3553 h 3933"/>
                <a:gd name="T76" fmla="*/ 3700 w 3932"/>
                <a:gd name="T77" fmla="*/ 1965 h 3933"/>
                <a:gd name="T78" fmla="*/ 3428 w 3932"/>
                <a:gd name="T79" fmla="*/ 803 h 3933"/>
                <a:gd name="T80" fmla="*/ 2779 w 3932"/>
                <a:gd name="T81" fmla="*/ 1025 h 3933"/>
                <a:gd name="T82" fmla="*/ 1916 w 3932"/>
                <a:gd name="T83" fmla="*/ 2140 h 3933"/>
                <a:gd name="T84" fmla="*/ 1288 w 3932"/>
                <a:gd name="T85" fmla="*/ 993 h 3933"/>
                <a:gd name="T86" fmla="*/ 2327 w 3932"/>
                <a:gd name="T87" fmla="*/ 1192 h 3933"/>
                <a:gd name="T88" fmla="*/ 2508 w 3932"/>
                <a:gd name="T89" fmla="*/ 1245 h 3933"/>
                <a:gd name="T90" fmla="*/ 2958 w 3932"/>
                <a:gd name="T91" fmla="*/ 2334 h 3933"/>
                <a:gd name="T92" fmla="*/ 2087 w 3932"/>
                <a:gd name="T93" fmla="*/ 1170 h 3933"/>
                <a:gd name="T94" fmla="*/ 1213 w 3932"/>
                <a:gd name="T95" fmla="*/ 2637 h 3933"/>
                <a:gd name="T96" fmla="*/ 748 w 3932"/>
                <a:gd name="T97" fmla="*/ 2782 h 3933"/>
                <a:gd name="T98" fmla="*/ 3215 w 3932"/>
                <a:gd name="T99" fmla="*/ 2449 h 3933"/>
                <a:gd name="T100" fmla="*/ 2313 w 3932"/>
                <a:gd name="T101" fmla="*/ 2717 h 3933"/>
                <a:gd name="T102" fmla="*/ 1553 w 3932"/>
                <a:gd name="T103" fmla="*/ 2486 h 3933"/>
                <a:gd name="T104" fmla="*/ 1233 w 3932"/>
                <a:gd name="T105" fmla="*/ 2537 h 3933"/>
                <a:gd name="T106" fmla="*/ 2916 w 3932"/>
                <a:gd name="T107" fmla="*/ 2444 h 3933"/>
                <a:gd name="T108" fmla="*/ 2142 w 3932"/>
                <a:gd name="T109" fmla="*/ 2689 h 3933"/>
                <a:gd name="T110" fmla="*/ 2593 w 3932"/>
                <a:gd name="T111" fmla="*/ 2444 h 3933"/>
                <a:gd name="T112" fmla="*/ 1966 w 3932"/>
                <a:gd name="T113" fmla="*/ 2949 h 3933"/>
                <a:gd name="T114" fmla="*/ 955 w 3932"/>
                <a:gd name="T115" fmla="*/ 3069 h 3933"/>
                <a:gd name="T116" fmla="*/ 636 w 3932"/>
                <a:gd name="T117" fmla="*/ 3580 h 3933"/>
                <a:gd name="T118" fmla="*/ 880 w 3932"/>
                <a:gd name="T119" fmla="*/ 3406 h 3933"/>
                <a:gd name="T120" fmla="*/ 955 w 3932"/>
                <a:gd name="T121" fmla="*/ 3069 h 3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2" h="3933">
                  <a:moveTo>
                    <a:pt x="1640" y="25"/>
                  </a:moveTo>
                  <a:lnTo>
                    <a:pt x="1551" y="41"/>
                  </a:lnTo>
                  <a:lnTo>
                    <a:pt x="1380" y="86"/>
                  </a:lnTo>
                  <a:lnTo>
                    <a:pt x="1215" y="145"/>
                  </a:lnTo>
                  <a:lnTo>
                    <a:pt x="1058" y="218"/>
                  </a:lnTo>
                  <a:lnTo>
                    <a:pt x="910" y="304"/>
                  </a:lnTo>
                  <a:lnTo>
                    <a:pt x="770" y="402"/>
                  </a:lnTo>
                  <a:lnTo>
                    <a:pt x="640" y="511"/>
                  </a:lnTo>
                  <a:lnTo>
                    <a:pt x="520" y="630"/>
                  </a:lnTo>
                  <a:lnTo>
                    <a:pt x="410" y="760"/>
                  </a:lnTo>
                  <a:lnTo>
                    <a:pt x="312" y="898"/>
                  </a:lnTo>
                  <a:lnTo>
                    <a:pt x="227" y="1045"/>
                  </a:lnTo>
                  <a:lnTo>
                    <a:pt x="154" y="1199"/>
                  </a:lnTo>
                  <a:lnTo>
                    <a:pt x="94" y="1361"/>
                  </a:lnTo>
                  <a:lnTo>
                    <a:pt x="48" y="1528"/>
                  </a:lnTo>
                  <a:lnTo>
                    <a:pt x="17" y="1700"/>
                  </a:lnTo>
                  <a:lnTo>
                    <a:pt x="1" y="1877"/>
                  </a:lnTo>
                  <a:lnTo>
                    <a:pt x="0" y="1967"/>
                  </a:lnTo>
                  <a:lnTo>
                    <a:pt x="0" y="2024"/>
                  </a:lnTo>
                  <a:lnTo>
                    <a:pt x="7" y="2138"/>
                  </a:lnTo>
                  <a:lnTo>
                    <a:pt x="19" y="2251"/>
                  </a:lnTo>
                  <a:lnTo>
                    <a:pt x="39" y="2362"/>
                  </a:lnTo>
                  <a:lnTo>
                    <a:pt x="64" y="2471"/>
                  </a:lnTo>
                  <a:lnTo>
                    <a:pt x="96" y="2579"/>
                  </a:lnTo>
                  <a:lnTo>
                    <a:pt x="135" y="2685"/>
                  </a:lnTo>
                  <a:lnTo>
                    <a:pt x="180" y="2789"/>
                  </a:lnTo>
                  <a:lnTo>
                    <a:pt x="205" y="2840"/>
                  </a:lnTo>
                  <a:lnTo>
                    <a:pt x="234" y="2898"/>
                  </a:lnTo>
                  <a:lnTo>
                    <a:pt x="289" y="2997"/>
                  </a:lnTo>
                  <a:lnTo>
                    <a:pt x="350" y="3088"/>
                  </a:lnTo>
                  <a:lnTo>
                    <a:pt x="425" y="3188"/>
                  </a:lnTo>
                  <a:lnTo>
                    <a:pt x="473" y="3247"/>
                  </a:lnTo>
                  <a:lnTo>
                    <a:pt x="516" y="3301"/>
                  </a:lnTo>
                  <a:lnTo>
                    <a:pt x="550" y="3356"/>
                  </a:lnTo>
                  <a:lnTo>
                    <a:pt x="557" y="3375"/>
                  </a:lnTo>
                  <a:lnTo>
                    <a:pt x="553" y="3379"/>
                  </a:lnTo>
                  <a:lnTo>
                    <a:pt x="542" y="3384"/>
                  </a:lnTo>
                  <a:lnTo>
                    <a:pt x="519" y="3413"/>
                  </a:lnTo>
                  <a:lnTo>
                    <a:pt x="498" y="3454"/>
                  </a:lnTo>
                  <a:lnTo>
                    <a:pt x="484" y="3497"/>
                  </a:lnTo>
                  <a:lnTo>
                    <a:pt x="483" y="3515"/>
                  </a:lnTo>
                  <a:lnTo>
                    <a:pt x="484" y="3538"/>
                  </a:lnTo>
                  <a:lnTo>
                    <a:pt x="500" y="3582"/>
                  </a:lnTo>
                  <a:lnTo>
                    <a:pt x="527" y="3623"/>
                  </a:lnTo>
                  <a:lnTo>
                    <a:pt x="563" y="3655"/>
                  </a:lnTo>
                  <a:lnTo>
                    <a:pt x="583" y="3665"/>
                  </a:lnTo>
                  <a:lnTo>
                    <a:pt x="599" y="3671"/>
                  </a:lnTo>
                  <a:lnTo>
                    <a:pt x="639" y="3676"/>
                  </a:lnTo>
                  <a:lnTo>
                    <a:pt x="738" y="3672"/>
                  </a:lnTo>
                  <a:lnTo>
                    <a:pt x="863" y="3657"/>
                  </a:lnTo>
                  <a:lnTo>
                    <a:pt x="924" y="3649"/>
                  </a:lnTo>
                  <a:lnTo>
                    <a:pt x="1020" y="3634"/>
                  </a:lnTo>
                  <a:lnTo>
                    <a:pt x="1090" y="3615"/>
                  </a:lnTo>
                  <a:lnTo>
                    <a:pt x="1126" y="3596"/>
                  </a:lnTo>
                  <a:lnTo>
                    <a:pt x="1143" y="3579"/>
                  </a:lnTo>
                  <a:lnTo>
                    <a:pt x="1155" y="3559"/>
                  </a:lnTo>
                  <a:lnTo>
                    <a:pt x="1163" y="3535"/>
                  </a:lnTo>
                  <a:lnTo>
                    <a:pt x="1166" y="3490"/>
                  </a:lnTo>
                  <a:lnTo>
                    <a:pt x="1156" y="3411"/>
                  </a:lnTo>
                  <a:lnTo>
                    <a:pt x="1132" y="3306"/>
                  </a:lnTo>
                  <a:lnTo>
                    <a:pt x="1116" y="3240"/>
                  </a:lnTo>
                  <a:lnTo>
                    <a:pt x="1103" y="3184"/>
                  </a:lnTo>
                  <a:lnTo>
                    <a:pt x="1079" y="3102"/>
                  </a:lnTo>
                  <a:lnTo>
                    <a:pt x="1058" y="3048"/>
                  </a:lnTo>
                  <a:lnTo>
                    <a:pt x="1037" y="3014"/>
                  </a:lnTo>
                  <a:lnTo>
                    <a:pt x="1025" y="3002"/>
                  </a:lnTo>
                  <a:lnTo>
                    <a:pt x="1013" y="2992"/>
                  </a:lnTo>
                  <a:lnTo>
                    <a:pt x="987" y="2977"/>
                  </a:lnTo>
                  <a:lnTo>
                    <a:pt x="961" y="2968"/>
                  </a:lnTo>
                  <a:lnTo>
                    <a:pt x="934" y="2965"/>
                  </a:lnTo>
                  <a:lnTo>
                    <a:pt x="906" y="2967"/>
                  </a:lnTo>
                  <a:lnTo>
                    <a:pt x="877" y="2975"/>
                  </a:lnTo>
                  <a:lnTo>
                    <a:pt x="849" y="2988"/>
                  </a:lnTo>
                  <a:lnTo>
                    <a:pt x="820" y="3007"/>
                  </a:lnTo>
                  <a:lnTo>
                    <a:pt x="806" y="3019"/>
                  </a:lnTo>
                  <a:lnTo>
                    <a:pt x="746" y="3072"/>
                  </a:lnTo>
                  <a:lnTo>
                    <a:pt x="698" y="3015"/>
                  </a:lnTo>
                  <a:lnTo>
                    <a:pt x="667" y="2977"/>
                  </a:lnTo>
                  <a:lnTo>
                    <a:pt x="599" y="2878"/>
                  </a:lnTo>
                  <a:lnTo>
                    <a:pt x="531" y="2765"/>
                  </a:lnTo>
                  <a:lnTo>
                    <a:pt x="472" y="2654"/>
                  </a:lnTo>
                  <a:lnTo>
                    <a:pt x="450" y="2604"/>
                  </a:lnTo>
                  <a:lnTo>
                    <a:pt x="421" y="2531"/>
                  </a:lnTo>
                  <a:lnTo>
                    <a:pt x="375" y="2380"/>
                  </a:lnTo>
                  <a:lnTo>
                    <a:pt x="343" y="2225"/>
                  </a:lnTo>
                  <a:lnTo>
                    <a:pt x="326" y="2066"/>
                  </a:lnTo>
                  <a:lnTo>
                    <a:pt x="325" y="1907"/>
                  </a:lnTo>
                  <a:lnTo>
                    <a:pt x="338" y="1748"/>
                  </a:lnTo>
                  <a:lnTo>
                    <a:pt x="366" y="1592"/>
                  </a:lnTo>
                  <a:lnTo>
                    <a:pt x="409" y="1440"/>
                  </a:lnTo>
                  <a:lnTo>
                    <a:pt x="436" y="1367"/>
                  </a:lnTo>
                  <a:lnTo>
                    <a:pt x="466" y="1295"/>
                  </a:lnTo>
                  <a:lnTo>
                    <a:pt x="535" y="1158"/>
                  </a:lnTo>
                  <a:lnTo>
                    <a:pt x="616" y="1030"/>
                  </a:lnTo>
                  <a:lnTo>
                    <a:pt x="706" y="911"/>
                  </a:lnTo>
                  <a:lnTo>
                    <a:pt x="806" y="802"/>
                  </a:lnTo>
                  <a:lnTo>
                    <a:pt x="915" y="703"/>
                  </a:lnTo>
                  <a:lnTo>
                    <a:pt x="1031" y="614"/>
                  </a:lnTo>
                  <a:lnTo>
                    <a:pt x="1154" y="536"/>
                  </a:lnTo>
                  <a:lnTo>
                    <a:pt x="1284" y="470"/>
                  </a:lnTo>
                  <a:lnTo>
                    <a:pt x="1419" y="415"/>
                  </a:lnTo>
                  <a:lnTo>
                    <a:pt x="1559" y="373"/>
                  </a:lnTo>
                  <a:lnTo>
                    <a:pt x="1703" y="343"/>
                  </a:lnTo>
                  <a:lnTo>
                    <a:pt x="1850" y="326"/>
                  </a:lnTo>
                  <a:lnTo>
                    <a:pt x="1999" y="322"/>
                  </a:lnTo>
                  <a:lnTo>
                    <a:pt x="2149" y="332"/>
                  </a:lnTo>
                  <a:lnTo>
                    <a:pt x="2301" y="356"/>
                  </a:lnTo>
                  <a:lnTo>
                    <a:pt x="2376" y="374"/>
                  </a:lnTo>
                  <a:lnTo>
                    <a:pt x="2432" y="389"/>
                  </a:lnTo>
                  <a:lnTo>
                    <a:pt x="2544" y="427"/>
                  </a:lnTo>
                  <a:lnTo>
                    <a:pt x="2656" y="475"/>
                  </a:lnTo>
                  <a:lnTo>
                    <a:pt x="2767" y="531"/>
                  </a:lnTo>
                  <a:lnTo>
                    <a:pt x="2821" y="562"/>
                  </a:lnTo>
                  <a:lnTo>
                    <a:pt x="2951" y="639"/>
                  </a:lnTo>
                  <a:lnTo>
                    <a:pt x="2828" y="762"/>
                  </a:lnTo>
                  <a:lnTo>
                    <a:pt x="2705" y="885"/>
                  </a:lnTo>
                  <a:lnTo>
                    <a:pt x="2581" y="900"/>
                  </a:lnTo>
                  <a:lnTo>
                    <a:pt x="2499" y="911"/>
                  </a:lnTo>
                  <a:lnTo>
                    <a:pt x="2349" y="943"/>
                  </a:lnTo>
                  <a:lnTo>
                    <a:pt x="2214" y="988"/>
                  </a:lnTo>
                  <a:lnTo>
                    <a:pt x="2093" y="1048"/>
                  </a:lnTo>
                  <a:lnTo>
                    <a:pt x="2038" y="1084"/>
                  </a:lnTo>
                  <a:lnTo>
                    <a:pt x="1968" y="1132"/>
                  </a:lnTo>
                  <a:lnTo>
                    <a:pt x="1863" y="1067"/>
                  </a:lnTo>
                  <a:lnTo>
                    <a:pt x="1811" y="1036"/>
                  </a:lnTo>
                  <a:lnTo>
                    <a:pt x="1690" y="982"/>
                  </a:lnTo>
                  <a:lnTo>
                    <a:pt x="1556" y="938"/>
                  </a:lnTo>
                  <a:lnTo>
                    <a:pt x="1412" y="907"/>
                  </a:lnTo>
                  <a:lnTo>
                    <a:pt x="1338" y="897"/>
                  </a:lnTo>
                  <a:lnTo>
                    <a:pt x="1275" y="890"/>
                  </a:lnTo>
                  <a:lnTo>
                    <a:pt x="1133" y="884"/>
                  </a:lnTo>
                  <a:lnTo>
                    <a:pt x="1001" y="887"/>
                  </a:lnTo>
                  <a:lnTo>
                    <a:pt x="927" y="894"/>
                  </a:lnTo>
                  <a:lnTo>
                    <a:pt x="895" y="901"/>
                  </a:lnTo>
                  <a:lnTo>
                    <a:pt x="886" y="905"/>
                  </a:lnTo>
                  <a:lnTo>
                    <a:pt x="882" y="909"/>
                  </a:lnTo>
                  <a:lnTo>
                    <a:pt x="874" y="930"/>
                  </a:lnTo>
                  <a:lnTo>
                    <a:pt x="867" y="986"/>
                  </a:lnTo>
                  <a:lnTo>
                    <a:pt x="866" y="1042"/>
                  </a:lnTo>
                  <a:lnTo>
                    <a:pt x="866" y="1165"/>
                  </a:lnTo>
                  <a:lnTo>
                    <a:pt x="808" y="1165"/>
                  </a:lnTo>
                  <a:lnTo>
                    <a:pt x="781" y="1167"/>
                  </a:lnTo>
                  <a:lnTo>
                    <a:pt x="727" y="1179"/>
                  </a:lnTo>
                  <a:lnTo>
                    <a:pt x="680" y="1202"/>
                  </a:lnTo>
                  <a:lnTo>
                    <a:pt x="644" y="1231"/>
                  </a:lnTo>
                  <a:lnTo>
                    <a:pt x="633" y="1247"/>
                  </a:lnTo>
                  <a:lnTo>
                    <a:pt x="629" y="1263"/>
                  </a:lnTo>
                  <a:lnTo>
                    <a:pt x="623" y="1374"/>
                  </a:lnTo>
                  <a:lnTo>
                    <a:pt x="617" y="1695"/>
                  </a:lnTo>
                  <a:lnTo>
                    <a:pt x="616" y="2032"/>
                  </a:lnTo>
                  <a:lnTo>
                    <a:pt x="616" y="2785"/>
                  </a:lnTo>
                  <a:lnTo>
                    <a:pt x="665" y="2834"/>
                  </a:lnTo>
                  <a:lnTo>
                    <a:pt x="713" y="2882"/>
                  </a:lnTo>
                  <a:lnTo>
                    <a:pt x="1231" y="2882"/>
                  </a:lnTo>
                  <a:lnTo>
                    <a:pt x="1750" y="2882"/>
                  </a:lnTo>
                  <a:lnTo>
                    <a:pt x="1790" y="2947"/>
                  </a:lnTo>
                  <a:lnTo>
                    <a:pt x="1806" y="2970"/>
                  </a:lnTo>
                  <a:lnTo>
                    <a:pt x="1845" y="3007"/>
                  </a:lnTo>
                  <a:lnTo>
                    <a:pt x="1892" y="3034"/>
                  </a:lnTo>
                  <a:lnTo>
                    <a:pt x="1943" y="3047"/>
                  </a:lnTo>
                  <a:lnTo>
                    <a:pt x="1970" y="3049"/>
                  </a:lnTo>
                  <a:lnTo>
                    <a:pt x="1993" y="3047"/>
                  </a:lnTo>
                  <a:lnTo>
                    <a:pt x="2044" y="3030"/>
                  </a:lnTo>
                  <a:lnTo>
                    <a:pt x="2093" y="2999"/>
                  </a:lnTo>
                  <a:lnTo>
                    <a:pt x="2134" y="2960"/>
                  </a:lnTo>
                  <a:lnTo>
                    <a:pt x="2148" y="2939"/>
                  </a:lnTo>
                  <a:lnTo>
                    <a:pt x="2181" y="2882"/>
                  </a:lnTo>
                  <a:lnTo>
                    <a:pt x="2698" y="2882"/>
                  </a:lnTo>
                  <a:lnTo>
                    <a:pt x="3215" y="2882"/>
                  </a:lnTo>
                  <a:lnTo>
                    <a:pt x="3261" y="2842"/>
                  </a:lnTo>
                  <a:lnTo>
                    <a:pt x="3308" y="2802"/>
                  </a:lnTo>
                  <a:lnTo>
                    <a:pt x="3313" y="2055"/>
                  </a:lnTo>
                  <a:lnTo>
                    <a:pt x="3314" y="1689"/>
                  </a:lnTo>
                  <a:lnTo>
                    <a:pt x="3310" y="1380"/>
                  </a:lnTo>
                  <a:lnTo>
                    <a:pt x="3303" y="1279"/>
                  </a:lnTo>
                  <a:lnTo>
                    <a:pt x="3298" y="1260"/>
                  </a:lnTo>
                  <a:lnTo>
                    <a:pt x="3288" y="1240"/>
                  </a:lnTo>
                  <a:lnTo>
                    <a:pt x="3255" y="1205"/>
                  </a:lnTo>
                  <a:lnTo>
                    <a:pt x="3209" y="1180"/>
                  </a:lnTo>
                  <a:lnTo>
                    <a:pt x="3154" y="1167"/>
                  </a:lnTo>
                  <a:lnTo>
                    <a:pt x="3125" y="1165"/>
                  </a:lnTo>
                  <a:lnTo>
                    <a:pt x="3102" y="1165"/>
                  </a:lnTo>
                  <a:lnTo>
                    <a:pt x="3070" y="1157"/>
                  </a:lnTo>
                  <a:lnTo>
                    <a:pt x="3066" y="1152"/>
                  </a:lnTo>
                  <a:lnTo>
                    <a:pt x="3072" y="1141"/>
                  </a:lnTo>
                  <a:lnTo>
                    <a:pt x="3121" y="1086"/>
                  </a:lnTo>
                  <a:lnTo>
                    <a:pt x="3189" y="1019"/>
                  </a:lnTo>
                  <a:lnTo>
                    <a:pt x="3245" y="971"/>
                  </a:lnTo>
                  <a:lnTo>
                    <a:pt x="3256" y="965"/>
                  </a:lnTo>
                  <a:lnTo>
                    <a:pt x="3264" y="967"/>
                  </a:lnTo>
                  <a:lnTo>
                    <a:pt x="3285" y="987"/>
                  </a:lnTo>
                  <a:lnTo>
                    <a:pt x="3329" y="1045"/>
                  </a:lnTo>
                  <a:lnTo>
                    <a:pt x="3400" y="1164"/>
                  </a:lnTo>
                  <a:lnTo>
                    <a:pt x="3469" y="1301"/>
                  </a:lnTo>
                  <a:lnTo>
                    <a:pt x="3496" y="1367"/>
                  </a:lnTo>
                  <a:lnTo>
                    <a:pt x="3523" y="1437"/>
                  </a:lnTo>
                  <a:lnTo>
                    <a:pt x="3565" y="1583"/>
                  </a:lnTo>
                  <a:lnTo>
                    <a:pt x="3593" y="1734"/>
                  </a:lnTo>
                  <a:lnTo>
                    <a:pt x="3606" y="1888"/>
                  </a:lnTo>
                  <a:lnTo>
                    <a:pt x="3606" y="2043"/>
                  </a:lnTo>
                  <a:lnTo>
                    <a:pt x="3593" y="2196"/>
                  </a:lnTo>
                  <a:lnTo>
                    <a:pt x="3565" y="2347"/>
                  </a:lnTo>
                  <a:lnTo>
                    <a:pt x="3523" y="2493"/>
                  </a:lnTo>
                  <a:lnTo>
                    <a:pt x="3496" y="2564"/>
                  </a:lnTo>
                  <a:lnTo>
                    <a:pt x="3478" y="2610"/>
                  </a:lnTo>
                  <a:lnTo>
                    <a:pt x="3436" y="2699"/>
                  </a:lnTo>
                  <a:lnTo>
                    <a:pt x="3390" y="2784"/>
                  </a:lnTo>
                  <a:lnTo>
                    <a:pt x="3339" y="2867"/>
                  </a:lnTo>
                  <a:lnTo>
                    <a:pt x="3284" y="2946"/>
                  </a:lnTo>
                  <a:lnTo>
                    <a:pt x="3224" y="3021"/>
                  </a:lnTo>
                  <a:lnTo>
                    <a:pt x="3161" y="3093"/>
                  </a:lnTo>
                  <a:lnTo>
                    <a:pt x="3093" y="3160"/>
                  </a:lnTo>
                  <a:lnTo>
                    <a:pt x="3021" y="3224"/>
                  </a:lnTo>
                  <a:lnTo>
                    <a:pt x="2946" y="3284"/>
                  </a:lnTo>
                  <a:lnTo>
                    <a:pt x="2867" y="3339"/>
                  </a:lnTo>
                  <a:lnTo>
                    <a:pt x="2784" y="3390"/>
                  </a:lnTo>
                  <a:lnTo>
                    <a:pt x="2699" y="3436"/>
                  </a:lnTo>
                  <a:lnTo>
                    <a:pt x="2610" y="3478"/>
                  </a:lnTo>
                  <a:lnTo>
                    <a:pt x="2518" y="3515"/>
                  </a:lnTo>
                  <a:lnTo>
                    <a:pt x="2423" y="3546"/>
                  </a:lnTo>
                  <a:lnTo>
                    <a:pt x="2375" y="3560"/>
                  </a:lnTo>
                  <a:lnTo>
                    <a:pt x="2324" y="3574"/>
                  </a:lnTo>
                  <a:lnTo>
                    <a:pt x="2238" y="3592"/>
                  </a:lnTo>
                  <a:lnTo>
                    <a:pt x="2153" y="3601"/>
                  </a:lnTo>
                  <a:lnTo>
                    <a:pt x="2046" y="3605"/>
                  </a:lnTo>
                  <a:lnTo>
                    <a:pt x="1975" y="3605"/>
                  </a:lnTo>
                  <a:lnTo>
                    <a:pt x="1903" y="3606"/>
                  </a:lnTo>
                  <a:lnTo>
                    <a:pt x="1794" y="3603"/>
                  </a:lnTo>
                  <a:lnTo>
                    <a:pt x="1704" y="3593"/>
                  </a:lnTo>
                  <a:lnTo>
                    <a:pt x="1608" y="3573"/>
                  </a:lnTo>
                  <a:lnTo>
                    <a:pt x="1548" y="3559"/>
                  </a:lnTo>
                  <a:lnTo>
                    <a:pt x="1471" y="3540"/>
                  </a:lnTo>
                  <a:lnTo>
                    <a:pt x="1387" y="3525"/>
                  </a:lnTo>
                  <a:lnTo>
                    <a:pt x="1344" y="3521"/>
                  </a:lnTo>
                  <a:lnTo>
                    <a:pt x="1310" y="3524"/>
                  </a:lnTo>
                  <a:lnTo>
                    <a:pt x="1283" y="3534"/>
                  </a:lnTo>
                  <a:lnTo>
                    <a:pt x="1261" y="3550"/>
                  </a:lnTo>
                  <a:lnTo>
                    <a:pt x="1242" y="3573"/>
                  </a:lnTo>
                  <a:lnTo>
                    <a:pt x="1233" y="3587"/>
                  </a:lnTo>
                  <a:lnTo>
                    <a:pt x="1219" y="3611"/>
                  </a:lnTo>
                  <a:lnTo>
                    <a:pt x="1203" y="3654"/>
                  </a:lnTo>
                  <a:lnTo>
                    <a:pt x="1203" y="3694"/>
                  </a:lnTo>
                  <a:lnTo>
                    <a:pt x="1219" y="3736"/>
                  </a:lnTo>
                  <a:lnTo>
                    <a:pt x="1233" y="3760"/>
                  </a:lnTo>
                  <a:lnTo>
                    <a:pt x="1242" y="3775"/>
                  </a:lnTo>
                  <a:lnTo>
                    <a:pt x="1265" y="3799"/>
                  </a:lnTo>
                  <a:lnTo>
                    <a:pt x="1297" y="3819"/>
                  </a:lnTo>
                  <a:lnTo>
                    <a:pt x="1342" y="3837"/>
                  </a:lnTo>
                  <a:lnTo>
                    <a:pt x="1373" y="3847"/>
                  </a:lnTo>
                  <a:lnTo>
                    <a:pt x="1430" y="3864"/>
                  </a:lnTo>
                  <a:lnTo>
                    <a:pt x="1549" y="3892"/>
                  </a:lnTo>
                  <a:lnTo>
                    <a:pt x="1673" y="3913"/>
                  </a:lnTo>
                  <a:lnTo>
                    <a:pt x="1800" y="3927"/>
                  </a:lnTo>
                  <a:lnTo>
                    <a:pt x="1927" y="3933"/>
                  </a:lnTo>
                  <a:lnTo>
                    <a:pt x="2053" y="3933"/>
                  </a:lnTo>
                  <a:lnTo>
                    <a:pt x="2177" y="3924"/>
                  </a:lnTo>
                  <a:lnTo>
                    <a:pt x="2297" y="3908"/>
                  </a:lnTo>
                  <a:lnTo>
                    <a:pt x="2355" y="3897"/>
                  </a:lnTo>
                  <a:lnTo>
                    <a:pt x="2411" y="3885"/>
                  </a:lnTo>
                  <a:lnTo>
                    <a:pt x="2521" y="3856"/>
                  </a:lnTo>
                  <a:lnTo>
                    <a:pt x="2628" y="3821"/>
                  </a:lnTo>
                  <a:lnTo>
                    <a:pt x="2733" y="3781"/>
                  </a:lnTo>
                  <a:lnTo>
                    <a:pt x="2834" y="3735"/>
                  </a:lnTo>
                  <a:lnTo>
                    <a:pt x="2933" y="3683"/>
                  </a:lnTo>
                  <a:lnTo>
                    <a:pt x="3028" y="3626"/>
                  </a:lnTo>
                  <a:lnTo>
                    <a:pt x="3119" y="3563"/>
                  </a:lnTo>
                  <a:lnTo>
                    <a:pt x="3207" y="3496"/>
                  </a:lnTo>
                  <a:lnTo>
                    <a:pt x="3291" y="3423"/>
                  </a:lnTo>
                  <a:lnTo>
                    <a:pt x="3370" y="3346"/>
                  </a:lnTo>
                  <a:lnTo>
                    <a:pt x="3446" y="3264"/>
                  </a:lnTo>
                  <a:lnTo>
                    <a:pt x="3517" y="3177"/>
                  </a:lnTo>
                  <a:lnTo>
                    <a:pt x="3583" y="3086"/>
                  </a:lnTo>
                  <a:lnTo>
                    <a:pt x="3645" y="2991"/>
                  </a:lnTo>
                  <a:lnTo>
                    <a:pt x="3702" y="2892"/>
                  </a:lnTo>
                  <a:lnTo>
                    <a:pt x="3728" y="2840"/>
                  </a:lnTo>
                  <a:lnTo>
                    <a:pt x="3757" y="2780"/>
                  </a:lnTo>
                  <a:lnTo>
                    <a:pt x="3808" y="2657"/>
                  </a:lnTo>
                  <a:lnTo>
                    <a:pt x="3851" y="2531"/>
                  </a:lnTo>
                  <a:lnTo>
                    <a:pt x="3884" y="2403"/>
                  </a:lnTo>
                  <a:lnTo>
                    <a:pt x="3909" y="2274"/>
                  </a:lnTo>
                  <a:lnTo>
                    <a:pt x="3925" y="2143"/>
                  </a:lnTo>
                  <a:lnTo>
                    <a:pt x="3932" y="2012"/>
                  </a:lnTo>
                  <a:lnTo>
                    <a:pt x="3930" y="1881"/>
                  </a:lnTo>
                  <a:lnTo>
                    <a:pt x="3920" y="1751"/>
                  </a:lnTo>
                  <a:lnTo>
                    <a:pt x="3902" y="1621"/>
                  </a:lnTo>
                  <a:lnTo>
                    <a:pt x="3874" y="1492"/>
                  </a:lnTo>
                  <a:lnTo>
                    <a:pt x="3839" y="1366"/>
                  </a:lnTo>
                  <a:lnTo>
                    <a:pt x="3794" y="1241"/>
                  </a:lnTo>
                  <a:lnTo>
                    <a:pt x="3742" y="1119"/>
                  </a:lnTo>
                  <a:lnTo>
                    <a:pt x="3681" y="1001"/>
                  </a:lnTo>
                  <a:lnTo>
                    <a:pt x="3611" y="886"/>
                  </a:lnTo>
                  <a:lnTo>
                    <a:pt x="3573" y="830"/>
                  </a:lnTo>
                  <a:lnTo>
                    <a:pt x="3500" y="724"/>
                  </a:lnTo>
                  <a:lnTo>
                    <a:pt x="3665" y="565"/>
                  </a:lnTo>
                  <a:lnTo>
                    <a:pt x="3736" y="495"/>
                  </a:lnTo>
                  <a:lnTo>
                    <a:pt x="3810" y="411"/>
                  </a:lnTo>
                  <a:lnTo>
                    <a:pt x="3837" y="372"/>
                  </a:lnTo>
                  <a:lnTo>
                    <a:pt x="3841" y="360"/>
                  </a:lnTo>
                  <a:lnTo>
                    <a:pt x="3847" y="334"/>
                  </a:lnTo>
                  <a:lnTo>
                    <a:pt x="3848" y="283"/>
                  </a:lnTo>
                  <a:lnTo>
                    <a:pt x="3838" y="234"/>
                  </a:lnTo>
                  <a:lnTo>
                    <a:pt x="3819" y="189"/>
                  </a:lnTo>
                  <a:lnTo>
                    <a:pt x="3792" y="150"/>
                  </a:lnTo>
                  <a:lnTo>
                    <a:pt x="3757" y="118"/>
                  </a:lnTo>
                  <a:lnTo>
                    <a:pt x="3716" y="95"/>
                  </a:lnTo>
                  <a:lnTo>
                    <a:pt x="3669" y="83"/>
                  </a:lnTo>
                  <a:lnTo>
                    <a:pt x="3645" y="82"/>
                  </a:lnTo>
                  <a:lnTo>
                    <a:pt x="3629" y="82"/>
                  </a:lnTo>
                  <a:lnTo>
                    <a:pt x="3598" y="87"/>
                  </a:lnTo>
                  <a:lnTo>
                    <a:pt x="3567" y="96"/>
                  </a:lnTo>
                  <a:lnTo>
                    <a:pt x="3536" y="111"/>
                  </a:lnTo>
                  <a:lnTo>
                    <a:pt x="3485" y="145"/>
                  </a:lnTo>
                  <a:lnTo>
                    <a:pt x="3406" y="216"/>
                  </a:lnTo>
                  <a:lnTo>
                    <a:pt x="3358" y="265"/>
                  </a:lnTo>
                  <a:lnTo>
                    <a:pt x="3323" y="301"/>
                  </a:lnTo>
                  <a:lnTo>
                    <a:pt x="3253" y="366"/>
                  </a:lnTo>
                  <a:lnTo>
                    <a:pt x="3230" y="384"/>
                  </a:lnTo>
                  <a:lnTo>
                    <a:pt x="3183" y="417"/>
                  </a:lnTo>
                  <a:lnTo>
                    <a:pt x="3106" y="359"/>
                  </a:lnTo>
                  <a:lnTo>
                    <a:pt x="3060" y="326"/>
                  </a:lnTo>
                  <a:lnTo>
                    <a:pt x="2931" y="251"/>
                  </a:lnTo>
                  <a:lnTo>
                    <a:pt x="2781" y="176"/>
                  </a:lnTo>
                  <a:lnTo>
                    <a:pt x="2633" y="113"/>
                  </a:lnTo>
                  <a:lnTo>
                    <a:pt x="2570" y="92"/>
                  </a:lnTo>
                  <a:lnTo>
                    <a:pt x="2515" y="76"/>
                  </a:lnTo>
                  <a:lnTo>
                    <a:pt x="2402" y="48"/>
                  </a:lnTo>
                  <a:lnTo>
                    <a:pt x="2285" y="26"/>
                  </a:lnTo>
                  <a:lnTo>
                    <a:pt x="2165" y="11"/>
                  </a:lnTo>
                  <a:lnTo>
                    <a:pt x="2045" y="2"/>
                  </a:lnTo>
                  <a:lnTo>
                    <a:pt x="1926" y="0"/>
                  </a:lnTo>
                  <a:lnTo>
                    <a:pt x="1808" y="5"/>
                  </a:lnTo>
                  <a:lnTo>
                    <a:pt x="1695" y="17"/>
                  </a:lnTo>
                  <a:lnTo>
                    <a:pt x="1640" y="25"/>
                  </a:lnTo>
                  <a:close/>
                  <a:moveTo>
                    <a:pt x="2315" y="125"/>
                  </a:moveTo>
                  <a:lnTo>
                    <a:pt x="2362" y="134"/>
                  </a:lnTo>
                  <a:lnTo>
                    <a:pt x="2459" y="158"/>
                  </a:lnTo>
                  <a:lnTo>
                    <a:pt x="2557" y="188"/>
                  </a:lnTo>
                  <a:lnTo>
                    <a:pt x="2654" y="223"/>
                  </a:lnTo>
                  <a:lnTo>
                    <a:pt x="2749" y="263"/>
                  </a:lnTo>
                  <a:lnTo>
                    <a:pt x="2842" y="307"/>
                  </a:lnTo>
                  <a:lnTo>
                    <a:pt x="2929" y="355"/>
                  </a:lnTo>
                  <a:lnTo>
                    <a:pt x="3010" y="406"/>
                  </a:lnTo>
                  <a:lnTo>
                    <a:pt x="3048" y="432"/>
                  </a:lnTo>
                  <a:lnTo>
                    <a:pt x="3120" y="485"/>
                  </a:lnTo>
                  <a:lnTo>
                    <a:pt x="3081" y="525"/>
                  </a:lnTo>
                  <a:lnTo>
                    <a:pt x="3066" y="541"/>
                  </a:lnTo>
                  <a:lnTo>
                    <a:pt x="3037" y="563"/>
                  </a:lnTo>
                  <a:lnTo>
                    <a:pt x="3030" y="565"/>
                  </a:lnTo>
                  <a:lnTo>
                    <a:pt x="3016" y="561"/>
                  </a:lnTo>
                  <a:lnTo>
                    <a:pt x="2938" y="518"/>
                  </a:lnTo>
                  <a:lnTo>
                    <a:pt x="2886" y="487"/>
                  </a:lnTo>
                  <a:lnTo>
                    <a:pt x="2836" y="457"/>
                  </a:lnTo>
                  <a:lnTo>
                    <a:pt x="2735" y="404"/>
                  </a:lnTo>
                  <a:lnTo>
                    <a:pt x="2632" y="357"/>
                  </a:lnTo>
                  <a:lnTo>
                    <a:pt x="2527" y="318"/>
                  </a:lnTo>
                  <a:lnTo>
                    <a:pt x="2422" y="285"/>
                  </a:lnTo>
                  <a:lnTo>
                    <a:pt x="2315" y="259"/>
                  </a:lnTo>
                  <a:lnTo>
                    <a:pt x="2208" y="240"/>
                  </a:lnTo>
                  <a:lnTo>
                    <a:pt x="2100" y="228"/>
                  </a:lnTo>
                  <a:lnTo>
                    <a:pt x="1992" y="223"/>
                  </a:lnTo>
                  <a:lnTo>
                    <a:pt x="1883" y="225"/>
                  </a:lnTo>
                  <a:lnTo>
                    <a:pt x="1775" y="234"/>
                  </a:lnTo>
                  <a:lnTo>
                    <a:pt x="1667" y="249"/>
                  </a:lnTo>
                  <a:lnTo>
                    <a:pt x="1560" y="272"/>
                  </a:lnTo>
                  <a:lnTo>
                    <a:pt x="1453" y="302"/>
                  </a:lnTo>
                  <a:lnTo>
                    <a:pt x="1348" y="339"/>
                  </a:lnTo>
                  <a:lnTo>
                    <a:pt x="1243" y="384"/>
                  </a:lnTo>
                  <a:lnTo>
                    <a:pt x="1191" y="409"/>
                  </a:lnTo>
                  <a:lnTo>
                    <a:pt x="1148" y="431"/>
                  </a:lnTo>
                  <a:lnTo>
                    <a:pt x="1063" y="479"/>
                  </a:lnTo>
                  <a:lnTo>
                    <a:pt x="982" y="531"/>
                  </a:lnTo>
                  <a:lnTo>
                    <a:pt x="904" y="587"/>
                  </a:lnTo>
                  <a:lnTo>
                    <a:pt x="830" y="648"/>
                  </a:lnTo>
                  <a:lnTo>
                    <a:pt x="759" y="712"/>
                  </a:lnTo>
                  <a:lnTo>
                    <a:pt x="693" y="780"/>
                  </a:lnTo>
                  <a:lnTo>
                    <a:pt x="630" y="852"/>
                  </a:lnTo>
                  <a:lnTo>
                    <a:pt x="571" y="927"/>
                  </a:lnTo>
                  <a:lnTo>
                    <a:pt x="516" y="1006"/>
                  </a:lnTo>
                  <a:lnTo>
                    <a:pt x="466" y="1088"/>
                  </a:lnTo>
                  <a:lnTo>
                    <a:pt x="419" y="1173"/>
                  </a:lnTo>
                  <a:lnTo>
                    <a:pt x="377" y="1262"/>
                  </a:lnTo>
                  <a:lnTo>
                    <a:pt x="339" y="1353"/>
                  </a:lnTo>
                  <a:lnTo>
                    <a:pt x="305" y="1448"/>
                  </a:lnTo>
                  <a:lnTo>
                    <a:pt x="276" y="1545"/>
                  </a:lnTo>
                  <a:lnTo>
                    <a:pt x="263" y="1595"/>
                  </a:lnTo>
                  <a:lnTo>
                    <a:pt x="254" y="1634"/>
                  </a:lnTo>
                  <a:lnTo>
                    <a:pt x="240" y="1721"/>
                  </a:lnTo>
                  <a:lnTo>
                    <a:pt x="231" y="1816"/>
                  </a:lnTo>
                  <a:lnTo>
                    <a:pt x="226" y="1915"/>
                  </a:lnTo>
                  <a:lnTo>
                    <a:pt x="226" y="2016"/>
                  </a:lnTo>
                  <a:lnTo>
                    <a:pt x="231" y="2115"/>
                  </a:lnTo>
                  <a:lnTo>
                    <a:pt x="240" y="2209"/>
                  </a:lnTo>
                  <a:lnTo>
                    <a:pt x="254" y="2296"/>
                  </a:lnTo>
                  <a:lnTo>
                    <a:pt x="263" y="2335"/>
                  </a:lnTo>
                  <a:lnTo>
                    <a:pt x="278" y="2394"/>
                  </a:lnTo>
                  <a:lnTo>
                    <a:pt x="312" y="2506"/>
                  </a:lnTo>
                  <a:lnTo>
                    <a:pt x="351" y="2614"/>
                  </a:lnTo>
                  <a:lnTo>
                    <a:pt x="396" y="2716"/>
                  </a:lnTo>
                  <a:lnTo>
                    <a:pt x="446" y="2814"/>
                  </a:lnTo>
                  <a:lnTo>
                    <a:pt x="502" y="2907"/>
                  </a:lnTo>
                  <a:lnTo>
                    <a:pt x="563" y="2995"/>
                  </a:lnTo>
                  <a:lnTo>
                    <a:pt x="629" y="3078"/>
                  </a:lnTo>
                  <a:lnTo>
                    <a:pt x="665" y="3117"/>
                  </a:lnTo>
                  <a:lnTo>
                    <a:pt x="696" y="3153"/>
                  </a:lnTo>
                  <a:lnTo>
                    <a:pt x="750" y="3221"/>
                  </a:lnTo>
                  <a:lnTo>
                    <a:pt x="786" y="3278"/>
                  </a:lnTo>
                  <a:lnTo>
                    <a:pt x="798" y="3308"/>
                  </a:lnTo>
                  <a:lnTo>
                    <a:pt x="799" y="3322"/>
                  </a:lnTo>
                  <a:lnTo>
                    <a:pt x="796" y="3325"/>
                  </a:lnTo>
                  <a:lnTo>
                    <a:pt x="781" y="3331"/>
                  </a:lnTo>
                  <a:lnTo>
                    <a:pt x="745" y="3340"/>
                  </a:lnTo>
                  <a:lnTo>
                    <a:pt x="730" y="3344"/>
                  </a:lnTo>
                  <a:lnTo>
                    <a:pt x="705" y="3343"/>
                  </a:lnTo>
                  <a:lnTo>
                    <a:pt x="677" y="3327"/>
                  </a:lnTo>
                  <a:lnTo>
                    <a:pt x="639" y="3291"/>
                  </a:lnTo>
                  <a:lnTo>
                    <a:pt x="613" y="3264"/>
                  </a:lnTo>
                  <a:lnTo>
                    <a:pt x="551" y="3196"/>
                  </a:lnTo>
                  <a:lnTo>
                    <a:pt x="439" y="3053"/>
                  </a:lnTo>
                  <a:lnTo>
                    <a:pt x="343" y="2904"/>
                  </a:lnTo>
                  <a:lnTo>
                    <a:pt x="262" y="2747"/>
                  </a:lnTo>
                  <a:lnTo>
                    <a:pt x="196" y="2584"/>
                  </a:lnTo>
                  <a:lnTo>
                    <a:pt x="147" y="2416"/>
                  </a:lnTo>
                  <a:lnTo>
                    <a:pt x="113" y="2242"/>
                  </a:lnTo>
                  <a:lnTo>
                    <a:pt x="96" y="2064"/>
                  </a:lnTo>
                  <a:lnTo>
                    <a:pt x="95" y="1974"/>
                  </a:lnTo>
                  <a:lnTo>
                    <a:pt x="95" y="1918"/>
                  </a:lnTo>
                  <a:lnTo>
                    <a:pt x="101" y="1810"/>
                  </a:lnTo>
                  <a:lnTo>
                    <a:pt x="113" y="1703"/>
                  </a:lnTo>
                  <a:lnTo>
                    <a:pt x="130" y="1598"/>
                  </a:lnTo>
                  <a:lnTo>
                    <a:pt x="154" y="1495"/>
                  </a:lnTo>
                  <a:lnTo>
                    <a:pt x="182" y="1395"/>
                  </a:lnTo>
                  <a:lnTo>
                    <a:pt x="216" y="1298"/>
                  </a:lnTo>
                  <a:lnTo>
                    <a:pt x="255" y="1203"/>
                  </a:lnTo>
                  <a:lnTo>
                    <a:pt x="298" y="1111"/>
                  </a:lnTo>
                  <a:lnTo>
                    <a:pt x="347" y="1023"/>
                  </a:lnTo>
                  <a:lnTo>
                    <a:pt x="400" y="937"/>
                  </a:lnTo>
                  <a:lnTo>
                    <a:pt x="457" y="854"/>
                  </a:lnTo>
                  <a:lnTo>
                    <a:pt x="519" y="775"/>
                  </a:lnTo>
                  <a:lnTo>
                    <a:pt x="584" y="700"/>
                  </a:lnTo>
                  <a:lnTo>
                    <a:pt x="654" y="628"/>
                  </a:lnTo>
                  <a:lnTo>
                    <a:pt x="727" y="561"/>
                  </a:lnTo>
                  <a:lnTo>
                    <a:pt x="803" y="497"/>
                  </a:lnTo>
                  <a:lnTo>
                    <a:pt x="883" y="437"/>
                  </a:lnTo>
                  <a:lnTo>
                    <a:pt x="966" y="382"/>
                  </a:lnTo>
                  <a:lnTo>
                    <a:pt x="1053" y="331"/>
                  </a:lnTo>
                  <a:lnTo>
                    <a:pt x="1142" y="284"/>
                  </a:lnTo>
                  <a:lnTo>
                    <a:pt x="1233" y="243"/>
                  </a:lnTo>
                  <a:lnTo>
                    <a:pt x="1328" y="206"/>
                  </a:lnTo>
                  <a:lnTo>
                    <a:pt x="1424" y="174"/>
                  </a:lnTo>
                  <a:lnTo>
                    <a:pt x="1523" y="147"/>
                  </a:lnTo>
                  <a:lnTo>
                    <a:pt x="1623" y="126"/>
                  </a:lnTo>
                  <a:lnTo>
                    <a:pt x="1726" y="110"/>
                  </a:lnTo>
                  <a:lnTo>
                    <a:pt x="1830" y="99"/>
                  </a:lnTo>
                  <a:lnTo>
                    <a:pt x="1936" y="95"/>
                  </a:lnTo>
                  <a:lnTo>
                    <a:pt x="2043" y="96"/>
                  </a:lnTo>
                  <a:lnTo>
                    <a:pt x="2151" y="103"/>
                  </a:lnTo>
                  <a:lnTo>
                    <a:pt x="2260" y="116"/>
                  </a:lnTo>
                  <a:lnTo>
                    <a:pt x="2315" y="125"/>
                  </a:lnTo>
                  <a:close/>
                  <a:moveTo>
                    <a:pt x="3716" y="215"/>
                  </a:moveTo>
                  <a:lnTo>
                    <a:pt x="3726" y="226"/>
                  </a:lnTo>
                  <a:lnTo>
                    <a:pt x="3741" y="249"/>
                  </a:lnTo>
                  <a:lnTo>
                    <a:pt x="3749" y="272"/>
                  </a:lnTo>
                  <a:lnTo>
                    <a:pt x="3751" y="297"/>
                  </a:lnTo>
                  <a:lnTo>
                    <a:pt x="3746" y="323"/>
                  </a:lnTo>
                  <a:lnTo>
                    <a:pt x="3735" y="350"/>
                  </a:lnTo>
                  <a:lnTo>
                    <a:pt x="3708" y="391"/>
                  </a:lnTo>
                  <a:lnTo>
                    <a:pt x="3680" y="419"/>
                  </a:lnTo>
                  <a:lnTo>
                    <a:pt x="3651" y="444"/>
                  </a:lnTo>
                  <a:lnTo>
                    <a:pt x="3607" y="478"/>
                  </a:lnTo>
                  <a:lnTo>
                    <a:pt x="3600" y="482"/>
                  </a:lnTo>
                  <a:lnTo>
                    <a:pt x="3590" y="477"/>
                  </a:lnTo>
                  <a:lnTo>
                    <a:pt x="3545" y="435"/>
                  </a:lnTo>
                  <a:lnTo>
                    <a:pt x="3492" y="377"/>
                  </a:lnTo>
                  <a:lnTo>
                    <a:pt x="3454" y="328"/>
                  </a:lnTo>
                  <a:lnTo>
                    <a:pt x="3450" y="317"/>
                  </a:lnTo>
                  <a:lnTo>
                    <a:pt x="3453" y="308"/>
                  </a:lnTo>
                  <a:lnTo>
                    <a:pt x="3490" y="267"/>
                  </a:lnTo>
                  <a:lnTo>
                    <a:pt x="3516" y="242"/>
                  </a:lnTo>
                  <a:lnTo>
                    <a:pt x="3545" y="218"/>
                  </a:lnTo>
                  <a:lnTo>
                    <a:pt x="3586" y="194"/>
                  </a:lnTo>
                  <a:lnTo>
                    <a:pt x="3613" y="185"/>
                  </a:lnTo>
                  <a:lnTo>
                    <a:pt x="3638" y="182"/>
                  </a:lnTo>
                  <a:lnTo>
                    <a:pt x="3663" y="184"/>
                  </a:lnTo>
                  <a:lnTo>
                    <a:pt x="3685" y="192"/>
                  </a:lnTo>
                  <a:lnTo>
                    <a:pt x="3706" y="206"/>
                  </a:lnTo>
                  <a:lnTo>
                    <a:pt x="3716" y="215"/>
                  </a:lnTo>
                  <a:close/>
                  <a:moveTo>
                    <a:pt x="3455" y="479"/>
                  </a:moveTo>
                  <a:lnTo>
                    <a:pt x="3533" y="559"/>
                  </a:lnTo>
                  <a:lnTo>
                    <a:pt x="3293" y="787"/>
                  </a:lnTo>
                  <a:lnTo>
                    <a:pt x="3196" y="878"/>
                  </a:lnTo>
                  <a:lnTo>
                    <a:pt x="3058" y="1002"/>
                  </a:lnTo>
                  <a:lnTo>
                    <a:pt x="3038" y="1015"/>
                  </a:lnTo>
                  <a:lnTo>
                    <a:pt x="3026" y="1011"/>
                  </a:lnTo>
                  <a:lnTo>
                    <a:pt x="2978" y="969"/>
                  </a:lnTo>
                  <a:lnTo>
                    <a:pt x="2923" y="912"/>
                  </a:lnTo>
                  <a:lnTo>
                    <a:pt x="2894" y="874"/>
                  </a:lnTo>
                  <a:lnTo>
                    <a:pt x="2885" y="858"/>
                  </a:lnTo>
                  <a:lnTo>
                    <a:pt x="2885" y="854"/>
                  </a:lnTo>
                  <a:lnTo>
                    <a:pt x="2902" y="834"/>
                  </a:lnTo>
                  <a:lnTo>
                    <a:pt x="3036" y="703"/>
                  </a:lnTo>
                  <a:lnTo>
                    <a:pt x="3213" y="536"/>
                  </a:lnTo>
                  <a:lnTo>
                    <a:pt x="3348" y="412"/>
                  </a:lnTo>
                  <a:lnTo>
                    <a:pt x="3366" y="399"/>
                  </a:lnTo>
                  <a:lnTo>
                    <a:pt x="3374" y="403"/>
                  </a:lnTo>
                  <a:lnTo>
                    <a:pt x="3423" y="447"/>
                  </a:lnTo>
                  <a:lnTo>
                    <a:pt x="3455" y="479"/>
                  </a:lnTo>
                  <a:close/>
                  <a:moveTo>
                    <a:pt x="3490" y="877"/>
                  </a:moveTo>
                  <a:lnTo>
                    <a:pt x="3522" y="924"/>
                  </a:lnTo>
                  <a:lnTo>
                    <a:pt x="3596" y="1051"/>
                  </a:lnTo>
                  <a:lnTo>
                    <a:pt x="3670" y="1196"/>
                  </a:lnTo>
                  <a:lnTo>
                    <a:pt x="3728" y="1330"/>
                  </a:lnTo>
                  <a:lnTo>
                    <a:pt x="3746" y="1382"/>
                  </a:lnTo>
                  <a:lnTo>
                    <a:pt x="3765" y="1441"/>
                  </a:lnTo>
                  <a:lnTo>
                    <a:pt x="3795" y="1560"/>
                  </a:lnTo>
                  <a:lnTo>
                    <a:pt x="3818" y="1679"/>
                  </a:lnTo>
                  <a:lnTo>
                    <a:pt x="3833" y="1798"/>
                  </a:lnTo>
                  <a:lnTo>
                    <a:pt x="3840" y="1916"/>
                  </a:lnTo>
                  <a:lnTo>
                    <a:pt x="3840" y="2035"/>
                  </a:lnTo>
                  <a:lnTo>
                    <a:pt x="3832" y="2152"/>
                  </a:lnTo>
                  <a:lnTo>
                    <a:pt x="3817" y="2269"/>
                  </a:lnTo>
                  <a:lnTo>
                    <a:pt x="3794" y="2384"/>
                  </a:lnTo>
                  <a:lnTo>
                    <a:pt x="3764" y="2498"/>
                  </a:lnTo>
                  <a:lnTo>
                    <a:pt x="3727" y="2610"/>
                  </a:lnTo>
                  <a:lnTo>
                    <a:pt x="3682" y="2721"/>
                  </a:lnTo>
                  <a:lnTo>
                    <a:pt x="3630" y="2829"/>
                  </a:lnTo>
                  <a:lnTo>
                    <a:pt x="3571" y="2934"/>
                  </a:lnTo>
                  <a:lnTo>
                    <a:pt x="3505" y="3037"/>
                  </a:lnTo>
                  <a:lnTo>
                    <a:pt x="3432" y="3137"/>
                  </a:lnTo>
                  <a:lnTo>
                    <a:pt x="3393" y="3185"/>
                  </a:lnTo>
                  <a:lnTo>
                    <a:pt x="3345" y="3241"/>
                  </a:lnTo>
                  <a:lnTo>
                    <a:pt x="3239" y="3347"/>
                  </a:lnTo>
                  <a:lnTo>
                    <a:pt x="3121" y="3444"/>
                  </a:lnTo>
                  <a:lnTo>
                    <a:pt x="2994" y="3533"/>
                  </a:lnTo>
                  <a:lnTo>
                    <a:pt x="2859" y="3612"/>
                  </a:lnTo>
                  <a:lnTo>
                    <a:pt x="2718" y="3681"/>
                  </a:lnTo>
                  <a:lnTo>
                    <a:pt x="2571" y="3738"/>
                  </a:lnTo>
                  <a:lnTo>
                    <a:pt x="2421" y="3783"/>
                  </a:lnTo>
                  <a:lnTo>
                    <a:pt x="2345" y="3800"/>
                  </a:lnTo>
                  <a:lnTo>
                    <a:pt x="2286" y="3812"/>
                  </a:lnTo>
                  <a:lnTo>
                    <a:pt x="2159" y="3828"/>
                  </a:lnTo>
                  <a:lnTo>
                    <a:pt x="2026" y="3835"/>
                  </a:lnTo>
                  <a:lnTo>
                    <a:pt x="1890" y="3835"/>
                  </a:lnTo>
                  <a:lnTo>
                    <a:pt x="1756" y="3827"/>
                  </a:lnTo>
                  <a:lnTo>
                    <a:pt x="1627" y="3812"/>
                  </a:lnTo>
                  <a:lnTo>
                    <a:pt x="1508" y="3789"/>
                  </a:lnTo>
                  <a:lnTo>
                    <a:pt x="1403" y="3760"/>
                  </a:lnTo>
                  <a:lnTo>
                    <a:pt x="1358" y="3742"/>
                  </a:lnTo>
                  <a:lnTo>
                    <a:pt x="1340" y="3734"/>
                  </a:lnTo>
                  <a:lnTo>
                    <a:pt x="1316" y="3720"/>
                  </a:lnTo>
                  <a:lnTo>
                    <a:pt x="1304" y="3704"/>
                  </a:lnTo>
                  <a:lnTo>
                    <a:pt x="1302" y="3684"/>
                  </a:lnTo>
                  <a:lnTo>
                    <a:pt x="1303" y="3670"/>
                  </a:lnTo>
                  <a:lnTo>
                    <a:pt x="1305" y="3659"/>
                  </a:lnTo>
                  <a:lnTo>
                    <a:pt x="1311" y="3641"/>
                  </a:lnTo>
                  <a:lnTo>
                    <a:pt x="1322" y="3629"/>
                  </a:lnTo>
                  <a:lnTo>
                    <a:pt x="1339" y="3621"/>
                  </a:lnTo>
                  <a:lnTo>
                    <a:pt x="1377" y="3618"/>
                  </a:lnTo>
                  <a:lnTo>
                    <a:pt x="1458" y="3632"/>
                  </a:lnTo>
                  <a:lnTo>
                    <a:pt x="1515" y="3647"/>
                  </a:lnTo>
                  <a:lnTo>
                    <a:pt x="1570" y="3661"/>
                  </a:lnTo>
                  <a:lnTo>
                    <a:pt x="1683" y="3684"/>
                  </a:lnTo>
                  <a:lnTo>
                    <a:pt x="1796" y="3698"/>
                  </a:lnTo>
                  <a:lnTo>
                    <a:pt x="1910" y="3705"/>
                  </a:lnTo>
                  <a:lnTo>
                    <a:pt x="2023" y="3705"/>
                  </a:lnTo>
                  <a:lnTo>
                    <a:pt x="2136" y="3697"/>
                  </a:lnTo>
                  <a:lnTo>
                    <a:pt x="2249" y="3682"/>
                  </a:lnTo>
                  <a:lnTo>
                    <a:pt x="2360" y="3660"/>
                  </a:lnTo>
                  <a:lnTo>
                    <a:pt x="2469" y="3631"/>
                  </a:lnTo>
                  <a:lnTo>
                    <a:pt x="2576" y="3595"/>
                  </a:lnTo>
                  <a:lnTo>
                    <a:pt x="2681" y="3553"/>
                  </a:lnTo>
                  <a:lnTo>
                    <a:pt x="2783" y="3504"/>
                  </a:lnTo>
                  <a:lnTo>
                    <a:pt x="2881" y="3448"/>
                  </a:lnTo>
                  <a:lnTo>
                    <a:pt x="2976" y="3385"/>
                  </a:lnTo>
                  <a:lnTo>
                    <a:pt x="3066" y="3317"/>
                  </a:lnTo>
                  <a:lnTo>
                    <a:pt x="3152" y="3242"/>
                  </a:lnTo>
                  <a:lnTo>
                    <a:pt x="3193" y="3202"/>
                  </a:lnTo>
                  <a:lnTo>
                    <a:pt x="3254" y="3139"/>
                  </a:lnTo>
                  <a:lnTo>
                    <a:pt x="3364" y="3007"/>
                  </a:lnTo>
                  <a:lnTo>
                    <a:pt x="3458" y="2866"/>
                  </a:lnTo>
                  <a:lnTo>
                    <a:pt x="3537" y="2717"/>
                  </a:lnTo>
                  <a:lnTo>
                    <a:pt x="3601" y="2561"/>
                  </a:lnTo>
                  <a:lnTo>
                    <a:pt x="3650" y="2398"/>
                  </a:lnTo>
                  <a:lnTo>
                    <a:pt x="3682" y="2229"/>
                  </a:lnTo>
                  <a:lnTo>
                    <a:pt x="3698" y="2055"/>
                  </a:lnTo>
                  <a:lnTo>
                    <a:pt x="3700" y="1965"/>
                  </a:lnTo>
                  <a:lnTo>
                    <a:pt x="3699" y="1897"/>
                  </a:lnTo>
                  <a:lnTo>
                    <a:pt x="3690" y="1763"/>
                  </a:lnTo>
                  <a:lnTo>
                    <a:pt x="3671" y="1634"/>
                  </a:lnTo>
                  <a:lnTo>
                    <a:pt x="3644" y="1509"/>
                  </a:lnTo>
                  <a:lnTo>
                    <a:pt x="3606" y="1387"/>
                  </a:lnTo>
                  <a:lnTo>
                    <a:pt x="3559" y="1268"/>
                  </a:lnTo>
                  <a:lnTo>
                    <a:pt x="3502" y="1151"/>
                  </a:lnTo>
                  <a:lnTo>
                    <a:pt x="3436" y="1036"/>
                  </a:lnTo>
                  <a:lnTo>
                    <a:pt x="3398" y="979"/>
                  </a:lnTo>
                  <a:lnTo>
                    <a:pt x="3330" y="879"/>
                  </a:lnTo>
                  <a:lnTo>
                    <a:pt x="3368" y="839"/>
                  </a:lnTo>
                  <a:lnTo>
                    <a:pt x="3383" y="823"/>
                  </a:lnTo>
                  <a:lnTo>
                    <a:pt x="3412" y="801"/>
                  </a:lnTo>
                  <a:lnTo>
                    <a:pt x="3420" y="799"/>
                  </a:lnTo>
                  <a:lnTo>
                    <a:pt x="3428" y="803"/>
                  </a:lnTo>
                  <a:lnTo>
                    <a:pt x="3466" y="846"/>
                  </a:lnTo>
                  <a:lnTo>
                    <a:pt x="3490" y="877"/>
                  </a:lnTo>
                  <a:close/>
                  <a:moveTo>
                    <a:pt x="2880" y="1000"/>
                  </a:moveTo>
                  <a:lnTo>
                    <a:pt x="2928" y="1057"/>
                  </a:lnTo>
                  <a:lnTo>
                    <a:pt x="2946" y="1082"/>
                  </a:lnTo>
                  <a:lnTo>
                    <a:pt x="2946" y="1085"/>
                  </a:lnTo>
                  <a:lnTo>
                    <a:pt x="2932" y="1093"/>
                  </a:lnTo>
                  <a:lnTo>
                    <a:pt x="2893" y="1106"/>
                  </a:lnTo>
                  <a:lnTo>
                    <a:pt x="2823" y="1123"/>
                  </a:lnTo>
                  <a:lnTo>
                    <a:pt x="2767" y="1130"/>
                  </a:lnTo>
                  <a:lnTo>
                    <a:pt x="2756" y="1127"/>
                  </a:lnTo>
                  <a:lnTo>
                    <a:pt x="2755" y="1122"/>
                  </a:lnTo>
                  <a:lnTo>
                    <a:pt x="2759" y="1092"/>
                  </a:lnTo>
                  <a:lnTo>
                    <a:pt x="2765" y="1072"/>
                  </a:lnTo>
                  <a:lnTo>
                    <a:pt x="2779" y="1025"/>
                  </a:lnTo>
                  <a:lnTo>
                    <a:pt x="2790" y="977"/>
                  </a:lnTo>
                  <a:lnTo>
                    <a:pt x="2795" y="959"/>
                  </a:lnTo>
                  <a:lnTo>
                    <a:pt x="2805" y="935"/>
                  </a:lnTo>
                  <a:lnTo>
                    <a:pt x="2808" y="932"/>
                  </a:lnTo>
                  <a:lnTo>
                    <a:pt x="2829" y="948"/>
                  </a:lnTo>
                  <a:lnTo>
                    <a:pt x="2880" y="1000"/>
                  </a:lnTo>
                  <a:close/>
                  <a:moveTo>
                    <a:pt x="1525" y="1029"/>
                  </a:moveTo>
                  <a:lnTo>
                    <a:pt x="1570" y="1042"/>
                  </a:lnTo>
                  <a:lnTo>
                    <a:pt x="1665" y="1077"/>
                  </a:lnTo>
                  <a:lnTo>
                    <a:pt x="1757" y="1119"/>
                  </a:lnTo>
                  <a:lnTo>
                    <a:pt x="1837" y="1164"/>
                  </a:lnTo>
                  <a:lnTo>
                    <a:pt x="1870" y="1187"/>
                  </a:lnTo>
                  <a:lnTo>
                    <a:pt x="1916" y="1222"/>
                  </a:lnTo>
                  <a:lnTo>
                    <a:pt x="1916" y="1879"/>
                  </a:lnTo>
                  <a:lnTo>
                    <a:pt x="1916" y="2140"/>
                  </a:lnTo>
                  <a:lnTo>
                    <a:pt x="1911" y="2423"/>
                  </a:lnTo>
                  <a:lnTo>
                    <a:pt x="1907" y="2521"/>
                  </a:lnTo>
                  <a:lnTo>
                    <a:pt x="1905" y="2529"/>
                  </a:lnTo>
                  <a:lnTo>
                    <a:pt x="1866" y="2511"/>
                  </a:lnTo>
                  <a:lnTo>
                    <a:pt x="1766" y="2462"/>
                  </a:lnTo>
                  <a:lnTo>
                    <a:pt x="1704" y="2433"/>
                  </a:lnTo>
                  <a:lnTo>
                    <a:pt x="1575" y="2389"/>
                  </a:lnTo>
                  <a:lnTo>
                    <a:pt x="1435" y="2360"/>
                  </a:lnTo>
                  <a:lnTo>
                    <a:pt x="1275" y="2343"/>
                  </a:lnTo>
                  <a:lnTo>
                    <a:pt x="1183" y="2339"/>
                  </a:lnTo>
                  <a:lnTo>
                    <a:pt x="975" y="2334"/>
                  </a:lnTo>
                  <a:lnTo>
                    <a:pt x="970" y="1655"/>
                  </a:lnTo>
                  <a:lnTo>
                    <a:pt x="966" y="977"/>
                  </a:lnTo>
                  <a:lnTo>
                    <a:pt x="1186" y="987"/>
                  </a:lnTo>
                  <a:lnTo>
                    <a:pt x="1288" y="993"/>
                  </a:lnTo>
                  <a:lnTo>
                    <a:pt x="1423" y="1008"/>
                  </a:lnTo>
                  <a:lnTo>
                    <a:pt x="1496" y="1021"/>
                  </a:lnTo>
                  <a:lnTo>
                    <a:pt x="1525" y="1029"/>
                  </a:lnTo>
                  <a:close/>
                  <a:moveTo>
                    <a:pt x="2673" y="995"/>
                  </a:moveTo>
                  <a:lnTo>
                    <a:pt x="2676" y="1005"/>
                  </a:lnTo>
                  <a:lnTo>
                    <a:pt x="2672" y="1045"/>
                  </a:lnTo>
                  <a:lnTo>
                    <a:pt x="2666" y="1069"/>
                  </a:lnTo>
                  <a:lnTo>
                    <a:pt x="2661" y="1088"/>
                  </a:lnTo>
                  <a:lnTo>
                    <a:pt x="2648" y="1114"/>
                  </a:lnTo>
                  <a:lnTo>
                    <a:pt x="2626" y="1127"/>
                  </a:lnTo>
                  <a:lnTo>
                    <a:pt x="2585" y="1135"/>
                  </a:lnTo>
                  <a:lnTo>
                    <a:pt x="2553" y="1139"/>
                  </a:lnTo>
                  <a:lnTo>
                    <a:pt x="2517" y="1143"/>
                  </a:lnTo>
                  <a:lnTo>
                    <a:pt x="2442" y="1159"/>
                  </a:lnTo>
                  <a:lnTo>
                    <a:pt x="2327" y="1192"/>
                  </a:lnTo>
                  <a:lnTo>
                    <a:pt x="2223" y="1233"/>
                  </a:lnTo>
                  <a:lnTo>
                    <a:pt x="2167" y="1261"/>
                  </a:lnTo>
                  <a:lnTo>
                    <a:pt x="2125" y="1288"/>
                  </a:lnTo>
                  <a:lnTo>
                    <a:pt x="2102" y="1313"/>
                  </a:lnTo>
                  <a:lnTo>
                    <a:pt x="2100" y="1324"/>
                  </a:lnTo>
                  <a:lnTo>
                    <a:pt x="2100" y="1332"/>
                  </a:lnTo>
                  <a:lnTo>
                    <a:pt x="2105" y="1345"/>
                  </a:lnTo>
                  <a:lnTo>
                    <a:pt x="2114" y="1353"/>
                  </a:lnTo>
                  <a:lnTo>
                    <a:pt x="2127" y="1358"/>
                  </a:lnTo>
                  <a:lnTo>
                    <a:pt x="2156" y="1358"/>
                  </a:lnTo>
                  <a:lnTo>
                    <a:pt x="2211" y="1342"/>
                  </a:lnTo>
                  <a:lnTo>
                    <a:pt x="2246" y="1327"/>
                  </a:lnTo>
                  <a:lnTo>
                    <a:pt x="2298" y="1305"/>
                  </a:lnTo>
                  <a:lnTo>
                    <a:pt x="2406" y="1269"/>
                  </a:lnTo>
                  <a:lnTo>
                    <a:pt x="2508" y="1245"/>
                  </a:lnTo>
                  <a:lnTo>
                    <a:pt x="2595" y="1235"/>
                  </a:lnTo>
                  <a:lnTo>
                    <a:pt x="2628" y="1237"/>
                  </a:lnTo>
                  <a:lnTo>
                    <a:pt x="2663" y="1238"/>
                  </a:lnTo>
                  <a:lnTo>
                    <a:pt x="2758" y="1230"/>
                  </a:lnTo>
                  <a:lnTo>
                    <a:pt x="2803" y="1222"/>
                  </a:lnTo>
                  <a:lnTo>
                    <a:pt x="2865" y="1207"/>
                  </a:lnTo>
                  <a:lnTo>
                    <a:pt x="2915" y="1200"/>
                  </a:lnTo>
                  <a:lnTo>
                    <a:pt x="2929" y="1203"/>
                  </a:lnTo>
                  <a:lnTo>
                    <a:pt x="2941" y="1212"/>
                  </a:lnTo>
                  <a:lnTo>
                    <a:pt x="2950" y="1227"/>
                  </a:lnTo>
                  <a:lnTo>
                    <a:pt x="2960" y="1263"/>
                  </a:lnTo>
                  <a:lnTo>
                    <a:pt x="2965" y="1344"/>
                  </a:lnTo>
                  <a:lnTo>
                    <a:pt x="2965" y="1546"/>
                  </a:lnTo>
                  <a:lnTo>
                    <a:pt x="2963" y="1765"/>
                  </a:lnTo>
                  <a:lnTo>
                    <a:pt x="2958" y="2334"/>
                  </a:lnTo>
                  <a:lnTo>
                    <a:pt x="2750" y="2339"/>
                  </a:lnTo>
                  <a:lnTo>
                    <a:pt x="2656" y="2343"/>
                  </a:lnTo>
                  <a:lnTo>
                    <a:pt x="2495" y="2359"/>
                  </a:lnTo>
                  <a:lnTo>
                    <a:pt x="2355" y="2389"/>
                  </a:lnTo>
                  <a:lnTo>
                    <a:pt x="2228" y="2433"/>
                  </a:lnTo>
                  <a:lnTo>
                    <a:pt x="2166" y="2462"/>
                  </a:lnTo>
                  <a:lnTo>
                    <a:pt x="2067" y="2510"/>
                  </a:lnTo>
                  <a:lnTo>
                    <a:pt x="2030" y="2529"/>
                  </a:lnTo>
                  <a:lnTo>
                    <a:pt x="2027" y="2521"/>
                  </a:lnTo>
                  <a:lnTo>
                    <a:pt x="2022" y="2423"/>
                  </a:lnTo>
                  <a:lnTo>
                    <a:pt x="2017" y="2140"/>
                  </a:lnTo>
                  <a:lnTo>
                    <a:pt x="2016" y="1879"/>
                  </a:lnTo>
                  <a:lnTo>
                    <a:pt x="2016" y="1222"/>
                  </a:lnTo>
                  <a:lnTo>
                    <a:pt x="2063" y="1187"/>
                  </a:lnTo>
                  <a:lnTo>
                    <a:pt x="2087" y="1170"/>
                  </a:lnTo>
                  <a:lnTo>
                    <a:pt x="2142" y="1136"/>
                  </a:lnTo>
                  <a:lnTo>
                    <a:pt x="2235" y="1090"/>
                  </a:lnTo>
                  <a:lnTo>
                    <a:pt x="2372" y="1039"/>
                  </a:lnTo>
                  <a:lnTo>
                    <a:pt x="2514" y="1004"/>
                  </a:lnTo>
                  <a:lnTo>
                    <a:pt x="2583" y="994"/>
                  </a:lnTo>
                  <a:lnTo>
                    <a:pt x="2631" y="988"/>
                  </a:lnTo>
                  <a:lnTo>
                    <a:pt x="2653" y="985"/>
                  </a:lnTo>
                  <a:lnTo>
                    <a:pt x="2658" y="985"/>
                  </a:lnTo>
                  <a:lnTo>
                    <a:pt x="2669" y="991"/>
                  </a:lnTo>
                  <a:lnTo>
                    <a:pt x="2673" y="995"/>
                  </a:lnTo>
                  <a:close/>
                  <a:moveTo>
                    <a:pt x="866" y="1835"/>
                  </a:moveTo>
                  <a:lnTo>
                    <a:pt x="866" y="2407"/>
                  </a:lnTo>
                  <a:lnTo>
                    <a:pt x="943" y="2517"/>
                  </a:lnTo>
                  <a:lnTo>
                    <a:pt x="1018" y="2627"/>
                  </a:lnTo>
                  <a:lnTo>
                    <a:pt x="1213" y="2637"/>
                  </a:lnTo>
                  <a:lnTo>
                    <a:pt x="1295" y="2642"/>
                  </a:lnTo>
                  <a:lnTo>
                    <a:pt x="1443" y="2660"/>
                  </a:lnTo>
                  <a:lnTo>
                    <a:pt x="1485" y="2670"/>
                  </a:lnTo>
                  <a:lnTo>
                    <a:pt x="1530" y="2685"/>
                  </a:lnTo>
                  <a:lnTo>
                    <a:pt x="1617" y="2719"/>
                  </a:lnTo>
                  <a:lnTo>
                    <a:pt x="1687" y="2752"/>
                  </a:lnTo>
                  <a:lnTo>
                    <a:pt x="1729" y="2777"/>
                  </a:lnTo>
                  <a:lnTo>
                    <a:pt x="1733" y="2784"/>
                  </a:lnTo>
                  <a:lnTo>
                    <a:pt x="1726" y="2788"/>
                  </a:lnTo>
                  <a:lnTo>
                    <a:pt x="1648" y="2793"/>
                  </a:lnTo>
                  <a:lnTo>
                    <a:pt x="1436" y="2798"/>
                  </a:lnTo>
                  <a:lnTo>
                    <a:pt x="1074" y="2797"/>
                  </a:lnTo>
                  <a:lnTo>
                    <a:pt x="852" y="2792"/>
                  </a:lnTo>
                  <a:lnTo>
                    <a:pt x="763" y="2786"/>
                  </a:lnTo>
                  <a:lnTo>
                    <a:pt x="748" y="2782"/>
                  </a:lnTo>
                  <a:lnTo>
                    <a:pt x="743" y="2779"/>
                  </a:lnTo>
                  <a:lnTo>
                    <a:pt x="734" y="2768"/>
                  </a:lnTo>
                  <a:lnTo>
                    <a:pt x="725" y="2727"/>
                  </a:lnTo>
                  <a:lnTo>
                    <a:pt x="717" y="2475"/>
                  </a:lnTo>
                  <a:lnTo>
                    <a:pt x="716" y="2025"/>
                  </a:lnTo>
                  <a:lnTo>
                    <a:pt x="717" y="1730"/>
                  </a:lnTo>
                  <a:lnTo>
                    <a:pt x="723" y="1322"/>
                  </a:lnTo>
                  <a:lnTo>
                    <a:pt x="728" y="1277"/>
                  </a:lnTo>
                  <a:lnTo>
                    <a:pt x="736" y="1272"/>
                  </a:lnTo>
                  <a:lnTo>
                    <a:pt x="777" y="1266"/>
                  </a:lnTo>
                  <a:lnTo>
                    <a:pt x="803" y="1265"/>
                  </a:lnTo>
                  <a:lnTo>
                    <a:pt x="866" y="1265"/>
                  </a:lnTo>
                  <a:lnTo>
                    <a:pt x="866" y="1835"/>
                  </a:lnTo>
                  <a:close/>
                  <a:moveTo>
                    <a:pt x="3213" y="2015"/>
                  </a:moveTo>
                  <a:lnTo>
                    <a:pt x="3215" y="2449"/>
                  </a:lnTo>
                  <a:lnTo>
                    <a:pt x="3209" y="2712"/>
                  </a:lnTo>
                  <a:lnTo>
                    <a:pt x="3201" y="2759"/>
                  </a:lnTo>
                  <a:lnTo>
                    <a:pt x="3193" y="2773"/>
                  </a:lnTo>
                  <a:lnTo>
                    <a:pt x="3188" y="2777"/>
                  </a:lnTo>
                  <a:lnTo>
                    <a:pt x="3175" y="2782"/>
                  </a:lnTo>
                  <a:lnTo>
                    <a:pt x="3087" y="2789"/>
                  </a:lnTo>
                  <a:lnTo>
                    <a:pt x="2865" y="2797"/>
                  </a:lnTo>
                  <a:lnTo>
                    <a:pt x="2500" y="2800"/>
                  </a:lnTo>
                  <a:lnTo>
                    <a:pt x="2286" y="2795"/>
                  </a:lnTo>
                  <a:lnTo>
                    <a:pt x="2207" y="2789"/>
                  </a:lnTo>
                  <a:lnTo>
                    <a:pt x="2200" y="2785"/>
                  </a:lnTo>
                  <a:lnTo>
                    <a:pt x="2203" y="2778"/>
                  </a:lnTo>
                  <a:lnTo>
                    <a:pt x="2238" y="2754"/>
                  </a:lnTo>
                  <a:lnTo>
                    <a:pt x="2263" y="2740"/>
                  </a:lnTo>
                  <a:lnTo>
                    <a:pt x="2313" y="2717"/>
                  </a:lnTo>
                  <a:lnTo>
                    <a:pt x="2415" y="2681"/>
                  </a:lnTo>
                  <a:lnTo>
                    <a:pt x="2524" y="2657"/>
                  </a:lnTo>
                  <a:lnTo>
                    <a:pt x="2649" y="2641"/>
                  </a:lnTo>
                  <a:lnTo>
                    <a:pt x="2720" y="2637"/>
                  </a:lnTo>
                  <a:lnTo>
                    <a:pt x="2915" y="2627"/>
                  </a:lnTo>
                  <a:lnTo>
                    <a:pt x="2990" y="2517"/>
                  </a:lnTo>
                  <a:lnTo>
                    <a:pt x="3066" y="2407"/>
                  </a:lnTo>
                  <a:lnTo>
                    <a:pt x="3066" y="1835"/>
                  </a:lnTo>
                  <a:lnTo>
                    <a:pt x="3066" y="1264"/>
                  </a:lnTo>
                  <a:lnTo>
                    <a:pt x="3138" y="1269"/>
                  </a:lnTo>
                  <a:lnTo>
                    <a:pt x="3208" y="1274"/>
                  </a:lnTo>
                  <a:lnTo>
                    <a:pt x="3213" y="2015"/>
                  </a:lnTo>
                  <a:close/>
                  <a:moveTo>
                    <a:pt x="1375" y="2449"/>
                  </a:moveTo>
                  <a:lnTo>
                    <a:pt x="1435" y="2458"/>
                  </a:lnTo>
                  <a:lnTo>
                    <a:pt x="1553" y="2486"/>
                  </a:lnTo>
                  <a:lnTo>
                    <a:pt x="1664" y="2523"/>
                  </a:lnTo>
                  <a:lnTo>
                    <a:pt x="1761" y="2566"/>
                  </a:lnTo>
                  <a:lnTo>
                    <a:pt x="1801" y="2590"/>
                  </a:lnTo>
                  <a:lnTo>
                    <a:pt x="1888" y="2645"/>
                  </a:lnTo>
                  <a:lnTo>
                    <a:pt x="1846" y="2672"/>
                  </a:lnTo>
                  <a:lnTo>
                    <a:pt x="1832" y="2681"/>
                  </a:lnTo>
                  <a:lnTo>
                    <a:pt x="1809" y="2690"/>
                  </a:lnTo>
                  <a:lnTo>
                    <a:pt x="1780" y="2685"/>
                  </a:lnTo>
                  <a:lnTo>
                    <a:pt x="1733" y="2666"/>
                  </a:lnTo>
                  <a:lnTo>
                    <a:pt x="1698" y="2650"/>
                  </a:lnTo>
                  <a:lnTo>
                    <a:pt x="1643" y="2626"/>
                  </a:lnTo>
                  <a:lnTo>
                    <a:pt x="1536" y="2587"/>
                  </a:lnTo>
                  <a:lnTo>
                    <a:pt x="1424" y="2560"/>
                  </a:lnTo>
                  <a:lnTo>
                    <a:pt x="1301" y="2543"/>
                  </a:lnTo>
                  <a:lnTo>
                    <a:pt x="1233" y="2537"/>
                  </a:lnTo>
                  <a:lnTo>
                    <a:pt x="1186" y="2534"/>
                  </a:lnTo>
                  <a:lnTo>
                    <a:pt x="1120" y="2527"/>
                  </a:lnTo>
                  <a:lnTo>
                    <a:pt x="1079" y="2517"/>
                  </a:lnTo>
                  <a:lnTo>
                    <a:pt x="1055" y="2503"/>
                  </a:lnTo>
                  <a:lnTo>
                    <a:pt x="1046" y="2492"/>
                  </a:lnTo>
                  <a:lnTo>
                    <a:pt x="1034" y="2478"/>
                  </a:lnTo>
                  <a:lnTo>
                    <a:pt x="1018" y="2452"/>
                  </a:lnTo>
                  <a:lnTo>
                    <a:pt x="1016" y="2444"/>
                  </a:lnTo>
                  <a:lnTo>
                    <a:pt x="1018" y="2441"/>
                  </a:lnTo>
                  <a:lnTo>
                    <a:pt x="1037" y="2436"/>
                  </a:lnTo>
                  <a:lnTo>
                    <a:pt x="1092" y="2433"/>
                  </a:lnTo>
                  <a:lnTo>
                    <a:pt x="1200" y="2434"/>
                  </a:lnTo>
                  <a:lnTo>
                    <a:pt x="1320" y="2442"/>
                  </a:lnTo>
                  <a:lnTo>
                    <a:pt x="1375" y="2449"/>
                  </a:lnTo>
                  <a:close/>
                  <a:moveTo>
                    <a:pt x="2916" y="2444"/>
                  </a:moveTo>
                  <a:lnTo>
                    <a:pt x="2915" y="2452"/>
                  </a:lnTo>
                  <a:lnTo>
                    <a:pt x="2898" y="2478"/>
                  </a:lnTo>
                  <a:lnTo>
                    <a:pt x="2886" y="2492"/>
                  </a:lnTo>
                  <a:lnTo>
                    <a:pt x="2877" y="2503"/>
                  </a:lnTo>
                  <a:lnTo>
                    <a:pt x="2852" y="2518"/>
                  </a:lnTo>
                  <a:lnTo>
                    <a:pt x="2811" y="2528"/>
                  </a:lnTo>
                  <a:lnTo>
                    <a:pt x="2741" y="2535"/>
                  </a:lnTo>
                  <a:lnTo>
                    <a:pt x="2691" y="2539"/>
                  </a:lnTo>
                  <a:lnTo>
                    <a:pt x="2624" y="2544"/>
                  </a:lnTo>
                  <a:lnTo>
                    <a:pt x="2507" y="2559"/>
                  </a:lnTo>
                  <a:lnTo>
                    <a:pt x="2399" y="2586"/>
                  </a:lnTo>
                  <a:lnTo>
                    <a:pt x="2289" y="2625"/>
                  </a:lnTo>
                  <a:lnTo>
                    <a:pt x="2228" y="2652"/>
                  </a:lnTo>
                  <a:lnTo>
                    <a:pt x="2191" y="2669"/>
                  </a:lnTo>
                  <a:lnTo>
                    <a:pt x="2142" y="2689"/>
                  </a:lnTo>
                  <a:lnTo>
                    <a:pt x="2114" y="2694"/>
                  </a:lnTo>
                  <a:lnTo>
                    <a:pt x="2094" y="2684"/>
                  </a:lnTo>
                  <a:lnTo>
                    <a:pt x="2083" y="2674"/>
                  </a:lnTo>
                  <a:lnTo>
                    <a:pt x="2071" y="2663"/>
                  </a:lnTo>
                  <a:lnTo>
                    <a:pt x="2062" y="2651"/>
                  </a:lnTo>
                  <a:lnTo>
                    <a:pt x="2061" y="2643"/>
                  </a:lnTo>
                  <a:lnTo>
                    <a:pt x="2070" y="2631"/>
                  </a:lnTo>
                  <a:lnTo>
                    <a:pt x="2104" y="2607"/>
                  </a:lnTo>
                  <a:lnTo>
                    <a:pt x="2133" y="2589"/>
                  </a:lnTo>
                  <a:lnTo>
                    <a:pt x="2171" y="2566"/>
                  </a:lnTo>
                  <a:lnTo>
                    <a:pt x="2266" y="2523"/>
                  </a:lnTo>
                  <a:lnTo>
                    <a:pt x="2374" y="2486"/>
                  </a:lnTo>
                  <a:lnTo>
                    <a:pt x="2487" y="2459"/>
                  </a:lnTo>
                  <a:lnTo>
                    <a:pt x="2541" y="2450"/>
                  </a:lnTo>
                  <a:lnTo>
                    <a:pt x="2593" y="2444"/>
                  </a:lnTo>
                  <a:lnTo>
                    <a:pt x="2717" y="2436"/>
                  </a:lnTo>
                  <a:lnTo>
                    <a:pt x="2833" y="2434"/>
                  </a:lnTo>
                  <a:lnTo>
                    <a:pt x="2893" y="2437"/>
                  </a:lnTo>
                  <a:lnTo>
                    <a:pt x="2914" y="2441"/>
                  </a:lnTo>
                  <a:lnTo>
                    <a:pt x="2916" y="2444"/>
                  </a:lnTo>
                  <a:close/>
                  <a:moveTo>
                    <a:pt x="2030" y="2759"/>
                  </a:moveTo>
                  <a:lnTo>
                    <a:pt x="2043" y="2769"/>
                  </a:lnTo>
                  <a:lnTo>
                    <a:pt x="2060" y="2796"/>
                  </a:lnTo>
                  <a:lnTo>
                    <a:pt x="2067" y="2826"/>
                  </a:lnTo>
                  <a:lnTo>
                    <a:pt x="2066" y="2858"/>
                  </a:lnTo>
                  <a:lnTo>
                    <a:pt x="2055" y="2889"/>
                  </a:lnTo>
                  <a:lnTo>
                    <a:pt x="2038" y="2916"/>
                  </a:lnTo>
                  <a:lnTo>
                    <a:pt x="2014" y="2936"/>
                  </a:lnTo>
                  <a:lnTo>
                    <a:pt x="1983" y="2948"/>
                  </a:lnTo>
                  <a:lnTo>
                    <a:pt x="1966" y="2949"/>
                  </a:lnTo>
                  <a:lnTo>
                    <a:pt x="1949" y="2948"/>
                  </a:lnTo>
                  <a:lnTo>
                    <a:pt x="1918" y="2937"/>
                  </a:lnTo>
                  <a:lnTo>
                    <a:pt x="1894" y="2918"/>
                  </a:lnTo>
                  <a:lnTo>
                    <a:pt x="1876" y="2892"/>
                  </a:lnTo>
                  <a:lnTo>
                    <a:pt x="1865" y="2863"/>
                  </a:lnTo>
                  <a:lnTo>
                    <a:pt x="1863" y="2832"/>
                  </a:lnTo>
                  <a:lnTo>
                    <a:pt x="1870" y="2801"/>
                  </a:lnTo>
                  <a:lnTo>
                    <a:pt x="1887" y="2774"/>
                  </a:lnTo>
                  <a:lnTo>
                    <a:pt x="1900" y="2762"/>
                  </a:lnTo>
                  <a:lnTo>
                    <a:pt x="1916" y="2749"/>
                  </a:lnTo>
                  <a:lnTo>
                    <a:pt x="1948" y="2735"/>
                  </a:lnTo>
                  <a:lnTo>
                    <a:pt x="1979" y="2734"/>
                  </a:lnTo>
                  <a:lnTo>
                    <a:pt x="2012" y="2747"/>
                  </a:lnTo>
                  <a:lnTo>
                    <a:pt x="2030" y="2759"/>
                  </a:lnTo>
                  <a:close/>
                  <a:moveTo>
                    <a:pt x="955" y="3069"/>
                  </a:moveTo>
                  <a:lnTo>
                    <a:pt x="961" y="3076"/>
                  </a:lnTo>
                  <a:lnTo>
                    <a:pt x="978" y="3114"/>
                  </a:lnTo>
                  <a:lnTo>
                    <a:pt x="1012" y="3210"/>
                  </a:lnTo>
                  <a:lnTo>
                    <a:pt x="1035" y="3295"/>
                  </a:lnTo>
                  <a:lnTo>
                    <a:pt x="1064" y="3410"/>
                  </a:lnTo>
                  <a:lnTo>
                    <a:pt x="1078" y="3490"/>
                  </a:lnTo>
                  <a:lnTo>
                    <a:pt x="1072" y="3515"/>
                  </a:lnTo>
                  <a:lnTo>
                    <a:pt x="1065" y="3522"/>
                  </a:lnTo>
                  <a:lnTo>
                    <a:pt x="1057" y="3527"/>
                  </a:lnTo>
                  <a:lnTo>
                    <a:pt x="1024" y="3538"/>
                  </a:lnTo>
                  <a:lnTo>
                    <a:pt x="945" y="3555"/>
                  </a:lnTo>
                  <a:lnTo>
                    <a:pt x="880" y="3564"/>
                  </a:lnTo>
                  <a:lnTo>
                    <a:pt x="797" y="3573"/>
                  </a:lnTo>
                  <a:lnTo>
                    <a:pt x="685" y="3582"/>
                  </a:lnTo>
                  <a:lnTo>
                    <a:pt x="636" y="3580"/>
                  </a:lnTo>
                  <a:lnTo>
                    <a:pt x="613" y="3575"/>
                  </a:lnTo>
                  <a:lnTo>
                    <a:pt x="597" y="3566"/>
                  </a:lnTo>
                  <a:lnTo>
                    <a:pt x="586" y="3555"/>
                  </a:lnTo>
                  <a:lnTo>
                    <a:pt x="581" y="3547"/>
                  </a:lnTo>
                  <a:lnTo>
                    <a:pt x="576" y="3536"/>
                  </a:lnTo>
                  <a:lnTo>
                    <a:pt x="572" y="3516"/>
                  </a:lnTo>
                  <a:lnTo>
                    <a:pt x="577" y="3497"/>
                  </a:lnTo>
                  <a:lnTo>
                    <a:pt x="590" y="3481"/>
                  </a:lnTo>
                  <a:lnTo>
                    <a:pt x="611" y="3467"/>
                  </a:lnTo>
                  <a:lnTo>
                    <a:pt x="639" y="3455"/>
                  </a:lnTo>
                  <a:lnTo>
                    <a:pt x="696" y="3441"/>
                  </a:lnTo>
                  <a:lnTo>
                    <a:pt x="746" y="3434"/>
                  </a:lnTo>
                  <a:lnTo>
                    <a:pt x="796" y="3428"/>
                  </a:lnTo>
                  <a:lnTo>
                    <a:pt x="855" y="3415"/>
                  </a:lnTo>
                  <a:lnTo>
                    <a:pt x="880" y="3406"/>
                  </a:lnTo>
                  <a:lnTo>
                    <a:pt x="886" y="3402"/>
                  </a:lnTo>
                  <a:lnTo>
                    <a:pt x="891" y="3396"/>
                  </a:lnTo>
                  <a:lnTo>
                    <a:pt x="895" y="3376"/>
                  </a:lnTo>
                  <a:lnTo>
                    <a:pt x="891" y="3321"/>
                  </a:lnTo>
                  <a:lnTo>
                    <a:pt x="878" y="3257"/>
                  </a:lnTo>
                  <a:lnTo>
                    <a:pt x="866" y="3204"/>
                  </a:lnTo>
                  <a:lnTo>
                    <a:pt x="853" y="3139"/>
                  </a:lnTo>
                  <a:lnTo>
                    <a:pt x="852" y="3106"/>
                  </a:lnTo>
                  <a:lnTo>
                    <a:pt x="865" y="3086"/>
                  </a:lnTo>
                  <a:lnTo>
                    <a:pt x="876" y="3075"/>
                  </a:lnTo>
                  <a:lnTo>
                    <a:pt x="888" y="3064"/>
                  </a:lnTo>
                  <a:lnTo>
                    <a:pt x="905" y="3052"/>
                  </a:lnTo>
                  <a:lnTo>
                    <a:pt x="922" y="3050"/>
                  </a:lnTo>
                  <a:lnTo>
                    <a:pt x="942" y="3060"/>
                  </a:lnTo>
                  <a:lnTo>
                    <a:pt x="955" y="30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1" name="Freeform 45">
              <a:extLst>
                <a:ext uri="{FF2B5EF4-FFF2-40B4-BE49-F238E27FC236}">
                  <a16:creationId xmlns:a16="http://schemas.microsoft.com/office/drawing/2014/main" id="{A3114C18-0B97-B3B5-FAB3-2B0DCA985C0A}"/>
                </a:ext>
              </a:extLst>
            </p:cNvPr>
            <p:cNvSpPr>
              <a:spLocks/>
            </p:cNvSpPr>
            <p:nvPr/>
          </p:nvSpPr>
          <p:spPr bwMode="auto">
            <a:xfrm>
              <a:off x="3125788" y="995363"/>
              <a:ext cx="287338" cy="96838"/>
            </a:xfrm>
            <a:custGeom>
              <a:avLst/>
              <a:gdLst>
                <a:gd name="T0" fmla="*/ 15 w 741"/>
                <a:gd name="T1" fmla="*/ 22 h 248"/>
                <a:gd name="T2" fmla="*/ 8 w 741"/>
                <a:gd name="T3" fmla="*/ 31 h 248"/>
                <a:gd name="T4" fmla="*/ 0 w 741"/>
                <a:gd name="T5" fmla="*/ 47 h 248"/>
                <a:gd name="T6" fmla="*/ 0 w 741"/>
                <a:gd name="T7" fmla="*/ 61 h 248"/>
                <a:gd name="T8" fmla="*/ 8 w 741"/>
                <a:gd name="T9" fmla="*/ 73 h 248"/>
                <a:gd name="T10" fmla="*/ 36 w 741"/>
                <a:gd name="T11" fmla="*/ 87 h 248"/>
                <a:gd name="T12" fmla="*/ 109 w 741"/>
                <a:gd name="T13" fmla="*/ 100 h 248"/>
                <a:gd name="T14" fmla="*/ 162 w 741"/>
                <a:gd name="T15" fmla="*/ 105 h 248"/>
                <a:gd name="T16" fmla="*/ 223 w 741"/>
                <a:gd name="T17" fmla="*/ 110 h 248"/>
                <a:gd name="T18" fmla="*/ 349 w 741"/>
                <a:gd name="T19" fmla="*/ 131 h 248"/>
                <a:gd name="T20" fmla="*/ 470 w 741"/>
                <a:gd name="T21" fmla="*/ 160 h 248"/>
                <a:gd name="T22" fmla="*/ 574 w 741"/>
                <a:gd name="T23" fmla="*/ 196 h 248"/>
                <a:gd name="T24" fmla="*/ 615 w 741"/>
                <a:gd name="T25" fmla="*/ 215 h 248"/>
                <a:gd name="T26" fmla="*/ 642 w 741"/>
                <a:gd name="T27" fmla="*/ 228 h 248"/>
                <a:gd name="T28" fmla="*/ 690 w 741"/>
                <a:gd name="T29" fmla="*/ 246 h 248"/>
                <a:gd name="T30" fmla="*/ 704 w 741"/>
                <a:gd name="T31" fmla="*/ 248 h 248"/>
                <a:gd name="T32" fmla="*/ 714 w 741"/>
                <a:gd name="T33" fmla="*/ 247 h 248"/>
                <a:gd name="T34" fmla="*/ 730 w 741"/>
                <a:gd name="T35" fmla="*/ 233 h 248"/>
                <a:gd name="T36" fmla="*/ 740 w 741"/>
                <a:gd name="T37" fmla="*/ 212 h 248"/>
                <a:gd name="T38" fmla="*/ 741 w 741"/>
                <a:gd name="T39" fmla="*/ 189 h 248"/>
                <a:gd name="T40" fmla="*/ 737 w 741"/>
                <a:gd name="T41" fmla="*/ 180 h 248"/>
                <a:gd name="T42" fmla="*/ 729 w 741"/>
                <a:gd name="T43" fmla="*/ 170 h 248"/>
                <a:gd name="T44" fmla="*/ 697 w 741"/>
                <a:gd name="T45" fmla="*/ 148 h 248"/>
                <a:gd name="T46" fmla="*/ 621 w 741"/>
                <a:gd name="T47" fmla="*/ 111 h 248"/>
                <a:gd name="T48" fmla="*/ 479 w 741"/>
                <a:gd name="T49" fmla="*/ 63 h 248"/>
                <a:gd name="T50" fmla="*/ 322 w 741"/>
                <a:gd name="T51" fmla="*/ 26 h 248"/>
                <a:gd name="T52" fmla="*/ 247 w 741"/>
                <a:gd name="T53" fmla="*/ 15 h 248"/>
                <a:gd name="T54" fmla="*/ 183 w 741"/>
                <a:gd name="T55" fmla="*/ 8 h 248"/>
                <a:gd name="T56" fmla="*/ 98 w 741"/>
                <a:gd name="T57" fmla="*/ 0 h 248"/>
                <a:gd name="T58" fmla="*/ 50 w 741"/>
                <a:gd name="T59" fmla="*/ 1 h 248"/>
                <a:gd name="T60" fmla="*/ 24 w 741"/>
                <a:gd name="T61" fmla="*/ 12 h 248"/>
                <a:gd name="T62" fmla="*/ 15 w 741"/>
                <a:gd name="T63" fmla="*/ 2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1" h="248">
                  <a:moveTo>
                    <a:pt x="15" y="22"/>
                  </a:moveTo>
                  <a:lnTo>
                    <a:pt x="8" y="31"/>
                  </a:lnTo>
                  <a:lnTo>
                    <a:pt x="0" y="47"/>
                  </a:lnTo>
                  <a:lnTo>
                    <a:pt x="0" y="61"/>
                  </a:lnTo>
                  <a:lnTo>
                    <a:pt x="8" y="73"/>
                  </a:lnTo>
                  <a:lnTo>
                    <a:pt x="36" y="87"/>
                  </a:lnTo>
                  <a:lnTo>
                    <a:pt x="109" y="100"/>
                  </a:lnTo>
                  <a:lnTo>
                    <a:pt x="162" y="105"/>
                  </a:lnTo>
                  <a:lnTo>
                    <a:pt x="223" y="110"/>
                  </a:lnTo>
                  <a:lnTo>
                    <a:pt x="349" y="131"/>
                  </a:lnTo>
                  <a:lnTo>
                    <a:pt x="470" y="160"/>
                  </a:lnTo>
                  <a:lnTo>
                    <a:pt x="574" y="196"/>
                  </a:lnTo>
                  <a:lnTo>
                    <a:pt x="615" y="215"/>
                  </a:lnTo>
                  <a:lnTo>
                    <a:pt x="642" y="228"/>
                  </a:lnTo>
                  <a:lnTo>
                    <a:pt x="690" y="246"/>
                  </a:lnTo>
                  <a:lnTo>
                    <a:pt x="704" y="248"/>
                  </a:lnTo>
                  <a:lnTo>
                    <a:pt x="714" y="247"/>
                  </a:lnTo>
                  <a:lnTo>
                    <a:pt x="730" y="233"/>
                  </a:lnTo>
                  <a:lnTo>
                    <a:pt x="740" y="212"/>
                  </a:lnTo>
                  <a:lnTo>
                    <a:pt x="741" y="189"/>
                  </a:lnTo>
                  <a:lnTo>
                    <a:pt x="737" y="180"/>
                  </a:lnTo>
                  <a:lnTo>
                    <a:pt x="729" y="170"/>
                  </a:lnTo>
                  <a:lnTo>
                    <a:pt x="697" y="148"/>
                  </a:lnTo>
                  <a:lnTo>
                    <a:pt x="621" y="111"/>
                  </a:lnTo>
                  <a:lnTo>
                    <a:pt x="479" y="63"/>
                  </a:lnTo>
                  <a:lnTo>
                    <a:pt x="322" y="26"/>
                  </a:lnTo>
                  <a:lnTo>
                    <a:pt x="247" y="15"/>
                  </a:lnTo>
                  <a:lnTo>
                    <a:pt x="183" y="8"/>
                  </a:lnTo>
                  <a:lnTo>
                    <a:pt x="98" y="0"/>
                  </a:lnTo>
                  <a:lnTo>
                    <a:pt x="50" y="1"/>
                  </a:lnTo>
                  <a:lnTo>
                    <a:pt x="24" y="12"/>
                  </a:lnTo>
                  <a:lnTo>
                    <a:pt x="1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2" name="Freeform 46">
              <a:extLst>
                <a:ext uri="{FF2B5EF4-FFF2-40B4-BE49-F238E27FC236}">
                  <a16:creationId xmlns:a16="http://schemas.microsoft.com/office/drawing/2014/main" id="{4C0F260C-51EC-422A-AC51-E88585680A68}"/>
                </a:ext>
              </a:extLst>
            </p:cNvPr>
            <p:cNvSpPr>
              <a:spLocks/>
            </p:cNvSpPr>
            <p:nvPr/>
          </p:nvSpPr>
          <p:spPr bwMode="auto">
            <a:xfrm>
              <a:off x="3124200" y="1090613"/>
              <a:ext cx="288925" cy="92075"/>
            </a:xfrm>
            <a:custGeom>
              <a:avLst/>
              <a:gdLst>
                <a:gd name="T0" fmla="*/ 4 w 746"/>
                <a:gd name="T1" fmla="*/ 29 h 236"/>
                <a:gd name="T2" fmla="*/ 1 w 746"/>
                <a:gd name="T3" fmla="*/ 37 h 236"/>
                <a:gd name="T4" fmla="*/ 0 w 746"/>
                <a:gd name="T5" fmla="*/ 50 h 236"/>
                <a:gd name="T6" fmla="*/ 5 w 746"/>
                <a:gd name="T7" fmla="*/ 62 h 236"/>
                <a:gd name="T8" fmla="*/ 17 w 746"/>
                <a:gd name="T9" fmla="*/ 71 h 236"/>
                <a:gd name="T10" fmla="*/ 51 w 746"/>
                <a:gd name="T11" fmla="*/ 82 h 236"/>
                <a:gd name="T12" fmla="*/ 136 w 746"/>
                <a:gd name="T13" fmla="*/ 95 h 236"/>
                <a:gd name="T14" fmla="*/ 199 w 746"/>
                <a:gd name="T15" fmla="*/ 101 h 236"/>
                <a:gd name="T16" fmla="*/ 263 w 746"/>
                <a:gd name="T17" fmla="*/ 108 h 236"/>
                <a:gd name="T18" fmla="*/ 401 w 746"/>
                <a:gd name="T19" fmla="*/ 135 h 236"/>
                <a:gd name="T20" fmla="*/ 528 w 746"/>
                <a:gd name="T21" fmla="*/ 169 h 236"/>
                <a:gd name="T22" fmla="*/ 599 w 746"/>
                <a:gd name="T23" fmla="*/ 195 h 236"/>
                <a:gd name="T24" fmla="*/ 630 w 746"/>
                <a:gd name="T25" fmla="*/ 212 h 236"/>
                <a:gd name="T26" fmla="*/ 639 w 746"/>
                <a:gd name="T27" fmla="*/ 219 h 236"/>
                <a:gd name="T28" fmla="*/ 650 w 746"/>
                <a:gd name="T29" fmla="*/ 228 h 236"/>
                <a:gd name="T30" fmla="*/ 681 w 746"/>
                <a:gd name="T31" fmla="*/ 236 h 236"/>
                <a:gd name="T32" fmla="*/ 713 w 746"/>
                <a:gd name="T33" fmla="*/ 233 h 236"/>
                <a:gd name="T34" fmla="*/ 738 w 746"/>
                <a:gd name="T35" fmla="*/ 220 h 236"/>
                <a:gd name="T36" fmla="*/ 744 w 746"/>
                <a:gd name="T37" fmla="*/ 209 h 236"/>
                <a:gd name="T38" fmla="*/ 746 w 746"/>
                <a:gd name="T39" fmla="*/ 202 h 236"/>
                <a:gd name="T40" fmla="*/ 745 w 746"/>
                <a:gd name="T41" fmla="*/ 188 h 236"/>
                <a:gd name="T42" fmla="*/ 731 w 746"/>
                <a:gd name="T43" fmla="*/ 166 h 236"/>
                <a:gd name="T44" fmla="*/ 687 w 746"/>
                <a:gd name="T45" fmla="*/ 136 h 236"/>
                <a:gd name="T46" fmla="*/ 612 w 746"/>
                <a:gd name="T47" fmla="*/ 102 h 236"/>
                <a:gd name="T48" fmla="*/ 561 w 746"/>
                <a:gd name="T49" fmla="*/ 82 h 236"/>
                <a:gd name="T50" fmla="*/ 520 w 746"/>
                <a:gd name="T51" fmla="*/ 68 h 236"/>
                <a:gd name="T52" fmla="*/ 433 w 746"/>
                <a:gd name="T53" fmla="*/ 43 h 236"/>
                <a:gd name="T54" fmla="*/ 343 w 746"/>
                <a:gd name="T55" fmla="*/ 24 h 236"/>
                <a:gd name="T56" fmla="*/ 254 w 746"/>
                <a:gd name="T57" fmla="*/ 10 h 236"/>
                <a:gd name="T58" fmla="*/ 171 w 746"/>
                <a:gd name="T59" fmla="*/ 2 h 236"/>
                <a:gd name="T60" fmla="*/ 100 w 746"/>
                <a:gd name="T61" fmla="*/ 0 h 236"/>
                <a:gd name="T62" fmla="*/ 45 w 746"/>
                <a:gd name="T63" fmla="*/ 6 h 236"/>
                <a:gd name="T64" fmla="*/ 17 w 746"/>
                <a:gd name="T65" fmla="*/ 15 h 236"/>
                <a:gd name="T66" fmla="*/ 7 w 746"/>
                <a:gd name="T67" fmla="*/ 24 h 236"/>
                <a:gd name="T68" fmla="*/ 4 w 746"/>
                <a:gd name="T69" fmla="*/ 29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6" h="236">
                  <a:moveTo>
                    <a:pt x="4" y="29"/>
                  </a:moveTo>
                  <a:lnTo>
                    <a:pt x="1" y="37"/>
                  </a:lnTo>
                  <a:lnTo>
                    <a:pt x="0" y="50"/>
                  </a:lnTo>
                  <a:lnTo>
                    <a:pt x="5" y="62"/>
                  </a:lnTo>
                  <a:lnTo>
                    <a:pt x="17" y="71"/>
                  </a:lnTo>
                  <a:lnTo>
                    <a:pt x="51" y="82"/>
                  </a:lnTo>
                  <a:lnTo>
                    <a:pt x="136" y="95"/>
                  </a:lnTo>
                  <a:lnTo>
                    <a:pt x="199" y="101"/>
                  </a:lnTo>
                  <a:lnTo>
                    <a:pt x="263" y="108"/>
                  </a:lnTo>
                  <a:lnTo>
                    <a:pt x="401" y="135"/>
                  </a:lnTo>
                  <a:lnTo>
                    <a:pt x="528" y="169"/>
                  </a:lnTo>
                  <a:lnTo>
                    <a:pt x="599" y="195"/>
                  </a:lnTo>
                  <a:lnTo>
                    <a:pt x="630" y="212"/>
                  </a:lnTo>
                  <a:lnTo>
                    <a:pt x="639" y="219"/>
                  </a:lnTo>
                  <a:lnTo>
                    <a:pt x="650" y="228"/>
                  </a:lnTo>
                  <a:lnTo>
                    <a:pt x="681" y="236"/>
                  </a:lnTo>
                  <a:lnTo>
                    <a:pt x="713" y="233"/>
                  </a:lnTo>
                  <a:lnTo>
                    <a:pt x="738" y="220"/>
                  </a:lnTo>
                  <a:lnTo>
                    <a:pt x="744" y="209"/>
                  </a:lnTo>
                  <a:lnTo>
                    <a:pt x="746" y="202"/>
                  </a:lnTo>
                  <a:lnTo>
                    <a:pt x="745" y="188"/>
                  </a:lnTo>
                  <a:lnTo>
                    <a:pt x="731" y="166"/>
                  </a:lnTo>
                  <a:lnTo>
                    <a:pt x="687" y="136"/>
                  </a:lnTo>
                  <a:lnTo>
                    <a:pt x="612" y="102"/>
                  </a:lnTo>
                  <a:lnTo>
                    <a:pt x="561" y="82"/>
                  </a:lnTo>
                  <a:lnTo>
                    <a:pt x="520" y="68"/>
                  </a:lnTo>
                  <a:lnTo>
                    <a:pt x="433" y="43"/>
                  </a:lnTo>
                  <a:lnTo>
                    <a:pt x="343" y="24"/>
                  </a:lnTo>
                  <a:lnTo>
                    <a:pt x="254" y="10"/>
                  </a:lnTo>
                  <a:lnTo>
                    <a:pt x="171" y="2"/>
                  </a:lnTo>
                  <a:lnTo>
                    <a:pt x="100" y="0"/>
                  </a:lnTo>
                  <a:lnTo>
                    <a:pt x="45" y="6"/>
                  </a:lnTo>
                  <a:lnTo>
                    <a:pt x="17" y="15"/>
                  </a:lnTo>
                  <a:lnTo>
                    <a:pt x="7" y="24"/>
                  </a:lnTo>
                  <a:lnTo>
                    <a:pt x="4"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3" name="Freeform 47">
              <a:extLst>
                <a:ext uri="{FF2B5EF4-FFF2-40B4-BE49-F238E27FC236}">
                  <a16:creationId xmlns:a16="http://schemas.microsoft.com/office/drawing/2014/main" id="{8646B180-65AA-9CBB-A3E4-E39C47A2CEF5}"/>
                </a:ext>
              </a:extLst>
            </p:cNvPr>
            <p:cNvSpPr>
              <a:spLocks/>
            </p:cNvSpPr>
            <p:nvPr/>
          </p:nvSpPr>
          <p:spPr bwMode="auto">
            <a:xfrm>
              <a:off x="3124200" y="1182688"/>
              <a:ext cx="288925" cy="92075"/>
            </a:xfrm>
            <a:custGeom>
              <a:avLst/>
              <a:gdLst>
                <a:gd name="T0" fmla="*/ 5 w 742"/>
                <a:gd name="T1" fmla="*/ 23 h 238"/>
                <a:gd name="T2" fmla="*/ 1 w 742"/>
                <a:gd name="T3" fmla="*/ 32 h 238"/>
                <a:gd name="T4" fmla="*/ 0 w 742"/>
                <a:gd name="T5" fmla="*/ 49 h 238"/>
                <a:gd name="T6" fmla="*/ 5 w 742"/>
                <a:gd name="T7" fmla="*/ 64 h 238"/>
                <a:gd name="T8" fmla="*/ 15 w 742"/>
                <a:gd name="T9" fmla="*/ 76 h 238"/>
                <a:gd name="T10" fmla="*/ 43 w 742"/>
                <a:gd name="T11" fmla="*/ 89 h 238"/>
                <a:gd name="T12" fmla="*/ 104 w 742"/>
                <a:gd name="T13" fmla="*/ 99 h 238"/>
                <a:gd name="T14" fmla="*/ 146 w 742"/>
                <a:gd name="T15" fmla="*/ 100 h 238"/>
                <a:gd name="T16" fmla="*/ 202 w 742"/>
                <a:gd name="T17" fmla="*/ 101 h 238"/>
                <a:gd name="T18" fmla="*/ 314 w 742"/>
                <a:gd name="T19" fmla="*/ 114 h 238"/>
                <a:gd name="T20" fmla="*/ 427 w 742"/>
                <a:gd name="T21" fmla="*/ 139 h 238"/>
                <a:gd name="T22" fmla="*/ 537 w 742"/>
                <a:gd name="T23" fmla="*/ 175 h 238"/>
                <a:gd name="T24" fmla="*/ 590 w 742"/>
                <a:gd name="T25" fmla="*/ 198 h 238"/>
                <a:gd name="T26" fmla="*/ 653 w 742"/>
                <a:gd name="T27" fmla="*/ 226 h 238"/>
                <a:gd name="T28" fmla="*/ 701 w 742"/>
                <a:gd name="T29" fmla="*/ 238 h 238"/>
                <a:gd name="T30" fmla="*/ 719 w 742"/>
                <a:gd name="T31" fmla="*/ 234 h 238"/>
                <a:gd name="T32" fmla="*/ 726 w 742"/>
                <a:gd name="T33" fmla="*/ 228 h 238"/>
                <a:gd name="T34" fmla="*/ 733 w 742"/>
                <a:gd name="T35" fmla="*/ 221 h 238"/>
                <a:gd name="T36" fmla="*/ 741 w 742"/>
                <a:gd name="T37" fmla="*/ 207 h 238"/>
                <a:gd name="T38" fmla="*/ 742 w 742"/>
                <a:gd name="T39" fmla="*/ 192 h 238"/>
                <a:gd name="T40" fmla="*/ 735 w 742"/>
                <a:gd name="T41" fmla="*/ 177 h 238"/>
                <a:gd name="T42" fmla="*/ 711 w 742"/>
                <a:gd name="T43" fmla="*/ 154 h 238"/>
                <a:gd name="T44" fmla="*/ 651 w 742"/>
                <a:gd name="T45" fmla="*/ 120 h 238"/>
                <a:gd name="T46" fmla="*/ 608 w 742"/>
                <a:gd name="T47" fmla="*/ 101 h 238"/>
                <a:gd name="T48" fmla="*/ 552 w 742"/>
                <a:gd name="T49" fmla="*/ 79 h 238"/>
                <a:gd name="T50" fmla="*/ 453 w 742"/>
                <a:gd name="T51" fmla="*/ 46 h 238"/>
                <a:gd name="T52" fmla="*/ 355 w 742"/>
                <a:gd name="T53" fmla="*/ 24 h 238"/>
                <a:gd name="T54" fmla="*/ 241 w 742"/>
                <a:gd name="T55" fmla="*/ 10 h 238"/>
                <a:gd name="T56" fmla="*/ 171 w 742"/>
                <a:gd name="T57" fmla="*/ 5 h 238"/>
                <a:gd name="T58" fmla="*/ 84 w 742"/>
                <a:gd name="T59" fmla="*/ 0 h 238"/>
                <a:gd name="T60" fmla="*/ 25 w 742"/>
                <a:gd name="T61" fmla="*/ 4 h 238"/>
                <a:gd name="T62" fmla="*/ 9 w 742"/>
                <a:gd name="T63" fmla="*/ 14 h 238"/>
                <a:gd name="T64" fmla="*/ 5 w 742"/>
                <a:gd name="T65" fmla="*/ 2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2" h="238">
                  <a:moveTo>
                    <a:pt x="5" y="23"/>
                  </a:moveTo>
                  <a:lnTo>
                    <a:pt x="1" y="32"/>
                  </a:lnTo>
                  <a:lnTo>
                    <a:pt x="0" y="49"/>
                  </a:lnTo>
                  <a:lnTo>
                    <a:pt x="5" y="64"/>
                  </a:lnTo>
                  <a:lnTo>
                    <a:pt x="15" y="76"/>
                  </a:lnTo>
                  <a:lnTo>
                    <a:pt x="43" y="89"/>
                  </a:lnTo>
                  <a:lnTo>
                    <a:pt x="104" y="99"/>
                  </a:lnTo>
                  <a:lnTo>
                    <a:pt x="146" y="100"/>
                  </a:lnTo>
                  <a:lnTo>
                    <a:pt x="202" y="101"/>
                  </a:lnTo>
                  <a:lnTo>
                    <a:pt x="314" y="114"/>
                  </a:lnTo>
                  <a:lnTo>
                    <a:pt x="427" y="139"/>
                  </a:lnTo>
                  <a:lnTo>
                    <a:pt x="537" y="175"/>
                  </a:lnTo>
                  <a:lnTo>
                    <a:pt x="590" y="198"/>
                  </a:lnTo>
                  <a:lnTo>
                    <a:pt x="653" y="226"/>
                  </a:lnTo>
                  <a:lnTo>
                    <a:pt x="701" y="238"/>
                  </a:lnTo>
                  <a:lnTo>
                    <a:pt x="719" y="234"/>
                  </a:lnTo>
                  <a:lnTo>
                    <a:pt x="726" y="228"/>
                  </a:lnTo>
                  <a:lnTo>
                    <a:pt x="733" y="221"/>
                  </a:lnTo>
                  <a:lnTo>
                    <a:pt x="741" y="207"/>
                  </a:lnTo>
                  <a:lnTo>
                    <a:pt x="742" y="192"/>
                  </a:lnTo>
                  <a:lnTo>
                    <a:pt x="735" y="177"/>
                  </a:lnTo>
                  <a:lnTo>
                    <a:pt x="711" y="154"/>
                  </a:lnTo>
                  <a:lnTo>
                    <a:pt x="651" y="120"/>
                  </a:lnTo>
                  <a:lnTo>
                    <a:pt x="608" y="101"/>
                  </a:lnTo>
                  <a:lnTo>
                    <a:pt x="552" y="79"/>
                  </a:lnTo>
                  <a:lnTo>
                    <a:pt x="453" y="46"/>
                  </a:lnTo>
                  <a:lnTo>
                    <a:pt x="355" y="24"/>
                  </a:lnTo>
                  <a:lnTo>
                    <a:pt x="241" y="10"/>
                  </a:lnTo>
                  <a:lnTo>
                    <a:pt x="171" y="5"/>
                  </a:lnTo>
                  <a:lnTo>
                    <a:pt x="84" y="0"/>
                  </a:lnTo>
                  <a:lnTo>
                    <a:pt x="25" y="4"/>
                  </a:lnTo>
                  <a:lnTo>
                    <a:pt x="9" y="14"/>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4" name="Freeform 48">
              <a:extLst>
                <a:ext uri="{FF2B5EF4-FFF2-40B4-BE49-F238E27FC236}">
                  <a16:creationId xmlns:a16="http://schemas.microsoft.com/office/drawing/2014/main" id="{2B541EF1-5CF7-0C85-A019-FA75FA6E4267}"/>
                </a:ext>
              </a:extLst>
            </p:cNvPr>
            <p:cNvSpPr>
              <a:spLocks/>
            </p:cNvSpPr>
            <p:nvPr/>
          </p:nvSpPr>
          <p:spPr bwMode="auto">
            <a:xfrm>
              <a:off x="3125788" y="1273175"/>
              <a:ext cx="288925" cy="95250"/>
            </a:xfrm>
            <a:custGeom>
              <a:avLst/>
              <a:gdLst>
                <a:gd name="T0" fmla="*/ 14 w 744"/>
                <a:gd name="T1" fmla="*/ 21 h 244"/>
                <a:gd name="T2" fmla="*/ 7 w 744"/>
                <a:gd name="T3" fmla="*/ 30 h 244"/>
                <a:gd name="T4" fmla="*/ 0 w 744"/>
                <a:gd name="T5" fmla="*/ 46 h 244"/>
                <a:gd name="T6" fmla="*/ 2 w 744"/>
                <a:gd name="T7" fmla="*/ 60 h 244"/>
                <a:gd name="T8" fmla="*/ 12 w 744"/>
                <a:gd name="T9" fmla="*/ 71 h 244"/>
                <a:gd name="T10" fmla="*/ 43 w 744"/>
                <a:gd name="T11" fmla="*/ 86 h 244"/>
                <a:gd name="T12" fmla="*/ 119 w 744"/>
                <a:gd name="T13" fmla="*/ 99 h 244"/>
                <a:gd name="T14" fmla="*/ 174 w 744"/>
                <a:gd name="T15" fmla="*/ 103 h 244"/>
                <a:gd name="T16" fmla="*/ 238 w 744"/>
                <a:gd name="T17" fmla="*/ 109 h 244"/>
                <a:gd name="T18" fmla="*/ 351 w 744"/>
                <a:gd name="T19" fmla="*/ 126 h 244"/>
                <a:gd name="T20" fmla="*/ 454 w 744"/>
                <a:gd name="T21" fmla="*/ 151 h 244"/>
                <a:gd name="T22" fmla="*/ 552 w 744"/>
                <a:gd name="T23" fmla="*/ 187 h 244"/>
                <a:gd name="T24" fmla="*/ 601 w 744"/>
                <a:gd name="T25" fmla="*/ 210 h 244"/>
                <a:gd name="T26" fmla="*/ 632 w 744"/>
                <a:gd name="T27" fmla="*/ 224 h 244"/>
                <a:gd name="T28" fmla="*/ 674 w 744"/>
                <a:gd name="T29" fmla="*/ 241 h 244"/>
                <a:gd name="T30" fmla="*/ 698 w 744"/>
                <a:gd name="T31" fmla="*/ 244 h 244"/>
                <a:gd name="T32" fmla="*/ 715 w 744"/>
                <a:gd name="T33" fmla="*/ 235 h 244"/>
                <a:gd name="T34" fmla="*/ 724 w 744"/>
                <a:gd name="T35" fmla="*/ 226 h 244"/>
                <a:gd name="T36" fmla="*/ 734 w 744"/>
                <a:gd name="T37" fmla="*/ 218 h 244"/>
                <a:gd name="T38" fmla="*/ 744 w 744"/>
                <a:gd name="T39" fmla="*/ 204 h 244"/>
                <a:gd name="T40" fmla="*/ 744 w 744"/>
                <a:gd name="T41" fmla="*/ 192 h 244"/>
                <a:gd name="T42" fmla="*/ 734 w 744"/>
                <a:gd name="T43" fmla="*/ 178 h 244"/>
                <a:gd name="T44" fmla="*/ 724 w 744"/>
                <a:gd name="T45" fmla="*/ 168 h 244"/>
                <a:gd name="T46" fmla="*/ 706 w 744"/>
                <a:gd name="T47" fmla="*/ 152 h 244"/>
                <a:gd name="T48" fmla="*/ 633 w 744"/>
                <a:gd name="T49" fmla="*/ 114 h 244"/>
                <a:gd name="T50" fmla="*/ 535 w 744"/>
                <a:gd name="T51" fmla="*/ 75 h 244"/>
                <a:gd name="T52" fmla="*/ 433 w 744"/>
                <a:gd name="T53" fmla="*/ 43 h 244"/>
                <a:gd name="T54" fmla="*/ 388 w 744"/>
                <a:gd name="T55" fmla="*/ 33 h 244"/>
                <a:gd name="T56" fmla="*/ 294 w 744"/>
                <a:gd name="T57" fmla="*/ 19 h 244"/>
                <a:gd name="T58" fmla="*/ 171 w 744"/>
                <a:gd name="T59" fmla="*/ 6 h 244"/>
                <a:gd name="T60" fmla="*/ 97 w 744"/>
                <a:gd name="T61" fmla="*/ 0 h 244"/>
                <a:gd name="T62" fmla="*/ 41 w 744"/>
                <a:gd name="T63" fmla="*/ 3 h 244"/>
                <a:gd name="T64" fmla="*/ 21 w 744"/>
                <a:gd name="T65" fmla="*/ 13 h 244"/>
                <a:gd name="T66" fmla="*/ 14 w 744"/>
                <a:gd name="T67" fmla="*/ 2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4" h="244">
                  <a:moveTo>
                    <a:pt x="14" y="21"/>
                  </a:moveTo>
                  <a:lnTo>
                    <a:pt x="7" y="30"/>
                  </a:lnTo>
                  <a:lnTo>
                    <a:pt x="0" y="46"/>
                  </a:lnTo>
                  <a:lnTo>
                    <a:pt x="2" y="60"/>
                  </a:lnTo>
                  <a:lnTo>
                    <a:pt x="12" y="71"/>
                  </a:lnTo>
                  <a:lnTo>
                    <a:pt x="43" y="86"/>
                  </a:lnTo>
                  <a:lnTo>
                    <a:pt x="119" y="99"/>
                  </a:lnTo>
                  <a:lnTo>
                    <a:pt x="174" y="103"/>
                  </a:lnTo>
                  <a:lnTo>
                    <a:pt x="238" y="109"/>
                  </a:lnTo>
                  <a:lnTo>
                    <a:pt x="351" y="126"/>
                  </a:lnTo>
                  <a:lnTo>
                    <a:pt x="454" y="151"/>
                  </a:lnTo>
                  <a:lnTo>
                    <a:pt x="552" y="187"/>
                  </a:lnTo>
                  <a:lnTo>
                    <a:pt x="601" y="210"/>
                  </a:lnTo>
                  <a:lnTo>
                    <a:pt x="632" y="224"/>
                  </a:lnTo>
                  <a:lnTo>
                    <a:pt x="674" y="241"/>
                  </a:lnTo>
                  <a:lnTo>
                    <a:pt x="698" y="244"/>
                  </a:lnTo>
                  <a:lnTo>
                    <a:pt x="715" y="235"/>
                  </a:lnTo>
                  <a:lnTo>
                    <a:pt x="724" y="226"/>
                  </a:lnTo>
                  <a:lnTo>
                    <a:pt x="734" y="218"/>
                  </a:lnTo>
                  <a:lnTo>
                    <a:pt x="744" y="204"/>
                  </a:lnTo>
                  <a:lnTo>
                    <a:pt x="744" y="192"/>
                  </a:lnTo>
                  <a:lnTo>
                    <a:pt x="734" y="178"/>
                  </a:lnTo>
                  <a:lnTo>
                    <a:pt x="724" y="168"/>
                  </a:lnTo>
                  <a:lnTo>
                    <a:pt x="706" y="152"/>
                  </a:lnTo>
                  <a:lnTo>
                    <a:pt x="633" y="114"/>
                  </a:lnTo>
                  <a:lnTo>
                    <a:pt x="535" y="75"/>
                  </a:lnTo>
                  <a:lnTo>
                    <a:pt x="433" y="43"/>
                  </a:lnTo>
                  <a:lnTo>
                    <a:pt x="388" y="33"/>
                  </a:lnTo>
                  <a:lnTo>
                    <a:pt x="294" y="19"/>
                  </a:lnTo>
                  <a:lnTo>
                    <a:pt x="171" y="6"/>
                  </a:lnTo>
                  <a:lnTo>
                    <a:pt x="97" y="0"/>
                  </a:lnTo>
                  <a:lnTo>
                    <a:pt x="41" y="3"/>
                  </a:lnTo>
                  <a:lnTo>
                    <a:pt x="21" y="13"/>
                  </a:lnTo>
                  <a:lnTo>
                    <a:pt x="1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5" name="Freeform 49">
              <a:extLst>
                <a:ext uri="{FF2B5EF4-FFF2-40B4-BE49-F238E27FC236}">
                  <a16:creationId xmlns:a16="http://schemas.microsoft.com/office/drawing/2014/main" id="{CC93E763-2554-52D3-C81D-CF4EEC391F54}"/>
                </a:ext>
              </a:extLst>
            </p:cNvPr>
            <p:cNvSpPr>
              <a:spLocks/>
            </p:cNvSpPr>
            <p:nvPr/>
          </p:nvSpPr>
          <p:spPr bwMode="auto">
            <a:xfrm>
              <a:off x="3125788" y="1363663"/>
              <a:ext cx="287338" cy="96838"/>
            </a:xfrm>
            <a:custGeom>
              <a:avLst/>
              <a:gdLst>
                <a:gd name="T0" fmla="*/ 13 w 741"/>
                <a:gd name="T1" fmla="*/ 22 h 246"/>
                <a:gd name="T2" fmla="*/ 6 w 741"/>
                <a:gd name="T3" fmla="*/ 31 h 246"/>
                <a:gd name="T4" fmla="*/ 0 w 741"/>
                <a:gd name="T5" fmla="*/ 46 h 246"/>
                <a:gd name="T6" fmla="*/ 4 w 741"/>
                <a:gd name="T7" fmla="*/ 60 h 246"/>
                <a:gd name="T8" fmla="*/ 17 w 741"/>
                <a:gd name="T9" fmla="*/ 72 h 246"/>
                <a:gd name="T10" fmla="*/ 54 w 741"/>
                <a:gd name="T11" fmla="*/ 88 h 246"/>
                <a:gd name="T12" fmla="*/ 144 w 741"/>
                <a:gd name="T13" fmla="*/ 105 h 246"/>
                <a:gd name="T14" fmla="*/ 209 w 741"/>
                <a:gd name="T15" fmla="*/ 112 h 246"/>
                <a:gd name="T16" fmla="*/ 267 w 741"/>
                <a:gd name="T17" fmla="*/ 119 h 246"/>
                <a:gd name="T18" fmla="*/ 376 w 741"/>
                <a:gd name="T19" fmla="*/ 139 h 246"/>
                <a:gd name="T20" fmla="*/ 485 w 741"/>
                <a:gd name="T21" fmla="*/ 168 h 246"/>
                <a:gd name="T22" fmla="*/ 599 w 741"/>
                <a:gd name="T23" fmla="*/ 208 h 246"/>
                <a:gd name="T24" fmla="*/ 659 w 741"/>
                <a:gd name="T25" fmla="*/ 232 h 246"/>
                <a:gd name="T26" fmla="*/ 690 w 741"/>
                <a:gd name="T27" fmla="*/ 245 h 246"/>
                <a:gd name="T28" fmla="*/ 714 w 741"/>
                <a:gd name="T29" fmla="*/ 246 h 246"/>
                <a:gd name="T30" fmla="*/ 724 w 741"/>
                <a:gd name="T31" fmla="*/ 238 h 246"/>
                <a:gd name="T32" fmla="*/ 729 w 741"/>
                <a:gd name="T33" fmla="*/ 231 h 246"/>
                <a:gd name="T34" fmla="*/ 738 w 741"/>
                <a:gd name="T35" fmla="*/ 216 h 246"/>
                <a:gd name="T36" fmla="*/ 741 w 741"/>
                <a:gd name="T37" fmla="*/ 198 h 246"/>
                <a:gd name="T38" fmla="*/ 737 w 741"/>
                <a:gd name="T39" fmla="*/ 187 h 246"/>
                <a:gd name="T40" fmla="*/ 719 w 741"/>
                <a:gd name="T41" fmla="*/ 169 h 246"/>
                <a:gd name="T42" fmla="*/ 670 w 741"/>
                <a:gd name="T43" fmla="*/ 140 h 246"/>
                <a:gd name="T44" fmla="*/ 631 w 741"/>
                <a:gd name="T45" fmla="*/ 121 h 246"/>
                <a:gd name="T46" fmla="*/ 589 w 741"/>
                <a:gd name="T47" fmla="*/ 101 h 246"/>
                <a:gd name="T48" fmla="*/ 484 w 741"/>
                <a:gd name="T49" fmla="*/ 65 h 246"/>
                <a:gd name="T50" fmla="*/ 359 w 741"/>
                <a:gd name="T51" fmla="*/ 36 h 246"/>
                <a:gd name="T52" fmla="*/ 220 w 741"/>
                <a:gd name="T53" fmla="*/ 13 h 246"/>
                <a:gd name="T54" fmla="*/ 146 w 741"/>
                <a:gd name="T55" fmla="*/ 6 h 246"/>
                <a:gd name="T56" fmla="*/ 114 w 741"/>
                <a:gd name="T57" fmla="*/ 2 h 246"/>
                <a:gd name="T58" fmla="*/ 69 w 741"/>
                <a:gd name="T59" fmla="*/ 0 h 246"/>
                <a:gd name="T60" fmla="*/ 39 w 741"/>
                <a:gd name="T61" fmla="*/ 4 h 246"/>
                <a:gd name="T62" fmla="*/ 20 w 741"/>
                <a:gd name="T63" fmla="*/ 14 h 246"/>
                <a:gd name="T64" fmla="*/ 13 w 741"/>
                <a:gd name="T65" fmla="*/ 2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1" h="246">
                  <a:moveTo>
                    <a:pt x="13" y="22"/>
                  </a:moveTo>
                  <a:lnTo>
                    <a:pt x="6" y="31"/>
                  </a:lnTo>
                  <a:lnTo>
                    <a:pt x="0" y="46"/>
                  </a:lnTo>
                  <a:lnTo>
                    <a:pt x="4" y="60"/>
                  </a:lnTo>
                  <a:lnTo>
                    <a:pt x="17" y="72"/>
                  </a:lnTo>
                  <a:lnTo>
                    <a:pt x="54" y="88"/>
                  </a:lnTo>
                  <a:lnTo>
                    <a:pt x="144" y="105"/>
                  </a:lnTo>
                  <a:lnTo>
                    <a:pt x="209" y="112"/>
                  </a:lnTo>
                  <a:lnTo>
                    <a:pt x="267" y="119"/>
                  </a:lnTo>
                  <a:lnTo>
                    <a:pt x="376" y="139"/>
                  </a:lnTo>
                  <a:lnTo>
                    <a:pt x="485" y="168"/>
                  </a:lnTo>
                  <a:lnTo>
                    <a:pt x="599" y="208"/>
                  </a:lnTo>
                  <a:lnTo>
                    <a:pt x="659" y="232"/>
                  </a:lnTo>
                  <a:lnTo>
                    <a:pt x="690" y="245"/>
                  </a:lnTo>
                  <a:lnTo>
                    <a:pt x="714" y="246"/>
                  </a:lnTo>
                  <a:lnTo>
                    <a:pt x="724" y="238"/>
                  </a:lnTo>
                  <a:lnTo>
                    <a:pt x="729" y="231"/>
                  </a:lnTo>
                  <a:lnTo>
                    <a:pt x="738" y="216"/>
                  </a:lnTo>
                  <a:lnTo>
                    <a:pt x="741" y="198"/>
                  </a:lnTo>
                  <a:lnTo>
                    <a:pt x="737" y="187"/>
                  </a:lnTo>
                  <a:lnTo>
                    <a:pt x="719" y="169"/>
                  </a:lnTo>
                  <a:lnTo>
                    <a:pt x="670" y="140"/>
                  </a:lnTo>
                  <a:lnTo>
                    <a:pt x="631" y="121"/>
                  </a:lnTo>
                  <a:lnTo>
                    <a:pt x="589" y="101"/>
                  </a:lnTo>
                  <a:lnTo>
                    <a:pt x="484" y="65"/>
                  </a:lnTo>
                  <a:lnTo>
                    <a:pt x="359" y="36"/>
                  </a:lnTo>
                  <a:lnTo>
                    <a:pt x="220" y="13"/>
                  </a:lnTo>
                  <a:lnTo>
                    <a:pt x="146" y="6"/>
                  </a:lnTo>
                  <a:lnTo>
                    <a:pt x="114" y="2"/>
                  </a:lnTo>
                  <a:lnTo>
                    <a:pt x="69" y="0"/>
                  </a:lnTo>
                  <a:lnTo>
                    <a:pt x="39" y="4"/>
                  </a:lnTo>
                  <a:lnTo>
                    <a:pt x="20" y="14"/>
                  </a:lnTo>
                  <a:lnTo>
                    <a:pt x="1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6" name="Freeform 50">
              <a:extLst>
                <a:ext uri="{FF2B5EF4-FFF2-40B4-BE49-F238E27FC236}">
                  <a16:creationId xmlns:a16="http://schemas.microsoft.com/office/drawing/2014/main" id="{99419684-F1B5-8A6B-13B8-4AFE5F0657FD}"/>
                </a:ext>
              </a:extLst>
            </p:cNvPr>
            <p:cNvSpPr>
              <a:spLocks/>
            </p:cNvSpPr>
            <p:nvPr/>
          </p:nvSpPr>
          <p:spPr bwMode="auto">
            <a:xfrm>
              <a:off x="3519488" y="1092200"/>
              <a:ext cx="290513" cy="90488"/>
            </a:xfrm>
            <a:custGeom>
              <a:avLst/>
              <a:gdLst>
                <a:gd name="T0" fmla="*/ 397 w 746"/>
                <a:gd name="T1" fmla="*/ 17 h 232"/>
                <a:gd name="T2" fmla="*/ 352 w 746"/>
                <a:gd name="T3" fmla="*/ 25 h 232"/>
                <a:gd name="T4" fmla="*/ 245 w 746"/>
                <a:gd name="T5" fmla="*/ 55 h 232"/>
                <a:gd name="T6" fmla="*/ 140 w 746"/>
                <a:gd name="T7" fmla="*/ 93 h 232"/>
                <a:gd name="T8" fmla="*/ 56 w 746"/>
                <a:gd name="T9" fmla="*/ 131 h 232"/>
                <a:gd name="T10" fmla="*/ 32 w 746"/>
                <a:gd name="T11" fmla="*/ 147 h 232"/>
                <a:gd name="T12" fmla="*/ 14 w 746"/>
                <a:gd name="T13" fmla="*/ 162 h 232"/>
                <a:gd name="T14" fmla="*/ 1 w 746"/>
                <a:gd name="T15" fmla="*/ 184 h 232"/>
                <a:gd name="T16" fmla="*/ 0 w 746"/>
                <a:gd name="T17" fmla="*/ 198 h 232"/>
                <a:gd name="T18" fmla="*/ 2 w 746"/>
                <a:gd name="T19" fmla="*/ 205 h 232"/>
                <a:gd name="T20" fmla="*/ 8 w 746"/>
                <a:gd name="T21" fmla="*/ 216 h 232"/>
                <a:gd name="T22" fmla="*/ 33 w 746"/>
                <a:gd name="T23" fmla="*/ 229 h 232"/>
                <a:gd name="T24" fmla="*/ 65 w 746"/>
                <a:gd name="T25" fmla="*/ 232 h 232"/>
                <a:gd name="T26" fmla="*/ 95 w 746"/>
                <a:gd name="T27" fmla="*/ 224 h 232"/>
                <a:gd name="T28" fmla="*/ 107 w 746"/>
                <a:gd name="T29" fmla="*/ 215 h 232"/>
                <a:gd name="T30" fmla="*/ 115 w 746"/>
                <a:gd name="T31" fmla="*/ 208 h 232"/>
                <a:gd name="T32" fmla="*/ 147 w 746"/>
                <a:gd name="T33" fmla="*/ 191 h 232"/>
                <a:gd name="T34" fmla="*/ 218 w 746"/>
                <a:gd name="T35" fmla="*/ 165 h 232"/>
                <a:gd name="T36" fmla="*/ 345 w 746"/>
                <a:gd name="T37" fmla="*/ 131 h 232"/>
                <a:gd name="T38" fmla="*/ 483 w 746"/>
                <a:gd name="T39" fmla="*/ 104 h 232"/>
                <a:gd name="T40" fmla="*/ 547 w 746"/>
                <a:gd name="T41" fmla="*/ 97 h 232"/>
                <a:gd name="T42" fmla="*/ 610 w 746"/>
                <a:gd name="T43" fmla="*/ 91 h 232"/>
                <a:gd name="T44" fmla="*/ 694 w 746"/>
                <a:gd name="T45" fmla="*/ 78 h 232"/>
                <a:gd name="T46" fmla="*/ 728 w 746"/>
                <a:gd name="T47" fmla="*/ 67 h 232"/>
                <a:gd name="T48" fmla="*/ 741 w 746"/>
                <a:gd name="T49" fmla="*/ 58 h 232"/>
                <a:gd name="T50" fmla="*/ 746 w 746"/>
                <a:gd name="T51" fmla="*/ 46 h 232"/>
                <a:gd name="T52" fmla="*/ 744 w 746"/>
                <a:gd name="T53" fmla="*/ 33 h 232"/>
                <a:gd name="T54" fmla="*/ 742 w 746"/>
                <a:gd name="T55" fmla="*/ 25 h 232"/>
                <a:gd name="T56" fmla="*/ 738 w 746"/>
                <a:gd name="T57" fmla="*/ 17 h 232"/>
                <a:gd name="T58" fmla="*/ 722 w 746"/>
                <a:gd name="T59" fmla="*/ 7 h 232"/>
                <a:gd name="T60" fmla="*/ 673 w 746"/>
                <a:gd name="T61" fmla="*/ 0 h 232"/>
                <a:gd name="T62" fmla="*/ 610 w 746"/>
                <a:gd name="T63" fmla="*/ 0 h 232"/>
                <a:gd name="T64" fmla="*/ 556 w 746"/>
                <a:gd name="T65" fmla="*/ 2 h 232"/>
                <a:gd name="T66" fmla="*/ 440 w 746"/>
                <a:gd name="T67" fmla="*/ 11 h 232"/>
                <a:gd name="T68" fmla="*/ 397 w 746"/>
                <a:gd name="T69" fmla="*/ 17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6" h="232">
                  <a:moveTo>
                    <a:pt x="397" y="17"/>
                  </a:moveTo>
                  <a:lnTo>
                    <a:pt x="352" y="25"/>
                  </a:lnTo>
                  <a:lnTo>
                    <a:pt x="245" y="55"/>
                  </a:lnTo>
                  <a:lnTo>
                    <a:pt x="140" y="93"/>
                  </a:lnTo>
                  <a:lnTo>
                    <a:pt x="56" y="131"/>
                  </a:lnTo>
                  <a:lnTo>
                    <a:pt x="32" y="147"/>
                  </a:lnTo>
                  <a:lnTo>
                    <a:pt x="14" y="162"/>
                  </a:lnTo>
                  <a:lnTo>
                    <a:pt x="1" y="184"/>
                  </a:lnTo>
                  <a:lnTo>
                    <a:pt x="0" y="198"/>
                  </a:lnTo>
                  <a:lnTo>
                    <a:pt x="2" y="205"/>
                  </a:lnTo>
                  <a:lnTo>
                    <a:pt x="8" y="216"/>
                  </a:lnTo>
                  <a:lnTo>
                    <a:pt x="33" y="229"/>
                  </a:lnTo>
                  <a:lnTo>
                    <a:pt x="65" y="232"/>
                  </a:lnTo>
                  <a:lnTo>
                    <a:pt x="95" y="224"/>
                  </a:lnTo>
                  <a:lnTo>
                    <a:pt x="107" y="215"/>
                  </a:lnTo>
                  <a:lnTo>
                    <a:pt x="115" y="208"/>
                  </a:lnTo>
                  <a:lnTo>
                    <a:pt x="147" y="191"/>
                  </a:lnTo>
                  <a:lnTo>
                    <a:pt x="218" y="165"/>
                  </a:lnTo>
                  <a:lnTo>
                    <a:pt x="345" y="131"/>
                  </a:lnTo>
                  <a:lnTo>
                    <a:pt x="483" y="104"/>
                  </a:lnTo>
                  <a:lnTo>
                    <a:pt x="547" y="97"/>
                  </a:lnTo>
                  <a:lnTo>
                    <a:pt x="610" y="91"/>
                  </a:lnTo>
                  <a:lnTo>
                    <a:pt x="694" y="78"/>
                  </a:lnTo>
                  <a:lnTo>
                    <a:pt x="728" y="67"/>
                  </a:lnTo>
                  <a:lnTo>
                    <a:pt x="741" y="58"/>
                  </a:lnTo>
                  <a:lnTo>
                    <a:pt x="746" y="46"/>
                  </a:lnTo>
                  <a:lnTo>
                    <a:pt x="744" y="33"/>
                  </a:lnTo>
                  <a:lnTo>
                    <a:pt x="742" y="25"/>
                  </a:lnTo>
                  <a:lnTo>
                    <a:pt x="738" y="17"/>
                  </a:lnTo>
                  <a:lnTo>
                    <a:pt x="722" y="7"/>
                  </a:lnTo>
                  <a:lnTo>
                    <a:pt x="673" y="0"/>
                  </a:lnTo>
                  <a:lnTo>
                    <a:pt x="610" y="0"/>
                  </a:lnTo>
                  <a:lnTo>
                    <a:pt x="556" y="2"/>
                  </a:lnTo>
                  <a:lnTo>
                    <a:pt x="440" y="11"/>
                  </a:lnTo>
                  <a:lnTo>
                    <a:pt x="39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7" name="Freeform 51">
              <a:extLst>
                <a:ext uri="{FF2B5EF4-FFF2-40B4-BE49-F238E27FC236}">
                  <a16:creationId xmlns:a16="http://schemas.microsoft.com/office/drawing/2014/main" id="{3834CBB1-F57E-BF66-E87C-B05EBBCC5E1A}"/>
                </a:ext>
              </a:extLst>
            </p:cNvPr>
            <p:cNvSpPr>
              <a:spLocks/>
            </p:cNvSpPr>
            <p:nvPr/>
          </p:nvSpPr>
          <p:spPr bwMode="auto">
            <a:xfrm>
              <a:off x="3517900" y="1182688"/>
              <a:ext cx="290513" cy="90488"/>
            </a:xfrm>
            <a:custGeom>
              <a:avLst/>
              <a:gdLst>
                <a:gd name="T0" fmla="*/ 425 w 745"/>
                <a:gd name="T1" fmla="*/ 17 h 234"/>
                <a:gd name="T2" fmla="*/ 359 w 745"/>
                <a:gd name="T3" fmla="*/ 29 h 234"/>
                <a:gd name="T4" fmla="*/ 216 w 745"/>
                <a:gd name="T5" fmla="*/ 70 h 234"/>
                <a:gd name="T6" fmla="*/ 88 w 745"/>
                <a:gd name="T7" fmla="*/ 121 h 234"/>
                <a:gd name="T8" fmla="*/ 24 w 745"/>
                <a:gd name="T9" fmla="*/ 157 h 234"/>
                <a:gd name="T10" fmla="*/ 2 w 745"/>
                <a:gd name="T11" fmla="*/ 178 h 234"/>
                <a:gd name="T12" fmla="*/ 0 w 745"/>
                <a:gd name="T13" fmla="*/ 187 h 234"/>
                <a:gd name="T14" fmla="*/ 0 w 745"/>
                <a:gd name="T15" fmla="*/ 198 h 234"/>
                <a:gd name="T16" fmla="*/ 4 w 745"/>
                <a:gd name="T17" fmla="*/ 215 h 234"/>
                <a:gd name="T18" fmla="*/ 13 w 745"/>
                <a:gd name="T19" fmla="*/ 227 h 234"/>
                <a:gd name="T20" fmla="*/ 27 w 745"/>
                <a:gd name="T21" fmla="*/ 233 h 234"/>
                <a:gd name="T22" fmla="*/ 56 w 745"/>
                <a:gd name="T23" fmla="*/ 234 h 234"/>
                <a:gd name="T24" fmla="*/ 117 w 745"/>
                <a:gd name="T25" fmla="*/ 215 h 234"/>
                <a:gd name="T26" fmla="*/ 158 w 745"/>
                <a:gd name="T27" fmla="*/ 197 h 234"/>
                <a:gd name="T28" fmla="*/ 211 w 745"/>
                <a:gd name="T29" fmla="*/ 174 h 234"/>
                <a:gd name="T30" fmla="*/ 321 w 745"/>
                <a:gd name="T31" fmla="*/ 138 h 234"/>
                <a:gd name="T32" fmla="*/ 434 w 745"/>
                <a:gd name="T33" fmla="*/ 113 h 234"/>
                <a:gd name="T34" fmla="*/ 546 w 745"/>
                <a:gd name="T35" fmla="*/ 100 h 234"/>
                <a:gd name="T36" fmla="*/ 601 w 745"/>
                <a:gd name="T37" fmla="*/ 99 h 234"/>
                <a:gd name="T38" fmla="*/ 643 w 745"/>
                <a:gd name="T39" fmla="*/ 98 h 234"/>
                <a:gd name="T40" fmla="*/ 703 w 745"/>
                <a:gd name="T41" fmla="*/ 89 h 234"/>
                <a:gd name="T42" fmla="*/ 730 w 745"/>
                <a:gd name="T43" fmla="*/ 77 h 234"/>
                <a:gd name="T44" fmla="*/ 740 w 745"/>
                <a:gd name="T45" fmla="*/ 65 h 234"/>
                <a:gd name="T46" fmla="*/ 745 w 745"/>
                <a:gd name="T47" fmla="*/ 51 h 234"/>
                <a:gd name="T48" fmla="*/ 743 w 745"/>
                <a:gd name="T49" fmla="*/ 35 h 234"/>
                <a:gd name="T50" fmla="*/ 740 w 745"/>
                <a:gd name="T51" fmla="*/ 25 h 234"/>
                <a:gd name="T52" fmla="*/ 737 w 745"/>
                <a:gd name="T53" fmla="*/ 20 h 234"/>
                <a:gd name="T54" fmla="*/ 722 w 745"/>
                <a:gd name="T55" fmla="*/ 11 h 234"/>
                <a:gd name="T56" fmla="*/ 683 w 745"/>
                <a:gd name="T57" fmla="*/ 2 h 234"/>
                <a:gd name="T58" fmla="*/ 600 w 745"/>
                <a:gd name="T59" fmla="*/ 0 h 234"/>
                <a:gd name="T60" fmla="*/ 489 w 745"/>
                <a:gd name="T61" fmla="*/ 9 h 234"/>
                <a:gd name="T62" fmla="*/ 425 w 745"/>
                <a:gd name="T63" fmla="*/ 1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5" h="234">
                  <a:moveTo>
                    <a:pt x="425" y="17"/>
                  </a:moveTo>
                  <a:lnTo>
                    <a:pt x="359" y="29"/>
                  </a:lnTo>
                  <a:lnTo>
                    <a:pt x="216" y="70"/>
                  </a:lnTo>
                  <a:lnTo>
                    <a:pt x="88" y="121"/>
                  </a:lnTo>
                  <a:lnTo>
                    <a:pt x="24" y="157"/>
                  </a:lnTo>
                  <a:lnTo>
                    <a:pt x="2" y="178"/>
                  </a:lnTo>
                  <a:lnTo>
                    <a:pt x="0" y="187"/>
                  </a:lnTo>
                  <a:lnTo>
                    <a:pt x="0" y="198"/>
                  </a:lnTo>
                  <a:lnTo>
                    <a:pt x="4" y="215"/>
                  </a:lnTo>
                  <a:lnTo>
                    <a:pt x="13" y="227"/>
                  </a:lnTo>
                  <a:lnTo>
                    <a:pt x="27" y="233"/>
                  </a:lnTo>
                  <a:lnTo>
                    <a:pt x="56" y="234"/>
                  </a:lnTo>
                  <a:lnTo>
                    <a:pt x="117" y="215"/>
                  </a:lnTo>
                  <a:lnTo>
                    <a:pt x="158" y="197"/>
                  </a:lnTo>
                  <a:lnTo>
                    <a:pt x="211" y="174"/>
                  </a:lnTo>
                  <a:lnTo>
                    <a:pt x="321" y="138"/>
                  </a:lnTo>
                  <a:lnTo>
                    <a:pt x="434" y="113"/>
                  </a:lnTo>
                  <a:lnTo>
                    <a:pt x="546" y="100"/>
                  </a:lnTo>
                  <a:lnTo>
                    <a:pt x="601" y="99"/>
                  </a:lnTo>
                  <a:lnTo>
                    <a:pt x="643" y="98"/>
                  </a:lnTo>
                  <a:lnTo>
                    <a:pt x="703" y="89"/>
                  </a:lnTo>
                  <a:lnTo>
                    <a:pt x="730" y="77"/>
                  </a:lnTo>
                  <a:lnTo>
                    <a:pt x="740" y="65"/>
                  </a:lnTo>
                  <a:lnTo>
                    <a:pt x="745" y="51"/>
                  </a:lnTo>
                  <a:lnTo>
                    <a:pt x="743" y="35"/>
                  </a:lnTo>
                  <a:lnTo>
                    <a:pt x="740" y="25"/>
                  </a:lnTo>
                  <a:lnTo>
                    <a:pt x="737" y="20"/>
                  </a:lnTo>
                  <a:lnTo>
                    <a:pt x="722" y="11"/>
                  </a:lnTo>
                  <a:lnTo>
                    <a:pt x="683" y="2"/>
                  </a:lnTo>
                  <a:lnTo>
                    <a:pt x="600" y="0"/>
                  </a:lnTo>
                  <a:lnTo>
                    <a:pt x="489" y="9"/>
                  </a:lnTo>
                  <a:lnTo>
                    <a:pt x="425"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8" name="Freeform 52">
              <a:extLst>
                <a:ext uri="{FF2B5EF4-FFF2-40B4-BE49-F238E27FC236}">
                  <a16:creationId xmlns:a16="http://schemas.microsoft.com/office/drawing/2014/main" id="{4616718B-D98A-1809-423C-7E8358F2B309}"/>
                </a:ext>
              </a:extLst>
            </p:cNvPr>
            <p:cNvSpPr>
              <a:spLocks/>
            </p:cNvSpPr>
            <p:nvPr/>
          </p:nvSpPr>
          <p:spPr bwMode="auto">
            <a:xfrm>
              <a:off x="3519488" y="1274763"/>
              <a:ext cx="288925" cy="93663"/>
            </a:xfrm>
            <a:custGeom>
              <a:avLst/>
              <a:gdLst>
                <a:gd name="T0" fmla="*/ 523 w 743"/>
                <a:gd name="T1" fmla="*/ 9 h 242"/>
                <a:gd name="T2" fmla="*/ 435 w 743"/>
                <a:gd name="T3" fmla="*/ 20 h 242"/>
                <a:gd name="T4" fmla="*/ 278 w 743"/>
                <a:gd name="T5" fmla="*/ 52 h 242"/>
                <a:gd name="T6" fmla="*/ 148 w 743"/>
                <a:gd name="T7" fmla="*/ 93 h 242"/>
                <a:gd name="T8" fmla="*/ 74 w 743"/>
                <a:gd name="T9" fmla="*/ 128 h 242"/>
                <a:gd name="T10" fmla="*/ 37 w 743"/>
                <a:gd name="T11" fmla="*/ 153 h 242"/>
                <a:gd name="T12" fmla="*/ 23 w 743"/>
                <a:gd name="T13" fmla="*/ 165 h 242"/>
                <a:gd name="T14" fmla="*/ 12 w 743"/>
                <a:gd name="T15" fmla="*/ 176 h 242"/>
                <a:gd name="T16" fmla="*/ 1 w 743"/>
                <a:gd name="T17" fmla="*/ 191 h 242"/>
                <a:gd name="T18" fmla="*/ 0 w 743"/>
                <a:gd name="T19" fmla="*/ 202 h 242"/>
                <a:gd name="T20" fmla="*/ 9 w 743"/>
                <a:gd name="T21" fmla="*/ 216 h 242"/>
                <a:gd name="T22" fmla="*/ 18 w 743"/>
                <a:gd name="T23" fmla="*/ 225 h 242"/>
                <a:gd name="T24" fmla="*/ 27 w 743"/>
                <a:gd name="T25" fmla="*/ 234 h 242"/>
                <a:gd name="T26" fmla="*/ 46 w 743"/>
                <a:gd name="T27" fmla="*/ 242 h 242"/>
                <a:gd name="T28" fmla="*/ 75 w 743"/>
                <a:gd name="T29" fmla="*/ 237 h 242"/>
                <a:gd name="T30" fmla="*/ 123 w 743"/>
                <a:gd name="T31" fmla="*/ 217 h 242"/>
                <a:gd name="T32" fmla="*/ 159 w 743"/>
                <a:gd name="T33" fmla="*/ 200 h 242"/>
                <a:gd name="T34" fmla="*/ 208 w 743"/>
                <a:gd name="T35" fmla="*/ 180 h 242"/>
                <a:gd name="T36" fmla="*/ 327 w 743"/>
                <a:gd name="T37" fmla="*/ 143 h 242"/>
                <a:gd name="T38" fmla="*/ 457 w 743"/>
                <a:gd name="T39" fmla="*/ 115 h 242"/>
                <a:gd name="T40" fmla="*/ 579 w 743"/>
                <a:gd name="T41" fmla="*/ 99 h 242"/>
                <a:gd name="T42" fmla="*/ 631 w 743"/>
                <a:gd name="T43" fmla="*/ 97 h 242"/>
                <a:gd name="T44" fmla="*/ 664 w 743"/>
                <a:gd name="T45" fmla="*/ 96 h 242"/>
                <a:gd name="T46" fmla="*/ 713 w 743"/>
                <a:gd name="T47" fmla="*/ 85 h 242"/>
                <a:gd name="T48" fmla="*/ 735 w 743"/>
                <a:gd name="T49" fmla="*/ 70 h 242"/>
                <a:gd name="T50" fmla="*/ 742 w 743"/>
                <a:gd name="T51" fmla="*/ 58 h 242"/>
                <a:gd name="T52" fmla="*/ 743 w 743"/>
                <a:gd name="T53" fmla="*/ 44 h 242"/>
                <a:gd name="T54" fmla="*/ 737 w 743"/>
                <a:gd name="T55" fmla="*/ 30 h 242"/>
                <a:gd name="T56" fmla="*/ 731 w 743"/>
                <a:gd name="T57" fmla="*/ 22 h 242"/>
                <a:gd name="T58" fmla="*/ 722 w 743"/>
                <a:gd name="T59" fmla="*/ 14 h 242"/>
                <a:gd name="T60" fmla="*/ 689 w 743"/>
                <a:gd name="T61" fmla="*/ 3 h 242"/>
                <a:gd name="T62" fmla="*/ 637 w 743"/>
                <a:gd name="T63" fmla="*/ 0 h 242"/>
                <a:gd name="T64" fmla="*/ 566 w 743"/>
                <a:gd name="T65" fmla="*/ 4 h 242"/>
                <a:gd name="T66" fmla="*/ 523 w 743"/>
                <a:gd name="T67" fmla="*/ 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3" h="242">
                  <a:moveTo>
                    <a:pt x="523" y="9"/>
                  </a:moveTo>
                  <a:lnTo>
                    <a:pt x="435" y="20"/>
                  </a:lnTo>
                  <a:lnTo>
                    <a:pt x="278" y="52"/>
                  </a:lnTo>
                  <a:lnTo>
                    <a:pt x="148" y="93"/>
                  </a:lnTo>
                  <a:lnTo>
                    <a:pt x="74" y="128"/>
                  </a:lnTo>
                  <a:lnTo>
                    <a:pt x="37" y="153"/>
                  </a:lnTo>
                  <a:lnTo>
                    <a:pt x="23" y="165"/>
                  </a:lnTo>
                  <a:lnTo>
                    <a:pt x="12" y="176"/>
                  </a:lnTo>
                  <a:lnTo>
                    <a:pt x="1" y="191"/>
                  </a:lnTo>
                  <a:lnTo>
                    <a:pt x="0" y="202"/>
                  </a:lnTo>
                  <a:lnTo>
                    <a:pt x="9" y="216"/>
                  </a:lnTo>
                  <a:lnTo>
                    <a:pt x="18" y="225"/>
                  </a:lnTo>
                  <a:lnTo>
                    <a:pt x="27" y="234"/>
                  </a:lnTo>
                  <a:lnTo>
                    <a:pt x="46" y="242"/>
                  </a:lnTo>
                  <a:lnTo>
                    <a:pt x="75" y="237"/>
                  </a:lnTo>
                  <a:lnTo>
                    <a:pt x="123" y="217"/>
                  </a:lnTo>
                  <a:lnTo>
                    <a:pt x="159" y="200"/>
                  </a:lnTo>
                  <a:lnTo>
                    <a:pt x="208" y="180"/>
                  </a:lnTo>
                  <a:lnTo>
                    <a:pt x="327" y="143"/>
                  </a:lnTo>
                  <a:lnTo>
                    <a:pt x="457" y="115"/>
                  </a:lnTo>
                  <a:lnTo>
                    <a:pt x="579" y="99"/>
                  </a:lnTo>
                  <a:lnTo>
                    <a:pt x="631" y="97"/>
                  </a:lnTo>
                  <a:lnTo>
                    <a:pt x="664" y="96"/>
                  </a:lnTo>
                  <a:lnTo>
                    <a:pt x="713" y="85"/>
                  </a:lnTo>
                  <a:lnTo>
                    <a:pt x="735" y="70"/>
                  </a:lnTo>
                  <a:lnTo>
                    <a:pt x="742" y="58"/>
                  </a:lnTo>
                  <a:lnTo>
                    <a:pt x="743" y="44"/>
                  </a:lnTo>
                  <a:lnTo>
                    <a:pt x="737" y="30"/>
                  </a:lnTo>
                  <a:lnTo>
                    <a:pt x="731" y="22"/>
                  </a:lnTo>
                  <a:lnTo>
                    <a:pt x="722" y="14"/>
                  </a:lnTo>
                  <a:lnTo>
                    <a:pt x="689" y="3"/>
                  </a:lnTo>
                  <a:lnTo>
                    <a:pt x="637" y="0"/>
                  </a:lnTo>
                  <a:lnTo>
                    <a:pt x="566" y="4"/>
                  </a:lnTo>
                  <a:lnTo>
                    <a:pt x="523"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9" name="Freeform 53">
              <a:extLst>
                <a:ext uri="{FF2B5EF4-FFF2-40B4-BE49-F238E27FC236}">
                  <a16:creationId xmlns:a16="http://schemas.microsoft.com/office/drawing/2014/main" id="{39A1996F-4767-5F4C-1D00-619BB299800E}"/>
                </a:ext>
              </a:extLst>
            </p:cNvPr>
            <p:cNvSpPr>
              <a:spLocks/>
            </p:cNvSpPr>
            <p:nvPr/>
          </p:nvSpPr>
          <p:spPr bwMode="auto">
            <a:xfrm>
              <a:off x="3521075" y="1365250"/>
              <a:ext cx="287338" cy="95250"/>
            </a:xfrm>
            <a:custGeom>
              <a:avLst/>
              <a:gdLst>
                <a:gd name="T0" fmla="*/ 553 w 740"/>
                <a:gd name="T1" fmla="*/ 8 h 245"/>
                <a:gd name="T2" fmla="*/ 489 w 740"/>
                <a:gd name="T3" fmla="*/ 16 h 245"/>
                <a:gd name="T4" fmla="*/ 362 w 740"/>
                <a:gd name="T5" fmla="*/ 39 h 245"/>
                <a:gd name="T6" fmla="*/ 246 w 740"/>
                <a:gd name="T7" fmla="*/ 69 h 245"/>
                <a:gd name="T8" fmla="*/ 148 w 740"/>
                <a:gd name="T9" fmla="*/ 101 h 245"/>
                <a:gd name="T10" fmla="*/ 111 w 740"/>
                <a:gd name="T11" fmla="*/ 118 h 245"/>
                <a:gd name="T12" fmla="*/ 72 w 740"/>
                <a:gd name="T13" fmla="*/ 138 h 245"/>
                <a:gd name="T14" fmla="*/ 22 w 740"/>
                <a:gd name="T15" fmla="*/ 168 h 245"/>
                <a:gd name="T16" fmla="*/ 4 w 740"/>
                <a:gd name="T17" fmla="*/ 186 h 245"/>
                <a:gd name="T18" fmla="*/ 0 w 740"/>
                <a:gd name="T19" fmla="*/ 197 h 245"/>
                <a:gd name="T20" fmla="*/ 3 w 740"/>
                <a:gd name="T21" fmla="*/ 215 h 245"/>
                <a:gd name="T22" fmla="*/ 11 w 740"/>
                <a:gd name="T23" fmla="*/ 230 h 245"/>
                <a:gd name="T24" fmla="*/ 16 w 740"/>
                <a:gd name="T25" fmla="*/ 237 h 245"/>
                <a:gd name="T26" fmla="*/ 27 w 740"/>
                <a:gd name="T27" fmla="*/ 245 h 245"/>
                <a:gd name="T28" fmla="*/ 51 w 740"/>
                <a:gd name="T29" fmla="*/ 244 h 245"/>
                <a:gd name="T30" fmla="*/ 81 w 740"/>
                <a:gd name="T31" fmla="*/ 231 h 245"/>
                <a:gd name="T32" fmla="*/ 142 w 740"/>
                <a:gd name="T33" fmla="*/ 207 h 245"/>
                <a:gd name="T34" fmla="*/ 256 w 740"/>
                <a:gd name="T35" fmla="*/ 167 h 245"/>
                <a:gd name="T36" fmla="*/ 364 w 740"/>
                <a:gd name="T37" fmla="*/ 138 h 245"/>
                <a:gd name="T38" fmla="*/ 474 w 740"/>
                <a:gd name="T39" fmla="*/ 118 h 245"/>
                <a:gd name="T40" fmla="*/ 531 w 740"/>
                <a:gd name="T41" fmla="*/ 111 h 245"/>
                <a:gd name="T42" fmla="*/ 596 w 740"/>
                <a:gd name="T43" fmla="*/ 104 h 245"/>
                <a:gd name="T44" fmla="*/ 686 w 740"/>
                <a:gd name="T45" fmla="*/ 87 h 245"/>
                <a:gd name="T46" fmla="*/ 724 w 740"/>
                <a:gd name="T47" fmla="*/ 71 h 245"/>
                <a:gd name="T48" fmla="*/ 737 w 740"/>
                <a:gd name="T49" fmla="*/ 59 h 245"/>
                <a:gd name="T50" fmla="*/ 740 w 740"/>
                <a:gd name="T51" fmla="*/ 46 h 245"/>
                <a:gd name="T52" fmla="*/ 734 w 740"/>
                <a:gd name="T53" fmla="*/ 31 h 245"/>
                <a:gd name="T54" fmla="*/ 728 w 740"/>
                <a:gd name="T55" fmla="*/ 23 h 245"/>
                <a:gd name="T56" fmla="*/ 720 w 740"/>
                <a:gd name="T57" fmla="*/ 14 h 245"/>
                <a:gd name="T58" fmla="*/ 694 w 740"/>
                <a:gd name="T59" fmla="*/ 3 h 245"/>
                <a:gd name="T60" fmla="*/ 654 w 740"/>
                <a:gd name="T61" fmla="*/ 0 h 245"/>
                <a:gd name="T62" fmla="*/ 593 w 740"/>
                <a:gd name="T63" fmla="*/ 4 h 245"/>
                <a:gd name="T64" fmla="*/ 553 w 740"/>
                <a:gd name="T65" fmla="*/ 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0" h="245">
                  <a:moveTo>
                    <a:pt x="553" y="8"/>
                  </a:moveTo>
                  <a:lnTo>
                    <a:pt x="489" y="16"/>
                  </a:lnTo>
                  <a:lnTo>
                    <a:pt x="362" y="39"/>
                  </a:lnTo>
                  <a:lnTo>
                    <a:pt x="246" y="69"/>
                  </a:lnTo>
                  <a:lnTo>
                    <a:pt x="148" y="101"/>
                  </a:lnTo>
                  <a:lnTo>
                    <a:pt x="111" y="118"/>
                  </a:lnTo>
                  <a:lnTo>
                    <a:pt x="72" y="138"/>
                  </a:lnTo>
                  <a:lnTo>
                    <a:pt x="22" y="168"/>
                  </a:lnTo>
                  <a:lnTo>
                    <a:pt x="4" y="186"/>
                  </a:lnTo>
                  <a:lnTo>
                    <a:pt x="0" y="197"/>
                  </a:lnTo>
                  <a:lnTo>
                    <a:pt x="3" y="215"/>
                  </a:lnTo>
                  <a:lnTo>
                    <a:pt x="11" y="230"/>
                  </a:lnTo>
                  <a:lnTo>
                    <a:pt x="16" y="237"/>
                  </a:lnTo>
                  <a:lnTo>
                    <a:pt x="27" y="245"/>
                  </a:lnTo>
                  <a:lnTo>
                    <a:pt x="51" y="244"/>
                  </a:lnTo>
                  <a:lnTo>
                    <a:pt x="81" y="231"/>
                  </a:lnTo>
                  <a:lnTo>
                    <a:pt x="142" y="207"/>
                  </a:lnTo>
                  <a:lnTo>
                    <a:pt x="256" y="167"/>
                  </a:lnTo>
                  <a:lnTo>
                    <a:pt x="364" y="138"/>
                  </a:lnTo>
                  <a:lnTo>
                    <a:pt x="474" y="118"/>
                  </a:lnTo>
                  <a:lnTo>
                    <a:pt x="531" y="111"/>
                  </a:lnTo>
                  <a:lnTo>
                    <a:pt x="596" y="104"/>
                  </a:lnTo>
                  <a:lnTo>
                    <a:pt x="686" y="87"/>
                  </a:lnTo>
                  <a:lnTo>
                    <a:pt x="724" y="71"/>
                  </a:lnTo>
                  <a:lnTo>
                    <a:pt x="737" y="59"/>
                  </a:lnTo>
                  <a:lnTo>
                    <a:pt x="740" y="46"/>
                  </a:lnTo>
                  <a:lnTo>
                    <a:pt x="734" y="31"/>
                  </a:lnTo>
                  <a:lnTo>
                    <a:pt x="728" y="23"/>
                  </a:lnTo>
                  <a:lnTo>
                    <a:pt x="720" y="14"/>
                  </a:lnTo>
                  <a:lnTo>
                    <a:pt x="694" y="3"/>
                  </a:lnTo>
                  <a:lnTo>
                    <a:pt x="654" y="0"/>
                  </a:lnTo>
                  <a:lnTo>
                    <a:pt x="593" y="4"/>
                  </a:lnTo>
                  <a:lnTo>
                    <a:pt x="553"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0" name="Freeform 54">
              <a:extLst>
                <a:ext uri="{FF2B5EF4-FFF2-40B4-BE49-F238E27FC236}">
                  <a16:creationId xmlns:a16="http://schemas.microsoft.com/office/drawing/2014/main" id="{29882B0B-EBD5-C47A-D1E6-53E185736669}"/>
                </a:ext>
              </a:extLst>
            </p:cNvPr>
            <p:cNvSpPr>
              <a:spLocks/>
            </p:cNvSpPr>
            <p:nvPr/>
          </p:nvSpPr>
          <p:spPr bwMode="auto">
            <a:xfrm>
              <a:off x="3448050" y="1647825"/>
              <a:ext cx="36513" cy="38100"/>
            </a:xfrm>
            <a:custGeom>
              <a:avLst/>
              <a:gdLst>
                <a:gd name="T0" fmla="*/ 2 w 93"/>
                <a:gd name="T1" fmla="*/ 26 h 98"/>
                <a:gd name="T2" fmla="*/ 0 w 93"/>
                <a:gd name="T3" fmla="*/ 38 h 98"/>
                <a:gd name="T4" fmla="*/ 10 w 93"/>
                <a:gd name="T5" fmla="*/ 67 h 98"/>
                <a:gd name="T6" fmla="*/ 21 w 93"/>
                <a:gd name="T7" fmla="*/ 80 h 98"/>
                <a:gd name="T8" fmla="*/ 29 w 93"/>
                <a:gd name="T9" fmla="*/ 88 h 98"/>
                <a:gd name="T10" fmla="*/ 42 w 93"/>
                <a:gd name="T11" fmla="*/ 98 h 98"/>
                <a:gd name="T12" fmla="*/ 53 w 93"/>
                <a:gd name="T13" fmla="*/ 98 h 98"/>
                <a:gd name="T14" fmla="*/ 65 w 93"/>
                <a:gd name="T15" fmla="*/ 88 h 98"/>
                <a:gd name="T16" fmla="*/ 74 w 93"/>
                <a:gd name="T17" fmla="*/ 80 h 98"/>
                <a:gd name="T18" fmla="*/ 86 w 93"/>
                <a:gd name="T19" fmla="*/ 66 h 98"/>
                <a:gd name="T20" fmla="*/ 93 w 93"/>
                <a:gd name="T21" fmla="*/ 39 h 98"/>
                <a:gd name="T22" fmla="*/ 85 w 93"/>
                <a:gd name="T23" fmla="*/ 15 h 98"/>
                <a:gd name="T24" fmla="*/ 63 w 93"/>
                <a:gd name="T25" fmla="*/ 1 h 98"/>
                <a:gd name="T26" fmla="*/ 47 w 93"/>
                <a:gd name="T27" fmla="*/ 0 h 98"/>
                <a:gd name="T28" fmla="*/ 33 w 93"/>
                <a:gd name="T29" fmla="*/ 1 h 98"/>
                <a:gd name="T30" fmla="*/ 9 w 93"/>
                <a:gd name="T31" fmla="*/ 16 h 98"/>
                <a:gd name="T32" fmla="*/ 2 w 93"/>
                <a:gd name="T33"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3" h="98">
                  <a:moveTo>
                    <a:pt x="2" y="26"/>
                  </a:moveTo>
                  <a:lnTo>
                    <a:pt x="0" y="38"/>
                  </a:lnTo>
                  <a:lnTo>
                    <a:pt x="10" y="67"/>
                  </a:lnTo>
                  <a:lnTo>
                    <a:pt x="21" y="80"/>
                  </a:lnTo>
                  <a:lnTo>
                    <a:pt x="29" y="88"/>
                  </a:lnTo>
                  <a:lnTo>
                    <a:pt x="42" y="98"/>
                  </a:lnTo>
                  <a:lnTo>
                    <a:pt x="53" y="98"/>
                  </a:lnTo>
                  <a:lnTo>
                    <a:pt x="65" y="88"/>
                  </a:lnTo>
                  <a:lnTo>
                    <a:pt x="74" y="80"/>
                  </a:lnTo>
                  <a:lnTo>
                    <a:pt x="86" y="66"/>
                  </a:lnTo>
                  <a:lnTo>
                    <a:pt x="93" y="39"/>
                  </a:lnTo>
                  <a:lnTo>
                    <a:pt x="85" y="15"/>
                  </a:lnTo>
                  <a:lnTo>
                    <a:pt x="63" y="1"/>
                  </a:lnTo>
                  <a:lnTo>
                    <a:pt x="47" y="0"/>
                  </a:lnTo>
                  <a:lnTo>
                    <a:pt x="33" y="1"/>
                  </a:lnTo>
                  <a:lnTo>
                    <a:pt x="9" y="16"/>
                  </a:lnTo>
                  <a:lnTo>
                    <a:pt x="2"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grpSp>
        <p:nvGrpSpPr>
          <p:cNvPr id="101" name="Group 100">
            <a:extLst>
              <a:ext uri="{FF2B5EF4-FFF2-40B4-BE49-F238E27FC236}">
                <a16:creationId xmlns:a16="http://schemas.microsoft.com/office/drawing/2014/main" id="{84982DA8-0E2F-2C87-1BB6-629FA1C6ACD8}"/>
              </a:ext>
            </a:extLst>
          </p:cNvPr>
          <p:cNvGrpSpPr>
            <a:grpSpLocks noChangeAspect="1"/>
          </p:cNvGrpSpPr>
          <p:nvPr/>
        </p:nvGrpSpPr>
        <p:grpSpPr>
          <a:xfrm>
            <a:off x="10688922" y="2583165"/>
            <a:ext cx="256674" cy="365760"/>
            <a:chOff x="520700" y="2828925"/>
            <a:chExt cx="1333500" cy="1900238"/>
          </a:xfrm>
          <a:solidFill>
            <a:schemeClr val="accent1"/>
          </a:solidFill>
        </p:grpSpPr>
        <p:sp>
          <p:nvSpPr>
            <p:cNvPr id="102" name="Freeform 132">
              <a:extLst>
                <a:ext uri="{FF2B5EF4-FFF2-40B4-BE49-F238E27FC236}">
                  <a16:creationId xmlns:a16="http://schemas.microsoft.com/office/drawing/2014/main" id="{B9587112-0B0B-A8F9-A231-EC59852C0307}"/>
                </a:ext>
              </a:extLst>
            </p:cNvPr>
            <p:cNvSpPr>
              <a:spLocks noEditPoints="1"/>
            </p:cNvSpPr>
            <p:nvPr/>
          </p:nvSpPr>
          <p:spPr bwMode="auto">
            <a:xfrm>
              <a:off x="520700" y="2828925"/>
              <a:ext cx="1333500" cy="1900238"/>
            </a:xfrm>
            <a:custGeom>
              <a:avLst/>
              <a:gdLst>
                <a:gd name="T0" fmla="*/ 1371 w 3366"/>
                <a:gd name="T1" fmla="*/ 37 h 4804"/>
                <a:gd name="T2" fmla="*/ 1327 w 3366"/>
                <a:gd name="T3" fmla="*/ 88 h 4804"/>
                <a:gd name="T4" fmla="*/ 1316 w 3366"/>
                <a:gd name="T5" fmla="*/ 264 h 4804"/>
                <a:gd name="T6" fmla="*/ 1111 w 3366"/>
                <a:gd name="T7" fmla="*/ 451 h 4804"/>
                <a:gd name="T8" fmla="*/ 974 w 3366"/>
                <a:gd name="T9" fmla="*/ 482 h 4804"/>
                <a:gd name="T10" fmla="*/ 929 w 3366"/>
                <a:gd name="T11" fmla="*/ 532 h 4804"/>
                <a:gd name="T12" fmla="*/ 916 w 3366"/>
                <a:gd name="T13" fmla="*/ 641 h 4804"/>
                <a:gd name="T14" fmla="*/ 390 w 3366"/>
                <a:gd name="T15" fmla="*/ 746 h 4804"/>
                <a:gd name="T16" fmla="*/ 71 w 3366"/>
                <a:gd name="T17" fmla="*/ 777 h 4804"/>
                <a:gd name="T18" fmla="*/ 18 w 3366"/>
                <a:gd name="T19" fmla="*/ 826 h 4804"/>
                <a:gd name="T20" fmla="*/ 0 w 3366"/>
                <a:gd name="T21" fmla="*/ 1870 h 4804"/>
                <a:gd name="T22" fmla="*/ 40 w 3366"/>
                <a:gd name="T23" fmla="*/ 4758 h 4804"/>
                <a:gd name="T24" fmla="*/ 3286 w 3366"/>
                <a:gd name="T25" fmla="*/ 4804 h 4804"/>
                <a:gd name="T26" fmla="*/ 3366 w 3366"/>
                <a:gd name="T27" fmla="*/ 2779 h 4804"/>
                <a:gd name="T28" fmla="*/ 3286 w 3366"/>
                <a:gd name="T29" fmla="*/ 754 h 4804"/>
                <a:gd name="T30" fmla="*/ 2463 w 3366"/>
                <a:gd name="T31" fmla="*/ 644 h 4804"/>
                <a:gd name="T32" fmla="*/ 2442 w 3366"/>
                <a:gd name="T33" fmla="*/ 540 h 4804"/>
                <a:gd name="T34" fmla="*/ 2396 w 3366"/>
                <a:gd name="T35" fmla="*/ 485 h 4804"/>
                <a:gd name="T36" fmla="*/ 2265 w 3366"/>
                <a:gd name="T37" fmla="*/ 451 h 4804"/>
                <a:gd name="T38" fmla="*/ 2063 w 3366"/>
                <a:gd name="T39" fmla="*/ 269 h 4804"/>
                <a:gd name="T40" fmla="*/ 2046 w 3366"/>
                <a:gd name="T41" fmla="*/ 95 h 4804"/>
                <a:gd name="T42" fmla="*/ 1966 w 3366"/>
                <a:gd name="T43" fmla="*/ 4 h 4804"/>
                <a:gd name="T44" fmla="*/ 1441 w 3366"/>
                <a:gd name="T45" fmla="*/ 4 h 4804"/>
                <a:gd name="T46" fmla="*/ 1916 w 3366"/>
                <a:gd name="T47" fmla="*/ 746 h 4804"/>
                <a:gd name="T48" fmla="*/ 1466 w 3366"/>
                <a:gd name="T49" fmla="*/ 446 h 4804"/>
                <a:gd name="T50" fmla="*/ 1908 w 3366"/>
                <a:gd name="T51" fmla="*/ 154 h 4804"/>
                <a:gd name="T52" fmla="*/ 1319 w 3366"/>
                <a:gd name="T53" fmla="*/ 749 h 4804"/>
                <a:gd name="T54" fmla="*/ 1359 w 3366"/>
                <a:gd name="T55" fmla="*/ 863 h 4804"/>
                <a:gd name="T56" fmla="*/ 1568 w 3366"/>
                <a:gd name="T57" fmla="*/ 896 h 4804"/>
                <a:gd name="T58" fmla="*/ 1911 w 3366"/>
                <a:gd name="T59" fmla="*/ 894 h 4804"/>
                <a:gd name="T60" fmla="*/ 2016 w 3366"/>
                <a:gd name="T61" fmla="*/ 854 h 4804"/>
                <a:gd name="T62" fmla="*/ 2055 w 3366"/>
                <a:gd name="T63" fmla="*/ 780 h 4804"/>
                <a:gd name="T64" fmla="*/ 2070 w 3366"/>
                <a:gd name="T65" fmla="*/ 594 h 4804"/>
                <a:gd name="T66" fmla="*/ 2313 w 3366"/>
                <a:gd name="T67" fmla="*/ 808 h 4804"/>
                <a:gd name="T68" fmla="*/ 1066 w 3366"/>
                <a:gd name="T69" fmla="*/ 1013 h 4804"/>
                <a:gd name="T70" fmla="*/ 1188 w 3366"/>
                <a:gd name="T71" fmla="*/ 599 h 4804"/>
                <a:gd name="T72" fmla="*/ 916 w 3366"/>
                <a:gd name="T73" fmla="*/ 1003 h 4804"/>
                <a:gd name="T74" fmla="*/ 935 w 3366"/>
                <a:gd name="T75" fmla="*/ 1107 h 4804"/>
                <a:gd name="T76" fmla="*/ 992 w 3366"/>
                <a:gd name="T77" fmla="*/ 1142 h 4804"/>
                <a:gd name="T78" fmla="*/ 1409 w 3366"/>
                <a:gd name="T79" fmla="*/ 1163 h 4804"/>
                <a:gd name="T80" fmla="*/ 2274 w 3366"/>
                <a:gd name="T81" fmla="*/ 1155 h 4804"/>
                <a:gd name="T82" fmla="*/ 2402 w 3366"/>
                <a:gd name="T83" fmla="*/ 1134 h 4804"/>
                <a:gd name="T84" fmla="*/ 2465 w 3366"/>
                <a:gd name="T85" fmla="*/ 984 h 4804"/>
                <a:gd name="T86" fmla="*/ 2841 w 3366"/>
                <a:gd name="T87" fmla="*/ 896 h 4804"/>
                <a:gd name="T88" fmla="*/ 3216 w 3366"/>
                <a:gd name="T89" fmla="*/ 4663 h 4804"/>
                <a:gd name="T90" fmla="*/ 150 w 3366"/>
                <a:gd name="T91" fmla="*/ 2779 h 4804"/>
                <a:gd name="T92" fmla="*/ 908 w 3366"/>
                <a:gd name="T93" fmla="*/ 904 h 4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66" h="4804">
                  <a:moveTo>
                    <a:pt x="1416" y="8"/>
                  </a:moveTo>
                  <a:lnTo>
                    <a:pt x="1404" y="13"/>
                  </a:lnTo>
                  <a:lnTo>
                    <a:pt x="1371" y="37"/>
                  </a:lnTo>
                  <a:lnTo>
                    <a:pt x="1355" y="51"/>
                  </a:lnTo>
                  <a:lnTo>
                    <a:pt x="1343" y="62"/>
                  </a:lnTo>
                  <a:lnTo>
                    <a:pt x="1327" y="88"/>
                  </a:lnTo>
                  <a:lnTo>
                    <a:pt x="1319" y="131"/>
                  </a:lnTo>
                  <a:lnTo>
                    <a:pt x="1316" y="207"/>
                  </a:lnTo>
                  <a:lnTo>
                    <a:pt x="1316" y="264"/>
                  </a:lnTo>
                  <a:lnTo>
                    <a:pt x="1316" y="443"/>
                  </a:lnTo>
                  <a:lnTo>
                    <a:pt x="1160" y="449"/>
                  </a:lnTo>
                  <a:lnTo>
                    <a:pt x="1111" y="451"/>
                  </a:lnTo>
                  <a:lnTo>
                    <a:pt x="1044" y="456"/>
                  </a:lnTo>
                  <a:lnTo>
                    <a:pt x="1002" y="466"/>
                  </a:lnTo>
                  <a:lnTo>
                    <a:pt x="974" y="482"/>
                  </a:lnTo>
                  <a:lnTo>
                    <a:pt x="960" y="494"/>
                  </a:lnTo>
                  <a:lnTo>
                    <a:pt x="946" y="507"/>
                  </a:lnTo>
                  <a:lnTo>
                    <a:pt x="929" y="532"/>
                  </a:lnTo>
                  <a:lnTo>
                    <a:pt x="920" y="563"/>
                  </a:lnTo>
                  <a:lnTo>
                    <a:pt x="916" y="609"/>
                  </a:lnTo>
                  <a:lnTo>
                    <a:pt x="916" y="641"/>
                  </a:lnTo>
                  <a:lnTo>
                    <a:pt x="916" y="746"/>
                  </a:lnTo>
                  <a:lnTo>
                    <a:pt x="533" y="746"/>
                  </a:lnTo>
                  <a:lnTo>
                    <a:pt x="390" y="746"/>
                  </a:lnTo>
                  <a:lnTo>
                    <a:pt x="197" y="753"/>
                  </a:lnTo>
                  <a:lnTo>
                    <a:pt x="110" y="765"/>
                  </a:lnTo>
                  <a:lnTo>
                    <a:pt x="71" y="777"/>
                  </a:lnTo>
                  <a:lnTo>
                    <a:pt x="44" y="793"/>
                  </a:lnTo>
                  <a:lnTo>
                    <a:pt x="25" y="814"/>
                  </a:lnTo>
                  <a:lnTo>
                    <a:pt x="18" y="826"/>
                  </a:lnTo>
                  <a:lnTo>
                    <a:pt x="13" y="853"/>
                  </a:lnTo>
                  <a:lnTo>
                    <a:pt x="6" y="1092"/>
                  </a:lnTo>
                  <a:lnTo>
                    <a:pt x="0" y="1870"/>
                  </a:lnTo>
                  <a:lnTo>
                    <a:pt x="0" y="2786"/>
                  </a:lnTo>
                  <a:lnTo>
                    <a:pt x="0" y="4711"/>
                  </a:lnTo>
                  <a:lnTo>
                    <a:pt x="40" y="4758"/>
                  </a:lnTo>
                  <a:lnTo>
                    <a:pt x="80" y="4804"/>
                  </a:lnTo>
                  <a:lnTo>
                    <a:pt x="1683" y="4804"/>
                  </a:lnTo>
                  <a:lnTo>
                    <a:pt x="3286" y="4804"/>
                  </a:lnTo>
                  <a:lnTo>
                    <a:pt x="3326" y="4758"/>
                  </a:lnTo>
                  <a:lnTo>
                    <a:pt x="3366" y="4711"/>
                  </a:lnTo>
                  <a:lnTo>
                    <a:pt x="3366" y="2779"/>
                  </a:lnTo>
                  <a:lnTo>
                    <a:pt x="3366" y="848"/>
                  </a:lnTo>
                  <a:lnTo>
                    <a:pt x="3326" y="801"/>
                  </a:lnTo>
                  <a:lnTo>
                    <a:pt x="3286" y="754"/>
                  </a:lnTo>
                  <a:lnTo>
                    <a:pt x="2878" y="749"/>
                  </a:lnTo>
                  <a:lnTo>
                    <a:pt x="2470" y="744"/>
                  </a:lnTo>
                  <a:lnTo>
                    <a:pt x="2463" y="644"/>
                  </a:lnTo>
                  <a:lnTo>
                    <a:pt x="2460" y="616"/>
                  </a:lnTo>
                  <a:lnTo>
                    <a:pt x="2453" y="573"/>
                  </a:lnTo>
                  <a:lnTo>
                    <a:pt x="2442" y="540"/>
                  </a:lnTo>
                  <a:lnTo>
                    <a:pt x="2424" y="513"/>
                  </a:lnTo>
                  <a:lnTo>
                    <a:pt x="2411" y="499"/>
                  </a:lnTo>
                  <a:lnTo>
                    <a:pt x="2396" y="485"/>
                  </a:lnTo>
                  <a:lnTo>
                    <a:pt x="2368" y="466"/>
                  </a:lnTo>
                  <a:lnTo>
                    <a:pt x="2329" y="456"/>
                  </a:lnTo>
                  <a:lnTo>
                    <a:pt x="2265" y="451"/>
                  </a:lnTo>
                  <a:lnTo>
                    <a:pt x="2218" y="449"/>
                  </a:lnTo>
                  <a:lnTo>
                    <a:pt x="2070" y="443"/>
                  </a:lnTo>
                  <a:lnTo>
                    <a:pt x="2063" y="269"/>
                  </a:lnTo>
                  <a:lnTo>
                    <a:pt x="2061" y="213"/>
                  </a:lnTo>
                  <a:lnTo>
                    <a:pt x="2056" y="139"/>
                  </a:lnTo>
                  <a:lnTo>
                    <a:pt x="2046" y="95"/>
                  </a:lnTo>
                  <a:lnTo>
                    <a:pt x="2026" y="66"/>
                  </a:lnTo>
                  <a:lnTo>
                    <a:pt x="2011" y="51"/>
                  </a:lnTo>
                  <a:lnTo>
                    <a:pt x="1966" y="4"/>
                  </a:lnTo>
                  <a:lnTo>
                    <a:pt x="1703" y="1"/>
                  </a:lnTo>
                  <a:lnTo>
                    <a:pt x="1597" y="0"/>
                  </a:lnTo>
                  <a:lnTo>
                    <a:pt x="1441" y="4"/>
                  </a:lnTo>
                  <a:lnTo>
                    <a:pt x="1416" y="8"/>
                  </a:lnTo>
                  <a:close/>
                  <a:moveTo>
                    <a:pt x="1913" y="449"/>
                  </a:moveTo>
                  <a:lnTo>
                    <a:pt x="1916" y="746"/>
                  </a:lnTo>
                  <a:lnTo>
                    <a:pt x="1691" y="746"/>
                  </a:lnTo>
                  <a:lnTo>
                    <a:pt x="1466" y="746"/>
                  </a:lnTo>
                  <a:lnTo>
                    <a:pt x="1466" y="446"/>
                  </a:lnTo>
                  <a:lnTo>
                    <a:pt x="1466" y="144"/>
                  </a:lnTo>
                  <a:lnTo>
                    <a:pt x="1688" y="149"/>
                  </a:lnTo>
                  <a:lnTo>
                    <a:pt x="1908" y="154"/>
                  </a:lnTo>
                  <a:lnTo>
                    <a:pt x="1913" y="449"/>
                  </a:lnTo>
                  <a:close/>
                  <a:moveTo>
                    <a:pt x="1316" y="718"/>
                  </a:moveTo>
                  <a:lnTo>
                    <a:pt x="1319" y="749"/>
                  </a:lnTo>
                  <a:lnTo>
                    <a:pt x="1325" y="800"/>
                  </a:lnTo>
                  <a:lnTo>
                    <a:pt x="1337" y="837"/>
                  </a:lnTo>
                  <a:lnTo>
                    <a:pt x="1359" y="863"/>
                  </a:lnTo>
                  <a:lnTo>
                    <a:pt x="1395" y="880"/>
                  </a:lnTo>
                  <a:lnTo>
                    <a:pt x="1448" y="890"/>
                  </a:lnTo>
                  <a:lnTo>
                    <a:pt x="1568" y="896"/>
                  </a:lnTo>
                  <a:lnTo>
                    <a:pt x="1690" y="896"/>
                  </a:lnTo>
                  <a:lnTo>
                    <a:pt x="1788" y="896"/>
                  </a:lnTo>
                  <a:lnTo>
                    <a:pt x="1911" y="894"/>
                  </a:lnTo>
                  <a:lnTo>
                    <a:pt x="1973" y="886"/>
                  </a:lnTo>
                  <a:lnTo>
                    <a:pt x="2003" y="869"/>
                  </a:lnTo>
                  <a:lnTo>
                    <a:pt x="2016" y="854"/>
                  </a:lnTo>
                  <a:lnTo>
                    <a:pt x="2028" y="842"/>
                  </a:lnTo>
                  <a:lnTo>
                    <a:pt x="2044" y="814"/>
                  </a:lnTo>
                  <a:lnTo>
                    <a:pt x="2055" y="780"/>
                  </a:lnTo>
                  <a:lnTo>
                    <a:pt x="2061" y="733"/>
                  </a:lnTo>
                  <a:lnTo>
                    <a:pt x="2063" y="703"/>
                  </a:lnTo>
                  <a:lnTo>
                    <a:pt x="2070" y="594"/>
                  </a:lnTo>
                  <a:lnTo>
                    <a:pt x="2190" y="599"/>
                  </a:lnTo>
                  <a:lnTo>
                    <a:pt x="2308" y="604"/>
                  </a:lnTo>
                  <a:lnTo>
                    <a:pt x="2313" y="808"/>
                  </a:lnTo>
                  <a:lnTo>
                    <a:pt x="2318" y="1013"/>
                  </a:lnTo>
                  <a:lnTo>
                    <a:pt x="1691" y="1013"/>
                  </a:lnTo>
                  <a:lnTo>
                    <a:pt x="1066" y="1013"/>
                  </a:lnTo>
                  <a:lnTo>
                    <a:pt x="1066" y="804"/>
                  </a:lnTo>
                  <a:lnTo>
                    <a:pt x="1066" y="594"/>
                  </a:lnTo>
                  <a:lnTo>
                    <a:pt x="1188" y="599"/>
                  </a:lnTo>
                  <a:lnTo>
                    <a:pt x="1308" y="604"/>
                  </a:lnTo>
                  <a:lnTo>
                    <a:pt x="1316" y="718"/>
                  </a:lnTo>
                  <a:close/>
                  <a:moveTo>
                    <a:pt x="916" y="1003"/>
                  </a:moveTo>
                  <a:lnTo>
                    <a:pt x="919" y="1033"/>
                  </a:lnTo>
                  <a:lnTo>
                    <a:pt x="924" y="1080"/>
                  </a:lnTo>
                  <a:lnTo>
                    <a:pt x="935" y="1107"/>
                  </a:lnTo>
                  <a:lnTo>
                    <a:pt x="948" y="1121"/>
                  </a:lnTo>
                  <a:lnTo>
                    <a:pt x="966" y="1133"/>
                  </a:lnTo>
                  <a:lnTo>
                    <a:pt x="992" y="1142"/>
                  </a:lnTo>
                  <a:lnTo>
                    <a:pt x="1045" y="1152"/>
                  </a:lnTo>
                  <a:lnTo>
                    <a:pt x="1154" y="1160"/>
                  </a:lnTo>
                  <a:lnTo>
                    <a:pt x="1409" y="1163"/>
                  </a:lnTo>
                  <a:lnTo>
                    <a:pt x="1678" y="1163"/>
                  </a:lnTo>
                  <a:lnTo>
                    <a:pt x="1989" y="1162"/>
                  </a:lnTo>
                  <a:lnTo>
                    <a:pt x="2274" y="1155"/>
                  </a:lnTo>
                  <a:lnTo>
                    <a:pt x="2371" y="1149"/>
                  </a:lnTo>
                  <a:lnTo>
                    <a:pt x="2386" y="1144"/>
                  </a:lnTo>
                  <a:lnTo>
                    <a:pt x="2402" y="1134"/>
                  </a:lnTo>
                  <a:lnTo>
                    <a:pt x="2430" y="1096"/>
                  </a:lnTo>
                  <a:lnTo>
                    <a:pt x="2452" y="1043"/>
                  </a:lnTo>
                  <a:lnTo>
                    <a:pt x="2465" y="984"/>
                  </a:lnTo>
                  <a:lnTo>
                    <a:pt x="2466" y="954"/>
                  </a:lnTo>
                  <a:lnTo>
                    <a:pt x="2466" y="896"/>
                  </a:lnTo>
                  <a:lnTo>
                    <a:pt x="2841" y="896"/>
                  </a:lnTo>
                  <a:lnTo>
                    <a:pt x="3216" y="896"/>
                  </a:lnTo>
                  <a:lnTo>
                    <a:pt x="3216" y="2779"/>
                  </a:lnTo>
                  <a:lnTo>
                    <a:pt x="3216" y="4663"/>
                  </a:lnTo>
                  <a:lnTo>
                    <a:pt x="1683" y="4663"/>
                  </a:lnTo>
                  <a:lnTo>
                    <a:pt x="150" y="4663"/>
                  </a:lnTo>
                  <a:lnTo>
                    <a:pt x="150" y="2779"/>
                  </a:lnTo>
                  <a:lnTo>
                    <a:pt x="150" y="896"/>
                  </a:lnTo>
                  <a:lnTo>
                    <a:pt x="530" y="899"/>
                  </a:lnTo>
                  <a:lnTo>
                    <a:pt x="908" y="904"/>
                  </a:lnTo>
                  <a:lnTo>
                    <a:pt x="916" y="10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33">
              <a:extLst>
                <a:ext uri="{FF2B5EF4-FFF2-40B4-BE49-F238E27FC236}">
                  <a16:creationId xmlns:a16="http://schemas.microsoft.com/office/drawing/2014/main" id="{101F686C-08D3-180D-1B85-29868A22207F}"/>
                </a:ext>
              </a:extLst>
            </p:cNvPr>
            <p:cNvSpPr>
              <a:spLocks noEditPoints="1"/>
            </p:cNvSpPr>
            <p:nvPr/>
          </p:nvSpPr>
          <p:spPr bwMode="auto">
            <a:xfrm>
              <a:off x="1009650" y="3421063"/>
              <a:ext cx="401638" cy="322263"/>
            </a:xfrm>
            <a:custGeom>
              <a:avLst/>
              <a:gdLst>
                <a:gd name="T0" fmla="*/ 803 w 1014"/>
                <a:gd name="T1" fmla="*/ 99 h 814"/>
                <a:gd name="T2" fmla="*/ 80 w 1014"/>
                <a:gd name="T3" fmla="*/ 105 h 814"/>
                <a:gd name="T4" fmla="*/ 27 w 1014"/>
                <a:gd name="T5" fmla="*/ 168 h 814"/>
                <a:gd name="T6" fmla="*/ 2 w 1014"/>
                <a:gd name="T7" fmla="*/ 261 h 814"/>
                <a:gd name="T8" fmla="*/ 0 w 1014"/>
                <a:gd name="T9" fmla="*/ 457 h 814"/>
                <a:gd name="T10" fmla="*/ 48 w 1014"/>
                <a:gd name="T11" fmla="*/ 765 h 814"/>
                <a:gd name="T12" fmla="*/ 450 w 1014"/>
                <a:gd name="T13" fmla="*/ 814 h 814"/>
                <a:gd name="T14" fmla="*/ 852 w 1014"/>
                <a:gd name="T15" fmla="*/ 765 h 814"/>
                <a:gd name="T16" fmla="*/ 900 w 1014"/>
                <a:gd name="T17" fmla="*/ 469 h 814"/>
                <a:gd name="T18" fmla="*/ 958 w 1014"/>
                <a:gd name="T19" fmla="*/ 164 h 814"/>
                <a:gd name="T20" fmla="*/ 1009 w 1014"/>
                <a:gd name="T21" fmla="*/ 100 h 814"/>
                <a:gd name="T22" fmla="*/ 1012 w 1014"/>
                <a:gd name="T23" fmla="*/ 59 h 814"/>
                <a:gd name="T24" fmla="*/ 980 w 1014"/>
                <a:gd name="T25" fmla="*/ 24 h 814"/>
                <a:gd name="T26" fmla="*/ 938 w 1014"/>
                <a:gd name="T27" fmla="*/ 0 h 814"/>
                <a:gd name="T28" fmla="*/ 883 w 1014"/>
                <a:gd name="T29" fmla="*/ 27 h 814"/>
                <a:gd name="T30" fmla="*/ 552 w 1014"/>
                <a:gd name="T31" fmla="*/ 330 h 814"/>
                <a:gd name="T32" fmla="*/ 405 w 1014"/>
                <a:gd name="T33" fmla="*/ 364 h 814"/>
                <a:gd name="T34" fmla="*/ 350 w 1014"/>
                <a:gd name="T35" fmla="*/ 321 h 814"/>
                <a:gd name="T36" fmla="*/ 306 w 1014"/>
                <a:gd name="T37" fmla="*/ 328 h 814"/>
                <a:gd name="T38" fmla="*/ 279 w 1014"/>
                <a:gd name="T39" fmla="*/ 355 h 814"/>
                <a:gd name="T40" fmla="*/ 269 w 1014"/>
                <a:gd name="T41" fmla="*/ 397 h 814"/>
                <a:gd name="T42" fmla="*/ 309 w 1014"/>
                <a:gd name="T43" fmla="*/ 479 h 814"/>
                <a:gd name="T44" fmla="*/ 368 w 1014"/>
                <a:gd name="T45" fmla="*/ 552 h 814"/>
                <a:gd name="T46" fmla="*/ 432 w 1014"/>
                <a:gd name="T47" fmla="*/ 599 h 814"/>
                <a:gd name="T48" fmla="*/ 484 w 1014"/>
                <a:gd name="T49" fmla="*/ 589 h 814"/>
                <a:gd name="T50" fmla="*/ 575 w 1014"/>
                <a:gd name="T51" fmla="*/ 515 h 814"/>
                <a:gd name="T52" fmla="*/ 705 w 1014"/>
                <a:gd name="T53" fmla="*/ 399 h 814"/>
                <a:gd name="T54" fmla="*/ 750 w 1014"/>
                <a:gd name="T55" fmla="*/ 510 h 814"/>
                <a:gd name="T56" fmla="*/ 450 w 1014"/>
                <a:gd name="T57" fmla="*/ 664 h 814"/>
                <a:gd name="T58" fmla="*/ 150 w 1014"/>
                <a:gd name="T59" fmla="*/ 455 h 814"/>
                <a:gd name="T60" fmla="*/ 397 w 1014"/>
                <a:gd name="T61" fmla="*/ 247 h 814"/>
                <a:gd name="T62" fmla="*/ 552 w 1014"/>
                <a:gd name="T63" fmla="*/ 33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4" h="814">
                  <a:moveTo>
                    <a:pt x="860" y="47"/>
                  </a:moveTo>
                  <a:lnTo>
                    <a:pt x="803" y="99"/>
                  </a:lnTo>
                  <a:lnTo>
                    <a:pt x="442" y="102"/>
                  </a:lnTo>
                  <a:lnTo>
                    <a:pt x="80" y="105"/>
                  </a:lnTo>
                  <a:lnTo>
                    <a:pt x="40" y="152"/>
                  </a:lnTo>
                  <a:lnTo>
                    <a:pt x="27" y="168"/>
                  </a:lnTo>
                  <a:lnTo>
                    <a:pt x="10" y="202"/>
                  </a:lnTo>
                  <a:lnTo>
                    <a:pt x="2" y="261"/>
                  </a:lnTo>
                  <a:lnTo>
                    <a:pt x="0" y="371"/>
                  </a:lnTo>
                  <a:lnTo>
                    <a:pt x="0" y="457"/>
                  </a:lnTo>
                  <a:lnTo>
                    <a:pt x="0" y="717"/>
                  </a:lnTo>
                  <a:lnTo>
                    <a:pt x="48" y="765"/>
                  </a:lnTo>
                  <a:lnTo>
                    <a:pt x="97" y="814"/>
                  </a:lnTo>
                  <a:lnTo>
                    <a:pt x="450" y="814"/>
                  </a:lnTo>
                  <a:lnTo>
                    <a:pt x="803" y="814"/>
                  </a:lnTo>
                  <a:lnTo>
                    <a:pt x="852" y="765"/>
                  </a:lnTo>
                  <a:lnTo>
                    <a:pt x="900" y="717"/>
                  </a:lnTo>
                  <a:lnTo>
                    <a:pt x="900" y="469"/>
                  </a:lnTo>
                  <a:lnTo>
                    <a:pt x="900" y="220"/>
                  </a:lnTo>
                  <a:lnTo>
                    <a:pt x="958" y="164"/>
                  </a:lnTo>
                  <a:lnTo>
                    <a:pt x="981" y="140"/>
                  </a:lnTo>
                  <a:lnTo>
                    <a:pt x="1009" y="100"/>
                  </a:lnTo>
                  <a:lnTo>
                    <a:pt x="1014" y="74"/>
                  </a:lnTo>
                  <a:lnTo>
                    <a:pt x="1012" y="59"/>
                  </a:lnTo>
                  <a:lnTo>
                    <a:pt x="998" y="37"/>
                  </a:lnTo>
                  <a:lnTo>
                    <a:pt x="980" y="24"/>
                  </a:lnTo>
                  <a:lnTo>
                    <a:pt x="963" y="12"/>
                  </a:lnTo>
                  <a:lnTo>
                    <a:pt x="938" y="0"/>
                  </a:lnTo>
                  <a:lnTo>
                    <a:pt x="914" y="4"/>
                  </a:lnTo>
                  <a:lnTo>
                    <a:pt x="883" y="27"/>
                  </a:lnTo>
                  <a:lnTo>
                    <a:pt x="860" y="47"/>
                  </a:lnTo>
                  <a:close/>
                  <a:moveTo>
                    <a:pt x="552" y="330"/>
                  </a:moveTo>
                  <a:lnTo>
                    <a:pt x="462" y="412"/>
                  </a:lnTo>
                  <a:lnTo>
                    <a:pt x="405" y="364"/>
                  </a:lnTo>
                  <a:lnTo>
                    <a:pt x="382" y="344"/>
                  </a:lnTo>
                  <a:lnTo>
                    <a:pt x="350" y="321"/>
                  </a:lnTo>
                  <a:lnTo>
                    <a:pt x="327" y="316"/>
                  </a:lnTo>
                  <a:lnTo>
                    <a:pt x="306" y="328"/>
                  </a:lnTo>
                  <a:lnTo>
                    <a:pt x="293" y="340"/>
                  </a:lnTo>
                  <a:lnTo>
                    <a:pt x="279" y="355"/>
                  </a:lnTo>
                  <a:lnTo>
                    <a:pt x="270" y="379"/>
                  </a:lnTo>
                  <a:lnTo>
                    <a:pt x="269" y="397"/>
                  </a:lnTo>
                  <a:lnTo>
                    <a:pt x="278" y="427"/>
                  </a:lnTo>
                  <a:lnTo>
                    <a:pt x="309" y="479"/>
                  </a:lnTo>
                  <a:lnTo>
                    <a:pt x="335" y="512"/>
                  </a:lnTo>
                  <a:lnTo>
                    <a:pt x="368" y="552"/>
                  </a:lnTo>
                  <a:lnTo>
                    <a:pt x="408" y="588"/>
                  </a:lnTo>
                  <a:lnTo>
                    <a:pt x="432" y="599"/>
                  </a:lnTo>
                  <a:lnTo>
                    <a:pt x="457" y="600"/>
                  </a:lnTo>
                  <a:lnTo>
                    <a:pt x="484" y="589"/>
                  </a:lnTo>
                  <a:lnTo>
                    <a:pt x="532" y="555"/>
                  </a:lnTo>
                  <a:lnTo>
                    <a:pt x="575" y="515"/>
                  </a:lnTo>
                  <a:lnTo>
                    <a:pt x="650" y="447"/>
                  </a:lnTo>
                  <a:lnTo>
                    <a:pt x="705" y="399"/>
                  </a:lnTo>
                  <a:lnTo>
                    <a:pt x="750" y="359"/>
                  </a:lnTo>
                  <a:lnTo>
                    <a:pt x="750" y="510"/>
                  </a:lnTo>
                  <a:lnTo>
                    <a:pt x="750" y="664"/>
                  </a:lnTo>
                  <a:lnTo>
                    <a:pt x="450" y="664"/>
                  </a:lnTo>
                  <a:lnTo>
                    <a:pt x="150" y="664"/>
                  </a:lnTo>
                  <a:lnTo>
                    <a:pt x="150" y="455"/>
                  </a:lnTo>
                  <a:lnTo>
                    <a:pt x="150" y="247"/>
                  </a:lnTo>
                  <a:lnTo>
                    <a:pt x="397" y="247"/>
                  </a:lnTo>
                  <a:lnTo>
                    <a:pt x="642" y="249"/>
                  </a:lnTo>
                  <a:lnTo>
                    <a:pt x="552"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34">
              <a:extLst>
                <a:ext uri="{FF2B5EF4-FFF2-40B4-BE49-F238E27FC236}">
                  <a16:creationId xmlns:a16="http://schemas.microsoft.com/office/drawing/2014/main" id="{AC7DA36B-5694-E362-FCD9-03AA319C9610}"/>
                </a:ext>
              </a:extLst>
            </p:cNvPr>
            <p:cNvSpPr>
              <a:spLocks/>
            </p:cNvSpPr>
            <p:nvPr/>
          </p:nvSpPr>
          <p:spPr bwMode="auto">
            <a:xfrm>
              <a:off x="641350" y="3513138"/>
              <a:ext cx="307975" cy="58738"/>
            </a:xfrm>
            <a:custGeom>
              <a:avLst/>
              <a:gdLst>
                <a:gd name="T0" fmla="*/ 18 w 781"/>
                <a:gd name="T1" fmla="*/ 20 h 150"/>
                <a:gd name="T2" fmla="*/ 9 w 781"/>
                <a:gd name="T3" fmla="*/ 31 h 150"/>
                <a:gd name="T4" fmla="*/ 0 w 781"/>
                <a:gd name="T5" fmla="*/ 59 h 150"/>
                <a:gd name="T6" fmla="*/ 0 w 781"/>
                <a:gd name="T7" fmla="*/ 91 h 150"/>
                <a:gd name="T8" fmla="*/ 9 w 781"/>
                <a:gd name="T9" fmla="*/ 120 h 150"/>
                <a:gd name="T10" fmla="*/ 18 w 781"/>
                <a:gd name="T11" fmla="*/ 130 h 150"/>
                <a:gd name="T12" fmla="*/ 26 w 781"/>
                <a:gd name="T13" fmla="*/ 136 h 150"/>
                <a:gd name="T14" fmla="*/ 74 w 781"/>
                <a:gd name="T15" fmla="*/ 143 h 150"/>
                <a:gd name="T16" fmla="*/ 219 w 781"/>
                <a:gd name="T17" fmla="*/ 150 h 150"/>
                <a:gd name="T18" fmla="*/ 389 w 781"/>
                <a:gd name="T19" fmla="*/ 150 h 150"/>
                <a:gd name="T20" fmla="*/ 517 w 781"/>
                <a:gd name="T21" fmla="*/ 150 h 150"/>
                <a:gd name="T22" fmla="*/ 679 w 781"/>
                <a:gd name="T23" fmla="*/ 145 h 150"/>
                <a:gd name="T24" fmla="*/ 741 w 781"/>
                <a:gd name="T25" fmla="*/ 135 h 150"/>
                <a:gd name="T26" fmla="*/ 765 w 781"/>
                <a:gd name="T27" fmla="*/ 124 h 150"/>
                <a:gd name="T28" fmla="*/ 777 w 781"/>
                <a:gd name="T29" fmla="*/ 108 h 150"/>
                <a:gd name="T30" fmla="*/ 781 w 781"/>
                <a:gd name="T31" fmla="*/ 88 h 150"/>
                <a:gd name="T32" fmla="*/ 781 w 781"/>
                <a:gd name="T33" fmla="*/ 75 h 150"/>
                <a:gd name="T34" fmla="*/ 781 w 781"/>
                <a:gd name="T35" fmla="*/ 63 h 150"/>
                <a:gd name="T36" fmla="*/ 777 w 781"/>
                <a:gd name="T37" fmla="*/ 42 h 150"/>
                <a:gd name="T38" fmla="*/ 765 w 781"/>
                <a:gd name="T39" fmla="*/ 27 h 150"/>
                <a:gd name="T40" fmla="*/ 741 w 781"/>
                <a:gd name="T41" fmla="*/ 16 h 150"/>
                <a:gd name="T42" fmla="*/ 679 w 781"/>
                <a:gd name="T43" fmla="*/ 5 h 150"/>
                <a:gd name="T44" fmla="*/ 517 w 781"/>
                <a:gd name="T45" fmla="*/ 0 h 150"/>
                <a:gd name="T46" fmla="*/ 389 w 781"/>
                <a:gd name="T47" fmla="*/ 0 h 150"/>
                <a:gd name="T48" fmla="*/ 219 w 781"/>
                <a:gd name="T49" fmla="*/ 1 h 150"/>
                <a:gd name="T50" fmla="*/ 74 w 781"/>
                <a:gd name="T51" fmla="*/ 7 h 150"/>
                <a:gd name="T52" fmla="*/ 26 w 781"/>
                <a:gd name="T53" fmla="*/ 15 h 150"/>
                <a:gd name="T54" fmla="*/ 18 w 781"/>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 h="150">
                  <a:moveTo>
                    <a:pt x="18" y="20"/>
                  </a:moveTo>
                  <a:lnTo>
                    <a:pt x="9" y="31"/>
                  </a:lnTo>
                  <a:lnTo>
                    <a:pt x="0" y="59"/>
                  </a:lnTo>
                  <a:lnTo>
                    <a:pt x="0" y="91"/>
                  </a:lnTo>
                  <a:lnTo>
                    <a:pt x="9" y="120"/>
                  </a:lnTo>
                  <a:lnTo>
                    <a:pt x="18" y="130"/>
                  </a:lnTo>
                  <a:lnTo>
                    <a:pt x="26" y="136"/>
                  </a:lnTo>
                  <a:lnTo>
                    <a:pt x="74" y="143"/>
                  </a:lnTo>
                  <a:lnTo>
                    <a:pt x="219" y="150"/>
                  </a:lnTo>
                  <a:lnTo>
                    <a:pt x="389" y="150"/>
                  </a:lnTo>
                  <a:lnTo>
                    <a:pt x="517" y="150"/>
                  </a:lnTo>
                  <a:lnTo>
                    <a:pt x="679" y="145"/>
                  </a:lnTo>
                  <a:lnTo>
                    <a:pt x="741" y="135"/>
                  </a:lnTo>
                  <a:lnTo>
                    <a:pt x="765" y="124"/>
                  </a:lnTo>
                  <a:lnTo>
                    <a:pt x="777" y="108"/>
                  </a:lnTo>
                  <a:lnTo>
                    <a:pt x="781" y="88"/>
                  </a:lnTo>
                  <a:lnTo>
                    <a:pt x="781" y="75"/>
                  </a:lnTo>
                  <a:lnTo>
                    <a:pt x="781" y="63"/>
                  </a:lnTo>
                  <a:lnTo>
                    <a:pt x="777" y="42"/>
                  </a:lnTo>
                  <a:lnTo>
                    <a:pt x="765" y="27"/>
                  </a:lnTo>
                  <a:lnTo>
                    <a:pt x="741" y="16"/>
                  </a:lnTo>
                  <a:lnTo>
                    <a:pt x="679" y="5"/>
                  </a:lnTo>
                  <a:lnTo>
                    <a:pt x="517" y="0"/>
                  </a:lnTo>
                  <a:lnTo>
                    <a:pt x="389" y="0"/>
                  </a:lnTo>
                  <a:lnTo>
                    <a:pt x="219" y="1"/>
                  </a:lnTo>
                  <a:lnTo>
                    <a:pt x="74" y="7"/>
                  </a:lnTo>
                  <a:lnTo>
                    <a:pt x="26" y="15"/>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135">
              <a:extLst>
                <a:ext uri="{FF2B5EF4-FFF2-40B4-BE49-F238E27FC236}">
                  <a16:creationId xmlns:a16="http://schemas.microsoft.com/office/drawing/2014/main" id="{175847EF-776A-7297-32C5-EC8609CAF81B}"/>
                </a:ext>
              </a:extLst>
            </p:cNvPr>
            <p:cNvSpPr>
              <a:spLocks/>
            </p:cNvSpPr>
            <p:nvPr/>
          </p:nvSpPr>
          <p:spPr bwMode="auto">
            <a:xfrm>
              <a:off x="1425575" y="3513138"/>
              <a:ext cx="309563" cy="58738"/>
            </a:xfrm>
            <a:custGeom>
              <a:avLst/>
              <a:gdLst>
                <a:gd name="T0" fmla="*/ 27 w 783"/>
                <a:gd name="T1" fmla="*/ 27 h 150"/>
                <a:gd name="T2" fmla="*/ 16 w 783"/>
                <a:gd name="T3" fmla="*/ 38 h 150"/>
                <a:gd name="T4" fmla="*/ 1 w 783"/>
                <a:gd name="T5" fmla="*/ 65 h 150"/>
                <a:gd name="T6" fmla="*/ 0 w 783"/>
                <a:gd name="T7" fmla="*/ 75 h 150"/>
                <a:gd name="T8" fmla="*/ 1 w 783"/>
                <a:gd name="T9" fmla="*/ 86 h 150"/>
                <a:gd name="T10" fmla="*/ 16 w 783"/>
                <a:gd name="T11" fmla="*/ 112 h 150"/>
                <a:gd name="T12" fmla="*/ 27 w 783"/>
                <a:gd name="T13" fmla="*/ 124 h 150"/>
                <a:gd name="T14" fmla="*/ 36 w 783"/>
                <a:gd name="T15" fmla="*/ 132 h 150"/>
                <a:gd name="T16" fmla="*/ 75 w 783"/>
                <a:gd name="T17" fmla="*/ 143 h 150"/>
                <a:gd name="T18" fmla="*/ 209 w 783"/>
                <a:gd name="T19" fmla="*/ 150 h 150"/>
                <a:gd name="T20" fmla="*/ 398 w 783"/>
                <a:gd name="T21" fmla="*/ 150 h 150"/>
                <a:gd name="T22" fmla="*/ 523 w 783"/>
                <a:gd name="T23" fmla="*/ 150 h 150"/>
                <a:gd name="T24" fmla="*/ 683 w 783"/>
                <a:gd name="T25" fmla="*/ 145 h 150"/>
                <a:gd name="T26" fmla="*/ 744 w 783"/>
                <a:gd name="T27" fmla="*/ 135 h 150"/>
                <a:gd name="T28" fmla="*/ 767 w 783"/>
                <a:gd name="T29" fmla="*/ 124 h 150"/>
                <a:gd name="T30" fmla="*/ 779 w 783"/>
                <a:gd name="T31" fmla="*/ 108 h 150"/>
                <a:gd name="T32" fmla="*/ 783 w 783"/>
                <a:gd name="T33" fmla="*/ 88 h 150"/>
                <a:gd name="T34" fmla="*/ 783 w 783"/>
                <a:gd name="T35" fmla="*/ 75 h 150"/>
                <a:gd name="T36" fmla="*/ 783 w 783"/>
                <a:gd name="T37" fmla="*/ 63 h 150"/>
                <a:gd name="T38" fmla="*/ 779 w 783"/>
                <a:gd name="T39" fmla="*/ 42 h 150"/>
                <a:gd name="T40" fmla="*/ 767 w 783"/>
                <a:gd name="T41" fmla="*/ 27 h 150"/>
                <a:gd name="T42" fmla="*/ 744 w 783"/>
                <a:gd name="T43" fmla="*/ 16 h 150"/>
                <a:gd name="T44" fmla="*/ 683 w 783"/>
                <a:gd name="T45" fmla="*/ 5 h 150"/>
                <a:gd name="T46" fmla="*/ 523 w 783"/>
                <a:gd name="T47" fmla="*/ 0 h 150"/>
                <a:gd name="T48" fmla="*/ 398 w 783"/>
                <a:gd name="T49" fmla="*/ 0 h 150"/>
                <a:gd name="T50" fmla="*/ 209 w 783"/>
                <a:gd name="T51" fmla="*/ 1 h 150"/>
                <a:gd name="T52" fmla="*/ 75 w 783"/>
                <a:gd name="T53" fmla="*/ 8 h 150"/>
                <a:gd name="T54" fmla="*/ 36 w 783"/>
                <a:gd name="T55" fmla="*/ 19 h 150"/>
                <a:gd name="T56" fmla="*/ 27 w 783"/>
                <a:gd name="T5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83" h="150">
                  <a:moveTo>
                    <a:pt x="27" y="27"/>
                  </a:moveTo>
                  <a:lnTo>
                    <a:pt x="16" y="38"/>
                  </a:lnTo>
                  <a:lnTo>
                    <a:pt x="1" y="65"/>
                  </a:lnTo>
                  <a:lnTo>
                    <a:pt x="0" y="75"/>
                  </a:lnTo>
                  <a:lnTo>
                    <a:pt x="1" y="86"/>
                  </a:lnTo>
                  <a:lnTo>
                    <a:pt x="16" y="112"/>
                  </a:lnTo>
                  <a:lnTo>
                    <a:pt x="27" y="124"/>
                  </a:lnTo>
                  <a:lnTo>
                    <a:pt x="36" y="132"/>
                  </a:lnTo>
                  <a:lnTo>
                    <a:pt x="75" y="143"/>
                  </a:lnTo>
                  <a:lnTo>
                    <a:pt x="209" y="150"/>
                  </a:lnTo>
                  <a:lnTo>
                    <a:pt x="398" y="150"/>
                  </a:lnTo>
                  <a:lnTo>
                    <a:pt x="523" y="150"/>
                  </a:lnTo>
                  <a:lnTo>
                    <a:pt x="683" y="145"/>
                  </a:lnTo>
                  <a:lnTo>
                    <a:pt x="744" y="135"/>
                  </a:lnTo>
                  <a:lnTo>
                    <a:pt x="767" y="124"/>
                  </a:lnTo>
                  <a:lnTo>
                    <a:pt x="779" y="108"/>
                  </a:lnTo>
                  <a:lnTo>
                    <a:pt x="783" y="88"/>
                  </a:lnTo>
                  <a:lnTo>
                    <a:pt x="783" y="75"/>
                  </a:lnTo>
                  <a:lnTo>
                    <a:pt x="783" y="63"/>
                  </a:lnTo>
                  <a:lnTo>
                    <a:pt x="779" y="42"/>
                  </a:lnTo>
                  <a:lnTo>
                    <a:pt x="767" y="27"/>
                  </a:lnTo>
                  <a:lnTo>
                    <a:pt x="744" y="16"/>
                  </a:lnTo>
                  <a:lnTo>
                    <a:pt x="683" y="5"/>
                  </a:lnTo>
                  <a:lnTo>
                    <a:pt x="523" y="0"/>
                  </a:lnTo>
                  <a:lnTo>
                    <a:pt x="398" y="0"/>
                  </a:lnTo>
                  <a:lnTo>
                    <a:pt x="209" y="1"/>
                  </a:lnTo>
                  <a:lnTo>
                    <a:pt x="75" y="8"/>
                  </a:lnTo>
                  <a:lnTo>
                    <a:pt x="36" y="19"/>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36">
              <a:extLst>
                <a:ext uri="{FF2B5EF4-FFF2-40B4-BE49-F238E27FC236}">
                  <a16:creationId xmlns:a16="http://schemas.microsoft.com/office/drawing/2014/main" id="{EC020CB6-69C0-9EF6-75E3-8B96421F61D4}"/>
                </a:ext>
              </a:extLst>
            </p:cNvPr>
            <p:cNvSpPr>
              <a:spLocks/>
            </p:cNvSpPr>
            <p:nvPr/>
          </p:nvSpPr>
          <p:spPr bwMode="auto">
            <a:xfrm>
              <a:off x="639763" y="3630613"/>
              <a:ext cx="220663" cy="58738"/>
            </a:xfrm>
            <a:custGeom>
              <a:avLst/>
              <a:gdLst>
                <a:gd name="T0" fmla="*/ 19 w 556"/>
                <a:gd name="T1" fmla="*/ 20 h 148"/>
                <a:gd name="T2" fmla="*/ 10 w 556"/>
                <a:gd name="T3" fmla="*/ 31 h 148"/>
                <a:gd name="T4" fmla="*/ 0 w 556"/>
                <a:gd name="T5" fmla="*/ 61 h 148"/>
                <a:gd name="T6" fmla="*/ 1 w 556"/>
                <a:gd name="T7" fmla="*/ 94 h 148"/>
                <a:gd name="T8" fmla="*/ 12 w 556"/>
                <a:gd name="T9" fmla="*/ 122 h 148"/>
                <a:gd name="T10" fmla="*/ 22 w 556"/>
                <a:gd name="T11" fmla="*/ 132 h 148"/>
                <a:gd name="T12" fmla="*/ 30 w 556"/>
                <a:gd name="T13" fmla="*/ 137 h 148"/>
                <a:gd name="T14" fmla="*/ 68 w 556"/>
                <a:gd name="T15" fmla="*/ 144 h 148"/>
                <a:gd name="T16" fmla="*/ 171 w 556"/>
                <a:gd name="T17" fmla="*/ 148 h 148"/>
                <a:gd name="T18" fmla="*/ 282 w 556"/>
                <a:gd name="T19" fmla="*/ 147 h 148"/>
                <a:gd name="T20" fmla="*/ 421 w 556"/>
                <a:gd name="T21" fmla="*/ 143 h 148"/>
                <a:gd name="T22" fmla="*/ 510 w 556"/>
                <a:gd name="T23" fmla="*/ 133 h 148"/>
                <a:gd name="T24" fmla="*/ 534 w 556"/>
                <a:gd name="T25" fmla="*/ 119 h 148"/>
                <a:gd name="T26" fmla="*/ 542 w 556"/>
                <a:gd name="T27" fmla="*/ 109 h 148"/>
                <a:gd name="T28" fmla="*/ 549 w 556"/>
                <a:gd name="T29" fmla="*/ 98 h 148"/>
                <a:gd name="T30" fmla="*/ 556 w 556"/>
                <a:gd name="T31" fmla="*/ 81 h 148"/>
                <a:gd name="T32" fmla="*/ 555 w 556"/>
                <a:gd name="T33" fmla="*/ 66 h 148"/>
                <a:gd name="T34" fmla="*/ 546 w 556"/>
                <a:gd name="T35" fmla="*/ 48 h 148"/>
                <a:gd name="T36" fmla="*/ 539 w 556"/>
                <a:gd name="T37" fmla="*/ 37 h 148"/>
                <a:gd name="T38" fmla="*/ 530 w 556"/>
                <a:gd name="T39" fmla="*/ 25 h 148"/>
                <a:gd name="T40" fmla="*/ 506 w 556"/>
                <a:gd name="T41" fmla="*/ 10 h 148"/>
                <a:gd name="T42" fmla="*/ 454 w 556"/>
                <a:gd name="T43" fmla="*/ 2 h 148"/>
                <a:gd name="T44" fmla="*/ 354 w 556"/>
                <a:gd name="T45" fmla="*/ 0 h 148"/>
                <a:gd name="T46" fmla="*/ 275 w 556"/>
                <a:gd name="T47" fmla="*/ 0 h 148"/>
                <a:gd name="T48" fmla="*/ 164 w 556"/>
                <a:gd name="T49" fmla="*/ 1 h 148"/>
                <a:gd name="T50" fmla="*/ 62 w 556"/>
                <a:gd name="T51" fmla="*/ 8 h 148"/>
                <a:gd name="T52" fmla="*/ 26 w 556"/>
                <a:gd name="T53" fmla="*/ 16 h 148"/>
                <a:gd name="T54" fmla="*/ 19 w 556"/>
                <a:gd name="T55" fmla="*/ 2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6" h="148">
                  <a:moveTo>
                    <a:pt x="19" y="20"/>
                  </a:moveTo>
                  <a:lnTo>
                    <a:pt x="10" y="31"/>
                  </a:lnTo>
                  <a:lnTo>
                    <a:pt x="0" y="61"/>
                  </a:lnTo>
                  <a:lnTo>
                    <a:pt x="1" y="94"/>
                  </a:lnTo>
                  <a:lnTo>
                    <a:pt x="12" y="122"/>
                  </a:lnTo>
                  <a:lnTo>
                    <a:pt x="22" y="132"/>
                  </a:lnTo>
                  <a:lnTo>
                    <a:pt x="30" y="137"/>
                  </a:lnTo>
                  <a:lnTo>
                    <a:pt x="68" y="144"/>
                  </a:lnTo>
                  <a:lnTo>
                    <a:pt x="171" y="148"/>
                  </a:lnTo>
                  <a:lnTo>
                    <a:pt x="282" y="147"/>
                  </a:lnTo>
                  <a:lnTo>
                    <a:pt x="421" y="143"/>
                  </a:lnTo>
                  <a:lnTo>
                    <a:pt x="510" y="133"/>
                  </a:lnTo>
                  <a:lnTo>
                    <a:pt x="534" y="119"/>
                  </a:lnTo>
                  <a:lnTo>
                    <a:pt x="542" y="109"/>
                  </a:lnTo>
                  <a:lnTo>
                    <a:pt x="549" y="98"/>
                  </a:lnTo>
                  <a:lnTo>
                    <a:pt x="556" y="81"/>
                  </a:lnTo>
                  <a:lnTo>
                    <a:pt x="555" y="66"/>
                  </a:lnTo>
                  <a:lnTo>
                    <a:pt x="546" y="48"/>
                  </a:lnTo>
                  <a:lnTo>
                    <a:pt x="539" y="37"/>
                  </a:lnTo>
                  <a:lnTo>
                    <a:pt x="530" y="25"/>
                  </a:lnTo>
                  <a:lnTo>
                    <a:pt x="506" y="10"/>
                  </a:lnTo>
                  <a:lnTo>
                    <a:pt x="454" y="2"/>
                  </a:lnTo>
                  <a:lnTo>
                    <a:pt x="354" y="0"/>
                  </a:lnTo>
                  <a:lnTo>
                    <a:pt x="275" y="0"/>
                  </a:lnTo>
                  <a:lnTo>
                    <a:pt x="164" y="1"/>
                  </a:lnTo>
                  <a:lnTo>
                    <a:pt x="62" y="8"/>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37">
              <a:extLst>
                <a:ext uri="{FF2B5EF4-FFF2-40B4-BE49-F238E27FC236}">
                  <a16:creationId xmlns:a16="http://schemas.microsoft.com/office/drawing/2014/main" id="{B2B2AF17-57C2-A81C-DA79-78AA8BED48F8}"/>
                </a:ext>
              </a:extLst>
            </p:cNvPr>
            <p:cNvSpPr>
              <a:spLocks/>
            </p:cNvSpPr>
            <p:nvPr/>
          </p:nvSpPr>
          <p:spPr bwMode="auto">
            <a:xfrm>
              <a:off x="1425575" y="3630613"/>
              <a:ext cx="206375" cy="58738"/>
            </a:xfrm>
            <a:custGeom>
              <a:avLst/>
              <a:gdLst>
                <a:gd name="T0" fmla="*/ 24 w 521"/>
                <a:gd name="T1" fmla="*/ 27 h 149"/>
                <a:gd name="T2" fmla="*/ 12 w 521"/>
                <a:gd name="T3" fmla="*/ 39 h 149"/>
                <a:gd name="T4" fmla="*/ 0 w 521"/>
                <a:gd name="T5" fmla="*/ 64 h 149"/>
                <a:gd name="T6" fmla="*/ 0 w 521"/>
                <a:gd name="T7" fmla="*/ 88 h 149"/>
                <a:gd name="T8" fmla="*/ 12 w 521"/>
                <a:gd name="T9" fmla="*/ 112 h 149"/>
                <a:gd name="T10" fmla="*/ 24 w 521"/>
                <a:gd name="T11" fmla="*/ 125 h 149"/>
                <a:gd name="T12" fmla="*/ 32 w 521"/>
                <a:gd name="T13" fmla="*/ 133 h 149"/>
                <a:gd name="T14" fmla="*/ 62 w 521"/>
                <a:gd name="T15" fmla="*/ 143 h 149"/>
                <a:gd name="T16" fmla="*/ 149 w 521"/>
                <a:gd name="T17" fmla="*/ 149 h 149"/>
                <a:gd name="T18" fmla="*/ 267 w 521"/>
                <a:gd name="T19" fmla="*/ 147 h 149"/>
                <a:gd name="T20" fmla="*/ 394 w 521"/>
                <a:gd name="T21" fmla="*/ 143 h 149"/>
                <a:gd name="T22" fmla="*/ 476 w 521"/>
                <a:gd name="T23" fmla="*/ 133 h 149"/>
                <a:gd name="T24" fmla="*/ 499 w 521"/>
                <a:gd name="T25" fmla="*/ 119 h 149"/>
                <a:gd name="T26" fmla="*/ 507 w 521"/>
                <a:gd name="T27" fmla="*/ 109 h 149"/>
                <a:gd name="T28" fmla="*/ 514 w 521"/>
                <a:gd name="T29" fmla="*/ 98 h 149"/>
                <a:gd name="T30" fmla="*/ 521 w 521"/>
                <a:gd name="T31" fmla="*/ 81 h 149"/>
                <a:gd name="T32" fmla="*/ 520 w 521"/>
                <a:gd name="T33" fmla="*/ 66 h 149"/>
                <a:gd name="T34" fmla="*/ 511 w 521"/>
                <a:gd name="T35" fmla="*/ 48 h 149"/>
                <a:gd name="T36" fmla="*/ 504 w 521"/>
                <a:gd name="T37" fmla="*/ 37 h 149"/>
                <a:gd name="T38" fmla="*/ 495 w 521"/>
                <a:gd name="T39" fmla="*/ 25 h 149"/>
                <a:gd name="T40" fmla="*/ 472 w 521"/>
                <a:gd name="T41" fmla="*/ 10 h 149"/>
                <a:gd name="T42" fmla="*/ 424 w 521"/>
                <a:gd name="T43" fmla="*/ 2 h 149"/>
                <a:gd name="T44" fmla="*/ 333 w 521"/>
                <a:gd name="T45" fmla="*/ 0 h 149"/>
                <a:gd name="T46" fmla="*/ 264 w 521"/>
                <a:gd name="T47" fmla="*/ 0 h 149"/>
                <a:gd name="T48" fmla="*/ 150 w 521"/>
                <a:gd name="T49" fmla="*/ 1 h 149"/>
                <a:gd name="T50" fmla="*/ 62 w 521"/>
                <a:gd name="T51" fmla="*/ 9 h 149"/>
                <a:gd name="T52" fmla="*/ 32 w 521"/>
                <a:gd name="T53" fmla="*/ 19 h 149"/>
                <a:gd name="T54" fmla="*/ 24 w 521"/>
                <a:gd name="T55" fmla="*/ 27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1" h="149">
                  <a:moveTo>
                    <a:pt x="24" y="27"/>
                  </a:moveTo>
                  <a:lnTo>
                    <a:pt x="12" y="39"/>
                  </a:lnTo>
                  <a:lnTo>
                    <a:pt x="0" y="64"/>
                  </a:lnTo>
                  <a:lnTo>
                    <a:pt x="0" y="88"/>
                  </a:lnTo>
                  <a:lnTo>
                    <a:pt x="12" y="112"/>
                  </a:lnTo>
                  <a:lnTo>
                    <a:pt x="24" y="125"/>
                  </a:lnTo>
                  <a:lnTo>
                    <a:pt x="32" y="133"/>
                  </a:lnTo>
                  <a:lnTo>
                    <a:pt x="62" y="143"/>
                  </a:lnTo>
                  <a:lnTo>
                    <a:pt x="149" y="149"/>
                  </a:lnTo>
                  <a:lnTo>
                    <a:pt x="267" y="147"/>
                  </a:lnTo>
                  <a:lnTo>
                    <a:pt x="394" y="143"/>
                  </a:lnTo>
                  <a:lnTo>
                    <a:pt x="476" y="133"/>
                  </a:lnTo>
                  <a:lnTo>
                    <a:pt x="499" y="119"/>
                  </a:lnTo>
                  <a:lnTo>
                    <a:pt x="507" y="109"/>
                  </a:lnTo>
                  <a:lnTo>
                    <a:pt x="514" y="98"/>
                  </a:lnTo>
                  <a:lnTo>
                    <a:pt x="521" y="81"/>
                  </a:lnTo>
                  <a:lnTo>
                    <a:pt x="520" y="66"/>
                  </a:lnTo>
                  <a:lnTo>
                    <a:pt x="511" y="48"/>
                  </a:lnTo>
                  <a:lnTo>
                    <a:pt x="504" y="37"/>
                  </a:lnTo>
                  <a:lnTo>
                    <a:pt x="495" y="25"/>
                  </a:lnTo>
                  <a:lnTo>
                    <a:pt x="472" y="10"/>
                  </a:lnTo>
                  <a:lnTo>
                    <a:pt x="424" y="2"/>
                  </a:lnTo>
                  <a:lnTo>
                    <a:pt x="333" y="0"/>
                  </a:lnTo>
                  <a:lnTo>
                    <a:pt x="264" y="0"/>
                  </a:lnTo>
                  <a:lnTo>
                    <a:pt x="150" y="1"/>
                  </a:lnTo>
                  <a:lnTo>
                    <a:pt x="62" y="9"/>
                  </a:lnTo>
                  <a:lnTo>
                    <a:pt x="32" y="1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38">
              <a:extLst>
                <a:ext uri="{FF2B5EF4-FFF2-40B4-BE49-F238E27FC236}">
                  <a16:creationId xmlns:a16="http://schemas.microsoft.com/office/drawing/2014/main" id="{C488412C-3FE4-8125-E20E-0112E14EE84A}"/>
                </a:ext>
              </a:extLst>
            </p:cNvPr>
            <p:cNvSpPr>
              <a:spLocks noEditPoints="1"/>
            </p:cNvSpPr>
            <p:nvPr/>
          </p:nvSpPr>
          <p:spPr bwMode="auto">
            <a:xfrm>
              <a:off x="1009650" y="3763963"/>
              <a:ext cx="401638" cy="319088"/>
            </a:xfrm>
            <a:custGeom>
              <a:avLst/>
              <a:gdLst>
                <a:gd name="T0" fmla="*/ 803 w 1015"/>
                <a:gd name="T1" fmla="*/ 98 h 806"/>
                <a:gd name="T2" fmla="*/ 97 w 1015"/>
                <a:gd name="T3" fmla="*/ 98 h 806"/>
                <a:gd name="T4" fmla="*/ 0 w 1015"/>
                <a:gd name="T5" fmla="*/ 194 h 806"/>
                <a:gd name="T6" fmla="*/ 0 w 1015"/>
                <a:gd name="T7" fmla="*/ 540 h 806"/>
                <a:gd name="T8" fmla="*/ 10 w 1015"/>
                <a:gd name="T9" fmla="*/ 710 h 806"/>
                <a:gd name="T10" fmla="*/ 40 w 1015"/>
                <a:gd name="T11" fmla="*/ 759 h 806"/>
                <a:gd name="T12" fmla="*/ 450 w 1015"/>
                <a:gd name="T13" fmla="*/ 806 h 806"/>
                <a:gd name="T14" fmla="*/ 860 w 1015"/>
                <a:gd name="T15" fmla="*/ 759 h 806"/>
                <a:gd name="T16" fmla="*/ 890 w 1015"/>
                <a:gd name="T17" fmla="*/ 710 h 806"/>
                <a:gd name="T18" fmla="*/ 900 w 1015"/>
                <a:gd name="T19" fmla="*/ 550 h 806"/>
                <a:gd name="T20" fmla="*/ 900 w 1015"/>
                <a:gd name="T21" fmla="*/ 226 h 806"/>
                <a:gd name="T22" fmla="*/ 981 w 1015"/>
                <a:gd name="T23" fmla="*/ 137 h 806"/>
                <a:gd name="T24" fmla="*/ 1015 w 1015"/>
                <a:gd name="T25" fmla="*/ 74 h 806"/>
                <a:gd name="T26" fmla="*/ 1001 w 1015"/>
                <a:gd name="T27" fmla="*/ 40 h 806"/>
                <a:gd name="T28" fmla="*/ 971 w 1015"/>
                <a:gd name="T29" fmla="*/ 13 h 806"/>
                <a:gd name="T30" fmla="*/ 919 w 1015"/>
                <a:gd name="T31" fmla="*/ 5 h 806"/>
                <a:gd name="T32" fmla="*/ 862 w 1015"/>
                <a:gd name="T33" fmla="*/ 48 h 806"/>
                <a:gd name="T34" fmla="*/ 458 w 1015"/>
                <a:gd name="T35" fmla="*/ 413 h 806"/>
                <a:gd name="T36" fmla="*/ 388 w 1015"/>
                <a:gd name="T37" fmla="*/ 345 h 806"/>
                <a:gd name="T38" fmla="*/ 343 w 1015"/>
                <a:gd name="T39" fmla="*/ 318 h 806"/>
                <a:gd name="T40" fmla="*/ 308 w 1015"/>
                <a:gd name="T41" fmla="*/ 328 h 806"/>
                <a:gd name="T42" fmla="*/ 281 w 1015"/>
                <a:gd name="T43" fmla="*/ 346 h 806"/>
                <a:gd name="T44" fmla="*/ 268 w 1015"/>
                <a:gd name="T45" fmla="*/ 380 h 806"/>
                <a:gd name="T46" fmla="*/ 281 w 1015"/>
                <a:gd name="T47" fmla="*/ 427 h 806"/>
                <a:gd name="T48" fmla="*/ 335 w 1015"/>
                <a:gd name="T49" fmla="*/ 509 h 806"/>
                <a:gd name="T50" fmla="*/ 408 w 1015"/>
                <a:gd name="T51" fmla="*/ 585 h 806"/>
                <a:gd name="T52" fmla="*/ 460 w 1015"/>
                <a:gd name="T53" fmla="*/ 594 h 806"/>
                <a:gd name="T54" fmla="*/ 542 w 1015"/>
                <a:gd name="T55" fmla="*/ 544 h 806"/>
                <a:gd name="T56" fmla="*/ 648 w 1015"/>
                <a:gd name="T57" fmla="*/ 445 h 806"/>
                <a:gd name="T58" fmla="*/ 726 w 1015"/>
                <a:gd name="T59" fmla="*/ 381 h 806"/>
                <a:gd name="T60" fmla="*/ 748 w 1015"/>
                <a:gd name="T61" fmla="*/ 399 h 806"/>
                <a:gd name="T62" fmla="*/ 750 w 1015"/>
                <a:gd name="T63" fmla="*/ 513 h 806"/>
                <a:gd name="T64" fmla="*/ 450 w 1015"/>
                <a:gd name="T65" fmla="*/ 664 h 806"/>
                <a:gd name="T66" fmla="*/ 150 w 1015"/>
                <a:gd name="T67" fmla="*/ 456 h 806"/>
                <a:gd name="T68" fmla="*/ 397 w 1015"/>
                <a:gd name="T69" fmla="*/ 248 h 806"/>
                <a:gd name="T70" fmla="*/ 550 w 1015"/>
                <a:gd name="T71" fmla="*/ 331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5" h="806">
                  <a:moveTo>
                    <a:pt x="862" y="48"/>
                  </a:moveTo>
                  <a:lnTo>
                    <a:pt x="803" y="98"/>
                  </a:lnTo>
                  <a:lnTo>
                    <a:pt x="450" y="98"/>
                  </a:lnTo>
                  <a:lnTo>
                    <a:pt x="97" y="98"/>
                  </a:lnTo>
                  <a:lnTo>
                    <a:pt x="48" y="146"/>
                  </a:lnTo>
                  <a:lnTo>
                    <a:pt x="0" y="194"/>
                  </a:lnTo>
                  <a:lnTo>
                    <a:pt x="0" y="454"/>
                  </a:lnTo>
                  <a:lnTo>
                    <a:pt x="0" y="540"/>
                  </a:lnTo>
                  <a:lnTo>
                    <a:pt x="2" y="650"/>
                  </a:lnTo>
                  <a:lnTo>
                    <a:pt x="10" y="710"/>
                  </a:lnTo>
                  <a:lnTo>
                    <a:pt x="27" y="744"/>
                  </a:lnTo>
                  <a:lnTo>
                    <a:pt x="40" y="759"/>
                  </a:lnTo>
                  <a:lnTo>
                    <a:pt x="80" y="806"/>
                  </a:lnTo>
                  <a:lnTo>
                    <a:pt x="450" y="806"/>
                  </a:lnTo>
                  <a:lnTo>
                    <a:pt x="820" y="806"/>
                  </a:lnTo>
                  <a:lnTo>
                    <a:pt x="860" y="759"/>
                  </a:lnTo>
                  <a:lnTo>
                    <a:pt x="873" y="744"/>
                  </a:lnTo>
                  <a:lnTo>
                    <a:pt x="890" y="710"/>
                  </a:lnTo>
                  <a:lnTo>
                    <a:pt x="898" y="654"/>
                  </a:lnTo>
                  <a:lnTo>
                    <a:pt x="900" y="550"/>
                  </a:lnTo>
                  <a:lnTo>
                    <a:pt x="900" y="469"/>
                  </a:lnTo>
                  <a:lnTo>
                    <a:pt x="900" y="226"/>
                  </a:lnTo>
                  <a:lnTo>
                    <a:pt x="958" y="163"/>
                  </a:lnTo>
                  <a:lnTo>
                    <a:pt x="981" y="137"/>
                  </a:lnTo>
                  <a:lnTo>
                    <a:pt x="1009" y="97"/>
                  </a:lnTo>
                  <a:lnTo>
                    <a:pt x="1015" y="74"/>
                  </a:lnTo>
                  <a:lnTo>
                    <a:pt x="1013" y="60"/>
                  </a:lnTo>
                  <a:lnTo>
                    <a:pt x="1001" y="40"/>
                  </a:lnTo>
                  <a:lnTo>
                    <a:pt x="987" y="26"/>
                  </a:lnTo>
                  <a:lnTo>
                    <a:pt x="971" y="13"/>
                  </a:lnTo>
                  <a:lnTo>
                    <a:pt x="945" y="0"/>
                  </a:lnTo>
                  <a:lnTo>
                    <a:pt x="919" y="5"/>
                  </a:lnTo>
                  <a:lnTo>
                    <a:pt x="885" y="28"/>
                  </a:lnTo>
                  <a:lnTo>
                    <a:pt x="862" y="48"/>
                  </a:lnTo>
                  <a:close/>
                  <a:moveTo>
                    <a:pt x="550" y="331"/>
                  </a:moveTo>
                  <a:lnTo>
                    <a:pt x="458" y="413"/>
                  </a:lnTo>
                  <a:lnTo>
                    <a:pt x="405" y="361"/>
                  </a:lnTo>
                  <a:lnTo>
                    <a:pt x="388" y="345"/>
                  </a:lnTo>
                  <a:lnTo>
                    <a:pt x="363" y="325"/>
                  </a:lnTo>
                  <a:lnTo>
                    <a:pt x="343" y="318"/>
                  </a:lnTo>
                  <a:lnTo>
                    <a:pt x="322" y="322"/>
                  </a:lnTo>
                  <a:lnTo>
                    <a:pt x="308" y="328"/>
                  </a:lnTo>
                  <a:lnTo>
                    <a:pt x="298" y="333"/>
                  </a:lnTo>
                  <a:lnTo>
                    <a:pt x="281" y="346"/>
                  </a:lnTo>
                  <a:lnTo>
                    <a:pt x="272" y="361"/>
                  </a:lnTo>
                  <a:lnTo>
                    <a:pt x="268" y="380"/>
                  </a:lnTo>
                  <a:lnTo>
                    <a:pt x="271" y="402"/>
                  </a:lnTo>
                  <a:lnTo>
                    <a:pt x="281" y="427"/>
                  </a:lnTo>
                  <a:lnTo>
                    <a:pt x="307" y="472"/>
                  </a:lnTo>
                  <a:lnTo>
                    <a:pt x="335" y="509"/>
                  </a:lnTo>
                  <a:lnTo>
                    <a:pt x="367" y="549"/>
                  </a:lnTo>
                  <a:lnTo>
                    <a:pt x="408" y="585"/>
                  </a:lnTo>
                  <a:lnTo>
                    <a:pt x="434" y="595"/>
                  </a:lnTo>
                  <a:lnTo>
                    <a:pt x="460" y="594"/>
                  </a:lnTo>
                  <a:lnTo>
                    <a:pt x="489" y="582"/>
                  </a:lnTo>
                  <a:lnTo>
                    <a:pt x="542" y="544"/>
                  </a:lnTo>
                  <a:lnTo>
                    <a:pt x="588" y="501"/>
                  </a:lnTo>
                  <a:lnTo>
                    <a:pt x="648" y="445"/>
                  </a:lnTo>
                  <a:lnTo>
                    <a:pt x="703" y="395"/>
                  </a:lnTo>
                  <a:lnTo>
                    <a:pt x="726" y="381"/>
                  </a:lnTo>
                  <a:lnTo>
                    <a:pt x="741" y="382"/>
                  </a:lnTo>
                  <a:lnTo>
                    <a:pt x="748" y="399"/>
                  </a:lnTo>
                  <a:lnTo>
                    <a:pt x="750" y="453"/>
                  </a:lnTo>
                  <a:lnTo>
                    <a:pt x="750" y="513"/>
                  </a:lnTo>
                  <a:lnTo>
                    <a:pt x="750" y="664"/>
                  </a:lnTo>
                  <a:lnTo>
                    <a:pt x="450" y="664"/>
                  </a:lnTo>
                  <a:lnTo>
                    <a:pt x="150" y="664"/>
                  </a:lnTo>
                  <a:lnTo>
                    <a:pt x="150" y="456"/>
                  </a:lnTo>
                  <a:lnTo>
                    <a:pt x="150" y="248"/>
                  </a:lnTo>
                  <a:lnTo>
                    <a:pt x="397" y="248"/>
                  </a:lnTo>
                  <a:lnTo>
                    <a:pt x="642" y="249"/>
                  </a:lnTo>
                  <a:lnTo>
                    <a:pt x="550"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39">
              <a:extLst>
                <a:ext uri="{FF2B5EF4-FFF2-40B4-BE49-F238E27FC236}">
                  <a16:creationId xmlns:a16="http://schemas.microsoft.com/office/drawing/2014/main" id="{9520FC73-C751-1894-46CB-C2948548A779}"/>
                </a:ext>
              </a:extLst>
            </p:cNvPr>
            <p:cNvSpPr>
              <a:spLocks/>
            </p:cNvSpPr>
            <p:nvPr/>
          </p:nvSpPr>
          <p:spPr bwMode="auto">
            <a:xfrm>
              <a:off x="639763" y="3856038"/>
              <a:ext cx="309563" cy="58738"/>
            </a:xfrm>
            <a:custGeom>
              <a:avLst/>
              <a:gdLst>
                <a:gd name="T0" fmla="*/ 20 w 782"/>
                <a:gd name="T1" fmla="*/ 20 h 150"/>
                <a:gd name="T2" fmla="*/ 10 w 782"/>
                <a:gd name="T3" fmla="*/ 32 h 150"/>
                <a:gd name="T4" fmla="*/ 0 w 782"/>
                <a:gd name="T5" fmla="*/ 64 h 150"/>
                <a:gd name="T6" fmla="*/ 4 w 782"/>
                <a:gd name="T7" fmla="*/ 97 h 150"/>
                <a:gd name="T8" fmla="*/ 19 w 782"/>
                <a:gd name="T9" fmla="*/ 124 h 150"/>
                <a:gd name="T10" fmla="*/ 31 w 782"/>
                <a:gd name="T11" fmla="*/ 133 h 150"/>
                <a:gd name="T12" fmla="*/ 43 w 782"/>
                <a:gd name="T13" fmla="*/ 137 h 150"/>
                <a:gd name="T14" fmla="*/ 102 w 782"/>
                <a:gd name="T15" fmla="*/ 143 h 150"/>
                <a:gd name="T16" fmla="*/ 256 w 782"/>
                <a:gd name="T17" fmla="*/ 149 h 150"/>
                <a:gd name="T18" fmla="*/ 398 w 782"/>
                <a:gd name="T19" fmla="*/ 150 h 150"/>
                <a:gd name="T20" fmla="*/ 580 w 782"/>
                <a:gd name="T21" fmla="*/ 150 h 150"/>
                <a:gd name="T22" fmla="*/ 709 w 782"/>
                <a:gd name="T23" fmla="*/ 142 h 150"/>
                <a:gd name="T24" fmla="*/ 747 w 782"/>
                <a:gd name="T25" fmla="*/ 131 h 150"/>
                <a:gd name="T26" fmla="*/ 756 w 782"/>
                <a:gd name="T27" fmla="*/ 123 h 150"/>
                <a:gd name="T28" fmla="*/ 767 w 782"/>
                <a:gd name="T29" fmla="*/ 112 h 150"/>
                <a:gd name="T30" fmla="*/ 780 w 782"/>
                <a:gd name="T31" fmla="*/ 85 h 150"/>
                <a:gd name="T32" fmla="*/ 782 w 782"/>
                <a:gd name="T33" fmla="*/ 57 h 150"/>
                <a:gd name="T34" fmla="*/ 773 w 782"/>
                <a:gd name="T35" fmla="*/ 31 h 150"/>
                <a:gd name="T36" fmla="*/ 763 w 782"/>
                <a:gd name="T37" fmla="*/ 20 h 150"/>
                <a:gd name="T38" fmla="*/ 753 w 782"/>
                <a:gd name="T39" fmla="*/ 15 h 150"/>
                <a:gd name="T40" fmla="*/ 688 w 782"/>
                <a:gd name="T41" fmla="*/ 7 h 150"/>
                <a:gd name="T42" fmla="*/ 525 w 782"/>
                <a:gd name="T43" fmla="*/ 0 h 150"/>
                <a:gd name="T44" fmla="*/ 257 w 782"/>
                <a:gd name="T45" fmla="*/ 0 h 150"/>
                <a:gd name="T46" fmla="*/ 95 w 782"/>
                <a:gd name="T47" fmla="*/ 7 h 150"/>
                <a:gd name="T48" fmla="*/ 30 w 782"/>
                <a:gd name="T49" fmla="*/ 15 h 150"/>
                <a:gd name="T50" fmla="*/ 20 w 782"/>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0">
                  <a:moveTo>
                    <a:pt x="20" y="20"/>
                  </a:moveTo>
                  <a:lnTo>
                    <a:pt x="10" y="32"/>
                  </a:lnTo>
                  <a:lnTo>
                    <a:pt x="0" y="64"/>
                  </a:lnTo>
                  <a:lnTo>
                    <a:pt x="4" y="97"/>
                  </a:lnTo>
                  <a:lnTo>
                    <a:pt x="19" y="124"/>
                  </a:lnTo>
                  <a:lnTo>
                    <a:pt x="31" y="133"/>
                  </a:lnTo>
                  <a:lnTo>
                    <a:pt x="43" y="137"/>
                  </a:lnTo>
                  <a:lnTo>
                    <a:pt x="102" y="143"/>
                  </a:lnTo>
                  <a:lnTo>
                    <a:pt x="256" y="149"/>
                  </a:lnTo>
                  <a:lnTo>
                    <a:pt x="398" y="150"/>
                  </a:lnTo>
                  <a:lnTo>
                    <a:pt x="580" y="150"/>
                  </a:lnTo>
                  <a:lnTo>
                    <a:pt x="709" y="142"/>
                  </a:lnTo>
                  <a:lnTo>
                    <a:pt x="747" y="131"/>
                  </a:lnTo>
                  <a:lnTo>
                    <a:pt x="756" y="123"/>
                  </a:lnTo>
                  <a:lnTo>
                    <a:pt x="767" y="112"/>
                  </a:lnTo>
                  <a:lnTo>
                    <a:pt x="780" y="85"/>
                  </a:lnTo>
                  <a:lnTo>
                    <a:pt x="782" y="57"/>
                  </a:lnTo>
                  <a:lnTo>
                    <a:pt x="773" y="31"/>
                  </a:lnTo>
                  <a:lnTo>
                    <a:pt x="763" y="20"/>
                  </a:lnTo>
                  <a:lnTo>
                    <a:pt x="753" y="15"/>
                  </a:lnTo>
                  <a:lnTo>
                    <a:pt x="688" y="7"/>
                  </a:lnTo>
                  <a:lnTo>
                    <a:pt x="525" y="0"/>
                  </a:lnTo>
                  <a:lnTo>
                    <a:pt x="257" y="0"/>
                  </a:lnTo>
                  <a:lnTo>
                    <a:pt x="95" y="7"/>
                  </a:lnTo>
                  <a:lnTo>
                    <a:pt x="30"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40">
              <a:extLst>
                <a:ext uri="{FF2B5EF4-FFF2-40B4-BE49-F238E27FC236}">
                  <a16:creationId xmlns:a16="http://schemas.microsoft.com/office/drawing/2014/main" id="{FBD9690F-B1AD-D44C-3E59-B036C57445FF}"/>
                </a:ext>
              </a:extLst>
            </p:cNvPr>
            <p:cNvSpPr>
              <a:spLocks/>
            </p:cNvSpPr>
            <p:nvPr/>
          </p:nvSpPr>
          <p:spPr bwMode="auto">
            <a:xfrm>
              <a:off x="1425575" y="3856038"/>
              <a:ext cx="309563" cy="58738"/>
            </a:xfrm>
            <a:custGeom>
              <a:avLst/>
              <a:gdLst>
                <a:gd name="T0" fmla="*/ 19 w 782"/>
                <a:gd name="T1" fmla="*/ 20 h 150"/>
                <a:gd name="T2" fmla="*/ 9 w 782"/>
                <a:gd name="T3" fmla="*/ 31 h 150"/>
                <a:gd name="T4" fmla="*/ 0 w 782"/>
                <a:gd name="T5" fmla="*/ 57 h 150"/>
                <a:gd name="T6" fmla="*/ 2 w 782"/>
                <a:gd name="T7" fmla="*/ 85 h 150"/>
                <a:gd name="T8" fmla="*/ 15 w 782"/>
                <a:gd name="T9" fmla="*/ 112 h 150"/>
                <a:gd name="T10" fmla="*/ 26 w 782"/>
                <a:gd name="T11" fmla="*/ 123 h 150"/>
                <a:gd name="T12" fmla="*/ 35 w 782"/>
                <a:gd name="T13" fmla="*/ 131 h 150"/>
                <a:gd name="T14" fmla="*/ 74 w 782"/>
                <a:gd name="T15" fmla="*/ 142 h 150"/>
                <a:gd name="T16" fmla="*/ 208 w 782"/>
                <a:gd name="T17" fmla="*/ 150 h 150"/>
                <a:gd name="T18" fmla="*/ 397 w 782"/>
                <a:gd name="T19" fmla="*/ 150 h 150"/>
                <a:gd name="T20" fmla="*/ 522 w 782"/>
                <a:gd name="T21" fmla="*/ 150 h 150"/>
                <a:gd name="T22" fmla="*/ 682 w 782"/>
                <a:gd name="T23" fmla="*/ 145 h 150"/>
                <a:gd name="T24" fmla="*/ 743 w 782"/>
                <a:gd name="T25" fmla="*/ 135 h 150"/>
                <a:gd name="T26" fmla="*/ 766 w 782"/>
                <a:gd name="T27" fmla="*/ 124 h 150"/>
                <a:gd name="T28" fmla="*/ 778 w 782"/>
                <a:gd name="T29" fmla="*/ 108 h 150"/>
                <a:gd name="T30" fmla="*/ 782 w 782"/>
                <a:gd name="T31" fmla="*/ 88 h 150"/>
                <a:gd name="T32" fmla="*/ 782 w 782"/>
                <a:gd name="T33" fmla="*/ 75 h 150"/>
                <a:gd name="T34" fmla="*/ 782 w 782"/>
                <a:gd name="T35" fmla="*/ 62 h 150"/>
                <a:gd name="T36" fmla="*/ 778 w 782"/>
                <a:gd name="T37" fmla="*/ 42 h 150"/>
                <a:gd name="T38" fmla="*/ 766 w 782"/>
                <a:gd name="T39" fmla="*/ 26 h 150"/>
                <a:gd name="T40" fmla="*/ 743 w 782"/>
                <a:gd name="T41" fmla="*/ 15 h 150"/>
                <a:gd name="T42" fmla="*/ 680 w 782"/>
                <a:gd name="T43" fmla="*/ 5 h 150"/>
                <a:gd name="T44" fmla="*/ 518 w 782"/>
                <a:gd name="T45" fmla="*/ 0 h 150"/>
                <a:gd name="T46" fmla="*/ 391 w 782"/>
                <a:gd name="T47" fmla="*/ 0 h 150"/>
                <a:gd name="T48" fmla="*/ 220 w 782"/>
                <a:gd name="T49" fmla="*/ 1 h 150"/>
                <a:gd name="T50" fmla="*/ 75 w 782"/>
                <a:gd name="T51" fmla="*/ 7 h 150"/>
                <a:gd name="T52" fmla="*/ 27 w 782"/>
                <a:gd name="T53" fmla="*/ 15 h 150"/>
                <a:gd name="T54" fmla="*/ 19 w 782"/>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2" h="150">
                  <a:moveTo>
                    <a:pt x="19" y="20"/>
                  </a:moveTo>
                  <a:lnTo>
                    <a:pt x="9" y="31"/>
                  </a:lnTo>
                  <a:lnTo>
                    <a:pt x="0" y="57"/>
                  </a:lnTo>
                  <a:lnTo>
                    <a:pt x="2" y="85"/>
                  </a:lnTo>
                  <a:lnTo>
                    <a:pt x="15" y="112"/>
                  </a:lnTo>
                  <a:lnTo>
                    <a:pt x="26" y="123"/>
                  </a:lnTo>
                  <a:lnTo>
                    <a:pt x="35" y="131"/>
                  </a:lnTo>
                  <a:lnTo>
                    <a:pt x="74" y="142"/>
                  </a:lnTo>
                  <a:lnTo>
                    <a:pt x="208" y="150"/>
                  </a:lnTo>
                  <a:lnTo>
                    <a:pt x="397" y="150"/>
                  </a:lnTo>
                  <a:lnTo>
                    <a:pt x="522" y="150"/>
                  </a:lnTo>
                  <a:lnTo>
                    <a:pt x="682" y="145"/>
                  </a:lnTo>
                  <a:lnTo>
                    <a:pt x="743" y="135"/>
                  </a:lnTo>
                  <a:lnTo>
                    <a:pt x="766" y="124"/>
                  </a:lnTo>
                  <a:lnTo>
                    <a:pt x="778" y="108"/>
                  </a:lnTo>
                  <a:lnTo>
                    <a:pt x="782" y="88"/>
                  </a:lnTo>
                  <a:lnTo>
                    <a:pt x="782" y="75"/>
                  </a:lnTo>
                  <a:lnTo>
                    <a:pt x="782" y="62"/>
                  </a:lnTo>
                  <a:lnTo>
                    <a:pt x="778" y="42"/>
                  </a:lnTo>
                  <a:lnTo>
                    <a:pt x="766" y="26"/>
                  </a:lnTo>
                  <a:lnTo>
                    <a:pt x="743" y="15"/>
                  </a:lnTo>
                  <a:lnTo>
                    <a:pt x="680" y="5"/>
                  </a:lnTo>
                  <a:lnTo>
                    <a:pt x="518" y="0"/>
                  </a:lnTo>
                  <a:lnTo>
                    <a:pt x="391" y="0"/>
                  </a:lnTo>
                  <a:lnTo>
                    <a:pt x="220" y="1"/>
                  </a:lnTo>
                  <a:lnTo>
                    <a:pt x="75" y="7"/>
                  </a:lnTo>
                  <a:lnTo>
                    <a:pt x="27"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41">
              <a:extLst>
                <a:ext uri="{FF2B5EF4-FFF2-40B4-BE49-F238E27FC236}">
                  <a16:creationId xmlns:a16="http://schemas.microsoft.com/office/drawing/2014/main" id="{1FA0F8FB-69D7-016D-E3C8-54A73307065C}"/>
                </a:ext>
              </a:extLst>
            </p:cNvPr>
            <p:cNvSpPr>
              <a:spLocks/>
            </p:cNvSpPr>
            <p:nvPr/>
          </p:nvSpPr>
          <p:spPr bwMode="auto">
            <a:xfrm>
              <a:off x="639763" y="3973513"/>
              <a:ext cx="220663" cy="58738"/>
            </a:xfrm>
            <a:custGeom>
              <a:avLst/>
              <a:gdLst>
                <a:gd name="T0" fmla="*/ 20 w 557"/>
                <a:gd name="T1" fmla="*/ 20 h 147"/>
                <a:gd name="T2" fmla="*/ 9 w 557"/>
                <a:gd name="T3" fmla="*/ 33 h 147"/>
                <a:gd name="T4" fmla="*/ 0 w 557"/>
                <a:gd name="T5" fmla="*/ 64 h 147"/>
                <a:gd name="T6" fmla="*/ 4 w 557"/>
                <a:gd name="T7" fmla="*/ 97 h 147"/>
                <a:gd name="T8" fmla="*/ 20 w 557"/>
                <a:gd name="T9" fmla="*/ 125 h 147"/>
                <a:gd name="T10" fmla="*/ 33 w 557"/>
                <a:gd name="T11" fmla="*/ 133 h 147"/>
                <a:gd name="T12" fmla="*/ 43 w 557"/>
                <a:gd name="T13" fmla="*/ 137 h 147"/>
                <a:gd name="T14" fmla="*/ 87 w 557"/>
                <a:gd name="T15" fmla="*/ 142 h 147"/>
                <a:gd name="T16" fmla="*/ 194 w 557"/>
                <a:gd name="T17" fmla="*/ 147 h 147"/>
                <a:gd name="T18" fmla="*/ 293 w 557"/>
                <a:gd name="T19" fmla="*/ 147 h 147"/>
                <a:gd name="T20" fmla="*/ 426 w 557"/>
                <a:gd name="T21" fmla="*/ 143 h 147"/>
                <a:gd name="T22" fmla="*/ 511 w 557"/>
                <a:gd name="T23" fmla="*/ 133 h 147"/>
                <a:gd name="T24" fmla="*/ 535 w 557"/>
                <a:gd name="T25" fmla="*/ 119 h 147"/>
                <a:gd name="T26" fmla="*/ 543 w 557"/>
                <a:gd name="T27" fmla="*/ 108 h 147"/>
                <a:gd name="T28" fmla="*/ 550 w 557"/>
                <a:gd name="T29" fmla="*/ 98 h 147"/>
                <a:gd name="T30" fmla="*/ 557 w 557"/>
                <a:gd name="T31" fmla="*/ 81 h 147"/>
                <a:gd name="T32" fmla="*/ 556 w 557"/>
                <a:gd name="T33" fmla="*/ 65 h 147"/>
                <a:gd name="T34" fmla="*/ 547 w 557"/>
                <a:gd name="T35" fmla="*/ 48 h 147"/>
                <a:gd name="T36" fmla="*/ 540 w 557"/>
                <a:gd name="T37" fmla="*/ 37 h 147"/>
                <a:gd name="T38" fmla="*/ 531 w 557"/>
                <a:gd name="T39" fmla="*/ 25 h 147"/>
                <a:gd name="T40" fmla="*/ 507 w 557"/>
                <a:gd name="T41" fmla="*/ 9 h 147"/>
                <a:gd name="T42" fmla="*/ 455 w 557"/>
                <a:gd name="T43" fmla="*/ 2 h 147"/>
                <a:gd name="T44" fmla="*/ 355 w 557"/>
                <a:gd name="T45" fmla="*/ 0 h 147"/>
                <a:gd name="T46" fmla="*/ 276 w 557"/>
                <a:gd name="T47" fmla="*/ 0 h 147"/>
                <a:gd name="T48" fmla="*/ 165 w 557"/>
                <a:gd name="T49" fmla="*/ 1 h 147"/>
                <a:gd name="T50" fmla="*/ 63 w 557"/>
                <a:gd name="T51" fmla="*/ 8 h 147"/>
                <a:gd name="T52" fmla="*/ 27 w 557"/>
                <a:gd name="T53" fmla="*/ 15 h 147"/>
                <a:gd name="T54" fmla="*/ 20 w 557"/>
                <a:gd name="T55"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7" h="147">
                  <a:moveTo>
                    <a:pt x="20" y="20"/>
                  </a:moveTo>
                  <a:lnTo>
                    <a:pt x="9" y="33"/>
                  </a:lnTo>
                  <a:lnTo>
                    <a:pt x="0" y="64"/>
                  </a:lnTo>
                  <a:lnTo>
                    <a:pt x="4" y="97"/>
                  </a:lnTo>
                  <a:lnTo>
                    <a:pt x="20" y="125"/>
                  </a:lnTo>
                  <a:lnTo>
                    <a:pt x="33" y="133"/>
                  </a:lnTo>
                  <a:lnTo>
                    <a:pt x="43" y="137"/>
                  </a:lnTo>
                  <a:lnTo>
                    <a:pt x="87" y="142"/>
                  </a:lnTo>
                  <a:lnTo>
                    <a:pt x="194" y="147"/>
                  </a:lnTo>
                  <a:lnTo>
                    <a:pt x="293" y="147"/>
                  </a:lnTo>
                  <a:lnTo>
                    <a:pt x="426" y="143"/>
                  </a:lnTo>
                  <a:lnTo>
                    <a:pt x="511" y="133"/>
                  </a:lnTo>
                  <a:lnTo>
                    <a:pt x="535" y="119"/>
                  </a:lnTo>
                  <a:lnTo>
                    <a:pt x="543" y="108"/>
                  </a:lnTo>
                  <a:lnTo>
                    <a:pt x="550" y="98"/>
                  </a:lnTo>
                  <a:lnTo>
                    <a:pt x="557" y="81"/>
                  </a:lnTo>
                  <a:lnTo>
                    <a:pt x="556" y="65"/>
                  </a:lnTo>
                  <a:lnTo>
                    <a:pt x="547" y="48"/>
                  </a:lnTo>
                  <a:lnTo>
                    <a:pt x="540" y="37"/>
                  </a:lnTo>
                  <a:lnTo>
                    <a:pt x="531" y="25"/>
                  </a:lnTo>
                  <a:lnTo>
                    <a:pt x="507" y="9"/>
                  </a:lnTo>
                  <a:lnTo>
                    <a:pt x="455" y="2"/>
                  </a:lnTo>
                  <a:lnTo>
                    <a:pt x="355" y="0"/>
                  </a:lnTo>
                  <a:lnTo>
                    <a:pt x="276" y="0"/>
                  </a:lnTo>
                  <a:lnTo>
                    <a:pt x="165" y="1"/>
                  </a:lnTo>
                  <a:lnTo>
                    <a:pt x="63" y="8"/>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42">
              <a:extLst>
                <a:ext uri="{FF2B5EF4-FFF2-40B4-BE49-F238E27FC236}">
                  <a16:creationId xmlns:a16="http://schemas.microsoft.com/office/drawing/2014/main" id="{656AC7C5-C1B2-32C2-10FD-669798E1186D}"/>
                </a:ext>
              </a:extLst>
            </p:cNvPr>
            <p:cNvSpPr>
              <a:spLocks/>
            </p:cNvSpPr>
            <p:nvPr/>
          </p:nvSpPr>
          <p:spPr bwMode="auto">
            <a:xfrm>
              <a:off x="1425575" y="3973513"/>
              <a:ext cx="206375" cy="60325"/>
            </a:xfrm>
            <a:custGeom>
              <a:avLst/>
              <a:gdLst>
                <a:gd name="T0" fmla="*/ 19 w 521"/>
                <a:gd name="T1" fmla="*/ 20 h 150"/>
                <a:gd name="T2" fmla="*/ 9 w 521"/>
                <a:gd name="T3" fmla="*/ 31 h 150"/>
                <a:gd name="T4" fmla="*/ 0 w 521"/>
                <a:gd name="T5" fmla="*/ 57 h 150"/>
                <a:gd name="T6" fmla="*/ 2 w 521"/>
                <a:gd name="T7" fmla="*/ 85 h 150"/>
                <a:gd name="T8" fmla="*/ 15 w 521"/>
                <a:gd name="T9" fmla="*/ 112 h 150"/>
                <a:gd name="T10" fmla="*/ 26 w 521"/>
                <a:gd name="T11" fmla="*/ 123 h 150"/>
                <a:gd name="T12" fmla="*/ 34 w 521"/>
                <a:gd name="T13" fmla="*/ 131 h 150"/>
                <a:gd name="T14" fmla="*/ 64 w 521"/>
                <a:gd name="T15" fmla="*/ 141 h 150"/>
                <a:gd name="T16" fmla="*/ 152 w 521"/>
                <a:gd name="T17" fmla="*/ 149 h 150"/>
                <a:gd name="T18" fmla="*/ 266 w 521"/>
                <a:gd name="T19" fmla="*/ 150 h 150"/>
                <a:gd name="T20" fmla="*/ 335 w 521"/>
                <a:gd name="T21" fmla="*/ 150 h 150"/>
                <a:gd name="T22" fmla="*/ 425 w 521"/>
                <a:gd name="T23" fmla="*/ 148 h 150"/>
                <a:gd name="T24" fmla="*/ 473 w 521"/>
                <a:gd name="T25" fmla="*/ 141 h 150"/>
                <a:gd name="T26" fmla="*/ 497 w 521"/>
                <a:gd name="T27" fmla="*/ 127 h 150"/>
                <a:gd name="T28" fmla="*/ 506 w 521"/>
                <a:gd name="T29" fmla="*/ 115 h 150"/>
                <a:gd name="T30" fmla="*/ 514 w 521"/>
                <a:gd name="T31" fmla="*/ 101 h 150"/>
                <a:gd name="T32" fmla="*/ 521 w 521"/>
                <a:gd name="T33" fmla="*/ 72 h 150"/>
                <a:gd name="T34" fmla="*/ 517 w 521"/>
                <a:gd name="T35" fmla="*/ 45 h 150"/>
                <a:gd name="T36" fmla="*/ 503 w 521"/>
                <a:gd name="T37" fmla="*/ 22 h 150"/>
                <a:gd name="T38" fmla="*/ 492 w 521"/>
                <a:gd name="T39" fmla="*/ 13 h 150"/>
                <a:gd name="T40" fmla="*/ 483 w 521"/>
                <a:gd name="T41" fmla="*/ 9 h 150"/>
                <a:gd name="T42" fmla="*/ 440 w 521"/>
                <a:gd name="T43" fmla="*/ 4 h 150"/>
                <a:gd name="T44" fmla="*/ 336 w 521"/>
                <a:gd name="T45" fmla="*/ 0 h 150"/>
                <a:gd name="T46" fmla="*/ 168 w 521"/>
                <a:gd name="T47" fmla="*/ 2 h 150"/>
                <a:gd name="T48" fmla="*/ 67 w 521"/>
                <a:gd name="T49" fmla="*/ 9 h 150"/>
                <a:gd name="T50" fmla="*/ 26 w 521"/>
                <a:gd name="T51" fmla="*/ 16 h 150"/>
                <a:gd name="T52" fmla="*/ 19 w 521"/>
                <a:gd name="T53"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1" h="150">
                  <a:moveTo>
                    <a:pt x="19" y="20"/>
                  </a:moveTo>
                  <a:lnTo>
                    <a:pt x="9" y="31"/>
                  </a:lnTo>
                  <a:lnTo>
                    <a:pt x="0" y="57"/>
                  </a:lnTo>
                  <a:lnTo>
                    <a:pt x="2" y="85"/>
                  </a:lnTo>
                  <a:lnTo>
                    <a:pt x="15" y="112"/>
                  </a:lnTo>
                  <a:lnTo>
                    <a:pt x="26" y="123"/>
                  </a:lnTo>
                  <a:lnTo>
                    <a:pt x="34" y="131"/>
                  </a:lnTo>
                  <a:lnTo>
                    <a:pt x="64" y="141"/>
                  </a:lnTo>
                  <a:lnTo>
                    <a:pt x="152" y="149"/>
                  </a:lnTo>
                  <a:lnTo>
                    <a:pt x="266" y="150"/>
                  </a:lnTo>
                  <a:lnTo>
                    <a:pt x="335" y="150"/>
                  </a:lnTo>
                  <a:lnTo>
                    <a:pt x="425" y="148"/>
                  </a:lnTo>
                  <a:lnTo>
                    <a:pt x="473" y="141"/>
                  </a:lnTo>
                  <a:lnTo>
                    <a:pt x="497" y="127"/>
                  </a:lnTo>
                  <a:lnTo>
                    <a:pt x="506" y="115"/>
                  </a:lnTo>
                  <a:lnTo>
                    <a:pt x="514" y="101"/>
                  </a:lnTo>
                  <a:lnTo>
                    <a:pt x="521" y="72"/>
                  </a:lnTo>
                  <a:lnTo>
                    <a:pt x="517" y="45"/>
                  </a:lnTo>
                  <a:lnTo>
                    <a:pt x="503" y="22"/>
                  </a:lnTo>
                  <a:lnTo>
                    <a:pt x="492" y="13"/>
                  </a:lnTo>
                  <a:lnTo>
                    <a:pt x="483" y="9"/>
                  </a:lnTo>
                  <a:lnTo>
                    <a:pt x="440" y="4"/>
                  </a:lnTo>
                  <a:lnTo>
                    <a:pt x="336" y="0"/>
                  </a:lnTo>
                  <a:lnTo>
                    <a:pt x="168" y="2"/>
                  </a:lnTo>
                  <a:lnTo>
                    <a:pt x="67" y="9"/>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43">
              <a:extLst>
                <a:ext uri="{FF2B5EF4-FFF2-40B4-BE49-F238E27FC236}">
                  <a16:creationId xmlns:a16="http://schemas.microsoft.com/office/drawing/2014/main" id="{DD89DF70-DED1-F237-3F7C-458E5C960B07}"/>
                </a:ext>
              </a:extLst>
            </p:cNvPr>
            <p:cNvSpPr>
              <a:spLocks noEditPoints="1"/>
            </p:cNvSpPr>
            <p:nvPr/>
          </p:nvSpPr>
          <p:spPr bwMode="auto">
            <a:xfrm>
              <a:off x="1009650" y="4144963"/>
              <a:ext cx="355600" cy="284163"/>
            </a:xfrm>
            <a:custGeom>
              <a:avLst/>
              <a:gdLst>
                <a:gd name="T0" fmla="*/ 48 w 899"/>
                <a:gd name="T1" fmla="*/ 49 h 717"/>
                <a:gd name="T2" fmla="*/ 0 w 899"/>
                <a:gd name="T3" fmla="*/ 97 h 717"/>
                <a:gd name="T4" fmla="*/ 0 w 899"/>
                <a:gd name="T5" fmla="*/ 342 h 717"/>
                <a:gd name="T6" fmla="*/ 0 w 899"/>
                <a:gd name="T7" fmla="*/ 438 h 717"/>
                <a:gd name="T8" fmla="*/ 6 w 899"/>
                <a:gd name="T9" fmla="*/ 541 h 717"/>
                <a:gd name="T10" fmla="*/ 13 w 899"/>
                <a:gd name="T11" fmla="*/ 592 h 717"/>
                <a:gd name="T12" fmla="*/ 24 w 899"/>
                <a:gd name="T13" fmla="*/ 630 h 717"/>
                <a:gd name="T14" fmla="*/ 39 w 899"/>
                <a:gd name="T15" fmla="*/ 658 h 717"/>
                <a:gd name="T16" fmla="*/ 60 w 899"/>
                <a:gd name="T17" fmla="*/ 678 h 717"/>
                <a:gd name="T18" fmla="*/ 86 w 899"/>
                <a:gd name="T19" fmla="*/ 693 h 717"/>
                <a:gd name="T20" fmla="*/ 102 w 899"/>
                <a:gd name="T21" fmla="*/ 699 h 717"/>
                <a:gd name="T22" fmla="*/ 117 w 899"/>
                <a:gd name="T23" fmla="*/ 702 h 717"/>
                <a:gd name="T24" fmla="*/ 179 w 899"/>
                <a:gd name="T25" fmla="*/ 709 h 717"/>
                <a:gd name="T26" fmla="*/ 326 w 899"/>
                <a:gd name="T27" fmla="*/ 716 h 717"/>
                <a:gd name="T28" fmla="*/ 453 w 899"/>
                <a:gd name="T29" fmla="*/ 717 h 717"/>
                <a:gd name="T30" fmla="*/ 565 w 899"/>
                <a:gd name="T31" fmla="*/ 717 h 717"/>
                <a:gd name="T32" fmla="*/ 721 w 899"/>
                <a:gd name="T33" fmla="*/ 709 h 717"/>
                <a:gd name="T34" fmla="*/ 796 w 899"/>
                <a:gd name="T35" fmla="*/ 697 h 717"/>
                <a:gd name="T36" fmla="*/ 831 w 899"/>
                <a:gd name="T37" fmla="*/ 685 h 717"/>
                <a:gd name="T38" fmla="*/ 857 w 899"/>
                <a:gd name="T39" fmla="*/ 669 h 717"/>
                <a:gd name="T40" fmla="*/ 875 w 899"/>
                <a:gd name="T41" fmla="*/ 649 h 717"/>
                <a:gd name="T42" fmla="*/ 882 w 899"/>
                <a:gd name="T43" fmla="*/ 637 h 717"/>
                <a:gd name="T44" fmla="*/ 886 w 899"/>
                <a:gd name="T45" fmla="*/ 625 h 717"/>
                <a:gd name="T46" fmla="*/ 893 w 899"/>
                <a:gd name="T47" fmla="*/ 573 h 717"/>
                <a:gd name="T48" fmla="*/ 899 w 899"/>
                <a:gd name="T49" fmla="*/ 454 h 717"/>
                <a:gd name="T50" fmla="*/ 898 w 899"/>
                <a:gd name="T51" fmla="*/ 262 h 717"/>
                <a:gd name="T52" fmla="*/ 892 w 899"/>
                <a:gd name="T53" fmla="*/ 143 h 717"/>
                <a:gd name="T54" fmla="*/ 885 w 899"/>
                <a:gd name="T55" fmla="*/ 91 h 717"/>
                <a:gd name="T56" fmla="*/ 880 w 899"/>
                <a:gd name="T57" fmla="*/ 79 h 717"/>
                <a:gd name="T58" fmla="*/ 873 w 899"/>
                <a:gd name="T59" fmla="*/ 65 h 717"/>
                <a:gd name="T60" fmla="*/ 858 w 899"/>
                <a:gd name="T61" fmla="*/ 43 h 717"/>
                <a:gd name="T62" fmla="*/ 839 w 899"/>
                <a:gd name="T63" fmla="*/ 27 h 717"/>
                <a:gd name="T64" fmla="*/ 811 w 899"/>
                <a:gd name="T65" fmla="*/ 16 h 717"/>
                <a:gd name="T66" fmla="*/ 745 w 899"/>
                <a:gd name="T67" fmla="*/ 6 h 717"/>
                <a:gd name="T68" fmla="*/ 582 w 899"/>
                <a:gd name="T69" fmla="*/ 1 h 717"/>
                <a:gd name="T70" fmla="*/ 453 w 899"/>
                <a:gd name="T71" fmla="*/ 0 h 717"/>
                <a:gd name="T72" fmla="*/ 97 w 899"/>
                <a:gd name="T73" fmla="*/ 0 h 717"/>
                <a:gd name="T74" fmla="*/ 48 w 899"/>
                <a:gd name="T75" fmla="*/ 49 h 717"/>
                <a:gd name="T76" fmla="*/ 750 w 899"/>
                <a:gd name="T77" fmla="*/ 359 h 717"/>
                <a:gd name="T78" fmla="*/ 750 w 899"/>
                <a:gd name="T79" fmla="*/ 567 h 717"/>
                <a:gd name="T80" fmla="*/ 455 w 899"/>
                <a:gd name="T81" fmla="*/ 564 h 717"/>
                <a:gd name="T82" fmla="*/ 158 w 899"/>
                <a:gd name="T83" fmla="*/ 559 h 717"/>
                <a:gd name="T84" fmla="*/ 153 w 899"/>
                <a:gd name="T85" fmla="*/ 354 h 717"/>
                <a:gd name="T86" fmla="*/ 148 w 899"/>
                <a:gd name="T87" fmla="*/ 150 h 717"/>
                <a:gd name="T88" fmla="*/ 450 w 899"/>
                <a:gd name="T89" fmla="*/ 150 h 717"/>
                <a:gd name="T90" fmla="*/ 750 w 899"/>
                <a:gd name="T91" fmla="*/ 150 h 717"/>
                <a:gd name="T92" fmla="*/ 750 w 899"/>
                <a:gd name="T93" fmla="*/ 359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9" h="717">
                  <a:moveTo>
                    <a:pt x="48" y="49"/>
                  </a:moveTo>
                  <a:lnTo>
                    <a:pt x="0" y="97"/>
                  </a:lnTo>
                  <a:lnTo>
                    <a:pt x="0" y="342"/>
                  </a:lnTo>
                  <a:lnTo>
                    <a:pt x="0" y="438"/>
                  </a:lnTo>
                  <a:lnTo>
                    <a:pt x="6" y="541"/>
                  </a:lnTo>
                  <a:lnTo>
                    <a:pt x="13" y="592"/>
                  </a:lnTo>
                  <a:lnTo>
                    <a:pt x="24" y="630"/>
                  </a:lnTo>
                  <a:lnTo>
                    <a:pt x="39" y="658"/>
                  </a:lnTo>
                  <a:lnTo>
                    <a:pt x="60" y="678"/>
                  </a:lnTo>
                  <a:lnTo>
                    <a:pt x="86" y="693"/>
                  </a:lnTo>
                  <a:lnTo>
                    <a:pt x="102" y="699"/>
                  </a:lnTo>
                  <a:lnTo>
                    <a:pt x="117" y="702"/>
                  </a:lnTo>
                  <a:lnTo>
                    <a:pt x="179" y="709"/>
                  </a:lnTo>
                  <a:lnTo>
                    <a:pt x="326" y="716"/>
                  </a:lnTo>
                  <a:lnTo>
                    <a:pt x="453" y="717"/>
                  </a:lnTo>
                  <a:lnTo>
                    <a:pt x="565" y="717"/>
                  </a:lnTo>
                  <a:lnTo>
                    <a:pt x="721" y="709"/>
                  </a:lnTo>
                  <a:lnTo>
                    <a:pt x="796" y="697"/>
                  </a:lnTo>
                  <a:lnTo>
                    <a:pt x="831" y="685"/>
                  </a:lnTo>
                  <a:lnTo>
                    <a:pt x="857" y="669"/>
                  </a:lnTo>
                  <a:lnTo>
                    <a:pt x="875" y="649"/>
                  </a:lnTo>
                  <a:lnTo>
                    <a:pt x="882" y="637"/>
                  </a:lnTo>
                  <a:lnTo>
                    <a:pt x="886" y="625"/>
                  </a:lnTo>
                  <a:lnTo>
                    <a:pt x="893" y="573"/>
                  </a:lnTo>
                  <a:lnTo>
                    <a:pt x="899" y="454"/>
                  </a:lnTo>
                  <a:lnTo>
                    <a:pt x="898" y="262"/>
                  </a:lnTo>
                  <a:lnTo>
                    <a:pt x="892" y="143"/>
                  </a:lnTo>
                  <a:lnTo>
                    <a:pt x="885" y="91"/>
                  </a:lnTo>
                  <a:lnTo>
                    <a:pt x="880" y="79"/>
                  </a:lnTo>
                  <a:lnTo>
                    <a:pt x="873" y="65"/>
                  </a:lnTo>
                  <a:lnTo>
                    <a:pt x="858" y="43"/>
                  </a:lnTo>
                  <a:lnTo>
                    <a:pt x="839" y="27"/>
                  </a:lnTo>
                  <a:lnTo>
                    <a:pt x="811" y="16"/>
                  </a:lnTo>
                  <a:lnTo>
                    <a:pt x="745" y="6"/>
                  </a:lnTo>
                  <a:lnTo>
                    <a:pt x="582" y="1"/>
                  </a:lnTo>
                  <a:lnTo>
                    <a:pt x="453" y="0"/>
                  </a:lnTo>
                  <a:lnTo>
                    <a:pt x="97" y="0"/>
                  </a:lnTo>
                  <a:lnTo>
                    <a:pt x="48" y="49"/>
                  </a:lnTo>
                  <a:close/>
                  <a:moveTo>
                    <a:pt x="750" y="359"/>
                  </a:moveTo>
                  <a:lnTo>
                    <a:pt x="750" y="567"/>
                  </a:lnTo>
                  <a:lnTo>
                    <a:pt x="455" y="564"/>
                  </a:lnTo>
                  <a:lnTo>
                    <a:pt x="158" y="559"/>
                  </a:lnTo>
                  <a:lnTo>
                    <a:pt x="153" y="354"/>
                  </a:lnTo>
                  <a:lnTo>
                    <a:pt x="148" y="150"/>
                  </a:lnTo>
                  <a:lnTo>
                    <a:pt x="450" y="150"/>
                  </a:lnTo>
                  <a:lnTo>
                    <a:pt x="750" y="150"/>
                  </a:lnTo>
                  <a:lnTo>
                    <a:pt x="750" y="3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144">
              <a:extLst>
                <a:ext uri="{FF2B5EF4-FFF2-40B4-BE49-F238E27FC236}">
                  <a16:creationId xmlns:a16="http://schemas.microsoft.com/office/drawing/2014/main" id="{3C1ED1FB-0268-2040-E5AC-A0FBFDFD1F81}"/>
                </a:ext>
              </a:extLst>
            </p:cNvPr>
            <p:cNvSpPr>
              <a:spLocks/>
            </p:cNvSpPr>
            <p:nvPr/>
          </p:nvSpPr>
          <p:spPr bwMode="auto">
            <a:xfrm>
              <a:off x="639763" y="4197350"/>
              <a:ext cx="309563" cy="60325"/>
            </a:xfrm>
            <a:custGeom>
              <a:avLst/>
              <a:gdLst>
                <a:gd name="T0" fmla="*/ 20 w 782"/>
                <a:gd name="T1" fmla="*/ 21 h 151"/>
                <a:gd name="T2" fmla="*/ 10 w 782"/>
                <a:gd name="T3" fmla="*/ 33 h 151"/>
                <a:gd name="T4" fmla="*/ 0 w 782"/>
                <a:gd name="T5" fmla="*/ 64 h 151"/>
                <a:gd name="T6" fmla="*/ 4 w 782"/>
                <a:gd name="T7" fmla="*/ 97 h 151"/>
                <a:gd name="T8" fmla="*/ 19 w 782"/>
                <a:gd name="T9" fmla="*/ 125 h 151"/>
                <a:gd name="T10" fmla="*/ 31 w 782"/>
                <a:gd name="T11" fmla="*/ 134 h 151"/>
                <a:gd name="T12" fmla="*/ 43 w 782"/>
                <a:gd name="T13" fmla="*/ 138 h 151"/>
                <a:gd name="T14" fmla="*/ 102 w 782"/>
                <a:gd name="T15" fmla="*/ 144 h 151"/>
                <a:gd name="T16" fmla="*/ 256 w 782"/>
                <a:gd name="T17" fmla="*/ 150 h 151"/>
                <a:gd name="T18" fmla="*/ 398 w 782"/>
                <a:gd name="T19" fmla="*/ 151 h 151"/>
                <a:gd name="T20" fmla="*/ 580 w 782"/>
                <a:gd name="T21" fmla="*/ 150 h 151"/>
                <a:gd name="T22" fmla="*/ 709 w 782"/>
                <a:gd name="T23" fmla="*/ 143 h 151"/>
                <a:gd name="T24" fmla="*/ 747 w 782"/>
                <a:gd name="T25" fmla="*/ 132 h 151"/>
                <a:gd name="T26" fmla="*/ 756 w 782"/>
                <a:gd name="T27" fmla="*/ 124 h 151"/>
                <a:gd name="T28" fmla="*/ 767 w 782"/>
                <a:gd name="T29" fmla="*/ 112 h 151"/>
                <a:gd name="T30" fmla="*/ 780 w 782"/>
                <a:gd name="T31" fmla="*/ 86 h 151"/>
                <a:gd name="T32" fmla="*/ 782 w 782"/>
                <a:gd name="T33" fmla="*/ 58 h 151"/>
                <a:gd name="T34" fmla="*/ 773 w 782"/>
                <a:gd name="T35" fmla="*/ 32 h 151"/>
                <a:gd name="T36" fmla="*/ 763 w 782"/>
                <a:gd name="T37" fmla="*/ 21 h 151"/>
                <a:gd name="T38" fmla="*/ 753 w 782"/>
                <a:gd name="T39" fmla="*/ 16 h 151"/>
                <a:gd name="T40" fmla="*/ 688 w 782"/>
                <a:gd name="T41" fmla="*/ 8 h 151"/>
                <a:gd name="T42" fmla="*/ 525 w 782"/>
                <a:gd name="T43" fmla="*/ 0 h 151"/>
                <a:gd name="T44" fmla="*/ 257 w 782"/>
                <a:gd name="T45" fmla="*/ 0 h 151"/>
                <a:gd name="T46" fmla="*/ 95 w 782"/>
                <a:gd name="T47" fmla="*/ 8 h 151"/>
                <a:gd name="T48" fmla="*/ 30 w 782"/>
                <a:gd name="T49" fmla="*/ 16 h 151"/>
                <a:gd name="T50" fmla="*/ 20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20" y="21"/>
                  </a:moveTo>
                  <a:lnTo>
                    <a:pt x="10" y="33"/>
                  </a:lnTo>
                  <a:lnTo>
                    <a:pt x="0" y="64"/>
                  </a:lnTo>
                  <a:lnTo>
                    <a:pt x="4" y="97"/>
                  </a:lnTo>
                  <a:lnTo>
                    <a:pt x="19" y="125"/>
                  </a:lnTo>
                  <a:lnTo>
                    <a:pt x="31" y="134"/>
                  </a:lnTo>
                  <a:lnTo>
                    <a:pt x="43" y="138"/>
                  </a:lnTo>
                  <a:lnTo>
                    <a:pt x="102" y="144"/>
                  </a:lnTo>
                  <a:lnTo>
                    <a:pt x="256" y="150"/>
                  </a:lnTo>
                  <a:lnTo>
                    <a:pt x="398" y="151"/>
                  </a:lnTo>
                  <a:lnTo>
                    <a:pt x="580" y="150"/>
                  </a:lnTo>
                  <a:lnTo>
                    <a:pt x="709" y="143"/>
                  </a:lnTo>
                  <a:lnTo>
                    <a:pt x="747" y="132"/>
                  </a:lnTo>
                  <a:lnTo>
                    <a:pt x="756" y="124"/>
                  </a:lnTo>
                  <a:lnTo>
                    <a:pt x="767" y="112"/>
                  </a:lnTo>
                  <a:lnTo>
                    <a:pt x="780" y="86"/>
                  </a:lnTo>
                  <a:lnTo>
                    <a:pt x="782" y="58"/>
                  </a:lnTo>
                  <a:lnTo>
                    <a:pt x="773" y="32"/>
                  </a:lnTo>
                  <a:lnTo>
                    <a:pt x="763" y="21"/>
                  </a:lnTo>
                  <a:lnTo>
                    <a:pt x="753" y="16"/>
                  </a:lnTo>
                  <a:lnTo>
                    <a:pt x="688" y="8"/>
                  </a:lnTo>
                  <a:lnTo>
                    <a:pt x="525" y="0"/>
                  </a:lnTo>
                  <a:lnTo>
                    <a:pt x="257" y="0"/>
                  </a:lnTo>
                  <a:lnTo>
                    <a:pt x="95" y="8"/>
                  </a:lnTo>
                  <a:lnTo>
                    <a:pt x="30" y="16"/>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45">
              <a:extLst>
                <a:ext uri="{FF2B5EF4-FFF2-40B4-BE49-F238E27FC236}">
                  <a16:creationId xmlns:a16="http://schemas.microsoft.com/office/drawing/2014/main" id="{270BFE16-86A5-8B2C-C5C2-3A9C3D887E35}"/>
                </a:ext>
              </a:extLst>
            </p:cNvPr>
            <p:cNvSpPr>
              <a:spLocks/>
            </p:cNvSpPr>
            <p:nvPr/>
          </p:nvSpPr>
          <p:spPr bwMode="auto">
            <a:xfrm>
              <a:off x="1425575" y="4197350"/>
              <a:ext cx="309563" cy="60325"/>
            </a:xfrm>
            <a:custGeom>
              <a:avLst/>
              <a:gdLst>
                <a:gd name="T0" fmla="*/ 19 w 782"/>
                <a:gd name="T1" fmla="*/ 21 h 151"/>
                <a:gd name="T2" fmla="*/ 9 w 782"/>
                <a:gd name="T3" fmla="*/ 32 h 151"/>
                <a:gd name="T4" fmla="*/ 0 w 782"/>
                <a:gd name="T5" fmla="*/ 57 h 151"/>
                <a:gd name="T6" fmla="*/ 2 w 782"/>
                <a:gd name="T7" fmla="*/ 84 h 151"/>
                <a:gd name="T8" fmla="*/ 17 w 782"/>
                <a:gd name="T9" fmla="*/ 110 h 151"/>
                <a:gd name="T10" fmla="*/ 29 w 782"/>
                <a:gd name="T11" fmla="*/ 122 h 151"/>
                <a:gd name="T12" fmla="*/ 40 w 782"/>
                <a:gd name="T13" fmla="*/ 131 h 151"/>
                <a:gd name="T14" fmla="*/ 78 w 782"/>
                <a:gd name="T15" fmla="*/ 143 h 151"/>
                <a:gd name="T16" fmla="*/ 206 w 782"/>
                <a:gd name="T17" fmla="*/ 150 h 151"/>
                <a:gd name="T18" fmla="*/ 389 w 782"/>
                <a:gd name="T19" fmla="*/ 151 h 151"/>
                <a:gd name="T20" fmla="*/ 529 w 782"/>
                <a:gd name="T21" fmla="*/ 150 h 151"/>
                <a:gd name="T22" fmla="*/ 680 w 782"/>
                <a:gd name="T23" fmla="*/ 144 h 151"/>
                <a:gd name="T24" fmla="*/ 739 w 782"/>
                <a:gd name="T25" fmla="*/ 138 h 151"/>
                <a:gd name="T26" fmla="*/ 751 w 782"/>
                <a:gd name="T27" fmla="*/ 134 h 151"/>
                <a:gd name="T28" fmla="*/ 763 w 782"/>
                <a:gd name="T29" fmla="*/ 125 h 151"/>
                <a:gd name="T30" fmla="*/ 778 w 782"/>
                <a:gd name="T31" fmla="*/ 97 h 151"/>
                <a:gd name="T32" fmla="*/ 782 w 782"/>
                <a:gd name="T33" fmla="*/ 64 h 151"/>
                <a:gd name="T34" fmla="*/ 772 w 782"/>
                <a:gd name="T35" fmla="*/ 33 h 151"/>
                <a:gd name="T36" fmla="*/ 762 w 782"/>
                <a:gd name="T37" fmla="*/ 21 h 151"/>
                <a:gd name="T38" fmla="*/ 752 w 782"/>
                <a:gd name="T39" fmla="*/ 16 h 151"/>
                <a:gd name="T40" fmla="*/ 687 w 782"/>
                <a:gd name="T41" fmla="*/ 8 h 151"/>
                <a:gd name="T42" fmla="*/ 525 w 782"/>
                <a:gd name="T43" fmla="*/ 0 h 151"/>
                <a:gd name="T44" fmla="*/ 257 w 782"/>
                <a:gd name="T45" fmla="*/ 0 h 151"/>
                <a:gd name="T46" fmla="*/ 94 w 782"/>
                <a:gd name="T47" fmla="*/ 8 h 151"/>
                <a:gd name="T48" fmla="*/ 29 w 782"/>
                <a:gd name="T49" fmla="*/ 16 h 151"/>
                <a:gd name="T50" fmla="*/ 19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19" y="21"/>
                  </a:moveTo>
                  <a:lnTo>
                    <a:pt x="9" y="32"/>
                  </a:lnTo>
                  <a:lnTo>
                    <a:pt x="0" y="57"/>
                  </a:lnTo>
                  <a:lnTo>
                    <a:pt x="2" y="84"/>
                  </a:lnTo>
                  <a:lnTo>
                    <a:pt x="17" y="110"/>
                  </a:lnTo>
                  <a:lnTo>
                    <a:pt x="29" y="122"/>
                  </a:lnTo>
                  <a:lnTo>
                    <a:pt x="40" y="131"/>
                  </a:lnTo>
                  <a:lnTo>
                    <a:pt x="78" y="143"/>
                  </a:lnTo>
                  <a:lnTo>
                    <a:pt x="206" y="150"/>
                  </a:lnTo>
                  <a:lnTo>
                    <a:pt x="389" y="151"/>
                  </a:lnTo>
                  <a:lnTo>
                    <a:pt x="529" y="150"/>
                  </a:lnTo>
                  <a:lnTo>
                    <a:pt x="680" y="144"/>
                  </a:lnTo>
                  <a:lnTo>
                    <a:pt x="739" y="138"/>
                  </a:lnTo>
                  <a:lnTo>
                    <a:pt x="751" y="134"/>
                  </a:lnTo>
                  <a:lnTo>
                    <a:pt x="763" y="125"/>
                  </a:lnTo>
                  <a:lnTo>
                    <a:pt x="778" y="97"/>
                  </a:lnTo>
                  <a:lnTo>
                    <a:pt x="782" y="64"/>
                  </a:lnTo>
                  <a:lnTo>
                    <a:pt x="772" y="33"/>
                  </a:lnTo>
                  <a:lnTo>
                    <a:pt x="762" y="21"/>
                  </a:lnTo>
                  <a:lnTo>
                    <a:pt x="752" y="16"/>
                  </a:lnTo>
                  <a:lnTo>
                    <a:pt x="687" y="8"/>
                  </a:lnTo>
                  <a:lnTo>
                    <a:pt x="525" y="0"/>
                  </a:lnTo>
                  <a:lnTo>
                    <a:pt x="257" y="0"/>
                  </a:lnTo>
                  <a:lnTo>
                    <a:pt x="94" y="8"/>
                  </a:lnTo>
                  <a:lnTo>
                    <a:pt x="29" y="16"/>
                  </a:lnTo>
                  <a:lnTo>
                    <a:pt x="1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46">
              <a:extLst>
                <a:ext uri="{FF2B5EF4-FFF2-40B4-BE49-F238E27FC236}">
                  <a16:creationId xmlns:a16="http://schemas.microsoft.com/office/drawing/2014/main" id="{537E2CF7-8F71-EC46-6741-F594118F42AC}"/>
                </a:ext>
              </a:extLst>
            </p:cNvPr>
            <p:cNvSpPr>
              <a:spLocks/>
            </p:cNvSpPr>
            <p:nvPr/>
          </p:nvSpPr>
          <p:spPr bwMode="auto">
            <a:xfrm>
              <a:off x="639763" y="4316413"/>
              <a:ext cx="220663" cy="60325"/>
            </a:xfrm>
            <a:custGeom>
              <a:avLst/>
              <a:gdLst>
                <a:gd name="T0" fmla="*/ 20 w 557"/>
                <a:gd name="T1" fmla="*/ 20 h 150"/>
                <a:gd name="T2" fmla="*/ 10 w 557"/>
                <a:gd name="T3" fmla="*/ 32 h 150"/>
                <a:gd name="T4" fmla="*/ 0 w 557"/>
                <a:gd name="T5" fmla="*/ 63 h 150"/>
                <a:gd name="T6" fmla="*/ 4 w 557"/>
                <a:gd name="T7" fmla="*/ 96 h 150"/>
                <a:gd name="T8" fmla="*/ 19 w 557"/>
                <a:gd name="T9" fmla="*/ 124 h 150"/>
                <a:gd name="T10" fmla="*/ 31 w 557"/>
                <a:gd name="T11" fmla="*/ 133 h 150"/>
                <a:gd name="T12" fmla="*/ 41 w 557"/>
                <a:gd name="T13" fmla="*/ 136 h 150"/>
                <a:gd name="T14" fmla="*/ 83 w 557"/>
                <a:gd name="T15" fmla="*/ 142 h 150"/>
                <a:gd name="T16" fmla="*/ 184 w 557"/>
                <a:gd name="T17" fmla="*/ 148 h 150"/>
                <a:gd name="T18" fmla="*/ 347 w 557"/>
                <a:gd name="T19" fmla="*/ 150 h 150"/>
                <a:gd name="T20" fmla="*/ 479 w 557"/>
                <a:gd name="T21" fmla="*/ 145 h 150"/>
                <a:gd name="T22" fmla="*/ 506 w 557"/>
                <a:gd name="T23" fmla="*/ 140 h 150"/>
                <a:gd name="T24" fmla="*/ 522 w 557"/>
                <a:gd name="T25" fmla="*/ 132 h 150"/>
                <a:gd name="T26" fmla="*/ 545 w 557"/>
                <a:gd name="T27" fmla="*/ 109 h 150"/>
                <a:gd name="T28" fmla="*/ 557 w 557"/>
                <a:gd name="T29" fmla="*/ 79 h 150"/>
                <a:gd name="T30" fmla="*/ 556 w 557"/>
                <a:gd name="T31" fmla="*/ 48 h 150"/>
                <a:gd name="T32" fmla="*/ 550 w 557"/>
                <a:gd name="T33" fmla="*/ 33 h 150"/>
                <a:gd name="T34" fmla="*/ 543 w 557"/>
                <a:gd name="T35" fmla="*/ 22 h 150"/>
                <a:gd name="T36" fmla="*/ 520 w 557"/>
                <a:gd name="T37" fmla="*/ 8 h 150"/>
                <a:gd name="T38" fmla="*/ 431 w 557"/>
                <a:gd name="T39" fmla="*/ 0 h 150"/>
                <a:gd name="T40" fmla="*/ 286 w 557"/>
                <a:gd name="T41" fmla="*/ 0 h 150"/>
                <a:gd name="T42" fmla="*/ 170 w 557"/>
                <a:gd name="T43" fmla="*/ 1 h 150"/>
                <a:gd name="T44" fmla="*/ 64 w 557"/>
                <a:gd name="T45" fmla="*/ 7 h 150"/>
                <a:gd name="T46" fmla="*/ 27 w 557"/>
                <a:gd name="T47" fmla="*/ 15 h 150"/>
                <a:gd name="T48" fmla="*/ 20 w 55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7" h="150">
                  <a:moveTo>
                    <a:pt x="20" y="20"/>
                  </a:moveTo>
                  <a:lnTo>
                    <a:pt x="10" y="32"/>
                  </a:lnTo>
                  <a:lnTo>
                    <a:pt x="0" y="63"/>
                  </a:lnTo>
                  <a:lnTo>
                    <a:pt x="4" y="96"/>
                  </a:lnTo>
                  <a:lnTo>
                    <a:pt x="19" y="124"/>
                  </a:lnTo>
                  <a:lnTo>
                    <a:pt x="31" y="133"/>
                  </a:lnTo>
                  <a:lnTo>
                    <a:pt x="41" y="136"/>
                  </a:lnTo>
                  <a:lnTo>
                    <a:pt x="83" y="142"/>
                  </a:lnTo>
                  <a:lnTo>
                    <a:pt x="184" y="148"/>
                  </a:lnTo>
                  <a:lnTo>
                    <a:pt x="347" y="150"/>
                  </a:lnTo>
                  <a:lnTo>
                    <a:pt x="479" y="145"/>
                  </a:lnTo>
                  <a:lnTo>
                    <a:pt x="506" y="140"/>
                  </a:lnTo>
                  <a:lnTo>
                    <a:pt x="522" y="132"/>
                  </a:lnTo>
                  <a:lnTo>
                    <a:pt x="545" y="109"/>
                  </a:lnTo>
                  <a:lnTo>
                    <a:pt x="557" y="79"/>
                  </a:lnTo>
                  <a:lnTo>
                    <a:pt x="556" y="48"/>
                  </a:lnTo>
                  <a:lnTo>
                    <a:pt x="550" y="33"/>
                  </a:lnTo>
                  <a:lnTo>
                    <a:pt x="543" y="22"/>
                  </a:lnTo>
                  <a:lnTo>
                    <a:pt x="520" y="8"/>
                  </a:lnTo>
                  <a:lnTo>
                    <a:pt x="431" y="0"/>
                  </a:lnTo>
                  <a:lnTo>
                    <a:pt x="286" y="0"/>
                  </a:lnTo>
                  <a:lnTo>
                    <a:pt x="170" y="1"/>
                  </a:lnTo>
                  <a:lnTo>
                    <a:pt x="64" y="7"/>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47">
              <a:extLst>
                <a:ext uri="{FF2B5EF4-FFF2-40B4-BE49-F238E27FC236}">
                  <a16:creationId xmlns:a16="http://schemas.microsoft.com/office/drawing/2014/main" id="{3ED6F36B-56C3-E822-3CBF-96FA01CB949F}"/>
                </a:ext>
              </a:extLst>
            </p:cNvPr>
            <p:cNvSpPr>
              <a:spLocks/>
            </p:cNvSpPr>
            <p:nvPr/>
          </p:nvSpPr>
          <p:spPr bwMode="auto">
            <a:xfrm>
              <a:off x="1425575" y="4316413"/>
              <a:ext cx="206375" cy="60325"/>
            </a:xfrm>
            <a:custGeom>
              <a:avLst/>
              <a:gdLst>
                <a:gd name="T0" fmla="*/ 19 w 523"/>
                <a:gd name="T1" fmla="*/ 20 h 150"/>
                <a:gd name="T2" fmla="*/ 9 w 523"/>
                <a:gd name="T3" fmla="*/ 31 h 150"/>
                <a:gd name="T4" fmla="*/ 0 w 523"/>
                <a:gd name="T5" fmla="*/ 56 h 150"/>
                <a:gd name="T6" fmla="*/ 2 w 523"/>
                <a:gd name="T7" fmla="*/ 83 h 150"/>
                <a:gd name="T8" fmla="*/ 17 w 523"/>
                <a:gd name="T9" fmla="*/ 109 h 150"/>
                <a:gd name="T10" fmla="*/ 29 w 523"/>
                <a:gd name="T11" fmla="*/ 121 h 150"/>
                <a:gd name="T12" fmla="*/ 39 w 523"/>
                <a:gd name="T13" fmla="*/ 130 h 150"/>
                <a:gd name="T14" fmla="*/ 69 w 523"/>
                <a:gd name="T15" fmla="*/ 141 h 150"/>
                <a:gd name="T16" fmla="*/ 150 w 523"/>
                <a:gd name="T17" fmla="*/ 149 h 150"/>
                <a:gd name="T18" fmla="*/ 252 w 523"/>
                <a:gd name="T19" fmla="*/ 150 h 150"/>
                <a:gd name="T20" fmla="*/ 332 w 523"/>
                <a:gd name="T21" fmla="*/ 149 h 150"/>
                <a:gd name="T22" fmla="*/ 452 w 523"/>
                <a:gd name="T23" fmla="*/ 143 h 150"/>
                <a:gd name="T24" fmla="*/ 472 w 523"/>
                <a:gd name="T25" fmla="*/ 140 h 150"/>
                <a:gd name="T26" fmla="*/ 488 w 523"/>
                <a:gd name="T27" fmla="*/ 132 h 150"/>
                <a:gd name="T28" fmla="*/ 511 w 523"/>
                <a:gd name="T29" fmla="*/ 109 h 150"/>
                <a:gd name="T30" fmla="*/ 523 w 523"/>
                <a:gd name="T31" fmla="*/ 79 h 150"/>
                <a:gd name="T32" fmla="*/ 522 w 523"/>
                <a:gd name="T33" fmla="*/ 48 h 150"/>
                <a:gd name="T34" fmla="*/ 516 w 523"/>
                <a:gd name="T35" fmla="*/ 33 h 150"/>
                <a:gd name="T36" fmla="*/ 509 w 523"/>
                <a:gd name="T37" fmla="*/ 22 h 150"/>
                <a:gd name="T38" fmla="*/ 487 w 523"/>
                <a:gd name="T39" fmla="*/ 8 h 150"/>
                <a:gd name="T40" fmla="*/ 404 w 523"/>
                <a:gd name="T41" fmla="*/ 0 h 150"/>
                <a:gd name="T42" fmla="*/ 269 w 523"/>
                <a:gd name="T43" fmla="*/ 0 h 150"/>
                <a:gd name="T44" fmla="*/ 161 w 523"/>
                <a:gd name="T45" fmla="*/ 1 h 150"/>
                <a:gd name="T46" fmla="*/ 62 w 523"/>
                <a:gd name="T47" fmla="*/ 7 h 150"/>
                <a:gd name="T48" fmla="*/ 26 w 523"/>
                <a:gd name="T49" fmla="*/ 15 h 150"/>
                <a:gd name="T50" fmla="*/ 19 w 523"/>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3" h="150">
                  <a:moveTo>
                    <a:pt x="19" y="20"/>
                  </a:moveTo>
                  <a:lnTo>
                    <a:pt x="9" y="31"/>
                  </a:lnTo>
                  <a:lnTo>
                    <a:pt x="0" y="56"/>
                  </a:lnTo>
                  <a:lnTo>
                    <a:pt x="2" y="83"/>
                  </a:lnTo>
                  <a:lnTo>
                    <a:pt x="17" y="109"/>
                  </a:lnTo>
                  <a:lnTo>
                    <a:pt x="29" y="121"/>
                  </a:lnTo>
                  <a:lnTo>
                    <a:pt x="39" y="130"/>
                  </a:lnTo>
                  <a:lnTo>
                    <a:pt x="69" y="141"/>
                  </a:lnTo>
                  <a:lnTo>
                    <a:pt x="150" y="149"/>
                  </a:lnTo>
                  <a:lnTo>
                    <a:pt x="252" y="150"/>
                  </a:lnTo>
                  <a:lnTo>
                    <a:pt x="332" y="149"/>
                  </a:lnTo>
                  <a:lnTo>
                    <a:pt x="452" y="143"/>
                  </a:lnTo>
                  <a:lnTo>
                    <a:pt x="472" y="140"/>
                  </a:lnTo>
                  <a:lnTo>
                    <a:pt x="488" y="132"/>
                  </a:lnTo>
                  <a:lnTo>
                    <a:pt x="511" y="109"/>
                  </a:lnTo>
                  <a:lnTo>
                    <a:pt x="523" y="79"/>
                  </a:lnTo>
                  <a:lnTo>
                    <a:pt x="522" y="48"/>
                  </a:lnTo>
                  <a:lnTo>
                    <a:pt x="516" y="33"/>
                  </a:lnTo>
                  <a:lnTo>
                    <a:pt x="509" y="22"/>
                  </a:lnTo>
                  <a:lnTo>
                    <a:pt x="487" y="8"/>
                  </a:lnTo>
                  <a:lnTo>
                    <a:pt x="404" y="0"/>
                  </a:lnTo>
                  <a:lnTo>
                    <a:pt x="269" y="0"/>
                  </a:lnTo>
                  <a:lnTo>
                    <a:pt x="161" y="1"/>
                  </a:lnTo>
                  <a:lnTo>
                    <a:pt x="62" y="7"/>
                  </a:lnTo>
                  <a:lnTo>
                    <a:pt x="26"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48">
              <a:extLst>
                <a:ext uri="{FF2B5EF4-FFF2-40B4-BE49-F238E27FC236}">
                  <a16:creationId xmlns:a16="http://schemas.microsoft.com/office/drawing/2014/main" id="{1DABA71B-767A-5791-8068-056CFC8C7894}"/>
                </a:ext>
              </a:extLst>
            </p:cNvPr>
            <p:cNvSpPr>
              <a:spLocks/>
            </p:cNvSpPr>
            <p:nvPr/>
          </p:nvSpPr>
          <p:spPr bwMode="auto">
            <a:xfrm>
              <a:off x="1041400" y="4554538"/>
              <a:ext cx="55563" cy="55563"/>
            </a:xfrm>
            <a:custGeom>
              <a:avLst/>
              <a:gdLst>
                <a:gd name="T0" fmla="*/ 20 w 140"/>
                <a:gd name="T1" fmla="*/ 21 h 144"/>
                <a:gd name="T2" fmla="*/ 11 w 140"/>
                <a:gd name="T3" fmla="*/ 31 h 144"/>
                <a:gd name="T4" fmla="*/ 1 w 140"/>
                <a:gd name="T5" fmla="*/ 55 h 144"/>
                <a:gd name="T6" fmla="*/ 0 w 140"/>
                <a:gd name="T7" fmla="*/ 79 h 144"/>
                <a:gd name="T8" fmla="*/ 7 w 140"/>
                <a:gd name="T9" fmla="*/ 102 h 144"/>
                <a:gd name="T10" fmla="*/ 20 w 140"/>
                <a:gd name="T11" fmla="*/ 122 h 144"/>
                <a:gd name="T12" fmla="*/ 39 w 140"/>
                <a:gd name="T13" fmla="*/ 137 h 144"/>
                <a:gd name="T14" fmla="*/ 61 w 140"/>
                <a:gd name="T15" fmla="*/ 144 h 144"/>
                <a:gd name="T16" fmla="*/ 86 w 140"/>
                <a:gd name="T17" fmla="*/ 142 h 144"/>
                <a:gd name="T18" fmla="*/ 99 w 140"/>
                <a:gd name="T19" fmla="*/ 136 h 144"/>
                <a:gd name="T20" fmla="*/ 113 w 140"/>
                <a:gd name="T21" fmla="*/ 127 h 144"/>
                <a:gd name="T22" fmla="*/ 132 w 140"/>
                <a:gd name="T23" fmla="*/ 108 h 144"/>
                <a:gd name="T24" fmla="*/ 140 w 140"/>
                <a:gd name="T25" fmla="*/ 83 h 144"/>
                <a:gd name="T26" fmla="*/ 137 w 140"/>
                <a:gd name="T27" fmla="*/ 54 h 144"/>
                <a:gd name="T28" fmla="*/ 132 w 140"/>
                <a:gd name="T29" fmla="*/ 37 h 144"/>
                <a:gd name="T30" fmla="*/ 125 w 140"/>
                <a:gd name="T31" fmla="*/ 23 h 144"/>
                <a:gd name="T32" fmla="*/ 99 w 140"/>
                <a:gd name="T33" fmla="*/ 5 h 144"/>
                <a:gd name="T34" fmla="*/ 66 w 140"/>
                <a:gd name="T35" fmla="*/ 0 h 144"/>
                <a:gd name="T36" fmla="*/ 34 w 140"/>
                <a:gd name="T37" fmla="*/ 10 h 144"/>
                <a:gd name="T38" fmla="*/ 20 w 140"/>
                <a:gd name="T39" fmla="*/ 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0" h="144">
                  <a:moveTo>
                    <a:pt x="20" y="21"/>
                  </a:moveTo>
                  <a:lnTo>
                    <a:pt x="11" y="31"/>
                  </a:lnTo>
                  <a:lnTo>
                    <a:pt x="1" y="55"/>
                  </a:lnTo>
                  <a:lnTo>
                    <a:pt x="0" y="79"/>
                  </a:lnTo>
                  <a:lnTo>
                    <a:pt x="7" y="102"/>
                  </a:lnTo>
                  <a:lnTo>
                    <a:pt x="20" y="122"/>
                  </a:lnTo>
                  <a:lnTo>
                    <a:pt x="39" y="137"/>
                  </a:lnTo>
                  <a:lnTo>
                    <a:pt x="61" y="144"/>
                  </a:lnTo>
                  <a:lnTo>
                    <a:pt x="86" y="142"/>
                  </a:lnTo>
                  <a:lnTo>
                    <a:pt x="99" y="136"/>
                  </a:lnTo>
                  <a:lnTo>
                    <a:pt x="113" y="127"/>
                  </a:lnTo>
                  <a:lnTo>
                    <a:pt x="132" y="108"/>
                  </a:lnTo>
                  <a:lnTo>
                    <a:pt x="140" y="83"/>
                  </a:lnTo>
                  <a:lnTo>
                    <a:pt x="137" y="54"/>
                  </a:lnTo>
                  <a:lnTo>
                    <a:pt x="132" y="37"/>
                  </a:lnTo>
                  <a:lnTo>
                    <a:pt x="125" y="23"/>
                  </a:lnTo>
                  <a:lnTo>
                    <a:pt x="99" y="5"/>
                  </a:lnTo>
                  <a:lnTo>
                    <a:pt x="66" y="0"/>
                  </a:lnTo>
                  <a:lnTo>
                    <a:pt x="34" y="10"/>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49">
              <a:extLst>
                <a:ext uri="{FF2B5EF4-FFF2-40B4-BE49-F238E27FC236}">
                  <a16:creationId xmlns:a16="http://schemas.microsoft.com/office/drawing/2014/main" id="{F13C9623-D4F5-8EBE-298A-AAEF52013DB4}"/>
                </a:ext>
              </a:extLst>
            </p:cNvPr>
            <p:cNvSpPr>
              <a:spLocks/>
            </p:cNvSpPr>
            <p:nvPr/>
          </p:nvSpPr>
          <p:spPr bwMode="auto">
            <a:xfrm>
              <a:off x="1160463"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50">
              <a:extLst>
                <a:ext uri="{FF2B5EF4-FFF2-40B4-BE49-F238E27FC236}">
                  <a16:creationId xmlns:a16="http://schemas.microsoft.com/office/drawing/2014/main" id="{6531481E-1B3E-C097-30CE-D4A336732BE0}"/>
                </a:ext>
              </a:extLst>
            </p:cNvPr>
            <p:cNvSpPr>
              <a:spLocks/>
            </p:cNvSpPr>
            <p:nvPr/>
          </p:nvSpPr>
          <p:spPr bwMode="auto">
            <a:xfrm>
              <a:off x="1279525"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6612131B-7F48-3586-2DB4-ACA83C1C2B7B}"/>
              </a:ext>
            </a:extLst>
          </p:cNvPr>
          <p:cNvGrpSpPr>
            <a:grpSpLocks noChangeAspect="1"/>
          </p:cNvGrpSpPr>
          <p:nvPr/>
        </p:nvGrpSpPr>
        <p:grpSpPr>
          <a:xfrm>
            <a:off x="5353864" y="2583165"/>
            <a:ext cx="355004" cy="365760"/>
            <a:chOff x="10333038" y="4748213"/>
            <a:chExt cx="1728788" cy="1781175"/>
          </a:xfrm>
          <a:solidFill>
            <a:schemeClr val="accent1"/>
          </a:solidFill>
        </p:grpSpPr>
        <p:sp>
          <p:nvSpPr>
            <p:cNvPr id="122" name="Freeform 137">
              <a:extLst>
                <a:ext uri="{FF2B5EF4-FFF2-40B4-BE49-F238E27FC236}">
                  <a16:creationId xmlns:a16="http://schemas.microsoft.com/office/drawing/2014/main" id="{903637AB-7BC9-E073-4C77-84AE5CB48140}"/>
                </a:ext>
              </a:extLst>
            </p:cNvPr>
            <p:cNvSpPr>
              <a:spLocks noEditPoints="1"/>
            </p:cNvSpPr>
            <p:nvPr/>
          </p:nvSpPr>
          <p:spPr bwMode="auto">
            <a:xfrm>
              <a:off x="10766426" y="4748213"/>
              <a:ext cx="863600" cy="922338"/>
            </a:xfrm>
            <a:custGeom>
              <a:avLst/>
              <a:gdLst>
                <a:gd name="T0" fmla="*/ 831 w 2262"/>
                <a:gd name="T1" fmla="*/ 243 h 2418"/>
                <a:gd name="T2" fmla="*/ 528 w 2262"/>
                <a:gd name="T3" fmla="*/ 505 h 2418"/>
                <a:gd name="T4" fmla="*/ 240 w 2262"/>
                <a:gd name="T5" fmla="*/ 418 h 2418"/>
                <a:gd name="T6" fmla="*/ 43 w 2262"/>
                <a:gd name="T7" fmla="*/ 669 h 2418"/>
                <a:gd name="T8" fmla="*/ 60 w 2262"/>
                <a:gd name="T9" fmla="*/ 929 h 2418"/>
                <a:gd name="T10" fmla="*/ 133 w 2262"/>
                <a:gd name="T11" fmla="*/ 1438 h 2418"/>
                <a:gd name="T12" fmla="*/ 0 w 2262"/>
                <a:gd name="T13" fmla="*/ 1621 h 2418"/>
                <a:gd name="T14" fmla="*/ 169 w 2262"/>
                <a:gd name="T15" fmla="*/ 1950 h 2418"/>
                <a:gd name="T16" fmla="*/ 325 w 2262"/>
                <a:gd name="T17" fmla="*/ 1998 h 2418"/>
                <a:gd name="T18" fmla="*/ 576 w 2262"/>
                <a:gd name="T19" fmla="*/ 1947 h 2418"/>
                <a:gd name="T20" fmla="*/ 835 w 2262"/>
                <a:gd name="T21" fmla="*/ 2201 h 2418"/>
                <a:gd name="T22" fmla="*/ 913 w 2262"/>
                <a:gd name="T23" fmla="*/ 2386 h 2418"/>
                <a:gd name="T24" fmla="*/ 1272 w 2262"/>
                <a:gd name="T25" fmla="*/ 2415 h 2418"/>
                <a:gd name="T26" fmla="*/ 1420 w 2262"/>
                <a:gd name="T27" fmla="*/ 2293 h 2418"/>
                <a:gd name="T28" fmla="*/ 1474 w 2262"/>
                <a:gd name="T29" fmla="*/ 2065 h 2418"/>
                <a:gd name="T30" fmla="*/ 1735 w 2262"/>
                <a:gd name="T31" fmla="*/ 1921 h 2418"/>
                <a:gd name="T32" fmla="*/ 1930 w 2262"/>
                <a:gd name="T33" fmla="*/ 1996 h 2418"/>
                <a:gd name="T34" fmla="*/ 2100 w 2262"/>
                <a:gd name="T35" fmla="*/ 1942 h 2418"/>
                <a:gd name="T36" fmla="*/ 2261 w 2262"/>
                <a:gd name="T37" fmla="*/ 1603 h 2418"/>
                <a:gd name="T38" fmla="*/ 2048 w 2262"/>
                <a:gd name="T39" fmla="*/ 1393 h 2418"/>
                <a:gd name="T40" fmla="*/ 2234 w 2262"/>
                <a:gd name="T41" fmla="*/ 895 h 2418"/>
                <a:gd name="T42" fmla="*/ 2203 w 2262"/>
                <a:gd name="T43" fmla="*/ 638 h 2418"/>
                <a:gd name="T44" fmla="*/ 2005 w 2262"/>
                <a:gd name="T45" fmla="*/ 412 h 2418"/>
                <a:gd name="T46" fmla="*/ 1635 w 2262"/>
                <a:gd name="T47" fmla="*/ 438 h 2418"/>
                <a:gd name="T48" fmla="*/ 1435 w 2262"/>
                <a:gd name="T49" fmla="*/ 309 h 2418"/>
                <a:gd name="T50" fmla="*/ 1374 w 2262"/>
                <a:gd name="T51" fmla="*/ 42 h 2418"/>
                <a:gd name="T52" fmla="*/ 958 w 2262"/>
                <a:gd name="T53" fmla="*/ 13 h 2418"/>
                <a:gd name="T54" fmla="*/ 1280 w 2262"/>
                <a:gd name="T55" fmla="*/ 315 h 2418"/>
                <a:gd name="T56" fmla="*/ 1338 w 2262"/>
                <a:gd name="T57" fmla="*/ 468 h 2418"/>
                <a:gd name="T58" fmla="*/ 1653 w 2262"/>
                <a:gd name="T59" fmla="*/ 645 h 2418"/>
                <a:gd name="T60" fmla="*/ 1895 w 2262"/>
                <a:gd name="T61" fmla="*/ 602 h 2418"/>
                <a:gd name="T62" fmla="*/ 2075 w 2262"/>
                <a:gd name="T63" fmla="*/ 727 h 2418"/>
                <a:gd name="T64" fmla="*/ 1990 w 2262"/>
                <a:gd name="T65" fmla="*/ 878 h 2418"/>
                <a:gd name="T66" fmla="*/ 1876 w 2262"/>
                <a:gd name="T67" fmla="*/ 1032 h 2418"/>
                <a:gd name="T68" fmla="*/ 1883 w 2262"/>
                <a:gd name="T69" fmla="*/ 1358 h 2418"/>
                <a:gd name="T70" fmla="*/ 2001 w 2262"/>
                <a:gd name="T71" fmla="*/ 1545 h 2418"/>
                <a:gd name="T72" fmla="*/ 1866 w 2262"/>
                <a:gd name="T73" fmla="*/ 1796 h 2418"/>
                <a:gd name="T74" fmla="*/ 1656 w 2262"/>
                <a:gd name="T75" fmla="*/ 1770 h 2418"/>
                <a:gd name="T76" fmla="*/ 1339 w 2262"/>
                <a:gd name="T77" fmla="*/ 1953 h 2418"/>
                <a:gd name="T78" fmla="*/ 1283 w 2262"/>
                <a:gd name="T79" fmla="*/ 2150 h 2418"/>
                <a:gd name="T80" fmla="*/ 1131 w 2262"/>
                <a:gd name="T81" fmla="*/ 2268 h 2418"/>
                <a:gd name="T82" fmla="*/ 980 w 2262"/>
                <a:gd name="T83" fmla="*/ 2150 h 2418"/>
                <a:gd name="T84" fmla="*/ 923 w 2262"/>
                <a:gd name="T85" fmla="*/ 1953 h 2418"/>
                <a:gd name="T86" fmla="*/ 607 w 2262"/>
                <a:gd name="T87" fmla="*/ 1770 h 2418"/>
                <a:gd name="T88" fmla="*/ 398 w 2262"/>
                <a:gd name="T89" fmla="*/ 1796 h 2418"/>
                <a:gd name="T90" fmla="*/ 229 w 2262"/>
                <a:gd name="T91" fmla="*/ 1766 h 2418"/>
                <a:gd name="T92" fmla="*/ 385 w 2262"/>
                <a:gd name="T93" fmla="*/ 1448 h 2418"/>
                <a:gd name="T94" fmla="*/ 375 w 2262"/>
                <a:gd name="T95" fmla="*/ 1105 h 2418"/>
                <a:gd name="T96" fmla="*/ 316 w 2262"/>
                <a:gd name="T97" fmla="*/ 905 h 2418"/>
                <a:gd name="T98" fmla="*/ 164 w 2262"/>
                <a:gd name="T99" fmla="*/ 778 h 2418"/>
                <a:gd name="T100" fmla="*/ 318 w 2262"/>
                <a:gd name="T101" fmla="*/ 580 h 2418"/>
                <a:gd name="T102" fmla="*/ 550 w 2262"/>
                <a:gd name="T103" fmla="*/ 681 h 2418"/>
                <a:gd name="T104" fmla="*/ 905 w 2262"/>
                <a:gd name="T105" fmla="*/ 474 h 2418"/>
                <a:gd name="T106" fmla="*/ 980 w 2262"/>
                <a:gd name="T107" fmla="*/ 266 h 2418"/>
                <a:gd name="T108" fmla="*/ 1130 w 2262"/>
                <a:gd name="T109" fmla="*/ 151 h 2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62" h="2418">
                  <a:moveTo>
                    <a:pt x="903" y="31"/>
                  </a:moveTo>
                  <a:lnTo>
                    <a:pt x="885" y="47"/>
                  </a:lnTo>
                  <a:lnTo>
                    <a:pt x="858" y="87"/>
                  </a:lnTo>
                  <a:lnTo>
                    <a:pt x="840" y="139"/>
                  </a:lnTo>
                  <a:lnTo>
                    <a:pt x="832" y="204"/>
                  </a:lnTo>
                  <a:lnTo>
                    <a:pt x="831" y="243"/>
                  </a:lnTo>
                  <a:lnTo>
                    <a:pt x="831" y="333"/>
                  </a:lnTo>
                  <a:lnTo>
                    <a:pt x="756" y="366"/>
                  </a:lnTo>
                  <a:lnTo>
                    <a:pt x="723" y="383"/>
                  </a:lnTo>
                  <a:lnTo>
                    <a:pt x="640" y="429"/>
                  </a:lnTo>
                  <a:lnTo>
                    <a:pt x="605" y="451"/>
                  </a:lnTo>
                  <a:lnTo>
                    <a:pt x="528" y="505"/>
                  </a:lnTo>
                  <a:lnTo>
                    <a:pt x="413" y="451"/>
                  </a:lnTo>
                  <a:lnTo>
                    <a:pt x="377" y="435"/>
                  </a:lnTo>
                  <a:lnTo>
                    <a:pt x="326" y="415"/>
                  </a:lnTo>
                  <a:lnTo>
                    <a:pt x="290" y="408"/>
                  </a:lnTo>
                  <a:lnTo>
                    <a:pt x="258" y="412"/>
                  </a:lnTo>
                  <a:lnTo>
                    <a:pt x="240" y="418"/>
                  </a:lnTo>
                  <a:lnTo>
                    <a:pt x="217" y="426"/>
                  </a:lnTo>
                  <a:lnTo>
                    <a:pt x="179" y="451"/>
                  </a:lnTo>
                  <a:lnTo>
                    <a:pt x="141" y="498"/>
                  </a:lnTo>
                  <a:lnTo>
                    <a:pt x="92" y="579"/>
                  </a:lnTo>
                  <a:lnTo>
                    <a:pt x="60" y="638"/>
                  </a:lnTo>
                  <a:lnTo>
                    <a:pt x="43" y="669"/>
                  </a:lnTo>
                  <a:lnTo>
                    <a:pt x="18" y="726"/>
                  </a:lnTo>
                  <a:lnTo>
                    <a:pt x="4" y="776"/>
                  </a:lnTo>
                  <a:lnTo>
                    <a:pt x="1" y="820"/>
                  </a:lnTo>
                  <a:lnTo>
                    <a:pt x="9" y="860"/>
                  </a:lnTo>
                  <a:lnTo>
                    <a:pt x="29" y="895"/>
                  </a:lnTo>
                  <a:lnTo>
                    <a:pt x="60" y="929"/>
                  </a:lnTo>
                  <a:lnTo>
                    <a:pt x="103" y="960"/>
                  </a:lnTo>
                  <a:lnTo>
                    <a:pt x="130" y="975"/>
                  </a:lnTo>
                  <a:lnTo>
                    <a:pt x="215" y="1020"/>
                  </a:lnTo>
                  <a:lnTo>
                    <a:pt x="215" y="1206"/>
                  </a:lnTo>
                  <a:lnTo>
                    <a:pt x="215" y="1393"/>
                  </a:lnTo>
                  <a:lnTo>
                    <a:pt x="133" y="1438"/>
                  </a:lnTo>
                  <a:lnTo>
                    <a:pt x="97" y="1459"/>
                  </a:lnTo>
                  <a:lnTo>
                    <a:pt x="49" y="1493"/>
                  </a:lnTo>
                  <a:lnTo>
                    <a:pt x="21" y="1528"/>
                  </a:lnTo>
                  <a:lnTo>
                    <a:pt x="7" y="1571"/>
                  </a:lnTo>
                  <a:lnTo>
                    <a:pt x="3" y="1600"/>
                  </a:lnTo>
                  <a:lnTo>
                    <a:pt x="0" y="1621"/>
                  </a:lnTo>
                  <a:lnTo>
                    <a:pt x="3" y="1658"/>
                  </a:lnTo>
                  <a:lnTo>
                    <a:pt x="18" y="1701"/>
                  </a:lnTo>
                  <a:lnTo>
                    <a:pt x="49" y="1761"/>
                  </a:lnTo>
                  <a:lnTo>
                    <a:pt x="73" y="1803"/>
                  </a:lnTo>
                  <a:lnTo>
                    <a:pt x="107" y="1858"/>
                  </a:lnTo>
                  <a:lnTo>
                    <a:pt x="169" y="1950"/>
                  </a:lnTo>
                  <a:lnTo>
                    <a:pt x="186" y="1970"/>
                  </a:lnTo>
                  <a:lnTo>
                    <a:pt x="196" y="1978"/>
                  </a:lnTo>
                  <a:lnTo>
                    <a:pt x="220" y="1990"/>
                  </a:lnTo>
                  <a:lnTo>
                    <a:pt x="247" y="1998"/>
                  </a:lnTo>
                  <a:lnTo>
                    <a:pt x="277" y="2001"/>
                  </a:lnTo>
                  <a:lnTo>
                    <a:pt x="325" y="1998"/>
                  </a:lnTo>
                  <a:lnTo>
                    <a:pt x="392" y="1978"/>
                  </a:lnTo>
                  <a:lnTo>
                    <a:pt x="423" y="1960"/>
                  </a:lnTo>
                  <a:lnTo>
                    <a:pt x="453" y="1942"/>
                  </a:lnTo>
                  <a:lnTo>
                    <a:pt x="496" y="1923"/>
                  </a:lnTo>
                  <a:lnTo>
                    <a:pt x="532" y="1924"/>
                  </a:lnTo>
                  <a:lnTo>
                    <a:pt x="576" y="1947"/>
                  </a:lnTo>
                  <a:lnTo>
                    <a:pt x="606" y="1968"/>
                  </a:lnTo>
                  <a:lnTo>
                    <a:pt x="640" y="1990"/>
                  </a:lnTo>
                  <a:lnTo>
                    <a:pt x="720" y="2035"/>
                  </a:lnTo>
                  <a:lnTo>
                    <a:pt x="753" y="2050"/>
                  </a:lnTo>
                  <a:lnTo>
                    <a:pt x="828" y="2081"/>
                  </a:lnTo>
                  <a:lnTo>
                    <a:pt x="835" y="2201"/>
                  </a:lnTo>
                  <a:lnTo>
                    <a:pt x="837" y="2240"/>
                  </a:lnTo>
                  <a:lnTo>
                    <a:pt x="842" y="2292"/>
                  </a:lnTo>
                  <a:lnTo>
                    <a:pt x="855" y="2327"/>
                  </a:lnTo>
                  <a:lnTo>
                    <a:pt x="877" y="2354"/>
                  </a:lnTo>
                  <a:lnTo>
                    <a:pt x="895" y="2370"/>
                  </a:lnTo>
                  <a:lnTo>
                    <a:pt x="913" y="2386"/>
                  </a:lnTo>
                  <a:lnTo>
                    <a:pt x="945" y="2406"/>
                  </a:lnTo>
                  <a:lnTo>
                    <a:pt x="990" y="2415"/>
                  </a:lnTo>
                  <a:lnTo>
                    <a:pt x="1070" y="2418"/>
                  </a:lnTo>
                  <a:lnTo>
                    <a:pt x="1131" y="2418"/>
                  </a:lnTo>
                  <a:lnTo>
                    <a:pt x="1193" y="2418"/>
                  </a:lnTo>
                  <a:lnTo>
                    <a:pt x="1272" y="2415"/>
                  </a:lnTo>
                  <a:lnTo>
                    <a:pt x="1318" y="2406"/>
                  </a:lnTo>
                  <a:lnTo>
                    <a:pt x="1350" y="2386"/>
                  </a:lnTo>
                  <a:lnTo>
                    <a:pt x="1368" y="2370"/>
                  </a:lnTo>
                  <a:lnTo>
                    <a:pt x="1385" y="2354"/>
                  </a:lnTo>
                  <a:lnTo>
                    <a:pt x="1408" y="2327"/>
                  </a:lnTo>
                  <a:lnTo>
                    <a:pt x="1420" y="2293"/>
                  </a:lnTo>
                  <a:lnTo>
                    <a:pt x="1426" y="2240"/>
                  </a:lnTo>
                  <a:lnTo>
                    <a:pt x="1428" y="2201"/>
                  </a:lnTo>
                  <a:lnTo>
                    <a:pt x="1430" y="2160"/>
                  </a:lnTo>
                  <a:lnTo>
                    <a:pt x="1436" y="2108"/>
                  </a:lnTo>
                  <a:lnTo>
                    <a:pt x="1448" y="2081"/>
                  </a:lnTo>
                  <a:lnTo>
                    <a:pt x="1474" y="2065"/>
                  </a:lnTo>
                  <a:lnTo>
                    <a:pt x="1495" y="2056"/>
                  </a:lnTo>
                  <a:lnTo>
                    <a:pt x="1524" y="2043"/>
                  </a:lnTo>
                  <a:lnTo>
                    <a:pt x="1604" y="1999"/>
                  </a:lnTo>
                  <a:lnTo>
                    <a:pt x="1643" y="1975"/>
                  </a:lnTo>
                  <a:lnTo>
                    <a:pt x="1679" y="1952"/>
                  </a:lnTo>
                  <a:lnTo>
                    <a:pt x="1735" y="1921"/>
                  </a:lnTo>
                  <a:lnTo>
                    <a:pt x="1746" y="1918"/>
                  </a:lnTo>
                  <a:lnTo>
                    <a:pt x="1757" y="1920"/>
                  </a:lnTo>
                  <a:lnTo>
                    <a:pt x="1804" y="1943"/>
                  </a:lnTo>
                  <a:lnTo>
                    <a:pt x="1833" y="1960"/>
                  </a:lnTo>
                  <a:lnTo>
                    <a:pt x="1864" y="1975"/>
                  </a:lnTo>
                  <a:lnTo>
                    <a:pt x="1930" y="1996"/>
                  </a:lnTo>
                  <a:lnTo>
                    <a:pt x="1994" y="2001"/>
                  </a:lnTo>
                  <a:lnTo>
                    <a:pt x="2035" y="1995"/>
                  </a:lnTo>
                  <a:lnTo>
                    <a:pt x="2057" y="1986"/>
                  </a:lnTo>
                  <a:lnTo>
                    <a:pt x="2066" y="1980"/>
                  </a:lnTo>
                  <a:lnTo>
                    <a:pt x="2076" y="1972"/>
                  </a:lnTo>
                  <a:lnTo>
                    <a:pt x="2100" y="1942"/>
                  </a:lnTo>
                  <a:lnTo>
                    <a:pt x="2144" y="1876"/>
                  </a:lnTo>
                  <a:lnTo>
                    <a:pt x="2207" y="1769"/>
                  </a:lnTo>
                  <a:lnTo>
                    <a:pt x="2252" y="1674"/>
                  </a:lnTo>
                  <a:lnTo>
                    <a:pt x="2260" y="1646"/>
                  </a:lnTo>
                  <a:lnTo>
                    <a:pt x="2261" y="1631"/>
                  </a:lnTo>
                  <a:lnTo>
                    <a:pt x="2261" y="1603"/>
                  </a:lnTo>
                  <a:lnTo>
                    <a:pt x="2256" y="1575"/>
                  </a:lnTo>
                  <a:lnTo>
                    <a:pt x="2246" y="1549"/>
                  </a:lnTo>
                  <a:lnTo>
                    <a:pt x="2221" y="1512"/>
                  </a:lnTo>
                  <a:lnTo>
                    <a:pt x="2169" y="1465"/>
                  </a:lnTo>
                  <a:lnTo>
                    <a:pt x="2133" y="1443"/>
                  </a:lnTo>
                  <a:lnTo>
                    <a:pt x="2048" y="1393"/>
                  </a:lnTo>
                  <a:lnTo>
                    <a:pt x="2048" y="1206"/>
                  </a:lnTo>
                  <a:lnTo>
                    <a:pt x="2048" y="1020"/>
                  </a:lnTo>
                  <a:lnTo>
                    <a:pt x="2133" y="975"/>
                  </a:lnTo>
                  <a:lnTo>
                    <a:pt x="2159" y="960"/>
                  </a:lnTo>
                  <a:lnTo>
                    <a:pt x="2203" y="929"/>
                  </a:lnTo>
                  <a:lnTo>
                    <a:pt x="2234" y="895"/>
                  </a:lnTo>
                  <a:lnTo>
                    <a:pt x="2254" y="860"/>
                  </a:lnTo>
                  <a:lnTo>
                    <a:pt x="2262" y="820"/>
                  </a:lnTo>
                  <a:lnTo>
                    <a:pt x="2259" y="776"/>
                  </a:lnTo>
                  <a:lnTo>
                    <a:pt x="2245" y="726"/>
                  </a:lnTo>
                  <a:lnTo>
                    <a:pt x="2220" y="669"/>
                  </a:lnTo>
                  <a:lnTo>
                    <a:pt x="2203" y="638"/>
                  </a:lnTo>
                  <a:lnTo>
                    <a:pt x="2171" y="579"/>
                  </a:lnTo>
                  <a:lnTo>
                    <a:pt x="2122" y="498"/>
                  </a:lnTo>
                  <a:lnTo>
                    <a:pt x="2084" y="451"/>
                  </a:lnTo>
                  <a:lnTo>
                    <a:pt x="2046" y="426"/>
                  </a:lnTo>
                  <a:lnTo>
                    <a:pt x="2023" y="418"/>
                  </a:lnTo>
                  <a:lnTo>
                    <a:pt x="2005" y="412"/>
                  </a:lnTo>
                  <a:lnTo>
                    <a:pt x="1973" y="408"/>
                  </a:lnTo>
                  <a:lnTo>
                    <a:pt x="1937" y="415"/>
                  </a:lnTo>
                  <a:lnTo>
                    <a:pt x="1887" y="435"/>
                  </a:lnTo>
                  <a:lnTo>
                    <a:pt x="1851" y="451"/>
                  </a:lnTo>
                  <a:lnTo>
                    <a:pt x="1736" y="505"/>
                  </a:lnTo>
                  <a:lnTo>
                    <a:pt x="1635" y="438"/>
                  </a:lnTo>
                  <a:lnTo>
                    <a:pt x="1592" y="411"/>
                  </a:lnTo>
                  <a:lnTo>
                    <a:pt x="1509" y="364"/>
                  </a:lnTo>
                  <a:lnTo>
                    <a:pt x="1483" y="351"/>
                  </a:lnTo>
                  <a:lnTo>
                    <a:pt x="1466" y="344"/>
                  </a:lnTo>
                  <a:lnTo>
                    <a:pt x="1445" y="330"/>
                  </a:lnTo>
                  <a:lnTo>
                    <a:pt x="1435" y="309"/>
                  </a:lnTo>
                  <a:lnTo>
                    <a:pt x="1431" y="271"/>
                  </a:lnTo>
                  <a:lnTo>
                    <a:pt x="1431" y="243"/>
                  </a:lnTo>
                  <a:lnTo>
                    <a:pt x="1431" y="203"/>
                  </a:lnTo>
                  <a:lnTo>
                    <a:pt x="1421" y="135"/>
                  </a:lnTo>
                  <a:lnTo>
                    <a:pt x="1402" y="81"/>
                  </a:lnTo>
                  <a:lnTo>
                    <a:pt x="1374" y="42"/>
                  </a:lnTo>
                  <a:lnTo>
                    <a:pt x="1356" y="28"/>
                  </a:lnTo>
                  <a:lnTo>
                    <a:pt x="1343" y="21"/>
                  </a:lnTo>
                  <a:lnTo>
                    <a:pt x="1297" y="10"/>
                  </a:lnTo>
                  <a:lnTo>
                    <a:pt x="1201" y="0"/>
                  </a:lnTo>
                  <a:lnTo>
                    <a:pt x="1052" y="2"/>
                  </a:lnTo>
                  <a:lnTo>
                    <a:pt x="958" y="13"/>
                  </a:lnTo>
                  <a:lnTo>
                    <a:pt x="915" y="24"/>
                  </a:lnTo>
                  <a:lnTo>
                    <a:pt x="903" y="31"/>
                  </a:lnTo>
                  <a:close/>
                  <a:moveTo>
                    <a:pt x="1271" y="181"/>
                  </a:moveTo>
                  <a:lnTo>
                    <a:pt x="1276" y="199"/>
                  </a:lnTo>
                  <a:lnTo>
                    <a:pt x="1280" y="272"/>
                  </a:lnTo>
                  <a:lnTo>
                    <a:pt x="1280" y="315"/>
                  </a:lnTo>
                  <a:lnTo>
                    <a:pt x="1279" y="351"/>
                  </a:lnTo>
                  <a:lnTo>
                    <a:pt x="1285" y="408"/>
                  </a:lnTo>
                  <a:lnTo>
                    <a:pt x="1300" y="447"/>
                  </a:lnTo>
                  <a:lnTo>
                    <a:pt x="1317" y="463"/>
                  </a:lnTo>
                  <a:lnTo>
                    <a:pt x="1330" y="468"/>
                  </a:lnTo>
                  <a:lnTo>
                    <a:pt x="1338" y="468"/>
                  </a:lnTo>
                  <a:lnTo>
                    <a:pt x="1357" y="471"/>
                  </a:lnTo>
                  <a:lnTo>
                    <a:pt x="1423" y="498"/>
                  </a:lnTo>
                  <a:lnTo>
                    <a:pt x="1506" y="542"/>
                  </a:lnTo>
                  <a:lnTo>
                    <a:pt x="1586" y="594"/>
                  </a:lnTo>
                  <a:lnTo>
                    <a:pt x="1618" y="618"/>
                  </a:lnTo>
                  <a:lnTo>
                    <a:pt x="1653" y="645"/>
                  </a:lnTo>
                  <a:lnTo>
                    <a:pt x="1714" y="681"/>
                  </a:lnTo>
                  <a:lnTo>
                    <a:pt x="1730" y="685"/>
                  </a:lnTo>
                  <a:lnTo>
                    <a:pt x="1746" y="681"/>
                  </a:lnTo>
                  <a:lnTo>
                    <a:pt x="1814" y="649"/>
                  </a:lnTo>
                  <a:lnTo>
                    <a:pt x="1855" y="625"/>
                  </a:lnTo>
                  <a:lnTo>
                    <a:pt x="1895" y="602"/>
                  </a:lnTo>
                  <a:lnTo>
                    <a:pt x="1945" y="580"/>
                  </a:lnTo>
                  <a:lnTo>
                    <a:pt x="1967" y="574"/>
                  </a:lnTo>
                  <a:lnTo>
                    <a:pt x="1973" y="575"/>
                  </a:lnTo>
                  <a:lnTo>
                    <a:pt x="1985" y="584"/>
                  </a:lnTo>
                  <a:lnTo>
                    <a:pt x="2028" y="646"/>
                  </a:lnTo>
                  <a:lnTo>
                    <a:pt x="2075" y="727"/>
                  </a:lnTo>
                  <a:lnTo>
                    <a:pt x="2099" y="778"/>
                  </a:lnTo>
                  <a:lnTo>
                    <a:pt x="2106" y="799"/>
                  </a:lnTo>
                  <a:lnTo>
                    <a:pt x="2105" y="803"/>
                  </a:lnTo>
                  <a:lnTo>
                    <a:pt x="2096" y="811"/>
                  </a:lnTo>
                  <a:lnTo>
                    <a:pt x="2034" y="852"/>
                  </a:lnTo>
                  <a:lnTo>
                    <a:pt x="1990" y="878"/>
                  </a:lnTo>
                  <a:lnTo>
                    <a:pt x="1946" y="905"/>
                  </a:lnTo>
                  <a:lnTo>
                    <a:pt x="1896" y="942"/>
                  </a:lnTo>
                  <a:lnTo>
                    <a:pt x="1876" y="962"/>
                  </a:lnTo>
                  <a:lnTo>
                    <a:pt x="1873" y="968"/>
                  </a:lnTo>
                  <a:lnTo>
                    <a:pt x="1871" y="982"/>
                  </a:lnTo>
                  <a:lnTo>
                    <a:pt x="1876" y="1032"/>
                  </a:lnTo>
                  <a:lnTo>
                    <a:pt x="1881" y="1060"/>
                  </a:lnTo>
                  <a:lnTo>
                    <a:pt x="1888" y="1092"/>
                  </a:lnTo>
                  <a:lnTo>
                    <a:pt x="1896" y="1168"/>
                  </a:lnTo>
                  <a:lnTo>
                    <a:pt x="1896" y="1248"/>
                  </a:lnTo>
                  <a:lnTo>
                    <a:pt x="1889" y="1325"/>
                  </a:lnTo>
                  <a:lnTo>
                    <a:pt x="1883" y="1358"/>
                  </a:lnTo>
                  <a:lnTo>
                    <a:pt x="1877" y="1385"/>
                  </a:lnTo>
                  <a:lnTo>
                    <a:pt x="1874" y="1433"/>
                  </a:lnTo>
                  <a:lnTo>
                    <a:pt x="1876" y="1446"/>
                  </a:lnTo>
                  <a:lnTo>
                    <a:pt x="1887" y="1460"/>
                  </a:lnTo>
                  <a:lnTo>
                    <a:pt x="1955" y="1514"/>
                  </a:lnTo>
                  <a:lnTo>
                    <a:pt x="2001" y="1545"/>
                  </a:lnTo>
                  <a:lnTo>
                    <a:pt x="2115" y="1618"/>
                  </a:lnTo>
                  <a:lnTo>
                    <a:pt x="2070" y="1698"/>
                  </a:lnTo>
                  <a:lnTo>
                    <a:pt x="2027" y="1770"/>
                  </a:lnTo>
                  <a:lnTo>
                    <a:pt x="1996" y="1818"/>
                  </a:lnTo>
                  <a:lnTo>
                    <a:pt x="1970" y="1858"/>
                  </a:lnTo>
                  <a:lnTo>
                    <a:pt x="1866" y="1796"/>
                  </a:lnTo>
                  <a:lnTo>
                    <a:pt x="1823" y="1772"/>
                  </a:lnTo>
                  <a:lnTo>
                    <a:pt x="1747" y="1738"/>
                  </a:lnTo>
                  <a:lnTo>
                    <a:pt x="1728" y="1735"/>
                  </a:lnTo>
                  <a:lnTo>
                    <a:pt x="1720" y="1736"/>
                  </a:lnTo>
                  <a:lnTo>
                    <a:pt x="1698" y="1744"/>
                  </a:lnTo>
                  <a:lnTo>
                    <a:pt x="1656" y="1770"/>
                  </a:lnTo>
                  <a:lnTo>
                    <a:pt x="1626" y="1793"/>
                  </a:lnTo>
                  <a:lnTo>
                    <a:pt x="1593" y="1819"/>
                  </a:lnTo>
                  <a:lnTo>
                    <a:pt x="1506" y="1874"/>
                  </a:lnTo>
                  <a:lnTo>
                    <a:pt x="1465" y="1895"/>
                  </a:lnTo>
                  <a:lnTo>
                    <a:pt x="1400" y="1924"/>
                  </a:lnTo>
                  <a:lnTo>
                    <a:pt x="1339" y="1953"/>
                  </a:lnTo>
                  <a:lnTo>
                    <a:pt x="1314" y="1970"/>
                  </a:lnTo>
                  <a:lnTo>
                    <a:pt x="1298" y="1986"/>
                  </a:lnTo>
                  <a:lnTo>
                    <a:pt x="1290" y="2005"/>
                  </a:lnTo>
                  <a:lnTo>
                    <a:pt x="1286" y="2044"/>
                  </a:lnTo>
                  <a:lnTo>
                    <a:pt x="1285" y="2085"/>
                  </a:lnTo>
                  <a:lnTo>
                    <a:pt x="1283" y="2150"/>
                  </a:lnTo>
                  <a:lnTo>
                    <a:pt x="1277" y="2212"/>
                  </a:lnTo>
                  <a:lnTo>
                    <a:pt x="1269" y="2239"/>
                  </a:lnTo>
                  <a:lnTo>
                    <a:pt x="1255" y="2255"/>
                  </a:lnTo>
                  <a:lnTo>
                    <a:pt x="1233" y="2264"/>
                  </a:lnTo>
                  <a:lnTo>
                    <a:pt x="1183" y="2268"/>
                  </a:lnTo>
                  <a:lnTo>
                    <a:pt x="1131" y="2268"/>
                  </a:lnTo>
                  <a:lnTo>
                    <a:pt x="1079" y="2268"/>
                  </a:lnTo>
                  <a:lnTo>
                    <a:pt x="1030" y="2264"/>
                  </a:lnTo>
                  <a:lnTo>
                    <a:pt x="1008" y="2255"/>
                  </a:lnTo>
                  <a:lnTo>
                    <a:pt x="994" y="2239"/>
                  </a:lnTo>
                  <a:lnTo>
                    <a:pt x="986" y="2212"/>
                  </a:lnTo>
                  <a:lnTo>
                    <a:pt x="980" y="2150"/>
                  </a:lnTo>
                  <a:lnTo>
                    <a:pt x="978" y="2085"/>
                  </a:lnTo>
                  <a:lnTo>
                    <a:pt x="977" y="2044"/>
                  </a:lnTo>
                  <a:lnTo>
                    <a:pt x="973" y="2005"/>
                  </a:lnTo>
                  <a:lnTo>
                    <a:pt x="964" y="1986"/>
                  </a:lnTo>
                  <a:lnTo>
                    <a:pt x="949" y="1970"/>
                  </a:lnTo>
                  <a:lnTo>
                    <a:pt x="923" y="1953"/>
                  </a:lnTo>
                  <a:lnTo>
                    <a:pt x="863" y="1924"/>
                  </a:lnTo>
                  <a:lnTo>
                    <a:pt x="798" y="1895"/>
                  </a:lnTo>
                  <a:lnTo>
                    <a:pt x="757" y="1874"/>
                  </a:lnTo>
                  <a:lnTo>
                    <a:pt x="669" y="1819"/>
                  </a:lnTo>
                  <a:lnTo>
                    <a:pt x="636" y="1793"/>
                  </a:lnTo>
                  <a:lnTo>
                    <a:pt x="607" y="1770"/>
                  </a:lnTo>
                  <a:lnTo>
                    <a:pt x="565" y="1744"/>
                  </a:lnTo>
                  <a:lnTo>
                    <a:pt x="542" y="1736"/>
                  </a:lnTo>
                  <a:lnTo>
                    <a:pt x="535" y="1735"/>
                  </a:lnTo>
                  <a:lnTo>
                    <a:pt x="516" y="1738"/>
                  </a:lnTo>
                  <a:lnTo>
                    <a:pt x="441" y="1771"/>
                  </a:lnTo>
                  <a:lnTo>
                    <a:pt x="398" y="1796"/>
                  </a:lnTo>
                  <a:lnTo>
                    <a:pt x="358" y="1820"/>
                  </a:lnTo>
                  <a:lnTo>
                    <a:pt x="317" y="1840"/>
                  </a:lnTo>
                  <a:lnTo>
                    <a:pt x="296" y="1842"/>
                  </a:lnTo>
                  <a:lnTo>
                    <a:pt x="278" y="1834"/>
                  </a:lnTo>
                  <a:lnTo>
                    <a:pt x="260" y="1816"/>
                  </a:lnTo>
                  <a:lnTo>
                    <a:pt x="229" y="1766"/>
                  </a:lnTo>
                  <a:lnTo>
                    <a:pt x="200" y="1713"/>
                  </a:lnTo>
                  <a:lnTo>
                    <a:pt x="148" y="1618"/>
                  </a:lnTo>
                  <a:lnTo>
                    <a:pt x="261" y="1545"/>
                  </a:lnTo>
                  <a:lnTo>
                    <a:pt x="308" y="1514"/>
                  </a:lnTo>
                  <a:lnTo>
                    <a:pt x="375" y="1462"/>
                  </a:lnTo>
                  <a:lnTo>
                    <a:pt x="385" y="1448"/>
                  </a:lnTo>
                  <a:lnTo>
                    <a:pt x="387" y="1434"/>
                  </a:lnTo>
                  <a:lnTo>
                    <a:pt x="382" y="1366"/>
                  </a:lnTo>
                  <a:lnTo>
                    <a:pt x="376" y="1323"/>
                  </a:lnTo>
                  <a:lnTo>
                    <a:pt x="369" y="1271"/>
                  </a:lnTo>
                  <a:lnTo>
                    <a:pt x="368" y="1161"/>
                  </a:lnTo>
                  <a:lnTo>
                    <a:pt x="375" y="1105"/>
                  </a:lnTo>
                  <a:lnTo>
                    <a:pt x="381" y="1058"/>
                  </a:lnTo>
                  <a:lnTo>
                    <a:pt x="386" y="983"/>
                  </a:lnTo>
                  <a:lnTo>
                    <a:pt x="385" y="966"/>
                  </a:lnTo>
                  <a:lnTo>
                    <a:pt x="382" y="961"/>
                  </a:lnTo>
                  <a:lnTo>
                    <a:pt x="365" y="942"/>
                  </a:lnTo>
                  <a:lnTo>
                    <a:pt x="316" y="905"/>
                  </a:lnTo>
                  <a:lnTo>
                    <a:pt x="273" y="878"/>
                  </a:lnTo>
                  <a:lnTo>
                    <a:pt x="229" y="852"/>
                  </a:lnTo>
                  <a:lnTo>
                    <a:pt x="167" y="811"/>
                  </a:lnTo>
                  <a:lnTo>
                    <a:pt x="158" y="803"/>
                  </a:lnTo>
                  <a:lnTo>
                    <a:pt x="157" y="799"/>
                  </a:lnTo>
                  <a:lnTo>
                    <a:pt x="164" y="778"/>
                  </a:lnTo>
                  <a:lnTo>
                    <a:pt x="188" y="727"/>
                  </a:lnTo>
                  <a:lnTo>
                    <a:pt x="235" y="646"/>
                  </a:lnTo>
                  <a:lnTo>
                    <a:pt x="277" y="584"/>
                  </a:lnTo>
                  <a:lnTo>
                    <a:pt x="290" y="575"/>
                  </a:lnTo>
                  <a:lnTo>
                    <a:pt x="295" y="574"/>
                  </a:lnTo>
                  <a:lnTo>
                    <a:pt x="318" y="580"/>
                  </a:lnTo>
                  <a:lnTo>
                    <a:pt x="368" y="602"/>
                  </a:lnTo>
                  <a:lnTo>
                    <a:pt x="408" y="625"/>
                  </a:lnTo>
                  <a:lnTo>
                    <a:pt x="448" y="649"/>
                  </a:lnTo>
                  <a:lnTo>
                    <a:pt x="517" y="681"/>
                  </a:lnTo>
                  <a:lnTo>
                    <a:pt x="535" y="685"/>
                  </a:lnTo>
                  <a:lnTo>
                    <a:pt x="550" y="681"/>
                  </a:lnTo>
                  <a:lnTo>
                    <a:pt x="604" y="648"/>
                  </a:lnTo>
                  <a:lnTo>
                    <a:pt x="635" y="623"/>
                  </a:lnTo>
                  <a:lnTo>
                    <a:pt x="669" y="596"/>
                  </a:lnTo>
                  <a:lnTo>
                    <a:pt x="767" y="537"/>
                  </a:lnTo>
                  <a:lnTo>
                    <a:pt x="815" y="515"/>
                  </a:lnTo>
                  <a:lnTo>
                    <a:pt x="905" y="474"/>
                  </a:lnTo>
                  <a:lnTo>
                    <a:pt x="948" y="453"/>
                  </a:lnTo>
                  <a:lnTo>
                    <a:pt x="955" y="448"/>
                  </a:lnTo>
                  <a:lnTo>
                    <a:pt x="965" y="429"/>
                  </a:lnTo>
                  <a:lnTo>
                    <a:pt x="975" y="376"/>
                  </a:lnTo>
                  <a:lnTo>
                    <a:pt x="978" y="316"/>
                  </a:lnTo>
                  <a:lnTo>
                    <a:pt x="980" y="266"/>
                  </a:lnTo>
                  <a:lnTo>
                    <a:pt x="986" y="187"/>
                  </a:lnTo>
                  <a:lnTo>
                    <a:pt x="990" y="171"/>
                  </a:lnTo>
                  <a:lnTo>
                    <a:pt x="993" y="167"/>
                  </a:lnTo>
                  <a:lnTo>
                    <a:pt x="1011" y="159"/>
                  </a:lnTo>
                  <a:lnTo>
                    <a:pt x="1067" y="152"/>
                  </a:lnTo>
                  <a:lnTo>
                    <a:pt x="1130" y="151"/>
                  </a:lnTo>
                  <a:lnTo>
                    <a:pt x="1203" y="152"/>
                  </a:lnTo>
                  <a:lnTo>
                    <a:pt x="1253" y="161"/>
                  </a:lnTo>
                  <a:lnTo>
                    <a:pt x="1268" y="173"/>
                  </a:lnTo>
                  <a:lnTo>
                    <a:pt x="1271"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38">
              <a:extLst>
                <a:ext uri="{FF2B5EF4-FFF2-40B4-BE49-F238E27FC236}">
                  <a16:creationId xmlns:a16="http://schemas.microsoft.com/office/drawing/2014/main" id="{60990E41-FF95-7556-A05F-8CA950459089}"/>
                </a:ext>
              </a:extLst>
            </p:cNvPr>
            <p:cNvSpPr>
              <a:spLocks noEditPoints="1"/>
            </p:cNvSpPr>
            <p:nvPr/>
          </p:nvSpPr>
          <p:spPr bwMode="auto">
            <a:xfrm>
              <a:off x="10985501" y="4994275"/>
              <a:ext cx="425450" cy="428625"/>
            </a:xfrm>
            <a:custGeom>
              <a:avLst/>
              <a:gdLst>
                <a:gd name="T0" fmla="*/ 426 w 1115"/>
                <a:gd name="T1" fmla="*/ 12 h 1126"/>
                <a:gd name="T2" fmla="*/ 304 w 1115"/>
                <a:gd name="T3" fmla="*/ 60 h 1126"/>
                <a:gd name="T4" fmla="*/ 192 w 1115"/>
                <a:gd name="T5" fmla="*/ 136 h 1126"/>
                <a:gd name="T6" fmla="*/ 99 w 1115"/>
                <a:gd name="T7" fmla="*/ 236 h 1126"/>
                <a:gd name="T8" fmla="*/ 47 w 1115"/>
                <a:gd name="T9" fmla="*/ 321 h 1126"/>
                <a:gd name="T10" fmla="*/ 14 w 1115"/>
                <a:gd name="T11" fmla="*/ 399 h 1126"/>
                <a:gd name="T12" fmla="*/ 0 w 1115"/>
                <a:gd name="T13" fmla="*/ 518 h 1126"/>
                <a:gd name="T14" fmla="*/ 1 w 1115"/>
                <a:gd name="T15" fmla="*/ 611 h 1126"/>
                <a:gd name="T16" fmla="*/ 15 w 1115"/>
                <a:gd name="T17" fmla="*/ 731 h 1126"/>
                <a:gd name="T18" fmla="*/ 50 w 1115"/>
                <a:gd name="T19" fmla="*/ 811 h 1126"/>
                <a:gd name="T20" fmla="*/ 105 w 1115"/>
                <a:gd name="T21" fmla="*/ 901 h 1126"/>
                <a:gd name="T22" fmla="*/ 199 w 1115"/>
                <a:gd name="T23" fmla="*/ 997 h 1126"/>
                <a:gd name="T24" fmla="*/ 310 w 1115"/>
                <a:gd name="T25" fmla="*/ 1068 h 1126"/>
                <a:gd name="T26" fmla="*/ 432 w 1115"/>
                <a:gd name="T27" fmla="*/ 1111 h 1126"/>
                <a:gd name="T28" fmla="*/ 561 w 1115"/>
                <a:gd name="T29" fmla="*/ 1126 h 1126"/>
                <a:gd name="T30" fmla="*/ 690 w 1115"/>
                <a:gd name="T31" fmla="*/ 1111 h 1126"/>
                <a:gd name="T32" fmla="*/ 813 w 1115"/>
                <a:gd name="T33" fmla="*/ 1067 h 1126"/>
                <a:gd name="T34" fmla="*/ 925 w 1115"/>
                <a:gd name="T35" fmla="*/ 991 h 1126"/>
                <a:gd name="T36" fmla="*/ 995 w 1115"/>
                <a:gd name="T37" fmla="*/ 919 h 1126"/>
                <a:gd name="T38" fmla="*/ 1071 w 1115"/>
                <a:gd name="T39" fmla="*/ 809 h 1126"/>
                <a:gd name="T40" fmla="*/ 1103 w 1115"/>
                <a:gd name="T41" fmla="*/ 713 h 1126"/>
                <a:gd name="T42" fmla="*/ 1115 w 1115"/>
                <a:gd name="T43" fmla="*/ 565 h 1126"/>
                <a:gd name="T44" fmla="*/ 1112 w 1115"/>
                <a:gd name="T45" fmla="*/ 451 h 1126"/>
                <a:gd name="T46" fmla="*/ 1084 w 1115"/>
                <a:gd name="T47" fmla="*/ 350 h 1126"/>
                <a:gd name="T48" fmla="*/ 1049 w 1115"/>
                <a:gd name="T49" fmla="*/ 280 h 1126"/>
                <a:gd name="T50" fmla="*/ 930 w 1115"/>
                <a:gd name="T51" fmla="*/ 140 h 1126"/>
                <a:gd name="T52" fmla="*/ 774 w 1115"/>
                <a:gd name="T53" fmla="*/ 44 h 1126"/>
                <a:gd name="T54" fmla="*/ 596 w 1115"/>
                <a:gd name="T55" fmla="*/ 0 h 1126"/>
                <a:gd name="T56" fmla="*/ 457 w 1115"/>
                <a:gd name="T57" fmla="*/ 6 h 1126"/>
                <a:gd name="T58" fmla="*/ 773 w 1115"/>
                <a:gd name="T59" fmla="*/ 216 h 1126"/>
                <a:gd name="T60" fmla="*/ 896 w 1115"/>
                <a:gd name="T61" fmla="*/ 331 h 1126"/>
                <a:gd name="T62" fmla="*/ 950 w 1115"/>
                <a:gd name="T63" fmla="*/ 446 h 1126"/>
                <a:gd name="T64" fmla="*/ 973 w 1115"/>
                <a:gd name="T65" fmla="*/ 542 h 1126"/>
                <a:gd name="T66" fmla="*/ 960 w 1115"/>
                <a:gd name="T67" fmla="*/ 650 h 1126"/>
                <a:gd name="T68" fmla="*/ 937 w 1115"/>
                <a:gd name="T69" fmla="*/ 715 h 1126"/>
                <a:gd name="T70" fmla="*/ 877 w 1115"/>
                <a:gd name="T71" fmla="*/ 819 h 1126"/>
                <a:gd name="T72" fmla="*/ 794 w 1115"/>
                <a:gd name="T73" fmla="*/ 898 h 1126"/>
                <a:gd name="T74" fmla="*/ 692 w 1115"/>
                <a:gd name="T75" fmla="*/ 950 h 1126"/>
                <a:gd name="T76" fmla="*/ 605 w 1115"/>
                <a:gd name="T77" fmla="*/ 968 h 1126"/>
                <a:gd name="T78" fmla="*/ 524 w 1115"/>
                <a:gd name="T79" fmla="*/ 969 h 1126"/>
                <a:gd name="T80" fmla="*/ 424 w 1115"/>
                <a:gd name="T81" fmla="*/ 948 h 1126"/>
                <a:gd name="T82" fmla="*/ 335 w 1115"/>
                <a:gd name="T83" fmla="*/ 906 h 1126"/>
                <a:gd name="T84" fmla="*/ 260 w 1115"/>
                <a:gd name="T85" fmla="*/ 844 h 1126"/>
                <a:gd name="T86" fmla="*/ 202 w 1115"/>
                <a:gd name="T87" fmla="*/ 767 h 1126"/>
                <a:gd name="T88" fmla="*/ 164 w 1115"/>
                <a:gd name="T89" fmla="*/ 679 h 1126"/>
                <a:gd name="T90" fmla="*/ 148 w 1115"/>
                <a:gd name="T91" fmla="*/ 582 h 1126"/>
                <a:gd name="T92" fmla="*/ 158 w 1115"/>
                <a:gd name="T93" fmla="*/ 479 h 1126"/>
                <a:gd name="T94" fmla="*/ 176 w 1115"/>
                <a:gd name="T95" fmla="*/ 420 h 1126"/>
                <a:gd name="T96" fmla="*/ 242 w 1115"/>
                <a:gd name="T97" fmla="*/ 305 h 1126"/>
                <a:gd name="T98" fmla="*/ 338 w 1115"/>
                <a:gd name="T99" fmla="*/ 219 h 1126"/>
                <a:gd name="T100" fmla="*/ 458 w 1115"/>
                <a:gd name="T101" fmla="*/ 168 h 1126"/>
                <a:gd name="T102" fmla="*/ 558 w 1115"/>
                <a:gd name="T103" fmla="*/ 156 h 1126"/>
                <a:gd name="T104" fmla="*/ 626 w 1115"/>
                <a:gd name="T105" fmla="*/ 162 h 1126"/>
                <a:gd name="T106" fmla="*/ 714 w 1115"/>
                <a:gd name="T107" fmla="*/ 187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15" h="1126">
                  <a:moveTo>
                    <a:pt x="457" y="6"/>
                  </a:moveTo>
                  <a:lnTo>
                    <a:pt x="426" y="12"/>
                  </a:lnTo>
                  <a:lnTo>
                    <a:pt x="364" y="32"/>
                  </a:lnTo>
                  <a:lnTo>
                    <a:pt x="304" y="60"/>
                  </a:lnTo>
                  <a:lnTo>
                    <a:pt x="246" y="95"/>
                  </a:lnTo>
                  <a:lnTo>
                    <a:pt x="192" y="136"/>
                  </a:lnTo>
                  <a:lnTo>
                    <a:pt x="142" y="184"/>
                  </a:lnTo>
                  <a:lnTo>
                    <a:pt x="99" y="236"/>
                  </a:lnTo>
                  <a:lnTo>
                    <a:pt x="62" y="292"/>
                  </a:lnTo>
                  <a:lnTo>
                    <a:pt x="47" y="321"/>
                  </a:lnTo>
                  <a:lnTo>
                    <a:pt x="33" y="350"/>
                  </a:lnTo>
                  <a:lnTo>
                    <a:pt x="14" y="399"/>
                  </a:lnTo>
                  <a:lnTo>
                    <a:pt x="4" y="451"/>
                  </a:lnTo>
                  <a:lnTo>
                    <a:pt x="0" y="518"/>
                  </a:lnTo>
                  <a:lnTo>
                    <a:pt x="0" y="565"/>
                  </a:lnTo>
                  <a:lnTo>
                    <a:pt x="1" y="611"/>
                  </a:lnTo>
                  <a:lnTo>
                    <a:pt x="5" y="679"/>
                  </a:lnTo>
                  <a:lnTo>
                    <a:pt x="15" y="731"/>
                  </a:lnTo>
                  <a:lnTo>
                    <a:pt x="35" y="781"/>
                  </a:lnTo>
                  <a:lnTo>
                    <a:pt x="50" y="811"/>
                  </a:lnTo>
                  <a:lnTo>
                    <a:pt x="67" y="843"/>
                  </a:lnTo>
                  <a:lnTo>
                    <a:pt x="105" y="901"/>
                  </a:lnTo>
                  <a:lnTo>
                    <a:pt x="149" y="952"/>
                  </a:lnTo>
                  <a:lnTo>
                    <a:pt x="199" y="997"/>
                  </a:lnTo>
                  <a:lnTo>
                    <a:pt x="252" y="1036"/>
                  </a:lnTo>
                  <a:lnTo>
                    <a:pt x="310" y="1068"/>
                  </a:lnTo>
                  <a:lnTo>
                    <a:pt x="370" y="1093"/>
                  </a:lnTo>
                  <a:lnTo>
                    <a:pt x="432" y="1111"/>
                  </a:lnTo>
                  <a:lnTo>
                    <a:pt x="496" y="1122"/>
                  </a:lnTo>
                  <a:lnTo>
                    <a:pt x="561" y="1126"/>
                  </a:lnTo>
                  <a:lnTo>
                    <a:pt x="626" y="1122"/>
                  </a:lnTo>
                  <a:lnTo>
                    <a:pt x="690" y="1111"/>
                  </a:lnTo>
                  <a:lnTo>
                    <a:pt x="753" y="1093"/>
                  </a:lnTo>
                  <a:lnTo>
                    <a:pt x="813" y="1067"/>
                  </a:lnTo>
                  <a:lnTo>
                    <a:pt x="871" y="1033"/>
                  </a:lnTo>
                  <a:lnTo>
                    <a:pt x="925" y="991"/>
                  </a:lnTo>
                  <a:lnTo>
                    <a:pt x="950" y="966"/>
                  </a:lnTo>
                  <a:lnTo>
                    <a:pt x="995" y="919"/>
                  </a:lnTo>
                  <a:lnTo>
                    <a:pt x="1045" y="853"/>
                  </a:lnTo>
                  <a:lnTo>
                    <a:pt x="1071" y="809"/>
                  </a:lnTo>
                  <a:lnTo>
                    <a:pt x="1090" y="763"/>
                  </a:lnTo>
                  <a:lnTo>
                    <a:pt x="1103" y="713"/>
                  </a:lnTo>
                  <a:lnTo>
                    <a:pt x="1114" y="631"/>
                  </a:lnTo>
                  <a:lnTo>
                    <a:pt x="1115" y="565"/>
                  </a:lnTo>
                  <a:lnTo>
                    <a:pt x="1115" y="519"/>
                  </a:lnTo>
                  <a:lnTo>
                    <a:pt x="1112" y="451"/>
                  </a:lnTo>
                  <a:lnTo>
                    <a:pt x="1102" y="399"/>
                  </a:lnTo>
                  <a:lnTo>
                    <a:pt x="1084" y="350"/>
                  </a:lnTo>
                  <a:lnTo>
                    <a:pt x="1070" y="321"/>
                  </a:lnTo>
                  <a:lnTo>
                    <a:pt x="1049" y="280"/>
                  </a:lnTo>
                  <a:lnTo>
                    <a:pt x="995" y="205"/>
                  </a:lnTo>
                  <a:lnTo>
                    <a:pt x="930" y="140"/>
                  </a:lnTo>
                  <a:lnTo>
                    <a:pt x="856" y="86"/>
                  </a:lnTo>
                  <a:lnTo>
                    <a:pt x="774" y="44"/>
                  </a:lnTo>
                  <a:lnTo>
                    <a:pt x="687" y="15"/>
                  </a:lnTo>
                  <a:lnTo>
                    <a:pt x="596" y="0"/>
                  </a:lnTo>
                  <a:lnTo>
                    <a:pt x="503" y="0"/>
                  </a:lnTo>
                  <a:lnTo>
                    <a:pt x="457" y="6"/>
                  </a:lnTo>
                  <a:close/>
                  <a:moveTo>
                    <a:pt x="735" y="196"/>
                  </a:moveTo>
                  <a:lnTo>
                    <a:pt x="773" y="216"/>
                  </a:lnTo>
                  <a:lnTo>
                    <a:pt x="841" y="267"/>
                  </a:lnTo>
                  <a:lnTo>
                    <a:pt x="896" y="331"/>
                  </a:lnTo>
                  <a:lnTo>
                    <a:pt x="937" y="406"/>
                  </a:lnTo>
                  <a:lnTo>
                    <a:pt x="950" y="446"/>
                  </a:lnTo>
                  <a:lnTo>
                    <a:pt x="961" y="484"/>
                  </a:lnTo>
                  <a:lnTo>
                    <a:pt x="973" y="542"/>
                  </a:lnTo>
                  <a:lnTo>
                    <a:pt x="972" y="594"/>
                  </a:lnTo>
                  <a:lnTo>
                    <a:pt x="960" y="650"/>
                  </a:lnTo>
                  <a:lnTo>
                    <a:pt x="948" y="685"/>
                  </a:lnTo>
                  <a:lnTo>
                    <a:pt x="937" y="715"/>
                  </a:lnTo>
                  <a:lnTo>
                    <a:pt x="910" y="770"/>
                  </a:lnTo>
                  <a:lnTo>
                    <a:pt x="877" y="819"/>
                  </a:lnTo>
                  <a:lnTo>
                    <a:pt x="838" y="862"/>
                  </a:lnTo>
                  <a:lnTo>
                    <a:pt x="794" y="898"/>
                  </a:lnTo>
                  <a:lnTo>
                    <a:pt x="745" y="928"/>
                  </a:lnTo>
                  <a:lnTo>
                    <a:pt x="692" y="950"/>
                  </a:lnTo>
                  <a:lnTo>
                    <a:pt x="635" y="964"/>
                  </a:lnTo>
                  <a:lnTo>
                    <a:pt x="605" y="968"/>
                  </a:lnTo>
                  <a:lnTo>
                    <a:pt x="578" y="970"/>
                  </a:lnTo>
                  <a:lnTo>
                    <a:pt x="524" y="969"/>
                  </a:lnTo>
                  <a:lnTo>
                    <a:pt x="473" y="962"/>
                  </a:lnTo>
                  <a:lnTo>
                    <a:pt x="424" y="948"/>
                  </a:lnTo>
                  <a:lnTo>
                    <a:pt x="378" y="929"/>
                  </a:lnTo>
                  <a:lnTo>
                    <a:pt x="335" y="906"/>
                  </a:lnTo>
                  <a:lnTo>
                    <a:pt x="296" y="877"/>
                  </a:lnTo>
                  <a:lnTo>
                    <a:pt x="260" y="844"/>
                  </a:lnTo>
                  <a:lnTo>
                    <a:pt x="229" y="808"/>
                  </a:lnTo>
                  <a:lnTo>
                    <a:pt x="202" y="767"/>
                  </a:lnTo>
                  <a:lnTo>
                    <a:pt x="181" y="724"/>
                  </a:lnTo>
                  <a:lnTo>
                    <a:pt x="164" y="679"/>
                  </a:lnTo>
                  <a:lnTo>
                    <a:pt x="153" y="631"/>
                  </a:lnTo>
                  <a:lnTo>
                    <a:pt x="148" y="582"/>
                  </a:lnTo>
                  <a:lnTo>
                    <a:pt x="150" y="531"/>
                  </a:lnTo>
                  <a:lnTo>
                    <a:pt x="158" y="479"/>
                  </a:lnTo>
                  <a:lnTo>
                    <a:pt x="165" y="453"/>
                  </a:lnTo>
                  <a:lnTo>
                    <a:pt x="176" y="420"/>
                  </a:lnTo>
                  <a:lnTo>
                    <a:pt x="204" y="359"/>
                  </a:lnTo>
                  <a:lnTo>
                    <a:pt x="242" y="305"/>
                  </a:lnTo>
                  <a:lnTo>
                    <a:pt x="286" y="258"/>
                  </a:lnTo>
                  <a:lnTo>
                    <a:pt x="338" y="219"/>
                  </a:lnTo>
                  <a:lnTo>
                    <a:pt x="395" y="189"/>
                  </a:lnTo>
                  <a:lnTo>
                    <a:pt x="458" y="168"/>
                  </a:lnTo>
                  <a:lnTo>
                    <a:pt x="524" y="157"/>
                  </a:lnTo>
                  <a:lnTo>
                    <a:pt x="558" y="156"/>
                  </a:lnTo>
                  <a:lnTo>
                    <a:pt x="581" y="157"/>
                  </a:lnTo>
                  <a:lnTo>
                    <a:pt x="626" y="162"/>
                  </a:lnTo>
                  <a:lnTo>
                    <a:pt x="670" y="172"/>
                  </a:lnTo>
                  <a:lnTo>
                    <a:pt x="714" y="187"/>
                  </a:lnTo>
                  <a:lnTo>
                    <a:pt x="735"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49">
              <a:extLst>
                <a:ext uri="{FF2B5EF4-FFF2-40B4-BE49-F238E27FC236}">
                  <a16:creationId xmlns:a16="http://schemas.microsoft.com/office/drawing/2014/main" id="{88335CE0-5BEF-71B3-C5A3-2EC3105B4431}"/>
                </a:ext>
              </a:extLst>
            </p:cNvPr>
            <p:cNvSpPr>
              <a:spLocks noEditPoints="1"/>
            </p:cNvSpPr>
            <p:nvPr/>
          </p:nvSpPr>
          <p:spPr bwMode="auto">
            <a:xfrm>
              <a:off x="10333038" y="5111750"/>
              <a:ext cx="833438" cy="1417638"/>
            </a:xfrm>
            <a:custGeom>
              <a:avLst/>
              <a:gdLst>
                <a:gd name="T0" fmla="*/ 37 w 2182"/>
                <a:gd name="T1" fmla="*/ 130 h 3714"/>
                <a:gd name="T2" fmla="*/ 2 w 2182"/>
                <a:gd name="T3" fmla="*/ 715 h 3714"/>
                <a:gd name="T4" fmla="*/ 36 w 2182"/>
                <a:gd name="T5" fmla="*/ 1347 h 3714"/>
                <a:gd name="T6" fmla="*/ 205 w 2182"/>
                <a:gd name="T7" fmla="*/ 1795 h 3714"/>
                <a:gd name="T8" fmla="*/ 740 w 2182"/>
                <a:gd name="T9" fmla="*/ 2368 h 3714"/>
                <a:gd name="T10" fmla="*/ 718 w 2182"/>
                <a:gd name="T11" fmla="*/ 2621 h 3714"/>
                <a:gd name="T12" fmla="*/ 619 w 2182"/>
                <a:gd name="T13" fmla="*/ 2840 h 3714"/>
                <a:gd name="T14" fmla="*/ 636 w 2182"/>
                <a:gd name="T15" fmla="*/ 3489 h 3714"/>
                <a:gd name="T16" fmla="*/ 781 w 2182"/>
                <a:gd name="T17" fmla="*/ 3681 h 3714"/>
                <a:gd name="T18" fmla="*/ 1593 w 2182"/>
                <a:gd name="T19" fmla="*/ 3713 h 3714"/>
                <a:gd name="T20" fmla="*/ 2047 w 2182"/>
                <a:gd name="T21" fmla="*/ 3649 h 3714"/>
                <a:gd name="T22" fmla="*/ 2177 w 2182"/>
                <a:gd name="T23" fmla="*/ 3424 h 3714"/>
                <a:gd name="T24" fmla="*/ 2150 w 2182"/>
                <a:gd name="T25" fmla="*/ 2720 h 3714"/>
                <a:gd name="T26" fmla="*/ 1997 w 2182"/>
                <a:gd name="T27" fmla="*/ 2552 h 3714"/>
                <a:gd name="T28" fmla="*/ 1949 w 2182"/>
                <a:gd name="T29" fmla="*/ 2262 h 3714"/>
                <a:gd name="T30" fmla="*/ 1848 w 2182"/>
                <a:gd name="T31" fmla="*/ 1846 h 3714"/>
                <a:gd name="T32" fmla="*/ 1475 w 2182"/>
                <a:gd name="T33" fmla="*/ 1490 h 3714"/>
                <a:gd name="T34" fmla="*/ 1268 w 2182"/>
                <a:gd name="T35" fmla="*/ 1431 h 3714"/>
                <a:gd name="T36" fmla="*/ 936 w 2182"/>
                <a:gd name="T37" fmla="*/ 1147 h 3714"/>
                <a:gd name="T38" fmla="*/ 690 w 2182"/>
                <a:gd name="T39" fmla="*/ 966 h 3714"/>
                <a:gd name="T40" fmla="*/ 598 w 2182"/>
                <a:gd name="T41" fmla="*/ 790 h 3714"/>
                <a:gd name="T42" fmla="*/ 557 w 2182"/>
                <a:gd name="T43" fmla="*/ 225 h 3714"/>
                <a:gd name="T44" fmla="*/ 360 w 2182"/>
                <a:gd name="T45" fmla="*/ 34 h 3714"/>
                <a:gd name="T46" fmla="*/ 156 w 2182"/>
                <a:gd name="T47" fmla="*/ 15 h 3714"/>
                <a:gd name="T48" fmla="*/ 426 w 2182"/>
                <a:gd name="T49" fmla="*/ 647 h 3714"/>
                <a:gd name="T50" fmla="*/ 474 w 2182"/>
                <a:gd name="T51" fmla="*/ 976 h 3714"/>
                <a:gd name="T52" fmla="*/ 410 w 2182"/>
                <a:gd name="T53" fmla="*/ 1091 h 3714"/>
                <a:gd name="T54" fmla="*/ 372 w 2182"/>
                <a:gd name="T55" fmla="*/ 1281 h 3714"/>
                <a:gd name="T56" fmla="*/ 567 w 2182"/>
                <a:gd name="T57" fmla="*/ 1539 h 3714"/>
                <a:gd name="T58" fmla="*/ 962 w 2182"/>
                <a:gd name="T59" fmla="*/ 1895 h 3714"/>
                <a:gd name="T60" fmla="*/ 1029 w 2182"/>
                <a:gd name="T61" fmla="*/ 1850 h 3714"/>
                <a:gd name="T62" fmla="*/ 796 w 2182"/>
                <a:gd name="T63" fmla="*/ 1556 h 3714"/>
                <a:gd name="T64" fmla="*/ 525 w 2182"/>
                <a:gd name="T65" fmla="*/ 1220 h 3714"/>
                <a:gd name="T66" fmla="*/ 597 w 2182"/>
                <a:gd name="T67" fmla="*/ 1122 h 3714"/>
                <a:gd name="T68" fmla="*/ 812 w 2182"/>
                <a:gd name="T69" fmla="*/ 1240 h 3714"/>
                <a:gd name="T70" fmla="*/ 1403 w 2182"/>
                <a:gd name="T71" fmla="*/ 1631 h 3714"/>
                <a:gd name="T72" fmla="*/ 1757 w 2182"/>
                <a:gd name="T73" fmla="*/ 1991 h 3714"/>
                <a:gd name="T74" fmla="*/ 1798 w 2182"/>
                <a:gd name="T75" fmla="*/ 2306 h 3714"/>
                <a:gd name="T76" fmla="*/ 952 w 2182"/>
                <a:gd name="T77" fmla="*/ 2451 h 3714"/>
                <a:gd name="T78" fmla="*/ 679 w 2182"/>
                <a:gd name="T79" fmla="*/ 2058 h 3714"/>
                <a:gd name="T80" fmla="*/ 246 w 2182"/>
                <a:gd name="T81" fmla="*/ 1576 h 3714"/>
                <a:gd name="T82" fmla="*/ 160 w 2182"/>
                <a:gd name="T83" fmla="*/ 995 h 3714"/>
                <a:gd name="T84" fmla="*/ 174 w 2182"/>
                <a:gd name="T85" fmla="*/ 256 h 3714"/>
                <a:gd name="T86" fmla="*/ 227 w 2182"/>
                <a:gd name="T87" fmla="*/ 163 h 3714"/>
                <a:gd name="T88" fmla="*/ 1959 w 2182"/>
                <a:gd name="T89" fmla="*/ 2721 h 3714"/>
                <a:gd name="T90" fmla="*/ 2007 w 2182"/>
                <a:gd name="T91" fmla="*/ 3445 h 3714"/>
                <a:gd name="T92" fmla="*/ 1904 w 2182"/>
                <a:gd name="T93" fmla="*/ 3542 h 3714"/>
                <a:gd name="T94" fmla="*/ 881 w 2182"/>
                <a:gd name="T95" fmla="*/ 3564 h 3714"/>
                <a:gd name="T96" fmla="*/ 776 w 2182"/>
                <a:gd name="T97" fmla="*/ 2864 h 3714"/>
                <a:gd name="T98" fmla="*/ 844 w 2182"/>
                <a:gd name="T99" fmla="*/ 2719 h 3714"/>
                <a:gd name="T100" fmla="*/ 1468 w 2182"/>
                <a:gd name="T101" fmla="*/ 2682 h 3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82" h="3714">
                  <a:moveTo>
                    <a:pt x="131" y="27"/>
                  </a:moveTo>
                  <a:lnTo>
                    <a:pt x="111" y="38"/>
                  </a:lnTo>
                  <a:lnTo>
                    <a:pt x="79" y="60"/>
                  </a:lnTo>
                  <a:lnTo>
                    <a:pt x="55" y="89"/>
                  </a:lnTo>
                  <a:lnTo>
                    <a:pt x="37" y="130"/>
                  </a:lnTo>
                  <a:lnTo>
                    <a:pt x="24" y="187"/>
                  </a:lnTo>
                  <a:lnTo>
                    <a:pt x="15" y="266"/>
                  </a:lnTo>
                  <a:lnTo>
                    <a:pt x="8" y="431"/>
                  </a:lnTo>
                  <a:lnTo>
                    <a:pt x="4" y="592"/>
                  </a:lnTo>
                  <a:lnTo>
                    <a:pt x="2" y="715"/>
                  </a:lnTo>
                  <a:lnTo>
                    <a:pt x="0" y="903"/>
                  </a:lnTo>
                  <a:lnTo>
                    <a:pt x="5" y="1053"/>
                  </a:lnTo>
                  <a:lnTo>
                    <a:pt x="18" y="1196"/>
                  </a:lnTo>
                  <a:lnTo>
                    <a:pt x="28" y="1277"/>
                  </a:lnTo>
                  <a:lnTo>
                    <a:pt x="36" y="1347"/>
                  </a:lnTo>
                  <a:lnTo>
                    <a:pt x="53" y="1462"/>
                  </a:lnTo>
                  <a:lnTo>
                    <a:pt x="73" y="1556"/>
                  </a:lnTo>
                  <a:lnTo>
                    <a:pt x="102" y="1637"/>
                  </a:lnTo>
                  <a:lnTo>
                    <a:pt x="145" y="1714"/>
                  </a:lnTo>
                  <a:lnTo>
                    <a:pt x="205" y="1795"/>
                  </a:lnTo>
                  <a:lnTo>
                    <a:pt x="334" y="1940"/>
                  </a:lnTo>
                  <a:lnTo>
                    <a:pt x="464" y="2072"/>
                  </a:lnTo>
                  <a:lnTo>
                    <a:pt x="547" y="2157"/>
                  </a:lnTo>
                  <a:lnTo>
                    <a:pt x="666" y="2282"/>
                  </a:lnTo>
                  <a:lnTo>
                    <a:pt x="740" y="2368"/>
                  </a:lnTo>
                  <a:lnTo>
                    <a:pt x="779" y="2428"/>
                  </a:lnTo>
                  <a:lnTo>
                    <a:pt x="789" y="2452"/>
                  </a:lnTo>
                  <a:lnTo>
                    <a:pt x="819" y="2534"/>
                  </a:lnTo>
                  <a:lnTo>
                    <a:pt x="739" y="2602"/>
                  </a:lnTo>
                  <a:lnTo>
                    <a:pt x="718" y="2621"/>
                  </a:lnTo>
                  <a:lnTo>
                    <a:pt x="683" y="2654"/>
                  </a:lnTo>
                  <a:lnTo>
                    <a:pt x="658" y="2688"/>
                  </a:lnTo>
                  <a:lnTo>
                    <a:pt x="639" y="2727"/>
                  </a:lnTo>
                  <a:lnTo>
                    <a:pt x="627" y="2776"/>
                  </a:lnTo>
                  <a:lnTo>
                    <a:pt x="619" y="2840"/>
                  </a:lnTo>
                  <a:lnTo>
                    <a:pt x="615" y="2972"/>
                  </a:lnTo>
                  <a:lnTo>
                    <a:pt x="614" y="3101"/>
                  </a:lnTo>
                  <a:lnTo>
                    <a:pt x="615" y="3248"/>
                  </a:lnTo>
                  <a:lnTo>
                    <a:pt x="624" y="3408"/>
                  </a:lnTo>
                  <a:lnTo>
                    <a:pt x="636" y="3489"/>
                  </a:lnTo>
                  <a:lnTo>
                    <a:pt x="654" y="3551"/>
                  </a:lnTo>
                  <a:lnTo>
                    <a:pt x="679" y="3599"/>
                  </a:lnTo>
                  <a:lnTo>
                    <a:pt x="713" y="3637"/>
                  </a:lnTo>
                  <a:lnTo>
                    <a:pt x="755" y="3667"/>
                  </a:lnTo>
                  <a:lnTo>
                    <a:pt x="781" y="3681"/>
                  </a:lnTo>
                  <a:lnTo>
                    <a:pt x="803" y="3692"/>
                  </a:lnTo>
                  <a:lnTo>
                    <a:pt x="863" y="3705"/>
                  </a:lnTo>
                  <a:lnTo>
                    <a:pt x="1059" y="3714"/>
                  </a:lnTo>
                  <a:lnTo>
                    <a:pt x="1368" y="3714"/>
                  </a:lnTo>
                  <a:lnTo>
                    <a:pt x="1593" y="3713"/>
                  </a:lnTo>
                  <a:lnTo>
                    <a:pt x="1836" y="3707"/>
                  </a:lnTo>
                  <a:lnTo>
                    <a:pt x="1932" y="3700"/>
                  </a:lnTo>
                  <a:lnTo>
                    <a:pt x="1953" y="3696"/>
                  </a:lnTo>
                  <a:lnTo>
                    <a:pt x="1985" y="3685"/>
                  </a:lnTo>
                  <a:lnTo>
                    <a:pt x="2047" y="3649"/>
                  </a:lnTo>
                  <a:lnTo>
                    <a:pt x="2101" y="3598"/>
                  </a:lnTo>
                  <a:lnTo>
                    <a:pt x="2143" y="3537"/>
                  </a:lnTo>
                  <a:lnTo>
                    <a:pt x="2158" y="3504"/>
                  </a:lnTo>
                  <a:lnTo>
                    <a:pt x="2166" y="3480"/>
                  </a:lnTo>
                  <a:lnTo>
                    <a:pt x="2177" y="3424"/>
                  </a:lnTo>
                  <a:lnTo>
                    <a:pt x="2182" y="3282"/>
                  </a:lnTo>
                  <a:lnTo>
                    <a:pt x="2178" y="3092"/>
                  </a:lnTo>
                  <a:lnTo>
                    <a:pt x="2172" y="2917"/>
                  </a:lnTo>
                  <a:lnTo>
                    <a:pt x="2161" y="2774"/>
                  </a:lnTo>
                  <a:lnTo>
                    <a:pt x="2150" y="2720"/>
                  </a:lnTo>
                  <a:lnTo>
                    <a:pt x="2143" y="2704"/>
                  </a:lnTo>
                  <a:lnTo>
                    <a:pt x="2130" y="2683"/>
                  </a:lnTo>
                  <a:lnTo>
                    <a:pt x="2090" y="2634"/>
                  </a:lnTo>
                  <a:lnTo>
                    <a:pt x="2042" y="2586"/>
                  </a:lnTo>
                  <a:lnTo>
                    <a:pt x="1997" y="2552"/>
                  </a:lnTo>
                  <a:lnTo>
                    <a:pt x="1981" y="2544"/>
                  </a:lnTo>
                  <a:lnTo>
                    <a:pt x="1976" y="2540"/>
                  </a:lnTo>
                  <a:lnTo>
                    <a:pt x="1967" y="2504"/>
                  </a:lnTo>
                  <a:lnTo>
                    <a:pt x="1956" y="2391"/>
                  </a:lnTo>
                  <a:lnTo>
                    <a:pt x="1949" y="2262"/>
                  </a:lnTo>
                  <a:lnTo>
                    <a:pt x="1944" y="2146"/>
                  </a:lnTo>
                  <a:lnTo>
                    <a:pt x="1931" y="2024"/>
                  </a:lnTo>
                  <a:lnTo>
                    <a:pt x="1914" y="1960"/>
                  </a:lnTo>
                  <a:lnTo>
                    <a:pt x="1888" y="1903"/>
                  </a:lnTo>
                  <a:lnTo>
                    <a:pt x="1848" y="1846"/>
                  </a:lnTo>
                  <a:lnTo>
                    <a:pt x="1759" y="1749"/>
                  </a:lnTo>
                  <a:lnTo>
                    <a:pt x="1669" y="1661"/>
                  </a:lnTo>
                  <a:lnTo>
                    <a:pt x="1614" y="1608"/>
                  </a:lnTo>
                  <a:lnTo>
                    <a:pt x="1533" y="1534"/>
                  </a:lnTo>
                  <a:lnTo>
                    <a:pt x="1475" y="1490"/>
                  </a:lnTo>
                  <a:lnTo>
                    <a:pt x="1425" y="1466"/>
                  </a:lnTo>
                  <a:lnTo>
                    <a:pt x="1398" y="1457"/>
                  </a:lnTo>
                  <a:lnTo>
                    <a:pt x="1359" y="1447"/>
                  </a:lnTo>
                  <a:lnTo>
                    <a:pt x="1289" y="1432"/>
                  </a:lnTo>
                  <a:lnTo>
                    <a:pt x="1268" y="1431"/>
                  </a:lnTo>
                  <a:lnTo>
                    <a:pt x="1255" y="1429"/>
                  </a:lnTo>
                  <a:lnTo>
                    <a:pt x="1214" y="1404"/>
                  </a:lnTo>
                  <a:lnTo>
                    <a:pt x="1112" y="1318"/>
                  </a:lnTo>
                  <a:lnTo>
                    <a:pt x="999" y="1209"/>
                  </a:lnTo>
                  <a:lnTo>
                    <a:pt x="936" y="1147"/>
                  </a:lnTo>
                  <a:lnTo>
                    <a:pt x="840" y="1058"/>
                  </a:lnTo>
                  <a:lnTo>
                    <a:pt x="774" y="1004"/>
                  </a:lnTo>
                  <a:lnTo>
                    <a:pt x="727" y="976"/>
                  </a:lnTo>
                  <a:lnTo>
                    <a:pt x="708" y="971"/>
                  </a:lnTo>
                  <a:lnTo>
                    <a:pt x="690" y="966"/>
                  </a:lnTo>
                  <a:lnTo>
                    <a:pt x="662" y="953"/>
                  </a:lnTo>
                  <a:lnTo>
                    <a:pt x="639" y="932"/>
                  </a:lnTo>
                  <a:lnTo>
                    <a:pt x="622" y="899"/>
                  </a:lnTo>
                  <a:lnTo>
                    <a:pt x="608" y="853"/>
                  </a:lnTo>
                  <a:lnTo>
                    <a:pt x="598" y="790"/>
                  </a:lnTo>
                  <a:lnTo>
                    <a:pt x="588" y="661"/>
                  </a:lnTo>
                  <a:lnTo>
                    <a:pt x="583" y="539"/>
                  </a:lnTo>
                  <a:lnTo>
                    <a:pt x="577" y="423"/>
                  </a:lnTo>
                  <a:lnTo>
                    <a:pt x="565" y="283"/>
                  </a:lnTo>
                  <a:lnTo>
                    <a:pt x="557" y="225"/>
                  </a:lnTo>
                  <a:lnTo>
                    <a:pt x="553" y="212"/>
                  </a:lnTo>
                  <a:lnTo>
                    <a:pt x="538" y="184"/>
                  </a:lnTo>
                  <a:lnTo>
                    <a:pt x="490" y="126"/>
                  </a:lnTo>
                  <a:lnTo>
                    <a:pt x="428" y="74"/>
                  </a:lnTo>
                  <a:lnTo>
                    <a:pt x="360" y="34"/>
                  </a:lnTo>
                  <a:lnTo>
                    <a:pt x="326" y="22"/>
                  </a:lnTo>
                  <a:lnTo>
                    <a:pt x="288" y="11"/>
                  </a:lnTo>
                  <a:lnTo>
                    <a:pt x="235" y="0"/>
                  </a:lnTo>
                  <a:lnTo>
                    <a:pt x="195" y="1"/>
                  </a:lnTo>
                  <a:lnTo>
                    <a:pt x="156" y="15"/>
                  </a:lnTo>
                  <a:lnTo>
                    <a:pt x="131" y="27"/>
                  </a:lnTo>
                  <a:close/>
                  <a:moveTo>
                    <a:pt x="361" y="221"/>
                  </a:moveTo>
                  <a:lnTo>
                    <a:pt x="423" y="279"/>
                  </a:lnTo>
                  <a:lnTo>
                    <a:pt x="424" y="526"/>
                  </a:lnTo>
                  <a:lnTo>
                    <a:pt x="426" y="647"/>
                  </a:lnTo>
                  <a:lnTo>
                    <a:pt x="436" y="783"/>
                  </a:lnTo>
                  <a:lnTo>
                    <a:pt x="447" y="856"/>
                  </a:lnTo>
                  <a:lnTo>
                    <a:pt x="454" y="887"/>
                  </a:lnTo>
                  <a:lnTo>
                    <a:pt x="464" y="926"/>
                  </a:lnTo>
                  <a:lnTo>
                    <a:pt x="474" y="976"/>
                  </a:lnTo>
                  <a:lnTo>
                    <a:pt x="473" y="1004"/>
                  </a:lnTo>
                  <a:lnTo>
                    <a:pt x="461" y="1025"/>
                  </a:lnTo>
                  <a:lnTo>
                    <a:pt x="451" y="1037"/>
                  </a:lnTo>
                  <a:lnTo>
                    <a:pt x="436" y="1055"/>
                  </a:lnTo>
                  <a:lnTo>
                    <a:pt x="410" y="1091"/>
                  </a:lnTo>
                  <a:lnTo>
                    <a:pt x="390" y="1129"/>
                  </a:lnTo>
                  <a:lnTo>
                    <a:pt x="376" y="1167"/>
                  </a:lnTo>
                  <a:lnTo>
                    <a:pt x="368" y="1205"/>
                  </a:lnTo>
                  <a:lnTo>
                    <a:pt x="367" y="1243"/>
                  </a:lnTo>
                  <a:lnTo>
                    <a:pt x="372" y="1281"/>
                  </a:lnTo>
                  <a:lnTo>
                    <a:pt x="383" y="1318"/>
                  </a:lnTo>
                  <a:lnTo>
                    <a:pt x="391" y="1336"/>
                  </a:lnTo>
                  <a:lnTo>
                    <a:pt x="400" y="1350"/>
                  </a:lnTo>
                  <a:lnTo>
                    <a:pt x="448" y="1408"/>
                  </a:lnTo>
                  <a:lnTo>
                    <a:pt x="567" y="1539"/>
                  </a:lnTo>
                  <a:lnTo>
                    <a:pt x="669" y="1642"/>
                  </a:lnTo>
                  <a:lnTo>
                    <a:pt x="757" y="1730"/>
                  </a:lnTo>
                  <a:lnTo>
                    <a:pt x="877" y="1842"/>
                  </a:lnTo>
                  <a:lnTo>
                    <a:pt x="934" y="1883"/>
                  </a:lnTo>
                  <a:lnTo>
                    <a:pt x="962" y="1895"/>
                  </a:lnTo>
                  <a:lnTo>
                    <a:pt x="984" y="1895"/>
                  </a:lnTo>
                  <a:lnTo>
                    <a:pt x="1002" y="1885"/>
                  </a:lnTo>
                  <a:lnTo>
                    <a:pt x="1011" y="1877"/>
                  </a:lnTo>
                  <a:lnTo>
                    <a:pt x="1019" y="1869"/>
                  </a:lnTo>
                  <a:lnTo>
                    <a:pt x="1029" y="1850"/>
                  </a:lnTo>
                  <a:lnTo>
                    <a:pt x="1029" y="1829"/>
                  </a:lnTo>
                  <a:lnTo>
                    <a:pt x="1018" y="1802"/>
                  </a:lnTo>
                  <a:lnTo>
                    <a:pt x="981" y="1748"/>
                  </a:lnTo>
                  <a:lnTo>
                    <a:pt x="877" y="1636"/>
                  </a:lnTo>
                  <a:lnTo>
                    <a:pt x="796" y="1556"/>
                  </a:lnTo>
                  <a:lnTo>
                    <a:pt x="702" y="1462"/>
                  </a:lnTo>
                  <a:lnTo>
                    <a:pt x="583" y="1335"/>
                  </a:lnTo>
                  <a:lnTo>
                    <a:pt x="540" y="1276"/>
                  </a:lnTo>
                  <a:lnTo>
                    <a:pt x="527" y="1245"/>
                  </a:lnTo>
                  <a:lnTo>
                    <a:pt x="525" y="1220"/>
                  </a:lnTo>
                  <a:lnTo>
                    <a:pt x="532" y="1195"/>
                  </a:lnTo>
                  <a:lnTo>
                    <a:pt x="538" y="1182"/>
                  </a:lnTo>
                  <a:lnTo>
                    <a:pt x="548" y="1165"/>
                  </a:lnTo>
                  <a:lnTo>
                    <a:pt x="570" y="1138"/>
                  </a:lnTo>
                  <a:lnTo>
                    <a:pt x="597" y="1122"/>
                  </a:lnTo>
                  <a:lnTo>
                    <a:pt x="631" y="1115"/>
                  </a:lnTo>
                  <a:lnTo>
                    <a:pt x="651" y="1114"/>
                  </a:lnTo>
                  <a:lnTo>
                    <a:pt x="661" y="1117"/>
                  </a:lnTo>
                  <a:lnTo>
                    <a:pt x="704" y="1147"/>
                  </a:lnTo>
                  <a:lnTo>
                    <a:pt x="812" y="1240"/>
                  </a:lnTo>
                  <a:lnTo>
                    <a:pt x="913" y="1337"/>
                  </a:lnTo>
                  <a:lnTo>
                    <a:pt x="1139" y="1562"/>
                  </a:lnTo>
                  <a:lnTo>
                    <a:pt x="1261" y="1587"/>
                  </a:lnTo>
                  <a:lnTo>
                    <a:pt x="1312" y="1599"/>
                  </a:lnTo>
                  <a:lnTo>
                    <a:pt x="1403" y="1631"/>
                  </a:lnTo>
                  <a:lnTo>
                    <a:pt x="1428" y="1646"/>
                  </a:lnTo>
                  <a:lnTo>
                    <a:pt x="1465" y="1675"/>
                  </a:lnTo>
                  <a:lnTo>
                    <a:pt x="1569" y="1775"/>
                  </a:lnTo>
                  <a:lnTo>
                    <a:pt x="1677" y="1892"/>
                  </a:lnTo>
                  <a:lnTo>
                    <a:pt x="1757" y="1991"/>
                  </a:lnTo>
                  <a:lnTo>
                    <a:pt x="1773" y="2019"/>
                  </a:lnTo>
                  <a:lnTo>
                    <a:pt x="1779" y="2036"/>
                  </a:lnTo>
                  <a:lnTo>
                    <a:pt x="1789" y="2085"/>
                  </a:lnTo>
                  <a:lnTo>
                    <a:pt x="1797" y="2194"/>
                  </a:lnTo>
                  <a:lnTo>
                    <a:pt x="1798" y="2306"/>
                  </a:lnTo>
                  <a:lnTo>
                    <a:pt x="1798" y="2531"/>
                  </a:lnTo>
                  <a:lnTo>
                    <a:pt x="1383" y="2531"/>
                  </a:lnTo>
                  <a:lnTo>
                    <a:pt x="968" y="2531"/>
                  </a:lnTo>
                  <a:lnTo>
                    <a:pt x="958" y="2477"/>
                  </a:lnTo>
                  <a:lnTo>
                    <a:pt x="952" y="2451"/>
                  </a:lnTo>
                  <a:lnTo>
                    <a:pt x="938" y="2402"/>
                  </a:lnTo>
                  <a:lnTo>
                    <a:pt x="917" y="2353"/>
                  </a:lnTo>
                  <a:lnTo>
                    <a:pt x="887" y="2302"/>
                  </a:lnTo>
                  <a:lnTo>
                    <a:pt x="821" y="2214"/>
                  </a:lnTo>
                  <a:lnTo>
                    <a:pt x="679" y="2058"/>
                  </a:lnTo>
                  <a:lnTo>
                    <a:pt x="576" y="1952"/>
                  </a:lnTo>
                  <a:lnTo>
                    <a:pt x="458" y="1831"/>
                  </a:lnTo>
                  <a:lnTo>
                    <a:pt x="286" y="1642"/>
                  </a:lnTo>
                  <a:lnTo>
                    <a:pt x="259" y="1606"/>
                  </a:lnTo>
                  <a:lnTo>
                    <a:pt x="246" y="1576"/>
                  </a:lnTo>
                  <a:lnTo>
                    <a:pt x="221" y="1497"/>
                  </a:lnTo>
                  <a:lnTo>
                    <a:pt x="200" y="1398"/>
                  </a:lnTo>
                  <a:lnTo>
                    <a:pt x="182" y="1279"/>
                  </a:lnTo>
                  <a:lnTo>
                    <a:pt x="169" y="1145"/>
                  </a:lnTo>
                  <a:lnTo>
                    <a:pt x="160" y="995"/>
                  </a:lnTo>
                  <a:lnTo>
                    <a:pt x="155" y="832"/>
                  </a:lnTo>
                  <a:lnTo>
                    <a:pt x="156" y="658"/>
                  </a:lnTo>
                  <a:lnTo>
                    <a:pt x="158" y="567"/>
                  </a:lnTo>
                  <a:lnTo>
                    <a:pt x="163" y="422"/>
                  </a:lnTo>
                  <a:lnTo>
                    <a:pt x="174" y="256"/>
                  </a:lnTo>
                  <a:lnTo>
                    <a:pt x="182" y="193"/>
                  </a:lnTo>
                  <a:lnTo>
                    <a:pt x="186" y="184"/>
                  </a:lnTo>
                  <a:lnTo>
                    <a:pt x="192" y="177"/>
                  </a:lnTo>
                  <a:lnTo>
                    <a:pt x="208" y="168"/>
                  </a:lnTo>
                  <a:lnTo>
                    <a:pt x="227" y="163"/>
                  </a:lnTo>
                  <a:lnTo>
                    <a:pt x="249" y="163"/>
                  </a:lnTo>
                  <a:lnTo>
                    <a:pt x="285" y="172"/>
                  </a:lnTo>
                  <a:lnTo>
                    <a:pt x="336" y="200"/>
                  </a:lnTo>
                  <a:lnTo>
                    <a:pt x="361" y="221"/>
                  </a:lnTo>
                  <a:close/>
                  <a:moveTo>
                    <a:pt x="1959" y="2721"/>
                  </a:moveTo>
                  <a:lnTo>
                    <a:pt x="2006" y="2761"/>
                  </a:lnTo>
                  <a:lnTo>
                    <a:pt x="2016" y="3084"/>
                  </a:lnTo>
                  <a:lnTo>
                    <a:pt x="2020" y="3260"/>
                  </a:lnTo>
                  <a:lnTo>
                    <a:pt x="2016" y="3395"/>
                  </a:lnTo>
                  <a:lnTo>
                    <a:pt x="2007" y="3445"/>
                  </a:lnTo>
                  <a:lnTo>
                    <a:pt x="1999" y="3464"/>
                  </a:lnTo>
                  <a:lnTo>
                    <a:pt x="1992" y="3481"/>
                  </a:lnTo>
                  <a:lnTo>
                    <a:pt x="1973" y="3507"/>
                  </a:lnTo>
                  <a:lnTo>
                    <a:pt x="1946" y="3528"/>
                  </a:lnTo>
                  <a:lnTo>
                    <a:pt x="1904" y="3542"/>
                  </a:lnTo>
                  <a:lnTo>
                    <a:pt x="1842" y="3552"/>
                  </a:lnTo>
                  <a:lnTo>
                    <a:pt x="1752" y="3558"/>
                  </a:lnTo>
                  <a:lnTo>
                    <a:pt x="1560" y="3562"/>
                  </a:lnTo>
                  <a:lnTo>
                    <a:pt x="1369" y="3562"/>
                  </a:lnTo>
                  <a:lnTo>
                    <a:pt x="881" y="3564"/>
                  </a:lnTo>
                  <a:lnTo>
                    <a:pt x="831" y="3517"/>
                  </a:lnTo>
                  <a:lnTo>
                    <a:pt x="781" y="3472"/>
                  </a:lnTo>
                  <a:lnTo>
                    <a:pt x="778" y="3127"/>
                  </a:lnTo>
                  <a:lnTo>
                    <a:pt x="776" y="3011"/>
                  </a:lnTo>
                  <a:lnTo>
                    <a:pt x="776" y="2864"/>
                  </a:lnTo>
                  <a:lnTo>
                    <a:pt x="782" y="2791"/>
                  </a:lnTo>
                  <a:lnTo>
                    <a:pt x="798" y="2757"/>
                  </a:lnTo>
                  <a:lnTo>
                    <a:pt x="811" y="2744"/>
                  </a:lnTo>
                  <a:lnTo>
                    <a:pt x="821" y="2735"/>
                  </a:lnTo>
                  <a:lnTo>
                    <a:pt x="844" y="2719"/>
                  </a:lnTo>
                  <a:lnTo>
                    <a:pt x="878" y="2707"/>
                  </a:lnTo>
                  <a:lnTo>
                    <a:pt x="927" y="2698"/>
                  </a:lnTo>
                  <a:lnTo>
                    <a:pt x="1036" y="2689"/>
                  </a:lnTo>
                  <a:lnTo>
                    <a:pt x="1283" y="2684"/>
                  </a:lnTo>
                  <a:lnTo>
                    <a:pt x="1468" y="2682"/>
                  </a:lnTo>
                  <a:lnTo>
                    <a:pt x="1913" y="2681"/>
                  </a:lnTo>
                  <a:lnTo>
                    <a:pt x="1959" y="27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50">
              <a:extLst>
                <a:ext uri="{FF2B5EF4-FFF2-40B4-BE49-F238E27FC236}">
                  <a16:creationId xmlns:a16="http://schemas.microsoft.com/office/drawing/2014/main" id="{4DB7DB07-65FD-1BFD-5E1B-FBF81A36CE0B}"/>
                </a:ext>
              </a:extLst>
            </p:cNvPr>
            <p:cNvSpPr>
              <a:spLocks/>
            </p:cNvSpPr>
            <p:nvPr/>
          </p:nvSpPr>
          <p:spPr bwMode="auto">
            <a:xfrm>
              <a:off x="10648951" y="6173788"/>
              <a:ext cx="100013" cy="100013"/>
            </a:xfrm>
            <a:custGeom>
              <a:avLst/>
              <a:gdLst>
                <a:gd name="T0" fmla="*/ 46 w 260"/>
                <a:gd name="T1" fmla="*/ 35 h 263"/>
                <a:gd name="T2" fmla="*/ 35 w 260"/>
                <a:gd name="T3" fmla="*/ 45 h 263"/>
                <a:gd name="T4" fmla="*/ 18 w 260"/>
                <a:gd name="T5" fmla="*/ 66 h 263"/>
                <a:gd name="T6" fmla="*/ 7 w 260"/>
                <a:gd name="T7" fmla="*/ 90 h 263"/>
                <a:gd name="T8" fmla="*/ 1 w 260"/>
                <a:gd name="T9" fmla="*/ 114 h 263"/>
                <a:gd name="T10" fmla="*/ 0 w 260"/>
                <a:gd name="T11" fmla="*/ 140 h 263"/>
                <a:gd name="T12" fmla="*/ 4 w 260"/>
                <a:gd name="T13" fmla="*/ 165 h 263"/>
                <a:gd name="T14" fmla="*/ 13 w 260"/>
                <a:gd name="T15" fmla="*/ 190 h 263"/>
                <a:gd name="T16" fmla="*/ 28 w 260"/>
                <a:gd name="T17" fmla="*/ 213 h 263"/>
                <a:gd name="T18" fmla="*/ 37 w 260"/>
                <a:gd name="T19" fmla="*/ 224 h 263"/>
                <a:gd name="T20" fmla="*/ 47 w 260"/>
                <a:gd name="T21" fmla="*/ 233 h 263"/>
                <a:gd name="T22" fmla="*/ 67 w 260"/>
                <a:gd name="T23" fmla="*/ 248 h 263"/>
                <a:gd name="T24" fmla="*/ 99 w 260"/>
                <a:gd name="T25" fmla="*/ 261 h 263"/>
                <a:gd name="T26" fmla="*/ 142 w 260"/>
                <a:gd name="T27" fmla="*/ 263 h 263"/>
                <a:gd name="T28" fmla="*/ 184 w 260"/>
                <a:gd name="T29" fmla="*/ 251 h 263"/>
                <a:gd name="T30" fmla="*/ 220 w 260"/>
                <a:gd name="T31" fmla="*/ 227 h 263"/>
                <a:gd name="T32" fmla="*/ 247 w 260"/>
                <a:gd name="T33" fmla="*/ 192 h 263"/>
                <a:gd name="T34" fmla="*/ 260 w 260"/>
                <a:gd name="T35" fmla="*/ 151 h 263"/>
                <a:gd name="T36" fmla="*/ 258 w 260"/>
                <a:gd name="T37" fmla="*/ 117 h 263"/>
                <a:gd name="T38" fmla="*/ 251 w 260"/>
                <a:gd name="T39" fmla="*/ 94 h 263"/>
                <a:gd name="T40" fmla="*/ 246 w 260"/>
                <a:gd name="T41" fmla="*/ 82 h 263"/>
                <a:gd name="T42" fmla="*/ 237 w 260"/>
                <a:gd name="T43" fmla="*/ 66 h 263"/>
                <a:gd name="T44" fmla="*/ 216 w 260"/>
                <a:gd name="T45" fmla="*/ 39 h 263"/>
                <a:gd name="T46" fmla="*/ 193 w 260"/>
                <a:gd name="T47" fmla="*/ 19 h 263"/>
                <a:gd name="T48" fmla="*/ 168 w 260"/>
                <a:gd name="T49" fmla="*/ 6 h 263"/>
                <a:gd name="T50" fmla="*/ 142 w 260"/>
                <a:gd name="T51" fmla="*/ 0 h 263"/>
                <a:gd name="T52" fmla="*/ 114 w 260"/>
                <a:gd name="T53" fmla="*/ 1 h 263"/>
                <a:gd name="T54" fmla="*/ 87 w 260"/>
                <a:gd name="T55" fmla="*/ 9 h 263"/>
                <a:gd name="T56" fmla="*/ 59 w 260"/>
                <a:gd name="T57" fmla="*/ 24 h 263"/>
                <a:gd name="T58" fmla="*/ 46 w 260"/>
                <a:gd name="T59" fmla="*/ 3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0" h="263">
                  <a:moveTo>
                    <a:pt x="46" y="35"/>
                  </a:moveTo>
                  <a:lnTo>
                    <a:pt x="35" y="45"/>
                  </a:lnTo>
                  <a:lnTo>
                    <a:pt x="18" y="66"/>
                  </a:lnTo>
                  <a:lnTo>
                    <a:pt x="7" y="90"/>
                  </a:lnTo>
                  <a:lnTo>
                    <a:pt x="1" y="114"/>
                  </a:lnTo>
                  <a:lnTo>
                    <a:pt x="0" y="140"/>
                  </a:lnTo>
                  <a:lnTo>
                    <a:pt x="4" y="165"/>
                  </a:lnTo>
                  <a:lnTo>
                    <a:pt x="13" y="190"/>
                  </a:lnTo>
                  <a:lnTo>
                    <a:pt x="28" y="213"/>
                  </a:lnTo>
                  <a:lnTo>
                    <a:pt x="37" y="224"/>
                  </a:lnTo>
                  <a:lnTo>
                    <a:pt x="47" y="233"/>
                  </a:lnTo>
                  <a:lnTo>
                    <a:pt x="67" y="248"/>
                  </a:lnTo>
                  <a:lnTo>
                    <a:pt x="99" y="261"/>
                  </a:lnTo>
                  <a:lnTo>
                    <a:pt x="142" y="263"/>
                  </a:lnTo>
                  <a:lnTo>
                    <a:pt x="184" y="251"/>
                  </a:lnTo>
                  <a:lnTo>
                    <a:pt x="220" y="227"/>
                  </a:lnTo>
                  <a:lnTo>
                    <a:pt x="247" y="192"/>
                  </a:lnTo>
                  <a:lnTo>
                    <a:pt x="260" y="151"/>
                  </a:lnTo>
                  <a:lnTo>
                    <a:pt x="258" y="117"/>
                  </a:lnTo>
                  <a:lnTo>
                    <a:pt x="251" y="94"/>
                  </a:lnTo>
                  <a:lnTo>
                    <a:pt x="246" y="82"/>
                  </a:lnTo>
                  <a:lnTo>
                    <a:pt x="237" y="66"/>
                  </a:lnTo>
                  <a:lnTo>
                    <a:pt x="216" y="39"/>
                  </a:lnTo>
                  <a:lnTo>
                    <a:pt x="193" y="19"/>
                  </a:lnTo>
                  <a:lnTo>
                    <a:pt x="168" y="6"/>
                  </a:lnTo>
                  <a:lnTo>
                    <a:pt x="142" y="0"/>
                  </a:lnTo>
                  <a:lnTo>
                    <a:pt x="114" y="1"/>
                  </a:lnTo>
                  <a:lnTo>
                    <a:pt x="87" y="9"/>
                  </a:lnTo>
                  <a:lnTo>
                    <a:pt x="59" y="24"/>
                  </a:lnTo>
                  <a:lnTo>
                    <a:pt x="46"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51">
              <a:extLst>
                <a:ext uri="{FF2B5EF4-FFF2-40B4-BE49-F238E27FC236}">
                  <a16:creationId xmlns:a16="http://schemas.microsoft.com/office/drawing/2014/main" id="{2E333BE6-4819-4189-24A9-FFEB74ED45BC}"/>
                </a:ext>
              </a:extLst>
            </p:cNvPr>
            <p:cNvSpPr>
              <a:spLocks noEditPoints="1"/>
            </p:cNvSpPr>
            <p:nvPr/>
          </p:nvSpPr>
          <p:spPr bwMode="auto">
            <a:xfrm>
              <a:off x="11229976" y="5113338"/>
              <a:ext cx="831850" cy="1416050"/>
            </a:xfrm>
            <a:custGeom>
              <a:avLst/>
              <a:gdLst>
                <a:gd name="T0" fmla="*/ 1690 w 2181"/>
                <a:gd name="T1" fmla="*/ 121 h 3710"/>
                <a:gd name="T2" fmla="*/ 1605 w 2181"/>
                <a:gd name="T3" fmla="*/ 332 h 3710"/>
                <a:gd name="T4" fmla="*/ 1575 w 2181"/>
                <a:gd name="T5" fmla="*/ 850 h 3710"/>
                <a:gd name="T6" fmla="*/ 1474 w 2181"/>
                <a:gd name="T7" fmla="*/ 967 h 3710"/>
                <a:gd name="T8" fmla="*/ 1182 w 2181"/>
                <a:gd name="T9" fmla="*/ 1205 h 3710"/>
                <a:gd name="T10" fmla="*/ 893 w 2181"/>
                <a:gd name="T11" fmla="*/ 1428 h 3710"/>
                <a:gd name="T12" fmla="*/ 648 w 2181"/>
                <a:gd name="T13" fmla="*/ 1530 h 3710"/>
                <a:gd name="T14" fmla="*/ 293 w 2181"/>
                <a:gd name="T15" fmla="*/ 1901 h 3710"/>
                <a:gd name="T16" fmla="*/ 226 w 2181"/>
                <a:gd name="T17" fmla="*/ 2389 h 3710"/>
                <a:gd name="T18" fmla="*/ 140 w 2181"/>
                <a:gd name="T19" fmla="*/ 2582 h 3710"/>
                <a:gd name="T20" fmla="*/ 20 w 2181"/>
                <a:gd name="T21" fmla="*/ 2769 h 3710"/>
                <a:gd name="T22" fmla="*/ 16 w 2181"/>
                <a:gd name="T23" fmla="*/ 3478 h 3710"/>
                <a:gd name="T24" fmla="*/ 197 w 2181"/>
                <a:gd name="T25" fmla="*/ 3681 h 3710"/>
                <a:gd name="T26" fmla="*/ 814 w 2181"/>
                <a:gd name="T27" fmla="*/ 3710 h 3710"/>
                <a:gd name="T28" fmla="*/ 1428 w 2181"/>
                <a:gd name="T29" fmla="*/ 3662 h 3710"/>
                <a:gd name="T30" fmla="*/ 1553 w 2181"/>
                <a:gd name="T31" fmla="*/ 3465 h 3710"/>
                <a:gd name="T32" fmla="*/ 1555 w 2181"/>
                <a:gd name="T33" fmla="*/ 2759 h 3710"/>
                <a:gd name="T34" fmla="*/ 1468 w 2181"/>
                <a:gd name="T35" fmla="*/ 2622 h 3710"/>
                <a:gd name="T36" fmla="*/ 1440 w 2181"/>
                <a:gd name="T37" fmla="*/ 2366 h 3710"/>
                <a:gd name="T38" fmla="*/ 1973 w 2181"/>
                <a:gd name="T39" fmla="*/ 1793 h 3710"/>
                <a:gd name="T40" fmla="*/ 2152 w 2181"/>
                <a:gd name="T41" fmla="*/ 1297 h 3710"/>
                <a:gd name="T42" fmla="*/ 2177 w 2181"/>
                <a:gd name="T43" fmla="*/ 426 h 3710"/>
                <a:gd name="T44" fmla="*/ 2112 w 2181"/>
                <a:gd name="T45" fmla="*/ 68 h 3710"/>
                <a:gd name="T46" fmla="*/ 1912 w 2181"/>
                <a:gd name="T47" fmla="*/ 2 h 3710"/>
                <a:gd name="T48" fmla="*/ 2011 w 2181"/>
                <a:gd name="T49" fmla="*/ 261 h 3710"/>
                <a:gd name="T50" fmla="*/ 1998 w 2181"/>
                <a:gd name="T51" fmla="*/ 1260 h 3710"/>
                <a:gd name="T52" fmla="*/ 1895 w 2181"/>
                <a:gd name="T53" fmla="*/ 1638 h 3710"/>
                <a:gd name="T54" fmla="*/ 1329 w 2181"/>
                <a:gd name="T55" fmla="*/ 2246 h 3710"/>
                <a:gd name="T56" fmla="*/ 1217 w 2181"/>
                <a:gd name="T57" fmla="*/ 2488 h 3710"/>
                <a:gd name="T58" fmla="*/ 385 w 2181"/>
                <a:gd name="T59" fmla="*/ 2190 h 3710"/>
                <a:gd name="T60" fmla="*/ 505 w 2181"/>
                <a:gd name="T61" fmla="*/ 1888 h 3710"/>
                <a:gd name="T62" fmla="*/ 870 w 2181"/>
                <a:gd name="T63" fmla="*/ 1595 h 3710"/>
                <a:gd name="T64" fmla="*/ 1477 w 2181"/>
                <a:gd name="T65" fmla="*/ 1143 h 3710"/>
                <a:gd name="T66" fmla="*/ 1610 w 2181"/>
                <a:gd name="T67" fmla="*/ 1134 h 3710"/>
                <a:gd name="T68" fmla="*/ 1650 w 2181"/>
                <a:gd name="T69" fmla="*/ 1241 h 3710"/>
                <a:gd name="T70" fmla="*/ 1386 w 2181"/>
                <a:gd name="T71" fmla="*/ 1552 h 3710"/>
                <a:gd name="T72" fmla="*/ 1153 w 2181"/>
                <a:gd name="T73" fmla="*/ 1846 h 3710"/>
                <a:gd name="T74" fmla="*/ 1220 w 2181"/>
                <a:gd name="T75" fmla="*/ 1891 h 3710"/>
                <a:gd name="T76" fmla="*/ 1614 w 2181"/>
                <a:gd name="T77" fmla="*/ 1535 h 3710"/>
                <a:gd name="T78" fmla="*/ 1811 w 2181"/>
                <a:gd name="T79" fmla="*/ 1277 h 3710"/>
                <a:gd name="T80" fmla="*/ 1772 w 2181"/>
                <a:gd name="T81" fmla="*/ 1086 h 3710"/>
                <a:gd name="T82" fmla="*/ 1706 w 2181"/>
                <a:gd name="T83" fmla="*/ 967 h 3710"/>
                <a:gd name="T84" fmla="*/ 1757 w 2181"/>
                <a:gd name="T85" fmla="*/ 634 h 3710"/>
                <a:gd name="T86" fmla="*/ 1897 w 2181"/>
                <a:gd name="T87" fmla="*/ 168 h 3710"/>
                <a:gd name="T88" fmla="*/ 1996 w 2181"/>
                <a:gd name="T89" fmla="*/ 180 h 3710"/>
                <a:gd name="T90" fmla="*/ 1372 w 2181"/>
                <a:gd name="T91" fmla="*/ 2740 h 3710"/>
                <a:gd name="T92" fmla="*/ 1404 w 2181"/>
                <a:gd name="T93" fmla="*/ 3123 h 3710"/>
                <a:gd name="T94" fmla="*/ 622 w 2181"/>
                <a:gd name="T95" fmla="*/ 3558 h 3710"/>
                <a:gd name="T96" fmla="*/ 208 w 2181"/>
                <a:gd name="T97" fmla="*/ 3503 h 3710"/>
                <a:gd name="T98" fmla="*/ 161 w 2181"/>
                <a:gd name="T99" fmla="*/ 3258 h 3710"/>
                <a:gd name="T100" fmla="*/ 706 w 2181"/>
                <a:gd name="T101" fmla="*/ 2678 h 3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81" h="3710">
                  <a:moveTo>
                    <a:pt x="1837" y="20"/>
                  </a:moveTo>
                  <a:lnTo>
                    <a:pt x="1805" y="34"/>
                  </a:lnTo>
                  <a:lnTo>
                    <a:pt x="1734" y="80"/>
                  </a:lnTo>
                  <a:lnTo>
                    <a:pt x="1707" y="103"/>
                  </a:lnTo>
                  <a:lnTo>
                    <a:pt x="1690" y="121"/>
                  </a:lnTo>
                  <a:lnTo>
                    <a:pt x="1663" y="154"/>
                  </a:lnTo>
                  <a:lnTo>
                    <a:pt x="1641" y="188"/>
                  </a:lnTo>
                  <a:lnTo>
                    <a:pt x="1625" y="227"/>
                  </a:lnTo>
                  <a:lnTo>
                    <a:pt x="1613" y="274"/>
                  </a:lnTo>
                  <a:lnTo>
                    <a:pt x="1605" y="332"/>
                  </a:lnTo>
                  <a:lnTo>
                    <a:pt x="1598" y="445"/>
                  </a:lnTo>
                  <a:lnTo>
                    <a:pt x="1596" y="550"/>
                  </a:lnTo>
                  <a:lnTo>
                    <a:pt x="1593" y="666"/>
                  </a:lnTo>
                  <a:lnTo>
                    <a:pt x="1584" y="790"/>
                  </a:lnTo>
                  <a:lnTo>
                    <a:pt x="1575" y="850"/>
                  </a:lnTo>
                  <a:lnTo>
                    <a:pt x="1562" y="895"/>
                  </a:lnTo>
                  <a:lnTo>
                    <a:pt x="1544" y="927"/>
                  </a:lnTo>
                  <a:lnTo>
                    <a:pt x="1521" y="948"/>
                  </a:lnTo>
                  <a:lnTo>
                    <a:pt x="1492" y="962"/>
                  </a:lnTo>
                  <a:lnTo>
                    <a:pt x="1474" y="967"/>
                  </a:lnTo>
                  <a:lnTo>
                    <a:pt x="1454" y="972"/>
                  </a:lnTo>
                  <a:lnTo>
                    <a:pt x="1407" y="1000"/>
                  </a:lnTo>
                  <a:lnTo>
                    <a:pt x="1341" y="1054"/>
                  </a:lnTo>
                  <a:lnTo>
                    <a:pt x="1246" y="1143"/>
                  </a:lnTo>
                  <a:lnTo>
                    <a:pt x="1182" y="1205"/>
                  </a:lnTo>
                  <a:lnTo>
                    <a:pt x="1069" y="1314"/>
                  </a:lnTo>
                  <a:lnTo>
                    <a:pt x="967" y="1400"/>
                  </a:lnTo>
                  <a:lnTo>
                    <a:pt x="927" y="1425"/>
                  </a:lnTo>
                  <a:lnTo>
                    <a:pt x="914" y="1427"/>
                  </a:lnTo>
                  <a:lnTo>
                    <a:pt x="893" y="1428"/>
                  </a:lnTo>
                  <a:lnTo>
                    <a:pt x="823" y="1443"/>
                  </a:lnTo>
                  <a:lnTo>
                    <a:pt x="784" y="1453"/>
                  </a:lnTo>
                  <a:lnTo>
                    <a:pt x="757" y="1462"/>
                  </a:lnTo>
                  <a:lnTo>
                    <a:pt x="707" y="1486"/>
                  </a:lnTo>
                  <a:lnTo>
                    <a:pt x="648" y="1530"/>
                  </a:lnTo>
                  <a:lnTo>
                    <a:pt x="567" y="1604"/>
                  </a:lnTo>
                  <a:lnTo>
                    <a:pt x="512" y="1657"/>
                  </a:lnTo>
                  <a:lnTo>
                    <a:pt x="422" y="1746"/>
                  </a:lnTo>
                  <a:lnTo>
                    <a:pt x="333" y="1844"/>
                  </a:lnTo>
                  <a:lnTo>
                    <a:pt x="293" y="1901"/>
                  </a:lnTo>
                  <a:lnTo>
                    <a:pt x="266" y="1958"/>
                  </a:lnTo>
                  <a:lnTo>
                    <a:pt x="250" y="2022"/>
                  </a:lnTo>
                  <a:lnTo>
                    <a:pt x="237" y="2144"/>
                  </a:lnTo>
                  <a:lnTo>
                    <a:pt x="232" y="2260"/>
                  </a:lnTo>
                  <a:lnTo>
                    <a:pt x="226" y="2389"/>
                  </a:lnTo>
                  <a:lnTo>
                    <a:pt x="215" y="2501"/>
                  </a:lnTo>
                  <a:lnTo>
                    <a:pt x="206" y="2536"/>
                  </a:lnTo>
                  <a:lnTo>
                    <a:pt x="201" y="2540"/>
                  </a:lnTo>
                  <a:lnTo>
                    <a:pt x="184" y="2548"/>
                  </a:lnTo>
                  <a:lnTo>
                    <a:pt x="140" y="2582"/>
                  </a:lnTo>
                  <a:lnTo>
                    <a:pt x="91" y="2630"/>
                  </a:lnTo>
                  <a:lnTo>
                    <a:pt x="51" y="2679"/>
                  </a:lnTo>
                  <a:lnTo>
                    <a:pt x="39" y="2700"/>
                  </a:lnTo>
                  <a:lnTo>
                    <a:pt x="31" y="2716"/>
                  </a:lnTo>
                  <a:lnTo>
                    <a:pt x="20" y="2769"/>
                  </a:lnTo>
                  <a:lnTo>
                    <a:pt x="9" y="2913"/>
                  </a:lnTo>
                  <a:lnTo>
                    <a:pt x="4" y="3090"/>
                  </a:lnTo>
                  <a:lnTo>
                    <a:pt x="0" y="3278"/>
                  </a:lnTo>
                  <a:lnTo>
                    <a:pt x="5" y="3421"/>
                  </a:lnTo>
                  <a:lnTo>
                    <a:pt x="16" y="3478"/>
                  </a:lnTo>
                  <a:lnTo>
                    <a:pt x="24" y="3502"/>
                  </a:lnTo>
                  <a:lnTo>
                    <a:pt x="39" y="3534"/>
                  </a:lnTo>
                  <a:lnTo>
                    <a:pt x="81" y="3595"/>
                  </a:lnTo>
                  <a:lnTo>
                    <a:pt x="135" y="3645"/>
                  </a:lnTo>
                  <a:lnTo>
                    <a:pt x="197" y="3681"/>
                  </a:lnTo>
                  <a:lnTo>
                    <a:pt x="229" y="3692"/>
                  </a:lnTo>
                  <a:lnTo>
                    <a:pt x="249" y="3696"/>
                  </a:lnTo>
                  <a:lnTo>
                    <a:pt x="346" y="3703"/>
                  </a:lnTo>
                  <a:lnTo>
                    <a:pt x="589" y="3709"/>
                  </a:lnTo>
                  <a:lnTo>
                    <a:pt x="814" y="3710"/>
                  </a:lnTo>
                  <a:lnTo>
                    <a:pt x="1123" y="3710"/>
                  </a:lnTo>
                  <a:lnTo>
                    <a:pt x="1319" y="3701"/>
                  </a:lnTo>
                  <a:lnTo>
                    <a:pt x="1378" y="3688"/>
                  </a:lnTo>
                  <a:lnTo>
                    <a:pt x="1401" y="3677"/>
                  </a:lnTo>
                  <a:lnTo>
                    <a:pt x="1428" y="3662"/>
                  </a:lnTo>
                  <a:lnTo>
                    <a:pt x="1474" y="3624"/>
                  </a:lnTo>
                  <a:lnTo>
                    <a:pt x="1510" y="3576"/>
                  </a:lnTo>
                  <a:lnTo>
                    <a:pt x="1538" y="3518"/>
                  </a:lnTo>
                  <a:lnTo>
                    <a:pt x="1549" y="3485"/>
                  </a:lnTo>
                  <a:lnTo>
                    <a:pt x="1553" y="3465"/>
                  </a:lnTo>
                  <a:lnTo>
                    <a:pt x="1560" y="3393"/>
                  </a:lnTo>
                  <a:lnTo>
                    <a:pt x="1566" y="3236"/>
                  </a:lnTo>
                  <a:lnTo>
                    <a:pt x="1566" y="2988"/>
                  </a:lnTo>
                  <a:lnTo>
                    <a:pt x="1561" y="2831"/>
                  </a:lnTo>
                  <a:lnTo>
                    <a:pt x="1555" y="2759"/>
                  </a:lnTo>
                  <a:lnTo>
                    <a:pt x="1551" y="2740"/>
                  </a:lnTo>
                  <a:lnTo>
                    <a:pt x="1546" y="2724"/>
                  </a:lnTo>
                  <a:lnTo>
                    <a:pt x="1528" y="2692"/>
                  </a:lnTo>
                  <a:lnTo>
                    <a:pt x="1502" y="2658"/>
                  </a:lnTo>
                  <a:lnTo>
                    <a:pt x="1468" y="2622"/>
                  </a:lnTo>
                  <a:lnTo>
                    <a:pt x="1447" y="2603"/>
                  </a:lnTo>
                  <a:lnTo>
                    <a:pt x="1362" y="2528"/>
                  </a:lnTo>
                  <a:lnTo>
                    <a:pt x="1392" y="2448"/>
                  </a:lnTo>
                  <a:lnTo>
                    <a:pt x="1402" y="2424"/>
                  </a:lnTo>
                  <a:lnTo>
                    <a:pt x="1440" y="2366"/>
                  </a:lnTo>
                  <a:lnTo>
                    <a:pt x="1510" y="2284"/>
                  </a:lnTo>
                  <a:lnTo>
                    <a:pt x="1622" y="2165"/>
                  </a:lnTo>
                  <a:lnTo>
                    <a:pt x="1701" y="2085"/>
                  </a:lnTo>
                  <a:lnTo>
                    <a:pt x="1837" y="1946"/>
                  </a:lnTo>
                  <a:lnTo>
                    <a:pt x="1973" y="1793"/>
                  </a:lnTo>
                  <a:lnTo>
                    <a:pt x="2036" y="1707"/>
                  </a:lnTo>
                  <a:lnTo>
                    <a:pt x="2081" y="1623"/>
                  </a:lnTo>
                  <a:lnTo>
                    <a:pt x="2112" y="1533"/>
                  </a:lnTo>
                  <a:lnTo>
                    <a:pt x="2134" y="1427"/>
                  </a:lnTo>
                  <a:lnTo>
                    <a:pt x="2152" y="1297"/>
                  </a:lnTo>
                  <a:lnTo>
                    <a:pt x="2161" y="1218"/>
                  </a:lnTo>
                  <a:lnTo>
                    <a:pt x="2167" y="1158"/>
                  </a:lnTo>
                  <a:lnTo>
                    <a:pt x="2175" y="1013"/>
                  </a:lnTo>
                  <a:lnTo>
                    <a:pt x="2181" y="763"/>
                  </a:lnTo>
                  <a:lnTo>
                    <a:pt x="2177" y="426"/>
                  </a:lnTo>
                  <a:lnTo>
                    <a:pt x="2164" y="230"/>
                  </a:lnTo>
                  <a:lnTo>
                    <a:pt x="2153" y="144"/>
                  </a:lnTo>
                  <a:lnTo>
                    <a:pt x="2146" y="122"/>
                  </a:lnTo>
                  <a:lnTo>
                    <a:pt x="2137" y="102"/>
                  </a:lnTo>
                  <a:lnTo>
                    <a:pt x="2112" y="68"/>
                  </a:lnTo>
                  <a:lnTo>
                    <a:pt x="2081" y="41"/>
                  </a:lnTo>
                  <a:lnTo>
                    <a:pt x="2045" y="20"/>
                  </a:lnTo>
                  <a:lnTo>
                    <a:pt x="2004" y="7"/>
                  </a:lnTo>
                  <a:lnTo>
                    <a:pt x="1959" y="0"/>
                  </a:lnTo>
                  <a:lnTo>
                    <a:pt x="1912" y="2"/>
                  </a:lnTo>
                  <a:lnTo>
                    <a:pt x="1862" y="12"/>
                  </a:lnTo>
                  <a:lnTo>
                    <a:pt x="1837" y="20"/>
                  </a:lnTo>
                  <a:close/>
                  <a:moveTo>
                    <a:pt x="1996" y="180"/>
                  </a:moveTo>
                  <a:lnTo>
                    <a:pt x="2001" y="192"/>
                  </a:lnTo>
                  <a:lnTo>
                    <a:pt x="2011" y="261"/>
                  </a:lnTo>
                  <a:lnTo>
                    <a:pt x="2021" y="434"/>
                  </a:lnTo>
                  <a:lnTo>
                    <a:pt x="2024" y="745"/>
                  </a:lnTo>
                  <a:lnTo>
                    <a:pt x="2016" y="1052"/>
                  </a:lnTo>
                  <a:lnTo>
                    <a:pt x="2007" y="1167"/>
                  </a:lnTo>
                  <a:lnTo>
                    <a:pt x="1998" y="1260"/>
                  </a:lnTo>
                  <a:lnTo>
                    <a:pt x="1980" y="1400"/>
                  </a:lnTo>
                  <a:lnTo>
                    <a:pt x="1961" y="1498"/>
                  </a:lnTo>
                  <a:lnTo>
                    <a:pt x="1937" y="1570"/>
                  </a:lnTo>
                  <a:lnTo>
                    <a:pt x="1922" y="1602"/>
                  </a:lnTo>
                  <a:lnTo>
                    <a:pt x="1895" y="1638"/>
                  </a:lnTo>
                  <a:lnTo>
                    <a:pt x="1724" y="1825"/>
                  </a:lnTo>
                  <a:lnTo>
                    <a:pt x="1607" y="1947"/>
                  </a:lnTo>
                  <a:lnTo>
                    <a:pt x="1524" y="2031"/>
                  </a:lnTo>
                  <a:lnTo>
                    <a:pt x="1404" y="2157"/>
                  </a:lnTo>
                  <a:lnTo>
                    <a:pt x="1329" y="2246"/>
                  </a:lnTo>
                  <a:lnTo>
                    <a:pt x="1283" y="2315"/>
                  </a:lnTo>
                  <a:lnTo>
                    <a:pt x="1267" y="2347"/>
                  </a:lnTo>
                  <a:lnTo>
                    <a:pt x="1248" y="2390"/>
                  </a:lnTo>
                  <a:lnTo>
                    <a:pt x="1220" y="2468"/>
                  </a:lnTo>
                  <a:lnTo>
                    <a:pt x="1217" y="2488"/>
                  </a:lnTo>
                  <a:lnTo>
                    <a:pt x="1217" y="2527"/>
                  </a:lnTo>
                  <a:lnTo>
                    <a:pt x="801" y="2527"/>
                  </a:lnTo>
                  <a:lnTo>
                    <a:pt x="384" y="2527"/>
                  </a:lnTo>
                  <a:lnTo>
                    <a:pt x="384" y="2302"/>
                  </a:lnTo>
                  <a:lnTo>
                    <a:pt x="385" y="2190"/>
                  </a:lnTo>
                  <a:lnTo>
                    <a:pt x="393" y="2081"/>
                  </a:lnTo>
                  <a:lnTo>
                    <a:pt x="402" y="2032"/>
                  </a:lnTo>
                  <a:lnTo>
                    <a:pt x="409" y="2015"/>
                  </a:lnTo>
                  <a:lnTo>
                    <a:pt x="425" y="1987"/>
                  </a:lnTo>
                  <a:lnTo>
                    <a:pt x="505" y="1888"/>
                  </a:lnTo>
                  <a:lnTo>
                    <a:pt x="613" y="1771"/>
                  </a:lnTo>
                  <a:lnTo>
                    <a:pt x="716" y="1671"/>
                  </a:lnTo>
                  <a:lnTo>
                    <a:pt x="754" y="1642"/>
                  </a:lnTo>
                  <a:lnTo>
                    <a:pt x="779" y="1627"/>
                  </a:lnTo>
                  <a:lnTo>
                    <a:pt x="870" y="1595"/>
                  </a:lnTo>
                  <a:lnTo>
                    <a:pt x="921" y="1583"/>
                  </a:lnTo>
                  <a:lnTo>
                    <a:pt x="1042" y="1558"/>
                  </a:lnTo>
                  <a:lnTo>
                    <a:pt x="1269" y="1333"/>
                  </a:lnTo>
                  <a:lnTo>
                    <a:pt x="1370" y="1236"/>
                  </a:lnTo>
                  <a:lnTo>
                    <a:pt x="1477" y="1143"/>
                  </a:lnTo>
                  <a:lnTo>
                    <a:pt x="1521" y="1113"/>
                  </a:lnTo>
                  <a:lnTo>
                    <a:pt x="1531" y="1110"/>
                  </a:lnTo>
                  <a:lnTo>
                    <a:pt x="1551" y="1111"/>
                  </a:lnTo>
                  <a:lnTo>
                    <a:pt x="1584" y="1118"/>
                  </a:lnTo>
                  <a:lnTo>
                    <a:pt x="1610" y="1134"/>
                  </a:lnTo>
                  <a:lnTo>
                    <a:pt x="1632" y="1158"/>
                  </a:lnTo>
                  <a:lnTo>
                    <a:pt x="1641" y="1175"/>
                  </a:lnTo>
                  <a:lnTo>
                    <a:pt x="1647" y="1188"/>
                  </a:lnTo>
                  <a:lnTo>
                    <a:pt x="1653" y="1214"/>
                  </a:lnTo>
                  <a:lnTo>
                    <a:pt x="1650" y="1241"/>
                  </a:lnTo>
                  <a:lnTo>
                    <a:pt x="1636" y="1274"/>
                  </a:lnTo>
                  <a:lnTo>
                    <a:pt x="1609" y="1314"/>
                  </a:lnTo>
                  <a:lnTo>
                    <a:pt x="1567" y="1364"/>
                  </a:lnTo>
                  <a:lnTo>
                    <a:pt x="1476" y="1462"/>
                  </a:lnTo>
                  <a:lnTo>
                    <a:pt x="1386" y="1552"/>
                  </a:lnTo>
                  <a:lnTo>
                    <a:pt x="1305" y="1632"/>
                  </a:lnTo>
                  <a:lnTo>
                    <a:pt x="1201" y="1744"/>
                  </a:lnTo>
                  <a:lnTo>
                    <a:pt x="1163" y="1798"/>
                  </a:lnTo>
                  <a:lnTo>
                    <a:pt x="1153" y="1825"/>
                  </a:lnTo>
                  <a:lnTo>
                    <a:pt x="1153" y="1846"/>
                  </a:lnTo>
                  <a:lnTo>
                    <a:pt x="1163" y="1865"/>
                  </a:lnTo>
                  <a:lnTo>
                    <a:pt x="1171" y="1873"/>
                  </a:lnTo>
                  <a:lnTo>
                    <a:pt x="1179" y="1881"/>
                  </a:lnTo>
                  <a:lnTo>
                    <a:pt x="1198" y="1891"/>
                  </a:lnTo>
                  <a:lnTo>
                    <a:pt x="1220" y="1891"/>
                  </a:lnTo>
                  <a:lnTo>
                    <a:pt x="1248" y="1879"/>
                  </a:lnTo>
                  <a:lnTo>
                    <a:pt x="1305" y="1838"/>
                  </a:lnTo>
                  <a:lnTo>
                    <a:pt x="1425" y="1726"/>
                  </a:lnTo>
                  <a:lnTo>
                    <a:pt x="1512" y="1638"/>
                  </a:lnTo>
                  <a:lnTo>
                    <a:pt x="1614" y="1535"/>
                  </a:lnTo>
                  <a:lnTo>
                    <a:pt x="1734" y="1404"/>
                  </a:lnTo>
                  <a:lnTo>
                    <a:pt x="1782" y="1346"/>
                  </a:lnTo>
                  <a:lnTo>
                    <a:pt x="1791" y="1332"/>
                  </a:lnTo>
                  <a:lnTo>
                    <a:pt x="1799" y="1314"/>
                  </a:lnTo>
                  <a:lnTo>
                    <a:pt x="1811" y="1277"/>
                  </a:lnTo>
                  <a:lnTo>
                    <a:pt x="1816" y="1239"/>
                  </a:lnTo>
                  <a:lnTo>
                    <a:pt x="1814" y="1201"/>
                  </a:lnTo>
                  <a:lnTo>
                    <a:pt x="1806" y="1162"/>
                  </a:lnTo>
                  <a:lnTo>
                    <a:pt x="1792" y="1124"/>
                  </a:lnTo>
                  <a:lnTo>
                    <a:pt x="1772" y="1086"/>
                  </a:lnTo>
                  <a:lnTo>
                    <a:pt x="1746" y="1050"/>
                  </a:lnTo>
                  <a:lnTo>
                    <a:pt x="1731" y="1032"/>
                  </a:lnTo>
                  <a:lnTo>
                    <a:pt x="1719" y="1019"/>
                  </a:lnTo>
                  <a:lnTo>
                    <a:pt x="1707" y="997"/>
                  </a:lnTo>
                  <a:lnTo>
                    <a:pt x="1706" y="967"/>
                  </a:lnTo>
                  <a:lnTo>
                    <a:pt x="1717" y="915"/>
                  </a:lnTo>
                  <a:lnTo>
                    <a:pt x="1727" y="873"/>
                  </a:lnTo>
                  <a:lnTo>
                    <a:pt x="1735" y="840"/>
                  </a:lnTo>
                  <a:lnTo>
                    <a:pt x="1747" y="767"/>
                  </a:lnTo>
                  <a:lnTo>
                    <a:pt x="1757" y="634"/>
                  </a:lnTo>
                  <a:lnTo>
                    <a:pt x="1759" y="513"/>
                  </a:lnTo>
                  <a:lnTo>
                    <a:pt x="1759" y="275"/>
                  </a:lnTo>
                  <a:lnTo>
                    <a:pt x="1821" y="217"/>
                  </a:lnTo>
                  <a:lnTo>
                    <a:pt x="1846" y="196"/>
                  </a:lnTo>
                  <a:lnTo>
                    <a:pt x="1897" y="168"/>
                  </a:lnTo>
                  <a:lnTo>
                    <a:pt x="1933" y="159"/>
                  </a:lnTo>
                  <a:lnTo>
                    <a:pt x="1955" y="159"/>
                  </a:lnTo>
                  <a:lnTo>
                    <a:pt x="1974" y="164"/>
                  </a:lnTo>
                  <a:lnTo>
                    <a:pt x="1990" y="173"/>
                  </a:lnTo>
                  <a:lnTo>
                    <a:pt x="1996" y="180"/>
                  </a:lnTo>
                  <a:close/>
                  <a:moveTo>
                    <a:pt x="1239" y="2692"/>
                  </a:moveTo>
                  <a:lnTo>
                    <a:pt x="1285" y="2699"/>
                  </a:lnTo>
                  <a:lnTo>
                    <a:pt x="1337" y="2716"/>
                  </a:lnTo>
                  <a:lnTo>
                    <a:pt x="1362" y="2731"/>
                  </a:lnTo>
                  <a:lnTo>
                    <a:pt x="1372" y="2740"/>
                  </a:lnTo>
                  <a:lnTo>
                    <a:pt x="1385" y="2753"/>
                  </a:lnTo>
                  <a:lnTo>
                    <a:pt x="1400" y="2787"/>
                  </a:lnTo>
                  <a:lnTo>
                    <a:pt x="1406" y="2860"/>
                  </a:lnTo>
                  <a:lnTo>
                    <a:pt x="1406" y="3007"/>
                  </a:lnTo>
                  <a:lnTo>
                    <a:pt x="1404" y="3123"/>
                  </a:lnTo>
                  <a:lnTo>
                    <a:pt x="1399" y="3468"/>
                  </a:lnTo>
                  <a:lnTo>
                    <a:pt x="1351" y="3513"/>
                  </a:lnTo>
                  <a:lnTo>
                    <a:pt x="1301" y="3560"/>
                  </a:lnTo>
                  <a:lnTo>
                    <a:pt x="812" y="3558"/>
                  </a:lnTo>
                  <a:lnTo>
                    <a:pt x="622" y="3558"/>
                  </a:lnTo>
                  <a:lnTo>
                    <a:pt x="430" y="3554"/>
                  </a:lnTo>
                  <a:lnTo>
                    <a:pt x="340" y="3548"/>
                  </a:lnTo>
                  <a:lnTo>
                    <a:pt x="277" y="3538"/>
                  </a:lnTo>
                  <a:lnTo>
                    <a:pt x="236" y="3524"/>
                  </a:lnTo>
                  <a:lnTo>
                    <a:pt x="208" y="3503"/>
                  </a:lnTo>
                  <a:lnTo>
                    <a:pt x="190" y="3477"/>
                  </a:lnTo>
                  <a:lnTo>
                    <a:pt x="182" y="3460"/>
                  </a:lnTo>
                  <a:lnTo>
                    <a:pt x="174" y="3441"/>
                  </a:lnTo>
                  <a:lnTo>
                    <a:pt x="164" y="3391"/>
                  </a:lnTo>
                  <a:lnTo>
                    <a:pt x="161" y="3258"/>
                  </a:lnTo>
                  <a:lnTo>
                    <a:pt x="166" y="3080"/>
                  </a:lnTo>
                  <a:lnTo>
                    <a:pt x="176" y="2757"/>
                  </a:lnTo>
                  <a:lnTo>
                    <a:pt x="222" y="2717"/>
                  </a:lnTo>
                  <a:lnTo>
                    <a:pt x="269" y="2677"/>
                  </a:lnTo>
                  <a:lnTo>
                    <a:pt x="706" y="2678"/>
                  </a:lnTo>
                  <a:lnTo>
                    <a:pt x="886" y="2679"/>
                  </a:lnTo>
                  <a:lnTo>
                    <a:pt x="1176" y="2687"/>
                  </a:lnTo>
                  <a:lnTo>
                    <a:pt x="1239" y="26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52">
              <a:extLst>
                <a:ext uri="{FF2B5EF4-FFF2-40B4-BE49-F238E27FC236}">
                  <a16:creationId xmlns:a16="http://schemas.microsoft.com/office/drawing/2014/main" id="{9067D249-17BC-1600-8D30-E197C397DCE2}"/>
                </a:ext>
              </a:extLst>
            </p:cNvPr>
            <p:cNvSpPr>
              <a:spLocks/>
            </p:cNvSpPr>
            <p:nvPr/>
          </p:nvSpPr>
          <p:spPr bwMode="auto">
            <a:xfrm>
              <a:off x="11645901" y="6173788"/>
              <a:ext cx="100013" cy="100013"/>
            </a:xfrm>
            <a:custGeom>
              <a:avLst/>
              <a:gdLst>
                <a:gd name="T0" fmla="*/ 70 w 259"/>
                <a:gd name="T1" fmla="*/ 16 h 264"/>
                <a:gd name="T2" fmla="*/ 55 w 259"/>
                <a:gd name="T3" fmla="*/ 27 h 264"/>
                <a:gd name="T4" fmla="*/ 28 w 259"/>
                <a:gd name="T5" fmla="*/ 62 h 264"/>
                <a:gd name="T6" fmla="*/ 8 w 259"/>
                <a:gd name="T7" fmla="*/ 104 h 264"/>
                <a:gd name="T8" fmla="*/ 0 w 259"/>
                <a:gd name="T9" fmla="*/ 144 h 264"/>
                <a:gd name="T10" fmla="*/ 4 w 259"/>
                <a:gd name="T11" fmla="*/ 159 h 264"/>
                <a:gd name="T12" fmla="*/ 15 w 259"/>
                <a:gd name="T13" fmla="*/ 187 h 264"/>
                <a:gd name="T14" fmla="*/ 47 w 259"/>
                <a:gd name="T15" fmla="*/ 228 h 264"/>
                <a:gd name="T16" fmla="*/ 86 w 259"/>
                <a:gd name="T17" fmla="*/ 254 h 264"/>
                <a:gd name="T18" fmla="*/ 130 w 259"/>
                <a:gd name="T19" fmla="*/ 264 h 264"/>
                <a:gd name="T20" fmla="*/ 172 w 259"/>
                <a:gd name="T21" fmla="*/ 258 h 264"/>
                <a:gd name="T22" fmla="*/ 211 w 259"/>
                <a:gd name="T23" fmla="*/ 238 h 264"/>
                <a:gd name="T24" fmla="*/ 240 w 259"/>
                <a:gd name="T25" fmla="*/ 204 h 264"/>
                <a:gd name="T26" fmla="*/ 257 w 259"/>
                <a:gd name="T27" fmla="*/ 157 h 264"/>
                <a:gd name="T28" fmla="*/ 259 w 259"/>
                <a:gd name="T29" fmla="*/ 128 h 264"/>
                <a:gd name="T30" fmla="*/ 258 w 259"/>
                <a:gd name="T31" fmla="*/ 110 h 264"/>
                <a:gd name="T32" fmla="*/ 249 w 259"/>
                <a:gd name="T33" fmla="*/ 77 h 264"/>
                <a:gd name="T34" fmla="*/ 232 w 259"/>
                <a:gd name="T35" fmla="*/ 48 h 264"/>
                <a:gd name="T36" fmla="*/ 209 w 259"/>
                <a:gd name="T37" fmla="*/ 26 h 264"/>
                <a:gd name="T38" fmla="*/ 182 w 259"/>
                <a:gd name="T39" fmla="*/ 9 h 264"/>
                <a:gd name="T40" fmla="*/ 151 w 259"/>
                <a:gd name="T41" fmla="*/ 0 h 264"/>
                <a:gd name="T42" fmla="*/ 119 w 259"/>
                <a:gd name="T43" fmla="*/ 0 h 264"/>
                <a:gd name="T44" fmla="*/ 86 w 259"/>
                <a:gd name="T45" fmla="*/ 8 h 264"/>
                <a:gd name="T46" fmla="*/ 70 w 259"/>
                <a:gd name="T47" fmla="*/ 16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9" h="264">
                  <a:moveTo>
                    <a:pt x="70" y="16"/>
                  </a:moveTo>
                  <a:lnTo>
                    <a:pt x="55" y="27"/>
                  </a:lnTo>
                  <a:lnTo>
                    <a:pt x="28" y="62"/>
                  </a:lnTo>
                  <a:lnTo>
                    <a:pt x="8" y="104"/>
                  </a:lnTo>
                  <a:lnTo>
                    <a:pt x="0" y="144"/>
                  </a:lnTo>
                  <a:lnTo>
                    <a:pt x="4" y="159"/>
                  </a:lnTo>
                  <a:lnTo>
                    <a:pt x="15" y="187"/>
                  </a:lnTo>
                  <a:lnTo>
                    <a:pt x="47" y="228"/>
                  </a:lnTo>
                  <a:lnTo>
                    <a:pt x="86" y="254"/>
                  </a:lnTo>
                  <a:lnTo>
                    <a:pt x="130" y="264"/>
                  </a:lnTo>
                  <a:lnTo>
                    <a:pt x="172" y="258"/>
                  </a:lnTo>
                  <a:lnTo>
                    <a:pt x="211" y="238"/>
                  </a:lnTo>
                  <a:lnTo>
                    <a:pt x="240" y="204"/>
                  </a:lnTo>
                  <a:lnTo>
                    <a:pt x="257" y="157"/>
                  </a:lnTo>
                  <a:lnTo>
                    <a:pt x="259" y="128"/>
                  </a:lnTo>
                  <a:lnTo>
                    <a:pt x="258" y="110"/>
                  </a:lnTo>
                  <a:lnTo>
                    <a:pt x="249" y="77"/>
                  </a:lnTo>
                  <a:lnTo>
                    <a:pt x="232" y="48"/>
                  </a:lnTo>
                  <a:lnTo>
                    <a:pt x="209" y="26"/>
                  </a:lnTo>
                  <a:lnTo>
                    <a:pt x="182" y="9"/>
                  </a:lnTo>
                  <a:lnTo>
                    <a:pt x="151" y="0"/>
                  </a:lnTo>
                  <a:lnTo>
                    <a:pt x="119" y="0"/>
                  </a:lnTo>
                  <a:lnTo>
                    <a:pt x="86" y="8"/>
                  </a:lnTo>
                  <a:lnTo>
                    <a:pt x="7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8" name="Group 127">
            <a:extLst>
              <a:ext uri="{FF2B5EF4-FFF2-40B4-BE49-F238E27FC236}">
                <a16:creationId xmlns:a16="http://schemas.microsoft.com/office/drawing/2014/main" id="{B38C5AB0-B427-4CD4-9C10-37AF8727C34C}"/>
              </a:ext>
            </a:extLst>
          </p:cNvPr>
          <p:cNvGrpSpPr>
            <a:grpSpLocks noChangeAspect="1"/>
          </p:cNvGrpSpPr>
          <p:nvPr/>
        </p:nvGrpSpPr>
        <p:grpSpPr>
          <a:xfrm>
            <a:off x="5365820" y="3532568"/>
            <a:ext cx="331092" cy="365760"/>
            <a:chOff x="133350" y="2943226"/>
            <a:chExt cx="1652588" cy="1825625"/>
          </a:xfrm>
          <a:solidFill>
            <a:schemeClr val="accent1"/>
          </a:solidFill>
        </p:grpSpPr>
        <p:sp>
          <p:nvSpPr>
            <p:cNvPr id="129" name="Freeform 79">
              <a:extLst>
                <a:ext uri="{FF2B5EF4-FFF2-40B4-BE49-F238E27FC236}">
                  <a16:creationId xmlns:a16="http://schemas.microsoft.com/office/drawing/2014/main" id="{93028472-0993-F760-C534-090E1816A805}"/>
                </a:ext>
              </a:extLst>
            </p:cNvPr>
            <p:cNvSpPr>
              <a:spLocks noEditPoints="1"/>
            </p:cNvSpPr>
            <p:nvPr/>
          </p:nvSpPr>
          <p:spPr bwMode="auto">
            <a:xfrm>
              <a:off x="133350" y="2943226"/>
              <a:ext cx="1652588" cy="1825625"/>
            </a:xfrm>
            <a:custGeom>
              <a:avLst/>
              <a:gdLst>
                <a:gd name="T0" fmla="*/ 1501 w 3749"/>
                <a:gd name="T1" fmla="*/ 289 h 4138"/>
                <a:gd name="T2" fmla="*/ 709 w 3749"/>
                <a:gd name="T3" fmla="*/ 474 h 4138"/>
                <a:gd name="T4" fmla="*/ 375 w 3749"/>
                <a:gd name="T5" fmla="*/ 2126 h 4138"/>
                <a:gd name="T6" fmla="*/ 341 w 3749"/>
                <a:gd name="T7" fmla="*/ 3259 h 4138"/>
                <a:gd name="T8" fmla="*/ 600 w 3749"/>
                <a:gd name="T9" fmla="*/ 3346 h 4138"/>
                <a:gd name="T10" fmla="*/ 738 w 3749"/>
                <a:gd name="T11" fmla="*/ 3754 h 4138"/>
                <a:gd name="T12" fmla="*/ 1063 w 3749"/>
                <a:gd name="T13" fmla="*/ 3965 h 4138"/>
                <a:gd name="T14" fmla="*/ 1423 w 3749"/>
                <a:gd name="T15" fmla="*/ 4134 h 4138"/>
                <a:gd name="T16" fmla="*/ 1881 w 3749"/>
                <a:gd name="T17" fmla="*/ 4069 h 4138"/>
                <a:gd name="T18" fmla="*/ 3634 w 3749"/>
                <a:gd name="T19" fmla="*/ 3881 h 4138"/>
                <a:gd name="T20" fmla="*/ 3731 w 3749"/>
                <a:gd name="T21" fmla="*/ 469 h 4138"/>
                <a:gd name="T22" fmla="*/ 2936 w 3749"/>
                <a:gd name="T23" fmla="*/ 284 h 4138"/>
                <a:gd name="T24" fmla="*/ 2218 w 3749"/>
                <a:gd name="T25" fmla="*/ 0 h 4138"/>
                <a:gd name="T26" fmla="*/ 2799 w 3749"/>
                <a:gd name="T27" fmla="*/ 509 h 4138"/>
                <a:gd name="T28" fmla="*/ 2084 w 3749"/>
                <a:gd name="T29" fmla="*/ 187 h 4138"/>
                <a:gd name="T30" fmla="*/ 929 w 3749"/>
                <a:gd name="T31" fmla="*/ 608 h 4138"/>
                <a:gd name="T32" fmla="*/ 881 w 3749"/>
                <a:gd name="T33" fmla="*/ 2186 h 4138"/>
                <a:gd name="T34" fmla="*/ 1499 w 3749"/>
                <a:gd name="T35" fmla="*/ 459 h 4138"/>
                <a:gd name="T36" fmla="*/ 3524 w 3749"/>
                <a:gd name="T37" fmla="*/ 3768 h 4138"/>
                <a:gd name="T38" fmla="*/ 2919 w 3749"/>
                <a:gd name="T39" fmla="*/ 3676 h 4138"/>
                <a:gd name="T40" fmla="*/ 3460 w 3749"/>
                <a:gd name="T41" fmla="*/ 567 h 4138"/>
                <a:gd name="T42" fmla="*/ 1554 w 3749"/>
                <a:gd name="T43" fmla="*/ 784 h 4138"/>
                <a:gd name="T44" fmla="*/ 2901 w 3749"/>
                <a:gd name="T45" fmla="*/ 3543 h 4138"/>
                <a:gd name="T46" fmla="*/ 2530 w 3749"/>
                <a:gd name="T47" fmla="*/ 3336 h 4138"/>
                <a:gd name="T48" fmla="*/ 2821 w 3749"/>
                <a:gd name="T49" fmla="*/ 3323 h 4138"/>
                <a:gd name="T50" fmla="*/ 3086 w 3749"/>
                <a:gd name="T51" fmla="*/ 2898 h 4138"/>
                <a:gd name="T52" fmla="*/ 3019 w 3749"/>
                <a:gd name="T53" fmla="*/ 2741 h 4138"/>
                <a:gd name="T54" fmla="*/ 3046 w 3749"/>
                <a:gd name="T55" fmla="*/ 2210 h 4138"/>
                <a:gd name="T56" fmla="*/ 3199 w 3749"/>
                <a:gd name="T57" fmla="*/ 1975 h 4138"/>
                <a:gd name="T58" fmla="*/ 2131 w 3749"/>
                <a:gd name="T59" fmla="*/ 1931 h 4138"/>
                <a:gd name="T60" fmla="*/ 2314 w 3749"/>
                <a:gd name="T61" fmla="*/ 2178 h 4138"/>
                <a:gd name="T62" fmla="*/ 2180 w 3749"/>
                <a:gd name="T63" fmla="*/ 2332 h 4138"/>
                <a:gd name="T64" fmla="*/ 1916 w 3749"/>
                <a:gd name="T65" fmla="*/ 2309 h 4138"/>
                <a:gd name="T66" fmla="*/ 1278 w 3749"/>
                <a:gd name="T67" fmla="*/ 1825 h 4138"/>
                <a:gd name="T68" fmla="*/ 1057 w 3749"/>
                <a:gd name="T69" fmla="*/ 720 h 4138"/>
                <a:gd name="T70" fmla="*/ 1525 w 3749"/>
                <a:gd name="T71" fmla="*/ 2325 h 4138"/>
                <a:gd name="T72" fmla="*/ 735 w 3749"/>
                <a:gd name="T73" fmla="*/ 2179 h 4138"/>
                <a:gd name="T74" fmla="*/ 519 w 3749"/>
                <a:gd name="T75" fmla="*/ 2121 h 4138"/>
                <a:gd name="T76" fmla="*/ 2987 w 3749"/>
                <a:gd name="T77" fmla="*/ 3120 h 4138"/>
                <a:gd name="T78" fmla="*/ 2636 w 3749"/>
                <a:gd name="T79" fmla="*/ 2143 h 4138"/>
                <a:gd name="T80" fmla="*/ 1416 w 3749"/>
                <a:gd name="T81" fmla="*/ 2474 h 4138"/>
                <a:gd name="T82" fmla="*/ 1148 w 3749"/>
                <a:gd name="T83" fmla="*/ 3008 h 4138"/>
                <a:gd name="T84" fmla="*/ 1879 w 3749"/>
                <a:gd name="T85" fmla="*/ 2942 h 4138"/>
                <a:gd name="T86" fmla="*/ 2211 w 3749"/>
                <a:gd name="T87" fmla="*/ 3282 h 4138"/>
                <a:gd name="T88" fmla="*/ 2066 w 3749"/>
                <a:gd name="T89" fmla="*/ 3354 h 4138"/>
                <a:gd name="T90" fmla="*/ 1858 w 3749"/>
                <a:gd name="T91" fmla="*/ 3404 h 4138"/>
                <a:gd name="T92" fmla="*/ 2020 w 3749"/>
                <a:gd name="T93" fmla="*/ 3655 h 4138"/>
                <a:gd name="T94" fmla="*/ 1572 w 3749"/>
                <a:gd name="T95" fmla="*/ 3564 h 4138"/>
                <a:gd name="T96" fmla="*/ 1209 w 3749"/>
                <a:gd name="T97" fmla="*/ 3366 h 4138"/>
                <a:gd name="T98" fmla="*/ 688 w 3749"/>
                <a:gd name="T99" fmla="*/ 3111 h 4138"/>
                <a:gd name="T100" fmla="*/ 814 w 3749"/>
                <a:gd name="T101" fmla="*/ 2436 h 4138"/>
                <a:gd name="T102" fmla="*/ 2496 w 3749"/>
                <a:gd name="T103" fmla="*/ 2771 h 4138"/>
                <a:gd name="T104" fmla="*/ 1878 w 3749"/>
                <a:gd name="T105" fmla="*/ 2800 h 4138"/>
                <a:gd name="T106" fmla="*/ 1192 w 3749"/>
                <a:gd name="T107" fmla="*/ 2852 h 4138"/>
                <a:gd name="T108" fmla="*/ 2027 w 3749"/>
                <a:gd name="T109" fmla="*/ 2496 h 4138"/>
                <a:gd name="T110" fmla="*/ 685 w 3749"/>
                <a:gd name="T111" fmla="*/ 3509 h 4138"/>
                <a:gd name="T112" fmla="*/ 1062 w 3749"/>
                <a:gd name="T113" fmla="*/ 3678 h 4138"/>
                <a:gd name="T114" fmla="*/ 1017 w 3749"/>
                <a:gd name="T115" fmla="*/ 3474 h 4138"/>
                <a:gd name="T116" fmla="*/ 1297 w 3749"/>
                <a:gd name="T117" fmla="*/ 3818 h 4138"/>
                <a:gd name="T118" fmla="*/ 1276 w 3749"/>
                <a:gd name="T119" fmla="*/ 3583 h 4138"/>
                <a:gd name="T120" fmla="*/ 1565 w 3749"/>
                <a:gd name="T121" fmla="*/ 3909 h 4138"/>
                <a:gd name="T122" fmla="*/ 1539 w 3749"/>
                <a:gd name="T123" fmla="*/ 3694 h 4138"/>
                <a:gd name="T124" fmla="*/ 1725 w 3749"/>
                <a:gd name="T125" fmla="*/ 3968 h 4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49" h="4138">
                  <a:moveTo>
                    <a:pt x="2126" y="9"/>
                  </a:moveTo>
                  <a:lnTo>
                    <a:pt x="2099" y="19"/>
                  </a:lnTo>
                  <a:lnTo>
                    <a:pt x="2045" y="48"/>
                  </a:lnTo>
                  <a:lnTo>
                    <a:pt x="1994" y="86"/>
                  </a:lnTo>
                  <a:lnTo>
                    <a:pt x="1950" y="131"/>
                  </a:lnTo>
                  <a:lnTo>
                    <a:pt x="1932" y="154"/>
                  </a:lnTo>
                  <a:lnTo>
                    <a:pt x="1894" y="209"/>
                  </a:lnTo>
                  <a:lnTo>
                    <a:pt x="1731" y="209"/>
                  </a:lnTo>
                  <a:lnTo>
                    <a:pt x="1681" y="209"/>
                  </a:lnTo>
                  <a:lnTo>
                    <a:pt x="1611" y="212"/>
                  </a:lnTo>
                  <a:lnTo>
                    <a:pt x="1569" y="219"/>
                  </a:lnTo>
                  <a:lnTo>
                    <a:pt x="1543" y="233"/>
                  </a:lnTo>
                  <a:lnTo>
                    <a:pt x="1532" y="243"/>
                  </a:lnTo>
                  <a:lnTo>
                    <a:pt x="1519" y="257"/>
                  </a:lnTo>
                  <a:lnTo>
                    <a:pt x="1501" y="289"/>
                  </a:lnTo>
                  <a:lnTo>
                    <a:pt x="1499" y="301"/>
                  </a:lnTo>
                  <a:lnTo>
                    <a:pt x="1499" y="305"/>
                  </a:lnTo>
                  <a:lnTo>
                    <a:pt x="1493" y="311"/>
                  </a:lnTo>
                  <a:lnTo>
                    <a:pt x="1472" y="319"/>
                  </a:lnTo>
                  <a:lnTo>
                    <a:pt x="1356" y="326"/>
                  </a:lnTo>
                  <a:lnTo>
                    <a:pt x="1179" y="326"/>
                  </a:lnTo>
                  <a:lnTo>
                    <a:pt x="1078" y="326"/>
                  </a:lnTo>
                  <a:lnTo>
                    <a:pt x="943" y="328"/>
                  </a:lnTo>
                  <a:lnTo>
                    <a:pt x="866" y="335"/>
                  </a:lnTo>
                  <a:lnTo>
                    <a:pt x="822" y="349"/>
                  </a:lnTo>
                  <a:lnTo>
                    <a:pt x="804" y="359"/>
                  </a:lnTo>
                  <a:lnTo>
                    <a:pt x="783" y="372"/>
                  </a:lnTo>
                  <a:lnTo>
                    <a:pt x="750" y="394"/>
                  </a:lnTo>
                  <a:lnTo>
                    <a:pt x="726" y="425"/>
                  </a:lnTo>
                  <a:lnTo>
                    <a:pt x="709" y="474"/>
                  </a:lnTo>
                  <a:lnTo>
                    <a:pt x="698" y="554"/>
                  </a:lnTo>
                  <a:lnTo>
                    <a:pt x="692" y="675"/>
                  </a:lnTo>
                  <a:lnTo>
                    <a:pt x="687" y="950"/>
                  </a:lnTo>
                  <a:lnTo>
                    <a:pt x="686" y="1236"/>
                  </a:lnTo>
                  <a:lnTo>
                    <a:pt x="681" y="1988"/>
                  </a:lnTo>
                  <a:lnTo>
                    <a:pt x="612" y="1964"/>
                  </a:lnTo>
                  <a:lnTo>
                    <a:pt x="591" y="1957"/>
                  </a:lnTo>
                  <a:lnTo>
                    <a:pt x="560" y="1950"/>
                  </a:lnTo>
                  <a:lnTo>
                    <a:pt x="533" y="1952"/>
                  </a:lnTo>
                  <a:lnTo>
                    <a:pt x="504" y="1962"/>
                  </a:lnTo>
                  <a:lnTo>
                    <a:pt x="486" y="1971"/>
                  </a:lnTo>
                  <a:lnTo>
                    <a:pt x="476" y="1976"/>
                  </a:lnTo>
                  <a:lnTo>
                    <a:pt x="457" y="1990"/>
                  </a:lnTo>
                  <a:lnTo>
                    <a:pt x="429" y="2024"/>
                  </a:lnTo>
                  <a:lnTo>
                    <a:pt x="375" y="2126"/>
                  </a:lnTo>
                  <a:lnTo>
                    <a:pt x="282" y="2328"/>
                  </a:lnTo>
                  <a:lnTo>
                    <a:pt x="212" y="2484"/>
                  </a:lnTo>
                  <a:lnTo>
                    <a:pt x="137" y="2655"/>
                  </a:lnTo>
                  <a:lnTo>
                    <a:pt x="42" y="2886"/>
                  </a:lnTo>
                  <a:lnTo>
                    <a:pt x="8" y="2990"/>
                  </a:lnTo>
                  <a:lnTo>
                    <a:pt x="0" y="3039"/>
                  </a:lnTo>
                  <a:lnTo>
                    <a:pt x="2" y="3074"/>
                  </a:lnTo>
                  <a:lnTo>
                    <a:pt x="14" y="3102"/>
                  </a:lnTo>
                  <a:lnTo>
                    <a:pt x="22" y="3114"/>
                  </a:lnTo>
                  <a:lnTo>
                    <a:pt x="39" y="3130"/>
                  </a:lnTo>
                  <a:lnTo>
                    <a:pt x="118" y="3176"/>
                  </a:lnTo>
                  <a:lnTo>
                    <a:pt x="221" y="3223"/>
                  </a:lnTo>
                  <a:lnTo>
                    <a:pt x="308" y="3256"/>
                  </a:lnTo>
                  <a:lnTo>
                    <a:pt x="332" y="3259"/>
                  </a:lnTo>
                  <a:lnTo>
                    <a:pt x="341" y="3259"/>
                  </a:lnTo>
                  <a:lnTo>
                    <a:pt x="363" y="3250"/>
                  </a:lnTo>
                  <a:lnTo>
                    <a:pt x="402" y="3224"/>
                  </a:lnTo>
                  <a:lnTo>
                    <a:pt x="427" y="3201"/>
                  </a:lnTo>
                  <a:lnTo>
                    <a:pt x="443" y="3186"/>
                  </a:lnTo>
                  <a:lnTo>
                    <a:pt x="472" y="3165"/>
                  </a:lnTo>
                  <a:lnTo>
                    <a:pt x="498" y="3154"/>
                  </a:lnTo>
                  <a:lnTo>
                    <a:pt x="523" y="3153"/>
                  </a:lnTo>
                  <a:lnTo>
                    <a:pt x="544" y="3162"/>
                  </a:lnTo>
                  <a:lnTo>
                    <a:pt x="564" y="3180"/>
                  </a:lnTo>
                  <a:lnTo>
                    <a:pt x="580" y="3208"/>
                  </a:lnTo>
                  <a:lnTo>
                    <a:pt x="593" y="3246"/>
                  </a:lnTo>
                  <a:lnTo>
                    <a:pt x="599" y="3269"/>
                  </a:lnTo>
                  <a:lnTo>
                    <a:pt x="603" y="3287"/>
                  </a:lnTo>
                  <a:lnTo>
                    <a:pt x="605" y="3317"/>
                  </a:lnTo>
                  <a:lnTo>
                    <a:pt x="600" y="3346"/>
                  </a:lnTo>
                  <a:lnTo>
                    <a:pt x="588" y="3377"/>
                  </a:lnTo>
                  <a:lnTo>
                    <a:pt x="579" y="3396"/>
                  </a:lnTo>
                  <a:lnTo>
                    <a:pt x="570" y="3414"/>
                  </a:lnTo>
                  <a:lnTo>
                    <a:pt x="558" y="3447"/>
                  </a:lnTo>
                  <a:lnTo>
                    <a:pt x="552" y="3480"/>
                  </a:lnTo>
                  <a:lnTo>
                    <a:pt x="552" y="3516"/>
                  </a:lnTo>
                  <a:lnTo>
                    <a:pt x="554" y="3536"/>
                  </a:lnTo>
                  <a:lnTo>
                    <a:pt x="558" y="3567"/>
                  </a:lnTo>
                  <a:lnTo>
                    <a:pt x="575" y="3618"/>
                  </a:lnTo>
                  <a:lnTo>
                    <a:pt x="606" y="3658"/>
                  </a:lnTo>
                  <a:lnTo>
                    <a:pt x="651" y="3692"/>
                  </a:lnTo>
                  <a:lnTo>
                    <a:pt x="681" y="3708"/>
                  </a:lnTo>
                  <a:lnTo>
                    <a:pt x="696" y="3715"/>
                  </a:lnTo>
                  <a:lnTo>
                    <a:pt x="720" y="3733"/>
                  </a:lnTo>
                  <a:lnTo>
                    <a:pt x="738" y="3754"/>
                  </a:lnTo>
                  <a:lnTo>
                    <a:pt x="751" y="3783"/>
                  </a:lnTo>
                  <a:lnTo>
                    <a:pt x="756" y="3801"/>
                  </a:lnTo>
                  <a:lnTo>
                    <a:pt x="761" y="3818"/>
                  </a:lnTo>
                  <a:lnTo>
                    <a:pt x="776" y="3848"/>
                  </a:lnTo>
                  <a:lnTo>
                    <a:pt x="795" y="3875"/>
                  </a:lnTo>
                  <a:lnTo>
                    <a:pt x="818" y="3897"/>
                  </a:lnTo>
                  <a:lnTo>
                    <a:pt x="845" y="3916"/>
                  </a:lnTo>
                  <a:lnTo>
                    <a:pt x="875" y="3929"/>
                  </a:lnTo>
                  <a:lnTo>
                    <a:pt x="907" y="3937"/>
                  </a:lnTo>
                  <a:lnTo>
                    <a:pt x="940" y="3939"/>
                  </a:lnTo>
                  <a:lnTo>
                    <a:pt x="957" y="3938"/>
                  </a:lnTo>
                  <a:lnTo>
                    <a:pt x="977" y="3936"/>
                  </a:lnTo>
                  <a:lnTo>
                    <a:pt x="1008" y="3938"/>
                  </a:lnTo>
                  <a:lnTo>
                    <a:pt x="1035" y="3947"/>
                  </a:lnTo>
                  <a:lnTo>
                    <a:pt x="1063" y="3965"/>
                  </a:lnTo>
                  <a:lnTo>
                    <a:pt x="1079" y="3979"/>
                  </a:lnTo>
                  <a:lnTo>
                    <a:pt x="1094" y="3992"/>
                  </a:lnTo>
                  <a:lnTo>
                    <a:pt x="1123" y="4010"/>
                  </a:lnTo>
                  <a:lnTo>
                    <a:pt x="1151" y="4021"/>
                  </a:lnTo>
                  <a:lnTo>
                    <a:pt x="1184" y="4026"/>
                  </a:lnTo>
                  <a:lnTo>
                    <a:pt x="1202" y="4026"/>
                  </a:lnTo>
                  <a:lnTo>
                    <a:pt x="1222" y="4026"/>
                  </a:lnTo>
                  <a:lnTo>
                    <a:pt x="1255" y="4031"/>
                  </a:lnTo>
                  <a:lnTo>
                    <a:pt x="1282" y="4042"/>
                  </a:lnTo>
                  <a:lnTo>
                    <a:pt x="1309" y="4062"/>
                  </a:lnTo>
                  <a:lnTo>
                    <a:pt x="1324" y="4076"/>
                  </a:lnTo>
                  <a:lnTo>
                    <a:pt x="1338" y="4089"/>
                  </a:lnTo>
                  <a:lnTo>
                    <a:pt x="1365" y="4109"/>
                  </a:lnTo>
                  <a:lnTo>
                    <a:pt x="1394" y="4124"/>
                  </a:lnTo>
                  <a:lnTo>
                    <a:pt x="1423" y="4134"/>
                  </a:lnTo>
                  <a:lnTo>
                    <a:pt x="1454" y="4138"/>
                  </a:lnTo>
                  <a:lnTo>
                    <a:pt x="1486" y="4137"/>
                  </a:lnTo>
                  <a:lnTo>
                    <a:pt x="1536" y="4125"/>
                  </a:lnTo>
                  <a:lnTo>
                    <a:pt x="1571" y="4109"/>
                  </a:lnTo>
                  <a:lnTo>
                    <a:pt x="1591" y="4099"/>
                  </a:lnTo>
                  <a:lnTo>
                    <a:pt x="1623" y="4086"/>
                  </a:lnTo>
                  <a:lnTo>
                    <a:pt x="1648" y="4082"/>
                  </a:lnTo>
                  <a:lnTo>
                    <a:pt x="1669" y="4086"/>
                  </a:lnTo>
                  <a:lnTo>
                    <a:pt x="1679" y="4091"/>
                  </a:lnTo>
                  <a:lnTo>
                    <a:pt x="1696" y="4099"/>
                  </a:lnTo>
                  <a:lnTo>
                    <a:pt x="1733" y="4109"/>
                  </a:lnTo>
                  <a:lnTo>
                    <a:pt x="1772" y="4110"/>
                  </a:lnTo>
                  <a:lnTo>
                    <a:pt x="1810" y="4104"/>
                  </a:lnTo>
                  <a:lnTo>
                    <a:pt x="1847" y="4090"/>
                  </a:lnTo>
                  <a:lnTo>
                    <a:pt x="1881" y="4069"/>
                  </a:lnTo>
                  <a:lnTo>
                    <a:pt x="1911" y="4042"/>
                  </a:lnTo>
                  <a:lnTo>
                    <a:pt x="1936" y="4010"/>
                  </a:lnTo>
                  <a:lnTo>
                    <a:pt x="1946" y="3991"/>
                  </a:lnTo>
                  <a:lnTo>
                    <a:pt x="1953" y="3975"/>
                  </a:lnTo>
                  <a:lnTo>
                    <a:pt x="1969" y="3950"/>
                  </a:lnTo>
                  <a:lnTo>
                    <a:pt x="1988" y="3933"/>
                  </a:lnTo>
                  <a:lnTo>
                    <a:pt x="2010" y="3922"/>
                  </a:lnTo>
                  <a:lnTo>
                    <a:pt x="2022" y="3919"/>
                  </a:lnTo>
                  <a:lnTo>
                    <a:pt x="2084" y="3916"/>
                  </a:lnTo>
                  <a:lnTo>
                    <a:pt x="2522" y="3910"/>
                  </a:lnTo>
                  <a:lnTo>
                    <a:pt x="2829" y="3909"/>
                  </a:lnTo>
                  <a:lnTo>
                    <a:pt x="3294" y="3909"/>
                  </a:lnTo>
                  <a:lnTo>
                    <a:pt x="3560" y="3901"/>
                  </a:lnTo>
                  <a:lnTo>
                    <a:pt x="3612" y="3891"/>
                  </a:lnTo>
                  <a:lnTo>
                    <a:pt x="3634" y="3881"/>
                  </a:lnTo>
                  <a:lnTo>
                    <a:pt x="3644" y="3874"/>
                  </a:lnTo>
                  <a:lnTo>
                    <a:pt x="3664" y="3863"/>
                  </a:lnTo>
                  <a:lnTo>
                    <a:pt x="3688" y="3847"/>
                  </a:lnTo>
                  <a:lnTo>
                    <a:pt x="3702" y="3832"/>
                  </a:lnTo>
                  <a:lnTo>
                    <a:pt x="3713" y="3812"/>
                  </a:lnTo>
                  <a:lnTo>
                    <a:pt x="3722" y="3781"/>
                  </a:lnTo>
                  <a:lnTo>
                    <a:pt x="3733" y="3713"/>
                  </a:lnTo>
                  <a:lnTo>
                    <a:pt x="3743" y="3558"/>
                  </a:lnTo>
                  <a:lnTo>
                    <a:pt x="3747" y="3310"/>
                  </a:lnTo>
                  <a:lnTo>
                    <a:pt x="3749" y="2729"/>
                  </a:lnTo>
                  <a:lnTo>
                    <a:pt x="3749" y="2114"/>
                  </a:lnTo>
                  <a:lnTo>
                    <a:pt x="3749" y="1568"/>
                  </a:lnTo>
                  <a:lnTo>
                    <a:pt x="3747" y="884"/>
                  </a:lnTo>
                  <a:lnTo>
                    <a:pt x="3740" y="559"/>
                  </a:lnTo>
                  <a:lnTo>
                    <a:pt x="3731" y="469"/>
                  </a:lnTo>
                  <a:lnTo>
                    <a:pt x="3721" y="441"/>
                  </a:lnTo>
                  <a:lnTo>
                    <a:pt x="3716" y="431"/>
                  </a:lnTo>
                  <a:lnTo>
                    <a:pt x="3706" y="415"/>
                  </a:lnTo>
                  <a:lnTo>
                    <a:pt x="3686" y="388"/>
                  </a:lnTo>
                  <a:lnTo>
                    <a:pt x="3662" y="368"/>
                  </a:lnTo>
                  <a:lnTo>
                    <a:pt x="3631" y="353"/>
                  </a:lnTo>
                  <a:lnTo>
                    <a:pt x="3587" y="343"/>
                  </a:lnTo>
                  <a:lnTo>
                    <a:pt x="3526" y="336"/>
                  </a:lnTo>
                  <a:lnTo>
                    <a:pt x="3399" y="329"/>
                  </a:lnTo>
                  <a:lnTo>
                    <a:pt x="3274" y="326"/>
                  </a:lnTo>
                  <a:lnTo>
                    <a:pt x="3074" y="321"/>
                  </a:lnTo>
                  <a:lnTo>
                    <a:pt x="2960" y="309"/>
                  </a:lnTo>
                  <a:lnTo>
                    <a:pt x="2941" y="299"/>
                  </a:lnTo>
                  <a:lnTo>
                    <a:pt x="2937" y="290"/>
                  </a:lnTo>
                  <a:lnTo>
                    <a:pt x="2936" y="284"/>
                  </a:lnTo>
                  <a:lnTo>
                    <a:pt x="2933" y="273"/>
                  </a:lnTo>
                  <a:lnTo>
                    <a:pt x="2926" y="255"/>
                  </a:lnTo>
                  <a:lnTo>
                    <a:pt x="2914" y="240"/>
                  </a:lnTo>
                  <a:lnTo>
                    <a:pt x="2896" y="229"/>
                  </a:lnTo>
                  <a:lnTo>
                    <a:pt x="2858" y="217"/>
                  </a:lnTo>
                  <a:lnTo>
                    <a:pt x="2777" y="210"/>
                  </a:lnTo>
                  <a:lnTo>
                    <a:pt x="2719" y="209"/>
                  </a:lnTo>
                  <a:lnTo>
                    <a:pt x="2562" y="209"/>
                  </a:lnTo>
                  <a:lnTo>
                    <a:pt x="2496" y="134"/>
                  </a:lnTo>
                  <a:lnTo>
                    <a:pt x="2466" y="103"/>
                  </a:lnTo>
                  <a:lnTo>
                    <a:pt x="2404" y="48"/>
                  </a:lnTo>
                  <a:lnTo>
                    <a:pt x="2382" y="34"/>
                  </a:lnTo>
                  <a:lnTo>
                    <a:pt x="2358" y="24"/>
                  </a:lnTo>
                  <a:lnTo>
                    <a:pt x="2292" y="8"/>
                  </a:lnTo>
                  <a:lnTo>
                    <a:pt x="2218" y="0"/>
                  </a:lnTo>
                  <a:lnTo>
                    <a:pt x="2151" y="3"/>
                  </a:lnTo>
                  <a:lnTo>
                    <a:pt x="2126" y="9"/>
                  </a:lnTo>
                  <a:close/>
                  <a:moveTo>
                    <a:pt x="2349" y="173"/>
                  </a:moveTo>
                  <a:lnTo>
                    <a:pt x="2368" y="188"/>
                  </a:lnTo>
                  <a:lnTo>
                    <a:pt x="2406" y="236"/>
                  </a:lnTo>
                  <a:lnTo>
                    <a:pt x="2419" y="261"/>
                  </a:lnTo>
                  <a:lnTo>
                    <a:pt x="2435" y="292"/>
                  </a:lnTo>
                  <a:lnTo>
                    <a:pt x="2460" y="323"/>
                  </a:lnTo>
                  <a:lnTo>
                    <a:pt x="2480" y="338"/>
                  </a:lnTo>
                  <a:lnTo>
                    <a:pt x="2504" y="348"/>
                  </a:lnTo>
                  <a:lnTo>
                    <a:pt x="2535" y="354"/>
                  </a:lnTo>
                  <a:lnTo>
                    <a:pt x="2595" y="359"/>
                  </a:lnTo>
                  <a:lnTo>
                    <a:pt x="2652" y="359"/>
                  </a:lnTo>
                  <a:lnTo>
                    <a:pt x="2799" y="359"/>
                  </a:lnTo>
                  <a:lnTo>
                    <a:pt x="2799" y="509"/>
                  </a:lnTo>
                  <a:lnTo>
                    <a:pt x="2799" y="659"/>
                  </a:lnTo>
                  <a:lnTo>
                    <a:pt x="2221" y="656"/>
                  </a:lnTo>
                  <a:lnTo>
                    <a:pt x="1641" y="651"/>
                  </a:lnTo>
                  <a:lnTo>
                    <a:pt x="1636" y="504"/>
                  </a:lnTo>
                  <a:lnTo>
                    <a:pt x="1631" y="359"/>
                  </a:lnTo>
                  <a:lnTo>
                    <a:pt x="1791" y="359"/>
                  </a:lnTo>
                  <a:lnTo>
                    <a:pt x="1850" y="359"/>
                  </a:lnTo>
                  <a:lnTo>
                    <a:pt x="1911" y="356"/>
                  </a:lnTo>
                  <a:lnTo>
                    <a:pt x="1940" y="350"/>
                  </a:lnTo>
                  <a:lnTo>
                    <a:pt x="1963" y="339"/>
                  </a:lnTo>
                  <a:lnTo>
                    <a:pt x="1983" y="322"/>
                  </a:lnTo>
                  <a:lnTo>
                    <a:pt x="2013" y="283"/>
                  </a:lnTo>
                  <a:lnTo>
                    <a:pt x="2037" y="243"/>
                  </a:lnTo>
                  <a:lnTo>
                    <a:pt x="2051" y="222"/>
                  </a:lnTo>
                  <a:lnTo>
                    <a:pt x="2084" y="187"/>
                  </a:lnTo>
                  <a:lnTo>
                    <a:pt x="2121" y="161"/>
                  </a:lnTo>
                  <a:lnTo>
                    <a:pt x="2161" y="143"/>
                  </a:lnTo>
                  <a:lnTo>
                    <a:pt x="2203" y="134"/>
                  </a:lnTo>
                  <a:lnTo>
                    <a:pt x="2246" y="133"/>
                  </a:lnTo>
                  <a:lnTo>
                    <a:pt x="2289" y="142"/>
                  </a:lnTo>
                  <a:lnTo>
                    <a:pt x="2330" y="160"/>
                  </a:lnTo>
                  <a:lnTo>
                    <a:pt x="2349" y="173"/>
                  </a:lnTo>
                  <a:close/>
                  <a:moveTo>
                    <a:pt x="1499" y="509"/>
                  </a:moveTo>
                  <a:lnTo>
                    <a:pt x="1499" y="559"/>
                  </a:lnTo>
                  <a:lnTo>
                    <a:pt x="1224" y="559"/>
                  </a:lnTo>
                  <a:lnTo>
                    <a:pt x="1063" y="560"/>
                  </a:lnTo>
                  <a:lnTo>
                    <a:pt x="964" y="568"/>
                  </a:lnTo>
                  <a:lnTo>
                    <a:pt x="939" y="581"/>
                  </a:lnTo>
                  <a:lnTo>
                    <a:pt x="932" y="591"/>
                  </a:lnTo>
                  <a:lnTo>
                    <a:pt x="929" y="608"/>
                  </a:lnTo>
                  <a:lnTo>
                    <a:pt x="923" y="729"/>
                  </a:lnTo>
                  <a:lnTo>
                    <a:pt x="917" y="1089"/>
                  </a:lnTo>
                  <a:lnTo>
                    <a:pt x="916" y="1474"/>
                  </a:lnTo>
                  <a:lnTo>
                    <a:pt x="915" y="1815"/>
                  </a:lnTo>
                  <a:lnTo>
                    <a:pt x="911" y="2184"/>
                  </a:lnTo>
                  <a:lnTo>
                    <a:pt x="906" y="2314"/>
                  </a:lnTo>
                  <a:lnTo>
                    <a:pt x="904" y="2326"/>
                  </a:lnTo>
                  <a:lnTo>
                    <a:pt x="888" y="2323"/>
                  </a:lnTo>
                  <a:lnTo>
                    <a:pt x="867" y="2311"/>
                  </a:lnTo>
                  <a:lnTo>
                    <a:pt x="861" y="2307"/>
                  </a:lnTo>
                  <a:lnTo>
                    <a:pt x="854" y="2296"/>
                  </a:lnTo>
                  <a:lnTo>
                    <a:pt x="856" y="2269"/>
                  </a:lnTo>
                  <a:lnTo>
                    <a:pt x="867" y="2236"/>
                  </a:lnTo>
                  <a:lnTo>
                    <a:pt x="874" y="2216"/>
                  </a:lnTo>
                  <a:lnTo>
                    <a:pt x="881" y="2186"/>
                  </a:lnTo>
                  <a:lnTo>
                    <a:pt x="877" y="2159"/>
                  </a:lnTo>
                  <a:lnTo>
                    <a:pt x="864" y="2126"/>
                  </a:lnTo>
                  <a:lnTo>
                    <a:pt x="852" y="2104"/>
                  </a:lnTo>
                  <a:lnTo>
                    <a:pt x="814" y="2033"/>
                  </a:lnTo>
                  <a:lnTo>
                    <a:pt x="819" y="1269"/>
                  </a:lnTo>
                  <a:lnTo>
                    <a:pt x="822" y="807"/>
                  </a:lnTo>
                  <a:lnTo>
                    <a:pt x="832" y="544"/>
                  </a:lnTo>
                  <a:lnTo>
                    <a:pt x="841" y="501"/>
                  </a:lnTo>
                  <a:lnTo>
                    <a:pt x="850" y="487"/>
                  </a:lnTo>
                  <a:lnTo>
                    <a:pt x="856" y="483"/>
                  </a:lnTo>
                  <a:lnTo>
                    <a:pt x="867" y="476"/>
                  </a:lnTo>
                  <a:lnTo>
                    <a:pt x="910" y="467"/>
                  </a:lnTo>
                  <a:lnTo>
                    <a:pt x="1037" y="460"/>
                  </a:lnTo>
                  <a:lnTo>
                    <a:pt x="1194" y="459"/>
                  </a:lnTo>
                  <a:lnTo>
                    <a:pt x="1499" y="459"/>
                  </a:lnTo>
                  <a:lnTo>
                    <a:pt x="1499" y="509"/>
                  </a:lnTo>
                  <a:close/>
                  <a:moveTo>
                    <a:pt x="3589" y="486"/>
                  </a:moveTo>
                  <a:lnTo>
                    <a:pt x="3593" y="492"/>
                  </a:lnTo>
                  <a:lnTo>
                    <a:pt x="3600" y="521"/>
                  </a:lnTo>
                  <a:lnTo>
                    <a:pt x="3608" y="624"/>
                  </a:lnTo>
                  <a:lnTo>
                    <a:pt x="3615" y="1196"/>
                  </a:lnTo>
                  <a:lnTo>
                    <a:pt x="3616" y="2113"/>
                  </a:lnTo>
                  <a:lnTo>
                    <a:pt x="3615" y="3047"/>
                  </a:lnTo>
                  <a:lnTo>
                    <a:pt x="3608" y="3613"/>
                  </a:lnTo>
                  <a:lnTo>
                    <a:pt x="3600" y="3712"/>
                  </a:lnTo>
                  <a:lnTo>
                    <a:pt x="3592" y="3740"/>
                  </a:lnTo>
                  <a:lnTo>
                    <a:pt x="3587" y="3746"/>
                  </a:lnTo>
                  <a:lnTo>
                    <a:pt x="3582" y="3751"/>
                  </a:lnTo>
                  <a:lnTo>
                    <a:pt x="3568" y="3759"/>
                  </a:lnTo>
                  <a:lnTo>
                    <a:pt x="3524" y="3768"/>
                  </a:lnTo>
                  <a:lnTo>
                    <a:pt x="3284" y="3776"/>
                  </a:lnTo>
                  <a:lnTo>
                    <a:pt x="2879" y="3776"/>
                  </a:lnTo>
                  <a:lnTo>
                    <a:pt x="2526" y="3775"/>
                  </a:lnTo>
                  <a:lnTo>
                    <a:pt x="2269" y="3769"/>
                  </a:lnTo>
                  <a:lnTo>
                    <a:pt x="2215" y="3763"/>
                  </a:lnTo>
                  <a:lnTo>
                    <a:pt x="2200" y="3757"/>
                  </a:lnTo>
                  <a:lnTo>
                    <a:pt x="2199" y="3754"/>
                  </a:lnTo>
                  <a:lnTo>
                    <a:pt x="2200" y="3750"/>
                  </a:lnTo>
                  <a:lnTo>
                    <a:pt x="2213" y="3738"/>
                  </a:lnTo>
                  <a:lnTo>
                    <a:pt x="2248" y="3717"/>
                  </a:lnTo>
                  <a:lnTo>
                    <a:pt x="2281" y="3704"/>
                  </a:lnTo>
                  <a:lnTo>
                    <a:pt x="2307" y="3696"/>
                  </a:lnTo>
                  <a:lnTo>
                    <a:pt x="2383" y="3684"/>
                  </a:lnTo>
                  <a:lnTo>
                    <a:pt x="2605" y="3676"/>
                  </a:lnTo>
                  <a:lnTo>
                    <a:pt x="2919" y="3676"/>
                  </a:lnTo>
                  <a:lnTo>
                    <a:pt x="3194" y="3675"/>
                  </a:lnTo>
                  <a:lnTo>
                    <a:pt x="3418" y="3669"/>
                  </a:lnTo>
                  <a:lnTo>
                    <a:pt x="3486" y="3661"/>
                  </a:lnTo>
                  <a:lnTo>
                    <a:pt x="3496" y="3656"/>
                  </a:lnTo>
                  <a:lnTo>
                    <a:pt x="3498" y="3650"/>
                  </a:lnTo>
                  <a:lnTo>
                    <a:pt x="3503" y="3610"/>
                  </a:lnTo>
                  <a:lnTo>
                    <a:pt x="3509" y="3477"/>
                  </a:lnTo>
                  <a:lnTo>
                    <a:pt x="3515" y="2889"/>
                  </a:lnTo>
                  <a:lnTo>
                    <a:pt x="3516" y="2119"/>
                  </a:lnTo>
                  <a:lnTo>
                    <a:pt x="3515" y="1511"/>
                  </a:lnTo>
                  <a:lnTo>
                    <a:pt x="3510" y="844"/>
                  </a:lnTo>
                  <a:lnTo>
                    <a:pt x="3505" y="606"/>
                  </a:lnTo>
                  <a:lnTo>
                    <a:pt x="3502" y="581"/>
                  </a:lnTo>
                  <a:lnTo>
                    <a:pt x="3496" y="576"/>
                  </a:lnTo>
                  <a:lnTo>
                    <a:pt x="3460" y="567"/>
                  </a:lnTo>
                  <a:lnTo>
                    <a:pt x="3347" y="559"/>
                  </a:lnTo>
                  <a:lnTo>
                    <a:pt x="3216" y="556"/>
                  </a:lnTo>
                  <a:lnTo>
                    <a:pt x="2941" y="551"/>
                  </a:lnTo>
                  <a:lnTo>
                    <a:pt x="2936" y="504"/>
                  </a:lnTo>
                  <a:lnTo>
                    <a:pt x="2931" y="459"/>
                  </a:lnTo>
                  <a:lnTo>
                    <a:pt x="3247" y="459"/>
                  </a:lnTo>
                  <a:lnTo>
                    <a:pt x="3420" y="460"/>
                  </a:lnTo>
                  <a:lnTo>
                    <a:pt x="3543" y="468"/>
                  </a:lnTo>
                  <a:lnTo>
                    <a:pt x="3580" y="478"/>
                  </a:lnTo>
                  <a:lnTo>
                    <a:pt x="3589" y="486"/>
                  </a:lnTo>
                  <a:close/>
                  <a:moveTo>
                    <a:pt x="1506" y="734"/>
                  </a:moveTo>
                  <a:lnTo>
                    <a:pt x="1512" y="752"/>
                  </a:lnTo>
                  <a:lnTo>
                    <a:pt x="1531" y="773"/>
                  </a:lnTo>
                  <a:lnTo>
                    <a:pt x="1546" y="782"/>
                  </a:lnTo>
                  <a:lnTo>
                    <a:pt x="1554" y="784"/>
                  </a:lnTo>
                  <a:lnTo>
                    <a:pt x="1606" y="788"/>
                  </a:lnTo>
                  <a:lnTo>
                    <a:pt x="1984" y="790"/>
                  </a:lnTo>
                  <a:lnTo>
                    <a:pt x="2249" y="789"/>
                  </a:lnTo>
                  <a:lnTo>
                    <a:pt x="2907" y="784"/>
                  </a:lnTo>
                  <a:lnTo>
                    <a:pt x="2929" y="738"/>
                  </a:lnTo>
                  <a:lnTo>
                    <a:pt x="2951" y="691"/>
                  </a:lnTo>
                  <a:lnTo>
                    <a:pt x="3171" y="696"/>
                  </a:lnTo>
                  <a:lnTo>
                    <a:pt x="3259" y="699"/>
                  </a:lnTo>
                  <a:lnTo>
                    <a:pt x="3353" y="705"/>
                  </a:lnTo>
                  <a:lnTo>
                    <a:pt x="3385" y="710"/>
                  </a:lnTo>
                  <a:lnTo>
                    <a:pt x="3387" y="713"/>
                  </a:lnTo>
                  <a:lnTo>
                    <a:pt x="3383" y="1040"/>
                  </a:lnTo>
                  <a:lnTo>
                    <a:pt x="3382" y="2134"/>
                  </a:lnTo>
                  <a:lnTo>
                    <a:pt x="3382" y="3543"/>
                  </a:lnTo>
                  <a:lnTo>
                    <a:pt x="2901" y="3543"/>
                  </a:lnTo>
                  <a:lnTo>
                    <a:pt x="2741" y="3543"/>
                  </a:lnTo>
                  <a:lnTo>
                    <a:pt x="2540" y="3541"/>
                  </a:lnTo>
                  <a:lnTo>
                    <a:pt x="2444" y="3534"/>
                  </a:lnTo>
                  <a:lnTo>
                    <a:pt x="2419" y="3524"/>
                  </a:lnTo>
                  <a:lnTo>
                    <a:pt x="2412" y="3515"/>
                  </a:lnTo>
                  <a:lnTo>
                    <a:pt x="2411" y="3509"/>
                  </a:lnTo>
                  <a:lnTo>
                    <a:pt x="2409" y="3501"/>
                  </a:lnTo>
                  <a:lnTo>
                    <a:pt x="2413" y="3483"/>
                  </a:lnTo>
                  <a:lnTo>
                    <a:pt x="2424" y="3465"/>
                  </a:lnTo>
                  <a:lnTo>
                    <a:pt x="2445" y="3445"/>
                  </a:lnTo>
                  <a:lnTo>
                    <a:pt x="2459" y="3434"/>
                  </a:lnTo>
                  <a:lnTo>
                    <a:pt x="2473" y="3423"/>
                  </a:lnTo>
                  <a:lnTo>
                    <a:pt x="2498" y="3398"/>
                  </a:lnTo>
                  <a:lnTo>
                    <a:pt x="2516" y="3369"/>
                  </a:lnTo>
                  <a:lnTo>
                    <a:pt x="2530" y="3336"/>
                  </a:lnTo>
                  <a:lnTo>
                    <a:pt x="2536" y="3318"/>
                  </a:lnTo>
                  <a:lnTo>
                    <a:pt x="2541" y="3297"/>
                  </a:lnTo>
                  <a:lnTo>
                    <a:pt x="2554" y="3266"/>
                  </a:lnTo>
                  <a:lnTo>
                    <a:pt x="2569" y="3245"/>
                  </a:lnTo>
                  <a:lnTo>
                    <a:pt x="2590" y="3231"/>
                  </a:lnTo>
                  <a:lnTo>
                    <a:pt x="2604" y="3226"/>
                  </a:lnTo>
                  <a:lnTo>
                    <a:pt x="2619" y="3221"/>
                  </a:lnTo>
                  <a:lnTo>
                    <a:pt x="2643" y="3219"/>
                  </a:lnTo>
                  <a:lnTo>
                    <a:pt x="2664" y="3227"/>
                  </a:lnTo>
                  <a:lnTo>
                    <a:pt x="2690" y="3250"/>
                  </a:lnTo>
                  <a:lnTo>
                    <a:pt x="2707" y="3268"/>
                  </a:lnTo>
                  <a:lnTo>
                    <a:pt x="2732" y="3293"/>
                  </a:lnTo>
                  <a:lnTo>
                    <a:pt x="2767" y="3315"/>
                  </a:lnTo>
                  <a:lnTo>
                    <a:pt x="2792" y="3323"/>
                  </a:lnTo>
                  <a:lnTo>
                    <a:pt x="2821" y="3323"/>
                  </a:lnTo>
                  <a:lnTo>
                    <a:pt x="2855" y="3317"/>
                  </a:lnTo>
                  <a:lnTo>
                    <a:pt x="2919" y="3297"/>
                  </a:lnTo>
                  <a:lnTo>
                    <a:pt x="2976" y="3274"/>
                  </a:lnTo>
                  <a:lnTo>
                    <a:pt x="3012" y="3259"/>
                  </a:lnTo>
                  <a:lnTo>
                    <a:pt x="3064" y="3233"/>
                  </a:lnTo>
                  <a:lnTo>
                    <a:pt x="3098" y="3209"/>
                  </a:lnTo>
                  <a:lnTo>
                    <a:pt x="3120" y="3182"/>
                  </a:lnTo>
                  <a:lnTo>
                    <a:pt x="3129" y="3166"/>
                  </a:lnTo>
                  <a:lnTo>
                    <a:pt x="3138" y="3147"/>
                  </a:lnTo>
                  <a:lnTo>
                    <a:pt x="3146" y="3118"/>
                  </a:lnTo>
                  <a:lnTo>
                    <a:pt x="3145" y="3088"/>
                  </a:lnTo>
                  <a:lnTo>
                    <a:pt x="3133" y="3045"/>
                  </a:lnTo>
                  <a:lnTo>
                    <a:pt x="3122" y="3014"/>
                  </a:lnTo>
                  <a:lnTo>
                    <a:pt x="3097" y="2935"/>
                  </a:lnTo>
                  <a:lnTo>
                    <a:pt x="3086" y="2898"/>
                  </a:lnTo>
                  <a:lnTo>
                    <a:pt x="3085" y="2894"/>
                  </a:lnTo>
                  <a:lnTo>
                    <a:pt x="3090" y="2886"/>
                  </a:lnTo>
                  <a:lnTo>
                    <a:pt x="3108" y="2876"/>
                  </a:lnTo>
                  <a:lnTo>
                    <a:pt x="3126" y="2873"/>
                  </a:lnTo>
                  <a:lnTo>
                    <a:pt x="3146" y="2869"/>
                  </a:lnTo>
                  <a:lnTo>
                    <a:pt x="3178" y="2852"/>
                  </a:lnTo>
                  <a:lnTo>
                    <a:pt x="3196" y="2826"/>
                  </a:lnTo>
                  <a:lnTo>
                    <a:pt x="3197" y="2803"/>
                  </a:lnTo>
                  <a:lnTo>
                    <a:pt x="3193" y="2787"/>
                  </a:lnTo>
                  <a:lnTo>
                    <a:pt x="3189" y="2779"/>
                  </a:lnTo>
                  <a:lnTo>
                    <a:pt x="3184" y="2773"/>
                  </a:lnTo>
                  <a:lnTo>
                    <a:pt x="3168" y="2761"/>
                  </a:lnTo>
                  <a:lnTo>
                    <a:pt x="3131" y="2750"/>
                  </a:lnTo>
                  <a:lnTo>
                    <a:pt x="3096" y="2746"/>
                  </a:lnTo>
                  <a:lnTo>
                    <a:pt x="3019" y="2741"/>
                  </a:lnTo>
                  <a:lnTo>
                    <a:pt x="2944" y="2546"/>
                  </a:lnTo>
                  <a:lnTo>
                    <a:pt x="2869" y="2351"/>
                  </a:lnTo>
                  <a:lnTo>
                    <a:pt x="3019" y="2343"/>
                  </a:lnTo>
                  <a:lnTo>
                    <a:pt x="3070" y="2339"/>
                  </a:lnTo>
                  <a:lnTo>
                    <a:pt x="3141" y="2329"/>
                  </a:lnTo>
                  <a:lnTo>
                    <a:pt x="3172" y="2317"/>
                  </a:lnTo>
                  <a:lnTo>
                    <a:pt x="3186" y="2306"/>
                  </a:lnTo>
                  <a:lnTo>
                    <a:pt x="3197" y="2285"/>
                  </a:lnTo>
                  <a:lnTo>
                    <a:pt x="3199" y="2266"/>
                  </a:lnTo>
                  <a:lnTo>
                    <a:pt x="3199" y="2258"/>
                  </a:lnTo>
                  <a:lnTo>
                    <a:pt x="3194" y="2244"/>
                  </a:lnTo>
                  <a:lnTo>
                    <a:pt x="3184" y="2233"/>
                  </a:lnTo>
                  <a:lnTo>
                    <a:pt x="3167" y="2224"/>
                  </a:lnTo>
                  <a:lnTo>
                    <a:pt x="3129" y="2215"/>
                  </a:lnTo>
                  <a:lnTo>
                    <a:pt x="3046" y="2210"/>
                  </a:lnTo>
                  <a:lnTo>
                    <a:pt x="2987" y="2209"/>
                  </a:lnTo>
                  <a:lnTo>
                    <a:pt x="2817" y="2209"/>
                  </a:lnTo>
                  <a:lnTo>
                    <a:pt x="2779" y="2129"/>
                  </a:lnTo>
                  <a:lnTo>
                    <a:pt x="2749" y="2066"/>
                  </a:lnTo>
                  <a:lnTo>
                    <a:pt x="2736" y="2038"/>
                  </a:lnTo>
                  <a:lnTo>
                    <a:pt x="2737" y="2035"/>
                  </a:lnTo>
                  <a:lnTo>
                    <a:pt x="2768" y="2031"/>
                  </a:lnTo>
                  <a:lnTo>
                    <a:pt x="2858" y="2027"/>
                  </a:lnTo>
                  <a:lnTo>
                    <a:pt x="2944" y="2026"/>
                  </a:lnTo>
                  <a:lnTo>
                    <a:pt x="3019" y="2026"/>
                  </a:lnTo>
                  <a:lnTo>
                    <a:pt x="3120" y="2021"/>
                  </a:lnTo>
                  <a:lnTo>
                    <a:pt x="3165" y="2011"/>
                  </a:lnTo>
                  <a:lnTo>
                    <a:pt x="3183" y="2002"/>
                  </a:lnTo>
                  <a:lnTo>
                    <a:pt x="3194" y="1990"/>
                  </a:lnTo>
                  <a:lnTo>
                    <a:pt x="3199" y="1975"/>
                  </a:lnTo>
                  <a:lnTo>
                    <a:pt x="3199" y="1966"/>
                  </a:lnTo>
                  <a:lnTo>
                    <a:pt x="3198" y="1956"/>
                  </a:lnTo>
                  <a:lnTo>
                    <a:pt x="3183" y="1930"/>
                  </a:lnTo>
                  <a:lnTo>
                    <a:pt x="3172" y="1919"/>
                  </a:lnTo>
                  <a:lnTo>
                    <a:pt x="3168" y="1915"/>
                  </a:lnTo>
                  <a:lnTo>
                    <a:pt x="3153" y="1908"/>
                  </a:lnTo>
                  <a:lnTo>
                    <a:pt x="3114" y="1900"/>
                  </a:lnTo>
                  <a:lnTo>
                    <a:pt x="2931" y="1893"/>
                  </a:lnTo>
                  <a:lnTo>
                    <a:pt x="2657" y="1893"/>
                  </a:lnTo>
                  <a:lnTo>
                    <a:pt x="2384" y="1893"/>
                  </a:lnTo>
                  <a:lnTo>
                    <a:pt x="2201" y="1900"/>
                  </a:lnTo>
                  <a:lnTo>
                    <a:pt x="2161" y="1908"/>
                  </a:lnTo>
                  <a:lnTo>
                    <a:pt x="2147" y="1915"/>
                  </a:lnTo>
                  <a:lnTo>
                    <a:pt x="2142" y="1919"/>
                  </a:lnTo>
                  <a:lnTo>
                    <a:pt x="2131" y="1931"/>
                  </a:lnTo>
                  <a:lnTo>
                    <a:pt x="2119" y="1948"/>
                  </a:lnTo>
                  <a:lnTo>
                    <a:pt x="2118" y="1965"/>
                  </a:lnTo>
                  <a:lnTo>
                    <a:pt x="2128" y="1985"/>
                  </a:lnTo>
                  <a:lnTo>
                    <a:pt x="2137" y="1998"/>
                  </a:lnTo>
                  <a:lnTo>
                    <a:pt x="2144" y="2005"/>
                  </a:lnTo>
                  <a:lnTo>
                    <a:pt x="2169" y="2016"/>
                  </a:lnTo>
                  <a:lnTo>
                    <a:pt x="2243" y="2026"/>
                  </a:lnTo>
                  <a:lnTo>
                    <a:pt x="2341" y="2029"/>
                  </a:lnTo>
                  <a:lnTo>
                    <a:pt x="2524" y="2034"/>
                  </a:lnTo>
                  <a:lnTo>
                    <a:pt x="2432" y="2078"/>
                  </a:lnTo>
                  <a:lnTo>
                    <a:pt x="2390" y="2099"/>
                  </a:lnTo>
                  <a:lnTo>
                    <a:pt x="2345" y="2132"/>
                  </a:lnTo>
                  <a:lnTo>
                    <a:pt x="2326" y="2154"/>
                  </a:lnTo>
                  <a:lnTo>
                    <a:pt x="2321" y="2164"/>
                  </a:lnTo>
                  <a:lnTo>
                    <a:pt x="2314" y="2178"/>
                  </a:lnTo>
                  <a:lnTo>
                    <a:pt x="2299" y="2196"/>
                  </a:lnTo>
                  <a:lnTo>
                    <a:pt x="2279" y="2205"/>
                  </a:lnTo>
                  <a:lnTo>
                    <a:pt x="2248" y="2209"/>
                  </a:lnTo>
                  <a:lnTo>
                    <a:pt x="2226" y="2209"/>
                  </a:lnTo>
                  <a:lnTo>
                    <a:pt x="2204" y="2210"/>
                  </a:lnTo>
                  <a:lnTo>
                    <a:pt x="2173" y="2213"/>
                  </a:lnTo>
                  <a:lnTo>
                    <a:pt x="2151" y="2221"/>
                  </a:lnTo>
                  <a:lnTo>
                    <a:pt x="2136" y="2235"/>
                  </a:lnTo>
                  <a:lnTo>
                    <a:pt x="2131" y="2246"/>
                  </a:lnTo>
                  <a:lnTo>
                    <a:pt x="2126" y="2256"/>
                  </a:lnTo>
                  <a:lnTo>
                    <a:pt x="2124" y="2275"/>
                  </a:lnTo>
                  <a:lnTo>
                    <a:pt x="2129" y="2293"/>
                  </a:lnTo>
                  <a:lnTo>
                    <a:pt x="2140" y="2309"/>
                  </a:lnTo>
                  <a:lnTo>
                    <a:pt x="2157" y="2322"/>
                  </a:lnTo>
                  <a:lnTo>
                    <a:pt x="2180" y="2332"/>
                  </a:lnTo>
                  <a:lnTo>
                    <a:pt x="2206" y="2339"/>
                  </a:lnTo>
                  <a:lnTo>
                    <a:pt x="2236" y="2340"/>
                  </a:lnTo>
                  <a:lnTo>
                    <a:pt x="2252" y="2339"/>
                  </a:lnTo>
                  <a:lnTo>
                    <a:pt x="2280" y="2338"/>
                  </a:lnTo>
                  <a:lnTo>
                    <a:pt x="2305" y="2340"/>
                  </a:lnTo>
                  <a:lnTo>
                    <a:pt x="2313" y="2344"/>
                  </a:lnTo>
                  <a:lnTo>
                    <a:pt x="2311" y="2354"/>
                  </a:lnTo>
                  <a:lnTo>
                    <a:pt x="2283" y="2374"/>
                  </a:lnTo>
                  <a:lnTo>
                    <a:pt x="2256" y="2388"/>
                  </a:lnTo>
                  <a:lnTo>
                    <a:pt x="2233" y="2398"/>
                  </a:lnTo>
                  <a:lnTo>
                    <a:pt x="2190" y="2405"/>
                  </a:lnTo>
                  <a:lnTo>
                    <a:pt x="2133" y="2394"/>
                  </a:lnTo>
                  <a:lnTo>
                    <a:pt x="2043" y="2361"/>
                  </a:lnTo>
                  <a:lnTo>
                    <a:pt x="1977" y="2334"/>
                  </a:lnTo>
                  <a:lnTo>
                    <a:pt x="1916" y="2309"/>
                  </a:lnTo>
                  <a:lnTo>
                    <a:pt x="1916" y="2086"/>
                  </a:lnTo>
                  <a:lnTo>
                    <a:pt x="1916" y="1978"/>
                  </a:lnTo>
                  <a:lnTo>
                    <a:pt x="1909" y="1876"/>
                  </a:lnTo>
                  <a:lnTo>
                    <a:pt x="1898" y="1842"/>
                  </a:lnTo>
                  <a:lnTo>
                    <a:pt x="1887" y="1824"/>
                  </a:lnTo>
                  <a:lnTo>
                    <a:pt x="1872" y="1811"/>
                  </a:lnTo>
                  <a:lnTo>
                    <a:pt x="1853" y="1801"/>
                  </a:lnTo>
                  <a:lnTo>
                    <a:pt x="1815" y="1790"/>
                  </a:lnTo>
                  <a:lnTo>
                    <a:pt x="1702" y="1784"/>
                  </a:lnTo>
                  <a:lnTo>
                    <a:pt x="1582" y="1784"/>
                  </a:lnTo>
                  <a:lnTo>
                    <a:pt x="1463" y="1784"/>
                  </a:lnTo>
                  <a:lnTo>
                    <a:pt x="1350" y="1791"/>
                  </a:lnTo>
                  <a:lnTo>
                    <a:pt x="1312" y="1801"/>
                  </a:lnTo>
                  <a:lnTo>
                    <a:pt x="1293" y="1811"/>
                  </a:lnTo>
                  <a:lnTo>
                    <a:pt x="1278" y="1825"/>
                  </a:lnTo>
                  <a:lnTo>
                    <a:pt x="1267" y="1843"/>
                  </a:lnTo>
                  <a:lnTo>
                    <a:pt x="1256" y="1878"/>
                  </a:lnTo>
                  <a:lnTo>
                    <a:pt x="1249" y="1983"/>
                  </a:lnTo>
                  <a:lnTo>
                    <a:pt x="1249" y="2093"/>
                  </a:lnTo>
                  <a:lnTo>
                    <a:pt x="1249" y="2323"/>
                  </a:lnTo>
                  <a:lnTo>
                    <a:pt x="1166" y="2343"/>
                  </a:lnTo>
                  <a:lnTo>
                    <a:pt x="1132" y="2350"/>
                  </a:lnTo>
                  <a:lnTo>
                    <a:pt x="1078" y="2355"/>
                  </a:lnTo>
                  <a:lnTo>
                    <a:pt x="1066" y="2351"/>
                  </a:lnTo>
                  <a:lnTo>
                    <a:pt x="1062" y="2336"/>
                  </a:lnTo>
                  <a:lnTo>
                    <a:pt x="1057" y="2200"/>
                  </a:lnTo>
                  <a:lnTo>
                    <a:pt x="1050" y="1836"/>
                  </a:lnTo>
                  <a:lnTo>
                    <a:pt x="1048" y="1224"/>
                  </a:lnTo>
                  <a:lnTo>
                    <a:pt x="1052" y="858"/>
                  </a:lnTo>
                  <a:lnTo>
                    <a:pt x="1057" y="720"/>
                  </a:lnTo>
                  <a:lnTo>
                    <a:pt x="1061" y="704"/>
                  </a:lnTo>
                  <a:lnTo>
                    <a:pt x="1077" y="700"/>
                  </a:lnTo>
                  <a:lnTo>
                    <a:pt x="1198" y="693"/>
                  </a:lnTo>
                  <a:lnTo>
                    <a:pt x="1284" y="693"/>
                  </a:lnTo>
                  <a:lnTo>
                    <a:pt x="1357" y="693"/>
                  </a:lnTo>
                  <a:lnTo>
                    <a:pt x="1447" y="695"/>
                  </a:lnTo>
                  <a:lnTo>
                    <a:pt x="1480" y="700"/>
                  </a:lnTo>
                  <a:lnTo>
                    <a:pt x="1493" y="706"/>
                  </a:lnTo>
                  <a:lnTo>
                    <a:pt x="1502" y="720"/>
                  </a:lnTo>
                  <a:lnTo>
                    <a:pt x="1506" y="734"/>
                  </a:lnTo>
                  <a:close/>
                  <a:moveTo>
                    <a:pt x="1782" y="2108"/>
                  </a:moveTo>
                  <a:lnTo>
                    <a:pt x="1782" y="2306"/>
                  </a:lnTo>
                  <a:lnTo>
                    <a:pt x="1679" y="2318"/>
                  </a:lnTo>
                  <a:lnTo>
                    <a:pt x="1632" y="2322"/>
                  </a:lnTo>
                  <a:lnTo>
                    <a:pt x="1525" y="2325"/>
                  </a:lnTo>
                  <a:lnTo>
                    <a:pt x="1482" y="2323"/>
                  </a:lnTo>
                  <a:lnTo>
                    <a:pt x="1391" y="2318"/>
                  </a:lnTo>
                  <a:lnTo>
                    <a:pt x="1386" y="2136"/>
                  </a:lnTo>
                  <a:lnTo>
                    <a:pt x="1385" y="2061"/>
                  </a:lnTo>
                  <a:lnTo>
                    <a:pt x="1387" y="1950"/>
                  </a:lnTo>
                  <a:lnTo>
                    <a:pt x="1389" y="1931"/>
                  </a:lnTo>
                  <a:lnTo>
                    <a:pt x="1393" y="1925"/>
                  </a:lnTo>
                  <a:lnTo>
                    <a:pt x="1417" y="1917"/>
                  </a:lnTo>
                  <a:lnTo>
                    <a:pt x="1495" y="1910"/>
                  </a:lnTo>
                  <a:lnTo>
                    <a:pt x="1591" y="1909"/>
                  </a:lnTo>
                  <a:lnTo>
                    <a:pt x="1782" y="1909"/>
                  </a:lnTo>
                  <a:lnTo>
                    <a:pt x="1782" y="2108"/>
                  </a:lnTo>
                  <a:close/>
                  <a:moveTo>
                    <a:pt x="667" y="2136"/>
                  </a:moveTo>
                  <a:lnTo>
                    <a:pt x="702" y="2154"/>
                  </a:lnTo>
                  <a:lnTo>
                    <a:pt x="735" y="2179"/>
                  </a:lnTo>
                  <a:lnTo>
                    <a:pt x="745" y="2193"/>
                  </a:lnTo>
                  <a:lnTo>
                    <a:pt x="744" y="2198"/>
                  </a:lnTo>
                  <a:lnTo>
                    <a:pt x="660" y="2392"/>
                  </a:lnTo>
                  <a:lnTo>
                    <a:pt x="381" y="3015"/>
                  </a:lnTo>
                  <a:lnTo>
                    <a:pt x="334" y="3114"/>
                  </a:lnTo>
                  <a:lnTo>
                    <a:pt x="330" y="3117"/>
                  </a:lnTo>
                  <a:lnTo>
                    <a:pt x="310" y="3114"/>
                  </a:lnTo>
                  <a:lnTo>
                    <a:pt x="263" y="3099"/>
                  </a:lnTo>
                  <a:lnTo>
                    <a:pt x="191" y="3066"/>
                  </a:lnTo>
                  <a:lnTo>
                    <a:pt x="149" y="3040"/>
                  </a:lnTo>
                  <a:lnTo>
                    <a:pt x="134" y="3026"/>
                  </a:lnTo>
                  <a:lnTo>
                    <a:pt x="132" y="3021"/>
                  </a:lnTo>
                  <a:lnTo>
                    <a:pt x="175" y="2910"/>
                  </a:lnTo>
                  <a:lnTo>
                    <a:pt x="450" y="2271"/>
                  </a:lnTo>
                  <a:lnTo>
                    <a:pt x="519" y="2121"/>
                  </a:lnTo>
                  <a:lnTo>
                    <a:pt x="527" y="2108"/>
                  </a:lnTo>
                  <a:lnTo>
                    <a:pt x="548" y="2095"/>
                  </a:lnTo>
                  <a:lnTo>
                    <a:pt x="582" y="2098"/>
                  </a:lnTo>
                  <a:lnTo>
                    <a:pt x="633" y="2118"/>
                  </a:lnTo>
                  <a:lnTo>
                    <a:pt x="667" y="2136"/>
                  </a:lnTo>
                  <a:close/>
                  <a:moveTo>
                    <a:pt x="2684" y="2238"/>
                  </a:moveTo>
                  <a:lnTo>
                    <a:pt x="2722" y="2339"/>
                  </a:lnTo>
                  <a:lnTo>
                    <a:pt x="2766" y="2451"/>
                  </a:lnTo>
                  <a:lnTo>
                    <a:pt x="2822" y="2595"/>
                  </a:lnTo>
                  <a:lnTo>
                    <a:pt x="2904" y="2809"/>
                  </a:lnTo>
                  <a:lnTo>
                    <a:pt x="2977" y="3004"/>
                  </a:lnTo>
                  <a:lnTo>
                    <a:pt x="3007" y="3081"/>
                  </a:lnTo>
                  <a:lnTo>
                    <a:pt x="3010" y="3089"/>
                  </a:lnTo>
                  <a:lnTo>
                    <a:pt x="3006" y="3105"/>
                  </a:lnTo>
                  <a:lnTo>
                    <a:pt x="2987" y="3120"/>
                  </a:lnTo>
                  <a:lnTo>
                    <a:pt x="2951" y="3139"/>
                  </a:lnTo>
                  <a:lnTo>
                    <a:pt x="2924" y="3151"/>
                  </a:lnTo>
                  <a:lnTo>
                    <a:pt x="2884" y="3168"/>
                  </a:lnTo>
                  <a:lnTo>
                    <a:pt x="2824" y="3188"/>
                  </a:lnTo>
                  <a:lnTo>
                    <a:pt x="2812" y="3189"/>
                  </a:lnTo>
                  <a:lnTo>
                    <a:pt x="2805" y="3180"/>
                  </a:lnTo>
                  <a:lnTo>
                    <a:pt x="2769" y="3101"/>
                  </a:lnTo>
                  <a:lnTo>
                    <a:pt x="2682" y="2888"/>
                  </a:lnTo>
                  <a:lnTo>
                    <a:pt x="2546" y="2530"/>
                  </a:lnTo>
                  <a:lnTo>
                    <a:pt x="2470" y="2315"/>
                  </a:lnTo>
                  <a:lnTo>
                    <a:pt x="2445" y="2233"/>
                  </a:lnTo>
                  <a:lnTo>
                    <a:pt x="2446" y="2223"/>
                  </a:lnTo>
                  <a:lnTo>
                    <a:pt x="2473" y="2206"/>
                  </a:lnTo>
                  <a:lnTo>
                    <a:pt x="2602" y="2152"/>
                  </a:lnTo>
                  <a:lnTo>
                    <a:pt x="2636" y="2143"/>
                  </a:lnTo>
                  <a:lnTo>
                    <a:pt x="2643" y="2148"/>
                  </a:lnTo>
                  <a:lnTo>
                    <a:pt x="2669" y="2200"/>
                  </a:lnTo>
                  <a:lnTo>
                    <a:pt x="2684" y="2238"/>
                  </a:lnTo>
                  <a:close/>
                  <a:moveTo>
                    <a:pt x="929" y="2479"/>
                  </a:moveTo>
                  <a:lnTo>
                    <a:pt x="957" y="2489"/>
                  </a:lnTo>
                  <a:lnTo>
                    <a:pt x="1001" y="2500"/>
                  </a:lnTo>
                  <a:lnTo>
                    <a:pt x="1043" y="2501"/>
                  </a:lnTo>
                  <a:lnTo>
                    <a:pt x="1098" y="2492"/>
                  </a:lnTo>
                  <a:lnTo>
                    <a:pt x="1137" y="2484"/>
                  </a:lnTo>
                  <a:lnTo>
                    <a:pt x="1188" y="2474"/>
                  </a:lnTo>
                  <a:lnTo>
                    <a:pt x="1285" y="2462"/>
                  </a:lnTo>
                  <a:lnTo>
                    <a:pt x="1365" y="2459"/>
                  </a:lnTo>
                  <a:lnTo>
                    <a:pt x="1402" y="2464"/>
                  </a:lnTo>
                  <a:lnTo>
                    <a:pt x="1415" y="2470"/>
                  </a:lnTo>
                  <a:lnTo>
                    <a:pt x="1416" y="2474"/>
                  </a:lnTo>
                  <a:lnTo>
                    <a:pt x="1414" y="2479"/>
                  </a:lnTo>
                  <a:lnTo>
                    <a:pt x="1400" y="2497"/>
                  </a:lnTo>
                  <a:lnTo>
                    <a:pt x="1359" y="2537"/>
                  </a:lnTo>
                  <a:lnTo>
                    <a:pt x="1273" y="2610"/>
                  </a:lnTo>
                  <a:lnTo>
                    <a:pt x="1170" y="2688"/>
                  </a:lnTo>
                  <a:lnTo>
                    <a:pt x="1119" y="2724"/>
                  </a:lnTo>
                  <a:lnTo>
                    <a:pt x="1070" y="2760"/>
                  </a:lnTo>
                  <a:lnTo>
                    <a:pt x="1022" y="2805"/>
                  </a:lnTo>
                  <a:lnTo>
                    <a:pt x="1005" y="2828"/>
                  </a:lnTo>
                  <a:lnTo>
                    <a:pt x="1002" y="2838"/>
                  </a:lnTo>
                  <a:lnTo>
                    <a:pt x="1002" y="2848"/>
                  </a:lnTo>
                  <a:lnTo>
                    <a:pt x="1007" y="2870"/>
                  </a:lnTo>
                  <a:lnTo>
                    <a:pt x="1029" y="2908"/>
                  </a:lnTo>
                  <a:lnTo>
                    <a:pt x="1081" y="2961"/>
                  </a:lnTo>
                  <a:lnTo>
                    <a:pt x="1148" y="3008"/>
                  </a:lnTo>
                  <a:lnTo>
                    <a:pt x="1186" y="3026"/>
                  </a:lnTo>
                  <a:lnTo>
                    <a:pt x="1207" y="3035"/>
                  </a:lnTo>
                  <a:lnTo>
                    <a:pt x="1248" y="3047"/>
                  </a:lnTo>
                  <a:lnTo>
                    <a:pt x="1290" y="3054"/>
                  </a:lnTo>
                  <a:lnTo>
                    <a:pt x="1334" y="3056"/>
                  </a:lnTo>
                  <a:lnTo>
                    <a:pt x="1381" y="3051"/>
                  </a:lnTo>
                  <a:lnTo>
                    <a:pt x="1433" y="3041"/>
                  </a:lnTo>
                  <a:lnTo>
                    <a:pt x="1523" y="3014"/>
                  </a:lnTo>
                  <a:lnTo>
                    <a:pt x="1596" y="2986"/>
                  </a:lnTo>
                  <a:lnTo>
                    <a:pt x="1660" y="2962"/>
                  </a:lnTo>
                  <a:lnTo>
                    <a:pt x="1750" y="2936"/>
                  </a:lnTo>
                  <a:lnTo>
                    <a:pt x="1796" y="2927"/>
                  </a:lnTo>
                  <a:lnTo>
                    <a:pt x="1811" y="2926"/>
                  </a:lnTo>
                  <a:lnTo>
                    <a:pt x="1829" y="2927"/>
                  </a:lnTo>
                  <a:lnTo>
                    <a:pt x="1879" y="2942"/>
                  </a:lnTo>
                  <a:lnTo>
                    <a:pt x="1998" y="2998"/>
                  </a:lnTo>
                  <a:lnTo>
                    <a:pt x="2129" y="3071"/>
                  </a:lnTo>
                  <a:lnTo>
                    <a:pt x="2233" y="3132"/>
                  </a:lnTo>
                  <a:lnTo>
                    <a:pt x="2350" y="3206"/>
                  </a:lnTo>
                  <a:lnTo>
                    <a:pt x="2394" y="3238"/>
                  </a:lnTo>
                  <a:lnTo>
                    <a:pt x="2401" y="3246"/>
                  </a:lnTo>
                  <a:lnTo>
                    <a:pt x="2407" y="3262"/>
                  </a:lnTo>
                  <a:lnTo>
                    <a:pt x="2405" y="3294"/>
                  </a:lnTo>
                  <a:lnTo>
                    <a:pt x="2389" y="3323"/>
                  </a:lnTo>
                  <a:lnTo>
                    <a:pt x="2370" y="3337"/>
                  </a:lnTo>
                  <a:lnTo>
                    <a:pt x="2355" y="3342"/>
                  </a:lnTo>
                  <a:lnTo>
                    <a:pt x="2347" y="3343"/>
                  </a:lnTo>
                  <a:lnTo>
                    <a:pt x="2338" y="3341"/>
                  </a:lnTo>
                  <a:lnTo>
                    <a:pt x="2300" y="3326"/>
                  </a:lnTo>
                  <a:lnTo>
                    <a:pt x="2211" y="3282"/>
                  </a:lnTo>
                  <a:lnTo>
                    <a:pt x="2139" y="3241"/>
                  </a:lnTo>
                  <a:lnTo>
                    <a:pt x="2076" y="3205"/>
                  </a:lnTo>
                  <a:lnTo>
                    <a:pt x="1989" y="3162"/>
                  </a:lnTo>
                  <a:lnTo>
                    <a:pt x="1947" y="3150"/>
                  </a:lnTo>
                  <a:lnTo>
                    <a:pt x="1927" y="3150"/>
                  </a:lnTo>
                  <a:lnTo>
                    <a:pt x="1911" y="3157"/>
                  </a:lnTo>
                  <a:lnTo>
                    <a:pt x="1898" y="3170"/>
                  </a:lnTo>
                  <a:lnTo>
                    <a:pt x="1892" y="3179"/>
                  </a:lnTo>
                  <a:lnTo>
                    <a:pt x="1887" y="3188"/>
                  </a:lnTo>
                  <a:lnTo>
                    <a:pt x="1883" y="3204"/>
                  </a:lnTo>
                  <a:lnTo>
                    <a:pt x="1885" y="3220"/>
                  </a:lnTo>
                  <a:lnTo>
                    <a:pt x="1895" y="3238"/>
                  </a:lnTo>
                  <a:lnTo>
                    <a:pt x="1925" y="3267"/>
                  </a:lnTo>
                  <a:lnTo>
                    <a:pt x="2005" y="3319"/>
                  </a:lnTo>
                  <a:lnTo>
                    <a:pt x="2066" y="3354"/>
                  </a:lnTo>
                  <a:lnTo>
                    <a:pt x="2131" y="3392"/>
                  </a:lnTo>
                  <a:lnTo>
                    <a:pt x="2234" y="3459"/>
                  </a:lnTo>
                  <a:lnTo>
                    <a:pt x="2256" y="3476"/>
                  </a:lnTo>
                  <a:lnTo>
                    <a:pt x="2266" y="3486"/>
                  </a:lnTo>
                  <a:lnTo>
                    <a:pt x="2277" y="3502"/>
                  </a:lnTo>
                  <a:lnTo>
                    <a:pt x="2278" y="3516"/>
                  </a:lnTo>
                  <a:lnTo>
                    <a:pt x="2268" y="3535"/>
                  </a:lnTo>
                  <a:lnTo>
                    <a:pt x="2259" y="3549"/>
                  </a:lnTo>
                  <a:lnTo>
                    <a:pt x="2247" y="3566"/>
                  </a:lnTo>
                  <a:lnTo>
                    <a:pt x="2223" y="3590"/>
                  </a:lnTo>
                  <a:lnTo>
                    <a:pt x="2214" y="3593"/>
                  </a:lnTo>
                  <a:lnTo>
                    <a:pt x="2193" y="3585"/>
                  </a:lnTo>
                  <a:lnTo>
                    <a:pt x="2053" y="3512"/>
                  </a:lnTo>
                  <a:lnTo>
                    <a:pt x="1956" y="3458"/>
                  </a:lnTo>
                  <a:lnTo>
                    <a:pt x="1858" y="3404"/>
                  </a:lnTo>
                  <a:lnTo>
                    <a:pt x="1745" y="3348"/>
                  </a:lnTo>
                  <a:lnTo>
                    <a:pt x="1700" y="3331"/>
                  </a:lnTo>
                  <a:lnTo>
                    <a:pt x="1692" y="3331"/>
                  </a:lnTo>
                  <a:lnTo>
                    <a:pt x="1682" y="3337"/>
                  </a:lnTo>
                  <a:lnTo>
                    <a:pt x="1659" y="3360"/>
                  </a:lnTo>
                  <a:lnTo>
                    <a:pt x="1651" y="3374"/>
                  </a:lnTo>
                  <a:lnTo>
                    <a:pt x="1646" y="3383"/>
                  </a:lnTo>
                  <a:lnTo>
                    <a:pt x="1642" y="3397"/>
                  </a:lnTo>
                  <a:lnTo>
                    <a:pt x="1644" y="3412"/>
                  </a:lnTo>
                  <a:lnTo>
                    <a:pt x="1656" y="3428"/>
                  </a:lnTo>
                  <a:lnTo>
                    <a:pt x="1691" y="3456"/>
                  </a:lnTo>
                  <a:lnTo>
                    <a:pt x="1788" y="3515"/>
                  </a:lnTo>
                  <a:lnTo>
                    <a:pt x="1864" y="3558"/>
                  </a:lnTo>
                  <a:lnTo>
                    <a:pt x="1937" y="3600"/>
                  </a:lnTo>
                  <a:lnTo>
                    <a:pt x="2020" y="3655"/>
                  </a:lnTo>
                  <a:lnTo>
                    <a:pt x="2051" y="3681"/>
                  </a:lnTo>
                  <a:lnTo>
                    <a:pt x="2056" y="3688"/>
                  </a:lnTo>
                  <a:lnTo>
                    <a:pt x="2062" y="3706"/>
                  </a:lnTo>
                  <a:lnTo>
                    <a:pt x="2060" y="3737"/>
                  </a:lnTo>
                  <a:lnTo>
                    <a:pt x="2045" y="3761"/>
                  </a:lnTo>
                  <a:lnTo>
                    <a:pt x="2017" y="3775"/>
                  </a:lnTo>
                  <a:lnTo>
                    <a:pt x="1999" y="3776"/>
                  </a:lnTo>
                  <a:lnTo>
                    <a:pt x="1978" y="3773"/>
                  </a:lnTo>
                  <a:lnTo>
                    <a:pt x="1909" y="3746"/>
                  </a:lnTo>
                  <a:lnTo>
                    <a:pt x="1821" y="3700"/>
                  </a:lnTo>
                  <a:lnTo>
                    <a:pt x="1729" y="3644"/>
                  </a:lnTo>
                  <a:lnTo>
                    <a:pt x="1687" y="3614"/>
                  </a:lnTo>
                  <a:lnTo>
                    <a:pt x="1663" y="3598"/>
                  </a:lnTo>
                  <a:lnTo>
                    <a:pt x="1601" y="3570"/>
                  </a:lnTo>
                  <a:lnTo>
                    <a:pt x="1572" y="3564"/>
                  </a:lnTo>
                  <a:lnTo>
                    <a:pt x="1557" y="3561"/>
                  </a:lnTo>
                  <a:lnTo>
                    <a:pt x="1526" y="3550"/>
                  </a:lnTo>
                  <a:lnTo>
                    <a:pt x="1497" y="3534"/>
                  </a:lnTo>
                  <a:lnTo>
                    <a:pt x="1470" y="3513"/>
                  </a:lnTo>
                  <a:lnTo>
                    <a:pt x="1457" y="3501"/>
                  </a:lnTo>
                  <a:lnTo>
                    <a:pt x="1445" y="3488"/>
                  </a:lnTo>
                  <a:lnTo>
                    <a:pt x="1417" y="3466"/>
                  </a:lnTo>
                  <a:lnTo>
                    <a:pt x="1387" y="3449"/>
                  </a:lnTo>
                  <a:lnTo>
                    <a:pt x="1355" y="3438"/>
                  </a:lnTo>
                  <a:lnTo>
                    <a:pt x="1337" y="3434"/>
                  </a:lnTo>
                  <a:lnTo>
                    <a:pt x="1319" y="3431"/>
                  </a:lnTo>
                  <a:lnTo>
                    <a:pt x="1286" y="3420"/>
                  </a:lnTo>
                  <a:lnTo>
                    <a:pt x="1254" y="3403"/>
                  </a:lnTo>
                  <a:lnTo>
                    <a:pt x="1223" y="3380"/>
                  </a:lnTo>
                  <a:lnTo>
                    <a:pt x="1209" y="3366"/>
                  </a:lnTo>
                  <a:lnTo>
                    <a:pt x="1184" y="3343"/>
                  </a:lnTo>
                  <a:lnTo>
                    <a:pt x="1145" y="3319"/>
                  </a:lnTo>
                  <a:lnTo>
                    <a:pt x="1124" y="3310"/>
                  </a:lnTo>
                  <a:lnTo>
                    <a:pt x="1116" y="3309"/>
                  </a:lnTo>
                  <a:lnTo>
                    <a:pt x="1106" y="3308"/>
                  </a:lnTo>
                  <a:lnTo>
                    <a:pt x="1081" y="3296"/>
                  </a:lnTo>
                  <a:lnTo>
                    <a:pt x="1035" y="3260"/>
                  </a:lnTo>
                  <a:lnTo>
                    <a:pt x="999" y="3223"/>
                  </a:lnTo>
                  <a:lnTo>
                    <a:pt x="917" y="3138"/>
                  </a:lnTo>
                  <a:lnTo>
                    <a:pt x="811" y="3148"/>
                  </a:lnTo>
                  <a:lnTo>
                    <a:pt x="748" y="3153"/>
                  </a:lnTo>
                  <a:lnTo>
                    <a:pt x="708" y="3148"/>
                  </a:lnTo>
                  <a:lnTo>
                    <a:pt x="697" y="3136"/>
                  </a:lnTo>
                  <a:lnTo>
                    <a:pt x="694" y="3126"/>
                  </a:lnTo>
                  <a:lnTo>
                    <a:pt x="688" y="3111"/>
                  </a:lnTo>
                  <a:lnTo>
                    <a:pt x="654" y="3077"/>
                  </a:lnTo>
                  <a:lnTo>
                    <a:pt x="632" y="3064"/>
                  </a:lnTo>
                  <a:lnTo>
                    <a:pt x="596" y="3044"/>
                  </a:lnTo>
                  <a:lnTo>
                    <a:pt x="563" y="3020"/>
                  </a:lnTo>
                  <a:lnTo>
                    <a:pt x="553" y="3002"/>
                  </a:lnTo>
                  <a:lnTo>
                    <a:pt x="552" y="2978"/>
                  </a:lnTo>
                  <a:lnTo>
                    <a:pt x="561" y="2945"/>
                  </a:lnTo>
                  <a:lnTo>
                    <a:pt x="591" y="2870"/>
                  </a:lnTo>
                  <a:lnTo>
                    <a:pt x="626" y="2793"/>
                  </a:lnTo>
                  <a:lnTo>
                    <a:pt x="727" y="2559"/>
                  </a:lnTo>
                  <a:lnTo>
                    <a:pt x="779" y="2454"/>
                  </a:lnTo>
                  <a:lnTo>
                    <a:pt x="791" y="2438"/>
                  </a:lnTo>
                  <a:lnTo>
                    <a:pt x="800" y="2432"/>
                  </a:lnTo>
                  <a:lnTo>
                    <a:pt x="809" y="2434"/>
                  </a:lnTo>
                  <a:lnTo>
                    <a:pt x="814" y="2436"/>
                  </a:lnTo>
                  <a:lnTo>
                    <a:pt x="855" y="2452"/>
                  </a:lnTo>
                  <a:lnTo>
                    <a:pt x="929" y="2479"/>
                  </a:lnTo>
                  <a:close/>
                  <a:moveTo>
                    <a:pt x="2027" y="2496"/>
                  </a:moveTo>
                  <a:lnTo>
                    <a:pt x="2077" y="2513"/>
                  </a:lnTo>
                  <a:lnTo>
                    <a:pt x="2144" y="2534"/>
                  </a:lnTo>
                  <a:lnTo>
                    <a:pt x="2189" y="2541"/>
                  </a:lnTo>
                  <a:lnTo>
                    <a:pt x="2228" y="2536"/>
                  </a:lnTo>
                  <a:lnTo>
                    <a:pt x="2252" y="2529"/>
                  </a:lnTo>
                  <a:lnTo>
                    <a:pt x="2303" y="2513"/>
                  </a:lnTo>
                  <a:lnTo>
                    <a:pt x="2352" y="2503"/>
                  </a:lnTo>
                  <a:lnTo>
                    <a:pt x="2376" y="2508"/>
                  </a:lnTo>
                  <a:lnTo>
                    <a:pt x="2397" y="2529"/>
                  </a:lnTo>
                  <a:lnTo>
                    <a:pt x="2418" y="2568"/>
                  </a:lnTo>
                  <a:lnTo>
                    <a:pt x="2456" y="2665"/>
                  </a:lnTo>
                  <a:lnTo>
                    <a:pt x="2496" y="2771"/>
                  </a:lnTo>
                  <a:lnTo>
                    <a:pt x="2576" y="2992"/>
                  </a:lnTo>
                  <a:lnTo>
                    <a:pt x="2599" y="3068"/>
                  </a:lnTo>
                  <a:lnTo>
                    <a:pt x="2598" y="3073"/>
                  </a:lnTo>
                  <a:lnTo>
                    <a:pt x="2589" y="3085"/>
                  </a:lnTo>
                  <a:lnTo>
                    <a:pt x="2562" y="3100"/>
                  </a:lnTo>
                  <a:lnTo>
                    <a:pt x="2514" y="3114"/>
                  </a:lnTo>
                  <a:lnTo>
                    <a:pt x="2481" y="3117"/>
                  </a:lnTo>
                  <a:lnTo>
                    <a:pt x="2464" y="3114"/>
                  </a:lnTo>
                  <a:lnTo>
                    <a:pt x="2459" y="3111"/>
                  </a:lnTo>
                  <a:lnTo>
                    <a:pt x="2436" y="3095"/>
                  </a:lnTo>
                  <a:lnTo>
                    <a:pt x="2280" y="3003"/>
                  </a:lnTo>
                  <a:lnTo>
                    <a:pt x="2172" y="2943"/>
                  </a:lnTo>
                  <a:lnTo>
                    <a:pt x="2062" y="2881"/>
                  </a:lnTo>
                  <a:lnTo>
                    <a:pt x="1943" y="2822"/>
                  </a:lnTo>
                  <a:lnTo>
                    <a:pt x="1878" y="2800"/>
                  </a:lnTo>
                  <a:lnTo>
                    <a:pt x="1820" y="2791"/>
                  </a:lnTo>
                  <a:lnTo>
                    <a:pt x="1762" y="2794"/>
                  </a:lnTo>
                  <a:lnTo>
                    <a:pt x="1699" y="2809"/>
                  </a:lnTo>
                  <a:lnTo>
                    <a:pt x="1624" y="2834"/>
                  </a:lnTo>
                  <a:lnTo>
                    <a:pt x="1579" y="2851"/>
                  </a:lnTo>
                  <a:lnTo>
                    <a:pt x="1514" y="2875"/>
                  </a:lnTo>
                  <a:lnTo>
                    <a:pt x="1405" y="2908"/>
                  </a:lnTo>
                  <a:lnTo>
                    <a:pt x="1320" y="2921"/>
                  </a:lnTo>
                  <a:lnTo>
                    <a:pt x="1272" y="2919"/>
                  </a:lnTo>
                  <a:lnTo>
                    <a:pt x="1245" y="2912"/>
                  </a:lnTo>
                  <a:lnTo>
                    <a:pt x="1234" y="2906"/>
                  </a:lnTo>
                  <a:lnTo>
                    <a:pt x="1212" y="2894"/>
                  </a:lnTo>
                  <a:lnTo>
                    <a:pt x="1194" y="2876"/>
                  </a:lnTo>
                  <a:lnTo>
                    <a:pt x="1190" y="2865"/>
                  </a:lnTo>
                  <a:lnTo>
                    <a:pt x="1192" y="2852"/>
                  </a:lnTo>
                  <a:lnTo>
                    <a:pt x="1200" y="2839"/>
                  </a:lnTo>
                  <a:lnTo>
                    <a:pt x="1225" y="2815"/>
                  </a:lnTo>
                  <a:lnTo>
                    <a:pt x="1252" y="2796"/>
                  </a:lnTo>
                  <a:lnTo>
                    <a:pt x="1289" y="2769"/>
                  </a:lnTo>
                  <a:lnTo>
                    <a:pt x="1401" y="2676"/>
                  </a:lnTo>
                  <a:lnTo>
                    <a:pt x="1457" y="2624"/>
                  </a:lnTo>
                  <a:lnTo>
                    <a:pt x="1498" y="2588"/>
                  </a:lnTo>
                  <a:lnTo>
                    <a:pt x="1570" y="2530"/>
                  </a:lnTo>
                  <a:lnTo>
                    <a:pt x="1635" y="2487"/>
                  </a:lnTo>
                  <a:lnTo>
                    <a:pt x="1697" y="2459"/>
                  </a:lnTo>
                  <a:lnTo>
                    <a:pt x="1758" y="2445"/>
                  </a:lnTo>
                  <a:lnTo>
                    <a:pt x="1824" y="2444"/>
                  </a:lnTo>
                  <a:lnTo>
                    <a:pt x="1897" y="2456"/>
                  </a:lnTo>
                  <a:lnTo>
                    <a:pt x="1980" y="2480"/>
                  </a:lnTo>
                  <a:lnTo>
                    <a:pt x="2027" y="2496"/>
                  </a:lnTo>
                  <a:close/>
                  <a:moveTo>
                    <a:pt x="906" y="3314"/>
                  </a:moveTo>
                  <a:lnTo>
                    <a:pt x="911" y="3323"/>
                  </a:lnTo>
                  <a:lnTo>
                    <a:pt x="912" y="3345"/>
                  </a:lnTo>
                  <a:lnTo>
                    <a:pt x="896" y="3394"/>
                  </a:lnTo>
                  <a:lnTo>
                    <a:pt x="866" y="3453"/>
                  </a:lnTo>
                  <a:lnTo>
                    <a:pt x="841" y="3497"/>
                  </a:lnTo>
                  <a:lnTo>
                    <a:pt x="793" y="3565"/>
                  </a:lnTo>
                  <a:lnTo>
                    <a:pt x="779" y="3578"/>
                  </a:lnTo>
                  <a:lnTo>
                    <a:pt x="763" y="3584"/>
                  </a:lnTo>
                  <a:lnTo>
                    <a:pt x="731" y="3582"/>
                  </a:lnTo>
                  <a:lnTo>
                    <a:pt x="702" y="3566"/>
                  </a:lnTo>
                  <a:lnTo>
                    <a:pt x="688" y="3547"/>
                  </a:lnTo>
                  <a:lnTo>
                    <a:pt x="683" y="3532"/>
                  </a:lnTo>
                  <a:lnTo>
                    <a:pt x="682" y="3524"/>
                  </a:lnTo>
                  <a:lnTo>
                    <a:pt x="685" y="3509"/>
                  </a:lnTo>
                  <a:lnTo>
                    <a:pt x="706" y="3450"/>
                  </a:lnTo>
                  <a:lnTo>
                    <a:pt x="739" y="3379"/>
                  </a:lnTo>
                  <a:lnTo>
                    <a:pt x="773" y="3316"/>
                  </a:lnTo>
                  <a:lnTo>
                    <a:pt x="787" y="3296"/>
                  </a:lnTo>
                  <a:lnTo>
                    <a:pt x="792" y="3291"/>
                  </a:lnTo>
                  <a:lnTo>
                    <a:pt x="805" y="3283"/>
                  </a:lnTo>
                  <a:lnTo>
                    <a:pt x="829" y="3278"/>
                  </a:lnTo>
                  <a:lnTo>
                    <a:pt x="864" y="3284"/>
                  </a:lnTo>
                  <a:lnTo>
                    <a:pt x="895" y="3301"/>
                  </a:lnTo>
                  <a:lnTo>
                    <a:pt x="906" y="3314"/>
                  </a:lnTo>
                  <a:close/>
                  <a:moveTo>
                    <a:pt x="1129" y="3496"/>
                  </a:moveTo>
                  <a:lnTo>
                    <a:pt x="1129" y="3505"/>
                  </a:lnTo>
                  <a:lnTo>
                    <a:pt x="1123" y="3532"/>
                  </a:lnTo>
                  <a:lnTo>
                    <a:pt x="1103" y="3588"/>
                  </a:lnTo>
                  <a:lnTo>
                    <a:pt x="1062" y="3678"/>
                  </a:lnTo>
                  <a:lnTo>
                    <a:pt x="1016" y="3760"/>
                  </a:lnTo>
                  <a:lnTo>
                    <a:pt x="996" y="3788"/>
                  </a:lnTo>
                  <a:lnTo>
                    <a:pt x="986" y="3798"/>
                  </a:lnTo>
                  <a:lnTo>
                    <a:pt x="960" y="3808"/>
                  </a:lnTo>
                  <a:lnTo>
                    <a:pt x="932" y="3805"/>
                  </a:lnTo>
                  <a:lnTo>
                    <a:pt x="902" y="3788"/>
                  </a:lnTo>
                  <a:lnTo>
                    <a:pt x="889" y="3774"/>
                  </a:lnTo>
                  <a:lnTo>
                    <a:pt x="879" y="3763"/>
                  </a:lnTo>
                  <a:lnTo>
                    <a:pt x="868" y="3745"/>
                  </a:lnTo>
                  <a:lnTo>
                    <a:pt x="870" y="3724"/>
                  </a:lnTo>
                  <a:lnTo>
                    <a:pt x="885" y="3690"/>
                  </a:lnTo>
                  <a:lnTo>
                    <a:pt x="899" y="3664"/>
                  </a:lnTo>
                  <a:lnTo>
                    <a:pt x="933" y="3601"/>
                  </a:lnTo>
                  <a:lnTo>
                    <a:pt x="986" y="3512"/>
                  </a:lnTo>
                  <a:lnTo>
                    <a:pt x="1017" y="3474"/>
                  </a:lnTo>
                  <a:lnTo>
                    <a:pt x="1035" y="3458"/>
                  </a:lnTo>
                  <a:lnTo>
                    <a:pt x="1053" y="3448"/>
                  </a:lnTo>
                  <a:lnTo>
                    <a:pt x="1070" y="3445"/>
                  </a:lnTo>
                  <a:lnTo>
                    <a:pt x="1079" y="3446"/>
                  </a:lnTo>
                  <a:lnTo>
                    <a:pt x="1091" y="3448"/>
                  </a:lnTo>
                  <a:lnTo>
                    <a:pt x="1110" y="3454"/>
                  </a:lnTo>
                  <a:lnTo>
                    <a:pt x="1121" y="3465"/>
                  </a:lnTo>
                  <a:lnTo>
                    <a:pt x="1127" y="3484"/>
                  </a:lnTo>
                  <a:lnTo>
                    <a:pt x="1129" y="3496"/>
                  </a:lnTo>
                  <a:close/>
                  <a:moveTo>
                    <a:pt x="1377" y="3619"/>
                  </a:moveTo>
                  <a:lnTo>
                    <a:pt x="1380" y="3632"/>
                  </a:lnTo>
                  <a:lnTo>
                    <a:pt x="1374" y="3668"/>
                  </a:lnTo>
                  <a:lnTo>
                    <a:pt x="1354" y="3718"/>
                  </a:lnTo>
                  <a:lnTo>
                    <a:pt x="1320" y="3781"/>
                  </a:lnTo>
                  <a:lnTo>
                    <a:pt x="1297" y="3818"/>
                  </a:lnTo>
                  <a:lnTo>
                    <a:pt x="1277" y="3847"/>
                  </a:lnTo>
                  <a:lnTo>
                    <a:pt x="1246" y="3877"/>
                  </a:lnTo>
                  <a:lnTo>
                    <a:pt x="1225" y="3889"/>
                  </a:lnTo>
                  <a:lnTo>
                    <a:pt x="1205" y="3895"/>
                  </a:lnTo>
                  <a:lnTo>
                    <a:pt x="1187" y="3893"/>
                  </a:lnTo>
                  <a:lnTo>
                    <a:pt x="1170" y="3885"/>
                  </a:lnTo>
                  <a:lnTo>
                    <a:pt x="1155" y="3870"/>
                  </a:lnTo>
                  <a:lnTo>
                    <a:pt x="1149" y="3859"/>
                  </a:lnTo>
                  <a:lnTo>
                    <a:pt x="1145" y="3849"/>
                  </a:lnTo>
                  <a:lnTo>
                    <a:pt x="1143" y="3827"/>
                  </a:lnTo>
                  <a:lnTo>
                    <a:pt x="1157" y="3779"/>
                  </a:lnTo>
                  <a:lnTo>
                    <a:pt x="1182" y="3726"/>
                  </a:lnTo>
                  <a:lnTo>
                    <a:pt x="1207" y="3678"/>
                  </a:lnTo>
                  <a:lnTo>
                    <a:pt x="1249" y="3612"/>
                  </a:lnTo>
                  <a:lnTo>
                    <a:pt x="1276" y="3583"/>
                  </a:lnTo>
                  <a:lnTo>
                    <a:pt x="1293" y="3573"/>
                  </a:lnTo>
                  <a:lnTo>
                    <a:pt x="1309" y="3569"/>
                  </a:lnTo>
                  <a:lnTo>
                    <a:pt x="1326" y="3572"/>
                  </a:lnTo>
                  <a:lnTo>
                    <a:pt x="1334" y="3576"/>
                  </a:lnTo>
                  <a:lnTo>
                    <a:pt x="1348" y="3585"/>
                  </a:lnTo>
                  <a:lnTo>
                    <a:pt x="1372" y="3609"/>
                  </a:lnTo>
                  <a:lnTo>
                    <a:pt x="1377" y="3619"/>
                  </a:lnTo>
                  <a:close/>
                  <a:moveTo>
                    <a:pt x="1581" y="3709"/>
                  </a:moveTo>
                  <a:lnTo>
                    <a:pt x="1593" y="3717"/>
                  </a:lnTo>
                  <a:lnTo>
                    <a:pt x="1616" y="3740"/>
                  </a:lnTo>
                  <a:lnTo>
                    <a:pt x="1622" y="3751"/>
                  </a:lnTo>
                  <a:lnTo>
                    <a:pt x="1623" y="3758"/>
                  </a:lnTo>
                  <a:lnTo>
                    <a:pt x="1619" y="3781"/>
                  </a:lnTo>
                  <a:lnTo>
                    <a:pt x="1602" y="3831"/>
                  </a:lnTo>
                  <a:lnTo>
                    <a:pt x="1565" y="3909"/>
                  </a:lnTo>
                  <a:lnTo>
                    <a:pt x="1525" y="3975"/>
                  </a:lnTo>
                  <a:lnTo>
                    <a:pt x="1509" y="3993"/>
                  </a:lnTo>
                  <a:lnTo>
                    <a:pt x="1502" y="3998"/>
                  </a:lnTo>
                  <a:lnTo>
                    <a:pt x="1485" y="4003"/>
                  </a:lnTo>
                  <a:lnTo>
                    <a:pt x="1457" y="4003"/>
                  </a:lnTo>
                  <a:lnTo>
                    <a:pt x="1423" y="3987"/>
                  </a:lnTo>
                  <a:lnTo>
                    <a:pt x="1406" y="3966"/>
                  </a:lnTo>
                  <a:lnTo>
                    <a:pt x="1400" y="3950"/>
                  </a:lnTo>
                  <a:lnTo>
                    <a:pt x="1399" y="3941"/>
                  </a:lnTo>
                  <a:lnTo>
                    <a:pt x="1400" y="3930"/>
                  </a:lnTo>
                  <a:lnTo>
                    <a:pt x="1409" y="3898"/>
                  </a:lnTo>
                  <a:lnTo>
                    <a:pt x="1436" y="3839"/>
                  </a:lnTo>
                  <a:lnTo>
                    <a:pt x="1485" y="3756"/>
                  </a:lnTo>
                  <a:lnTo>
                    <a:pt x="1520" y="3711"/>
                  </a:lnTo>
                  <a:lnTo>
                    <a:pt x="1539" y="3694"/>
                  </a:lnTo>
                  <a:lnTo>
                    <a:pt x="1546" y="3693"/>
                  </a:lnTo>
                  <a:lnTo>
                    <a:pt x="1557" y="3696"/>
                  </a:lnTo>
                  <a:lnTo>
                    <a:pt x="1581" y="3709"/>
                  </a:lnTo>
                  <a:close/>
                  <a:moveTo>
                    <a:pt x="1801" y="3843"/>
                  </a:moveTo>
                  <a:lnTo>
                    <a:pt x="1811" y="3849"/>
                  </a:lnTo>
                  <a:lnTo>
                    <a:pt x="1824" y="3867"/>
                  </a:lnTo>
                  <a:lnTo>
                    <a:pt x="1831" y="3888"/>
                  </a:lnTo>
                  <a:lnTo>
                    <a:pt x="1832" y="3910"/>
                  </a:lnTo>
                  <a:lnTo>
                    <a:pt x="1826" y="3932"/>
                  </a:lnTo>
                  <a:lnTo>
                    <a:pt x="1815" y="3952"/>
                  </a:lnTo>
                  <a:lnTo>
                    <a:pt x="1800" y="3967"/>
                  </a:lnTo>
                  <a:lnTo>
                    <a:pt x="1779" y="3975"/>
                  </a:lnTo>
                  <a:lnTo>
                    <a:pt x="1767" y="3976"/>
                  </a:lnTo>
                  <a:lnTo>
                    <a:pt x="1746" y="3975"/>
                  </a:lnTo>
                  <a:lnTo>
                    <a:pt x="1725" y="3968"/>
                  </a:lnTo>
                  <a:lnTo>
                    <a:pt x="1716" y="3960"/>
                  </a:lnTo>
                  <a:lnTo>
                    <a:pt x="1709" y="3944"/>
                  </a:lnTo>
                  <a:lnTo>
                    <a:pt x="1716" y="3910"/>
                  </a:lnTo>
                  <a:lnTo>
                    <a:pt x="1726" y="3888"/>
                  </a:lnTo>
                  <a:lnTo>
                    <a:pt x="1737" y="3864"/>
                  </a:lnTo>
                  <a:lnTo>
                    <a:pt x="1752" y="3836"/>
                  </a:lnTo>
                  <a:lnTo>
                    <a:pt x="1766" y="3828"/>
                  </a:lnTo>
                  <a:lnTo>
                    <a:pt x="1785" y="3835"/>
                  </a:lnTo>
                  <a:lnTo>
                    <a:pt x="1801" y="38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80">
              <a:extLst>
                <a:ext uri="{FF2B5EF4-FFF2-40B4-BE49-F238E27FC236}">
                  <a16:creationId xmlns:a16="http://schemas.microsoft.com/office/drawing/2014/main" id="{73AC328E-AA70-C14D-EEA7-88CCA2BB46A4}"/>
                </a:ext>
              </a:extLst>
            </p:cNvPr>
            <p:cNvSpPr>
              <a:spLocks/>
            </p:cNvSpPr>
            <p:nvPr/>
          </p:nvSpPr>
          <p:spPr bwMode="auto">
            <a:xfrm>
              <a:off x="1081088" y="3043238"/>
              <a:ext cx="63500" cy="65088"/>
            </a:xfrm>
            <a:custGeom>
              <a:avLst/>
              <a:gdLst>
                <a:gd name="T0" fmla="*/ 19 w 144"/>
                <a:gd name="T1" fmla="*/ 20 h 147"/>
                <a:gd name="T2" fmla="*/ 9 w 144"/>
                <a:gd name="T3" fmla="*/ 32 h 147"/>
                <a:gd name="T4" fmla="*/ 0 w 144"/>
                <a:gd name="T5" fmla="*/ 62 h 147"/>
                <a:gd name="T6" fmla="*/ 1 w 144"/>
                <a:gd name="T7" fmla="*/ 94 h 147"/>
                <a:gd name="T8" fmla="*/ 14 w 144"/>
                <a:gd name="T9" fmla="*/ 123 h 147"/>
                <a:gd name="T10" fmla="*/ 24 w 144"/>
                <a:gd name="T11" fmla="*/ 133 h 147"/>
                <a:gd name="T12" fmla="*/ 31 w 144"/>
                <a:gd name="T13" fmla="*/ 138 h 147"/>
                <a:gd name="T14" fmla="*/ 46 w 144"/>
                <a:gd name="T15" fmla="*/ 145 h 147"/>
                <a:gd name="T16" fmla="*/ 72 w 144"/>
                <a:gd name="T17" fmla="*/ 147 h 147"/>
                <a:gd name="T18" fmla="*/ 107 w 144"/>
                <a:gd name="T19" fmla="*/ 137 h 147"/>
                <a:gd name="T20" fmla="*/ 128 w 144"/>
                <a:gd name="T21" fmla="*/ 121 h 147"/>
                <a:gd name="T22" fmla="*/ 138 w 144"/>
                <a:gd name="T23" fmla="*/ 108 h 147"/>
                <a:gd name="T24" fmla="*/ 141 w 144"/>
                <a:gd name="T25" fmla="*/ 100 h 147"/>
                <a:gd name="T26" fmla="*/ 144 w 144"/>
                <a:gd name="T27" fmla="*/ 86 h 147"/>
                <a:gd name="T28" fmla="*/ 143 w 144"/>
                <a:gd name="T29" fmla="*/ 61 h 147"/>
                <a:gd name="T30" fmla="*/ 134 w 144"/>
                <a:gd name="T31" fmla="*/ 38 h 147"/>
                <a:gd name="T32" fmla="*/ 118 w 144"/>
                <a:gd name="T33" fmla="*/ 20 h 147"/>
                <a:gd name="T34" fmla="*/ 98 w 144"/>
                <a:gd name="T35" fmla="*/ 6 h 147"/>
                <a:gd name="T36" fmla="*/ 76 w 144"/>
                <a:gd name="T37" fmla="*/ 0 h 147"/>
                <a:gd name="T38" fmla="*/ 52 w 144"/>
                <a:gd name="T39" fmla="*/ 1 h 147"/>
                <a:gd name="T40" fmla="*/ 29 w 144"/>
                <a:gd name="T41" fmla="*/ 11 h 147"/>
                <a:gd name="T42" fmla="*/ 19 w 144"/>
                <a:gd name="T43"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7">
                  <a:moveTo>
                    <a:pt x="19" y="20"/>
                  </a:moveTo>
                  <a:lnTo>
                    <a:pt x="9" y="32"/>
                  </a:lnTo>
                  <a:lnTo>
                    <a:pt x="0" y="62"/>
                  </a:lnTo>
                  <a:lnTo>
                    <a:pt x="1" y="94"/>
                  </a:lnTo>
                  <a:lnTo>
                    <a:pt x="14" y="123"/>
                  </a:lnTo>
                  <a:lnTo>
                    <a:pt x="24" y="133"/>
                  </a:lnTo>
                  <a:lnTo>
                    <a:pt x="31" y="138"/>
                  </a:lnTo>
                  <a:lnTo>
                    <a:pt x="46" y="145"/>
                  </a:lnTo>
                  <a:lnTo>
                    <a:pt x="72" y="147"/>
                  </a:lnTo>
                  <a:lnTo>
                    <a:pt x="107" y="137"/>
                  </a:lnTo>
                  <a:lnTo>
                    <a:pt x="128" y="121"/>
                  </a:lnTo>
                  <a:lnTo>
                    <a:pt x="138" y="108"/>
                  </a:lnTo>
                  <a:lnTo>
                    <a:pt x="141" y="100"/>
                  </a:lnTo>
                  <a:lnTo>
                    <a:pt x="144" y="86"/>
                  </a:lnTo>
                  <a:lnTo>
                    <a:pt x="143" y="61"/>
                  </a:lnTo>
                  <a:lnTo>
                    <a:pt x="134" y="38"/>
                  </a:lnTo>
                  <a:lnTo>
                    <a:pt x="118" y="20"/>
                  </a:lnTo>
                  <a:lnTo>
                    <a:pt x="98" y="6"/>
                  </a:lnTo>
                  <a:lnTo>
                    <a:pt x="76" y="0"/>
                  </a:lnTo>
                  <a:lnTo>
                    <a:pt x="52" y="1"/>
                  </a:lnTo>
                  <a:lnTo>
                    <a:pt x="29" y="11"/>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81">
              <a:extLst>
                <a:ext uri="{FF2B5EF4-FFF2-40B4-BE49-F238E27FC236}">
                  <a16:creationId xmlns:a16="http://schemas.microsoft.com/office/drawing/2014/main" id="{EFA14CD7-0DAA-1165-E277-8916BA69A061}"/>
                </a:ext>
              </a:extLst>
            </p:cNvPr>
            <p:cNvSpPr>
              <a:spLocks noEditPoints="1"/>
            </p:cNvSpPr>
            <p:nvPr/>
          </p:nvSpPr>
          <p:spPr bwMode="auto">
            <a:xfrm>
              <a:off x="682625" y="3352801"/>
              <a:ext cx="295275" cy="296863"/>
            </a:xfrm>
            <a:custGeom>
              <a:avLst/>
              <a:gdLst>
                <a:gd name="T0" fmla="*/ 76 w 668"/>
                <a:gd name="T1" fmla="*/ 20 h 676"/>
                <a:gd name="T2" fmla="*/ 52 w 668"/>
                <a:gd name="T3" fmla="*/ 33 h 676"/>
                <a:gd name="T4" fmla="*/ 27 w 668"/>
                <a:gd name="T5" fmla="*/ 58 h 676"/>
                <a:gd name="T6" fmla="*/ 16 w 668"/>
                <a:gd name="T7" fmla="*/ 81 h 676"/>
                <a:gd name="T8" fmla="*/ 6 w 668"/>
                <a:gd name="T9" fmla="*/ 133 h 676"/>
                <a:gd name="T10" fmla="*/ 1 w 668"/>
                <a:gd name="T11" fmla="*/ 252 h 676"/>
                <a:gd name="T12" fmla="*/ 1 w 668"/>
                <a:gd name="T13" fmla="*/ 343 h 676"/>
                <a:gd name="T14" fmla="*/ 0 w 668"/>
                <a:gd name="T15" fmla="*/ 463 h 676"/>
                <a:gd name="T16" fmla="*/ 7 w 668"/>
                <a:gd name="T17" fmla="*/ 576 h 676"/>
                <a:gd name="T18" fmla="*/ 18 w 668"/>
                <a:gd name="T19" fmla="*/ 614 h 676"/>
                <a:gd name="T20" fmla="*/ 29 w 668"/>
                <a:gd name="T21" fmla="*/ 633 h 676"/>
                <a:gd name="T22" fmla="*/ 44 w 668"/>
                <a:gd name="T23" fmla="*/ 647 h 676"/>
                <a:gd name="T24" fmla="*/ 63 w 668"/>
                <a:gd name="T25" fmla="*/ 658 h 676"/>
                <a:gd name="T26" fmla="*/ 100 w 668"/>
                <a:gd name="T27" fmla="*/ 669 h 676"/>
                <a:gd name="T28" fmla="*/ 214 w 668"/>
                <a:gd name="T29" fmla="*/ 676 h 676"/>
                <a:gd name="T30" fmla="*/ 334 w 668"/>
                <a:gd name="T31" fmla="*/ 675 h 676"/>
                <a:gd name="T32" fmla="*/ 454 w 668"/>
                <a:gd name="T33" fmla="*/ 676 h 676"/>
                <a:gd name="T34" fmla="*/ 568 w 668"/>
                <a:gd name="T35" fmla="*/ 669 h 676"/>
                <a:gd name="T36" fmla="*/ 605 w 668"/>
                <a:gd name="T37" fmla="*/ 658 h 676"/>
                <a:gd name="T38" fmla="*/ 624 w 668"/>
                <a:gd name="T39" fmla="*/ 648 h 676"/>
                <a:gd name="T40" fmla="*/ 639 w 668"/>
                <a:gd name="T41" fmla="*/ 633 h 676"/>
                <a:gd name="T42" fmla="*/ 650 w 668"/>
                <a:gd name="T43" fmla="*/ 614 h 676"/>
                <a:gd name="T44" fmla="*/ 661 w 668"/>
                <a:gd name="T45" fmla="*/ 578 h 676"/>
                <a:gd name="T46" fmla="*/ 668 w 668"/>
                <a:gd name="T47" fmla="*/ 467 h 676"/>
                <a:gd name="T48" fmla="*/ 668 w 668"/>
                <a:gd name="T49" fmla="*/ 350 h 676"/>
                <a:gd name="T50" fmla="*/ 667 w 668"/>
                <a:gd name="T51" fmla="*/ 249 h 676"/>
                <a:gd name="T52" fmla="*/ 661 w 668"/>
                <a:gd name="T53" fmla="*/ 100 h 676"/>
                <a:gd name="T54" fmla="*/ 658 w 668"/>
                <a:gd name="T55" fmla="*/ 75 h 676"/>
                <a:gd name="T56" fmla="*/ 653 w 668"/>
                <a:gd name="T57" fmla="*/ 64 h 676"/>
                <a:gd name="T58" fmla="*/ 639 w 668"/>
                <a:gd name="T59" fmla="*/ 46 h 676"/>
                <a:gd name="T60" fmla="*/ 618 w 668"/>
                <a:gd name="T61" fmla="*/ 32 h 676"/>
                <a:gd name="T62" fmla="*/ 590 w 668"/>
                <a:gd name="T63" fmla="*/ 20 h 676"/>
                <a:gd name="T64" fmla="*/ 531 w 668"/>
                <a:gd name="T65" fmla="*/ 8 h 676"/>
                <a:gd name="T66" fmla="*/ 412 w 668"/>
                <a:gd name="T67" fmla="*/ 1 h 676"/>
                <a:gd name="T68" fmla="*/ 331 w 668"/>
                <a:gd name="T69" fmla="*/ 0 h 676"/>
                <a:gd name="T70" fmla="*/ 237 w 668"/>
                <a:gd name="T71" fmla="*/ 1 h 676"/>
                <a:gd name="T72" fmla="*/ 131 w 668"/>
                <a:gd name="T73" fmla="*/ 8 h 676"/>
                <a:gd name="T74" fmla="*/ 86 w 668"/>
                <a:gd name="T75" fmla="*/ 16 h 676"/>
                <a:gd name="T76" fmla="*/ 76 w 668"/>
                <a:gd name="T77" fmla="*/ 20 h 676"/>
                <a:gd name="T78" fmla="*/ 531 w 668"/>
                <a:gd name="T79" fmla="*/ 347 h 676"/>
                <a:gd name="T80" fmla="*/ 536 w 668"/>
                <a:gd name="T81" fmla="*/ 552 h 676"/>
                <a:gd name="T82" fmla="*/ 339 w 668"/>
                <a:gd name="T83" fmla="*/ 547 h 676"/>
                <a:gd name="T84" fmla="*/ 143 w 668"/>
                <a:gd name="T85" fmla="*/ 542 h 676"/>
                <a:gd name="T86" fmla="*/ 138 w 668"/>
                <a:gd name="T87" fmla="*/ 360 h 676"/>
                <a:gd name="T88" fmla="*/ 137 w 668"/>
                <a:gd name="T89" fmla="*/ 285 h 676"/>
                <a:gd name="T90" fmla="*/ 139 w 668"/>
                <a:gd name="T91" fmla="*/ 174 h 676"/>
                <a:gd name="T92" fmla="*/ 141 w 668"/>
                <a:gd name="T93" fmla="*/ 155 h 676"/>
                <a:gd name="T94" fmla="*/ 145 w 668"/>
                <a:gd name="T95" fmla="*/ 149 h 676"/>
                <a:gd name="T96" fmla="*/ 167 w 668"/>
                <a:gd name="T97" fmla="*/ 140 h 676"/>
                <a:gd name="T98" fmla="*/ 241 w 668"/>
                <a:gd name="T99" fmla="*/ 135 h 676"/>
                <a:gd name="T100" fmla="*/ 338 w 668"/>
                <a:gd name="T101" fmla="*/ 137 h 676"/>
                <a:gd name="T102" fmla="*/ 526 w 668"/>
                <a:gd name="T103" fmla="*/ 142 h 676"/>
                <a:gd name="T104" fmla="*/ 531 w 668"/>
                <a:gd name="T105" fmla="*/ 34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68" h="676">
                  <a:moveTo>
                    <a:pt x="76" y="20"/>
                  </a:moveTo>
                  <a:lnTo>
                    <a:pt x="52" y="33"/>
                  </a:lnTo>
                  <a:lnTo>
                    <a:pt x="27" y="58"/>
                  </a:lnTo>
                  <a:lnTo>
                    <a:pt x="16" y="81"/>
                  </a:lnTo>
                  <a:lnTo>
                    <a:pt x="6" y="133"/>
                  </a:lnTo>
                  <a:lnTo>
                    <a:pt x="1" y="252"/>
                  </a:lnTo>
                  <a:lnTo>
                    <a:pt x="1" y="343"/>
                  </a:lnTo>
                  <a:lnTo>
                    <a:pt x="0" y="463"/>
                  </a:lnTo>
                  <a:lnTo>
                    <a:pt x="7" y="576"/>
                  </a:lnTo>
                  <a:lnTo>
                    <a:pt x="18" y="614"/>
                  </a:lnTo>
                  <a:lnTo>
                    <a:pt x="29" y="633"/>
                  </a:lnTo>
                  <a:lnTo>
                    <a:pt x="44" y="647"/>
                  </a:lnTo>
                  <a:lnTo>
                    <a:pt x="63" y="658"/>
                  </a:lnTo>
                  <a:lnTo>
                    <a:pt x="100" y="669"/>
                  </a:lnTo>
                  <a:lnTo>
                    <a:pt x="214" y="676"/>
                  </a:lnTo>
                  <a:lnTo>
                    <a:pt x="334" y="675"/>
                  </a:lnTo>
                  <a:lnTo>
                    <a:pt x="454" y="676"/>
                  </a:lnTo>
                  <a:lnTo>
                    <a:pt x="568" y="669"/>
                  </a:lnTo>
                  <a:lnTo>
                    <a:pt x="605" y="658"/>
                  </a:lnTo>
                  <a:lnTo>
                    <a:pt x="624" y="648"/>
                  </a:lnTo>
                  <a:lnTo>
                    <a:pt x="639" y="633"/>
                  </a:lnTo>
                  <a:lnTo>
                    <a:pt x="650" y="614"/>
                  </a:lnTo>
                  <a:lnTo>
                    <a:pt x="661" y="578"/>
                  </a:lnTo>
                  <a:lnTo>
                    <a:pt x="668" y="467"/>
                  </a:lnTo>
                  <a:lnTo>
                    <a:pt x="668" y="350"/>
                  </a:lnTo>
                  <a:lnTo>
                    <a:pt x="667" y="249"/>
                  </a:lnTo>
                  <a:lnTo>
                    <a:pt x="661" y="100"/>
                  </a:lnTo>
                  <a:lnTo>
                    <a:pt x="658" y="75"/>
                  </a:lnTo>
                  <a:lnTo>
                    <a:pt x="653" y="64"/>
                  </a:lnTo>
                  <a:lnTo>
                    <a:pt x="639" y="46"/>
                  </a:lnTo>
                  <a:lnTo>
                    <a:pt x="618" y="32"/>
                  </a:lnTo>
                  <a:lnTo>
                    <a:pt x="590" y="20"/>
                  </a:lnTo>
                  <a:lnTo>
                    <a:pt x="531" y="8"/>
                  </a:lnTo>
                  <a:lnTo>
                    <a:pt x="412" y="1"/>
                  </a:lnTo>
                  <a:lnTo>
                    <a:pt x="331" y="0"/>
                  </a:lnTo>
                  <a:lnTo>
                    <a:pt x="237" y="1"/>
                  </a:lnTo>
                  <a:lnTo>
                    <a:pt x="131" y="8"/>
                  </a:lnTo>
                  <a:lnTo>
                    <a:pt x="86" y="16"/>
                  </a:lnTo>
                  <a:lnTo>
                    <a:pt x="76" y="20"/>
                  </a:lnTo>
                  <a:close/>
                  <a:moveTo>
                    <a:pt x="531" y="347"/>
                  </a:moveTo>
                  <a:lnTo>
                    <a:pt x="536" y="552"/>
                  </a:lnTo>
                  <a:lnTo>
                    <a:pt x="339" y="547"/>
                  </a:lnTo>
                  <a:lnTo>
                    <a:pt x="143" y="542"/>
                  </a:lnTo>
                  <a:lnTo>
                    <a:pt x="138" y="360"/>
                  </a:lnTo>
                  <a:lnTo>
                    <a:pt x="137" y="285"/>
                  </a:lnTo>
                  <a:lnTo>
                    <a:pt x="139" y="174"/>
                  </a:lnTo>
                  <a:lnTo>
                    <a:pt x="141" y="155"/>
                  </a:lnTo>
                  <a:lnTo>
                    <a:pt x="145" y="149"/>
                  </a:lnTo>
                  <a:lnTo>
                    <a:pt x="167" y="140"/>
                  </a:lnTo>
                  <a:lnTo>
                    <a:pt x="241" y="135"/>
                  </a:lnTo>
                  <a:lnTo>
                    <a:pt x="338" y="137"/>
                  </a:lnTo>
                  <a:lnTo>
                    <a:pt x="526" y="142"/>
                  </a:lnTo>
                  <a:lnTo>
                    <a:pt x="531" y="3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82">
              <a:extLst>
                <a:ext uri="{FF2B5EF4-FFF2-40B4-BE49-F238E27FC236}">
                  <a16:creationId xmlns:a16="http://schemas.microsoft.com/office/drawing/2014/main" id="{6ECC2E67-F775-27AC-9F4E-A2D850F79058}"/>
                </a:ext>
              </a:extLst>
            </p:cNvPr>
            <p:cNvSpPr>
              <a:spLocks/>
            </p:cNvSpPr>
            <p:nvPr/>
          </p:nvSpPr>
          <p:spPr bwMode="auto">
            <a:xfrm>
              <a:off x="750888" y="3440113"/>
              <a:ext cx="160338" cy="125413"/>
            </a:xfrm>
            <a:custGeom>
              <a:avLst/>
              <a:gdLst>
                <a:gd name="T0" fmla="*/ 205 w 362"/>
                <a:gd name="T1" fmla="*/ 62 h 281"/>
                <a:gd name="T2" fmla="*/ 187 w 362"/>
                <a:gd name="T3" fmla="*/ 83 h 281"/>
                <a:gd name="T4" fmla="*/ 164 w 362"/>
                <a:gd name="T5" fmla="*/ 107 h 281"/>
                <a:gd name="T6" fmla="*/ 147 w 362"/>
                <a:gd name="T7" fmla="*/ 113 h 281"/>
                <a:gd name="T8" fmla="*/ 131 w 362"/>
                <a:gd name="T9" fmla="*/ 104 h 281"/>
                <a:gd name="T10" fmla="*/ 120 w 362"/>
                <a:gd name="T11" fmla="*/ 94 h 281"/>
                <a:gd name="T12" fmla="*/ 104 w 362"/>
                <a:gd name="T13" fmla="*/ 81 h 281"/>
                <a:gd name="T14" fmla="*/ 73 w 362"/>
                <a:gd name="T15" fmla="*/ 68 h 281"/>
                <a:gd name="T16" fmla="*/ 46 w 362"/>
                <a:gd name="T17" fmla="*/ 68 h 281"/>
                <a:gd name="T18" fmla="*/ 23 w 362"/>
                <a:gd name="T19" fmla="*/ 84 h 281"/>
                <a:gd name="T20" fmla="*/ 15 w 362"/>
                <a:gd name="T21" fmla="*/ 97 h 281"/>
                <a:gd name="T22" fmla="*/ 7 w 362"/>
                <a:gd name="T23" fmla="*/ 113 h 281"/>
                <a:gd name="T24" fmla="*/ 0 w 362"/>
                <a:gd name="T25" fmla="*/ 135 h 281"/>
                <a:gd name="T26" fmla="*/ 8 w 362"/>
                <a:gd name="T27" fmla="*/ 157 h 281"/>
                <a:gd name="T28" fmla="*/ 35 w 362"/>
                <a:gd name="T29" fmla="*/ 190 h 281"/>
                <a:gd name="T30" fmla="*/ 58 w 362"/>
                <a:gd name="T31" fmla="*/ 216 h 281"/>
                <a:gd name="T32" fmla="*/ 74 w 362"/>
                <a:gd name="T33" fmla="*/ 233 h 281"/>
                <a:gd name="T34" fmla="*/ 101 w 362"/>
                <a:gd name="T35" fmla="*/ 259 h 281"/>
                <a:gd name="T36" fmla="*/ 127 w 362"/>
                <a:gd name="T37" fmla="*/ 275 h 281"/>
                <a:gd name="T38" fmla="*/ 151 w 362"/>
                <a:gd name="T39" fmla="*/ 281 h 281"/>
                <a:gd name="T40" fmla="*/ 175 w 362"/>
                <a:gd name="T41" fmla="*/ 277 h 281"/>
                <a:gd name="T42" fmla="*/ 201 w 362"/>
                <a:gd name="T43" fmla="*/ 263 h 281"/>
                <a:gd name="T44" fmla="*/ 245 w 362"/>
                <a:gd name="T45" fmla="*/ 223 h 281"/>
                <a:gd name="T46" fmla="*/ 281 w 362"/>
                <a:gd name="T47" fmla="*/ 181 h 281"/>
                <a:gd name="T48" fmla="*/ 311 w 362"/>
                <a:gd name="T49" fmla="*/ 144 h 281"/>
                <a:gd name="T50" fmla="*/ 349 w 362"/>
                <a:gd name="T51" fmla="*/ 91 h 281"/>
                <a:gd name="T52" fmla="*/ 361 w 362"/>
                <a:gd name="T53" fmla="*/ 65 h 281"/>
                <a:gd name="T54" fmla="*/ 362 w 362"/>
                <a:gd name="T55" fmla="*/ 50 h 281"/>
                <a:gd name="T56" fmla="*/ 356 w 362"/>
                <a:gd name="T57" fmla="*/ 31 h 281"/>
                <a:gd name="T58" fmla="*/ 345 w 362"/>
                <a:gd name="T59" fmla="*/ 19 h 281"/>
                <a:gd name="T60" fmla="*/ 338 w 362"/>
                <a:gd name="T61" fmla="*/ 13 h 281"/>
                <a:gd name="T62" fmla="*/ 323 w 362"/>
                <a:gd name="T63" fmla="*/ 4 h 281"/>
                <a:gd name="T64" fmla="*/ 307 w 362"/>
                <a:gd name="T65" fmla="*/ 0 h 281"/>
                <a:gd name="T66" fmla="*/ 290 w 362"/>
                <a:gd name="T67" fmla="*/ 1 h 281"/>
                <a:gd name="T68" fmla="*/ 263 w 362"/>
                <a:gd name="T69" fmla="*/ 10 h 281"/>
                <a:gd name="T70" fmla="*/ 225 w 362"/>
                <a:gd name="T71" fmla="*/ 40 h 281"/>
                <a:gd name="T72" fmla="*/ 205 w 362"/>
                <a:gd name="T73" fmla="*/ 6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2" h="281">
                  <a:moveTo>
                    <a:pt x="205" y="62"/>
                  </a:moveTo>
                  <a:lnTo>
                    <a:pt x="187" y="83"/>
                  </a:lnTo>
                  <a:lnTo>
                    <a:pt x="164" y="107"/>
                  </a:lnTo>
                  <a:lnTo>
                    <a:pt x="147" y="113"/>
                  </a:lnTo>
                  <a:lnTo>
                    <a:pt x="131" y="104"/>
                  </a:lnTo>
                  <a:lnTo>
                    <a:pt x="120" y="94"/>
                  </a:lnTo>
                  <a:lnTo>
                    <a:pt x="104" y="81"/>
                  </a:lnTo>
                  <a:lnTo>
                    <a:pt x="73" y="68"/>
                  </a:lnTo>
                  <a:lnTo>
                    <a:pt x="46" y="68"/>
                  </a:lnTo>
                  <a:lnTo>
                    <a:pt x="23" y="84"/>
                  </a:lnTo>
                  <a:lnTo>
                    <a:pt x="15" y="97"/>
                  </a:lnTo>
                  <a:lnTo>
                    <a:pt x="7" y="113"/>
                  </a:lnTo>
                  <a:lnTo>
                    <a:pt x="0" y="135"/>
                  </a:lnTo>
                  <a:lnTo>
                    <a:pt x="8" y="157"/>
                  </a:lnTo>
                  <a:lnTo>
                    <a:pt x="35" y="190"/>
                  </a:lnTo>
                  <a:lnTo>
                    <a:pt x="58" y="216"/>
                  </a:lnTo>
                  <a:lnTo>
                    <a:pt x="74" y="233"/>
                  </a:lnTo>
                  <a:lnTo>
                    <a:pt x="101" y="259"/>
                  </a:lnTo>
                  <a:lnTo>
                    <a:pt x="127" y="275"/>
                  </a:lnTo>
                  <a:lnTo>
                    <a:pt x="151" y="281"/>
                  </a:lnTo>
                  <a:lnTo>
                    <a:pt x="175" y="277"/>
                  </a:lnTo>
                  <a:lnTo>
                    <a:pt x="201" y="263"/>
                  </a:lnTo>
                  <a:lnTo>
                    <a:pt x="245" y="223"/>
                  </a:lnTo>
                  <a:lnTo>
                    <a:pt x="281" y="181"/>
                  </a:lnTo>
                  <a:lnTo>
                    <a:pt x="311" y="144"/>
                  </a:lnTo>
                  <a:lnTo>
                    <a:pt x="349" y="91"/>
                  </a:lnTo>
                  <a:lnTo>
                    <a:pt x="361" y="65"/>
                  </a:lnTo>
                  <a:lnTo>
                    <a:pt x="362" y="50"/>
                  </a:lnTo>
                  <a:lnTo>
                    <a:pt x="356" y="31"/>
                  </a:lnTo>
                  <a:lnTo>
                    <a:pt x="345" y="19"/>
                  </a:lnTo>
                  <a:lnTo>
                    <a:pt x="338" y="13"/>
                  </a:lnTo>
                  <a:lnTo>
                    <a:pt x="323" y="4"/>
                  </a:lnTo>
                  <a:lnTo>
                    <a:pt x="307" y="0"/>
                  </a:lnTo>
                  <a:lnTo>
                    <a:pt x="290" y="1"/>
                  </a:lnTo>
                  <a:lnTo>
                    <a:pt x="263" y="10"/>
                  </a:lnTo>
                  <a:lnTo>
                    <a:pt x="225" y="40"/>
                  </a:lnTo>
                  <a:lnTo>
                    <a:pt x="20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83">
              <a:extLst>
                <a:ext uri="{FF2B5EF4-FFF2-40B4-BE49-F238E27FC236}">
                  <a16:creationId xmlns:a16="http://schemas.microsoft.com/office/drawing/2014/main" id="{40535487-9527-1927-58EC-62C05F918105}"/>
                </a:ext>
              </a:extLst>
            </p:cNvPr>
            <p:cNvSpPr>
              <a:spLocks/>
            </p:cNvSpPr>
            <p:nvPr/>
          </p:nvSpPr>
          <p:spPr bwMode="auto">
            <a:xfrm>
              <a:off x="1068388" y="3403601"/>
              <a:ext cx="476250" cy="58738"/>
            </a:xfrm>
            <a:custGeom>
              <a:avLst/>
              <a:gdLst>
                <a:gd name="T0" fmla="*/ 20 w 1077"/>
                <a:gd name="T1" fmla="*/ 31 h 133"/>
                <a:gd name="T2" fmla="*/ 12 w 1077"/>
                <a:gd name="T3" fmla="*/ 40 h 133"/>
                <a:gd name="T4" fmla="*/ 3 w 1077"/>
                <a:gd name="T5" fmla="*/ 56 h 133"/>
                <a:gd name="T6" fmla="*/ 0 w 1077"/>
                <a:gd name="T7" fmla="*/ 72 h 133"/>
                <a:gd name="T8" fmla="*/ 5 w 1077"/>
                <a:gd name="T9" fmla="*/ 88 h 133"/>
                <a:gd name="T10" fmla="*/ 10 w 1077"/>
                <a:gd name="T11" fmla="*/ 98 h 133"/>
                <a:gd name="T12" fmla="*/ 13 w 1077"/>
                <a:gd name="T13" fmla="*/ 104 h 133"/>
                <a:gd name="T14" fmla="*/ 22 w 1077"/>
                <a:gd name="T15" fmla="*/ 114 h 133"/>
                <a:gd name="T16" fmla="*/ 39 w 1077"/>
                <a:gd name="T17" fmla="*/ 122 h 133"/>
                <a:gd name="T18" fmla="*/ 69 w 1077"/>
                <a:gd name="T19" fmla="*/ 127 h 133"/>
                <a:gd name="T20" fmla="*/ 222 w 1077"/>
                <a:gd name="T21" fmla="*/ 133 h 133"/>
                <a:gd name="T22" fmla="*/ 532 w 1077"/>
                <a:gd name="T23" fmla="*/ 133 h 133"/>
                <a:gd name="T24" fmla="*/ 708 w 1077"/>
                <a:gd name="T25" fmla="*/ 133 h 133"/>
                <a:gd name="T26" fmla="*/ 933 w 1077"/>
                <a:gd name="T27" fmla="*/ 129 h 133"/>
                <a:gd name="T28" fmla="*/ 1021 w 1077"/>
                <a:gd name="T29" fmla="*/ 121 h 133"/>
                <a:gd name="T30" fmla="*/ 1054 w 1077"/>
                <a:gd name="T31" fmla="*/ 112 h 133"/>
                <a:gd name="T32" fmla="*/ 1071 w 1077"/>
                <a:gd name="T33" fmla="*/ 100 h 133"/>
                <a:gd name="T34" fmla="*/ 1077 w 1077"/>
                <a:gd name="T35" fmla="*/ 83 h 133"/>
                <a:gd name="T36" fmla="*/ 1077 w 1077"/>
                <a:gd name="T37" fmla="*/ 73 h 133"/>
                <a:gd name="T38" fmla="*/ 1076 w 1077"/>
                <a:gd name="T39" fmla="*/ 63 h 133"/>
                <a:gd name="T40" fmla="*/ 1061 w 1077"/>
                <a:gd name="T41" fmla="*/ 37 h 133"/>
                <a:gd name="T42" fmla="*/ 1050 w 1077"/>
                <a:gd name="T43" fmla="*/ 26 h 133"/>
                <a:gd name="T44" fmla="*/ 1046 w 1077"/>
                <a:gd name="T45" fmla="*/ 22 h 133"/>
                <a:gd name="T46" fmla="*/ 1031 w 1077"/>
                <a:gd name="T47" fmla="*/ 15 h 133"/>
                <a:gd name="T48" fmla="*/ 992 w 1077"/>
                <a:gd name="T49" fmla="*/ 7 h 133"/>
                <a:gd name="T50" fmla="*/ 809 w 1077"/>
                <a:gd name="T51" fmla="*/ 0 h 133"/>
                <a:gd name="T52" fmla="*/ 537 w 1077"/>
                <a:gd name="T53" fmla="*/ 0 h 133"/>
                <a:gd name="T54" fmla="*/ 246 w 1077"/>
                <a:gd name="T55" fmla="*/ 0 h 133"/>
                <a:gd name="T56" fmla="*/ 72 w 1077"/>
                <a:gd name="T57" fmla="*/ 8 h 133"/>
                <a:gd name="T58" fmla="*/ 38 w 1077"/>
                <a:gd name="T59" fmla="*/ 17 h 133"/>
                <a:gd name="T60" fmla="*/ 25 w 1077"/>
                <a:gd name="T61" fmla="*/ 26 h 133"/>
                <a:gd name="T62" fmla="*/ 20 w 1077"/>
                <a:gd name="T63" fmla="*/ 3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7" h="133">
                  <a:moveTo>
                    <a:pt x="20" y="31"/>
                  </a:moveTo>
                  <a:lnTo>
                    <a:pt x="12" y="40"/>
                  </a:lnTo>
                  <a:lnTo>
                    <a:pt x="3" y="56"/>
                  </a:lnTo>
                  <a:lnTo>
                    <a:pt x="0" y="72"/>
                  </a:lnTo>
                  <a:lnTo>
                    <a:pt x="5" y="88"/>
                  </a:lnTo>
                  <a:lnTo>
                    <a:pt x="10" y="98"/>
                  </a:lnTo>
                  <a:lnTo>
                    <a:pt x="13" y="104"/>
                  </a:lnTo>
                  <a:lnTo>
                    <a:pt x="22" y="114"/>
                  </a:lnTo>
                  <a:lnTo>
                    <a:pt x="39" y="122"/>
                  </a:lnTo>
                  <a:lnTo>
                    <a:pt x="69" y="127"/>
                  </a:lnTo>
                  <a:lnTo>
                    <a:pt x="222" y="133"/>
                  </a:lnTo>
                  <a:lnTo>
                    <a:pt x="532" y="133"/>
                  </a:lnTo>
                  <a:lnTo>
                    <a:pt x="708" y="133"/>
                  </a:lnTo>
                  <a:lnTo>
                    <a:pt x="933" y="129"/>
                  </a:lnTo>
                  <a:lnTo>
                    <a:pt x="1021" y="121"/>
                  </a:lnTo>
                  <a:lnTo>
                    <a:pt x="1054" y="112"/>
                  </a:lnTo>
                  <a:lnTo>
                    <a:pt x="1071" y="100"/>
                  </a:lnTo>
                  <a:lnTo>
                    <a:pt x="1077" y="83"/>
                  </a:lnTo>
                  <a:lnTo>
                    <a:pt x="1077" y="73"/>
                  </a:lnTo>
                  <a:lnTo>
                    <a:pt x="1076" y="63"/>
                  </a:lnTo>
                  <a:lnTo>
                    <a:pt x="1061" y="37"/>
                  </a:lnTo>
                  <a:lnTo>
                    <a:pt x="1050" y="26"/>
                  </a:lnTo>
                  <a:lnTo>
                    <a:pt x="1046" y="22"/>
                  </a:lnTo>
                  <a:lnTo>
                    <a:pt x="1031" y="15"/>
                  </a:lnTo>
                  <a:lnTo>
                    <a:pt x="992" y="7"/>
                  </a:lnTo>
                  <a:lnTo>
                    <a:pt x="809" y="0"/>
                  </a:lnTo>
                  <a:lnTo>
                    <a:pt x="537" y="0"/>
                  </a:lnTo>
                  <a:lnTo>
                    <a:pt x="246" y="0"/>
                  </a:lnTo>
                  <a:lnTo>
                    <a:pt x="72" y="8"/>
                  </a:lnTo>
                  <a:lnTo>
                    <a:pt x="38" y="17"/>
                  </a:lnTo>
                  <a:lnTo>
                    <a:pt x="25" y="26"/>
                  </a:lnTo>
                  <a:lnTo>
                    <a:pt x="2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84">
              <a:extLst>
                <a:ext uri="{FF2B5EF4-FFF2-40B4-BE49-F238E27FC236}">
                  <a16:creationId xmlns:a16="http://schemas.microsoft.com/office/drawing/2014/main" id="{D4FBFA77-73D7-EF6F-D79B-8E8F4919E8F0}"/>
                </a:ext>
              </a:extLst>
            </p:cNvPr>
            <p:cNvSpPr>
              <a:spLocks/>
            </p:cNvSpPr>
            <p:nvPr/>
          </p:nvSpPr>
          <p:spPr bwMode="auto">
            <a:xfrm>
              <a:off x="1066800" y="3543301"/>
              <a:ext cx="477838" cy="58738"/>
            </a:xfrm>
            <a:custGeom>
              <a:avLst/>
              <a:gdLst>
                <a:gd name="T0" fmla="*/ 15 w 1082"/>
                <a:gd name="T1" fmla="*/ 32 h 134"/>
                <a:gd name="T2" fmla="*/ 8 w 1082"/>
                <a:gd name="T3" fmla="*/ 46 h 134"/>
                <a:gd name="T4" fmla="*/ 0 w 1082"/>
                <a:gd name="T5" fmla="*/ 66 h 134"/>
                <a:gd name="T6" fmla="*/ 2 w 1082"/>
                <a:gd name="T7" fmla="*/ 81 h 134"/>
                <a:gd name="T8" fmla="*/ 14 w 1082"/>
                <a:gd name="T9" fmla="*/ 97 h 134"/>
                <a:gd name="T10" fmla="*/ 25 w 1082"/>
                <a:gd name="T11" fmla="*/ 107 h 134"/>
                <a:gd name="T12" fmla="*/ 30 w 1082"/>
                <a:gd name="T13" fmla="*/ 111 h 134"/>
                <a:gd name="T14" fmla="*/ 44 w 1082"/>
                <a:gd name="T15" fmla="*/ 118 h 134"/>
                <a:gd name="T16" fmla="*/ 84 w 1082"/>
                <a:gd name="T17" fmla="*/ 126 h 134"/>
                <a:gd name="T18" fmla="*/ 267 w 1082"/>
                <a:gd name="T19" fmla="*/ 133 h 134"/>
                <a:gd name="T20" fmla="*/ 540 w 1082"/>
                <a:gd name="T21" fmla="*/ 134 h 134"/>
                <a:gd name="T22" fmla="*/ 814 w 1082"/>
                <a:gd name="T23" fmla="*/ 133 h 134"/>
                <a:gd name="T24" fmla="*/ 997 w 1082"/>
                <a:gd name="T25" fmla="*/ 126 h 134"/>
                <a:gd name="T26" fmla="*/ 1036 w 1082"/>
                <a:gd name="T27" fmla="*/ 118 h 134"/>
                <a:gd name="T28" fmla="*/ 1051 w 1082"/>
                <a:gd name="T29" fmla="*/ 111 h 134"/>
                <a:gd name="T30" fmla="*/ 1055 w 1082"/>
                <a:gd name="T31" fmla="*/ 107 h 134"/>
                <a:gd name="T32" fmla="*/ 1066 w 1082"/>
                <a:gd name="T33" fmla="*/ 96 h 134"/>
                <a:gd name="T34" fmla="*/ 1081 w 1082"/>
                <a:gd name="T35" fmla="*/ 70 h 134"/>
                <a:gd name="T36" fmla="*/ 1082 w 1082"/>
                <a:gd name="T37" fmla="*/ 60 h 134"/>
                <a:gd name="T38" fmla="*/ 1082 w 1082"/>
                <a:gd name="T39" fmla="*/ 50 h 134"/>
                <a:gd name="T40" fmla="*/ 1076 w 1082"/>
                <a:gd name="T41" fmla="*/ 34 h 134"/>
                <a:gd name="T42" fmla="*/ 1059 w 1082"/>
                <a:gd name="T43" fmla="*/ 21 h 134"/>
                <a:gd name="T44" fmla="*/ 1026 w 1082"/>
                <a:gd name="T45" fmla="*/ 12 h 134"/>
                <a:gd name="T46" fmla="*/ 938 w 1082"/>
                <a:gd name="T47" fmla="*/ 4 h 134"/>
                <a:gd name="T48" fmla="*/ 713 w 1082"/>
                <a:gd name="T49" fmla="*/ 0 h 134"/>
                <a:gd name="T50" fmla="*/ 537 w 1082"/>
                <a:gd name="T51" fmla="*/ 0 h 134"/>
                <a:gd name="T52" fmla="*/ 233 w 1082"/>
                <a:gd name="T53" fmla="*/ 1 h 134"/>
                <a:gd name="T54" fmla="*/ 58 w 1082"/>
                <a:gd name="T55" fmla="*/ 9 h 134"/>
                <a:gd name="T56" fmla="*/ 28 w 1082"/>
                <a:gd name="T57" fmla="*/ 18 h 134"/>
                <a:gd name="T58" fmla="*/ 19 w 1082"/>
                <a:gd name="T59" fmla="*/ 27 h 134"/>
                <a:gd name="T60" fmla="*/ 15 w 1082"/>
                <a:gd name="T61" fmla="*/ 3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82" h="134">
                  <a:moveTo>
                    <a:pt x="15" y="32"/>
                  </a:moveTo>
                  <a:lnTo>
                    <a:pt x="8" y="46"/>
                  </a:lnTo>
                  <a:lnTo>
                    <a:pt x="0" y="66"/>
                  </a:lnTo>
                  <a:lnTo>
                    <a:pt x="2" y="81"/>
                  </a:lnTo>
                  <a:lnTo>
                    <a:pt x="14" y="97"/>
                  </a:lnTo>
                  <a:lnTo>
                    <a:pt x="25" y="107"/>
                  </a:lnTo>
                  <a:lnTo>
                    <a:pt x="30" y="111"/>
                  </a:lnTo>
                  <a:lnTo>
                    <a:pt x="44" y="118"/>
                  </a:lnTo>
                  <a:lnTo>
                    <a:pt x="84" y="126"/>
                  </a:lnTo>
                  <a:lnTo>
                    <a:pt x="267" y="133"/>
                  </a:lnTo>
                  <a:lnTo>
                    <a:pt x="540" y="134"/>
                  </a:lnTo>
                  <a:lnTo>
                    <a:pt x="814" y="133"/>
                  </a:lnTo>
                  <a:lnTo>
                    <a:pt x="997" y="126"/>
                  </a:lnTo>
                  <a:lnTo>
                    <a:pt x="1036" y="118"/>
                  </a:lnTo>
                  <a:lnTo>
                    <a:pt x="1051" y="111"/>
                  </a:lnTo>
                  <a:lnTo>
                    <a:pt x="1055" y="107"/>
                  </a:lnTo>
                  <a:lnTo>
                    <a:pt x="1066" y="96"/>
                  </a:lnTo>
                  <a:lnTo>
                    <a:pt x="1081" y="70"/>
                  </a:lnTo>
                  <a:lnTo>
                    <a:pt x="1082" y="60"/>
                  </a:lnTo>
                  <a:lnTo>
                    <a:pt x="1082" y="50"/>
                  </a:lnTo>
                  <a:lnTo>
                    <a:pt x="1076" y="34"/>
                  </a:lnTo>
                  <a:lnTo>
                    <a:pt x="1059" y="21"/>
                  </a:lnTo>
                  <a:lnTo>
                    <a:pt x="1026" y="12"/>
                  </a:lnTo>
                  <a:lnTo>
                    <a:pt x="938" y="4"/>
                  </a:lnTo>
                  <a:lnTo>
                    <a:pt x="713" y="0"/>
                  </a:lnTo>
                  <a:lnTo>
                    <a:pt x="537" y="0"/>
                  </a:lnTo>
                  <a:lnTo>
                    <a:pt x="233" y="1"/>
                  </a:lnTo>
                  <a:lnTo>
                    <a:pt x="58" y="9"/>
                  </a:lnTo>
                  <a:lnTo>
                    <a:pt x="28" y="18"/>
                  </a:lnTo>
                  <a:lnTo>
                    <a:pt x="19" y="27"/>
                  </a:lnTo>
                  <a:lnTo>
                    <a:pt x="15"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85">
              <a:extLst>
                <a:ext uri="{FF2B5EF4-FFF2-40B4-BE49-F238E27FC236}">
                  <a16:creationId xmlns:a16="http://schemas.microsoft.com/office/drawing/2014/main" id="{3B73D89E-6731-9F8D-0887-57FA86A4E29C}"/>
                </a:ext>
              </a:extLst>
            </p:cNvPr>
            <p:cNvSpPr>
              <a:spLocks/>
            </p:cNvSpPr>
            <p:nvPr/>
          </p:nvSpPr>
          <p:spPr bwMode="auto">
            <a:xfrm>
              <a:off x="752475" y="3808413"/>
              <a:ext cx="157163" cy="131763"/>
            </a:xfrm>
            <a:custGeom>
              <a:avLst/>
              <a:gdLst>
                <a:gd name="T0" fmla="*/ 215 w 358"/>
                <a:gd name="T1" fmla="*/ 62 h 296"/>
                <a:gd name="T2" fmla="*/ 196 w 358"/>
                <a:gd name="T3" fmla="*/ 85 h 296"/>
                <a:gd name="T4" fmla="*/ 169 w 358"/>
                <a:gd name="T5" fmla="*/ 111 h 296"/>
                <a:gd name="T6" fmla="*/ 150 w 358"/>
                <a:gd name="T7" fmla="*/ 118 h 296"/>
                <a:gd name="T8" fmla="*/ 127 w 358"/>
                <a:gd name="T9" fmla="*/ 109 h 296"/>
                <a:gd name="T10" fmla="*/ 110 w 358"/>
                <a:gd name="T11" fmla="*/ 99 h 296"/>
                <a:gd name="T12" fmla="*/ 85 w 358"/>
                <a:gd name="T13" fmla="*/ 86 h 296"/>
                <a:gd name="T14" fmla="*/ 57 w 358"/>
                <a:gd name="T15" fmla="*/ 82 h 296"/>
                <a:gd name="T16" fmla="*/ 41 w 358"/>
                <a:gd name="T17" fmla="*/ 86 h 296"/>
                <a:gd name="T18" fmla="*/ 33 w 358"/>
                <a:gd name="T19" fmla="*/ 91 h 296"/>
                <a:gd name="T20" fmla="*/ 16 w 358"/>
                <a:gd name="T21" fmla="*/ 102 h 296"/>
                <a:gd name="T22" fmla="*/ 3 w 358"/>
                <a:gd name="T23" fmla="*/ 122 h 296"/>
                <a:gd name="T24" fmla="*/ 0 w 358"/>
                <a:gd name="T25" fmla="*/ 136 h 296"/>
                <a:gd name="T26" fmla="*/ 5 w 358"/>
                <a:gd name="T27" fmla="*/ 161 h 296"/>
                <a:gd name="T28" fmla="*/ 32 w 358"/>
                <a:gd name="T29" fmla="*/ 203 h 296"/>
                <a:gd name="T30" fmla="*/ 55 w 358"/>
                <a:gd name="T31" fmla="*/ 229 h 296"/>
                <a:gd name="T32" fmla="*/ 85 w 358"/>
                <a:gd name="T33" fmla="*/ 262 h 296"/>
                <a:gd name="T34" fmla="*/ 124 w 358"/>
                <a:gd name="T35" fmla="*/ 289 h 296"/>
                <a:gd name="T36" fmla="*/ 147 w 358"/>
                <a:gd name="T37" fmla="*/ 296 h 296"/>
                <a:gd name="T38" fmla="*/ 171 w 358"/>
                <a:gd name="T39" fmla="*/ 293 h 296"/>
                <a:gd name="T40" fmla="*/ 196 w 358"/>
                <a:gd name="T41" fmla="*/ 280 h 296"/>
                <a:gd name="T42" fmla="*/ 237 w 358"/>
                <a:gd name="T43" fmla="*/ 243 h 296"/>
                <a:gd name="T44" fmla="*/ 272 w 358"/>
                <a:gd name="T45" fmla="*/ 202 h 296"/>
                <a:gd name="T46" fmla="*/ 305 w 358"/>
                <a:gd name="T47" fmla="*/ 161 h 296"/>
                <a:gd name="T48" fmla="*/ 346 w 358"/>
                <a:gd name="T49" fmla="*/ 105 h 296"/>
                <a:gd name="T50" fmla="*/ 357 w 358"/>
                <a:gd name="T51" fmla="*/ 78 h 296"/>
                <a:gd name="T52" fmla="*/ 358 w 358"/>
                <a:gd name="T53" fmla="*/ 64 h 296"/>
                <a:gd name="T54" fmla="*/ 349 w 358"/>
                <a:gd name="T55" fmla="*/ 45 h 296"/>
                <a:gd name="T56" fmla="*/ 337 w 358"/>
                <a:gd name="T57" fmla="*/ 31 h 296"/>
                <a:gd name="T58" fmla="*/ 322 w 358"/>
                <a:gd name="T59" fmla="*/ 15 h 296"/>
                <a:gd name="T60" fmla="*/ 303 w 358"/>
                <a:gd name="T61" fmla="*/ 2 h 296"/>
                <a:gd name="T62" fmla="*/ 291 w 358"/>
                <a:gd name="T63" fmla="*/ 0 h 296"/>
                <a:gd name="T64" fmla="*/ 272 w 358"/>
                <a:gd name="T65" fmla="*/ 7 h 296"/>
                <a:gd name="T66" fmla="*/ 238 w 358"/>
                <a:gd name="T67" fmla="*/ 37 h 296"/>
                <a:gd name="T68" fmla="*/ 215 w 358"/>
                <a:gd name="T69" fmla="*/ 6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8" h="296">
                  <a:moveTo>
                    <a:pt x="215" y="62"/>
                  </a:moveTo>
                  <a:lnTo>
                    <a:pt x="196" y="85"/>
                  </a:lnTo>
                  <a:lnTo>
                    <a:pt x="169" y="111"/>
                  </a:lnTo>
                  <a:lnTo>
                    <a:pt x="150" y="118"/>
                  </a:lnTo>
                  <a:lnTo>
                    <a:pt x="127" y="109"/>
                  </a:lnTo>
                  <a:lnTo>
                    <a:pt x="110" y="99"/>
                  </a:lnTo>
                  <a:lnTo>
                    <a:pt x="85" y="86"/>
                  </a:lnTo>
                  <a:lnTo>
                    <a:pt x="57" y="82"/>
                  </a:lnTo>
                  <a:lnTo>
                    <a:pt x="41" y="86"/>
                  </a:lnTo>
                  <a:lnTo>
                    <a:pt x="33" y="91"/>
                  </a:lnTo>
                  <a:lnTo>
                    <a:pt x="16" y="102"/>
                  </a:lnTo>
                  <a:lnTo>
                    <a:pt x="3" y="122"/>
                  </a:lnTo>
                  <a:lnTo>
                    <a:pt x="0" y="136"/>
                  </a:lnTo>
                  <a:lnTo>
                    <a:pt x="5" y="161"/>
                  </a:lnTo>
                  <a:lnTo>
                    <a:pt x="32" y="203"/>
                  </a:lnTo>
                  <a:lnTo>
                    <a:pt x="55" y="229"/>
                  </a:lnTo>
                  <a:lnTo>
                    <a:pt x="85" y="262"/>
                  </a:lnTo>
                  <a:lnTo>
                    <a:pt x="124" y="289"/>
                  </a:lnTo>
                  <a:lnTo>
                    <a:pt x="147" y="296"/>
                  </a:lnTo>
                  <a:lnTo>
                    <a:pt x="171" y="293"/>
                  </a:lnTo>
                  <a:lnTo>
                    <a:pt x="196" y="280"/>
                  </a:lnTo>
                  <a:lnTo>
                    <a:pt x="237" y="243"/>
                  </a:lnTo>
                  <a:lnTo>
                    <a:pt x="272" y="202"/>
                  </a:lnTo>
                  <a:lnTo>
                    <a:pt x="305" y="161"/>
                  </a:lnTo>
                  <a:lnTo>
                    <a:pt x="346" y="105"/>
                  </a:lnTo>
                  <a:lnTo>
                    <a:pt x="357" y="78"/>
                  </a:lnTo>
                  <a:lnTo>
                    <a:pt x="358" y="64"/>
                  </a:lnTo>
                  <a:lnTo>
                    <a:pt x="349" y="45"/>
                  </a:lnTo>
                  <a:lnTo>
                    <a:pt x="337" y="31"/>
                  </a:lnTo>
                  <a:lnTo>
                    <a:pt x="322" y="15"/>
                  </a:lnTo>
                  <a:lnTo>
                    <a:pt x="303" y="2"/>
                  </a:lnTo>
                  <a:lnTo>
                    <a:pt x="291" y="0"/>
                  </a:lnTo>
                  <a:lnTo>
                    <a:pt x="272" y="7"/>
                  </a:lnTo>
                  <a:lnTo>
                    <a:pt x="238" y="37"/>
                  </a:lnTo>
                  <a:lnTo>
                    <a:pt x="2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86">
              <a:extLst>
                <a:ext uri="{FF2B5EF4-FFF2-40B4-BE49-F238E27FC236}">
                  <a16:creationId xmlns:a16="http://schemas.microsoft.com/office/drawing/2014/main" id="{63A59B77-D527-6382-6F6D-CB7117B8753C}"/>
                </a:ext>
              </a:extLst>
            </p:cNvPr>
            <p:cNvSpPr>
              <a:spLocks/>
            </p:cNvSpPr>
            <p:nvPr/>
          </p:nvSpPr>
          <p:spPr bwMode="auto">
            <a:xfrm>
              <a:off x="374650" y="3902076"/>
              <a:ext cx="47625" cy="52388"/>
            </a:xfrm>
            <a:custGeom>
              <a:avLst/>
              <a:gdLst>
                <a:gd name="T0" fmla="*/ 13 w 108"/>
                <a:gd name="T1" fmla="*/ 13 h 116"/>
                <a:gd name="T2" fmla="*/ 6 w 108"/>
                <a:gd name="T3" fmla="*/ 22 h 116"/>
                <a:gd name="T4" fmla="*/ 0 w 108"/>
                <a:gd name="T5" fmla="*/ 49 h 116"/>
                <a:gd name="T6" fmla="*/ 5 w 108"/>
                <a:gd name="T7" fmla="*/ 79 h 116"/>
                <a:gd name="T8" fmla="*/ 18 w 108"/>
                <a:gd name="T9" fmla="*/ 102 h 116"/>
                <a:gd name="T10" fmla="*/ 28 w 108"/>
                <a:gd name="T11" fmla="*/ 108 h 116"/>
                <a:gd name="T12" fmla="*/ 40 w 108"/>
                <a:gd name="T13" fmla="*/ 112 h 116"/>
                <a:gd name="T14" fmla="*/ 55 w 108"/>
                <a:gd name="T15" fmla="*/ 116 h 116"/>
                <a:gd name="T16" fmla="*/ 72 w 108"/>
                <a:gd name="T17" fmla="*/ 110 h 116"/>
                <a:gd name="T18" fmla="*/ 91 w 108"/>
                <a:gd name="T19" fmla="*/ 91 h 116"/>
                <a:gd name="T20" fmla="*/ 98 w 108"/>
                <a:gd name="T21" fmla="*/ 84 h 116"/>
                <a:gd name="T22" fmla="*/ 106 w 108"/>
                <a:gd name="T23" fmla="*/ 70 h 116"/>
                <a:gd name="T24" fmla="*/ 108 w 108"/>
                <a:gd name="T25" fmla="*/ 57 h 116"/>
                <a:gd name="T26" fmla="*/ 105 w 108"/>
                <a:gd name="T27" fmla="*/ 42 h 116"/>
                <a:gd name="T28" fmla="*/ 101 w 108"/>
                <a:gd name="T29" fmla="*/ 33 h 116"/>
                <a:gd name="T30" fmla="*/ 94 w 108"/>
                <a:gd name="T31" fmla="*/ 21 h 116"/>
                <a:gd name="T32" fmla="*/ 72 w 108"/>
                <a:gd name="T33" fmla="*/ 6 h 116"/>
                <a:gd name="T34" fmla="*/ 46 w 108"/>
                <a:gd name="T35" fmla="*/ 0 h 116"/>
                <a:gd name="T36" fmla="*/ 22 w 108"/>
                <a:gd name="T37" fmla="*/ 5 h 116"/>
                <a:gd name="T38" fmla="*/ 13 w 108"/>
                <a:gd name="T39" fmla="*/ 1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8" h="116">
                  <a:moveTo>
                    <a:pt x="13" y="13"/>
                  </a:moveTo>
                  <a:lnTo>
                    <a:pt x="6" y="22"/>
                  </a:lnTo>
                  <a:lnTo>
                    <a:pt x="0" y="49"/>
                  </a:lnTo>
                  <a:lnTo>
                    <a:pt x="5" y="79"/>
                  </a:lnTo>
                  <a:lnTo>
                    <a:pt x="18" y="102"/>
                  </a:lnTo>
                  <a:lnTo>
                    <a:pt x="28" y="108"/>
                  </a:lnTo>
                  <a:lnTo>
                    <a:pt x="40" y="112"/>
                  </a:lnTo>
                  <a:lnTo>
                    <a:pt x="55" y="116"/>
                  </a:lnTo>
                  <a:lnTo>
                    <a:pt x="72" y="110"/>
                  </a:lnTo>
                  <a:lnTo>
                    <a:pt x="91" y="91"/>
                  </a:lnTo>
                  <a:lnTo>
                    <a:pt x="98" y="84"/>
                  </a:lnTo>
                  <a:lnTo>
                    <a:pt x="106" y="70"/>
                  </a:lnTo>
                  <a:lnTo>
                    <a:pt x="108" y="57"/>
                  </a:lnTo>
                  <a:lnTo>
                    <a:pt x="105" y="42"/>
                  </a:lnTo>
                  <a:lnTo>
                    <a:pt x="101" y="33"/>
                  </a:lnTo>
                  <a:lnTo>
                    <a:pt x="94" y="21"/>
                  </a:lnTo>
                  <a:lnTo>
                    <a:pt x="72" y="6"/>
                  </a:lnTo>
                  <a:lnTo>
                    <a:pt x="46" y="0"/>
                  </a:lnTo>
                  <a:lnTo>
                    <a:pt x="22" y="5"/>
                  </a:lnTo>
                  <a:lnTo>
                    <a:pt x="1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87">
              <a:extLst>
                <a:ext uri="{FF2B5EF4-FFF2-40B4-BE49-F238E27FC236}">
                  <a16:creationId xmlns:a16="http://schemas.microsoft.com/office/drawing/2014/main" id="{3167C8FF-E894-44CF-6826-E15F354FC4AB}"/>
                </a:ext>
              </a:extLst>
            </p:cNvPr>
            <p:cNvSpPr>
              <a:spLocks/>
            </p:cNvSpPr>
            <p:nvPr/>
          </p:nvSpPr>
          <p:spPr bwMode="auto">
            <a:xfrm>
              <a:off x="1244600" y="3927476"/>
              <a:ext cx="47625" cy="49213"/>
            </a:xfrm>
            <a:custGeom>
              <a:avLst/>
              <a:gdLst>
                <a:gd name="T0" fmla="*/ 14 w 110"/>
                <a:gd name="T1" fmla="*/ 19 h 113"/>
                <a:gd name="T2" fmla="*/ 9 w 110"/>
                <a:gd name="T3" fmla="*/ 27 h 113"/>
                <a:gd name="T4" fmla="*/ 2 w 110"/>
                <a:gd name="T5" fmla="*/ 42 h 113"/>
                <a:gd name="T6" fmla="*/ 0 w 110"/>
                <a:gd name="T7" fmla="*/ 66 h 113"/>
                <a:gd name="T8" fmla="*/ 12 w 110"/>
                <a:gd name="T9" fmla="*/ 94 h 113"/>
                <a:gd name="T10" fmla="*/ 31 w 110"/>
                <a:gd name="T11" fmla="*/ 108 h 113"/>
                <a:gd name="T12" fmla="*/ 47 w 110"/>
                <a:gd name="T13" fmla="*/ 112 h 113"/>
                <a:gd name="T14" fmla="*/ 56 w 110"/>
                <a:gd name="T15" fmla="*/ 113 h 113"/>
                <a:gd name="T16" fmla="*/ 72 w 110"/>
                <a:gd name="T17" fmla="*/ 111 h 113"/>
                <a:gd name="T18" fmla="*/ 98 w 110"/>
                <a:gd name="T19" fmla="*/ 98 h 113"/>
                <a:gd name="T20" fmla="*/ 110 w 110"/>
                <a:gd name="T21" fmla="*/ 75 h 113"/>
                <a:gd name="T22" fmla="*/ 109 w 110"/>
                <a:gd name="T23" fmla="*/ 46 h 113"/>
                <a:gd name="T24" fmla="*/ 101 w 110"/>
                <a:gd name="T25" fmla="*/ 31 h 113"/>
                <a:gd name="T26" fmla="*/ 91 w 110"/>
                <a:gd name="T27" fmla="*/ 18 h 113"/>
                <a:gd name="T28" fmla="*/ 70 w 110"/>
                <a:gd name="T29" fmla="*/ 3 h 113"/>
                <a:gd name="T30" fmla="*/ 46 w 110"/>
                <a:gd name="T31" fmla="*/ 0 h 113"/>
                <a:gd name="T32" fmla="*/ 24 w 110"/>
                <a:gd name="T33" fmla="*/ 9 h 113"/>
                <a:gd name="T34" fmla="*/ 14 w 110"/>
                <a:gd name="T35" fmla="*/ 1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0" h="113">
                  <a:moveTo>
                    <a:pt x="14" y="19"/>
                  </a:moveTo>
                  <a:lnTo>
                    <a:pt x="9" y="27"/>
                  </a:lnTo>
                  <a:lnTo>
                    <a:pt x="2" y="42"/>
                  </a:lnTo>
                  <a:lnTo>
                    <a:pt x="0" y="66"/>
                  </a:lnTo>
                  <a:lnTo>
                    <a:pt x="12" y="94"/>
                  </a:lnTo>
                  <a:lnTo>
                    <a:pt x="31" y="108"/>
                  </a:lnTo>
                  <a:lnTo>
                    <a:pt x="47" y="112"/>
                  </a:lnTo>
                  <a:lnTo>
                    <a:pt x="56" y="113"/>
                  </a:lnTo>
                  <a:lnTo>
                    <a:pt x="72" y="111"/>
                  </a:lnTo>
                  <a:lnTo>
                    <a:pt x="98" y="98"/>
                  </a:lnTo>
                  <a:lnTo>
                    <a:pt x="110" y="75"/>
                  </a:lnTo>
                  <a:lnTo>
                    <a:pt x="109" y="46"/>
                  </a:lnTo>
                  <a:lnTo>
                    <a:pt x="101" y="31"/>
                  </a:lnTo>
                  <a:lnTo>
                    <a:pt x="91" y="18"/>
                  </a:lnTo>
                  <a:lnTo>
                    <a:pt x="70" y="3"/>
                  </a:lnTo>
                  <a:lnTo>
                    <a:pt x="46" y="0"/>
                  </a:lnTo>
                  <a:lnTo>
                    <a:pt x="24" y="9"/>
                  </a:lnTo>
                  <a:lnTo>
                    <a:pt x="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8" name="Group 137">
            <a:extLst>
              <a:ext uri="{FF2B5EF4-FFF2-40B4-BE49-F238E27FC236}">
                <a16:creationId xmlns:a16="http://schemas.microsoft.com/office/drawing/2014/main" id="{C1E50C8E-7D70-11CA-13D9-2EBB054A387D}"/>
              </a:ext>
            </a:extLst>
          </p:cNvPr>
          <p:cNvGrpSpPr>
            <a:grpSpLocks noChangeAspect="1"/>
          </p:cNvGrpSpPr>
          <p:nvPr/>
        </p:nvGrpSpPr>
        <p:grpSpPr>
          <a:xfrm>
            <a:off x="10634822" y="4473111"/>
            <a:ext cx="364874" cy="365760"/>
            <a:chOff x="25400" y="2551113"/>
            <a:chExt cx="1960563" cy="1965325"/>
          </a:xfrm>
          <a:solidFill>
            <a:schemeClr val="accent1"/>
          </a:solidFill>
        </p:grpSpPr>
        <p:sp>
          <p:nvSpPr>
            <p:cNvPr id="139" name="Freeform 125">
              <a:extLst>
                <a:ext uri="{FF2B5EF4-FFF2-40B4-BE49-F238E27FC236}">
                  <a16:creationId xmlns:a16="http://schemas.microsoft.com/office/drawing/2014/main" id="{6320A969-5EF0-D897-A4B8-8C0EAA62A0DE}"/>
                </a:ext>
              </a:extLst>
            </p:cNvPr>
            <p:cNvSpPr>
              <a:spLocks noEditPoints="1"/>
            </p:cNvSpPr>
            <p:nvPr/>
          </p:nvSpPr>
          <p:spPr bwMode="auto">
            <a:xfrm>
              <a:off x="25400" y="2551113"/>
              <a:ext cx="1960563" cy="1965325"/>
            </a:xfrm>
            <a:custGeom>
              <a:avLst/>
              <a:gdLst>
                <a:gd name="T0" fmla="*/ 1541 w 5069"/>
                <a:gd name="T1" fmla="*/ 372 h 5081"/>
                <a:gd name="T2" fmla="*/ 52 w 5069"/>
                <a:gd name="T3" fmla="*/ 558 h 5081"/>
                <a:gd name="T4" fmla="*/ 8 w 5069"/>
                <a:gd name="T5" fmla="*/ 4625 h 5081"/>
                <a:gd name="T6" fmla="*/ 2652 w 5069"/>
                <a:gd name="T7" fmla="*/ 5081 h 5081"/>
                <a:gd name="T8" fmla="*/ 3976 w 5069"/>
                <a:gd name="T9" fmla="*/ 4896 h 5081"/>
                <a:gd name="T10" fmla="*/ 4171 w 5069"/>
                <a:gd name="T11" fmla="*/ 3736 h 5081"/>
                <a:gd name="T12" fmla="*/ 4788 w 5069"/>
                <a:gd name="T13" fmla="*/ 3534 h 5081"/>
                <a:gd name="T14" fmla="*/ 4866 w 5069"/>
                <a:gd name="T15" fmla="*/ 3063 h 5081"/>
                <a:gd name="T16" fmla="*/ 5057 w 5069"/>
                <a:gd name="T17" fmla="*/ 2968 h 5081"/>
                <a:gd name="T18" fmla="*/ 4987 w 5069"/>
                <a:gd name="T19" fmla="*/ 2500 h 5081"/>
                <a:gd name="T20" fmla="*/ 4857 w 5069"/>
                <a:gd name="T21" fmla="*/ 2071 h 5081"/>
                <a:gd name="T22" fmla="*/ 4316 w 5069"/>
                <a:gd name="T23" fmla="*/ 1843 h 5081"/>
                <a:gd name="T24" fmla="*/ 4131 w 5069"/>
                <a:gd name="T25" fmla="*/ 1608 h 5081"/>
                <a:gd name="T26" fmla="*/ 3947 w 5069"/>
                <a:gd name="T27" fmla="*/ 590 h 5081"/>
                <a:gd name="T28" fmla="*/ 2734 w 5069"/>
                <a:gd name="T29" fmla="*/ 433 h 5081"/>
                <a:gd name="T30" fmla="*/ 2409 w 5069"/>
                <a:gd name="T31" fmla="*/ 100 h 5081"/>
                <a:gd name="T32" fmla="*/ 1568 w 5069"/>
                <a:gd name="T33" fmla="*/ 8 h 5081"/>
                <a:gd name="T34" fmla="*/ 2058 w 5069"/>
                <a:gd name="T35" fmla="*/ 501 h 5081"/>
                <a:gd name="T36" fmla="*/ 2609 w 5069"/>
                <a:gd name="T37" fmla="*/ 891 h 5081"/>
                <a:gd name="T38" fmla="*/ 1798 w 5069"/>
                <a:gd name="T39" fmla="*/ 565 h 5081"/>
                <a:gd name="T40" fmla="*/ 1611 w 5069"/>
                <a:gd name="T41" fmla="*/ 163 h 5081"/>
                <a:gd name="T42" fmla="*/ 737 w 5069"/>
                <a:gd name="T43" fmla="*/ 766 h 5081"/>
                <a:gd name="T44" fmla="*/ 341 w 5069"/>
                <a:gd name="T45" fmla="*/ 4367 h 5081"/>
                <a:gd name="T46" fmla="*/ 3387 w 5069"/>
                <a:gd name="T47" fmla="*/ 4486 h 5081"/>
                <a:gd name="T48" fmla="*/ 3817 w 5069"/>
                <a:gd name="T49" fmla="*/ 4169 h 5081"/>
                <a:gd name="T50" fmla="*/ 151 w 5069"/>
                <a:gd name="T51" fmla="*/ 4835 h 5081"/>
                <a:gd name="T52" fmla="*/ 3779 w 5069"/>
                <a:gd name="T53" fmla="*/ 636 h 5081"/>
                <a:gd name="T54" fmla="*/ 3691 w 5069"/>
                <a:gd name="T55" fmla="*/ 1589 h 5081"/>
                <a:gd name="T56" fmla="*/ 3622 w 5069"/>
                <a:gd name="T57" fmla="*/ 796 h 5081"/>
                <a:gd name="T58" fmla="*/ 3624 w 5069"/>
                <a:gd name="T59" fmla="*/ 601 h 5081"/>
                <a:gd name="T60" fmla="*/ 1645 w 5069"/>
                <a:gd name="T61" fmla="*/ 1050 h 5081"/>
                <a:gd name="T62" fmla="*/ 3126 w 5069"/>
                <a:gd name="T63" fmla="*/ 933 h 5081"/>
                <a:gd name="T64" fmla="*/ 3330 w 5069"/>
                <a:gd name="T65" fmla="*/ 1820 h 5081"/>
                <a:gd name="T66" fmla="*/ 2929 w 5069"/>
                <a:gd name="T67" fmla="*/ 2088 h 5081"/>
                <a:gd name="T68" fmla="*/ 2609 w 5069"/>
                <a:gd name="T69" fmla="*/ 2199 h 5081"/>
                <a:gd name="T70" fmla="*/ 1766 w 5069"/>
                <a:gd name="T71" fmla="*/ 2321 h 5081"/>
                <a:gd name="T72" fmla="*/ 2962 w 5069"/>
                <a:gd name="T73" fmla="*/ 2395 h 5081"/>
                <a:gd name="T74" fmla="*/ 2742 w 5069"/>
                <a:gd name="T75" fmla="*/ 2534 h 5081"/>
                <a:gd name="T76" fmla="*/ 1782 w 5069"/>
                <a:gd name="T77" fmla="*/ 3022 h 5081"/>
                <a:gd name="T78" fmla="*/ 2082 w 5069"/>
                <a:gd name="T79" fmla="*/ 3166 h 5081"/>
                <a:gd name="T80" fmla="*/ 2926 w 5069"/>
                <a:gd name="T81" fmla="*/ 3382 h 5081"/>
                <a:gd name="T82" fmla="*/ 3258 w 5069"/>
                <a:gd name="T83" fmla="*/ 3747 h 5081"/>
                <a:gd name="T84" fmla="*/ 3486 w 5069"/>
                <a:gd name="T85" fmla="*/ 4096 h 5081"/>
                <a:gd name="T86" fmla="*/ 3001 w 5069"/>
                <a:gd name="T87" fmla="*/ 4600 h 5081"/>
                <a:gd name="T88" fmla="*/ 4011 w 5069"/>
                <a:gd name="T89" fmla="*/ 1874 h 5081"/>
                <a:gd name="T90" fmla="*/ 4427 w 5069"/>
                <a:gd name="T91" fmla="*/ 2063 h 5081"/>
                <a:gd name="T92" fmla="*/ 4689 w 5069"/>
                <a:gd name="T93" fmla="*/ 2115 h 5081"/>
                <a:gd name="T94" fmla="*/ 4777 w 5069"/>
                <a:gd name="T95" fmla="*/ 2643 h 5081"/>
                <a:gd name="T96" fmla="*/ 4770 w 5069"/>
                <a:gd name="T97" fmla="*/ 2885 h 5081"/>
                <a:gd name="T98" fmla="*/ 4601 w 5069"/>
                <a:gd name="T99" fmla="*/ 3297 h 5081"/>
                <a:gd name="T100" fmla="*/ 4507 w 5069"/>
                <a:gd name="T101" fmla="*/ 3515 h 5081"/>
                <a:gd name="T102" fmla="*/ 4112 w 5069"/>
                <a:gd name="T103" fmla="*/ 3585 h 5081"/>
                <a:gd name="T104" fmla="*/ 3795 w 5069"/>
                <a:gd name="T105" fmla="*/ 3675 h 5081"/>
                <a:gd name="T106" fmla="*/ 3357 w 5069"/>
                <a:gd name="T107" fmla="*/ 3461 h 5081"/>
                <a:gd name="T108" fmla="*/ 3177 w 5069"/>
                <a:gd name="T109" fmla="*/ 3331 h 5081"/>
                <a:gd name="T110" fmla="*/ 3053 w 5069"/>
                <a:gd name="T111" fmla="*/ 2910 h 5081"/>
                <a:gd name="T112" fmla="*/ 2887 w 5069"/>
                <a:gd name="T113" fmla="*/ 2761 h 5081"/>
                <a:gd name="T114" fmla="*/ 3064 w 5069"/>
                <a:gd name="T115" fmla="*/ 2579 h 5081"/>
                <a:gd name="T116" fmla="*/ 3156 w 5069"/>
                <a:gd name="T117" fmla="*/ 2163 h 5081"/>
                <a:gd name="T118" fmla="*/ 3489 w 5069"/>
                <a:gd name="T119" fmla="*/ 2018 h 5081"/>
                <a:gd name="T120" fmla="*/ 3801 w 5069"/>
                <a:gd name="T121" fmla="*/ 1750 h 5081"/>
                <a:gd name="T122" fmla="*/ 3167 w 5069"/>
                <a:gd name="T123" fmla="*/ 4266 h 5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69" h="5081">
                  <a:moveTo>
                    <a:pt x="1512" y="33"/>
                  </a:moveTo>
                  <a:lnTo>
                    <a:pt x="1494" y="50"/>
                  </a:lnTo>
                  <a:lnTo>
                    <a:pt x="1460" y="99"/>
                  </a:lnTo>
                  <a:lnTo>
                    <a:pt x="1451" y="123"/>
                  </a:lnTo>
                  <a:lnTo>
                    <a:pt x="1444" y="147"/>
                  </a:lnTo>
                  <a:lnTo>
                    <a:pt x="1444" y="197"/>
                  </a:lnTo>
                  <a:lnTo>
                    <a:pt x="1462" y="251"/>
                  </a:lnTo>
                  <a:lnTo>
                    <a:pt x="1498" y="313"/>
                  </a:lnTo>
                  <a:lnTo>
                    <a:pt x="1524" y="348"/>
                  </a:lnTo>
                  <a:lnTo>
                    <a:pt x="1541" y="372"/>
                  </a:lnTo>
                  <a:lnTo>
                    <a:pt x="1565" y="411"/>
                  </a:lnTo>
                  <a:lnTo>
                    <a:pt x="1567" y="420"/>
                  </a:lnTo>
                  <a:lnTo>
                    <a:pt x="1558" y="422"/>
                  </a:lnTo>
                  <a:lnTo>
                    <a:pt x="1453" y="427"/>
                  </a:lnTo>
                  <a:lnTo>
                    <a:pt x="1154" y="434"/>
                  </a:lnTo>
                  <a:lnTo>
                    <a:pt x="879" y="436"/>
                  </a:lnTo>
                  <a:lnTo>
                    <a:pt x="191" y="441"/>
                  </a:lnTo>
                  <a:lnTo>
                    <a:pt x="129" y="483"/>
                  </a:lnTo>
                  <a:lnTo>
                    <a:pt x="103" y="502"/>
                  </a:lnTo>
                  <a:lnTo>
                    <a:pt x="52" y="558"/>
                  </a:lnTo>
                  <a:lnTo>
                    <a:pt x="36" y="585"/>
                  </a:lnTo>
                  <a:lnTo>
                    <a:pt x="29" y="596"/>
                  </a:lnTo>
                  <a:lnTo>
                    <a:pt x="19" y="627"/>
                  </a:lnTo>
                  <a:lnTo>
                    <a:pt x="12" y="691"/>
                  </a:lnTo>
                  <a:lnTo>
                    <a:pt x="7" y="812"/>
                  </a:lnTo>
                  <a:lnTo>
                    <a:pt x="1" y="1443"/>
                  </a:lnTo>
                  <a:lnTo>
                    <a:pt x="1" y="2756"/>
                  </a:lnTo>
                  <a:lnTo>
                    <a:pt x="0" y="3554"/>
                  </a:lnTo>
                  <a:lnTo>
                    <a:pt x="3" y="4305"/>
                  </a:lnTo>
                  <a:lnTo>
                    <a:pt x="8" y="4625"/>
                  </a:lnTo>
                  <a:lnTo>
                    <a:pt x="17" y="4824"/>
                  </a:lnTo>
                  <a:lnTo>
                    <a:pt x="29" y="4910"/>
                  </a:lnTo>
                  <a:lnTo>
                    <a:pt x="39" y="4949"/>
                  </a:lnTo>
                  <a:lnTo>
                    <a:pt x="50" y="4975"/>
                  </a:lnTo>
                  <a:lnTo>
                    <a:pt x="64" y="4992"/>
                  </a:lnTo>
                  <a:lnTo>
                    <a:pt x="90" y="5012"/>
                  </a:lnTo>
                  <a:lnTo>
                    <a:pt x="111" y="5026"/>
                  </a:lnTo>
                  <a:lnTo>
                    <a:pt x="172" y="5075"/>
                  </a:lnTo>
                  <a:lnTo>
                    <a:pt x="1966" y="5080"/>
                  </a:lnTo>
                  <a:lnTo>
                    <a:pt x="2652" y="5081"/>
                  </a:lnTo>
                  <a:lnTo>
                    <a:pt x="3296" y="5080"/>
                  </a:lnTo>
                  <a:lnTo>
                    <a:pt x="3568" y="5076"/>
                  </a:lnTo>
                  <a:lnTo>
                    <a:pt x="3737" y="5066"/>
                  </a:lnTo>
                  <a:lnTo>
                    <a:pt x="3811" y="5053"/>
                  </a:lnTo>
                  <a:lnTo>
                    <a:pt x="3844" y="5042"/>
                  </a:lnTo>
                  <a:lnTo>
                    <a:pt x="3868" y="5029"/>
                  </a:lnTo>
                  <a:lnTo>
                    <a:pt x="3885" y="5013"/>
                  </a:lnTo>
                  <a:lnTo>
                    <a:pt x="3906" y="4985"/>
                  </a:lnTo>
                  <a:lnTo>
                    <a:pt x="3924" y="4961"/>
                  </a:lnTo>
                  <a:lnTo>
                    <a:pt x="3976" y="4896"/>
                  </a:lnTo>
                  <a:lnTo>
                    <a:pt x="3984" y="4420"/>
                  </a:lnTo>
                  <a:lnTo>
                    <a:pt x="3992" y="3941"/>
                  </a:lnTo>
                  <a:lnTo>
                    <a:pt x="4062" y="3931"/>
                  </a:lnTo>
                  <a:lnTo>
                    <a:pt x="4092" y="3927"/>
                  </a:lnTo>
                  <a:lnTo>
                    <a:pt x="4136" y="3917"/>
                  </a:lnTo>
                  <a:lnTo>
                    <a:pt x="4144" y="3911"/>
                  </a:lnTo>
                  <a:lnTo>
                    <a:pt x="4149" y="3902"/>
                  </a:lnTo>
                  <a:lnTo>
                    <a:pt x="4160" y="3851"/>
                  </a:lnTo>
                  <a:lnTo>
                    <a:pt x="4164" y="3818"/>
                  </a:lnTo>
                  <a:lnTo>
                    <a:pt x="4171" y="3736"/>
                  </a:lnTo>
                  <a:lnTo>
                    <a:pt x="4286" y="3691"/>
                  </a:lnTo>
                  <a:lnTo>
                    <a:pt x="4401" y="3646"/>
                  </a:lnTo>
                  <a:lnTo>
                    <a:pt x="4459" y="3698"/>
                  </a:lnTo>
                  <a:lnTo>
                    <a:pt x="4485" y="3719"/>
                  </a:lnTo>
                  <a:lnTo>
                    <a:pt x="4532" y="3747"/>
                  </a:lnTo>
                  <a:lnTo>
                    <a:pt x="4546" y="3750"/>
                  </a:lnTo>
                  <a:lnTo>
                    <a:pt x="4555" y="3747"/>
                  </a:lnTo>
                  <a:lnTo>
                    <a:pt x="4590" y="3722"/>
                  </a:lnTo>
                  <a:lnTo>
                    <a:pt x="4668" y="3654"/>
                  </a:lnTo>
                  <a:lnTo>
                    <a:pt x="4788" y="3534"/>
                  </a:lnTo>
                  <a:lnTo>
                    <a:pt x="4857" y="3456"/>
                  </a:lnTo>
                  <a:lnTo>
                    <a:pt x="4882" y="3420"/>
                  </a:lnTo>
                  <a:lnTo>
                    <a:pt x="4884" y="3411"/>
                  </a:lnTo>
                  <a:lnTo>
                    <a:pt x="4881" y="3397"/>
                  </a:lnTo>
                  <a:lnTo>
                    <a:pt x="4853" y="3350"/>
                  </a:lnTo>
                  <a:lnTo>
                    <a:pt x="4832" y="3325"/>
                  </a:lnTo>
                  <a:lnTo>
                    <a:pt x="4779" y="3265"/>
                  </a:lnTo>
                  <a:lnTo>
                    <a:pt x="4812" y="3186"/>
                  </a:lnTo>
                  <a:lnTo>
                    <a:pt x="4844" y="3115"/>
                  </a:lnTo>
                  <a:lnTo>
                    <a:pt x="4866" y="3063"/>
                  </a:lnTo>
                  <a:lnTo>
                    <a:pt x="4871" y="3049"/>
                  </a:lnTo>
                  <a:lnTo>
                    <a:pt x="4883" y="3030"/>
                  </a:lnTo>
                  <a:lnTo>
                    <a:pt x="4901" y="3021"/>
                  </a:lnTo>
                  <a:lnTo>
                    <a:pt x="4930" y="3019"/>
                  </a:lnTo>
                  <a:lnTo>
                    <a:pt x="4951" y="3020"/>
                  </a:lnTo>
                  <a:lnTo>
                    <a:pt x="4970" y="3020"/>
                  </a:lnTo>
                  <a:lnTo>
                    <a:pt x="5003" y="3018"/>
                  </a:lnTo>
                  <a:lnTo>
                    <a:pt x="5027" y="3010"/>
                  </a:lnTo>
                  <a:lnTo>
                    <a:pt x="5045" y="2994"/>
                  </a:lnTo>
                  <a:lnTo>
                    <a:pt x="5057" y="2968"/>
                  </a:lnTo>
                  <a:lnTo>
                    <a:pt x="5064" y="2929"/>
                  </a:lnTo>
                  <a:lnTo>
                    <a:pt x="5069" y="2844"/>
                  </a:lnTo>
                  <a:lnTo>
                    <a:pt x="5069" y="2760"/>
                  </a:lnTo>
                  <a:lnTo>
                    <a:pt x="5068" y="2665"/>
                  </a:lnTo>
                  <a:lnTo>
                    <a:pt x="5062" y="2569"/>
                  </a:lnTo>
                  <a:lnTo>
                    <a:pt x="5055" y="2532"/>
                  </a:lnTo>
                  <a:lnTo>
                    <a:pt x="5051" y="2525"/>
                  </a:lnTo>
                  <a:lnTo>
                    <a:pt x="5046" y="2520"/>
                  </a:lnTo>
                  <a:lnTo>
                    <a:pt x="5027" y="2511"/>
                  </a:lnTo>
                  <a:lnTo>
                    <a:pt x="4987" y="2500"/>
                  </a:lnTo>
                  <a:lnTo>
                    <a:pt x="4954" y="2496"/>
                  </a:lnTo>
                  <a:lnTo>
                    <a:pt x="4877" y="2491"/>
                  </a:lnTo>
                  <a:lnTo>
                    <a:pt x="4829" y="2370"/>
                  </a:lnTo>
                  <a:lnTo>
                    <a:pt x="4779" y="2248"/>
                  </a:lnTo>
                  <a:lnTo>
                    <a:pt x="4832" y="2193"/>
                  </a:lnTo>
                  <a:lnTo>
                    <a:pt x="4853" y="2171"/>
                  </a:lnTo>
                  <a:lnTo>
                    <a:pt x="4881" y="2128"/>
                  </a:lnTo>
                  <a:lnTo>
                    <a:pt x="4884" y="2115"/>
                  </a:lnTo>
                  <a:lnTo>
                    <a:pt x="4882" y="2106"/>
                  </a:lnTo>
                  <a:lnTo>
                    <a:pt x="4857" y="2071"/>
                  </a:lnTo>
                  <a:lnTo>
                    <a:pt x="4787" y="1994"/>
                  </a:lnTo>
                  <a:lnTo>
                    <a:pt x="4666" y="1877"/>
                  </a:lnTo>
                  <a:lnTo>
                    <a:pt x="4587" y="1810"/>
                  </a:lnTo>
                  <a:lnTo>
                    <a:pt x="4552" y="1785"/>
                  </a:lnTo>
                  <a:lnTo>
                    <a:pt x="4542" y="1783"/>
                  </a:lnTo>
                  <a:lnTo>
                    <a:pt x="4527" y="1786"/>
                  </a:lnTo>
                  <a:lnTo>
                    <a:pt x="4481" y="1813"/>
                  </a:lnTo>
                  <a:lnTo>
                    <a:pt x="4459" y="1833"/>
                  </a:lnTo>
                  <a:lnTo>
                    <a:pt x="4407" y="1885"/>
                  </a:lnTo>
                  <a:lnTo>
                    <a:pt x="4316" y="1843"/>
                  </a:lnTo>
                  <a:lnTo>
                    <a:pt x="4239" y="1811"/>
                  </a:lnTo>
                  <a:lnTo>
                    <a:pt x="4197" y="1795"/>
                  </a:lnTo>
                  <a:lnTo>
                    <a:pt x="4190" y="1791"/>
                  </a:lnTo>
                  <a:lnTo>
                    <a:pt x="4178" y="1780"/>
                  </a:lnTo>
                  <a:lnTo>
                    <a:pt x="4168" y="1752"/>
                  </a:lnTo>
                  <a:lnTo>
                    <a:pt x="4167" y="1721"/>
                  </a:lnTo>
                  <a:lnTo>
                    <a:pt x="4166" y="1687"/>
                  </a:lnTo>
                  <a:lnTo>
                    <a:pt x="4156" y="1647"/>
                  </a:lnTo>
                  <a:lnTo>
                    <a:pt x="4145" y="1625"/>
                  </a:lnTo>
                  <a:lnTo>
                    <a:pt x="4131" y="1608"/>
                  </a:lnTo>
                  <a:lnTo>
                    <a:pt x="4112" y="1596"/>
                  </a:lnTo>
                  <a:lnTo>
                    <a:pt x="4090" y="1587"/>
                  </a:lnTo>
                  <a:lnTo>
                    <a:pt x="4064" y="1583"/>
                  </a:lnTo>
                  <a:lnTo>
                    <a:pt x="4049" y="1583"/>
                  </a:lnTo>
                  <a:lnTo>
                    <a:pt x="3984" y="1583"/>
                  </a:lnTo>
                  <a:lnTo>
                    <a:pt x="3984" y="1136"/>
                  </a:lnTo>
                  <a:lnTo>
                    <a:pt x="3983" y="946"/>
                  </a:lnTo>
                  <a:lnTo>
                    <a:pt x="3975" y="750"/>
                  </a:lnTo>
                  <a:lnTo>
                    <a:pt x="3965" y="657"/>
                  </a:lnTo>
                  <a:lnTo>
                    <a:pt x="3947" y="590"/>
                  </a:lnTo>
                  <a:lnTo>
                    <a:pt x="3921" y="542"/>
                  </a:lnTo>
                  <a:lnTo>
                    <a:pt x="3886" y="506"/>
                  </a:lnTo>
                  <a:lnTo>
                    <a:pt x="3838" y="478"/>
                  </a:lnTo>
                  <a:lnTo>
                    <a:pt x="3809" y="465"/>
                  </a:lnTo>
                  <a:lnTo>
                    <a:pt x="3786" y="455"/>
                  </a:lnTo>
                  <a:lnTo>
                    <a:pt x="3711" y="442"/>
                  </a:lnTo>
                  <a:lnTo>
                    <a:pt x="3552" y="435"/>
                  </a:lnTo>
                  <a:lnTo>
                    <a:pt x="3252" y="433"/>
                  </a:lnTo>
                  <a:lnTo>
                    <a:pt x="3022" y="433"/>
                  </a:lnTo>
                  <a:lnTo>
                    <a:pt x="2734" y="433"/>
                  </a:lnTo>
                  <a:lnTo>
                    <a:pt x="2341" y="428"/>
                  </a:lnTo>
                  <a:lnTo>
                    <a:pt x="2301" y="425"/>
                  </a:lnTo>
                  <a:lnTo>
                    <a:pt x="2316" y="396"/>
                  </a:lnTo>
                  <a:lnTo>
                    <a:pt x="2367" y="315"/>
                  </a:lnTo>
                  <a:lnTo>
                    <a:pt x="2393" y="275"/>
                  </a:lnTo>
                  <a:lnTo>
                    <a:pt x="2423" y="215"/>
                  </a:lnTo>
                  <a:lnTo>
                    <a:pt x="2431" y="180"/>
                  </a:lnTo>
                  <a:lnTo>
                    <a:pt x="2431" y="158"/>
                  </a:lnTo>
                  <a:lnTo>
                    <a:pt x="2421" y="125"/>
                  </a:lnTo>
                  <a:lnTo>
                    <a:pt x="2409" y="100"/>
                  </a:lnTo>
                  <a:lnTo>
                    <a:pt x="2400" y="82"/>
                  </a:lnTo>
                  <a:lnTo>
                    <a:pt x="2382" y="54"/>
                  </a:lnTo>
                  <a:lnTo>
                    <a:pt x="2360" y="33"/>
                  </a:lnTo>
                  <a:lnTo>
                    <a:pt x="2328" y="19"/>
                  </a:lnTo>
                  <a:lnTo>
                    <a:pt x="2283" y="9"/>
                  </a:lnTo>
                  <a:lnTo>
                    <a:pt x="2217" y="3"/>
                  </a:lnTo>
                  <a:lnTo>
                    <a:pt x="2075" y="0"/>
                  </a:lnTo>
                  <a:lnTo>
                    <a:pt x="1932" y="0"/>
                  </a:lnTo>
                  <a:lnTo>
                    <a:pt x="1708" y="0"/>
                  </a:lnTo>
                  <a:lnTo>
                    <a:pt x="1568" y="8"/>
                  </a:lnTo>
                  <a:lnTo>
                    <a:pt x="1527" y="22"/>
                  </a:lnTo>
                  <a:lnTo>
                    <a:pt x="1512" y="33"/>
                  </a:lnTo>
                  <a:close/>
                  <a:moveTo>
                    <a:pt x="2259" y="165"/>
                  </a:moveTo>
                  <a:lnTo>
                    <a:pt x="2259" y="170"/>
                  </a:lnTo>
                  <a:lnTo>
                    <a:pt x="2246" y="200"/>
                  </a:lnTo>
                  <a:lnTo>
                    <a:pt x="2202" y="272"/>
                  </a:lnTo>
                  <a:lnTo>
                    <a:pt x="2159" y="335"/>
                  </a:lnTo>
                  <a:lnTo>
                    <a:pt x="2129" y="378"/>
                  </a:lnTo>
                  <a:lnTo>
                    <a:pt x="2083" y="448"/>
                  </a:lnTo>
                  <a:lnTo>
                    <a:pt x="2058" y="501"/>
                  </a:lnTo>
                  <a:lnTo>
                    <a:pt x="2053" y="530"/>
                  </a:lnTo>
                  <a:lnTo>
                    <a:pt x="2057" y="546"/>
                  </a:lnTo>
                  <a:lnTo>
                    <a:pt x="2067" y="559"/>
                  </a:lnTo>
                  <a:lnTo>
                    <a:pt x="2083" y="570"/>
                  </a:lnTo>
                  <a:lnTo>
                    <a:pt x="2118" y="582"/>
                  </a:lnTo>
                  <a:lnTo>
                    <a:pt x="2234" y="595"/>
                  </a:lnTo>
                  <a:lnTo>
                    <a:pt x="2357" y="600"/>
                  </a:lnTo>
                  <a:lnTo>
                    <a:pt x="2609" y="608"/>
                  </a:lnTo>
                  <a:lnTo>
                    <a:pt x="2609" y="750"/>
                  </a:lnTo>
                  <a:lnTo>
                    <a:pt x="2609" y="891"/>
                  </a:lnTo>
                  <a:lnTo>
                    <a:pt x="1939" y="896"/>
                  </a:lnTo>
                  <a:lnTo>
                    <a:pt x="1267" y="900"/>
                  </a:lnTo>
                  <a:lnTo>
                    <a:pt x="1267" y="750"/>
                  </a:lnTo>
                  <a:lnTo>
                    <a:pt x="1267" y="600"/>
                  </a:lnTo>
                  <a:lnTo>
                    <a:pt x="1516" y="600"/>
                  </a:lnTo>
                  <a:lnTo>
                    <a:pt x="1650" y="599"/>
                  </a:lnTo>
                  <a:lnTo>
                    <a:pt x="1749" y="591"/>
                  </a:lnTo>
                  <a:lnTo>
                    <a:pt x="1782" y="581"/>
                  </a:lnTo>
                  <a:lnTo>
                    <a:pt x="1791" y="573"/>
                  </a:lnTo>
                  <a:lnTo>
                    <a:pt x="1798" y="565"/>
                  </a:lnTo>
                  <a:lnTo>
                    <a:pt x="1809" y="549"/>
                  </a:lnTo>
                  <a:lnTo>
                    <a:pt x="1814" y="532"/>
                  </a:lnTo>
                  <a:lnTo>
                    <a:pt x="1812" y="511"/>
                  </a:lnTo>
                  <a:lnTo>
                    <a:pt x="1798" y="471"/>
                  </a:lnTo>
                  <a:lnTo>
                    <a:pt x="1749" y="390"/>
                  </a:lnTo>
                  <a:lnTo>
                    <a:pt x="1711" y="333"/>
                  </a:lnTo>
                  <a:lnTo>
                    <a:pt x="1668" y="270"/>
                  </a:lnTo>
                  <a:lnTo>
                    <a:pt x="1624" y="197"/>
                  </a:lnTo>
                  <a:lnTo>
                    <a:pt x="1610" y="168"/>
                  </a:lnTo>
                  <a:lnTo>
                    <a:pt x="1611" y="163"/>
                  </a:lnTo>
                  <a:lnTo>
                    <a:pt x="1618" y="160"/>
                  </a:lnTo>
                  <a:lnTo>
                    <a:pt x="1672" y="155"/>
                  </a:lnTo>
                  <a:lnTo>
                    <a:pt x="1815" y="150"/>
                  </a:lnTo>
                  <a:lnTo>
                    <a:pt x="2053" y="151"/>
                  </a:lnTo>
                  <a:lnTo>
                    <a:pt x="2197" y="156"/>
                  </a:lnTo>
                  <a:lnTo>
                    <a:pt x="2252" y="161"/>
                  </a:lnTo>
                  <a:lnTo>
                    <a:pt x="2259" y="165"/>
                  </a:lnTo>
                  <a:close/>
                  <a:moveTo>
                    <a:pt x="1101" y="683"/>
                  </a:moveTo>
                  <a:lnTo>
                    <a:pt x="1101" y="766"/>
                  </a:lnTo>
                  <a:lnTo>
                    <a:pt x="737" y="766"/>
                  </a:lnTo>
                  <a:lnTo>
                    <a:pt x="561" y="767"/>
                  </a:lnTo>
                  <a:lnTo>
                    <a:pt x="412" y="773"/>
                  </a:lnTo>
                  <a:lnTo>
                    <a:pt x="363" y="781"/>
                  </a:lnTo>
                  <a:lnTo>
                    <a:pt x="354" y="786"/>
                  </a:lnTo>
                  <a:lnTo>
                    <a:pt x="351" y="797"/>
                  </a:lnTo>
                  <a:lnTo>
                    <a:pt x="347" y="887"/>
                  </a:lnTo>
                  <a:lnTo>
                    <a:pt x="341" y="1149"/>
                  </a:lnTo>
                  <a:lnTo>
                    <a:pt x="334" y="2024"/>
                  </a:lnTo>
                  <a:lnTo>
                    <a:pt x="334" y="3492"/>
                  </a:lnTo>
                  <a:lnTo>
                    <a:pt x="341" y="4367"/>
                  </a:lnTo>
                  <a:lnTo>
                    <a:pt x="347" y="4629"/>
                  </a:lnTo>
                  <a:lnTo>
                    <a:pt x="351" y="4719"/>
                  </a:lnTo>
                  <a:lnTo>
                    <a:pt x="354" y="4730"/>
                  </a:lnTo>
                  <a:lnTo>
                    <a:pt x="359" y="4732"/>
                  </a:lnTo>
                  <a:lnTo>
                    <a:pt x="397" y="4737"/>
                  </a:lnTo>
                  <a:lnTo>
                    <a:pt x="519" y="4743"/>
                  </a:lnTo>
                  <a:lnTo>
                    <a:pt x="1053" y="4749"/>
                  </a:lnTo>
                  <a:lnTo>
                    <a:pt x="1749" y="4750"/>
                  </a:lnTo>
                  <a:lnTo>
                    <a:pt x="3124" y="4750"/>
                  </a:lnTo>
                  <a:lnTo>
                    <a:pt x="3387" y="4486"/>
                  </a:lnTo>
                  <a:lnTo>
                    <a:pt x="3651" y="4223"/>
                  </a:lnTo>
                  <a:lnTo>
                    <a:pt x="3651" y="4071"/>
                  </a:lnTo>
                  <a:lnTo>
                    <a:pt x="3651" y="3918"/>
                  </a:lnTo>
                  <a:lnTo>
                    <a:pt x="3714" y="3926"/>
                  </a:lnTo>
                  <a:lnTo>
                    <a:pt x="3767" y="3935"/>
                  </a:lnTo>
                  <a:lnTo>
                    <a:pt x="3797" y="3943"/>
                  </a:lnTo>
                  <a:lnTo>
                    <a:pt x="3800" y="3944"/>
                  </a:lnTo>
                  <a:lnTo>
                    <a:pt x="3805" y="3956"/>
                  </a:lnTo>
                  <a:lnTo>
                    <a:pt x="3810" y="3995"/>
                  </a:lnTo>
                  <a:lnTo>
                    <a:pt x="3817" y="4169"/>
                  </a:lnTo>
                  <a:lnTo>
                    <a:pt x="3817" y="4398"/>
                  </a:lnTo>
                  <a:lnTo>
                    <a:pt x="3817" y="4663"/>
                  </a:lnTo>
                  <a:lnTo>
                    <a:pt x="3809" y="4827"/>
                  </a:lnTo>
                  <a:lnTo>
                    <a:pt x="3796" y="4871"/>
                  </a:lnTo>
                  <a:lnTo>
                    <a:pt x="3786" y="4885"/>
                  </a:lnTo>
                  <a:lnTo>
                    <a:pt x="3754" y="4925"/>
                  </a:lnTo>
                  <a:lnTo>
                    <a:pt x="2001" y="4930"/>
                  </a:lnTo>
                  <a:lnTo>
                    <a:pt x="249" y="4933"/>
                  </a:lnTo>
                  <a:lnTo>
                    <a:pt x="199" y="4885"/>
                  </a:lnTo>
                  <a:lnTo>
                    <a:pt x="151" y="4835"/>
                  </a:lnTo>
                  <a:lnTo>
                    <a:pt x="154" y="2750"/>
                  </a:lnTo>
                  <a:lnTo>
                    <a:pt x="159" y="663"/>
                  </a:lnTo>
                  <a:lnTo>
                    <a:pt x="199" y="631"/>
                  </a:lnTo>
                  <a:lnTo>
                    <a:pt x="212" y="621"/>
                  </a:lnTo>
                  <a:lnTo>
                    <a:pt x="255" y="608"/>
                  </a:lnTo>
                  <a:lnTo>
                    <a:pt x="415" y="600"/>
                  </a:lnTo>
                  <a:lnTo>
                    <a:pt x="669" y="600"/>
                  </a:lnTo>
                  <a:lnTo>
                    <a:pt x="1101" y="600"/>
                  </a:lnTo>
                  <a:lnTo>
                    <a:pt x="1101" y="683"/>
                  </a:lnTo>
                  <a:close/>
                  <a:moveTo>
                    <a:pt x="3779" y="636"/>
                  </a:moveTo>
                  <a:lnTo>
                    <a:pt x="3792" y="648"/>
                  </a:lnTo>
                  <a:lnTo>
                    <a:pt x="3805" y="674"/>
                  </a:lnTo>
                  <a:lnTo>
                    <a:pt x="3811" y="703"/>
                  </a:lnTo>
                  <a:lnTo>
                    <a:pt x="3816" y="777"/>
                  </a:lnTo>
                  <a:lnTo>
                    <a:pt x="3817" y="972"/>
                  </a:lnTo>
                  <a:lnTo>
                    <a:pt x="3817" y="1128"/>
                  </a:lnTo>
                  <a:lnTo>
                    <a:pt x="3817" y="1583"/>
                  </a:lnTo>
                  <a:lnTo>
                    <a:pt x="3761" y="1583"/>
                  </a:lnTo>
                  <a:lnTo>
                    <a:pt x="3736" y="1584"/>
                  </a:lnTo>
                  <a:lnTo>
                    <a:pt x="3691" y="1589"/>
                  </a:lnTo>
                  <a:lnTo>
                    <a:pt x="3677" y="1593"/>
                  </a:lnTo>
                  <a:lnTo>
                    <a:pt x="3673" y="1594"/>
                  </a:lnTo>
                  <a:lnTo>
                    <a:pt x="3666" y="1591"/>
                  </a:lnTo>
                  <a:lnTo>
                    <a:pt x="3658" y="1571"/>
                  </a:lnTo>
                  <a:lnTo>
                    <a:pt x="3651" y="1437"/>
                  </a:lnTo>
                  <a:lnTo>
                    <a:pt x="3651" y="1215"/>
                  </a:lnTo>
                  <a:lnTo>
                    <a:pt x="3650" y="997"/>
                  </a:lnTo>
                  <a:lnTo>
                    <a:pt x="3643" y="850"/>
                  </a:lnTo>
                  <a:lnTo>
                    <a:pt x="3631" y="807"/>
                  </a:lnTo>
                  <a:lnTo>
                    <a:pt x="3622" y="796"/>
                  </a:lnTo>
                  <a:lnTo>
                    <a:pt x="3613" y="787"/>
                  </a:lnTo>
                  <a:lnTo>
                    <a:pt x="3574" y="775"/>
                  </a:lnTo>
                  <a:lnTo>
                    <a:pt x="3423" y="767"/>
                  </a:lnTo>
                  <a:lnTo>
                    <a:pt x="3181" y="766"/>
                  </a:lnTo>
                  <a:lnTo>
                    <a:pt x="2767" y="766"/>
                  </a:lnTo>
                  <a:lnTo>
                    <a:pt x="2767" y="683"/>
                  </a:lnTo>
                  <a:lnTo>
                    <a:pt x="2767" y="600"/>
                  </a:lnTo>
                  <a:lnTo>
                    <a:pt x="3254" y="600"/>
                  </a:lnTo>
                  <a:lnTo>
                    <a:pt x="3418" y="600"/>
                  </a:lnTo>
                  <a:lnTo>
                    <a:pt x="3624" y="601"/>
                  </a:lnTo>
                  <a:lnTo>
                    <a:pt x="3724" y="608"/>
                  </a:lnTo>
                  <a:lnTo>
                    <a:pt x="3766" y="624"/>
                  </a:lnTo>
                  <a:lnTo>
                    <a:pt x="3779" y="636"/>
                  </a:lnTo>
                  <a:close/>
                  <a:moveTo>
                    <a:pt x="1101" y="971"/>
                  </a:moveTo>
                  <a:lnTo>
                    <a:pt x="1101" y="985"/>
                  </a:lnTo>
                  <a:lnTo>
                    <a:pt x="1105" y="1008"/>
                  </a:lnTo>
                  <a:lnTo>
                    <a:pt x="1124" y="1024"/>
                  </a:lnTo>
                  <a:lnTo>
                    <a:pt x="1167" y="1036"/>
                  </a:lnTo>
                  <a:lnTo>
                    <a:pt x="1293" y="1046"/>
                  </a:lnTo>
                  <a:lnTo>
                    <a:pt x="1645" y="1050"/>
                  </a:lnTo>
                  <a:lnTo>
                    <a:pt x="1934" y="1050"/>
                  </a:lnTo>
                  <a:lnTo>
                    <a:pt x="2223" y="1050"/>
                  </a:lnTo>
                  <a:lnTo>
                    <a:pt x="2575" y="1046"/>
                  </a:lnTo>
                  <a:lnTo>
                    <a:pt x="2701" y="1036"/>
                  </a:lnTo>
                  <a:lnTo>
                    <a:pt x="2744" y="1024"/>
                  </a:lnTo>
                  <a:lnTo>
                    <a:pt x="2763" y="1008"/>
                  </a:lnTo>
                  <a:lnTo>
                    <a:pt x="2767" y="985"/>
                  </a:lnTo>
                  <a:lnTo>
                    <a:pt x="2767" y="971"/>
                  </a:lnTo>
                  <a:lnTo>
                    <a:pt x="2767" y="933"/>
                  </a:lnTo>
                  <a:lnTo>
                    <a:pt x="3126" y="933"/>
                  </a:lnTo>
                  <a:lnTo>
                    <a:pt x="3484" y="933"/>
                  </a:lnTo>
                  <a:lnTo>
                    <a:pt x="3484" y="1383"/>
                  </a:lnTo>
                  <a:lnTo>
                    <a:pt x="3484" y="1833"/>
                  </a:lnTo>
                  <a:lnTo>
                    <a:pt x="3442" y="1860"/>
                  </a:lnTo>
                  <a:lnTo>
                    <a:pt x="3428" y="1869"/>
                  </a:lnTo>
                  <a:lnTo>
                    <a:pt x="3407" y="1878"/>
                  </a:lnTo>
                  <a:lnTo>
                    <a:pt x="3388" y="1873"/>
                  </a:lnTo>
                  <a:lnTo>
                    <a:pt x="3364" y="1852"/>
                  </a:lnTo>
                  <a:lnTo>
                    <a:pt x="3346" y="1835"/>
                  </a:lnTo>
                  <a:lnTo>
                    <a:pt x="3330" y="1820"/>
                  </a:lnTo>
                  <a:lnTo>
                    <a:pt x="3303" y="1799"/>
                  </a:lnTo>
                  <a:lnTo>
                    <a:pt x="3278" y="1787"/>
                  </a:lnTo>
                  <a:lnTo>
                    <a:pt x="3252" y="1786"/>
                  </a:lnTo>
                  <a:lnTo>
                    <a:pt x="3223" y="1794"/>
                  </a:lnTo>
                  <a:lnTo>
                    <a:pt x="3190" y="1815"/>
                  </a:lnTo>
                  <a:lnTo>
                    <a:pt x="3128" y="1866"/>
                  </a:lnTo>
                  <a:lnTo>
                    <a:pt x="3072" y="1920"/>
                  </a:lnTo>
                  <a:lnTo>
                    <a:pt x="3024" y="1969"/>
                  </a:lnTo>
                  <a:lnTo>
                    <a:pt x="2956" y="2045"/>
                  </a:lnTo>
                  <a:lnTo>
                    <a:pt x="2929" y="2088"/>
                  </a:lnTo>
                  <a:lnTo>
                    <a:pt x="2920" y="2112"/>
                  </a:lnTo>
                  <a:lnTo>
                    <a:pt x="2919" y="2131"/>
                  </a:lnTo>
                  <a:lnTo>
                    <a:pt x="2926" y="2148"/>
                  </a:lnTo>
                  <a:lnTo>
                    <a:pt x="2932" y="2155"/>
                  </a:lnTo>
                  <a:lnTo>
                    <a:pt x="2940" y="2163"/>
                  </a:lnTo>
                  <a:lnTo>
                    <a:pt x="2950" y="2180"/>
                  </a:lnTo>
                  <a:lnTo>
                    <a:pt x="2951" y="2186"/>
                  </a:lnTo>
                  <a:lnTo>
                    <a:pt x="2943" y="2189"/>
                  </a:lnTo>
                  <a:lnTo>
                    <a:pt x="2856" y="2194"/>
                  </a:lnTo>
                  <a:lnTo>
                    <a:pt x="2609" y="2199"/>
                  </a:lnTo>
                  <a:lnTo>
                    <a:pt x="2381" y="2200"/>
                  </a:lnTo>
                  <a:lnTo>
                    <a:pt x="2056" y="2200"/>
                  </a:lnTo>
                  <a:lnTo>
                    <a:pt x="1846" y="2208"/>
                  </a:lnTo>
                  <a:lnTo>
                    <a:pt x="1803" y="2216"/>
                  </a:lnTo>
                  <a:lnTo>
                    <a:pt x="1786" y="2223"/>
                  </a:lnTo>
                  <a:lnTo>
                    <a:pt x="1781" y="2228"/>
                  </a:lnTo>
                  <a:lnTo>
                    <a:pt x="1768" y="2241"/>
                  </a:lnTo>
                  <a:lnTo>
                    <a:pt x="1754" y="2266"/>
                  </a:lnTo>
                  <a:lnTo>
                    <a:pt x="1753" y="2293"/>
                  </a:lnTo>
                  <a:lnTo>
                    <a:pt x="1766" y="2321"/>
                  </a:lnTo>
                  <a:lnTo>
                    <a:pt x="1779" y="2336"/>
                  </a:lnTo>
                  <a:lnTo>
                    <a:pt x="1784" y="2341"/>
                  </a:lnTo>
                  <a:lnTo>
                    <a:pt x="1798" y="2350"/>
                  </a:lnTo>
                  <a:lnTo>
                    <a:pt x="1837" y="2359"/>
                  </a:lnTo>
                  <a:lnTo>
                    <a:pt x="2044" y="2366"/>
                  </a:lnTo>
                  <a:lnTo>
                    <a:pt x="2387" y="2366"/>
                  </a:lnTo>
                  <a:lnTo>
                    <a:pt x="2619" y="2367"/>
                  </a:lnTo>
                  <a:lnTo>
                    <a:pt x="2935" y="2371"/>
                  </a:lnTo>
                  <a:lnTo>
                    <a:pt x="2967" y="2375"/>
                  </a:lnTo>
                  <a:lnTo>
                    <a:pt x="2962" y="2395"/>
                  </a:lnTo>
                  <a:lnTo>
                    <a:pt x="2944" y="2441"/>
                  </a:lnTo>
                  <a:lnTo>
                    <a:pt x="2936" y="2460"/>
                  </a:lnTo>
                  <a:lnTo>
                    <a:pt x="2921" y="2484"/>
                  </a:lnTo>
                  <a:lnTo>
                    <a:pt x="2901" y="2496"/>
                  </a:lnTo>
                  <a:lnTo>
                    <a:pt x="2868" y="2500"/>
                  </a:lnTo>
                  <a:lnTo>
                    <a:pt x="2844" y="2500"/>
                  </a:lnTo>
                  <a:lnTo>
                    <a:pt x="2823" y="2500"/>
                  </a:lnTo>
                  <a:lnTo>
                    <a:pt x="2788" y="2504"/>
                  </a:lnTo>
                  <a:lnTo>
                    <a:pt x="2762" y="2515"/>
                  </a:lnTo>
                  <a:lnTo>
                    <a:pt x="2742" y="2534"/>
                  </a:lnTo>
                  <a:lnTo>
                    <a:pt x="2729" y="2565"/>
                  </a:lnTo>
                  <a:lnTo>
                    <a:pt x="2721" y="2609"/>
                  </a:lnTo>
                  <a:lnTo>
                    <a:pt x="2717" y="2701"/>
                  </a:lnTo>
                  <a:lnTo>
                    <a:pt x="2719" y="2791"/>
                  </a:lnTo>
                  <a:lnTo>
                    <a:pt x="2726" y="3000"/>
                  </a:lnTo>
                  <a:lnTo>
                    <a:pt x="2264" y="3000"/>
                  </a:lnTo>
                  <a:lnTo>
                    <a:pt x="2008" y="3000"/>
                  </a:lnTo>
                  <a:lnTo>
                    <a:pt x="1834" y="3007"/>
                  </a:lnTo>
                  <a:lnTo>
                    <a:pt x="1796" y="3015"/>
                  </a:lnTo>
                  <a:lnTo>
                    <a:pt x="1782" y="3022"/>
                  </a:lnTo>
                  <a:lnTo>
                    <a:pt x="1777" y="3026"/>
                  </a:lnTo>
                  <a:lnTo>
                    <a:pt x="1765" y="3040"/>
                  </a:lnTo>
                  <a:lnTo>
                    <a:pt x="1752" y="3070"/>
                  </a:lnTo>
                  <a:lnTo>
                    <a:pt x="1755" y="3100"/>
                  </a:lnTo>
                  <a:lnTo>
                    <a:pt x="1772" y="3128"/>
                  </a:lnTo>
                  <a:lnTo>
                    <a:pt x="1787" y="3140"/>
                  </a:lnTo>
                  <a:lnTo>
                    <a:pt x="1794" y="3144"/>
                  </a:lnTo>
                  <a:lnTo>
                    <a:pt x="1813" y="3151"/>
                  </a:lnTo>
                  <a:lnTo>
                    <a:pt x="1862" y="3159"/>
                  </a:lnTo>
                  <a:lnTo>
                    <a:pt x="2082" y="3166"/>
                  </a:lnTo>
                  <a:lnTo>
                    <a:pt x="2402" y="3166"/>
                  </a:lnTo>
                  <a:lnTo>
                    <a:pt x="2981" y="3166"/>
                  </a:lnTo>
                  <a:lnTo>
                    <a:pt x="3001" y="3218"/>
                  </a:lnTo>
                  <a:lnTo>
                    <a:pt x="3007" y="3234"/>
                  </a:lnTo>
                  <a:lnTo>
                    <a:pt x="3013" y="3258"/>
                  </a:lnTo>
                  <a:lnTo>
                    <a:pt x="3007" y="3279"/>
                  </a:lnTo>
                  <a:lnTo>
                    <a:pt x="2986" y="3305"/>
                  </a:lnTo>
                  <a:lnTo>
                    <a:pt x="2969" y="3323"/>
                  </a:lnTo>
                  <a:lnTo>
                    <a:pt x="2948" y="3346"/>
                  </a:lnTo>
                  <a:lnTo>
                    <a:pt x="2926" y="3382"/>
                  </a:lnTo>
                  <a:lnTo>
                    <a:pt x="2918" y="3402"/>
                  </a:lnTo>
                  <a:lnTo>
                    <a:pt x="2917" y="3410"/>
                  </a:lnTo>
                  <a:lnTo>
                    <a:pt x="2920" y="3418"/>
                  </a:lnTo>
                  <a:lnTo>
                    <a:pt x="2944" y="3453"/>
                  </a:lnTo>
                  <a:lnTo>
                    <a:pt x="3012" y="3532"/>
                  </a:lnTo>
                  <a:lnTo>
                    <a:pt x="3129" y="3653"/>
                  </a:lnTo>
                  <a:lnTo>
                    <a:pt x="3205" y="3722"/>
                  </a:lnTo>
                  <a:lnTo>
                    <a:pt x="3239" y="3747"/>
                  </a:lnTo>
                  <a:lnTo>
                    <a:pt x="3247" y="3750"/>
                  </a:lnTo>
                  <a:lnTo>
                    <a:pt x="3258" y="3747"/>
                  </a:lnTo>
                  <a:lnTo>
                    <a:pt x="3301" y="3718"/>
                  </a:lnTo>
                  <a:lnTo>
                    <a:pt x="3326" y="3696"/>
                  </a:lnTo>
                  <a:lnTo>
                    <a:pt x="3344" y="3681"/>
                  </a:lnTo>
                  <a:lnTo>
                    <a:pt x="3372" y="3661"/>
                  </a:lnTo>
                  <a:lnTo>
                    <a:pt x="3394" y="3653"/>
                  </a:lnTo>
                  <a:lnTo>
                    <a:pt x="3417" y="3655"/>
                  </a:lnTo>
                  <a:lnTo>
                    <a:pt x="3431" y="3660"/>
                  </a:lnTo>
                  <a:lnTo>
                    <a:pt x="3476" y="3675"/>
                  </a:lnTo>
                  <a:lnTo>
                    <a:pt x="3481" y="3886"/>
                  </a:lnTo>
                  <a:lnTo>
                    <a:pt x="3486" y="4096"/>
                  </a:lnTo>
                  <a:lnTo>
                    <a:pt x="3271" y="4103"/>
                  </a:lnTo>
                  <a:lnTo>
                    <a:pt x="3167" y="4106"/>
                  </a:lnTo>
                  <a:lnTo>
                    <a:pt x="3073" y="4116"/>
                  </a:lnTo>
                  <a:lnTo>
                    <a:pt x="3038" y="4125"/>
                  </a:lnTo>
                  <a:lnTo>
                    <a:pt x="3029" y="4131"/>
                  </a:lnTo>
                  <a:lnTo>
                    <a:pt x="3021" y="4139"/>
                  </a:lnTo>
                  <a:lnTo>
                    <a:pt x="3010" y="4167"/>
                  </a:lnTo>
                  <a:lnTo>
                    <a:pt x="3001" y="4255"/>
                  </a:lnTo>
                  <a:lnTo>
                    <a:pt x="3001" y="4376"/>
                  </a:lnTo>
                  <a:lnTo>
                    <a:pt x="3001" y="4600"/>
                  </a:lnTo>
                  <a:lnTo>
                    <a:pt x="1747" y="4596"/>
                  </a:lnTo>
                  <a:lnTo>
                    <a:pt x="492" y="4591"/>
                  </a:lnTo>
                  <a:lnTo>
                    <a:pt x="487" y="2761"/>
                  </a:lnTo>
                  <a:lnTo>
                    <a:pt x="484" y="933"/>
                  </a:lnTo>
                  <a:lnTo>
                    <a:pt x="792" y="933"/>
                  </a:lnTo>
                  <a:lnTo>
                    <a:pt x="1101" y="933"/>
                  </a:lnTo>
                  <a:lnTo>
                    <a:pt x="1101" y="971"/>
                  </a:lnTo>
                  <a:close/>
                  <a:moveTo>
                    <a:pt x="4001" y="1816"/>
                  </a:moveTo>
                  <a:lnTo>
                    <a:pt x="4002" y="1843"/>
                  </a:lnTo>
                  <a:lnTo>
                    <a:pt x="4011" y="1874"/>
                  </a:lnTo>
                  <a:lnTo>
                    <a:pt x="4022" y="1892"/>
                  </a:lnTo>
                  <a:lnTo>
                    <a:pt x="4048" y="1914"/>
                  </a:lnTo>
                  <a:lnTo>
                    <a:pt x="4106" y="1938"/>
                  </a:lnTo>
                  <a:lnTo>
                    <a:pt x="4147" y="1950"/>
                  </a:lnTo>
                  <a:lnTo>
                    <a:pt x="4180" y="1960"/>
                  </a:lnTo>
                  <a:lnTo>
                    <a:pt x="4268" y="1996"/>
                  </a:lnTo>
                  <a:lnTo>
                    <a:pt x="4307" y="2016"/>
                  </a:lnTo>
                  <a:lnTo>
                    <a:pt x="4346" y="2037"/>
                  </a:lnTo>
                  <a:lnTo>
                    <a:pt x="4399" y="2060"/>
                  </a:lnTo>
                  <a:lnTo>
                    <a:pt x="4427" y="2063"/>
                  </a:lnTo>
                  <a:lnTo>
                    <a:pt x="4443" y="2059"/>
                  </a:lnTo>
                  <a:lnTo>
                    <a:pt x="4466" y="2043"/>
                  </a:lnTo>
                  <a:lnTo>
                    <a:pt x="4484" y="2025"/>
                  </a:lnTo>
                  <a:lnTo>
                    <a:pt x="4501" y="2008"/>
                  </a:lnTo>
                  <a:lnTo>
                    <a:pt x="4533" y="1985"/>
                  </a:lnTo>
                  <a:lnTo>
                    <a:pt x="4542" y="1983"/>
                  </a:lnTo>
                  <a:lnTo>
                    <a:pt x="4553" y="1987"/>
                  </a:lnTo>
                  <a:lnTo>
                    <a:pt x="4598" y="2022"/>
                  </a:lnTo>
                  <a:lnTo>
                    <a:pt x="4624" y="2048"/>
                  </a:lnTo>
                  <a:lnTo>
                    <a:pt x="4689" y="2115"/>
                  </a:lnTo>
                  <a:lnTo>
                    <a:pt x="4637" y="2175"/>
                  </a:lnTo>
                  <a:lnTo>
                    <a:pt x="4584" y="2235"/>
                  </a:lnTo>
                  <a:lnTo>
                    <a:pt x="4642" y="2348"/>
                  </a:lnTo>
                  <a:lnTo>
                    <a:pt x="4666" y="2398"/>
                  </a:lnTo>
                  <a:lnTo>
                    <a:pt x="4708" y="2502"/>
                  </a:lnTo>
                  <a:lnTo>
                    <a:pt x="4719" y="2540"/>
                  </a:lnTo>
                  <a:lnTo>
                    <a:pt x="4728" y="2575"/>
                  </a:lnTo>
                  <a:lnTo>
                    <a:pt x="4744" y="2612"/>
                  </a:lnTo>
                  <a:lnTo>
                    <a:pt x="4758" y="2630"/>
                  </a:lnTo>
                  <a:lnTo>
                    <a:pt x="4777" y="2643"/>
                  </a:lnTo>
                  <a:lnTo>
                    <a:pt x="4802" y="2651"/>
                  </a:lnTo>
                  <a:lnTo>
                    <a:pt x="4855" y="2660"/>
                  </a:lnTo>
                  <a:lnTo>
                    <a:pt x="4906" y="2665"/>
                  </a:lnTo>
                  <a:lnTo>
                    <a:pt x="4910" y="2671"/>
                  </a:lnTo>
                  <a:lnTo>
                    <a:pt x="4915" y="2724"/>
                  </a:lnTo>
                  <a:lnTo>
                    <a:pt x="4914" y="2761"/>
                  </a:lnTo>
                  <a:lnTo>
                    <a:pt x="4909" y="2858"/>
                  </a:lnTo>
                  <a:lnTo>
                    <a:pt x="4837" y="2868"/>
                  </a:lnTo>
                  <a:lnTo>
                    <a:pt x="4809" y="2872"/>
                  </a:lnTo>
                  <a:lnTo>
                    <a:pt x="4770" y="2885"/>
                  </a:lnTo>
                  <a:lnTo>
                    <a:pt x="4745" y="2911"/>
                  </a:lnTo>
                  <a:lnTo>
                    <a:pt x="4725" y="2957"/>
                  </a:lnTo>
                  <a:lnTo>
                    <a:pt x="4716" y="2991"/>
                  </a:lnTo>
                  <a:lnTo>
                    <a:pt x="4705" y="3024"/>
                  </a:lnTo>
                  <a:lnTo>
                    <a:pt x="4665" y="3120"/>
                  </a:lnTo>
                  <a:lnTo>
                    <a:pt x="4642" y="3168"/>
                  </a:lnTo>
                  <a:lnTo>
                    <a:pt x="4622" y="3208"/>
                  </a:lnTo>
                  <a:lnTo>
                    <a:pt x="4605" y="3252"/>
                  </a:lnTo>
                  <a:lnTo>
                    <a:pt x="4600" y="3276"/>
                  </a:lnTo>
                  <a:lnTo>
                    <a:pt x="4601" y="3297"/>
                  </a:lnTo>
                  <a:lnTo>
                    <a:pt x="4608" y="3317"/>
                  </a:lnTo>
                  <a:lnTo>
                    <a:pt x="4629" y="3349"/>
                  </a:lnTo>
                  <a:lnTo>
                    <a:pt x="4652" y="3376"/>
                  </a:lnTo>
                  <a:lnTo>
                    <a:pt x="4663" y="3388"/>
                  </a:lnTo>
                  <a:lnTo>
                    <a:pt x="4672" y="3406"/>
                  </a:lnTo>
                  <a:lnTo>
                    <a:pt x="4665" y="3425"/>
                  </a:lnTo>
                  <a:lnTo>
                    <a:pt x="4636" y="3456"/>
                  </a:lnTo>
                  <a:lnTo>
                    <a:pt x="4612" y="3480"/>
                  </a:lnTo>
                  <a:lnTo>
                    <a:pt x="4541" y="3551"/>
                  </a:lnTo>
                  <a:lnTo>
                    <a:pt x="4507" y="3515"/>
                  </a:lnTo>
                  <a:lnTo>
                    <a:pt x="4486" y="3491"/>
                  </a:lnTo>
                  <a:lnTo>
                    <a:pt x="4457" y="3470"/>
                  </a:lnTo>
                  <a:lnTo>
                    <a:pt x="4439" y="3463"/>
                  </a:lnTo>
                  <a:lnTo>
                    <a:pt x="4418" y="3462"/>
                  </a:lnTo>
                  <a:lnTo>
                    <a:pt x="4393" y="3467"/>
                  </a:lnTo>
                  <a:lnTo>
                    <a:pt x="4348" y="3485"/>
                  </a:lnTo>
                  <a:lnTo>
                    <a:pt x="4306" y="3506"/>
                  </a:lnTo>
                  <a:lnTo>
                    <a:pt x="4256" y="3531"/>
                  </a:lnTo>
                  <a:lnTo>
                    <a:pt x="4151" y="3573"/>
                  </a:lnTo>
                  <a:lnTo>
                    <a:pt x="4112" y="3585"/>
                  </a:lnTo>
                  <a:lnTo>
                    <a:pt x="4081" y="3592"/>
                  </a:lnTo>
                  <a:lnTo>
                    <a:pt x="4040" y="3609"/>
                  </a:lnTo>
                  <a:lnTo>
                    <a:pt x="4018" y="3634"/>
                  </a:lnTo>
                  <a:lnTo>
                    <a:pt x="4006" y="3676"/>
                  </a:lnTo>
                  <a:lnTo>
                    <a:pt x="4001" y="3708"/>
                  </a:lnTo>
                  <a:lnTo>
                    <a:pt x="3992" y="3775"/>
                  </a:lnTo>
                  <a:lnTo>
                    <a:pt x="3901" y="3775"/>
                  </a:lnTo>
                  <a:lnTo>
                    <a:pt x="3809" y="3775"/>
                  </a:lnTo>
                  <a:lnTo>
                    <a:pt x="3799" y="3703"/>
                  </a:lnTo>
                  <a:lnTo>
                    <a:pt x="3795" y="3675"/>
                  </a:lnTo>
                  <a:lnTo>
                    <a:pt x="3782" y="3636"/>
                  </a:lnTo>
                  <a:lnTo>
                    <a:pt x="3756" y="3610"/>
                  </a:lnTo>
                  <a:lnTo>
                    <a:pt x="3710" y="3591"/>
                  </a:lnTo>
                  <a:lnTo>
                    <a:pt x="3676" y="3581"/>
                  </a:lnTo>
                  <a:lnTo>
                    <a:pt x="3643" y="3571"/>
                  </a:lnTo>
                  <a:lnTo>
                    <a:pt x="3545" y="3530"/>
                  </a:lnTo>
                  <a:lnTo>
                    <a:pt x="3496" y="3506"/>
                  </a:lnTo>
                  <a:lnTo>
                    <a:pt x="3407" y="3462"/>
                  </a:lnTo>
                  <a:lnTo>
                    <a:pt x="3376" y="3450"/>
                  </a:lnTo>
                  <a:lnTo>
                    <a:pt x="3357" y="3461"/>
                  </a:lnTo>
                  <a:lnTo>
                    <a:pt x="3309" y="3503"/>
                  </a:lnTo>
                  <a:lnTo>
                    <a:pt x="3249" y="3555"/>
                  </a:lnTo>
                  <a:lnTo>
                    <a:pt x="3182" y="3490"/>
                  </a:lnTo>
                  <a:lnTo>
                    <a:pt x="3157" y="3463"/>
                  </a:lnTo>
                  <a:lnTo>
                    <a:pt x="3121" y="3419"/>
                  </a:lnTo>
                  <a:lnTo>
                    <a:pt x="3117" y="3408"/>
                  </a:lnTo>
                  <a:lnTo>
                    <a:pt x="3120" y="3398"/>
                  </a:lnTo>
                  <a:lnTo>
                    <a:pt x="3142" y="3367"/>
                  </a:lnTo>
                  <a:lnTo>
                    <a:pt x="3159" y="3350"/>
                  </a:lnTo>
                  <a:lnTo>
                    <a:pt x="3177" y="3331"/>
                  </a:lnTo>
                  <a:lnTo>
                    <a:pt x="3193" y="3305"/>
                  </a:lnTo>
                  <a:lnTo>
                    <a:pt x="3197" y="3287"/>
                  </a:lnTo>
                  <a:lnTo>
                    <a:pt x="3195" y="3255"/>
                  </a:lnTo>
                  <a:lnTo>
                    <a:pt x="3172" y="3199"/>
                  </a:lnTo>
                  <a:lnTo>
                    <a:pt x="3152" y="3161"/>
                  </a:lnTo>
                  <a:lnTo>
                    <a:pt x="3132" y="3122"/>
                  </a:lnTo>
                  <a:lnTo>
                    <a:pt x="3091" y="3022"/>
                  </a:lnTo>
                  <a:lnTo>
                    <a:pt x="3077" y="2980"/>
                  </a:lnTo>
                  <a:lnTo>
                    <a:pt x="3067" y="2945"/>
                  </a:lnTo>
                  <a:lnTo>
                    <a:pt x="3053" y="2910"/>
                  </a:lnTo>
                  <a:lnTo>
                    <a:pt x="3042" y="2894"/>
                  </a:lnTo>
                  <a:lnTo>
                    <a:pt x="3028" y="2883"/>
                  </a:lnTo>
                  <a:lnTo>
                    <a:pt x="3010" y="2875"/>
                  </a:lnTo>
                  <a:lnTo>
                    <a:pt x="2971" y="2867"/>
                  </a:lnTo>
                  <a:lnTo>
                    <a:pt x="2934" y="2863"/>
                  </a:lnTo>
                  <a:lnTo>
                    <a:pt x="2921" y="2861"/>
                  </a:lnTo>
                  <a:lnTo>
                    <a:pt x="2903" y="2852"/>
                  </a:lnTo>
                  <a:lnTo>
                    <a:pt x="2894" y="2832"/>
                  </a:lnTo>
                  <a:lnTo>
                    <a:pt x="2889" y="2792"/>
                  </a:lnTo>
                  <a:lnTo>
                    <a:pt x="2887" y="2761"/>
                  </a:lnTo>
                  <a:lnTo>
                    <a:pt x="2886" y="2728"/>
                  </a:lnTo>
                  <a:lnTo>
                    <a:pt x="2888" y="2686"/>
                  </a:lnTo>
                  <a:lnTo>
                    <a:pt x="2896" y="2670"/>
                  </a:lnTo>
                  <a:lnTo>
                    <a:pt x="2905" y="2665"/>
                  </a:lnTo>
                  <a:lnTo>
                    <a:pt x="2924" y="2663"/>
                  </a:lnTo>
                  <a:lnTo>
                    <a:pt x="2944" y="2665"/>
                  </a:lnTo>
                  <a:lnTo>
                    <a:pt x="2966" y="2666"/>
                  </a:lnTo>
                  <a:lnTo>
                    <a:pt x="3005" y="2653"/>
                  </a:lnTo>
                  <a:lnTo>
                    <a:pt x="3038" y="2624"/>
                  </a:lnTo>
                  <a:lnTo>
                    <a:pt x="3064" y="2579"/>
                  </a:lnTo>
                  <a:lnTo>
                    <a:pt x="3074" y="2550"/>
                  </a:lnTo>
                  <a:lnTo>
                    <a:pt x="3087" y="2510"/>
                  </a:lnTo>
                  <a:lnTo>
                    <a:pt x="3129" y="2409"/>
                  </a:lnTo>
                  <a:lnTo>
                    <a:pt x="3151" y="2365"/>
                  </a:lnTo>
                  <a:lnTo>
                    <a:pt x="3172" y="2322"/>
                  </a:lnTo>
                  <a:lnTo>
                    <a:pt x="3195" y="2262"/>
                  </a:lnTo>
                  <a:lnTo>
                    <a:pt x="3197" y="2231"/>
                  </a:lnTo>
                  <a:lnTo>
                    <a:pt x="3192" y="2212"/>
                  </a:lnTo>
                  <a:lnTo>
                    <a:pt x="3175" y="2184"/>
                  </a:lnTo>
                  <a:lnTo>
                    <a:pt x="3156" y="2163"/>
                  </a:lnTo>
                  <a:lnTo>
                    <a:pt x="3111" y="2116"/>
                  </a:lnTo>
                  <a:lnTo>
                    <a:pt x="3179" y="2046"/>
                  </a:lnTo>
                  <a:lnTo>
                    <a:pt x="3247" y="1978"/>
                  </a:lnTo>
                  <a:lnTo>
                    <a:pt x="3301" y="2021"/>
                  </a:lnTo>
                  <a:lnTo>
                    <a:pt x="3324" y="2041"/>
                  </a:lnTo>
                  <a:lnTo>
                    <a:pt x="3352" y="2058"/>
                  </a:lnTo>
                  <a:lnTo>
                    <a:pt x="3370" y="2063"/>
                  </a:lnTo>
                  <a:lnTo>
                    <a:pt x="3399" y="2061"/>
                  </a:lnTo>
                  <a:lnTo>
                    <a:pt x="3451" y="2039"/>
                  </a:lnTo>
                  <a:lnTo>
                    <a:pt x="3489" y="2018"/>
                  </a:lnTo>
                  <a:lnTo>
                    <a:pt x="3529" y="1997"/>
                  </a:lnTo>
                  <a:lnTo>
                    <a:pt x="3629" y="1955"/>
                  </a:lnTo>
                  <a:lnTo>
                    <a:pt x="3672" y="1941"/>
                  </a:lnTo>
                  <a:lnTo>
                    <a:pt x="3708" y="1930"/>
                  </a:lnTo>
                  <a:lnTo>
                    <a:pt x="3759" y="1906"/>
                  </a:lnTo>
                  <a:lnTo>
                    <a:pt x="3781" y="1883"/>
                  </a:lnTo>
                  <a:lnTo>
                    <a:pt x="3792" y="1864"/>
                  </a:lnTo>
                  <a:lnTo>
                    <a:pt x="3800" y="1830"/>
                  </a:lnTo>
                  <a:lnTo>
                    <a:pt x="3801" y="1801"/>
                  </a:lnTo>
                  <a:lnTo>
                    <a:pt x="3801" y="1750"/>
                  </a:lnTo>
                  <a:lnTo>
                    <a:pt x="3901" y="1750"/>
                  </a:lnTo>
                  <a:lnTo>
                    <a:pt x="4001" y="1750"/>
                  </a:lnTo>
                  <a:lnTo>
                    <a:pt x="4001" y="1816"/>
                  </a:lnTo>
                  <a:close/>
                  <a:moveTo>
                    <a:pt x="3351" y="4280"/>
                  </a:moveTo>
                  <a:lnTo>
                    <a:pt x="3345" y="4290"/>
                  </a:lnTo>
                  <a:lnTo>
                    <a:pt x="3295" y="4346"/>
                  </a:lnTo>
                  <a:lnTo>
                    <a:pt x="3259" y="4383"/>
                  </a:lnTo>
                  <a:lnTo>
                    <a:pt x="3167" y="4473"/>
                  </a:lnTo>
                  <a:lnTo>
                    <a:pt x="3167" y="4370"/>
                  </a:lnTo>
                  <a:lnTo>
                    <a:pt x="3167" y="4266"/>
                  </a:lnTo>
                  <a:lnTo>
                    <a:pt x="3259" y="4266"/>
                  </a:lnTo>
                  <a:lnTo>
                    <a:pt x="3295" y="4267"/>
                  </a:lnTo>
                  <a:lnTo>
                    <a:pt x="3345" y="4275"/>
                  </a:lnTo>
                  <a:lnTo>
                    <a:pt x="3351" y="42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26">
              <a:extLst>
                <a:ext uri="{FF2B5EF4-FFF2-40B4-BE49-F238E27FC236}">
                  <a16:creationId xmlns:a16="http://schemas.microsoft.com/office/drawing/2014/main" id="{C79D8E76-99E4-6880-24FB-634D5FD87DEA}"/>
                </a:ext>
              </a:extLst>
            </p:cNvPr>
            <p:cNvSpPr>
              <a:spLocks/>
            </p:cNvSpPr>
            <p:nvPr/>
          </p:nvSpPr>
          <p:spPr bwMode="auto">
            <a:xfrm>
              <a:off x="703263" y="3092451"/>
              <a:ext cx="541338" cy="65088"/>
            </a:xfrm>
            <a:custGeom>
              <a:avLst/>
              <a:gdLst>
                <a:gd name="T0" fmla="*/ 37 w 1397"/>
                <a:gd name="T1" fmla="*/ 24 h 165"/>
                <a:gd name="T2" fmla="*/ 21 w 1397"/>
                <a:gd name="T3" fmla="*/ 36 h 165"/>
                <a:gd name="T4" fmla="*/ 3 w 1397"/>
                <a:gd name="T5" fmla="*/ 64 h 165"/>
                <a:gd name="T6" fmla="*/ 0 w 1397"/>
                <a:gd name="T7" fmla="*/ 95 h 165"/>
                <a:gd name="T8" fmla="*/ 12 w 1397"/>
                <a:gd name="T9" fmla="*/ 125 h 165"/>
                <a:gd name="T10" fmla="*/ 25 w 1397"/>
                <a:gd name="T11" fmla="*/ 139 h 165"/>
                <a:gd name="T12" fmla="*/ 30 w 1397"/>
                <a:gd name="T13" fmla="*/ 143 h 165"/>
                <a:gd name="T14" fmla="*/ 46 w 1397"/>
                <a:gd name="T15" fmla="*/ 150 h 165"/>
                <a:gd name="T16" fmla="*/ 95 w 1397"/>
                <a:gd name="T17" fmla="*/ 158 h 165"/>
                <a:gd name="T18" fmla="*/ 334 w 1397"/>
                <a:gd name="T19" fmla="*/ 165 h 165"/>
                <a:gd name="T20" fmla="*/ 699 w 1397"/>
                <a:gd name="T21" fmla="*/ 165 h 165"/>
                <a:gd name="T22" fmla="*/ 1063 w 1397"/>
                <a:gd name="T23" fmla="*/ 165 h 165"/>
                <a:gd name="T24" fmla="*/ 1302 w 1397"/>
                <a:gd name="T25" fmla="*/ 158 h 165"/>
                <a:gd name="T26" fmla="*/ 1351 w 1397"/>
                <a:gd name="T27" fmla="*/ 150 h 165"/>
                <a:gd name="T28" fmla="*/ 1367 w 1397"/>
                <a:gd name="T29" fmla="*/ 143 h 165"/>
                <a:gd name="T30" fmla="*/ 1372 w 1397"/>
                <a:gd name="T31" fmla="*/ 139 h 165"/>
                <a:gd name="T32" fmla="*/ 1383 w 1397"/>
                <a:gd name="T33" fmla="*/ 127 h 165"/>
                <a:gd name="T34" fmla="*/ 1396 w 1397"/>
                <a:gd name="T35" fmla="*/ 104 h 165"/>
                <a:gd name="T36" fmla="*/ 1397 w 1397"/>
                <a:gd name="T37" fmla="*/ 80 h 165"/>
                <a:gd name="T38" fmla="*/ 1386 w 1397"/>
                <a:gd name="T39" fmla="*/ 54 h 165"/>
                <a:gd name="T40" fmla="*/ 1375 w 1397"/>
                <a:gd name="T41" fmla="*/ 39 h 165"/>
                <a:gd name="T42" fmla="*/ 1371 w 1397"/>
                <a:gd name="T43" fmla="*/ 33 h 165"/>
                <a:gd name="T44" fmla="*/ 1358 w 1397"/>
                <a:gd name="T45" fmla="*/ 24 h 165"/>
                <a:gd name="T46" fmla="*/ 1320 w 1397"/>
                <a:gd name="T47" fmla="*/ 15 h 165"/>
                <a:gd name="T48" fmla="*/ 1097 w 1397"/>
                <a:gd name="T49" fmla="*/ 5 h 165"/>
                <a:gd name="T50" fmla="*/ 712 w 1397"/>
                <a:gd name="T51" fmla="*/ 2 h 165"/>
                <a:gd name="T52" fmla="*/ 352 w 1397"/>
                <a:gd name="T53" fmla="*/ 0 h 165"/>
                <a:gd name="T54" fmla="*/ 114 w 1397"/>
                <a:gd name="T55" fmla="*/ 5 h 165"/>
                <a:gd name="T56" fmla="*/ 63 w 1397"/>
                <a:gd name="T57" fmla="*/ 13 h 165"/>
                <a:gd name="T58" fmla="*/ 43 w 1397"/>
                <a:gd name="T59" fmla="*/ 19 h 165"/>
                <a:gd name="T60" fmla="*/ 37 w 1397"/>
                <a:gd name="T61" fmla="*/ 24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97" h="165">
                  <a:moveTo>
                    <a:pt x="37" y="24"/>
                  </a:moveTo>
                  <a:lnTo>
                    <a:pt x="21" y="36"/>
                  </a:lnTo>
                  <a:lnTo>
                    <a:pt x="3" y="64"/>
                  </a:lnTo>
                  <a:lnTo>
                    <a:pt x="0" y="95"/>
                  </a:lnTo>
                  <a:lnTo>
                    <a:pt x="12" y="125"/>
                  </a:lnTo>
                  <a:lnTo>
                    <a:pt x="25" y="139"/>
                  </a:lnTo>
                  <a:lnTo>
                    <a:pt x="30" y="143"/>
                  </a:lnTo>
                  <a:lnTo>
                    <a:pt x="46" y="150"/>
                  </a:lnTo>
                  <a:lnTo>
                    <a:pt x="95" y="158"/>
                  </a:lnTo>
                  <a:lnTo>
                    <a:pt x="334" y="165"/>
                  </a:lnTo>
                  <a:lnTo>
                    <a:pt x="699" y="165"/>
                  </a:lnTo>
                  <a:lnTo>
                    <a:pt x="1063" y="165"/>
                  </a:lnTo>
                  <a:lnTo>
                    <a:pt x="1302" y="158"/>
                  </a:lnTo>
                  <a:lnTo>
                    <a:pt x="1351" y="150"/>
                  </a:lnTo>
                  <a:lnTo>
                    <a:pt x="1367" y="143"/>
                  </a:lnTo>
                  <a:lnTo>
                    <a:pt x="1372" y="139"/>
                  </a:lnTo>
                  <a:lnTo>
                    <a:pt x="1383" y="127"/>
                  </a:lnTo>
                  <a:lnTo>
                    <a:pt x="1396" y="104"/>
                  </a:lnTo>
                  <a:lnTo>
                    <a:pt x="1397" y="80"/>
                  </a:lnTo>
                  <a:lnTo>
                    <a:pt x="1386" y="54"/>
                  </a:lnTo>
                  <a:lnTo>
                    <a:pt x="1375" y="39"/>
                  </a:lnTo>
                  <a:lnTo>
                    <a:pt x="1371" y="33"/>
                  </a:lnTo>
                  <a:lnTo>
                    <a:pt x="1358" y="24"/>
                  </a:lnTo>
                  <a:lnTo>
                    <a:pt x="1320" y="15"/>
                  </a:lnTo>
                  <a:lnTo>
                    <a:pt x="1097" y="5"/>
                  </a:lnTo>
                  <a:lnTo>
                    <a:pt x="712" y="2"/>
                  </a:lnTo>
                  <a:lnTo>
                    <a:pt x="352" y="0"/>
                  </a:lnTo>
                  <a:lnTo>
                    <a:pt x="114" y="5"/>
                  </a:lnTo>
                  <a:lnTo>
                    <a:pt x="63" y="13"/>
                  </a:lnTo>
                  <a:lnTo>
                    <a:pt x="43" y="19"/>
                  </a:lnTo>
                  <a:lnTo>
                    <a:pt x="37"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127">
              <a:extLst>
                <a:ext uri="{FF2B5EF4-FFF2-40B4-BE49-F238E27FC236}">
                  <a16:creationId xmlns:a16="http://schemas.microsoft.com/office/drawing/2014/main" id="{A771053C-3052-7BF7-AD62-E43D506B59CE}"/>
                </a:ext>
              </a:extLst>
            </p:cNvPr>
            <p:cNvSpPr>
              <a:spLocks/>
            </p:cNvSpPr>
            <p:nvPr/>
          </p:nvSpPr>
          <p:spPr bwMode="auto">
            <a:xfrm>
              <a:off x="341313" y="3098801"/>
              <a:ext cx="263525" cy="190500"/>
            </a:xfrm>
            <a:custGeom>
              <a:avLst/>
              <a:gdLst>
                <a:gd name="T0" fmla="*/ 434 w 680"/>
                <a:gd name="T1" fmla="*/ 142 h 492"/>
                <a:gd name="T2" fmla="*/ 376 w 680"/>
                <a:gd name="T3" fmla="*/ 199 h 492"/>
                <a:gd name="T4" fmla="*/ 292 w 680"/>
                <a:gd name="T5" fmla="*/ 276 h 492"/>
                <a:gd name="T6" fmla="*/ 279 w 680"/>
                <a:gd name="T7" fmla="*/ 284 h 492"/>
                <a:gd name="T8" fmla="*/ 268 w 680"/>
                <a:gd name="T9" fmla="*/ 280 h 492"/>
                <a:gd name="T10" fmla="*/ 220 w 680"/>
                <a:gd name="T11" fmla="*/ 244 h 492"/>
                <a:gd name="T12" fmla="*/ 189 w 680"/>
                <a:gd name="T13" fmla="*/ 217 h 492"/>
                <a:gd name="T14" fmla="*/ 157 w 680"/>
                <a:gd name="T15" fmla="*/ 190 h 492"/>
                <a:gd name="T16" fmla="*/ 103 w 680"/>
                <a:gd name="T17" fmla="*/ 154 h 492"/>
                <a:gd name="T18" fmla="*/ 90 w 680"/>
                <a:gd name="T19" fmla="*/ 150 h 492"/>
                <a:gd name="T20" fmla="*/ 79 w 680"/>
                <a:gd name="T21" fmla="*/ 152 h 492"/>
                <a:gd name="T22" fmla="*/ 49 w 680"/>
                <a:gd name="T23" fmla="*/ 170 h 492"/>
                <a:gd name="T24" fmla="*/ 21 w 680"/>
                <a:gd name="T25" fmla="*/ 197 h 492"/>
                <a:gd name="T26" fmla="*/ 2 w 680"/>
                <a:gd name="T27" fmla="*/ 224 h 492"/>
                <a:gd name="T28" fmla="*/ 0 w 680"/>
                <a:gd name="T29" fmla="*/ 235 h 492"/>
                <a:gd name="T30" fmla="*/ 2 w 680"/>
                <a:gd name="T31" fmla="*/ 242 h 492"/>
                <a:gd name="T32" fmla="*/ 20 w 680"/>
                <a:gd name="T33" fmla="*/ 268 h 492"/>
                <a:gd name="T34" fmla="*/ 69 w 680"/>
                <a:gd name="T35" fmla="*/ 325 h 492"/>
                <a:gd name="T36" fmla="*/ 158 w 680"/>
                <a:gd name="T37" fmla="*/ 413 h 492"/>
                <a:gd name="T38" fmla="*/ 217 w 680"/>
                <a:gd name="T39" fmla="*/ 465 h 492"/>
                <a:gd name="T40" fmla="*/ 246 w 680"/>
                <a:gd name="T41" fmla="*/ 487 h 492"/>
                <a:gd name="T42" fmla="*/ 255 w 680"/>
                <a:gd name="T43" fmla="*/ 490 h 492"/>
                <a:gd name="T44" fmla="*/ 266 w 680"/>
                <a:gd name="T45" fmla="*/ 492 h 492"/>
                <a:gd name="T46" fmla="*/ 298 w 680"/>
                <a:gd name="T47" fmla="*/ 478 h 492"/>
                <a:gd name="T48" fmla="*/ 348 w 680"/>
                <a:gd name="T49" fmla="*/ 438 h 492"/>
                <a:gd name="T50" fmla="*/ 426 w 680"/>
                <a:gd name="T51" fmla="*/ 366 h 492"/>
                <a:gd name="T52" fmla="*/ 479 w 680"/>
                <a:gd name="T53" fmla="*/ 314 h 492"/>
                <a:gd name="T54" fmla="*/ 555 w 680"/>
                <a:gd name="T55" fmla="*/ 237 h 492"/>
                <a:gd name="T56" fmla="*/ 640 w 680"/>
                <a:gd name="T57" fmla="*/ 144 h 492"/>
                <a:gd name="T58" fmla="*/ 672 w 680"/>
                <a:gd name="T59" fmla="*/ 105 h 492"/>
                <a:gd name="T60" fmla="*/ 677 w 680"/>
                <a:gd name="T61" fmla="*/ 95 h 492"/>
                <a:gd name="T62" fmla="*/ 680 w 680"/>
                <a:gd name="T63" fmla="*/ 81 h 492"/>
                <a:gd name="T64" fmla="*/ 669 w 680"/>
                <a:gd name="T65" fmla="*/ 49 h 492"/>
                <a:gd name="T66" fmla="*/ 647 w 680"/>
                <a:gd name="T67" fmla="*/ 20 h 492"/>
                <a:gd name="T68" fmla="*/ 617 w 680"/>
                <a:gd name="T69" fmla="*/ 2 h 492"/>
                <a:gd name="T70" fmla="*/ 602 w 680"/>
                <a:gd name="T71" fmla="*/ 0 h 492"/>
                <a:gd name="T72" fmla="*/ 594 w 680"/>
                <a:gd name="T73" fmla="*/ 2 h 492"/>
                <a:gd name="T74" fmla="*/ 563 w 680"/>
                <a:gd name="T75" fmla="*/ 24 h 492"/>
                <a:gd name="T76" fmla="*/ 492 w 680"/>
                <a:gd name="T77" fmla="*/ 85 h 492"/>
                <a:gd name="T78" fmla="*/ 434 w 680"/>
                <a:gd name="T79" fmla="*/ 142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0" h="492">
                  <a:moveTo>
                    <a:pt x="434" y="142"/>
                  </a:moveTo>
                  <a:lnTo>
                    <a:pt x="376" y="199"/>
                  </a:lnTo>
                  <a:lnTo>
                    <a:pt x="292" y="276"/>
                  </a:lnTo>
                  <a:lnTo>
                    <a:pt x="279" y="284"/>
                  </a:lnTo>
                  <a:lnTo>
                    <a:pt x="268" y="280"/>
                  </a:lnTo>
                  <a:lnTo>
                    <a:pt x="220" y="244"/>
                  </a:lnTo>
                  <a:lnTo>
                    <a:pt x="189" y="217"/>
                  </a:lnTo>
                  <a:lnTo>
                    <a:pt x="157" y="190"/>
                  </a:lnTo>
                  <a:lnTo>
                    <a:pt x="103" y="154"/>
                  </a:lnTo>
                  <a:lnTo>
                    <a:pt x="90" y="150"/>
                  </a:lnTo>
                  <a:lnTo>
                    <a:pt x="79" y="152"/>
                  </a:lnTo>
                  <a:lnTo>
                    <a:pt x="49" y="170"/>
                  </a:lnTo>
                  <a:lnTo>
                    <a:pt x="21" y="197"/>
                  </a:lnTo>
                  <a:lnTo>
                    <a:pt x="2" y="224"/>
                  </a:lnTo>
                  <a:lnTo>
                    <a:pt x="0" y="235"/>
                  </a:lnTo>
                  <a:lnTo>
                    <a:pt x="2" y="242"/>
                  </a:lnTo>
                  <a:lnTo>
                    <a:pt x="20" y="268"/>
                  </a:lnTo>
                  <a:lnTo>
                    <a:pt x="69" y="325"/>
                  </a:lnTo>
                  <a:lnTo>
                    <a:pt x="158" y="413"/>
                  </a:lnTo>
                  <a:lnTo>
                    <a:pt x="217" y="465"/>
                  </a:lnTo>
                  <a:lnTo>
                    <a:pt x="246" y="487"/>
                  </a:lnTo>
                  <a:lnTo>
                    <a:pt x="255" y="490"/>
                  </a:lnTo>
                  <a:lnTo>
                    <a:pt x="266" y="492"/>
                  </a:lnTo>
                  <a:lnTo>
                    <a:pt x="298" y="478"/>
                  </a:lnTo>
                  <a:lnTo>
                    <a:pt x="348" y="438"/>
                  </a:lnTo>
                  <a:lnTo>
                    <a:pt x="426" y="366"/>
                  </a:lnTo>
                  <a:lnTo>
                    <a:pt x="479" y="314"/>
                  </a:lnTo>
                  <a:lnTo>
                    <a:pt x="555" y="237"/>
                  </a:lnTo>
                  <a:lnTo>
                    <a:pt x="640" y="144"/>
                  </a:lnTo>
                  <a:lnTo>
                    <a:pt x="672" y="105"/>
                  </a:lnTo>
                  <a:lnTo>
                    <a:pt x="677" y="95"/>
                  </a:lnTo>
                  <a:lnTo>
                    <a:pt x="680" y="81"/>
                  </a:lnTo>
                  <a:lnTo>
                    <a:pt x="669" y="49"/>
                  </a:lnTo>
                  <a:lnTo>
                    <a:pt x="647" y="20"/>
                  </a:lnTo>
                  <a:lnTo>
                    <a:pt x="617" y="2"/>
                  </a:lnTo>
                  <a:lnTo>
                    <a:pt x="602" y="0"/>
                  </a:lnTo>
                  <a:lnTo>
                    <a:pt x="594" y="2"/>
                  </a:lnTo>
                  <a:lnTo>
                    <a:pt x="563" y="24"/>
                  </a:lnTo>
                  <a:lnTo>
                    <a:pt x="492" y="85"/>
                  </a:lnTo>
                  <a:lnTo>
                    <a:pt x="434"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128">
              <a:extLst>
                <a:ext uri="{FF2B5EF4-FFF2-40B4-BE49-F238E27FC236}">
                  <a16:creationId xmlns:a16="http://schemas.microsoft.com/office/drawing/2014/main" id="{83A67FB7-1570-BE1D-E757-737E295490A5}"/>
                </a:ext>
              </a:extLst>
            </p:cNvPr>
            <p:cNvSpPr>
              <a:spLocks/>
            </p:cNvSpPr>
            <p:nvPr/>
          </p:nvSpPr>
          <p:spPr bwMode="auto">
            <a:xfrm>
              <a:off x="704850" y="3227388"/>
              <a:ext cx="298450" cy="65088"/>
            </a:xfrm>
            <a:custGeom>
              <a:avLst/>
              <a:gdLst>
                <a:gd name="T0" fmla="*/ 47 w 775"/>
                <a:gd name="T1" fmla="*/ 21 h 166"/>
                <a:gd name="T2" fmla="*/ 29 w 775"/>
                <a:gd name="T3" fmla="*/ 32 h 166"/>
                <a:gd name="T4" fmla="*/ 6 w 775"/>
                <a:gd name="T5" fmla="*/ 59 h 166"/>
                <a:gd name="T6" fmla="*/ 0 w 775"/>
                <a:gd name="T7" fmla="*/ 92 h 166"/>
                <a:gd name="T8" fmla="*/ 9 w 775"/>
                <a:gd name="T9" fmla="*/ 125 h 166"/>
                <a:gd name="T10" fmla="*/ 22 w 775"/>
                <a:gd name="T11" fmla="*/ 140 h 166"/>
                <a:gd name="T12" fmla="*/ 31 w 775"/>
                <a:gd name="T13" fmla="*/ 148 h 166"/>
                <a:gd name="T14" fmla="*/ 69 w 775"/>
                <a:gd name="T15" fmla="*/ 159 h 166"/>
                <a:gd name="T16" fmla="*/ 199 w 775"/>
                <a:gd name="T17" fmla="*/ 166 h 166"/>
                <a:gd name="T18" fmla="*/ 387 w 775"/>
                <a:gd name="T19" fmla="*/ 166 h 166"/>
                <a:gd name="T20" fmla="*/ 586 w 775"/>
                <a:gd name="T21" fmla="*/ 166 h 166"/>
                <a:gd name="T22" fmla="*/ 710 w 775"/>
                <a:gd name="T23" fmla="*/ 158 h 166"/>
                <a:gd name="T24" fmla="*/ 743 w 775"/>
                <a:gd name="T25" fmla="*/ 145 h 166"/>
                <a:gd name="T26" fmla="*/ 753 w 775"/>
                <a:gd name="T27" fmla="*/ 135 h 166"/>
                <a:gd name="T28" fmla="*/ 760 w 775"/>
                <a:gd name="T29" fmla="*/ 127 h 166"/>
                <a:gd name="T30" fmla="*/ 769 w 775"/>
                <a:gd name="T31" fmla="*/ 110 h 166"/>
                <a:gd name="T32" fmla="*/ 775 w 775"/>
                <a:gd name="T33" fmla="*/ 84 h 166"/>
                <a:gd name="T34" fmla="*/ 765 w 775"/>
                <a:gd name="T35" fmla="*/ 51 h 166"/>
                <a:gd name="T36" fmla="*/ 738 w 775"/>
                <a:gd name="T37" fmla="*/ 24 h 166"/>
                <a:gd name="T38" fmla="*/ 718 w 775"/>
                <a:gd name="T39" fmla="*/ 15 h 166"/>
                <a:gd name="T40" fmla="*/ 703 w 775"/>
                <a:gd name="T41" fmla="*/ 11 h 166"/>
                <a:gd name="T42" fmla="*/ 638 w 775"/>
                <a:gd name="T43" fmla="*/ 4 h 166"/>
                <a:gd name="T44" fmla="*/ 493 w 775"/>
                <a:gd name="T45" fmla="*/ 0 h 166"/>
                <a:gd name="T46" fmla="*/ 262 w 775"/>
                <a:gd name="T47" fmla="*/ 2 h 166"/>
                <a:gd name="T48" fmla="*/ 121 w 775"/>
                <a:gd name="T49" fmla="*/ 9 h 166"/>
                <a:gd name="T50" fmla="*/ 60 w 775"/>
                <a:gd name="T51" fmla="*/ 17 h 166"/>
                <a:gd name="T52" fmla="*/ 47 w 775"/>
                <a:gd name="T53"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5" h="166">
                  <a:moveTo>
                    <a:pt x="47" y="21"/>
                  </a:moveTo>
                  <a:lnTo>
                    <a:pt x="29" y="32"/>
                  </a:lnTo>
                  <a:lnTo>
                    <a:pt x="6" y="59"/>
                  </a:lnTo>
                  <a:lnTo>
                    <a:pt x="0" y="92"/>
                  </a:lnTo>
                  <a:lnTo>
                    <a:pt x="9" y="125"/>
                  </a:lnTo>
                  <a:lnTo>
                    <a:pt x="22" y="140"/>
                  </a:lnTo>
                  <a:lnTo>
                    <a:pt x="31" y="148"/>
                  </a:lnTo>
                  <a:lnTo>
                    <a:pt x="69" y="159"/>
                  </a:lnTo>
                  <a:lnTo>
                    <a:pt x="199" y="166"/>
                  </a:lnTo>
                  <a:lnTo>
                    <a:pt x="387" y="166"/>
                  </a:lnTo>
                  <a:lnTo>
                    <a:pt x="586" y="166"/>
                  </a:lnTo>
                  <a:lnTo>
                    <a:pt x="710" y="158"/>
                  </a:lnTo>
                  <a:lnTo>
                    <a:pt x="743" y="145"/>
                  </a:lnTo>
                  <a:lnTo>
                    <a:pt x="753" y="135"/>
                  </a:lnTo>
                  <a:lnTo>
                    <a:pt x="760" y="127"/>
                  </a:lnTo>
                  <a:lnTo>
                    <a:pt x="769" y="110"/>
                  </a:lnTo>
                  <a:lnTo>
                    <a:pt x="775" y="84"/>
                  </a:lnTo>
                  <a:lnTo>
                    <a:pt x="765" y="51"/>
                  </a:lnTo>
                  <a:lnTo>
                    <a:pt x="738" y="24"/>
                  </a:lnTo>
                  <a:lnTo>
                    <a:pt x="718" y="15"/>
                  </a:lnTo>
                  <a:lnTo>
                    <a:pt x="703" y="11"/>
                  </a:lnTo>
                  <a:lnTo>
                    <a:pt x="638" y="4"/>
                  </a:lnTo>
                  <a:lnTo>
                    <a:pt x="493" y="0"/>
                  </a:lnTo>
                  <a:lnTo>
                    <a:pt x="262" y="2"/>
                  </a:lnTo>
                  <a:lnTo>
                    <a:pt x="121" y="9"/>
                  </a:lnTo>
                  <a:lnTo>
                    <a:pt x="60" y="17"/>
                  </a:lnTo>
                  <a:lnTo>
                    <a:pt x="47"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129">
              <a:extLst>
                <a:ext uri="{FF2B5EF4-FFF2-40B4-BE49-F238E27FC236}">
                  <a16:creationId xmlns:a16="http://schemas.microsoft.com/office/drawing/2014/main" id="{6157E8AD-1F18-B9F1-2B1D-A2397A16EB07}"/>
                </a:ext>
              </a:extLst>
            </p:cNvPr>
            <p:cNvSpPr>
              <a:spLocks/>
            </p:cNvSpPr>
            <p:nvPr/>
          </p:nvSpPr>
          <p:spPr bwMode="auto">
            <a:xfrm>
              <a:off x="344488" y="3408363"/>
              <a:ext cx="261938" cy="187325"/>
            </a:xfrm>
            <a:custGeom>
              <a:avLst/>
              <a:gdLst>
                <a:gd name="T0" fmla="*/ 409 w 678"/>
                <a:gd name="T1" fmla="*/ 145 h 484"/>
                <a:gd name="T2" fmla="*/ 263 w 678"/>
                <a:gd name="T3" fmla="*/ 289 h 484"/>
                <a:gd name="T4" fmla="*/ 188 w 678"/>
                <a:gd name="T5" fmla="*/ 220 h 484"/>
                <a:gd name="T6" fmla="*/ 156 w 678"/>
                <a:gd name="T7" fmla="*/ 193 h 484"/>
                <a:gd name="T8" fmla="*/ 117 w 678"/>
                <a:gd name="T9" fmla="*/ 166 h 484"/>
                <a:gd name="T10" fmla="*/ 95 w 678"/>
                <a:gd name="T11" fmla="*/ 156 h 484"/>
                <a:gd name="T12" fmla="*/ 75 w 678"/>
                <a:gd name="T13" fmla="*/ 153 h 484"/>
                <a:gd name="T14" fmla="*/ 57 w 678"/>
                <a:gd name="T15" fmla="*/ 156 h 484"/>
                <a:gd name="T16" fmla="*/ 40 w 678"/>
                <a:gd name="T17" fmla="*/ 166 h 484"/>
                <a:gd name="T18" fmla="*/ 25 w 678"/>
                <a:gd name="T19" fmla="*/ 182 h 484"/>
                <a:gd name="T20" fmla="*/ 18 w 678"/>
                <a:gd name="T21" fmla="*/ 192 h 484"/>
                <a:gd name="T22" fmla="*/ 9 w 678"/>
                <a:gd name="T23" fmla="*/ 205 h 484"/>
                <a:gd name="T24" fmla="*/ 0 w 678"/>
                <a:gd name="T25" fmla="*/ 225 h 484"/>
                <a:gd name="T26" fmla="*/ 2 w 678"/>
                <a:gd name="T27" fmla="*/ 243 h 484"/>
                <a:gd name="T28" fmla="*/ 15 w 678"/>
                <a:gd name="T29" fmla="*/ 266 h 484"/>
                <a:gd name="T30" fmla="*/ 26 w 678"/>
                <a:gd name="T31" fmla="*/ 282 h 484"/>
                <a:gd name="T32" fmla="*/ 51 w 678"/>
                <a:gd name="T33" fmla="*/ 313 h 484"/>
                <a:gd name="T34" fmla="*/ 118 w 678"/>
                <a:gd name="T35" fmla="*/ 381 h 484"/>
                <a:gd name="T36" fmla="*/ 190 w 678"/>
                <a:gd name="T37" fmla="*/ 442 h 484"/>
                <a:gd name="T38" fmla="*/ 236 w 678"/>
                <a:gd name="T39" fmla="*/ 472 h 484"/>
                <a:gd name="T40" fmla="*/ 260 w 678"/>
                <a:gd name="T41" fmla="*/ 483 h 484"/>
                <a:gd name="T42" fmla="*/ 268 w 678"/>
                <a:gd name="T43" fmla="*/ 484 h 484"/>
                <a:gd name="T44" fmla="*/ 278 w 678"/>
                <a:gd name="T45" fmla="*/ 481 h 484"/>
                <a:gd name="T46" fmla="*/ 320 w 678"/>
                <a:gd name="T47" fmla="*/ 451 h 484"/>
                <a:gd name="T48" fmla="*/ 414 w 678"/>
                <a:gd name="T49" fmla="*/ 369 h 484"/>
                <a:gd name="T50" fmla="*/ 560 w 678"/>
                <a:gd name="T51" fmla="*/ 227 h 484"/>
                <a:gd name="T52" fmla="*/ 644 w 678"/>
                <a:gd name="T53" fmla="*/ 136 h 484"/>
                <a:gd name="T54" fmla="*/ 675 w 678"/>
                <a:gd name="T55" fmla="*/ 95 h 484"/>
                <a:gd name="T56" fmla="*/ 678 w 678"/>
                <a:gd name="T57" fmla="*/ 85 h 484"/>
                <a:gd name="T58" fmla="*/ 677 w 678"/>
                <a:gd name="T59" fmla="*/ 69 h 484"/>
                <a:gd name="T60" fmla="*/ 664 w 678"/>
                <a:gd name="T61" fmla="*/ 38 h 484"/>
                <a:gd name="T62" fmla="*/ 643 w 678"/>
                <a:gd name="T63" fmla="*/ 15 h 484"/>
                <a:gd name="T64" fmla="*/ 615 w 678"/>
                <a:gd name="T65" fmla="*/ 2 h 484"/>
                <a:gd name="T66" fmla="*/ 599 w 678"/>
                <a:gd name="T67" fmla="*/ 0 h 484"/>
                <a:gd name="T68" fmla="*/ 587 w 678"/>
                <a:gd name="T69" fmla="*/ 2 h 484"/>
                <a:gd name="T70" fmla="*/ 554 w 678"/>
                <a:gd name="T71" fmla="*/ 17 h 484"/>
                <a:gd name="T72" fmla="*/ 509 w 678"/>
                <a:gd name="T73" fmla="*/ 52 h 484"/>
                <a:gd name="T74" fmla="*/ 448 w 678"/>
                <a:gd name="T75" fmla="*/ 107 h 484"/>
                <a:gd name="T76" fmla="*/ 409 w 678"/>
                <a:gd name="T77" fmla="*/ 14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484">
                  <a:moveTo>
                    <a:pt x="409" y="145"/>
                  </a:moveTo>
                  <a:lnTo>
                    <a:pt x="263" y="289"/>
                  </a:lnTo>
                  <a:lnTo>
                    <a:pt x="188" y="220"/>
                  </a:lnTo>
                  <a:lnTo>
                    <a:pt x="156" y="193"/>
                  </a:lnTo>
                  <a:lnTo>
                    <a:pt x="117" y="166"/>
                  </a:lnTo>
                  <a:lnTo>
                    <a:pt x="95" y="156"/>
                  </a:lnTo>
                  <a:lnTo>
                    <a:pt x="75" y="153"/>
                  </a:lnTo>
                  <a:lnTo>
                    <a:pt x="57" y="156"/>
                  </a:lnTo>
                  <a:lnTo>
                    <a:pt x="40" y="166"/>
                  </a:lnTo>
                  <a:lnTo>
                    <a:pt x="25" y="182"/>
                  </a:lnTo>
                  <a:lnTo>
                    <a:pt x="18" y="192"/>
                  </a:lnTo>
                  <a:lnTo>
                    <a:pt x="9" y="205"/>
                  </a:lnTo>
                  <a:lnTo>
                    <a:pt x="0" y="225"/>
                  </a:lnTo>
                  <a:lnTo>
                    <a:pt x="2" y="243"/>
                  </a:lnTo>
                  <a:lnTo>
                    <a:pt x="15" y="266"/>
                  </a:lnTo>
                  <a:lnTo>
                    <a:pt x="26" y="282"/>
                  </a:lnTo>
                  <a:lnTo>
                    <a:pt x="51" y="313"/>
                  </a:lnTo>
                  <a:lnTo>
                    <a:pt x="118" y="381"/>
                  </a:lnTo>
                  <a:lnTo>
                    <a:pt x="190" y="442"/>
                  </a:lnTo>
                  <a:lnTo>
                    <a:pt x="236" y="472"/>
                  </a:lnTo>
                  <a:lnTo>
                    <a:pt x="260" y="483"/>
                  </a:lnTo>
                  <a:lnTo>
                    <a:pt x="268" y="484"/>
                  </a:lnTo>
                  <a:lnTo>
                    <a:pt x="278" y="481"/>
                  </a:lnTo>
                  <a:lnTo>
                    <a:pt x="320" y="451"/>
                  </a:lnTo>
                  <a:lnTo>
                    <a:pt x="414" y="369"/>
                  </a:lnTo>
                  <a:lnTo>
                    <a:pt x="560" y="227"/>
                  </a:lnTo>
                  <a:lnTo>
                    <a:pt x="644" y="136"/>
                  </a:lnTo>
                  <a:lnTo>
                    <a:pt x="675" y="95"/>
                  </a:lnTo>
                  <a:lnTo>
                    <a:pt x="678" y="85"/>
                  </a:lnTo>
                  <a:lnTo>
                    <a:pt x="677" y="69"/>
                  </a:lnTo>
                  <a:lnTo>
                    <a:pt x="664" y="38"/>
                  </a:lnTo>
                  <a:lnTo>
                    <a:pt x="643" y="15"/>
                  </a:lnTo>
                  <a:lnTo>
                    <a:pt x="615" y="2"/>
                  </a:lnTo>
                  <a:lnTo>
                    <a:pt x="599" y="0"/>
                  </a:lnTo>
                  <a:lnTo>
                    <a:pt x="587" y="2"/>
                  </a:lnTo>
                  <a:lnTo>
                    <a:pt x="554" y="17"/>
                  </a:lnTo>
                  <a:lnTo>
                    <a:pt x="509" y="52"/>
                  </a:lnTo>
                  <a:lnTo>
                    <a:pt x="448" y="107"/>
                  </a:lnTo>
                  <a:lnTo>
                    <a:pt x="409" y="1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130">
              <a:extLst>
                <a:ext uri="{FF2B5EF4-FFF2-40B4-BE49-F238E27FC236}">
                  <a16:creationId xmlns:a16="http://schemas.microsoft.com/office/drawing/2014/main" id="{62C6BEB5-0FDB-105E-5F27-78DB55645019}"/>
                </a:ext>
              </a:extLst>
            </p:cNvPr>
            <p:cNvSpPr>
              <a:spLocks/>
            </p:cNvSpPr>
            <p:nvPr/>
          </p:nvSpPr>
          <p:spPr bwMode="auto">
            <a:xfrm>
              <a:off x="703263" y="3536951"/>
              <a:ext cx="301625" cy="65088"/>
            </a:xfrm>
            <a:custGeom>
              <a:avLst/>
              <a:gdLst>
                <a:gd name="T0" fmla="*/ 26 w 778"/>
                <a:gd name="T1" fmla="*/ 30 h 166"/>
                <a:gd name="T2" fmla="*/ 13 w 778"/>
                <a:gd name="T3" fmla="*/ 45 h 166"/>
                <a:gd name="T4" fmla="*/ 0 w 778"/>
                <a:gd name="T5" fmla="*/ 75 h 166"/>
                <a:gd name="T6" fmla="*/ 2 w 778"/>
                <a:gd name="T7" fmla="*/ 103 h 166"/>
                <a:gd name="T8" fmla="*/ 19 w 778"/>
                <a:gd name="T9" fmla="*/ 128 h 166"/>
                <a:gd name="T10" fmla="*/ 34 w 778"/>
                <a:gd name="T11" fmla="*/ 140 h 166"/>
                <a:gd name="T12" fmla="*/ 47 w 778"/>
                <a:gd name="T13" fmla="*/ 147 h 166"/>
                <a:gd name="T14" fmla="*/ 90 w 778"/>
                <a:gd name="T15" fmla="*/ 158 h 166"/>
                <a:gd name="T16" fmla="*/ 220 w 778"/>
                <a:gd name="T17" fmla="*/ 166 h 166"/>
                <a:gd name="T18" fmla="*/ 393 w 778"/>
                <a:gd name="T19" fmla="*/ 166 h 166"/>
                <a:gd name="T20" fmla="*/ 583 w 778"/>
                <a:gd name="T21" fmla="*/ 166 h 166"/>
                <a:gd name="T22" fmla="*/ 702 w 778"/>
                <a:gd name="T23" fmla="*/ 158 h 166"/>
                <a:gd name="T24" fmla="*/ 736 w 778"/>
                <a:gd name="T25" fmla="*/ 144 h 166"/>
                <a:gd name="T26" fmla="*/ 748 w 778"/>
                <a:gd name="T27" fmla="*/ 133 h 166"/>
                <a:gd name="T28" fmla="*/ 762 w 778"/>
                <a:gd name="T29" fmla="*/ 118 h 166"/>
                <a:gd name="T30" fmla="*/ 778 w 778"/>
                <a:gd name="T31" fmla="*/ 91 h 166"/>
                <a:gd name="T32" fmla="*/ 778 w 778"/>
                <a:gd name="T33" fmla="*/ 66 h 166"/>
                <a:gd name="T34" fmla="*/ 764 w 778"/>
                <a:gd name="T35" fmla="*/ 41 h 166"/>
                <a:gd name="T36" fmla="*/ 751 w 778"/>
                <a:gd name="T37" fmla="*/ 28 h 166"/>
                <a:gd name="T38" fmla="*/ 740 w 778"/>
                <a:gd name="T39" fmla="*/ 19 h 166"/>
                <a:gd name="T40" fmla="*/ 701 w 778"/>
                <a:gd name="T41" fmla="*/ 8 h 166"/>
                <a:gd name="T42" fmla="*/ 572 w 778"/>
                <a:gd name="T43" fmla="*/ 0 h 166"/>
                <a:gd name="T44" fmla="*/ 386 w 778"/>
                <a:gd name="T45" fmla="*/ 0 h 166"/>
                <a:gd name="T46" fmla="*/ 193 w 778"/>
                <a:gd name="T47" fmla="*/ 0 h 166"/>
                <a:gd name="T48" fmla="*/ 70 w 778"/>
                <a:gd name="T49" fmla="*/ 8 h 166"/>
                <a:gd name="T50" fmla="*/ 36 w 778"/>
                <a:gd name="T51" fmla="*/ 20 h 166"/>
                <a:gd name="T52" fmla="*/ 26 w 778"/>
                <a:gd name="T53" fmla="*/ 3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8" h="166">
                  <a:moveTo>
                    <a:pt x="26" y="30"/>
                  </a:moveTo>
                  <a:lnTo>
                    <a:pt x="13" y="45"/>
                  </a:lnTo>
                  <a:lnTo>
                    <a:pt x="0" y="75"/>
                  </a:lnTo>
                  <a:lnTo>
                    <a:pt x="2" y="103"/>
                  </a:lnTo>
                  <a:lnTo>
                    <a:pt x="19" y="128"/>
                  </a:lnTo>
                  <a:lnTo>
                    <a:pt x="34" y="140"/>
                  </a:lnTo>
                  <a:lnTo>
                    <a:pt x="47" y="147"/>
                  </a:lnTo>
                  <a:lnTo>
                    <a:pt x="90" y="158"/>
                  </a:lnTo>
                  <a:lnTo>
                    <a:pt x="220" y="166"/>
                  </a:lnTo>
                  <a:lnTo>
                    <a:pt x="393" y="166"/>
                  </a:lnTo>
                  <a:lnTo>
                    <a:pt x="583" y="166"/>
                  </a:lnTo>
                  <a:lnTo>
                    <a:pt x="702" y="158"/>
                  </a:lnTo>
                  <a:lnTo>
                    <a:pt x="736" y="144"/>
                  </a:lnTo>
                  <a:lnTo>
                    <a:pt x="748" y="133"/>
                  </a:lnTo>
                  <a:lnTo>
                    <a:pt x="762" y="118"/>
                  </a:lnTo>
                  <a:lnTo>
                    <a:pt x="778" y="91"/>
                  </a:lnTo>
                  <a:lnTo>
                    <a:pt x="778" y="66"/>
                  </a:lnTo>
                  <a:lnTo>
                    <a:pt x="764" y="41"/>
                  </a:lnTo>
                  <a:lnTo>
                    <a:pt x="751" y="28"/>
                  </a:lnTo>
                  <a:lnTo>
                    <a:pt x="740" y="19"/>
                  </a:lnTo>
                  <a:lnTo>
                    <a:pt x="701" y="8"/>
                  </a:lnTo>
                  <a:lnTo>
                    <a:pt x="572" y="0"/>
                  </a:lnTo>
                  <a:lnTo>
                    <a:pt x="386" y="0"/>
                  </a:lnTo>
                  <a:lnTo>
                    <a:pt x="193" y="0"/>
                  </a:lnTo>
                  <a:lnTo>
                    <a:pt x="70" y="8"/>
                  </a:lnTo>
                  <a:lnTo>
                    <a:pt x="36" y="20"/>
                  </a:lnTo>
                  <a:lnTo>
                    <a:pt x="26"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131">
              <a:extLst>
                <a:ext uri="{FF2B5EF4-FFF2-40B4-BE49-F238E27FC236}">
                  <a16:creationId xmlns:a16="http://schemas.microsoft.com/office/drawing/2014/main" id="{6DA5C7DA-236E-F069-D764-9BBAC04AFEC7}"/>
                </a:ext>
              </a:extLst>
            </p:cNvPr>
            <p:cNvSpPr>
              <a:spLocks/>
            </p:cNvSpPr>
            <p:nvPr/>
          </p:nvSpPr>
          <p:spPr bwMode="auto">
            <a:xfrm>
              <a:off x="344488" y="3717926"/>
              <a:ext cx="261938" cy="185738"/>
            </a:xfrm>
            <a:custGeom>
              <a:avLst/>
              <a:gdLst>
                <a:gd name="T0" fmla="*/ 405 w 675"/>
                <a:gd name="T1" fmla="*/ 145 h 481"/>
                <a:gd name="T2" fmla="*/ 258 w 675"/>
                <a:gd name="T3" fmla="*/ 292 h 481"/>
                <a:gd name="T4" fmla="*/ 186 w 675"/>
                <a:gd name="T5" fmla="*/ 220 h 481"/>
                <a:gd name="T6" fmla="*/ 157 w 675"/>
                <a:gd name="T7" fmla="*/ 193 h 481"/>
                <a:gd name="T8" fmla="*/ 117 w 675"/>
                <a:gd name="T9" fmla="*/ 166 h 481"/>
                <a:gd name="T10" fmla="*/ 93 w 675"/>
                <a:gd name="T11" fmla="*/ 155 h 481"/>
                <a:gd name="T12" fmla="*/ 71 w 675"/>
                <a:gd name="T13" fmla="*/ 151 h 481"/>
                <a:gd name="T14" fmla="*/ 51 w 675"/>
                <a:gd name="T15" fmla="*/ 153 h 481"/>
                <a:gd name="T16" fmla="*/ 34 w 675"/>
                <a:gd name="T17" fmla="*/ 160 h 481"/>
                <a:gd name="T18" fmla="*/ 18 w 675"/>
                <a:gd name="T19" fmla="*/ 174 h 481"/>
                <a:gd name="T20" fmla="*/ 11 w 675"/>
                <a:gd name="T21" fmla="*/ 184 h 481"/>
                <a:gd name="T22" fmla="*/ 3 w 675"/>
                <a:gd name="T23" fmla="*/ 200 h 481"/>
                <a:gd name="T24" fmla="*/ 0 w 675"/>
                <a:gd name="T25" fmla="*/ 223 h 481"/>
                <a:gd name="T26" fmla="*/ 6 w 675"/>
                <a:gd name="T27" fmla="*/ 240 h 481"/>
                <a:gd name="T28" fmla="*/ 26 w 675"/>
                <a:gd name="T29" fmla="*/ 272 h 481"/>
                <a:gd name="T30" fmla="*/ 84 w 675"/>
                <a:gd name="T31" fmla="*/ 336 h 481"/>
                <a:gd name="T32" fmla="*/ 130 w 675"/>
                <a:gd name="T33" fmla="*/ 382 h 481"/>
                <a:gd name="T34" fmla="*/ 161 w 675"/>
                <a:gd name="T35" fmla="*/ 413 h 481"/>
                <a:gd name="T36" fmla="*/ 208 w 675"/>
                <a:gd name="T37" fmla="*/ 454 h 481"/>
                <a:gd name="T38" fmla="*/ 240 w 675"/>
                <a:gd name="T39" fmla="*/ 476 h 481"/>
                <a:gd name="T40" fmla="*/ 266 w 675"/>
                <a:gd name="T41" fmla="*/ 481 h 481"/>
                <a:gd name="T42" fmla="*/ 278 w 675"/>
                <a:gd name="T43" fmla="*/ 479 h 481"/>
                <a:gd name="T44" fmla="*/ 290 w 675"/>
                <a:gd name="T45" fmla="*/ 474 h 481"/>
                <a:gd name="T46" fmla="*/ 334 w 675"/>
                <a:gd name="T47" fmla="*/ 440 h 481"/>
                <a:gd name="T48" fmla="*/ 426 w 675"/>
                <a:gd name="T49" fmla="*/ 356 h 481"/>
                <a:gd name="T50" fmla="*/ 565 w 675"/>
                <a:gd name="T51" fmla="*/ 214 h 481"/>
                <a:gd name="T52" fmla="*/ 644 w 675"/>
                <a:gd name="T53" fmla="*/ 122 h 481"/>
                <a:gd name="T54" fmla="*/ 672 w 675"/>
                <a:gd name="T55" fmla="*/ 82 h 481"/>
                <a:gd name="T56" fmla="*/ 675 w 675"/>
                <a:gd name="T57" fmla="*/ 72 h 481"/>
                <a:gd name="T58" fmla="*/ 674 w 675"/>
                <a:gd name="T59" fmla="*/ 56 h 481"/>
                <a:gd name="T60" fmla="*/ 662 w 675"/>
                <a:gd name="T61" fmla="*/ 30 h 481"/>
                <a:gd name="T62" fmla="*/ 641 w 675"/>
                <a:gd name="T63" fmla="*/ 11 h 481"/>
                <a:gd name="T64" fmla="*/ 610 w 675"/>
                <a:gd name="T65" fmla="*/ 1 h 481"/>
                <a:gd name="T66" fmla="*/ 591 w 675"/>
                <a:gd name="T67" fmla="*/ 0 h 481"/>
                <a:gd name="T68" fmla="*/ 579 w 675"/>
                <a:gd name="T69" fmla="*/ 2 h 481"/>
                <a:gd name="T70" fmla="*/ 548 w 675"/>
                <a:gd name="T71" fmla="*/ 17 h 481"/>
                <a:gd name="T72" fmla="*/ 503 w 675"/>
                <a:gd name="T73" fmla="*/ 52 h 481"/>
                <a:gd name="T74" fmla="*/ 443 w 675"/>
                <a:gd name="T75" fmla="*/ 107 h 481"/>
                <a:gd name="T76" fmla="*/ 405 w 675"/>
                <a:gd name="T77" fmla="*/ 145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5" h="481">
                  <a:moveTo>
                    <a:pt x="405" y="145"/>
                  </a:moveTo>
                  <a:lnTo>
                    <a:pt x="258" y="292"/>
                  </a:lnTo>
                  <a:lnTo>
                    <a:pt x="186" y="220"/>
                  </a:lnTo>
                  <a:lnTo>
                    <a:pt x="157" y="193"/>
                  </a:lnTo>
                  <a:lnTo>
                    <a:pt x="117" y="166"/>
                  </a:lnTo>
                  <a:lnTo>
                    <a:pt x="93" y="155"/>
                  </a:lnTo>
                  <a:lnTo>
                    <a:pt x="71" y="151"/>
                  </a:lnTo>
                  <a:lnTo>
                    <a:pt x="51" y="153"/>
                  </a:lnTo>
                  <a:lnTo>
                    <a:pt x="34" y="160"/>
                  </a:lnTo>
                  <a:lnTo>
                    <a:pt x="18" y="174"/>
                  </a:lnTo>
                  <a:lnTo>
                    <a:pt x="11" y="184"/>
                  </a:lnTo>
                  <a:lnTo>
                    <a:pt x="3" y="200"/>
                  </a:lnTo>
                  <a:lnTo>
                    <a:pt x="0" y="223"/>
                  </a:lnTo>
                  <a:lnTo>
                    <a:pt x="6" y="240"/>
                  </a:lnTo>
                  <a:lnTo>
                    <a:pt x="26" y="272"/>
                  </a:lnTo>
                  <a:lnTo>
                    <a:pt x="84" y="336"/>
                  </a:lnTo>
                  <a:lnTo>
                    <a:pt x="130" y="382"/>
                  </a:lnTo>
                  <a:lnTo>
                    <a:pt x="161" y="413"/>
                  </a:lnTo>
                  <a:lnTo>
                    <a:pt x="208" y="454"/>
                  </a:lnTo>
                  <a:lnTo>
                    <a:pt x="240" y="476"/>
                  </a:lnTo>
                  <a:lnTo>
                    <a:pt x="266" y="481"/>
                  </a:lnTo>
                  <a:lnTo>
                    <a:pt x="278" y="479"/>
                  </a:lnTo>
                  <a:lnTo>
                    <a:pt x="290" y="474"/>
                  </a:lnTo>
                  <a:lnTo>
                    <a:pt x="334" y="440"/>
                  </a:lnTo>
                  <a:lnTo>
                    <a:pt x="426" y="356"/>
                  </a:lnTo>
                  <a:lnTo>
                    <a:pt x="565" y="214"/>
                  </a:lnTo>
                  <a:lnTo>
                    <a:pt x="644" y="122"/>
                  </a:lnTo>
                  <a:lnTo>
                    <a:pt x="672" y="82"/>
                  </a:lnTo>
                  <a:lnTo>
                    <a:pt x="675" y="72"/>
                  </a:lnTo>
                  <a:lnTo>
                    <a:pt x="674" y="56"/>
                  </a:lnTo>
                  <a:lnTo>
                    <a:pt x="662" y="30"/>
                  </a:lnTo>
                  <a:lnTo>
                    <a:pt x="641" y="11"/>
                  </a:lnTo>
                  <a:lnTo>
                    <a:pt x="610" y="1"/>
                  </a:lnTo>
                  <a:lnTo>
                    <a:pt x="591" y="0"/>
                  </a:lnTo>
                  <a:lnTo>
                    <a:pt x="579" y="2"/>
                  </a:lnTo>
                  <a:lnTo>
                    <a:pt x="548" y="17"/>
                  </a:lnTo>
                  <a:lnTo>
                    <a:pt x="503" y="52"/>
                  </a:lnTo>
                  <a:lnTo>
                    <a:pt x="443" y="107"/>
                  </a:lnTo>
                  <a:lnTo>
                    <a:pt x="405" y="1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132">
              <a:extLst>
                <a:ext uri="{FF2B5EF4-FFF2-40B4-BE49-F238E27FC236}">
                  <a16:creationId xmlns:a16="http://schemas.microsoft.com/office/drawing/2014/main" id="{E28352BA-3354-F922-8343-2A53546F2FCC}"/>
                </a:ext>
              </a:extLst>
            </p:cNvPr>
            <p:cNvSpPr>
              <a:spLocks/>
            </p:cNvSpPr>
            <p:nvPr/>
          </p:nvSpPr>
          <p:spPr bwMode="auto">
            <a:xfrm>
              <a:off x="703263" y="3846513"/>
              <a:ext cx="301625" cy="58738"/>
            </a:xfrm>
            <a:custGeom>
              <a:avLst/>
              <a:gdLst>
                <a:gd name="T0" fmla="*/ 18 w 777"/>
                <a:gd name="T1" fmla="*/ 20 h 150"/>
                <a:gd name="T2" fmla="*/ 9 w 777"/>
                <a:gd name="T3" fmla="*/ 30 h 150"/>
                <a:gd name="T4" fmla="*/ 0 w 777"/>
                <a:gd name="T5" fmla="*/ 59 h 150"/>
                <a:gd name="T6" fmla="*/ 0 w 777"/>
                <a:gd name="T7" fmla="*/ 91 h 150"/>
                <a:gd name="T8" fmla="*/ 9 w 777"/>
                <a:gd name="T9" fmla="*/ 119 h 150"/>
                <a:gd name="T10" fmla="*/ 18 w 777"/>
                <a:gd name="T11" fmla="*/ 130 h 150"/>
                <a:gd name="T12" fmla="*/ 26 w 777"/>
                <a:gd name="T13" fmla="*/ 135 h 150"/>
                <a:gd name="T14" fmla="*/ 74 w 777"/>
                <a:gd name="T15" fmla="*/ 143 h 150"/>
                <a:gd name="T16" fmla="*/ 221 w 777"/>
                <a:gd name="T17" fmla="*/ 149 h 150"/>
                <a:gd name="T18" fmla="*/ 393 w 777"/>
                <a:gd name="T19" fmla="*/ 150 h 150"/>
                <a:gd name="T20" fmla="*/ 748 w 777"/>
                <a:gd name="T21" fmla="*/ 150 h 150"/>
                <a:gd name="T22" fmla="*/ 768 w 777"/>
                <a:gd name="T23" fmla="*/ 108 h 150"/>
                <a:gd name="T24" fmla="*/ 773 w 777"/>
                <a:gd name="T25" fmla="*/ 96 h 150"/>
                <a:gd name="T26" fmla="*/ 777 w 777"/>
                <a:gd name="T27" fmla="*/ 76 h 150"/>
                <a:gd name="T28" fmla="*/ 775 w 777"/>
                <a:gd name="T29" fmla="*/ 60 h 150"/>
                <a:gd name="T30" fmla="*/ 765 w 777"/>
                <a:gd name="T31" fmla="*/ 43 h 150"/>
                <a:gd name="T32" fmla="*/ 756 w 777"/>
                <a:gd name="T33" fmla="*/ 33 h 150"/>
                <a:gd name="T34" fmla="*/ 746 w 777"/>
                <a:gd name="T35" fmla="*/ 22 h 150"/>
                <a:gd name="T36" fmla="*/ 712 w 777"/>
                <a:gd name="T37" fmla="*/ 8 h 150"/>
                <a:gd name="T38" fmla="*/ 586 w 777"/>
                <a:gd name="T39" fmla="*/ 0 h 150"/>
                <a:gd name="T40" fmla="*/ 381 w 777"/>
                <a:gd name="T41" fmla="*/ 0 h 150"/>
                <a:gd name="T42" fmla="*/ 215 w 777"/>
                <a:gd name="T43" fmla="*/ 0 h 150"/>
                <a:gd name="T44" fmla="*/ 73 w 777"/>
                <a:gd name="T45" fmla="*/ 7 h 150"/>
                <a:gd name="T46" fmla="*/ 26 w 777"/>
                <a:gd name="T47" fmla="*/ 14 h 150"/>
                <a:gd name="T48" fmla="*/ 18 w 77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7" h="150">
                  <a:moveTo>
                    <a:pt x="18" y="20"/>
                  </a:moveTo>
                  <a:lnTo>
                    <a:pt x="9" y="30"/>
                  </a:lnTo>
                  <a:lnTo>
                    <a:pt x="0" y="59"/>
                  </a:lnTo>
                  <a:lnTo>
                    <a:pt x="0" y="91"/>
                  </a:lnTo>
                  <a:lnTo>
                    <a:pt x="9" y="119"/>
                  </a:lnTo>
                  <a:lnTo>
                    <a:pt x="18" y="130"/>
                  </a:lnTo>
                  <a:lnTo>
                    <a:pt x="26" y="135"/>
                  </a:lnTo>
                  <a:lnTo>
                    <a:pt x="74" y="143"/>
                  </a:lnTo>
                  <a:lnTo>
                    <a:pt x="221" y="149"/>
                  </a:lnTo>
                  <a:lnTo>
                    <a:pt x="393" y="150"/>
                  </a:lnTo>
                  <a:lnTo>
                    <a:pt x="748" y="150"/>
                  </a:lnTo>
                  <a:lnTo>
                    <a:pt x="768" y="108"/>
                  </a:lnTo>
                  <a:lnTo>
                    <a:pt x="773" y="96"/>
                  </a:lnTo>
                  <a:lnTo>
                    <a:pt x="777" y="76"/>
                  </a:lnTo>
                  <a:lnTo>
                    <a:pt x="775" y="60"/>
                  </a:lnTo>
                  <a:lnTo>
                    <a:pt x="765" y="43"/>
                  </a:lnTo>
                  <a:lnTo>
                    <a:pt x="756" y="33"/>
                  </a:lnTo>
                  <a:lnTo>
                    <a:pt x="746" y="22"/>
                  </a:lnTo>
                  <a:lnTo>
                    <a:pt x="712" y="8"/>
                  </a:lnTo>
                  <a:lnTo>
                    <a:pt x="586" y="0"/>
                  </a:lnTo>
                  <a:lnTo>
                    <a:pt x="381" y="0"/>
                  </a:lnTo>
                  <a:lnTo>
                    <a:pt x="215" y="0"/>
                  </a:lnTo>
                  <a:lnTo>
                    <a:pt x="73" y="7"/>
                  </a:lnTo>
                  <a:lnTo>
                    <a:pt x="26" y="14"/>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133">
              <a:extLst>
                <a:ext uri="{FF2B5EF4-FFF2-40B4-BE49-F238E27FC236}">
                  <a16:creationId xmlns:a16="http://schemas.microsoft.com/office/drawing/2014/main" id="{FC40AF0C-BFC5-AD6E-0C70-07FA29A695A8}"/>
                </a:ext>
              </a:extLst>
            </p:cNvPr>
            <p:cNvSpPr>
              <a:spLocks/>
            </p:cNvSpPr>
            <p:nvPr/>
          </p:nvSpPr>
          <p:spPr bwMode="auto">
            <a:xfrm>
              <a:off x="341313" y="4021138"/>
              <a:ext cx="265113" cy="185738"/>
            </a:xfrm>
            <a:custGeom>
              <a:avLst/>
              <a:gdLst>
                <a:gd name="T0" fmla="*/ 425 w 684"/>
                <a:gd name="T1" fmla="*/ 150 h 483"/>
                <a:gd name="T2" fmla="*/ 277 w 684"/>
                <a:gd name="T3" fmla="*/ 298 h 483"/>
                <a:gd name="T4" fmla="*/ 190 w 684"/>
                <a:gd name="T5" fmla="*/ 225 h 483"/>
                <a:gd name="T6" fmla="*/ 154 w 684"/>
                <a:gd name="T7" fmla="*/ 194 h 483"/>
                <a:gd name="T8" fmla="*/ 97 w 684"/>
                <a:gd name="T9" fmla="*/ 154 h 483"/>
                <a:gd name="T10" fmla="*/ 85 w 684"/>
                <a:gd name="T11" fmla="*/ 150 h 483"/>
                <a:gd name="T12" fmla="*/ 75 w 684"/>
                <a:gd name="T13" fmla="*/ 152 h 483"/>
                <a:gd name="T14" fmla="*/ 48 w 684"/>
                <a:gd name="T15" fmla="*/ 170 h 483"/>
                <a:gd name="T16" fmla="*/ 21 w 684"/>
                <a:gd name="T17" fmla="*/ 198 h 483"/>
                <a:gd name="T18" fmla="*/ 2 w 684"/>
                <a:gd name="T19" fmla="*/ 225 h 483"/>
                <a:gd name="T20" fmla="*/ 0 w 684"/>
                <a:gd name="T21" fmla="*/ 235 h 483"/>
                <a:gd name="T22" fmla="*/ 7 w 684"/>
                <a:gd name="T23" fmla="*/ 248 h 483"/>
                <a:gd name="T24" fmla="*/ 67 w 684"/>
                <a:gd name="T25" fmla="*/ 321 h 483"/>
                <a:gd name="T26" fmla="*/ 112 w 684"/>
                <a:gd name="T27" fmla="*/ 368 h 483"/>
                <a:gd name="T28" fmla="*/ 141 w 684"/>
                <a:gd name="T29" fmla="*/ 398 h 483"/>
                <a:gd name="T30" fmla="*/ 189 w 684"/>
                <a:gd name="T31" fmla="*/ 442 h 483"/>
                <a:gd name="T32" fmla="*/ 225 w 684"/>
                <a:gd name="T33" fmla="*/ 470 h 483"/>
                <a:gd name="T34" fmla="*/ 253 w 684"/>
                <a:gd name="T35" fmla="*/ 482 h 483"/>
                <a:gd name="T36" fmla="*/ 265 w 684"/>
                <a:gd name="T37" fmla="*/ 483 h 483"/>
                <a:gd name="T38" fmla="*/ 279 w 684"/>
                <a:gd name="T39" fmla="*/ 482 h 483"/>
                <a:gd name="T40" fmla="*/ 315 w 684"/>
                <a:gd name="T41" fmla="*/ 462 h 483"/>
                <a:gd name="T42" fmla="*/ 369 w 684"/>
                <a:gd name="T43" fmla="*/ 418 h 483"/>
                <a:gd name="T44" fmla="*/ 446 w 684"/>
                <a:gd name="T45" fmla="*/ 345 h 483"/>
                <a:gd name="T46" fmla="*/ 497 w 684"/>
                <a:gd name="T47" fmla="*/ 295 h 483"/>
                <a:gd name="T48" fmla="*/ 571 w 684"/>
                <a:gd name="T49" fmla="*/ 218 h 483"/>
                <a:gd name="T50" fmla="*/ 652 w 684"/>
                <a:gd name="T51" fmla="*/ 127 h 483"/>
                <a:gd name="T52" fmla="*/ 681 w 684"/>
                <a:gd name="T53" fmla="*/ 89 h 483"/>
                <a:gd name="T54" fmla="*/ 684 w 684"/>
                <a:gd name="T55" fmla="*/ 81 h 483"/>
                <a:gd name="T56" fmla="*/ 682 w 684"/>
                <a:gd name="T57" fmla="*/ 69 h 483"/>
                <a:gd name="T58" fmla="*/ 666 w 684"/>
                <a:gd name="T59" fmla="*/ 41 h 483"/>
                <a:gd name="T60" fmla="*/ 640 w 684"/>
                <a:gd name="T61" fmla="*/ 17 h 483"/>
                <a:gd name="T62" fmla="*/ 612 w 684"/>
                <a:gd name="T63" fmla="*/ 1 h 483"/>
                <a:gd name="T64" fmla="*/ 599 w 684"/>
                <a:gd name="T65" fmla="*/ 0 h 483"/>
                <a:gd name="T66" fmla="*/ 592 w 684"/>
                <a:gd name="T67" fmla="*/ 2 h 483"/>
                <a:gd name="T68" fmla="*/ 560 w 684"/>
                <a:gd name="T69" fmla="*/ 24 h 483"/>
                <a:gd name="T70" fmla="*/ 486 w 684"/>
                <a:gd name="T71" fmla="*/ 89 h 483"/>
                <a:gd name="T72" fmla="*/ 425 w 684"/>
                <a:gd name="T73" fmla="*/ 15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84" h="483">
                  <a:moveTo>
                    <a:pt x="425" y="150"/>
                  </a:moveTo>
                  <a:lnTo>
                    <a:pt x="277" y="298"/>
                  </a:lnTo>
                  <a:lnTo>
                    <a:pt x="190" y="225"/>
                  </a:lnTo>
                  <a:lnTo>
                    <a:pt x="154" y="194"/>
                  </a:lnTo>
                  <a:lnTo>
                    <a:pt x="97" y="154"/>
                  </a:lnTo>
                  <a:lnTo>
                    <a:pt x="85" y="150"/>
                  </a:lnTo>
                  <a:lnTo>
                    <a:pt x="75" y="152"/>
                  </a:lnTo>
                  <a:lnTo>
                    <a:pt x="48" y="170"/>
                  </a:lnTo>
                  <a:lnTo>
                    <a:pt x="21" y="198"/>
                  </a:lnTo>
                  <a:lnTo>
                    <a:pt x="2" y="225"/>
                  </a:lnTo>
                  <a:lnTo>
                    <a:pt x="0" y="235"/>
                  </a:lnTo>
                  <a:lnTo>
                    <a:pt x="7" y="248"/>
                  </a:lnTo>
                  <a:lnTo>
                    <a:pt x="67" y="321"/>
                  </a:lnTo>
                  <a:lnTo>
                    <a:pt x="112" y="368"/>
                  </a:lnTo>
                  <a:lnTo>
                    <a:pt x="141" y="398"/>
                  </a:lnTo>
                  <a:lnTo>
                    <a:pt x="189" y="442"/>
                  </a:lnTo>
                  <a:lnTo>
                    <a:pt x="225" y="470"/>
                  </a:lnTo>
                  <a:lnTo>
                    <a:pt x="253" y="482"/>
                  </a:lnTo>
                  <a:lnTo>
                    <a:pt x="265" y="483"/>
                  </a:lnTo>
                  <a:lnTo>
                    <a:pt x="279" y="482"/>
                  </a:lnTo>
                  <a:lnTo>
                    <a:pt x="315" y="462"/>
                  </a:lnTo>
                  <a:lnTo>
                    <a:pt x="369" y="418"/>
                  </a:lnTo>
                  <a:lnTo>
                    <a:pt x="446" y="345"/>
                  </a:lnTo>
                  <a:lnTo>
                    <a:pt x="497" y="295"/>
                  </a:lnTo>
                  <a:lnTo>
                    <a:pt x="571" y="218"/>
                  </a:lnTo>
                  <a:lnTo>
                    <a:pt x="652" y="127"/>
                  </a:lnTo>
                  <a:lnTo>
                    <a:pt x="681" y="89"/>
                  </a:lnTo>
                  <a:lnTo>
                    <a:pt x="684" y="81"/>
                  </a:lnTo>
                  <a:lnTo>
                    <a:pt x="682" y="69"/>
                  </a:lnTo>
                  <a:lnTo>
                    <a:pt x="666" y="41"/>
                  </a:lnTo>
                  <a:lnTo>
                    <a:pt x="640" y="17"/>
                  </a:lnTo>
                  <a:lnTo>
                    <a:pt x="612" y="1"/>
                  </a:lnTo>
                  <a:lnTo>
                    <a:pt x="599" y="0"/>
                  </a:lnTo>
                  <a:lnTo>
                    <a:pt x="592" y="2"/>
                  </a:lnTo>
                  <a:lnTo>
                    <a:pt x="560" y="24"/>
                  </a:lnTo>
                  <a:lnTo>
                    <a:pt x="486" y="89"/>
                  </a:lnTo>
                  <a:lnTo>
                    <a:pt x="425"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134">
              <a:extLst>
                <a:ext uri="{FF2B5EF4-FFF2-40B4-BE49-F238E27FC236}">
                  <a16:creationId xmlns:a16="http://schemas.microsoft.com/office/drawing/2014/main" id="{41C8D75A-B9E0-CBB1-895C-A133989EEA36}"/>
                </a:ext>
              </a:extLst>
            </p:cNvPr>
            <p:cNvSpPr>
              <a:spLocks/>
            </p:cNvSpPr>
            <p:nvPr/>
          </p:nvSpPr>
          <p:spPr bwMode="auto">
            <a:xfrm>
              <a:off x="703263" y="4021138"/>
              <a:ext cx="538163" cy="57150"/>
            </a:xfrm>
            <a:custGeom>
              <a:avLst/>
              <a:gdLst>
                <a:gd name="T0" fmla="*/ 18 w 1391"/>
                <a:gd name="T1" fmla="*/ 20 h 150"/>
                <a:gd name="T2" fmla="*/ 9 w 1391"/>
                <a:gd name="T3" fmla="*/ 30 h 150"/>
                <a:gd name="T4" fmla="*/ 0 w 1391"/>
                <a:gd name="T5" fmla="*/ 59 h 150"/>
                <a:gd name="T6" fmla="*/ 0 w 1391"/>
                <a:gd name="T7" fmla="*/ 91 h 150"/>
                <a:gd name="T8" fmla="*/ 9 w 1391"/>
                <a:gd name="T9" fmla="*/ 119 h 150"/>
                <a:gd name="T10" fmla="*/ 18 w 1391"/>
                <a:gd name="T11" fmla="*/ 130 h 150"/>
                <a:gd name="T12" fmla="*/ 28 w 1391"/>
                <a:gd name="T13" fmla="*/ 135 h 150"/>
                <a:gd name="T14" fmla="*/ 107 w 1391"/>
                <a:gd name="T15" fmla="*/ 143 h 150"/>
                <a:gd name="T16" fmla="*/ 371 w 1391"/>
                <a:gd name="T17" fmla="*/ 149 h 150"/>
                <a:gd name="T18" fmla="*/ 701 w 1391"/>
                <a:gd name="T19" fmla="*/ 150 h 150"/>
                <a:gd name="T20" fmla="*/ 1113 w 1391"/>
                <a:gd name="T21" fmla="*/ 150 h 150"/>
                <a:gd name="T22" fmla="*/ 1311 w 1391"/>
                <a:gd name="T23" fmla="*/ 144 h 150"/>
                <a:gd name="T24" fmla="*/ 1349 w 1391"/>
                <a:gd name="T25" fmla="*/ 138 h 150"/>
                <a:gd name="T26" fmla="*/ 1369 w 1391"/>
                <a:gd name="T27" fmla="*/ 131 h 150"/>
                <a:gd name="T28" fmla="*/ 1379 w 1391"/>
                <a:gd name="T29" fmla="*/ 121 h 150"/>
                <a:gd name="T30" fmla="*/ 1383 w 1391"/>
                <a:gd name="T31" fmla="*/ 115 h 150"/>
                <a:gd name="T32" fmla="*/ 1391 w 1391"/>
                <a:gd name="T33" fmla="*/ 96 h 150"/>
                <a:gd name="T34" fmla="*/ 1391 w 1391"/>
                <a:gd name="T35" fmla="*/ 60 h 150"/>
                <a:gd name="T36" fmla="*/ 1383 w 1391"/>
                <a:gd name="T37" fmla="*/ 40 h 150"/>
                <a:gd name="T38" fmla="*/ 1364 w 1391"/>
                <a:gd name="T39" fmla="*/ 0 h 150"/>
                <a:gd name="T40" fmla="*/ 701 w 1391"/>
                <a:gd name="T41" fmla="*/ 0 h 150"/>
                <a:gd name="T42" fmla="*/ 371 w 1391"/>
                <a:gd name="T43" fmla="*/ 0 h 150"/>
                <a:gd name="T44" fmla="*/ 107 w 1391"/>
                <a:gd name="T45" fmla="*/ 7 h 150"/>
                <a:gd name="T46" fmla="*/ 28 w 1391"/>
                <a:gd name="T47" fmla="*/ 14 h 150"/>
                <a:gd name="T48" fmla="*/ 18 w 1391"/>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1" h="150">
                  <a:moveTo>
                    <a:pt x="18" y="20"/>
                  </a:moveTo>
                  <a:lnTo>
                    <a:pt x="9" y="30"/>
                  </a:lnTo>
                  <a:lnTo>
                    <a:pt x="0" y="59"/>
                  </a:lnTo>
                  <a:lnTo>
                    <a:pt x="0" y="91"/>
                  </a:lnTo>
                  <a:lnTo>
                    <a:pt x="9" y="119"/>
                  </a:lnTo>
                  <a:lnTo>
                    <a:pt x="18" y="130"/>
                  </a:lnTo>
                  <a:lnTo>
                    <a:pt x="28" y="135"/>
                  </a:lnTo>
                  <a:lnTo>
                    <a:pt x="107" y="143"/>
                  </a:lnTo>
                  <a:lnTo>
                    <a:pt x="371" y="149"/>
                  </a:lnTo>
                  <a:lnTo>
                    <a:pt x="701" y="150"/>
                  </a:lnTo>
                  <a:lnTo>
                    <a:pt x="1113" y="150"/>
                  </a:lnTo>
                  <a:lnTo>
                    <a:pt x="1311" y="144"/>
                  </a:lnTo>
                  <a:lnTo>
                    <a:pt x="1349" y="138"/>
                  </a:lnTo>
                  <a:lnTo>
                    <a:pt x="1369" y="131"/>
                  </a:lnTo>
                  <a:lnTo>
                    <a:pt x="1379" y="121"/>
                  </a:lnTo>
                  <a:lnTo>
                    <a:pt x="1383" y="115"/>
                  </a:lnTo>
                  <a:lnTo>
                    <a:pt x="1391" y="96"/>
                  </a:lnTo>
                  <a:lnTo>
                    <a:pt x="1391" y="60"/>
                  </a:lnTo>
                  <a:lnTo>
                    <a:pt x="1383" y="40"/>
                  </a:lnTo>
                  <a:lnTo>
                    <a:pt x="1364" y="0"/>
                  </a:lnTo>
                  <a:lnTo>
                    <a:pt x="701" y="0"/>
                  </a:lnTo>
                  <a:lnTo>
                    <a:pt x="371" y="0"/>
                  </a:lnTo>
                  <a:lnTo>
                    <a:pt x="107" y="7"/>
                  </a:lnTo>
                  <a:lnTo>
                    <a:pt x="28" y="14"/>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35">
              <a:extLst>
                <a:ext uri="{FF2B5EF4-FFF2-40B4-BE49-F238E27FC236}">
                  <a16:creationId xmlns:a16="http://schemas.microsoft.com/office/drawing/2014/main" id="{4607A82C-AB75-7A65-9BEB-B35020439E43}"/>
                </a:ext>
              </a:extLst>
            </p:cNvPr>
            <p:cNvSpPr>
              <a:spLocks/>
            </p:cNvSpPr>
            <p:nvPr/>
          </p:nvSpPr>
          <p:spPr bwMode="auto">
            <a:xfrm>
              <a:off x="703263" y="4156076"/>
              <a:ext cx="301625" cy="57150"/>
            </a:xfrm>
            <a:custGeom>
              <a:avLst/>
              <a:gdLst>
                <a:gd name="T0" fmla="*/ 19 w 778"/>
                <a:gd name="T1" fmla="*/ 20 h 150"/>
                <a:gd name="T2" fmla="*/ 9 w 778"/>
                <a:gd name="T3" fmla="*/ 31 h 150"/>
                <a:gd name="T4" fmla="*/ 0 w 778"/>
                <a:gd name="T5" fmla="*/ 57 h 150"/>
                <a:gd name="T6" fmla="*/ 1 w 778"/>
                <a:gd name="T7" fmla="*/ 85 h 150"/>
                <a:gd name="T8" fmla="*/ 14 w 778"/>
                <a:gd name="T9" fmla="*/ 111 h 150"/>
                <a:gd name="T10" fmla="*/ 25 w 778"/>
                <a:gd name="T11" fmla="*/ 123 h 150"/>
                <a:gd name="T12" fmla="*/ 35 w 778"/>
                <a:gd name="T13" fmla="*/ 131 h 150"/>
                <a:gd name="T14" fmla="*/ 73 w 778"/>
                <a:gd name="T15" fmla="*/ 142 h 150"/>
                <a:gd name="T16" fmla="*/ 203 w 778"/>
                <a:gd name="T17" fmla="*/ 149 h 150"/>
                <a:gd name="T18" fmla="*/ 389 w 778"/>
                <a:gd name="T19" fmla="*/ 150 h 150"/>
                <a:gd name="T20" fmla="*/ 590 w 778"/>
                <a:gd name="T21" fmla="*/ 149 h 150"/>
                <a:gd name="T22" fmla="*/ 713 w 778"/>
                <a:gd name="T23" fmla="*/ 141 h 150"/>
                <a:gd name="T24" fmla="*/ 747 w 778"/>
                <a:gd name="T25" fmla="*/ 127 h 150"/>
                <a:gd name="T26" fmla="*/ 757 w 778"/>
                <a:gd name="T27" fmla="*/ 116 h 150"/>
                <a:gd name="T28" fmla="*/ 766 w 778"/>
                <a:gd name="T29" fmla="*/ 106 h 150"/>
                <a:gd name="T30" fmla="*/ 776 w 778"/>
                <a:gd name="T31" fmla="*/ 89 h 150"/>
                <a:gd name="T32" fmla="*/ 778 w 778"/>
                <a:gd name="T33" fmla="*/ 73 h 150"/>
                <a:gd name="T34" fmla="*/ 774 w 778"/>
                <a:gd name="T35" fmla="*/ 54 h 150"/>
                <a:gd name="T36" fmla="*/ 769 w 778"/>
                <a:gd name="T37" fmla="*/ 41 h 150"/>
                <a:gd name="T38" fmla="*/ 749 w 778"/>
                <a:gd name="T39" fmla="*/ 0 h 150"/>
                <a:gd name="T40" fmla="*/ 394 w 778"/>
                <a:gd name="T41" fmla="*/ 0 h 150"/>
                <a:gd name="T42" fmla="*/ 222 w 778"/>
                <a:gd name="T43" fmla="*/ 0 h 150"/>
                <a:gd name="T44" fmla="*/ 75 w 778"/>
                <a:gd name="T45" fmla="*/ 7 h 150"/>
                <a:gd name="T46" fmla="*/ 27 w 778"/>
                <a:gd name="T47" fmla="*/ 14 h 150"/>
                <a:gd name="T48" fmla="*/ 19 w 778"/>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8" h="150">
                  <a:moveTo>
                    <a:pt x="19" y="20"/>
                  </a:moveTo>
                  <a:lnTo>
                    <a:pt x="9" y="31"/>
                  </a:lnTo>
                  <a:lnTo>
                    <a:pt x="0" y="57"/>
                  </a:lnTo>
                  <a:lnTo>
                    <a:pt x="1" y="85"/>
                  </a:lnTo>
                  <a:lnTo>
                    <a:pt x="14" y="111"/>
                  </a:lnTo>
                  <a:lnTo>
                    <a:pt x="25" y="123"/>
                  </a:lnTo>
                  <a:lnTo>
                    <a:pt x="35" y="131"/>
                  </a:lnTo>
                  <a:lnTo>
                    <a:pt x="73" y="142"/>
                  </a:lnTo>
                  <a:lnTo>
                    <a:pt x="203" y="149"/>
                  </a:lnTo>
                  <a:lnTo>
                    <a:pt x="389" y="150"/>
                  </a:lnTo>
                  <a:lnTo>
                    <a:pt x="590" y="149"/>
                  </a:lnTo>
                  <a:lnTo>
                    <a:pt x="713" y="141"/>
                  </a:lnTo>
                  <a:lnTo>
                    <a:pt x="747" y="127"/>
                  </a:lnTo>
                  <a:lnTo>
                    <a:pt x="757" y="116"/>
                  </a:lnTo>
                  <a:lnTo>
                    <a:pt x="766" y="106"/>
                  </a:lnTo>
                  <a:lnTo>
                    <a:pt x="776" y="89"/>
                  </a:lnTo>
                  <a:lnTo>
                    <a:pt x="778" y="73"/>
                  </a:lnTo>
                  <a:lnTo>
                    <a:pt x="774" y="54"/>
                  </a:lnTo>
                  <a:lnTo>
                    <a:pt x="769" y="41"/>
                  </a:lnTo>
                  <a:lnTo>
                    <a:pt x="749" y="0"/>
                  </a:lnTo>
                  <a:lnTo>
                    <a:pt x="394" y="0"/>
                  </a:lnTo>
                  <a:lnTo>
                    <a:pt x="222" y="0"/>
                  </a:lnTo>
                  <a:lnTo>
                    <a:pt x="75" y="7"/>
                  </a:lnTo>
                  <a:lnTo>
                    <a:pt x="27" y="14"/>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36">
              <a:extLst>
                <a:ext uri="{FF2B5EF4-FFF2-40B4-BE49-F238E27FC236}">
                  <a16:creationId xmlns:a16="http://schemas.microsoft.com/office/drawing/2014/main" id="{A32BCDA6-B8B8-8AA9-FC68-B8AFB6BD48CF}"/>
                </a:ext>
              </a:extLst>
            </p:cNvPr>
            <p:cNvSpPr>
              <a:spLocks noEditPoints="1"/>
            </p:cNvSpPr>
            <p:nvPr/>
          </p:nvSpPr>
          <p:spPr bwMode="auto">
            <a:xfrm>
              <a:off x="1285875" y="3370263"/>
              <a:ext cx="498475" cy="498475"/>
            </a:xfrm>
            <a:custGeom>
              <a:avLst/>
              <a:gdLst>
                <a:gd name="T0" fmla="*/ 399 w 1287"/>
                <a:gd name="T1" fmla="*/ 42 h 1289"/>
                <a:gd name="T2" fmla="*/ 274 w 1287"/>
                <a:gd name="T3" fmla="*/ 111 h 1289"/>
                <a:gd name="T4" fmla="*/ 165 w 1287"/>
                <a:gd name="T5" fmla="*/ 207 h 1289"/>
                <a:gd name="T6" fmla="*/ 78 w 1287"/>
                <a:gd name="T7" fmla="*/ 323 h 1289"/>
                <a:gd name="T8" fmla="*/ 32 w 1287"/>
                <a:gd name="T9" fmla="*/ 420 h 1289"/>
                <a:gd name="T10" fmla="*/ 11 w 1287"/>
                <a:gd name="T11" fmla="*/ 493 h 1289"/>
                <a:gd name="T12" fmla="*/ 0 w 1287"/>
                <a:gd name="T13" fmla="*/ 657 h 1289"/>
                <a:gd name="T14" fmla="*/ 4 w 1287"/>
                <a:gd name="T15" fmla="*/ 769 h 1289"/>
                <a:gd name="T16" fmla="*/ 32 w 1287"/>
                <a:gd name="T17" fmla="*/ 874 h 1289"/>
                <a:gd name="T18" fmla="*/ 63 w 1287"/>
                <a:gd name="T19" fmla="*/ 940 h 1289"/>
                <a:gd name="T20" fmla="*/ 160 w 1287"/>
                <a:gd name="T21" fmla="*/ 1074 h 1289"/>
                <a:gd name="T22" fmla="*/ 285 w 1287"/>
                <a:gd name="T23" fmla="*/ 1180 h 1289"/>
                <a:gd name="T24" fmla="*/ 428 w 1287"/>
                <a:gd name="T25" fmla="*/ 1254 h 1289"/>
                <a:gd name="T26" fmla="*/ 543 w 1287"/>
                <a:gd name="T27" fmla="*/ 1282 h 1289"/>
                <a:gd name="T28" fmla="*/ 660 w 1287"/>
                <a:gd name="T29" fmla="*/ 1289 h 1289"/>
                <a:gd name="T30" fmla="*/ 806 w 1287"/>
                <a:gd name="T31" fmla="*/ 1269 h 1289"/>
                <a:gd name="T32" fmla="*/ 941 w 1287"/>
                <a:gd name="T33" fmla="*/ 1214 h 1289"/>
                <a:gd name="T34" fmla="*/ 1063 w 1287"/>
                <a:gd name="T35" fmla="*/ 1126 h 1289"/>
                <a:gd name="T36" fmla="*/ 1124 w 1287"/>
                <a:gd name="T37" fmla="*/ 1065 h 1289"/>
                <a:gd name="T38" fmla="*/ 1223 w 1287"/>
                <a:gd name="T39" fmla="*/ 919 h 1289"/>
                <a:gd name="T40" fmla="*/ 1277 w 1287"/>
                <a:gd name="T41" fmla="*/ 762 h 1289"/>
                <a:gd name="T42" fmla="*/ 1287 w 1287"/>
                <a:gd name="T43" fmla="*/ 601 h 1289"/>
                <a:gd name="T44" fmla="*/ 1257 w 1287"/>
                <a:gd name="T45" fmla="*/ 444 h 1289"/>
                <a:gd name="T46" fmla="*/ 1187 w 1287"/>
                <a:gd name="T47" fmla="*/ 298 h 1289"/>
                <a:gd name="T48" fmla="*/ 1081 w 1287"/>
                <a:gd name="T49" fmla="*/ 171 h 1289"/>
                <a:gd name="T50" fmla="*/ 939 w 1287"/>
                <a:gd name="T51" fmla="*/ 70 h 1289"/>
                <a:gd name="T52" fmla="*/ 810 w 1287"/>
                <a:gd name="T53" fmla="*/ 17 h 1289"/>
                <a:gd name="T54" fmla="*/ 680 w 1287"/>
                <a:gd name="T55" fmla="*/ 0 h 1289"/>
                <a:gd name="T56" fmla="*/ 471 w 1287"/>
                <a:gd name="T57" fmla="*/ 18 h 1289"/>
                <a:gd name="T58" fmla="*/ 845 w 1287"/>
                <a:gd name="T59" fmla="*/ 202 h 1289"/>
                <a:gd name="T60" fmla="*/ 904 w 1287"/>
                <a:gd name="T61" fmla="*/ 234 h 1289"/>
                <a:gd name="T62" fmla="*/ 982 w 1287"/>
                <a:gd name="T63" fmla="*/ 299 h 1289"/>
                <a:gd name="T64" fmla="*/ 1030 w 1287"/>
                <a:gd name="T65" fmla="*/ 355 h 1289"/>
                <a:gd name="T66" fmla="*/ 1111 w 1287"/>
                <a:gd name="T67" fmla="*/ 525 h 1289"/>
                <a:gd name="T68" fmla="*/ 1122 w 1287"/>
                <a:gd name="T69" fmla="*/ 707 h 1289"/>
                <a:gd name="T70" fmla="*/ 1064 w 1287"/>
                <a:gd name="T71" fmla="*/ 882 h 1289"/>
                <a:gd name="T72" fmla="*/ 975 w 1287"/>
                <a:gd name="T73" fmla="*/ 997 h 1289"/>
                <a:gd name="T74" fmla="*/ 905 w 1287"/>
                <a:gd name="T75" fmla="*/ 1053 h 1289"/>
                <a:gd name="T76" fmla="*/ 801 w 1287"/>
                <a:gd name="T77" fmla="*/ 1104 h 1289"/>
                <a:gd name="T78" fmla="*/ 691 w 1287"/>
                <a:gd name="T79" fmla="*/ 1127 h 1289"/>
                <a:gd name="T80" fmla="*/ 578 w 1287"/>
                <a:gd name="T81" fmla="*/ 1124 h 1289"/>
                <a:gd name="T82" fmla="*/ 469 w 1287"/>
                <a:gd name="T83" fmla="*/ 1097 h 1289"/>
                <a:gd name="T84" fmla="*/ 368 w 1287"/>
                <a:gd name="T85" fmla="*/ 1045 h 1289"/>
                <a:gd name="T86" fmla="*/ 279 w 1287"/>
                <a:gd name="T87" fmla="*/ 970 h 1289"/>
                <a:gd name="T88" fmla="*/ 209 w 1287"/>
                <a:gd name="T89" fmla="*/ 873 h 1289"/>
                <a:gd name="T90" fmla="*/ 186 w 1287"/>
                <a:gd name="T91" fmla="*/ 824 h 1289"/>
                <a:gd name="T92" fmla="*/ 163 w 1287"/>
                <a:gd name="T93" fmla="*/ 727 h 1289"/>
                <a:gd name="T94" fmla="*/ 158 w 1287"/>
                <a:gd name="T95" fmla="*/ 619 h 1289"/>
                <a:gd name="T96" fmla="*/ 171 w 1287"/>
                <a:gd name="T97" fmla="*/ 515 h 1289"/>
                <a:gd name="T98" fmla="*/ 193 w 1287"/>
                <a:gd name="T99" fmla="*/ 448 h 1289"/>
                <a:gd name="T100" fmla="*/ 229 w 1287"/>
                <a:gd name="T101" fmla="*/ 382 h 1289"/>
                <a:gd name="T102" fmla="*/ 289 w 1287"/>
                <a:gd name="T103" fmla="*/ 305 h 1289"/>
                <a:gd name="T104" fmla="*/ 422 w 1287"/>
                <a:gd name="T105" fmla="*/ 208 h 1289"/>
                <a:gd name="T106" fmla="*/ 603 w 1287"/>
                <a:gd name="T107" fmla="*/ 159 h 1289"/>
                <a:gd name="T108" fmla="*/ 724 w 1287"/>
                <a:gd name="T109" fmla="*/ 165 h 1289"/>
                <a:gd name="T110" fmla="*/ 821 w 1287"/>
                <a:gd name="T111" fmla="*/ 192 h 1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7" h="1289">
                  <a:moveTo>
                    <a:pt x="432" y="30"/>
                  </a:moveTo>
                  <a:lnTo>
                    <a:pt x="399" y="42"/>
                  </a:lnTo>
                  <a:lnTo>
                    <a:pt x="335" y="73"/>
                  </a:lnTo>
                  <a:lnTo>
                    <a:pt x="274" y="111"/>
                  </a:lnTo>
                  <a:lnTo>
                    <a:pt x="217" y="156"/>
                  </a:lnTo>
                  <a:lnTo>
                    <a:pt x="165" y="207"/>
                  </a:lnTo>
                  <a:lnTo>
                    <a:pt x="118" y="263"/>
                  </a:lnTo>
                  <a:lnTo>
                    <a:pt x="78" y="323"/>
                  </a:lnTo>
                  <a:lnTo>
                    <a:pt x="45" y="387"/>
                  </a:lnTo>
                  <a:lnTo>
                    <a:pt x="32" y="420"/>
                  </a:lnTo>
                  <a:lnTo>
                    <a:pt x="23" y="443"/>
                  </a:lnTo>
                  <a:lnTo>
                    <a:pt x="11" y="493"/>
                  </a:lnTo>
                  <a:lnTo>
                    <a:pt x="1" y="581"/>
                  </a:lnTo>
                  <a:lnTo>
                    <a:pt x="0" y="657"/>
                  </a:lnTo>
                  <a:lnTo>
                    <a:pt x="0" y="701"/>
                  </a:lnTo>
                  <a:lnTo>
                    <a:pt x="4" y="769"/>
                  </a:lnTo>
                  <a:lnTo>
                    <a:pt x="14" y="823"/>
                  </a:lnTo>
                  <a:lnTo>
                    <a:pt x="32" y="874"/>
                  </a:lnTo>
                  <a:lnTo>
                    <a:pt x="45" y="903"/>
                  </a:lnTo>
                  <a:lnTo>
                    <a:pt x="63" y="940"/>
                  </a:lnTo>
                  <a:lnTo>
                    <a:pt x="108" y="1010"/>
                  </a:lnTo>
                  <a:lnTo>
                    <a:pt x="160" y="1074"/>
                  </a:lnTo>
                  <a:lnTo>
                    <a:pt x="219" y="1131"/>
                  </a:lnTo>
                  <a:lnTo>
                    <a:pt x="285" y="1180"/>
                  </a:lnTo>
                  <a:lnTo>
                    <a:pt x="355" y="1222"/>
                  </a:lnTo>
                  <a:lnTo>
                    <a:pt x="428" y="1254"/>
                  </a:lnTo>
                  <a:lnTo>
                    <a:pt x="505" y="1275"/>
                  </a:lnTo>
                  <a:lnTo>
                    <a:pt x="543" y="1282"/>
                  </a:lnTo>
                  <a:lnTo>
                    <a:pt x="583" y="1287"/>
                  </a:lnTo>
                  <a:lnTo>
                    <a:pt x="660" y="1289"/>
                  </a:lnTo>
                  <a:lnTo>
                    <a:pt x="734" y="1283"/>
                  </a:lnTo>
                  <a:lnTo>
                    <a:pt x="806" y="1269"/>
                  </a:lnTo>
                  <a:lnTo>
                    <a:pt x="875" y="1246"/>
                  </a:lnTo>
                  <a:lnTo>
                    <a:pt x="941" y="1214"/>
                  </a:lnTo>
                  <a:lnTo>
                    <a:pt x="1004" y="1174"/>
                  </a:lnTo>
                  <a:lnTo>
                    <a:pt x="1063" y="1126"/>
                  </a:lnTo>
                  <a:lnTo>
                    <a:pt x="1092" y="1098"/>
                  </a:lnTo>
                  <a:lnTo>
                    <a:pt x="1124" y="1065"/>
                  </a:lnTo>
                  <a:lnTo>
                    <a:pt x="1179" y="993"/>
                  </a:lnTo>
                  <a:lnTo>
                    <a:pt x="1223" y="919"/>
                  </a:lnTo>
                  <a:lnTo>
                    <a:pt x="1255" y="841"/>
                  </a:lnTo>
                  <a:lnTo>
                    <a:pt x="1277" y="762"/>
                  </a:lnTo>
                  <a:lnTo>
                    <a:pt x="1287" y="681"/>
                  </a:lnTo>
                  <a:lnTo>
                    <a:pt x="1287" y="601"/>
                  </a:lnTo>
                  <a:lnTo>
                    <a:pt x="1277" y="521"/>
                  </a:lnTo>
                  <a:lnTo>
                    <a:pt x="1257" y="444"/>
                  </a:lnTo>
                  <a:lnTo>
                    <a:pt x="1227" y="369"/>
                  </a:lnTo>
                  <a:lnTo>
                    <a:pt x="1187" y="298"/>
                  </a:lnTo>
                  <a:lnTo>
                    <a:pt x="1138" y="232"/>
                  </a:lnTo>
                  <a:lnTo>
                    <a:pt x="1081" y="171"/>
                  </a:lnTo>
                  <a:lnTo>
                    <a:pt x="1014" y="117"/>
                  </a:lnTo>
                  <a:lnTo>
                    <a:pt x="939" y="70"/>
                  </a:lnTo>
                  <a:lnTo>
                    <a:pt x="855" y="32"/>
                  </a:lnTo>
                  <a:lnTo>
                    <a:pt x="810" y="17"/>
                  </a:lnTo>
                  <a:lnTo>
                    <a:pt x="775" y="8"/>
                  </a:lnTo>
                  <a:lnTo>
                    <a:pt x="680" y="0"/>
                  </a:lnTo>
                  <a:lnTo>
                    <a:pt x="572" y="4"/>
                  </a:lnTo>
                  <a:lnTo>
                    <a:pt x="471" y="18"/>
                  </a:lnTo>
                  <a:lnTo>
                    <a:pt x="432" y="30"/>
                  </a:lnTo>
                  <a:close/>
                  <a:moveTo>
                    <a:pt x="845" y="202"/>
                  </a:moveTo>
                  <a:lnTo>
                    <a:pt x="864" y="210"/>
                  </a:lnTo>
                  <a:lnTo>
                    <a:pt x="904" y="234"/>
                  </a:lnTo>
                  <a:lnTo>
                    <a:pt x="944" y="265"/>
                  </a:lnTo>
                  <a:lnTo>
                    <a:pt x="982" y="299"/>
                  </a:lnTo>
                  <a:lnTo>
                    <a:pt x="998" y="317"/>
                  </a:lnTo>
                  <a:lnTo>
                    <a:pt x="1030" y="355"/>
                  </a:lnTo>
                  <a:lnTo>
                    <a:pt x="1080" y="437"/>
                  </a:lnTo>
                  <a:lnTo>
                    <a:pt x="1111" y="525"/>
                  </a:lnTo>
                  <a:lnTo>
                    <a:pt x="1126" y="616"/>
                  </a:lnTo>
                  <a:lnTo>
                    <a:pt x="1122" y="707"/>
                  </a:lnTo>
                  <a:lnTo>
                    <a:pt x="1102" y="797"/>
                  </a:lnTo>
                  <a:lnTo>
                    <a:pt x="1064" y="882"/>
                  </a:lnTo>
                  <a:lnTo>
                    <a:pt x="1010" y="961"/>
                  </a:lnTo>
                  <a:lnTo>
                    <a:pt x="975" y="997"/>
                  </a:lnTo>
                  <a:lnTo>
                    <a:pt x="953" y="1017"/>
                  </a:lnTo>
                  <a:lnTo>
                    <a:pt x="905" y="1053"/>
                  </a:lnTo>
                  <a:lnTo>
                    <a:pt x="854" y="1082"/>
                  </a:lnTo>
                  <a:lnTo>
                    <a:pt x="801" y="1104"/>
                  </a:lnTo>
                  <a:lnTo>
                    <a:pt x="747" y="1119"/>
                  </a:lnTo>
                  <a:lnTo>
                    <a:pt x="691" y="1127"/>
                  </a:lnTo>
                  <a:lnTo>
                    <a:pt x="635" y="1129"/>
                  </a:lnTo>
                  <a:lnTo>
                    <a:pt x="578" y="1124"/>
                  </a:lnTo>
                  <a:lnTo>
                    <a:pt x="523" y="1114"/>
                  </a:lnTo>
                  <a:lnTo>
                    <a:pt x="469" y="1097"/>
                  </a:lnTo>
                  <a:lnTo>
                    <a:pt x="417" y="1074"/>
                  </a:lnTo>
                  <a:lnTo>
                    <a:pt x="368" y="1045"/>
                  </a:lnTo>
                  <a:lnTo>
                    <a:pt x="322" y="1010"/>
                  </a:lnTo>
                  <a:lnTo>
                    <a:pt x="279" y="970"/>
                  </a:lnTo>
                  <a:lnTo>
                    <a:pt x="242" y="924"/>
                  </a:lnTo>
                  <a:lnTo>
                    <a:pt x="209" y="873"/>
                  </a:lnTo>
                  <a:lnTo>
                    <a:pt x="195" y="845"/>
                  </a:lnTo>
                  <a:lnTo>
                    <a:pt x="186" y="824"/>
                  </a:lnTo>
                  <a:lnTo>
                    <a:pt x="172" y="778"/>
                  </a:lnTo>
                  <a:lnTo>
                    <a:pt x="163" y="727"/>
                  </a:lnTo>
                  <a:lnTo>
                    <a:pt x="158" y="674"/>
                  </a:lnTo>
                  <a:lnTo>
                    <a:pt x="158" y="619"/>
                  </a:lnTo>
                  <a:lnTo>
                    <a:pt x="162" y="566"/>
                  </a:lnTo>
                  <a:lnTo>
                    <a:pt x="171" y="515"/>
                  </a:lnTo>
                  <a:lnTo>
                    <a:pt x="185" y="469"/>
                  </a:lnTo>
                  <a:lnTo>
                    <a:pt x="193" y="448"/>
                  </a:lnTo>
                  <a:lnTo>
                    <a:pt x="204" y="425"/>
                  </a:lnTo>
                  <a:lnTo>
                    <a:pt x="229" y="382"/>
                  </a:lnTo>
                  <a:lnTo>
                    <a:pt x="257" y="342"/>
                  </a:lnTo>
                  <a:lnTo>
                    <a:pt x="289" y="305"/>
                  </a:lnTo>
                  <a:lnTo>
                    <a:pt x="342" y="258"/>
                  </a:lnTo>
                  <a:lnTo>
                    <a:pt x="422" y="208"/>
                  </a:lnTo>
                  <a:lnTo>
                    <a:pt x="510" y="175"/>
                  </a:lnTo>
                  <a:lnTo>
                    <a:pt x="603" y="159"/>
                  </a:lnTo>
                  <a:lnTo>
                    <a:pt x="675" y="160"/>
                  </a:lnTo>
                  <a:lnTo>
                    <a:pt x="724" y="165"/>
                  </a:lnTo>
                  <a:lnTo>
                    <a:pt x="773" y="176"/>
                  </a:lnTo>
                  <a:lnTo>
                    <a:pt x="821" y="192"/>
                  </a:lnTo>
                  <a:lnTo>
                    <a:pt x="845" y="2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a:extLst>
              <a:ext uri="{FF2B5EF4-FFF2-40B4-BE49-F238E27FC236}">
                <a16:creationId xmlns:a16="http://schemas.microsoft.com/office/drawing/2014/main" id="{A295CC8F-BC89-4B32-4934-31E35B9FD13B}"/>
              </a:ext>
            </a:extLst>
          </p:cNvPr>
          <p:cNvGrpSpPr>
            <a:grpSpLocks noChangeAspect="1"/>
          </p:cNvGrpSpPr>
          <p:nvPr/>
        </p:nvGrpSpPr>
        <p:grpSpPr>
          <a:xfrm>
            <a:off x="10633933" y="1638868"/>
            <a:ext cx="366652" cy="365760"/>
            <a:chOff x="6902450" y="4722813"/>
            <a:chExt cx="1957388" cy="1952625"/>
          </a:xfrm>
          <a:solidFill>
            <a:schemeClr val="accent1"/>
          </a:solidFill>
        </p:grpSpPr>
        <p:sp>
          <p:nvSpPr>
            <p:cNvPr id="152" name="Freeform 170">
              <a:extLst>
                <a:ext uri="{FF2B5EF4-FFF2-40B4-BE49-F238E27FC236}">
                  <a16:creationId xmlns:a16="http://schemas.microsoft.com/office/drawing/2014/main" id="{9014A939-78F2-30F1-886B-47E305D09C81}"/>
                </a:ext>
              </a:extLst>
            </p:cNvPr>
            <p:cNvSpPr>
              <a:spLocks noEditPoints="1"/>
            </p:cNvSpPr>
            <p:nvPr/>
          </p:nvSpPr>
          <p:spPr bwMode="auto">
            <a:xfrm>
              <a:off x="6902450" y="4722813"/>
              <a:ext cx="1957388" cy="1952625"/>
            </a:xfrm>
            <a:custGeom>
              <a:avLst/>
              <a:gdLst>
                <a:gd name="T0" fmla="*/ 0 w 5058"/>
                <a:gd name="T1" fmla="*/ 2366 h 5051"/>
                <a:gd name="T2" fmla="*/ 2600 w 5058"/>
                <a:gd name="T3" fmla="*/ 3645 h 5051"/>
                <a:gd name="T4" fmla="*/ 2128 w 5058"/>
                <a:gd name="T5" fmla="*/ 3701 h 5051"/>
                <a:gd name="T6" fmla="*/ 2068 w 5058"/>
                <a:gd name="T7" fmla="*/ 4784 h 5051"/>
                <a:gd name="T8" fmla="*/ 1750 w 5058"/>
                <a:gd name="T9" fmla="*/ 4659 h 5051"/>
                <a:gd name="T10" fmla="*/ 1581 w 5058"/>
                <a:gd name="T11" fmla="*/ 4157 h 5051"/>
                <a:gd name="T12" fmla="*/ 1153 w 5058"/>
                <a:gd name="T13" fmla="*/ 3755 h 5051"/>
                <a:gd name="T14" fmla="*/ 823 w 5058"/>
                <a:gd name="T15" fmla="*/ 4687 h 5051"/>
                <a:gd name="T16" fmla="*/ 250 w 5058"/>
                <a:gd name="T17" fmla="*/ 4567 h 5051"/>
                <a:gd name="T18" fmla="*/ 24 w 5058"/>
                <a:gd name="T19" fmla="*/ 4902 h 5051"/>
                <a:gd name="T20" fmla="*/ 473 w 5058"/>
                <a:gd name="T21" fmla="*/ 4907 h 5051"/>
                <a:gd name="T22" fmla="*/ 989 w 5058"/>
                <a:gd name="T23" fmla="*/ 4685 h 5051"/>
                <a:gd name="T24" fmla="*/ 1378 w 5058"/>
                <a:gd name="T25" fmla="*/ 4207 h 5051"/>
                <a:gd name="T26" fmla="*/ 1607 w 5058"/>
                <a:gd name="T27" fmla="*/ 4745 h 5051"/>
                <a:gd name="T28" fmla="*/ 2201 w 5058"/>
                <a:gd name="T29" fmla="*/ 4898 h 5051"/>
                <a:gd name="T30" fmla="*/ 2583 w 5058"/>
                <a:gd name="T31" fmla="*/ 3851 h 5051"/>
                <a:gd name="T32" fmla="*/ 5058 w 5058"/>
                <a:gd name="T33" fmla="*/ 3812 h 5051"/>
                <a:gd name="T34" fmla="*/ 3061 w 5058"/>
                <a:gd name="T35" fmla="*/ 116 h 5051"/>
                <a:gd name="T36" fmla="*/ 2908 w 5058"/>
                <a:gd name="T37" fmla="*/ 184 h 5051"/>
                <a:gd name="T38" fmla="*/ 966 w 5058"/>
                <a:gd name="T39" fmla="*/ 642 h 5051"/>
                <a:gd name="T40" fmla="*/ 2491 w 5058"/>
                <a:gd name="T41" fmla="*/ 150 h 5051"/>
                <a:gd name="T42" fmla="*/ 3573 w 5058"/>
                <a:gd name="T43" fmla="*/ 815 h 5051"/>
                <a:gd name="T44" fmla="*/ 3398 w 5058"/>
                <a:gd name="T45" fmla="*/ 1561 h 5051"/>
                <a:gd name="T46" fmla="*/ 2481 w 5058"/>
                <a:gd name="T47" fmla="*/ 1555 h 5051"/>
                <a:gd name="T48" fmla="*/ 2123 w 5058"/>
                <a:gd name="T49" fmla="*/ 1349 h 5051"/>
                <a:gd name="T50" fmla="*/ 1726 w 5058"/>
                <a:gd name="T51" fmla="*/ 1250 h 5051"/>
                <a:gd name="T52" fmla="*/ 1343 w 5058"/>
                <a:gd name="T53" fmla="*/ 1442 h 5051"/>
                <a:gd name="T54" fmla="*/ 724 w 5058"/>
                <a:gd name="T55" fmla="*/ 1628 h 5051"/>
                <a:gd name="T56" fmla="*/ 164 w 5058"/>
                <a:gd name="T57" fmla="*/ 1174 h 5051"/>
                <a:gd name="T58" fmla="*/ 1915 w 5058"/>
                <a:gd name="T59" fmla="*/ 1425 h 5051"/>
                <a:gd name="T60" fmla="*/ 2270 w 5058"/>
                <a:gd name="T61" fmla="*/ 1541 h 5051"/>
                <a:gd name="T62" fmla="*/ 2401 w 5058"/>
                <a:gd name="T63" fmla="*/ 1912 h 5051"/>
                <a:gd name="T64" fmla="*/ 2267 w 5058"/>
                <a:gd name="T65" fmla="*/ 2255 h 5051"/>
                <a:gd name="T66" fmla="*/ 2150 w 5058"/>
                <a:gd name="T67" fmla="*/ 2357 h 5051"/>
                <a:gd name="T68" fmla="*/ 1833 w 5058"/>
                <a:gd name="T69" fmla="*/ 2480 h 5051"/>
                <a:gd name="T70" fmla="*/ 1487 w 5058"/>
                <a:gd name="T71" fmla="*/ 2365 h 5051"/>
                <a:gd name="T72" fmla="*/ 1395 w 5058"/>
                <a:gd name="T73" fmla="*/ 2056 h 5051"/>
                <a:gd name="T74" fmla="*/ 1451 w 5058"/>
                <a:gd name="T75" fmla="*/ 1712 h 5051"/>
                <a:gd name="T76" fmla="*/ 1601 w 5058"/>
                <a:gd name="T77" fmla="*/ 1545 h 5051"/>
                <a:gd name="T78" fmla="*/ 1915 w 5058"/>
                <a:gd name="T79" fmla="*/ 1425 h 5051"/>
                <a:gd name="T80" fmla="*/ 1245 w 5058"/>
                <a:gd name="T81" fmla="*/ 2149 h 5051"/>
                <a:gd name="T82" fmla="*/ 1389 w 5058"/>
                <a:gd name="T83" fmla="*/ 2504 h 5051"/>
                <a:gd name="T84" fmla="*/ 1714 w 5058"/>
                <a:gd name="T85" fmla="*/ 2622 h 5051"/>
                <a:gd name="T86" fmla="*/ 2074 w 5058"/>
                <a:gd name="T87" fmla="*/ 2580 h 5051"/>
                <a:gd name="T88" fmla="*/ 2429 w 5058"/>
                <a:gd name="T89" fmla="*/ 2436 h 5051"/>
                <a:gd name="T90" fmla="*/ 2546 w 5058"/>
                <a:gd name="T91" fmla="*/ 2111 h 5051"/>
                <a:gd name="T92" fmla="*/ 3583 w 5058"/>
                <a:gd name="T93" fmla="*/ 1634 h 5051"/>
                <a:gd name="T94" fmla="*/ 267 w 5058"/>
                <a:gd name="T95" fmla="*/ 3167 h 5051"/>
                <a:gd name="T96" fmla="*/ 4325 w 5058"/>
                <a:gd name="T97" fmla="*/ 2400 h 5051"/>
                <a:gd name="T98" fmla="*/ 3272 w 5058"/>
                <a:gd name="T99" fmla="*/ 3636 h 5051"/>
                <a:gd name="T100" fmla="*/ 3754 w 5058"/>
                <a:gd name="T101" fmla="*/ 3499 h 5051"/>
                <a:gd name="T102" fmla="*/ 3423 w 5058"/>
                <a:gd name="T103" fmla="*/ 3277 h 5051"/>
                <a:gd name="T104" fmla="*/ 2942 w 5058"/>
                <a:gd name="T105" fmla="*/ 3105 h 5051"/>
                <a:gd name="T106" fmla="*/ 4505 w 5058"/>
                <a:gd name="T107" fmla="*/ 2252 h 5051"/>
                <a:gd name="T108" fmla="*/ 3486 w 5058"/>
                <a:gd name="T109" fmla="*/ 3577 h 5051"/>
                <a:gd name="T110" fmla="*/ 3558 w 5058"/>
                <a:gd name="T111" fmla="*/ 3450 h 5051"/>
                <a:gd name="T112" fmla="*/ 2291 w 5058"/>
                <a:gd name="T113" fmla="*/ 3769 h 5051"/>
                <a:gd name="T114" fmla="*/ 1623 w 5058"/>
                <a:gd name="T115" fmla="*/ 4408 h 5051"/>
                <a:gd name="T116" fmla="*/ 1488 w 5058"/>
                <a:gd name="T117" fmla="*/ 4346 h 5051"/>
                <a:gd name="T118" fmla="*/ 251 w 5058"/>
                <a:gd name="T119" fmla="*/ 4884 h 5051"/>
                <a:gd name="T120" fmla="*/ 314 w 5058"/>
                <a:gd name="T121" fmla="*/ 4765 h 5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58" h="5051">
                  <a:moveTo>
                    <a:pt x="780" y="27"/>
                  </a:moveTo>
                  <a:lnTo>
                    <a:pt x="762" y="36"/>
                  </a:lnTo>
                  <a:lnTo>
                    <a:pt x="732" y="55"/>
                  </a:lnTo>
                  <a:lnTo>
                    <a:pt x="709" y="78"/>
                  </a:lnTo>
                  <a:lnTo>
                    <a:pt x="692" y="106"/>
                  </a:lnTo>
                  <a:lnTo>
                    <a:pt x="679" y="144"/>
                  </a:lnTo>
                  <a:lnTo>
                    <a:pt x="670" y="194"/>
                  </a:lnTo>
                  <a:lnTo>
                    <a:pt x="662" y="296"/>
                  </a:lnTo>
                  <a:lnTo>
                    <a:pt x="658" y="392"/>
                  </a:lnTo>
                  <a:lnTo>
                    <a:pt x="650" y="642"/>
                  </a:lnTo>
                  <a:lnTo>
                    <a:pt x="325" y="650"/>
                  </a:lnTo>
                  <a:lnTo>
                    <a:pt x="0" y="659"/>
                  </a:lnTo>
                  <a:lnTo>
                    <a:pt x="0" y="1900"/>
                  </a:lnTo>
                  <a:lnTo>
                    <a:pt x="0" y="2366"/>
                  </a:lnTo>
                  <a:lnTo>
                    <a:pt x="2" y="2813"/>
                  </a:lnTo>
                  <a:lnTo>
                    <a:pt x="7" y="3009"/>
                  </a:lnTo>
                  <a:lnTo>
                    <a:pt x="16" y="3135"/>
                  </a:lnTo>
                  <a:lnTo>
                    <a:pt x="30" y="3210"/>
                  </a:lnTo>
                  <a:lnTo>
                    <a:pt x="51" y="3251"/>
                  </a:lnTo>
                  <a:lnTo>
                    <a:pt x="80" y="3276"/>
                  </a:lnTo>
                  <a:lnTo>
                    <a:pt x="98" y="3289"/>
                  </a:lnTo>
                  <a:lnTo>
                    <a:pt x="150" y="3325"/>
                  </a:lnTo>
                  <a:lnTo>
                    <a:pt x="1458" y="3334"/>
                  </a:lnTo>
                  <a:lnTo>
                    <a:pt x="2766" y="3342"/>
                  </a:lnTo>
                  <a:lnTo>
                    <a:pt x="2766" y="3467"/>
                  </a:lnTo>
                  <a:lnTo>
                    <a:pt x="2766" y="3592"/>
                  </a:lnTo>
                  <a:lnTo>
                    <a:pt x="2683" y="3619"/>
                  </a:lnTo>
                  <a:lnTo>
                    <a:pt x="2600" y="3645"/>
                  </a:lnTo>
                  <a:lnTo>
                    <a:pt x="2538" y="3582"/>
                  </a:lnTo>
                  <a:lnTo>
                    <a:pt x="2519" y="3564"/>
                  </a:lnTo>
                  <a:lnTo>
                    <a:pt x="2480" y="3536"/>
                  </a:lnTo>
                  <a:lnTo>
                    <a:pt x="2440" y="3517"/>
                  </a:lnTo>
                  <a:lnTo>
                    <a:pt x="2398" y="3506"/>
                  </a:lnTo>
                  <a:lnTo>
                    <a:pt x="2357" y="3504"/>
                  </a:lnTo>
                  <a:lnTo>
                    <a:pt x="2317" y="3509"/>
                  </a:lnTo>
                  <a:lnTo>
                    <a:pt x="2278" y="3521"/>
                  </a:lnTo>
                  <a:lnTo>
                    <a:pt x="2242" y="3539"/>
                  </a:lnTo>
                  <a:lnTo>
                    <a:pt x="2209" y="3562"/>
                  </a:lnTo>
                  <a:lnTo>
                    <a:pt x="2181" y="3591"/>
                  </a:lnTo>
                  <a:lnTo>
                    <a:pt x="2157" y="3624"/>
                  </a:lnTo>
                  <a:lnTo>
                    <a:pt x="2139" y="3661"/>
                  </a:lnTo>
                  <a:lnTo>
                    <a:pt x="2128" y="3701"/>
                  </a:lnTo>
                  <a:lnTo>
                    <a:pt x="2124" y="3744"/>
                  </a:lnTo>
                  <a:lnTo>
                    <a:pt x="2128" y="3790"/>
                  </a:lnTo>
                  <a:lnTo>
                    <a:pt x="2141" y="3836"/>
                  </a:lnTo>
                  <a:lnTo>
                    <a:pt x="2151" y="3860"/>
                  </a:lnTo>
                  <a:lnTo>
                    <a:pt x="2164" y="3884"/>
                  </a:lnTo>
                  <a:lnTo>
                    <a:pt x="2196" y="3925"/>
                  </a:lnTo>
                  <a:lnTo>
                    <a:pt x="2210" y="3935"/>
                  </a:lnTo>
                  <a:lnTo>
                    <a:pt x="2223" y="3943"/>
                  </a:lnTo>
                  <a:lnTo>
                    <a:pt x="2240" y="3967"/>
                  </a:lnTo>
                  <a:lnTo>
                    <a:pt x="2241" y="3980"/>
                  </a:lnTo>
                  <a:lnTo>
                    <a:pt x="2236" y="4021"/>
                  </a:lnTo>
                  <a:lnTo>
                    <a:pt x="2188" y="4255"/>
                  </a:lnTo>
                  <a:lnTo>
                    <a:pt x="2122" y="4554"/>
                  </a:lnTo>
                  <a:lnTo>
                    <a:pt x="2068" y="4784"/>
                  </a:lnTo>
                  <a:lnTo>
                    <a:pt x="2056" y="4819"/>
                  </a:lnTo>
                  <a:lnTo>
                    <a:pt x="2049" y="4831"/>
                  </a:lnTo>
                  <a:lnTo>
                    <a:pt x="2030" y="4852"/>
                  </a:lnTo>
                  <a:lnTo>
                    <a:pt x="2007" y="4867"/>
                  </a:lnTo>
                  <a:lnTo>
                    <a:pt x="1981" y="4878"/>
                  </a:lnTo>
                  <a:lnTo>
                    <a:pt x="1953" y="4882"/>
                  </a:lnTo>
                  <a:lnTo>
                    <a:pt x="1924" y="4881"/>
                  </a:lnTo>
                  <a:lnTo>
                    <a:pt x="1895" y="4874"/>
                  </a:lnTo>
                  <a:lnTo>
                    <a:pt x="1867" y="4861"/>
                  </a:lnTo>
                  <a:lnTo>
                    <a:pt x="1855" y="4852"/>
                  </a:lnTo>
                  <a:lnTo>
                    <a:pt x="1846" y="4844"/>
                  </a:lnTo>
                  <a:lnTo>
                    <a:pt x="1825" y="4815"/>
                  </a:lnTo>
                  <a:lnTo>
                    <a:pt x="1791" y="4754"/>
                  </a:lnTo>
                  <a:lnTo>
                    <a:pt x="1750" y="4659"/>
                  </a:lnTo>
                  <a:lnTo>
                    <a:pt x="1732" y="4599"/>
                  </a:lnTo>
                  <a:lnTo>
                    <a:pt x="1729" y="4571"/>
                  </a:lnTo>
                  <a:lnTo>
                    <a:pt x="1731" y="4564"/>
                  </a:lnTo>
                  <a:lnTo>
                    <a:pt x="1746" y="4538"/>
                  </a:lnTo>
                  <a:lnTo>
                    <a:pt x="1766" y="4500"/>
                  </a:lnTo>
                  <a:lnTo>
                    <a:pt x="1779" y="4475"/>
                  </a:lnTo>
                  <a:lnTo>
                    <a:pt x="1792" y="4423"/>
                  </a:lnTo>
                  <a:lnTo>
                    <a:pt x="1791" y="4369"/>
                  </a:lnTo>
                  <a:lnTo>
                    <a:pt x="1776" y="4316"/>
                  </a:lnTo>
                  <a:lnTo>
                    <a:pt x="1750" y="4267"/>
                  </a:lnTo>
                  <a:lnTo>
                    <a:pt x="1712" y="4224"/>
                  </a:lnTo>
                  <a:lnTo>
                    <a:pt x="1666" y="4189"/>
                  </a:lnTo>
                  <a:lnTo>
                    <a:pt x="1611" y="4164"/>
                  </a:lnTo>
                  <a:lnTo>
                    <a:pt x="1581" y="4157"/>
                  </a:lnTo>
                  <a:lnTo>
                    <a:pt x="1564" y="4154"/>
                  </a:lnTo>
                  <a:lnTo>
                    <a:pt x="1539" y="4140"/>
                  </a:lnTo>
                  <a:lnTo>
                    <a:pt x="1515" y="4107"/>
                  </a:lnTo>
                  <a:lnTo>
                    <a:pt x="1486" y="4046"/>
                  </a:lnTo>
                  <a:lnTo>
                    <a:pt x="1466" y="3999"/>
                  </a:lnTo>
                  <a:lnTo>
                    <a:pt x="1450" y="3961"/>
                  </a:lnTo>
                  <a:lnTo>
                    <a:pt x="1419" y="3897"/>
                  </a:lnTo>
                  <a:lnTo>
                    <a:pt x="1387" y="3846"/>
                  </a:lnTo>
                  <a:lnTo>
                    <a:pt x="1353" y="3807"/>
                  </a:lnTo>
                  <a:lnTo>
                    <a:pt x="1317" y="3779"/>
                  </a:lnTo>
                  <a:lnTo>
                    <a:pt x="1277" y="3761"/>
                  </a:lnTo>
                  <a:lnTo>
                    <a:pt x="1232" y="3752"/>
                  </a:lnTo>
                  <a:lnTo>
                    <a:pt x="1181" y="3752"/>
                  </a:lnTo>
                  <a:lnTo>
                    <a:pt x="1153" y="3755"/>
                  </a:lnTo>
                  <a:lnTo>
                    <a:pt x="1134" y="3758"/>
                  </a:lnTo>
                  <a:lnTo>
                    <a:pt x="1100" y="3768"/>
                  </a:lnTo>
                  <a:lnTo>
                    <a:pt x="1070" y="3786"/>
                  </a:lnTo>
                  <a:lnTo>
                    <a:pt x="1041" y="3811"/>
                  </a:lnTo>
                  <a:lnTo>
                    <a:pt x="1025" y="3829"/>
                  </a:lnTo>
                  <a:lnTo>
                    <a:pt x="1004" y="3850"/>
                  </a:lnTo>
                  <a:lnTo>
                    <a:pt x="982" y="3883"/>
                  </a:lnTo>
                  <a:lnTo>
                    <a:pt x="970" y="3913"/>
                  </a:lnTo>
                  <a:lnTo>
                    <a:pt x="953" y="3979"/>
                  </a:lnTo>
                  <a:lnTo>
                    <a:pt x="923" y="4143"/>
                  </a:lnTo>
                  <a:lnTo>
                    <a:pt x="901" y="4274"/>
                  </a:lnTo>
                  <a:lnTo>
                    <a:pt x="876" y="4429"/>
                  </a:lnTo>
                  <a:lnTo>
                    <a:pt x="833" y="4653"/>
                  </a:lnTo>
                  <a:lnTo>
                    <a:pt x="823" y="4687"/>
                  </a:lnTo>
                  <a:lnTo>
                    <a:pt x="818" y="4696"/>
                  </a:lnTo>
                  <a:lnTo>
                    <a:pt x="798" y="4708"/>
                  </a:lnTo>
                  <a:lnTo>
                    <a:pt x="734" y="4716"/>
                  </a:lnTo>
                  <a:lnTo>
                    <a:pt x="641" y="4717"/>
                  </a:lnTo>
                  <a:lnTo>
                    <a:pt x="585" y="4717"/>
                  </a:lnTo>
                  <a:lnTo>
                    <a:pt x="514" y="4715"/>
                  </a:lnTo>
                  <a:lnTo>
                    <a:pt x="476" y="4705"/>
                  </a:lnTo>
                  <a:lnTo>
                    <a:pt x="453" y="4684"/>
                  </a:lnTo>
                  <a:lnTo>
                    <a:pt x="441" y="4667"/>
                  </a:lnTo>
                  <a:lnTo>
                    <a:pt x="424" y="4644"/>
                  </a:lnTo>
                  <a:lnTo>
                    <a:pt x="381" y="4607"/>
                  </a:lnTo>
                  <a:lnTo>
                    <a:pt x="332" y="4581"/>
                  </a:lnTo>
                  <a:lnTo>
                    <a:pt x="278" y="4568"/>
                  </a:lnTo>
                  <a:lnTo>
                    <a:pt x="250" y="4567"/>
                  </a:lnTo>
                  <a:lnTo>
                    <a:pt x="229" y="4568"/>
                  </a:lnTo>
                  <a:lnTo>
                    <a:pt x="189" y="4573"/>
                  </a:lnTo>
                  <a:lnTo>
                    <a:pt x="152" y="4584"/>
                  </a:lnTo>
                  <a:lnTo>
                    <a:pt x="119" y="4600"/>
                  </a:lnTo>
                  <a:lnTo>
                    <a:pt x="90" y="4620"/>
                  </a:lnTo>
                  <a:lnTo>
                    <a:pt x="64" y="4643"/>
                  </a:lnTo>
                  <a:lnTo>
                    <a:pt x="43" y="4670"/>
                  </a:lnTo>
                  <a:lnTo>
                    <a:pt x="25" y="4700"/>
                  </a:lnTo>
                  <a:lnTo>
                    <a:pt x="13" y="4731"/>
                  </a:lnTo>
                  <a:lnTo>
                    <a:pt x="5" y="4764"/>
                  </a:lnTo>
                  <a:lnTo>
                    <a:pt x="1" y="4798"/>
                  </a:lnTo>
                  <a:lnTo>
                    <a:pt x="3" y="4833"/>
                  </a:lnTo>
                  <a:lnTo>
                    <a:pt x="11" y="4868"/>
                  </a:lnTo>
                  <a:lnTo>
                    <a:pt x="24" y="4902"/>
                  </a:lnTo>
                  <a:lnTo>
                    <a:pt x="42" y="4935"/>
                  </a:lnTo>
                  <a:lnTo>
                    <a:pt x="67" y="4967"/>
                  </a:lnTo>
                  <a:lnTo>
                    <a:pt x="81" y="4982"/>
                  </a:lnTo>
                  <a:lnTo>
                    <a:pt x="101" y="5000"/>
                  </a:lnTo>
                  <a:lnTo>
                    <a:pt x="146" y="5026"/>
                  </a:lnTo>
                  <a:lnTo>
                    <a:pt x="195" y="5042"/>
                  </a:lnTo>
                  <a:lnTo>
                    <a:pt x="245" y="5048"/>
                  </a:lnTo>
                  <a:lnTo>
                    <a:pt x="296" y="5043"/>
                  </a:lnTo>
                  <a:lnTo>
                    <a:pt x="344" y="5029"/>
                  </a:lnTo>
                  <a:lnTo>
                    <a:pt x="387" y="5006"/>
                  </a:lnTo>
                  <a:lnTo>
                    <a:pt x="424" y="4972"/>
                  </a:lnTo>
                  <a:lnTo>
                    <a:pt x="438" y="4952"/>
                  </a:lnTo>
                  <a:lnTo>
                    <a:pt x="453" y="4930"/>
                  </a:lnTo>
                  <a:lnTo>
                    <a:pt x="473" y="4907"/>
                  </a:lnTo>
                  <a:lnTo>
                    <a:pt x="490" y="4897"/>
                  </a:lnTo>
                  <a:lnTo>
                    <a:pt x="523" y="4888"/>
                  </a:lnTo>
                  <a:lnTo>
                    <a:pt x="599" y="4884"/>
                  </a:lnTo>
                  <a:lnTo>
                    <a:pt x="658" y="4884"/>
                  </a:lnTo>
                  <a:lnTo>
                    <a:pt x="723" y="4883"/>
                  </a:lnTo>
                  <a:lnTo>
                    <a:pt x="799" y="4875"/>
                  </a:lnTo>
                  <a:lnTo>
                    <a:pt x="841" y="4866"/>
                  </a:lnTo>
                  <a:lnTo>
                    <a:pt x="877" y="4853"/>
                  </a:lnTo>
                  <a:lnTo>
                    <a:pt x="906" y="4836"/>
                  </a:lnTo>
                  <a:lnTo>
                    <a:pt x="931" y="4815"/>
                  </a:lnTo>
                  <a:lnTo>
                    <a:pt x="952" y="4789"/>
                  </a:lnTo>
                  <a:lnTo>
                    <a:pt x="961" y="4774"/>
                  </a:lnTo>
                  <a:lnTo>
                    <a:pt x="969" y="4757"/>
                  </a:lnTo>
                  <a:lnTo>
                    <a:pt x="989" y="4685"/>
                  </a:lnTo>
                  <a:lnTo>
                    <a:pt x="1027" y="4503"/>
                  </a:lnTo>
                  <a:lnTo>
                    <a:pt x="1056" y="4334"/>
                  </a:lnTo>
                  <a:lnTo>
                    <a:pt x="1086" y="4164"/>
                  </a:lnTo>
                  <a:lnTo>
                    <a:pt x="1121" y="3997"/>
                  </a:lnTo>
                  <a:lnTo>
                    <a:pt x="1139" y="3940"/>
                  </a:lnTo>
                  <a:lnTo>
                    <a:pt x="1145" y="3932"/>
                  </a:lnTo>
                  <a:lnTo>
                    <a:pt x="1160" y="3923"/>
                  </a:lnTo>
                  <a:lnTo>
                    <a:pt x="1194" y="3917"/>
                  </a:lnTo>
                  <a:lnTo>
                    <a:pt x="1226" y="3923"/>
                  </a:lnTo>
                  <a:lnTo>
                    <a:pt x="1254" y="3941"/>
                  </a:lnTo>
                  <a:lnTo>
                    <a:pt x="1265" y="3954"/>
                  </a:lnTo>
                  <a:lnTo>
                    <a:pt x="1293" y="4008"/>
                  </a:lnTo>
                  <a:lnTo>
                    <a:pt x="1333" y="4099"/>
                  </a:lnTo>
                  <a:lnTo>
                    <a:pt x="1378" y="4207"/>
                  </a:lnTo>
                  <a:lnTo>
                    <a:pt x="1343" y="4275"/>
                  </a:lnTo>
                  <a:lnTo>
                    <a:pt x="1329" y="4306"/>
                  </a:lnTo>
                  <a:lnTo>
                    <a:pt x="1313" y="4367"/>
                  </a:lnTo>
                  <a:lnTo>
                    <a:pt x="1311" y="4426"/>
                  </a:lnTo>
                  <a:lnTo>
                    <a:pt x="1323" y="4481"/>
                  </a:lnTo>
                  <a:lnTo>
                    <a:pt x="1348" y="4531"/>
                  </a:lnTo>
                  <a:lnTo>
                    <a:pt x="1385" y="4574"/>
                  </a:lnTo>
                  <a:lnTo>
                    <a:pt x="1434" y="4608"/>
                  </a:lnTo>
                  <a:lnTo>
                    <a:pt x="1493" y="4633"/>
                  </a:lnTo>
                  <a:lnTo>
                    <a:pt x="1526" y="4640"/>
                  </a:lnTo>
                  <a:lnTo>
                    <a:pt x="1539" y="4644"/>
                  </a:lnTo>
                  <a:lnTo>
                    <a:pt x="1560" y="4660"/>
                  </a:lnTo>
                  <a:lnTo>
                    <a:pt x="1582" y="4691"/>
                  </a:lnTo>
                  <a:lnTo>
                    <a:pt x="1607" y="4745"/>
                  </a:lnTo>
                  <a:lnTo>
                    <a:pt x="1623" y="4784"/>
                  </a:lnTo>
                  <a:lnTo>
                    <a:pt x="1642" y="4826"/>
                  </a:lnTo>
                  <a:lnTo>
                    <a:pt x="1683" y="4900"/>
                  </a:lnTo>
                  <a:lnTo>
                    <a:pt x="1729" y="4959"/>
                  </a:lnTo>
                  <a:lnTo>
                    <a:pt x="1779" y="5004"/>
                  </a:lnTo>
                  <a:lnTo>
                    <a:pt x="1834" y="5034"/>
                  </a:lnTo>
                  <a:lnTo>
                    <a:pt x="1893" y="5050"/>
                  </a:lnTo>
                  <a:lnTo>
                    <a:pt x="1955" y="5051"/>
                  </a:lnTo>
                  <a:lnTo>
                    <a:pt x="2021" y="5038"/>
                  </a:lnTo>
                  <a:lnTo>
                    <a:pt x="2055" y="5025"/>
                  </a:lnTo>
                  <a:lnTo>
                    <a:pt x="2084" y="5012"/>
                  </a:lnTo>
                  <a:lnTo>
                    <a:pt x="2132" y="4981"/>
                  </a:lnTo>
                  <a:lnTo>
                    <a:pt x="2170" y="4943"/>
                  </a:lnTo>
                  <a:lnTo>
                    <a:pt x="2201" y="4898"/>
                  </a:lnTo>
                  <a:lnTo>
                    <a:pt x="2213" y="4870"/>
                  </a:lnTo>
                  <a:lnTo>
                    <a:pt x="2229" y="4823"/>
                  </a:lnTo>
                  <a:lnTo>
                    <a:pt x="2289" y="4572"/>
                  </a:lnTo>
                  <a:lnTo>
                    <a:pt x="2325" y="4409"/>
                  </a:lnTo>
                  <a:lnTo>
                    <a:pt x="2366" y="4221"/>
                  </a:lnTo>
                  <a:lnTo>
                    <a:pt x="2408" y="4054"/>
                  </a:lnTo>
                  <a:lnTo>
                    <a:pt x="2428" y="4000"/>
                  </a:lnTo>
                  <a:lnTo>
                    <a:pt x="2435" y="3992"/>
                  </a:lnTo>
                  <a:lnTo>
                    <a:pt x="2460" y="3976"/>
                  </a:lnTo>
                  <a:lnTo>
                    <a:pt x="2502" y="3944"/>
                  </a:lnTo>
                  <a:lnTo>
                    <a:pt x="2537" y="3911"/>
                  </a:lnTo>
                  <a:lnTo>
                    <a:pt x="2565" y="3878"/>
                  </a:lnTo>
                  <a:lnTo>
                    <a:pt x="2576" y="3860"/>
                  </a:lnTo>
                  <a:lnTo>
                    <a:pt x="2583" y="3851"/>
                  </a:lnTo>
                  <a:lnTo>
                    <a:pt x="2601" y="3833"/>
                  </a:lnTo>
                  <a:lnTo>
                    <a:pt x="2639" y="3807"/>
                  </a:lnTo>
                  <a:lnTo>
                    <a:pt x="2696" y="3781"/>
                  </a:lnTo>
                  <a:lnTo>
                    <a:pt x="2735" y="3773"/>
                  </a:lnTo>
                  <a:lnTo>
                    <a:pt x="2754" y="3774"/>
                  </a:lnTo>
                  <a:lnTo>
                    <a:pt x="2761" y="3777"/>
                  </a:lnTo>
                  <a:lnTo>
                    <a:pt x="2764" y="3788"/>
                  </a:lnTo>
                  <a:lnTo>
                    <a:pt x="2769" y="3887"/>
                  </a:lnTo>
                  <a:lnTo>
                    <a:pt x="2774" y="4165"/>
                  </a:lnTo>
                  <a:lnTo>
                    <a:pt x="2775" y="4419"/>
                  </a:lnTo>
                  <a:lnTo>
                    <a:pt x="2775" y="5050"/>
                  </a:lnTo>
                  <a:lnTo>
                    <a:pt x="3916" y="5050"/>
                  </a:lnTo>
                  <a:lnTo>
                    <a:pt x="5058" y="5050"/>
                  </a:lnTo>
                  <a:lnTo>
                    <a:pt x="5058" y="3812"/>
                  </a:lnTo>
                  <a:lnTo>
                    <a:pt x="5058" y="2575"/>
                  </a:lnTo>
                  <a:lnTo>
                    <a:pt x="4745" y="2262"/>
                  </a:lnTo>
                  <a:lnTo>
                    <a:pt x="4433" y="1950"/>
                  </a:lnTo>
                  <a:lnTo>
                    <a:pt x="4096" y="1950"/>
                  </a:lnTo>
                  <a:lnTo>
                    <a:pt x="3758" y="1950"/>
                  </a:lnTo>
                  <a:lnTo>
                    <a:pt x="3755" y="1304"/>
                  </a:lnTo>
                  <a:lnTo>
                    <a:pt x="3750" y="659"/>
                  </a:lnTo>
                  <a:lnTo>
                    <a:pt x="3425" y="650"/>
                  </a:lnTo>
                  <a:lnTo>
                    <a:pt x="3100" y="642"/>
                  </a:lnTo>
                  <a:lnTo>
                    <a:pt x="3091" y="392"/>
                  </a:lnTo>
                  <a:lnTo>
                    <a:pt x="3088" y="298"/>
                  </a:lnTo>
                  <a:lnTo>
                    <a:pt x="3081" y="201"/>
                  </a:lnTo>
                  <a:lnTo>
                    <a:pt x="3073" y="153"/>
                  </a:lnTo>
                  <a:lnTo>
                    <a:pt x="3061" y="116"/>
                  </a:lnTo>
                  <a:lnTo>
                    <a:pt x="3045" y="88"/>
                  </a:lnTo>
                  <a:lnTo>
                    <a:pt x="3012" y="54"/>
                  </a:lnTo>
                  <a:lnTo>
                    <a:pt x="2980" y="32"/>
                  </a:lnTo>
                  <a:lnTo>
                    <a:pt x="2971" y="27"/>
                  </a:lnTo>
                  <a:lnTo>
                    <a:pt x="2948" y="18"/>
                  </a:lnTo>
                  <a:lnTo>
                    <a:pt x="2881" y="9"/>
                  </a:lnTo>
                  <a:lnTo>
                    <a:pt x="2511" y="1"/>
                  </a:lnTo>
                  <a:lnTo>
                    <a:pt x="1883" y="0"/>
                  </a:lnTo>
                  <a:lnTo>
                    <a:pt x="1289" y="1"/>
                  </a:lnTo>
                  <a:lnTo>
                    <a:pt x="900" y="8"/>
                  </a:lnTo>
                  <a:lnTo>
                    <a:pt x="819" y="16"/>
                  </a:lnTo>
                  <a:lnTo>
                    <a:pt x="789" y="23"/>
                  </a:lnTo>
                  <a:lnTo>
                    <a:pt x="780" y="27"/>
                  </a:lnTo>
                  <a:close/>
                  <a:moveTo>
                    <a:pt x="2908" y="184"/>
                  </a:moveTo>
                  <a:lnTo>
                    <a:pt x="2919" y="195"/>
                  </a:lnTo>
                  <a:lnTo>
                    <a:pt x="2933" y="223"/>
                  </a:lnTo>
                  <a:lnTo>
                    <a:pt x="2939" y="273"/>
                  </a:lnTo>
                  <a:lnTo>
                    <a:pt x="2939" y="363"/>
                  </a:lnTo>
                  <a:lnTo>
                    <a:pt x="2938" y="430"/>
                  </a:lnTo>
                  <a:lnTo>
                    <a:pt x="2933" y="642"/>
                  </a:lnTo>
                  <a:lnTo>
                    <a:pt x="2858" y="642"/>
                  </a:lnTo>
                  <a:lnTo>
                    <a:pt x="2783" y="642"/>
                  </a:lnTo>
                  <a:lnTo>
                    <a:pt x="2775" y="484"/>
                  </a:lnTo>
                  <a:lnTo>
                    <a:pt x="2766" y="325"/>
                  </a:lnTo>
                  <a:lnTo>
                    <a:pt x="1875" y="325"/>
                  </a:lnTo>
                  <a:lnTo>
                    <a:pt x="983" y="325"/>
                  </a:lnTo>
                  <a:lnTo>
                    <a:pt x="975" y="484"/>
                  </a:lnTo>
                  <a:lnTo>
                    <a:pt x="966" y="642"/>
                  </a:lnTo>
                  <a:lnTo>
                    <a:pt x="891" y="642"/>
                  </a:lnTo>
                  <a:lnTo>
                    <a:pt x="816" y="642"/>
                  </a:lnTo>
                  <a:lnTo>
                    <a:pt x="811" y="430"/>
                  </a:lnTo>
                  <a:lnTo>
                    <a:pt x="810" y="363"/>
                  </a:lnTo>
                  <a:lnTo>
                    <a:pt x="811" y="273"/>
                  </a:lnTo>
                  <a:lnTo>
                    <a:pt x="817" y="223"/>
                  </a:lnTo>
                  <a:lnTo>
                    <a:pt x="830" y="195"/>
                  </a:lnTo>
                  <a:lnTo>
                    <a:pt x="841" y="184"/>
                  </a:lnTo>
                  <a:lnTo>
                    <a:pt x="847" y="178"/>
                  </a:lnTo>
                  <a:lnTo>
                    <a:pt x="864" y="168"/>
                  </a:lnTo>
                  <a:lnTo>
                    <a:pt x="918" y="158"/>
                  </a:lnTo>
                  <a:lnTo>
                    <a:pt x="1258" y="150"/>
                  </a:lnTo>
                  <a:lnTo>
                    <a:pt x="1875" y="150"/>
                  </a:lnTo>
                  <a:lnTo>
                    <a:pt x="2491" y="150"/>
                  </a:lnTo>
                  <a:lnTo>
                    <a:pt x="2831" y="158"/>
                  </a:lnTo>
                  <a:lnTo>
                    <a:pt x="2885" y="168"/>
                  </a:lnTo>
                  <a:lnTo>
                    <a:pt x="2902" y="178"/>
                  </a:lnTo>
                  <a:lnTo>
                    <a:pt x="2908" y="184"/>
                  </a:lnTo>
                  <a:close/>
                  <a:moveTo>
                    <a:pt x="2605" y="562"/>
                  </a:moveTo>
                  <a:lnTo>
                    <a:pt x="2600" y="642"/>
                  </a:lnTo>
                  <a:lnTo>
                    <a:pt x="1875" y="642"/>
                  </a:lnTo>
                  <a:lnTo>
                    <a:pt x="1150" y="642"/>
                  </a:lnTo>
                  <a:lnTo>
                    <a:pt x="1145" y="562"/>
                  </a:lnTo>
                  <a:lnTo>
                    <a:pt x="1140" y="484"/>
                  </a:lnTo>
                  <a:lnTo>
                    <a:pt x="1875" y="484"/>
                  </a:lnTo>
                  <a:lnTo>
                    <a:pt x="2610" y="484"/>
                  </a:lnTo>
                  <a:lnTo>
                    <a:pt x="2605" y="562"/>
                  </a:lnTo>
                  <a:close/>
                  <a:moveTo>
                    <a:pt x="3573" y="815"/>
                  </a:moveTo>
                  <a:lnTo>
                    <a:pt x="3579" y="821"/>
                  </a:lnTo>
                  <a:lnTo>
                    <a:pt x="3587" y="850"/>
                  </a:lnTo>
                  <a:lnTo>
                    <a:pt x="3591" y="947"/>
                  </a:lnTo>
                  <a:lnTo>
                    <a:pt x="3588" y="1077"/>
                  </a:lnTo>
                  <a:lnTo>
                    <a:pt x="3585" y="1174"/>
                  </a:lnTo>
                  <a:lnTo>
                    <a:pt x="3576" y="1280"/>
                  </a:lnTo>
                  <a:lnTo>
                    <a:pt x="3567" y="1336"/>
                  </a:lnTo>
                  <a:lnTo>
                    <a:pt x="3553" y="1382"/>
                  </a:lnTo>
                  <a:lnTo>
                    <a:pt x="3533" y="1421"/>
                  </a:lnTo>
                  <a:lnTo>
                    <a:pt x="3508" y="1457"/>
                  </a:lnTo>
                  <a:lnTo>
                    <a:pt x="3475" y="1493"/>
                  </a:lnTo>
                  <a:lnTo>
                    <a:pt x="3455" y="1512"/>
                  </a:lnTo>
                  <a:lnTo>
                    <a:pt x="3435" y="1531"/>
                  </a:lnTo>
                  <a:lnTo>
                    <a:pt x="3398" y="1561"/>
                  </a:lnTo>
                  <a:lnTo>
                    <a:pt x="3359" y="1584"/>
                  </a:lnTo>
                  <a:lnTo>
                    <a:pt x="3313" y="1601"/>
                  </a:lnTo>
                  <a:lnTo>
                    <a:pt x="3254" y="1613"/>
                  </a:lnTo>
                  <a:lnTo>
                    <a:pt x="3177" y="1621"/>
                  </a:lnTo>
                  <a:lnTo>
                    <a:pt x="3017" y="1628"/>
                  </a:lnTo>
                  <a:lnTo>
                    <a:pt x="2863" y="1630"/>
                  </a:lnTo>
                  <a:lnTo>
                    <a:pt x="2717" y="1633"/>
                  </a:lnTo>
                  <a:lnTo>
                    <a:pt x="2539" y="1632"/>
                  </a:lnTo>
                  <a:lnTo>
                    <a:pt x="2480" y="1624"/>
                  </a:lnTo>
                  <a:lnTo>
                    <a:pt x="2463" y="1614"/>
                  </a:lnTo>
                  <a:lnTo>
                    <a:pt x="2461" y="1599"/>
                  </a:lnTo>
                  <a:lnTo>
                    <a:pt x="2469" y="1578"/>
                  </a:lnTo>
                  <a:lnTo>
                    <a:pt x="2476" y="1565"/>
                  </a:lnTo>
                  <a:lnTo>
                    <a:pt x="2481" y="1555"/>
                  </a:lnTo>
                  <a:lnTo>
                    <a:pt x="2481" y="1533"/>
                  </a:lnTo>
                  <a:lnTo>
                    <a:pt x="2463" y="1505"/>
                  </a:lnTo>
                  <a:lnTo>
                    <a:pt x="2425" y="1461"/>
                  </a:lnTo>
                  <a:lnTo>
                    <a:pt x="2395" y="1430"/>
                  </a:lnTo>
                  <a:lnTo>
                    <a:pt x="2360" y="1397"/>
                  </a:lnTo>
                  <a:lnTo>
                    <a:pt x="2316" y="1356"/>
                  </a:lnTo>
                  <a:lnTo>
                    <a:pt x="2288" y="1342"/>
                  </a:lnTo>
                  <a:lnTo>
                    <a:pt x="2263" y="1347"/>
                  </a:lnTo>
                  <a:lnTo>
                    <a:pt x="2246" y="1355"/>
                  </a:lnTo>
                  <a:lnTo>
                    <a:pt x="2231" y="1363"/>
                  </a:lnTo>
                  <a:lnTo>
                    <a:pt x="2206" y="1371"/>
                  </a:lnTo>
                  <a:lnTo>
                    <a:pt x="2181" y="1370"/>
                  </a:lnTo>
                  <a:lnTo>
                    <a:pt x="2147" y="1358"/>
                  </a:lnTo>
                  <a:lnTo>
                    <a:pt x="2123" y="1349"/>
                  </a:lnTo>
                  <a:lnTo>
                    <a:pt x="2104" y="1340"/>
                  </a:lnTo>
                  <a:lnTo>
                    <a:pt x="2073" y="1321"/>
                  </a:lnTo>
                  <a:lnTo>
                    <a:pt x="2051" y="1301"/>
                  </a:lnTo>
                  <a:lnTo>
                    <a:pt x="2035" y="1279"/>
                  </a:lnTo>
                  <a:lnTo>
                    <a:pt x="2030" y="1267"/>
                  </a:lnTo>
                  <a:lnTo>
                    <a:pt x="2023" y="1250"/>
                  </a:lnTo>
                  <a:lnTo>
                    <a:pt x="2009" y="1229"/>
                  </a:lnTo>
                  <a:lnTo>
                    <a:pt x="1979" y="1219"/>
                  </a:lnTo>
                  <a:lnTo>
                    <a:pt x="1921" y="1217"/>
                  </a:lnTo>
                  <a:lnTo>
                    <a:pt x="1875" y="1217"/>
                  </a:lnTo>
                  <a:lnTo>
                    <a:pt x="1828" y="1217"/>
                  </a:lnTo>
                  <a:lnTo>
                    <a:pt x="1770" y="1219"/>
                  </a:lnTo>
                  <a:lnTo>
                    <a:pt x="1741" y="1229"/>
                  </a:lnTo>
                  <a:lnTo>
                    <a:pt x="1726" y="1250"/>
                  </a:lnTo>
                  <a:lnTo>
                    <a:pt x="1720" y="1267"/>
                  </a:lnTo>
                  <a:lnTo>
                    <a:pt x="1715" y="1278"/>
                  </a:lnTo>
                  <a:lnTo>
                    <a:pt x="1698" y="1300"/>
                  </a:lnTo>
                  <a:lnTo>
                    <a:pt x="1660" y="1331"/>
                  </a:lnTo>
                  <a:lnTo>
                    <a:pt x="1599" y="1361"/>
                  </a:lnTo>
                  <a:lnTo>
                    <a:pt x="1555" y="1371"/>
                  </a:lnTo>
                  <a:lnTo>
                    <a:pt x="1531" y="1369"/>
                  </a:lnTo>
                  <a:lnTo>
                    <a:pt x="1521" y="1365"/>
                  </a:lnTo>
                  <a:lnTo>
                    <a:pt x="1501" y="1356"/>
                  </a:lnTo>
                  <a:lnTo>
                    <a:pt x="1473" y="1351"/>
                  </a:lnTo>
                  <a:lnTo>
                    <a:pt x="1453" y="1355"/>
                  </a:lnTo>
                  <a:lnTo>
                    <a:pt x="1423" y="1369"/>
                  </a:lnTo>
                  <a:lnTo>
                    <a:pt x="1373" y="1411"/>
                  </a:lnTo>
                  <a:lnTo>
                    <a:pt x="1343" y="1442"/>
                  </a:lnTo>
                  <a:lnTo>
                    <a:pt x="1316" y="1470"/>
                  </a:lnTo>
                  <a:lnTo>
                    <a:pt x="1282" y="1509"/>
                  </a:lnTo>
                  <a:lnTo>
                    <a:pt x="1268" y="1536"/>
                  </a:lnTo>
                  <a:lnTo>
                    <a:pt x="1269" y="1557"/>
                  </a:lnTo>
                  <a:lnTo>
                    <a:pt x="1275" y="1569"/>
                  </a:lnTo>
                  <a:lnTo>
                    <a:pt x="1283" y="1586"/>
                  </a:lnTo>
                  <a:lnTo>
                    <a:pt x="1285" y="1606"/>
                  </a:lnTo>
                  <a:lnTo>
                    <a:pt x="1281" y="1616"/>
                  </a:lnTo>
                  <a:lnTo>
                    <a:pt x="1278" y="1620"/>
                  </a:lnTo>
                  <a:lnTo>
                    <a:pt x="1270" y="1624"/>
                  </a:lnTo>
                  <a:lnTo>
                    <a:pt x="1211" y="1629"/>
                  </a:lnTo>
                  <a:lnTo>
                    <a:pt x="1043" y="1632"/>
                  </a:lnTo>
                  <a:lnTo>
                    <a:pt x="873" y="1630"/>
                  </a:lnTo>
                  <a:lnTo>
                    <a:pt x="724" y="1628"/>
                  </a:lnTo>
                  <a:lnTo>
                    <a:pt x="569" y="1621"/>
                  </a:lnTo>
                  <a:lnTo>
                    <a:pt x="493" y="1613"/>
                  </a:lnTo>
                  <a:lnTo>
                    <a:pt x="435" y="1601"/>
                  </a:lnTo>
                  <a:lnTo>
                    <a:pt x="389" y="1584"/>
                  </a:lnTo>
                  <a:lnTo>
                    <a:pt x="351" y="1561"/>
                  </a:lnTo>
                  <a:lnTo>
                    <a:pt x="314" y="1531"/>
                  </a:lnTo>
                  <a:lnTo>
                    <a:pt x="295" y="1512"/>
                  </a:lnTo>
                  <a:lnTo>
                    <a:pt x="275" y="1493"/>
                  </a:lnTo>
                  <a:lnTo>
                    <a:pt x="242" y="1457"/>
                  </a:lnTo>
                  <a:lnTo>
                    <a:pt x="216" y="1421"/>
                  </a:lnTo>
                  <a:lnTo>
                    <a:pt x="197" y="1382"/>
                  </a:lnTo>
                  <a:lnTo>
                    <a:pt x="183" y="1336"/>
                  </a:lnTo>
                  <a:lnTo>
                    <a:pt x="173" y="1280"/>
                  </a:lnTo>
                  <a:lnTo>
                    <a:pt x="164" y="1174"/>
                  </a:lnTo>
                  <a:lnTo>
                    <a:pt x="161" y="1077"/>
                  </a:lnTo>
                  <a:lnTo>
                    <a:pt x="159" y="947"/>
                  </a:lnTo>
                  <a:lnTo>
                    <a:pt x="163" y="850"/>
                  </a:lnTo>
                  <a:lnTo>
                    <a:pt x="171" y="821"/>
                  </a:lnTo>
                  <a:lnTo>
                    <a:pt x="176" y="815"/>
                  </a:lnTo>
                  <a:lnTo>
                    <a:pt x="205" y="812"/>
                  </a:lnTo>
                  <a:lnTo>
                    <a:pt x="468" y="807"/>
                  </a:lnTo>
                  <a:lnTo>
                    <a:pt x="1203" y="801"/>
                  </a:lnTo>
                  <a:lnTo>
                    <a:pt x="1875" y="800"/>
                  </a:lnTo>
                  <a:lnTo>
                    <a:pt x="2546" y="801"/>
                  </a:lnTo>
                  <a:lnTo>
                    <a:pt x="3281" y="807"/>
                  </a:lnTo>
                  <a:lnTo>
                    <a:pt x="3545" y="812"/>
                  </a:lnTo>
                  <a:lnTo>
                    <a:pt x="3573" y="815"/>
                  </a:lnTo>
                  <a:close/>
                  <a:moveTo>
                    <a:pt x="1915" y="1425"/>
                  </a:moveTo>
                  <a:lnTo>
                    <a:pt x="1921" y="1434"/>
                  </a:lnTo>
                  <a:lnTo>
                    <a:pt x="1940" y="1451"/>
                  </a:lnTo>
                  <a:lnTo>
                    <a:pt x="1979" y="1474"/>
                  </a:lnTo>
                  <a:lnTo>
                    <a:pt x="2008" y="1484"/>
                  </a:lnTo>
                  <a:lnTo>
                    <a:pt x="2038" y="1493"/>
                  </a:lnTo>
                  <a:lnTo>
                    <a:pt x="2106" y="1521"/>
                  </a:lnTo>
                  <a:lnTo>
                    <a:pt x="2133" y="1535"/>
                  </a:lnTo>
                  <a:lnTo>
                    <a:pt x="2150" y="1545"/>
                  </a:lnTo>
                  <a:lnTo>
                    <a:pt x="2175" y="1557"/>
                  </a:lnTo>
                  <a:lnTo>
                    <a:pt x="2196" y="1560"/>
                  </a:lnTo>
                  <a:lnTo>
                    <a:pt x="2216" y="1555"/>
                  </a:lnTo>
                  <a:lnTo>
                    <a:pt x="2226" y="1550"/>
                  </a:lnTo>
                  <a:lnTo>
                    <a:pt x="2243" y="1542"/>
                  </a:lnTo>
                  <a:lnTo>
                    <a:pt x="2270" y="1541"/>
                  </a:lnTo>
                  <a:lnTo>
                    <a:pt x="2284" y="1555"/>
                  </a:lnTo>
                  <a:lnTo>
                    <a:pt x="2284" y="1581"/>
                  </a:lnTo>
                  <a:lnTo>
                    <a:pt x="2276" y="1599"/>
                  </a:lnTo>
                  <a:lnTo>
                    <a:pt x="2271" y="1609"/>
                  </a:lnTo>
                  <a:lnTo>
                    <a:pt x="2267" y="1630"/>
                  </a:lnTo>
                  <a:lnTo>
                    <a:pt x="2272" y="1655"/>
                  </a:lnTo>
                  <a:lnTo>
                    <a:pt x="2286" y="1690"/>
                  </a:lnTo>
                  <a:lnTo>
                    <a:pt x="2298" y="1712"/>
                  </a:lnTo>
                  <a:lnTo>
                    <a:pt x="2316" y="1747"/>
                  </a:lnTo>
                  <a:lnTo>
                    <a:pt x="2344" y="1816"/>
                  </a:lnTo>
                  <a:lnTo>
                    <a:pt x="2351" y="1839"/>
                  </a:lnTo>
                  <a:lnTo>
                    <a:pt x="2357" y="1859"/>
                  </a:lnTo>
                  <a:lnTo>
                    <a:pt x="2385" y="1899"/>
                  </a:lnTo>
                  <a:lnTo>
                    <a:pt x="2401" y="1912"/>
                  </a:lnTo>
                  <a:lnTo>
                    <a:pt x="2419" y="1924"/>
                  </a:lnTo>
                  <a:lnTo>
                    <a:pt x="2437" y="1946"/>
                  </a:lnTo>
                  <a:lnTo>
                    <a:pt x="2438" y="1966"/>
                  </a:lnTo>
                  <a:lnTo>
                    <a:pt x="2421" y="1984"/>
                  </a:lnTo>
                  <a:lnTo>
                    <a:pt x="2405" y="1992"/>
                  </a:lnTo>
                  <a:lnTo>
                    <a:pt x="2396" y="1997"/>
                  </a:lnTo>
                  <a:lnTo>
                    <a:pt x="2379" y="2014"/>
                  </a:lnTo>
                  <a:lnTo>
                    <a:pt x="2354" y="2056"/>
                  </a:lnTo>
                  <a:lnTo>
                    <a:pt x="2340" y="2094"/>
                  </a:lnTo>
                  <a:lnTo>
                    <a:pt x="2327" y="2131"/>
                  </a:lnTo>
                  <a:lnTo>
                    <a:pt x="2297" y="2200"/>
                  </a:lnTo>
                  <a:lnTo>
                    <a:pt x="2283" y="2222"/>
                  </a:lnTo>
                  <a:lnTo>
                    <a:pt x="2276" y="2235"/>
                  </a:lnTo>
                  <a:lnTo>
                    <a:pt x="2267" y="2255"/>
                  </a:lnTo>
                  <a:lnTo>
                    <a:pt x="2265" y="2272"/>
                  </a:lnTo>
                  <a:lnTo>
                    <a:pt x="2270" y="2290"/>
                  </a:lnTo>
                  <a:lnTo>
                    <a:pt x="2275" y="2300"/>
                  </a:lnTo>
                  <a:lnTo>
                    <a:pt x="2283" y="2319"/>
                  </a:lnTo>
                  <a:lnTo>
                    <a:pt x="2284" y="2342"/>
                  </a:lnTo>
                  <a:lnTo>
                    <a:pt x="2280" y="2353"/>
                  </a:lnTo>
                  <a:lnTo>
                    <a:pt x="2273" y="2361"/>
                  </a:lnTo>
                  <a:lnTo>
                    <a:pt x="2262" y="2365"/>
                  </a:lnTo>
                  <a:lnTo>
                    <a:pt x="2241" y="2363"/>
                  </a:lnTo>
                  <a:lnTo>
                    <a:pt x="2223" y="2354"/>
                  </a:lnTo>
                  <a:lnTo>
                    <a:pt x="2213" y="2347"/>
                  </a:lnTo>
                  <a:lnTo>
                    <a:pt x="2195" y="2342"/>
                  </a:lnTo>
                  <a:lnTo>
                    <a:pt x="2176" y="2344"/>
                  </a:lnTo>
                  <a:lnTo>
                    <a:pt x="2150" y="2357"/>
                  </a:lnTo>
                  <a:lnTo>
                    <a:pt x="2133" y="2367"/>
                  </a:lnTo>
                  <a:lnTo>
                    <a:pt x="2106" y="2383"/>
                  </a:lnTo>
                  <a:lnTo>
                    <a:pt x="2037" y="2413"/>
                  </a:lnTo>
                  <a:lnTo>
                    <a:pt x="2005" y="2422"/>
                  </a:lnTo>
                  <a:lnTo>
                    <a:pt x="1972" y="2433"/>
                  </a:lnTo>
                  <a:lnTo>
                    <a:pt x="1937" y="2455"/>
                  </a:lnTo>
                  <a:lnTo>
                    <a:pt x="1921" y="2472"/>
                  </a:lnTo>
                  <a:lnTo>
                    <a:pt x="1916" y="2480"/>
                  </a:lnTo>
                  <a:lnTo>
                    <a:pt x="1909" y="2495"/>
                  </a:lnTo>
                  <a:lnTo>
                    <a:pt x="1886" y="2515"/>
                  </a:lnTo>
                  <a:lnTo>
                    <a:pt x="1875" y="2517"/>
                  </a:lnTo>
                  <a:lnTo>
                    <a:pt x="1864" y="2515"/>
                  </a:lnTo>
                  <a:lnTo>
                    <a:pt x="1841" y="2495"/>
                  </a:lnTo>
                  <a:lnTo>
                    <a:pt x="1833" y="2480"/>
                  </a:lnTo>
                  <a:lnTo>
                    <a:pt x="1829" y="2472"/>
                  </a:lnTo>
                  <a:lnTo>
                    <a:pt x="1813" y="2455"/>
                  </a:lnTo>
                  <a:lnTo>
                    <a:pt x="1777" y="2433"/>
                  </a:lnTo>
                  <a:lnTo>
                    <a:pt x="1745" y="2422"/>
                  </a:lnTo>
                  <a:lnTo>
                    <a:pt x="1713" y="2413"/>
                  </a:lnTo>
                  <a:lnTo>
                    <a:pt x="1643" y="2383"/>
                  </a:lnTo>
                  <a:lnTo>
                    <a:pt x="1616" y="2367"/>
                  </a:lnTo>
                  <a:lnTo>
                    <a:pt x="1599" y="2357"/>
                  </a:lnTo>
                  <a:lnTo>
                    <a:pt x="1574" y="2344"/>
                  </a:lnTo>
                  <a:lnTo>
                    <a:pt x="1554" y="2342"/>
                  </a:lnTo>
                  <a:lnTo>
                    <a:pt x="1536" y="2347"/>
                  </a:lnTo>
                  <a:lnTo>
                    <a:pt x="1526" y="2354"/>
                  </a:lnTo>
                  <a:lnTo>
                    <a:pt x="1509" y="2363"/>
                  </a:lnTo>
                  <a:lnTo>
                    <a:pt x="1487" y="2365"/>
                  </a:lnTo>
                  <a:lnTo>
                    <a:pt x="1476" y="2361"/>
                  </a:lnTo>
                  <a:lnTo>
                    <a:pt x="1469" y="2353"/>
                  </a:lnTo>
                  <a:lnTo>
                    <a:pt x="1465" y="2342"/>
                  </a:lnTo>
                  <a:lnTo>
                    <a:pt x="1466" y="2319"/>
                  </a:lnTo>
                  <a:lnTo>
                    <a:pt x="1475" y="2300"/>
                  </a:lnTo>
                  <a:lnTo>
                    <a:pt x="1480" y="2290"/>
                  </a:lnTo>
                  <a:lnTo>
                    <a:pt x="1485" y="2272"/>
                  </a:lnTo>
                  <a:lnTo>
                    <a:pt x="1483" y="2255"/>
                  </a:lnTo>
                  <a:lnTo>
                    <a:pt x="1474" y="2235"/>
                  </a:lnTo>
                  <a:lnTo>
                    <a:pt x="1466" y="2222"/>
                  </a:lnTo>
                  <a:lnTo>
                    <a:pt x="1453" y="2200"/>
                  </a:lnTo>
                  <a:lnTo>
                    <a:pt x="1422" y="2131"/>
                  </a:lnTo>
                  <a:lnTo>
                    <a:pt x="1410" y="2094"/>
                  </a:lnTo>
                  <a:lnTo>
                    <a:pt x="1395" y="2056"/>
                  </a:lnTo>
                  <a:lnTo>
                    <a:pt x="1370" y="2014"/>
                  </a:lnTo>
                  <a:lnTo>
                    <a:pt x="1353" y="1997"/>
                  </a:lnTo>
                  <a:lnTo>
                    <a:pt x="1345" y="1992"/>
                  </a:lnTo>
                  <a:lnTo>
                    <a:pt x="1329" y="1984"/>
                  </a:lnTo>
                  <a:lnTo>
                    <a:pt x="1311" y="1966"/>
                  </a:lnTo>
                  <a:lnTo>
                    <a:pt x="1312" y="1946"/>
                  </a:lnTo>
                  <a:lnTo>
                    <a:pt x="1331" y="1924"/>
                  </a:lnTo>
                  <a:lnTo>
                    <a:pt x="1348" y="1912"/>
                  </a:lnTo>
                  <a:lnTo>
                    <a:pt x="1364" y="1899"/>
                  </a:lnTo>
                  <a:lnTo>
                    <a:pt x="1392" y="1859"/>
                  </a:lnTo>
                  <a:lnTo>
                    <a:pt x="1398" y="1839"/>
                  </a:lnTo>
                  <a:lnTo>
                    <a:pt x="1405" y="1816"/>
                  </a:lnTo>
                  <a:lnTo>
                    <a:pt x="1434" y="1747"/>
                  </a:lnTo>
                  <a:lnTo>
                    <a:pt x="1451" y="1712"/>
                  </a:lnTo>
                  <a:lnTo>
                    <a:pt x="1463" y="1690"/>
                  </a:lnTo>
                  <a:lnTo>
                    <a:pt x="1477" y="1655"/>
                  </a:lnTo>
                  <a:lnTo>
                    <a:pt x="1482" y="1630"/>
                  </a:lnTo>
                  <a:lnTo>
                    <a:pt x="1478" y="1609"/>
                  </a:lnTo>
                  <a:lnTo>
                    <a:pt x="1473" y="1599"/>
                  </a:lnTo>
                  <a:lnTo>
                    <a:pt x="1465" y="1581"/>
                  </a:lnTo>
                  <a:lnTo>
                    <a:pt x="1465" y="1555"/>
                  </a:lnTo>
                  <a:lnTo>
                    <a:pt x="1480" y="1541"/>
                  </a:lnTo>
                  <a:lnTo>
                    <a:pt x="1506" y="1542"/>
                  </a:lnTo>
                  <a:lnTo>
                    <a:pt x="1523" y="1550"/>
                  </a:lnTo>
                  <a:lnTo>
                    <a:pt x="1534" y="1555"/>
                  </a:lnTo>
                  <a:lnTo>
                    <a:pt x="1553" y="1560"/>
                  </a:lnTo>
                  <a:lnTo>
                    <a:pt x="1574" y="1557"/>
                  </a:lnTo>
                  <a:lnTo>
                    <a:pt x="1601" y="1545"/>
                  </a:lnTo>
                  <a:lnTo>
                    <a:pt x="1618" y="1535"/>
                  </a:lnTo>
                  <a:lnTo>
                    <a:pt x="1645" y="1520"/>
                  </a:lnTo>
                  <a:lnTo>
                    <a:pt x="1717" y="1491"/>
                  </a:lnTo>
                  <a:lnTo>
                    <a:pt x="1748" y="1482"/>
                  </a:lnTo>
                  <a:lnTo>
                    <a:pt x="1766" y="1477"/>
                  </a:lnTo>
                  <a:lnTo>
                    <a:pt x="1796" y="1466"/>
                  </a:lnTo>
                  <a:lnTo>
                    <a:pt x="1818" y="1452"/>
                  </a:lnTo>
                  <a:lnTo>
                    <a:pt x="1834" y="1434"/>
                  </a:lnTo>
                  <a:lnTo>
                    <a:pt x="1840" y="1424"/>
                  </a:lnTo>
                  <a:lnTo>
                    <a:pt x="1848" y="1406"/>
                  </a:lnTo>
                  <a:lnTo>
                    <a:pt x="1865" y="1388"/>
                  </a:lnTo>
                  <a:lnTo>
                    <a:pt x="1882" y="1388"/>
                  </a:lnTo>
                  <a:lnTo>
                    <a:pt x="1903" y="1408"/>
                  </a:lnTo>
                  <a:lnTo>
                    <a:pt x="1915" y="1425"/>
                  </a:lnTo>
                  <a:close/>
                  <a:moveTo>
                    <a:pt x="231" y="1675"/>
                  </a:moveTo>
                  <a:lnTo>
                    <a:pt x="274" y="1707"/>
                  </a:lnTo>
                  <a:lnTo>
                    <a:pt x="333" y="1739"/>
                  </a:lnTo>
                  <a:lnTo>
                    <a:pt x="378" y="1754"/>
                  </a:lnTo>
                  <a:lnTo>
                    <a:pt x="464" y="1770"/>
                  </a:lnTo>
                  <a:lnTo>
                    <a:pt x="646" y="1780"/>
                  </a:lnTo>
                  <a:lnTo>
                    <a:pt x="781" y="1784"/>
                  </a:lnTo>
                  <a:lnTo>
                    <a:pt x="1146" y="1792"/>
                  </a:lnTo>
                  <a:lnTo>
                    <a:pt x="1143" y="1939"/>
                  </a:lnTo>
                  <a:lnTo>
                    <a:pt x="1140" y="2085"/>
                  </a:lnTo>
                  <a:lnTo>
                    <a:pt x="1190" y="2105"/>
                  </a:lnTo>
                  <a:lnTo>
                    <a:pt x="1203" y="2111"/>
                  </a:lnTo>
                  <a:lnTo>
                    <a:pt x="1226" y="2126"/>
                  </a:lnTo>
                  <a:lnTo>
                    <a:pt x="1245" y="2149"/>
                  </a:lnTo>
                  <a:lnTo>
                    <a:pt x="1263" y="2181"/>
                  </a:lnTo>
                  <a:lnTo>
                    <a:pt x="1271" y="2200"/>
                  </a:lnTo>
                  <a:lnTo>
                    <a:pt x="1282" y="2225"/>
                  </a:lnTo>
                  <a:lnTo>
                    <a:pt x="1293" y="2260"/>
                  </a:lnTo>
                  <a:lnTo>
                    <a:pt x="1295" y="2285"/>
                  </a:lnTo>
                  <a:lnTo>
                    <a:pt x="1287" y="2310"/>
                  </a:lnTo>
                  <a:lnTo>
                    <a:pt x="1280" y="2325"/>
                  </a:lnTo>
                  <a:lnTo>
                    <a:pt x="1271" y="2341"/>
                  </a:lnTo>
                  <a:lnTo>
                    <a:pt x="1266" y="2359"/>
                  </a:lnTo>
                  <a:lnTo>
                    <a:pt x="1268" y="2371"/>
                  </a:lnTo>
                  <a:lnTo>
                    <a:pt x="1280" y="2392"/>
                  </a:lnTo>
                  <a:lnTo>
                    <a:pt x="1321" y="2436"/>
                  </a:lnTo>
                  <a:lnTo>
                    <a:pt x="1355" y="2470"/>
                  </a:lnTo>
                  <a:lnTo>
                    <a:pt x="1389" y="2504"/>
                  </a:lnTo>
                  <a:lnTo>
                    <a:pt x="1433" y="2545"/>
                  </a:lnTo>
                  <a:lnTo>
                    <a:pt x="1454" y="2557"/>
                  </a:lnTo>
                  <a:lnTo>
                    <a:pt x="1466" y="2559"/>
                  </a:lnTo>
                  <a:lnTo>
                    <a:pt x="1484" y="2554"/>
                  </a:lnTo>
                  <a:lnTo>
                    <a:pt x="1500" y="2545"/>
                  </a:lnTo>
                  <a:lnTo>
                    <a:pt x="1515" y="2538"/>
                  </a:lnTo>
                  <a:lnTo>
                    <a:pt x="1540" y="2530"/>
                  </a:lnTo>
                  <a:lnTo>
                    <a:pt x="1565" y="2532"/>
                  </a:lnTo>
                  <a:lnTo>
                    <a:pt x="1600" y="2543"/>
                  </a:lnTo>
                  <a:lnTo>
                    <a:pt x="1625" y="2554"/>
                  </a:lnTo>
                  <a:lnTo>
                    <a:pt x="1644" y="2562"/>
                  </a:lnTo>
                  <a:lnTo>
                    <a:pt x="1676" y="2580"/>
                  </a:lnTo>
                  <a:lnTo>
                    <a:pt x="1699" y="2599"/>
                  </a:lnTo>
                  <a:lnTo>
                    <a:pt x="1714" y="2622"/>
                  </a:lnTo>
                  <a:lnTo>
                    <a:pt x="1720" y="2635"/>
                  </a:lnTo>
                  <a:lnTo>
                    <a:pt x="1726" y="2652"/>
                  </a:lnTo>
                  <a:lnTo>
                    <a:pt x="1741" y="2672"/>
                  </a:lnTo>
                  <a:lnTo>
                    <a:pt x="1770" y="2681"/>
                  </a:lnTo>
                  <a:lnTo>
                    <a:pt x="1828" y="2684"/>
                  </a:lnTo>
                  <a:lnTo>
                    <a:pt x="1875" y="2684"/>
                  </a:lnTo>
                  <a:lnTo>
                    <a:pt x="1921" y="2684"/>
                  </a:lnTo>
                  <a:lnTo>
                    <a:pt x="1979" y="2681"/>
                  </a:lnTo>
                  <a:lnTo>
                    <a:pt x="2009" y="2672"/>
                  </a:lnTo>
                  <a:lnTo>
                    <a:pt x="2023" y="2652"/>
                  </a:lnTo>
                  <a:lnTo>
                    <a:pt x="2030" y="2635"/>
                  </a:lnTo>
                  <a:lnTo>
                    <a:pt x="2035" y="2622"/>
                  </a:lnTo>
                  <a:lnTo>
                    <a:pt x="2051" y="2599"/>
                  </a:lnTo>
                  <a:lnTo>
                    <a:pt x="2074" y="2580"/>
                  </a:lnTo>
                  <a:lnTo>
                    <a:pt x="2105" y="2562"/>
                  </a:lnTo>
                  <a:lnTo>
                    <a:pt x="2125" y="2554"/>
                  </a:lnTo>
                  <a:lnTo>
                    <a:pt x="2149" y="2543"/>
                  </a:lnTo>
                  <a:lnTo>
                    <a:pt x="2184" y="2532"/>
                  </a:lnTo>
                  <a:lnTo>
                    <a:pt x="2210" y="2530"/>
                  </a:lnTo>
                  <a:lnTo>
                    <a:pt x="2234" y="2538"/>
                  </a:lnTo>
                  <a:lnTo>
                    <a:pt x="2250" y="2545"/>
                  </a:lnTo>
                  <a:lnTo>
                    <a:pt x="2265" y="2554"/>
                  </a:lnTo>
                  <a:lnTo>
                    <a:pt x="2283" y="2559"/>
                  </a:lnTo>
                  <a:lnTo>
                    <a:pt x="2296" y="2557"/>
                  </a:lnTo>
                  <a:lnTo>
                    <a:pt x="2317" y="2545"/>
                  </a:lnTo>
                  <a:lnTo>
                    <a:pt x="2361" y="2504"/>
                  </a:lnTo>
                  <a:lnTo>
                    <a:pt x="2395" y="2470"/>
                  </a:lnTo>
                  <a:lnTo>
                    <a:pt x="2429" y="2436"/>
                  </a:lnTo>
                  <a:lnTo>
                    <a:pt x="2469" y="2392"/>
                  </a:lnTo>
                  <a:lnTo>
                    <a:pt x="2482" y="2371"/>
                  </a:lnTo>
                  <a:lnTo>
                    <a:pt x="2483" y="2359"/>
                  </a:lnTo>
                  <a:lnTo>
                    <a:pt x="2478" y="2341"/>
                  </a:lnTo>
                  <a:lnTo>
                    <a:pt x="2470" y="2325"/>
                  </a:lnTo>
                  <a:lnTo>
                    <a:pt x="2462" y="2310"/>
                  </a:lnTo>
                  <a:lnTo>
                    <a:pt x="2454" y="2285"/>
                  </a:lnTo>
                  <a:lnTo>
                    <a:pt x="2456" y="2260"/>
                  </a:lnTo>
                  <a:lnTo>
                    <a:pt x="2468" y="2225"/>
                  </a:lnTo>
                  <a:lnTo>
                    <a:pt x="2478" y="2200"/>
                  </a:lnTo>
                  <a:lnTo>
                    <a:pt x="2487" y="2181"/>
                  </a:lnTo>
                  <a:lnTo>
                    <a:pt x="2504" y="2149"/>
                  </a:lnTo>
                  <a:lnTo>
                    <a:pt x="2524" y="2126"/>
                  </a:lnTo>
                  <a:lnTo>
                    <a:pt x="2546" y="2111"/>
                  </a:lnTo>
                  <a:lnTo>
                    <a:pt x="2560" y="2105"/>
                  </a:lnTo>
                  <a:lnTo>
                    <a:pt x="2610" y="2085"/>
                  </a:lnTo>
                  <a:lnTo>
                    <a:pt x="2606" y="1939"/>
                  </a:lnTo>
                  <a:lnTo>
                    <a:pt x="2603" y="1792"/>
                  </a:lnTo>
                  <a:lnTo>
                    <a:pt x="2968" y="1784"/>
                  </a:lnTo>
                  <a:lnTo>
                    <a:pt x="3104" y="1780"/>
                  </a:lnTo>
                  <a:lnTo>
                    <a:pt x="3285" y="1770"/>
                  </a:lnTo>
                  <a:lnTo>
                    <a:pt x="3371" y="1754"/>
                  </a:lnTo>
                  <a:lnTo>
                    <a:pt x="3416" y="1739"/>
                  </a:lnTo>
                  <a:lnTo>
                    <a:pt x="3476" y="1707"/>
                  </a:lnTo>
                  <a:lnTo>
                    <a:pt x="3518" y="1675"/>
                  </a:lnTo>
                  <a:lnTo>
                    <a:pt x="3540" y="1658"/>
                  </a:lnTo>
                  <a:lnTo>
                    <a:pt x="3575" y="1636"/>
                  </a:lnTo>
                  <a:lnTo>
                    <a:pt x="3583" y="1634"/>
                  </a:lnTo>
                  <a:lnTo>
                    <a:pt x="3586" y="1642"/>
                  </a:lnTo>
                  <a:lnTo>
                    <a:pt x="3589" y="1726"/>
                  </a:lnTo>
                  <a:lnTo>
                    <a:pt x="3588" y="1787"/>
                  </a:lnTo>
                  <a:lnTo>
                    <a:pt x="3583" y="1942"/>
                  </a:lnTo>
                  <a:lnTo>
                    <a:pt x="3180" y="1947"/>
                  </a:lnTo>
                  <a:lnTo>
                    <a:pt x="2775" y="1950"/>
                  </a:lnTo>
                  <a:lnTo>
                    <a:pt x="2775" y="2559"/>
                  </a:lnTo>
                  <a:lnTo>
                    <a:pt x="2775" y="3167"/>
                  </a:lnTo>
                  <a:lnTo>
                    <a:pt x="2738" y="3175"/>
                  </a:lnTo>
                  <a:lnTo>
                    <a:pt x="2652" y="3179"/>
                  </a:lnTo>
                  <a:lnTo>
                    <a:pt x="1953" y="3181"/>
                  </a:lnTo>
                  <a:lnTo>
                    <a:pt x="1453" y="3180"/>
                  </a:lnTo>
                  <a:lnTo>
                    <a:pt x="690" y="3177"/>
                  </a:lnTo>
                  <a:lnTo>
                    <a:pt x="267" y="3167"/>
                  </a:lnTo>
                  <a:lnTo>
                    <a:pt x="202" y="3158"/>
                  </a:lnTo>
                  <a:lnTo>
                    <a:pt x="186" y="3149"/>
                  </a:lnTo>
                  <a:lnTo>
                    <a:pt x="181" y="3144"/>
                  </a:lnTo>
                  <a:lnTo>
                    <a:pt x="178" y="3138"/>
                  </a:lnTo>
                  <a:lnTo>
                    <a:pt x="172" y="3116"/>
                  </a:lnTo>
                  <a:lnTo>
                    <a:pt x="165" y="3053"/>
                  </a:lnTo>
                  <a:lnTo>
                    <a:pt x="158" y="2771"/>
                  </a:lnTo>
                  <a:lnTo>
                    <a:pt x="158" y="2372"/>
                  </a:lnTo>
                  <a:lnTo>
                    <a:pt x="159" y="2076"/>
                  </a:lnTo>
                  <a:lnTo>
                    <a:pt x="164" y="1675"/>
                  </a:lnTo>
                  <a:lnTo>
                    <a:pt x="168" y="1634"/>
                  </a:lnTo>
                  <a:lnTo>
                    <a:pt x="187" y="1643"/>
                  </a:lnTo>
                  <a:lnTo>
                    <a:pt x="231" y="1675"/>
                  </a:lnTo>
                  <a:close/>
                  <a:moveTo>
                    <a:pt x="4325" y="2400"/>
                  </a:moveTo>
                  <a:lnTo>
                    <a:pt x="4325" y="2684"/>
                  </a:lnTo>
                  <a:lnTo>
                    <a:pt x="4608" y="2684"/>
                  </a:lnTo>
                  <a:lnTo>
                    <a:pt x="4891" y="2684"/>
                  </a:lnTo>
                  <a:lnTo>
                    <a:pt x="4891" y="3784"/>
                  </a:lnTo>
                  <a:lnTo>
                    <a:pt x="4891" y="4884"/>
                  </a:lnTo>
                  <a:lnTo>
                    <a:pt x="3916" y="4884"/>
                  </a:lnTo>
                  <a:lnTo>
                    <a:pt x="2941" y="4884"/>
                  </a:lnTo>
                  <a:lnTo>
                    <a:pt x="2941" y="4302"/>
                  </a:lnTo>
                  <a:lnTo>
                    <a:pt x="2941" y="3719"/>
                  </a:lnTo>
                  <a:lnTo>
                    <a:pt x="3030" y="3694"/>
                  </a:lnTo>
                  <a:lnTo>
                    <a:pt x="3119" y="3669"/>
                  </a:lnTo>
                  <a:lnTo>
                    <a:pt x="3205" y="3649"/>
                  </a:lnTo>
                  <a:lnTo>
                    <a:pt x="3233" y="3642"/>
                  </a:lnTo>
                  <a:lnTo>
                    <a:pt x="3272" y="3636"/>
                  </a:lnTo>
                  <a:lnTo>
                    <a:pt x="3299" y="3642"/>
                  </a:lnTo>
                  <a:lnTo>
                    <a:pt x="3328" y="3663"/>
                  </a:lnTo>
                  <a:lnTo>
                    <a:pt x="3348" y="3680"/>
                  </a:lnTo>
                  <a:lnTo>
                    <a:pt x="3375" y="3702"/>
                  </a:lnTo>
                  <a:lnTo>
                    <a:pt x="3433" y="3732"/>
                  </a:lnTo>
                  <a:lnTo>
                    <a:pt x="3492" y="3745"/>
                  </a:lnTo>
                  <a:lnTo>
                    <a:pt x="3550" y="3743"/>
                  </a:lnTo>
                  <a:lnTo>
                    <a:pt x="3605" y="3725"/>
                  </a:lnTo>
                  <a:lnTo>
                    <a:pt x="3655" y="3694"/>
                  </a:lnTo>
                  <a:lnTo>
                    <a:pt x="3697" y="3648"/>
                  </a:lnTo>
                  <a:lnTo>
                    <a:pt x="3730" y="3590"/>
                  </a:lnTo>
                  <a:lnTo>
                    <a:pt x="3741" y="3555"/>
                  </a:lnTo>
                  <a:lnTo>
                    <a:pt x="3748" y="3533"/>
                  </a:lnTo>
                  <a:lnTo>
                    <a:pt x="3754" y="3499"/>
                  </a:lnTo>
                  <a:lnTo>
                    <a:pt x="3751" y="3469"/>
                  </a:lnTo>
                  <a:lnTo>
                    <a:pt x="3736" y="3431"/>
                  </a:lnTo>
                  <a:lnTo>
                    <a:pt x="3723" y="3405"/>
                  </a:lnTo>
                  <a:lnTo>
                    <a:pt x="3711" y="3383"/>
                  </a:lnTo>
                  <a:lnTo>
                    <a:pt x="3688" y="3348"/>
                  </a:lnTo>
                  <a:lnTo>
                    <a:pt x="3661" y="3320"/>
                  </a:lnTo>
                  <a:lnTo>
                    <a:pt x="3626" y="3297"/>
                  </a:lnTo>
                  <a:lnTo>
                    <a:pt x="3603" y="3285"/>
                  </a:lnTo>
                  <a:lnTo>
                    <a:pt x="3577" y="3273"/>
                  </a:lnTo>
                  <a:lnTo>
                    <a:pt x="3540" y="3258"/>
                  </a:lnTo>
                  <a:lnTo>
                    <a:pt x="3509" y="3254"/>
                  </a:lnTo>
                  <a:lnTo>
                    <a:pt x="3475" y="3260"/>
                  </a:lnTo>
                  <a:lnTo>
                    <a:pt x="3453" y="3267"/>
                  </a:lnTo>
                  <a:lnTo>
                    <a:pt x="3423" y="3277"/>
                  </a:lnTo>
                  <a:lnTo>
                    <a:pt x="3370" y="3303"/>
                  </a:lnTo>
                  <a:lnTo>
                    <a:pt x="3327" y="3339"/>
                  </a:lnTo>
                  <a:lnTo>
                    <a:pt x="3295" y="3383"/>
                  </a:lnTo>
                  <a:lnTo>
                    <a:pt x="3283" y="3409"/>
                  </a:lnTo>
                  <a:lnTo>
                    <a:pt x="3276" y="3424"/>
                  </a:lnTo>
                  <a:lnTo>
                    <a:pt x="3255" y="3448"/>
                  </a:lnTo>
                  <a:lnTo>
                    <a:pt x="3219" y="3467"/>
                  </a:lnTo>
                  <a:lnTo>
                    <a:pt x="3156" y="3489"/>
                  </a:lnTo>
                  <a:lnTo>
                    <a:pt x="3110" y="3502"/>
                  </a:lnTo>
                  <a:lnTo>
                    <a:pt x="3049" y="3519"/>
                  </a:lnTo>
                  <a:lnTo>
                    <a:pt x="2962" y="3538"/>
                  </a:lnTo>
                  <a:lnTo>
                    <a:pt x="2950" y="3537"/>
                  </a:lnTo>
                  <a:lnTo>
                    <a:pt x="2946" y="3494"/>
                  </a:lnTo>
                  <a:lnTo>
                    <a:pt x="2942" y="3105"/>
                  </a:lnTo>
                  <a:lnTo>
                    <a:pt x="2941" y="2822"/>
                  </a:lnTo>
                  <a:lnTo>
                    <a:pt x="2941" y="2117"/>
                  </a:lnTo>
                  <a:lnTo>
                    <a:pt x="3633" y="2117"/>
                  </a:lnTo>
                  <a:lnTo>
                    <a:pt x="4325" y="2117"/>
                  </a:lnTo>
                  <a:lnTo>
                    <a:pt x="4325" y="2400"/>
                  </a:lnTo>
                  <a:close/>
                  <a:moveTo>
                    <a:pt x="4640" y="2385"/>
                  </a:moveTo>
                  <a:lnTo>
                    <a:pt x="4765" y="2517"/>
                  </a:lnTo>
                  <a:lnTo>
                    <a:pt x="4628" y="2517"/>
                  </a:lnTo>
                  <a:lnTo>
                    <a:pt x="4491" y="2517"/>
                  </a:lnTo>
                  <a:lnTo>
                    <a:pt x="4491" y="2384"/>
                  </a:lnTo>
                  <a:lnTo>
                    <a:pt x="4492" y="2331"/>
                  </a:lnTo>
                  <a:lnTo>
                    <a:pt x="4497" y="2274"/>
                  </a:lnTo>
                  <a:lnTo>
                    <a:pt x="4502" y="2254"/>
                  </a:lnTo>
                  <a:lnTo>
                    <a:pt x="4505" y="2252"/>
                  </a:lnTo>
                  <a:lnTo>
                    <a:pt x="4516" y="2261"/>
                  </a:lnTo>
                  <a:lnTo>
                    <a:pt x="4589" y="2333"/>
                  </a:lnTo>
                  <a:lnTo>
                    <a:pt x="4640" y="2385"/>
                  </a:lnTo>
                  <a:close/>
                  <a:moveTo>
                    <a:pt x="3558" y="3450"/>
                  </a:moveTo>
                  <a:lnTo>
                    <a:pt x="3572" y="3465"/>
                  </a:lnTo>
                  <a:lnTo>
                    <a:pt x="3588" y="3488"/>
                  </a:lnTo>
                  <a:lnTo>
                    <a:pt x="3589" y="3509"/>
                  </a:lnTo>
                  <a:lnTo>
                    <a:pt x="3575" y="3534"/>
                  </a:lnTo>
                  <a:lnTo>
                    <a:pt x="3561" y="3550"/>
                  </a:lnTo>
                  <a:lnTo>
                    <a:pt x="3553" y="3561"/>
                  </a:lnTo>
                  <a:lnTo>
                    <a:pt x="3536" y="3574"/>
                  </a:lnTo>
                  <a:lnTo>
                    <a:pt x="3519" y="3580"/>
                  </a:lnTo>
                  <a:lnTo>
                    <a:pt x="3498" y="3580"/>
                  </a:lnTo>
                  <a:lnTo>
                    <a:pt x="3486" y="3577"/>
                  </a:lnTo>
                  <a:lnTo>
                    <a:pt x="3476" y="3574"/>
                  </a:lnTo>
                  <a:lnTo>
                    <a:pt x="3458" y="3564"/>
                  </a:lnTo>
                  <a:lnTo>
                    <a:pt x="3444" y="3551"/>
                  </a:lnTo>
                  <a:lnTo>
                    <a:pt x="3434" y="3535"/>
                  </a:lnTo>
                  <a:lnTo>
                    <a:pt x="3429" y="3516"/>
                  </a:lnTo>
                  <a:lnTo>
                    <a:pt x="3428" y="3497"/>
                  </a:lnTo>
                  <a:lnTo>
                    <a:pt x="3433" y="3478"/>
                  </a:lnTo>
                  <a:lnTo>
                    <a:pt x="3443" y="3459"/>
                  </a:lnTo>
                  <a:lnTo>
                    <a:pt x="3450" y="3450"/>
                  </a:lnTo>
                  <a:lnTo>
                    <a:pt x="3464" y="3436"/>
                  </a:lnTo>
                  <a:lnTo>
                    <a:pt x="3490" y="3420"/>
                  </a:lnTo>
                  <a:lnTo>
                    <a:pt x="3515" y="3420"/>
                  </a:lnTo>
                  <a:lnTo>
                    <a:pt x="3543" y="3436"/>
                  </a:lnTo>
                  <a:lnTo>
                    <a:pt x="3558" y="3450"/>
                  </a:lnTo>
                  <a:close/>
                  <a:moveTo>
                    <a:pt x="2421" y="3687"/>
                  </a:moveTo>
                  <a:lnTo>
                    <a:pt x="2431" y="3699"/>
                  </a:lnTo>
                  <a:lnTo>
                    <a:pt x="2441" y="3730"/>
                  </a:lnTo>
                  <a:lnTo>
                    <a:pt x="2437" y="3764"/>
                  </a:lnTo>
                  <a:lnTo>
                    <a:pt x="2421" y="3795"/>
                  </a:lnTo>
                  <a:lnTo>
                    <a:pt x="2408" y="3809"/>
                  </a:lnTo>
                  <a:lnTo>
                    <a:pt x="2398" y="3817"/>
                  </a:lnTo>
                  <a:lnTo>
                    <a:pt x="2381" y="3828"/>
                  </a:lnTo>
                  <a:lnTo>
                    <a:pt x="2365" y="3830"/>
                  </a:lnTo>
                  <a:lnTo>
                    <a:pt x="2345" y="3825"/>
                  </a:lnTo>
                  <a:lnTo>
                    <a:pt x="2333" y="3820"/>
                  </a:lnTo>
                  <a:lnTo>
                    <a:pt x="2320" y="3813"/>
                  </a:lnTo>
                  <a:lnTo>
                    <a:pt x="2301" y="3793"/>
                  </a:lnTo>
                  <a:lnTo>
                    <a:pt x="2291" y="3769"/>
                  </a:lnTo>
                  <a:lnTo>
                    <a:pt x="2289" y="3743"/>
                  </a:lnTo>
                  <a:lnTo>
                    <a:pt x="2294" y="3718"/>
                  </a:lnTo>
                  <a:lnTo>
                    <a:pt x="2307" y="3695"/>
                  </a:lnTo>
                  <a:lnTo>
                    <a:pt x="2326" y="3678"/>
                  </a:lnTo>
                  <a:lnTo>
                    <a:pt x="2351" y="3668"/>
                  </a:lnTo>
                  <a:lnTo>
                    <a:pt x="2366" y="3667"/>
                  </a:lnTo>
                  <a:lnTo>
                    <a:pt x="2382" y="3668"/>
                  </a:lnTo>
                  <a:lnTo>
                    <a:pt x="2411" y="3679"/>
                  </a:lnTo>
                  <a:lnTo>
                    <a:pt x="2421" y="3687"/>
                  </a:lnTo>
                  <a:close/>
                  <a:moveTo>
                    <a:pt x="1593" y="4334"/>
                  </a:moveTo>
                  <a:lnTo>
                    <a:pt x="1600" y="4338"/>
                  </a:lnTo>
                  <a:lnTo>
                    <a:pt x="1611" y="4350"/>
                  </a:lnTo>
                  <a:lnTo>
                    <a:pt x="1622" y="4373"/>
                  </a:lnTo>
                  <a:lnTo>
                    <a:pt x="1623" y="4408"/>
                  </a:lnTo>
                  <a:lnTo>
                    <a:pt x="1611" y="4443"/>
                  </a:lnTo>
                  <a:lnTo>
                    <a:pt x="1598" y="4457"/>
                  </a:lnTo>
                  <a:lnTo>
                    <a:pt x="1589" y="4466"/>
                  </a:lnTo>
                  <a:lnTo>
                    <a:pt x="1569" y="4477"/>
                  </a:lnTo>
                  <a:lnTo>
                    <a:pt x="1548" y="4481"/>
                  </a:lnTo>
                  <a:lnTo>
                    <a:pt x="1528" y="4479"/>
                  </a:lnTo>
                  <a:lnTo>
                    <a:pt x="1509" y="4471"/>
                  </a:lnTo>
                  <a:lnTo>
                    <a:pt x="1493" y="4457"/>
                  </a:lnTo>
                  <a:lnTo>
                    <a:pt x="1482" y="4439"/>
                  </a:lnTo>
                  <a:lnTo>
                    <a:pt x="1475" y="4417"/>
                  </a:lnTo>
                  <a:lnTo>
                    <a:pt x="1475" y="4404"/>
                  </a:lnTo>
                  <a:lnTo>
                    <a:pt x="1475" y="4390"/>
                  </a:lnTo>
                  <a:lnTo>
                    <a:pt x="1480" y="4365"/>
                  </a:lnTo>
                  <a:lnTo>
                    <a:pt x="1488" y="4346"/>
                  </a:lnTo>
                  <a:lnTo>
                    <a:pt x="1501" y="4331"/>
                  </a:lnTo>
                  <a:lnTo>
                    <a:pt x="1516" y="4322"/>
                  </a:lnTo>
                  <a:lnTo>
                    <a:pt x="1535" y="4318"/>
                  </a:lnTo>
                  <a:lnTo>
                    <a:pt x="1557" y="4320"/>
                  </a:lnTo>
                  <a:lnTo>
                    <a:pt x="1580" y="4327"/>
                  </a:lnTo>
                  <a:lnTo>
                    <a:pt x="1593" y="4334"/>
                  </a:lnTo>
                  <a:close/>
                  <a:moveTo>
                    <a:pt x="320" y="4777"/>
                  </a:moveTo>
                  <a:lnTo>
                    <a:pt x="322" y="4785"/>
                  </a:lnTo>
                  <a:lnTo>
                    <a:pt x="324" y="4803"/>
                  </a:lnTo>
                  <a:lnTo>
                    <a:pt x="318" y="4830"/>
                  </a:lnTo>
                  <a:lnTo>
                    <a:pt x="298" y="4862"/>
                  </a:lnTo>
                  <a:lnTo>
                    <a:pt x="276" y="4878"/>
                  </a:lnTo>
                  <a:lnTo>
                    <a:pt x="260" y="4883"/>
                  </a:lnTo>
                  <a:lnTo>
                    <a:pt x="251" y="4884"/>
                  </a:lnTo>
                  <a:lnTo>
                    <a:pt x="235" y="4882"/>
                  </a:lnTo>
                  <a:lnTo>
                    <a:pt x="203" y="4870"/>
                  </a:lnTo>
                  <a:lnTo>
                    <a:pt x="176" y="4849"/>
                  </a:lnTo>
                  <a:lnTo>
                    <a:pt x="160" y="4824"/>
                  </a:lnTo>
                  <a:lnTo>
                    <a:pt x="158" y="4810"/>
                  </a:lnTo>
                  <a:lnTo>
                    <a:pt x="159" y="4800"/>
                  </a:lnTo>
                  <a:lnTo>
                    <a:pt x="170" y="4775"/>
                  </a:lnTo>
                  <a:lnTo>
                    <a:pt x="189" y="4752"/>
                  </a:lnTo>
                  <a:lnTo>
                    <a:pt x="213" y="4735"/>
                  </a:lnTo>
                  <a:lnTo>
                    <a:pt x="225" y="4730"/>
                  </a:lnTo>
                  <a:lnTo>
                    <a:pt x="237" y="4727"/>
                  </a:lnTo>
                  <a:lnTo>
                    <a:pt x="265" y="4731"/>
                  </a:lnTo>
                  <a:lnTo>
                    <a:pt x="292" y="4745"/>
                  </a:lnTo>
                  <a:lnTo>
                    <a:pt x="314" y="4765"/>
                  </a:lnTo>
                  <a:lnTo>
                    <a:pt x="320" y="4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71">
              <a:extLst>
                <a:ext uri="{FF2B5EF4-FFF2-40B4-BE49-F238E27FC236}">
                  <a16:creationId xmlns:a16="http://schemas.microsoft.com/office/drawing/2014/main" id="{691272A4-07DF-5DEA-E3F8-CD87718B00F4}"/>
                </a:ext>
              </a:extLst>
            </p:cNvPr>
            <p:cNvSpPr>
              <a:spLocks/>
            </p:cNvSpPr>
            <p:nvPr/>
          </p:nvSpPr>
          <p:spPr bwMode="auto">
            <a:xfrm>
              <a:off x="7029450"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72">
              <a:extLst>
                <a:ext uri="{FF2B5EF4-FFF2-40B4-BE49-F238E27FC236}">
                  <a16:creationId xmlns:a16="http://schemas.microsoft.com/office/drawing/2014/main" id="{59D6AA71-923F-99E2-03D6-573929E29FC9}"/>
                </a:ext>
              </a:extLst>
            </p:cNvPr>
            <p:cNvSpPr>
              <a:spLocks/>
            </p:cNvSpPr>
            <p:nvPr/>
          </p:nvSpPr>
          <p:spPr bwMode="auto">
            <a:xfrm>
              <a:off x="7158038" y="5097463"/>
              <a:ext cx="58738" cy="63500"/>
            </a:xfrm>
            <a:custGeom>
              <a:avLst/>
              <a:gdLst>
                <a:gd name="T0" fmla="*/ 12 w 152"/>
                <a:gd name="T1" fmla="*/ 8 h 165"/>
                <a:gd name="T2" fmla="*/ 7 w 152"/>
                <a:gd name="T3" fmla="*/ 17 h 165"/>
                <a:gd name="T4" fmla="*/ 1 w 152"/>
                <a:gd name="T5" fmla="*/ 63 h 165"/>
                <a:gd name="T6" fmla="*/ 0 w 152"/>
                <a:gd name="T7" fmla="*/ 93 h 165"/>
                <a:gd name="T8" fmla="*/ 0 w 152"/>
                <a:gd name="T9" fmla="*/ 165 h 165"/>
                <a:gd name="T10" fmla="*/ 77 w 152"/>
                <a:gd name="T11" fmla="*/ 165 h 165"/>
                <a:gd name="T12" fmla="*/ 152 w 152"/>
                <a:gd name="T13" fmla="*/ 165 h 165"/>
                <a:gd name="T14" fmla="*/ 147 w 152"/>
                <a:gd name="T15" fmla="*/ 85 h 165"/>
                <a:gd name="T16" fmla="*/ 145 w 152"/>
                <a:gd name="T17" fmla="*/ 58 h 165"/>
                <a:gd name="T18" fmla="*/ 140 w 152"/>
                <a:gd name="T19" fmla="*/ 25 h 165"/>
                <a:gd name="T20" fmla="*/ 127 w 152"/>
                <a:gd name="T21" fmla="*/ 9 h 165"/>
                <a:gd name="T22" fmla="*/ 103 w 152"/>
                <a:gd name="T23" fmla="*/ 3 h 165"/>
                <a:gd name="T24" fmla="*/ 83 w 152"/>
                <a:gd name="T25" fmla="*/ 1 h 165"/>
                <a:gd name="T26" fmla="*/ 59 w 152"/>
                <a:gd name="T27" fmla="*/ 0 h 165"/>
                <a:gd name="T28" fmla="*/ 20 w 152"/>
                <a:gd name="T29" fmla="*/ 3 h 165"/>
                <a:gd name="T30" fmla="*/ 12 w 152"/>
                <a:gd name="T31"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65">
                  <a:moveTo>
                    <a:pt x="12" y="8"/>
                  </a:moveTo>
                  <a:lnTo>
                    <a:pt x="7" y="17"/>
                  </a:lnTo>
                  <a:lnTo>
                    <a:pt x="1" y="63"/>
                  </a:lnTo>
                  <a:lnTo>
                    <a:pt x="0" y="93"/>
                  </a:lnTo>
                  <a:lnTo>
                    <a:pt x="0" y="165"/>
                  </a:lnTo>
                  <a:lnTo>
                    <a:pt x="77" y="165"/>
                  </a:lnTo>
                  <a:lnTo>
                    <a:pt x="152" y="165"/>
                  </a:lnTo>
                  <a:lnTo>
                    <a:pt x="147" y="85"/>
                  </a:lnTo>
                  <a:lnTo>
                    <a:pt x="145" y="58"/>
                  </a:lnTo>
                  <a:lnTo>
                    <a:pt x="140" y="25"/>
                  </a:lnTo>
                  <a:lnTo>
                    <a:pt x="127" y="9"/>
                  </a:lnTo>
                  <a:lnTo>
                    <a:pt x="103" y="3"/>
                  </a:lnTo>
                  <a:lnTo>
                    <a:pt x="83" y="1"/>
                  </a:lnTo>
                  <a:lnTo>
                    <a:pt x="59" y="0"/>
                  </a:lnTo>
                  <a:lnTo>
                    <a:pt x="20" y="3"/>
                  </a:lnTo>
                  <a:lnTo>
                    <a:pt x="1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173">
              <a:extLst>
                <a:ext uri="{FF2B5EF4-FFF2-40B4-BE49-F238E27FC236}">
                  <a16:creationId xmlns:a16="http://schemas.microsoft.com/office/drawing/2014/main" id="{68EEA042-433B-704C-2A9C-58F182A61D01}"/>
                </a:ext>
              </a:extLst>
            </p:cNvPr>
            <p:cNvSpPr>
              <a:spLocks/>
            </p:cNvSpPr>
            <p:nvPr/>
          </p:nvSpPr>
          <p:spPr bwMode="auto">
            <a:xfrm>
              <a:off x="7280275"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174">
              <a:extLst>
                <a:ext uri="{FF2B5EF4-FFF2-40B4-BE49-F238E27FC236}">
                  <a16:creationId xmlns:a16="http://schemas.microsoft.com/office/drawing/2014/main" id="{F1D9AC28-B8F8-8A00-98F8-D8793B9E4576}"/>
                </a:ext>
              </a:extLst>
            </p:cNvPr>
            <p:cNvSpPr>
              <a:spLocks noEditPoints="1"/>
            </p:cNvSpPr>
            <p:nvPr/>
          </p:nvSpPr>
          <p:spPr bwMode="auto">
            <a:xfrm>
              <a:off x="7504113" y="5354638"/>
              <a:ext cx="247650" cy="246063"/>
            </a:xfrm>
            <a:custGeom>
              <a:avLst/>
              <a:gdLst>
                <a:gd name="T0" fmla="*/ 133 w 640"/>
                <a:gd name="T1" fmla="*/ 57 h 638"/>
                <a:gd name="T2" fmla="*/ 48 w 640"/>
                <a:gd name="T3" fmla="*/ 143 h 638"/>
                <a:gd name="T4" fmla="*/ 15 w 640"/>
                <a:gd name="T5" fmla="*/ 200 h 638"/>
                <a:gd name="T6" fmla="*/ 0 w 640"/>
                <a:gd name="T7" fmla="*/ 283 h 638"/>
                <a:gd name="T8" fmla="*/ 0 w 640"/>
                <a:gd name="T9" fmla="*/ 352 h 638"/>
                <a:gd name="T10" fmla="*/ 27 w 640"/>
                <a:gd name="T11" fmla="*/ 463 h 638"/>
                <a:gd name="T12" fmla="*/ 85 w 640"/>
                <a:gd name="T13" fmla="*/ 538 h 638"/>
                <a:gd name="T14" fmla="*/ 161 w 640"/>
                <a:gd name="T15" fmla="*/ 602 h 638"/>
                <a:gd name="T16" fmla="*/ 283 w 640"/>
                <a:gd name="T17" fmla="*/ 637 h 638"/>
                <a:gd name="T18" fmla="*/ 357 w 640"/>
                <a:gd name="T19" fmla="*/ 637 h 638"/>
                <a:gd name="T20" fmla="*/ 479 w 640"/>
                <a:gd name="T21" fmla="*/ 602 h 638"/>
                <a:gd name="T22" fmla="*/ 555 w 640"/>
                <a:gd name="T23" fmla="*/ 538 h 638"/>
                <a:gd name="T24" fmla="*/ 612 w 640"/>
                <a:gd name="T25" fmla="*/ 463 h 638"/>
                <a:gd name="T26" fmla="*/ 639 w 640"/>
                <a:gd name="T27" fmla="*/ 352 h 638"/>
                <a:gd name="T28" fmla="*/ 639 w 640"/>
                <a:gd name="T29" fmla="*/ 283 h 638"/>
                <a:gd name="T30" fmla="*/ 625 w 640"/>
                <a:gd name="T31" fmla="*/ 200 h 638"/>
                <a:gd name="T32" fmla="*/ 591 w 640"/>
                <a:gd name="T33" fmla="*/ 143 h 638"/>
                <a:gd name="T34" fmla="*/ 522 w 640"/>
                <a:gd name="T35" fmla="*/ 67 h 638"/>
                <a:gd name="T36" fmla="*/ 456 w 640"/>
                <a:gd name="T37" fmla="*/ 27 h 638"/>
                <a:gd name="T38" fmla="*/ 382 w 640"/>
                <a:gd name="T39" fmla="*/ 5 h 638"/>
                <a:gd name="T40" fmla="*/ 320 w 640"/>
                <a:gd name="T41" fmla="*/ 0 h 638"/>
                <a:gd name="T42" fmla="*/ 253 w 640"/>
                <a:gd name="T43" fmla="*/ 5 h 638"/>
                <a:gd name="T44" fmla="*/ 179 w 640"/>
                <a:gd name="T45" fmla="*/ 28 h 638"/>
                <a:gd name="T46" fmla="*/ 436 w 640"/>
                <a:gd name="T47" fmla="*/ 208 h 638"/>
                <a:gd name="T48" fmla="*/ 463 w 640"/>
                <a:gd name="T49" fmla="*/ 245 h 638"/>
                <a:gd name="T50" fmla="*/ 479 w 640"/>
                <a:gd name="T51" fmla="*/ 302 h 638"/>
                <a:gd name="T52" fmla="*/ 472 w 640"/>
                <a:gd name="T53" fmla="*/ 362 h 638"/>
                <a:gd name="T54" fmla="*/ 442 w 640"/>
                <a:gd name="T55" fmla="*/ 416 h 638"/>
                <a:gd name="T56" fmla="*/ 412 w 640"/>
                <a:gd name="T57" fmla="*/ 446 h 638"/>
                <a:gd name="T58" fmla="*/ 324 w 640"/>
                <a:gd name="T59" fmla="*/ 477 h 638"/>
                <a:gd name="T60" fmla="*/ 239 w 640"/>
                <a:gd name="T61" fmla="*/ 455 h 638"/>
                <a:gd name="T62" fmla="*/ 177 w 640"/>
                <a:gd name="T63" fmla="*/ 390 h 638"/>
                <a:gd name="T64" fmla="*/ 161 w 640"/>
                <a:gd name="T65" fmla="*/ 318 h 638"/>
                <a:gd name="T66" fmla="*/ 177 w 640"/>
                <a:gd name="T67" fmla="*/ 243 h 638"/>
                <a:gd name="T68" fmla="*/ 238 w 640"/>
                <a:gd name="T69" fmla="*/ 177 h 638"/>
                <a:gd name="T70" fmla="*/ 325 w 640"/>
                <a:gd name="T71" fmla="*/ 156 h 638"/>
                <a:gd name="T72" fmla="*/ 416 w 640"/>
                <a:gd name="T73" fmla="*/ 18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0" h="638">
                  <a:moveTo>
                    <a:pt x="161" y="38"/>
                  </a:moveTo>
                  <a:lnTo>
                    <a:pt x="133" y="57"/>
                  </a:lnTo>
                  <a:lnTo>
                    <a:pt x="71" y="114"/>
                  </a:lnTo>
                  <a:lnTo>
                    <a:pt x="48" y="143"/>
                  </a:lnTo>
                  <a:lnTo>
                    <a:pt x="34" y="164"/>
                  </a:lnTo>
                  <a:lnTo>
                    <a:pt x="15" y="200"/>
                  </a:lnTo>
                  <a:lnTo>
                    <a:pt x="4" y="237"/>
                  </a:lnTo>
                  <a:lnTo>
                    <a:pt x="0" y="283"/>
                  </a:lnTo>
                  <a:lnTo>
                    <a:pt x="0" y="313"/>
                  </a:lnTo>
                  <a:lnTo>
                    <a:pt x="0" y="352"/>
                  </a:lnTo>
                  <a:lnTo>
                    <a:pt x="8" y="413"/>
                  </a:lnTo>
                  <a:lnTo>
                    <a:pt x="27" y="463"/>
                  </a:lnTo>
                  <a:lnTo>
                    <a:pt x="61" y="511"/>
                  </a:lnTo>
                  <a:lnTo>
                    <a:pt x="85" y="538"/>
                  </a:lnTo>
                  <a:lnTo>
                    <a:pt x="109" y="564"/>
                  </a:lnTo>
                  <a:lnTo>
                    <a:pt x="161" y="602"/>
                  </a:lnTo>
                  <a:lnTo>
                    <a:pt x="217" y="626"/>
                  </a:lnTo>
                  <a:lnTo>
                    <a:pt x="283" y="637"/>
                  </a:lnTo>
                  <a:lnTo>
                    <a:pt x="320" y="638"/>
                  </a:lnTo>
                  <a:lnTo>
                    <a:pt x="357" y="637"/>
                  </a:lnTo>
                  <a:lnTo>
                    <a:pt x="422" y="626"/>
                  </a:lnTo>
                  <a:lnTo>
                    <a:pt x="479" y="602"/>
                  </a:lnTo>
                  <a:lnTo>
                    <a:pt x="530" y="564"/>
                  </a:lnTo>
                  <a:lnTo>
                    <a:pt x="555" y="538"/>
                  </a:lnTo>
                  <a:lnTo>
                    <a:pt x="579" y="511"/>
                  </a:lnTo>
                  <a:lnTo>
                    <a:pt x="612" y="463"/>
                  </a:lnTo>
                  <a:lnTo>
                    <a:pt x="631" y="413"/>
                  </a:lnTo>
                  <a:lnTo>
                    <a:pt x="639" y="352"/>
                  </a:lnTo>
                  <a:lnTo>
                    <a:pt x="640" y="313"/>
                  </a:lnTo>
                  <a:lnTo>
                    <a:pt x="639" y="283"/>
                  </a:lnTo>
                  <a:lnTo>
                    <a:pt x="635" y="237"/>
                  </a:lnTo>
                  <a:lnTo>
                    <a:pt x="625" y="200"/>
                  </a:lnTo>
                  <a:lnTo>
                    <a:pt x="605" y="164"/>
                  </a:lnTo>
                  <a:lnTo>
                    <a:pt x="591" y="143"/>
                  </a:lnTo>
                  <a:lnTo>
                    <a:pt x="566" y="109"/>
                  </a:lnTo>
                  <a:lnTo>
                    <a:pt x="522" y="67"/>
                  </a:lnTo>
                  <a:lnTo>
                    <a:pt x="490" y="45"/>
                  </a:lnTo>
                  <a:lnTo>
                    <a:pt x="456" y="27"/>
                  </a:lnTo>
                  <a:lnTo>
                    <a:pt x="420" y="14"/>
                  </a:lnTo>
                  <a:lnTo>
                    <a:pt x="382" y="5"/>
                  </a:lnTo>
                  <a:lnTo>
                    <a:pt x="341" y="0"/>
                  </a:lnTo>
                  <a:lnTo>
                    <a:pt x="320" y="0"/>
                  </a:lnTo>
                  <a:lnTo>
                    <a:pt x="296" y="0"/>
                  </a:lnTo>
                  <a:lnTo>
                    <a:pt x="253" y="5"/>
                  </a:lnTo>
                  <a:lnTo>
                    <a:pt x="215" y="14"/>
                  </a:lnTo>
                  <a:lnTo>
                    <a:pt x="179" y="28"/>
                  </a:lnTo>
                  <a:lnTo>
                    <a:pt x="161" y="38"/>
                  </a:lnTo>
                  <a:close/>
                  <a:moveTo>
                    <a:pt x="436" y="208"/>
                  </a:moveTo>
                  <a:lnTo>
                    <a:pt x="447" y="220"/>
                  </a:lnTo>
                  <a:lnTo>
                    <a:pt x="463" y="245"/>
                  </a:lnTo>
                  <a:lnTo>
                    <a:pt x="474" y="273"/>
                  </a:lnTo>
                  <a:lnTo>
                    <a:pt x="479" y="302"/>
                  </a:lnTo>
                  <a:lnTo>
                    <a:pt x="478" y="332"/>
                  </a:lnTo>
                  <a:lnTo>
                    <a:pt x="472" y="362"/>
                  </a:lnTo>
                  <a:lnTo>
                    <a:pt x="460" y="390"/>
                  </a:lnTo>
                  <a:lnTo>
                    <a:pt x="442" y="416"/>
                  </a:lnTo>
                  <a:lnTo>
                    <a:pt x="431" y="428"/>
                  </a:lnTo>
                  <a:lnTo>
                    <a:pt x="412" y="446"/>
                  </a:lnTo>
                  <a:lnTo>
                    <a:pt x="369" y="468"/>
                  </a:lnTo>
                  <a:lnTo>
                    <a:pt x="324" y="477"/>
                  </a:lnTo>
                  <a:lnTo>
                    <a:pt x="280" y="472"/>
                  </a:lnTo>
                  <a:lnTo>
                    <a:pt x="239" y="455"/>
                  </a:lnTo>
                  <a:lnTo>
                    <a:pt x="203" y="427"/>
                  </a:lnTo>
                  <a:lnTo>
                    <a:pt x="177" y="390"/>
                  </a:lnTo>
                  <a:lnTo>
                    <a:pt x="163" y="344"/>
                  </a:lnTo>
                  <a:lnTo>
                    <a:pt x="161" y="318"/>
                  </a:lnTo>
                  <a:lnTo>
                    <a:pt x="163" y="291"/>
                  </a:lnTo>
                  <a:lnTo>
                    <a:pt x="177" y="243"/>
                  </a:lnTo>
                  <a:lnTo>
                    <a:pt x="203" y="205"/>
                  </a:lnTo>
                  <a:lnTo>
                    <a:pt x="238" y="177"/>
                  </a:lnTo>
                  <a:lnTo>
                    <a:pt x="280" y="160"/>
                  </a:lnTo>
                  <a:lnTo>
                    <a:pt x="325" y="156"/>
                  </a:lnTo>
                  <a:lnTo>
                    <a:pt x="371" y="165"/>
                  </a:lnTo>
                  <a:lnTo>
                    <a:pt x="416" y="189"/>
                  </a:lnTo>
                  <a:lnTo>
                    <a:pt x="436"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175">
              <a:extLst>
                <a:ext uri="{FF2B5EF4-FFF2-40B4-BE49-F238E27FC236}">
                  <a16:creationId xmlns:a16="http://schemas.microsoft.com/office/drawing/2014/main" id="{C432BCB4-9B22-78CA-BEC5-421C4647BBD8}"/>
                </a:ext>
              </a:extLst>
            </p:cNvPr>
            <p:cNvSpPr>
              <a:spLocks/>
            </p:cNvSpPr>
            <p:nvPr/>
          </p:nvSpPr>
          <p:spPr bwMode="auto">
            <a:xfrm>
              <a:off x="8099425" y="5605463"/>
              <a:ext cx="412750" cy="65088"/>
            </a:xfrm>
            <a:custGeom>
              <a:avLst/>
              <a:gdLst>
                <a:gd name="T0" fmla="*/ 12 w 1067"/>
                <a:gd name="T1" fmla="*/ 11 h 166"/>
                <a:gd name="T2" fmla="*/ 5 w 1067"/>
                <a:gd name="T3" fmla="*/ 21 h 166"/>
                <a:gd name="T4" fmla="*/ 0 w 1067"/>
                <a:gd name="T5" fmla="*/ 56 h 166"/>
                <a:gd name="T6" fmla="*/ 3 w 1067"/>
                <a:gd name="T7" fmla="*/ 99 h 166"/>
                <a:gd name="T8" fmla="*/ 13 w 1067"/>
                <a:gd name="T9" fmla="*/ 136 h 166"/>
                <a:gd name="T10" fmla="*/ 20 w 1067"/>
                <a:gd name="T11" fmla="*/ 146 h 166"/>
                <a:gd name="T12" fmla="*/ 30 w 1067"/>
                <a:gd name="T13" fmla="*/ 152 h 166"/>
                <a:gd name="T14" fmla="*/ 91 w 1067"/>
                <a:gd name="T15" fmla="*/ 159 h 166"/>
                <a:gd name="T16" fmla="*/ 287 w 1067"/>
                <a:gd name="T17" fmla="*/ 166 h 166"/>
                <a:gd name="T18" fmla="*/ 527 w 1067"/>
                <a:gd name="T19" fmla="*/ 166 h 166"/>
                <a:gd name="T20" fmla="*/ 723 w 1067"/>
                <a:gd name="T21" fmla="*/ 166 h 166"/>
                <a:gd name="T22" fmla="*/ 1002 w 1067"/>
                <a:gd name="T23" fmla="*/ 160 h 166"/>
                <a:gd name="T24" fmla="*/ 1040 w 1067"/>
                <a:gd name="T25" fmla="*/ 156 h 166"/>
                <a:gd name="T26" fmla="*/ 1047 w 1067"/>
                <a:gd name="T27" fmla="*/ 153 h 166"/>
                <a:gd name="T28" fmla="*/ 1057 w 1067"/>
                <a:gd name="T29" fmla="*/ 141 h 166"/>
                <a:gd name="T30" fmla="*/ 1066 w 1067"/>
                <a:gd name="T31" fmla="*/ 108 h 166"/>
                <a:gd name="T32" fmla="*/ 1067 w 1067"/>
                <a:gd name="T33" fmla="*/ 73 h 166"/>
                <a:gd name="T34" fmla="*/ 1067 w 1067"/>
                <a:gd name="T35" fmla="*/ 0 h 166"/>
                <a:gd name="T36" fmla="*/ 545 w 1067"/>
                <a:gd name="T37" fmla="*/ 0 h 166"/>
                <a:gd name="T38" fmla="*/ 335 w 1067"/>
                <a:gd name="T39" fmla="*/ 0 h 166"/>
                <a:gd name="T40" fmla="*/ 45 w 1067"/>
                <a:gd name="T41" fmla="*/ 7 h 166"/>
                <a:gd name="T42" fmla="*/ 12 w 1067"/>
                <a:gd name="T43"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7" h="166">
                  <a:moveTo>
                    <a:pt x="12" y="11"/>
                  </a:moveTo>
                  <a:lnTo>
                    <a:pt x="5" y="21"/>
                  </a:lnTo>
                  <a:lnTo>
                    <a:pt x="0" y="56"/>
                  </a:lnTo>
                  <a:lnTo>
                    <a:pt x="3" y="99"/>
                  </a:lnTo>
                  <a:lnTo>
                    <a:pt x="13" y="136"/>
                  </a:lnTo>
                  <a:lnTo>
                    <a:pt x="20" y="146"/>
                  </a:lnTo>
                  <a:lnTo>
                    <a:pt x="30" y="152"/>
                  </a:lnTo>
                  <a:lnTo>
                    <a:pt x="91" y="159"/>
                  </a:lnTo>
                  <a:lnTo>
                    <a:pt x="287" y="166"/>
                  </a:lnTo>
                  <a:lnTo>
                    <a:pt x="527" y="166"/>
                  </a:lnTo>
                  <a:lnTo>
                    <a:pt x="723" y="166"/>
                  </a:lnTo>
                  <a:lnTo>
                    <a:pt x="1002" y="160"/>
                  </a:lnTo>
                  <a:lnTo>
                    <a:pt x="1040" y="156"/>
                  </a:lnTo>
                  <a:lnTo>
                    <a:pt x="1047" y="153"/>
                  </a:lnTo>
                  <a:lnTo>
                    <a:pt x="1057" y="141"/>
                  </a:lnTo>
                  <a:lnTo>
                    <a:pt x="1066" y="108"/>
                  </a:lnTo>
                  <a:lnTo>
                    <a:pt x="1067" y="73"/>
                  </a:lnTo>
                  <a:lnTo>
                    <a:pt x="1067" y="0"/>
                  </a:lnTo>
                  <a:lnTo>
                    <a:pt x="545" y="0"/>
                  </a:lnTo>
                  <a:lnTo>
                    <a:pt x="335" y="0"/>
                  </a:lnTo>
                  <a:lnTo>
                    <a:pt x="45"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76">
              <a:extLst>
                <a:ext uri="{FF2B5EF4-FFF2-40B4-BE49-F238E27FC236}">
                  <a16:creationId xmlns:a16="http://schemas.microsoft.com/office/drawing/2014/main" id="{09F64A92-A70C-9C75-86DA-FAE166C8E4A3}"/>
                </a:ext>
              </a:extLst>
            </p:cNvPr>
            <p:cNvSpPr>
              <a:spLocks/>
            </p:cNvSpPr>
            <p:nvPr/>
          </p:nvSpPr>
          <p:spPr bwMode="auto">
            <a:xfrm>
              <a:off x="8099425" y="5729288"/>
              <a:ext cx="409575" cy="60325"/>
            </a:xfrm>
            <a:custGeom>
              <a:avLst/>
              <a:gdLst>
                <a:gd name="T0" fmla="*/ 5 w 1057"/>
                <a:gd name="T1" fmla="*/ 22 h 157"/>
                <a:gd name="T2" fmla="*/ 2 w 1057"/>
                <a:gd name="T3" fmla="*/ 34 h 157"/>
                <a:gd name="T4" fmla="*/ 0 w 1057"/>
                <a:gd name="T5" fmla="*/ 78 h 157"/>
                <a:gd name="T6" fmla="*/ 2 w 1057"/>
                <a:gd name="T7" fmla="*/ 102 h 157"/>
                <a:gd name="T8" fmla="*/ 7 w 1057"/>
                <a:gd name="T9" fmla="*/ 157 h 157"/>
                <a:gd name="T10" fmla="*/ 532 w 1057"/>
                <a:gd name="T11" fmla="*/ 157 h 157"/>
                <a:gd name="T12" fmla="*/ 1057 w 1057"/>
                <a:gd name="T13" fmla="*/ 157 h 157"/>
                <a:gd name="T14" fmla="*/ 1057 w 1057"/>
                <a:gd name="T15" fmla="*/ 82 h 157"/>
                <a:gd name="T16" fmla="*/ 1057 w 1057"/>
                <a:gd name="T17" fmla="*/ 7 h 157"/>
                <a:gd name="T18" fmla="*/ 535 w 1057"/>
                <a:gd name="T19" fmla="*/ 2 h 157"/>
                <a:gd name="T20" fmla="*/ 251 w 1057"/>
                <a:gd name="T21" fmla="*/ 0 h 157"/>
                <a:gd name="T22" fmla="*/ 58 w 1057"/>
                <a:gd name="T23" fmla="*/ 5 h 157"/>
                <a:gd name="T24" fmla="*/ 19 w 1057"/>
                <a:gd name="T25" fmla="*/ 12 h 157"/>
                <a:gd name="T26" fmla="*/ 7 w 1057"/>
                <a:gd name="T27" fmla="*/ 18 h 157"/>
                <a:gd name="T28" fmla="*/ 5 w 10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7" h="157">
                  <a:moveTo>
                    <a:pt x="5" y="22"/>
                  </a:moveTo>
                  <a:lnTo>
                    <a:pt x="2" y="34"/>
                  </a:lnTo>
                  <a:lnTo>
                    <a:pt x="0" y="78"/>
                  </a:lnTo>
                  <a:lnTo>
                    <a:pt x="2" y="102"/>
                  </a:lnTo>
                  <a:lnTo>
                    <a:pt x="7" y="157"/>
                  </a:lnTo>
                  <a:lnTo>
                    <a:pt x="532" y="157"/>
                  </a:lnTo>
                  <a:lnTo>
                    <a:pt x="1057" y="157"/>
                  </a:lnTo>
                  <a:lnTo>
                    <a:pt x="1057" y="82"/>
                  </a:lnTo>
                  <a:lnTo>
                    <a:pt x="1057" y="7"/>
                  </a:lnTo>
                  <a:lnTo>
                    <a:pt x="535" y="2"/>
                  </a:lnTo>
                  <a:lnTo>
                    <a:pt x="251" y="0"/>
                  </a:lnTo>
                  <a:lnTo>
                    <a:pt x="58" y="5"/>
                  </a:lnTo>
                  <a:lnTo>
                    <a:pt x="19" y="12"/>
                  </a:lnTo>
                  <a:lnTo>
                    <a:pt x="7"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77">
              <a:extLst>
                <a:ext uri="{FF2B5EF4-FFF2-40B4-BE49-F238E27FC236}">
                  <a16:creationId xmlns:a16="http://schemas.microsoft.com/office/drawing/2014/main" id="{FDC9190F-DC83-9D0A-7093-B427F46FC7E2}"/>
                </a:ext>
              </a:extLst>
            </p:cNvPr>
            <p:cNvSpPr>
              <a:spLocks/>
            </p:cNvSpPr>
            <p:nvPr/>
          </p:nvSpPr>
          <p:spPr bwMode="auto">
            <a:xfrm>
              <a:off x="8383588" y="5921376"/>
              <a:ext cx="347663" cy="57150"/>
            </a:xfrm>
            <a:custGeom>
              <a:avLst/>
              <a:gdLst>
                <a:gd name="T0" fmla="*/ 5 w 899"/>
                <a:gd name="T1" fmla="*/ 24 h 150"/>
                <a:gd name="T2" fmla="*/ 2 w 899"/>
                <a:gd name="T3" fmla="*/ 36 h 150"/>
                <a:gd name="T4" fmla="*/ 0 w 899"/>
                <a:gd name="T5" fmla="*/ 75 h 150"/>
                <a:gd name="T6" fmla="*/ 2 w 899"/>
                <a:gd name="T7" fmla="*/ 95 h 150"/>
                <a:gd name="T8" fmla="*/ 7 w 899"/>
                <a:gd name="T9" fmla="*/ 142 h 150"/>
                <a:gd name="T10" fmla="*/ 454 w 899"/>
                <a:gd name="T11" fmla="*/ 147 h 150"/>
                <a:gd name="T12" fmla="*/ 899 w 899"/>
                <a:gd name="T13" fmla="*/ 150 h 150"/>
                <a:gd name="T14" fmla="*/ 899 w 899"/>
                <a:gd name="T15" fmla="*/ 75 h 150"/>
                <a:gd name="T16" fmla="*/ 899 w 899"/>
                <a:gd name="T17" fmla="*/ 0 h 150"/>
                <a:gd name="T18" fmla="*/ 457 w 899"/>
                <a:gd name="T19" fmla="*/ 0 h 150"/>
                <a:gd name="T20" fmla="*/ 218 w 899"/>
                <a:gd name="T21" fmla="*/ 1 h 150"/>
                <a:gd name="T22" fmla="*/ 52 w 899"/>
                <a:gd name="T23" fmla="*/ 7 h 150"/>
                <a:gd name="T24" fmla="*/ 18 w 899"/>
                <a:gd name="T25" fmla="*/ 14 h 150"/>
                <a:gd name="T26" fmla="*/ 7 w 899"/>
                <a:gd name="T27" fmla="*/ 20 h 150"/>
                <a:gd name="T28" fmla="*/ 5 w 899"/>
                <a:gd name="T29" fmla="*/ 2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9" h="150">
                  <a:moveTo>
                    <a:pt x="5" y="24"/>
                  </a:moveTo>
                  <a:lnTo>
                    <a:pt x="2" y="36"/>
                  </a:lnTo>
                  <a:lnTo>
                    <a:pt x="0" y="75"/>
                  </a:lnTo>
                  <a:lnTo>
                    <a:pt x="2" y="95"/>
                  </a:lnTo>
                  <a:lnTo>
                    <a:pt x="7" y="142"/>
                  </a:lnTo>
                  <a:lnTo>
                    <a:pt x="454" y="147"/>
                  </a:lnTo>
                  <a:lnTo>
                    <a:pt x="899" y="150"/>
                  </a:lnTo>
                  <a:lnTo>
                    <a:pt x="899" y="75"/>
                  </a:lnTo>
                  <a:lnTo>
                    <a:pt x="899" y="0"/>
                  </a:lnTo>
                  <a:lnTo>
                    <a:pt x="457" y="0"/>
                  </a:lnTo>
                  <a:lnTo>
                    <a:pt x="218" y="1"/>
                  </a:lnTo>
                  <a:lnTo>
                    <a:pt x="52" y="7"/>
                  </a:lnTo>
                  <a:lnTo>
                    <a:pt x="18" y="14"/>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78">
              <a:extLst>
                <a:ext uri="{FF2B5EF4-FFF2-40B4-BE49-F238E27FC236}">
                  <a16:creationId xmlns:a16="http://schemas.microsoft.com/office/drawing/2014/main" id="{4EB07B6D-D67A-0983-14DB-1F04698201E8}"/>
                </a:ext>
              </a:extLst>
            </p:cNvPr>
            <p:cNvSpPr>
              <a:spLocks/>
            </p:cNvSpPr>
            <p:nvPr/>
          </p:nvSpPr>
          <p:spPr bwMode="auto">
            <a:xfrm>
              <a:off x="8383588" y="6043613"/>
              <a:ext cx="347663" cy="65088"/>
            </a:xfrm>
            <a:custGeom>
              <a:avLst/>
              <a:gdLst>
                <a:gd name="T0" fmla="*/ 5 w 899"/>
                <a:gd name="T1" fmla="*/ 40 h 167"/>
                <a:gd name="T2" fmla="*/ 2 w 899"/>
                <a:gd name="T3" fmla="*/ 58 h 167"/>
                <a:gd name="T4" fmla="*/ 0 w 899"/>
                <a:gd name="T5" fmla="*/ 101 h 167"/>
                <a:gd name="T6" fmla="*/ 2 w 899"/>
                <a:gd name="T7" fmla="*/ 118 h 167"/>
                <a:gd name="T8" fmla="*/ 7 w 899"/>
                <a:gd name="T9" fmla="*/ 158 h 167"/>
                <a:gd name="T10" fmla="*/ 454 w 899"/>
                <a:gd name="T11" fmla="*/ 163 h 167"/>
                <a:gd name="T12" fmla="*/ 899 w 899"/>
                <a:gd name="T13" fmla="*/ 167 h 167"/>
                <a:gd name="T14" fmla="*/ 899 w 899"/>
                <a:gd name="T15" fmla="*/ 83 h 167"/>
                <a:gd name="T16" fmla="*/ 899 w 899"/>
                <a:gd name="T17" fmla="*/ 0 h 167"/>
                <a:gd name="T18" fmla="*/ 457 w 899"/>
                <a:gd name="T19" fmla="*/ 0 h 167"/>
                <a:gd name="T20" fmla="*/ 15 w 899"/>
                <a:gd name="T21" fmla="*/ 0 h 167"/>
                <a:gd name="T22" fmla="*/ 5 w 899"/>
                <a:gd name="T23" fmla="*/ 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9" h="167">
                  <a:moveTo>
                    <a:pt x="5" y="40"/>
                  </a:moveTo>
                  <a:lnTo>
                    <a:pt x="2" y="58"/>
                  </a:lnTo>
                  <a:lnTo>
                    <a:pt x="0" y="101"/>
                  </a:lnTo>
                  <a:lnTo>
                    <a:pt x="2" y="118"/>
                  </a:lnTo>
                  <a:lnTo>
                    <a:pt x="7" y="158"/>
                  </a:lnTo>
                  <a:lnTo>
                    <a:pt x="454" y="163"/>
                  </a:lnTo>
                  <a:lnTo>
                    <a:pt x="899" y="167"/>
                  </a:lnTo>
                  <a:lnTo>
                    <a:pt x="899" y="83"/>
                  </a:lnTo>
                  <a:lnTo>
                    <a:pt x="899" y="0"/>
                  </a:lnTo>
                  <a:lnTo>
                    <a:pt x="457" y="0"/>
                  </a:lnTo>
                  <a:lnTo>
                    <a:pt x="15" y="0"/>
                  </a:lnTo>
                  <a:lnTo>
                    <a:pt x="5"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79">
              <a:extLst>
                <a:ext uri="{FF2B5EF4-FFF2-40B4-BE49-F238E27FC236}">
                  <a16:creationId xmlns:a16="http://schemas.microsoft.com/office/drawing/2014/main" id="{3E9FA332-253D-AF56-BF08-578FC1637A6A}"/>
                </a:ext>
              </a:extLst>
            </p:cNvPr>
            <p:cNvSpPr>
              <a:spLocks/>
            </p:cNvSpPr>
            <p:nvPr/>
          </p:nvSpPr>
          <p:spPr bwMode="auto">
            <a:xfrm>
              <a:off x="8228013" y="6234113"/>
              <a:ext cx="503238" cy="60325"/>
            </a:xfrm>
            <a:custGeom>
              <a:avLst/>
              <a:gdLst>
                <a:gd name="T0" fmla="*/ 16 w 1301"/>
                <a:gd name="T1" fmla="*/ 4 h 157"/>
                <a:gd name="T2" fmla="*/ 10 w 1301"/>
                <a:gd name="T3" fmla="*/ 10 h 157"/>
                <a:gd name="T4" fmla="*/ 1 w 1301"/>
                <a:gd name="T5" fmla="*/ 54 h 157"/>
                <a:gd name="T6" fmla="*/ 0 w 1301"/>
                <a:gd name="T7" fmla="*/ 84 h 157"/>
                <a:gd name="T8" fmla="*/ 0 w 1301"/>
                <a:gd name="T9" fmla="*/ 157 h 157"/>
                <a:gd name="T10" fmla="*/ 651 w 1301"/>
                <a:gd name="T11" fmla="*/ 157 h 157"/>
                <a:gd name="T12" fmla="*/ 1301 w 1301"/>
                <a:gd name="T13" fmla="*/ 157 h 157"/>
                <a:gd name="T14" fmla="*/ 1296 w 1301"/>
                <a:gd name="T15" fmla="*/ 80 h 157"/>
                <a:gd name="T16" fmla="*/ 1291 w 1301"/>
                <a:gd name="T17" fmla="*/ 5 h 157"/>
                <a:gd name="T18" fmla="*/ 663 w 1301"/>
                <a:gd name="T19" fmla="*/ 2 h 157"/>
                <a:gd name="T20" fmla="*/ 171 w 1301"/>
                <a:gd name="T21" fmla="*/ 0 h 157"/>
                <a:gd name="T22" fmla="*/ 16 w 1301"/>
                <a:gd name="T23"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1" h="157">
                  <a:moveTo>
                    <a:pt x="16" y="4"/>
                  </a:moveTo>
                  <a:lnTo>
                    <a:pt x="10" y="10"/>
                  </a:lnTo>
                  <a:lnTo>
                    <a:pt x="1" y="54"/>
                  </a:lnTo>
                  <a:lnTo>
                    <a:pt x="0" y="84"/>
                  </a:lnTo>
                  <a:lnTo>
                    <a:pt x="0" y="157"/>
                  </a:lnTo>
                  <a:lnTo>
                    <a:pt x="651" y="157"/>
                  </a:lnTo>
                  <a:lnTo>
                    <a:pt x="1301" y="157"/>
                  </a:lnTo>
                  <a:lnTo>
                    <a:pt x="1296" y="80"/>
                  </a:lnTo>
                  <a:lnTo>
                    <a:pt x="1291" y="5"/>
                  </a:lnTo>
                  <a:lnTo>
                    <a:pt x="663" y="2"/>
                  </a:lnTo>
                  <a:lnTo>
                    <a:pt x="171" y="0"/>
                  </a:lnTo>
                  <a:lnTo>
                    <a:pt x="16"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180">
              <a:extLst>
                <a:ext uri="{FF2B5EF4-FFF2-40B4-BE49-F238E27FC236}">
                  <a16:creationId xmlns:a16="http://schemas.microsoft.com/office/drawing/2014/main" id="{1309FDC5-C48A-C4F1-A24C-781169D48360}"/>
                </a:ext>
              </a:extLst>
            </p:cNvPr>
            <p:cNvSpPr>
              <a:spLocks/>
            </p:cNvSpPr>
            <p:nvPr/>
          </p:nvSpPr>
          <p:spPr bwMode="auto">
            <a:xfrm>
              <a:off x="8228013" y="6359526"/>
              <a:ext cx="503238" cy="63500"/>
            </a:xfrm>
            <a:custGeom>
              <a:avLst/>
              <a:gdLst>
                <a:gd name="T0" fmla="*/ 11 w 1301"/>
                <a:gd name="T1" fmla="*/ 9 h 164"/>
                <a:gd name="T2" fmla="*/ 7 w 1301"/>
                <a:gd name="T3" fmla="*/ 17 h 164"/>
                <a:gd name="T4" fmla="*/ 0 w 1301"/>
                <a:gd name="T5" fmla="*/ 63 h 164"/>
                <a:gd name="T6" fmla="*/ 0 w 1301"/>
                <a:gd name="T7" fmla="*/ 93 h 164"/>
                <a:gd name="T8" fmla="*/ 0 w 1301"/>
                <a:gd name="T9" fmla="*/ 164 h 164"/>
                <a:gd name="T10" fmla="*/ 651 w 1301"/>
                <a:gd name="T11" fmla="*/ 164 h 164"/>
                <a:gd name="T12" fmla="*/ 1301 w 1301"/>
                <a:gd name="T13" fmla="*/ 164 h 164"/>
                <a:gd name="T14" fmla="*/ 1296 w 1301"/>
                <a:gd name="T15" fmla="*/ 84 h 164"/>
                <a:gd name="T16" fmla="*/ 1291 w 1301"/>
                <a:gd name="T17" fmla="*/ 6 h 164"/>
                <a:gd name="T18" fmla="*/ 656 w 1301"/>
                <a:gd name="T19" fmla="*/ 1 h 164"/>
                <a:gd name="T20" fmla="*/ 402 w 1301"/>
                <a:gd name="T21" fmla="*/ 0 h 164"/>
                <a:gd name="T22" fmla="*/ 52 w 1301"/>
                <a:gd name="T23" fmla="*/ 5 h 164"/>
                <a:gd name="T24" fmla="*/ 11 w 1301"/>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1" h="164">
                  <a:moveTo>
                    <a:pt x="11" y="9"/>
                  </a:moveTo>
                  <a:lnTo>
                    <a:pt x="7" y="17"/>
                  </a:lnTo>
                  <a:lnTo>
                    <a:pt x="0" y="63"/>
                  </a:lnTo>
                  <a:lnTo>
                    <a:pt x="0" y="93"/>
                  </a:lnTo>
                  <a:lnTo>
                    <a:pt x="0" y="164"/>
                  </a:lnTo>
                  <a:lnTo>
                    <a:pt x="651" y="164"/>
                  </a:lnTo>
                  <a:lnTo>
                    <a:pt x="1301" y="164"/>
                  </a:lnTo>
                  <a:lnTo>
                    <a:pt x="1296" y="84"/>
                  </a:lnTo>
                  <a:lnTo>
                    <a:pt x="1291" y="6"/>
                  </a:lnTo>
                  <a:lnTo>
                    <a:pt x="656" y="1"/>
                  </a:lnTo>
                  <a:lnTo>
                    <a:pt x="402" y="0"/>
                  </a:lnTo>
                  <a:lnTo>
                    <a:pt x="52" y="5"/>
                  </a:lnTo>
                  <a:lnTo>
                    <a:pt x="11"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181">
              <a:extLst>
                <a:ext uri="{FF2B5EF4-FFF2-40B4-BE49-F238E27FC236}">
                  <a16:creationId xmlns:a16="http://schemas.microsoft.com/office/drawing/2014/main" id="{5116F029-6B82-0F54-60F8-00440BE99A7E}"/>
                </a:ext>
              </a:extLst>
            </p:cNvPr>
            <p:cNvSpPr>
              <a:spLocks/>
            </p:cNvSpPr>
            <p:nvPr/>
          </p:nvSpPr>
          <p:spPr bwMode="auto">
            <a:xfrm>
              <a:off x="8099425" y="6488113"/>
              <a:ext cx="63500" cy="58738"/>
            </a:xfrm>
            <a:custGeom>
              <a:avLst/>
              <a:gdLst>
                <a:gd name="T0" fmla="*/ 5 w 165"/>
                <a:gd name="T1" fmla="*/ 23 h 152"/>
                <a:gd name="T2" fmla="*/ 2 w 165"/>
                <a:gd name="T3" fmla="*/ 36 h 152"/>
                <a:gd name="T4" fmla="*/ 0 w 165"/>
                <a:gd name="T5" fmla="*/ 74 h 152"/>
                <a:gd name="T6" fmla="*/ 2 w 165"/>
                <a:gd name="T7" fmla="*/ 95 h 152"/>
                <a:gd name="T8" fmla="*/ 4 w 165"/>
                <a:gd name="T9" fmla="*/ 110 h 152"/>
                <a:gd name="T10" fmla="*/ 11 w 165"/>
                <a:gd name="T11" fmla="*/ 129 h 152"/>
                <a:gd name="T12" fmla="*/ 28 w 165"/>
                <a:gd name="T13" fmla="*/ 140 h 152"/>
                <a:gd name="T14" fmla="*/ 61 w 165"/>
                <a:gd name="T15" fmla="*/ 145 h 152"/>
                <a:gd name="T16" fmla="*/ 87 w 165"/>
                <a:gd name="T17" fmla="*/ 147 h 152"/>
                <a:gd name="T18" fmla="*/ 165 w 165"/>
                <a:gd name="T19" fmla="*/ 152 h 152"/>
                <a:gd name="T20" fmla="*/ 165 w 165"/>
                <a:gd name="T21" fmla="*/ 77 h 152"/>
                <a:gd name="T22" fmla="*/ 165 w 165"/>
                <a:gd name="T23" fmla="*/ 0 h 152"/>
                <a:gd name="T24" fmla="*/ 90 w 165"/>
                <a:gd name="T25" fmla="*/ 0 h 152"/>
                <a:gd name="T26" fmla="*/ 55 w 165"/>
                <a:gd name="T27" fmla="*/ 1 h 152"/>
                <a:gd name="T28" fmla="*/ 21 w 165"/>
                <a:gd name="T29" fmla="*/ 9 h 152"/>
                <a:gd name="T30" fmla="*/ 8 w 165"/>
                <a:gd name="T31" fmla="*/ 18 h 152"/>
                <a:gd name="T32" fmla="*/ 5 w 165"/>
                <a:gd name="T33"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52">
                  <a:moveTo>
                    <a:pt x="5" y="23"/>
                  </a:moveTo>
                  <a:lnTo>
                    <a:pt x="2" y="36"/>
                  </a:lnTo>
                  <a:lnTo>
                    <a:pt x="0" y="74"/>
                  </a:lnTo>
                  <a:lnTo>
                    <a:pt x="2" y="95"/>
                  </a:lnTo>
                  <a:lnTo>
                    <a:pt x="4" y="110"/>
                  </a:lnTo>
                  <a:lnTo>
                    <a:pt x="11" y="129"/>
                  </a:lnTo>
                  <a:lnTo>
                    <a:pt x="28" y="140"/>
                  </a:lnTo>
                  <a:lnTo>
                    <a:pt x="61" y="145"/>
                  </a:lnTo>
                  <a:lnTo>
                    <a:pt x="87" y="147"/>
                  </a:lnTo>
                  <a:lnTo>
                    <a:pt x="165" y="152"/>
                  </a:lnTo>
                  <a:lnTo>
                    <a:pt x="165" y="77"/>
                  </a:lnTo>
                  <a:lnTo>
                    <a:pt x="165" y="0"/>
                  </a:lnTo>
                  <a:lnTo>
                    <a:pt x="90" y="0"/>
                  </a:lnTo>
                  <a:lnTo>
                    <a:pt x="55" y="1"/>
                  </a:lnTo>
                  <a:lnTo>
                    <a:pt x="21" y="9"/>
                  </a:lnTo>
                  <a:lnTo>
                    <a:pt x="8" y="18"/>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182">
              <a:extLst>
                <a:ext uri="{FF2B5EF4-FFF2-40B4-BE49-F238E27FC236}">
                  <a16:creationId xmlns:a16="http://schemas.microsoft.com/office/drawing/2014/main" id="{48A828D3-604D-264C-09CD-CEA55635A829}"/>
                </a:ext>
              </a:extLst>
            </p:cNvPr>
            <p:cNvSpPr>
              <a:spLocks/>
            </p:cNvSpPr>
            <p:nvPr/>
          </p:nvSpPr>
          <p:spPr bwMode="auto">
            <a:xfrm>
              <a:off x="8228013" y="6488113"/>
              <a:ext cx="65088" cy="58738"/>
            </a:xfrm>
            <a:custGeom>
              <a:avLst/>
              <a:gdLst>
                <a:gd name="T0" fmla="*/ 0 w 166"/>
                <a:gd name="T1" fmla="*/ 75 h 150"/>
                <a:gd name="T2" fmla="*/ 0 w 166"/>
                <a:gd name="T3" fmla="*/ 150 h 150"/>
                <a:gd name="T4" fmla="*/ 83 w 166"/>
                <a:gd name="T5" fmla="*/ 150 h 150"/>
                <a:gd name="T6" fmla="*/ 166 w 166"/>
                <a:gd name="T7" fmla="*/ 150 h 150"/>
                <a:gd name="T8" fmla="*/ 166 w 166"/>
                <a:gd name="T9" fmla="*/ 75 h 150"/>
                <a:gd name="T10" fmla="*/ 166 w 166"/>
                <a:gd name="T11" fmla="*/ 0 h 150"/>
                <a:gd name="T12" fmla="*/ 83 w 166"/>
                <a:gd name="T13" fmla="*/ 0 h 150"/>
                <a:gd name="T14" fmla="*/ 0 w 166"/>
                <a:gd name="T15" fmla="*/ 0 h 150"/>
                <a:gd name="T16" fmla="*/ 0 w 166"/>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150">
                  <a:moveTo>
                    <a:pt x="0" y="75"/>
                  </a:moveTo>
                  <a:lnTo>
                    <a:pt x="0" y="150"/>
                  </a:lnTo>
                  <a:lnTo>
                    <a:pt x="83" y="150"/>
                  </a:lnTo>
                  <a:lnTo>
                    <a:pt x="166" y="150"/>
                  </a:lnTo>
                  <a:lnTo>
                    <a:pt x="166" y="75"/>
                  </a:lnTo>
                  <a:lnTo>
                    <a:pt x="166" y="0"/>
                  </a:lnTo>
                  <a:lnTo>
                    <a:pt x="8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83">
              <a:extLst>
                <a:ext uri="{FF2B5EF4-FFF2-40B4-BE49-F238E27FC236}">
                  <a16:creationId xmlns:a16="http://schemas.microsoft.com/office/drawing/2014/main" id="{06D3C05A-DEB0-BD47-851F-8B23761656D0}"/>
                </a:ext>
              </a:extLst>
            </p:cNvPr>
            <p:cNvSpPr>
              <a:spLocks/>
            </p:cNvSpPr>
            <p:nvPr/>
          </p:nvSpPr>
          <p:spPr bwMode="auto">
            <a:xfrm>
              <a:off x="8356600" y="6488113"/>
              <a:ext cx="58738" cy="60325"/>
            </a:xfrm>
            <a:custGeom>
              <a:avLst/>
              <a:gdLst>
                <a:gd name="T0" fmla="*/ 0 w 150"/>
                <a:gd name="T1" fmla="*/ 72 h 155"/>
                <a:gd name="T2" fmla="*/ 0 w 150"/>
                <a:gd name="T3" fmla="*/ 101 h 155"/>
                <a:gd name="T4" fmla="*/ 4 w 150"/>
                <a:gd name="T5" fmla="*/ 145 h 155"/>
                <a:gd name="T6" fmla="*/ 7 w 150"/>
                <a:gd name="T7" fmla="*/ 152 h 155"/>
                <a:gd name="T8" fmla="*/ 14 w 150"/>
                <a:gd name="T9" fmla="*/ 155 h 155"/>
                <a:gd name="T10" fmla="*/ 55 w 150"/>
                <a:gd name="T11" fmla="*/ 155 h 155"/>
                <a:gd name="T12" fmla="*/ 82 w 150"/>
                <a:gd name="T13" fmla="*/ 153 h 155"/>
                <a:gd name="T14" fmla="*/ 150 w 150"/>
                <a:gd name="T15" fmla="*/ 147 h 155"/>
                <a:gd name="T16" fmla="*/ 150 w 150"/>
                <a:gd name="T17" fmla="*/ 73 h 155"/>
                <a:gd name="T18" fmla="*/ 150 w 150"/>
                <a:gd name="T19" fmla="*/ 0 h 155"/>
                <a:gd name="T20" fmla="*/ 75 w 150"/>
                <a:gd name="T21" fmla="*/ 0 h 155"/>
                <a:gd name="T22" fmla="*/ 0 w 150"/>
                <a:gd name="T23" fmla="*/ 0 h 155"/>
                <a:gd name="T24" fmla="*/ 0 w 150"/>
                <a:gd name="T25" fmla="*/ 7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55">
                  <a:moveTo>
                    <a:pt x="0" y="72"/>
                  </a:moveTo>
                  <a:lnTo>
                    <a:pt x="0" y="101"/>
                  </a:lnTo>
                  <a:lnTo>
                    <a:pt x="4" y="145"/>
                  </a:lnTo>
                  <a:lnTo>
                    <a:pt x="7" y="152"/>
                  </a:lnTo>
                  <a:lnTo>
                    <a:pt x="14" y="155"/>
                  </a:lnTo>
                  <a:lnTo>
                    <a:pt x="55" y="155"/>
                  </a:lnTo>
                  <a:lnTo>
                    <a:pt x="82" y="153"/>
                  </a:lnTo>
                  <a:lnTo>
                    <a:pt x="150" y="147"/>
                  </a:lnTo>
                  <a:lnTo>
                    <a:pt x="150" y="73"/>
                  </a:lnTo>
                  <a:lnTo>
                    <a:pt x="150" y="0"/>
                  </a:lnTo>
                  <a:lnTo>
                    <a:pt x="75" y="0"/>
                  </a:lnTo>
                  <a:lnTo>
                    <a:pt x="0" y="0"/>
                  </a:lnTo>
                  <a:lnTo>
                    <a:pt x="0"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533856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31923" y="3925452"/>
            <a:ext cx="6612377" cy="641639"/>
          </a:xfrm>
        </p:spPr>
        <p:txBody>
          <a:bodyPr/>
          <a:lstStyle/>
          <a:p>
            <a:r>
              <a:rPr lang="ar-SA" dirty="0"/>
              <a:t>أُطر و منهجيات البنية المؤسسية</a:t>
            </a:r>
            <a:endParaRPr lang="en-US" dirty="0"/>
          </a:p>
        </p:txBody>
      </p:sp>
      <p:sp>
        <p:nvSpPr>
          <p:cNvPr id="4" name="Text Placeholder 3">
            <a:extLst>
              <a:ext uri="{FF2B5EF4-FFF2-40B4-BE49-F238E27FC236}">
                <a16:creationId xmlns:a16="http://schemas.microsoft.com/office/drawing/2014/main" id="{866E3D32-293C-8B3F-E86A-6038D164FE0B}"/>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DCDA2872-66CF-4DFF-F5B1-E3A839AABB25}"/>
              </a:ext>
            </a:extLst>
          </p:cNvPr>
          <p:cNvSpPr>
            <a:spLocks noGrp="1"/>
          </p:cNvSpPr>
          <p:nvPr>
            <p:ph type="body" sz="quarter" idx="14"/>
          </p:nvPr>
        </p:nvSpPr>
        <p:spPr>
          <a:xfrm>
            <a:off x="9601626" y="2343256"/>
            <a:ext cx="1942674" cy="1181919"/>
          </a:xfrm>
        </p:spPr>
        <p:txBody>
          <a:bodyPr/>
          <a:lstStyle/>
          <a:p>
            <a:r>
              <a:rPr lang="ar-SA" dirty="0"/>
              <a:t>02</a:t>
            </a:r>
            <a:endParaRPr lang="en-GB" dirty="0"/>
          </a:p>
        </p:txBody>
      </p:sp>
    </p:spTree>
    <p:extLst>
      <p:ext uri="{BB962C8B-B14F-4D97-AF65-F5344CB8AC3E}">
        <p14:creationId xmlns:p14="http://schemas.microsoft.com/office/powerpoint/2010/main" val="157070709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32BAD-143B-6F17-B1BD-6447E8E25950}"/>
              </a:ext>
            </a:extLst>
          </p:cNvPr>
          <p:cNvSpPr>
            <a:spLocks noGrp="1"/>
          </p:cNvSpPr>
          <p:nvPr>
            <p:ph type="title"/>
          </p:nvPr>
        </p:nvSpPr>
        <p:spPr>
          <a:xfrm>
            <a:off x="609601" y="561078"/>
            <a:ext cx="10972800" cy="666261"/>
          </a:xfrm>
        </p:spPr>
        <p:txBody>
          <a:bodyPr/>
          <a:lstStyle/>
          <a:p>
            <a:r>
              <a:rPr lang="ar-SA" dirty="0"/>
              <a:t>إطار البنية للمجموعة المفتوحة </a:t>
            </a:r>
            <a:r>
              <a:rPr lang="en-US" dirty="0"/>
              <a:t>TOGAF</a:t>
            </a:r>
          </a:p>
        </p:txBody>
      </p:sp>
      <p:sp>
        <p:nvSpPr>
          <p:cNvPr id="3" name="Slide Number Placeholder 2">
            <a:extLst>
              <a:ext uri="{FF2B5EF4-FFF2-40B4-BE49-F238E27FC236}">
                <a16:creationId xmlns:a16="http://schemas.microsoft.com/office/drawing/2014/main" id="{C19F5F88-5EAF-A04E-1AB1-6D2F3F110D32}"/>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9</a:t>
            </a:fld>
            <a:endParaRPr lang="en-US"/>
          </a:p>
        </p:txBody>
      </p:sp>
      <p:grpSp>
        <p:nvGrpSpPr>
          <p:cNvPr id="4" name="Group 3">
            <a:extLst>
              <a:ext uri="{FF2B5EF4-FFF2-40B4-BE49-F238E27FC236}">
                <a16:creationId xmlns:a16="http://schemas.microsoft.com/office/drawing/2014/main" id="{AC848FD0-F25B-96F8-19C9-0F3663E177D9}"/>
              </a:ext>
            </a:extLst>
          </p:cNvPr>
          <p:cNvGrpSpPr/>
          <p:nvPr/>
        </p:nvGrpSpPr>
        <p:grpSpPr>
          <a:xfrm>
            <a:off x="10250960" y="1140311"/>
            <a:ext cx="1338509" cy="2768601"/>
            <a:chOff x="8792312" y="1282337"/>
            <a:chExt cx="1338509" cy="2768601"/>
          </a:xfrm>
        </p:grpSpPr>
        <p:sp>
          <p:nvSpPr>
            <p:cNvPr id="5" name="Rounded Rectangle 3">
              <a:extLst>
                <a:ext uri="{FF2B5EF4-FFF2-40B4-BE49-F238E27FC236}">
                  <a16:creationId xmlns:a16="http://schemas.microsoft.com/office/drawing/2014/main" id="{68F5E79C-63B3-C6FC-3C4A-34A8BB31B640}"/>
                </a:ext>
              </a:extLst>
            </p:cNvPr>
            <p:cNvSpPr/>
            <p:nvPr/>
          </p:nvSpPr>
          <p:spPr>
            <a:xfrm rot="5400000" flipH="1">
              <a:off x="8077267" y="1997383"/>
              <a:ext cx="2768600" cy="1338509"/>
            </a:xfrm>
            <a:prstGeom prst="roundRect">
              <a:avLst>
                <a:gd name="adj" fmla="val 230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050"/>
            </a:p>
          </p:txBody>
        </p:sp>
        <p:sp>
          <p:nvSpPr>
            <p:cNvPr id="6" name="Text Placeholder 21">
              <a:extLst>
                <a:ext uri="{FF2B5EF4-FFF2-40B4-BE49-F238E27FC236}">
                  <a16:creationId xmlns:a16="http://schemas.microsoft.com/office/drawing/2014/main" id="{9F88A52A-DF90-3492-6634-154DE02E38F0}"/>
                </a:ext>
              </a:extLst>
            </p:cNvPr>
            <p:cNvSpPr txBox="1">
              <a:spLocks/>
            </p:cNvSpPr>
            <p:nvPr/>
          </p:nvSpPr>
          <p:spPr>
            <a:xfrm rot="5400000" flipH="1">
              <a:off x="8554764" y="2489243"/>
              <a:ext cx="2768601" cy="354790"/>
            </a:xfrm>
            <a:prstGeom prst="rect">
              <a:avLst/>
            </a:prstGeom>
          </p:spPr>
          <p:txBody>
            <a:bodyP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EG" sz="1100" b="1" dirty="0">
                  <a:solidFill>
                    <a:schemeClr val="bg1"/>
                  </a:solidFill>
                </a:rPr>
                <a:t>إطار العمل </a:t>
              </a:r>
              <a:r>
                <a:rPr lang="en-US" sz="1100" b="1" dirty="0">
                  <a:solidFill>
                    <a:schemeClr val="bg1"/>
                  </a:solidFill>
                </a:rPr>
                <a:t>TOGAF</a:t>
              </a:r>
            </a:p>
          </p:txBody>
        </p:sp>
      </p:grpSp>
      <p:sp>
        <p:nvSpPr>
          <p:cNvPr id="7" name="Rounded Rectangle 5">
            <a:extLst>
              <a:ext uri="{FF2B5EF4-FFF2-40B4-BE49-F238E27FC236}">
                <a16:creationId xmlns:a16="http://schemas.microsoft.com/office/drawing/2014/main" id="{515BDF84-1664-FA85-A334-441706F5A795}"/>
              </a:ext>
            </a:extLst>
          </p:cNvPr>
          <p:cNvSpPr/>
          <p:nvPr/>
        </p:nvSpPr>
        <p:spPr>
          <a:xfrm flipH="1">
            <a:off x="5193431" y="1140311"/>
            <a:ext cx="6134012" cy="4993789"/>
          </a:xfrm>
          <a:prstGeom prst="roundRect">
            <a:avLst>
              <a:gd name="adj" fmla="val 3929"/>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Content Placeholder 3">
            <a:extLst>
              <a:ext uri="{FF2B5EF4-FFF2-40B4-BE49-F238E27FC236}">
                <a16:creationId xmlns:a16="http://schemas.microsoft.com/office/drawing/2014/main" id="{D10C8852-A604-7537-66DD-96482EAE40B1}"/>
              </a:ext>
            </a:extLst>
          </p:cNvPr>
          <p:cNvSpPr txBox="1">
            <a:spLocks/>
          </p:cNvSpPr>
          <p:nvPr/>
        </p:nvSpPr>
        <p:spPr>
          <a:xfrm>
            <a:off x="5289077" y="1347846"/>
            <a:ext cx="5893041" cy="1292910"/>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ar-SA" sz="1400" b="1" dirty="0">
                <a:solidFill>
                  <a:schemeClr val="accent1"/>
                </a:solidFill>
              </a:rPr>
              <a:t>1975: </a:t>
            </a:r>
            <a:r>
              <a:rPr lang="ar-SA" sz="1200" dirty="0">
                <a:solidFill>
                  <a:schemeClr val="tx1">
                    <a:lumMod val="75000"/>
                    <a:lumOff val="25000"/>
                  </a:schemeClr>
                </a:solidFill>
              </a:rPr>
              <a:t>أطلقت وزارة الدفاع الأمريكية للعلن معلومات عن تبنيها لفترة سابقة لإطار عمل مكنها من سد الفجوات بين الأعمال وخدماتها التقنية. إصدار إطار العمل (</a:t>
            </a:r>
            <a:r>
              <a:rPr lang="en-US" sz="1200" dirty="0">
                <a:solidFill>
                  <a:schemeClr val="tx1">
                    <a:lumMod val="75000"/>
                    <a:lumOff val="25000"/>
                  </a:schemeClr>
                </a:solidFill>
              </a:rPr>
              <a:t>TAFIM – Technology Architecture Framework for Information Management</a:t>
            </a:r>
            <a:r>
              <a:rPr lang="ar-SA" sz="1200" dirty="0">
                <a:solidFill>
                  <a:schemeClr val="tx1">
                    <a:lumMod val="75000"/>
                    <a:lumOff val="25000"/>
                  </a:schemeClr>
                </a:solidFill>
              </a:rPr>
              <a:t>).</a:t>
            </a:r>
          </a:p>
          <a:p>
            <a:pPr marL="0" indent="0" algn="just">
              <a:buNone/>
            </a:pPr>
            <a:r>
              <a:rPr lang="ar-SA" sz="1400" b="1" dirty="0">
                <a:solidFill>
                  <a:schemeClr val="accent1"/>
                </a:solidFill>
              </a:rPr>
              <a:t>1993: </a:t>
            </a:r>
            <a:r>
              <a:rPr lang="en-US" sz="1200" dirty="0">
                <a:solidFill>
                  <a:schemeClr val="tx1">
                    <a:lumMod val="75000"/>
                    <a:lumOff val="25000"/>
                  </a:schemeClr>
                </a:solidFill>
              </a:rPr>
              <a:t>The Open Group</a:t>
            </a:r>
            <a:r>
              <a:rPr lang="ar-SA" sz="1200" dirty="0">
                <a:solidFill>
                  <a:schemeClr val="tx1">
                    <a:lumMod val="75000"/>
                    <a:lumOff val="25000"/>
                  </a:schemeClr>
                </a:solidFill>
              </a:rPr>
              <a:t> العمل على تطوير أول إطار (</a:t>
            </a:r>
            <a:r>
              <a:rPr lang="en-US" sz="1200" dirty="0">
                <a:solidFill>
                  <a:schemeClr val="tx1">
                    <a:lumMod val="75000"/>
                    <a:lumOff val="25000"/>
                  </a:schemeClr>
                </a:solidFill>
              </a:rPr>
              <a:t>TOGAF – The Open Group Architecture Framework</a:t>
            </a:r>
            <a:r>
              <a:rPr lang="ar-SA" sz="1200" dirty="0">
                <a:solidFill>
                  <a:schemeClr val="tx1">
                    <a:lumMod val="75000"/>
                    <a:lumOff val="25000"/>
                  </a:schemeClr>
                </a:solidFill>
              </a:rPr>
              <a:t>) مع أكثر من 400 شريك عالمي كمنهجية فنية للبنية المؤسسية .</a:t>
            </a:r>
          </a:p>
          <a:p>
            <a:pPr marL="0" indent="0" algn="just">
              <a:buNone/>
            </a:pPr>
            <a:r>
              <a:rPr lang="ar-SA" sz="1400" b="1" dirty="0">
                <a:solidFill>
                  <a:schemeClr val="accent1"/>
                </a:solidFill>
              </a:rPr>
              <a:t>1995:</a:t>
            </a:r>
            <a:r>
              <a:rPr lang="ar-SA" sz="1200" dirty="0">
                <a:solidFill>
                  <a:schemeClr val="tx1">
                    <a:lumMod val="75000"/>
                    <a:lumOff val="25000"/>
                  </a:schemeClr>
                </a:solidFill>
              </a:rPr>
              <a:t> العمل على إصدار أو إطار شامل للبنية المؤسسية </a:t>
            </a:r>
            <a:r>
              <a:rPr lang="en-US" sz="1200" dirty="0">
                <a:solidFill>
                  <a:schemeClr val="tx1">
                    <a:lumMod val="75000"/>
                    <a:lumOff val="25000"/>
                  </a:schemeClr>
                </a:solidFill>
              </a:rPr>
              <a:t>TOGAF 7</a:t>
            </a:r>
            <a:r>
              <a:rPr lang="ar-SA" sz="1200" dirty="0">
                <a:solidFill>
                  <a:schemeClr val="tx1">
                    <a:lumMod val="75000"/>
                    <a:lumOff val="25000"/>
                  </a:schemeClr>
                </a:solidFill>
              </a:rPr>
              <a:t> إلى أن وصل إلى إصدار </a:t>
            </a:r>
            <a:r>
              <a:rPr lang="en-US" sz="1200" dirty="0">
                <a:solidFill>
                  <a:schemeClr val="tx1">
                    <a:lumMod val="75000"/>
                    <a:lumOff val="25000"/>
                  </a:schemeClr>
                </a:solidFill>
              </a:rPr>
              <a:t>TOGAF 10</a:t>
            </a:r>
            <a:r>
              <a:rPr lang="ar-SA" sz="1200" dirty="0">
                <a:solidFill>
                  <a:schemeClr val="tx1">
                    <a:lumMod val="75000"/>
                    <a:lumOff val="25000"/>
                  </a:schemeClr>
                </a:solidFill>
              </a:rPr>
              <a:t> في 2022</a:t>
            </a:r>
          </a:p>
        </p:txBody>
      </p:sp>
      <p:graphicFrame>
        <p:nvGraphicFramePr>
          <p:cNvPr id="9" name="Table 8">
            <a:extLst>
              <a:ext uri="{FF2B5EF4-FFF2-40B4-BE49-F238E27FC236}">
                <a16:creationId xmlns:a16="http://schemas.microsoft.com/office/drawing/2014/main" id="{402ECBD0-8A6E-94E2-CE30-83C372DBAC75}"/>
              </a:ext>
            </a:extLst>
          </p:cNvPr>
          <p:cNvGraphicFramePr>
            <a:graphicFrameLocks noGrp="1"/>
          </p:cNvGraphicFramePr>
          <p:nvPr>
            <p:extLst>
              <p:ext uri="{D42A27DB-BD31-4B8C-83A1-F6EECF244321}">
                <p14:modId xmlns:p14="http://schemas.microsoft.com/office/powerpoint/2010/main" val="3009540818"/>
              </p:ext>
            </p:extLst>
          </p:nvPr>
        </p:nvGraphicFramePr>
        <p:xfrm>
          <a:off x="5500540" y="3248541"/>
          <a:ext cx="5681578" cy="1892808"/>
        </p:xfrm>
        <a:graphic>
          <a:graphicData uri="http://schemas.openxmlformats.org/drawingml/2006/table">
            <a:tbl>
              <a:tblPr rtl="1" firstRow="1" firstCol="1" bandRow="1"/>
              <a:tblGrid>
                <a:gridCol w="1693513">
                  <a:extLst>
                    <a:ext uri="{9D8B030D-6E8A-4147-A177-3AD203B41FA5}">
                      <a16:colId xmlns:a16="http://schemas.microsoft.com/office/drawing/2014/main" val="328942875"/>
                    </a:ext>
                  </a:extLst>
                </a:gridCol>
                <a:gridCol w="3988065">
                  <a:extLst>
                    <a:ext uri="{9D8B030D-6E8A-4147-A177-3AD203B41FA5}">
                      <a16:colId xmlns:a16="http://schemas.microsoft.com/office/drawing/2014/main" val="3292150443"/>
                    </a:ext>
                  </a:extLst>
                </a:gridCol>
              </a:tblGrid>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الأعمال</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Business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EG" sz="1200" kern="1200" baseline="0" dirty="0">
                          <a:solidFill>
                            <a:schemeClr val="tx1">
                              <a:lumMod val="75000"/>
                              <a:lumOff val="25000"/>
                            </a:schemeClr>
                          </a:solidFill>
                          <a:latin typeface="+mn-lt"/>
                          <a:ea typeface="+mn-ea"/>
                          <a:cs typeface="+mn-cs"/>
                        </a:rPr>
                        <a:t>حيث يتم تعريف وتحديد استراتيجية الجهة وإطار الحوكمة والهياكل التنظيمية والعمليات التي تنظم الأعمال الأساسية داخل الجهة</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06819761"/>
                  </a:ext>
                </a:extLst>
              </a:tr>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البيانات</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Data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يصف هيكل أصول البيانات المنطقية والمادية للجهة وموارد إدارة البيانات المرتبطة بها</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46284845"/>
                  </a:ext>
                </a:extLst>
              </a:tr>
              <a:tr h="521059">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التطبيقات</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Application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يوفر مخططاً لكل من الأنظمة المعلوماتية التي سيتم نشرها، والتفاعلات بين الأنظمة، وعلاقاتها بالعمليات الأساسية للجهة مع أطر الخدمات التي سيتم عرضها كوحدات أعمال (</a:t>
                      </a:r>
                      <a:r>
                        <a:rPr lang="en-US" sz="1200" kern="1200" baseline="0" dirty="0">
                          <a:solidFill>
                            <a:schemeClr val="tx1">
                              <a:lumMod val="75000"/>
                              <a:lumOff val="25000"/>
                            </a:schemeClr>
                          </a:solidFill>
                          <a:latin typeface="+mn-lt"/>
                          <a:ea typeface="+mn-ea"/>
                          <a:cs typeface="+mn-cs"/>
                        </a:rPr>
                        <a:t>Business Functions) </a:t>
                      </a:r>
                      <a:r>
                        <a:rPr lang="ar-SA" sz="1200" kern="1200" baseline="0" dirty="0">
                          <a:solidFill>
                            <a:schemeClr val="tx1">
                              <a:lumMod val="75000"/>
                              <a:lumOff val="25000"/>
                            </a:schemeClr>
                          </a:solidFill>
                          <a:latin typeface="+mn-lt"/>
                          <a:ea typeface="+mn-ea"/>
                          <a:cs typeface="+mn-cs"/>
                        </a:rPr>
                        <a:t>للتكامل</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161235"/>
                  </a:ext>
                </a:extLst>
              </a:tr>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التقنية</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Technology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يصف الأجهزة والبرامج والشبكات الحاسوبية والبنية التحتية اللازمة لدعم نشر التطبيقات الأساسية والمهمة.</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68550326"/>
                  </a:ext>
                </a:extLst>
              </a:tr>
            </a:tbl>
          </a:graphicData>
        </a:graphic>
      </p:graphicFrame>
      <p:sp>
        <p:nvSpPr>
          <p:cNvPr id="10" name="Rectangle 9">
            <a:extLst>
              <a:ext uri="{FF2B5EF4-FFF2-40B4-BE49-F238E27FC236}">
                <a16:creationId xmlns:a16="http://schemas.microsoft.com/office/drawing/2014/main" id="{964D2359-E05B-8DD5-A545-7621E7E18590}"/>
              </a:ext>
            </a:extLst>
          </p:cNvPr>
          <p:cNvSpPr/>
          <p:nvPr/>
        </p:nvSpPr>
        <p:spPr>
          <a:xfrm>
            <a:off x="5958774" y="2617442"/>
            <a:ext cx="5223344" cy="587853"/>
          </a:xfrm>
          <a:prstGeom prst="rect">
            <a:avLst/>
          </a:prstGeom>
        </p:spPr>
        <p:txBody>
          <a:bodyPr wrap="square">
            <a:spAutoFit/>
          </a:bodyPr>
          <a:lstStyle/>
          <a:p>
            <a:pPr marR="198120" algn="just" rtl="1">
              <a:lnSpc>
                <a:spcPct val="115000"/>
              </a:lnSpc>
              <a:spcAft>
                <a:spcPts val="720"/>
              </a:spcAft>
              <a:tabLst>
                <a:tab pos="457200" algn="l"/>
              </a:tabLst>
            </a:pPr>
            <a:r>
              <a:rPr lang="ar-EG" sz="1400" b="1" dirty="0"/>
              <a:t>يتم توصيف إطار عمل</a:t>
            </a:r>
            <a:r>
              <a:rPr lang="en-US" sz="1400" b="1" dirty="0"/>
              <a:t> (TOGAF) </a:t>
            </a:r>
            <a:r>
              <a:rPr lang="ar-EG" sz="1400" b="1" dirty="0"/>
              <a:t>عادة في أربع مجالات مترابطة تدعى مجالات البنية</a:t>
            </a:r>
            <a:r>
              <a:rPr lang="en-US" sz="1400" b="1" dirty="0"/>
              <a:t> (Architecture Domains) </a:t>
            </a:r>
            <a:r>
              <a:rPr lang="ar-SA" sz="1400" b="1" dirty="0"/>
              <a:t>:</a:t>
            </a:r>
          </a:p>
        </p:txBody>
      </p:sp>
      <p:sp>
        <p:nvSpPr>
          <p:cNvPr id="11" name="Rectangle 10">
            <a:extLst>
              <a:ext uri="{FF2B5EF4-FFF2-40B4-BE49-F238E27FC236}">
                <a16:creationId xmlns:a16="http://schemas.microsoft.com/office/drawing/2014/main" id="{0211C7B4-544A-A398-9C9D-8E35DF47F52A}"/>
              </a:ext>
            </a:extLst>
          </p:cNvPr>
          <p:cNvSpPr/>
          <p:nvPr/>
        </p:nvSpPr>
        <p:spPr>
          <a:xfrm>
            <a:off x="6351501" y="5262146"/>
            <a:ext cx="4830617" cy="276999"/>
          </a:xfrm>
          <a:prstGeom prst="rect">
            <a:avLst/>
          </a:prstGeom>
        </p:spPr>
        <p:txBody>
          <a:bodyPr wrap="square">
            <a:spAutoFit/>
          </a:bodyPr>
          <a:lstStyle/>
          <a:p>
            <a:pPr algn="just" rtl="1">
              <a:spcAft>
                <a:spcPts val="1560"/>
              </a:spcAft>
            </a:pPr>
            <a:r>
              <a:rPr lang="ar-SA" sz="1200" b="1" dirty="0"/>
              <a:t>طريقة تطوير المعمارية</a:t>
            </a:r>
            <a:r>
              <a:rPr lang="en-US" sz="1200" b="1" dirty="0"/>
              <a:t> (Architecture Development Method) </a:t>
            </a:r>
            <a:r>
              <a:rPr lang="ar-SA" sz="1200" b="1" dirty="0"/>
              <a:t>:</a:t>
            </a:r>
          </a:p>
        </p:txBody>
      </p:sp>
      <p:sp>
        <p:nvSpPr>
          <p:cNvPr id="12" name="Content Placeholder 3">
            <a:extLst>
              <a:ext uri="{FF2B5EF4-FFF2-40B4-BE49-F238E27FC236}">
                <a16:creationId xmlns:a16="http://schemas.microsoft.com/office/drawing/2014/main" id="{9B06A1DE-A340-4544-4635-2FE3AFBD50FD}"/>
              </a:ext>
            </a:extLst>
          </p:cNvPr>
          <p:cNvSpPr txBox="1">
            <a:spLocks/>
          </p:cNvSpPr>
          <p:nvPr/>
        </p:nvSpPr>
        <p:spPr>
          <a:xfrm>
            <a:off x="5466078" y="5557618"/>
            <a:ext cx="5716040" cy="646473"/>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spcAft>
                <a:spcPts val="1560"/>
              </a:spcAft>
              <a:buNone/>
            </a:pPr>
            <a:r>
              <a:rPr lang="ar-EG" sz="1200" dirty="0"/>
              <a:t>وهي طريقة لتطوير البنية المؤسسية بحيث تلبي احتياجات الأعمال وتقنية المعلومات للجهة. ومصممة وفقاً لاحتياجات الجهة ثم يتم توظيفها لإدارة تنفيذ أنشطة التخطيط المعماري، هذه الطريقة ناتجة عن المساهمات المستمرة من مختلف خبراء (</a:t>
            </a:r>
            <a:r>
              <a:rPr lang="en-US" sz="1200" dirty="0"/>
              <a:t>TOGAF) </a:t>
            </a:r>
            <a:r>
              <a:rPr lang="ar-EG" sz="1200" dirty="0"/>
              <a:t>وتساعد (</a:t>
            </a:r>
            <a:r>
              <a:rPr lang="en-US" sz="1200" dirty="0"/>
              <a:t>ADM) </a:t>
            </a:r>
            <a:r>
              <a:rPr lang="ar-EG" sz="1200" dirty="0"/>
              <a:t>الخبراء والممارسين المعماريين على تطوير المتطلبات التنظيمية.</a:t>
            </a:r>
          </a:p>
        </p:txBody>
      </p:sp>
      <p:sp>
        <p:nvSpPr>
          <p:cNvPr id="13" name="Rectangle 12">
            <a:extLst>
              <a:ext uri="{FF2B5EF4-FFF2-40B4-BE49-F238E27FC236}">
                <a16:creationId xmlns:a16="http://schemas.microsoft.com/office/drawing/2014/main" id="{B5B40335-92F0-FDCE-0E19-4F6EF3DDC390}"/>
              </a:ext>
            </a:extLst>
          </p:cNvPr>
          <p:cNvSpPr/>
          <p:nvPr/>
        </p:nvSpPr>
        <p:spPr>
          <a:xfrm flipH="1">
            <a:off x="411317" y="4295275"/>
            <a:ext cx="885300" cy="594393"/>
          </a:xfrm>
          <a:prstGeom prst="rect">
            <a:avLst/>
          </a:prstGeom>
        </p:spPr>
        <p:txBody>
          <a:bodyPr wrap="square">
            <a:spAutoFit/>
          </a:bodyPr>
          <a:lstStyle/>
          <a:p>
            <a:pPr algn="ctr" defTabSz="360046">
              <a:lnSpc>
                <a:spcPct val="90000"/>
              </a:lnSpc>
              <a:spcBef>
                <a:spcPct val="0"/>
              </a:spcBef>
            </a:pPr>
            <a:r>
              <a:rPr lang="en-US" sz="900" b="1" dirty="0">
                <a:solidFill>
                  <a:schemeClr val="bg1"/>
                </a:solidFill>
              </a:rPr>
              <a:t>G</a:t>
            </a:r>
          </a:p>
          <a:p>
            <a:pPr algn="ctr" defTabSz="360046">
              <a:lnSpc>
                <a:spcPct val="90000"/>
              </a:lnSpc>
              <a:spcBef>
                <a:spcPct val="0"/>
              </a:spcBef>
            </a:pPr>
            <a:r>
              <a:rPr lang="en-US" sz="900" b="1" dirty="0">
                <a:solidFill>
                  <a:schemeClr val="bg1"/>
                </a:solidFill>
              </a:rPr>
              <a:t>Implementation Governance</a:t>
            </a:r>
            <a:endParaRPr lang="en-GB" sz="900" b="1" dirty="0">
              <a:solidFill>
                <a:schemeClr val="bg1"/>
              </a:solidFill>
            </a:endParaRPr>
          </a:p>
        </p:txBody>
      </p:sp>
      <p:grpSp>
        <p:nvGrpSpPr>
          <p:cNvPr id="14" name="Group 13">
            <a:extLst>
              <a:ext uri="{FF2B5EF4-FFF2-40B4-BE49-F238E27FC236}">
                <a16:creationId xmlns:a16="http://schemas.microsoft.com/office/drawing/2014/main" id="{9E619FD5-7ED7-92AC-F65C-80F279752CEA}"/>
              </a:ext>
            </a:extLst>
          </p:cNvPr>
          <p:cNvGrpSpPr/>
          <p:nvPr/>
        </p:nvGrpSpPr>
        <p:grpSpPr>
          <a:xfrm rot="10800000">
            <a:off x="602530" y="3365497"/>
            <a:ext cx="1352050" cy="2768603"/>
            <a:chOff x="-1375378" y="3751875"/>
            <a:chExt cx="1352050" cy="2768603"/>
          </a:xfrm>
        </p:grpSpPr>
        <p:sp>
          <p:nvSpPr>
            <p:cNvPr id="15" name="Rounded Rectangle 6">
              <a:extLst>
                <a:ext uri="{FF2B5EF4-FFF2-40B4-BE49-F238E27FC236}">
                  <a16:creationId xmlns:a16="http://schemas.microsoft.com/office/drawing/2014/main" id="{1CA0633C-9D37-835B-997D-DE38916BBF62}"/>
                </a:ext>
              </a:extLst>
            </p:cNvPr>
            <p:cNvSpPr/>
            <p:nvPr/>
          </p:nvSpPr>
          <p:spPr>
            <a:xfrm rot="16200000">
              <a:off x="-2090423" y="4466920"/>
              <a:ext cx="2768600" cy="1338509"/>
            </a:xfrm>
            <a:prstGeom prst="roundRect">
              <a:avLst>
                <a:gd name="adj" fmla="val 230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100"/>
            </a:p>
          </p:txBody>
        </p:sp>
        <p:sp>
          <p:nvSpPr>
            <p:cNvPr id="16" name="Text Placeholder 21">
              <a:extLst>
                <a:ext uri="{FF2B5EF4-FFF2-40B4-BE49-F238E27FC236}">
                  <a16:creationId xmlns:a16="http://schemas.microsoft.com/office/drawing/2014/main" id="{55428C62-3763-A8E9-4D13-BA3975DA955C}"/>
                </a:ext>
              </a:extLst>
            </p:cNvPr>
            <p:cNvSpPr txBox="1">
              <a:spLocks/>
            </p:cNvSpPr>
            <p:nvPr/>
          </p:nvSpPr>
          <p:spPr>
            <a:xfrm rot="5400000">
              <a:off x="-1585024" y="4958783"/>
              <a:ext cx="2768601" cy="354790"/>
            </a:xfrm>
            <a:prstGeom prst="rect">
              <a:avLst/>
            </a:prstGeom>
          </p:spPr>
          <p:txBody>
            <a:bodyP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JO" sz="1200" b="1" dirty="0">
                  <a:solidFill>
                    <a:schemeClr val="bg1"/>
                  </a:solidFill>
                </a:rPr>
                <a:t>إصدار </a:t>
              </a:r>
              <a:r>
                <a:rPr lang="en-US" sz="1200" b="1" dirty="0">
                  <a:solidFill>
                    <a:schemeClr val="bg1"/>
                  </a:solidFill>
                </a:rPr>
                <a:t>TOGAF 10 </a:t>
              </a:r>
            </a:p>
          </p:txBody>
        </p:sp>
      </p:grpSp>
      <p:sp>
        <p:nvSpPr>
          <p:cNvPr id="17" name="Rounded Rectangle 8">
            <a:extLst>
              <a:ext uri="{FF2B5EF4-FFF2-40B4-BE49-F238E27FC236}">
                <a16:creationId xmlns:a16="http://schemas.microsoft.com/office/drawing/2014/main" id="{DE6F3CF0-C607-B527-52D9-6944D061CE3D}"/>
              </a:ext>
            </a:extLst>
          </p:cNvPr>
          <p:cNvSpPr/>
          <p:nvPr/>
        </p:nvSpPr>
        <p:spPr>
          <a:xfrm>
            <a:off x="899534" y="1140312"/>
            <a:ext cx="4113606" cy="4989750"/>
          </a:xfrm>
          <a:prstGeom prst="roundRect">
            <a:avLst>
              <a:gd name="adj" fmla="val 544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68" name="Group 67">
            <a:extLst>
              <a:ext uri="{FF2B5EF4-FFF2-40B4-BE49-F238E27FC236}">
                <a16:creationId xmlns:a16="http://schemas.microsoft.com/office/drawing/2014/main" id="{BABB4967-0F51-212E-BBFF-A565DA37BC04}"/>
              </a:ext>
            </a:extLst>
          </p:cNvPr>
          <p:cNvGrpSpPr/>
          <p:nvPr/>
        </p:nvGrpSpPr>
        <p:grpSpPr>
          <a:xfrm>
            <a:off x="1022585" y="1220566"/>
            <a:ext cx="3718162" cy="4825672"/>
            <a:chOff x="1022585" y="1220566"/>
            <a:chExt cx="3718162" cy="4825672"/>
          </a:xfrm>
        </p:grpSpPr>
        <p:grpSp>
          <p:nvGrpSpPr>
            <p:cNvPr id="18" name="Group 17">
              <a:extLst>
                <a:ext uri="{FF2B5EF4-FFF2-40B4-BE49-F238E27FC236}">
                  <a16:creationId xmlns:a16="http://schemas.microsoft.com/office/drawing/2014/main" id="{5EB3E5C9-1983-F363-4D6B-83F432EEFD63}"/>
                </a:ext>
              </a:extLst>
            </p:cNvPr>
            <p:cNvGrpSpPr/>
            <p:nvPr/>
          </p:nvGrpSpPr>
          <p:grpSpPr>
            <a:xfrm>
              <a:off x="1041362" y="1220566"/>
              <a:ext cx="3699385" cy="4825672"/>
              <a:chOff x="7654848" y="1335236"/>
              <a:chExt cx="3845809" cy="5016674"/>
            </a:xfrm>
          </p:grpSpPr>
          <p:sp>
            <p:nvSpPr>
              <p:cNvPr id="19" name="Arc 18">
                <a:extLst>
                  <a:ext uri="{FF2B5EF4-FFF2-40B4-BE49-F238E27FC236}">
                    <a16:creationId xmlns:a16="http://schemas.microsoft.com/office/drawing/2014/main" id="{4CA7C538-F7AF-8959-7E4A-251C49844020}"/>
                  </a:ext>
                </a:extLst>
              </p:cNvPr>
              <p:cNvSpPr/>
              <p:nvPr/>
            </p:nvSpPr>
            <p:spPr>
              <a:xfrm>
                <a:off x="8123096" y="2974350"/>
                <a:ext cx="2911762" cy="2911762"/>
              </a:xfrm>
              <a:prstGeom prst="arc">
                <a:avLst>
                  <a:gd name="adj1" fmla="val 17225897"/>
                  <a:gd name="adj2" fmla="val 1546988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id="{F816CF34-82B4-E742-1B48-CA7593B0F903}"/>
                  </a:ext>
                </a:extLst>
              </p:cNvPr>
              <p:cNvSpPr/>
              <p:nvPr/>
            </p:nvSpPr>
            <p:spPr>
              <a:xfrm>
                <a:off x="10565729" y="3962768"/>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1" name="Oval 20">
                <a:extLst>
                  <a:ext uri="{FF2B5EF4-FFF2-40B4-BE49-F238E27FC236}">
                    <a16:creationId xmlns:a16="http://schemas.microsoft.com/office/drawing/2014/main" id="{9B6EEE90-BB99-30B2-C4C4-72FFD46B5C2B}"/>
                  </a:ext>
                </a:extLst>
              </p:cNvPr>
              <p:cNvSpPr/>
              <p:nvPr/>
            </p:nvSpPr>
            <p:spPr>
              <a:xfrm>
                <a:off x="8946042" y="3797297"/>
                <a:ext cx="1265870" cy="1265868"/>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GB" sz="1000" b="1" dirty="0"/>
              </a:p>
            </p:txBody>
          </p:sp>
          <p:sp>
            <p:nvSpPr>
              <p:cNvPr id="22" name="Oval 21">
                <a:extLst>
                  <a:ext uri="{FF2B5EF4-FFF2-40B4-BE49-F238E27FC236}">
                    <a16:creationId xmlns:a16="http://schemas.microsoft.com/office/drawing/2014/main" id="{585229BC-3C7A-EF2B-2484-0FD2C910F269}"/>
                  </a:ext>
                </a:extLst>
              </p:cNvPr>
              <p:cNvSpPr/>
              <p:nvPr/>
            </p:nvSpPr>
            <p:spPr>
              <a:xfrm>
                <a:off x="8156651" y="3004873"/>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3" name="Oval 22">
                <a:extLst>
                  <a:ext uri="{FF2B5EF4-FFF2-40B4-BE49-F238E27FC236}">
                    <a16:creationId xmlns:a16="http://schemas.microsoft.com/office/drawing/2014/main" id="{7474FC7A-837A-B9DB-CBDD-F5D0E1C44FEF}"/>
                  </a:ext>
                </a:extLst>
              </p:cNvPr>
              <p:cNvSpPr/>
              <p:nvPr/>
            </p:nvSpPr>
            <p:spPr>
              <a:xfrm>
                <a:off x="7654848" y="3967159"/>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4" name="Oval 23">
                <a:extLst>
                  <a:ext uri="{FF2B5EF4-FFF2-40B4-BE49-F238E27FC236}">
                    <a16:creationId xmlns:a16="http://schemas.microsoft.com/office/drawing/2014/main" id="{1B11F54A-6E1B-C739-5B95-9952522D304A}"/>
                  </a:ext>
                </a:extLst>
              </p:cNvPr>
              <p:cNvSpPr/>
              <p:nvPr/>
            </p:nvSpPr>
            <p:spPr>
              <a:xfrm>
                <a:off x="8087168" y="4986552"/>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5" name="Oval 24">
                <a:extLst>
                  <a:ext uri="{FF2B5EF4-FFF2-40B4-BE49-F238E27FC236}">
                    <a16:creationId xmlns:a16="http://schemas.microsoft.com/office/drawing/2014/main" id="{05C489F4-1BDE-94DA-4E95-E63CED8EF180}"/>
                  </a:ext>
                </a:extLst>
              </p:cNvPr>
              <p:cNvSpPr/>
              <p:nvPr/>
            </p:nvSpPr>
            <p:spPr>
              <a:xfrm>
                <a:off x="9111513" y="5416984"/>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6" name="Oval 25">
                <a:extLst>
                  <a:ext uri="{FF2B5EF4-FFF2-40B4-BE49-F238E27FC236}">
                    <a16:creationId xmlns:a16="http://schemas.microsoft.com/office/drawing/2014/main" id="{73933AC7-4932-182F-C492-CCCBB567FABA}"/>
                  </a:ext>
                </a:extLst>
              </p:cNvPr>
              <p:cNvSpPr/>
              <p:nvPr/>
            </p:nvSpPr>
            <p:spPr>
              <a:xfrm>
                <a:off x="10139799" y="4991054"/>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7" name="Oval 26">
                <a:extLst>
                  <a:ext uri="{FF2B5EF4-FFF2-40B4-BE49-F238E27FC236}">
                    <a16:creationId xmlns:a16="http://schemas.microsoft.com/office/drawing/2014/main" id="{289A65E2-4757-1ED7-D750-D5AF85A688F9}"/>
                  </a:ext>
                </a:extLst>
              </p:cNvPr>
              <p:cNvSpPr/>
              <p:nvPr/>
            </p:nvSpPr>
            <p:spPr>
              <a:xfrm>
                <a:off x="10139800" y="2934482"/>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cxnSp>
            <p:nvCxnSpPr>
              <p:cNvPr id="28" name="Straight Connector 27">
                <a:extLst>
                  <a:ext uri="{FF2B5EF4-FFF2-40B4-BE49-F238E27FC236}">
                    <a16:creationId xmlns:a16="http://schemas.microsoft.com/office/drawing/2014/main" id="{B7C0B110-1F8F-44BD-2B15-BE4A36CAE903}"/>
                  </a:ext>
                </a:extLst>
              </p:cNvPr>
              <p:cNvCxnSpPr>
                <a:stCxn id="44" idx="6"/>
                <a:endCxn id="37" idx="2"/>
              </p:cNvCxnSpPr>
              <p:nvPr/>
            </p:nvCxnSpPr>
            <p:spPr>
              <a:xfrm flipV="1">
                <a:off x="8549908" y="4430231"/>
                <a:ext cx="465046" cy="4392"/>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BFA77B3-C253-7200-893A-3D98FE5E913C}"/>
                  </a:ext>
                </a:extLst>
              </p:cNvPr>
              <p:cNvCxnSpPr>
                <a:stCxn id="45" idx="5"/>
                <a:endCxn id="37" idx="1"/>
              </p:cNvCxnSpPr>
              <p:nvPr/>
            </p:nvCxnSpPr>
            <p:spPr>
              <a:xfrm>
                <a:off x="8931364" y="3770190"/>
                <a:ext cx="248789" cy="26121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C86C47-07FE-06CD-D5C1-473611EF61BC}"/>
                  </a:ext>
                </a:extLst>
              </p:cNvPr>
              <p:cNvCxnSpPr>
                <a:stCxn id="43" idx="7"/>
                <a:endCxn id="37" idx="3"/>
              </p:cNvCxnSpPr>
              <p:nvPr/>
            </p:nvCxnSpPr>
            <p:spPr>
              <a:xfrm flipV="1">
                <a:off x="8856988" y="4829055"/>
                <a:ext cx="323165" cy="322605"/>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F3C7889-36F0-6E62-BFF2-5894ADC61B35}"/>
                  </a:ext>
                </a:extLst>
              </p:cNvPr>
              <p:cNvCxnSpPr>
                <a:stCxn id="42" idx="0"/>
                <a:endCxn id="37" idx="4"/>
              </p:cNvCxnSpPr>
              <p:nvPr/>
            </p:nvCxnSpPr>
            <p:spPr>
              <a:xfrm flipV="1">
                <a:off x="9578977" y="4994253"/>
                <a:ext cx="0" cy="462598"/>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88089B4-1943-896D-D488-6E18D720173B}"/>
                  </a:ext>
                </a:extLst>
              </p:cNvPr>
              <p:cNvCxnSpPr>
                <a:stCxn id="41" idx="1"/>
                <a:endCxn id="37" idx="5"/>
              </p:cNvCxnSpPr>
              <p:nvPr/>
            </p:nvCxnSpPr>
            <p:spPr>
              <a:xfrm flipH="1" flipV="1">
                <a:off x="9977801" y="4829055"/>
                <a:ext cx="327106" cy="327106"/>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BEEE6C-EE78-80F8-7B93-F90CE58616BC}"/>
                  </a:ext>
                </a:extLst>
              </p:cNvPr>
              <p:cNvCxnSpPr>
                <a:stCxn id="40" idx="2"/>
                <a:endCxn id="37" idx="6"/>
              </p:cNvCxnSpPr>
              <p:nvPr/>
            </p:nvCxnSpPr>
            <p:spPr>
              <a:xfrm flipH="1">
                <a:off x="10143000" y="4430231"/>
                <a:ext cx="462597" cy="0"/>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9B30DF4-B4BC-4960-8D53-5101914190EF}"/>
                  </a:ext>
                </a:extLst>
              </p:cNvPr>
              <p:cNvCxnSpPr>
                <a:stCxn id="39" idx="3"/>
                <a:endCxn id="37" idx="7"/>
              </p:cNvCxnSpPr>
              <p:nvPr/>
            </p:nvCxnSpPr>
            <p:spPr>
              <a:xfrm flipH="1">
                <a:off x="9977801" y="3704300"/>
                <a:ext cx="327107" cy="32710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51A2A640-858D-F869-9315-777D5F52692E}"/>
                  </a:ext>
                </a:extLst>
              </p:cNvPr>
              <p:cNvSpPr/>
              <p:nvPr/>
            </p:nvSpPr>
            <p:spPr>
              <a:xfrm>
                <a:off x="9111513" y="2508553"/>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cxnSp>
            <p:nvCxnSpPr>
              <p:cNvPr id="36" name="Straight Connector 35">
                <a:extLst>
                  <a:ext uri="{FF2B5EF4-FFF2-40B4-BE49-F238E27FC236}">
                    <a16:creationId xmlns:a16="http://schemas.microsoft.com/office/drawing/2014/main" id="{90D6D567-492E-6591-BE7D-BCC8336CBEC6}"/>
                  </a:ext>
                </a:extLst>
              </p:cNvPr>
              <p:cNvCxnSpPr>
                <a:stCxn id="38" idx="4"/>
                <a:endCxn id="37" idx="0"/>
              </p:cNvCxnSpPr>
              <p:nvPr/>
            </p:nvCxnSpPr>
            <p:spPr>
              <a:xfrm>
                <a:off x="9578977" y="3403611"/>
                <a:ext cx="0" cy="462598"/>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898F9766-AD88-73F3-6A36-F1EEA09F7D17}"/>
                  </a:ext>
                </a:extLst>
              </p:cNvPr>
              <p:cNvSpPr/>
              <p:nvPr/>
            </p:nvSpPr>
            <p:spPr>
              <a:xfrm>
                <a:off x="9014954" y="3866209"/>
                <a:ext cx="1128046" cy="1128044"/>
              </a:xfrm>
              <a:prstGeom prst="ellipse">
                <a:avLst/>
              </a:prstGeom>
              <a:gradFill>
                <a:gsLst>
                  <a:gs pos="100000">
                    <a:schemeClr val="accent2"/>
                  </a:gs>
                  <a:gs pos="6000">
                    <a:schemeClr val="accent1"/>
                  </a:gs>
                </a:gsLst>
                <a:lin ang="5400000" scaled="1"/>
              </a:gra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50" b="1" dirty="0"/>
                  <a:t>Requirements Management</a:t>
                </a:r>
                <a:endParaRPr lang="en-GB" sz="1050" b="1" dirty="0"/>
              </a:p>
            </p:txBody>
          </p:sp>
          <p:sp>
            <p:nvSpPr>
              <p:cNvPr id="38" name="Oval 37">
                <a:extLst>
                  <a:ext uri="{FF2B5EF4-FFF2-40B4-BE49-F238E27FC236}">
                    <a16:creationId xmlns:a16="http://schemas.microsoft.com/office/drawing/2014/main" id="{14F86D95-4B1A-6910-B11A-4DA36F484C12}"/>
                  </a:ext>
                </a:extLst>
              </p:cNvPr>
              <p:cNvSpPr/>
              <p:nvPr/>
            </p:nvSpPr>
            <p:spPr>
              <a:xfrm>
                <a:off x="9151381" y="2548420"/>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A </a:t>
                </a:r>
              </a:p>
              <a:p>
                <a:pPr algn="ctr" defTabSz="360046">
                  <a:lnSpc>
                    <a:spcPct val="90000"/>
                  </a:lnSpc>
                  <a:spcBef>
                    <a:spcPct val="0"/>
                  </a:spcBef>
                </a:pPr>
                <a:r>
                  <a:rPr lang="en-US" sz="1000" b="1" dirty="0"/>
                  <a:t>Architecture Vision</a:t>
                </a:r>
                <a:endParaRPr lang="en-GB" sz="1000" b="1" dirty="0"/>
              </a:p>
            </p:txBody>
          </p:sp>
          <p:sp>
            <p:nvSpPr>
              <p:cNvPr id="39" name="Oval 38">
                <a:extLst>
                  <a:ext uri="{FF2B5EF4-FFF2-40B4-BE49-F238E27FC236}">
                    <a16:creationId xmlns:a16="http://schemas.microsoft.com/office/drawing/2014/main" id="{01B1A2DB-ED28-F652-990A-ED2FF7F03AD3}"/>
                  </a:ext>
                </a:extLst>
              </p:cNvPr>
              <p:cNvSpPr/>
              <p:nvPr/>
            </p:nvSpPr>
            <p:spPr>
              <a:xfrm>
                <a:off x="10179668" y="2974349"/>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B </a:t>
                </a:r>
              </a:p>
              <a:p>
                <a:pPr algn="ctr" defTabSz="360046">
                  <a:lnSpc>
                    <a:spcPct val="90000"/>
                  </a:lnSpc>
                  <a:spcBef>
                    <a:spcPct val="0"/>
                  </a:spcBef>
                </a:pPr>
                <a:r>
                  <a:rPr lang="en-US" sz="1000" b="1" dirty="0"/>
                  <a:t>Business Architecture</a:t>
                </a:r>
                <a:endParaRPr lang="en-GB" sz="1000" b="1" dirty="0"/>
              </a:p>
            </p:txBody>
          </p:sp>
          <p:sp>
            <p:nvSpPr>
              <p:cNvPr id="40" name="Oval 39">
                <a:extLst>
                  <a:ext uri="{FF2B5EF4-FFF2-40B4-BE49-F238E27FC236}">
                    <a16:creationId xmlns:a16="http://schemas.microsoft.com/office/drawing/2014/main" id="{7F8842EA-426B-BACD-0DF3-8943E782E77B}"/>
                  </a:ext>
                </a:extLst>
              </p:cNvPr>
              <p:cNvSpPr/>
              <p:nvPr/>
            </p:nvSpPr>
            <p:spPr>
              <a:xfrm>
                <a:off x="10605597" y="4002635"/>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C </a:t>
                </a:r>
              </a:p>
              <a:p>
                <a:pPr algn="ctr" defTabSz="360046">
                  <a:lnSpc>
                    <a:spcPct val="90000"/>
                  </a:lnSpc>
                  <a:spcBef>
                    <a:spcPct val="0"/>
                  </a:spcBef>
                </a:pPr>
                <a:r>
                  <a:rPr lang="en-US" sz="1000" b="1" dirty="0"/>
                  <a:t>Information Systems Architecture</a:t>
                </a:r>
                <a:endParaRPr lang="en-GB" sz="1000" b="1" dirty="0"/>
              </a:p>
            </p:txBody>
          </p:sp>
          <p:sp>
            <p:nvSpPr>
              <p:cNvPr id="41" name="Oval 40">
                <a:extLst>
                  <a:ext uri="{FF2B5EF4-FFF2-40B4-BE49-F238E27FC236}">
                    <a16:creationId xmlns:a16="http://schemas.microsoft.com/office/drawing/2014/main" id="{A9C3F69E-9DCD-582B-AB44-0AEE3C6124F0}"/>
                  </a:ext>
                </a:extLst>
              </p:cNvPr>
              <p:cNvSpPr/>
              <p:nvPr/>
            </p:nvSpPr>
            <p:spPr>
              <a:xfrm>
                <a:off x="10179667" y="5030921"/>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D </a:t>
                </a:r>
              </a:p>
              <a:p>
                <a:pPr algn="ctr" defTabSz="360046">
                  <a:lnSpc>
                    <a:spcPct val="90000"/>
                  </a:lnSpc>
                  <a:spcBef>
                    <a:spcPct val="0"/>
                  </a:spcBef>
                </a:pPr>
                <a:r>
                  <a:rPr lang="en-US" sz="1000" b="1" dirty="0"/>
                  <a:t>Technology Architecture</a:t>
                </a:r>
                <a:endParaRPr lang="en-GB" sz="1000" b="1" dirty="0"/>
              </a:p>
            </p:txBody>
          </p:sp>
          <p:sp>
            <p:nvSpPr>
              <p:cNvPr id="42" name="Oval 41">
                <a:extLst>
                  <a:ext uri="{FF2B5EF4-FFF2-40B4-BE49-F238E27FC236}">
                    <a16:creationId xmlns:a16="http://schemas.microsoft.com/office/drawing/2014/main" id="{40A5BA60-BF4A-85D5-06E0-50E6F2C4638D}"/>
                  </a:ext>
                </a:extLst>
              </p:cNvPr>
              <p:cNvSpPr/>
              <p:nvPr/>
            </p:nvSpPr>
            <p:spPr>
              <a:xfrm>
                <a:off x="9151381" y="5456851"/>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E </a:t>
                </a:r>
              </a:p>
              <a:p>
                <a:pPr algn="ctr" defTabSz="360046">
                  <a:lnSpc>
                    <a:spcPct val="90000"/>
                  </a:lnSpc>
                  <a:spcBef>
                    <a:spcPct val="0"/>
                  </a:spcBef>
                </a:pPr>
                <a:r>
                  <a:rPr lang="en-US" sz="1000" b="1" dirty="0"/>
                  <a:t>Opportunities and Solutions</a:t>
                </a:r>
                <a:endParaRPr lang="en-GB" sz="1000" b="1" dirty="0"/>
              </a:p>
            </p:txBody>
          </p:sp>
          <p:sp>
            <p:nvSpPr>
              <p:cNvPr id="43" name="Oval 42">
                <a:extLst>
                  <a:ext uri="{FF2B5EF4-FFF2-40B4-BE49-F238E27FC236}">
                    <a16:creationId xmlns:a16="http://schemas.microsoft.com/office/drawing/2014/main" id="{88B659F9-7BA4-4527-235C-4C4E82C37352}"/>
                  </a:ext>
                </a:extLst>
              </p:cNvPr>
              <p:cNvSpPr/>
              <p:nvPr/>
            </p:nvSpPr>
            <p:spPr>
              <a:xfrm>
                <a:off x="8127037" y="5026420"/>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F   </a:t>
                </a:r>
              </a:p>
              <a:p>
                <a:pPr algn="ctr" defTabSz="360046">
                  <a:lnSpc>
                    <a:spcPct val="90000"/>
                  </a:lnSpc>
                  <a:spcBef>
                    <a:spcPct val="0"/>
                  </a:spcBef>
                </a:pPr>
                <a:r>
                  <a:rPr lang="en-US" sz="1000" b="1" dirty="0"/>
                  <a:t> Migration Planning</a:t>
                </a:r>
                <a:endParaRPr lang="en-GB" sz="1000" b="1" dirty="0"/>
              </a:p>
            </p:txBody>
          </p:sp>
          <p:sp>
            <p:nvSpPr>
              <p:cNvPr id="44" name="Oval 43">
                <a:extLst>
                  <a:ext uri="{FF2B5EF4-FFF2-40B4-BE49-F238E27FC236}">
                    <a16:creationId xmlns:a16="http://schemas.microsoft.com/office/drawing/2014/main" id="{63370B27-8726-5493-C4AA-372071191C45}"/>
                  </a:ext>
                </a:extLst>
              </p:cNvPr>
              <p:cNvSpPr/>
              <p:nvPr/>
            </p:nvSpPr>
            <p:spPr>
              <a:xfrm>
                <a:off x="7694717" y="4007027"/>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GB" sz="1000" b="1" dirty="0"/>
              </a:p>
            </p:txBody>
          </p:sp>
          <p:sp>
            <p:nvSpPr>
              <p:cNvPr id="45" name="Oval 44">
                <a:extLst>
                  <a:ext uri="{FF2B5EF4-FFF2-40B4-BE49-F238E27FC236}">
                    <a16:creationId xmlns:a16="http://schemas.microsoft.com/office/drawing/2014/main" id="{222931A5-AF46-9FC5-93E6-AEBDBDD2FBE9}"/>
                  </a:ext>
                </a:extLst>
              </p:cNvPr>
              <p:cNvSpPr/>
              <p:nvPr/>
            </p:nvSpPr>
            <p:spPr>
              <a:xfrm>
                <a:off x="8201413" y="3040239"/>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H </a:t>
                </a:r>
              </a:p>
              <a:p>
                <a:pPr algn="ctr" defTabSz="360046">
                  <a:lnSpc>
                    <a:spcPct val="90000"/>
                  </a:lnSpc>
                  <a:spcBef>
                    <a:spcPct val="0"/>
                  </a:spcBef>
                </a:pPr>
                <a:r>
                  <a:rPr lang="en-US" sz="1000" b="1" dirty="0"/>
                  <a:t>Architecture Change Management</a:t>
                </a:r>
                <a:endParaRPr lang="en-GB" sz="1000" b="1" dirty="0"/>
              </a:p>
            </p:txBody>
          </p:sp>
          <p:sp>
            <p:nvSpPr>
              <p:cNvPr id="46" name="Oval 19">
                <a:extLst>
                  <a:ext uri="{FF2B5EF4-FFF2-40B4-BE49-F238E27FC236}">
                    <a16:creationId xmlns:a16="http://schemas.microsoft.com/office/drawing/2014/main" id="{A8B9066B-7147-5512-A46F-1C15F2D19E50}"/>
                  </a:ext>
                </a:extLst>
              </p:cNvPr>
              <p:cNvSpPr/>
              <p:nvPr/>
            </p:nvSpPr>
            <p:spPr>
              <a:xfrm>
                <a:off x="9147036" y="1335236"/>
                <a:ext cx="859536" cy="859536"/>
              </a:xfrm>
              <a:prstGeom prst="ellipse">
                <a:avLst/>
              </a:prstGeom>
              <a:solidFill>
                <a:schemeClr val="accent2"/>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a:lstStyle/>
              <a:p>
                <a:endParaRPr lang="en-US"/>
              </a:p>
            </p:txBody>
          </p:sp>
          <p:sp>
            <p:nvSpPr>
              <p:cNvPr id="47" name="Oval 4">
                <a:extLst>
                  <a:ext uri="{FF2B5EF4-FFF2-40B4-BE49-F238E27FC236}">
                    <a16:creationId xmlns:a16="http://schemas.microsoft.com/office/drawing/2014/main" id="{A7CD224B-4B81-A718-B6AF-9FEAAB97FE4B}"/>
                  </a:ext>
                </a:extLst>
              </p:cNvPr>
              <p:cNvSpPr/>
              <p:nvPr/>
            </p:nvSpPr>
            <p:spPr>
              <a:xfrm>
                <a:off x="9136512" y="1394954"/>
                <a:ext cx="880584" cy="740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01" tIns="4001" rIns="4001" bIns="4001" numCol="1" spcCol="1270" anchor="ctr" anchorCtr="0">
                <a:noAutofit/>
              </a:bodyPr>
              <a:lstStyle/>
              <a:p>
                <a:pPr algn="ctr" defTabSz="280036">
                  <a:lnSpc>
                    <a:spcPct val="90000"/>
                  </a:lnSpc>
                  <a:spcBef>
                    <a:spcPct val="0"/>
                  </a:spcBef>
                  <a:spcAft>
                    <a:spcPct val="35000"/>
                  </a:spcAft>
                </a:pPr>
                <a:r>
                  <a:rPr lang="en-US" sz="1600" b="1" dirty="0"/>
                  <a:t>Preliminary</a:t>
                </a:r>
                <a:endParaRPr lang="en-GB" sz="1600" b="1" dirty="0"/>
              </a:p>
            </p:txBody>
          </p:sp>
          <p:sp>
            <p:nvSpPr>
              <p:cNvPr id="48" name="Arc 47">
                <a:extLst>
                  <a:ext uri="{FF2B5EF4-FFF2-40B4-BE49-F238E27FC236}">
                    <a16:creationId xmlns:a16="http://schemas.microsoft.com/office/drawing/2014/main" id="{6F90C719-5E10-145C-5E75-D6F32D2533B9}"/>
                  </a:ext>
                </a:extLst>
              </p:cNvPr>
              <p:cNvSpPr/>
              <p:nvPr/>
            </p:nvSpPr>
            <p:spPr>
              <a:xfrm>
                <a:off x="8123096" y="2974350"/>
                <a:ext cx="2911762" cy="2911762"/>
              </a:xfrm>
              <a:prstGeom prst="arc">
                <a:avLst>
                  <a:gd name="adj1" fmla="val 17225897"/>
                  <a:gd name="adj2" fmla="val 17694646"/>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159EA9B5-8C47-5AEE-5AE0-9756ADD06EF6}"/>
                  </a:ext>
                </a:extLst>
              </p:cNvPr>
              <p:cNvSpPr/>
              <p:nvPr/>
            </p:nvSpPr>
            <p:spPr>
              <a:xfrm>
                <a:off x="8123096" y="2974350"/>
                <a:ext cx="2911762" cy="2911762"/>
              </a:xfrm>
              <a:prstGeom prst="arc">
                <a:avLst>
                  <a:gd name="adj1" fmla="val 20051015"/>
                  <a:gd name="adj2" fmla="val 20373373"/>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F1BA7CD9-90EF-371A-E04C-D1CE5B183D0A}"/>
                  </a:ext>
                </a:extLst>
              </p:cNvPr>
              <p:cNvSpPr/>
              <p:nvPr/>
            </p:nvSpPr>
            <p:spPr>
              <a:xfrm>
                <a:off x="8123096" y="2974350"/>
                <a:ext cx="2911762" cy="2911762"/>
              </a:xfrm>
              <a:prstGeom prst="arc">
                <a:avLst>
                  <a:gd name="adj1" fmla="val 1105325"/>
                  <a:gd name="adj2" fmla="val 1503388"/>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AE75B169-DEBC-CA4C-2821-69389E005E68}"/>
                  </a:ext>
                </a:extLst>
              </p:cNvPr>
              <p:cNvSpPr/>
              <p:nvPr/>
            </p:nvSpPr>
            <p:spPr>
              <a:xfrm>
                <a:off x="8123096" y="2974350"/>
                <a:ext cx="2911762" cy="2911762"/>
              </a:xfrm>
              <a:prstGeom prst="arc">
                <a:avLst>
                  <a:gd name="adj1" fmla="val 3809241"/>
                  <a:gd name="adj2" fmla="val 414386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a:extLst>
                  <a:ext uri="{FF2B5EF4-FFF2-40B4-BE49-F238E27FC236}">
                    <a16:creationId xmlns:a16="http://schemas.microsoft.com/office/drawing/2014/main" id="{C5AE52B8-9176-0201-95BB-B1B31CDE9247}"/>
                  </a:ext>
                </a:extLst>
              </p:cNvPr>
              <p:cNvSpPr/>
              <p:nvPr/>
            </p:nvSpPr>
            <p:spPr>
              <a:xfrm>
                <a:off x="8123096" y="2974350"/>
                <a:ext cx="2911762" cy="2911762"/>
              </a:xfrm>
              <a:prstGeom prst="arc">
                <a:avLst>
                  <a:gd name="adj1" fmla="val 6437810"/>
                  <a:gd name="adj2" fmla="val 6879218"/>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742CAD3C-5838-E25A-1F2B-EDC58855C513}"/>
                  </a:ext>
                </a:extLst>
              </p:cNvPr>
              <p:cNvSpPr/>
              <p:nvPr/>
            </p:nvSpPr>
            <p:spPr>
              <a:xfrm>
                <a:off x="8123096" y="2974350"/>
                <a:ext cx="2911762" cy="2911762"/>
              </a:xfrm>
              <a:prstGeom prst="arc">
                <a:avLst>
                  <a:gd name="adj1" fmla="val 9205067"/>
                  <a:gd name="adj2" fmla="val 9567302"/>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Arc 53">
                <a:extLst>
                  <a:ext uri="{FF2B5EF4-FFF2-40B4-BE49-F238E27FC236}">
                    <a16:creationId xmlns:a16="http://schemas.microsoft.com/office/drawing/2014/main" id="{4663B1E8-FC75-3148-178C-7EFBC8C16752}"/>
                  </a:ext>
                </a:extLst>
              </p:cNvPr>
              <p:cNvSpPr/>
              <p:nvPr/>
            </p:nvSpPr>
            <p:spPr>
              <a:xfrm>
                <a:off x="8123096" y="2974350"/>
                <a:ext cx="2911762" cy="2911762"/>
              </a:xfrm>
              <a:prstGeom prst="arc">
                <a:avLst>
                  <a:gd name="adj1" fmla="val 11825691"/>
                  <a:gd name="adj2" fmla="val 12269432"/>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Arc 54">
                <a:extLst>
                  <a:ext uri="{FF2B5EF4-FFF2-40B4-BE49-F238E27FC236}">
                    <a16:creationId xmlns:a16="http://schemas.microsoft.com/office/drawing/2014/main" id="{8A8709BC-4878-6D20-C18A-F958C42236BC}"/>
                  </a:ext>
                </a:extLst>
              </p:cNvPr>
              <p:cNvSpPr/>
              <p:nvPr/>
            </p:nvSpPr>
            <p:spPr>
              <a:xfrm>
                <a:off x="8123096" y="2974350"/>
                <a:ext cx="2911762" cy="2911762"/>
              </a:xfrm>
              <a:prstGeom prst="arc">
                <a:avLst>
                  <a:gd name="adj1" fmla="val 14527235"/>
                  <a:gd name="adj2" fmla="val 14950716"/>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1A324A70-E527-F6F7-8347-1C0741BAD549}"/>
                  </a:ext>
                </a:extLst>
              </p:cNvPr>
              <p:cNvCxnSpPr/>
              <p:nvPr/>
            </p:nvCxnSpPr>
            <p:spPr>
              <a:xfrm>
                <a:off x="9576804" y="3443479"/>
                <a:ext cx="0" cy="35381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FC44E14-6788-6F89-6FDF-5F5B2AC82833}"/>
                  </a:ext>
                </a:extLst>
              </p:cNvPr>
              <p:cNvCxnSpPr>
                <a:stCxn id="27" idx="3"/>
                <a:endCxn id="21" idx="7"/>
              </p:cNvCxnSpPr>
              <p:nvPr/>
            </p:nvCxnSpPr>
            <p:spPr>
              <a:xfrm flipH="1">
                <a:off x="10026530" y="3732491"/>
                <a:ext cx="250187" cy="25018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BE3F398-13D5-03A9-B960-FAA3A3FBC126}"/>
                  </a:ext>
                </a:extLst>
              </p:cNvPr>
              <p:cNvCxnSpPr>
                <a:stCxn id="20" idx="2"/>
                <a:endCxn id="21" idx="6"/>
              </p:cNvCxnSpPr>
              <p:nvPr/>
            </p:nvCxnSpPr>
            <p:spPr>
              <a:xfrm flipH="1">
                <a:off x="10211912" y="4430231"/>
                <a:ext cx="353817" cy="0"/>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EED40DF-8FF1-690D-DDA2-11AD4A3A0168}"/>
                  </a:ext>
                </a:extLst>
              </p:cNvPr>
              <p:cNvCxnSpPr>
                <a:stCxn id="26" idx="1"/>
                <a:endCxn id="21" idx="5"/>
              </p:cNvCxnSpPr>
              <p:nvPr/>
            </p:nvCxnSpPr>
            <p:spPr>
              <a:xfrm flipH="1" flipV="1">
                <a:off x="10026530" y="4877783"/>
                <a:ext cx="250186" cy="25018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852AD1D-42FE-AB0E-4F05-006B0A4844A1}"/>
                  </a:ext>
                </a:extLst>
              </p:cNvPr>
              <p:cNvCxnSpPr>
                <a:stCxn id="25" idx="0"/>
                <a:endCxn id="21" idx="4"/>
              </p:cNvCxnSpPr>
              <p:nvPr/>
            </p:nvCxnSpPr>
            <p:spPr>
              <a:xfrm flipV="1">
                <a:off x="9578977" y="5063165"/>
                <a:ext cx="0" cy="353819"/>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2E6C07C-F8B3-1148-5B12-2205580E1A26}"/>
                  </a:ext>
                </a:extLst>
              </p:cNvPr>
              <p:cNvCxnSpPr>
                <a:stCxn id="24" idx="7"/>
                <a:endCxn id="21" idx="3"/>
              </p:cNvCxnSpPr>
              <p:nvPr/>
            </p:nvCxnSpPr>
            <p:spPr>
              <a:xfrm flipV="1">
                <a:off x="8885179" y="4877783"/>
                <a:ext cx="246245" cy="245686"/>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1B331E4-40CD-E98E-E203-23D9AF9D6E6E}"/>
                  </a:ext>
                </a:extLst>
              </p:cNvPr>
              <p:cNvCxnSpPr>
                <a:stCxn id="23" idx="6"/>
                <a:endCxn id="21" idx="2"/>
              </p:cNvCxnSpPr>
              <p:nvPr/>
            </p:nvCxnSpPr>
            <p:spPr>
              <a:xfrm flipV="1">
                <a:off x="8589776" y="4430231"/>
                <a:ext cx="356266" cy="4391"/>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EC28A8C-C890-8508-6CEF-17E9436EC6D1}"/>
                  </a:ext>
                </a:extLst>
              </p:cNvPr>
              <p:cNvCxnSpPr>
                <a:stCxn id="22" idx="5"/>
                <a:endCxn id="21" idx="1"/>
              </p:cNvCxnSpPr>
              <p:nvPr/>
            </p:nvCxnSpPr>
            <p:spPr>
              <a:xfrm>
                <a:off x="8954662" y="3802882"/>
                <a:ext cx="176762" cy="179797"/>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29CD52-CD01-6A29-2790-D11477B0DF9F}"/>
                  </a:ext>
                </a:extLst>
              </p:cNvPr>
              <p:cNvCxnSpPr>
                <a:stCxn id="46" idx="4"/>
                <a:endCxn id="35" idx="0"/>
              </p:cNvCxnSpPr>
              <p:nvPr/>
            </p:nvCxnSpPr>
            <p:spPr>
              <a:xfrm>
                <a:off x="9576804" y="2194772"/>
                <a:ext cx="2173" cy="313781"/>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65" name="Rectangle 64">
              <a:extLst>
                <a:ext uri="{FF2B5EF4-FFF2-40B4-BE49-F238E27FC236}">
                  <a16:creationId xmlns:a16="http://schemas.microsoft.com/office/drawing/2014/main" id="{9EB91328-048E-CC6A-1A2C-A8D83C616E9D}"/>
                </a:ext>
              </a:extLst>
            </p:cNvPr>
            <p:cNvSpPr/>
            <p:nvPr/>
          </p:nvSpPr>
          <p:spPr>
            <a:xfrm flipH="1">
              <a:off x="1022585" y="4036205"/>
              <a:ext cx="885300" cy="511679"/>
            </a:xfrm>
            <a:prstGeom prst="rect">
              <a:avLst/>
            </a:prstGeom>
          </p:spPr>
          <p:txBody>
            <a:bodyPr wrap="square">
              <a:spAutoFit/>
            </a:bodyPr>
            <a:lstStyle/>
            <a:p>
              <a:pPr algn="ctr" defTabSz="360046">
                <a:lnSpc>
                  <a:spcPct val="90000"/>
                </a:lnSpc>
                <a:spcBef>
                  <a:spcPct val="0"/>
                </a:spcBef>
              </a:pPr>
              <a:r>
                <a:rPr lang="en-US" sz="1000" b="1" dirty="0">
                  <a:solidFill>
                    <a:schemeClr val="bg1"/>
                  </a:solidFill>
                </a:rPr>
                <a:t>G</a:t>
              </a:r>
            </a:p>
            <a:p>
              <a:pPr algn="ctr" defTabSz="360046">
                <a:lnSpc>
                  <a:spcPct val="90000"/>
                </a:lnSpc>
                <a:spcBef>
                  <a:spcPct val="0"/>
                </a:spcBef>
              </a:pPr>
              <a:r>
                <a:rPr lang="en-US" sz="1000" b="1" dirty="0">
                  <a:solidFill>
                    <a:schemeClr val="bg1"/>
                  </a:solidFill>
                </a:rPr>
                <a:t>Implementation Governance</a:t>
              </a:r>
              <a:endParaRPr lang="en-GB" sz="1000" b="1" dirty="0">
                <a:solidFill>
                  <a:schemeClr val="bg1"/>
                </a:solidFill>
              </a:endParaRPr>
            </a:p>
          </p:txBody>
        </p:sp>
      </p:grpSp>
    </p:spTree>
    <p:extLst>
      <p:ext uri="{BB962C8B-B14F-4D97-AF65-F5344CB8AC3E}">
        <p14:creationId xmlns:p14="http://schemas.microsoft.com/office/powerpoint/2010/main" val="421313170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EA978E-1A01-16BF-89FC-289E8ADC950A}"/>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10</a:t>
            </a:fld>
            <a:endParaRPr lang="en-US"/>
          </a:p>
        </p:txBody>
      </p:sp>
      <p:grpSp>
        <p:nvGrpSpPr>
          <p:cNvPr id="4" name="Group 3">
            <a:extLst>
              <a:ext uri="{FF2B5EF4-FFF2-40B4-BE49-F238E27FC236}">
                <a16:creationId xmlns:a16="http://schemas.microsoft.com/office/drawing/2014/main" id="{8AFBC65F-19A4-4366-2312-8DF22396B0AB}"/>
              </a:ext>
            </a:extLst>
          </p:cNvPr>
          <p:cNvGrpSpPr/>
          <p:nvPr/>
        </p:nvGrpSpPr>
        <p:grpSpPr>
          <a:xfrm rot="5400000">
            <a:off x="1525052" y="3916419"/>
            <a:ext cx="1352050" cy="2768603"/>
            <a:chOff x="-1375378" y="3751875"/>
            <a:chExt cx="1352050" cy="2768603"/>
          </a:xfrm>
        </p:grpSpPr>
        <p:sp>
          <p:nvSpPr>
            <p:cNvPr id="5" name="Rounded Rectangle 6">
              <a:extLst>
                <a:ext uri="{FF2B5EF4-FFF2-40B4-BE49-F238E27FC236}">
                  <a16:creationId xmlns:a16="http://schemas.microsoft.com/office/drawing/2014/main" id="{5CCB63B7-0985-96B1-7802-63779201BBE6}"/>
                </a:ext>
              </a:extLst>
            </p:cNvPr>
            <p:cNvSpPr/>
            <p:nvPr/>
          </p:nvSpPr>
          <p:spPr>
            <a:xfrm rot="16200000">
              <a:off x="-2090423" y="4466920"/>
              <a:ext cx="2768600" cy="1338509"/>
            </a:xfrm>
            <a:prstGeom prst="roundRect">
              <a:avLst>
                <a:gd name="adj" fmla="val 230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dirty="0"/>
            </a:p>
          </p:txBody>
        </p:sp>
        <p:sp>
          <p:nvSpPr>
            <p:cNvPr id="6" name="Text Placeholder 21">
              <a:extLst>
                <a:ext uri="{FF2B5EF4-FFF2-40B4-BE49-F238E27FC236}">
                  <a16:creationId xmlns:a16="http://schemas.microsoft.com/office/drawing/2014/main" id="{26B66EB0-F6D8-D016-2008-0FDC63D17BA9}"/>
                </a:ext>
              </a:extLst>
            </p:cNvPr>
            <p:cNvSpPr txBox="1">
              <a:spLocks/>
            </p:cNvSpPr>
            <p:nvPr/>
          </p:nvSpPr>
          <p:spPr>
            <a:xfrm rot="16200000">
              <a:off x="-1585024" y="4958783"/>
              <a:ext cx="2768601" cy="354790"/>
            </a:xfrm>
            <a:prstGeom prst="rect">
              <a:avLst/>
            </a:prstGeom>
          </p:spPr>
          <p:txBody>
            <a:bodyPr anchor="ct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JO" sz="1600" b="1" dirty="0">
                  <a:solidFill>
                    <a:schemeClr val="bg1"/>
                  </a:solidFill>
                </a:rPr>
                <a:t>مراحل دورة حياة البنية المؤسسية </a:t>
              </a:r>
            </a:p>
          </p:txBody>
        </p:sp>
      </p:grpSp>
      <p:sp>
        <p:nvSpPr>
          <p:cNvPr id="7" name="Rounded Rectangle 8">
            <a:extLst>
              <a:ext uri="{FF2B5EF4-FFF2-40B4-BE49-F238E27FC236}">
                <a16:creationId xmlns:a16="http://schemas.microsoft.com/office/drawing/2014/main" id="{23A7504D-DF6B-C102-9AB7-F1528FCF2719}"/>
              </a:ext>
            </a:extLst>
          </p:cNvPr>
          <p:cNvSpPr/>
          <p:nvPr/>
        </p:nvSpPr>
        <p:spPr>
          <a:xfrm>
            <a:off x="712830" y="879264"/>
            <a:ext cx="4465174" cy="4773805"/>
          </a:xfrm>
          <a:prstGeom prst="roundRect">
            <a:avLst>
              <a:gd name="adj" fmla="val 544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4E3C8212-5DEA-BBE9-2DAF-415FF000340C}"/>
              </a:ext>
            </a:extLst>
          </p:cNvPr>
          <p:cNvGrpSpPr/>
          <p:nvPr/>
        </p:nvGrpSpPr>
        <p:grpSpPr>
          <a:xfrm rot="16200000">
            <a:off x="9132822" y="-522442"/>
            <a:ext cx="1338509" cy="3465720"/>
            <a:chOff x="8792312" y="1282336"/>
            <a:chExt cx="1338509" cy="2768601"/>
          </a:xfrm>
        </p:grpSpPr>
        <p:sp>
          <p:nvSpPr>
            <p:cNvPr id="117" name="Rounded Rectangle 3">
              <a:extLst>
                <a:ext uri="{FF2B5EF4-FFF2-40B4-BE49-F238E27FC236}">
                  <a16:creationId xmlns:a16="http://schemas.microsoft.com/office/drawing/2014/main" id="{AD704607-AE28-2AA9-8CB0-456804995E2E}"/>
                </a:ext>
              </a:extLst>
            </p:cNvPr>
            <p:cNvSpPr/>
            <p:nvPr/>
          </p:nvSpPr>
          <p:spPr>
            <a:xfrm rot="5400000" flipH="1">
              <a:off x="8077267" y="1997383"/>
              <a:ext cx="2768599" cy="1338509"/>
            </a:xfrm>
            <a:prstGeom prst="roundRect">
              <a:avLst>
                <a:gd name="adj" fmla="val 230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dirty="0"/>
            </a:p>
          </p:txBody>
        </p:sp>
        <p:sp>
          <p:nvSpPr>
            <p:cNvPr id="118" name="Text Placeholder 21">
              <a:extLst>
                <a:ext uri="{FF2B5EF4-FFF2-40B4-BE49-F238E27FC236}">
                  <a16:creationId xmlns:a16="http://schemas.microsoft.com/office/drawing/2014/main" id="{D89D9927-B959-61EE-CC62-A298753A1CB1}"/>
                </a:ext>
              </a:extLst>
            </p:cNvPr>
            <p:cNvSpPr txBox="1">
              <a:spLocks/>
            </p:cNvSpPr>
            <p:nvPr/>
          </p:nvSpPr>
          <p:spPr>
            <a:xfrm rot="5400000" flipH="1">
              <a:off x="8564559" y="2489242"/>
              <a:ext cx="2768601" cy="354790"/>
            </a:xfrm>
            <a:prstGeom prst="rect">
              <a:avLst/>
            </a:prstGeom>
          </p:spPr>
          <p:txBody>
            <a:bodyPr lIns="0" rIns="0"/>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EG" sz="1200" b="1" dirty="0">
                  <a:solidFill>
                    <a:schemeClr val="bg1"/>
                  </a:solidFill>
                </a:rPr>
                <a:t> </a:t>
              </a:r>
              <a:r>
                <a:rPr lang="ar-EG" sz="1600" b="1" dirty="0">
                  <a:solidFill>
                    <a:schemeClr val="bg1"/>
                  </a:solidFill>
                </a:rPr>
                <a:t>المنهجية الوطنية للبنية المؤسسية  (</a:t>
              </a:r>
              <a:r>
                <a:rPr lang="en-US" sz="1600" b="1" dirty="0">
                  <a:solidFill>
                    <a:schemeClr val="bg1"/>
                  </a:solidFill>
                </a:rPr>
                <a:t>NORA</a:t>
              </a:r>
              <a:r>
                <a:rPr lang="ar-EG" sz="1600" b="1" dirty="0">
                  <a:solidFill>
                    <a:schemeClr val="bg1"/>
                  </a:solidFill>
                </a:rPr>
                <a:t>)</a:t>
              </a:r>
              <a:r>
                <a:rPr lang="en-US" sz="1600" b="1" dirty="0">
                  <a:solidFill>
                    <a:schemeClr val="bg1"/>
                  </a:solidFill>
                </a:rPr>
                <a:t> </a:t>
              </a:r>
            </a:p>
          </p:txBody>
        </p:sp>
      </p:grpSp>
      <p:sp>
        <p:nvSpPr>
          <p:cNvPr id="119" name="Rounded Rectangle 5">
            <a:extLst>
              <a:ext uri="{FF2B5EF4-FFF2-40B4-BE49-F238E27FC236}">
                <a16:creationId xmlns:a16="http://schemas.microsoft.com/office/drawing/2014/main" id="{8B2C23D4-CB6B-AC9A-CBFC-A4771332F633}"/>
              </a:ext>
            </a:extLst>
          </p:cNvPr>
          <p:cNvSpPr/>
          <p:nvPr/>
        </p:nvSpPr>
        <p:spPr>
          <a:xfrm flipH="1">
            <a:off x="5363514" y="879264"/>
            <a:ext cx="6173158" cy="5083942"/>
          </a:xfrm>
          <a:prstGeom prst="roundRect">
            <a:avLst>
              <a:gd name="adj" fmla="val 3929"/>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0" name="Rectangle 119">
            <a:extLst>
              <a:ext uri="{FF2B5EF4-FFF2-40B4-BE49-F238E27FC236}">
                <a16:creationId xmlns:a16="http://schemas.microsoft.com/office/drawing/2014/main" id="{374729B7-4A7E-D1AB-2C27-71E969755CA2}"/>
              </a:ext>
            </a:extLst>
          </p:cNvPr>
          <p:cNvSpPr/>
          <p:nvPr/>
        </p:nvSpPr>
        <p:spPr>
          <a:xfrm>
            <a:off x="5500295" y="1151770"/>
            <a:ext cx="5978875" cy="1077218"/>
          </a:xfrm>
          <a:prstGeom prst="rect">
            <a:avLst/>
          </a:prstGeom>
        </p:spPr>
        <p:txBody>
          <a:bodyPr wrap="square">
            <a:spAutoFit/>
          </a:bodyPr>
          <a:lstStyle/>
          <a:p>
            <a:pPr algn="just" rtl="1">
              <a:spcAft>
                <a:spcPts val="1560"/>
              </a:spcAft>
            </a:pPr>
            <a:r>
              <a:rPr lang="ar-SA" sz="1600" b="1" dirty="0"/>
              <a:t>يأتي تطوير هيئة الحكومة الرقمية للمنهجية الوطنية للبنية المؤسسية ضمن جهود الهيئة المتماشية مع أهداف رؤية 2030، للقطاع الحكومي حيث تعمل المنهجية على مساعدة الجهات الحكومية على تطبيق البنية المؤسسية بطريقة ميسرة ووفق مراحل وخطوات تضمن الحوكمة الجيدة في التطبيق والتوافق مع العمل الحكومي.</a:t>
            </a:r>
          </a:p>
        </p:txBody>
      </p:sp>
      <p:sp>
        <p:nvSpPr>
          <p:cNvPr id="121" name="Rectangle 120">
            <a:extLst>
              <a:ext uri="{FF2B5EF4-FFF2-40B4-BE49-F238E27FC236}">
                <a16:creationId xmlns:a16="http://schemas.microsoft.com/office/drawing/2014/main" id="{3C0D5287-F546-0516-1EC7-1D5B7C7B61D2}"/>
              </a:ext>
            </a:extLst>
          </p:cNvPr>
          <p:cNvSpPr/>
          <p:nvPr/>
        </p:nvSpPr>
        <p:spPr>
          <a:xfrm>
            <a:off x="5600353" y="4065608"/>
            <a:ext cx="5878817" cy="338554"/>
          </a:xfrm>
          <a:prstGeom prst="rect">
            <a:avLst/>
          </a:prstGeom>
        </p:spPr>
        <p:txBody>
          <a:bodyPr wrap="square">
            <a:spAutoFit/>
          </a:bodyPr>
          <a:lstStyle/>
          <a:p>
            <a:pPr algn="just" rtl="1">
              <a:spcAft>
                <a:spcPts val="1560"/>
              </a:spcAft>
              <a:buClr>
                <a:srgbClr val="007580"/>
              </a:buClr>
              <a:buSzPts val="1200"/>
            </a:pPr>
            <a:r>
              <a:rPr lang="ar-SA" sz="1600" b="1" dirty="0"/>
              <a:t>وتتميز</a:t>
            </a:r>
            <a:r>
              <a:rPr lang="en-US" sz="1600" b="1" dirty="0"/>
              <a:t> </a:t>
            </a:r>
            <a:r>
              <a:rPr lang="ar-SA" sz="1600" b="1" dirty="0"/>
              <a:t>المنهجية الوطنية للبنية المؤسسية</a:t>
            </a:r>
            <a:r>
              <a:rPr lang="en-US" sz="1600" b="1" dirty="0"/>
              <a:t> (NORA) </a:t>
            </a:r>
            <a:r>
              <a:rPr lang="ar-SA" sz="1600" b="1" dirty="0"/>
              <a:t>عن باقي المنهجيات بأنها</a:t>
            </a:r>
            <a:r>
              <a:rPr lang="en-US" sz="1600" b="1" dirty="0"/>
              <a:t>: ​</a:t>
            </a:r>
            <a:endParaRPr lang="ar-SA" sz="1600" b="1" dirty="0"/>
          </a:p>
        </p:txBody>
      </p:sp>
      <p:sp>
        <p:nvSpPr>
          <p:cNvPr id="122" name="Content Placeholder 3">
            <a:extLst>
              <a:ext uri="{FF2B5EF4-FFF2-40B4-BE49-F238E27FC236}">
                <a16:creationId xmlns:a16="http://schemas.microsoft.com/office/drawing/2014/main" id="{C3AE6AB6-8963-829C-CB4D-630A8B7B6CCB}"/>
              </a:ext>
            </a:extLst>
          </p:cNvPr>
          <p:cNvSpPr txBox="1">
            <a:spLocks/>
          </p:cNvSpPr>
          <p:nvPr/>
        </p:nvSpPr>
        <p:spPr>
          <a:xfrm>
            <a:off x="5600353" y="4448565"/>
            <a:ext cx="5878817" cy="1288734"/>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spcBef>
                <a:spcPts val="0"/>
              </a:spcBef>
              <a:spcAft>
                <a:spcPts val="600"/>
              </a:spcAft>
              <a:buClr>
                <a:schemeClr val="accent1"/>
              </a:buClr>
              <a:buSzPts val="1200"/>
            </a:pPr>
            <a:r>
              <a:rPr lang="ar-SA" sz="1400" dirty="0">
                <a:ea typeface="Sakkal Majalla" panose="02000000000000000000" pitchFamily="2" charset="-78"/>
              </a:rPr>
              <a:t>بنيت كدليل لبناء وتطوير البنية المؤسسية بما يلائم احتياجات وتطلعات الجهات الحكومية .</a:t>
            </a:r>
          </a:p>
          <a:p>
            <a:pPr marL="285750" indent="-285750" algn="just">
              <a:spcBef>
                <a:spcPts val="0"/>
              </a:spcBef>
              <a:spcAft>
                <a:spcPts val="600"/>
              </a:spcAft>
              <a:buClr>
                <a:schemeClr val="accent1"/>
              </a:buClr>
              <a:buSzPts val="1200"/>
            </a:pPr>
            <a:r>
              <a:rPr lang="ar-SA" sz="1400" dirty="0">
                <a:ea typeface="Sakkal Majalla" panose="02000000000000000000" pitchFamily="2" charset="-78"/>
              </a:rPr>
              <a:t>وصفت جميع مراحل دورة حياة البنية المؤسسية بتفصيل مع توفير أمثلة ونماذج توضيحية للمخرجات في كل مراحلها لمساعدة الجهات الحكومية لفهم أفضل .</a:t>
            </a:r>
          </a:p>
          <a:p>
            <a:pPr marL="285750" indent="-285750" algn="just">
              <a:spcBef>
                <a:spcPts val="0"/>
              </a:spcBef>
              <a:spcAft>
                <a:spcPts val="600"/>
              </a:spcAft>
              <a:buClr>
                <a:schemeClr val="accent1"/>
              </a:buClr>
              <a:buSzPts val="1200"/>
            </a:pPr>
            <a:r>
              <a:rPr lang="ar-SA" sz="1400" dirty="0">
                <a:ea typeface="Sakkal Majalla" panose="02000000000000000000" pitchFamily="2" charset="-78"/>
              </a:rPr>
              <a:t>نهج متوازن في بناء البنية المؤسسية التي تركز على كل من الإجراءات وتكاملها مع البنية المؤسسية وبناء المخرجات المطلوبة .</a:t>
            </a:r>
            <a:endParaRPr lang="en-US" sz="1400" dirty="0">
              <a:ea typeface="Sakkal Majalla" panose="02000000000000000000" pitchFamily="2" charset="-78"/>
            </a:endParaRPr>
          </a:p>
        </p:txBody>
      </p:sp>
      <p:sp>
        <p:nvSpPr>
          <p:cNvPr id="123" name="Content Placeholder 3">
            <a:extLst>
              <a:ext uri="{FF2B5EF4-FFF2-40B4-BE49-F238E27FC236}">
                <a16:creationId xmlns:a16="http://schemas.microsoft.com/office/drawing/2014/main" id="{5DB4A70D-D51F-38C9-B0B3-F75A2854A0E6}"/>
              </a:ext>
            </a:extLst>
          </p:cNvPr>
          <p:cNvSpPr txBox="1">
            <a:spLocks/>
          </p:cNvSpPr>
          <p:nvPr/>
        </p:nvSpPr>
        <p:spPr>
          <a:xfrm>
            <a:off x="5600353" y="2257748"/>
            <a:ext cx="5878817" cy="1839734"/>
          </a:xfrm>
          <a:prstGeom prst="rect">
            <a:avLst/>
          </a:prstGeom>
        </p:spPr>
        <p:txBody>
          <a:bodyPr>
            <a:sp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spcAft>
                <a:spcPts val="1200"/>
              </a:spcAft>
              <a:buNone/>
            </a:pPr>
            <a:r>
              <a:rPr lang="ar-SA" sz="1400" b="1" dirty="0"/>
              <a:t>تهدف</a:t>
            </a:r>
            <a:r>
              <a:rPr lang="en-US" sz="1400" b="1" dirty="0"/>
              <a:t> </a:t>
            </a:r>
            <a:r>
              <a:rPr lang="ar-SA" sz="1400" b="1" dirty="0"/>
              <a:t>المنهجية الوطنية للبنية المؤسسية</a:t>
            </a:r>
            <a:r>
              <a:rPr lang="en-US" sz="1400" b="1" dirty="0"/>
              <a:t> (NORA) </a:t>
            </a:r>
            <a:r>
              <a:rPr lang="ar-SA" sz="1400" b="1" dirty="0"/>
              <a:t>بشكل عام إلى</a:t>
            </a:r>
            <a:r>
              <a:rPr lang="en-US" sz="1400" b="1" dirty="0"/>
              <a:t>:</a:t>
            </a:r>
            <a:endParaRPr lang="ar-SA" sz="1400" b="1" dirty="0"/>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تحديد نطاق ومتطلبات البنية المؤسسية في الجهات الحكومية ومساعدة الجهات الحكومية لتطبيق البنية المؤسسية على نحو سلس وفعال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ضمان كفاءة وجودة البنية المؤسسية ومخرجاتها بالجهة الحكومية من خلال عمليات وتوصيات متسقة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مواءمة توجهات وأهداف البنية المؤسسية بالجهة الحكومية مع البنية المؤسسية الوطنية والخطط التنفيذية الوطنية لدعم التوجه الحكومي نحو التحول الرقمي بشكل أشمل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تسهيل استخدام البنية المؤسسية وتعزيز توعية وبناء القدرات في الجهات الحكومية .</a:t>
            </a:r>
          </a:p>
        </p:txBody>
      </p:sp>
      <p:pic>
        <p:nvPicPr>
          <p:cNvPr id="8" name="Picture 7">
            <a:extLst>
              <a:ext uri="{FF2B5EF4-FFF2-40B4-BE49-F238E27FC236}">
                <a16:creationId xmlns:a16="http://schemas.microsoft.com/office/drawing/2014/main" id="{E47370D8-F957-4BA6-A5F0-9AEC0457F217}"/>
              </a:ext>
            </a:extLst>
          </p:cNvPr>
          <p:cNvPicPr>
            <a:picLocks noChangeAspect="1"/>
          </p:cNvPicPr>
          <p:nvPr/>
        </p:nvPicPr>
        <p:blipFill>
          <a:blip r:embed="rId2"/>
          <a:stretch>
            <a:fillRect/>
          </a:stretch>
        </p:blipFill>
        <p:spPr>
          <a:xfrm>
            <a:off x="711095" y="879263"/>
            <a:ext cx="4466910" cy="4432555"/>
          </a:xfrm>
          <a:prstGeom prst="rect">
            <a:avLst/>
          </a:prstGeom>
        </p:spPr>
      </p:pic>
    </p:spTree>
    <p:extLst>
      <p:ext uri="{BB962C8B-B14F-4D97-AF65-F5344CB8AC3E}">
        <p14:creationId xmlns:p14="http://schemas.microsoft.com/office/powerpoint/2010/main" val="86846576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95A1-7E11-BD74-F224-279E6769BF8C}"/>
              </a:ext>
            </a:extLst>
          </p:cNvPr>
          <p:cNvSpPr>
            <a:spLocks noGrp="1"/>
          </p:cNvSpPr>
          <p:nvPr>
            <p:ph type="title"/>
          </p:nvPr>
        </p:nvSpPr>
        <p:spPr>
          <a:xfrm>
            <a:off x="609601" y="561078"/>
            <a:ext cx="10972800" cy="666261"/>
          </a:xfrm>
        </p:spPr>
        <p:txBody>
          <a:bodyPr/>
          <a:lstStyle/>
          <a:p>
            <a:r>
              <a:rPr lang="ar-SA" dirty="0"/>
              <a:t>المنهجية الوطنية للبنية المؤسسية</a:t>
            </a:r>
            <a:endParaRPr lang="en-US" dirty="0"/>
          </a:p>
        </p:txBody>
      </p:sp>
      <p:sp>
        <p:nvSpPr>
          <p:cNvPr id="3" name="Slide Number Placeholder 2">
            <a:extLst>
              <a:ext uri="{FF2B5EF4-FFF2-40B4-BE49-F238E27FC236}">
                <a16:creationId xmlns:a16="http://schemas.microsoft.com/office/drawing/2014/main" id="{9D87945A-D0A8-6623-F55D-31A928706A73}"/>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11</a:t>
            </a:fld>
            <a:endParaRPr lang="en-US"/>
          </a:p>
        </p:txBody>
      </p:sp>
      <p:grpSp>
        <p:nvGrpSpPr>
          <p:cNvPr id="12" name="Group 11">
            <a:extLst>
              <a:ext uri="{FF2B5EF4-FFF2-40B4-BE49-F238E27FC236}">
                <a16:creationId xmlns:a16="http://schemas.microsoft.com/office/drawing/2014/main" id="{F1C1EB75-5B12-8FDE-AE9C-7A34348688B7}"/>
              </a:ext>
            </a:extLst>
          </p:cNvPr>
          <p:cNvGrpSpPr>
            <a:grpSpLocks noChangeAspect="1"/>
          </p:cNvGrpSpPr>
          <p:nvPr/>
        </p:nvGrpSpPr>
        <p:grpSpPr>
          <a:xfrm>
            <a:off x="609600" y="1512472"/>
            <a:ext cx="10972800" cy="4553430"/>
            <a:chOff x="308540" y="1315653"/>
            <a:chExt cx="11864677" cy="4815876"/>
          </a:xfrm>
        </p:grpSpPr>
        <p:pic>
          <p:nvPicPr>
            <p:cNvPr id="8" name="Picture 7">
              <a:extLst>
                <a:ext uri="{FF2B5EF4-FFF2-40B4-BE49-F238E27FC236}">
                  <a16:creationId xmlns:a16="http://schemas.microsoft.com/office/drawing/2014/main" id="{8A0065AA-0576-0B6E-728D-7AF08E98F6F5}"/>
                </a:ext>
              </a:extLst>
            </p:cNvPr>
            <p:cNvPicPr>
              <a:picLocks noChangeAspect="1"/>
            </p:cNvPicPr>
            <p:nvPr/>
          </p:nvPicPr>
          <p:blipFill>
            <a:blip r:embed="rId2"/>
            <a:stretch>
              <a:fillRect/>
            </a:stretch>
          </p:blipFill>
          <p:spPr>
            <a:xfrm>
              <a:off x="401592" y="1514287"/>
              <a:ext cx="11384632" cy="4497783"/>
            </a:xfrm>
            <a:prstGeom prst="rect">
              <a:avLst/>
            </a:prstGeom>
          </p:spPr>
        </p:pic>
        <p:sp>
          <p:nvSpPr>
            <p:cNvPr id="9" name="Rectangle 8">
              <a:extLst>
                <a:ext uri="{FF2B5EF4-FFF2-40B4-BE49-F238E27FC236}">
                  <a16:creationId xmlns:a16="http://schemas.microsoft.com/office/drawing/2014/main" id="{952F7DD3-A1BD-D424-E318-64E68B4A8981}"/>
                </a:ext>
              </a:extLst>
            </p:cNvPr>
            <p:cNvSpPr/>
            <p:nvPr/>
          </p:nvSpPr>
          <p:spPr>
            <a:xfrm>
              <a:off x="308540" y="5716402"/>
              <a:ext cx="420736" cy="4151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B48730-8BBC-D03E-C7F1-3ABE4A8EFCF1}"/>
                </a:ext>
              </a:extLst>
            </p:cNvPr>
            <p:cNvSpPr/>
            <p:nvPr/>
          </p:nvSpPr>
          <p:spPr>
            <a:xfrm>
              <a:off x="11752481" y="1315653"/>
              <a:ext cx="420736" cy="7853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487033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3123A6-2788-35E0-1F46-C1842E8430A4}"/>
              </a:ext>
            </a:extLst>
          </p:cNvPr>
          <p:cNvSpPr>
            <a:spLocks noGrp="1"/>
          </p:cNvSpPr>
          <p:nvPr>
            <p:ph type="title"/>
          </p:nvPr>
        </p:nvSpPr>
        <p:spPr/>
        <p:txBody>
          <a:bodyPr/>
          <a:lstStyle/>
          <a:p>
            <a:r>
              <a:rPr lang="ar-SA" dirty="0"/>
              <a:t>مجالات البنية المؤسسية في إطار (</a:t>
            </a:r>
            <a:r>
              <a:rPr lang="en-US" dirty="0"/>
              <a:t>NORA</a:t>
            </a:r>
            <a:r>
              <a:rPr lang="ar-SA" dirty="0"/>
              <a:t>)</a:t>
            </a:r>
            <a:endParaRPr lang="en-GB" dirty="0"/>
          </a:p>
        </p:txBody>
      </p:sp>
      <p:sp>
        <p:nvSpPr>
          <p:cNvPr id="3" name="Slide Number Placeholder 2">
            <a:extLst>
              <a:ext uri="{FF2B5EF4-FFF2-40B4-BE49-F238E27FC236}">
                <a16:creationId xmlns:a16="http://schemas.microsoft.com/office/drawing/2014/main" id="{2ABD91AB-0DD6-6360-4F15-0DAAC1561018}"/>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12</a:t>
            </a:fld>
            <a:endParaRPr lang="en-US"/>
          </a:p>
        </p:txBody>
      </p:sp>
      <p:pic>
        <p:nvPicPr>
          <p:cNvPr id="7" name="Picture 6" descr="A diagram of a diagram&#10;&#10;Description automatically generated with medium confidence">
            <a:extLst>
              <a:ext uri="{FF2B5EF4-FFF2-40B4-BE49-F238E27FC236}">
                <a16:creationId xmlns:a16="http://schemas.microsoft.com/office/drawing/2014/main" id="{5BA24564-56AC-46E1-B149-2F1EA5E3E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475" y="1076632"/>
            <a:ext cx="10293050" cy="4744065"/>
          </a:xfrm>
          <a:prstGeom prst="rect">
            <a:avLst/>
          </a:prstGeom>
        </p:spPr>
      </p:pic>
    </p:spTree>
    <p:extLst>
      <p:ext uri="{BB962C8B-B14F-4D97-AF65-F5344CB8AC3E}">
        <p14:creationId xmlns:p14="http://schemas.microsoft.com/office/powerpoint/2010/main" val="38397623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184560"/>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المشهد العام للنموذج</a:t>
            </a:r>
            <a:r>
              <a:rPr lang="en-US" dirty="0"/>
              <a:t> </a:t>
            </a:r>
            <a:r>
              <a:rPr lang="ar-SA" dirty="0"/>
              <a:t>العام لمكونات البنية المؤسسية</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5945814"/>
            <a:ext cx="437375" cy="320040"/>
          </a:xfrm>
        </p:spPr>
        <p:txBody>
          <a:bodyPr/>
          <a:lstStyle/>
          <a:p>
            <a:pPr>
              <a:spcAft>
                <a:spcPts val="600"/>
              </a:spcAft>
            </a:pPr>
            <a:fld id="{0BE4EC83-A869-464E-AE9F-881796FB085E}" type="slidenum">
              <a:rPr lang="en-US" smtClean="0"/>
              <a:pPr>
                <a:spcAft>
                  <a:spcPts val="600"/>
                </a:spcAft>
              </a:pPr>
              <a:t>13</a:t>
            </a:fld>
            <a:endParaRPr lang="en-US"/>
          </a:p>
        </p:txBody>
      </p:sp>
      <p:pic>
        <p:nvPicPr>
          <p:cNvPr id="5" name="Picture 4">
            <a:extLst>
              <a:ext uri="{FF2B5EF4-FFF2-40B4-BE49-F238E27FC236}">
                <a16:creationId xmlns:a16="http://schemas.microsoft.com/office/drawing/2014/main" id="{7E74B947-8C78-8450-7972-46A69BE2D074}"/>
              </a:ext>
            </a:extLst>
          </p:cNvPr>
          <p:cNvPicPr>
            <a:picLocks noChangeAspect="1"/>
          </p:cNvPicPr>
          <p:nvPr/>
        </p:nvPicPr>
        <p:blipFill>
          <a:blip r:embed="rId3"/>
          <a:stretch>
            <a:fillRect/>
          </a:stretch>
        </p:blipFill>
        <p:spPr>
          <a:xfrm>
            <a:off x="621452" y="682775"/>
            <a:ext cx="10949096" cy="5730949"/>
          </a:xfrm>
          <a:prstGeom prst="rect">
            <a:avLst/>
          </a:prstGeom>
        </p:spPr>
      </p:pic>
    </p:spTree>
    <p:extLst>
      <p:ext uri="{BB962C8B-B14F-4D97-AF65-F5344CB8AC3E}">
        <p14:creationId xmlns:p14="http://schemas.microsoft.com/office/powerpoint/2010/main" val="2964792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أهمية</a:t>
            </a:r>
            <a:r>
              <a:rPr lang="ar-SA" dirty="0"/>
              <a:t> النموذج العام لمكونات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a:bodyPr>
          <a:lstStyle/>
          <a:p>
            <a:pPr algn="r" rtl="1">
              <a:lnSpc>
                <a:spcPct val="150000"/>
              </a:lnSpc>
              <a:spcAft>
                <a:spcPts val="1200"/>
              </a:spcAft>
            </a:pPr>
            <a:r>
              <a:rPr lang="ar-EG" sz="2400" dirty="0"/>
              <a:t>يمثل النموذج العام (</a:t>
            </a:r>
            <a:r>
              <a:rPr lang="en-US" sz="2400" dirty="0"/>
              <a:t>Metamodel</a:t>
            </a:r>
            <a:r>
              <a:rPr lang="ar-EG" sz="2400" dirty="0"/>
              <a:t>) لمكونات البنية المؤسسية حجر أساس لممارسة البنية المؤسسية في الهيئة؛ حيث يهدف الى تحديد وحدات البناء اللازمة لتوثيق وتطوير مكونات البنية المؤسسية لدى الهيئة، كما يعتبر مرجع يُستخدم في بناء مناظير البنية المؤسسية.</a:t>
            </a:r>
          </a:p>
        </p:txBody>
      </p:sp>
    </p:spTree>
    <p:extLst>
      <p:ext uri="{BB962C8B-B14F-4D97-AF65-F5344CB8AC3E}">
        <p14:creationId xmlns:p14="http://schemas.microsoft.com/office/powerpoint/2010/main" val="39365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15</a:t>
            </a:fld>
            <a:endParaRPr lang="en-US"/>
          </a:p>
        </p:txBody>
      </p:sp>
      <p:graphicFrame>
        <p:nvGraphicFramePr>
          <p:cNvPr id="4" name="Content Placeholder 5"/>
          <p:cNvGraphicFramePr>
            <a:graphicFrameLocks/>
          </p:cNvGraphicFramePr>
          <p:nvPr/>
        </p:nvGraphicFramePr>
        <p:xfrm>
          <a:off x="1793240" y="1503578"/>
          <a:ext cx="8605520" cy="3355618"/>
        </p:xfrm>
        <a:graphic>
          <a:graphicData uri="http://schemas.openxmlformats.org/drawingml/2006/table">
            <a:tbl>
              <a:tblPr rtl="1" firstRow="1" bandRow="1">
                <a:tableStyleId>{5C22544A-7EE6-4342-B048-85BDC9FD1C3A}</a:tableStyleId>
              </a:tblPr>
              <a:tblGrid>
                <a:gridCol w="8605520">
                  <a:extLst>
                    <a:ext uri="{9D8B030D-6E8A-4147-A177-3AD203B41FA5}">
                      <a16:colId xmlns:a16="http://schemas.microsoft.com/office/drawing/2014/main" val="2225789071"/>
                    </a:ext>
                  </a:extLst>
                </a:gridCol>
              </a:tblGrid>
              <a:tr h="987885">
                <a:tc>
                  <a:txBody>
                    <a:bodyPr/>
                    <a:lstStyle/>
                    <a:p>
                      <a:pPr algn="ctr"/>
                      <a:r>
                        <a:rPr lang="ar-EG" sz="2400" baseline="0" dirty="0">
                          <a:latin typeface="Sakkal Majalla" panose="02000000000000000000" pitchFamily="2" charset="-78"/>
                          <a:cs typeface="Sakkal Majalla" panose="02000000000000000000" pitchFamily="2" charset="-78"/>
                        </a:rPr>
                        <a:t>يتم الاستفادة من بناء النموذج العام لمكونات البنية المؤسسية في توثيق وتطوير مكونات البنية المؤسسية الخاصة بالهيئة، كما يهدف الى:</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3560484865"/>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توضيح العلاقات بين مكونات البنية المؤسسية التي تنتمي لنفس المجال ومع المكونات الأخرى التابعة لمجالات البنية المؤسسية الأخرى</a:t>
                      </a: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دعم أعمال تهيئة أداة البنية المؤسسية (</a:t>
                      </a:r>
                      <a:r>
                        <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EA Tool</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وتسريع رقمنة أعمال ممارسة البنية المؤسسية</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النموذج العام لمكونات البنية المؤسسية</a:t>
            </a:r>
          </a:p>
        </p:txBody>
      </p:sp>
    </p:spTree>
    <p:extLst>
      <p:ext uri="{BB962C8B-B14F-4D97-AF65-F5344CB8AC3E}">
        <p14:creationId xmlns:p14="http://schemas.microsoft.com/office/powerpoint/2010/main" val="29275691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05968-5AB6-AA4D-7C01-ABC436FE987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8B1C64-EF64-5065-6B3E-5489D8A7025E}"/>
              </a:ext>
            </a:extLst>
          </p:cNvPr>
          <p:cNvSpPr>
            <a:spLocks noGrp="1"/>
          </p:cNvSpPr>
          <p:nvPr>
            <p:ph type="title"/>
          </p:nvPr>
        </p:nvSpPr>
        <p:spPr>
          <a:xfrm>
            <a:off x="5928634" y="3925452"/>
            <a:ext cx="5615666" cy="641639"/>
          </a:xfrm>
        </p:spPr>
        <p:txBody>
          <a:bodyPr/>
          <a:lstStyle/>
          <a:p>
            <a:r>
              <a:rPr lang="ar-SA" dirty="0"/>
              <a:t>رحلة تأسيس ممارسة البنية المؤسسية</a:t>
            </a:r>
            <a:endParaRPr lang="en-US" dirty="0"/>
          </a:p>
        </p:txBody>
      </p:sp>
      <p:sp>
        <p:nvSpPr>
          <p:cNvPr id="4" name="Text Placeholder 3">
            <a:extLst>
              <a:ext uri="{FF2B5EF4-FFF2-40B4-BE49-F238E27FC236}">
                <a16:creationId xmlns:a16="http://schemas.microsoft.com/office/drawing/2014/main" id="{56B726C8-3E06-5888-AD91-4C4A68DE64E1}"/>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353201B0-9187-C5BE-9702-628112F02803}"/>
              </a:ext>
            </a:extLst>
          </p:cNvPr>
          <p:cNvSpPr>
            <a:spLocks noGrp="1"/>
          </p:cNvSpPr>
          <p:nvPr>
            <p:ph type="body" sz="quarter" idx="14"/>
          </p:nvPr>
        </p:nvSpPr>
        <p:spPr>
          <a:xfrm>
            <a:off x="9601626" y="2343256"/>
            <a:ext cx="1942674" cy="1181919"/>
          </a:xfrm>
        </p:spPr>
        <p:txBody>
          <a:bodyPr/>
          <a:lstStyle/>
          <a:p>
            <a:r>
              <a:rPr lang="ar-SA" dirty="0"/>
              <a:t>03</a:t>
            </a:r>
            <a:endParaRPr lang="en-GB" dirty="0"/>
          </a:p>
        </p:txBody>
      </p:sp>
    </p:spTree>
    <p:extLst>
      <p:ext uri="{BB962C8B-B14F-4D97-AF65-F5344CB8AC3E}">
        <p14:creationId xmlns:p14="http://schemas.microsoft.com/office/powerpoint/2010/main" val="111655888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3EE9-5435-36AD-0598-B88787567C9A}"/>
              </a:ext>
            </a:extLst>
          </p:cNvPr>
          <p:cNvSpPr>
            <a:spLocks noGrp="1"/>
          </p:cNvSpPr>
          <p:nvPr>
            <p:ph type="title"/>
          </p:nvPr>
        </p:nvSpPr>
        <p:spPr>
          <a:xfrm>
            <a:off x="609601" y="561078"/>
            <a:ext cx="10972800" cy="666261"/>
          </a:xfrm>
        </p:spPr>
        <p:txBody>
          <a:bodyPr/>
          <a:lstStyle/>
          <a:p>
            <a:r>
              <a:rPr lang="ar-SA" dirty="0"/>
              <a:t>رحلة تأسيس ممارسة البنية المؤسسية </a:t>
            </a:r>
            <a:endParaRPr lang="en-US" dirty="0"/>
          </a:p>
        </p:txBody>
      </p:sp>
      <p:sp>
        <p:nvSpPr>
          <p:cNvPr id="3" name="Slide Number Placeholder 2">
            <a:extLst>
              <a:ext uri="{FF2B5EF4-FFF2-40B4-BE49-F238E27FC236}">
                <a16:creationId xmlns:a16="http://schemas.microsoft.com/office/drawing/2014/main" id="{78523782-B150-3E64-46FC-74DF9F06C8A1}"/>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17</a:t>
            </a:fld>
            <a:endParaRPr lang="en-US"/>
          </a:p>
        </p:txBody>
      </p:sp>
      <p:grpSp>
        <p:nvGrpSpPr>
          <p:cNvPr id="8" name="Group 7">
            <a:extLst>
              <a:ext uri="{FF2B5EF4-FFF2-40B4-BE49-F238E27FC236}">
                <a16:creationId xmlns:a16="http://schemas.microsoft.com/office/drawing/2014/main" id="{C0272A27-6BE2-01CA-D9FE-50F2C65F98FE}"/>
              </a:ext>
            </a:extLst>
          </p:cNvPr>
          <p:cNvGrpSpPr/>
          <p:nvPr/>
        </p:nvGrpSpPr>
        <p:grpSpPr>
          <a:xfrm>
            <a:off x="1058827" y="1434091"/>
            <a:ext cx="10113141" cy="4717344"/>
            <a:chOff x="860612" y="1335876"/>
            <a:chExt cx="10556704" cy="4924247"/>
          </a:xfrm>
        </p:grpSpPr>
        <p:pic>
          <p:nvPicPr>
            <p:cNvPr id="5" name="Picture 4">
              <a:extLst>
                <a:ext uri="{FF2B5EF4-FFF2-40B4-BE49-F238E27FC236}">
                  <a16:creationId xmlns:a16="http://schemas.microsoft.com/office/drawing/2014/main" id="{DA81B956-60C3-069E-71AE-E1902C7D98E1}"/>
                </a:ext>
              </a:extLst>
            </p:cNvPr>
            <p:cNvPicPr>
              <a:picLocks noChangeAspect="1"/>
            </p:cNvPicPr>
            <p:nvPr/>
          </p:nvPicPr>
          <p:blipFill>
            <a:blip r:embed="rId2"/>
            <a:stretch>
              <a:fillRect/>
            </a:stretch>
          </p:blipFill>
          <p:spPr>
            <a:xfrm>
              <a:off x="943978" y="1335876"/>
              <a:ext cx="10473338" cy="4879369"/>
            </a:xfrm>
            <a:prstGeom prst="rect">
              <a:avLst/>
            </a:prstGeom>
          </p:spPr>
        </p:pic>
        <p:sp>
          <p:nvSpPr>
            <p:cNvPr id="6" name="Rectangle: Rounded Corners 5">
              <a:extLst>
                <a:ext uri="{FF2B5EF4-FFF2-40B4-BE49-F238E27FC236}">
                  <a16:creationId xmlns:a16="http://schemas.microsoft.com/office/drawing/2014/main" id="{4E8EBFB4-61F0-FD93-D38E-57C80C07D0CA}"/>
                </a:ext>
              </a:extLst>
            </p:cNvPr>
            <p:cNvSpPr/>
            <p:nvPr/>
          </p:nvSpPr>
          <p:spPr>
            <a:xfrm>
              <a:off x="860612" y="6062702"/>
              <a:ext cx="321028" cy="197421"/>
            </a:xfrm>
            <a:prstGeom prst="roundRect">
              <a:avLst>
                <a:gd name="adj" fmla="val 2326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972743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BF106B-3056-3C0F-AE70-FDA2BBB431E1}"/>
              </a:ext>
            </a:extLst>
          </p:cNvPr>
          <p:cNvSpPr>
            <a:spLocks noGrp="1"/>
          </p:cNvSpPr>
          <p:nvPr>
            <p:ph type="title"/>
          </p:nvPr>
        </p:nvSpPr>
        <p:spPr/>
        <p:txBody>
          <a:bodyPr/>
          <a:lstStyle/>
          <a:p>
            <a:r>
              <a:rPr lang="ar-SA" dirty="0"/>
              <a:t>تأسيس ممارسة البنية المؤسسية</a:t>
            </a:r>
            <a:endParaRPr lang="en-GB" dirty="0"/>
          </a:p>
        </p:txBody>
      </p:sp>
      <p:sp>
        <p:nvSpPr>
          <p:cNvPr id="3" name="Slide Number Placeholder 2">
            <a:extLst>
              <a:ext uri="{FF2B5EF4-FFF2-40B4-BE49-F238E27FC236}">
                <a16:creationId xmlns:a16="http://schemas.microsoft.com/office/drawing/2014/main" id="{D24B0004-5393-F379-4D4F-0B802C9B5F65}"/>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18</a:t>
            </a:fld>
            <a:endParaRPr lang="en-US"/>
          </a:p>
        </p:txBody>
      </p:sp>
      <p:pic>
        <p:nvPicPr>
          <p:cNvPr id="9" name="Picture 8" descr="A circular diagram with different colors and text&#10;&#10;AI-generated content may be incorrect.">
            <a:extLst>
              <a:ext uri="{FF2B5EF4-FFF2-40B4-BE49-F238E27FC236}">
                <a16:creationId xmlns:a16="http://schemas.microsoft.com/office/drawing/2014/main" id="{41D803EE-90A4-7802-B933-AF0F93C85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008" y="1339755"/>
            <a:ext cx="4845325" cy="4811113"/>
          </a:xfrm>
          <a:prstGeom prst="rect">
            <a:avLst/>
          </a:prstGeom>
        </p:spPr>
      </p:pic>
      <p:pic>
        <p:nvPicPr>
          <p:cNvPr id="13" name="Picture 12">
            <a:extLst>
              <a:ext uri="{FF2B5EF4-FFF2-40B4-BE49-F238E27FC236}">
                <a16:creationId xmlns:a16="http://schemas.microsoft.com/office/drawing/2014/main" id="{41A0EEF7-C8E1-5569-46BB-F599060B74F1}"/>
              </a:ext>
            </a:extLst>
          </p:cNvPr>
          <p:cNvPicPr>
            <a:picLocks noChangeAspect="1"/>
          </p:cNvPicPr>
          <p:nvPr/>
        </p:nvPicPr>
        <p:blipFill>
          <a:blip r:embed="rId3"/>
          <a:stretch>
            <a:fillRect/>
          </a:stretch>
        </p:blipFill>
        <p:spPr>
          <a:xfrm>
            <a:off x="7302650" y="2608230"/>
            <a:ext cx="3469342" cy="2274162"/>
          </a:xfrm>
          <a:prstGeom prst="rect">
            <a:avLst/>
          </a:prstGeom>
        </p:spPr>
      </p:pic>
    </p:spTree>
    <p:extLst>
      <p:ext uri="{BB962C8B-B14F-4D97-AF65-F5344CB8AC3E}">
        <p14:creationId xmlns:p14="http://schemas.microsoft.com/office/powerpoint/2010/main" val="130920781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20B38-21D6-C930-8B3D-5A238135764F}"/>
              </a:ext>
            </a:extLst>
          </p:cNvPr>
          <p:cNvSpPr>
            <a:spLocks noGrp="1"/>
          </p:cNvSpPr>
          <p:nvPr>
            <p:ph type="title"/>
          </p:nvPr>
        </p:nvSpPr>
        <p:spPr>
          <a:xfrm>
            <a:off x="609601" y="561078"/>
            <a:ext cx="10972800" cy="666261"/>
          </a:xfrm>
        </p:spPr>
        <p:txBody>
          <a:bodyPr/>
          <a:lstStyle/>
          <a:p>
            <a:r>
              <a:rPr lang="ar-SA" dirty="0"/>
              <a:t>مكونات الإطار الموحد للبنية المؤسسية</a:t>
            </a:r>
            <a:endParaRPr lang="en-US" dirty="0"/>
          </a:p>
        </p:txBody>
      </p:sp>
      <p:sp>
        <p:nvSpPr>
          <p:cNvPr id="3" name="Slide Number Placeholder 2">
            <a:extLst>
              <a:ext uri="{FF2B5EF4-FFF2-40B4-BE49-F238E27FC236}">
                <a16:creationId xmlns:a16="http://schemas.microsoft.com/office/drawing/2014/main" id="{218EBB85-4A76-C720-85D9-065FCAF57A40}"/>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19</a:t>
            </a:fld>
            <a:endParaRPr lang="en-US"/>
          </a:p>
        </p:txBody>
      </p:sp>
      <p:pic>
        <p:nvPicPr>
          <p:cNvPr id="7" name="Picture 6">
            <a:extLst>
              <a:ext uri="{FF2B5EF4-FFF2-40B4-BE49-F238E27FC236}">
                <a16:creationId xmlns:a16="http://schemas.microsoft.com/office/drawing/2014/main" id="{45F063A7-2BB3-E379-2ACA-0281F05B0898}"/>
              </a:ext>
            </a:extLst>
          </p:cNvPr>
          <p:cNvPicPr>
            <a:picLocks noChangeAspect="1"/>
          </p:cNvPicPr>
          <p:nvPr/>
        </p:nvPicPr>
        <p:blipFill>
          <a:blip r:embed="rId2"/>
          <a:stretch>
            <a:fillRect/>
          </a:stretch>
        </p:blipFill>
        <p:spPr>
          <a:xfrm>
            <a:off x="2001602" y="1276743"/>
            <a:ext cx="8188797" cy="4774101"/>
          </a:xfrm>
          <a:prstGeom prst="rect">
            <a:avLst/>
          </a:prstGeom>
        </p:spPr>
      </p:pic>
    </p:spTree>
    <p:extLst>
      <p:ext uri="{BB962C8B-B14F-4D97-AF65-F5344CB8AC3E}">
        <p14:creationId xmlns:p14="http://schemas.microsoft.com/office/powerpoint/2010/main" val="171516665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63F749AD-DD00-4B50-7E15-006B33913158}"/>
              </a:ext>
            </a:extLst>
          </p:cNvPr>
          <p:cNvSpPr/>
          <p:nvPr/>
        </p:nvSpPr>
        <p:spPr>
          <a:xfrm>
            <a:off x="6206985" y="1237759"/>
            <a:ext cx="4868552" cy="1034898"/>
          </a:xfrm>
          <a:prstGeom prst="rect">
            <a:avLst/>
          </a:prstGeom>
          <a:solidFill>
            <a:schemeClr val="bg1">
              <a:lumMod val="95000"/>
            </a:schemeClr>
          </a:solidFill>
          <a:ln>
            <a:solidFill>
              <a:srgbClr val="3FA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kkal Majalla" panose="02000000000000000000" pitchFamily="2" charset="-78"/>
              <a:cs typeface="Sakkal Majalla" panose="02000000000000000000" pitchFamily="2" charset="-78"/>
            </a:endParaRPr>
          </a:p>
        </p:txBody>
      </p:sp>
      <p:sp>
        <p:nvSpPr>
          <p:cNvPr id="3" name="Slide Number Placeholder 2"/>
          <p:cNvSpPr>
            <a:spLocks noGrp="1"/>
          </p:cNvSpPr>
          <p:nvPr>
            <p:ph type="sldNum" sz="quarter" idx="12"/>
          </p:nvPr>
        </p:nvSpPr>
        <p:spPr>
          <a:xfrm>
            <a:off x="622169" y="6371303"/>
            <a:ext cx="488875" cy="316185"/>
          </a:xfrm>
        </p:spPr>
        <p:txBody>
          <a:bodyPr/>
          <a:lstStyle/>
          <a:p>
            <a:fld id="{0BE4EC83-A869-464E-AE9F-881796FB085E}" type="slidenum">
              <a:rPr lang="en-US" smtClean="0">
                <a:latin typeface="Sakkal Majalla" panose="02000000000000000000" pitchFamily="2" charset="-78"/>
                <a:cs typeface="Sakkal Majalla" panose="02000000000000000000" pitchFamily="2" charset="-78"/>
              </a:rPr>
              <a:t>20</a:t>
            </a:fld>
            <a:endParaRPr lang="en-US">
              <a:latin typeface="Sakkal Majalla" panose="02000000000000000000" pitchFamily="2" charset="-78"/>
              <a:cs typeface="Sakkal Majalla" panose="02000000000000000000" pitchFamily="2" charset="-78"/>
            </a:endParaRPr>
          </a:p>
        </p:txBody>
      </p:sp>
      <p:sp>
        <p:nvSpPr>
          <p:cNvPr id="2" name="Title 1">
            <a:extLst>
              <a:ext uri="{FF2B5EF4-FFF2-40B4-BE49-F238E27FC236}">
                <a16:creationId xmlns:a16="http://schemas.microsoft.com/office/drawing/2014/main" id="{66E15D19-C4D2-CAA9-4AB0-1D02BFD0FDB8}"/>
              </a:ext>
            </a:extLst>
          </p:cNvPr>
          <p:cNvSpPr txBox="1">
            <a:spLocks/>
          </p:cNvSpPr>
          <p:nvPr/>
        </p:nvSpPr>
        <p:spPr>
          <a:xfrm>
            <a:off x="529848" y="356581"/>
            <a:ext cx="1083945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latin typeface="Sakkal Majalla" panose="02000000000000000000" pitchFamily="2" charset="-78"/>
                <a:cs typeface="Sakkal Majalla" panose="02000000000000000000" pitchFamily="2" charset="-78"/>
              </a:rPr>
              <a:t>البيت الاستراتيجي لممارسة البنية المؤسسية</a:t>
            </a:r>
          </a:p>
        </p:txBody>
      </p:sp>
      <p:sp>
        <p:nvSpPr>
          <p:cNvPr id="137" name="Rectangle 136">
            <a:extLst>
              <a:ext uri="{FF2B5EF4-FFF2-40B4-BE49-F238E27FC236}">
                <a16:creationId xmlns:a16="http://schemas.microsoft.com/office/drawing/2014/main" id="{657E8359-D2F2-5517-E8DA-F93D7566A23F}"/>
              </a:ext>
            </a:extLst>
          </p:cNvPr>
          <p:cNvSpPr/>
          <p:nvPr/>
        </p:nvSpPr>
        <p:spPr>
          <a:xfrm>
            <a:off x="6150159" y="1237758"/>
            <a:ext cx="4925378" cy="1034899"/>
          </a:xfrm>
          <a:prstGeom prst="rect">
            <a:avLst/>
          </a:prstGeom>
        </p:spPr>
        <p:txBody>
          <a:bodyPr wrap="square">
            <a:spAutoFit/>
          </a:bodyPr>
          <a:lstStyle/>
          <a:p>
            <a:pPr algn="ctr" rtl="1">
              <a:lnSpc>
                <a:spcPct val="150000"/>
              </a:lnSpc>
            </a:pPr>
            <a:r>
              <a:rPr lang="ar-SA" sz="1400" dirty="0">
                <a:latin typeface="Sakkal Majalla" panose="02000000000000000000" pitchFamily="2" charset="-78"/>
                <a:cs typeface="Sakkal Majalla" panose="02000000000000000000" pitchFamily="2" charset="-78"/>
              </a:rPr>
              <a:t>بناء بنية مؤسسية متكاملة ومبتكرة تمكن من تقديم خدمات عالية الجودة وتحسين تجربة المستفيد، مع تعزيز الكفاءة التشغيلية وتطوير القدرات الداخلية من خلال التحول الرقمي والاستخدام الأمثل للبيانات، مما يساهم في تحقيق التنمية المستدامة والابتكار</a:t>
            </a:r>
          </a:p>
        </p:txBody>
      </p:sp>
      <p:sp>
        <p:nvSpPr>
          <p:cNvPr id="138" name="Rounded Rectangle 107">
            <a:extLst>
              <a:ext uri="{FF2B5EF4-FFF2-40B4-BE49-F238E27FC236}">
                <a16:creationId xmlns:a16="http://schemas.microsoft.com/office/drawing/2014/main" id="{A861459A-CC1A-ED64-1C8A-E82008144C1D}"/>
              </a:ext>
            </a:extLst>
          </p:cNvPr>
          <p:cNvSpPr/>
          <p:nvPr/>
        </p:nvSpPr>
        <p:spPr>
          <a:xfrm>
            <a:off x="8087391" y="964501"/>
            <a:ext cx="1447591"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SA" sz="2000" b="1" dirty="0">
                <a:latin typeface="Sakkal Majalla" panose="02000000000000000000" pitchFamily="2" charset="-78"/>
                <a:cs typeface="Sakkal Majalla" panose="02000000000000000000" pitchFamily="2" charset="-78"/>
              </a:rPr>
              <a:t>الرؤيــــة</a:t>
            </a:r>
            <a:endParaRPr lang="en-US" sz="1400" b="1" dirty="0">
              <a:latin typeface="Sakkal Majalla" panose="02000000000000000000" pitchFamily="2" charset="-78"/>
              <a:cs typeface="Sakkal Majalla" panose="02000000000000000000" pitchFamily="2" charset="-78"/>
            </a:endParaRPr>
          </a:p>
        </p:txBody>
      </p:sp>
      <p:sp>
        <p:nvSpPr>
          <p:cNvPr id="140" name="Rectangle 139">
            <a:extLst>
              <a:ext uri="{FF2B5EF4-FFF2-40B4-BE49-F238E27FC236}">
                <a16:creationId xmlns:a16="http://schemas.microsoft.com/office/drawing/2014/main" id="{C0AB7636-DA31-D4D3-FA12-C80F1B134286}"/>
              </a:ext>
            </a:extLst>
          </p:cNvPr>
          <p:cNvSpPr/>
          <p:nvPr/>
        </p:nvSpPr>
        <p:spPr>
          <a:xfrm>
            <a:off x="1127759" y="1237759"/>
            <a:ext cx="4864004" cy="1034898"/>
          </a:xfrm>
          <a:prstGeom prst="rect">
            <a:avLst/>
          </a:prstGeom>
          <a:solidFill>
            <a:schemeClr val="bg1">
              <a:lumMod val="95000"/>
            </a:schemeClr>
          </a:solidFill>
          <a:ln>
            <a:solidFill>
              <a:srgbClr val="3FA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kkal Majalla" panose="02000000000000000000" pitchFamily="2" charset="-78"/>
              <a:cs typeface="Sakkal Majalla" panose="02000000000000000000" pitchFamily="2" charset="-78"/>
            </a:endParaRPr>
          </a:p>
        </p:txBody>
      </p:sp>
      <p:sp>
        <p:nvSpPr>
          <p:cNvPr id="141" name="Rectangle 140">
            <a:extLst>
              <a:ext uri="{FF2B5EF4-FFF2-40B4-BE49-F238E27FC236}">
                <a16:creationId xmlns:a16="http://schemas.microsoft.com/office/drawing/2014/main" id="{D105B7AE-6DE7-C438-A8B3-61E9042A45B6}"/>
              </a:ext>
            </a:extLst>
          </p:cNvPr>
          <p:cNvSpPr/>
          <p:nvPr/>
        </p:nvSpPr>
        <p:spPr>
          <a:xfrm>
            <a:off x="1127759" y="1237758"/>
            <a:ext cx="4864003" cy="1358064"/>
          </a:xfrm>
          <a:prstGeom prst="rect">
            <a:avLst/>
          </a:prstGeom>
        </p:spPr>
        <p:txBody>
          <a:bodyPr wrap="square">
            <a:spAutoFit/>
          </a:bodyPr>
          <a:lstStyle/>
          <a:p>
            <a:pPr algn="ctr" rtl="1">
              <a:lnSpc>
                <a:spcPct val="150000"/>
              </a:lnSpc>
            </a:pPr>
            <a:r>
              <a:rPr lang="ar-SA" sz="1400" dirty="0">
                <a:latin typeface="Sakkal Majalla" panose="02000000000000000000" pitchFamily="2" charset="-78"/>
                <a:cs typeface="Sakkal Majalla" panose="02000000000000000000" pitchFamily="2" charset="-78"/>
              </a:rPr>
              <a:t>تمكين الهيئة من تحقيق أهدافها الاستراتيجية من خلال تبني أفضل ممارسات البنية المؤسسية، وتحسين تجربة المستفيد، وتعزيز الكفاءة التشغيلية، وتطوير المهارات المؤسسية، ورفع كفاءة الإنفاق والقيمة المضافة عبر تفعيل الابتكار، مما يعزز التحول الرقمي والاستخدام الأمثل للبيانات</a:t>
            </a:r>
          </a:p>
        </p:txBody>
      </p:sp>
      <p:sp>
        <p:nvSpPr>
          <p:cNvPr id="142" name="Rounded Rectangle 107">
            <a:extLst>
              <a:ext uri="{FF2B5EF4-FFF2-40B4-BE49-F238E27FC236}">
                <a16:creationId xmlns:a16="http://schemas.microsoft.com/office/drawing/2014/main" id="{88419B21-0B2C-2757-F8DE-699EA395A092}"/>
              </a:ext>
            </a:extLst>
          </p:cNvPr>
          <p:cNvSpPr/>
          <p:nvPr/>
        </p:nvSpPr>
        <p:spPr>
          <a:xfrm>
            <a:off x="2866905" y="964501"/>
            <a:ext cx="1447591"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SA" sz="2000" b="1" dirty="0">
                <a:latin typeface="Sakkal Majalla" panose="02000000000000000000" pitchFamily="2" charset="-78"/>
                <a:cs typeface="Sakkal Majalla" panose="02000000000000000000" pitchFamily="2" charset="-78"/>
              </a:rPr>
              <a:t>الرسالة</a:t>
            </a:r>
            <a:endParaRPr lang="en-US" b="1" dirty="0">
              <a:latin typeface="Sakkal Majalla" panose="02000000000000000000" pitchFamily="2" charset="-78"/>
              <a:cs typeface="Sakkal Majalla" panose="02000000000000000000" pitchFamily="2" charset="-78"/>
            </a:endParaRPr>
          </a:p>
        </p:txBody>
      </p:sp>
      <p:sp>
        <p:nvSpPr>
          <p:cNvPr id="143" name="Rounded Rectangle 26">
            <a:extLst>
              <a:ext uri="{FF2B5EF4-FFF2-40B4-BE49-F238E27FC236}">
                <a16:creationId xmlns:a16="http://schemas.microsoft.com/office/drawing/2014/main" id="{2D83A97E-015D-7469-583B-5A876526018B}"/>
              </a:ext>
            </a:extLst>
          </p:cNvPr>
          <p:cNvSpPr/>
          <p:nvPr/>
        </p:nvSpPr>
        <p:spPr>
          <a:xfrm>
            <a:off x="6111808" y="2715550"/>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خدمات رقمية مبتكرة</a:t>
            </a:r>
            <a:endParaRPr lang="ar-SA" sz="1600" b="1" dirty="0">
              <a:solidFill>
                <a:schemeClr val="tx1">
                  <a:lumMod val="85000"/>
                  <a:lumOff val="15000"/>
                </a:schemeClr>
              </a:solidFill>
            </a:endParaRPr>
          </a:p>
        </p:txBody>
      </p:sp>
      <p:sp>
        <p:nvSpPr>
          <p:cNvPr id="145" name="Rounded Rectangle 28">
            <a:extLst>
              <a:ext uri="{FF2B5EF4-FFF2-40B4-BE49-F238E27FC236}">
                <a16:creationId xmlns:a16="http://schemas.microsoft.com/office/drawing/2014/main" id="{DB22D9C8-EE60-13F4-7304-47DDE2C817FE}"/>
              </a:ext>
            </a:extLst>
          </p:cNvPr>
          <p:cNvSpPr/>
          <p:nvPr/>
        </p:nvSpPr>
        <p:spPr>
          <a:xfrm>
            <a:off x="3627744" y="2704227"/>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رفع كفاءة الإجراءات</a:t>
            </a:r>
            <a:endParaRPr lang="ar-SA" sz="1600" b="1" dirty="0">
              <a:solidFill>
                <a:schemeClr val="tx1">
                  <a:lumMod val="85000"/>
                  <a:lumOff val="15000"/>
                </a:schemeClr>
              </a:solidFill>
            </a:endParaRPr>
          </a:p>
        </p:txBody>
      </p:sp>
      <p:sp>
        <p:nvSpPr>
          <p:cNvPr id="147" name="Rounded Rectangle 10">
            <a:extLst>
              <a:ext uri="{FF2B5EF4-FFF2-40B4-BE49-F238E27FC236}">
                <a16:creationId xmlns:a16="http://schemas.microsoft.com/office/drawing/2014/main" id="{86B532FC-1BF7-97FA-4F21-9D00CA0D094A}"/>
              </a:ext>
            </a:extLst>
          </p:cNvPr>
          <p:cNvSpPr/>
          <p:nvPr/>
        </p:nvSpPr>
        <p:spPr>
          <a:xfrm>
            <a:off x="8606202" y="2724059"/>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تجربة المستفيد</a:t>
            </a:r>
            <a:endParaRPr lang="ar-SA" sz="1600" b="1" dirty="0">
              <a:solidFill>
                <a:schemeClr val="tx1">
                  <a:lumMod val="85000"/>
                  <a:lumOff val="15000"/>
                </a:schemeClr>
              </a:solidFill>
            </a:endParaRPr>
          </a:p>
        </p:txBody>
      </p:sp>
      <p:sp>
        <p:nvSpPr>
          <p:cNvPr id="149" name="Rounded Rectangle 107">
            <a:extLst>
              <a:ext uri="{FF2B5EF4-FFF2-40B4-BE49-F238E27FC236}">
                <a16:creationId xmlns:a16="http://schemas.microsoft.com/office/drawing/2014/main" id="{44B4F69D-F606-A588-B384-78076E709CE9}"/>
              </a:ext>
            </a:extLst>
          </p:cNvPr>
          <p:cNvSpPr/>
          <p:nvPr/>
        </p:nvSpPr>
        <p:spPr>
          <a:xfrm>
            <a:off x="1127759" y="2343973"/>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الركائز  الاستراتيجية</a:t>
            </a:r>
            <a:endParaRPr lang="en-US" b="1" dirty="0">
              <a:latin typeface="Sakkal Majalla" panose="02000000000000000000" pitchFamily="2" charset="-78"/>
              <a:cs typeface="Sakkal Majalla" panose="02000000000000000000" pitchFamily="2" charset="-78"/>
            </a:endParaRPr>
          </a:p>
        </p:txBody>
      </p:sp>
      <p:sp>
        <p:nvSpPr>
          <p:cNvPr id="151" name="Rounded Rectangle 28">
            <a:extLst>
              <a:ext uri="{FF2B5EF4-FFF2-40B4-BE49-F238E27FC236}">
                <a16:creationId xmlns:a16="http://schemas.microsoft.com/office/drawing/2014/main" id="{4DC4CFF0-A105-7EB7-EA64-E9C8A0ED4FCD}"/>
              </a:ext>
            </a:extLst>
          </p:cNvPr>
          <p:cNvSpPr/>
          <p:nvPr/>
        </p:nvSpPr>
        <p:spPr>
          <a:xfrm>
            <a:off x="1141524" y="2710223"/>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الاستدامة المالية</a:t>
            </a:r>
            <a:endParaRPr lang="ar-SA" sz="1600" b="1" dirty="0">
              <a:solidFill>
                <a:schemeClr val="tx1">
                  <a:lumMod val="85000"/>
                  <a:lumOff val="15000"/>
                </a:schemeClr>
              </a:solidFill>
            </a:endParaRPr>
          </a:p>
        </p:txBody>
      </p:sp>
      <p:sp>
        <p:nvSpPr>
          <p:cNvPr id="152" name="Rounded Rectangle 26">
            <a:extLst>
              <a:ext uri="{FF2B5EF4-FFF2-40B4-BE49-F238E27FC236}">
                <a16:creationId xmlns:a16="http://schemas.microsoft.com/office/drawing/2014/main" id="{FD94625D-BCFB-EA75-56F1-222E18978251}"/>
              </a:ext>
            </a:extLst>
          </p:cNvPr>
          <p:cNvSpPr/>
          <p:nvPr/>
        </p:nvSpPr>
        <p:spPr>
          <a:xfrm>
            <a:off x="6143894"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دعم الإدارات الداخلية</a:t>
            </a:r>
            <a:endParaRPr lang="ar-SA" sz="1600" b="1" dirty="0">
              <a:solidFill>
                <a:schemeClr val="tx1">
                  <a:lumMod val="85000"/>
                  <a:lumOff val="15000"/>
                </a:schemeClr>
              </a:solidFill>
            </a:endParaRPr>
          </a:p>
        </p:txBody>
      </p:sp>
      <p:sp>
        <p:nvSpPr>
          <p:cNvPr id="153" name="Rounded Rectangle 28">
            <a:extLst>
              <a:ext uri="{FF2B5EF4-FFF2-40B4-BE49-F238E27FC236}">
                <a16:creationId xmlns:a16="http://schemas.microsoft.com/office/drawing/2014/main" id="{D6B4F1C2-4149-8893-6BEE-52E00B5E2046}"/>
              </a:ext>
            </a:extLst>
          </p:cNvPr>
          <p:cNvSpPr/>
          <p:nvPr/>
        </p:nvSpPr>
        <p:spPr>
          <a:xfrm>
            <a:off x="3677835" y="5234197"/>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توظيف كفاءات في البنية المؤسسية</a:t>
            </a:r>
            <a:endParaRPr lang="ar-SA" sz="1600" b="1" dirty="0">
              <a:solidFill>
                <a:schemeClr val="tx1">
                  <a:lumMod val="85000"/>
                  <a:lumOff val="15000"/>
                </a:schemeClr>
              </a:solidFill>
            </a:endParaRPr>
          </a:p>
        </p:txBody>
      </p:sp>
      <p:sp>
        <p:nvSpPr>
          <p:cNvPr id="154" name="Rounded Rectangle 10">
            <a:extLst>
              <a:ext uri="{FF2B5EF4-FFF2-40B4-BE49-F238E27FC236}">
                <a16:creationId xmlns:a16="http://schemas.microsoft.com/office/drawing/2014/main" id="{7A31FB66-F20D-FAF4-8B0D-B12E0996CFC7}"/>
              </a:ext>
            </a:extLst>
          </p:cNvPr>
          <p:cNvSpPr/>
          <p:nvPr/>
        </p:nvSpPr>
        <p:spPr>
          <a:xfrm>
            <a:off x="8606202"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دعم القيادة العليا</a:t>
            </a:r>
            <a:endParaRPr lang="ar-SA" sz="1600" b="1" dirty="0">
              <a:solidFill>
                <a:schemeClr val="tx1">
                  <a:lumMod val="85000"/>
                  <a:lumOff val="15000"/>
                </a:schemeClr>
              </a:solidFill>
            </a:endParaRPr>
          </a:p>
        </p:txBody>
      </p:sp>
      <p:sp>
        <p:nvSpPr>
          <p:cNvPr id="158" name="Rounded Rectangle 26">
            <a:extLst>
              <a:ext uri="{FF2B5EF4-FFF2-40B4-BE49-F238E27FC236}">
                <a16:creationId xmlns:a16="http://schemas.microsoft.com/office/drawing/2014/main" id="{56CBD513-665F-63DD-CE97-A13E4584BB1F}"/>
              </a:ext>
            </a:extLst>
          </p:cNvPr>
          <p:cNvSpPr/>
          <p:nvPr/>
        </p:nvSpPr>
        <p:spPr>
          <a:xfrm>
            <a:off x="7107631" y="382745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تمكين التحول الرقمي ودعم الابتكار</a:t>
            </a:r>
          </a:p>
        </p:txBody>
      </p:sp>
      <p:sp>
        <p:nvSpPr>
          <p:cNvPr id="159" name="Rounded Rectangle 28">
            <a:extLst>
              <a:ext uri="{FF2B5EF4-FFF2-40B4-BE49-F238E27FC236}">
                <a16:creationId xmlns:a16="http://schemas.microsoft.com/office/drawing/2014/main" id="{A585C094-9926-6CEA-BD86-07AD08465AE9}"/>
              </a:ext>
            </a:extLst>
          </p:cNvPr>
          <p:cNvSpPr/>
          <p:nvPr/>
        </p:nvSpPr>
        <p:spPr>
          <a:xfrm>
            <a:off x="5112215" y="3812768"/>
            <a:ext cx="1931620"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تحقيق الكفاءة التشغيلية وتقليل التكاليف</a:t>
            </a:r>
          </a:p>
        </p:txBody>
      </p:sp>
      <p:sp>
        <p:nvSpPr>
          <p:cNvPr id="160" name="Rounded Rectangle 10">
            <a:extLst>
              <a:ext uri="{FF2B5EF4-FFF2-40B4-BE49-F238E27FC236}">
                <a16:creationId xmlns:a16="http://schemas.microsoft.com/office/drawing/2014/main" id="{DFACBB7A-5994-EA72-1D8F-46B0786833D7}"/>
              </a:ext>
            </a:extLst>
          </p:cNvPr>
          <p:cNvSpPr/>
          <p:nvPr/>
        </p:nvSpPr>
        <p:spPr>
          <a:xfrm>
            <a:off x="9078551" y="3821434"/>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تحسين جودة البيانات ودعم القرارات</a:t>
            </a:r>
          </a:p>
        </p:txBody>
      </p:sp>
      <p:sp>
        <p:nvSpPr>
          <p:cNvPr id="162" name="Rounded Rectangle 26">
            <a:extLst>
              <a:ext uri="{FF2B5EF4-FFF2-40B4-BE49-F238E27FC236}">
                <a16:creationId xmlns:a16="http://schemas.microsoft.com/office/drawing/2014/main" id="{01932EA4-8AD1-AC22-15CA-AE8C2BB82952}"/>
              </a:ext>
            </a:extLst>
          </p:cNvPr>
          <p:cNvSpPr/>
          <p:nvPr/>
        </p:nvSpPr>
        <p:spPr>
          <a:xfrm>
            <a:off x="3140624" y="382237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تعزيز الحوكمة المؤسسية</a:t>
            </a:r>
          </a:p>
        </p:txBody>
      </p:sp>
      <p:sp>
        <p:nvSpPr>
          <p:cNvPr id="163" name="Rounded Rectangle 28">
            <a:extLst>
              <a:ext uri="{FF2B5EF4-FFF2-40B4-BE49-F238E27FC236}">
                <a16:creationId xmlns:a16="http://schemas.microsoft.com/office/drawing/2014/main" id="{4BE7D4FD-B25D-B996-5812-8326565B2698}"/>
              </a:ext>
            </a:extLst>
          </p:cNvPr>
          <p:cNvSpPr/>
          <p:nvPr/>
        </p:nvSpPr>
        <p:spPr>
          <a:xfrm>
            <a:off x="1161315" y="380713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تحسين تجربة المستفيد</a:t>
            </a:r>
          </a:p>
        </p:txBody>
      </p:sp>
      <p:sp>
        <p:nvSpPr>
          <p:cNvPr id="164" name="Rounded Rectangle 28">
            <a:extLst>
              <a:ext uri="{FF2B5EF4-FFF2-40B4-BE49-F238E27FC236}">
                <a16:creationId xmlns:a16="http://schemas.microsoft.com/office/drawing/2014/main" id="{663F1456-EB58-439A-8D2A-38C2491EACDE}"/>
              </a:ext>
            </a:extLst>
          </p:cNvPr>
          <p:cNvSpPr/>
          <p:nvPr/>
        </p:nvSpPr>
        <p:spPr>
          <a:xfrm>
            <a:off x="1210321"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توفر أداة البنية المؤسسية</a:t>
            </a:r>
            <a:endParaRPr lang="ar-SA" sz="1600" b="1" dirty="0">
              <a:solidFill>
                <a:schemeClr val="tx1">
                  <a:lumMod val="85000"/>
                  <a:lumOff val="15000"/>
                </a:schemeClr>
              </a:solidFill>
            </a:endParaRPr>
          </a:p>
        </p:txBody>
      </p:sp>
      <p:sp>
        <p:nvSpPr>
          <p:cNvPr id="165" name="Rounded Rectangle 107">
            <a:extLst>
              <a:ext uri="{FF2B5EF4-FFF2-40B4-BE49-F238E27FC236}">
                <a16:creationId xmlns:a16="http://schemas.microsoft.com/office/drawing/2014/main" id="{194D6A80-4414-DC8D-54A1-1670FA6F2829}"/>
              </a:ext>
            </a:extLst>
          </p:cNvPr>
          <p:cNvSpPr/>
          <p:nvPr/>
        </p:nvSpPr>
        <p:spPr>
          <a:xfrm>
            <a:off x="1127759" y="3462118"/>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الأهداف  الاستراتيجية</a:t>
            </a:r>
            <a:endParaRPr lang="en-US" b="1" dirty="0">
              <a:latin typeface="Sakkal Majalla" panose="02000000000000000000" pitchFamily="2" charset="-78"/>
              <a:cs typeface="Sakkal Majalla" panose="02000000000000000000" pitchFamily="2" charset="-78"/>
            </a:endParaRPr>
          </a:p>
        </p:txBody>
      </p:sp>
      <p:sp>
        <p:nvSpPr>
          <p:cNvPr id="166" name="Rounded Rectangle 107">
            <a:extLst>
              <a:ext uri="{FF2B5EF4-FFF2-40B4-BE49-F238E27FC236}">
                <a16:creationId xmlns:a16="http://schemas.microsoft.com/office/drawing/2014/main" id="{6CFEFBEB-003D-3E07-B8F5-9B12C9937C46}"/>
              </a:ext>
            </a:extLst>
          </p:cNvPr>
          <p:cNvSpPr/>
          <p:nvPr/>
        </p:nvSpPr>
        <p:spPr>
          <a:xfrm>
            <a:off x="1127759" y="4879409"/>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الممكنات</a:t>
            </a:r>
            <a:endParaRPr lang="en-US" b="1" dirty="0">
              <a:latin typeface="Sakkal Majalla" panose="02000000000000000000" pitchFamily="2" charset="-78"/>
              <a:cs typeface="Sakkal Majalla" panose="02000000000000000000" pitchFamily="2" charset="-78"/>
            </a:endParaRPr>
          </a:p>
        </p:txBody>
      </p:sp>
      <p:sp>
        <p:nvSpPr>
          <p:cNvPr id="167" name="Freeform 32">
            <a:extLst>
              <a:ext uri="{FF2B5EF4-FFF2-40B4-BE49-F238E27FC236}">
                <a16:creationId xmlns:a16="http://schemas.microsoft.com/office/drawing/2014/main" id="{6A28467D-C27D-F69E-F991-2AD180504B1B}"/>
              </a:ext>
            </a:extLst>
          </p:cNvPr>
          <p:cNvSpPr/>
          <p:nvPr/>
        </p:nvSpPr>
        <p:spPr>
          <a:xfrm>
            <a:off x="6984441" y="911425"/>
            <a:ext cx="4268168" cy="1235698"/>
          </a:xfrm>
          <a:custGeom>
            <a:avLst/>
            <a:gdLst>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 name="connsiteX4" fmla="*/ 0 w 840914"/>
              <a:gd name="connsiteY4" fmla="*/ 414704 h 414704"/>
              <a:gd name="connsiteX5" fmla="*/ 0 w 840914"/>
              <a:gd name="connsiteY5" fmla="*/ 0 h 414704"/>
              <a:gd name="connsiteX0" fmla="*/ 0 w 840914"/>
              <a:gd name="connsiteY0" fmla="*/ 414704 h 506144"/>
              <a:gd name="connsiteX1" fmla="*/ 0 w 840914"/>
              <a:gd name="connsiteY1" fmla="*/ 0 h 506144"/>
              <a:gd name="connsiteX2" fmla="*/ 631664 w 840914"/>
              <a:gd name="connsiteY2" fmla="*/ 0 h 506144"/>
              <a:gd name="connsiteX3" fmla="*/ 840914 w 840914"/>
              <a:gd name="connsiteY3" fmla="*/ 209250 h 506144"/>
              <a:gd name="connsiteX4" fmla="*/ 840914 w 840914"/>
              <a:gd name="connsiteY4" fmla="*/ 414704 h 506144"/>
              <a:gd name="connsiteX5" fmla="*/ 91440 w 840914"/>
              <a:gd name="connsiteY5" fmla="*/ 506144 h 506144"/>
              <a:gd name="connsiteX0" fmla="*/ 0 w 840914"/>
              <a:gd name="connsiteY0" fmla="*/ 414704 h 414704"/>
              <a:gd name="connsiteX1" fmla="*/ 0 w 840914"/>
              <a:gd name="connsiteY1" fmla="*/ 0 h 414704"/>
              <a:gd name="connsiteX2" fmla="*/ 631664 w 840914"/>
              <a:gd name="connsiteY2" fmla="*/ 0 h 414704"/>
              <a:gd name="connsiteX3" fmla="*/ 840914 w 840914"/>
              <a:gd name="connsiteY3" fmla="*/ 209250 h 414704"/>
              <a:gd name="connsiteX4" fmla="*/ 840914 w 840914"/>
              <a:gd name="connsiteY4" fmla="*/ 414704 h 414704"/>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Lst>
            <a:ahLst/>
            <a:cxnLst>
              <a:cxn ang="0">
                <a:pos x="connsiteX0" y="connsiteY0"/>
              </a:cxn>
              <a:cxn ang="0">
                <a:pos x="connsiteX1" y="connsiteY1"/>
              </a:cxn>
              <a:cxn ang="0">
                <a:pos x="connsiteX2" y="connsiteY2"/>
              </a:cxn>
              <a:cxn ang="0">
                <a:pos x="connsiteX3" y="connsiteY3"/>
              </a:cxn>
            </a:cxnLst>
            <a:rect l="l" t="t" r="r" b="b"/>
            <a:pathLst>
              <a:path w="840914" h="414704">
                <a:moveTo>
                  <a:pt x="0" y="0"/>
                </a:moveTo>
                <a:lnTo>
                  <a:pt x="631664" y="0"/>
                </a:lnTo>
                <a:cubicBezTo>
                  <a:pt x="747230" y="0"/>
                  <a:pt x="840914" y="93684"/>
                  <a:pt x="840914" y="209250"/>
                </a:cubicBezTo>
                <a:lnTo>
                  <a:pt x="840914" y="414704"/>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68" name="Freeform 33">
            <a:extLst>
              <a:ext uri="{FF2B5EF4-FFF2-40B4-BE49-F238E27FC236}">
                <a16:creationId xmlns:a16="http://schemas.microsoft.com/office/drawing/2014/main" id="{F478CF2E-FDA6-1CC1-FA97-3570485EF14E}"/>
              </a:ext>
            </a:extLst>
          </p:cNvPr>
          <p:cNvSpPr/>
          <p:nvPr/>
        </p:nvSpPr>
        <p:spPr>
          <a:xfrm>
            <a:off x="1000760" y="901264"/>
            <a:ext cx="10246769" cy="5250616"/>
          </a:xfrm>
          <a:custGeom>
            <a:avLst/>
            <a:gdLst>
              <a:gd name="connsiteX0" fmla="*/ 209250 w 2018818"/>
              <a:gd name="connsiteY0" fmla="*/ 0 h 2505075"/>
              <a:gd name="connsiteX1" fmla="*/ 1177904 w 2018818"/>
              <a:gd name="connsiteY1" fmla="*/ 0 h 2505075"/>
              <a:gd name="connsiteX2" fmla="*/ 1177904 w 2018818"/>
              <a:gd name="connsiteY2" fmla="*/ 414704 h 2505075"/>
              <a:gd name="connsiteX3" fmla="*/ 2018818 w 2018818"/>
              <a:gd name="connsiteY3" fmla="*/ 414704 h 2505075"/>
              <a:gd name="connsiteX4" fmla="*/ 2018818 w 2018818"/>
              <a:gd name="connsiteY4" fmla="*/ 2295825 h 2505075"/>
              <a:gd name="connsiteX5" fmla="*/ 1809568 w 2018818"/>
              <a:gd name="connsiteY5" fmla="*/ 2505075 h 2505075"/>
              <a:gd name="connsiteX6" fmla="*/ 209250 w 2018818"/>
              <a:gd name="connsiteY6" fmla="*/ 2505075 h 2505075"/>
              <a:gd name="connsiteX7" fmla="*/ 0 w 2018818"/>
              <a:gd name="connsiteY7" fmla="*/ 2295825 h 2505075"/>
              <a:gd name="connsiteX8" fmla="*/ 0 w 2018818"/>
              <a:gd name="connsiteY8" fmla="*/ 209250 h 2505075"/>
              <a:gd name="connsiteX9" fmla="*/ 209250 w 2018818"/>
              <a:gd name="connsiteY9" fmla="*/ 0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9" fmla="*/ 1269344 w 2018818"/>
              <a:gd name="connsiteY9" fmla="*/ 506144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0" fmla="*/ 2018818 w 2018818"/>
              <a:gd name="connsiteY0" fmla="*/ 414704 h 2505075"/>
              <a:gd name="connsiteX1" fmla="*/ 2018818 w 2018818"/>
              <a:gd name="connsiteY1" fmla="*/ 2295825 h 2505075"/>
              <a:gd name="connsiteX2" fmla="*/ 1809568 w 2018818"/>
              <a:gd name="connsiteY2" fmla="*/ 2505075 h 2505075"/>
              <a:gd name="connsiteX3" fmla="*/ 209250 w 2018818"/>
              <a:gd name="connsiteY3" fmla="*/ 2505075 h 2505075"/>
              <a:gd name="connsiteX4" fmla="*/ 0 w 2018818"/>
              <a:gd name="connsiteY4" fmla="*/ 2295825 h 2505075"/>
              <a:gd name="connsiteX5" fmla="*/ 0 w 2018818"/>
              <a:gd name="connsiteY5" fmla="*/ 209250 h 2505075"/>
              <a:gd name="connsiteX6" fmla="*/ 209250 w 2018818"/>
              <a:gd name="connsiteY6" fmla="*/ 0 h 2505075"/>
              <a:gd name="connsiteX7" fmla="*/ 1177904 w 2018818"/>
              <a:gd name="connsiteY7" fmla="*/ 0 h 250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818" h="2505075">
                <a:moveTo>
                  <a:pt x="2018818" y="414704"/>
                </a:moveTo>
                <a:lnTo>
                  <a:pt x="2018818" y="2295825"/>
                </a:lnTo>
                <a:cubicBezTo>
                  <a:pt x="2018818" y="2411391"/>
                  <a:pt x="1925134" y="2505075"/>
                  <a:pt x="1809568" y="2505075"/>
                </a:cubicBezTo>
                <a:lnTo>
                  <a:pt x="209250" y="2505075"/>
                </a:lnTo>
                <a:cubicBezTo>
                  <a:pt x="93684" y="2505075"/>
                  <a:pt x="0" y="2411391"/>
                  <a:pt x="0" y="2295825"/>
                </a:cubicBezTo>
                <a:lnTo>
                  <a:pt x="0" y="209250"/>
                </a:lnTo>
                <a:cubicBezTo>
                  <a:pt x="0" y="93684"/>
                  <a:pt x="93684" y="0"/>
                  <a:pt x="209250" y="0"/>
                </a:cubicBezTo>
                <a:lnTo>
                  <a:pt x="1177904" y="0"/>
                </a:lnTo>
              </a:path>
            </a:pathLst>
          </a:custGeom>
          <a:noFill/>
          <a:ln>
            <a:solidFill>
              <a:schemeClr val="accent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69" name="Shape">
            <a:extLst>
              <a:ext uri="{FF2B5EF4-FFF2-40B4-BE49-F238E27FC236}">
                <a16:creationId xmlns:a16="http://schemas.microsoft.com/office/drawing/2014/main" id="{2A43AA61-2530-F366-0EB2-88930EC4571A}"/>
              </a:ext>
            </a:extLst>
          </p:cNvPr>
          <p:cNvSpPr>
            <a:spLocks noChangeAspect="1"/>
          </p:cNvSpPr>
          <p:nvPr/>
        </p:nvSpPr>
        <p:spPr>
          <a:xfrm>
            <a:off x="9149821" y="1014202"/>
            <a:ext cx="190514" cy="184055"/>
          </a:xfrm>
          <a:custGeom>
            <a:avLst/>
            <a:gdLst/>
            <a:ahLst/>
            <a:cxnLst>
              <a:cxn ang="0">
                <a:pos x="wd2" y="hd2"/>
              </a:cxn>
              <a:cxn ang="5400000">
                <a:pos x="wd2" y="hd2"/>
              </a:cxn>
              <a:cxn ang="10800000">
                <a:pos x="wd2" y="hd2"/>
              </a:cxn>
              <a:cxn ang="16200000">
                <a:pos x="wd2" y="hd2"/>
              </a:cxn>
            </a:cxnLst>
            <a:rect l="0" t="0" r="r" b="b"/>
            <a:pathLst>
              <a:path w="21463" h="21600" extrusionOk="0">
                <a:moveTo>
                  <a:pt x="10730" y="0"/>
                </a:moveTo>
                <a:cubicBezTo>
                  <a:pt x="6781" y="1"/>
                  <a:pt x="3044" y="2207"/>
                  <a:pt x="205" y="6210"/>
                </a:cubicBezTo>
                <a:cubicBezTo>
                  <a:pt x="-61" y="6586"/>
                  <a:pt x="-70" y="7206"/>
                  <a:pt x="187" y="7595"/>
                </a:cubicBezTo>
                <a:cubicBezTo>
                  <a:pt x="319" y="7795"/>
                  <a:pt x="496" y="7894"/>
                  <a:pt x="672" y="7894"/>
                </a:cubicBezTo>
                <a:cubicBezTo>
                  <a:pt x="839" y="7894"/>
                  <a:pt x="1008" y="7805"/>
                  <a:pt x="1138" y="7621"/>
                </a:cubicBezTo>
                <a:cubicBezTo>
                  <a:pt x="3725" y="3973"/>
                  <a:pt x="7130" y="1962"/>
                  <a:pt x="10730" y="1962"/>
                </a:cubicBezTo>
                <a:cubicBezTo>
                  <a:pt x="14330" y="1962"/>
                  <a:pt x="17738" y="3973"/>
                  <a:pt x="20326" y="7621"/>
                </a:cubicBezTo>
                <a:cubicBezTo>
                  <a:pt x="20592" y="7998"/>
                  <a:pt x="21016" y="7985"/>
                  <a:pt x="21273" y="7595"/>
                </a:cubicBezTo>
                <a:cubicBezTo>
                  <a:pt x="21530" y="7206"/>
                  <a:pt x="21525" y="6586"/>
                  <a:pt x="21259" y="6210"/>
                </a:cubicBezTo>
                <a:cubicBezTo>
                  <a:pt x="18420" y="2207"/>
                  <a:pt x="14682" y="1"/>
                  <a:pt x="10734" y="0"/>
                </a:cubicBezTo>
                <a:cubicBezTo>
                  <a:pt x="10732" y="0"/>
                  <a:pt x="10730" y="0"/>
                  <a:pt x="10730" y="0"/>
                </a:cubicBezTo>
                <a:close/>
                <a:moveTo>
                  <a:pt x="10766" y="7050"/>
                </a:moveTo>
                <a:cubicBezTo>
                  <a:pt x="6107" y="7050"/>
                  <a:pt x="2616" y="11664"/>
                  <a:pt x="1332" y="13648"/>
                </a:cubicBezTo>
                <a:cubicBezTo>
                  <a:pt x="1087" y="14026"/>
                  <a:pt x="1087" y="14619"/>
                  <a:pt x="1332" y="14996"/>
                </a:cubicBezTo>
                <a:cubicBezTo>
                  <a:pt x="2616" y="16981"/>
                  <a:pt x="6106" y="21600"/>
                  <a:pt x="10766" y="21600"/>
                </a:cubicBezTo>
                <a:cubicBezTo>
                  <a:pt x="15425" y="21600"/>
                  <a:pt x="18916" y="16981"/>
                  <a:pt x="20200" y="14996"/>
                </a:cubicBezTo>
                <a:cubicBezTo>
                  <a:pt x="20444" y="14619"/>
                  <a:pt x="20444" y="14026"/>
                  <a:pt x="20200" y="13648"/>
                </a:cubicBezTo>
                <a:cubicBezTo>
                  <a:pt x="18916" y="11664"/>
                  <a:pt x="15425" y="7050"/>
                  <a:pt x="10766" y="7050"/>
                </a:cubicBezTo>
                <a:close/>
                <a:moveTo>
                  <a:pt x="10766" y="9011"/>
                </a:moveTo>
                <a:cubicBezTo>
                  <a:pt x="11079" y="9011"/>
                  <a:pt x="11386" y="9035"/>
                  <a:pt x="11688" y="9080"/>
                </a:cubicBezTo>
                <a:cubicBezTo>
                  <a:pt x="13193" y="9780"/>
                  <a:pt x="14243" y="11974"/>
                  <a:pt x="14243" y="14430"/>
                </a:cubicBezTo>
                <a:cubicBezTo>
                  <a:pt x="14243" y="16580"/>
                  <a:pt x="13444" y="18544"/>
                  <a:pt x="12201" y="19470"/>
                </a:cubicBezTo>
                <a:cubicBezTo>
                  <a:pt x="11737" y="19579"/>
                  <a:pt x="11259" y="19638"/>
                  <a:pt x="10766" y="19638"/>
                </a:cubicBezTo>
                <a:cubicBezTo>
                  <a:pt x="10171" y="19638"/>
                  <a:pt x="9598" y="19551"/>
                  <a:pt x="9047" y="19397"/>
                </a:cubicBezTo>
                <a:cubicBezTo>
                  <a:pt x="7843" y="18435"/>
                  <a:pt x="7095" y="16542"/>
                  <a:pt x="7095" y="14430"/>
                </a:cubicBezTo>
                <a:cubicBezTo>
                  <a:pt x="7095" y="12017"/>
                  <a:pt x="8076" y="9900"/>
                  <a:pt x="9539" y="9137"/>
                </a:cubicBezTo>
                <a:cubicBezTo>
                  <a:pt x="9937" y="9058"/>
                  <a:pt x="10346" y="9011"/>
                  <a:pt x="10766" y="9011"/>
                </a:cubicBezTo>
                <a:close/>
                <a:moveTo>
                  <a:pt x="14792" y="10323"/>
                </a:moveTo>
                <a:cubicBezTo>
                  <a:pt x="16548" y="11469"/>
                  <a:pt x="17922" y="13131"/>
                  <a:pt x="18768" y="14325"/>
                </a:cubicBezTo>
                <a:cubicBezTo>
                  <a:pt x="17940" y="15493"/>
                  <a:pt x="16606" y="17111"/>
                  <a:pt x="14903" y="18254"/>
                </a:cubicBezTo>
                <a:cubicBezTo>
                  <a:pt x="15341" y="17115"/>
                  <a:pt x="15585" y="15799"/>
                  <a:pt x="15585" y="14430"/>
                </a:cubicBezTo>
                <a:cubicBezTo>
                  <a:pt x="15585" y="12953"/>
                  <a:pt x="15311" y="11545"/>
                  <a:pt x="14792" y="10323"/>
                </a:cubicBezTo>
                <a:close/>
                <a:moveTo>
                  <a:pt x="6470" y="10506"/>
                </a:moveTo>
                <a:cubicBezTo>
                  <a:pt x="6013" y="11660"/>
                  <a:pt x="5753" y="13008"/>
                  <a:pt x="5753" y="14430"/>
                </a:cubicBezTo>
                <a:cubicBezTo>
                  <a:pt x="5753" y="15733"/>
                  <a:pt x="5969" y="16975"/>
                  <a:pt x="6359" y="18065"/>
                </a:cubicBezTo>
                <a:cubicBezTo>
                  <a:pt x="4786" y="16937"/>
                  <a:pt x="3547" y="15430"/>
                  <a:pt x="2764" y="14325"/>
                </a:cubicBezTo>
                <a:cubicBezTo>
                  <a:pt x="3565" y="13193"/>
                  <a:pt x="4845" y="11641"/>
                  <a:pt x="6470" y="10506"/>
                </a:cubicBezTo>
                <a:close/>
                <a:moveTo>
                  <a:pt x="10658" y="11917"/>
                </a:moveTo>
                <a:cubicBezTo>
                  <a:pt x="9720" y="11917"/>
                  <a:pt x="8957" y="13029"/>
                  <a:pt x="8957" y="14398"/>
                </a:cubicBezTo>
                <a:cubicBezTo>
                  <a:pt x="8957" y="15768"/>
                  <a:pt x="9720" y="16879"/>
                  <a:pt x="10658" y="16879"/>
                </a:cubicBezTo>
                <a:cubicBezTo>
                  <a:pt x="11597" y="16879"/>
                  <a:pt x="12359" y="15768"/>
                  <a:pt x="12359" y="14398"/>
                </a:cubicBezTo>
                <a:cubicBezTo>
                  <a:pt x="11421" y="14398"/>
                  <a:pt x="10658" y="13287"/>
                  <a:pt x="10658" y="11917"/>
                </a:cubicBezTo>
                <a:close/>
              </a:path>
            </a:pathLst>
          </a:custGeom>
          <a:solidFill>
            <a:schemeClr val="bg1"/>
          </a:solidFill>
          <a:ln w="12700">
            <a:miter lim="400000"/>
          </a:ln>
        </p:spPr>
        <p:txBody>
          <a:bodyPr lIns="38100" tIns="38100" rIns="38100" bIns="38100" anchor="ctr"/>
          <a:lstStyle/>
          <a:p>
            <a:pPr algn="r">
              <a:defRPr sz="3000">
                <a:solidFill>
                  <a:srgbClr val="FFFFFF"/>
                </a:solidFill>
                <a:effectLst>
                  <a:outerShdw blurRad="38100" dist="12700" dir="5400000" rotWithShape="0">
                    <a:srgbClr val="000000">
                      <a:alpha val="50000"/>
                    </a:srgbClr>
                  </a:outerShdw>
                </a:effectLst>
              </a:defRPr>
            </a:pPr>
            <a:endParaRPr dirty="0">
              <a:latin typeface="Sakkal Majalla" panose="02000000000000000000" pitchFamily="2" charset="-78"/>
              <a:cs typeface="Sakkal Majalla" panose="02000000000000000000" pitchFamily="2" charset="-78"/>
            </a:endParaRPr>
          </a:p>
        </p:txBody>
      </p:sp>
      <p:grpSp>
        <p:nvGrpSpPr>
          <p:cNvPr id="170" name="Group 169">
            <a:extLst>
              <a:ext uri="{FF2B5EF4-FFF2-40B4-BE49-F238E27FC236}">
                <a16:creationId xmlns:a16="http://schemas.microsoft.com/office/drawing/2014/main" id="{B6A2F44E-BC30-7FA0-4EFE-69D62F2BA2B9}"/>
              </a:ext>
            </a:extLst>
          </p:cNvPr>
          <p:cNvGrpSpPr>
            <a:grpSpLocks noChangeAspect="1"/>
          </p:cNvGrpSpPr>
          <p:nvPr/>
        </p:nvGrpSpPr>
        <p:grpSpPr>
          <a:xfrm>
            <a:off x="3954653" y="989639"/>
            <a:ext cx="217926" cy="263358"/>
            <a:chOff x="3198287" y="4593305"/>
            <a:chExt cx="1813318" cy="1501687"/>
          </a:xfrm>
          <a:solidFill>
            <a:schemeClr val="bg1">
              <a:lumMod val="95000"/>
            </a:schemeClr>
          </a:solidFill>
        </p:grpSpPr>
        <p:sp>
          <p:nvSpPr>
            <p:cNvPr id="171" name="Freeform 5">
              <a:extLst>
                <a:ext uri="{FF2B5EF4-FFF2-40B4-BE49-F238E27FC236}">
                  <a16:creationId xmlns:a16="http://schemas.microsoft.com/office/drawing/2014/main" id="{FF7965A2-C1D5-7470-A19A-C20F177FE36B}"/>
                </a:ext>
              </a:extLst>
            </p:cNvPr>
            <p:cNvSpPr>
              <a:spLocks/>
            </p:cNvSpPr>
            <p:nvPr/>
          </p:nvSpPr>
          <p:spPr bwMode="auto">
            <a:xfrm>
              <a:off x="3198287" y="4593305"/>
              <a:ext cx="1059652" cy="1060165"/>
            </a:xfrm>
            <a:custGeom>
              <a:avLst/>
              <a:gdLst>
                <a:gd name="T0" fmla="*/ 2720 w 5570"/>
                <a:gd name="T1" fmla="*/ 16 h 5579"/>
                <a:gd name="T2" fmla="*/ 2445 w 5570"/>
                <a:gd name="T3" fmla="*/ 64 h 5579"/>
                <a:gd name="T4" fmla="*/ 2194 w 5570"/>
                <a:gd name="T5" fmla="*/ 130 h 5579"/>
                <a:gd name="T6" fmla="*/ 1953 w 5570"/>
                <a:gd name="T7" fmla="*/ 220 h 5579"/>
                <a:gd name="T8" fmla="*/ 1768 w 5570"/>
                <a:gd name="T9" fmla="*/ 305 h 5579"/>
                <a:gd name="T10" fmla="*/ 1538 w 5570"/>
                <a:gd name="T11" fmla="*/ 436 h 5579"/>
                <a:gd name="T12" fmla="*/ 1251 w 5570"/>
                <a:gd name="T13" fmla="*/ 644 h 5579"/>
                <a:gd name="T14" fmla="*/ 993 w 5570"/>
                <a:gd name="T15" fmla="*/ 888 h 5579"/>
                <a:gd name="T16" fmla="*/ 767 w 5570"/>
                <a:gd name="T17" fmla="*/ 1163 h 5579"/>
                <a:gd name="T18" fmla="*/ 654 w 5570"/>
                <a:gd name="T19" fmla="*/ 1333 h 5579"/>
                <a:gd name="T20" fmla="*/ 451 w 5570"/>
                <a:gd name="T21" fmla="*/ 1736 h 5579"/>
                <a:gd name="T22" fmla="*/ 317 w 5570"/>
                <a:gd name="T23" fmla="*/ 2158 h 5579"/>
                <a:gd name="T24" fmla="*/ 252 w 5570"/>
                <a:gd name="T25" fmla="*/ 2591 h 5579"/>
                <a:gd name="T26" fmla="*/ 255 w 5570"/>
                <a:gd name="T27" fmla="*/ 3028 h 5579"/>
                <a:gd name="T28" fmla="*/ 327 w 5570"/>
                <a:gd name="T29" fmla="*/ 3460 h 5579"/>
                <a:gd name="T30" fmla="*/ 466 w 5570"/>
                <a:gd name="T31" fmla="*/ 3879 h 5579"/>
                <a:gd name="T32" fmla="*/ 672 w 5570"/>
                <a:gd name="T33" fmla="*/ 4277 h 5579"/>
                <a:gd name="T34" fmla="*/ 872 w 5570"/>
                <a:gd name="T35" fmla="*/ 4555 h 5579"/>
                <a:gd name="T36" fmla="*/ 490 w 5570"/>
                <a:gd name="T37" fmla="*/ 5130 h 5579"/>
                <a:gd name="T38" fmla="*/ 1320 w 5570"/>
                <a:gd name="T39" fmla="*/ 5577 h 5579"/>
                <a:gd name="T40" fmla="*/ 2645 w 5570"/>
                <a:gd name="T41" fmla="*/ 5577 h 5579"/>
                <a:gd name="T42" fmla="*/ 2610 w 5570"/>
                <a:gd name="T43" fmla="*/ 5380 h 5579"/>
                <a:gd name="T44" fmla="*/ 2567 w 5570"/>
                <a:gd name="T45" fmla="*/ 5119 h 5579"/>
                <a:gd name="T46" fmla="*/ 2545 w 5570"/>
                <a:gd name="T47" fmla="*/ 4771 h 5579"/>
                <a:gd name="T48" fmla="*/ 2561 w 5570"/>
                <a:gd name="T49" fmla="*/ 4426 h 5579"/>
                <a:gd name="T50" fmla="*/ 2616 w 5570"/>
                <a:gd name="T51" fmla="*/ 4087 h 5579"/>
                <a:gd name="T52" fmla="*/ 2708 w 5570"/>
                <a:gd name="T53" fmla="*/ 3755 h 5579"/>
                <a:gd name="T54" fmla="*/ 2837 w 5570"/>
                <a:gd name="T55" fmla="*/ 3433 h 5579"/>
                <a:gd name="T56" fmla="*/ 3002 w 5570"/>
                <a:gd name="T57" fmla="*/ 3122 h 5579"/>
                <a:gd name="T58" fmla="*/ 3204 w 5570"/>
                <a:gd name="T59" fmla="*/ 2825 h 5579"/>
                <a:gd name="T60" fmla="*/ 3308 w 5570"/>
                <a:gd name="T61" fmla="*/ 2695 h 5579"/>
                <a:gd name="T62" fmla="*/ 3521 w 5570"/>
                <a:gd name="T63" fmla="*/ 2471 h 5579"/>
                <a:gd name="T64" fmla="*/ 3759 w 5570"/>
                <a:gd name="T65" fmla="*/ 2268 h 5579"/>
                <a:gd name="T66" fmla="*/ 4019 w 5570"/>
                <a:gd name="T67" fmla="*/ 2088 h 5579"/>
                <a:gd name="T68" fmla="*/ 4295 w 5570"/>
                <a:gd name="T69" fmla="*/ 1934 h 5579"/>
                <a:gd name="T70" fmla="*/ 4584 w 5570"/>
                <a:gd name="T71" fmla="*/ 1807 h 5579"/>
                <a:gd name="T72" fmla="*/ 4881 w 5570"/>
                <a:gd name="T73" fmla="*/ 1710 h 5579"/>
                <a:gd name="T74" fmla="*/ 5183 w 5570"/>
                <a:gd name="T75" fmla="*/ 1646 h 5579"/>
                <a:gd name="T76" fmla="*/ 5408 w 5570"/>
                <a:gd name="T77" fmla="*/ 1620 h 5579"/>
                <a:gd name="T78" fmla="*/ 5561 w 5570"/>
                <a:gd name="T79" fmla="*/ 1605 h 5579"/>
                <a:gd name="T80" fmla="*/ 5566 w 5570"/>
                <a:gd name="T81" fmla="*/ 1588 h 5579"/>
                <a:gd name="T82" fmla="*/ 5429 w 5570"/>
                <a:gd name="T83" fmla="*/ 1341 h 5579"/>
                <a:gd name="T84" fmla="*/ 5319 w 5570"/>
                <a:gd name="T85" fmla="*/ 1172 h 5579"/>
                <a:gd name="T86" fmla="*/ 5155 w 5570"/>
                <a:gd name="T87" fmla="*/ 969 h 5579"/>
                <a:gd name="T88" fmla="*/ 4961 w 5570"/>
                <a:gd name="T89" fmla="*/ 767 h 5579"/>
                <a:gd name="T90" fmla="*/ 4754 w 5570"/>
                <a:gd name="T91" fmla="*/ 586 h 5579"/>
                <a:gd name="T92" fmla="*/ 4603 w 5570"/>
                <a:gd name="T93" fmla="*/ 475 h 5579"/>
                <a:gd name="T94" fmla="*/ 4325 w 5570"/>
                <a:gd name="T95" fmla="*/ 311 h 5579"/>
                <a:gd name="T96" fmla="*/ 3938 w 5570"/>
                <a:gd name="T97" fmla="*/ 145 h 5579"/>
                <a:gd name="T98" fmla="*/ 3537 w 5570"/>
                <a:gd name="T99" fmla="*/ 41 h 5579"/>
                <a:gd name="T100" fmla="*/ 3125 w 5570"/>
                <a:gd name="T101" fmla="*/ 0 h 5579"/>
                <a:gd name="T102" fmla="*/ 2873 w 5570"/>
                <a:gd name="T103" fmla="*/ 3 h 5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70" h="5579">
                  <a:moveTo>
                    <a:pt x="2795" y="7"/>
                  </a:moveTo>
                  <a:lnTo>
                    <a:pt x="2720" y="16"/>
                  </a:lnTo>
                  <a:lnTo>
                    <a:pt x="2578" y="38"/>
                  </a:lnTo>
                  <a:lnTo>
                    <a:pt x="2445" y="64"/>
                  </a:lnTo>
                  <a:lnTo>
                    <a:pt x="2317" y="94"/>
                  </a:lnTo>
                  <a:lnTo>
                    <a:pt x="2194" y="130"/>
                  </a:lnTo>
                  <a:lnTo>
                    <a:pt x="2073" y="172"/>
                  </a:lnTo>
                  <a:lnTo>
                    <a:pt x="1953" y="220"/>
                  </a:lnTo>
                  <a:lnTo>
                    <a:pt x="1831" y="275"/>
                  </a:lnTo>
                  <a:lnTo>
                    <a:pt x="1768" y="305"/>
                  </a:lnTo>
                  <a:lnTo>
                    <a:pt x="1690" y="346"/>
                  </a:lnTo>
                  <a:lnTo>
                    <a:pt x="1538" y="436"/>
                  </a:lnTo>
                  <a:lnTo>
                    <a:pt x="1391" y="535"/>
                  </a:lnTo>
                  <a:lnTo>
                    <a:pt x="1251" y="644"/>
                  </a:lnTo>
                  <a:lnTo>
                    <a:pt x="1118" y="762"/>
                  </a:lnTo>
                  <a:lnTo>
                    <a:pt x="993" y="888"/>
                  </a:lnTo>
                  <a:lnTo>
                    <a:pt x="876" y="1022"/>
                  </a:lnTo>
                  <a:lnTo>
                    <a:pt x="767" y="1163"/>
                  </a:lnTo>
                  <a:lnTo>
                    <a:pt x="717" y="1237"/>
                  </a:lnTo>
                  <a:lnTo>
                    <a:pt x="654" y="1333"/>
                  </a:lnTo>
                  <a:lnTo>
                    <a:pt x="544" y="1531"/>
                  </a:lnTo>
                  <a:lnTo>
                    <a:pt x="451" y="1736"/>
                  </a:lnTo>
                  <a:lnTo>
                    <a:pt x="375" y="1945"/>
                  </a:lnTo>
                  <a:lnTo>
                    <a:pt x="317" y="2158"/>
                  </a:lnTo>
                  <a:lnTo>
                    <a:pt x="276" y="2374"/>
                  </a:lnTo>
                  <a:lnTo>
                    <a:pt x="252" y="2591"/>
                  </a:lnTo>
                  <a:lnTo>
                    <a:pt x="245" y="2810"/>
                  </a:lnTo>
                  <a:lnTo>
                    <a:pt x="255" y="3028"/>
                  </a:lnTo>
                  <a:lnTo>
                    <a:pt x="282" y="3246"/>
                  </a:lnTo>
                  <a:lnTo>
                    <a:pt x="327" y="3460"/>
                  </a:lnTo>
                  <a:lnTo>
                    <a:pt x="388" y="3672"/>
                  </a:lnTo>
                  <a:lnTo>
                    <a:pt x="466" y="3879"/>
                  </a:lnTo>
                  <a:lnTo>
                    <a:pt x="561" y="4081"/>
                  </a:lnTo>
                  <a:lnTo>
                    <a:pt x="672" y="4277"/>
                  </a:lnTo>
                  <a:lnTo>
                    <a:pt x="801" y="4465"/>
                  </a:lnTo>
                  <a:lnTo>
                    <a:pt x="872" y="4555"/>
                  </a:lnTo>
                  <a:lnTo>
                    <a:pt x="980" y="4690"/>
                  </a:lnTo>
                  <a:lnTo>
                    <a:pt x="490" y="5130"/>
                  </a:lnTo>
                  <a:lnTo>
                    <a:pt x="0" y="5572"/>
                  </a:lnTo>
                  <a:lnTo>
                    <a:pt x="1320" y="5577"/>
                  </a:lnTo>
                  <a:lnTo>
                    <a:pt x="2345" y="5579"/>
                  </a:lnTo>
                  <a:lnTo>
                    <a:pt x="2645" y="5577"/>
                  </a:lnTo>
                  <a:lnTo>
                    <a:pt x="2639" y="5529"/>
                  </a:lnTo>
                  <a:lnTo>
                    <a:pt x="2610" y="5380"/>
                  </a:lnTo>
                  <a:lnTo>
                    <a:pt x="2593" y="5293"/>
                  </a:lnTo>
                  <a:lnTo>
                    <a:pt x="2567" y="5119"/>
                  </a:lnTo>
                  <a:lnTo>
                    <a:pt x="2551" y="4945"/>
                  </a:lnTo>
                  <a:lnTo>
                    <a:pt x="2545" y="4771"/>
                  </a:lnTo>
                  <a:lnTo>
                    <a:pt x="2548" y="4598"/>
                  </a:lnTo>
                  <a:lnTo>
                    <a:pt x="2561" y="4426"/>
                  </a:lnTo>
                  <a:lnTo>
                    <a:pt x="2584" y="4256"/>
                  </a:lnTo>
                  <a:lnTo>
                    <a:pt x="2616" y="4087"/>
                  </a:lnTo>
                  <a:lnTo>
                    <a:pt x="2657" y="3920"/>
                  </a:lnTo>
                  <a:lnTo>
                    <a:pt x="2708" y="3755"/>
                  </a:lnTo>
                  <a:lnTo>
                    <a:pt x="2768" y="3592"/>
                  </a:lnTo>
                  <a:lnTo>
                    <a:pt x="2837" y="3433"/>
                  </a:lnTo>
                  <a:lnTo>
                    <a:pt x="2915" y="3276"/>
                  </a:lnTo>
                  <a:lnTo>
                    <a:pt x="3002" y="3122"/>
                  </a:lnTo>
                  <a:lnTo>
                    <a:pt x="3099" y="2972"/>
                  </a:lnTo>
                  <a:lnTo>
                    <a:pt x="3204" y="2825"/>
                  </a:lnTo>
                  <a:lnTo>
                    <a:pt x="3260" y="2754"/>
                  </a:lnTo>
                  <a:lnTo>
                    <a:pt x="3308" y="2695"/>
                  </a:lnTo>
                  <a:lnTo>
                    <a:pt x="3411" y="2580"/>
                  </a:lnTo>
                  <a:lnTo>
                    <a:pt x="3521" y="2471"/>
                  </a:lnTo>
                  <a:lnTo>
                    <a:pt x="3637" y="2367"/>
                  </a:lnTo>
                  <a:lnTo>
                    <a:pt x="3759" y="2268"/>
                  </a:lnTo>
                  <a:lnTo>
                    <a:pt x="3886" y="2175"/>
                  </a:lnTo>
                  <a:lnTo>
                    <a:pt x="4019" y="2088"/>
                  </a:lnTo>
                  <a:lnTo>
                    <a:pt x="4155" y="2008"/>
                  </a:lnTo>
                  <a:lnTo>
                    <a:pt x="4295" y="1934"/>
                  </a:lnTo>
                  <a:lnTo>
                    <a:pt x="4438" y="1867"/>
                  </a:lnTo>
                  <a:lnTo>
                    <a:pt x="4584" y="1807"/>
                  </a:lnTo>
                  <a:lnTo>
                    <a:pt x="4732" y="1754"/>
                  </a:lnTo>
                  <a:lnTo>
                    <a:pt x="4881" y="1710"/>
                  </a:lnTo>
                  <a:lnTo>
                    <a:pt x="5032" y="1674"/>
                  </a:lnTo>
                  <a:lnTo>
                    <a:pt x="5183" y="1646"/>
                  </a:lnTo>
                  <a:lnTo>
                    <a:pt x="5333" y="1626"/>
                  </a:lnTo>
                  <a:lnTo>
                    <a:pt x="5408" y="1620"/>
                  </a:lnTo>
                  <a:lnTo>
                    <a:pt x="5473" y="1615"/>
                  </a:lnTo>
                  <a:lnTo>
                    <a:pt x="5561" y="1605"/>
                  </a:lnTo>
                  <a:lnTo>
                    <a:pt x="5570" y="1602"/>
                  </a:lnTo>
                  <a:lnTo>
                    <a:pt x="5566" y="1588"/>
                  </a:lnTo>
                  <a:lnTo>
                    <a:pt x="5528" y="1512"/>
                  </a:lnTo>
                  <a:lnTo>
                    <a:pt x="5429" y="1341"/>
                  </a:lnTo>
                  <a:lnTo>
                    <a:pt x="5352" y="1220"/>
                  </a:lnTo>
                  <a:lnTo>
                    <a:pt x="5319" y="1172"/>
                  </a:lnTo>
                  <a:lnTo>
                    <a:pt x="5242" y="1072"/>
                  </a:lnTo>
                  <a:lnTo>
                    <a:pt x="5155" y="969"/>
                  </a:lnTo>
                  <a:lnTo>
                    <a:pt x="5061" y="867"/>
                  </a:lnTo>
                  <a:lnTo>
                    <a:pt x="4961" y="767"/>
                  </a:lnTo>
                  <a:lnTo>
                    <a:pt x="4858" y="673"/>
                  </a:lnTo>
                  <a:lnTo>
                    <a:pt x="4754" y="586"/>
                  </a:lnTo>
                  <a:lnTo>
                    <a:pt x="4653" y="509"/>
                  </a:lnTo>
                  <a:lnTo>
                    <a:pt x="4603" y="475"/>
                  </a:lnTo>
                  <a:lnTo>
                    <a:pt x="4512" y="416"/>
                  </a:lnTo>
                  <a:lnTo>
                    <a:pt x="4325" y="311"/>
                  </a:lnTo>
                  <a:lnTo>
                    <a:pt x="4133" y="220"/>
                  </a:lnTo>
                  <a:lnTo>
                    <a:pt x="3938" y="145"/>
                  </a:lnTo>
                  <a:lnTo>
                    <a:pt x="3740" y="86"/>
                  </a:lnTo>
                  <a:lnTo>
                    <a:pt x="3537" y="41"/>
                  </a:lnTo>
                  <a:lnTo>
                    <a:pt x="3332" y="13"/>
                  </a:lnTo>
                  <a:lnTo>
                    <a:pt x="3125" y="0"/>
                  </a:lnTo>
                  <a:lnTo>
                    <a:pt x="3020" y="0"/>
                  </a:lnTo>
                  <a:lnTo>
                    <a:pt x="2873" y="3"/>
                  </a:lnTo>
                  <a:lnTo>
                    <a:pt x="2795"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2" name="Freeform 6">
              <a:extLst>
                <a:ext uri="{FF2B5EF4-FFF2-40B4-BE49-F238E27FC236}">
                  <a16:creationId xmlns:a16="http://schemas.microsoft.com/office/drawing/2014/main" id="{012B4DEF-6B7B-F143-049D-8BEEB08CC63C}"/>
                </a:ext>
              </a:extLst>
            </p:cNvPr>
            <p:cNvSpPr>
              <a:spLocks noEditPoints="1"/>
            </p:cNvSpPr>
            <p:nvPr/>
          </p:nvSpPr>
          <p:spPr bwMode="auto">
            <a:xfrm>
              <a:off x="3784586" y="4980920"/>
              <a:ext cx="1227019" cy="1114072"/>
            </a:xfrm>
            <a:custGeom>
              <a:avLst/>
              <a:gdLst>
                <a:gd name="T0" fmla="*/ 2197 w 6449"/>
                <a:gd name="T1" fmla="*/ 87 h 5861"/>
                <a:gd name="T2" fmla="*/ 1506 w 6449"/>
                <a:gd name="T3" fmla="*/ 361 h 5861"/>
                <a:gd name="T4" fmla="*/ 911 w 6449"/>
                <a:gd name="T5" fmla="*/ 798 h 5861"/>
                <a:gd name="T6" fmla="*/ 441 w 6449"/>
                <a:gd name="T7" fmla="*/ 1381 h 5861"/>
                <a:gd name="T8" fmla="*/ 175 w 6449"/>
                <a:gd name="T9" fmla="*/ 1932 h 5861"/>
                <a:gd name="T10" fmla="*/ 5 w 6449"/>
                <a:gd name="T11" fmla="*/ 2758 h 5861"/>
                <a:gd name="T12" fmla="*/ 74 w 6449"/>
                <a:gd name="T13" fmla="*/ 3586 h 5861"/>
                <a:gd name="T14" fmla="*/ 376 w 6449"/>
                <a:gd name="T15" fmla="*/ 4367 h 5861"/>
                <a:gd name="T16" fmla="*/ 723 w 6449"/>
                <a:gd name="T17" fmla="*/ 4860 h 5861"/>
                <a:gd name="T18" fmla="*/ 1093 w 6449"/>
                <a:gd name="T19" fmla="*/ 5218 h 5861"/>
                <a:gd name="T20" fmla="*/ 1520 w 6449"/>
                <a:gd name="T21" fmla="*/ 5503 h 5861"/>
                <a:gd name="T22" fmla="*/ 1998 w 6449"/>
                <a:gd name="T23" fmla="*/ 5711 h 5861"/>
                <a:gd name="T24" fmla="*/ 2453 w 6449"/>
                <a:gd name="T25" fmla="*/ 5828 h 5861"/>
                <a:gd name="T26" fmla="*/ 3903 w 6449"/>
                <a:gd name="T27" fmla="*/ 5861 h 5861"/>
                <a:gd name="T28" fmla="*/ 6417 w 6449"/>
                <a:gd name="T29" fmla="*/ 5817 h 5861"/>
                <a:gd name="T30" fmla="*/ 5270 w 6449"/>
                <a:gd name="T31" fmla="*/ 4780 h 5861"/>
                <a:gd name="T32" fmla="*/ 5348 w 6449"/>
                <a:gd name="T33" fmla="*/ 4585 h 5861"/>
                <a:gd name="T34" fmla="*/ 5670 w 6449"/>
                <a:gd name="T35" fmla="*/ 3959 h 5861"/>
                <a:gd name="T36" fmla="*/ 5828 w 6449"/>
                <a:gd name="T37" fmla="*/ 3350 h 5861"/>
                <a:gd name="T38" fmla="*/ 5838 w 6449"/>
                <a:gd name="T39" fmla="*/ 2596 h 5861"/>
                <a:gd name="T40" fmla="*/ 5768 w 6449"/>
                <a:gd name="T41" fmla="*/ 2210 h 5861"/>
                <a:gd name="T42" fmla="*/ 5612 w 6449"/>
                <a:gd name="T43" fmla="*/ 1759 h 5861"/>
                <a:gd name="T44" fmla="*/ 5385 w 6449"/>
                <a:gd name="T45" fmla="*/ 1340 h 5861"/>
                <a:gd name="T46" fmla="*/ 5091 w 6449"/>
                <a:gd name="T47" fmla="*/ 961 h 5861"/>
                <a:gd name="T48" fmla="*/ 4767 w 6449"/>
                <a:gd name="T49" fmla="*/ 652 h 5861"/>
                <a:gd name="T50" fmla="*/ 4327 w 6449"/>
                <a:gd name="T51" fmla="*/ 358 h 5861"/>
                <a:gd name="T52" fmla="*/ 3464 w 6449"/>
                <a:gd name="T53" fmla="*/ 52 h 5861"/>
                <a:gd name="T54" fmla="*/ 2721 w 6449"/>
                <a:gd name="T55" fmla="*/ 5 h 5861"/>
                <a:gd name="T56" fmla="*/ 3609 w 6449"/>
                <a:gd name="T57" fmla="*/ 544 h 5861"/>
                <a:gd name="T58" fmla="*/ 4293 w 6449"/>
                <a:gd name="T59" fmla="*/ 861 h 5861"/>
                <a:gd name="T60" fmla="*/ 4848 w 6449"/>
                <a:gd name="T61" fmla="*/ 1368 h 5861"/>
                <a:gd name="T62" fmla="*/ 5231 w 6449"/>
                <a:gd name="T63" fmla="*/ 2024 h 5861"/>
                <a:gd name="T64" fmla="*/ 5371 w 6449"/>
                <a:gd name="T65" fmla="*/ 2534 h 5861"/>
                <a:gd name="T66" fmla="*/ 5382 w 6449"/>
                <a:gd name="T67" fmla="*/ 3232 h 5861"/>
                <a:gd name="T68" fmla="*/ 5305 w 6449"/>
                <a:gd name="T69" fmla="*/ 3623 h 5861"/>
                <a:gd name="T70" fmla="*/ 5016 w 6449"/>
                <a:gd name="T71" fmla="*/ 4252 h 5861"/>
                <a:gd name="T72" fmla="*/ 4596 w 6449"/>
                <a:gd name="T73" fmla="*/ 4780 h 5861"/>
                <a:gd name="T74" fmla="*/ 5283 w 6449"/>
                <a:gd name="T75" fmla="*/ 5401 h 5861"/>
                <a:gd name="T76" fmla="*/ 2992 w 6449"/>
                <a:gd name="T77" fmla="*/ 5409 h 5861"/>
                <a:gd name="T78" fmla="*/ 2349 w 6449"/>
                <a:gd name="T79" fmla="*/ 5349 h 5861"/>
                <a:gd name="T80" fmla="*/ 1933 w 6449"/>
                <a:gd name="T81" fmla="*/ 5202 h 5861"/>
                <a:gd name="T82" fmla="*/ 1378 w 6449"/>
                <a:gd name="T83" fmla="*/ 4865 h 5861"/>
                <a:gd name="T84" fmla="*/ 935 w 6449"/>
                <a:gd name="T85" fmla="*/ 4402 h 5861"/>
                <a:gd name="T86" fmla="*/ 621 w 6449"/>
                <a:gd name="T87" fmla="*/ 3832 h 5861"/>
                <a:gd name="T88" fmla="*/ 488 w 6449"/>
                <a:gd name="T89" fmla="*/ 3381 h 5861"/>
                <a:gd name="T90" fmla="*/ 460 w 6449"/>
                <a:gd name="T91" fmla="*/ 2861 h 5861"/>
                <a:gd name="T92" fmla="*/ 499 w 6449"/>
                <a:gd name="T93" fmla="*/ 2431 h 5861"/>
                <a:gd name="T94" fmla="*/ 704 w 6449"/>
                <a:gd name="T95" fmla="*/ 1827 h 5861"/>
                <a:gd name="T96" fmla="*/ 1109 w 6449"/>
                <a:gd name="T97" fmla="*/ 1250 h 5861"/>
                <a:gd name="T98" fmla="*/ 1453 w 6449"/>
                <a:gd name="T99" fmla="*/ 937 h 5861"/>
                <a:gd name="T100" fmla="*/ 1928 w 6449"/>
                <a:gd name="T101" fmla="*/ 657 h 5861"/>
                <a:gd name="T102" fmla="*/ 2350 w 6449"/>
                <a:gd name="T103" fmla="*/ 517 h 5861"/>
                <a:gd name="T104" fmla="*/ 2940 w 6449"/>
                <a:gd name="T105" fmla="*/ 450 h 5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449" h="5861">
                  <a:moveTo>
                    <a:pt x="2664" y="10"/>
                  </a:moveTo>
                  <a:lnTo>
                    <a:pt x="2569" y="19"/>
                  </a:lnTo>
                  <a:lnTo>
                    <a:pt x="2381" y="47"/>
                  </a:lnTo>
                  <a:lnTo>
                    <a:pt x="2197" y="87"/>
                  </a:lnTo>
                  <a:lnTo>
                    <a:pt x="2017" y="139"/>
                  </a:lnTo>
                  <a:lnTo>
                    <a:pt x="1841" y="202"/>
                  </a:lnTo>
                  <a:lnTo>
                    <a:pt x="1671" y="276"/>
                  </a:lnTo>
                  <a:lnTo>
                    <a:pt x="1506" y="361"/>
                  </a:lnTo>
                  <a:lnTo>
                    <a:pt x="1347" y="455"/>
                  </a:lnTo>
                  <a:lnTo>
                    <a:pt x="1195" y="560"/>
                  </a:lnTo>
                  <a:lnTo>
                    <a:pt x="1049" y="675"/>
                  </a:lnTo>
                  <a:lnTo>
                    <a:pt x="911" y="798"/>
                  </a:lnTo>
                  <a:lnTo>
                    <a:pt x="781" y="931"/>
                  </a:lnTo>
                  <a:lnTo>
                    <a:pt x="658" y="1073"/>
                  </a:lnTo>
                  <a:lnTo>
                    <a:pt x="545" y="1223"/>
                  </a:lnTo>
                  <a:lnTo>
                    <a:pt x="441" y="1381"/>
                  </a:lnTo>
                  <a:lnTo>
                    <a:pt x="346" y="1547"/>
                  </a:lnTo>
                  <a:lnTo>
                    <a:pt x="303" y="1633"/>
                  </a:lnTo>
                  <a:lnTo>
                    <a:pt x="256" y="1731"/>
                  </a:lnTo>
                  <a:lnTo>
                    <a:pt x="175" y="1932"/>
                  </a:lnTo>
                  <a:lnTo>
                    <a:pt x="110" y="2135"/>
                  </a:lnTo>
                  <a:lnTo>
                    <a:pt x="60" y="2341"/>
                  </a:lnTo>
                  <a:lnTo>
                    <a:pt x="25" y="2549"/>
                  </a:lnTo>
                  <a:lnTo>
                    <a:pt x="5" y="2758"/>
                  </a:lnTo>
                  <a:lnTo>
                    <a:pt x="0" y="2966"/>
                  </a:lnTo>
                  <a:lnTo>
                    <a:pt x="10" y="3175"/>
                  </a:lnTo>
                  <a:lnTo>
                    <a:pt x="35" y="3381"/>
                  </a:lnTo>
                  <a:lnTo>
                    <a:pt x="74" y="3586"/>
                  </a:lnTo>
                  <a:lnTo>
                    <a:pt x="128" y="3788"/>
                  </a:lnTo>
                  <a:lnTo>
                    <a:pt x="196" y="3986"/>
                  </a:lnTo>
                  <a:lnTo>
                    <a:pt x="279" y="4179"/>
                  </a:lnTo>
                  <a:lnTo>
                    <a:pt x="376" y="4367"/>
                  </a:lnTo>
                  <a:lnTo>
                    <a:pt x="487" y="4550"/>
                  </a:lnTo>
                  <a:lnTo>
                    <a:pt x="612" y="4725"/>
                  </a:lnTo>
                  <a:lnTo>
                    <a:pt x="681" y="4810"/>
                  </a:lnTo>
                  <a:lnTo>
                    <a:pt x="723" y="4860"/>
                  </a:lnTo>
                  <a:lnTo>
                    <a:pt x="810" y="4956"/>
                  </a:lnTo>
                  <a:lnTo>
                    <a:pt x="901" y="5048"/>
                  </a:lnTo>
                  <a:lnTo>
                    <a:pt x="995" y="5135"/>
                  </a:lnTo>
                  <a:lnTo>
                    <a:pt x="1093" y="5218"/>
                  </a:lnTo>
                  <a:lnTo>
                    <a:pt x="1195" y="5296"/>
                  </a:lnTo>
                  <a:lnTo>
                    <a:pt x="1300" y="5370"/>
                  </a:lnTo>
                  <a:lnTo>
                    <a:pt x="1409" y="5439"/>
                  </a:lnTo>
                  <a:lnTo>
                    <a:pt x="1520" y="5503"/>
                  </a:lnTo>
                  <a:lnTo>
                    <a:pt x="1635" y="5562"/>
                  </a:lnTo>
                  <a:lnTo>
                    <a:pt x="1753" y="5617"/>
                  </a:lnTo>
                  <a:lnTo>
                    <a:pt x="1874" y="5667"/>
                  </a:lnTo>
                  <a:lnTo>
                    <a:pt x="1998" y="5711"/>
                  </a:lnTo>
                  <a:lnTo>
                    <a:pt x="2125" y="5751"/>
                  </a:lnTo>
                  <a:lnTo>
                    <a:pt x="2254" y="5786"/>
                  </a:lnTo>
                  <a:lnTo>
                    <a:pt x="2386" y="5815"/>
                  </a:lnTo>
                  <a:lnTo>
                    <a:pt x="2453" y="5828"/>
                  </a:lnTo>
                  <a:lnTo>
                    <a:pt x="2519" y="5840"/>
                  </a:lnTo>
                  <a:lnTo>
                    <a:pt x="2697" y="5854"/>
                  </a:lnTo>
                  <a:lnTo>
                    <a:pt x="3096" y="5860"/>
                  </a:lnTo>
                  <a:lnTo>
                    <a:pt x="3903" y="5861"/>
                  </a:lnTo>
                  <a:lnTo>
                    <a:pt x="4544" y="5860"/>
                  </a:lnTo>
                  <a:lnTo>
                    <a:pt x="6018" y="5855"/>
                  </a:lnTo>
                  <a:lnTo>
                    <a:pt x="6449" y="5850"/>
                  </a:lnTo>
                  <a:lnTo>
                    <a:pt x="6417" y="5817"/>
                  </a:lnTo>
                  <a:lnTo>
                    <a:pt x="6089" y="5518"/>
                  </a:lnTo>
                  <a:lnTo>
                    <a:pt x="5846" y="5300"/>
                  </a:lnTo>
                  <a:lnTo>
                    <a:pt x="5602" y="5081"/>
                  </a:lnTo>
                  <a:lnTo>
                    <a:pt x="5270" y="4780"/>
                  </a:lnTo>
                  <a:lnTo>
                    <a:pt x="5236" y="4746"/>
                  </a:lnTo>
                  <a:lnTo>
                    <a:pt x="5250" y="4722"/>
                  </a:lnTo>
                  <a:lnTo>
                    <a:pt x="5299" y="4653"/>
                  </a:lnTo>
                  <a:lnTo>
                    <a:pt x="5348" y="4585"/>
                  </a:lnTo>
                  <a:lnTo>
                    <a:pt x="5441" y="4440"/>
                  </a:lnTo>
                  <a:lnTo>
                    <a:pt x="5526" y="4287"/>
                  </a:lnTo>
                  <a:lnTo>
                    <a:pt x="5602" y="4126"/>
                  </a:lnTo>
                  <a:lnTo>
                    <a:pt x="5670" y="3959"/>
                  </a:lnTo>
                  <a:lnTo>
                    <a:pt x="5728" y="3787"/>
                  </a:lnTo>
                  <a:lnTo>
                    <a:pt x="5776" y="3613"/>
                  </a:lnTo>
                  <a:lnTo>
                    <a:pt x="5814" y="3438"/>
                  </a:lnTo>
                  <a:lnTo>
                    <a:pt x="5828" y="3350"/>
                  </a:lnTo>
                  <a:lnTo>
                    <a:pt x="5839" y="3262"/>
                  </a:lnTo>
                  <a:lnTo>
                    <a:pt x="5851" y="3049"/>
                  </a:lnTo>
                  <a:lnTo>
                    <a:pt x="5850" y="2816"/>
                  </a:lnTo>
                  <a:lnTo>
                    <a:pt x="5838" y="2596"/>
                  </a:lnTo>
                  <a:lnTo>
                    <a:pt x="5826" y="2503"/>
                  </a:lnTo>
                  <a:lnTo>
                    <a:pt x="5817" y="2444"/>
                  </a:lnTo>
                  <a:lnTo>
                    <a:pt x="5795" y="2326"/>
                  </a:lnTo>
                  <a:lnTo>
                    <a:pt x="5768" y="2210"/>
                  </a:lnTo>
                  <a:lnTo>
                    <a:pt x="5736" y="2095"/>
                  </a:lnTo>
                  <a:lnTo>
                    <a:pt x="5699" y="1981"/>
                  </a:lnTo>
                  <a:lnTo>
                    <a:pt x="5658" y="1869"/>
                  </a:lnTo>
                  <a:lnTo>
                    <a:pt x="5612" y="1759"/>
                  </a:lnTo>
                  <a:lnTo>
                    <a:pt x="5562" y="1651"/>
                  </a:lnTo>
                  <a:lnTo>
                    <a:pt x="5507" y="1545"/>
                  </a:lnTo>
                  <a:lnTo>
                    <a:pt x="5448" y="1441"/>
                  </a:lnTo>
                  <a:lnTo>
                    <a:pt x="5385" y="1340"/>
                  </a:lnTo>
                  <a:lnTo>
                    <a:pt x="5318" y="1241"/>
                  </a:lnTo>
                  <a:lnTo>
                    <a:pt x="5246" y="1145"/>
                  </a:lnTo>
                  <a:lnTo>
                    <a:pt x="5171" y="1051"/>
                  </a:lnTo>
                  <a:lnTo>
                    <a:pt x="5091" y="961"/>
                  </a:lnTo>
                  <a:lnTo>
                    <a:pt x="5008" y="874"/>
                  </a:lnTo>
                  <a:lnTo>
                    <a:pt x="4964" y="831"/>
                  </a:lnTo>
                  <a:lnTo>
                    <a:pt x="4895" y="765"/>
                  </a:lnTo>
                  <a:lnTo>
                    <a:pt x="4767" y="652"/>
                  </a:lnTo>
                  <a:lnTo>
                    <a:pt x="4642" y="555"/>
                  </a:lnTo>
                  <a:lnTo>
                    <a:pt x="4503" y="463"/>
                  </a:lnTo>
                  <a:lnTo>
                    <a:pt x="4424" y="415"/>
                  </a:lnTo>
                  <a:lnTo>
                    <a:pt x="4327" y="358"/>
                  </a:lnTo>
                  <a:lnTo>
                    <a:pt x="4123" y="258"/>
                  </a:lnTo>
                  <a:lnTo>
                    <a:pt x="3910" y="173"/>
                  </a:lnTo>
                  <a:lnTo>
                    <a:pt x="3689" y="104"/>
                  </a:lnTo>
                  <a:lnTo>
                    <a:pt x="3464" y="52"/>
                  </a:lnTo>
                  <a:lnTo>
                    <a:pt x="3235" y="17"/>
                  </a:lnTo>
                  <a:lnTo>
                    <a:pt x="3006" y="0"/>
                  </a:lnTo>
                  <a:lnTo>
                    <a:pt x="2834" y="0"/>
                  </a:lnTo>
                  <a:lnTo>
                    <a:pt x="2721" y="5"/>
                  </a:lnTo>
                  <a:lnTo>
                    <a:pt x="2664" y="10"/>
                  </a:lnTo>
                  <a:close/>
                  <a:moveTo>
                    <a:pt x="3328" y="483"/>
                  </a:moveTo>
                  <a:lnTo>
                    <a:pt x="3423" y="499"/>
                  </a:lnTo>
                  <a:lnTo>
                    <a:pt x="3609" y="544"/>
                  </a:lnTo>
                  <a:lnTo>
                    <a:pt x="3790" y="603"/>
                  </a:lnTo>
                  <a:lnTo>
                    <a:pt x="3965" y="676"/>
                  </a:lnTo>
                  <a:lnTo>
                    <a:pt x="4133" y="762"/>
                  </a:lnTo>
                  <a:lnTo>
                    <a:pt x="4293" y="861"/>
                  </a:lnTo>
                  <a:lnTo>
                    <a:pt x="4446" y="972"/>
                  </a:lnTo>
                  <a:lnTo>
                    <a:pt x="4589" y="1094"/>
                  </a:lnTo>
                  <a:lnTo>
                    <a:pt x="4724" y="1226"/>
                  </a:lnTo>
                  <a:lnTo>
                    <a:pt x="4848" y="1368"/>
                  </a:lnTo>
                  <a:lnTo>
                    <a:pt x="4961" y="1520"/>
                  </a:lnTo>
                  <a:lnTo>
                    <a:pt x="5063" y="1680"/>
                  </a:lnTo>
                  <a:lnTo>
                    <a:pt x="5153" y="1849"/>
                  </a:lnTo>
                  <a:lnTo>
                    <a:pt x="5231" y="2024"/>
                  </a:lnTo>
                  <a:lnTo>
                    <a:pt x="5295" y="2207"/>
                  </a:lnTo>
                  <a:lnTo>
                    <a:pt x="5345" y="2395"/>
                  </a:lnTo>
                  <a:lnTo>
                    <a:pt x="5364" y="2491"/>
                  </a:lnTo>
                  <a:lnTo>
                    <a:pt x="5371" y="2534"/>
                  </a:lnTo>
                  <a:lnTo>
                    <a:pt x="5382" y="2634"/>
                  </a:lnTo>
                  <a:lnTo>
                    <a:pt x="5392" y="2808"/>
                  </a:lnTo>
                  <a:lnTo>
                    <a:pt x="5392" y="3058"/>
                  </a:lnTo>
                  <a:lnTo>
                    <a:pt x="5382" y="3232"/>
                  </a:lnTo>
                  <a:lnTo>
                    <a:pt x="5371" y="3332"/>
                  </a:lnTo>
                  <a:lnTo>
                    <a:pt x="5364" y="3375"/>
                  </a:lnTo>
                  <a:lnTo>
                    <a:pt x="5348" y="3458"/>
                  </a:lnTo>
                  <a:lnTo>
                    <a:pt x="5305" y="3623"/>
                  </a:lnTo>
                  <a:lnTo>
                    <a:pt x="5251" y="3785"/>
                  </a:lnTo>
                  <a:lnTo>
                    <a:pt x="5184" y="3944"/>
                  </a:lnTo>
                  <a:lnTo>
                    <a:pt x="5106" y="4100"/>
                  </a:lnTo>
                  <a:lnTo>
                    <a:pt x="5016" y="4252"/>
                  </a:lnTo>
                  <a:lnTo>
                    <a:pt x="4915" y="4400"/>
                  </a:lnTo>
                  <a:lnTo>
                    <a:pt x="4803" y="4544"/>
                  </a:lnTo>
                  <a:lnTo>
                    <a:pt x="4743" y="4615"/>
                  </a:lnTo>
                  <a:lnTo>
                    <a:pt x="4596" y="4780"/>
                  </a:lnTo>
                  <a:lnTo>
                    <a:pt x="4646" y="4821"/>
                  </a:lnTo>
                  <a:lnTo>
                    <a:pt x="4797" y="4954"/>
                  </a:lnTo>
                  <a:lnTo>
                    <a:pt x="5222" y="5342"/>
                  </a:lnTo>
                  <a:lnTo>
                    <a:pt x="5283" y="5401"/>
                  </a:lnTo>
                  <a:lnTo>
                    <a:pt x="4988" y="5405"/>
                  </a:lnTo>
                  <a:lnTo>
                    <a:pt x="3986" y="5410"/>
                  </a:lnTo>
                  <a:lnTo>
                    <a:pt x="3487" y="5411"/>
                  </a:lnTo>
                  <a:lnTo>
                    <a:pt x="2992" y="5409"/>
                  </a:lnTo>
                  <a:lnTo>
                    <a:pt x="2761" y="5404"/>
                  </a:lnTo>
                  <a:lnTo>
                    <a:pt x="2591" y="5393"/>
                  </a:lnTo>
                  <a:lnTo>
                    <a:pt x="2461" y="5375"/>
                  </a:lnTo>
                  <a:lnTo>
                    <a:pt x="2349" y="5349"/>
                  </a:lnTo>
                  <a:lnTo>
                    <a:pt x="2234" y="5313"/>
                  </a:lnTo>
                  <a:lnTo>
                    <a:pt x="2168" y="5291"/>
                  </a:lnTo>
                  <a:lnTo>
                    <a:pt x="2088" y="5264"/>
                  </a:lnTo>
                  <a:lnTo>
                    <a:pt x="1933" y="5202"/>
                  </a:lnTo>
                  <a:lnTo>
                    <a:pt x="1785" y="5130"/>
                  </a:lnTo>
                  <a:lnTo>
                    <a:pt x="1643" y="5050"/>
                  </a:lnTo>
                  <a:lnTo>
                    <a:pt x="1507" y="4962"/>
                  </a:lnTo>
                  <a:lnTo>
                    <a:pt x="1378" y="4865"/>
                  </a:lnTo>
                  <a:lnTo>
                    <a:pt x="1256" y="4760"/>
                  </a:lnTo>
                  <a:lnTo>
                    <a:pt x="1141" y="4648"/>
                  </a:lnTo>
                  <a:lnTo>
                    <a:pt x="1034" y="4529"/>
                  </a:lnTo>
                  <a:lnTo>
                    <a:pt x="935" y="4402"/>
                  </a:lnTo>
                  <a:lnTo>
                    <a:pt x="844" y="4269"/>
                  </a:lnTo>
                  <a:lnTo>
                    <a:pt x="761" y="4129"/>
                  </a:lnTo>
                  <a:lnTo>
                    <a:pt x="686" y="3983"/>
                  </a:lnTo>
                  <a:lnTo>
                    <a:pt x="621" y="3832"/>
                  </a:lnTo>
                  <a:lnTo>
                    <a:pt x="564" y="3674"/>
                  </a:lnTo>
                  <a:lnTo>
                    <a:pt x="517" y="3511"/>
                  </a:lnTo>
                  <a:lnTo>
                    <a:pt x="498" y="3428"/>
                  </a:lnTo>
                  <a:lnTo>
                    <a:pt x="488" y="3381"/>
                  </a:lnTo>
                  <a:lnTo>
                    <a:pt x="474" y="3270"/>
                  </a:lnTo>
                  <a:lnTo>
                    <a:pt x="464" y="3141"/>
                  </a:lnTo>
                  <a:lnTo>
                    <a:pt x="459" y="3003"/>
                  </a:lnTo>
                  <a:lnTo>
                    <a:pt x="460" y="2861"/>
                  </a:lnTo>
                  <a:lnTo>
                    <a:pt x="465" y="2722"/>
                  </a:lnTo>
                  <a:lnTo>
                    <a:pt x="475" y="2593"/>
                  </a:lnTo>
                  <a:lnTo>
                    <a:pt x="490" y="2479"/>
                  </a:lnTo>
                  <a:lnTo>
                    <a:pt x="499" y="2431"/>
                  </a:lnTo>
                  <a:lnTo>
                    <a:pt x="521" y="2336"/>
                  </a:lnTo>
                  <a:lnTo>
                    <a:pt x="572" y="2157"/>
                  </a:lnTo>
                  <a:lnTo>
                    <a:pt x="632" y="1987"/>
                  </a:lnTo>
                  <a:lnTo>
                    <a:pt x="704" y="1827"/>
                  </a:lnTo>
                  <a:lnTo>
                    <a:pt x="786" y="1675"/>
                  </a:lnTo>
                  <a:lnTo>
                    <a:pt x="881" y="1529"/>
                  </a:lnTo>
                  <a:lnTo>
                    <a:pt x="988" y="1388"/>
                  </a:lnTo>
                  <a:lnTo>
                    <a:pt x="1109" y="1250"/>
                  </a:lnTo>
                  <a:lnTo>
                    <a:pt x="1176" y="1181"/>
                  </a:lnTo>
                  <a:lnTo>
                    <a:pt x="1231" y="1127"/>
                  </a:lnTo>
                  <a:lnTo>
                    <a:pt x="1342" y="1027"/>
                  </a:lnTo>
                  <a:lnTo>
                    <a:pt x="1453" y="937"/>
                  </a:lnTo>
                  <a:lnTo>
                    <a:pt x="1567" y="855"/>
                  </a:lnTo>
                  <a:lnTo>
                    <a:pt x="1683" y="782"/>
                  </a:lnTo>
                  <a:lnTo>
                    <a:pt x="1803" y="716"/>
                  </a:lnTo>
                  <a:lnTo>
                    <a:pt x="1928" y="657"/>
                  </a:lnTo>
                  <a:lnTo>
                    <a:pt x="2058" y="605"/>
                  </a:lnTo>
                  <a:lnTo>
                    <a:pt x="2126" y="581"/>
                  </a:lnTo>
                  <a:lnTo>
                    <a:pt x="2201" y="557"/>
                  </a:lnTo>
                  <a:lnTo>
                    <a:pt x="2350" y="517"/>
                  </a:lnTo>
                  <a:lnTo>
                    <a:pt x="2497" y="486"/>
                  </a:lnTo>
                  <a:lnTo>
                    <a:pt x="2644" y="465"/>
                  </a:lnTo>
                  <a:lnTo>
                    <a:pt x="2791" y="453"/>
                  </a:lnTo>
                  <a:lnTo>
                    <a:pt x="2940" y="450"/>
                  </a:lnTo>
                  <a:lnTo>
                    <a:pt x="3092" y="456"/>
                  </a:lnTo>
                  <a:lnTo>
                    <a:pt x="3248" y="472"/>
                  </a:lnTo>
                  <a:lnTo>
                    <a:pt x="3328" y="4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3" name="Freeform 7">
              <a:extLst>
                <a:ext uri="{FF2B5EF4-FFF2-40B4-BE49-F238E27FC236}">
                  <a16:creationId xmlns:a16="http://schemas.microsoft.com/office/drawing/2014/main" id="{639C257E-C8AC-E33E-3A00-0643B8222E53}"/>
                </a:ext>
              </a:extLst>
            </p:cNvPr>
            <p:cNvSpPr>
              <a:spLocks/>
            </p:cNvSpPr>
            <p:nvPr/>
          </p:nvSpPr>
          <p:spPr bwMode="auto">
            <a:xfrm>
              <a:off x="4089544" y="5340298"/>
              <a:ext cx="532906" cy="85224"/>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4" name="Freeform 8">
              <a:extLst>
                <a:ext uri="{FF2B5EF4-FFF2-40B4-BE49-F238E27FC236}">
                  <a16:creationId xmlns:a16="http://schemas.microsoft.com/office/drawing/2014/main" id="{15DA4379-BCC6-ED4F-DA52-0436012F725E}"/>
                </a:ext>
              </a:extLst>
            </p:cNvPr>
            <p:cNvSpPr>
              <a:spLocks/>
            </p:cNvSpPr>
            <p:nvPr/>
          </p:nvSpPr>
          <p:spPr bwMode="auto">
            <a:xfrm>
              <a:off x="4089544" y="5492263"/>
              <a:ext cx="532906" cy="85737"/>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5" name="Freeform 9">
              <a:extLst>
                <a:ext uri="{FF2B5EF4-FFF2-40B4-BE49-F238E27FC236}">
                  <a16:creationId xmlns:a16="http://schemas.microsoft.com/office/drawing/2014/main" id="{1A317ADB-5515-38CF-AB65-B52564899D7B}"/>
                </a:ext>
              </a:extLst>
            </p:cNvPr>
            <p:cNvSpPr>
              <a:spLocks/>
            </p:cNvSpPr>
            <p:nvPr/>
          </p:nvSpPr>
          <p:spPr bwMode="auto">
            <a:xfrm>
              <a:off x="4333921" y="5647309"/>
              <a:ext cx="285449" cy="85737"/>
            </a:xfrm>
            <a:custGeom>
              <a:avLst/>
              <a:gdLst>
                <a:gd name="T0" fmla="*/ 0 w 1500"/>
                <a:gd name="T1" fmla="*/ 225 h 450"/>
                <a:gd name="T2" fmla="*/ 0 w 1500"/>
                <a:gd name="T3" fmla="*/ 450 h 450"/>
                <a:gd name="T4" fmla="*/ 750 w 1500"/>
                <a:gd name="T5" fmla="*/ 450 h 450"/>
                <a:gd name="T6" fmla="*/ 1500 w 1500"/>
                <a:gd name="T7" fmla="*/ 450 h 450"/>
                <a:gd name="T8" fmla="*/ 1500 w 1500"/>
                <a:gd name="T9" fmla="*/ 225 h 450"/>
                <a:gd name="T10" fmla="*/ 1500 w 1500"/>
                <a:gd name="T11" fmla="*/ 0 h 450"/>
                <a:gd name="T12" fmla="*/ 750 w 1500"/>
                <a:gd name="T13" fmla="*/ 0 h 450"/>
                <a:gd name="T14" fmla="*/ 0 w 1500"/>
                <a:gd name="T15" fmla="*/ 0 h 450"/>
                <a:gd name="T16" fmla="*/ 0 w 15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0" h="450">
                  <a:moveTo>
                    <a:pt x="0" y="225"/>
                  </a:moveTo>
                  <a:lnTo>
                    <a:pt x="0" y="450"/>
                  </a:lnTo>
                  <a:lnTo>
                    <a:pt x="750" y="450"/>
                  </a:lnTo>
                  <a:lnTo>
                    <a:pt x="1500" y="450"/>
                  </a:lnTo>
                  <a:lnTo>
                    <a:pt x="1500" y="225"/>
                  </a:lnTo>
                  <a:lnTo>
                    <a:pt x="1500" y="0"/>
                  </a:lnTo>
                  <a:lnTo>
                    <a:pt x="75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grpSp>
      <p:grpSp>
        <p:nvGrpSpPr>
          <p:cNvPr id="176" name="Group 175">
            <a:extLst>
              <a:ext uri="{FF2B5EF4-FFF2-40B4-BE49-F238E27FC236}">
                <a16:creationId xmlns:a16="http://schemas.microsoft.com/office/drawing/2014/main" id="{944BE43C-ACBE-3168-4DE5-21422DA6E755}"/>
              </a:ext>
            </a:extLst>
          </p:cNvPr>
          <p:cNvGrpSpPr>
            <a:grpSpLocks noChangeAspect="1"/>
          </p:cNvGrpSpPr>
          <p:nvPr/>
        </p:nvGrpSpPr>
        <p:grpSpPr>
          <a:xfrm>
            <a:off x="6953025" y="2359145"/>
            <a:ext cx="230096" cy="256902"/>
            <a:chOff x="338138" y="222251"/>
            <a:chExt cx="2281238" cy="2209800"/>
          </a:xfrm>
          <a:solidFill>
            <a:schemeClr val="bg1">
              <a:lumMod val="95000"/>
            </a:schemeClr>
          </a:solidFill>
        </p:grpSpPr>
        <p:sp>
          <p:nvSpPr>
            <p:cNvPr id="177" name="Freeform 9">
              <a:extLst>
                <a:ext uri="{FF2B5EF4-FFF2-40B4-BE49-F238E27FC236}">
                  <a16:creationId xmlns:a16="http://schemas.microsoft.com/office/drawing/2014/main" id="{2CD742A9-03BC-9902-BD4B-BF6A4EE2ACB0}"/>
                </a:ext>
              </a:extLst>
            </p:cNvPr>
            <p:cNvSpPr>
              <a:spLocks noEditPoints="1"/>
            </p:cNvSpPr>
            <p:nvPr/>
          </p:nvSpPr>
          <p:spPr bwMode="auto">
            <a:xfrm>
              <a:off x="338138" y="222251"/>
              <a:ext cx="2281238" cy="985838"/>
            </a:xfrm>
            <a:custGeom>
              <a:avLst/>
              <a:gdLst>
                <a:gd name="T0" fmla="*/ 563 w 6046"/>
                <a:gd name="T1" fmla="*/ 288 h 2614"/>
                <a:gd name="T2" fmla="*/ 69 w 6046"/>
                <a:gd name="T3" fmla="*/ 978 h 2614"/>
                <a:gd name="T4" fmla="*/ 29 w 6046"/>
                <a:gd name="T5" fmla="*/ 1717 h 2614"/>
                <a:gd name="T6" fmla="*/ 388 w 6046"/>
                <a:gd name="T7" fmla="*/ 2300 h 2614"/>
                <a:gd name="T8" fmla="*/ 1051 w 6046"/>
                <a:gd name="T9" fmla="*/ 2607 h 2614"/>
                <a:gd name="T10" fmla="*/ 1576 w 6046"/>
                <a:gd name="T11" fmla="*/ 2526 h 2614"/>
                <a:gd name="T12" fmla="*/ 2023 w 6046"/>
                <a:gd name="T13" fmla="*/ 2133 h 2614"/>
                <a:gd name="T14" fmla="*/ 2162 w 6046"/>
                <a:gd name="T15" fmla="*/ 1637 h 2614"/>
                <a:gd name="T16" fmla="*/ 2015 w 6046"/>
                <a:gd name="T17" fmla="*/ 1151 h 2614"/>
                <a:gd name="T18" fmla="*/ 1405 w 6046"/>
                <a:gd name="T19" fmla="*/ 798 h 2614"/>
                <a:gd name="T20" fmla="*/ 909 w 6046"/>
                <a:gd name="T21" fmla="*/ 1011 h 2614"/>
                <a:gd name="T22" fmla="*/ 840 w 6046"/>
                <a:gd name="T23" fmla="*/ 1475 h 2614"/>
                <a:gd name="T24" fmla="*/ 1145 w 6046"/>
                <a:gd name="T25" fmla="*/ 1798 h 2614"/>
                <a:gd name="T26" fmla="*/ 1687 w 6046"/>
                <a:gd name="T27" fmla="*/ 1693 h 2614"/>
                <a:gd name="T28" fmla="*/ 1575 w 6046"/>
                <a:gd name="T29" fmla="*/ 2029 h 2614"/>
                <a:gd name="T30" fmla="*/ 1025 w 6046"/>
                <a:gd name="T31" fmla="*/ 2180 h 2614"/>
                <a:gd name="T32" fmla="*/ 503 w 6046"/>
                <a:gd name="T33" fmla="*/ 1786 h 2614"/>
                <a:gd name="T34" fmla="*/ 453 w 6046"/>
                <a:gd name="T35" fmla="*/ 1144 h 2614"/>
                <a:gd name="T36" fmla="*/ 918 w 6046"/>
                <a:gd name="T37" fmla="*/ 558 h 2614"/>
                <a:gd name="T38" fmla="*/ 2376 w 6046"/>
                <a:gd name="T39" fmla="*/ 415 h 2614"/>
                <a:gd name="T40" fmla="*/ 4949 w 6046"/>
                <a:gd name="T41" fmla="*/ 473 h 2614"/>
                <a:gd name="T42" fmla="*/ 5402 w 6046"/>
                <a:gd name="T43" fmla="*/ 789 h 2614"/>
                <a:gd name="T44" fmla="*/ 5625 w 6046"/>
                <a:gd name="T45" fmla="*/ 1301 h 2614"/>
                <a:gd name="T46" fmla="*/ 5567 w 6046"/>
                <a:gd name="T47" fmla="*/ 1735 h 2614"/>
                <a:gd name="T48" fmla="*/ 5238 w 6046"/>
                <a:gd name="T49" fmla="*/ 2098 h 2614"/>
                <a:gd name="T50" fmla="*/ 4845 w 6046"/>
                <a:gd name="T51" fmla="*/ 2193 h 2614"/>
                <a:gd name="T52" fmla="*/ 4480 w 6046"/>
                <a:gd name="T53" fmla="*/ 2038 h 2614"/>
                <a:gd name="T54" fmla="*/ 4310 w 6046"/>
                <a:gd name="T55" fmla="*/ 1719 h 2614"/>
                <a:gd name="T56" fmla="*/ 4582 w 6046"/>
                <a:gd name="T57" fmla="*/ 1815 h 2614"/>
                <a:gd name="T58" fmla="*/ 4948 w 6046"/>
                <a:gd name="T59" fmla="*/ 1779 h 2614"/>
                <a:gd name="T60" fmla="*/ 5217 w 6046"/>
                <a:gd name="T61" fmla="*/ 1447 h 2614"/>
                <a:gd name="T62" fmla="*/ 5187 w 6046"/>
                <a:gd name="T63" fmla="*/ 1099 h 2614"/>
                <a:gd name="T64" fmla="*/ 4854 w 6046"/>
                <a:gd name="T65" fmla="*/ 811 h 2614"/>
                <a:gd name="T66" fmla="*/ 4228 w 6046"/>
                <a:gd name="T67" fmla="*/ 951 h 2614"/>
                <a:gd name="T68" fmla="*/ 3950 w 6046"/>
                <a:gd name="T69" fmla="*/ 1296 h 2614"/>
                <a:gd name="T70" fmla="*/ 3900 w 6046"/>
                <a:gd name="T71" fmla="*/ 1801 h 2614"/>
                <a:gd name="T72" fmla="*/ 4210 w 6046"/>
                <a:gd name="T73" fmla="*/ 2359 h 2614"/>
                <a:gd name="T74" fmla="*/ 4646 w 6046"/>
                <a:gd name="T75" fmla="*/ 2588 h 2614"/>
                <a:gd name="T76" fmla="*/ 5186 w 6046"/>
                <a:gd name="T77" fmla="*/ 2567 h 2614"/>
                <a:gd name="T78" fmla="*/ 5732 w 6046"/>
                <a:gd name="T79" fmla="*/ 2237 h 2614"/>
                <a:gd name="T80" fmla="*/ 6031 w 6046"/>
                <a:gd name="T81" fmla="*/ 1641 h 2614"/>
                <a:gd name="T82" fmla="*/ 6007 w 6046"/>
                <a:gd name="T83" fmla="*/ 1074 h 2614"/>
                <a:gd name="T84" fmla="*/ 5696 w 6046"/>
                <a:gd name="T85" fmla="*/ 490 h 2614"/>
                <a:gd name="T86" fmla="*/ 5125 w 6046"/>
                <a:gd name="T87" fmla="*/ 91 h 2614"/>
                <a:gd name="T88" fmla="*/ 3007 w 6046"/>
                <a:gd name="T89" fmla="*/ 1 h 2614"/>
                <a:gd name="T90" fmla="*/ 1644 w 6046"/>
                <a:gd name="T91" fmla="*/ 1252 h 2614"/>
                <a:gd name="T92" fmla="*/ 1547 w 6046"/>
                <a:gd name="T93" fmla="*/ 1596 h 2614"/>
                <a:gd name="T94" fmla="*/ 1235 w 6046"/>
                <a:gd name="T95" fmla="*/ 1646 h 2614"/>
                <a:gd name="T96" fmla="*/ 1043 w 6046"/>
                <a:gd name="T97" fmla="*/ 1392 h 2614"/>
                <a:gd name="T98" fmla="*/ 1184 w 6046"/>
                <a:gd name="T99" fmla="*/ 1098 h 2614"/>
                <a:gd name="T100" fmla="*/ 1442 w 6046"/>
                <a:gd name="T101" fmla="*/ 1063 h 2614"/>
                <a:gd name="T102" fmla="*/ 4940 w 6046"/>
                <a:gd name="T103" fmla="*/ 1163 h 2614"/>
                <a:gd name="T104" fmla="*/ 4967 w 6046"/>
                <a:gd name="T105" fmla="*/ 1508 h 2614"/>
                <a:gd name="T106" fmla="*/ 4645 w 6046"/>
                <a:gd name="T107" fmla="*/ 1664 h 2614"/>
                <a:gd name="T108" fmla="*/ 4421 w 6046"/>
                <a:gd name="T109" fmla="*/ 1505 h 2614"/>
                <a:gd name="T110" fmla="*/ 4419 w 6046"/>
                <a:gd name="T111" fmla="*/ 1222 h 2614"/>
                <a:gd name="T112" fmla="*/ 4655 w 6046"/>
                <a:gd name="T113" fmla="*/ 1052 h 2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6" h="2614">
                  <a:moveTo>
                    <a:pt x="1200" y="16"/>
                  </a:moveTo>
                  <a:lnTo>
                    <a:pt x="1135" y="28"/>
                  </a:lnTo>
                  <a:lnTo>
                    <a:pt x="1009" y="61"/>
                  </a:lnTo>
                  <a:lnTo>
                    <a:pt x="889" y="104"/>
                  </a:lnTo>
                  <a:lnTo>
                    <a:pt x="774" y="156"/>
                  </a:lnTo>
                  <a:lnTo>
                    <a:pt x="665" y="218"/>
                  </a:lnTo>
                  <a:lnTo>
                    <a:pt x="563" y="288"/>
                  </a:lnTo>
                  <a:lnTo>
                    <a:pt x="468" y="367"/>
                  </a:lnTo>
                  <a:lnTo>
                    <a:pt x="380" y="453"/>
                  </a:lnTo>
                  <a:lnTo>
                    <a:pt x="300" y="546"/>
                  </a:lnTo>
                  <a:lnTo>
                    <a:pt x="229" y="645"/>
                  </a:lnTo>
                  <a:lnTo>
                    <a:pt x="166" y="751"/>
                  </a:lnTo>
                  <a:lnTo>
                    <a:pt x="113" y="862"/>
                  </a:lnTo>
                  <a:lnTo>
                    <a:pt x="69" y="978"/>
                  </a:lnTo>
                  <a:lnTo>
                    <a:pt x="36" y="1098"/>
                  </a:lnTo>
                  <a:lnTo>
                    <a:pt x="13" y="1223"/>
                  </a:lnTo>
                  <a:lnTo>
                    <a:pt x="1" y="1351"/>
                  </a:lnTo>
                  <a:lnTo>
                    <a:pt x="0" y="1416"/>
                  </a:lnTo>
                  <a:lnTo>
                    <a:pt x="0" y="1481"/>
                  </a:lnTo>
                  <a:lnTo>
                    <a:pt x="10" y="1603"/>
                  </a:lnTo>
                  <a:lnTo>
                    <a:pt x="29" y="1717"/>
                  </a:lnTo>
                  <a:lnTo>
                    <a:pt x="59" y="1824"/>
                  </a:lnTo>
                  <a:lnTo>
                    <a:pt x="101" y="1926"/>
                  </a:lnTo>
                  <a:lnTo>
                    <a:pt x="155" y="2023"/>
                  </a:lnTo>
                  <a:lnTo>
                    <a:pt x="221" y="2118"/>
                  </a:lnTo>
                  <a:lnTo>
                    <a:pt x="301" y="2212"/>
                  </a:lnTo>
                  <a:lnTo>
                    <a:pt x="347" y="2259"/>
                  </a:lnTo>
                  <a:lnTo>
                    <a:pt x="388" y="2300"/>
                  </a:lnTo>
                  <a:lnTo>
                    <a:pt x="473" y="2373"/>
                  </a:lnTo>
                  <a:lnTo>
                    <a:pt x="560" y="2436"/>
                  </a:lnTo>
                  <a:lnTo>
                    <a:pt x="650" y="2488"/>
                  </a:lnTo>
                  <a:lnTo>
                    <a:pt x="744" y="2532"/>
                  </a:lnTo>
                  <a:lnTo>
                    <a:pt x="841" y="2566"/>
                  </a:lnTo>
                  <a:lnTo>
                    <a:pt x="943" y="2590"/>
                  </a:lnTo>
                  <a:lnTo>
                    <a:pt x="1051" y="2607"/>
                  </a:lnTo>
                  <a:lnTo>
                    <a:pt x="1107" y="2611"/>
                  </a:lnTo>
                  <a:lnTo>
                    <a:pt x="1151" y="2613"/>
                  </a:lnTo>
                  <a:lnTo>
                    <a:pt x="1240" y="2611"/>
                  </a:lnTo>
                  <a:lnTo>
                    <a:pt x="1327" y="2601"/>
                  </a:lnTo>
                  <a:lnTo>
                    <a:pt x="1413" y="2583"/>
                  </a:lnTo>
                  <a:lnTo>
                    <a:pt x="1496" y="2558"/>
                  </a:lnTo>
                  <a:lnTo>
                    <a:pt x="1576" y="2526"/>
                  </a:lnTo>
                  <a:lnTo>
                    <a:pt x="1653" y="2487"/>
                  </a:lnTo>
                  <a:lnTo>
                    <a:pt x="1726" y="2442"/>
                  </a:lnTo>
                  <a:lnTo>
                    <a:pt x="1796" y="2391"/>
                  </a:lnTo>
                  <a:lnTo>
                    <a:pt x="1861" y="2334"/>
                  </a:lnTo>
                  <a:lnTo>
                    <a:pt x="1920" y="2272"/>
                  </a:lnTo>
                  <a:lnTo>
                    <a:pt x="1975" y="2205"/>
                  </a:lnTo>
                  <a:lnTo>
                    <a:pt x="2023" y="2133"/>
                  </a:lnTo>
                  <a:lnTo>
                    <a:pt x="2065" y="2057"/>
                  </a:lnTo>
                  <a:lnTo>
                    <a:pt x="2101" y="1977"/>
                  </a:lnTo>
                  <a:lnTo>
                    <a:pt x="2129" y="1893"/>
                  </a:lnTo>
                  <a:lnTo>
                    <a:pt x="2140" y="1849"/>
                  </a:lnTo>
                  <a:lnTo>
                    <a:pt x="2149" y="1808"/>
                  </a:lnTo>
                  <a:lnTo>
                    <a:pt x="2159" y="1724"/>
                  </a:lnTo>
                  <a:lnTo>
                    <a:pt x="2162" y="1637"/>
                  </a:lnTo>
                  <a:lnTo>
                    <a:pt x="2157" y="1549"/>
                  </a:lnTo>
                  <a:lnTo>
                    <a:pt x="2144" y="1463"/>
                  </a:lnTo>
                  <a:lnTo>
                    <a:pt x="2124" y="1380"/>
                  </a:lnTo>
                  <a:lnTo>
                    <a:pt x="2097" y="1301"/>
                  </a:lnTo>
                  <a:lnTo>
                    <a:pt x="2063" y="1228"/>
                  </a:lnTo>
                  <a:lnTo>
                    <a:pt x="2043" y="1194"/>
                  </a:lnTo>
                  <a:lnTo>
                    <a:pt x="2015" y="1151"/>
                  </a:lnTo>
                  <a:lnTo>
                    <a:pt x="1950" y="1071"/>
                  </a:lnTo>
                  <a:lnTo>
                    <a:pt x="1874" y="999"/>
                  </a:lnTo>
                  <a:lnTo>
                    <a:pt x="1790" y="937"/>
                  </a:lnTo>
                  <a:lnTo>
                    <a:pt x="1700" y="884"/>
                  </a:lnTo>
                  <a:lnTo>
                    <a:pt x="1604" y="843"/>
                  </a:lnTo>
                  <a:lnTo>
                    <a:pt x="1505" y="814"/>
                  </a:lnTo>
                  <a:lnTo>
                    <a:pt x="1405" y="798"/>
                  </a:lnTo>
                  <a:lnTo>
                    <a:pt x="1355" y="796"/>
                  </a:lnTo>
                  <a:lnTo>
                    <a:pt x="1305" y="796"/>
                  </a:lnTo>
                  <a:lnTo>
                    <a:pt x="1209" y="811"/>
                  </a:lnTo>
                  <a:lnTo>
                    <a:pt x="1120" y="841"/>
                  </a:lnTo>
                  <a:lnTo>
                    <a:pt x="1039" y="885"/>
                  </a:lnTo>
                  <a:lnTo>
                    <a:pt x="969" y="942"/>
                  </a:lnTo>
                  <a:lnTo>
                    <a:pt x="909" y="1011"/>
                  </a:lnTo>
                  <a:lnTo>
                    <a:pt x="862" y="1091"/>
                  </a:lnTo>
                  <a:lnTo>
                    <a:pt x="830" y="1181"/>
                  </a:lnTo>
                  <a:lnTo>
                    <a:pt x="820" y="1229"/>
                  </a:lnTo>
                  <a:lnTo>
                    <a:pt x="815" y="1264"/>
                  </a:lnTo>
                  <a:lnTo>
                    <a:pt x="813" y="1334"/>
                  </a:lnTo>
                  <a:lnTo>
                    <a:pt x="822" y="1405"/>
                  </a:lnTo>
                  <a:lnTo>
                    <a:pt x="840" y="1475"/>
                  </a:lnTo>
                  <a:lnTo>
                    <a:pt x="868" y="1542"/>
                  </a:lnTo>
                  <a:lnTo>
                    <a:pt x="903" y="1604"/>
                  </a:lnTo>
                  <a:lnTo>
                    <a:pt x="947" y="1661"/>
                  </a:lnTo>
                  <a:lnTo>
                    <a:pt x="997" y="1711"/>
                  </a:lnTo>
                  <a:lnTo>
                    <a:pt x="1025" y="1733"/>
                  </a:lnTo>
                  <a:lnTo>
                    <a:pt x="1063" y="1759"/>
                  </a:lnTo>
                  <a:lnTo>
                    <a:pt x="1145" y="1798"/>
                  </a:lnTo>
                  <a:lnTo>
                    <a:pt x="1231" y="1822"/>
                  </a:lnTo>
                  <a:lnTo>
                    <a:pt x="1319" y="1832"/>
                  </a:lnTo>
                  <a:lnTo>
                    <a:pt x="1407" y="1826"/>
                  </a:lnTo>
                  <a:lnTo>
                    <a:pt x="1494" y="1806"/>
                  </a:lnTo>
                  <a:lnTo>
                    <a:pt x="1576" y="1772"/>
                  </a:lnTo>
                  <a:lnTo>
                    <a:pt x="1652" y="1723"/>
                  </a:lnTo>
                  <a:lnTo>
                    <a:pt x="1687" y="1693"/>
                  </a:lnTo>
                  <a:lnTo>
                    <a:pt x="1742" y="1641"/>
                  </a:lnTo>
                  <a:lnTo>
                    <a:pt x="1735" y="1719"/>
                  </a:lnTo>
                  <a:lnTo>
                    <a:pt x="1729" y="1759"/>
                  </a:lnTo>
                  <a:lnTo>
                    <a:pt x="1703" y="1841"/>
                  </a:lnTo>
                  <a:lnTo>
                    <a:pt x="1662" y="1921"/>
                  </a:lnTo>
                  <a:lnTo>
                    <a:pt x="1607" y="1996"/>
                  </a:lnTo>
                  <a:lnTo>
                    <a:pt x="1575" y="2029"/>
                  </a:lnTo>
                  <a:lnTo>
                    <a:pt x="1540" y="2063"/>
                  </a:lnTo>
                  <a:lnTo>
                    <a:pt x="1463" y="2117"/>
                  </a:lnTo>
                  <a:lnTo>
                    <a:pt x="1381" y="2157"/>
                  </a:lnTo>
                  <a:lnTo>
                    <a:pt x="1295" y="2182"/>
                  </a:lnTo>
                  <a:lnTo>
                    <a:pt x="1206" y="2194"/>
                  </a:lnTo>
                  <a:lnTo>
                    <a:pt x="1116" y="2193"/>
                  </a:lnTo>
                  <a:lnTo>
                    <a:pt x="1025" y="2180"/>
                  </a:lnTo>
                  <a:lnTo>
                    <a:pt x="936" y="2155"/>
                  </a:lnTo>
                  <a:lnTo>
                    <a:pt x="849" y="2118"/>
                  </a:lnTo>
                  <a:lnTo>
                    <a:pt x="766" y="2071"/>
                  </a:lnTo>
                  <a:lnTo>
                    <a:pt x="689" y="2013"/>
                  </a:lnTo>
                  <a:lnTo>
                    <a:pt x="618" y="1947"/>
                  </a:lnTo>
                  <a:lnTo>
                    <a:pt x="556" y="1871"/>
                  </a:lnTo>
                  <a:lnTo>
                    <a:pt x="503" y="1786"/>
                  </a:lnTo>
                  <a:lnTo>
                    <a:pt x="461" y="1694"/>
                  </a:lnTo>
                  <a:lnTo>
                    <a:pt x="431" y="1595"/>
                  </a:lnTo>
                  <a:lnTo>
                    <a:pt x="422" y="1543"/>
                  </a:lnTo>
                  <a:lnTo>
                    <a:pt x="415" y="1491"/>
                  </a:lnTo>
                  <a:lnTo>
                    <a:pt x="414" y="1379"/>
                  </a:lnTo>
                  <a:lnTo>
                    <a:pt x="427" y="1261"/>
                  </a:lnTo>
                  <a:lnTo>
                    <a:pt x="453" y="1144"/>
                  </a:lnTo>
                  <a:lnTo>
                    <a:pt x="472" y="1088"/>
                  </a:lnTo>
                  <a:lnTo>
                    <a:pt x="494" y="1029"/>
                  </a:lnTo>
                  <a:lnTo>
                    <a:pt x="552" y="917"/>
                  </a:lnTo>
                  <a:lnTo>
                    <a:pt x="626" y="812"/>
                  </a:lnTo>
                  <a:lnTo>
                    <a:pt x="712" y="716"/>
                  </a:lnTo>
                  <a:lnTo>
                    <a:pt x="810" y="631"/>
                  </a:lnTo>
                  <a:lnTo>
                    <a:pt x="918" y="558"/>
                  </a:lnTo>
                  <a:lnTo>
                    <a:pt x="1032" y="499"/>
                  </a:lnTo>
                  <a:lnTo>
                    <a:pt x="1152" y="455"/>
                  </a:lnTo>
                  <a:lnTo>
                    <a:pt x="1213" y="441"/>
                  </a:lnTo>
                  <a:lnTo>
                    <a:pt x="1236" y="438"/>
                  </a:lnTo>
                  <a:lnTo>
                    <a:pt x="1336" y="432"/>
                  </a:lnTo>
                  <a:lnTo>
                    <a:pt x="1589" y="424"/>
                  </a:lnTo>
                  <a:lnTo>
                    <a:pt x="2376" y="415"/>
                  </a:lnTo>
                  <a:lnTo>
                    <a:pt x="3667" y="415"/>
                  </a:lnTo>
                  <a:lnTo>
                    <a:pt x="4454" y="424"/>
                  </a:lnTo>
                  <a:lnTo>
                    <a:pt x="4707" y="432"/>
                  </a:lnTo>
                  <a:lnTo>
                    <a:pt x="4808" y="438"/>
                  </a:lnTo>
                  <a:lnTo>
                    <a:pt x="4830" y="441"/>
                  </a:lnTo>
                  <a:lnTo>
                    <a:pt x="4870" y="450"/>
                  </a:lnTo>
                  <a:lnTo>
                    <a:pt x="4949" y="473"/>
                  </a:lnTo>
                  <a:lnTo>
                    <a:pt x="5024" y="502"/>
                  </a:lnTo>
                  <a:lnTo>
                    <a:pt x="5096" y="537"/>
                  </a:lnTo>
                  <a:lnTo>
                    <a:pt x="5165" y="578"/>
                  </a:lnTo>
                  <a:lnTo>
                    <a:pt x="5230" y="624"/>
                  </a:lnTo>
                  <a:lnTo>
                    <a:pt x="5292" y="674"/>
                  </a:lnTo>
                  <a:lnTo>
                    <a:pt x="5349" y="729"/>
                  </a:lnTo>
                  <a:lnTo>
                    <a:pt x="5402" y="789"/>
                  </a:lnTo>
                  <a:lnTo>
                    <a:pt x="5450" y="852"/>
                  </a:lnTo>
                  <a:lnTo>
                    <a:pt x="5493" y="919"/>
                  </a:lnTo>
                  <a:lnTo>
                    <a:pt x="5531" y="990"/>
                  </a:lnTo>
                  <a:lnTo>
                    <a:pt x="5563" y="1064"/>
                  </a:lnTo>
                  <a:lnTo>
                    <a:pt x="5590" y="1140"/>
                  </a:lnTo>
                  <a:lnTo>
                    <a:pt x="5611" y="1220"/>
                  </a:lnTo>
                  <a:lnTo>
                    <a:pt x="5625" y="1301"/>
                  </a:lnTo>
                  <a:lnTo>
                    <a:pt x="5630" y="1343"/>
                  </a:lnTo>
                  <a:lnTo>
                    <a:pt x="5633" y="1380"/>
                  </a:lnTo>
                  <a:lnTo>
                    <a:pt x="5633" y="1455"/>
                  </a:lnTo>
                  <a:lnTo>
                    <a:pt x="5627" y="1528"/>
                  </a:lnTo>
                  <a:lnTo>
                    <a:pt x="5613" y="1599"/>
                  </a:lnTo>
                  <a:lnTo>
                    <a:pt x="5593" y="1669"/>
                  </a:lnTo>
                  <a:lnTo>
                    <a:pt x="5567" y="1735"/>
                  </a:lnTo>
                  <a:lnTo>
                    <a:pt x="5535" y="1799"/>
                  </a:lnTo>
                  <a:lnTo>
                    <a:pt x="5498" y="1859"/>
                  </a:lnTo>
                  <a:lnTo>
                    <a:pt x="5455" y="1916"/>
                  </a:lnTo>
                  <a:lnTo>
                    <a:pt x="5408" y="1968"/>
                  </a:lnTo>
                  <a:lnTo>
                    <a:pt x="5355" y="2017"/>
                  </a:lnTo>
                  <a:lnTo>
                    <a:pt x="5299" y="2060"/>
                  </a:lnTo>
                  <a:lnTo>
                    <a:pt x="5238" y="2098"/>
                  </a:lnTo>
                  <a:lnTo>
                    <a:pt x="5173" y="2130"/>
                  </a:lnTo>
                  <a:lnTo>
                    <a:pt x="5105" y="2157"/>
                  </a:lnTo>
                  <a:lnTo>
                    <a:pt x="5034" y="2177"/>
                  </a:lnTo>
                  <a:lnTo>
                    <a:pt x="4997" y="2184"/>
                  </a:lnTo>
                  <a:lnTo>
                    <a:pt x="4966" y="2189"/>
                  </a:lnTo>
                  <a:lnTo>
                    <a:pt x="4905" y="2194"/>
                  </a:lnTo>
                  <a:lnTo>
                    <a:pt x="4845" y="2193"/>
                  </a:lnTo>
                  <a:lnTo>
                    <a:pt x="4786" y="2186"/>
                  </a:lnTo>
                  <a:lnTo>
                    <a:pt x="4729" y="2174"/>
                  </a:lnTo>
                  <a:lnTo>
                    <a:pt x="4674" y="2156"/>
                  </a:lnTo>
                  <a:lnTo>
                    <a:pt x="4621" y="2134"/>
                  </a:lnTo>
                  <a:lnTo>
                    <a:pt x="4571" y="2106"/>
                  </a:lnTo>
                  <a:lnTo>
                    <a:pt x="4524" y="2074"/>
                  </a:lnTo>
                  <a:lnTo>
                    <a:pt x="4480" y="2038"/>
                  </a:lnTo>
                  <a:lnTo>
                    <a:pt x="4441" y="1998"/>
                  </a:lnTo>
                  <a:lnTo>
                    <a:pt x="4405" y="1954"/>
                  </a:lnTo>
                  <a:lnTo>
                    <a:pt x="4375" y="1907"/>
                  </a:lnTo>
                  <a:lnTo>
                    <a:pt x="4349" y="1857"/>
                  </a:lnTo>
                  <a:lnTo>
                    <a:pt x="4329" y="1804"/>
                  </a:lnTo>
                  <a:lnTo>
                    <a:pt x="4315" y="1748"/>
                  </a:lnTo>
                  <a:lnTo>
                    <a:pt x="4310" y="1719"/>
                  </a:lnTo>
                  <a:lnTo>
                    <a:pt x="4300" y="1641"/>
                  </a:lnTo>
                  <a:lnTo>
                    <a:pt x="4362" y="1694"/>
                  </a:lnTo>
                  <a:lnTo>
                    <a:pt x="4404" y="1731"/>
                  </a:lnTo>
                  <a:lnTo>
                    <a:pt x="4462" y="1771"/>
                  </a:lnTo>
                  <a:lnTo>
                    <a:pt x="4500" y="1791"/>
                  </a:lnTo>
                  <a:lnTo>
                    <a:pt x="4539" y="1806"/>
                  </a:lnTo>
                  <a:lnTo>
                    <a:pt x="4582" y="1815"/>
                  </a:lnTo>
                  <a:lnTo>
                    <a:pt x="4654" y="1824"/>
                  </a:lnTo>
                  <a:lnTo>
                    <a:pt x="4713" y="1824"/>
                  </a:lnTo>
                  <a:lnTo>
                    <a:pt x="4759" y="1824"/>
                  </a:lnTo>
                  <a:lnTo>
                    <a:pt x="4826" y="1820"/>
                  </a:lnTo>
                  <a:lnTo>
                    <a:pt x="4876" y="1811"/>
                  </a:lnTo>
                  <a:lnTo>
                    <a:pt x="4922" y="1793"/>
                  </a:lnTo>
                  <a:lnTo>
                    <a:pt x="4948" y="1779"/>
                  </a:lnTo>
                  <a:lnTo>
                    <a:pt x="4986" y="1758"/>
                  </a:lnTo>
                  <a:lnTo>
                    <a:pt x="5058" y="1701"/>
                  </a:lnTo>
                  <a:lnTo>
                    <a:pt x="5122" y="1633"/>
                  </a:lnTo>
                  <a:lnTo>
                    <a:pt x="5174" y="1557"/>
                  </a:lnTo>
                  <a:lnTo>
                    <a:pt x="5193" y="1518"/>
                  </a:lnTo>
                  <a:lnTo>
                    <a:pt x="5203" y="1496"/>
                  </a:lnTo>
                  <a:lnTo>
                    <a:pt x="5217" y="1447"/>
                  </a:lnTo>
                  <a:lnTo>
                    <a:pt x="5226" y="1394"/>
                  </a:lnTo>
                  <a:lnTo>
                    <a:pt x="5230" y="1339"/>
                  </a:lnTo>
                  <a:lnTo>
                    <a:pt x="5229" y="1282"/>
                  </a:lnTo>
                  <a:lnTo>
                    <a:pt x="5223" y="1226"/>
                  </a:lnTo>
                  <a:lnTo>
                    <a:pt x="5212" y="1172"/>
                  </a:lnTo>
                  <a:lnTo>
                    <a:pt x="5197" y="1122"/>
                  </a:lnTo>
                  <a:lnTo>
                    <a:pt x="5187" y="1099"/>
                  </a:lnTo>
                  <a:lnTo>
                    <a:pt x="5165" y="1056"/>
                  </a:lnTo>
                  <a:lnTo>
                    <a:pt x="5110" y="978"/>
                  </a:lnTo>
                  <a:lnTo>
                    <a:pt x="5043" y="911"/>
                  </a:lnTo>
                  <a:lnTo>
                    <a:pt x="4966" y="857"/>
                  </a:lnTo>
                  <a:lnTo>
                    <a:pt x="4923" y="836"/>
                  </a:lnTo>
                  <a:lnTo>
                    <a:pt x="4901" y="826"/>
                  </a:lnTo>
                  <a:lnTo>
                    <a:pt x="4854" y="811"/>
                  </a:lnTo>
                  <a:lnTo>
                    <a:pt x="4803" y="801"/>
                  </a:lnTo>
                  <a:lnTo>
                    <a:pt x="4751" y="795"/>
                  </a:lnTo>
                  <a:lnTo>
                    <a:pt x="4669" y="794"/>
                  </a:lnTo>
                  <a:lnTo>
                    <a:pt x="4556" y="810"/>
                  </a:lnTo>
                  <a:lnTo>
                    <a:pt x="4442" y="842"/>
                  </a:lnTo>
                  <a:lnTo>
                    <a:pt x="4332" y="889"/>
                  </a:lnTo>
                  <a:lnTo>
                    <a:pt x="4228" y="951"/>
                  </a:lnTo>
                  <a:lnTo>
                    <a:pt x="4159" y="1007"/>
                  </a:lnTo>
                  <a:lnTo>
                    <a:pt x="4116" y="1048"/>
                  </a:lnTo>
                  <a:lnTo>
                    <a:pt x="4097" y="1069"/>
                  </a:lnTo>
                  <a:lnTo>
                    <a:pt x="4070" y="1101"/>
                  </a:lnTo>
                  <a:lnTo>
                    <a:pt x="4022" y="1164"/>
                  </a:lnTo>
                  <a:lnTo>
                    <a:pt x="3982" y="1229"/>
                  </a:lnTo>
                  <a:lnTo>
                    <a:pt x="3950" y="1296"/>
                  </a:lnTo>
                  <a:lnTo>
                    <a:pt x="3925" y="1366"/>
                  </a:lnTo>
                  <a:lnTo>
                    <a:pt x="3907" y="1440"/>
                  </a:lnTo>
                  <a:lnTo>
                    <a:pt x="3895" y="1519"/>
                  </a:lnTo>
                  <a:lnTo>
                    <a:pt x="3889" y="1604"/>
                  </a:lnTo>
                  <a:lnTo>
                    <a:pt x="3888" y="1649"/>
                  </a:lnTo>
                  <a:lnTo>
                    <a:pt x="3889" y="1701"/>
                  </a:lnTo>
                  <a:lnTo>
                    <a:pt x="3900" y="1801"/>
                  </a:lnTo>
                  <a:lnTo>
                    <a:pt x="3920" y="1897"/>
                  </a:lnTo>
                  <a:lnTo>
                    <a:pt x="3951" y="1991"/>
                  </a:lnTo>
                  <a:lnTo>
                    <a:pt x="3992" y="2080"/>
                  </a:lnTo>
                  <a:lnTo>
                    <a:pt x="4042" y="2165"/>
                  </a:lnTo>
                  <a:lnTo>
                    <a:pt x="4102" y="2246"/>
                  </a:lnTo>
                  <a:lnTo>
                    <a:pt x="4171" y="2323"/>
                  </a:lnTo>
                  <a:lnTo>
                    <a:pt x="4210" y="2359"/>
                  </a:lnTo>
                  <a:lnTo>
                    <a:pt x="4240" y="2385"/>
                  </a:lnTo>
                  <a:lnTo>
                    <a:pt x="4301" y="2433"/>
                  </a:lnTo>
                  <a:lnTo>
                    <a:pt x="4366" y="2475"/>
                  </a:lnTo>
                  <a:lnTo>
                    <a:pt x="4433" y="2512"/>
                  </a:lnTo>
                  <a:lnTo>
                    <a:pt x="4502" y="2543"/>
                  </a:lnTo>
                  <a:lnTo>
                    <a:pt x="4573" y="2568"/>
                  </a:lnTo>
                  <a:lnTo>
                    <a:pt x="4646" y="2588"/>
                  </a:lnTo>
                  <a:lnTo>
                    <a:pt x="4721" y="2602"/>
                  </a:lnTo>
                  <a:lnTo>
                    <a:pt x="4797" y="2611"/>
                  </a:lnTo>
                  <a:lnTo>
                    <a:pt x="4874" y="2614"/>
                  </a:lnTo>
                  <a:lnTo>
                    <a:pt x="4951" y="2611"/>
                  </a:lnTo>
                  <a:lnTo>
                    <a:pt x="5029" y="2602"/>
                  </a:lnTo>
                  <a:lnTo>
                    <a:pt x="5107" y="2588"/>
                  </a:lnTo>
                  <a:lnTo>
                    <a:pt x="5186" y="2567"/>
                  </a:lnTo>
                  <a:lnTo>
                    <a:pt x="5264" y="2541"/>
                  </a:lnTo>
                  <a:lnTo>
                    <a:pt x="5341" y="2509"/>
                  </a:lnTo>
                  <a:lnTo>
                    <a:pt x="5380" y="2491"/>
                  </a:lnTo>
                  <a:lnTo>
                    <a:pt x="5438" y="2461"/>
                  </a:lnTo>
                  <a:lnTo>
                    <a:pt x="5547" y="2395"/>
                  </a:lnTo>
                  <a:lnTo>
                    <a:pt x="5645" y="2320"/>
                  </a:lnTo>
                  <a:lnTo>
                    <a:pt x="5732" y="2237"/>
                  </a:lnTo>
                  <a:lnTo>
                    <a:pt x="5810" y="2145"/>
                  </a:lnTo>
                  <a:lnTo>
                    <a:pt x="5878" y="2044"/>
                  </a:lnTo>
                  <a:lnTo>
                    <a:pt x="5937" y="1934"/>
                  </a:lnTo>
                  <a:lnTo>
                    <a:pt x="5986" y="1814"/>
                  </a:lnTo>
                  <a:lnTo>
                    <a:pt x="6007" y="1749"/>
                  </a:lnTo>
                  <a:lnTo>
                    <a:pt x="6016" y="1716"/>
                  </a:lnTo>
                  <a:lnTo>
                    <a:pt x="6031" y="1641"/>
                  </a:lnTo>
                  <a:lnTo>
                    <a:pt x="6041" y="1558"/>
                  </a:lnTo>
                  <a:lnTo>
                    <a:pt x="6046" y="1468"/>
                  </a:lnTo>
                  <a:lnTo>
                    <a:pt x="6046" y="1376"/>
                  </a:lnTo>
                  <a:lnTo>
                    <a:pt x="6041" y="1284"/>
                  </a:lnTo>
                  <a:lnTo>
                    <a:pt x="6031" y="1195"/>
                  </a:lnTo>
                  <a:lnTo>
                    <a:pt x="6016" y="1112"/>
                  </a:lnTo>
                  <a:lnTo>
                    <a:pt x="6007" y="1074"/>
                  </a:lnTo>
                  <a:lnTo>
                    <a:pt x="5992" y="1024"/>
                  </a:lnTo>
                  <a:lnTo>
                    <a:pt x="5958" y="925"/>
                  </a:lnTo>
                  <a:lnTo>
                    <a:pt x="5918" y="830"/>
                  </a:lnTo>
                  <a:lnTo>
                    <a:pt x="5871" y="739"/>
                  </a:lnTo>
                  <a:lnTo>
                    <a:pt x="5818" y="652"/>
                  </a:lnTo>
                  <a:lnTo>
                    <a:pt x="5760" y="568"/>
                  </a:lnTo>
                  <a:lnTo>
                    <a:pt x="5696" y="490"/>
                  </a:lnTo>
                  <a:lnTo>
                    <a:pt x="5627" y="416"/>
                  </a:lnTo>
                  <a:lnTo>
                    <a:pt x="5553" y="347"/>
                  </a:lnTo>
                  <a:lnTo>
                    <a:pt x="5475" y="284"/>
                  </a:lnTo>
                  <a:lnTo>
                    <a:pt x="5393" y="226"/>
                  </a:lnTo>
                  <a:lnTo>
                    <a:pt x="5307" y="175"/>
                  </a:lnTo>
                  <a:lnTo>
                    <a:pt x="5218" y="129"/>
                  </a:lnTo>
                  <a:lnTo>
                    <a:pt x="5125" y="91"/>
                  </a:lnTo>
                  <a:lnTo>
                    <a:pt x="5030" y="59"/>
                  </a:lnTo>
                  <a:lnTo>
                    <a:pt x="4932" y="34"/>
                  </a:lnTo>
                  <a:lnTo>
                    <a:pt x="4882" y="24"/>
                  </a:lnTo>
                  <a:lnTo>
                    <a:pt x="4830" y="17"/>
                  </a:lnTo>
                  <a:lnTo>
                    <a:pt x="4634" y="7"/>
                  </a:lnTo>
                  <a:lnTo>
                    <a:pt x="3969" y="0"/>
                  </a:lnTo>
                  <a:lnTo>
                    <a:pt x="3007" y="1"/>
                  </a:lnTo>
                  <a:lnTo>
                    <a:pt x="2311" y="3"/>
                  </a:lnTo>
                  <a:lnTo>
                    <a:pt x="1329" y="11"/>
                  </a:lnTo>
                  <a:lnTo>
                    <a:pt x="1200" y="16"/>
                  </a:lnTo>
                  <a:close/>
                  <a:moveTo>
                    <a:pt x="1533" y="1111"/>
                  </a:moveTo>
                  <a:lnTo>
                    <a:pt x="1565" y="1138"/>
                  </a:lnTo>
                  <a:lnTo>
                    <a:pt x="1614" y="1193"/>
                  </a:lnTo>
                  <a:lnTo>
                    <a:pt x="1644" y="1252"/>
                  </a:lnTo>
                  <a:lnTo>
                    <a:pt x="1659" y="1318"/>
                  </a:lnTo>
                  <a:lnTo>
                    <a:pt x="1660" y="1356"/>
                  </a:lnTo>
                  <a:lnTo>
                    <a:pt x="1659" y="1393"/>
                  </a:lnTo>
                  <a:lnTo>
                    <a:pt x="1646" y="1458"/>
                  </a:lnTo>
                  <a:lnTo>
                    <a:pt x="1619" y="1516"/>
                  </a:lnTo>
                  <a:lnTo>
                    <a:pt x="1576" y="1570"/>
                  </a:lnTo>
                  <a:lnTo>
                    <a:pt x="1547" y="1596"/>
                  </a:lnTo>
                  <a:lnTo>
                    <a:pt x="1521" y="1618"/>
                  </a:lnTo>
                  <a:lnTo>
                    <a:pt x="1473" y="1648"/>
                  </a:lnTo>
                  <a:lnTo>
                    <a:pt x="1421" y="1663"/>
                  </a:lnTo>
                  <a:lnTo>
                    <a:pt x="1355" y="1666"/>
                  </a:lnTo>
                  <a:lnTo>
                    <a:pt x="1313" y="1663"/>
                  </a:lnTo>
                  <a:lnTo>
                    <a:pt x="1286" y="1660"/>
                  </a:lnTo>
                  <a:lnTo>
                    <a:pt x="1235" y="1646"/>
                  </a:lnTo>
                  <a:lnTo>
                    <a:pt x="1189" y="1625"/>
                  </a:lnTo>
                  <a:lnTo>
                    <a:pt x="1150" y="1597"/>
                  </a:lnTo>
                  <a:lnTo>
                    <a:pt x="1116" y="1564"/>
                  </a:lnTo>
                  <a:lnTo>
                    <a:pt x="1088" y="1525"/>
                  </a:lnTo>
                  <a:lnTo>
                    <a:pt x="1066" y="1483"/>
                  </a:lnTo>
                  <a:lnTo>
                    <a:pt x="1051" y="1439"/>
                  </a:lnTo>
                  <a:lnTo>
                    <a:pt x="1043" y="1392"/>
                  </a:lnTo>
                  <a:lnTo>
                    <a:pt x="1041" y="1344"/>
                  </a:lnTo>
                  <a:lnTo>
                    <a:pt x="1046" y="1297"/>
                  </a:lnTo>
                  <a:lnTo>
                    <a:pt x="1059" y="1251"/>
                  </a:lnTo>
                  <a:lnTo>
                    <a:pt x="1078" y="1207"/>
                  </a:lnTo>
                  <a:lnTo>
                    <a:pt x="1106" y="1166"/>
                  </a:lnTo>
                  <a:lnTo>
                    <a:pt x="1141" y="1129"/>
                  </a:lnTo>
                  <a:lnTo>
                    <a:pt x="1184" y="1098"/>
                  </a:lnTo>
                  <a:lnTo>
                    <a:pt x="1208" y="1084"/>
                  </a:lnTo>
                  <a:lnTo>
                    <a:pt x="1228" y="1075"/>
                  </a:lnTo>
                  <a:lnTo>
                    <a:pt x="1270" y="1061"/>
                  </a:lnTo>
                  <a:lnTo>
                    <a:pt x="1313" y="1053"/>
                  </a:lnTo>
                  <a:lnTo>
                    <a:pt x="1357" y="1050"/>
                  </a:lnTo>
                  <a:lnTo>
                    <a:pt x="1400" y="1054"/>
                  </a:lnTo>
                  <a:lnTo>
                    <a:pt x="1442" y="1063"/>
                  </a:lnTo>
                  <a:lnTo>
                    <a:pt x="1481" y="1078"/>
                  </a:lnTo>
                  <a:lnTo>
                    <a:pt x="1517" y="1098"/>
                  </a:lnTo>
                  <a:lnTo>
                    <a:pt x="1533" y="1111"/>
                  </a:lnTo>
                  <a:close/>
                  <a:moveTo>
                    <a:pt x="4835" y="1081"/>
                  </a:moveTo>
                  <a:lnTo>
                    <a:pt x="4862" y="1095"/>
                  </a:lnTo>
                  <a:lnTo>
                    <a:pt x="4906" y="1126"/>
                  </a:lnTo>
                  <a:lnTo>
                    <a:pt x="4940" y="1163"/>
                  </a:lnTo>
                  <a:lnTo>
                    <a:pt x="4967" y="1209"/>
                  </a:lnTo>
                  <a:lnTo>
                    <a:pt x="4980" y="1238"/>
                  </a:lnTo>
                  <a:lnTo>
                    <a:pt x="4991" y="1267"/>
                  </a:lnTo>
                  <a:lnTo>
                    <a:pt x="5003" y="1329"/>
                  </a:lnTo>
                  <a:lnTo>
                    <a:pt x="5002" y="1391"/>
                  </a:lnTo>
                  <a:lnTo>
                    <a:pt x="4990" y="1451"/>
                  </a:lnTo>
                  <a:lnTo>
                    <a:pt x="4967" y="1508"/>
                  </a:lnTo>
                  <a:lnTo>
                    <a:pt x="4935" y="1559"/>
                  </a:lnTo>
                  <a:lnTo>
                    <a:pt x="4894" y="1603"/>
                  </a:lnTo>
                  <a:lnTo>
                    <a:pt x="4845" y="1636"/>
                  </a:lnTo>
                  <a:lnTo>
                    <a:pt x="4817" y="1648"/>
                  </a:lnTo>
                  <a:lnTo>
                    <a:pt x="4789" y="1657"/>
                  </a:lnTo>
                  <a:lnTo>
                    <a:pt x="4720" y="1666"/>
                  </a:lnTo>
                  <a:lnTo>
                    <a:pt x="4645" y="1664"/>
                  </a:lnTo>
                  <a:lnTo>
                    <a:pt x="4580" y="1653"/>
                  </a:lnTo>
                  <a:lnTo>
                    <a:pt x="4557" y="1643"/>
                  </a:lnTo>
                  <a:lnTo>
                    <a:pt x="4536" y="1631"/>
                  </a:lnTo>
                  <a:lnTo>
                    <a:pt x="4500" y="1605"/>
                  </a:lnTo>
                  <a:lnTo>
                    <a:pt x="4469" y="1575"/>
                  </a:lnTo>
                  <a:lnTo>
                    <a:pt x="4442" y="1541"/>
                  </a:lnTo>
                  <a:lnTo>
                    <a:pt x="4421" y="1505"/>
                  </a:lnTo>
                  <a:lnTo>
                    <a:pt x="4405" y="1466"/>
                  </a:lnTo>
                  <a:lnTo>
                    <a:pt x="4395" y="1425"/>
                  </a:lnTo>
                  <a:lnTo>
                    <a:pt x="4389" y="1384"/>
                  </a:lnTo>
                  <a:lnTo>
                    <a:pt x="4389" y="1342"/>
                  </a:lnTo>
                  <a:lnTo>
                    <a:pt x="4394" y="1301"/>
                  </a:lnTo>
                  <a:lnTo>
                    <a:pt x="4404" y="1261"/>
                  </a:lnTo>
                  <a:lnTo>
                    <a:pt x="4419" y="1222"/>
                  </a:lnTo>
                  <a:lnTo>
                    <a:pt x="4439" y="1185"/>
                  </a:lnTo>
                  <a:lnTo>
                    <a:pt x="4465" y="1151"/>
                  </a:lnTo>
                  <a:lnTo>
                    <a:pt x="4495" y="1121"/>
                  </a:lnTo>
                  <a:lnTo>
                    <a:pt x="4531" y="1094"/>
                  </a:lnTo>
                  <a:lnTo>
                    <a:pt x="4552" y="1083"/>
                  </a:lnTo>
                  <a:lnTo>
                    <a:pt x="4583" y="1068"/>
                  </a:lnTo>
                  <a:lnTo>
                    <a:pt x="4655" y="1052"/>
                  </a:lnTo>
                  <a:lnTo>
                    <a:pt x="4731" y="1052"/>
                  </a:lnTo>
                  <a:lnTo>
                    <a:pt x="4786" y="1062"/>
                  </a:lnTo>
                  <a:lnTo>
                    <a:pt x="4820" y="1074"/>
                  </a:lnTo>
                  <a:lnTo>
                    <a:pt x="4835" y="10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B5547"/>
                </a:solidFill>
                <a:latin typeface="Sakkal Majalla" panose="02000000000000000000" pitchFamily="2" charset="-78"/>
                <a:cs typeface="Sakkal Majalla" panose="02000000000000000000" pitchFamily="2" charset="-78"/>
              </a:endParaRPr>
            </a:p>
          </p:txBody>
        </p:sp>
        <p:sp>
          <p:nvSpPr>
            <p:cNvPr id="178" name="Freeform 35">
              <a:extLst>
                <a:ext uri="{FF2B5EF4-FFF2-40B4-BE49-F238E27FC236}">
                  <a16:creationId xmlns:a16="http://schemas.microsoft.com/office/drawing/2014/main" id="{6E827680-2190-A9F9-2F9B-3578312F93D6}"/>
                </a:ext>
              </a:extLst>
            </p:cNvPr>
            <p:cNvSpPr>
              <a:spLocks/>
            </p:cNvSpPr>
            <p:nvPr/>
          </p:nvSpPr>
          <p:spPr bwMode="auto">
            <a:xfrm>
              <a:off x="573088" y="933451"/>
              <a:ext cx="1809750" cy="552450"/>
            </a:xfrm>
            <a:custGeom>
              <a:avLst/>
              <a:gdLst>
                <a:gd name="T0" fmla="*/ 1883 w 4800"/>
                <a:gd name="T1" fmla="*/ 525 h 1466"/>
                <a:gd name="T2" fmla="*/ 1883 w 4800"/>
                <a:gd name="T3" fmla="*/ 1050 h 1466"/>
                <a:gd name="T4" fmla="*/ 941 w 4800"/>
                <a:gd name="T5" fmla="*/ 1050 h 1466"/>
                <a:gd name="T6" fmla="*/ 0 w 4800"/>
                <a:gd name="T7" fmla="*/ 1050 h 1466"/>
                <a:gd name="T8" fmla="*/ 0 w 4800"/>
                <a:gd name="T9" fmla="*/ 1258 h 1466"/>
                <a:gd name="T10" fmla="*/ 0 w 4800"/>
                <a:gd name="T11" fmla="*/ 1466 h 1466"/>
                <a:gd name="T12" fmla="*/ 2400 w 4800"/>
                <a:gd name="T13" fmla="*/ 1466 h 1466"/>
                <a:gd name="T14" fmla="*/ 4800 w 4800"/>
                <a:gd name="T15" fmla="*/ 1466 h 1466"/>
                <a:gd name="T16" fmla="*/ 4800 w 4800"/>
                <a:gd name="T17" fmla="*/ 1258 h 1466"/>
                <a:gd name="T18" fmla="*/ 4800 w 4800"/>
                <a:gd name="T19" fmla="*/ 1050 h 1466"/>
                <a:gd name="T20" fmla="*/ 3863 w 4800"/>
                <a:gd name="T21" fmla="*/ 1046 h 1466"/>
                <a:gd name="T22" fmla="*/ 2925 w 4800"/>
                <a:gd name="T23" fmla="*/ 1041 h 1466"/>
                <a:gd name="T24" fmla="*/ 2920 w 4800"/>
                <a:gd name="T25" fmla="*/ 520 h 1466"/>
                <a:gd name="T26" fmla="*/ 2916 w 4800"/>
                <a:gd name="T27" fmla="*/ 0 h 1466"/>
                <a:gd name="T28" fmla="*/ 2816 w 4800"/>
                <a:gd name="T29" fmla="*/ 0 h 1466"/>
                <a:gd name="T30" fmla="*/ 2716 w 4800"/>
                <a:gd name="T31" fmla="*/ 0 h 1466"/>
                <a:gd name="T32" fmla="*/ 2716 w 4800"/>
                <a:gd name="T33" fmla="*/ 525 h 1466"/>
                <a:gd name="T34" fmla="*/ 2716 w 4800"/>
                <a:gd name="T35" fmla="*/ 1051 h 1466"/>
                <a:gd name="T36" fmla="*/ 2613 w 4800"/>
                <a:gd name="T37" fmla="*/ 1046 h 1466"/>
                <a:gd name="T38" fmla="*/ 2508 w 4800"/>
                <a:gd name="T39" fmla="*/ 1041 h 1466"/>
                <a:gd name="T40" fmla="*/ 2503 w 4800"/>
                <a:gd name="T41" fmla="*/ 520 h 1466"/>
                <a:gd name="T42" fmla="*/ 2500 w 4800"/>
                <a:gd name="T43" fmla="*/ 0 h 1466"/>
                <a:gd name="T44" fmla="*/ 2400 w 4800"/>
                <a:gd name="T45" fmla="*/ 0 h 1466"/>
                <a:gd name="T46" fmla="*/ 2300 w 4800"/>
                <a:gd name="T47" fmla="*/ 0 h 1466"/>
                <a:gd name="T48" fmla="*/ 2300 w 4800"/>
                <a:gd name="T49" fmla="*/ 525 h 1466"/>
                <a:gd name="T50" fmla="*/ 2300 w 4800"/>
                <a:gd name="T51" fmla="*/ 1050 h 1466"/>
                <a:gd name="T52" fmla="*/ 2191 w 4800"/>
                <a:gd name="T53" fmla="*/ 1050 h 1466"/>
                <a:gd name="T54" fmla="*/ 2083 w 4800"/>
                <a:gd name="T55" fmla="*/ 1050 h 1466"/>
                <a:gd name="T56" fmla="*/ 2083 w 4800"/>
                <a:gd name="T57" fmla="*/ 525 h 1466"/>
                <a:gd name="T58" fmla="*/ 2083 w 4800"/>
                <a:gd name="T59" fmla="*/ 0 h 1466"/>
                <a:gd name="T60" fmla="*/ 1983 w 4800"/>
                <a:gd name="T61" fmla="*/ 0 h 1466"/>
                <a:gd name="T62" fmla="*/ 1883 w 4800"/>
                <a:gd name="T63" fmla="*/ 0 h 1466"/>
                <a:gd name="T64" fmla="*/ 1883 w 4800"/>
                <a:gd name="T65" fmla="*/ 525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0" h="1466">
                  <a:moveTo>
                    <a:pt x="1883" y="525"/>
                  </a:moveTo>
                  <a:lnTo>
                    <a:pt x="1883" y="1050"/>
                  </a:lnTo>
                  <a:lnTo>
                    <a:pt x="941" y="1050"/>
                  </a:lnTo>
                  <a:lnTo>
                    <a:pt x="0" y="1050"/>
                  </a:lnTo>
                  <a:lnTo>
                    <a:pt x="0" y="1258"/>
                  </a:lnTo>
                  <a:lnTo>
                    <a:pt x="0" y="1466"/>
                  </a:lnTo>
                  <a:lnTo>
                    <a:pt x="2400" y="1466"/>
                  </a:lnTo>
                  <a:lnTo>
                    <a:pt x="4800" y="1466"/>
                  </a:lnTo>
                  <a:lnTo>
                    <a:pt x="4800" y="1258"/>
                  </a:lnTo>
                  <a:lnTo>
                    <a:pt x="4800" y="1050"/>
                  </a:lnTo>
                  <a:lnTo>
                    <a:pt x="3863" y="1046"/>
                  </a:lnTo>
                  <a:lnTo>
                    <a:pt x="2925" y="1041"/>
                  </a:lnTo>
                  <a:lnTo>
                    <a:pt x="2920" y="520"/>
                  </a:lnTo>
                  <a:lnTo>
                    <a:pt x="2916" y="0"/>
                  </a:lnTo>
                  <a:lnTo>
                    <a:pt x="2816" y="0"/>
                  </a:lnTo>
                  <a:lnTo>
                    <a:pt x="2716" y="0"/>
                  </a:lnTo>
                  <a:lnTo>
                    <a:pt x="2716" y="525"/>
                  </a:lnTo>
                  <a:lnTo>
                    <a:pt x="2716" y="1051"/>
                  </a:lnTo>
                  <a:lnTo>
                    <a:pt x="2613" y="1046"/>
                  </a:lnTo>
                  <a:lnTo>
                    <a:pt x="2508" y="1041"/>
                  </a:lnTo>
                  <a:lnTo>
                    <a:pt x="2503" y="520"/>
                  </a:lnTo>
                  <a:lnTo>
                    <a:pt x="2500" y="0"/>
                  </a:lnTo>
                  <a:lnTo>
                    <a:pt x="2400" y="0"/>
                  </a:lnTo>
                  <a:lnTo>
                    <a:pt x="2300" y="0"/>
                  </a:lnTo>
                  <a:lnTo>
                    <a:pt x="2300" y="525"/>
                  </a:lnTo>
                  <a:lnTo>
                    <a:pt x="2300" y="1050"/>
                  </a:lnTo>
                  <a:lnTo>
                    <a:pt x="2191" y="1050"/>
                  </a:lnTo>
                  <a:lnTo>
                    <a:pt x="2083" y="1050"/>
                  </a:lnTo>
                  <a:lnTo>
                    <a:pt x="2083" y="525"/>
                  </a:lnTo>
                  <a:lnTo>
                    <a:pt x="2083" y="0"/>
                  </a:lnTo>
                  <a:lnTo>
                    <a:pt x="1983" y="0"/>
                  </a:lnTo>
                  <a:lnTo>
                    <a:pt x="1883" y="0"/>
                  </a:lnTo>
                  <a:lnTo>
                    <a:pt x="1883" y="5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79" name="Freeform 49">
              <a:extLst>
                <a:ext uri="{FF2B5EF4-FFF2-40B4-BE49-F238E27FC236}">
                  <a16:creationId xmlns:a16="http://schemas.microsoft.com/office/drawing/2014/main" id="{E3F9E003-E2B8-4E28-272A-DB1545044A6D}"/>
                </a:ext>
              </a:extLst>
            </p:cNvPr>
            <p:cNvSpPr>
              <a:spLocks/>
            </p:cNvSpPr>
            <p:nvPr/>
          </p:nvSpPr>
          <p:spPr bwMode="auto">
            <a:xfrm>
              <a:off x="728663" y="1562101"/>
              <a:ext cx="315913" cy="552450"/>
            </a:xfrm>
            <a:custGeom>
              <a:avLst/>
              <a:gdLst>
                <a:gd name="T0" fmla="*/ 12 w 834"/>
                <a:gd name="T1" fmla="*/ 7 h 1464"/>
                <a:gd name="T2" fmla="*/ 7 w 834"/>
                <a:gd name="T3" fmla="*/ 53 h 1464"/>
                <a:gd name="T4" fmla="*/ 1 w 834"/>
                <a:gd name="T5" fmla="*/ 452 h 1464"/>
                <a:gd name="T6" fmla="*/ 0 w 834"/>
                <a:gd name="T7" fmla="*/ 742 h 1464"/>
                <a:gd name="T8" fmla="*/ 0 w 834"/>
                <a:gd name="T9" fmla="*/ 1464 h 1464"/>
                <a:gd name="T10" fmla="*/ 417 w 834"/>
                <a:gd name="T11" fmla="*/ 1464 h 1464"/>
                <a:gd name="T12" fmla="*/ 834 w 834"/>
                <a:gd name="T13" fmla="*/ 1464 h 1464"/>
                <a:gd name="T14" fmla="*/ 830 w 834"/>
                <a:gd name="T15" fmla="*/ 734 h 1464"/>
                <a:gd name="T16" fmla="*/ 825 w 834"/>
                <a:gd name="T17" fmla="*/ 6 h 1464"/>
                <a:gd name="T18" fmla="*/ 424 w 834"/>
                <a:gd name="T19" fmla="*/ 1 h 1464"/>
                <a:gd name="T20" fmla="*/ 263 w 834"/>
                <a:gd name="T21" fmla="*/ 0 h 1464"/>
                <a:gd name="T22" fmla="*/ 39 w 834"/>
                <a:gd name="T23" fmla="*/ 4 h 1464"/>
                <a:gd name="T24" fmla="*/ 12 w 834"/>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4" h="1464">
                  <a:moveTo>
                    <a:pt x="12" y="7"/>
                  </a:moveTo>
                  <a:lnTo>
                    <a:pt x="7" y="53"/>
                  </a:lnTo>
                  <a:lnTo>
                    <a:pt x="1" y="452"/>
                  </a:lnTo>
                  <a:lnTo>
                    <a:pt x="0" y="742"/>
                  </a:lnTo>
                  <a:lnTo>
                    <a:pt x="0" y="1464"/>
                  </a:lnTo>
                  <a:lnTo>
                    <a:pt x="417" y="1464"/>
                  </a:lnTo>
                  <a:lnTo>
                    <a:pt x="834" y="1464"/>
                  </a:lnTo>
                  <a:lnTo>
                    <a:pt x="830" y="734"/>
                  </a:lnTo>
                  <a:lnTo>
                    <a:pt x="825" y="6"/>
                  </a:lnTo>
                  <a:lnTo>
                    <a:pt x="424" y="1"/>
                  </a:lnTo>
                  <a:lnTo>
                    <a:pt x="263" y="0"/>
                  </a:lnTo>
                  <a:lnTo>
                    <a:pt x="39" y="4"/>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0" name="Freeform 50">
              <a:extLst>
                <a:ext uri="{FF2B5EF4-FFF2-40B4-BE49-F238E27FC236}">
                  <a16:creationId xmlns:a16="http://schemas.microsoft.com/office/drawing/2014/main" id="{F43392C5-5ABD-9718-EE86-4291556F8262}"/>
                </a:ext>
              </a:extLst>
            </p:cNvPr>
            <p:cNvSpPr>
              <a:spLocks/>
            </p:cNvSpPr>
            <p:nvPr/>
          </p:nvSpPr>
          <p:spPr bwMode="auto">
            <a:xfrm>
              <a:off x="1125538" y="1560513"/>
              <a:ext cx="314325" cy="554038"/>
            </a:xfrm>
            <a:custGeom>
              <a:avLst/>
              <a:gdLst>
                <a:gd name="T0" fmla="*/ 0 w 834"/>
                <a:gd name="T1" fmla="*/ 734 h 1467"/>
                <a:gd name="T2" fmla="*/ 0 w 834"/>
                <a:gd name="T3" fmla="*/ 1467 h 1467"/>
                <a:gd name="T4" fmla="*/ 417 w 834"/>
                <a:gd name="T5" fmla="*/ 1467 h 1467"/>
                <a:gd name="T6" fmla="*/ 834 w 834"/>
                <a:gd name="T7" fmla="*/ 1467 h 1467"/>
                <a:gd name="T8" fmla="*/ 830 w 834"/>
                <a:gd name="T9" fmla="*/ 737 h 1467"/>
                <a:gd name="T10" fmla="*/ 825 w 834"/>
                <a:gd name="T11" fmla="*/ 9 h 1467"/>
                <a:gd name="T12" fmla="*/ 414 w 834"/>
                <a:gd name="T13" fmla="*/ 4 h 1467"/>
                <a:gd name="T14" fmla="*/ 0 w 834"/>
                <a:gd name="T15" fmla="*/ 0 h 1467"/>
                <a:gd name="T16" fmla="*/ 0 w 834"/>
                <a:gd name="T17" fmla="*/ 734 h 1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4" h="1467">
                  <a:moveTo>
                    <a:pt x="0" y="734"/>
                  </a:moveTo>
                  <a:lnTo>
                    <a:pt x="0" y="1467"/>
                  </a:lnTo>
                  <a:lnTo>
                    <a:pt x="417" y="1467"/>
                  </a:lnTo>
                  <a:lnTo>
                    <a:pt x="834" y="1467"/>
                  </a:lnTo>
                  <a:lnTo>
                    <a:pt x="830" y="737"/>
                  </a:lnTo>
                  <a:lnTo>
                    <a:pt x="825" y="9"/>
                  </a:lnTo>
                  <a:lnTo>
                    <a:pt x="414" y="4"/>
                  </a:lnTo>
                  <a:lnTo>
                    <a:pt x="0" y="0"/>
                  </a:lnTo>
                  <a:lnTo>
                    <a:pt x="0" y="7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1" name="Freeform 51">
              <a:extLst>
                <a:ext uri="{FF2B5EF4-FFF2-40B4-BE49-F238E27FC236}">
                  <a16:creationId xmlns:a16="http://schemas.microsoft.com/office/drawing/2014/main" id="{B1BD76CA-0BC5-809B-BA5A-D29CB18011EB}"/>
                </a:ext>
              </a:extLst>
            </p:cNvPr>
            <p:cNvSpPr>
              <a:spLocks/>
            </p:cNvSpPr>
            <p:nvPr/>
          </p:nvSpPr>
          <p:spPr bwMode="auto">
            <a:xfrm>
              <a:off x="1516063" y="1562101"/>
              <a:ext cx="317500" cy="552450"/>
            </a:xfrm>
            <a:custGeom>
              <a:avLst/>
              <a:gdLst>
                <a:gd name="T0" fmla="*/ 11 w 841"/>
                <a:gd name="T1" fmla="*/ 7 h 1464"/>
                <a:gd name="T2" fmla="*/ 7 w 841"/>
                <a:gd name="T3" fmla="*/ 53 h 1464"/>
                <a:gd name="T4" fmla="*/ 0 w 841"/>
                <a:gd name="T5" fmla="*/ 452 h 1464"/>
                <a:gd name="T6" fmla="*/ 0 w 841"/>
                <a:gd name="T7" fmla="*/ 742 h 1464"/>
                <a:gd name="T8" fmla="*/ 0 w 841"/>
                <a:gd name="T9" fmla="*/ 1464 h 1464"/>
                <a:gd name="T10" fmla="*/ 421 w 841"/>
                <a:gd name="T11" fmla="*/ 1464 h 1464"/>
                <a:gd name="T12" fmla="*/ 841 w 841"/>
                <a:gd name="T13" fmla="*/ 1464 h 1464"/>
                <a:gd name="T14" fmla="*/ 838 w 841"/>
                <a:gd name="T15" fmla="*/ 736 h 1464"/>
                <a:gd name="T16" fmla="*/ 833 w 841"/>
                <a:gd name="T17" fmla="*/ 6 h 1464"/>
                <a:gd name="T18" fmla="*/ 428 w 841"/>
                <a:gd name="T19" fmla="*/ 1 h 1464"/>
                <a:gd name="T20" fmla="*/ 265 w 841"/>
                <a:gd name="T21" fmla="*/ 0 h 1464"/>
                <a:gd name="T22" fmla="*/ 39 w 841"/>
                <a:gd name="T23" fmla="*/ 4 h 1464"/>
                <a:gd name="T24" fmla="*/ 11 w 841"/>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1" h="1464">
                  <a:moveTo>
                    <a:pt x="11" y="7"/>
                  </a:moveTo>
                  <a:lnTo>
                    <a:pt x="7" y="53"/>
                  </a:lnTo>
                  <a:lnTo>
                    <a:pt x="0" y="452"/>
                  </a:lnTo>
                  <a:lnTo>
                    <a:pt x="0" y="742"/>
                  </a:lnTo>
                  <a:lnTo>
                    <a:pt x="0" y="1464"/>
                  </a:lnTo>
                  <a:lnTo>
                    <a:pt x="421" y="1464"/>
                  </a:lnTo>
                  <a:lnTo>
                    <a:pt x="841" y="1464"/>
                  </a:lnTo>
                  <a:lnTo>
                    <a:pt x="838" y="736"/>
                  </a:lnTo>
                  <a:lnTo>
                    <a:pt x="833" y="6"/>
                  </a:lnTo>
                  <a:lnTo>
                    <a:pt x="428" y="1"/>
                  </a:lnTo>
                  <a:lnTo>
                    <a:pt x="265"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2" name="Freeform 52">
              <a:extLst>
                <a:ext uri="{FF2B5EF4-FFF2-40B4-BE49-F238E27FC236}">
                  <a16:creationId xmlns:a16="http://schemas.microsoft.com/office/drawing/2014/main" id="{5B2DA2B8-9BAE-24EA-A8D2-8ED9AD15B31A}"/>
                </a:ext>
              </a:extLst>
            </p:cNvPr>
            <p:cNvSpPr>
              <a:spLocks/>
            </p:cNvSpPr>
            <p:nvPr/>
          </p:nvSpPr>
          <p:spPr bwMode="auto">
            <a:xfrm>
              <a:off x="1911350" y="1562101"/>
              <a:ext cx="314325" cy="552450"/>
            </a:xfrm>
            <a:custGeom>
              <a:avLst/>
              <a:gdLst>
                <a:gd name="T0" fmla="*/ 11 w 833"/>
                <a:gd name="T1" fmla="*/ 7 h 1464"/>
                <a:gd name="T2" fmla="*/ 7 w 833"/>
                <a:gd name="T3" fmla="*/ 53 h 1464"/>
                <a:gd name="T4" fmla="*/ 0 w 833"/>
                <a:gd name="T5" fmla="*/ 452 h 1464"/>
                <a:gd name="T6" fmla="*/ 0 w 833"/>
                <a:gd name="T7" fmla="*/ 742 h 1464"/>
                <a:gd name="T8" fmla="*/ 0 w 833"/>
                <a:gd name="T9" fmla="*/ 1464 h 1464"/>
                <a:gd name="T10" fmla="*/ 416 w 833"/>
                <a:gd name="T11" fmla="*/ 1464 h 1464"/>
                <a:gd name="T12" fmla="*/ 833 w 833"/>
                <a:gd name="T13" fmla="*/ 1464 h 1464"/>
                <a:gd name="T14" fmla="*/ 830 w 833"/>
                <a:gd name="T15" fmla="*/ 734 h 1464"/>
                <a:gd name="T16" fmla="*/ 825 w 833"/>
                <a:gd name="T17" fmla="*/ 6 h 1464"/>
                <a:gd name="T18" fmla="*/ 423 w 833"/>
                <a:gd name="T19" fmla="*/ 1 h 1464"/>
                <a:gd name="T20" fmla="*/ 262 w 833"/>
                <a:gd name="T21" fmla="*/ 0 h 1464"/>
                <a:gd name="T22" fmla="*/ 39 w 833"/>
                <a:gd name="T23" fmla="*/ 4 h 1464"/>
                <a:gd name="T24" fmla="*/ 11 w 833"/>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3" h="1464">
                  <a:moveTo>
                    <a:pt x="11" y="7"/>
                  </a:moveTo>
                  <a:lnTo>
                    <a:pt x="7" y="53"/>
                  </a:lnTo>
                  <a:lnTo>
                    <a:pt x="0" y="452"/>
                  </a:lnTo>
                  <a:lnTo>
                    <a:pt x="0" y="742"/>
                  </a:lnTo>
                  <a:lnTo>
                    <a:pt x="0" y="1464"/>
                  </a:lnTo>
                  <a:lnTo>
                    <a:pt x="416" y="1464"/>
                  </a:lnTo>
                  <a:lnTo>
                    <a:pt x="833" y="1464"/>
                  </a:lnTo>
                  <a:lnTo>
                    <a:pt x="830" y="734"/>
                  </a:lnTo>
                  <a:lnTo>
                    <a:pt x="825" y="6"/>
                  </a:lnTo>
                  <a:lnTo>
                    <a:pt x="423" y="1"/>
                  </a:lnTo>
                  <a:lnTo>
                    <a:pt x="262"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3" name="Freeform 54">
              <a:extLst>
                <a:ext uri="{FF2B5EF4-FFF2-40B4-BE49-F238E27FC236}">
                  <a16:creationId xmlns:a16="http://schemas.microsoft.com/office/drawing/2014/main" id="{0EE2CCE1-2F98-A322-F6C9-FDD8459ABAAD}"/>
                </a:ext>
              </a:extLst>
            </p:cNvPr>
            <p:cNvSpPr>
              <a:spLocks/>
            </p:cNvSpPr>
            <p:nvPr/>
          </p:nvSpPr>
          <p:spPr bwMode="auto">
            <a:xfrm>
              <a:off x="488950" y="2195513"/>
              <a:ext cx="1976438" cy="236538"/>
            </a:xfrm>
            <a:custGeom>
              <a:avLst/>
              <a:gdLst>
                <a:gd name="T0" fmla="*/ 219 w 5237"/>
                <a:gd name="T1" fmla="*/ 208 h 625"/>
                <a:gd name="T2" fmla="*/ 219 w 5237"/>
                <a:gd name="T3" fmla="*/ 416 h 625"/>
                <a:gd name="T4" fmla="*/ 110 w 5237"/>
                <a:gd name="T5" fmla="*/ 416 h 625"/>
                <a:gd name="T6" fmla="*/ 0 w 5237"/>
                <a:gd name="T7" fmla="*/ 416 h 625"/>
                <a:gd name="T8" fmla="*/ 5 w 5237"/>
                <a:gd name="T9" fmla="*/ 520 h 625"/>
                <a:gd name="T10" fmla="*/ 10 w 5237"/>
                <a:gd name="T11" fmla="*/ 625 h 625"/>
                <a:gd name="T12" fmla="*/ 2619 w 5237"/>
                <a:gd name="T13" fmla="*/ 625 h 625"/>
                <a:gd name="T14" fmla="*/ 5227 w 5237"/>
                <a:gd name="T15" fmla="*/ 625 h 625"/>
                <a:gd name="T16" fmla="*/ 5232 w 5237"/>
                <a:gd name="T17" fmla="*/ 520 h 625"/>
                <a:gd name="T18" fmla="*/ 5237 w 5237"/>
                <a:gd name="T19" fmla="*/ 416 h 625"/>
                <a:gd name="T20" fmla="*/ 5127 w 5237"/>
                <a:gd name="T21" fmla="*/ 416 h 625"/>
                <a:gd name="T22" fmla="*/ 5019 w 5237"/>
                <a:gd name="T23" fmla="*/ 416 h 625"/>
                <a:gd name="T24" fmla="*/ 5019 w 5237"/>
                <a:gd name="T25" fmla="*/ 208 h 625"/>
                <a:gd name="T26" fmla="*/ 5019 w 5237"/>
                <a:gd name="T27" fmla="*/ 0 h 625"/>
                <a:gd name="T28" fmla="*/ 2619 w 5237"/>
                <a:gd name="T29" fmla="*/ 0 h 625"/>
                <a:gd name="T30" fmla="*/ 219 w 5237"/>
                <a:gd name="T31" fmla="*/ 0 h 625"/>
                <a:gd name="T32" fmla="*/ 219 w 5237"/>
                <a:gd name="T33" fmla="*/ 208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37" h="625">
                  <a:moveTo>
                    <a:pt x="219" y="208"/>
                  </a:moveTo>
                  <a:lnTo>
                    <a:pt x="219" y="416"/>
                  </a:lnTo>
                  <a:lnTo>
                    <a:pt x="110" y="416"/>
                  </a:lnTo>
                  <a:lnTo>
                    <a:pt x="0" y="416"/>
                  </a:lnTo>
                  <a:lnTo>
                    <a:pt x="5" y="520"/>
                  </a:lnTo>
                  <a:lnTo>
                    <a:pt x="10" y="625"/>
                  </a:lnTo>
                  <a:lnTo>
                    <a:pt x="2619" y="625"/>
                  </a:lnTo>
                  <a:lnTo>
                    <a:pt x="5227" y="625"/>
                  </a:lnTo>
                  <a:lnTo>
                    <a:pt x="5232" y="520"/>
                  </a:lnTo>
                  <a:lnTo>
                    <a:pt x="5237" y="416"/>
                  </a:lnTo>
                  <a:lnTo>
                    <a:pt x="5127" y="416"/>
                  </a:lnTo>
                  <a:lnTo>
                    <a:pt x="5019" y="416"/>
                  </a:lnTo>
                  <a:lnTo>
                    <a:pt x="5019" y="208"/>
                  </a:lnTo>
                  <a:lnTo>
                    <a:pt x="5019" y="0"/>
                  </a:lnTo>
                  <a:lnTo>
                    <a:pt x="2619" y="0"/>
                  </a:lnTo>
                  <a:lnTo>
                    <a:pt x="219" y="0"/>
                  </a:lnTo>
                  <a:lnTo>
                    <a:pt x="219"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grpSp>
        <p:nvGrpSpPr>
          <p:cNvPr id="184" name="Group 183">
            <a:extLst>
              <a:ext uri="{FF2B5EF4-FFF2-40B4-BE49-F238E27FC236}">
                <a16:creationId xmlns:a16="http://schemas.microsoft.com/office/drawing/2014/main" id="{B158ADCD-8B2B-0CA2-64C3-E6145D2438EA}"/>
              </a:ext>
            </a:extLst>
          </p:cNvPr>
          <p:cNvGrpSpPr>
            <a:grpSpLocks noChangeAspect="1"/>
          </p:cNvGrpSpPr>
          <p:nvPr/>
        </p:nvGrpSpPr>
        <p:grpSpPr>
          <a:xfrm>
            <a:off x="7003824" y="3484307"/>
            <a:ext cx="281201" cy="276958"/>
            <a:chOff x="9999829" y="1879040"/>
            <a:chExt cx="291438" cy="292720"/>
          </a:xfrm>
          <a:solidFill>
            <a:schemeClr val="bg1">
              <a:lumMod val="95000"/>
            </a:schemeClr>
          </a:solidFill>
        </p:grpSpPr>
        <p:sp>
          <p:nvSpPr>
            <p:cNvPr id="185" name="Freeform 94">
              <a:extLst>
                <a:ext uri="{FF2B5EF4-FFF2-40B4-BE49-F238E27FC236}">
                  <a16:creationId xmlns:a16="http://schemas.microsoft.com/office/drawing/2014/main" id="{43AAFA75-2696-CC8F-3AD8-7333F4DF1119}"/>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186" name="Oval 185">
              <a:extLst>
                <a:ext uri="{FF2B5EF4-FFF2-40B4-BE49-F238E27FC236}">
                  <a16:creationId xmlns:a16="http://schemas.microsoft.com/office/drawing/2014/main" id="{CA1AE994-CB28-AD75-C2E1-A087821A55D6}"/>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187" name="Group 186">
            <a:extLst>
              <a:ext uri="{FF2B5EF4-FFF2-40B4-BE49-F238E27FC236}">
                <a16:creationId xmlns:a16="http://schemas.microsoft.com/office/drawing/2014/main" id="{FE9DE264-AE27-B87D-09BE-2F5E7883A18E}"/>
              </a:ext>
            </a:extLst>
          </p:cNvPr>
          <p:cNvGrpSpPr>
            <a:grpSpLocks noChangeAspect="1"/>
          </p:cNvGrpSpPr>
          <p:nvPr/>
        </p:nvGrpSpPr>
        <p:grpSpPr>
          <a:xfrm>
            <a:off x="6653180" y="4929107"/>
            <a:ext cx="269337" cy="235444"/>
            <a:chOff x="1058859" y="4671214"/>
            <a:chExt cx="195523" cy="199407"/>
          </a:xfrm>
          <a:solidFill>
            <a:schemeClr val="bg1">
              <a:lumMod val="95000"/>
            </a:schemeClr>
          </a:solidFill>
        </p:grpSpPr>
        <p:sp>
          <p:nvSpPr>
            <p:cNvPr id="188" name="Freeform 193">
              <a:extLst>
                <a:ext uri="{FF2B5EF4-FFF2-40B4-BE49-F238E27FC236}">
                  <a16:creationId xmlns:a16="http://schemas.microsoft.com/office/drawing/2014/main" id="{1DD901DA-087F-4A81-4C07-24EB2C7FAE15}"/>
                </a:ext>
              </a:extLst>
            </p:cNvPr>
            <p:cNvSpPr>
              <a:spLocks/>
            </p:cNvSpPr>
            <p:nvPr/>
          </p:nvSpPr>
          <p:spPr bwMode="auto">
            <a:xfrm>
              <a:off x="1058859" y="4671214"/>
              <a:ext cx="186459" cy="199407"/>
            </a:xfrm>
            <a:custGeom>
              <a:avLst/>
              <a:gdLst>
                <a:gd name="T0" fmla="*/ 425 w 1244"/>
                <a:gd name="T1" fmla="*/ 49 h 1331"/>
                <a:gd name="T2" fmla="*/ 302 w 1244"/>
                <a:gd name="T3" fmla="*/ 110 h 1331"/>
                <a:gd name="T4" fmla="*/ 201 w 1244"/>
                <a:gd name="T5" fmla="*/ 187 h 1331"/>
                <a:gd name="T6" fmla="*/ 119 w 1244"/>
                <a:gd name="T7" fmla="*/ 286 h 1331"/>
                <a:gd name="T8" fmla="*/ 68 w 1244"/>
                <a:gd name="T9" fmla="*/ 375 h 1331"/>
                <a:gd name="T10" fmla="*/ 14 w 1244"/>
                <a:gd name="T11" fmla="*/ 523 h 1331"/>
                <a:gd name="T12" fmla="*/ 2 w 1244"/>
                <a:gd name="T13" fmla="*/ 725 h 1331"/>
                <a:gd name="T14" fmla="*/ 19 w 1244"/>
                <a:gd name="T15" fmla="*/ 823 h 1331"/>
                <a:gd name="T16" fmla="*/ 85 w 1244"/>
                <a:gd name="T17" fmla="*/ 995 h 1331"/>
                <a:gd name="T18" fmla="*/ 189 w 1244"/>
                <a:gd name="T19" fmla="*/ 1135 h 1331"/>
                <a:gd name="T20" fmla="*/ 332 w 1244"/>
                <a:gd name="T21" fmla="*/ 1242 h 1331"/>
                <a:gd name="T22" fmla="*/ 463 w 1244"/>
                <a:gd name="T23" fmla="*/ 1299 h 1331"/>
                <a:gd name="T24" fmla="*/ 587 w 1244"/>
                <a:gd name="T25" fmla="*/ 1327 h 1331"/>
                <a:gd name="T26" fmla="*/ 762 w 1244"/>
                <a:gd name="T27" fmla="*/ 1324 h 1331"/>
                <a:gd name="T28" fmla="*/ 931 w 1244"/>
                <a:gd name="T29" fmla="*/ 1278 h 1331"/>
                <a:gd name="T30" fmla="*/ 1076 w 1244"/>
                <a:gd name="T31" fmla="*/ 1193 h 1331"/>
                <a:gd name="T32" fmla="*/ 1131 w 1244"/>
                <a:gd name="T33" fmla="*/ 1142 h 1331"/>
                <a:gd name="T34" fmla="*/ 1222 w 1244"/>
                <a:gd name="T35" fmla="*/ 1034 h 1331"/>
                <a:gd name="T36" fmla="*/ 1243 w 1244"/>
                <a:gd name="T37" fmla="*/ 992 h 1331"/>
                <a:gd name="T38" fmla="*/ 1180 w 1244"/>
                <a:gd name="T39" fmla="*/ 957 h 1331"/>
                <a:gd name="T40" fmla="*/ 1137 w 1244"/>
                <a:gd name="T41" fmla="*/ 938 h 1331"/>
                <a:gd name="T42" fmla="*/ 1107 w 1244"/>
                <a:gd name="T43" fmla="*/ 955 h 1331"/>
                <a:gd name="T44" fmla="*/ 1083 w 1244"/>
                <a:gd name="T45" fmla="*/ 989 h 1331"/>
                <a:gd name="T46" fmla="*/ 1007 w 1244"/>
                <a:gd name="T47" fmla="*/ 1066 h 1331"/>
                <a:gd name="T48" fmla="*/ 913 w 1244"/>
                <a:gd name="T49" fmla="*/ 1128 h 1331"/>
                <a:gd name="T50" fmla="*/ 808 w 1244"/>
                <a:gd name="T51" fmla="*/ 1172 h 1331"/>
                <a:gd name="T52" fmla="*/ 726 w 1244"/>
                <a:gd name="T53" fmla="*/ 1190 h 1331"/>
                <a:gd name="T54" fmla="*/ 637 w 1244"/>
                <a:gd name="T55" fmla="*/ 1193 h 1331"/>
                <a:gd name="T56" fmla="*/ 511 w 1244"/>
                <a:gd name="T57" fmla="*/ 1166 h 1331"/>
                <a:gd name="T58" fmla="*/ 391 w 1244"/>
                <a:gd name="T59" fmla="*/ 1112 h 1331"/>
                <a:gd name="T60" fmla="*/ 291 w 1244"/>
                <a:gd name="T61" fmla="*/ 1037 h 1331"/>
                <a:gd name="T62" fmla="*/ 237 w 1244"/>
                <a:gd name="T63" fmla="*/ 973 h 1331"/>
                <a:gd name="T64" fmla="*/ 183 w 1244"/>
                <a:gd name="T65" fmla="*/ 879 h 1331"/>
                <a:gd name="T66" fmla="*/ 161 w 1244"/>
                <a:gd name="T67" fmla="*/ 799 h 1331"/>
                <a:gd name="T68" fmla="*/ 153 w 1244"/>
                <a:gd name="T69" fmla="*/ 665 h 1331"/>
                <a:gd name="T70" fmla="*/ 157 w 1244"/>
                <a:gd name="T71" fmla="*/ 545 h 1331"/>
                <a:gd name="T72" fmla="*/ 186 w 1244"/>
                <a:gd name="T73" fmla="*/ 447 h 1331"/>
                <a:gd name="T74" fmla="*/ 220 w 1244"/>
                <a:gd name="T75" fmla="*/ 387 h 1331"/>
                <a:gd name="T76" fmla="*/ 311 w 1244"/>
                <a:gd name="T77" fmla="*/ 279 h 1331"/>
                <a:gd name="T78" fmla="*/ 422 w 1244"/>
                <a:gd name="T79" fmla="*/ 201 h 1331"/>
                <a:gd name="T80" fmla="*/ 551 w 1244"/>
                <a:gd name="T81" fmla="*/ 157 h 1331"/>
                <a:gd name="T82" fmla="*/ 656 w 1244"/>
                <a:gd name="T83" fmla="*/ 147 h 1331"/>
                <a:gd name="T84" fmla="*/ 808 w 1244"/>
                <a:gd name="T85" fmla="*/ 163 h 1331"/>
                <a:gd name="T86" fmla="*/ 869 w 1244"/>
                <a:gd name="T87" fmla="*/ 182 h 1331"/>
                <a:gd name="T88" fmla="*/ 921 w 1244"/>
                <a:gd name="T89" fmla="*/ 191 h 1331"/>
                <a:gd name="T90" fmla="*/ 941 w 1244"/>
                <a:gd name="T91" fmla="*/ 170 h 1331"/>
                <a:gd name="T92" fmla="*/ 982 w 1244"/>
                <a:gd name="T93" fmla="*/ 107 h 1331"/>
                <a:gd name="T94" fmla="*/ 976 w 1244"/>
                <a:gd name="T95" fmla="*/ 80 h 1331"/>
                <a:gd name="T96" fmla="*/ 933 w 1244"/>
                <a:gd name="T97" fmla="*/ 57 h 1331"/>
                <a:gd name="T98" fmla="*/ 843 w 1244"/>
                <a:gd name="T99" fmla="*/ 25 h 1331"/>
                <a:gd name="T100" fmla="*/ 725 w 1244"/>
                <a:gd name="T101" fmla="*/ 2 h 1331"/>
                <a:gd name="T102" fmla="*/ 608 w 1244"/>
                <a:gd name="T103" fmla="*/ 3 h 1331"/>
                <a:gd name="T104" fmla="*/ 490 w 1244"/>
                <a:gd name="T105" fmla="*/ 27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44" h="1331">
                  <a:moveTo>
                    <a:pt x="460" y="37"/>
                  </a:moveTo>
                  <a:lnTo>
                    <a:pt x="425" y="49"/>
                  </a:lnTo>
                  <a:lnTo>
                    <a:pt x="360" y="77"/>
                  </a:lnTo>
                  <a:lnTo>
                    <a:pt x="302" y="110"/>
                  </a:lnTo>
                  <a:lnTo>
                    <a:pt x="249" y="146"/>
                  </a:lnTo>
                  <a:lnTo>
                    <a:pt x="201" y="187"/>
                  </a:lnTo>
                  <a:lnTo>
                    <a:pt x="158" y="234"/>
                  </a:lnTo>
                  <a:lnTo>
                    <a:pt x="119" y="286"/>
                  </a:lnTo>
                  <a:lnTo>
                    <a:pt x="84" y="344"/>
                  </a:lnTo>
                  <a:lnTo>
                    <a:pt x="68" y="375"/>
                  </a:lnTo>
                  <a:lnTo>
                    <a:pt x="46" y="424"/>
                  </a:lnTo>
                  <a:lnTo>
                    <a:pt x="14" y="523"/>
                  </a:lnTo>
                  <a:lnTo>
                    <a:pt x="0" y="624"/>
                  </a:lnTo>
                  <a:lnTo>
                    <a:pt x="2" y="725"/>
                  </a:lnTo>
                  <a:lnTo>
                    <a:pt x="10" y="775"/>
                  </a:lnTo>
                  <a:lnTo>
                    <a:pt x="19" y="823"/>
                  </a:lnTo>
                  <a:lnTo>
                    <a:pt x="47" y="913"/>
                  </a:lnTo>
                  <a:lnTo>
                    <a:pt x="85" y="995"/>
                  </a:lnTo>
                  <a:lnTo>
                    <a:pt x="132" y="1069"/>
                  </a:lnTo>
                  <a:lnTo>
                    <a:pt x="189" y="1135"/>
                  </a:lnTo>
                  <a:lnTo>
                    <a:pt x="256" y="1193"/>
                  </a:lnTo>
                  <a:lnTo>
                    <a:pt x="332" y="1242"/>
                  </a:lnTo>
                  <a:lnTo>
                    <a:pt x="417" y="1282"/>
                  </a:lnTo>
                  <a:lnTo>
                    <a:pt x="463" y="1299"/>
                  </a:lnTo>
                  <a:lnTo>
                    <a:pt x="503" y="1311"/>
                  </a:lnTo>
                  <a:lnTo>
                    <a:pt x="587" y="1327"/>
                  </a:lnTo>
                  <a:lnTo>
                    <a:pt x="674" y="1331"/>
                  </a:lnTo>
                  <a:lnTo>
                    <a:pt x="762" y="1324"/>
                  </a:lnTo>
                  <a:lnTo>
                    <a:pt x="848" y="1306"/>
                  </a:lnTo>
                  <a:lnTo>
                    <a:pt x="931" y="1278"/>
                  </a:lnTo>
                  <a:lnTo>
                    <a:pt x="1007" y="1240"/>
                  </a:lnTo>
                  <a:lnTo>
                    <a:pt x="1076" y="1193"/>
                  </a:lnTo>
                  <a:lnTo>
                    <a:pt x="1106" y="1165"/>
                  </a:lnTo>
                  <a:lnTo>
                    <a:pt x="1131" y="1142"/>
                  </a:lnTo>
                  <a:lnTo>
                    <a:pt x="1180" y="1087"/>
                  </a:lnTo>
                  <a:lnTo>
                    <a:pt x="1222" y="1034"/>
                  </a:lnTo>
                  <a:lnTo>
                    <a:pt x="1244" y="998"/>
                  </a:lnTo>
                  <a:lnTo>
                    <a:pt x="1243" y="992"/>
                  </a:lnTo>
                  <a:lnTo>
                    <a:pt x="1226" y="981"/>
                  </a:lnTo>
                  <a:lnTo>
                    <a:pt x="1180" y="957"/>
                  </a:lnTo>
                  <a:lnTo>
                    <a:pt x="1161" y="948"/>
                  </a:lnTo>
                  <a:lnTo>
                    <a:pt x="1137" y="938"/>
                  </a:lnTo>
                  <a:lnTo>
                    <a:pt x="1121" y="941"/>
                  </a:lnTo>
                  <a:lnTo>
                    <a:pt x="1107" y="955"/>
                  </a:lnTo>
                  <a:lnTo>
                    <a:pt x="1098" y="969"/>
                  </a:lnTo>
                  <a:lnTo>
                    <a:pt x="1083" y="989"/>
                  </a:lnTo>
                  <a:lnTo>
                    <a:pt x="1047" y="1029"/>
                  </a:lnTo>
                  <a:lnTo>
                    <a:pt x="1007" y="1066"/>
                  </a:lnTo>
                  <a:lnTo>
                    <a:pt x="962" y="1099"/>
                  </a:lnTo>
                  <a:lnTo>
                    <a:pt x="913" y="1128"/>
                  </a:lnTo>
                  <a:lnTo>
                    <a:pt x="862" y="1153"/>
                  </a:lnTo>
                  <a:lnTo>
                    <a:pt x="808" y="1172"/>
                  </a:lnTo>
                  <a:lnTo>
                    <a:pt x="754" y="1186"/>
                  </a:lnTo>
                  <a:lnTo>
                    <a:pt x="726" y="1190"/>
                  </a:lnTo>
                  <a:lnTo>
                    <a:pt x="698" y="1194"/>
                  </a:lnTo>
                  <a:lnTo>
                    <a:pt x="637" y="1193"/>
                  </a:lnTo>
                  <a:lnTo>
                    <a:pt x="574" y="1183"/>
                  </a:lnTo>
                  <a:lnTo>
                    <a:pt x="511" y="1166"/>
                  </a:lnTo>
                  <a:lnTo>
                    <a:pt x="449" y="1142"/>
                  </a:lnTo>
                  <a:lnTo>
                    <a:pt x="391" y="1112"/>
                  </a:lnTo>
                  <a:lnTo>
                    <a:pt x="337" y="1077"/>
                  </a:lnTo>
                  <a:lnTo>
                    <a:pt x="291" y="1037"/>
                  </a:lnTo>
                  <a:lnTo>
                    <a:pt x="271" y="1015"/>
                  </a:lnTo>
                  <a:lnTo>
                    <a:pt x="237" y="973"/>
                  </a:lnTo>
                  <a:lnTo>
                    <a:pt x="201" y="917"/>
                  </a:lnTo>
                  <a:lnTo>
                    <a:pt x="183" y="879"/>
                  </a:lnTo>
                  <a:lnTo>
                    <a:pt x="170" y="841"/>
                  </a:lnTo>
                  <a:lnTo>
                    <a:pt x="161" y="799"/>
                  </a:lnTo>
                  <a:lnTo>
                    <a:pt x="154" y="726"/>
                  </a:lnTo>
                  <a:lnTo>
                    <a:pt x="153" y="665"/>
                  </a:lnTo>
                  <a:lnTo>
                    <a:pt x="153" y="615"/>
                  </a:lnTo>
                  <a:lnTo>
                    <a:pt x="157" y="545"/>
                  </a:lnTo>
                  <a:lnTo>
                    <a:pt x="167" y="494"/>
                  </a:lnTo>
                  <a:lnTo>
                    <a:pt x="186" y="447"/>
                  </a:lnTo>
                  <a:lnTo>
                    <a:pt x="201" y="419"/>
                  </a:lnTo>
                  <a:lnTo>
                    <a:pt x="220" y="387"/>
                  </a:lnTo>
                  <a:lnTo>
                    <a:pt x="262" y="329"/>
                  </a:lnTo>
                  <a:lnTo>
                    <a:pt x="311" y="279"/>
                  </a:lnTo>
                  <a:lnTo>
                    <a:pt x="364" y="236"/>
                  </a:lnTo>
                  <a:lnTo>
                    <a:pt x="422" y="201"/>
                  </a:lnTo>
                  <a:lnTo>
                    <a:pt x="484" y="175"/>
                  </a:lnTo>
                  <a:lnTo>
                    <a:pt x="551" y="157"/>
                  </a:lnTo>
                  <a:lnTo>
                    <a:pt x="620" y="148"/>
                  </a:lnTo>
                  <a:lnTo>
                    <a:pt x="656" y="147"/>
                  </a:lnTo>
                  <a:lnTo>
                    <a:pt x="705" y="148"/>
                  </a:lnTo>
                  <a:lnTo>
                    <a:pt x="808" y="163"/>
                  </a:lnTo>
                  <a:lnTo>
                    <a:pt x="845" y="174"/>
                  </a:lnTo>
                  <a:lnTo>
                    <a:pt x="869" y="182"/>
                  </a:lnTo>
                  <a:lnTo>
                    <a:pt x="901" y="191"/>
                  </a:lnTo>
                  <a:lnTo>
                    <a:pt x="921" y="191"/>
                  </a:lnTo>
                  <a:lnTo>
                    <a:pt x="934" y="180"/>
                  </a:lnTo>
                  <a:lnTo>
                    <a:pt x="941" y="170"/>
                  </a:lnTo>
                  <a:lnTo>
                    <a:pt x="961" y="144"/>
                  </a:lnTo>
                  <a:lnTo>
                    <a:pt x="982" y="107"/>
                  </a:lnTo>
                  <a:lnTo>
                    <a:pt x="982" y="89"/>
                  </a:lnTo>
                  <a:lnTo>
                    <a:pt x="976" y="80"/>
                  </a:lnTo>
                  <a:lnTo>
                    <a:pt x="955" y="66"/>
                  </a:lnTo>
                  <a:lnTo>
                    <a:pt x="933" y="57"/>
                  </a:lnTo>
                  <a:lnTo>
                    <a:pt x="903" y="45"/>
                  </a:lnTo>
                  <a:lnTo>
                    <a:pt x="843" y="25"/>
                  </a:lnTo>
                  <a:lnTo>
                    <a:pt x="784" y="11"/>
                  </a:lnTo>
                  <a:lnTo>
                    <a:pt x="725" y="2"/>
                  </a:lnTo>
                  <a:lnTo>
                    <a:pt x="666" y="0"/>
                  </a:lnTo>
                  <a:lnTo>
                    <a:pt x="608" y="3"/>
                  </a:lnTo>
                  <a:lnTo>
                    <a:pt x="549" y="12"/>
                  </a:lnTo>
                  <a:lnTo>
                    <a:pt x="490" y="27"/>
                  </a:lnTo>
                  <a:lnTo>
                    <a:pt x="46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9" name="Freeform 197">
              <a:extLst>
                <a:ext uri="{FF2B5EF4-FFF2-40B4-BE49-F238E27FC236}">
                  <a16:creationId xmlns:a16="http://schemas.microsoft.com/office/drawing/2014/main" id="{8E7E8AB7-CC65-6119-EB7A-176B79F7BD72}"/>
                </a:ext>
              </a:extLst>
            </p:cNvPr>
            <p:cNvSpPr>
              <a:spLocks/>
            </p:cNvSpPr>
            <p:nvPr/>
          </p:nvSpPr>
          <p:spPr bwMode="auto">
            <a:xfrm>
              <a:off x="1122954" y="4713944"/>
              <a:ext cx="131428" cy="100998"/>
            </a:xfrm>
            <a:custGeom>
              <a:avLst/>
              <a:gdLst>
                <a:gd name="T0" fmla="*/ 538 w 875"/>
                <a:gd name="T1" fmla="*/ 237 h 675"/>
                <a:gd name="T2" fmla="*/ 300 w 875"/>
                <a:gd name="T3" fmla="*/ 475 h 675"/>
                <a:gd name="T4" fmla="*/ 200 w 875"/>
                <a:gd name="T5" fmla="*/ 375 h 675"/>
                <a:gd name="T6" fmla="*/ 100 w 875"/>
                <a:gd name="T7" fmla="*/ 277 h 675"/>
                <a:gd name="T8" fmla="*/ 50 w 875"/>
                <a:gd name="T9" fmla="*/ 325 h 675"/>
                <a:gd name="T10" fmla="*/ 0 w 875"/>
                <a:gd name="T11" fmla="*/ 375 h 675"/>
                <a:gd name="T12" fmla="*/ 150 w 875"/>
                <a:gd name="T13" fmla="*/ 525 h 675"/>
                <a:gd name="T14" fmla="*/ 300 w 875"/>
                <a:gd name="T15" fmla="*/ 675 h 675"/>
                <a:gd name="T16" fmla="*/ 587 w 875"/>
                <a:gd name="T17" fmla="*/ 387 h 675"/>
                <a:gd name="T18" fmla="*/ 875 w 875"/>
                <a:gd name="T19" fmla="*/ 100 h 675"/>
                <a:gd name="T20" fmla="*/ 825 w 875"/>
                <a:gd name="T21" fmla="*/ 50 h 675"/>
                <a:gd name="T22" fmla="*/ 775 w 875"/>
                <a:gd name="T23" fmla="*/ 0 h 675"/>
                <a:gd name="T24" fmla="*/ 538 w 875"/>
                <a:gd name="T25" fmla="*/ 237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5" h="675">
                  <a:moveTo>
                    <a:pt x="538" y="237"/>
                  </a:moveTo>
                  <a:lnTo>
                    <a:pt x="300" y="475"/>
                  </a:lnTo>
                  <a:lnTo>
                    <a:pt x="200" y="375"/>
                  </a:lnTo>
                  <a:lnTo>
                    <a:pt x="100" y="277"/>
                  </a:lnTo>
                  <a:lnTo>
                    <a:pt x="50" y="325"/>
                  </a:lnTo>
                  <a:lnTo>
                    <a:pt x="0" y="375"/>
                  </a:lnTo>
                  <a:lnTo>
                    <a:pt x="150" y="525"/>
                  </a:lnTo>
                  <a:lnTo>
                    <a:pt x="300" y="675"/>
                  </a:lnTo>
                  <a:lnTo>
                    <a:pt x="587" y="387"/>
                  </a:lnTo>
                  <a:lnTo>
                    <a:pt x="875" y="100"/>
                  </a:lnTo>
                  <a:lnTo>
                    <a:pt x="825" y="50"/>
                  </a:lnTo>
                  <a:lnTo>
                    <a:pt x="775" y="0"/>
                  </a:lnTo>
                  <a:lnTo>
                    <a:pt x="538" y="2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4737498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مهام البنية المؤسسية</a:t>
            </a:r>
          </a:p>
        </p:txBody>
      </p:sp>
      <p:graphicFrame>
        <p:nvGraphicFramePr>
          <p:cNvPr id="5" name="Table 8">
            <a:extLst>
              <a:ext uri="{FF2B5EF4-FFF2-40B4-BE49-F238E27FC236}">
                <a16:creationId xmlns:a16="http://schemas.microsoft.com/office/drawing/2014/main" id="{7AFAE9B1-7878-6FC3-8416-856FBBE1FB67}"/>
              </a:ext>
            </a:extLst>
          </p:cNvPr>
          <p:cNvGraphicFramePr>
            <a:graphicFrameLocks noGrp="1"/>
          </p:cNvGraphicFramePr>
          <p:nvPr/>
        </p:nvGraphicFramePr>
        <p:xfrm>
          <a:off x="899587" y="908901"/>
          <a:ext cx="10362580" cy="5203199"/>
        </p:xfrm>
        <a:graphic>
          <a:graphicData uri="http://schemas.openxmlformats.org/drawingml/2006/table">
            <a:tbl>
              <a:tblPr firstRow="1" bandRow="1">
                <a:tableStyleId>{5C22544A-7EE6-4342-B048-85BDC9FD1C3A}</a:tableStyleId>
              </a:tblPr>
              <a:tblGrid>
                <a:gridCol w="861258">
                  <a:extLst>
                    <a:ext uri="{9D8B030D-6E8A-4147-A177-3AD203B41FA5}">
                      <a16:colId xmlns:a16="http://schemas.microsoft.com/office/drawing/2014/main" val="2226954059"/>
                    </a:ext>
                  </a:extLst>
                </a:gridCol>
                <a:gridCol w="9159848">
                  <a:extLst>
                    <a:ext uri="{9D8B030D-6E8A-4147-A177-3AD203B41FA5}">
                      <a16:colId xmlns:a16="http://schemas.microsoft.com/office/drawing/2014/main" val="637829901"/>
                    </a:ext>
                  </a:extLst>
                </a:gridCol>
                <a:gridCol w="341474">
                  <a:extLst>
                    <a:ext uri="{9D8B030D-6E8A-4147-A177-3AD203B41FA5}">
                      <a16:colId xmlns:a16="http://schemas.microsoft.com/office/drawing/2014/main" val="543068415"/>
                    </a:ext>
                  </a:extLst>
                </a:gridCol>
              </a:tblGrid>
              <a:tr h="401633">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النوع</a:t>
                      </a:r>
                    </a:p>
                  </a:txBody>
                  <a:tcPr anchor="ctr"/>
                </a:tc>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المهمة</a:t>
                      </a:r>
                      <a:endParaRPr lang="ar-EG"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a:t>
                      </a:r>
                      <a:endParaRPr lang="ar-EG"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342969">
                <a:tc rowSpan="11">
                  <a:txBody>
                    <a:bodyPr/>
                    <a:lstStyle/>
                    <a:p>
                      <a:pPr algn="ctr" rtl="1" fontAlgn="b"/>
                      <a:r>
                        <a:rPr lang="ar-EG" sz="2400" b="1" i="0" u="none" strike="noStrike" baseline="0" dirty="0">
                          <a:solidFill>
                            <a:srgbClr val="000000"/>
                          </a:solidFill>
                          <a:effectLst/>
                          <a:latin typeface="Sakkal Majalla" panose="02000000000000000000" pitchFamily="2" charset="-78"/>
                          <a:cs typeface="Sakkal Majalla" panose="02000000000000000000" pitchFamily="2" charset="-78"/>
                        </a:rPr>
                        <a:t>مهام محورية</a:t>
                      </a:r>
                      <a:endParaRPr lang="ar-SA" sz="2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vert="vert270" anchor="ctr">
                    <a:solidFill>
                      <a:srgbClr val="44AC52"/>
                    </a:solidFill>
                  </a:tcPr>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ومراجعة استراتيجية البنية المؤسسية وضمان المواءمة مع التوجهات الاستراتيجية للهيئة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847378156"/>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تحديد احتياجات العمل وفهم أنشطة الأعمال وبرامج الأعمال لتصميم بنية مؤسسية تعكس متطلبات الهيئة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2</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306921876"/>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بناء التصاميم والبنية المؤسسية في مجال الأعمال، البيانات، التطبيقات، وبنية التقنية تبعا للهياكل المرجعية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والمبادئ والمعايير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المحددة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3</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572451158"/>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المشاركة في تطوير وتحديث استراتيجية التحول الرقمي</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4</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002500608"/>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تطوير خارطة الطريق للتحول الرقمي وحوكمة ومتابعة تنفيذ خطط التحول الرقمي</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5</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138828202"/>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ومواءمة متطلبات الأعمال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والطلبات التقنية في الهيئة مع الأهداف الاستراتيجية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6</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37281627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كراسات الشروط والمواصفات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للمشاريع الرقمية في الهيئة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7</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947784764"/>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وتقييم امتثال مشاريع الهيئة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الرقمية مع ال</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بادئ والمعايير</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المحددة في إطار عمل البنية المؤسسية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8</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602485621"/>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تقديم توصيات بشأن القرارات المتعلقة بممارسة البنية المؤسسية وتقديم الاستشارة للوحدات التنظيمية في الهيئة لمجالات البنية المؤسسية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9</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78929969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الاستخدام الأمثل للموارد التقنية لخفض التكاليف</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10</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99899854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دراسة التقنيات الناشئة وفق أفضل الممارسات وكيفية الاستفادة منها</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مع أصحاب الاختصاص</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11</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776434887"/>
                  </a:ext>
                </a:extLst>
              </a:tr>
              <a:tr h="342969">
                <a:tc rowSpan="3">
                  <a:txBody>
                    <a:bodyPr/>
                    <a:lstStyle/>
                    <a:p>
                      <a:pPr algn="ctr" rtl="1" fontAlgn="b"/>
                      <a:r>
                        <a:rPr lang="ar-EG" sz="2400" b="1" i="0" u="none" strike="noStrike" baseline="0" dirty="0">
                          <a:solidFill>
                            <a:srgbClr val="000000"/>
                          </a:solidFill>
                          <a:effectLst/>
                          <a:latin typeface="Sakkal Majalla" panose="02000000000000000000" pitchFamily="2" charset="-78"/>
                          <a:cs typeface="Sakkal Majalla" panose="02000000000000000000" pitchFamily="2" charset="-78"/>
                        </a:rPr>
                        <a:t>مهام داعمة</a:t>
                      </a:r>
                      <a:endParaRPr lang="ar-SA" sz="2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vert="vert270" anchor="ctr">
                    <a:solidFill>
                      <a:srgbClr val="3FA2DB"/>
                    </a:solidFill>
                  </a:tcPr>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تطوير إطار عمل، وسياسات، وإجراءات عمل وحدة البنية المؤسسية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12</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749343101"/>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نشر التوعية بفوائد تطبيق البنية المؤسسية والقيمة المضافة</a:t>
                      </a:r>
                    </a:p>
                  </a:txBody>
                  <a:tcPr marL="0" marT="0" marB="0" anchor="b"/>
                </a:tc>
                <a:tc>
                  <a:txBody>
                    <a:bodyPr/>
                    <a:lstStyle/>
                    <a:p>
                      <a:pPr algn="ctr" rtl="0" fontAlgn="b"/>
                      <a:r>
                        <a:rPr lang="ar-EG" sz="1800" b="0" i="0" u="none" strike="noStrike" baseline="0">
                          <a:solidFill>
                            <a:srgbClr val="000000"/>
                          </a:solidFill>
                          <a:effectLst/>
                          <a:latin typeface="Sakkal Majalla" panose="02000000000000000000" pitchFamily="2" charset="-78"/>
                          <a:cs typeface="Sakkal Majalla" panose="02000000000000000000" pitchFamily="2" charset="-78"/>
                        </a:rPr>
                        <a:t>13</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544499624"/>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متابعة أداء البنية المؤسسية ومراجعة أحدث الممارسات التي يمكن تضمينها في إدارة البنية المؤسسية لضمان التحسين المستمر</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14</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774828597"/>
                  </a:ext>
                </a:extLst>
              </a:tr>
            </a:tbl>
          </a:graphicData>
        </a:graphic>
      </p:graphicFrame>
    </p:spTree>
    <p:extLst>
      <p:ext uri="{BB962C8B-B14F-4D97-AF65-F5344CB8AC3E}">
        <p14:creationId xmlns:p14="http://schemas.microsoft.com/office/powerpoint/2010/main" val="2852364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2F43-38CF-615A-BDBB-43056C2822F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0B5BD0A-E3AC-081D-18D4-6C30F41B5DDF}"/>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83AD5924-5442-BEC2-A8C0-F620AEB4ADB6}"/>
              </a:ext>
            </a:extLst>
          </p:cNvPr>
          <p:cNvSpPr txBox="1">
            <a:spLocks/>
          </p:cNvSpPr>
          <p:nvPr/>
        </p:nvSpPr>
        <p:spPr>
          <a:xfrm>
            <a:off x="1567543" y="408242"/>
            <a:ext cx="978625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قائمة "خدمات ممارسة البنية المؤسسية"</a:t>
            </a:r>
            <a:endParaRPr lang="ar-SA" dirty="0"/>
          </a:p>
        </p:txBody>
      </p:sp>
      <p:graphicFrame>
        <p:nvGraphicFramePr>
          <p:cNvPr id="3" name="Table 2">
            <a:extLst>
              <a:ext uri="{FF2B5EF4-FFF2-40B4-BE49-F238E27FC236}">
                <a16:creationId xmlns:a16="http://schemas.microsoft.com/office/drawing/2014/main" id="{D61A87BA-5193-4C46-B1BF-60931C05C3AA}"/>
              </a:ext>
            </a:extLst>
          </p:cNvPr>
          <p:cNvGraphicFramePr>
            <a:graphicFrameLocks noGrp="1"/>
          </p:cNvGraphicFramePr>
          <p:nvPr>
            <p:extLst>
              <p:ext uri="{D42A27DB-BD31-4B8C-83A1-F6EECF244321}">
                <p14:modId xmlns:p14="http://schemas.microsoft.com/office/powerpoint/2010/main" val="3546171880"/>
              </p:ext>
            </p:extLst>
          </p:nvPr>
        </p:nvGraphicFramePr>
        <p:xfrm>
          <a:off x="1040546" y="943067"/>
          <a:ext cx="10379849" cy="4999698"/>
        </p:xfrm>
        <a:graphic>
          <a:graphicData uri="http://schemas.openxmlformats.org/drawingml/2006/table">
            <a:tbl>
              <a:tblPr firstRow="1" bandRow="1">
                <a:tableStyleId>{5C22544A-7EE6-4342-B048-85BDC9FD1C3A}</a:tableStyleId>
              </a:tblPr>
              <a:tblGrid>
                <a:gridCol w="5342325">
                  <a:extLst>
                    <a:ext uri="{9D8B030D-6E8A-4147-A177-3AD203B41FA5}">
                      <a16:colId xmlns:a16="http://schemas.microsoft.com/office/drawing/2014/main" val="3768957783"/>
                    </a:ext>
                  </a:extLst>
                </a:gridCol>
                <a:gridCol w="2859741">
                  <a:extLst>
                    <a:ext uri="{9D8B030D-6E8A-4147-A177-3AD203B41FA5}">
                      <a16:colId xmlns:a16="http://schemas.microsoft.com/office/drawing/2014/main" val="2301184828"/>
                    </a:ext>
                  </a:extLst>
                </a:gridCol>
                <a:gridCol w="1165412">
                  <a:extLst>
                    <a:ext uri="{9D8B030D-6E8A-4147-A177-3AD203B41FA5}">
                      <a16:colId xmlns:a16="http://schemas.microsoft.com/office/drawing/2014/main" val="4039305866"/>
                    </a:ext>
                  </a:extLst>
                </a:gridCol>
                <a:gridCol w="1012371">
                  <a:extLst>
                    <a:ext uri="{9D8B030D-6E8A-4147-A177-3AD203B41FA5}">
                      <a16:colId xmlns:a16="http://schemas.microsoft.com/office/drawing/2014/main" val="2196856444"/>
                    </a:ext>
                  </a:extLst>
                </a:gridCol>
              </a:tblGrid>
              <a:tr h="427698">
                <a:tc>
                  <a:txBody>
                    <a:bodyPr/>
                    <a:lstStyle/>
                    <a:p>
                      <a:pPr algn="ctr" rtl="1"/>
                      <a:r>
                        <a:rPr lang="ar-SA" sz="2000" dirty="0"/>
                        <a:t>الوصف</a:t>
                      </a:r>
                      <a:endParaRPr lang="en-US" sz="2000" dirty="0"/>
                    </a:p>
                  </a:txBody>
                  <a:tcPr/>
                </a:tc>
                <a:tc>
                  <a:txBody>
                    <a:bodyPr/>
                    <a:lstStyle/>
                    <a:p>
                      <a:pPr algn="ctr" rtl="1"/>
                      <a:r>
                        <a:rPr lang="ar-EG" sz="2000" dirty="0"/>
                        <a:t>الخدمة</a:t>
                      </a:r>
                      <a:endParaRPr lang="en-US" sz="2000" dirty="0"/>
                    </a:p>
                  </a:txBody>
                  <a:tcPr/>
                </a:tc>
                <a:tc>
                  <a:txBody>
                    <a:bodyPr/>
                    <a:lstStyle/>
                    <a:p>
                      <a:pPr algn="ctr" rtl="1"/>
                      <a:r>
                        <a:rPr lang="ar-EG" sz="2000" dirty="0"/>
                        <a:t>فئة الخدمة</a:t>
                      </a:r>
                      <a:endParaRPr lang="en-US" sz="2000" dirty="0"/>
                    </a:p>
                  </a:txBody>
                  <a:tcPr/>
                </a:tc>
                <a:tc>
                  <a:txBody>
                    <a:bodyPr/>
                    <a:lstStyle/>
                    <a:p>
                      <a:pPr algn="ctr" rtl="1"/>
                      <a:r>
                        <a:rPr lang="ar-EG" sz="2000" dirty="0"/>
                        <a:t>#</a:t>
                      </a:r>
                      <a:endParaRPr lang="en-US" sz="2000" dirty="0"/>
                    </a:p>
                  </a:txBody>
                  <a:tcPr/>
                </a:tc>
                <a:extLst>
                  <a:ext uri="{0D108BD9-81ED-4DB2-BD59-A6C34878D82A}">
                    <a16:rowId xmlns:a16="http://schemas.microsoft.com/office/drawing/2014/main" val="3293185352"/>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تعزيز الوعي بفوائد وممارسات البنية المؤسسية داخل </a:t>
                      </a:r>
                      <a:r>
                        <a:rPr lang="ar-EG" sz="1200" kern="1200" dirty="0">
                          <a:solidFill>
                            <a:schemeClr val="tx1"/>
                          </a:solidFill>
                          <a:latin typeface="+mn-lt"/>
                          <a:ea typeface="+mn-ea"/>
                          <a:cs typeface="+mn-cs"/>
                        </a:rPr>
                        <a:t>الهيئة</a:t>
                      </a:r>
                      <a:r>
                        <a:rPr lang="ar-SA" sz="1200" kern="1200" dirty="0">
                          <a:solidFill>
                            <a:schemeClr val="tx1"/>
                          </a:solidFill>
                          <a:latin typeface="+mn-lt"/>
                          <a:ea typeface="+mn-ea"/>
                          <a:cs typeface="+mn-cs"/>
                        </a:rPr>
                        <a:t> من خلال التواصل والتدريب والتوعية، مما يدعم تبني الممارسات الصحيحة</a:t>
                      </a:r>
                      <a:r>
                        <a:rPr lang="ar-EG" sz="1200" kern="1200" dirty="0">
                          <a:solidFill>
                            <a:schemeClr val="tx1"/>
                          </a:solidFill>
                          <a:latin typeface="+mn-lt"/>
                          <a:ea typeface="+mn-ea"/>
                          <a:cs typeface="+mn-cs"/>
                        </a:rPr>
                        <a:t> للبنية المؤسسية</a:t>
                      </a:r>
                      <a:r>
                        <a:rPr lang="ar-SA" sz="1200" kern="1200" dirty="0">
                          <a:solidFill>
                            <a:schemeClr val="tx1"/>
                          </a:solidFill>
                          <a:latin typeface="+mn-lt"/>
                          <a:ea typeface="+mn-ea"/>
                          <a:cs typeface="+mn-cs"/>
                        </a:rPr>
                        <a:t> وتحقيق الأهداف الاستراتيجية</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التوعية ونشر ثقافة البنية المؤسسية</a:t>
                      </a:r>
                      <a:endParaRPr lang="ar-SA" sz="1400" b="1" kern="1200" dirty="0">
                        <a:solidFill>
                          <a:schemeClr val="accent1"/>
                        </a:solidFill>
                        <a:latin typeface="+mn-lt"/>
                        <a:ea typeface="+mn-ea"/>
                        <a:cs typeface="+mn-cs"/>
                      </a:endParaRP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p>
                  </a:txBody>
                  <a:tcPr anchor="ctr"/>
                </a:tc>
                <a:tc>
                  <a:txBody>
                    <a:bodyPr/>
                    <a:lstStyle/>
                    <a:p>
                      <a:pPr marL="0" algn="ctr" defTabSz="914400" rtl="1" eaLnBrk="1" latinLnBrk="0" hangingPunct="1"/>
                      <a:r>
                        <a:rPr lang="en-US" sz="1400" b="1" kern="1200" dirty="0">
                          <a:solidFill>
                            <a:schemeClr val="tx1"/>
                          </a:solidFill>
                          <a:latin typeface="+mn-lt"/>
                          <a:ea typeface="+mn-ea"/>
                          <a:cs typeface="+mn-cs"/>
                        </a:rPr>
                        <a:t>EA-SERV-01</a:t>
                      </a:r>
                    </a:p>
                  </a:txBody>
                  <a:tcPr anchor="ctr"/>
                </a:tc>
                <a:extLst>
                  <a:ext uri="{0D108BD9-81ED-4DB2-BD59-A6C34878D82A}">
                    <a16:rowId xmlns:a16="http://schemas.microsoft.com/office/drawing/2014/main" val="1628727393"/>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توفير التوجيهات والإرشادات اللازمة لضمان مواءمة تقنية المعلومات مع أهداف قطاع الأعمال، وتقديم دعم مستمر للإدارة</a:t>
                      </a:r>
                      <a:r>
                        <a:rPr lang="ar-EG" sz="1200" kern="1200" dirty="0">
                          <a:solidFill>
                            <a:schemeClr val="tx1"/>
                          </a:solidFill>
                          <a:latin typeface="+mn-lt"/>
                          <a:ea typeface="+mn-ea"/>
                          <a:cs typeface="+mn-cs"/>
                        </a:rPr>
                        <a:t> العليا</a:t>
                      </a:r>
                      <a:r>
                        <a:rPr lang="ar-SA" sz="1200" kern="1200" dirty="0">
                          <a:solidFill>
                            <a:schemeClr val="tx1"/>
                          </a:solidFill>
                          <a:latin typeface="+mn-lt"/>
                          <a:ea typeface="+mn-ea"/>
                          <a:cs typeface="+mn-cs"/>
                        </a:rPr>
                        <a:t> في اتخاذ القرارات الاستراتيجية المبنية على معلومات دقيقة وشاملة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المواءمة الاستراتيجية ودعم اتخاذ القرار</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محورية</a:t>
                      </a: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EA-SERV-02</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921703392"/>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توفير آلية منهجية لمراجعة ومواءمة متطلبات الأعمال والطلبات التقنية مع الأهداف الاستراتيجية للهيئة، وضمان توافقها مع مبادئ ومعايير البنية المؤسسية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إدارة طلبات الأعمال والطلبات التقنية</a:t>
                      </a:r>
                      <a:endParaRPr lang="en-US" sz="1400" b="1" kern="1200" dirty="0">
                        <a:solidFill>
                          <a:schemeClr val="accent1"/>
                        </a:solidFill>
                        <a:latin typeface="+mn-lt"/>
                        <a:ea typeface="+mn-ea"/>
                        <a:cs typeface="+mn-cs"/>
                      </a:endParaRP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en-US"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EA-SERV-03</a:t>
                      </a:r>
                      <a:endParaRPr lang="en-US" sz="1400" b="1" kern="1200" dirty="0">
                        <a:solidFill>
                          <a:schemeClr val="tx1"/>
                        </a:solidFill>
                        <a:latin typeface="+mn-lt"/>
                        <a:ea typeface="+mn-ea"/>
                        <a:cs typeface="+mn-cs"/>
                      </a:endParaRPr>
                    </a:p>
                  </a:txBody>
                  <a:tcPr anchor="ctr"/>
                </a:tc>
                <a:extLst>
                  <a:ext uri="{0D108BD9-81ED-4DB2-BD59-A6C34878D82A}">
                    <a16:rowId xmlns:a16="http://schemas.microsoft.com/office/drawing/2014/main" val="3576189597"/>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تطوير وتحديث مكونات البنية المؤسسية للمؤسسة، بما يشمل مجالات الأعمال، البيانات، التطبيقات، والتقنية، لضمان توفر معلومات دقيقة ومحدثة تدعم التحسين المستمر واتخاذ القرارات الفعالة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توثيق وتحديث مكونات البنية المؤسسية</a:t>
                      </a: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ar-SA"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EA-SERV-04</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3482954124"/>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تقديم الاستشارات والتوصيات الفنية المتخصصة للوحدات التنظيمية في مجالات البنية المؤسسية والتقنيات الناشئة، لدعمهم في تحقيق أهدافهم بكفاءة وفعالية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تقديم التوصيات والمشورة الفنية</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SA"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EA-SERV-05</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3184823250"/>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تطوير خارطة طريق للتحول الرقمي تشمل </a:t>
                      </a:r>
                      <a:r>
                        <a:rPr lang="ar-EG" sz="1200" kern="1200" dirty="0">
                          <a:solidFill>
                            <a:schemeClr val="tx1"/>
                          </a:solidFill>
                          <a:latin typeface="+mn-lt"/>
                          <a:ea typeface="+mn-ea"/>
                          <a:cs typeface="+mn-cs"/>
                        </a:rPr>
                        <a:t>تغطية للفجوات والمتطلبات </a:t>
                      </a:r>
                      <a:r>
                        <a:rPr lang="ar-SA" sz="1200" kern="1200" dirty="0">
                          <a:solidFill>
                            <a:schemeClr val="tx1"/>
                          </a:solidFill>
                          <a:latin typeface="+mn-lt"/>
                          <a:ea typeface="+mn-ea"/>
                          <a:cs typeface="+mn-cs"/>
                        </a:rPr>
                        <a:t>ووضع استراتيجية تنفيذية لتحقيق الأهداف الرقمية، ومتابعة تنفيذ الخطة لضمان تحقيق النتائج المرجوة</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إعداد ومتابعة تنفيذ خارطة الطريق للتحول الرقمي</a:t>
                      </a: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EA-SERV-06</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599608417"/>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تقديم الدعم في حوكمة الاستثمارات الرقمية من خلال مراجعة وتقييم المشاريع الرقمية، والتأكد من توافقها مع </a:t>
                      </a:r>
                      <a:r>
                        <a:rPr lang="ar-EG" sz="1200" kern="1200" dirty="0">
                          <a:solidFill>
                            <a:schemeClr val="tx1"/>
                          </a:solidFill>
                          <a:latin typeface="+mn-lt"/>
                          <a:ea typeface="+mn-ea"/>
                          <a:cs typeface="+mn-cs"/>
                        </a:rPr>
                        <a:t>المبادئ والمعايير </a:t>
                      </a:r>
                      <a:r>
                        <a:rPr lang="ar-SA" sz="1200" kern="1200" dirty="0">
                          <a:solidFill>
                            <a:schemeClr val="tx1"/>
                          </a:solidFill>
                          <a:latin typeface="+mn-lt"/>
                          <a:ea typeface="+mn-ea"/>
                          <a:cs typeface="+mn-cs"/>
                        </a:rPr>
                        <a:t>المعتمدة، والمساهمة في اتخاذ القرارات الاستثمارية الأمثل</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دعم حوكمة الاستثمارات الرقمية ومراجعة المشاريع</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EA-SERV-07</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3404976290"/>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التأكد من أن جميع مكونات ومخرجات البنية المؤسسية تتوافق مع المعايير والسياسات المحددة على المستوى المؤسسي والوطني، </a:t>
                      </a:r>
                      <a:r>
                        <a:rPr lang="ar-EG" sz="1200" kern="1200" dirty="0">
                          <a:solidFill>
                            <a:schemeClr val="tx1"/>
                          </a:solidFill>
                          <a:latin typeface="+mn-lt"/>
                          <a:ea typeface="+mn-ea"/>
                          <a:cs typeface="+mn-cs"/>
                        </a:rPr>
                        <a:t>وتمتثل مع مبادئ ومعايير ممارسة البنية المؤسسية في الهيئة، </a:t>
                      </a:r>
                      <a:r>
                        <a:rPr lang="ar-SA" sz="1200" kern="1200" dirty="0">
                          <a:solidFill>
                            <a:schemeClr val="tx1"/>
                          </a:solidFill>
                          <a:latin typeface="+mn-lt"/>
                          <a:ea typeface="+mn-ea"/>
                          <a:cs typeface="+mn-cs"/>
                        </a:rPr>
                        <a:t>مما يعزز الحوكمة والالتزام بالمعايير</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ضمان الامتثال لمبادئ ومعايير البنية المؤسسية</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EA-SERV-08</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1542395614"/>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متابعة وتقييم أداء البنية المؤسسية بشكل مستمر، ومراجعة أحدث الممارسات والتوجهات لضمان التحسين المستمر وتبني أفضل الممارسات</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إدارة ومتابعة أداء البنية المؤسسية</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EA-SERV-09</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3306883351"/>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المشاركة في المؤتمرات والندوات المحلية والدولية المتعلقة بالبنية المؤسسية، وتبادل المعرفة والخبرات مع الجهات الأخرى لتعزيز ممارسات البنية المؤسسية داخل </a:t>
                      </a:r>
                      <a:r>
                        <a:rPr lang="ar-EG" sz="1200" kern="1200" dirty="0">
                          <a:solidFill>
                            <a:schemeClr val="tx1"/>
                          </a:solidFill>
                          <a:latin typeface="+mn-lt"/>
                          <a:ea typeface="+mn-ea"/>
                          <a:cs typeface="+mn-cs"/>
                        </a:rPr>
                        <a:t>الهيئة</a:t>
                      </a:r>
                      <a:endParaRPr lang="ar-SA" sz="1200" kern="1200" dirty="0">
                        <a:solidFill>
                          <a:schemeClr val="tx1"/>
                        </a:solidFill>
                        <a:latin typeface="+mn-lt"/>
                        <a:ea typeface="+mn-ea"/>
                        <a:cs typeface="+mn-cs"/>
                      </a:endParaRP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المشاركة في المؤتمرات وتبادل المعرفة</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EA-SERV-10</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2190743653"/>
                  </a:ext>
                </a:extLst>
              </a:tr>
            </a:tbl>
          </a:graphicData>
        </a:graphic>
      </p:graphicFrame>
    </p:spTree>
    <p:extLst>
      <p:ext uri="{BB962C8B-B14F-4D97-AF65-F5344CB8AC3E}">
        <p14:creationId xmlns:p14="http://schemas.microsoft.com/office/powerpoint/2010/main" val="1126221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D6E47-B6EE-389A-62CA-A67E56C8262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66D8E30-4B34-A4FB-8313-3F131DEF34A8}"/>
              </a:ext>
            </a:extLst>
          </p:cNvPr>
          <p:cNvSpPr txBox="1"/>
          <p:nvPr/>
        </p:nvSpPr>
        <p:spPr>
          <a:xfrm>
            <a:off x="848350"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23</a:t>
            </a:fld>
            <a:endParaRPr lang="en-US" sz="1400" b="1" dirty="0">
              <a:solidFill>
                <a:schemeClr val="accent1"/>
              </a:solidFill>
            </a:endParaRPr>
          </a:p>
        </p:txBody>
      </p:sp>
      <p:sp>
        <p:nvSpPr>
          <p:cNvPr id="2" name="Title 1">
            <a:extLst>
              <a:ext uri="{FF2B5EF4-FFF2-40B4-BE49-F238E27FC236}">
                <a16:creationId xmlns:a16="http://schemas.microsoft.com/office/drawing/2014/main" id="{55CF2A4B-4D85-893F-F690-A0988348BF2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الهيكل التنظيمي المعتمد لتفعيل ممارسة البنية المؤسسية في الهيئة</a:t>
            </a:r>
            <a:endParaRPr lang="en-US" dirty="0"/>
          </a:p>
        </p:txBody>
      </p:sp>
      <p:grpSp>
        <p:nvGrpSpPr>
          <p:cNvPr id="4" name="Group 3">
            <a:extLst>
              <a:ext uri="{FF2B5EF4-FFF2-40B4-BE49-F238E27FC236}">
                <a16:creationId xmlns:a16="http://schemas.microsoft.com/office/drawing/2014/main" id="{4F4EBD80-9200-3E7C-FCA7-69EFA0F5FD3E}"/>
              </a:ext>
            </a:extLst>
          </p:cNvPr>
          <p:cNvGrpSpPr/>
          <p:nvPr/>
        </p:nvGrpSpPr>
        <p:grpSpPr>
          <a:xfrm>
            <a:off x="487018" y="1502159"/>
            <a:ext cx="11217964" cy="4623725"/>
            <a:chOff x="0" y="1617422"/>
            <a:chExt cx="12101209" cy="4148647"/>
          </a:xfrm>
        </p:grpSpPr>
        <p:sp>
          <p:nvSpPr>
            <p:cNvPr id="6" name="Rectangle: Rounded Corners 5">
              <a:extLst>
                <a:ext uri="{FF2B5EF4-FFF2-40B4-BE49-F238E27FC236}">
                  <a16:creationId xmlns:a16="http://schemas.microsoft.com/office/drawing/2014/main" id="{ACCED8DE-982D-CDA5-4E71-A0A0A8690C0C}"/>
                </a:ext>
              </a:extLst>
            </p:cNvPr>
            <p:cNvSpPr/>
            <p:nvPr/>
          </p:nvSpPr>
          <p:spPr>
            <a:xfrm>
              <a:off x="0" y="1617422"/>
              <a:ext cx="12101209" cy="4148647"/>
            </a:xfrm>
            <a:prstGeom prst="roundRect">
              <a:avLst>
                <a:gd name="adj" fmla="val 5150"/>
              </a:avLst>
            </a:prstGeom>
            <a:solidFill>
              <a:srgbClr val="40968D">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104">
              <a:extLst>
                <a:ext uri="{FF2B5EF4-FFF2-40B4-BE49-F238E27FC236}">
                  <a16:creationId xmlns:a16="http://schemas.microsoft.com/office/drawing/2014/main" id="{85CE07E1-4489-3896-0BEF-025702D9C59F}"/>
                </a:ext>
              </a:extLst>
            </p:cNvPr>
            <p:cNvSpPr/>
            <p:nvPr/>
          </p:nvSpPr>
          <p:spPr>
            <a:xfrm>
              <a:off x="79443" y="1843810"/>
              <a:ext cx="11942323" cy="550920"/>
            </a:xfrm>
            <a:prstGeom prst="roundRect">
              <a:avLst>
                <a:gd name="adj" fmla="val 8464"/>
              </a:avLst>
            </a:prstGeom>
            <a:solidFill>
              <a:schemeClr val="accent1"/>
            </a:solidFill>
            <a:ln>
              <a:noFill/>
            </a:ln>
            <a:effectLst>
              <a:outerShdw blurRad="50800" dist="38100" dir="2700000" algn="tl" rotWithShape="0">
                <a:prstClr val="black">
                  <a:alpha val="40000"/>
                </a:prstClr>
              </a:outerShdw>
            </a:effectLst>
          </p:spPr>
          <p:txBody>
            <a:bodyPr spcFirstLastPara="1" wrap="square" lIns="0" tIns="0" rIns="0" bIns="0" anchor="ctr" anchorCtr="0">
              <a:noAutofit/>
            </a:bodyPr>
            <a:lstStyle/>
            <a:p>
              <a:pPr algn="ctr" rtl="1"/>
              <a:r>
                <a:rPr lang="ar-EG" sz="2400" b="1" dirty="0">
                  <a:solidFill>
                    <a:schemeClr val="lt1"/>
                  </a:solidFill>
                </a:rPr>
                <a:t>قسم</a:t>
              </a:r>
              <a:r>
                <a:rPr lang="ar-SA" sz="2400" b="1" dirty="0">
                  <a:solidFill>
                    <a:schemeClr val="lt1"/>
                  </a:solidFill>
                </a:rPr>
                <a:t> البنية المؤسسية</a:t>
              </a:r>
              <a:endParaRPr lang="en-US" sz="2400" b="1" dirty="0">
                <a:solidFill>
                  <a:schemeClr val="lt1"/>
                </a:solidFill>
              </a:endParaRPr>
            </a:p>
          </p:txBody>
        </p:sp>
        <p:sp>
          <p:nvSpPr>
            <p:cNvPr id="8" name="Rectangle 7">
              <a:extLst>
                <a:ext uri="{FF2B5EF4-FFF2-40B4-BE49-F238E27FC236}">
                  <a16:creationId xmlns:a16="http://schemas.microsoft.com/office/drawing/2014/main" id="{DE11DF8A-F55D-C1CC-B77F-6CB77956DE18}"/>
                </a:ext>
              </a:extLst>
            </p:cNvPr>
            <p:cNvSpPr/>
            <p:nvPr/>
          </p:nvSpPr>
          <p:spPr>
            <a:xfrm>
              <a:off x="4186436" y="3030322"/>
              <a:ext cx="3663366" cy="5792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2000" b="1" dirty="0"/>
                <a:t>مدير </a:t>
              </a:r>
              <a:r>
                <a:rPr lang="ar-EG" sz="2000" b="1" dirty="0"/>
                <a:t>قسم</a:t>
              </a:r>
              <a:r>
                <a:rPr lang="ar-SA" sz="2000" b="1" dirty="0"/>
                <a:t> البنية المؤسسية</a:t>
              </a:r>
              <a:endParaRPr lang="ar-SA" sz="2000" b="1" dirty="0">
                <a:solidFill>
                  <a:schemeClr val="accent2">
                    <a:lumMod val="40000"/>
                    <a:lumOff val="60000"/>
                  </a:schemeClr>
                </a:solidFill>
              </a:endParaRPr>
            </a:p>
          </p:txBody>
        </p:sp>
        <p:sp>
          <p:nvSpPr>
            <p:cNvPr id="9" name="Rectangle 8">
              <a:extLst>
                <a:ext uri="{FF2B5EF4-FFF2-40B4-BE49-F238E27FC236}">
                  <a16:creationId xmlns:a16="http://schemas.microsoft.com/office/drawing/2014/main" id="{CBB494E3-6575-8C42-CB0A-B93F89E6ECF2}"/>
                </a:ext>
              </a:extLst>
            </p:cNvPr>
            <p:cNvSpPr/>
            <p:nvPr/>
          </p:nvSpPr>
          <p:spPr>
            <a:xfrm>
              <a:off x="865845" y="2835466"/>
              <a:ext cx="1839332"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البنية المؤسسية</a:t>
              </a:r>
            </a:p>
          </p:txBody>
        </p:sp>
        <p:sp>
          <p:nvSpPr>
            <p:cNvPr id="10" name="Rectangle 9">
              <a:extLst>
                <a:ext uri="{FF2B5EF4-FFF2-40B4-BE49-F238E27FC236}">
                  <a16:creationId xmlns:a16="http://schemas.microsoft.com/office/drawing/2014/main" id="{526BC942-D94F-2CDC-EEA1-8772F7B8BBE7}"/>
                </a:ext>
              </a:extLst>
            </p:cNvPr>
            <p:cNvSpPr/>
            <p:nvPr/>
          </p:nvSpPr>
          <p:spPr>
            <a:xfrm>
              <a:off x="8967411" y="4391271"/>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الأعمال </a:t>
              </a:r>
              <a:endParaRPr lang="en-US" b="1" dirty="0"/>
            </a:p>
          </p:txBody>
        </p:sp>
        <p:sp>
          <p:nvSpPr>
            <p:cNvPr id="11" name="Rectangle 10">
              <a:extLst>
                <a:ext uri="{FF2B5EF4-FFF2-40B4-BE49-F238E27FC236}">
                  <a16:creationId xmlns:a16="http://schemas.microsoft.com/office/drawing/2014/main" id="{90BE0FCE-91DC-D114-E501-C54A5548DC8D}"/>
                </a:ext>
              </a:extLst>
            </p:cNvPr>
            <p:cNvSpPr/>
            <p:nvPr/>
          </p:nvSpPr>
          <p:spPr>
            <a:xfrm>
              <a:off x="6145800" y="4391270"/>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البيانات</a:t>
              </a:r>
            </a:p>
          </p:txBody>
        </p:sp>
        <p:sp>
          <p:nvSpPr>
            <p:cNvPr id="12" name="Rectangle 11">
              <a:extLst>
                <a:ext uri="{FF2B5EF4-FFF2-40B4-BE49-F238E27FC236}">
                  <a16:creationId xmlns:a16="http://schemas.microsoft.com/office/drawing/2014/main" id="{17CBBFD5-1F85-2D1A-C566-CE22AF6137D6}"/>
                </a:ext>
              </a:extLst>
            </p:cNvPr>
            <p:cNvSpPr/>
            <p:nvPr/>
          </p:nvSpPr>
          <p:spPr>
            <a:xfrm>
              <a:off x="3241342" y="4391270"/>
              <a:ext cx="2764707"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التطبيقات</a:t>
              </a:r>
            </a:p>
          </p:txBody>
        </p:sp>
        <p:cxnSp>
          <p:nvCxnSpPr>
            <p:cNvPr id="13" name="Straight Connector 12">
              <a:extLst>
                <a:ext uri="{FF2B5EF4-FFF2-40B4-BE49-F238E27FC236}">
                  <a16:creationId xmlns:a16="http://schemas.microsoft.com/office/drawing/2014/main" id="{D19A7FDF-7C7F-14EF-7C87-A29963747E9C}"/>
                </a:ext>
              </a:extLst>
            </p:cNvPr>
            <p:cNvCxnSpPr>
              <a:cxnSpLocks/>
              <a:endCxn id="8" idx="0"/>
            </p:cNvCxnSpPr>
            <p:nvPr/>
          </p:nvCxnSpPr>
          <p:spPr>
            <a:xfrm>
              <a:off x="6018119" y="2308339"/>
              <a:ext cx="0" cy="72198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Rounded Rectangle 3">
              <a:extLst>
                <a:ext uri="{FF2B5EF4-FFF2-40B4-BE49-F238E27FC236}">
                  <a16:creationId xmlns:a16="http://schemas.microsoft.com/office/drawing/2014/main" id="{429797A7-02CB-3FBB-F65E-329733B95952}"/>
                </a:ext>
              </a:extLst>
            </p:cNvPr>
            <p:cNvSpPr/>
            <p:nvPr/>
          </p:nvSpPr>
          <p:spPr>
            <a:xfrm>
              <a:off x="79443" y="2543969"/>
              <a:ext cx="11942324" cy="3038719"/>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w="15873" cap="flat">
              <a:solidFill>
                <a:schemeClr val="accent2">
                  <a:lumMod val="75000"/>
                </a:schemeClr>
              </a:solidFill>
              <a:custDash>
                <a:ds d="300013" sp="300013"/>
              </a:custDash>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Sakkal Majalla" pitchFamily="2"/>
                <a:cs typeface="Sakkal Majalla" pitchFamily="2"/>
              </a:endParaRPr>
            </a:p>
          </p:txBody>
        </p:sp>
        <p:cxnSp>
          <p:nvCxnSpPr>
            <p:cNvPr id="15" name="Elbow Connector 9">
              <a:extLst>
                <a:ext uri="{FF2B5EF4-FFF2-40B4-BE49-F238E27FC236}">
                  <a16:creationId xmlns:a16="http://schemas.microsoft.com/office/drawing/2014/main" id="{02767F8E-4F62-0081-BB46-91AB153708D9}"/>
                </a:ext>
              </a:extLst>
            </p:cNvPr>
            <p:cNvCxnSpPr>
              <a:cxnSpLocks/>
              <a:stCxn id="8" idx="2"/>
              <a:endCxn id="12" idx="0"/>
            </p:cNvCxnSpPr>
            <p:nvPr/>
          </p:nvCxnSpPr>
          <p:spPr>
            <a:xfrm rot="5400000">
              <a:off x="4930058" y="3303208"/>
              <a:ext cx="781699" cy="1394424"/>
            </a:xfrm>
            <a:prstGeom prst="bentConnector3">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26">
              <a:extLst>
                <a:ext uri="{FF2B5EF4-FFF2-40B4-BE49-F238E27FC236}">
                  <a16:creationId xmlns:a16="http://schemas.microsoft.com/office/drawing/2014/main" id="{C6610C57-6347-9E24-BD6C-B90D77211BCD}"/>
                </a:ext>
              </a:extLst>
            </p:cNvPr>
            <p:cNvCxnSpPr>
              <a:cxnSpLocks/>
              <a:endCxn id="9" idx="3"/>
            </p:cNvCxnSpPr>
            <p:nvPr/>
          </p:nvCxnSpPr>
          <p:spPr>
            <a:xfrm rot="10800000" flipV="1">
              <a:off x="2705179" y="3287330"/>
              <a:ext cx="1638353" cy="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30">
              <a:extLst>
                <a:ext uri="{FF2B5EF4-FFF2-40B4-BE49-F238E27FC236}">
                  <a16:creationId xmlns:a16="http://schemas.microsoft.com/office/drawing/2014/main" id="{1F91105F-4FD0-C74C-5C9C-B2904AE15159}"/>
                </a:ext>
              </a:extLst>
            </p:cNvPr>
            <p:cNvCxnSpPr>
              <a:cxnSpLocks/>
              <a:stCxn id="8" idx="2"/>
              <a:endCxn id="10" idx="0"/>
            </p:cNvCxnSpPr>
            <p:nvPr/>
          </p:nvCxnSpPr>
          <p:spPr>
            <a:xfrm rot="16200000" flipH="1">
              <a:off x="7769631" y="1858059"/>
              <a:ext cx="781699" cy="428472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33">
              <a:extLst>
                <a:ext uri="{FF2B5EF4-FFF2-40B4-BE49-F238E27FC236}">
                  <a16:creationId xmlns:a16="http://schemas.microsoft.com/office/drawing/2014/main" id="{16D7B48E-F652-6C06-A247-D77D812D062B}"/>
                </a:ext>
              </a:extLst>
            </p:cNvPr>
            <p:cNvCxnSpPr>
              <a:cxnSpLocks/>
              <a:stCxn id="8" idx="2"/>
              <a:endCxn id="11" idx="0"/>
            </p:cNvCxnSpPr>
            <p:nvPr/>
          </p:nvCxnSpPr>
          <p:spPr>
            <a:xfrm rot="16200000" flipH="1">
              <a:off x="6358825" y="3268865"/>
              <a:ext cx="781699" cy="146311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E94AAE3-2219-9B62-1A62-EBB964E6EA6D}"/>
                </a:ext>
              </a:extLst>
            </p:cNvPr>
            <p:cNvSpPr/>
            <p:nvPr/>
          </p:nvSpPr>
          <p:spPr>
            <a:xfrm>
              <a:off x="429468" y="4391270"/>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15000"/>
                </a:lnSpc>
              </a:pPr>
              <a:r>
                <a:rPr lang="ar-EG" b="1" dirty="0">
                  <a:solidFill>
                    <a:srgbClr val="FFFFFF"/>
                  </a:solidFill>
                  <a:ea typeface="Sakkal Majalla" panose="02000000000000000000" pitchFamily="2" charset="-78"/>
                </a:rPr>
                <a:t>خبير بنية التقنية </a:t>
              </a:r>
              <a:endParaRPr lang="ar-SA" b="1" dirty="0">
                <a:solidFill>
                  <a:schemeClr val="accent2">
                    <a:lumMod val="40000"/>
                    <a:lumOff val="60000"/>
                  </a:schemeClr>
                </a:solidFill>
                <a:ea typeface="Sakkal Majalla" panose="02000000000000000000" pitchFamily="2" charset="-78"/>
              </a:endParaRPr>
            </a:p>
          </p:txBody>
        </p:sp>
        <p:sp>
          <p:nvSpPr>
            <p:cNvPr id="31" name="Rectangle 30">
              <a:extLst>
                <a:ext uri="{FF2B5EF4-FFF2-40B4-BE49-F238E27FC236}">
                  <a16:creationId xmlns:a16="http://schemas.microsoft.com/office/drawing/2014/main" id="{82FD6443-EA86-F472-4090-6C39CC02B603}"/>
                </a:ext>
              </a:extLst>
            </p:cNvPr>
            <p:cNvSpPr/>
            <p:nvPr/>
          </p:nvSpPr>
          <p:spPr>
            <a:xfrm>
              <a:off x="9368991" y="2868697"/>
              <a:ext cx="1839332"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مهندس أداة البنية</a:t>
              </a:r>
              <a:endParaRPr lang="ar-EG" b="1" dirty="0"/>
            </a:p>
          </p:txBody>
        </p:sp>
      </p:grpSp>
      <p:cxnSp>
        <p:nvCxnSpPr>
          <p:cNvPr id="51" name="Elbow Connector 26">
            <a:extLst>
              <a:ext uri="{FF2B5EF4-FFF2-40B4-BE49-F238E27FC236}">
                <a16:creationId xmlns:a16="http://schemas.microsoft.com/office/drawing/2014/main" id="{08576E4E-693C-CFA3-7F44-B13051D66D91}"/>
              </a:ext>
            </a:extLst>
          </p:cNvPr>
          <p:cNvCxnSpPr>
            <a:cxnSpLocks/>
            <a:stCxn id="8" idx="3"/>
            <a:endCxn id="31" idx="1"/>
          </p:cNvCxnSpPr>
          <p:nvPr/>
        </p:nvCxnSpPr>
        <p:spPr>
          <a:xfrm>
            <a:off x="7763878" y="3399647"/>
            <a:ext cx="1408306" cy="685"/>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Elbow Connector 9">
            <a:extLst>
              <a:ext uri="{FF2B5EF4-FFF2-40B4-BE49-F238E27FC236}">
                <a16:creationId xmlns:a16="http://schemas.microsoft.com/office/drawing/2014/main" id="{AD76BE75-5FD2-E3E0-05E4-AA850D379BA1}"/>
              </a:ext>
            </a:extLst>
          </p:cNvPr>
          <p:cNvCxnSpPr>
            <a:cxnSpLocks/>
            <a:stCxn id="8" idx="2"/>
            <a:endCxn id="19" idx="0"/>
          </p:cNvCxnSpPr>
          <p:nvPr/>
        </p:nvCxnSpPr>
        <p:spPr>
          <a:xfrm rot="5400000">
            <a:off x="3658886" y="2186651"/>
            <a:ext cx="871214" cy="3942786"/>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2" name="Pentagon 33">
            <a:extLst>
              <a:ext uri="{FF2B5EF4-FFF2-40B4-BE49-F238E27FC236}">
                <a16:creationId xmlns:a16="http://schemas.microsoft.com/office/drawing/2014/main" id="{D5229B2D-0AE9-4C44-AEC1-951EF093471A}"/>
              </a:ext>
            </a:extLst>
          </p:cNvPr>
          <p:cNvSpPr/>
          <p:nvPr/>
        </p:nvSpPr>
        <p:spPr>
          <a:xfrm flipH="1">
            <a:off x="3407479" y="982346"/>
            <a:ext cx="8029453" cy="299493"/>
          </a:xfrm>
          <a:prstGeom prst="homePlate">
            <a:avLst>
              <a:gd name="adj" fmla="val 0"/>
            </a:avLst>
          </a:prstGeom>
          <a:noFill/>
          <a:ln w="19050" cap="flat" cmpd="sng" algn="ctr">
            <a:noFill/>
            <a:prstDash val="dash"/>
          </a:ln>
          <a:effectLst/>
        </p:spPr>
        <p:txBody>
          <a:bodyPr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rtl="1"/>
            <a:r>
              <a:rPr lang="ar-SA" sz="1600" b="1" dirty="0">
                <a:solidFill>
                  <a:schemeClr val="tx1"/>
                </a:solidFill>
                <a:latin typeface="Sakkal Majalla" panose="020B0302050302020203" pitchFamily="34" charset="-78"/>
              </a:rPr>
              <a:t>يندرج </a:t>
            </a:r>
            <a:r>
              <a:rPr lang="ar-EG" sz="1600" b="1" dirty="0">
                <a:solidFill>
                  <a:schemeClr val="tx1"/>
                </a:solidFill>
                <a:latin typeface="Sakkal Majalla" panose="020B0302050302020203" pitchFamily="34" charset="-78"/>
              </a:rPr>
              <a:t>قسم</a:t>
            </a:r>
            <a:r>
              <a:rPr lang="ar-SA" sz="1600" b="1" dirty="0">
                <a:solidFill>
                  <a:schemeClr val="tx1"/>
                </a:solidFill>
                <a:latin typeface="Sakkal Majalla" panose="020B0302050302020203" pitchFamily="34" charset="-78"/>
              </a:rPr>
              <a:t> البنية المؤسسية تحت إدارة التخطيط والجودة التابعة لقطاع البيانات والتحول الرقمي</a:t>
            </a:r>
          </a:p>
        </p:txBody>
      </p:sp>
    </p:spTree>
    <p:extLst>
      <p:ext uri="{BB962C8B-B14F-4D97-AF65-F5344CB8AC3E}">
        <p14:creationId xmlns:p14="http://schemas.microsoft.com/office/powerpoint/2010/main" val="173520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C85B-B191-1B98-C7CC-F324073F133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92ACDCFC-A932-C181-82E7-7F12A88C0B3A}"/>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24</a:t>
            </a:fld>
            <a:endParaRPr lang="en-US" sz="1400" b="1" dirty="0">
              <a:solidFill>
                <a:schemeClr val="accent1"/>
              </a:solidFill>
            </a:endParaRPr>
          </a:p>
        </p:txBody>
      </p:sp>
      <p:sp>
        <p:nvSpPr>
          <p:cNvPr id="2" name="Title 1">
            <a:extLst>
              <a:ext uri="{FF2B5EF4-FFF2-40B4-BE49-F238E27FC236}">
                <a16:creationId xmlns:a16="http://schemas.microsoft.com/office/drawing/2014/main" id="{CA26FD6D-CFBD-95C1-0C0D-DA70C5C0573F}"/>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الهيكل التنظيمي لحوكمة منظومة البنية المؤسسية</a:t>
            </a:r>
            <a:endParaRPr lang="en-US" dirty="0"/>
          </a:p>
        </p:txBody>
      </p:sp>
      <p:grpSp>
        <p:nvGrpSpPr>
          <p:cNvPr id="6" name="Group 5">
            <a:extLst>
              <a:ext uri="{FF2B5EF4-FFF2-40B4-BE49-F238E27FC236}">
                <a16:creationId xmlns:a16="http://schemas.microsoft.com/office/drawing/2014/main" id="{B99AD263-432D-C0FA-584C-DDC3200ADC15}"/>
              </a:ext>
            </a:extLst>
          </p:cNvPr>
          <p:cNvGrpSpPr/>
          <p:nvPr/>
        </p:nvGrpSpPr>
        <p:grpSpPr>
          <a:xfrm>
            <a:off x="3525649" y="1413164"/>
            <a:ext cx="4722364" cy="4616334"/>
            <a:chOff x="2729023" y="678238"/>
            <a:chExt cx="3953904" cy="3189074"/>
          </a:xfrm>
        </p:grpSpPr>
        <p:sp>
          <p:nvSpPr>
            <p:cNvPr id="7" name="Google Shape;5400;p551">
              <a:extLst>
                <a:ext uri="{FF2B5EF4-FFF2-40B4-BE49-F238E27FC236}">
                  <a16:creationId xmlns:a16="http://schemas.microsoft.com/office/drawing/2014/main" id="{3C362D37-8DF6-F6FF-1B5D-3B4C32A090DE}"/>
                </a:ext>
              </a:extLst>
            </p:cNvPr>
            <p:cNvSpPr/>
            <p:nvPr/>
          </p:nvSpPr>
          <p:spPr>
            <a:xfrm>
              <a:off x="3831336" y="678238"/>
              <a:ext cx="1842615" cy="420485"/>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algn="ctr" rtl="1"/>
              <a:r>
                <a:rPr lang="ar-SA" b="1" dirty="0">
                  <a:solidFill>
                    <a:schemeClr val="bg1"/>
                  </a:solidFill>
                  <a:latin typeface="Sakkal Majalla" panose="020B0302050302020203" pitchFamily="34" charset="-78"/>
                  <a:ea typeface="Sakkal Majalla"/>
                  <a:sym typeface="Sakkal Majalla"/>
                </a:rPr>
                <a:t>لجنة </a:t>
              </a:r>
              <a:r>
                <a:rPr lang="ar-EG" b="1" dirty="0">
                  <a:solidFill>
                    <a:schemeClr val="bg1"/>
                  </a:solidFill>
                  <a:latin typeface="Sakkal Majalla" panose="020B0302050302020203" pitchFamily="34" charset="-78"/>
                  <a:ea typeface="Sakkal Majalla"/>
                  <a:sym typeface="Sakkal Majalla"/>
                </a:rPr>
                <a:t>التعاملات الالكترونية والتحول الرقمي</a:t>
              </a:r>
              <a:endParaRPr lang="ar-SA" b="1" dirty="0">
                <a:solidFill>
                  <a:schemeClr val="bg1"/>
                </a:solidFill>
                <a:latin typeface="Sakkal Majalla" panose="020B0302050302020203" pitchFamily="34" charset="-78"/>
                <a:ea typeface="Sakkal Majalla"/>
                <a:sym typeface="Sakkal Majalla"/>
              </a:endParaRPr>
            </a:p>
          </p:txBody>
        </p:sp>
        <p:sp>
          <p:nvSpPr>
            <p:cNvPr id="8" name="Google Shape;5400;p551">
              <a:extLst>
                <a:ext uri="{FF2B5EF4-FFF2-40B4-BE49-F238E27FC236}">
                  <a16:creationId xmlns:a16="http://schemas.microsoft.com/office/drawing/2014/main" id="{71259BD1-C08C-6451-F9C1-C2B86CC68DA8}"/>
                </a:ext>
              </a:extLst>
            </p:cNvPr>
            <p:cNvSpPr/>
            <p:nvPr/>
          </p:nvSpPr>
          <p:spPr>
            <a:xfrm>
              <a:off x="3831336" y="1332209"/>
              <a:ext cx="1842615" cy="420485"/>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marL="0" marR="0" lvl="0" indent="0" algn="ctr" rtl="1">
                <a:spcBef>
                  <a:spcPts val="0"/>
                </a:spcBef>
                <a:spcAft>
                  <a:spcPts val="0"/>
                </a:spcAft>
                <a:buNone/>
              </a:pPr>
              <a:r>
                <a:rPr lang="ar-SA" b="1" dirty="0">
                  <a:solidFill>
                    <a:schemeClr val="bg1"/>
                  </a:solidFill>
                  <a:latin typeface="Sakkal Majalla" panose="020B0302050302020203" pitchFamily="34" charset="-78"/>
                  <a:ea typeface="Sakkal Majalla"/>
                  <a:sym typeface="Sakkal Majalla"/>
                </a:rPr>
                <a:t>لجنة حوكمة البنية المؤسسية</a:t>
              </a:r>
            </a:p>
          </p:txBody>
        </p:sp>
        <p:cxnSp>
          <p:nvCxnSpPr>
            <p:cNvPr id="9" name="Straight Connector 8">
              <a:extLst>
                <a:ext uri="{FF2B5EF4-FFF2-40B4-BE49-F238E27FC236}">
                  <a16:creationId xmlns:a16="http://schemas.microsoft.com/office/drawing/2014/main" id="{75748220-2791-2E20-1543-EF7DB58BF825}"/>
                </a:ext>
              </a:extLst>
            </p:cNvPr>
            <p:cNvCxnSpPr>
              <a:stCxn id="7" idx="1"/>
              <a:endCxn id="8" idx="3"/>
            </p:cNvCxnSpPr>
            <p:nvPr/>
          </p:nvCxnSpPr>
          <p:spPr>
            <a:xfrm>
              <a:off x="4752644" y="1098723"/>
              <a:ext cx="0" cy="233486"/>
            </a:xfrm>
            <a:prstGeom prst="line">
              <a:avLst/>
            </a:prstGeom>
            <a:ln>
              <a:solidFill>
                <a:srgbClr val="A28B68"/>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C68EDF-0FBC-C863-BFA6-4CF40AAF7F52}"/>
                </a:ext>
              </a:extLst>
            </p:cNvPr>
            <p:cNvCxnSpPr>
              <a:stCxn id="8" idx="3"/>
              <a:endCxn id="8" idx="3"/>
            </p:cNvCxnSpPr>
            <p:nvPr/>
          </p:nvCxnSpPr>
          <p:spPr>
            <a:xfrm>
              <a:off x="4752644" y="1332209"/>
              <a:ext cx="0" cy="0"/>
            </a:xfrm>
            <a:prstGeom prst="line">
              <a:avLst/>
            </a:prstGeom>
            <a:ln>
              <a:solidFill>
                <a:srgbClr val="A28B68"/>
              </a:solidFill>
            </a:ln>
          </p:spPr>
          <p:style>
            <a:lnRef idx="1">
              <a:schemeClr val="accent1"/>
            </a:lnRef>
            <a:fillRef idx="0">
              <a:schemeClr val="accent1"/>
            </a:fillRef>
            <a:effectRef idx="0">
              <a:schemeClr val="accent1"/>
            </a:effectRef>
            <a:fontRef idx="minor">
              <a:schemeClr val="tx1"/>
            </a:fontRef>
          </p:style>
        </p:cxnSp>
        <p:sp>
          <p:nvSpPr>
            <p:cNvPr id="11" name="Google Shape;5391;p551">
              <a:extLst>
                <a:ext uri="{FF2B5EF4-FFF2-40B4-BE49-F238E27FC236}">
                  <a16:creationId xmlns:a16="http://schemas.microsoft.com/office/drawing/2014/main" id="{E2DC61F2-F181-EC2B-9F8F-378608ABF2D0}"/>
                </a:ext>
              </a:extLst>
            </p:cNvPr>
            <p:cNvSpPr/>
            <p:nvPr/>
          </p:nvSpPr>
          <p:spPr>
            <a:xfrm>
              <a:off x="3831336" y="2186069"/>
              <a:ext cx="1842615" cy="392148"/>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algn="ctr" rtl="1"/>
              <a:r>
                <a:rPr lang="ar-SA" b="1" dirty="0">
                  <a:solidFill>
                    <a:schemeClr val="bg1"/>
                  </a:solidFill>
                  <a:latin typeface="Sakkal Majalla" panose="020B0302050302020203" pitchFamily="34" charset="-78"/>
                  <a:ea typeface="Sakkal Majalla"/>
                  <a:sym typeface="Sakkal Majalla"/>
                </a:rPr>
                <a:t>مدير </a:t>
              </a:r>
              <a:r>
                <a:rPr lang="ar-EG" b="1" dirty="0">
                  <a:solidFill>
                    <a:schemeClr val="bg1"/>
                  </a:solidFill>
                  <a:latin typeface="Sakkal Majalla" panose="020B0302050302020203" pitchFamily="34" charset="-78"/>
                  <a:ea typeface="Sakkal Majalla"/>
                  <a:sym typeface="Sakkal Majalla"/>
                </a:rPr>
                <a:t>قسم</a:t>
              </a:r>
              <a:r>
                <a:rPr lang="ar-SA" b="1" dirty="0">
                  <a:solidFill>
                    <a:schemeClr val="bg1"/>
                  </a:solidFill>
                  <a:latin typeface="Sakkal Majalla" panose="020B0302050302020203" pitchFamily="34" charset="-78"/>
                  <a:ea typeface="Sakkal Majalla"/>
                  <a:sym typeface="Sakkal Majalla"/>
                </a:rPr>
                <a:t> البنية المؤسسية</a:t>
              </a:r>
              <a:endParaRPr b="1" dirty="0">
                <a:solidFill>
                  <a:schemeClr val="bg1"/>
                </a:solidFill>
                <a:latin typeface="Sakkal Majalla" panose="020B0302050302020203" pitchFamily="34" charset="-78"/>
                <a:ea typeface="Sakkal Majalla"/>
              </a:endParaRPr>
            </a:p>
          </p:txBody>
        </p:sp>
        <p:cxnSp>
          <p:nvCxnSpPr>
            <p:cNvPr id="12" name="Straight Arrow Connector 11">
              <a:extLst>
                <a:ext uri="{FF2B5EF4-FFF2-40B4-BE49-F238E27FC236}">
                  <a16:creationId xmlns:a16="http://schemas.microsoft.com/office/drawing/2014/main" id="{DB6C5408-636F-00CC-A9B0-4B934F302DAB}"/>
                </a:ext>
              </a:extLst>
            </p:cNvPr>
            <p:cNvCxnSpPr>
              <a:stCxn id="8" idx="1"/>
              <a:endCxn id="11" idx="3"/>
            </p:cNvCxnSpPr>
            <p:nvPr/>
          </p:nvCxnSpPr>
          <p:spPr>
            <a:xfrm>
              <a:off x="4752644" y="1752694"/>
              <a:ext cx="0" cy="433375"/>
            </a:xfrm>
            <a:prstGeom prst="straightConnector1">
              <a:avLst/>
            </a:prstGeom>
            <a:ln>
              <a:solidFill>
                <a:srgbClr val="A28B68"/>
              </a:solidFill>
              <a:tailEnd type="triangle"/>
            </a:ln>
          </p:spPr>
          <p:style>
            <a:lnRef idx="1">
              <a:schemeClr val="accent1"/>
            </a:lnRef>
            <a:fillRef idx="0">
              <a:schemeClr val="accent1"/>
            </a:fillRef>
            <a:effectRef idx="0">
              <a:schemeClr val="accent1"/>
            </a:effectRef>
            <a:fontRef idx="minor">
              <a:schemeClr val="tx1"/>
            </a:fontRef>
          </p:style>
        </p:cxnSp>
        <p:sp>
          <p:nvSpPr>
            <p:cNvPr id="13" name="Google Shape;5380;p551">
              <a:extLst>
                <a:ext uri="{FF2B5EF4-FFF2-40B4-BE49-F238E27FC236}">
                  <a16:creationId xmlns:a16="http://schemas.microsoft.com/office/drawing/2014/main" id="{10D2F9F3-FA2E-6E3A-5430-999B26E1759E}"/>
                </a:ext>
              </a:extLst>
            </p:cNvPr>
            <p:cNvSpPr/>
            <p:nvPr/>
          </p:nvSpPr>
          <p:spPr>
            <a:xfrm>
              <a:off x="2891231" y="2840143"/>
              <a:ext cx="3637159" cy="790888"/>
            </a:xfrm>
            <a:prstGeom prst="rect">
              <a:avLst/>
            </a:prstGeom>
            <a:noFill/>
            <a:ln w="9525" cap="flat" cmpd="sng">
              <a:solidFill>
                <a:schemeClr val="tx1"/>
              </a:solidFill>
              <a:prstDash val="dash"/>
              <a:miter lim="800000"/>
              <a:headEnd type="none" w="sm" len="sm"/>
              <a:tailEnd type="none" w="sm" len="sm"/>
            </a:ln>
          </p:spPr>
          <p:txBody>
            <a:bodyPr spcFirstLastPara="1" wrap="square" lIns="0" tIns="0" rIns="0" bIns="0" anchor="t" anchorCtr="0">
              <a:noAutofit/>
            </a:bodyPr>
            <a:lstStyle/>
            <a:p>
              <a:pPr marL="0" marR="0" lvl="0" indent="0" algn="ctr" rtl="1">
                <a:spcBef>
                  <a:spcPts val="0"/>
                </a:spcBef>
                <a:spcAft>
                  <a:spcPts val="0"/>
                </a:spcAft>
                <a:buNone/>
              </a:pPr>
              <a:endParaRPr sz="3600" dirty="0">
                <a:solidFill>
                  <a:srgbClr val="FFFFFF"/>
                </a:solidFill>
                <a:latin typeface="Times New Roman"/>
                <a:ea typeface="Times New Roman"/>
                <a:sym typeface="Times New Roman"/>
              </a:endParaRPr>
            </a:p>
          </p:txBody>
        </p:sp>
        <p:sp>
          <p:nvSpPr>
            <p:cNvPr id="14" name="TextBox 13">
              <a:extLst>
                <a:ext uri="{FF2B5EF4-FFF2-40B4-BE49-F238E27FC236}">
                  <a16:creationId xmlns:a16="http://schemas.microsoft.com/office/drawing/2014/main" id="{0241A3C9-3196-ECCE-0466-7D38E6A6B28E}"/>
                </a:ext>
              </a:extLst>
            </p:cNvPr>
            <p:cNvSpPr txBox="1"/>
            <p:nvPr/>
          </p:nvSpPr>
          <p:spPr>
            <a:xfrm>
              <a:off x="5916731" y="2845047"/>
              <a:ext cx="644823" cy="229165"/>
            </a:xfrm>
            <a:prstGeom prst="rect">
              <a:avLst/>
            </a:prstGeom>
            <a:noFill/>
          </p:spPr>
          <p:txBody>
            <a:bodyPr wrap="square" rtlCol="0">
              <a:spAutoFit/>
            </a:bodyPr>
            <a:lstStyle/>
            <a:p>
              <a:pPr algn="ctr"/>
              <a:endParaRPr lang="en-US" sz="1100" b="1" dirty="0">
                <a:solidFill>
                  <a:schemeClr val="tx1">
                    <a:lumMod val="75000"/>
                  </a:schemeClr>
                </a:solidFill>
                <a:latin typeface="Sakkal Majalla" panose="020B0302050302020203" pitchFamily="34" charset="-78"/>
              </a:endParaRPr>
            </a:p>
          </p:txBody>
        </p:sp>
        <p:cxnSp>
          <p:nvCxnSpPr>
            <p:cNvPr id="15" name="Straight Arrow Connector 14">
              <a:extLst>
                <a:ext uri="{FF2B5EF4-FFF2-40B4-BE49-F238E27FC236}">
                  <a16:creationId xmlns:a16="http://schemas.microsoft.com/office/drawing/2014/main" id="{DF271526-DDBE-1D5D-4982-76A592150095}"/>
                </a:ext>
              </a:extLst>
            </p:cNvPr>
            <p:cNvCxnSpPr/>
            <p:nvPr/>
          </p:nvCxnSpPr>
          <p:spPr>
            <a:xfrm>
              <a:off x="4752535" y="2578217"/>
              <a:ext cx="0" cy="263257"/>
            </a:xfrm>
            <a:prstGeom prst="straightConnector1">
              <a:avLst/>
            </a:prstGeom>
            <a:ln>
              <a:solidFill>
                <a:srgbClr val="A28B68"/>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63735617-2341-6A66-3EE7-5CFE54E2706B}"/>
                </a:ext>
              </a:extLst>
            </p:cNvPr>
            <p:cNvGrpSpPr/>
            <p:nvPr/>
          </p:nvGrpSpPr>
          <p:grpSpPr>
            <a:xfrm>
              <a:off x="4228953" y="2954547"/>
              <a:ext cx="1047368" cy="566354"/>
              <a:chOff x="3940899" y="2710329"/>
              <a:chExt cx="1047368" cy="566354"/>
            </a:xfrm>
          </p:grpSpPr>
          <p:sp>
            <p:nvSpPr>
              <p:cNvPr id="19" name="Google Shape;5399;p551">
                <a:extLst>
                  <a:ext uri="{FF2B5EF4-FFF2-40B4-BE49-F238E27FC236}">
                    <a16:creationId xmlns:a16="http://schemas.microsoft.com/office/drawing/2014/main" id="{3215C137-30A0-D0DE-87B2-A7DB8BB30B13}"/>
                  </a:ext>
                </a:extLst>
              </p:cNvPr>
              <p:cNvSpPr/>
              <p:nvPr/>
            </p:nvSpPr>
            <p:spPr>
              <a:xfrm>
                <a:off x="3940899" y="2710329"/>
                <a:ext cx="909585" cy="420485"/>
              </a:xfrm>
              <a:prstGeom prst="round2DiagRect">
                <a:avLst>
                  <a:gd name="adj1" fmla="val 16667"/>
                  <a:gd name="adj2" fmla="val 0"/>
                </a:avLst>
              </a:prstGeom>
              <a:solidFill>
                <a:schemeClr val="bg1">
                  <a:lumMod val="85000"/>
                </a:schemeClr>
              </a:solidFill>
              <a:ln>
                <a:solidFill>
                  <a:schemeClr val="bg1"/>
                </a:solidFill>
              </a:ln>
            </p:spPr>
            <p:txBody>
              <a:bodyPr spcFirstLastPara="1" wrap="square" lIns="0" tIns="0" rIns="0" bIns="0" anchor="ctr" anchorCtr="0">
                <a:noAutofit/>
              </a:bodyPr>
              <a:lstStyle/>
              <a:p>
                <a:pPr marL="0" marR="0" lvl="0" indent="0" algn="ctr" rtl="1">
                  <a:spcBef>
                    <a:spcPts val="0"/>
                  </a:spcBef>
                  <a:spcAft>
                    <a:spcPts val="0"/>
                  </a:spcAft>
                  <a:buNone/>
                </a:pPr>
                <a:endParaRPr sz="1600" b="1" dirty="0">
                  <a:solidFill>
                    <a:srgbClr val="FFFFFF"/>
                  </a:solidFill>
                  <a:latin typeface="Sakkal Majalla"/>
                  <a:ea typeface="Sakkal Majalla"/>
                  <a:sym typeface="Sakkal Majalla"/>
                </a:endParaRPr>
              </a:p>
            </p:txBody>
          </p:sp>
          <p:sp>
            <p:nvSpPr>
              <p:cNvPr id="20" name="Google Shape;5399;p551">
                <a:extLst>
                  <a:ext uri="{FF2B5EF4-FFF2-40B4-BE49-F238E27FC236}">
                    <a16:creationId xmlns:a16="http://schemas.microsoft.com/office/drawing/2014/main" id="{A4E3A81A-ACC9-E743-CCF9-C40102DA2E77}"/>
                  </a:ext>
                </a:extLst>
              </p:cNvPr>
              <p:cNvSpPr/>
              <p:nvPr/>
            </p:nvSpPr>
            <p:spPr>
              <a:xfrm>
                <a:off x="4007228" y="2776954"/>
                <a:ext cx="909585" cy="420485"/>
              </a:xfrm>
              <a:prstGeom prst="round2DiagRect">
                <a:avLst>
                  <a:gd name="adj1" fmla="val 16667"/>
                  <a:gd name="adj2" fmla="val 0"/>
                </a:avLst>
              </a:prstGeom>
              <a:solidFill>
                <a:schemeClr val="bg1">
                  <a:lumMod val="85000"/>
                </a:schemeClr>
              </a:solidFill>
              <a:ln>
                <a:solidFill>
                  <a:schemeClr val="bg1"/>
                </a:solidFill>
              </a:ln>
            </p:spPr>
            <p:txBody>
              <a:bodyPr spcFirstLastPara="1" wrap="square" lIns="0" tIns="0" rIns="0" bIns="0" anchor="ctr" anchorCtr="0">
                <a:noAutofit/>
              </a:bodyPr>
              <a:lstStyle/>
              <a:p>
                <a:pPr marL="0" marR="0" lvl="0" indent="0" algn="ctr" rtl="1">
                  <a:spcBef>
                    <a:spcPts val="0"/>
                  </a:spcBef>
                  <a:spcAft>
                    <a:spcPts val="0"/>
                  </a:spcAft>
                  <a:buNone/>
                </a:pPr>
                <a:endParaRPr sz="1600" b="1" dirty="0">
                  <a:solidFill>
                    <a:srgbClr val="FFFFFF"/>
                  </a:solidFill>
                  <a:latin typeface="Sakkal Majalla"/>
                  <a:ea typeface="Sakkal Majalla"/>
                  <a:sym typeface="Sakkal Majalla"/>
                </a:endParaRPr>
              </a:p>
            </p:txBody>
          </p:sp>
          <p:sp>
            <p:nvSpPr>
              <p:cNvPr id="21" name="Google Shape;5399;p551">
                <a:extLst>
                  <a:ext uri="{FF2B5EF4-FFF2-40B4-BE49-F238E27FC236}">
                    <a16:creationId xmlns:a16="http://schemas.microsoft.com/office/drawing/2014/main" id="{6F706B04-87F1-884B-708C-32C5C6CD7FD6}"/>
                  </a:ext>
                </a:extLst>
              </p:cNvPr>
              <p:cNvSpPr/>
              <p:nvPr/>
            </p:nvSpPr>
            <p:spPr>
              <a:xfrm>
                <a:off x="4078682" y="2856198"/>
                <a:ext cx="909585" cy="420485"/>
              </a:xfrm>
              <a:prstGeom prst="round2DiagRect">
                <a:avLst>
                  <a:gd name="adj1" fmla="val 16667"/>
                  <a:gd name="adj2" fmla="val 0"/>
                </a:avLst>
              </a:prstGeom>
              <a:solidFill>
                <a:schemeClr val="accent1"/>
              </a:solidFill>
              <a:ln>
                <a:solidFill>
                  <a:schemeClr val="bg1"/>
                </a:solidFill>
              </a:ln>
            </p:spPr>
            <p:txBody>
              <a:bodyPr spcFirstLastPara="1" wrap="square" lIns="0" tIns="0" rIns="0" bIns="0" anchor="ctr" anchorCtr="0">
                <a:noAutofit/>
              </a:bodyPr>
              <a:lstStyle/>
              <a:p>
                <a:pPr algn="ctr" rtl="1"/>
                <a:r>
                  <a:rPr lang="ar-EG" sz="1400" b="1" dirty="0">
                    <a:solidFill>
                      <a:schemeClr val="bg1"/>
                    </a:solidFill>
                    <a:latin typeface="Sakkal Majalla" panose="020B0302050302020203" pitchFamily="34" charset="-78"/>
                  </a:rPr>
                  <a:t>فريق مهندسي البنية وخبراء المجالات</a:t>
                </a:r>
                <a:endParaRPr lang="en-US" sz="1400" b="1" dirty="0">
                  <a:solidFill>
                    <a:schemeClr val="bg1"/>
                  </a:solidFill>
                  <a:latin typeface="Sakkal Majalla" panose="020B0302050302020203" pitchFamily="34" charset="-78"/>
                </a:endParaRPr>
              </a:p>
            </p:txBody>
          </p:sp>
        </p:grpSp>
        <p:sp>
          <p:nvSpPr>
            <p:cNvPr id="17" name="Google Shape;5380;p551">
              <a:extLst>
                <a:ext uri="{FF2B5EF4-FFF2-40B4-BE49-F238E27FC236}">
                  <a16:creationId xmlns:a16="http://schemas.microsoft.com/office/drawing/2014/main" id="{D11B4548-9D6F-C6C2-FA96-848E5030ABD6}"/>
                </a:ext>
              </a:extLst>
            </p:cNvPr>
            <p:cNvSpPr/>
            <p:nvPr/>
          </p:nvSpPr>
          <p:spPr>
            <a:xfrm>
              <a:off x="2729023" y="1986180"/>
              <a:ext cx="3947873" cy="1881132"/>
            </a:xfrm>
            <a:prstGeom prst="rect">
              <a:avLst/>
            </a:prstGeom>
            <a:noFill/>
            <a:ln w="12700" cap="flat" cmpd="sng">
              <a:solidFill>
                <a:srgbClr val="B79139"/>
              </a:solidFill>
              <a:prstDash val="dash"/>
              <a:miter lim="800000"/>
              <a:headEnd type="none" w="sm" len="sm"/>
              <a:tailEnd type="none" w="sm" len="sm"/>
            </a:ln>
          </p:spPr>
          <p:txBody>
            <a:bodyPr spcFirstLastPara="1" wrap="square" lIns="0" tIns="0" rIns="0" bIns="0" anchor="t" anchorCtr="0">
              <a:noAutofit/>
            </a:bodyPr>
            <a:lstStyle/>
            <a:p>
              <a:pPr marL="0" marR="0" lvl="0" indent="0" algn="ctr" rtl="1">
                <a:spcBef>
                  <a:spcPts val="0"/>
                </a:spcBef>
                <a:spcAft>
                  <a:spcPts val="0"/>
                </a:spcAft>
                <a:buNone/>
              </a:pPr>
              <a:endParaRPr sz="3600" dirty="0">
                <a:solidFill>
                  <a:srgbClr val="FFFFFF"/>
                </a:solidFill>
                <a:latin typeface="Times New Roman"/>
                <a:ea typeface="Times New Roman"/>
                <a:sym typeface="Times New Roman"/>
              </a:endParaRPr>
            </a:p>
          </p:txBody>
        </p:sp>
        <p:sp>
          <p:nvSpPr>
            <p:cNvPr id="18" name="TextBox 17">
              <a:extLst>
                <a:ext uri="{FF2B5EF4-FFF2-40B4-BE49-F238E27FC236}">
                  <a16:creationId xmlns:a16="http://schemas.microsoft.com/office/drawing/2014/main" id="{AA74EBAC-02DC-BA55-CB15-582490B74FAB}"/>
                </a:ext>
              </a:extLst>
            </p:cNvPr>
            <p:cNvSpPr txBox="1"/>
            <p:nvPr/>
          </p:nvSpPr>
          <p:spPr>
            <a:xfrm>
              <a:off x="5861027" y="2165369"/>
              <a:ext cx="821900" cy="512251"/>
            </a:xfrm>
            <a:prstGeom prst="rect">
              <a:avLst/>
            </a:prstGeom>
            <a:noFill/>
          </p:spPr>
          <p:txBody>
            <a:bodyPr wrap="square" rtlCol="0">
              <a:spAutoFit/>
            </a:bodyPr>
            <a:lstStyle/>
            <a:p>
              <a:pPr algn="ctr"/>
              <a:r>
                <a:rPr lang="ar-EG" sz="1600" b="1" dirty="0">
                  <a:solidFill>
                    <a:schemeClr val="tx1">
                      <a:lumMod val="75000"/>
                    </a:schemeClr>
                  </a:solidFill>
                  <a:latin typeface="Sakkal Majalla" panose="020B0302050302020203" pitchFamily="34" charset="-78"/>
                </a:rPr>
                <a:t>قسم</a:t>
              </a:r>
              <a:r>
                <a:rPr lang="ar-SA" sz="1600" b="1" dirty="0">
                  <a:solidFill>
                    <a:schemeClr val="tx1">
                      <a:lumMod val="75000"/>
                    </a:schemeClr>
                  </a:solidFill>
                  <a:latin typeface="Sakkal Majalla" panose="020B0302050302020203" pitchFamily="34" charset="-78"/>
                </a:rPr>
                <a:t> البنية المؤسسية</a:t>
              </a:r>
              <a:endParaRPr lang="en-US" sz="1600" b="1" dirty="0">
                <a:solidFill>
                  <a:schemeClr val="tx1">
                    <a:lumMod val="75000"/>
                  </a:schemeClr>
                </a:solidFill>
                <a:latin typeface="Sakkal Majalla" panose="020B0302050302020203" pitchFamily="34" charset="-78"/>
              </a:endParaRPr>
            </a:p>
          </p:txBody>
        </p:sp>
      </p:grpSp>
    </p:spTree>
    <p:extLst>
      <p:ext uri="{BB962C8B-B14F-4D97-AF65-F5344CB8AC3E}">
        <p14:creationId xmlns:p14="http://schemas.microsoft.com/office/powerpoint/2010/main" val="933410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51CD-A8BC-CAE8-1391-919571D3ABD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610A7C7-6B60-860B-75D1-8795144BA7B1}"/>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2404388D-BB66-D8DC-BD24-FFC3C38EE7BC}"/>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نظرة عامة على </a:t>
            </a:r>
            <a:r>
              <a:rPr lang="ar-SA" dirty="0"/>
              <a:t>إجراءات البنية المؤسسية</a:t>
            </a:r>
            <a:endParaRPr lang="en-US" dirty="0"/>
          </a:p>
        </p:txBody>
      </p:sp>
      <p:graphicFrame>
        <p:nvGraphicFramePr>
          <p:cNvPr id="5" name="Table 4">
            <a:extLst>
              <a:ext uri="{FF2B5EF4-FFF2-40B4-BE49-F238E27FC236}">
                <a16:creationId xmlns:a16="http://schemas.microsoft.com/office/drawing/2014/main" id="{8B9BCF8E-FF4F-FBF9-4585-99CF06CC1700}"/>
              </a:ext>
            </a:extLst>
          </p:cNvPr>
          <p:cNvGraphicFramePr>
            <a:graphicFrameLocks noGrp="1"/>
          </p:cNvGraphicFramePr>
          <p:nvPr/>
        </p:nvGraphicFramePr>
        <p:xfrm>
          <a:off x="152398" y="932235"/>
          <a:ext cx="11887202" cy="5707931"/>
        </p:xfrm>
        <a:graphic>
          <a:graphicData uri="http://schemas.openxmlformats.org/drawingml/2006/table">
            <a:tbl>
              <a:tblPr rtl="1" firstRow="1" firstCol="1" bandRow="1">
                <a:tableStyleId>{5C22544A-7EE6-4342-B048-85BDC9FD1C3A}</a:tableStyleId>
              </a:tblPr>
              <a:tblGrid>
                <a:gridCol w="933498">
                  <a:extLst>
                    <a:ext uri="{9D8B030D-6E8A-4147-A177-3AD203B41FA5}">
                      <a16:colId xmlns:a16="http://schemas.microsoft.com/office/drawing/2014/main" val="2231544951"/>
                    </a:ext>
                  </a:extLst>
                </a:gridCol>
                <a:gridCol w="1369213">
                  <a:extLst>
                    <a:ext uri="{9D8B030D-6E8A-4147-A177-3AD203B41FA5}">
                      <a16:colId xmlns:a16="http://schemas.microsoft.com/office/drawing/2014/main" val="2486052335"/>
                    </a:ext>
                  </a:extLst>
                </a:gridCol>
                <a:gridCol w="1369213">
                  <a:extLst>
                    <a:ext uri="{9D8B030D-6E8A-4147-A177-3AD203B41FA5}">
                      <a16:colId xmlns:a16="http://schemas.microsoft.com/office/drawing/2014/main" val="1698459151"/>
                    </a:ext>
                  </a:extLst>
                </a:gridCol>
                <a:gridCol w="1369213">
                  <a:extLst>
                    <a:ext uri="{9D8B030D-6E8A-4147-A177-3AD203B41FA5}">
                      <a16:colId xmlns:a16="http://schemas.microsoft.com/office/drawing/2014/main" val="3272270123"/>
                    </a:ext>
                  </a:extLst>
                </a:gridCol>
                <a:gridCol w="1369213">
                  <a:extLst>
                    <a:ext uri="{9D8B030D-6E8A-4147-A177-3AD203B41FA5}">
                      <a16:colId xmlns:a16="http://schemas.microsoft.com/office/drawing/2014/main" val="15061853"/>
                    </a:ext>
                  </a:extLst>
                </a:gridCol>
                <a:gridCol w="1369213">
                  <a:extLst>
                    <a:ext uri="{9D8B030D-6E8A-4147-A177-3AD203B41FA5}">
                      <a16:colId xmlns:a16="http://schemas.microsoft.com/office/drawing/2014/main" val="448932461"/>
                    </a:ext>
                  </a:extLst>
                </a:gridCol>
                <a:gridCol w="1369213">
                  <a:extLst>
                    <a:ext uri="{9D8B030D-6E8A-4147-A177-3AD203B41FA5}">
                      <a16:colId xmlns:a16="http://schemas.microsoft.com/office/drawing/2014/main" val="2954440523"/>
                    </a:ext>
                  </a:extLst>
                </a:gridCol>
                <a:gridCol w="1369213">
                  <a:extLst>
                    <a:ext uri="{9D8B030D-6E8A-4147-A177-3AD203B41FA5}">
                      <a16:colId xmlns:a16="http://schemas.microsoft.com/office/drawing/2014/main" val="2697138253"/>
                    </a:ext>
                  </a:extLst>
                </a:gridCol>
                <a:gridCol w="1369213">
                  <a:extLst>
                    <a:ext uri="{9D8B030D-6E8A-4147-A177-3AD203B41FA5}">
                      <a16:colId xmlns:a16="http://schemas.microsoft.com/office/drawing/2014/main" val="1381162405"/>
                    </a:ext>
                  </a:extLst>
                </a:gridCol>
              </a:tblGrid>
              <a:tr h="337436">
                <a:tc gridSpan="9">
                  <a:txBody>
                    <a:bodyPr/>
                    <a:lstStyle/>
                    <a:p>
                      <a:pPr marL="0" marR="0" algn="ctr" rtl="1">
                        <a:lnSpc>
                          <a:spcPct val="107000"/>
                        </a:lnSpc>
                        <a:spcBef>
                          <a:spcPts val="0"/>
                        </a:spcBef>
                        <a:spcAft>
                          <a:spcPts val="0"/>
                        </a:spcAft>
                      </a:pPr>
                      <a:r>
                        <a:rPr lang="ar-SA" sz="1800" baseline="0" dirty="0">
                          <a:effectLst/>
                          <a:latin typeface="Sakkal Majalla" panose="02000000000000000000" pitchFamily="2" charset="-78"/>
                          <a:cs typeface="Sakkal Majalla" panose="02000000000000000000" pitchFamily="2" charset="-78"/>
                        </a:rPr>
                        <a:t>إجراءات عمل ممارسة البنية المؤسسية</a:t>
                      </a:r>
                      <a:endParaRPr lang="en-US" sz="18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accent1">
                        <a:lumMod val="75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96255638"/>
                  </a:ext>
                </a:extLst>
              </a:tr>
              <a:tr h="40021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نوع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بناء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منهجية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gridSpan="2">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توثيق وتصميم </a:t>
                      </a:r>
                      <a:r>
                        <a:rPr lang="ar-EG" sz="1800" baseline="0" dirty="0">
                          <a:solidFill>
                            <a:schemeClr val="bg1"/>
                          </a:solidFill>
                          <a:effectLst/>
                          <a:latin typeface="Sakkal Majalla" panose="02000000000000000000" pitchFamily="2" charset="-78"/>
                          <a:cs typeface="Sakkal Majalla" panose="02000000000000000000" pitchFamily="2" charset="-78"/>
                        </a:rPr>
                        <a:t>مكونات بنى المجالات</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gridSpan="5">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إدارة تنفيذ ومراقبة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ممارسة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25109448"/>
                  </a:ext>
                </a:extLst>
              </a:tr>
              <a:tr h="60276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مجموعة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 </a:t>
                      </a:r>
                      <a:r>
                        <a:rPr lang="ar-EG" sz="1600" baseline="0" dirty="0">
                          <a:solidFill>
                            <a:schemeClr val="bg1"/>
                          </a:solidFill>
                          <a:effectLst/>
                          <a:latin typeface="Sakkal Majalla" panose="02000000000000000000" pitchFamily="2" charset="-78"/>
                          <a:cs typeface="Sakkal Majalla" panose="02000000000000000000" pitchFamily="2" charset="-78"/>
                        </a:rPr>
                        <a:t>بناء</a:t>
                      </a:r>
                      <a:r>
                        <a:rPr lang="ar-SA" sz="1600" baseline="0" dirty="0">
                          <a:solidFill>
                            <a:schemeClr val="bg1"/>
                          </a:solidFill>
                          <a:effectLst/>
                          <a:latin typeface="Sakkal Majalla" panose="02000000000000000000" pitchFamily="2" charset="-78"/>
                          <a:cs typeface="Sakkal Majalla" panose="02000000000000000000" pitchFamily="2" charset="-78"/>
                        </a:rPr>
                        <a:t> مكونات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توثيق مكونات البنية المؤسسية في الوضع الحالي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تصميم مكونات البنية المؤسسية في الوضع المستقبلي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التخطيط لخارطة طريق التحول الرقمي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الاستشارات والتقييمات الفنية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تغيير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حوكمة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التوعية والتمكين</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extLst>
                  <a:ext uri="{0D108BD9-81ED-4DB2-BD59-A6C34878D82A}">
                    <a16:rowId xmlns:a16="http://schemas.microsoft.com/office/drawing/2014/main" val="1995330917"/>
                  </a:ext>
                </a:extLst>
              </a:tr>
              <a:tr h="612092">
                <a:tc rowSpan="8">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إجراءات العمل</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استراتيجية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الأعمال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الأعمال</a:t>
                      </a:r>
                      <a:r>
                        <a:rPr lang="ar-EG"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تحديد الفجوات للبنية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تقييم عروض الموردين</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 المشاركة في ورش عمل الابتكار والتصميم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تطوير وتحديث خطة التوعية بممارسة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4165284533"/>
                  </a:ext>
                </a:extLst>
              </a:tr>
              <a:tr h="68925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وتحديث النماذج المرجعية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البيانات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البيانات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تلبية طلب استشارة</a:t>
                      </a:r>
                      <a:endParaRPr lang="ar-SA" sz="1400" b="1" baseline="0" dirty="0">
                        <a:effectLst/>
                        <a:latin typeface="Sakkal Majalla" panose="02000000000000000000" pitchFamily="2" charset="-78"/>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تقييم أثر التغيير  في البنية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  كراسات الشروط والمواصفات للمشاريع الرقمية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تنفيذ أنشطة توعوية  بممارسة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extLst>
                  <a:ext uri="{0D108BD9-81ED-4DB2-BD59-A6C34878D82A}">
                    <a16:rowId xmlns:a16="http://schemas.microsoft.com/office/drawing/2014/main" val="1417863760"/>
                  </a:ext>
                </a:extLst>
              </a:tr>
              <a:tr h="48661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انشاء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التطبيقات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التطبيقات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تجربة حالة استخدام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البنية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التقرير الدوري لأداء مكتب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تطوير وتحديث الخطة التدريبية لفريق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125222640"/>
                  </a:ext>
                </a:extLst>
              </a:tr>
              <a:tr h="424573">
                <a:tc vMerge="1">
                  <a:txBody>
                    <a:bodyPr/>
                    <a:lstStyle/>
                    <a:p>
                      <a:pPr rtl="1"/>
                      <a:endParaRPr lang="ar-SA"/>
                    </a:p>
                  </a:txBody>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تحليل الوضع الحالي وبيئة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التقنية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التقنية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جمع  وتحليل متطلبات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algn="ctr" rtl="1"/>
                      <a:endParaRPr lang="ar-SA" sz="1400" b="1" baseline="0" dirty="0">
                        <a:latin typeface="Sakkal Majalla" panose="02000000000000000000" pitchFamily="2" charset="-78"/>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 action="ppaction://noaction"/>
                        </a:rPr>
                        <a:t>تطوير خطة مراجعة الامتثال</a:t>
                      </a:r>
                      <a:endParaRPr kumimoji="0" lang="en-US" sz="1400" b="1" i="0" u="none" strike="noStrike" kern="1200" cap="none" spc="0" normalizeH="0" baseline="0" noProof="0" dirty="0">
                        <a:ln>
                          <a:noFill/>
                        </a:ln>
                        <a:solidFill>
                          <a:prstClr val="black"/>
                        </a:solidFill>
                        <a:effectLst/>
                        <a:uLnTx/>
                        <a:uFillTx/>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تنفيذ انشطة تدريبية لفريق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1125157898"/>
                  </a:ext>
                </a:extLst>
              </a:tr>
              <a:tr h="76895">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قياس مستوى نضج ممارسة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 action="ppaction://noaction"/>
                        </a:rPr>
                        <a:t>تحديث خطة مراجعة الامتثال</a:t>
                      </a:r>
                      <a:endParaRPr kumimoji="0" lang="en-US" sz="1400" b="1" i="0" u="none" strike="noStrike" kern="1200" cap="none" spc="0" normalizeH="0" baseline="0" noProof="0" dirty="0">
                        <a:ln>
                          <a:noFill/>
                        </a:ln>
                        <a:solidFill>
                          <a:prstClr val="black"/>
                        </a:solidFill>
                        <a:effectLst/>
                        <a:uLnTx/>
                        <a:uFillTx/>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426140804"/>
                  </a:ext>
                </a:extLst>
              </a:tr>
              <a:tr h="285145">
                <a:tc vMerge="1">
                  <a:txBody>
                    <a:bodyPr/>
                    <a:lstStyle/>
                    <a:p>
                      <a:pPr rtl="1"/>
                      <a:endParaRPr lang="ar-SA"/>
                    </a:p>
                  </a:txBody>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r>
                        <a:rPr lang="en-US" sz="1400" b="1" baseline="0" dirty="0">
                          <a:effectLst/>
                          <a:latin typeface="Sakkal Majalla" panose="02000000000000000000" pitchFamily="2" charset="-78"/>
                          <a:cs typeface="Sakkal Majalla" panose="02000000000000000000" pitchFamily="2" charset="-78"/>
                        </a:rPr>
                        <a:t>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مراجعة الامتثال</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2475843877"/>
                  </a:ext>
                </a:extLst>
              </a:tr>
              <a:tr h="439450">
                <a:tc vMerge="1">
                  <a:txBody>
                    <a:bodyPr/>
                    <a:lstStyle/>
                    <a:p>
                      <a:pPr marL="0" marR="0" algn="ctr" rtl="1">
                        <a:lnSpc>
                          <a:spcPct val="107000"/>
                        </a:lnSpc>
                        <a:spcBef>
                          <a:spcPts val="0"/>
                        </a:spcBef>
                        <a:spcAft>
                          <a:spcPts val="0"/>
                        </a:spcAft>
                      </a:pPr>
                      <a:endParaRPr lang="en-US" sz="1300" dirty="0">
                        <a:effectLst/>
                        <a:latin typeface="Calibri" panose="020F0502020204030204" pitchFamily="34" charset="0"/>
                        <a:ea typeface="Calibri" panose="020F0502020204030204" pitchFamily="34" charset="0"/>
                        <a:cs typeface="Arial" panose="020B0604020202020204" pitchFamily="34" charset="0"/>
                      </a:endParaRPr>
                    </a:p>
                  </a:txBody>
                  <a:tcPr marL="50820" marR="50820" marT="0" marB="0" anchor="ct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a:t>
                      </a: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طلبات  الإعفاء</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extLst>
                  <a:ext uri="{0D108BD9-81ED-4DB2-BD59-A6C34878D82A}">
                    <a16:rowId xmlns:a16="http://schemas.microsoft.com/office/drawing/2014/main" val="3036722930"/>
                  </a:ext>
                </a:extLst>
              </a:tr>
              <a:tr h="439450">
                <a:tc vMerge="1">
                  <a:txBody>
                    <a:bodyPr/>
                    <a:lstStyle/>
                    <a:p>
                      <a:pPr marL="0" marR="0" algn="ctr" rtl="1">
                        <a:lnSpc>
                          <a:spcPct val="107000"/>
                        </a:lnSpc>
                        <a:spcBef>
                          <a:spcPts val="0"/>
                        </a:spcBef>
                        <a:spcAft>
                          <a:spcPts val="0"/>
                        </a:spcAft>
                      </a:pPr>
                      <a:endParaRPr lang="en-US" sz="13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50820" marR="50820" marT="0" marB="0" anchor="ct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r>
                        <a:rPr lang="ar-SA" sz="1400" b="1" kern="1200" baseline="0" dirty="0">
                          <a:solidFill>
                            <a:schemeClr val="dk1"/>
                          </a:solidFill>
                          <a:effectLst/>
                          <a:latin typeface="Sakkal Majalla" panose="02000000000000000000" pitchFamily="2" charset="-78"/>
                          <a:ea typeface="+mn-ea"/>
                          <a:cs typeface="Sakkal Majalla" panose="02000000000000000000" pitchFamily="2" charset="-78"/>
                          <a:hlinkClick r:id="" action="ppaction://noaction"/>
                        </a:rPr>
                        <a:t>متابعة تنفيذ خارطة طريق التحول الرقمي</a:t>
                      </a:r>
                      <a:endParaRPr lang="en-US" sz="1400" b="1" kern="1200" baseline="0" dirty="0">
                        <a:solidFill>
                          <a:schemeClr val="dk1"/>
                        </a:solidFill>
                        <a:effectLst/>
                        <a:latin typeface="Sakkal Majalla" panose="02000000000000000000" pitchFamily="2" charset="-78"/>
                        <a:ea typeface="+mn-ea"/>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extLst>
                  <a:ext uri="{0D108BD9-81ED-4DB2-BD59-A6C34878D82A}">
                    <a16:rowId xmlns:a16="http://schemas.microsoft.com/office/drawing/2014/main" val="199857461"/>
                  </a:ext>
                </a:extLst>
              </a:tr>
            </a:tbl>
          </a:graphicData>
        </a:graphic>
      </p:graphicFrame>
    </p:spTree>
    <p:extLst>
      <p:ext uri="{BB962C8B-B14F-4D97-AF65-F5344CB8AC3E}">
        <p14:creationId xmlns:p14="http://schemas.microsoft.com/office/powerpoint/2010/main" val="2916761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8655-916A-0831-49AF-B990322BB4B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40A279F2-45E2-1689-3724-26ED1E1F06A3}"/>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26</a:t>
            </a:fld>
            <a:endParaRPr lang="en-US" sz="1400" b="1" dirty="0">
              <a:solidFill>
                <a:schemeClr val="accent1"/>
              </a:solidFill>
            </a:endParaRPr>
          </a:p>
        </p:txBody>
      </p:sp>
      <p:sp>
        <p:nvSpPr>
          <p:cNvPr id="2" name="Title 1">
            <a:extLst>
              <a:ext uri="{FF2B5EF4-FFF2-40B4-BE49-F238E27FC236}">
                <a16:creationId xmlns:a16="http://schemas.microsoft.com/office/drawing/2014/main" id="{DE45F13C-57F9-56C3-3203-3683F7290AB7}"/>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نظرة شاملة عن النموذج التفاعلي لممارسة البنية المؤسسية</a:t>
            </a:r>
          </a:p>
        </p:txBody>
      </p:sp>
      <p:grpSp>
        <p:nvGrpSpPr>
          <p:cNvPr id="3" name="Group 2">
            <a:extLst>
              <a:ext uri="{FF2B5EF4-FFF2-40B4-BE49-F238E27FC236}">
                <a16:creationId xmlns:a16="http://schemas.microsoft.com/office/drawing/2014/main" id="{4DE3EB5F-5A65-45AF-7C81-411C0A0F1451}"/>
              </a:ext>
            </a:extLst>
          </p:cNvPr>
          <p:cNvGrpSpPr/>
          <p:nvPr/>
        </p:nvGrpSpPr>
        <p:grpSpPr>
          <a:xfrm>
            <a:off x="467953" y="870789"/>
            <a:ext cx="1191789" cy="5916404"/>
            <a:chOff x="4986720" y="2555923"/>
            <a:chExt cx="2218560" cy="2367054"/>
          </a:xfrm>
          <a:solidFill>
            <a:schemeClr val="accent2"/>
          </a:solidFill>
        </p:grpSpPr>
        <p:sp>
          <p:nvSpPr>
            <p:cNvPr id="16" name="Round Diagonal Corner Rectangle 56">
              <a:extLst>
                <a:ext uri="{FF2B5EF4-FFF2-40B4-BE49-F238E27FC236}">
                  <a16:creationId xmlns:a16="http://schemas.microsoft.com/office/drawing/2014/main" id="{73D896D1-3A58-1A80-8240-BD33B0BA8F52}"/>
                </a:ext>
              </a:extLst>
            </p:cNvPr>
            <p:cNvSpPr>
              <a:spLocks noChangeAspect="1"/>
            </p:cNvSpPr>
            <p:nvPr/>
          </p:nvSpPr>
          <p:spPr>
            <a:xfrm>
              <a:off x="4986720" y="2555923"/>
              <a:ext cx="2218560" cy="2367054"/>
            </a:xfrm>
            <a:prstGeom prst="round2DiagRect">
              <a:avLst>
                <a:gd name="adj1" fmla="val 11027"/>
                <a:gd name="adj2" fmla="val 0"/>
              </a:avLst>
            </a:prstGeom>
            <a:gr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ar-SA" sz="1200" b="1" i="0" u="none" strike="noStrike" kern="1200" cap="none" spc="0" normalizeH="0" noProof="0" dirty="0">
                <a:ln>
                  <a:noFill/>
                </a:ln>
                <a:solidFill>
                  <a:srgbClr val="00326E"/>
                </a:solidFill>
                <a:effectLst/>
                <a:uLnTx/>
                <a:uFillTx/>
                <a:latin typeface="Sakkal Majalla" panose="02000000000000000000" pitchFamily="2" charset="-78"/>
                <a:ea typeface="+mn-ea"/>
                <a:cs typeface="Sakkal Majalla" panose="02000000000000000000" pitchFamily="2" charset="-78"/>
              </a:endParaRPr>
            </a:p>
          </p:txBody>
        </p:sp>
        <p:sp>
          <p:nvSpPr>
            <p:cNvPr id="17" name="TextBox 16">
              <a:extLst>
                <a:ext uri="{FF2B5EF4-FFF2-40B4-BE49-F238E27FC236}">
                  <a16:creationId xmlns:a16="http://schemas.microsoft.com/office/drawing/2014/main" id="{72FF3214-A404-BB3C-E18D-B398F114B9EA}"/>
                </a:ext>
              </a:extLst>
            </p:cNvPr>
            <p:cNvSpPr txBox="1"/>
            <p:nvPr/>
          </p:nvSpPr>
          <p:spPr>
            <a:xfrm>
              <a:off x="5044441" y="3585940"/>
              <a:ext cx="2103120" cy="367844"/>
            </a:xfrm>
            <a:prstGeom prst="rect">
              <a:avLst/>
            </a:prstGeom>
            <a:grpFill/>
          </p:spPr>
          <p:txBody>
            <a:bodyPr wrap="square" rtlCol="0">
              <a:spAutoFit/>
            </a:bodyPr>
            <a:lstStyle>
              <a:defPPr>
                <a:defRPr lang="en-US"/>
              </a:defPPr>
            </a:lstStyle>
            <a:p>
              <a:pPr lvl="0" algn="ctr">
                <a:lnSpc>
                  <a:spcPct val="80000"/>
                </a:lnSpc>
                <a:defRPr/>
              </a:pPr>
              <a:r>
                <a:rPr lang="ar-EG" sz="2400" b="1" dirty="0">
                  <a:solidFill>
                    <a:srgbClr val="00326E"/>
                  </a:solidFill>
                  <a:latin typeface="Sakkal Majalla" panose="02000000000000000000" pitchFamily="2" charset="-78"/>
                  <a:cs typeface="Sakkal Majalla" panose="02000000000000000000" pitchFamily="2" charset="-78"/>
                </a:rPr>
                <a:t>قسم</a:t>
              </a:r>
              <a:r>
                <a:rPr lang="ar-JO" sz="2400" b="1" dirty="0">
                  <a:solidFill>
                    <a:srgbClr val="00326E"/>
                  </a:solidFill>
                  <a:latin typeface="Sakkal Majalla" panose="02000000000000000000" pitchFamily="2" charset="-78"/>
                  <a:cs typeface="Sakkal Majalla" panose="02000000000000000000" pitchFamily="2" charset="-78"/>
                </a:rPr>
                <a:t> البنية المؤسسية </a:t>
              </a:r>
            </a:p>
          </p:txBody>
        </p:sp>
      </p:grpSp>
      <p:sp>
        <p:nvSpPr>
          <p:cNvPr id="18" name="Round Diagonal Corner Rectangle 56">
            <a:extLst>
              <a:ext uri="{FF2B5EF4-FFF2-40B4-BE49-F238E27FC236}">
                <a16:creationId xmlns:a16="http://schemas.microsoft.com/office/drawing/2014/main" id="{86454DD7-AFFB-37DB-6384-CEFDB35F9E93}"/>
              </a:ext>
            </a:extLst>
          </p:cNvPr>
          <p:cNvSpPr>
            <a:spLocks noChangeAspect="1"/>
          </p:cNvSpPr>
          <p:nvPr/>
        </p:nvSpPr>
        <p:spPr>
          <a:xfrm>
            <a:off x="8656161" y="100660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لجنة حوكمة البنية المؤسسية</a:t>
            </a:r>
          </a:p>
        </p:txBody>
      </p:sp>
      <p:sp>
        <p:nvSpPr>
          <p:cNvPr id="19" name="Round Diagonal Corner Rectangle 56">
            <a:extLst>
              <a:ext uri="{FF2B5EF4-FFF2-40B4-BE49-F238E27FC236}">
                <a16:creationId xmlns:a16="http://schemas.microsoft.com/office/drawing/2014/main" id="{ACB45EEF-E9B3-1311-5653-876217ACA49F}"/>
              </a:ext>
            </a:extLst>
          </p:cNvPr>
          <p:cNvSpPr>
            <a:spLocks noChangeAspect="1"/>
          </p:cNvSpPr>
          <p:nvPr/>
        </p:nvSpPr>
        <p:spPr>
          <a:xfrm>
            <a:off x="8656161" y="1483092"/>
            <a:ext cx="3070868"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التخطيط الاستراتيجي</a:t>
            </a:r>
          </a:p>
        </p:txBody>
      </p:sp>
      <p:sp>
        <p:nvSpPr>
          <p:cNvPr id="20" name="Round Diagonal Corner Rectangle 56">
            <a:extLst>
              <a:ext uri="{FF2B5EF4-FFF2-40B4-BE49-F238E27FC236}">
                <a16:creationId xmlns:a16="http://schemas.microsoft.com/office/drawing/2014/main" id="{BBD0A6D7-0711-5CA6-BE88-550B6649F7ED}"/>
              </a:ext>
            </a:extLst>
          </p:cNvPr>
          <p:cNvSpPr>
            <a:spLocks noChangeAspect="1"/>
          </p:cNvSpPr>
          <p:nvPr/>
        </p:nvSpPr>
        <p:spPr>
          <a:xfrm>
            <a:off x="8656161" y="1975197"/>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التخطيط والجودة </a:t>
            </a:r>
            <a:r>
              <a:rPr lang="ar-EG" sz="1200" b="1" kern="0" dirty="0">
                <a:solidFill>
                  <a:prstClr val="white"/>
                </a:solidFill>
                <a:latin typeface="Sakkal Majalla" panose="02000000000000000000" pitchFamily="2" charset="-78"/>
                <a:cs typeface="Sakkal Majalla" panose="02000000000000000000" pitchFamily="2" charset="-78"/>
              </a:rPr>
              <a:t>(للتحول الرقمي)</a:t>
            </a:r>
            <a:endParaRPr lang="ar-EG" sz="1400" b="1" kern="0" dirty="0">
              <a:solidFill>
                <a:prstClr val="white"/>
              </a:solidFill>
              <a:latin typeface="Sakkal Majalla" panose="02000000000000000000" pitchFamily="2" charset="-78"/>
              <a:cs typeface="Sakkal Majalla" panose="02000000000000000000" pitchFamily="2" charset="-78"/>
            </a:endParaRPr>
          </a:p>
        </p:txBody>
      </p:sp>
      <p:sp>
        <p:nvSpPr>
          <p:cNvPr id="21" name="Round Diagonal Corner Rectangle 56">
            <a:extLst>
              <a:ext uri="{FF2B5EF4-FFF2-40B4-BE49-F238E27FC236}">
                <a16:creationId xmlns:a16="http://schemas.microsoft.com/office/drawing/2014/main" id="{F78A7F9A-31AD-B795-B21D-D9F37CDAD8AF}"/>
              </a:ext>
            </a:extLst>
          </p:cNvPr>
          <p:cNvSpPr>
            <a:spLocks noChangeAspect="1"/>
          </p:cNvSpPr>
          <p:nvPr/>
        </p:nvSpPr>
        <p:spPr>
          <a:xfrm>
            <a:off x="8656161" y="245704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وحدة إدارة المشاريع </a:t>
            </a:r>
            <a:r>
              <a:rPr lang="ar-EG" sz="1200" b="1" kern="0" dirty="0">
                <a:solidFill>
                  <a:prstClr val="white"/>
                </a:solidFill>
                <a:latin typeface="Sakkal Majalla" panose="02000000000000000000" pitchFamily="2" charset="-78"/>
                <a:cs typeface="Sakkal Majalla" panose="02000000000000000000" pitchFamily="2" charset="-78"/>
              </a:rPr>
              <a:t>(للتحول الرقمي)</a:t>
            </a:r>
            <a:endParaRPr lang="ar-EG" sz="1600" b="1" kern="0" dirty="0">
              <a:solidFill>
                <a:prstClr val="white"/>
              </a:solidFill>
              <a:latin typeface="Sakkal Majalla" panose="02000000000000000000" pitchFamily="2" charset="-78"/>
              <a:cs typeface="Sakkal Majalla" panose="02000000000000000000" pitchFamily="2" charset="-78"/>
            </a:endParaRPr>
          </a:p>
        </p:txBody>
      </p:sp>
      <p:sp>
        <p:nvSpPr>
          <p:cNvPr id="22" name="Round Diagonal Corner Rectangle 56">
            <a:extLst>
              <a:ext uri="{FF2B5EF4-FFF2-40B4-BE49-F238E27FC236}">
                <a16:creationId xmlns:a16="http://schemas.microsoft.com/office/drawing/2014/main" id="{85E0FCDC-30AE-8EC9-2BC7-18EE70466746}"/>
              </a:ext>
            </a:extLst>
          </p:cNvPr>
          <p:cNvSpPr>
            <a:spLocks noChangeAspect="1"/>
          </p:cNvSpPr>
          <p:nvPr/>
        </p:nvSpPr>
        <p:spPr>
          <a:xfrm>
            <a:off x="8656161" y="292895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مكتب إدارة البيانات</a:t>
            </a:r>
          </a:p>
        </p:txBody>
      </p:sp>
      <p:sp>
        <p:nvSpPr>
          <p:cNvPr id="23" name="Round Diagonal Corner Rectangle 56">
            <a:extLst>
              <a:ext uri="{FF2B5EF4-FFF2-40B4-BE49-F238E27FC236}">
                <a16:creationId xmlns:a16="http://schemas.microsoft.com/office/drawing/2014/main" id="{D12B2EAD-0311-6947-AB3E-943FF4AE6E2C}"/>
              </a:ext>
            </a:extLst>
          </p:cNvPr>
          <p:cNvSpPr>
            <a:spLocks noChangeAspect="1"/>
          </p:cNvSpPr>
          <p:nvPr/>
        </p:nvSpPr>
        <p:spPr>
          <a:xfrm>
            <a:off x="8656161" y="390716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البنية التحتية</a:t>
            </a:r>
          </a:p>
        </p:txBody>
      </p:sp>
      <p:sp>
        <p:nvSpPr>
          <p:cNvPr id="24" name="Round Diagonal Corner Rectangle 56">
            <a:extLst>
              <a:ext uri="{FF2B5EF4-FFF2-40B4-BE49-F238E27FC236}">
                <a16:creationId xmlns:a16="http://schemas.microsoft.com/office/drawing/2014/main" id="{9E75C01A-4D7D-863E-0E5E-F008C4211A9A}"/>
              </a:ext>
            </a:extLst>
          </p:cNvPr>
          <p:cNvSpPr>
            <a:spLocks noChangeAspect="1"/>
          </p:cNvSpPr>
          <p:nvPr/>
        </p:nvSpPr>
        <p:spPr>
          <a:xfrm>
            <a:off x="8656161" y="4387760"/>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التطبيقات</a:t>
            </a:r>
          </a:p>
        </p:txBody>
      </p:sp>
      <p:grpSp>
        <p:nvGrpSpPr>
          <p:cNvPr id="26" name="Group 25">
            <a:extLst>
              <a:ext uri="{FF2B5EF4-FFF2-40B4-BE49-F238E27FC236}">
                <a16:creationId xmlns:a16="http://schemas.microsoft.com/office/drawing/2014/main" id="{63A1129A-17DF-5A16-57BE-7546C9546451}"/>
              </a:ext>
            </a:extLst>
          </p:cNvPr>
          <p:cNvGrpSpPr/>
          <p:nvPr/>
        </p:nvGrpSpPr>
        <p:grpSpPr>
          <a:xfrm>
            <a:off x="1659747" y="1057732"/>
            <a:ext cx="6996412" cy="209066"/>
            <a:chOff x="2561460" y="1624664"/>
            <a:chExt cx="6540478" cy="209066"/>
          </a:xfrm>
        </p:grpSpPr>
        <p:cxnSp>
          <p:nvCxnSpPr>
            <p:cNvPr id="27" name="Straight Arrow Connector 26">
              <a:extLst>
                <a:ext uri="{FF2B5EF4-FFF2-40B4-BE49-F238E27FC236}">
                  <a16:creationId xmlns:a16="http://schemas.microsoft.com/office/drawing/2014/main" id="{04AB854A-7675-1CF4-93B3-29606C173DBF}"/>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B5F3EC7-3CB6-458E-638C-2F370D9277C8}"/>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480B7184-139C-2C27-F4D2-220BB96F9D95}"/>
              </a:ext>
            </a:extLst>
          </p:cNvPr>
          <p:cNvGrpSpPr/>
          <p:nvPr/>
        </p:nvGrpSpPr>
        <p:grpSpPr>
          <a:xfrm flipH="1">
            <a:off x="1888044" y="871143"/>
            <a:ext cx="6539817" cy="564932"/>
            <a:chOff x="2828922" y="1231954"/>
            <a:chExt cx="5676904" cy="564932"/>
          </a:xfrm>
        </p:grpSpPr>
        <p:sp>
          <p:nvSpPr>
            <p:cNvPr id="30" name="TextBox 29">
              <a:extLst>
                <a:ext uri="{FF2B5EF4-FFF2-40B4-BE49-F238E27FC236}">
                  <a16:creationId xmlns:a16="http://schemas.microsoft.com/office/drawing/2014/main" id="{39DEBABF-E21C-3BD9-1A34-E0D2294BAB3C}"/>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تقديم التقارير الدورية عن أداء البنية المؤسسية</a:t>
              </a:r>
            </a:p>
            <a:p>
              <a:pPr lvl="0">
                <a:defRPr/>
              </a:pPr>
              <a:r>
                <a:rPr lang="ar-SA" sz="1200" dirty="0">
                  <a:solidFill>
                    <a:schemeClr val="accent2"/>
                  </a:solidFill>
                  <a:ea typeface="+mn-ea"/>
                </a:rPr>
                <a:t>طلب التوجيهات والموافقات على </a:t>
              </a:r>
              <a:r>
                <a:rPr lang="ar-EG" sz="1200" dirty="0">
                  <a:solidFill>
                    <a:schemeClr val="accent2"/>
                  </a:solidFill>
                  <a:ea typeface="+mn-ea"/>
                </a:rPr>
                <a:t>جميع المخرجات</a:t>
              </a:r>
              <a:endParaRPr lang="ar-SA" sz="1200" dirty="0">
                <a:solidFill>
                  <a:schemeClr val="accent2"/>
                </a:solidFill>
                <a:ea typeface="+mn-ea"/>
              </a:endParaRPr>
            </a:p>
          </p:txBody>
        </p:sp>
        <p:sp>
          <p:nvSpPr>
            <p:cNvPr id="31" name="TextBox 30">
              <a:extLst>
                <a:ext uri="{FF2B5EF4-FFF2-40B4-BE49-F238E27FC236}">
                  <a16:creationId xmlns:a16="http://schemas.microsoft.com/office/drawing/2014/main" id="{11A89EEE-5F58-5242-80CC-9F33CEF6EF30}"/>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التوافق مع الأهداف الاستراتيجية</a:t>
              </a:r>
            </a:p>
            <a:p>
              <a:pPr lvl="0">
                <a:defRPr/>
              </a:pPr>
              <a:r>
                <a:rPr lang="ar-EG" sz="1200" dirty="0">
                  <a:solidFill>
                    <a:schemeClr val="accent1"/>
                  </a:solidFill>
                  <a:ea typeface="+mn-ea"/>
                </a:rPr>
                <a:t>التأكد من الامتثال للمعايير والسياسات</a:t>
              </a:r>
            </a:p>
          </p:txBody>
        </p:sp>
      </p:grpSp>
      <p:grpSp>
        <p:nvGrpSpPr>
          <p:cNvPr id="32" name="Group 31">
            <a:extLst>
              <a:ext uri="{FF2B5EF4-FFF2-40B4-BE49-F238E27FC236}">
                <a16:creationId xmlns:a16="http://schemas.microsoft.com/office/drawing/2014/main" id="{B4E584AE-D436-5902-BD53-3B58133FCF99}"/>
              </a:ext>
            </a:extLst>
          </p:cNvPr>
          <p:cNvGrpSpPr/>
          <p:nvPr/>
        </p:nvGrpSpPr>
        <p:grpSpPr>
          <a:xfrm>
            <a:off x="1659747" y="1534931"/>
            <a:ext cx="6996412" cy="209066"/>
            <a:chOff x="2561460" y="1624664"/>
            <a:chExt cx="6540478" cy="209066"/>
          </a:xfrm>
        </p:grpSpPr>
        <p:cxnSp>
          <p:nvCxnSpPr>
            <p:cNvPr id="33" name="Straight Arrow Connector 32">
              <a:extLst>
                <a:ext uri="{FF2B5EF4-FFF2-40B4-BE49-F238E27FC236}">
                  <a16:creationId xmlns:a16="http://schemas.microsoft.com/office/drawing/2014/main" id="{866F7A28-47F3-57F8-B176-1C3596504034}"/>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56D3F56-EA09-D8F8-7FF3-FA07B1B5B074}"/>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87D15DFE-56E5-834A-E285-C8309DF8C5A3}"/>
              </a:ext>
            </a:extLst>
          </p:cNvPr>
          <p:cNvGrpSpPr/>
          <p:nvPr/>
        </p:nvGrpSpPr>
        <p:grpSpPr>
          <a:xfrm flipH="1">
            <a:off x="1888044" y="1348342"/>
            <a:ext cx="6539817" cy="564932"/>
            <a:chOff x="2828922" y="1231954"/>
            <a:chExt cx="5676904" cy="564932"/>
          </a:xfrm>
        </p:grpSpPr>
        <p:sp>
          <p:nvSpPr>
            <p:cNvPr id="36" name="TextBox 35">
              <a:extLst>
                <a:ext uri="{FF2B5EF4-FFF2-40B4-BE49-F238E27FC236}">
                  <a16:creationId xmlns:a16="http://schemas.microsoft.com/office/drawing/2014/main" id="{286F1ED4-5F1F-7001-D4F3-F2193ACD3532}"/>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مشاركة استراتيجية البنية المؤسسية وخارطة الطريق</a:t>
              </a:r>
            </a:p>
            <a:p>
              <a:pPr lvl="0">
                <a:defRPr/>
              </a:pPr>
              <a:r>
                <a:rPr lang="ar-SA" sz="1200" dirty="0">
                  <a:solidFill>
                    <a:schemeClr val="accent2"/>
                  </a:solidFill>
                  <a:ea typeface="+mn-ea"/>
                </a:rPr>
                <a:t>مواءمة الأهداف الاستراتيجية</a:t>
              </a:r>
            </a:p>
          </p:txBody>
        </p:sp>
        <p:sp>
          <p:nvSpPr>
            <p:cNvPr id="37" name="TextBox 36">
              <a:extLst>
                <a:ext uri="{FF2B5EF4-FFF2-40B4-BE49-F238E27FC236}">
                  <a16:creationId xmlns:a16="http://schemas.microsoft.com/office/drawing/2014/main" id="{9F29FDDB-9EAE-5956-F170-5FBF7F004012}"/>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توافق خطط الأعمال مع البنية المؤسسية</a:t>
              </a:r>
            </a:p>
            <a:p>
              <a:pPr lvl="0">
                <a:defRPr/>
              </a:pPr>
              <a:r>
                <a:rPr lang="ar-EG" sz="1200" dirty="0">
                  <a:solidFill>
                    <a:schemeClr val="accent1"/>
                  </a:solidFill>
                  <a:ea typeface="+mn-ea"/>
                </a:rPr>
                <a:t>تحقيق الكفاءة التشغيلية</a:t>
              </a:r>
            </a:p>
          </p:txBody>
        </p:sp>
      </p:grpSp>
      <p:grpSp>
        <p:nvGrpSpPr>
          <p:cNvPr id="38" name="Group 37">
            <a:extLst>
              <a:ext uri="{FF2B5EF4-FFF2-40B4-BE49-F238E27FC236}">
                <a16:creationId xmlns:a16="http://schemas.microsoft.com/office/drawing/2014/main" id="{466738DD-94BF-8B1D-6429-363559A97FAA}"/>
              </a:ext>
            </a:extLst>
          </p:cNvPr>
          <p:cNvGrpSpPr/>
          <p:nvPr/>
        </p:nvGrpSpPr>
        <p:grpSpPr>
          <a:xfrm>
            <a:off x="1659747" y="2027036"/>
            <a:ext cx="6996412" cy="209066"/>
            <a:chOff x="2561460" y="1624664"/>
            <a:chExt cx="6540478" cy="209066"/>
          </a:xfrm>
        </p:grpSpPr>
        <p:cxnSp>
          <p:nvCxnSpPr>
            <p:cNvPr id="39" name="Straight Arrow Connector 38">
              <a:extLst>
                <a:ext uri="{FF2B5EF4-FFF2-40B4-BE49-F238E27FC236}">
                  <a16:creationId xmlns:a16="http://schemas.microsoft.com/office/drawing/2014/main" id="{133A5347-F164-4DF1-54B6-CE5C031E92C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31461A4-2E46-C8C2-45EB-37E405D6DF73}"/>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22F5BA49-0B6A-964A-2C73-7497BCCBC128}"/>
              </a:ext>
            </a:extLst>
          </p:cNvPr>
          <p:cNvGrpSpPr/>
          <p:nvPr/>
        </p:nvGrpSpPr>
        <p:grpSpPr>
          <a:xfrm flipH="1">
            <a:off x="1888044" y="1840447"/>
            <a:ext cx="6539817" cy="564932"/>
            <a:chOff x="2828922" y="1231954"/>
            <a:chExt cx="5676904" cy="564932"/>
          </a:xfrm>
        </p:grpSpPr>
        <p:sp>
          <p:nvSpPr>
            <p:cNvPr id="42" name="TextBox 41">
              <a:extLst>
                <a:ext uri="{FF2B5EF4-FFF2-40B4-BE49-F238E27FC236}">
                  <a16:creationId xmlns:a16="http://schemas.microsoft.com/office/drawing/2014/main" id="{68AC2813-D8B5-FF02-4F17-0EEE29A54FBF}"/>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تطوير ومتابعة تنفيذ خارطة طريق التحول الرقمي</a:t>
              </a:r>
            </a:p>
            <a:p>
              <a:pPr lvl="0">
                <a:defRPr/>
              </a:pPr>
              <a:r>
                <a:rPr lang="ar-SA" sz="1200" dirty="0">
                  <a:solidFill>
                    <a:schemeClr val="accent2"/>
                  </a:solidFill>
                  <a:ea typeface="+mn-ea"/>
                </a:rPr>
                <a:t>تقديم الدعم في تنفيذ المبادرات</a:t>
              </a:r>
            </a:p>
          </p:txBody>
        </p:sp>
        <p:sp>
          <p:nvSpPr>
            <p:cNvPr id="43" name="TextBox 42">
              <a:extLst>
                <a:ext uri="{FF2B5EF4-FFF2-40B4-BE49-F238E27FC236}">
                  <a16:creationId xmlns:a16="http://schemas.microsoft.com/office/drawing/2014/main" id="{5E83D6A5-D04D-3E69-F891-43A168903840}"/>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تحقيق التحول الرقمي بكفاءة</a:t>
              </a:r>
            </a:p>
            <a:p>
              <a:pPr lvl="0">
                <a:defRPr/>
              </a:pPr>
              <a:r>
                <a:rPr lang="ar-EG" sz="1200" dirty="0">
                  <a:solidFill>
                    <a:schemeClr val="accent1"/>
                  </a:solidFill>
                  <a:ea typeface="+mn-ea"/>
                </a:rPr>
                <a:t>ضمان توافق المبادرات مع البنية المؤسسية</a:t>
              </a:r>
            </a:p>
          </p:txBody>
        </p:sp>
      </p:grpSp>
      <p:grpSp>
        <p:nvGrpSpPr>
          <p:cNvPr id="44" name="Group 43">
            <a:extLst>
              <a:ext uri="{FF2B5EF4-FFF2-40B4-BE49-F238E27FC236}">
                <a16:creationId xmlns:a16="http://schemas.microsoft.com/office/drawing/2014/main" id="{DA9F8D0F-9E6B-D683-AA3A-6B7AC20CFEE5}"/>
              </a:ext>
            </a:extLst>
          </p:cNvPr>
          <p:cNvGrpSpPr/>
          <p:nvPr/>
        </p:nvGrpSpPr>
        <p:grpSpPr>
          <a:xfrm>
            <a:off x="1659747" y="2508884"/>
            <a:ext cx="6996412" cy="209066"/>
            <a:chOff x="2561460" y="1624664"/>
            <a:chExt cx="6540478" cy="209066"/>
          </a:xfrm>
        </p:grpSpPr>
        <p:cxnSp>
          <p:nvCxnSpPr>
            <p:cNvPr id="45" name="Straight Arrow Connector 44">
              <a:extLst>
                <a:ext uri="{FF2B5EF4-FFF2-40B4-BE49-F238E27FC236}">
                  <a16:creationId xmlns:a16="http://schemas.microsoft.com/office/drawing/2014/main" id="{B4E3F03E-C282-CBC0-8E13-4DCFA3225010}"/>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4917487-8880-A354-93E2-832CBE47CE82}"/>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164ACC9B-765A-2F02-8021-E881798BF474}"/>
              </a:ext>
            </a:extLst>
          </p:cNvPr>
          <p:cNvGrpSpPr/>
          <p:nvPr/>
        </p:nvGrpSpPr>
        <p:grpSpPr>
          <a:xfrm flipH="1">
            <a:off x="1888044" y="2322295"/>
            <a:ext cx="6539817" cy="564932"/>
            <a:chOff x="2828922" y="1231954"/>
            <a:chExt cx="5676904" cy="564932"/>
          </a:xfrm>
        </p:grpSpPr>
        <p:sp>
          <p:nvSpPr>
            <p:cNvPr id="48" name="TextBox 47">
              <a:extLst>
                <a:ext uri="{FF2B5EF4-FFF2-40B4-BE49-F238E27FC236}">
                  <a16:creationId xmlns:a16="http://schemas.microsoft.com/office/drawing/2014/main" id="{6859705C-DCCD-E4BE-BC2B-9A4806170BBA}"/>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مراجعة وتقييم مشاريع تقنية المعلومات</a:t>
              </a:r>
            </a:p>
            <a:p>
              <a:pPr lvl="0">
                <a:defRPr/>
              </a:pPr>
              <a:r>
                <a:rPr lang="ar-SA" sz="1200" dirty="0">
                  <a:solidFill>
                    <a:schemeClr val="accent2"/>
                  </a:solidFill>
                  <a:ea typeface="+mn-ea"/>
                </a:rPr>
                <a:t>تقديم التوجيهات الفنية</a:t>
              </a:r>
            </a:p>
          </p:txBody>
        </p:sp>
        <p:sp>
          <p:nvSpPr>
            <p:cNvPr id="49" name="TextBox 48">
              <a:extLst>
                <a:ext uri="{FF2B5EF4-FFF2-40B4-BE49-F238E27FC236}">
                  <a16:creationId xmlns:a16="http://schemas.microsoft.com/office/drawing/2014/main" id="{07CF7E32-D1B7-2A28-130A-06F6A1BD6F41}"/>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تنفيذ المشاريع وفق المعايير</a:t>
              </a:r>
            </a:p>
            <a:p>
              <a:pPr lvl="0">
                <a:defRPr/>
              </a:pPr>
              <a:r>
                <a:rPr lang="ar-EG" sz="1200" dirty="0">
                  <a:solidFill>
                    <a:schemeClr val="accent1"/>
                  </a:solidFill>
                  <a:ea typeface="+mn-ea"/>
                </a:rPr>
                <a:t>تحسين العائد على الاستثمار</a:t>
              </a:r>
            </a:p>
          </p:txBody>
        </p:sp>
      </p:grpSp>
      <p:grpSp>
        <p:nvGrpSpPr>
          <p:cNvPr id="50" name="Group 49">
            <a:extLst>
              <a:ext uri="{FF2B5EF4-FFF2-40B4-BE49-F238E27FC236}">
                <a16:creationId xmlns:a16="http://schemas.microsoft.com/office/drawing/2014/main" id="{5D926CE1-EA17-9F9D-492B-00339806366E}"/>
              </a:ext>
            </a:extLst>
          </p:cNvPr>
          <p:cNvGrpSpPr/>
          <p:nvPr/>
        </p:nvGrpSpPr>
        <p:grpSpPr>
          <a:xfrm>
            <a:off x="1659747" y="2980794"/>
            <a:ext cx="6996412" cy="209066"/>
            <a:chOff x="2561460" y="1624664"/>
            <a:chExt cx="6540478" cy="209066"/>
          </a:xfrm>
        </p:grpSpPr>
        <p:cxnSp>
          <p:nvCxnSpPr>
            <p:cNvPr id="51" name="Straight Arrow Connector 50">
              <a:extLst>
                <a:ext uri="{FF2B5EF4-FFF2-40B4-BE49-F238E27FC236}">
                  <a16:creationId xmlns:a16="http://schemas.microsoft.com/office/drawing/2014/main" id="{27C97EC5-31B5-E465-EA53-A929ECE5CA53}"/>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CCBB815-1CEB-26C6-0DE7-D88BCB39B9F8}"/>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3A356753-C48C-4FD9-2F73-56385B25B408}"/>
              </a:ext>
            </a:extLst>
          </p:cNvPr>
          <p:cNvGrpSpPr/>
          <p:nvPr/>
        </p:nvGrpSpPr>
        <p:grpSpPr>
          <a:xfrm flipH="1">
            <a:off x="1888044" y="2794205"/>
            <a:ext cx="6539817" cy="564932"/>
            <a:chOff x="2828922" y="1231954"/>
            <a:chExt cx="5676904" cy="564932"/>
          </a:xfrm>
        </p:grpSpPr>
        <p:sp>
          <p:nvSpPr>
            <p:cNvPr id="54" name="TextBox 53">
              <a:extLst>
                <a:ext uri="{FF2B5EF4-FFF2-40B4-BE49-F238E27FC236}">
                  <a16:creationId xmlns:a16="http://schemas.microsoft.com/office/drawing/2014/main" id="{565F248E-2187-4E82-6BD5-B664898EB6BC}"/>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تحديد مبادئ ومعايير بنية البيانات </a:t>
              </a:r>
            </a:p>
            <a:p>
              <a:pPr lvl="0">
                <a:defRPr/>
              </a:pPr>
              <a:r>
                <a:rPr lang="ar-SA" sz="1200" dirty="0">
                  <a:solidFill>
                    <a:schemeClr val="accent2"/>
                  </a:solidFill>
                  <a:ea typeface="+mn-ea"/>
                </a:rPr>
                <a:t>توثيق وتصميم نماذج البيانات المرجعية</a:t>
              </a:r>
            </a:p>
          </p:txBody>
        </p:sp>
        <p:sp>
          <p:nvSpPr>
            <p:cNvPr id="55" name="TextBox 54">
              <a:extLst>
                <a:ext uri="{FF2B5EF4-FFF2-40B4-BE49-F238E27FC236}">
                  <a16:creationId xmlns:a16="http://schemas.microsoft.com/office/drawing/2014/main" id="{4D7DE385-8CBF-D7A2-B024-A67B823F81D1}"/>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تحسين جودة البيانات</a:t>
              </a:r>
            </a:p>
            <a:p>
              <a:pPr lvl="0">
                <a:defRPr/>
              </a:pPr>
              <a:r>
                <a:rPr lang="ar-EG" sz="1200" dirty="0">
                  <a:solidFill>
                    <a:schemeClr val="accent1"/>
                  </a:solidFill>
                  <a:ea typeface="+mn-ea"/>
                </a:rPr>
                <a:t>ضمان الامتثال للمعايير الوطنية</a:t>
              </a:r>
            </a:p>
          </p:txBody>
        </p:sp>
      </p:grpSp>
      <p:grpSp>
        <p:nvGrpSpPr>
          <p:cNvPr id="56" name="Group 55">
            <a:extLst>
              <a:ext uri="{FF2B5EF4-FFF2-40B4-BE49-F238E27FC236}">
                <a16:creationId xmlns:a16="http://schemas.microsoft.com/office/drawing/2014/main" id="{51153CFF-1F2C-4B4E-0FE9-4A7EA40209B6}"/>
              </a:ext>
            </a:extLst>
          </p:cNvPr>
          <p:cNvGrpSpPr/>
          <p:nvPr/>
        </p:nvGrpSpPr>
        <p:grpSpPr>
          <a:xfrm>
            <a:off x="1659747" y="3959008"/>
            <a:ext cx="6996412" cy="209066"/>
            <a:chOff x="2561460" y="1624664"/>
            <a:chExt cx="6540478" cy="209066"/>
          </a:xfrm>
        </p:grpSpPr>
        <p:cxnSp>
          <p:nvCxnSpPr>
            <p:cNvPr id="57" name="Straight Arrow Connector 56">
              <a:extLst>
                <a:ext uri="{FF2B5EF4-FFF2-40B4-BE49-F238E27FC236}">
                  <a16:creationId xmlns:a16="http://schemas.microsoft.com/office/drawing/2014/main" id="{D378E848-496E-98B9-FA1C-C0034961D50A}"/>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4674847-A8FD-94EE-43E5-53AAC3F6B9B6}"/>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213FFB5F-91AB-1127-D9CC-CF81042A0DC1}"/>
              </a:ext>
            </a:extLst>
          </p:cNvPr>
          <p:cNvGrpSpPr/>
          <p:nvPr/>
        </p:nvGrpSpPr>
        <p:grpSpPr>
          <a:xfrm flipH="1">
            <a:off x="1888041" y="3760705"/>
            <a:ext cx="6539821" cy="576646"/>
            <a:chOff x="2828922" y="1220240"/>
            <a:chExt cx="5676907" cy="576646"/>
          </a:xfrm>
        </p:grpSpPr>
        <p:sp>
          <p:nvSpPr>
            <p:cNvPr id="60" name="TextBox 59">
              <a:extLst>
                <a:ext uri="{FF2B5EF4-FFF2-40B4-BE49-F238E27FC236}">
                  <a16:creationId xmlns:a16="http://schemas.microsoft.com/office/drawing/2014/main" id="{CBF179B0-CB95-A83A-2358-EF8D82FD31FB}"/>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2"/>
                  </a:solidFill>
                  <a:ea typeface="+mn-ea"/>
                </a:rPr>
                <a:t>تصميم وتوثيق بنية التقنية</a:t>
              </a:r>
              <a:endParaRPr lang="ar-SA" sz="1200" dirty="0">
                <a:solidFill>
                  <a:schemeClr val="accent2"/>
                </a:solidFill>
                <a:ea typeface="+mn-ea"/>
              </a:endParaRPr>
            </a:p>
            <a:p>
              <a:pPr lvl="0">
                <a:defRPr/>
              </a:pPr>
              <a:r>
                <a:rPr lang="ar-SA" sz="1200" dirty="0">
                  <a:solidFill>
                    <a:schemeClr val="accent2"/>
                  </a:solidFill>
                  <a:ea typeface="+mn-ea"/>
                </a:rPr>
                <a:t>تقديم التوصيات الفنية</a:t>
              </a:r>
            </a:p>
          </p:txBody>
        </p:sp>
        <p:sp>
          <p:nvSpPr>
            <p:cNvPr id="61" name="TextBox 60">
              <a:extLst>
                <a:ext uri="{FF2B5EF4-FFF2-40B4-BE49-F238E27FC236}">
                  <a16:creationId xmlns:a16="http://schemas.microsoft.com/office/drawing/2014/main" id="{EB4A73E9-F78D-45BD-880C-EB195CD6E91D}"/>
                </a:ext>
              </a:extLst>
            </p:cNvPr>
            <p:cNvSpPr txBox="1"/>
            <p:nvPr/>
          </p:nvSpPr>
          <p:spPr>
            <a:xfrm>
              <a:off x="5715002" y="1220240"/>
              <a:ext cx="2790827" cy="350268"/>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توافق البنية التحتية مع الاستراتيجيات</a:t>
              </a:r>
            </a:p>
            <a:p>
              <a:pPr lvl="0">
                <a:defRPr/>
              </a:pPr>
              <a:r>
                <a:rPr lang="ar-EG" sz="1200" dirty="0">
                  <a:solidFill>
                    <a:schemeClr val="accent1"/>
                  </a:solidFill>
                  <a:ea typeface="+mn-ea"/>
                </a:rPr>
                <a:t>تحسين الكفاءة التقنية</a:t>
              </a:r>
            </a:p>
          </p:txBody>
        </p:sp>
      </p:grpSp>
      <p:grpSp>
        <p:nvGrpSpPr>
          <p:cNvPr id="62" name="Group 61">
            <a:extLst>
              <a:ext uri="{FF2B5EF4-FFF2-40B4-BE49-F238E27FC236}">
                <a16:creationId xmlns:a16="http://schemas.microsoft.com/office/drawing/2014/main" id="{9ECCD3EB-6846-C386-2EF1-C55E7044169F}"/>
              </a:ext>
            </a:extLst>
          </p:cNvPr>
          <p:cNvGrpSpPr/>
          <p:nvPr/>
        </p:nvGrpSpPr>
        <p:grpSpPr>
          <a:xfrm>
            <a:off x="1659747" y="4439599"/>
            <a:ext cx="6996412" cy="209066"/>
            <a:chOff x="2561460" y="1624664"/>
            <a:chExt cx="6540478" cy="209066"/>
          </a:xfrm>
        </p:grpSpPr>
        <p:cxnSp>
          <p:nvCxnSpPr>
            <p:cNvPr id="63" name="Straight Arrow Connector 62">
              <a:extLst>
                <a:ext uri="{FF2B5EF4-FFF2-40B4-BE49-F238E27FC236}">
                  <a16:creationId xmlns:a16="http://schemas.microsoft.com/office/drawing/2014/main" id="{C18AADAE-94E3-2673-3BB7-9520CD5BD301}"/>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69D047B-A26F-5C33-A0DC-8213F049E0DF}"/>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7D1DA40C-CD7F-F759-AE14-C07B0975BEE8}"/>
              </a:ext>
            </a:extLst>
          </p:cNvPr>
          <p:cNvGrpSpPr/>
          <p:nvPr/>
        </p:nvGrpSpPr>
        <p:grpSpPr>
          <a:xfrm flipH="1">
            <a:off x="1888044" y="4253010"/>
            <a:ext cx="6539817" cy="564932"/>
            <a:chOff x="2828922" y="1231954"/>
            <a:chExt cx="5676904" cy="564932"/>
          </a:xfrm>
        </p:grpSpPr>
        <p:sp>
          <p:nvSpPr>
            <p:cNvPr id="66" name="TextBox 65">
              <a:extLst>
                <a:ext uri="{FF2B5EF4-FFF2-40B4-BE49-F238E27FC236}">
                  <a16:creationId xmlns:a16="http://schemas.microsoft.com/office/drawing/2014/main" id="{4144364A-E594-0ADD-9530-F621DCEE0A28}"/>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توثيق وتصميم بنية التطبيقات</a:t>
              </a:r>
            </a:p>
            <a:p>
              <a:pPr lvl="0">
                <a:defRPr/>
              </a:pPr>
              <a:r>
                <a:rPr lang="ar-SA" sz="1200" dirty="0">
                  <a:solidFill>
                    <a:schemeClr val="accent2"/>
                  </a:solidFill>
                  <a:ea typeface="+mn-ea"/>
                </a:rPr>
                <a:t>مراجعة تطبيقات جديدة</a:t>
              </a:r>
            </a:p>
          </p:txBody>
        </p:sp>
        <p:sp>
          <p:nvSpPr>
            <p:cNvPr id="67" name="TextBox 66">
              <a:extLst>
                <a:ext uri="{FF2B5EF4-FFF2-40B4-BE49-F238E27FC236}">
                  <a16:creationId xmlns:a16="http://schemas.microsoft.com/office/drawing/2014/main" id="{DE2916AC-0514-D0F1-2319-2EDE9E22CDCA}"/>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تكامل التطبيقات</a:t>
              </a:r>
            </a:p>
            <a:p>
              <a:pPr lvl="0">
                <a:defRPr/>
              </a:pPr>
              <a:r>
                <a:rPr lang="ar-EG" sz="1200" dirty="0">
                  <a:solidFill>
                    <a:schemeClr val="accent1"/>
                  </a:solidFill>
                  <a:ea typeface="+mn-ea"/>
                </a:rPr>
                <a:t>تحسين تجربة المستخدم</a:t>
              </a:r>
            </a:p>
          </p:txBody>
        </p:sp>
      </p:grpSp>
      <p:sp>
        <p:nvSpPr>
          <p:cNvPr id="4" name="Round Diagonal Corner Rectangle 56">
            <a:extLst>
              <a:ext uri="{FF2B5EF4-FFF2-40B4-BE49-F238E27FC236}">
                <a16:creationId xmlns:a16="http://schemas.microsoft.com/office/drawing/2014/main" id="{53836E9D-64AD-B021-F30D-664CF752125E}"/>
              </a:ext>
            </a:extLst>
          </p:cNvPr>
          <p:cNvSpPr>
            <a:spLocks noChangeAspect="1"/>
          </p:cNvSpPr>
          <p:nvPr/>
        </p:nvSpPr>
        <p:spPr>
          <a:xfrm>
            <a:off x="8656159" y="488848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الحوكمة والمخاطر والالتزام</a:t>
            </a:r>
            <a:r>
              <a:rPr lang="ar-EG" sz="1400" b="1" kern="0" dirty="0">
                <a:solidFill>
                  <a:prstClr val="white"/>
                </a:solidFill>
                <a:latin typeface="Sakkal Majalla" panose="02000000000000000000" pitchFamily="2" charset="-78"/>
                <a:cs typeface="Sakkal Majalla" panose="02000000000000000000" pitchFamily="2" charset="-78"/>
              </a:rPr>
              <a:t> </a:t>
            </a:r>
            <a:r>
              <a:rPr lang="ar-EG" sz="1200" b="1" kern="0" dirty="0">
                <a:solidFill>
                  <a:prstClr val="white"/>
                </a:solidFill>
                <a:latin typeface="Sakkal Majalla" panose="02000000000000000000" pitchFamily="2" charset="-78"/>
                <a:cs typeface="Sakkal Majalla" panose="02000000000000000000" pitchFamily="2" charset="-78"/>
              </a:rPr>
              <a:t>(للأمن السيبراني)</a:t>
            </a:r>
            <a:endParaRPr lang="ar-EG" sz="1400" b="1" kern="0" dirty="0">
              <a:solidFill>
                <a:prstClr val="white"/>
              </a:solidFill>
              <a:latin typeface="Sakkal Majalla" panose="02000000000000000000" pitchFamily="2" charset="-78"/>
              <a:cs typeface="Sakkal Majalla" panose="02000000000000000000" pitchFamily="2" charset="-78"/>
            </a:endParaRPr>
          </a:p>
        </p:txBody>
      </p:sp>
      <p:sp>
        <p:nvSpPr>
          <p:cNvPr id="5" name="Round Diagonal Corner Rectangle 56">
            <a:extLst>
              <a:ext uri="{FF2B5EF4-FFF2-40B4-BE49-F238E27FC236}">
                <a16:creationId xmlns:a16="http://schemas.microsoft.com/office/drawing/2014/main" id="{09D3F2BD-37CA-7F38-C888-194188E8EE66}"/>
              </a:ext>
            </a:extLst>
          </p:cNvPr>
          <p:cNvSpPr>
            <a:spLocks noChangeAspect="1"/>
          </p:cNvSpPr>
          <p:nvPr/>
        </p:nvSpPr>
        <p:spPr>
          <a:xfrm>
            <a:off x="8656159" y="539518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الجودة والتميز المؤسسي</a:t>
            </a:r>
          </a:p>
        </p:txBody>
      </p:sp>
      <p:sp>
        <p:nvSpPr>
          <p:cNvPr id="6" name="Round Diagonal Corner Rectangle 56">
            <a:extLst>
              <a:ext uri="{FF2B5EF4-FFF2-40B4-BE49-F238E27FC236}">
                <a16:creationId xmlns:a16="http://schemas.microsoft.com/office/drawing/2014/main" id="{28C1C233-035C-02E4-FA72-806E0D6B6E2D}"/>
              </a:ext>
            </a:extLst>
          </p:cNvPr>
          <p:cNvSpPr>
            <a:spLocks noChangeAspect="1"/>
          </p:cNvSpPr>
          <p:nvPr/>
        </p:nvSpPr>
        <p:spPr>
          <a:xfrm>
            <a:off x="8656159" y="588634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قطاعات الأعمال</a:t>
            </a:r>
          </a:p>
        </p:txBody>
      </p:sp>
      <p:sp>
        <p:nvSpPr>
          <p:cNvPr id="7" name="Round Diagonal Corner Rectangle 56">
            <a:extLst>
              <a:ext uri="{FF2B5EF4-FFF2-40B4-BE49-F238E27FC236}">
                <a16:creationId xmlns:a16="http://schemas.microsoft.com/office/drawing/2014/main" id="{B4606BB4-87F8-9EF0-CED5-9FC766232265}"/>
              </a:ext>
            </a:extLst>
          </p:cNvPr>
          <p:cNvSpPr>
            <a:spLocks noChangeAspect="1"/>
          </p:cNvSpPr>
          <p:nvPr/>
        </p:nvSpPr>
        <p:spPr>
          <a:xfrm>
            <a:off x="8656159" y="6357000"/>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rtl="1">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الجهات التنظيمية (مثل </a:t>
            </a:r>
            <a:r>
              <a:rPr lang="en-US" sz="1600" b="1" kern="0" dirty="0">
                <a:solidFill>
                  <a:prstClr val="white"/>
                </a:solidFill>
                <a:latin typeface="Sakkal Majalla" panose="02000000000000000000" pitchFamily="2" charset="-78"/>
                <a:cs typeface="Sakkal Majalla" panose="02000000000000000000" pitchFamily="2" charset="-78"/>
              </a:rPr>
              <a:t>DGA, NCA, NDMO</a:t>
            </a:r>
            <a:r>
              <a:rPr lang="ar-EG" sz="1600" b="1" kern="0" dirty="0">
                <a:solidFill>
                  <a:prstClr val="white"/>
                </a:solidFill>
                <a:latin typeface="Sakkal Majalla" panose="02000000000000000000" pitchFamily="2" charset="-78"/>
                <a:cs typeface="Sakkal Majalla" panose="02000000000000000000" pitchFamily="2" charset="-78"/>
              </a:rPr>
              <a:t>)</a:t>
            </a:r>
          </a:p>
        </p:txBody>
      </p:sp>
      <p:grpSp>
        <p:nvGrpSpPr>
          <p:cNvPr id="8" name="Group 7">
            <a:extLst>
              <a:ext uri="{FF2B5EF4-FFF2-40B4-BE49-F238E27FC236}">
                <a16:creationId xmlns:a16="http://schemas.microsoft.com/office/drawing/2014/main" id="{4377472F-A0CD-EA0C-C6A9-501529BD3CB0}"/>
              </a:ext>
            </a:extLst>
          </p:cNvPr>
          <p:cNvGrpSpPr/>
          <p:nvPr/>
        </p:nvGrpSpPr>
        <p:grpSpPr>
          <a:xfrm>
            <a:off x="1659745" y="4940324"/>
            <a:ext cx="6996412" cy="209066"/>
            <a:chOff x="2561460" y="1624664"/>
            <a:chExt cx="6540478" cy="209066"/>
          </a:xfrm>
        </p:grpSpPr>
        <p:cxnSp>
          <p:nvCxnSpPr>
            <p:cNvPr id="9" name="Straight Arrow Connector 8">
              <a:extLst>
                <a:ext uri="{FF2B5EF4-FFF2-40B4-BE49-F238E27FC236}">
                  <a16:creationId xmlns:a16="http://schemas.microsoft.com/office/drawing/2014/main" id="{C0FE9DCA-043D-2E2F-5273-E2430E7381A2}"/>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F0156FA-B849-FC2D-15AE-0E22B83A254C}"/>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CBD2FB65-7CB0-9775-8D52-2A4C718E1A21}"/>
              </a:ext>
            </a:extLst>
          </p:cNvPr>
          <p:cNvGrpSpPr/>
          <p:nvPr/>
        </p:nvGrpSpPr>
        <p:grpSpPr>
          <a:xfrm flipH="1">
            <a:off x="1888042" y="4753735"/>
            <a:ext cx="6539817" cy="564932"/>
            <a:chOff x="2828922" y="1231954"/>
            <a:chExt cx="5676904" cy="564932"/>
          </a:xfrm>
        </p:grpSpPr>
        <p:sp>
          <p:nvSpPr>
            <p:cNvPr id="12" name="TextBox 11">
              <a:extLst>
                <a:ext uri="{FF2B5EF4-FFF2-40B4-BE49-F238E27FC236}">
                  <a16:creationId xmlns:a16="http://schemas.microsoft.com/office/drawing/2014/main" id="{8BF21922-2F29-92A4-AC2D-BFA5D78D0EB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تضمين متطلبات الأمن السيبراني في البنية المؤسسية</a:t>
              </a:r>
            </a:p>
            <a:p>
              <a:pPr lvl="0">
                <a:defRPr/>
              </a:pPr>
              <a:r>
                <a:rPr lang="ar-SA" sz="1200" dirty="0">
                  <a:solidFill>
                    <a:schemeClr val="accent2"/>
                  </a:solidFill>
                  <a:ea typeface="+mn-ea"/>
                </a:rPr>
                <a:t>مراجعة الامتثال لمعايير الأمن السيبراني</a:t>
              </a:r>
            </a:p>
          </p:txBody>
        </p:sp>
        <p:sp>
          <p:nvSpPr>
            <p:cNvPr id="13" name="TextBox 12">
              <a:extLst>
                <a:ext uri="{FF2B5EF4-FFF2-40B4-BE49-F238E27FC236}">
                  <a16:creationId xmlns:a16="http://schemas.microsoft.com/office/drawing/2014/main" id="{044F64C3-42F4-6E6A-145C-9AD670F0BD56}"/>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حماية الأصول الرقمية</a:t>
              </a:r>
            </a:p>
            <a:p>
              <a:pPr lvl="0">
                <a:defRPr/>
              </a:pPr>
              <a:r>
                <a:rPr lang="ar-EG" sz="1200" dirty="0">
                  <a:solidFill>
                    <a:schemeClr val="accent1"/>
                  </a:solidFill>
                  <a:ea typeface="+mn-ea"/>
                </a:rPr>
                <a:t>الامتثال للمعايير الوطنية</a:t>
              </a:r>
            </a:p>
          </p:txBody>
        </p:sp>
      </p:grpSp>
      <p:grpSp>
        <p:nvGrpSpPr>
          <p:cNvPr id="14" name="Group 13">
            <a:extLst>
              <a:ext uri="{FF2B5EF4-FFF2-40B4-BE49-F238E27FC236}">
                <a16:creationId xmlns:a16="http://schemas.microsoft.com/office/drawing/2014/main" id="{25AAC4F6-B78E-E246-7DFF-1115316448DC}"/>
              </a:ext>
            </a:extLst>
          </p:cNvPr>
          <p:cNvGrpSpPr/>
          <p:nvPr/>
        </p:nvGrpSpPr>
        <p:grpSpPr>
          <a:xfrm>
            <a:off x="1659745" y="5447024"/>
            <a:ext cx="6996412" cy="209066"/>
            <a:chOff x="2561460" y="1624664"/>
            <a:chExt cx="6540478" cy="209066"/>
          </a:xfrm>
        </p:grpSpPr>
        <p:cxnSp>
          <p:nvCxnSpPr>
            <p:cNvPr id="15" name="Straight Arrow Connector 14">
              <a:extLst>
                <a:ext uri="{FF2B5EF4-FFF2-40B4-BE49-F238E27FC236}">
                  <a16:creationId xmlns:a16="http://schemas.microsoft.com/office/drawing/2014/main" id="{F521D67C-382C-1098-B6C8-A873815DBE8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46F50DF-CB73-A067-F647-94DBA604F804}"/>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24903006-3AE9-117E-30F8-17CE5C4BFE16}"/>
              </a:ext>
            </a:extLst>
          </p:cNvPr>
          <p:cNvGrpSpPr/>
          <p:nvPr/>
        </p:nvGrpSpPr>
        <p:grpSpPr>
          <a:xfrm flipH="1">
            <a:off x="1888042" y="5260435"/>
            <a:ext cx="6539817" cy="564932"/>
            <a:chOff x="2828922" y="1231954"/>
            <a:chExt cx="5676904" cy="564932"/>
          </a:xfrm>
        </p:grpSpPr>
        <p:sp>
          <p:nvSpPr>
            <p:cNvPr id="70" name="TextBox 69">
              <a:extLst>
                <a:ext uri="{FF2B5EF4-FFF2-40B4-BE49-F238E27FC236}">
                  <a16:creationId xmlns:a16="http://schemas.microsoft.com/office/drawing/2014/main" id="{1F0DD186-7A9A-388A-A8CE-FDA3BEFFEC9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تحسين العمليات</a:t>
              </a:r>
            </a:p>
          </p:txBody>
        </p:sp>
        <p:sp>
          <p:nvSpPr>
            <p:cNvPr id="71" name="TextBox 70">
              <a:extLst>
                <a:ext uri="{FF2B5EF4-FFF2-40B4-BE49-F238E27FC236}">
                  <a16:creationId xmlns:a16="http://schemas.microsoft.com/office/drawing/2014/main" id="{83F8F857-32E1-625A-41D4-507B32E3C69F}"/>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تحقيق التميز المؤسسي</a:t>
              </a:r>
            </a:p>
            <a:p>
              <a:pPr lvl="0">
                <a:defRPr/>
              </a:pPr>
              <a:r>
                <a:rPr lang="ar-EG" sz="1200" dirty="0">
                  <a:solidFill>
                    <a:schemeClr val="accent1"/>
                  </a:solidFill>
                  <a:ea typeface="+mn-ea"/>
                </a:rPr>
                <a:t>تعزيز الكفاءة</a:t>
              </a:r>
            </a:p>
          </p:txBody>
        </p:sp>
      </p:grpSp>
      <p:grpSp>
        <p:nvGrpSpPr>
          <p:cNvPr id="72" name="Group 71">
            <a:extLst>
              <a:ext uri="{FF2B5EF4-FFF2-40B4-BE49-F238E27FC236}">
                <a16:creationId xmlns:a16="http://schemas.microsoft.com/office/drawing/2014/main" id="{F24BBD98-E153-484D-64CB-0084B1A8CB6F}"/>
              </a:ext>
            </a:extLst>
          </p:cNvPr>
          <p:cNvGrpSpPr/>
          <p:nvPr/>
        </p:nvGrpSpPr>
        <p:grpSpPr>
          <a:xfrm>
            <a:off x="1659745" y="5938188"/>
            <a:ext cx="6996412" cy="209066"/>
            <a:chOff x="2561460" y="1624664"/>
            <a:chExt cx="6540478" cy="209066"/>
          </a:xfrm>
        </p:grpSpPr>
        <p:cxnSp>
          <p:nvCxnSpPr>
            <p:cNvPr id="73" name="Straight Arrow Connector 72">
              <a:extLst>
                <a:ext uri="{FF2B5EF4-FFF2-40B4-BE49-F238E27FC236}">
                  <a16:creationId xmlns:a16="http://schemas.microsoft.com/office/drawing/2014/main" id="{8E2BD6FB-61EE-B9A7-6D30-80DA318BECBD}"/>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2035909-5000-929F-064B-2875606E2BFF}"/>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216BEE3D-FAE4-AE42-59A0-938CD6AABB84}"/>
              </a:ext>
            </a:extLst>
          </p:cNvPr>
          <p:cNvGrpSpPr/>
          <p:nvPr/>
        </p:nvGrpSpPr>
        <p:grpSpPr>
          <a:xfrm flipH="1">
            <a:off x="1888039" y="5767623"/>
            <a:ext cx="6539821" cy="548908"/>
            <a:chOff x="2828922" y="1247978"/>
            <a:chExt cx="5676907" cy="548908"/>
          </a:xfrm>
        </p:grpSpPr>
        <p:sp>
          <p:nvSpPr>
            <p:cNvPr id="76" name="TextBox 75">
              <a:extLst>
                <a:ext uri="{FF2B5EF4-FFF2-40B4-BE49-F238E27FC236}">
                  <a16:creationId xmlns:a16="http://schemas.microsoft.com/office/drawing/2014/main" id="{DCE509F6-966A-FABA-638C-0AF86AD0F43A}"/>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جمع متطلبات الأعمال</a:t>
              </a:r>
            </a:p>
            <a:p>
              <a:pPr lvl="0">
                <a:defRPr/>
              </a:pPr>
              <a:r>
                <a:rPr lang="ar-SA" sz="1200" dirty="0">
                  <a:solidFill>
                    <a:schemeClr val="accent2"/>
                  </a:solidFill>
                  <a:ea typeface="+mn-ea"/>
                </a:rPr>
                <a:t>تقديم التوصيات لتحسين العمليات</a:t>
              </a:r>
            </a:p>
          </p:txBody>
        </p:sp>
        <p:sp>
          <p:nvSpPr>
            <p:cNvPr id="77" name="TextBox 76">
              <a:extLst>
                <a:ext uri="{FF2B5EF4-FFF2-40B4-BE49-F238E27FC236}">
                  <a16:creationId xmlns:a16="http://schemas.microsoft.com/office/drawing/2014/main" id="{26E40F96-629E-DEB8-618C-8BA14D02E98B}"/>
                </a:ext>
              </a:extLst>
            </p:cNvPr>
            <p:cNvSpPr txBox="1"/>
            <p:nvPr/>
          </p:nvSpPr>
          <p:spPr>
            <a:xfrm>
              <a:off x="5715002" y="1247978"/>
              <a:ext cx="2790827" cy="322530"/>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تحسين العمليات والأداء</a:t>
              </a:r>
            </a:p>
            <a:p>
              <a:pPr lvl="0">
                <a:defRPr/>
              </a:pPr>
              <a:r>
                <a:rPr lang="ar-EG" sz="1200" dirty="0">
                  <a:solidFill>
                    <a:schemeClr val="accent1"/>
                  </a:solidFill>
                  <a:ea typeface="+mn-ea"/>
                </a:rPr>
                <a:t>تحقيق الأهداف الاستراتيجية</a:t>
              </a:r>
            </a:p>
          </p:txBody>
        </p:sp>
      </p:grpSp>
      <p:grpSp>
        <p:nvGrpSpPr>
          <p:cNvPr id="78" name="Group 77">
            <a:extLst>
              <a:ext uri="{FF2B5EF4-FFF2-40B4-BE49-F238E27FC236}">
                <a16:creationId xmlns:a16="http://schemas.microsoft.com/office/drawing/2014/main" id="{296B81B7-1F9C-61DF-2FCC-723C039352A5}"/>
              </a:ext>
            </a:extLst>
          </p:cNvPr>
          <p:cNvGrpSpPr/>
          <p:nvPr/>
        </p:nvGrpSpPr>
        <p:grpSpPr>
          <a:xfrm>
            <a:off x="1659745" y="6408839"/>
            <a:ext cx="6996412" cy="209066"/>
            <a:chOff x="2561460" y="1624664"/>
            <a:chExt cx="6540478" cy="209066"/>
          </a:xfrm>
        </p:grpSpPr>
        <p:cxnSp>
          <p:nvCxnSpPr>
            <p:cNvPr id="79" name="Straight Arrow Connector 78">
              <a:extLst>
                <a:ext uri="{FF2B5EF4-FFF2-40B4-BE49-F238E27FC236}">
                  <a16:creationId xmlns:a16="http://schemas.microsoft.com/office/drawing/2014/main" id="{213C124D-2181-DA6D-974C-6CA9AD6592D7}"/>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4619C9D-1E11-FDB1-2C82-7811E69F76BC}"/>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4759A7C6-713B-6E86-BE46-9405B9C21462}"/>
              </a:ext>
            </a:extLst>
          </p:cNvPr>
          <p:cNvGrpSpPr/>
          <p:nvPr/>
        </p:nvGrpSpPr>
        <p:grpSpPr>
          <a:xfrm flipH="1">
            <a:off x="1888042" y="6222250"/>
            <a:ext cx="6539817" cy="564932"/>
            <a:chOff x="2828922" y="1231954"/>
            <a:chExt cx="5676904" cy="564932"/>
          </a:xfrm>
        </p:grpSpPr>
        <p:sp>
          <p:nvSpPr>
            <p:cNvPr id="82" name="TextBox 81">
              <a:extLst>
                <a:ext uri="{FF2B5EF4-FFF2-40B4-BE49-F238E27FC236}">
                  <a16:creationId xmlns:a16="http://schemas.microsoft.com/office/drawing/2014/main" id="{7D00F489-55EA-CAFF-F790-6D22348AED1B}"/>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الامتثال للمعايير والضوابط الوطنية</a:t>
              </a:r>
            </a:p>
          </p:txBody>
        </p:sp>
        <p:sp>
          <p:nvSpPr>
            <p:cNvPr id="83" name="TextBox 82">
              <a:extLst>
                <a:ext uri="{FF2B5EF4-FFF2-40B4-BE49-F238E27FC236}">
                  <a16:creationId xmlns:a16="http://schemas.microsoft.com/office/drawing/2014/main" id="{362C2DFC-5AAF-90F6-695D-D785E3D1F2F5}"/>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تقييم الامتثال والالتزام</a:t>
              </a:r>
            </a:p>
          </p:txBody>
        </p:sp>
      </p:grpSp>
      <p:sp>
        <p:nvSpPr>
          <p:cNvPr id="84" name="Round Diagonal Corner Rectangle 56">
            <a:extLst>
              <a:ext uri="{FF2B5EF4-FFF2-40B4-BE49-F238E27FC236}">
                <a16:creationId xmlns:a16="http://schemas.microsoft.com/office/drawing/2014/main" id="{CDE5FAE3-F103-90F8-3506-DE1B1890C148}"/>
              </a:ext>
            </a:extLst>
          </p:cNvPr>
          <p:cNvSpPr>
            <a:spLocks noChangeAspect="1"/>
          </p:cNvSpPr>
          <p:nvPr/>
        </p:nvSpPr>
        <p:spPr>
          <a:xfrm>
            <a:off x="8667283" y="3411703"/>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البيانات</a:t>
            </a:r>
          </a:p>
        </p:txBody>
      </p:sp>
      <p:grpSp>
        <p:nvGrpSpPr>
          <p:cNvPr id="85" name="Group 84">
            <a:extLst>
              <a:ext uri="{FF2B5EF4-FFF2-40B4-BE49-F238E27FC236}">
                <a16:creationId xmlns:a16="http://schemas.microsoft.com/office/drawing/2014/main" id="{9EF49DF4-C399-C560-8962-90165D7A482D}"/>
              </a:ext>
            </a:extLst>
          </p:cNvPr>
          <p:cNvGrpSpPr/>
          <p:nvPr/>
        </p:nvGrpSpPr>
        <p:grpSpPr>
          <a:xfrm>
            <a:off x="1670869" y="3463542"/>
            <a:ext cx="6996412" cy="209066"/>
            <a:chOff x="2561460" y="1624664"/>
            <a:chExt cx="6540478" cy="209066"/>
          </a:xfrm>
        </p:grpSpPr>
        <p:cxnSp>
          <p:nvCxnSpPr>
            <p:cNvPr id="86" name="Straight Arrow Connector 85">
              <a:extLst>
                <a:ext uri="{FF2B5EF4-FFF2-40B4-BE49-F238E27FC236}">
                  <a16:creationId xmlns:a16="http://schemas.microsoft.com/office/drawing/2014/main" id="{E600349E-B48F-3161-E6DA-3803B296000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FD8F96C-E9E4-FB8B-88E4-9458F4F735A9}"/>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2E05EB58-6E45-A104-4777-BB2FA77C2A39}"/>
              </a:ext>
            </a:extLst>
          </p:cNvPr>
          <p:cNvGrpSpPr/>
          <p:nvPr/>
        </p:nvGrpSpPr>
        <p:grpSpPr>
          <a:xfrm flipH="1">
            <a:off x="1899166" y="3276953"/>
            <a:ext cx="6539817" cy="564932"/>
            <a:chOff x="2828922" y="1231954"/>
            <a:chExt cx="5676904" cy="564932"/>
          </a:xfrm>
        </p:grpSpPr>
        <p:sp>
          <p:nvSpPr>
            <p:cNvPr id="89" name="TextBox 88">
              <a:extLst>
                <a:ext uri="{FF2B5EF4-FFF2-40B4-BE49-F238E27FC236}">
                  <a16:creationId xmlns:a16="http://schemas.microsoft.com/office/drawing/2014/main" id="{45522750-DD3B-7B04-0A73-0A71BC5642D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توثيق وتصميم بنية البيانات</a:t>
              </a:r>
            </a:p>
            <a:p>
              <a:pPr lvl="0">
                <a:defRPr/>
              </a:pPr>
              <a:r>
                <a:rPr lang="ar-SA" sz="1200" dirty="0">
                  <a:solidFill>
                    <a:schemeClr val="accent2"/>
                  </a:solidFill>
                  <a:ea typeface="+mn-ea"/>
                </a:rPr>
                <a:t>دعم تحليل متطلبات البيانات للتكامل</a:t>
              </a:r>
            </a:p>
          </p:txBody>
        </p:sp>
        <p:sp>
          <p:nvSpPr>
            <p:cNvPr id="90" name="TextBox 89">
              <a:extLst>
                <a:ext uri="{FF2B5EF4-FFF2-40B4-BE49-F238E27FC236}">
                  <a16:creationId xmlns:a16="http://schemas.microsoft.com/office/drawing/2014/main" id="{C7683CE5-3F69-CBD0-2C50-D2D0DC5FB53C}"/>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تعزيز كفاءة عمليات التكامل بين الأنظمة</a:t>
              </a:r>
            </a:p>
            <a:p>
              <a:pPr lvl="0">
                <a:defRPr/>
              </a:pPr>
              <a:r>
                <a:rPr lang="ar-EG" sz="1200" dirty="0">
                  <a:solidFill>
                    <a:schemeClr val="accent1"/>
                  </a:solidFill>
                  <a:ea typeface="+mn-ea"/>
                </a:rPr>
                <a:t>دعم القرارات المبنية على البيانات</a:t>
              </a:r>
            </a:p>
          </p:txBody>
        </p:sp>
      </p:grpSp>
    </p:spTree>
    <p:extLst>
      <p:ext uri="{BB962C8B-B14F-4D97-AF65-F5344CB8AC3E}">
        <p14:creationId xmlns:p14="http://schemas.microsoft.com/office/powerpoint/2010/main" val="1023330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22169" y="6371303"/>
            <a:ext cx="488875" cy="316185"/>
          </a:xfrm>
        </p:spPr>
        <p:txBody>
          <a:bodyPr/>
          <a:lstStyle/>
          <a:p>
            <a:fld id="{0BE4EC83-A869-464E-AE9F-881796FB085E}" type="slidenum">
              <a:rPr lang="en-US" smtClean="0"/>
              <a:t>27</a:t>
            </a:fld>
            <a:endParaRPr lang="en-US"/>
          </a:p>
        </p:txBody>
      </p:sp>
      <p:sp>
        <p:nvSpPr>
          <p:cNvPr id="2" name="Title 1">
            <a:extLst>
              <a:ext uri="{FF2B5EF4-FFF2-40B4-BE49-F238E27FC236}">
                <a16:creationId xmlns:a16="http://schemas.microsoft.com/office/drawing/2014/main" id="{66E15D19-C4D2-CAA9-4AB0-1D02BFD0FDB8}"/>
              </a:ext>
            </a:extLst>
          </p:cNvPr>
          <p:cNvSpPr txBox="1">
            <a:spLocks/>
          </p:cNvSpPr>
          <p:nvPr/>
        </p:nvSpPr>
        <p:spPr>
          <a:xfrm>
            <a:off x="529848" y="356581"/>
            <a:ext cx="1083945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الاستراتيجية للبنية المؤسسية</a:t>
            </a:r>
          </a:p>
        </p:txBody>
      </p:sp>
      <p:sp>
        <p:nvSpPr>
          <p:cNvPr id="53" name="Rounded Rectangle 1">
            <a:extLst>
              <a:ext uri="{FF2B5EF4-FFF2-40B4-BE49-F238E27FC236}">
                <a16:creationId xmlns:a16="http://schemas.microsoft.com/office/drawing/2014/main" id="{C51F10B0-6362-1780-4124-B684287CED36}"/>
              </a:ext>
            </a:extLst>
          </p:cNvPr>
          <p:cNvSpPr/>
          <p:nvPr/>
        </p:nvSpPr>
        <p:spPr>
          <a:xfrm>
            <a:off x="140872" y="2100187"/>
            <a:ext cx="12009863" cy="355574"/>
          </a:xfrm>
          <a:prstGeom prst="roundRect">
            <a:avLst>
              <a:gd name="adj" fmla="val 307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800" b="1" dirty="0">
                <a:latin typeface="Sakkal Majalla" panose="02000000000000000000" pitchFamily="2" charset="-78"/>
                <a:cs typeface="Sakkal Majalla" panose="02000000000000000000" pitchFamily="2" charset="-78"/>
              </a:rPr>
              <a:t>المؤشرات</a:t>
            </a:r>
            <a:endParaRPr lang="en-US" sz="2000" b="1" dirty="0">
              <a:latin typeface="Sakkal Majalla" panose="02000000000000000000" pitchFamily="2" charset="-78"/>
              <a:cs typeface="Sakkal Majalla" panose="02000000000000000000" pitchFamily="2" charset="-78"/>
            </a:endParaRPr>
          </a:p>
        </p:txBody>
      </p:sp>
      <p:grpSp>
        <p:nvGrpSpPr>
          <p:cNvPr id="63" name="Group 62">
            <a:extLst>
              <a:ext uri="{FF2B5EF4-FFF2-40B4-BE49-F238E27FC236}">
                <a16:creationId xmlns:a16="http://schemas.microsoft.com/office/drawing/2014/main" id="{F1D2EC46-1883-D562-9602-4F464D4BB367}"/>
              </a:ext>
            </a:extLst>
          </p:cNvPr>
          <p:cNvGrpSpPr/>
          <p:nvPr/>
        </p:nvGrpSpPr>
        <p:grpSpPr>
          <a:xfrm>
            <a:off x="9572123" y="1201641"/>
            <a:ext cx="1830727" cy="4646681"/>
            <a:chOff x="9212196" y="2009720"/>
            <a:chExt cx="2134039" cy="4646681"/>
          </a:xfrm>
        </p:grpSpPr>
        <p:sp>
          <p:nvSpPr>
            <p:cNvPr id="66" name="Rounded Rectangle 51">
              <a:extLst>
                <a:ext uri="{FF2B5EF4-FFF2-40B4-BE49-F238E27FC236}">
                  <a16:creationId xmlns:a16="http://schemas.microsoft.com/office/drawing/2014/main" id="{6AF35979-43F4-9367-2975-326E239B5F76}"/>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67" name="Group 66">
              <a:extLst>
                <a:ext uri="{FF2B5EF4-FFF2-40B4-BE49-F238E27FC236}">
                  <a16:creationId xmlns:a16="http://schemas.microsoft.com/office/drawing/2014/main" id="{13333B33-64F8-AA57-8B5B-DDEB207322C2}"/>
                </a:ext>
              </a:extLst>
            </p:cNvPr>
            <p:cNvGrpSpPr/>
            <p:nvPr/>
          </p:nvGrpSpPr>
          <p:grpSpPr>
            <a:xfrm>
              <a:off x="9283830" y="2009720"/>
              <a:ext cx="2011680" cy="752947"/>
              <a:chOff x="1320393" y="2025"/>
              <a:chExt cx="1485442" cy="885778"/>
            </a:xfrm>
            <a:solidFill>
              <a:schemeClr val="accent2">
                <a:lumMod val="75000"/>
              </a:schemeClr>
            </a:solidFill>
          </p:grpSpPr>
          <p:sp>
            <p:nvSpPr>
              <p:cNvPr id="72" name="Rounded Rectangle 36">
                <a:extLst>
                  <a:ext uri="{FF2B5EF4-FFF2-40B4-BE49-F238E27FC236}">
                    <a16:creationId xmlns:a16="http://schemas.microsoft.com/office/drawing/2014/main" id="{3FBA6EC5-4D87-D03B-6A70-3C5E80298F0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73" name="Rounded Rectangle 4">
                <a:extLst>
                  <a:ext uri="{FF2B5EF4-FFF2-40B4-BE49-F238E27FC236}">
                    <a16:creationId xmlns:a16="http://schemas.microsoft.com/office/drawing/2014/main" id="{8F7D36CB-196D-B76E-FBB9-6777EE64D66B}"/>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EAG01</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تحسين جودة البيانات ودعم القرارات</a:t>
                </a:r>
              </a:p>
            </p:txBody>
          </p:sp>
        </p:grpSp>
        <p:sp>
          <p:nvSpPr>
            <p:cNvPr id="68" name="Freeform 8">
              <a:extLst>
                <a:ext uri="{FF2B5EF4-FFF2-40B4-BE49-F238E27FC236}">
                  <a16:creationId xmlns:a16="http://schemas.microsoft.com/office/drawing/2014/main" id="{0935DE79-3DEF-9D4D-098F-465F124E0A50}"/>
                </a:ext>
              </a:extLst>
            </p:cNvPr>
            <p:cNvSpPr/>
            <p:nvPr/>
          </p:nvSpPr>
          <p:spPr>
            <a:xfrm>
              <a:off x="9290326" y="3901561"/>
              <a:ext cx="1935453"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لتحسين جودة البيانات</a:t>
              </a:r>
            </a:p>
          </p:txBody>
        </p:sp>
        <p:sp>
          <p:nvSpPr>
            <p:cNvPr id="69" name="Freeform 8">
              <a:extLst>
                <a:ext uri="{FF2B5EF4-FFF2-40B4-BE49-F238E27FC236}">
                  <a16:creationId xmlns:a16="http://schemas.microsoft.com/office/drawing/2014/main" id="{48B0AD2B-B90B-69AA-8670-03132F3BC970}"/>
                </a:ext>
              </a:extLst>
            </p:cNvPr>
            <p:cNvSpPr/>
            <p:nvPr/>
          </p:nvSpPr>
          <p:spPr>
            <a:xfrm>
              <a:off x="9281492" y="3297215"/>
              <a:ext cx="1953121"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لتعزيز الاستفادة من البيانات</a:t>
              </a:r>
            </a:p>
          </p:txBody>
        </p:sp>
        <p:sp>
          <p:nvSpPr>
            <p:cNvPr id="71" name="Freeform 8">
              <a:extLst>
                <a:ext uri="{FF2B5EF4-FFF2-40B4-BE49-F238E27FC236}">
                  <a16:creationId xmlns:a16="http://schemas.microsoft.com/office/drawing/2014/main" id="{56243655-525D-ACFF-FCA9-75DFFFB098E7}"/>
                </a:ext>
              </a:extLst>
            </p:cNvPr>
            <p:cNvSpPr/>
            <p:nvPr/>
          </p:nvSpPr>
          <p:spPr>
            <a:xfrm>
              <a:off x="9294172" y="4505907"/>
              <a:ext cx="1927761"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تغطية توثيق الوضع الحالي لمجالات البنية المؤسسية</a:t>
              </a:r>
            </a:p>
          </p:txBody>
        </p:sp>
      </p:grpSp>
      <p:grpSp>
        <p:nvGrpSpPr>
          <p:cNvPr id="89" name="Group 88">
            <a:extLst>
              <a:ext uri="{FF2B5EF4-FFF2-40B4-BE49-F238E27FC236}">
                <a16:creationId xmlns:a16="http://schemas.microsoft.com/office/drawing/2014/main" id="{41A38783-8469-7362-6558-919196C5CF0A}"/>
              </a:ext>
            </a:extLst>
          </p:cNvPr>
          <p:cNvGrpSpPr/>
          <p:nvPr/>
        </p:nvGrpSpPr>
        <p:grpSpPr>
          <a:xfrm>
            <a:off x="7397883" y="1240703"/>
            <a:ext cx="1830727" cy="4646681"/>
            <a:chOff x="10214517" y="2040806"/>
            <a:chExt cx="1830727" cy="4646681"/>
          </a:xfrm>
        </p:grpSpPr>
        <p:grpSp>
          <p:nvGrpSpPr>
            <p:cNvPr id="90" name="Group 89">
              <a:extLst>
                <a:ext uri="{FF2B5EF4-FFF2-40B4-BE49-F238E27FC236}">
                  <a16:creationId xmlns:a16="http://schemas.microsoft.com/office/drawing/2014/main" id="{67E137C0-4F9B-FC87-5FDD-21D12371E2EE}"/>
                </a:ext>
              </a:extLst>
            </p:cNvPr>
            <p:cNvGrpSpPr/>
            <p:nvPr/>
          </p:nvGrpSpPr>
          <p:grpSpPr>
            <a:xfrm>
              <a:off x="10214517" y="2040806"/>
              <a:ext cx="1830727" cy="4646681"/>
              <a:chOff x="9212196" y="2009720"/>
              <a:chExt cx="2134039" cy="4646681"/>
            </a:xfrm>
          </p:grpSpPr>
          <p:sp>
            <p:nvSpPr>
              <p:cNvPr id="93" name="Rounded Rectangle 51">
                <a:extLst>
                  <a:ext uri="{FF2B5EF4-FFF2-40B4-BE49-F238E27FC236}">
                    <a16:creationId xmlns:a16="http://schemas.microsoft.com/office/drawing/2014/main" id="{1FF35A76-EC1D-51F5-C1DC-39FCB5E675E7}"/>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94" name="Group 93">
                <a:extLst>
                  <a:ext uri="{FF2B5EF4-FFF2-40B4-BE49-F238E27FC236}">
                    <a16:creationId xmlns:a16="http://schemas.microsoft.com/office/drawing/2014/main" id="{63D2B268-335F-ABDF-5159-D17C10242765}"/>
                  </a:ext>
                </a:extLst>
              </p:cNvPr>
              <p:cNvGrpSpPr/>
              <p:nvPr/>
            </p:nvGrpSpPr>
            <p:grpSpPr>
              <a:xfrm>
                <a:off x="9283830" y="2009720"/>
                <a:ext cx="2011680" cy="752947"/>
                <a:chOff x="1320393" y="2025"/>
                <a:chExt cx="1485442" cy="885778"/>
              </a:xfrm>
              <a:solidFill>
                <a:schemeClr val="accent2">
                  <a:lumMod val="75000"/>
                </a:schemeClr>
              </a:solidFill>
            </p:grpSpPr>
            <p:sp>
              <p:nvSpPr>
                <p:cNvPr id="99" name="Rounded Rectangle 36">
                  <a:extLst>
                    <a:ext uri="{FF2B5EF4-FFF2-40B4-BE49-F238E27FC236}">
                      <a16:creationId xmlns:a16="http://schemas.microsoft.com/office/drawing/2014/main" id="{DDB1CD19-68EA-FE44-D718-F155087F6DD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00" name="Rounded Rectangle 4">
                  <a:extLst>
                    <a:ext uri="{FF2B5EF4-FFF2-40B4-BE49-F238E27FC236}">
                      <a16:creationId xmlns:a16="http://schemas.microsoft.com/office/drawing/2014/main" id="{B9E818ED-3E1E-E04D-1E0D-D63E9BA437EA}"/>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EAG02</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تمكين التحول الرقمي ودعم الابتكار</a:t>
                  </a:r>
                </a:p>
              </p:txBody>
            </p:sp>
          </p:grpSp>
          <p:sp>
            <p:nvSpPr>
              <p:cNvPr id="95" name="Freeform 8">
                <a:extLst>
                  <a:ext uri="{FF2B5EF4-FFF2-40B4-BE49-F238E27FC236}">
                    <a16:creationId xmlns:a16="http://schemas.microsoft.com/office/drawing/2014/main" id="{27E73EE9-6E91-BF4B-D12C-202D92B24338}"/>
                  </a:ext>
                </a:extLst>
              </p:cNvPr>
              <p:cNvSpPr/>
              <p:nvPr/>
            </p:nvSpPr>
            <p:spPr>
              <a:xfrm>
                <a:off x="9259787" y="3772020"/>
                <a:ext cx="2031336" cy="560809"/>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الأنظمة التي تم تقديم حلول لتعزيز التكامل بينها في الوضع المستقبلي</a:t>
                </a:r>
              </a:p>
            </p:txBody>
          </p:sp>
          <p:sp>
            <p:nvSpPr>
              <p:cNvPr id="96" name="Freeform 8">
                <a:extLst>
                  <a:ext uri="{FF2B5EF4-FFF2-40B4-BE49-F238E27FC236}">
                    <a16:creationId xmlns:a16="http://schemas.microsoft.com/office/drawing/2014/main" id="{DC7BF59D-99CF-C7F2-A6AC-5AD494F955BE}"/>
                  </a:ext>
                </a:extLst>
              </p:cNvPr>
              <p:cNvSpPr/>
              <p:nvPr/>
            </p:nvSpPr>
            <p:spPr>
              <a:xfrm>
                <a:off x="9250674" y="3228634"/>
                <a:ext cx="2049882"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مساهمة البنية المؤسسية في مشاريع خارطة طريق التحول الرقمي</a:t>
                </a:r>
              </a:p>
            </p:txBody>
          </p:sp>
          <p:sp>
            <p:nvSpPr>
              <p:cNvPr id="98" name="Freeform 8">
                <a:extLst>
                  <a:ext uri="{FF2B5EF4-FFF2-40B4-BE49-F238E27FC236}">
                    <a16:creationId xmlns:a16="http://schemas.microsoft.com/office/drawing/2014/main" id="{517B5178-9ABC-ADF9-3B3C-BB2C26084F8F}"/>
                  </a:ext>
                </a:extLst>
              </p:cNvPr>
              <p:cNvSpPr/>
              <p:nvPr/>
            </p:nvSpPr>
            <p:spPr>
              <a:xfrm>
                <a:off x="9263755" y="4357316"/>
                <a:ext cx="2023266"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وتتبنى التقنيات الناشئة والحلول الابتكارية</a:t>
                </a:r>
              </a:p>
            </p:txBody>
          </p:sp>
        </p:grpSp>
        <p:sp>
          <p:nvSpPr>
            <p:cNvPr id="91" name="Freeform 8">
              <a:extLst>
                <a:ext uri="{FF2B5EF4-FFF2-40B4-BE49-F238E27FC236}">
                  <a16:creationId xmlns:a16="http://schemas.microsoft.com/office/drawing/2014/main" id="{CD5A09F1-51F7-D6BD-CC08-0ED4245D78E2}"/>
                </a:ext>
              </a:extLst>
            </p:cNvPr>
            <p:cNvSpPr/>
            <p:nvPr/>
          </p:nvSpPr>
          <p:spPr>
            <a:xfrm>
              <a:off x="10258029" y="4934328"/>
              <a:ext cx="1737159"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أنشطة البحث والتطوير المنفذة في مجال التقنيات الناشئة والحلول الابتكارية</a:t>
              </a:r>
            </a:p>
          </p:txBody>
        </p:sp>
        <p:sp>
          <p:nvSpPr>
            <p:cNvPr id="92" name="Freeform 8">
              <a:extLst>
                <a:ext uri="{FF2B5EF4-FFF2-40B4-BE49-F238E27FC236}">
                  <a16:creationId xmlns:a16="http://schemas.microsoft.com/office/drawing/2014/main" id="{FAA99AE4-EB4F-8569-B97E-5FE2328A3619}"/>
                </a:ext>
              </a:extLst>
            </p:cNvPr>
            <p:cNvSpPr/>
            <p:nvPr/>
          </p:nvSpPr>
          <p:spPr>
            <a:xfrm>
              <a:off x="10262492" y="5480254"/>
              <a:ext cx="1720187" cy="68027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100" b="1" dirty="0">
                  <a:solidFill>
                    <a:schemeClr val="accent1"/>
                  </a:solidFill>
                  <a:latin typeface="Sakkal Majalla" panose="02000000000000000000" pitchFamily="2" charset="-78"/>
                  <a:cs typeface="Sakkal Majalla" panose="02000000000000000000" pitchFamily="2" charset="-78"/>
                </a:rPr>
                <a:t>النسبة المئوية لمساهمة البنية المؤسسية في مراجعة كراسات الشروط وتحديد نطاق عمل والمواصفات الخاصة بالمشاريع الرقمية</a:t>
              </a:r>
            </a:p>
          </p:txBody>
        </p:sp>
        <p:sp>
          <p:nvSpPr>
            <p:cNvPr id="65" name="Freeform 8">
              <a:extLst>
                <a:ext uri="{FF2B5EF4-FFF2-40B4-BE49-F238E27FC236}">
                  <a16:creationId xmlns:a16="http://schemas.microsoft.com/office/drawing/2014/main" id="{37388A60-1B89-428A-9B72-E56091EA0593}"/>
                </a:ext>
              </a:extLst>
            </p:cNvPr>
            <p:cNvSpPr/>
            <p:nvPr/>
          </p:nvSpPr>
          <p:spPr>
            <a:xfrm>
              <a:off x="10258030" y="6182890"/>
              <a:ext cx="1743700" cy="489853"/>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لدعم تطوير القدرات الرقمية</a:t>
              </a:r>
            </a:p>
          </p:txBody>
        </p:sp>
      </p:grpSp>
      <p:grpSp>
        <p:nvGrpSpPr>
          <p:cNvPr id="101" name="Group 100">
            <a:extLst>
              <a:ext uri="{FF2B5EF4-FFF2-40B4-BE49-F238E27FC236}">
                <a16:creationId xmlns:a16="http://schemas.microsoft.com/office/drawing/2014/main" id="{CBE6B514-9CAF-5072-9621-75EE4FFA732E}"/>
              </a:ext>
            </a:extLst>
          </p:cNvPr>
          <p:cNvGrpSpPr/>
          <p:nvPr/>
        </p:nvGrpSpPr>
        <p:grpSpPr>
          <a:xfrm>
            <a:off x="2952883" y="1211801"/>
            <a:ext cx="1830727" cy="4646681"/>
            <a:chOff x="10214517" y="2040806"/>
            <a:chExt cx="1830727" cy="4646681"/>
          </a:xfrm>
        </p:grpSpPr>
        <p:grpSp>
          <p:nvGrpSpPr>
            <p:cNvPr id="102" name="Group 101">
              <a:extLst>
                <a:ext uri="{FF2B5EF4-FFF2-40B4-BE49-F238E27FC236}">
                  <a16:creationId xmlns:a16="http://schemas.microsoft.com/office/drawing/2014/main" id="{DE707A7B-5796-5F88-F3ED-F552E83941E5}"/>
                </a:ext>
              </a:extLst>
            </p:cNvPr>
            <p:cNvGrpSpPr/>
            <p:nvPr/>
          </p:nvGrpSpPr>
          <p:grpSpPr>
            <a:xfrm>
              <a:off x="10214517" y="2040806"/>
              <a:ext cx="1830727" cy="4646681"/>
              <a:chOff x="9212196" y="2009720"/>
              <a:chExt cx="2134039" cy="4646681"/>
            </a:xfrm>
          </p:grpSpPr>
          <p:sp>
            <p:nvSpPr>
              <p:cNvPr id="104" name="Rounded Rectangle 51">
                <a:extLst>
                  <a:ext uri="{FF2B5EF4-FFF2-40B4-BE49-F238E27FC236}">
                    <a16:creationId xmlns:a16="http://schemas.microsoft.com/office/drawing/2014/main" id="{1C99BEC8-AC6D-6A8D-342B-58BB2298A950}"/>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05" name="Group 104">
                <a:extLst>
                  <a:ext uri="{FF2B5EF4-FFF2-40B4-BE49-F238E27FC236}">
                    <a16:creationId xmlns:a16="http://schemas.microsoft.com/office/drawing/2014/main" id="{19693FDE-320F-C9DD-7886-E2BD8B94EF83}"/>
                  </a:ext>
                </a:extLst>
              </p:cNvPr>
              <p:cNvGrpSpPr/>
              <p:nvPr/>
            </p:nvGrpSpPr>
            <p:grpSpPr>
              <a:xfrm>
                <a:off x="9283830" y="2009720"/>
                <a:ext cx="2011680" cy="752947"/>
                <a:chOff x="1320393" y="2025"/>
                <a:chExt cx="1485442" cy="885778"/>
              </a:xfrm>
              <a:solidFill>
                <a:schemeClr val="accent2">
                  <a:lumMod val="75000"/>
                </a:schemeClr>
              </a:solidFill>
            </p:grpSpPr>
            <p:sp>
              <p:nvSpPr>
                <p:cNvPr id="109" name="Rounded Rectangle 36">
                  <a:extLst>
                    <a:ext uri="{FF2B5EF4-FFF2-40B4-BE49-F238E27FC236}">
                      <a16:creationId xmlns:a16="http://schemas.microsoft.com/office/drawing/2014/main" id="{C46C247A-13D2-2AA3-172B-19B6FA7F9880}"/>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10" name="Rounded Rectangle 4">
                  <a:extLst>
                    <a:ext uri="{FF2B5EF4-FFF2-40B4-BE49-F238E27FC236}">
                      <a16:creationId xmlns:a16="http://schemas.microsoft.com/office/drawing/2014/main" id="{62169E97-802E-617A-C199-A9BD0252C3ED}"/>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EAG04</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تعزيز الحوكمة المؤسسية</a:t>
                  </a:r>
                </a:p>
              </p:txBody>
            </p:sp>
          </p:grpSp>
          <p:sp>
            <p:nvSpPr>
              <p:cNvPr id="106" name="Freeform 8">
                <a:extLst>
                  <a:ext uri="{FF2B5EF4-FFF2-40B4-BE49-F238E27FC236}">
                    <a16:creationId xmlns:a16="http://schemas.microsoft.com/office/drawing/2014/main" id="{67EE31E3-8CBD-44E1-D6F8-CE6FD310B586}"/>
                  </a:ext>
                </a:extLst>
              </p:cNvPr>
              <p:cNvSpPr/>
              <p:nvPr/>
            </p:nvSpPr>
            <p:spPr>
              <a:xfrm>
                <a:off x="9290326" y="3784721"/>
                <a:ext cx="1935453"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الإجراءات التي تم تعزيز حوكمتها في الوضع المستقبلي</a:t>
                </a:r>
              </a:p>
            </p:txBody>
          </p:sp>
          <p:sp>
            <p:nvSpPr>
              <p:cNvPr id="107" name="Freeform 8">
                <a:extLst>
                  <a:ext uri="{FF2B5EF4-FFF2-40B4-BE49-F238E27FC236}">
                    <a16:creationId xmlns:a16="http://schemas.microsoft.com/office/drawing/2014/main" id="{717263B6-2A88-8956-7FFE-8DFAFD09866C}"/>
                  </a:ext>
                </a:extLst>
              </p:cNvPr>
              <p:cNvSpPr/>
              <p:nvPr/>
            </p:nvSpPr>
            <p:spPr>
              <a:xfrm>
                <a:off x="9281492" y="3297215"/>
                <a:ext cx="195312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لتعزيز الحوكمة المؤسسية</a:t>
                </a:r>
              </a:p>
            </p:txBody>
          </p:sp>
          <p:sp>
            <p:nvSpPr>
              <p:cNvPr id="108" name="Freeform 8">
                <a:extLst>
                  <a:ext uri="{FF2B5EF4-FFF2-40B4-BE49-F238E27FC236}">
                    <a16:creationId xmlns:a16="http://schemas.microsoft.com/office/drawing/2014/main" id="{F6A9D3D0-9989-3DD7-79B8-524D706B97F0}"/>
                  </a:ext>
                </a:extLst>
              </p:cNvPr>
              <p:cNvSpPr/>
              <p:nvPr/>
            </p:nvSpPr>
            <p:spPr>
              <a:xfrm>
                <a:off x="9294172" y="4269687"/>
                <a:ext cx="192776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مراجعة امتثال مخرجات مشاريع التحول الرقمي</a:t>
                </a:r>
              </a:p>
            </p:txBody>
          </p:sp>
        </p:grpSp>
        <p:sp>
          <p:nvSpPr>
            <p:cNvPr id="103" name="Freeform 8">
              <a:extLst>
                <a:ext uri="{FF2B5EF4-FFF2-40B4-BE49-F238E27FC236}">
                  <a16:creationId xmlns:a16="http://schemas.microsoft.com/office/drawing/2014/main" id="{0E6C246C-D68D-9202-BD66-50A2ADDF4570}"/>
                </a:ext>
              </a:extLst>
            </p:cNvPr>
            <p:cNvSpPr/>
            <p:nvPr/>
          </p:nvSpPr>
          <p:spPr>
            <a:xfrm>
              <a:off x="10284146" y="4798439"/>
              <a:ext cx="1655159" cy="514936"/>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تغطية توثيق وتحليل إجراءات الأعمال</a:t>
              </a:r>
            </a:p>
          </p:txBody>
        </p:sp>
      </p:grpSp>
      <p:grpSp>
        <p:nvGrpSpPr>
          <p:cNvPr id="112" name="Group 111">
            <a:extLst>
              <a:ext uri="{FF2B5EF4-FFF2-40B4-BE49-F238E27FC236}">
                <a16:creationId xmlns:a16="http://schemas.microsoft.com/office/drawing/2014/main" id="{5BD4692F-F346-CA69-1F46-464D20A9D91C}"/>
              </a:ext>
            </a:extLst>
          </p:cNvPr>
          <p:cNvGrpSpPr/>
          <p:nvPr/>
        </p:nvGrpSpPr>
        <p:grpSpPr>
          <a:xfrm>
            <a:off x="743083" y="1245783"/>
            <a:ext cx="1830727" cy="4646681"/>
            <a:chOff x="9212196" y="2009720"/>
            <a:chExt cx="2134039" cy="4646681"/>
          </a:xfrm>
        </p:grpSpPr>
        <p:sp>
          <p:nvSpPr>
            <p:cNvPr id="115" name="Rounded Rectangle 51">
              <a:extLst>
                <a:ext uri="{FF2B5EF4-FFF2-40B4-BE49-F238E27FC236}">
                  <a16:creationId xmlns:a16="http://schemas.microsoft.com/office/drawing/2014/main" id="{CE674665-347B-9B6B-01A8-5018D55A1F0C}"/>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16" name="Group 115">
              <a:extLst>
                <a:ext uri="{FF2B5EF4-FFF2-40B4-BE49-F238E27FC236}">
                  <a16:creationId xmlns:a16="http://schemas.microsoft.com/office/drawing/2014/main" id="{2D98F9E8-DB68-03D7-4ACD-E84015EBC248}"/>
                </a:ext>
              </a:extLst>
            </p:cNvPr>
            <p:cNvGrpSpPr/>
            <p:nvPr/>
          </p:nvGrpSpPr>
          <p:grpSpPr>
            <a:xfrm>
              <a:off x="9283830" y="2009720"/>
              <a:ext cx="2011680" cy="752947"/>
              <a:chOff x="1320393" y="2025"/>
              <a:chExt cx="1485442" cy="885778"/>
            </a:xfrm>
            <a:solidFill>
              <a:schemeClr val="accent2">
                <a:lumMod val="75000"/>
              </a:schemeClr>
            </a:solidFill>
          </p:grpSpPr>
          <p:sp>
            <p:nvSpPr>
              <p:cNvPr id="121" name="Rounded Rectangle 36">
                <a:extLst>
                  <a:ext uri="{FF2B5EF4-FFF2-40B4-BE49-F238E27FC236}">
                    <a16:creationId xmlns:a16="http://schemas.microsoft.com/office/drawing/2014/main" id="{C4343F17-EDB7-BF47-DA19-7EA3F39337C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22" name="Rounded Rectangle 4">
                <a:extLst>
                  <a:ext uri="{FF2B5EF4-FFF2-40B4-BE49-F238E27FC236}">
                    <a16:creationId xmlns:a16="http://schemas.microsoft.com/office/drawing/2014/main" id="{20E83104-ADA7-992B-3E87-B54658AAEFB5}"/>
                  </a:ext>
                </a:extLst>
              </p:cNvPr>
              <p:cNvSpPr txBox="1"/>
              <p:nvPr/>
            </p:nvSpPr>
            <p:spPr>
              <a:xfrm>
                <a:off x="1344605" y="45265"/>
                <a:ext cx="1445777"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EAG05</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تحسين تجربة المستفيد</a:t>
                </a:r>
              </a:p>
            </p:txBody>
          </p:sp>
        </p:grpSp>
        <p:sp>
          <p:nvSpPr>
            <p:cNvPr id="117" name="Freeform 8">
              <a:extLst>
                <a:ext uri="{FF2B5EF4-FFF2-40B4-BE49-F238E27FC236}">
                  <a16:creationId xmlns:a16="http://schemas.microsoft.com/office/drawing/2014/main" id="{9AAA591B-FA8B-6CCB-BA20-1662F4CAD237}"/>
                </a:ext>
              </a:extLst>
            </p:cNvPr>
            <p:cNvSpPr/>
            <p:nvPr/>
          </p:nvSpPr>
          <p:spPr>
            <a:xfrm>
              <a:off x="9290326" y="3258947"/>
              <a:ext cx="1935453" cy="681631"/>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المنصات والخدمات الرقمية التي تم إضافة تحسينات لتجربة المستخدم بها في الوضع المستقبلي</a:t>
              </a:r>
            </a:p>
          </p:txBody>
        </p:sp>
        <p:sp>
          <p:nvSpPr>
            <p:cNvPr id="52" name="Freeform 8">
              <a:extLst>
                <a:ext uri="{FF2B5EF4-FFF2-40B4-BE49-F238E27FC236}">
                  <a16:creationId xmlns:a16="http://schemas.microsoft.com/office/drawing/2014/main" id="{245B3F44-7EF7-40E2-9AD0-B179A01751E4}"/>
                </a:ext>
              </a:extLst>
            </p:cNvPr>
            <p:cNvSpPr/>
            <p:nvPr/>
          </p:nvSpPr>
          <p:spPr>
            <a:xfrm>
              <a:off x="9299160" y="3977154"/>
              <a:ext cx="1935453" cy="54047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لتحسين تجربة المستفيد</a:t>
              </a:r>
            </a:p>
          </p:txBody>
        </p:sp>
      </p:grpSp>
      <p:grpSp>
        <p:nvGrpSpPr>
          <p:cNvPr id="123" name="Group 122">
            <a:extLst>
              <a:ext uri="{FF2B5EF4-FFF2-40B4-BE49-F238E27FC236}">
                <a16:creationId xmlns:a16="http://schemas.microsoft.com/office/drawing/2014/main" id="{9F390067-B7E4-F6A1-18E6-0CEA76F72490}"/>
              </a:ext>
            </a:extLst>
          </p:cNvPr>
          <p:cNvGrpSpPr/>
          <p:nvPr/>
        </p:nvGrpSpPr>
        <p:grpSpPr>
          <a:xfrm>
            <a:off x="5180636" y="1211801"/>
            <a:ext cx="1830727" cy="4646681"/>
            <a:chOff x="10214517" y="2040806"/>
            <a:chExt cx="1830727" cy="4646681"/>
          </a:xfrm>
        </p:grpSpPr>
        <p:grpSp>
          <p:nvGrpSpPr>
            <p:cNvPr id="124" name="Group 123">
              <a:extLst>
                <a:ext uri="{FF2B5EF4-FFF2-40B4-BE49-F238E27FC236}">
                  <a16:creationId xmlns:a16="http://schemas.microsoft.com/office/drawing/2014/main" id="{BA75BB93-899F-35FD-3CFA-CF9EC12BD38C}"/>
                </a:ext>
              </a:extLst>
            </p:cNvPr>
            <p:cNvGrpSpPr/>
            <p:nvPr/>
          </p:nvGrpSpPr>
          <p:grpSpPr>
            <a:xfrm>
              <a:off x="10214517" y="2040806"/>
              <a:ext cx="1830727" cy="4646681"/>
              <a:chOff x="9212196" y="2009720"/>
              <a:chExt cx="2134039" cy="4646681"/>
            </a:xfrm>
          </p:grpSpPr>
          <p:sp>
            <p:nvSpPr>
              <p:cNvPr id="127" name="Rounded Rectangle 51">
                <a:extLst>
                  <a:ext uri="{FF2B5EF4-FFF2-40B4-BE49-F238E27FC236}">
                    <a16:creationId xmlns:a16="http://schemas.microsoft.com/office/drawing/2014/main" id="{5ED6A9B2-B0C8-B2B0-4E91-58B01BAAADCF}"/>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28" name="Group 127">
                <a:extLst>
                  <a:ext uri="{FF2B5EF4-FFF2-40B4-BE49-F238E27FC236}">
                    <a16:creationId xmlns:a16="http://schemas.microsoft.com/office/drawing/2014/main" id="{AA097AB7-F13A-DC57-921B-10D894E04F89}"/>
                  </a:ext>
                </a:extLst>
              </p:cNvPr>
              <p:cNvGrpSpPr/>
              <p:nvPr/>
            </p:nvGrpSpPr>
            <p:grpSpPr>
              <a:xfrm>
                <a:off x="9283830" y="2009720"/>
                <a:ext cx="2011680" cy="752947"/>
                <a:chOff x="1320393" y="2025"/>
                <a:chExt cx="1485442" cy="885778"/>
              </a:xfrm>
              <a:solidFill>
                <a:schemeClr val="accent2">
                  <a:lumMod val="75000"/>
                </a:schemeClr>
              </a:solidFill>
            </p:grpSpPr>
            <p:sp>
              <p:nvSpPr>
                <p:cNvPr id="133" name="Rounded Rectangle 36">
                  <a:extLst>
                    <a:ext uri="{FF2B5EF4-FFF2-40B4-BE49-F238E27FC236}">
                      <a16:creationId xmlns:a16="http://schemas.microsoft.com/office/drawing/2014/main" id="{CB7A839F-916A-906E-3A0E-1A5EA141C4E1}"/>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34" name="Rounded Rectangle 4">
                  <a:extLst>
                    <a:ext uri="{FF2B5EF4-FFF2-40B4-BE49-F238E27FC236}">
                      <a16:creationId xmlns:a16="http://schemas.microsoft.com/office/drawing/2014/main" id="{494B0449-6636-8753-91A4-E2AB3C2B3423}"/>
                    </a:ext>
                  </a:extLst>
                </p:cNvPr>
                <p:cNvSpPr txBox="1"/>
                <p:nvPr/>
              </p:nvSpPr>
              <p:spPr>
                <a:xfrm>
                  <a:off x="1325189" y="45265"/>
                  <a:ext cx="1480646"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EAG03</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تحقيق الكفاءة التشغيلية وتقليل التكاليف</a:t>
                  </a:r>
                </a:p>
              </p:txBody>
            </p:sp>
          </p:grpSp>
          <p:sp>
            <p:nvSpPr>
              <p:cNvPr id="129" name="Freeform 8">
                <a:extLst>
                  <a:ext uri="{FF2B5EF4-FFF2-40B4-BE49-F238E27FC236}">
                    <a16:creationId xmlns:a16="http://schemas.microsoft.com/office/drawing/2014/main" id="{51FF1B52-B76A-F4C1-C8EE-F8AAFE9A4BF4}"/>
                  </a:ext>
                </a:extLst>
              </p:cNvPr>
              <p:cNvSpPr/>
              <p:nvPr/>
            </p:nvSpPr>
            <p:spPr>
              <a:xfrm>
                <a:off x="9290326" y="3774561"/>
                <a:ext cx="1935453"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العمليات التي تم تحسينها في الوضع المستقبلي</a:t>
                </a:r>
              </a:p>
            </p:txBody>
          </p:sp>
          <p:sp>
            <p:nvSpPr>
              <p:cNvPr id="130" name="Freeform 8">
                <a:extLst>
                  <a:ext uri="{FF2B5EF4-FFF2-40B4-BE49-F238E27FC236}">
                    <a16:creationId xmlns:a16="http://schemas.microsoft.com/office/drawing/2014/main" id="{27B7D4D2-61EE-6A85-6900-D9E6140F4C0C}"/>
                  </a:ext>
                </a:extLst>
              </p:cNvPr>
              <p:cNvSpPr/>
              <p:nvPr/>
            </p:nvSpPr>
            <p:spPr>
              <a:xfrm>
                <a:off x="9281492" y="3287055"/>
                <a:ext cx="195312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التكاملات الجديدة المضافة في الوضع المستقبلي</a:t>
                </a:r>
              </a:p>
            </p:txBody>
          </p:sp>
          <p:sp>
            <p:nvSpPr>
              <p:cNvPr id="132" name="Freeform 8">
                <a:extLst>
                  <a:ext uri="{FF2B5EF4-FFF2-40B4-BE49-F238E27FC236}">
                    <a16:creationId xmlns:a16="http://schemas.microsoft.com/office/drawing/2014/main" id="{DE7C6BEB-B42F-990D-B117-00D410965EDF}"/>
                  </a:ext>
                </a:extLst>
              </p:cNvPr>
              <p:cNvSpPr/>
              <p:nvPr/>
            </p:nvSpPr>
            <p:spPr>
              <a:xfrm>
                <a:off x="9294172" y="4262067"/>
                <a:ext cx="1927761" cy="505286"/>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المتطلبات التي تم تلبيتها في الوضع المستقبلي من خلال مبدأ إعادة الاستخدام</a:t>
                </a:r>
              </a:p>
            </p:txBody>
          </p:sp>
        </p:grpSp>
        <p:sp>
          <p:nvSpPr>
            <p:cNvPr id="125" name="Freeform 8">
              <a:extLst>
                <a:ext uri="{FF2B5EF4-FFF2-40B4-BE49-F238E27FC236}">
                  <a16:creationId xmlns:a16="http://schemas.microsoft.com/office/drawing/2014/main" id="{DCCEB5C2-A07D-9176-66F8-ECA1F75476F3}"/>
                </a:ext>
              </a:extLst>
            </p:cNvPr>
            <p:cNvSpPr/>
            <p:nvPr/>
          </p:nvSpPr>
          <p:spPr>
            <a:xfrm>
              <a:off x="10284146" y="4823839"/>
              <a:ext cx="1655159"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الوفر الحاصل نتيجة لممارسات البنية المؤسسية</a:t>
              </a:r>
            </a:p>
          </p:txBody>
        </p:sp>
      </p:grpSp>
      <p:sp>
        <p:nvSpPr>
          <p:cNvPr id="4" name="Freeform 8">
            <a:extLst>
              <a:ext uri="{FF2B5EF4-FFF2-40B4-BE49-F238E27FC236}">
                <a16:creationId xmlns:a16="http://schemas.microsoft.com/office/drawing/2014/main" id="{AC14A288-7A20-FA6A-24EB-78BD19D5073F}"/>
              </a:ext>
            </a:extLst>
          </p:cNvPr>
          <p:cNvSpPr/>
          <p:nvPr/>
        </p:nvSpPr>
        <p:spPr>
          <a:xfrm>
            <a:off x="9660602" y="4307012"/>
            <a:ext cx="1653767"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الالتزام بمعايير البيانات بعد تنفيذ توصيات البنية المؤسسية</a:t>
            </a:r>
          </a:p>
        </p:txBody>
      </p:sp>
      <p:sp>
        <p:nvSpPr>
          <p:cNvPr id="5" name="Freeform 8">
            <a:extLst>
              <a:ext uri="{FF2B5EF4-FFF2-40B4-BE49-F238E27FC236}">
                <a16:creationId xmlns:a16="http://schemas.microsoft.com/office/drawing/2014/main" id="{0A739A04-5CB9-D8D7-382A-C90AD6E5EE86}"/>
              </a:ext>
            </a:extLst>
          </p:cNvPr>
          <p:cNvSpPr/>
          <p:nvPr/>
        </p:nvSpPr>
        <p:spPr>
          <a:xfrm>
            <a:off x="5240083" y="4485496"/>
            <a:ext cx="1655159"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تنفيذ الفجوات المحددة في تحليل البنية المؤسسية</a:t>
            </a:r>
          </a:p>
        </p:txBody>
      </p:sp>
      <p:sp>
        <p:nvSpPr>
          <p:cNvPr id="6" name="Freeform 8">
            <a:extLst>
              <a:ext uri="{FF2B5EF4-FFF2-40B4-BE49-F238E27FC236}">
                <a16:creationId xmlns:a16="http://schemas.microsoft.com/office/drawing/2014/main" id="{D3491CFE-AE55-EFFF-FBD4-551D1377EDB9}"/>
              </a:ext>
            </a:extLst>
          </p:cNvPr>
          <p:cNvSpPr/>
          <p:nvPr/>
        </p:nvSpPr>
        <p:spPr>
          <a:xfrm>
            <a:off x="809374" y="3791166"/>
            <a:ext cx="1660366" cy="60474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استخدام الخدمات الرقمية الجديدة والمحسنة في الوضع المستقبلي</a:t>
            </a:r>
          </a:p>
        </p:txBody>
      </p:sp>
    </p:spTree>
    <p:extLst>
      <p:ext uri="{BB962C8B-B14F-4D97-AF65-F5344CB8AC3E}">
        <p14:creationId xmlns:p14="http://schemas.microsoft.com/office/powerpoint/2010/main" val="89814299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460B-5B25-F7FC-7A84-CC80D5D5754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F9223FD-CBD7-8EFC-8822-ED2277CEB5A1}"/>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28</a:t>
            </a:fld>
            <a:endParaRPr lang="en-US" sz="1400" b="1" dirty="0">
              <a:solidFill>
                <a:schemeClr val="accent1"/>
              </a:solidFill>
            </a:endParaRPr>
          </a:p>
        </p:txBody>
      </p:sp>
      <p:sp>
        <p:nvSpPr>
          <p:cNvPr id="2" name="Title 1">
            <a:extLst>
              <a:ext uri="{FF2B5EF4-FFF2-40B4-BE49-F238E27FC236}">
                <a16:creationId xmlns:a16="http://schemas.microsoft.com/office/drawing/2014/main" id="{30576404-FE70-E002-7445-DA30063548F4}"/>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التشغيلية للبنية المؤسسية (</a:t>
            </a:r>
            <a:r>
              <a:rPr lang="en-US" dirty="0"/>
              <a:t>1/2</a:t>
            </a:r>
            <a:r>
              <a:rPr lang="ar-EG" dirty="0"/>
              <a:t>)</a:t>
            </a:r>
          </a:p>
        </p:txBody>
      </p:sp>
      <p:graphicFrame>
        <p:nvGraphicFramePr>
          <p:cNvPr id="3" name="Table 8">
            <a:extLst>
              <a:ext uri="{FF2B5EF4-FFF2-40B4-BE49-F238E27FC236}">
                <a16:creationId xmlns:a16="http://schemas.microsoft.com/office/drawing/2014/main" id="{B89759D6-A94B-A45A-69BE-FE6F7477A0DE}"/>
              </a:ext>
            </a:extLst>
          </p:cNvPr>
          <p:cNvGraphicFramePr>
            <a:graphicFrameLocks noGrp="1"/>
          </p:cNvGraphicFramePr>
          <p:nvPr>
            <p:extLst>
              <p:ext uri="{D42A27DB-BD31-4B8C-83A1-F6EECF244321}">
                <p14:modId xmlns:p14="http://schemas.microsoft.com/office/powerpoint/2010/main" val="1128832365"/>
              </p:ext>
            </p:extLst>
          </p:nvPr>
        </p:nvGraphicFramePr>
        <p:xfrm>
          <a:off x="1095360" y="911073"/>
          <a:ext cx="10001279" cy="5035853"/>
        </p:xfrm>
        <a:graphic>
          <a:graphicData uri="http://schemas.openxmlformats.org/drawingml/2006/table">
            <a:tbl>
              <a:tblPr firstRow="1" bandRow="1">
                <a:tableStyleId>{5C22544A-7EE6-4342-B048-85BDC9FD1C3A}</a:tableStyleId>
              </a:tblPr>
              <a:tblGrid>
                <a:gridCol w="4038104">
                  <a:extLst>
                    <a:ext uri="{9D8B030D-6E8A-4147-A177-3AD203B41FA5}">
                      <a16:colId xmlns:a16="http://schemas.microsoft.com/office/drawing/2014/main" val="2255905474"/>
                    </a:ext>
                  </a:extLst>
                </a:gridCol>
                <a:gridCol w="3839765">
                  <a:extLst>
                    <a:ext uri="{9D8B030D-6E8A-4147-A177-3AD203B41FA5}">
                      <a16:colId xmlns:a16="http://schemas.microsoft.com/office/drawing/2014/main" val="1134635509"/>
                    </a:ext>
                  </a:extLst>
                </a:gridCol>
                <a:gridCol w="2123410">
                  <a:extLst>
                    <a:ext uri="{9D8B030D-6E8A-4147-A177-3AD203B41FA5}">
                      <a16:colId xmlns:a16="http://schemas.microsoft.com/office/drawing/2014/main" val="543068415"/>
                    </a:ext>
                  </a:extLst>
                </a:gridCol>
              </a:tblGrid>
              <a:tr h="432523">
                <a:tc gridSpan="2">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مؤشرات الأداء التشغيلية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hMerge="1">
                  <a:txBody>
                    <a:bodyPr/>
                    <a:lstStyle/>
                    <a:p>
                      <a:pPr algn="ctr" rtl="1"/>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الخدمة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460333">
                <a:tc>
                  <a:txBody>
                    <a:bodyPr/>
                    <a:lstStyle/>
                    <a:p>
                      <a:pPr algn="r" rtl="1" fontAlgn="b">
                        <a:buFontTx/>
                        <a:buNone/>
                      </a:pPr>
                      <a:r>
                        <a:rPr lang="ar-EG" b="0" dirty="0"/>
                        <a:t>عدد ورش العمل وجلسات التدريب المنعقدة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EG" b="0" dirty="0"/>
                        <a:t>عدد المواد والنشرات التوعوية التي تم نشرها</a:t>
                      </a:r>
                    </a:p>
                  </a:txBody>
                  <a:tcPr anchor="ctr"/>
                </a:tc>
                <a:tc rowSpan="2">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 التوعية ونشر ثقافة البنية المؤسسية</a:t>
                      </a:r>
                    </a:p>
                  </a:txBody>
                  <a:tcPr anchor="ctr"/>
                </a:tc>
                <a:extLst>
                  <a:ext uri="{0D108BD9-81ED-4DB2-BD59-A6C34878D82A}">
                    <a16:rowId xmlns:a16="http://schemas.microsoft.com/office/drawing/2014/main" val="2131760792"/>
                  </a:ext>
                </a:extLst>
              </a:tr>
              <a:tr h="460333">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b="0" dirty="0"/>
                        <a:t>معدل رضا المشاركين عن ورش العمل وجلسات التوعية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نسبة الموظفين المشاركين في ورش العمل من إجمالي الموظفين</a:t>
                      </a:r>
                    </a:p>
                  </a:txBody>
                  <a:tcPr anchor="ctr"/>
                </a:tc>
                <a:tc vMerge="1">
                  <a:txBody>
                    <a:bodyPr/>
                    <a:lstStyle/>
                    <a:p>
                      <a:endParaRPr lang="en-US"/>
                    </a:p>
                  </a:txBody>
                  <a:tcPr/>
                </a:tc>
                <a:extLst>
                  <a:ext uri="{0D108BD9-81ED-4DB2-BD59-A6C34878D82A}">
                    <a16:rowId xmlns:a16="http://schemas.microsoft.com/office/drawing/2014/main" val="210668304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التوصيات المعتمدة من قبل الإدارة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عدد التقارير والتوصيات الاستراتيجية المقدمة للإدارة</a:t>
                      </a:r>
                      <a:r>
                        <a:rPr lang="ar-EG" sz="17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endParaRPr lang="ar-SA" sz="17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المواءمة الاستراتيجية ودعم اتخاذ القرار</a:t>
                      </a:r>
                    </a:p>
                  </a:txBody>
                  <a:tcPr anchor="ctr"/>
                </a:tc>
                <a:extLst>
                  <a:ext uri="{0D108BD9-81ED-4DB2-BD59-A6C34878D82A}">
                    <a16:rowId xmlns:a16="http://schemas.microsoft.com/office/drawing/2014/main" val="2306921876"/>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الإدارة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عن الدعم المقدم</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زمن الاستجابة لطلبات الاستشارات الاستراتيجية</a:t>
                      </a:r>
                    </a:p>
                  </a:txBody>
                  <a:tcPr anchor="ctr"/>
                </a:tc>
                <a:tc vMerge="1">
                  <a:txBody>
                    <a:bodyPr/>
                    <a:lstStyle/>
                    <a:p>
                      <a:endParaRPr lang="en-US"/>
                    </a:p>
                  </a:txBody>
                  <a:tcPr/>
                </a:tc>
                <a:extLst>
                  <a:ext uri="{0D108BD9-81ED-4DB2-BD59-A6C34878D82A}">
                    <a16:rowId xmlns:a16="http://schemas.microsoft.com/office/drawing/2014/main" val="1928511809"/>
                  </a:ext>
                </a:extLst>
              </a:tr>
              <a:tr h="460333">
                <a:tc>
                  <a:txBody>
                    <a:bodyPr/>
                    <a:lstStyle/>
                    <a:p>
                      <a:pPr marL="0" indent="0" algn="r" rtl="1" fontAlgn="b">
                        <a:buFontTx/>
                        <a:buNone/>
                      </a:pPr>
                      <a:r>
                        <a:rPr lang="ar-EG" b="0" dirty="0"/>
                        <a:t>عدد طلبات التقنية المستلمة والمعالجة</a:t>
                      </a:r>
                    </a:p>
                  </a:txBody>
                  <a:tcPr anchor="ctr"/>
                </a:tc>
                <a:tc>
                  <a:txBody>
                    <a:bodyPr/>
                    <a:lstStyle/>
                    <a:p>
                      <a:pPr marL="0" indent="0" algn="r" rtl="1" fontAlgn="b">
                        <a:buFontTx/>
                        <a:buNone/>
                      </a:pPr>
                      <a:r>
                        <a:rPr lang="ar-EG" b="0" dirty="0"/>
                        <a:t>عدد طلبات الأعمال المستلمة والمعالجة</a:t>
                      </a: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إدارة طلبات الأعمال والطلبات التقنية</a:t>
                      </a:r>
                    </a:p>
                  </a:txBody>
                  <a:tcPr anchor="ctr"/>
                </a:tc>
                <a:extLst>
                  <a:ext uri="{0D108BD9-81ED-4DB2-BD59-A6C34878D82A}">
                    <a16:rowId xmlns:a16="http://schemas.microsoft.com/office/drawing/2014/main" val="337281627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عملية إدارة الطلبات</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معالجة </a:t>
                      </a:r>
                      <a:r>
                        <a:rPr lang="ar-EG" sz="1800" b="0" dirty="0"/>
                        <a:t>طلبات الأعمال والتقنية</a:t>
                      </a:r>
                    </a:p>
                  </a:txBody>
                  <a:tcPr anchor="ctr"/>
                </a:tc>
                <a:tc vMerge="1">
                  <a:txBody>
                    <a:bodyPr/>
                    <a:lstStyle/>
                    <a:p>
                      <a:endParaRPr lang="en-US"/>
                    </a:p>
                  </a:txBody>
                  <a:tcPr/>
                </a:tc>
                <a:extLst>
                  <a:ext uri="{0D108BD9-81ED-4DB2-BD59-A6C34878D82A}">
                    <a16:rowId xmlns:a16="http://schemas.microsoft.com/office/drawing/2014/main" val="4189770315"/>
                  </a:ext>
                </a:extLst>
              </a:tr>
              <a:tr h="920666">
                <a:tc>
                  <a:txBody>
                    <a:bodyPr/>
                    <a:lstStyle/>
                    <a:p>
                      <a:pPr algn="r" rtl="1" fontAlgn="b">
                        <a:buFontTx/>
                        <a:buNone/>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المستخدمين عن سهولة الوصول إلى المعلومات الموثقة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مكونات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البنية المؤسسية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التي تم تحديثها خلال فترة</a:t>
                      </a:r>
                    </a:p>
                  </a:txBody>
                  <a:tcPr anchor="ctr"/>
                </a:tc>
                <a:tc>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توثيق وتحديث مكونات البنية المؤسسية</a:t>
                      </a:r>
                      <a:endParaRPr lang="ar-SA" sz="20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الاستجابة لطلبات الاستشارة</a:t>
                      </a:r>
                    </a:p>
                  </a:txBody>
                  <a:tcPr anchor="ctr"/>
                </a:tc>
                <a:tc>
                  <a:txBody>
                    <a:bodyPr/>
                    <a:lstStyle/>
                    <a:p>
                      <a:pPr marL="0" indent="0" algn="r" rtl="1" fontAlgn="b">
                        <a:buFontTx/>
                        <a:buNone/>
                      </a:pPr>
                      <a:r>
                        <a:rPr lang="ar-EG" b="0" dirty="0"/>
                        <a:t>عدد الاستشارات والتوصيات الفنية المقدمة</a:t>
                      </a: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5</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تقديم التوصيات والمشورة الفنية</a:t>
                      </a:r>
                      <a:endParaRPr lang="ar-SA" sz="20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المستفيدين عن جودة الاستشارات المقدمة</a:t>
                      </a:r>
                    </a:p>
                  </a:txBody>
                  <a:tcPr anchor="ctr"/>
                </a:tc>
                <a:tc>
                  <a:txBody>
                    <a:bodyPr/>
                    <a:lstStyle/>
                    <a:p>
                      <a:pPr marL="0" indent="0" algn="r" rtl="1" fontAlgn="b">
                        <a:buFontTx/>
                        <a:buNone/>
                      </a:pPr>
                      <a:r>
                        <a:rPr lang="ar-EG" sz="1600" b="0" dirty="0"/>
                        <a:t>نسبة التوصيات التي تم تنفيذها من قبل الوحدات</a:t>
                      </a:r>
                      <a:r>
                        <a:rPr lang="ar-SA" sz="1600" b="0" dirty="0"/>
                        <a:t> التنظيمية</a:t>
                      </a:r>
                      <a:endParaRPr lang="ar-EG" sz="1600" b="0" dirty="0"/>
                    </a:p>
                  </a:txBody>
                  <a:tcPr anchor="ctr"/>
                </a:tc>
                <a:tc vMerge="1">
                  <a:txBody>
                    <a:bodyPr/>
                    <a:lstStyle/>
                    <a:p>
                      <a:endParaRPr lang="en-US"/>
                    </a:p>
                  </a:txBody>
                  <a:tcPr/>
                </a:tc>
                <a:extLst>
                  <a:ext uri="{0D108BD9-81ED-4DB2-BD59-A6C34878D82A}">
                    <a16:rowId xmlns:a16="http://schemas.microsoft.com/office/drawing/2014/main" val="2995949507"/>
                  </a:ext>
                </a:extLst>
              </a:tr>
            </a:tbl>
          </a:graphicData>
        </a:graphic>
      </p:graphicFrame>
    </p:spTree>
    <p:extLst>
      <p:ext uri="{BB962C8B-B14F-4D97-AF65-F5344CB8AC3E}">
        <p14:creationId xmlns:p14="http://schemas.microsoft.com/office/powerpoint/2010/main" val="2944575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7C5D-31A7-BB05-90FE-9EB11480203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92EEA63-058A-15FB-6FE9-7A39DD13F5C5}"/>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29</a:t>
            </a:fld>
            <a:endParaRPr lang="en-US" sz="1400" b="1" dirty="0">
              <a:solidFill>
                <a:schemeClr val="accent1"/>
              </a:solidFill>
            </a:endParaRPr>
          </a:p>
        </p:txBody>
      </p:sp>
      <p:sp>
        <p:nvSpPr>
          <p:cNvPr id="2" name="Title 1">
            <a:extLst>
              <a:ext uri="{FF2B5EF4-FFF2-40B4-BE49-F238E27FC236}">
                <a16:creationId xmlns:a16="http://schemas.microsoft.com/office/drawing/2014/main" id="{0F6761E1-46AA-EDF7-6D2C-88050644D4D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التشغيلية للبنية المؤسسية (</a:t>
            </a:r>
            <a:r>
              <a:rPr lang="en-US" dirty="0"/>
              <a:t>2/2</a:t>
            </a:r>
            <a:r>
              <a:rPr lang="ar-EG" dirty="0"/>
              <a:t>)</a:t>
            </a:r>
          </a:p>
        </p:txBody>
      </p:sp>
      <p:graphicFrame>
        <p:nvGraphicFramePr>
          <p:cNvPr id="3" name="Table 8">
            <a:extLst>
              <a:ext uri="{FF2B5EF4-FFF2-40B4-BE49-F238E27FC236}">
                <a16:creationId xmlns:a16="http://schemas.microsoft.com/office/drawing/2014/main" id="{6D8574FD-FADD-54A6-9060-6D2840A9257A}"/>
              </a:ext>
            </a:extLst>
          </p:cNvPr>
          <p:cNvGraphicFramePr>
            <a:graphicFrameLocks noGrp="1"/>
          </p:cNvGraphicFramePr>
          <p:nvPr>
            <p:extLst>
              <p:ext uri="{D42A27DB-BD31-4B8C-83A1-F6EECF244321}">
                <p14:modId xmlns:p14="http://schemas.microsoft.com/office/powerpoint/2010/main" val="1987928944"/>
              </p:ext>
            </p:extLst>
          </p:nvPr>
        </p:nvGraphicFramePr>
        <p:xfrm>
          <a:off x="833442" y="911073"/>
          <a:ext cx="10485500" cy="5035853"/>
        </p:xfrm>
        <a:graphic>
          <a:graphicData uri="http://schemas.openxmlformats.org/drawingml/2006/table">
            <a:tbl>
              <a:tblPr firstRow="1" bandRow="1">
                <a:tableStyleId>{5C22544A-7EE6-4342-B048-85BDC9FD1C3A}</a:tableStyleId>
              </a:tblPr>
              <a:tblGrid>
                <a:gridCol w="4028009">
                  <a:extLst>
                    <a:ext uri="{9D8B030D-6E8A-4147-A177-3AD203B41FA5}">
                      <a16:colId xmlns:a16="http://schemas.microsoft.com/office/drawing/2014/main" val="2255905474"/>
                    </a:ext>
                  </a:extLst>
                </a:gridCol>
                <a:gridCol w="4339389">
                  <a:extLst>
                    <a:ext uri="{9D8B030D-6E8A-4147-A177-3AD203B41FA5}">
                      <a16:colId xmlns:a16="http://schemas.microsoft.com/office/drawing/2014/main" val="1134635509"/>
                    </a:ext>
                  </a:extLst>
                </a:gridCol>
                <a:gridCol w="2118102">
                  <a:extLst>
                    <a:ext uri="{9D8B030D-6E8A-4147-A177-3AD203B41FA5}">
                      <a16:colId xmlns:a16="http://schemas.microsoft.com/office/drawing/2014/main" val="543068415"/>
                    </a:ext>
                  </a:extLst>
                </a:gridCol>
              </a:tblGrid>
              <a:tr h="432523">
                <a:tc gridSpan="2">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مؤشرات الأداء التشغيلية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hMerge="1">
                  <a:txBody>
                    <a:bodyPr/>
                    <a:lstStyle/>
                    <a:p>
                      <a:pPr algn="ctr" rtl="1"/>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الخدمة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المبادرات والمشاريع الرقمية المحددة في خارطة الطريق</a:t>
                      </a:r>
                    </a:p>
                  </a:txBody>
                  <a:tcPr anchor="ctr"/>
                </a:tc>
                <a:tc>
                  <a:txBody>
                    <a:bodyPr/>
                    <a:lstStyle/>
                    <a:p>
                      <a:pPr marL="0" indent="0" algn="r" rtl="1" fontAlgn="b">
                        <a:buFontTx/>
                        <a:buNone/>
                      </a:pPr>
                      <a:r>
                        <a:rPr lang="ar-EG" b="0" dirty="0"/>
                        <a:t>نسبة اكتمال إعداد خارطة الطريق للتحول الرقمي</a:t>
                      </a:r>
                      <a:endParaRPr lang="ar-EG" b="0" dirty="0">
                        <a:highlight>
                          <a:srgbClr val="FFFF00"/>
                        </a:highlight>
                      </a:endParaRP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6. إعداد ومتابعة تنفيذ خارطة الطريق للتحول</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131760792"/>
                  </a:ext>
                </a:extLst>
              </a:tr>
              <a:tr h="460333">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b="0" dirty="0"/>
                        <a:t>معدل رضا أصحاب المصلحة عن متابعة تنفيذ خارطة الطريق</a:t>
                      </a:r>
                      <a:endParaRPr lang="ar-EG" b="0" dirty="0">
                        <a:highlight>
                          <a:srgbClr val="FFFF00"/>
                        </a:highlight>
                      </a:endParaRP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المبادرات والمشاريع المنفذة من خارطة الطريق للتحول الرقمي</a:t>
                      </a:r>
                      <a:endParaRPr lang="ar-SA" sz="1800" b="0" i="0" u="none" strike="noStrike" baseline="0" dirty="0">
                        <a:solidFill>
                          <a:srgbClr val="000000"/>
                        </a:solidFill>
                        <a:effectLst/>
                        <a:highlight>
                          <a:srgbClr val="FFFF00"/>
                        </a:highligh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210668304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المشاريع التي تم الموافقة عليها بعد المراجعة</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المشاريع الرقمية التي تم مراجعتها وتقييمها</a:t>
                      </a: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7</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دعم حوكمة الاستثمارات الرقمية ومراجعة المشاريع</a:t>
                      </a:r>
                    </a:p>
                  </a:txBody>
                  <a:tcPr anchor="ctr"/>
                </a:tc>
                <a:extLst>
                  <a:ext uri="{0D108BD9-81ED-4DB2-BD59-A6C34878D82A}">
                    <a16:rowId xmlns:a16="http://schemas.microsoft.com/office/drawing/2014/main" val="2306921876"/>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عملية مراجعة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المشاريع</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مراجعة وتقييم المشاريع</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الرقمية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192851180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عمليات تدقيق ومراجعة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الامتثال</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المنفذة</a:t>
                      </a:r>
                    </a:p>
                  </a:txBody>
                  <a:tcPr anchor="ctr"/>
                </a:tc>
                <a:tc>
                  <a:txBody>
                    <a:bodyPr/>
                    <a:lstStyle/>
                    <a:p>
                      <a:pPr marL="0" indent="0" algn="r" rtl="1" fontAlgn="b">
                        <a:buFontTx/>
                        <a:buNone/>
                      </a:pPr>
                      <a:r>
                        <a:rPr lang="ar-EG" b="0" dirty="0"/>
                        <a:t>نسبة الامتثال للمبادئ والمعايير في المشاريع الرقمية</a:t>
                      </a: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8</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ضمان الامتثال </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لمبادئ ومعايير</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البنية المؤسسية</a:t>
                      </a:r>
                      <a:endParaRPr lang="ar-SA" sz="18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الوحدات التنظيمية عن عملية الامتثال والتدقيق</a:t>
                      </a:r>
                    </a:p>
                  </a:txBody>
                  <a:tcPr anchor="ctr"/>
                </a:tc>
                <a:tc>
                  <a:txBody>
                    <a:bodyPr/>
                    <a:lstStyle/>
                    <a:p>
                      <a:pPr marL="0" indent="0" algn="r" rtl="1" fontAlgn="b">
                        <a:buFontTx/>
                        <a:buNone/>
                      </a:pPr>
                      <a:r>
                        <a:rPr lang="ar-EG" b="0" dirty="0"/>
                        <a:t>عدد الانحرافات المكتشفة في تدقيق الامتثال ومعالجتها</a:t>
                      </a:r>
                    </a:p>
                  </a:txBody>
                  <a:tcPr anchor="ctr"/>
                </a:tc>
                <a:tc vMerge="1">
                  <a:txBody>
                    <a:bodyPr/>
                    <a:lstStyle/>
                    <a:p>
                      <a:endParaRPr lang="en-US"/>
                    </a:p>
                  </a:txBody>
                  <a:tcPr/>
                </a:tc>
                <a:extLst>
                  <a:ext uri="{0D108BD9-81ED-4DB2-BD59-A6C34878D82A}">
                    <a16:rowId xmlns:a16="http://schemas.microsoft.com/office/drawing/2014/main" val="4189770315"/>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التحسينات المطبقة بناء على نتائج المتابعة</a:t>
                      </a:r>
                    </a:p>
                  </a:txBody>
                  <a:tcPr anchor="ctr"/>
                </a:tc>
                <a:tc>
                  <a:txBody>
                    <a:bodyPr/>
                    <a:lstStyle/>
                    <a:p>
                      <a:pPr marL="0" indent="0" algn="r" rtl="1" fontAlgn="b">
                        <a:buFontTx/>
                        <a:buNone/>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نسبة</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مؤشرات الأداء الرئيسية</a:t>
                      </a:r>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التي تم قياسها وتحليلها</a:t>
                      </a:r>
                    </a:p>
                  </a:txBody>
                  <a:tcPr anchor="ctr"/>
                </a:tc>
                <a:tc rowSpan="2">
                  <a:txBody>
                    <a:bodyPr/>
                    <a:lstStyle/>
                    <a:p>
                      <a:pPr algn="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9. إدارة ومتابعة أداء البنية المؤسسية</a:t>
                      </a:r>
                    </a:p>
                  </a:txBody>
                  <a:tcPr anchor="ctr"/>
                </a:tc>
                <a:extLst>
                  <a:ext uri="{0D108BD9-81ED-4DB2-BD59-A6C34878D82A}">
                    <a16:rowId xmlns:a16="http://schemas.microsoft.com/office/drawing/2014/main" val="3947784764"/>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أداء البنية المؤسسية</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مستوى نضج ممارسة البنية المؤسسية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وفقا لنموذج التقييم</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1131960385"/>
                  </a:ext>
                </a:extLst>
              </a:tr>
              <a:tr h="460333">
                <a:tc>
                  <a:txBody>
                    <a:bodyPr/>
                    <a:lstStyle/>
                    <a:p>
                      <a:pPr algn="r" rtl="1" fontAlgn="b">
                        <a:buFontTx/>
                        <a:buNone/>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عدد الممارسات أو الأفكار الجديدة التي تم تطبيقها نتيجة للمشاركة</a:t>
                      </a:r>
                    </a:p>
                  </a:txBody>
                  <a:tcPr anchor="ctr"/>
                </a:tc>
                <a:tc>
                  <a:txBody>
                    <a:bodyPr/>
                    <a:lstStyle/>
                    <a:p>
                      <a:pPr marL="0" indent="0" algn="r" rtl="1" fontAlgn="b">
                        <a:buFontTx/>
                        <a:buNone/>
                      </a:pPr>
                      <a:r>
                        <a:rPr lang="ar-EG" b="0" dirty="0"/>
                        <a:t>عدد الفعاليات التي تم المشاركة فيها (مؤتمرات-ندوات-ورش عمل)</a:t>
                      </a:r>
                    </a:p>
                  </a:txBody>
                  <a:tcPr anchor="ctr"/>
                </a:tc>
                <a:tc rowSpan="2">
                  <a:txBody>
                    <a:bodyPr/>
                    <a:lstStyle/>
                    <a:p>
                      <a:pPr algn="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10. المشاركة في المؤتمرات وتبادل المعرفة</a:t>
                      </a:r>
                    </a:p>
                  </a:txBody>
                  <a:tcPr anchor="ctr"/>
                </a:tc>
                <a:extLst>
                  <a:ext uri="{0D108BD9-81ED-4DB2-BD59-A6C34878D82A}">
                    <a16:rowId xmlns:a16="http://schemas.microsoft.com/office/drawing/2014/main" val="3602485621"/>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الموظفين عن جلسات مشاركة المعرفة</a:t>
                      </a:r>
                    </a:p>
                  </a:txBody>
                  <a:tcPr anchor="ctr"/>
                </a:tc>
                <a:tc>
                  <a:txBody>
                    <a:bodyPr/>
                    <a:lstStyle/>
                    <a:p>
                      <a:pPr marL="0" indent="0" algn="r" rtl="1" fontAlgn="b">
                        <a:buFontTx/>
                        <a:buNone/>
                      </a:pPr>
                      <a:r>
                        <a:rPr lang="ar-EG" b="0" dirty="0"/>
                        <a:t>عدد جلسات مشاركة المعرفة الداخلية المنعقدة لنقل ما تم تعلمه</a:t>
                      </a:r>
                    </a:p>
                  </a:txBody>
                  <a:tcPr anchor="ctr"/>
                </a:tc>
                <a:tc vMerge="1">
                  <a:txBody>
                    <a:bodyPr/>
                    <a:lstStyle/>
                    <a:p>
                      <a:endParaRPr lang="en-US" dirty="0"/>
                    </a:p>
                  </a:txBody>
                  <a:tcPr/>
                </a:tc>
                <a:extLst>
                  <a:ext uri="{0D108BD9-81ED-4DB2-BD59-A6C34878D82A}">
                    <a16:rowId xmlns:a16="http://schemas.microsoft.com/office/drawing/2014/main" val="2995949507"/>
                  </a:ext>
                </a:extLst>
              </a:tr>
            </a:tbl>
          </a:graphicData>
        </a:graphic>
      </p:graphicFrame>
    </p:spTree>
    <p:extLst>
      <p:ext uri="{BB962C8B-B14F-4D97-AF65-F5344CB8AC3E}">
        <p14:creationId xmlns:p14="http://schemas.microsoft.com/office/powerpoint/2010/main" val="357098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قاموس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915946" y="1801904"/>
            <a:ext cx="1151456" cy="1162665"/>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820617" y="946616"/>
            <a:ext cx="7572633" cy="2694902"/>
          </a:xfrm>
          <a:prstGeom prst="rect">
            <a:avLst/>
          </a:prstGeom>
        </p:spPr>
        <p:txBody>
          <a:bodyPr anchor="ctr" anchorCtr="0">
            <a:normAutofit/>
          </a:bodyPr>
          <a:lstStyle/>
          <a:p>
            <a:pPr algn="r" rtl="1">
              <a:lnSpc>
                <a:spcPct val="150000"/>
              </a:lnSpc>
              <a:spcAft>
                <a:spcPts val="1200"/>
              </a:spcAft>
            </a:pPr>
            <a:r>
              <a:rPr lang="ar-SA" b="1" dirty="0"/>
              <a:t>يمثل خطوات تحديد وتصميم مرجع شامل يحتوي على تعريفات ومصطلحات وأوصاف واضحة لمفاهيم البنية المؤسسية الأساسية .</a:t>
            </a:r>
          </a:p>
          <a:p>
            <a:pPr algn="r" rtl="1">
              <a:lnSpc>
                <a:spcPct val="150000"/>
              </a:lnSpc>
              <a:spcAft>
                <a:spcPts val="1200"/>
              </a:spcAft>
            </a:pPr>
            <a:r>
              <a:rPr lang="ar-SA" b="1" dirty="0"/>
              <a:t>كما يهدف إلى توفير أداة مرجعية لأصحاب المصلحة لبناء فهم مشترك للمصطلحات والاختصارات، مما يحافظ على الوضوح والاتساق في التواصل ويساعد في إدارة وتنفيذ أنشطة الممارسة بفاعلية </a:t>
            </a:r>
            <a:r>
              <a:rPr lang="ar-EG" b="1" dirty="0"/>
              <a:t>.</a:t>
            </a:r>
          </a:p>
        </p:txBody>
      </p:sp>
      <p:sp>
        <p:nvSpPr>
          <p:cNvPr id="16" name="Title 1">
            <a:extLst>
              <a:ext uri="{FF2B5EF4-FFF2-40B4-BE49-F238E27FC236}">
                <a16:creationId xmlns:a16="http://schemas.microsoft.com/office/drawing/2014/main" id="{6655FB46-0DCB-4EF4-8DDD-402BD96C9DA8}"/>
              </a:ext>
            </a:extLst>
          </p:cNvPr>
          <p:cNvSpPr txBox="1">
            <a:spLocks/>
          </p:cNvSpPr>
          <p:nvPr/>
        </p:nvSpPr>
        <p:spPr>
          <a:xfrm>
            <a:off x="2623345" y="3772828"/>
            <a:ext cx="8683752" cy="639350"/>
          </a:xfrm>
          <a:prstGeom prst="rect">
            <a:avLst/>
          </a:prstGeom>
        </p:spPr>
        <p:txBody>
          <a:bodyPr vert="horz" lIns="91440" tIns="45720" rIns="0" bIns="45720" rtlCol="0" anchor="ctr" anchorCtr="0">
            <a:noAutofit/>
          </a:bodyPr>
          <a:lstStyle>
            <a:defPPr>
              <a:defRPr lang="en-US"/>
            </a:defPPr>
            <a:lvl1pPr algn="r" rtl="1">
              <a:lnSpc>
                <a:spcPct val="100000"/>
              </a:lnSpc>
              <a:spcBef>
                <a:spcPct val="0"/>
              </a:spcBef>
              <a:buNone/>
              <a:defRPr sz="2800" b="1">
                <a:solidFill>
                  <a:schemeClr val="accent1"/>
                </a:solidFill>
                <a:latin typeface="+mj-lt"/>
                <a:ea typeface="+mj-ea"/>
                <a:cs typeface="+mj-cs"/>
              </a:defRPr>
            </a:lvl1pPr>
          </a:lstStyle>
          <a:p>
            <a:r>
              <a:rPr lang="ar-SA" dirty="0"/>
              <a:t>أهداف قاموس البنية المؤسسية</a:t>
            </a:r>
          </a:p>
        </p:txBody>
      </p:sp>
      <p:sp>
        <p:nvSpPr>
          <p:cNvPr id="28" name="Rectangle 27">
            <a:extLst>
              <a:ext uri="{FF2B5EF4-FFF2-40B4-BE49-F238E27FC236}">
                <a16:creationId xmlns:a16="http://schemas.microsoft.com/office/drawing/2014/main" id="{531F4101-FEA6-4038-ACE8-ADED4500E401}"/>
              </a:ext>
            </a:extLst>
          </p:cNvPr>
          <p:cNvSpPr/>
          <p:nvPr/>
        </p:nvSpPr>
        <p:spPr>
          <a:xfrm>
            <a:off x="6289006" y="4517227"/>
            <a:ext cx="4256748" cy="584775"/>
          </a:xfrm>
          <a:prstGeom prst="rect">
            <a:avLst/>
          </a:prstGeom>
        </p:spPr>
        <p:txBody>
          <a:bodyPr wrap="square" anchor="ctr" anchorCtr="0">
            <a:spAutoFit/>
          </a:bodyPr>
          <a:lstStyle/>
          <a:p>
            <a:pPr algn="justLow" rtl="1"/>
            <a:r>
              <a:rPr lang="ar-SA" sz="1600" b="1" dirty="0"/>
              <a:t>ضمان توحيد اللغة فيما يخص ممارسة البنية المؤسسية ووجود اتساق للمصطلحات المستخدمة في وثائق البنية المؤسسية</a:t>
            </a:r>
          </a:p>
        </p:txBody>
      </p:sp>
      <p:grpSp>
        <p:nvGrpSpPr>
          <p:cNvPr id="29" name="Group 28">
            <a:extLst>
              <a:ext uri="{FF2B5EF4-FFF2-40B4-BE49-F238E27FC236}">
                <a16:creationId xmlns:a16="http://schemas.microsoft.com/office/drawing/2014/main" id="{09E98D05-A89C-4BBF-AA05-4C0C610DC7B0}"/>
              </a:ext>
            </a:extLst>
          </p:cNvPr>
          <p:cNvGrpSpPr/>
          <p:nvPr/>
        </p:nvGrpSpPr>
        <p:grpSpPr>
          <a:xfrm>
            <a:off x="10656592" y="4431864"/>
            <a:ext cx="650505" cy="650505"/>
            <a:chOff x="9889067" y="2857200"/>
            <a:chExt cx="1095022" cy="1095022"/>
          </a:xfrm>
        </p:grpSpPr>
        <p:sp>
          <p:nvSpPr>
            <p:cNvPr id="30" name="Arc 29">
              <a:extLst>
                <a:ext uri="{FF2B5EF4-FFF2-40B4-BE49-F238E27FC236}">
                  <a16:creationId xmlns:a16="http://schemas.microsoft.com/office/drawing/2014/main" id="{CD3A997E-9908-476D-975D-F2B0D7F2F70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13E781EC-8B4B-4E92-8A33-FDD1255F8EF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33" name="Oval 32">
            <a:extLst>
              <a:ext uri="{FF2B5EF4-FFF2-40B4-BE49-F238E27FC236}">
                <a16:creationId xmlns:a16="http://schemas.microsoft.com/office/drawing/2014/main" id="{59831C8B-9A15-4D1E-8BAF-40627D163FE3}"/>
              </a:ext>
            </a:extLst>
          </p:cNvPr>
          <p:cNvSpPr/>
          <p:nvPr/>
        </p:nvSpPr>
        <p:spPr>
          <a:xfrm flipH="1">
            <a:off x="10438746" y="4755575"/>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1</a:t>
            </a:r>
            <a:endParaRPr lang="en-US" sz="1600" b="1" dirty="0">
              <a:ln>
                <a:solidFill>
                  <a:schemeClr val="accent2"/>
                </a:solidFill>
              </a:ln>
              <a:noFill/>
            </a:endParaRPr>
          </a:p>
        </p:txBody>
      </p:sp>
      <p:sp>
        <p:nvSpPr>
          <p:cNvPr id="57" name="Rectangle 56">
            <a:extLst>
              <a:ext uri="{FF2B5EF4-FFF2-40B4-BE49-F238E27FC236}">
                <a16:creationId xmlns:a16="http://schemas.microsoft.com/office/drawing/2014/main" id="{3021D78F-4FE4-414B-BB9D-793295D96879}"/>
              </a:ext>
            </a:extLst>
          </p:cNvPr>
          <p:cNvSpPr/>
          <p:nvPr/>
        </p:nvSpPr>
        <p:spPr>
          <a:xfrm>
            <a:off x="1133691" y="4367744"/>
            <a:ext cx="4256748" cy="830997"/>
          </a:xfrm>
          <a:prstGeom prst="rect">
            <a:avLst/>
          </a:prstGeom>
        </p:spPr>
        <p:txBody>
          <a:bodyPr wrap="square" anchor="ctr" anchorCtr="0">
            <a:spAutoFit/>
          </a:bodyPr>
          <a:lstStyle/>
          <a:p>
            <a:pPr algn="justLow" rtl="1"/>
            <a:r>
              <a:rPr lang="ar-SA" sz="1600" b="1" dirty="0"/>
              <a:t>وجود قاموس يوفر مصدراً تعليمياً يساعد الموظفين الجدد في فهم مصطلحات ومفاهيم الممارسة المؤسسية وآلية تنفيذها بشكل خاص على مستوى الجهة</a:t>
            </a:r>
          </a:p>
        </p:txBody>
      </p:sp>
      <p:grpSp>
        <p:nvGrpSpPr>
          <p:cNvPr id="59" name="Group 58">
            <a:extLst>
              <a:ext uri="{FF2B5EF4-FFF2-40B4-BE49-F238E27FC236}">
                <a16:creationId xmlns:a16="http://schemas.microsoft.com/office/drawing/2014/main" id="{91CE91D7-A15F-480E-8610-31CB948E7C57}"/>
              </a:ext>
            </a:extLst>
          </p:cNvPr>
          <p:cNvGrpSpPr/>
          <p:nvPr/>
        </p:nvGrpSpPr>
        <p:grpSpPr>
          <a:xfrm>
            <a:off x="5608285" y="4454131"/>
            <a:ext cx="650505" cy="650505"/>
            <a:chOff x="9889067" y="2857200"/>
            <a:chExt cx="1095022" cy="1095022"/>
          </a:xfrm>
        </p:grpSpPr>
        <p:sp>
          <p:nvSpPr>
            <p:cNvPr id="60" name="Arc 59">
              <a:extLst>
                <a:ext uri="{FF2B5EF4-FFF2-40B4-BE49-F238E27FC236}">
                  <a16:creationId xmlns:a16="http://schemas.microsoft.com/office/drawing/2014/main" id="{9E084187-3FAB-4981-AEBD-F2387D7C340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Arc 60">
              <a:extLst>
                <a:ext uri="{FF2B5EF4-FFF2-40B4-BE49-F238E27FC236}">
                  <a16:creationId xmlns:a16="http://schemas.microsoft.com/office/drawing/2014/main" id="{7683A470-1B4E-4718-87AE-48620E72BD3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2" name="Oval 61">
            <a:extLst>
              <a:ext uri="{FF2B5EF4-FFF2-40B4-BE49-F238E27FC236}">
                <a16:creationId xmlns:a16="http://schemas.microsoft.com/office/drawing/2014/main" id="{B392ACD1-5B78-48B3-BEF4-3B9240043259}"/>
              </a:ext>
            </a:extLst>
          </p:cNvPr>
          <p:cNvSpPr/>
          <p:nvPr/>
        </p:nvSpPr>
        <p:spPr>
          <a:xfrm flipH="1">
            <a:off x="5475557" y="4810176"/>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2</a:t>
            </a:r>
            <a:endParaRPr lang="en-US" sz="1600" b="1" dirty="0">
              <a:ln>
                <a:solidFill>
                  <a:schemeClr val="accent2"/>
                </a:solidFill>
              </a:ln>
              <a:noFill/>
            </a:endParaRPr>
          </a:p>
        </p:txBody>
      </p:sp>
      <p:grpSp>
        <p:nvGrpSpPr>
          <p:cNvPr id="70" name="Group 69">
            <a:extLst>
              <a:ext uri="{FF2B5EF4-FFF2-40B4-BE49-F238E27FC236}">
                <a16:creationId xmlns:a16="http://schemas.microsoft.com/office/drawing/2014/main" id="{E8A53128-6D0C-4E74-95B8-D26914C6F078}"/>
              </a:ext>
            </a:extLst>
          </p:cNvPr>
          <p:cNvGrpSpPr>
            <a:grpSpLocks noChangeAspect="1"/>
          </p:cNvGrpSpPr>
          <p:nvPr/>
        </p:nvGrpSpPr>
        <p:grpSpPr>
          <a:xfrm>
            <a:off x="5823922" y="4589207"/>
            <a:ext cx="256674" cy="365760"/>
            <a:chOff x="520700" y="2828925"/>
            <a:chExt cx="1333500" cy="1900238"/>
          </a:xfrm>
          <a:solidFill>
            <a:schemeClr val="accent1"/>
          </a:solidFill>
        </p:grpSpPr>
        <p:sp>
          <p:nvSpPr>
            <p:cNvPr id="71" name="Freeform 132">
              <a:extLst>
                <a:ext uri="{FF2B5EF4-FFF2-40B4-BE49-F238E27FC236}">
                  <a16:creationId xmlns:a16="http://schemas.microsoft.com/office/drawing/2014/main" id="{BA09541F-AF4E-49B9-9BED-58AA0BA2DA59}"/>
                </a:ext>
              </a:extLst>
            </p:cNvPr>
            <p:cNvSpPr>
              <a:spLocks noEditPoints="1"/>
            </p:cNvSpPr>
            <p:nvPr/>
          </p:nvSpPr>
          <p:spPr bwMode="auto">
            <a:xfrm>
              <a:off x="520700" y="2828925"/>
              <a:ext cx="1333500" cy="1900238"/>
            </a:xfrm>
            <a:custGeom>
              <a:avLst/>
              <a:gdLst>
                <a:gd name="T0" fmla="*/ 1371 w 3366"/>
                <a:gd name="T1" fmla="*/ 37 h 4804"/>
                <a:gd name="T2" fmla="*/ 1327 w 3366"/>
                <a:gd name="T3" fmla="*/ 88 h 4804"/>
                <a:gd name="T4" fmla="*/ 1316 w 3366"/>
                <a:gd name="T5" fmla="*/ 264 h 4804"/>
                <a:gd name="T6" fmla="*/ 1111 w 3366"/>
                <a:gd name="T7" fmla="*/ 451 h 4804"/>
                <a:gd name="T8" fmla="*/ 974 w 3366"/>
                <a:gd name="T9" fmla="*/ 482 h 4804"/>
                <a:gd name="T10" fmla="*/ 929 w 3366"/>
                <a:gd name="T11" fmla="*/ 532 h 4804"/>
                <a:gd name="T12" fmla="*/ 916 w 3366"/>
                <a:gd name="T13" fmla="*/ 641 h 4804"/>
                <a:gd name="T14" fmla="*/ 390 w 3366"/>
                <a:gd name="T15" fmla="*/ 746 h 4804"/>
                <a:gd name="T16" fmla="*/ 71 w 3366"/>
                <a:gd name="T17" fmla="*/ 777 h 4804"/>
                <a:gd name="T18" fmla="*/ 18 w 3366"/>
                <a:gd name="T19" fmla="*/ 826 h 4804"/>
                <a:gd name="T20" fmla="*/ 0 w 3366"/>
                <a:gd name="T21" fmla="*/ 1870 h 4804"/>
                <a:gd name="T22" fmla="*/ 40 w 3366"/>
                <a:gd name="T23" fmla="*/ 4758 h 4804"/>
                <a:gd name="T24" fmla="*/ 3286 w 3366"/>
                <a:gd name="T25" fmla="*/ 4804 h 4804"/>
                <a:gd name="T26" fmla="*/ 3366 w 3366"/>
                <a:gd name="T27" fmla="*/ 2779 h 4804"/>
                <a:gd name="T28" fmla="*/ 3286 w 3366"/>
                <a:gd name="T29" fmla="*/ 754 h 4804"/>
                <a:gd name="T30" fmla="*/ 2463 w 3366"/>
                <a:gd name="T31" fmla="*/ 644 h 4804"/>
                <a:gd name="T32" fmla="*/ 2442 w 3366"/>
                <a:gd name="T33" fmla="*/ 540 h 4804"/>
                <a:gd name="T34" fmla="*/ 2396 w 3366"/>
                <a:gd name="T35" fmla="*/ 485 h 4804"/>
                <a:gd name="T36" fmla="*/ 2265 w 3366"/>
                <a:gd name="T37" fmla="*/ 451 h 4804"/>
                <a:gd name="T38" fmla="*/ 2063 w 3366"/>
                <a:gd name="T39" fmla="*/ 269 h 4804"/>
                <a:gd name="T40" fmla="*/ 2046 w 3366"/>
                <a:gd name="T41" fmla="*/ 95 h 4804"/>
                <a:gd name="T42" fmla="*/ 1966 w 3366"/>
                <a:gd name="T43" fmla="*/ 4 h 4804"/>
                <a:gd name="T44" fmla="*/ 1441 w 3366"/>
                <a:gd name="T45" fmla="*/ 4 h 4804"/>
                <a:gd name="T46" fmla="*/ 1916 w 3366"/>
                <a:gd name="T47" fmla="*/ 746 h 4804"/>
                <a:gd name="T48" fmla="*/ 1466 w 3366"/>
                <a:gd name="T49" fmla="*/ 446 h 4804"/>
                <a:gd name="T50" fmla="*/ 1908 w 3366"/>
                <a:gd name="T51" fmla="*/ 154 h 4804"/>
                <a:gd name="T52" fmla="*/ 1319 w 3366"/>
                <a:gd name="T53" fmla="*/ 749 h 4804"/>
                <a:gd name="T54" fmla="*/ 1359 w 3366"/>
                <a:gd name="T55" fmla="*/ 863 h 4804"/>
                <a:gd name="T56" fmla="*/ 1568 w 3366"/>
                <a:gd name="T57" fmla="*/ 896 h 4804"/>
                <a:gd name="T58" fmla="*/ 1911 w 3366"/>
                <a:gd name="T59" fmla="*/ 894 h 4804"/>
                <a:gd name="T60" fmla="*/ 2016 w 3366"/>
                <a:gd name="T61" fmla="*/ 854 h 4804"/>
                <a:gd name="T62" fmla="*/ 2055 w 3366"/>
                <a:gd name="T63" fmla="*/ 780 h 4804"/>
                <a:gd name="T64" fmla="*/ 2070 w 3366"/>
                <a:gd name="T65" fmla="*/ 594 h 4804"/>
                <a:gd name="T66" fmla="*/ 2313 w 3366"/>
                <a:gd name="T67" fmla="*/ 808 h 4804"/>
                <a:gd name="T68" fmla="*/ 1066 w 3366"/>
                <a:gd name="T69" fmla="*/ 1013 h 4804"/>
                <a:gd name="T70" fmla="*/ 1188 w 3366"/>
                <a:gd name="T71" fmla="*/ 599 h 4804"/>
                <a:gd name="T72" fmla="*/ 916 w 3366"/>
                <a:gd name="T73" fmla="*/ 1003 h 4804"/>
                <a:gd name="T74" fmla="*/ 935 w 3366"/>
                <a:gd name="T75" fmla="*/ 1107 h 4804"/>
                <a:gd name="T76" fmla="*/ 992 w 3366"/>
                <a:gd name="T77" fmla="*/ 1142 h 4804"/>
                <a:gd name="T78" fmla="*/ 1409 w 3366"/>
                <a:gd name="T79" fmla="*/ 1163 h 4804"/>
                <a:gd name="T80" fmla="*/ 2274 w 3366"/>
                <a:gd name="T81" fmla="*/ 1155 h 4804"/>
                <a:gd name="T82" fmla="*/ 2402 w 3366"/>
                <a:gd name="T83" fmla="*/ 1134 h 4804"/>
                <a:gd name="T84" fmla="*/ 2465 w 3366"/>
                <a:gd name="T85" fmla="*/ 984 h 4804"/>
                <a:gd name="T86" fmla="*/ 2841 w 3366"/>
                <a:gd name="T87" fmla="*/ 896 h 4804"/>
                <a:gd name="T88" fmla="*/ 3216 w 3366"/>
                <a:gd name="T89" fmla="*/ 4663 h 4804"/>
                <a:gd name="T90" fmla="*/ 150 w 3366"/>
                <a:gd name="T91" fmla="*/ 2779 h 4804"/>
                <a:gd name="T92" fmla="*/ 908 w 3366"/>
                <a:gd name="T93" fmla="*/ 904 h 4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66" h="4804">
                  <a:moveTo>
                    <a:pt x="1416" y="8"/>
                  </a:moveTo>
                  <a:lnTo>
                    <a:pt x="1404" y="13"/>
                  </a:lnTo>
                  <a:lnTo>
                    <a:pt x="1371" y="37"/>
                  </a:lnTo>
                  <a:lnTo>
                    <a:pt x="1355" y="51"/>
                  </a:lnTo>
                  <a:lnTo>
                    <a:pt x="1343" y="62"/>
                  </a:lnTo>
                  <a:lnTo>
                    <a:pt x="1327" y="88"/>
                  </a:lnTo>
                  <a:lnTo>
                    <a:pt x="1319" y="131"/>
                  </a:lnTo>
                  <a:lnTo>
                    <a:pt x="1316" y="207"/>
                  </a:lnTo>
                  <a:lnTo>
                    <a:pt x="1316" y="264"/>
                  </a:lnTo>
                  <a:lnTo>
                    <a:pt x="1316" y="443"/>
                  </a:lnTo>
                  <a:lnTo>
                    <a:pt x="1160" y="449"/>
                  </a:lnTo>
                  <a:lnTo>
                    <a:pt x="1111" y="451"/>
                  </a:lnTo>
                  <a:lnTo>
                    <a:pt x="1044" y="456"/>
                  </a:lnTo>
                  <a:lnTo>
                    <a:pt x="1002" y="466"/>
                  </a:lnTo>
                  <a:lnTo>
                    <a:pt x="974" y="482"/>
                  </a:lnTo>
                  <a:lnTo>
                    <a:pt x="960" y="494"/>
                  </a:lnTo>
                  <a:lnTo>
                    <a:pt x="946" y="507"/>
                  </a:lnTo>
                  <a:lnTo>
                    <a:pt x="929" y="532"/>
                  </a:lnTo>
                  <a:lnTo>
                    <a:pt x="920" y="563"/>
                  </a:lnTo>
                  <a:lnTo>
                    <a:pt x="916" y="609"/>
                  </a:lnTo>
                  <a:lnTo>
                    <a:pt x="916" y="641"/>
                  </a:lnTo>
                  <a:lnTo>
                    <a:pt x="916" y="746"/>
                  </a:lnTo>
                  <a:lnTo>
                    <a:pt x="533" y="746"/>
                  </a:lnTo>
                  <a:lnTo>
                    <a:pt x="390" y="746"/>
                  </a:lnTo>
                  <a:lnTo>
                    <a:pt x="197" y="753"/>
                  </a:lnTo>
                  <a:lnTo>
                    <a:pt x="110" y="765"/>
                  </a:lnTo>
                  <a:lnTo>
                    <a:pt x="71" y="777"/>
                  </a:lnTo>
                  <a:lnTo>
                    <a:pt x="44" y="793"/>
                  </a:lnTo>
                  <a:lnTo>
                    <a:pt x="25" y="814"/>
                  </a:lnTo>
                  <a:lnTo>
                    <a:pt x="18" y="826"/>
                  </a:lnTo>
                  <a:lnTo>
                    <a:pt x="13" y="853"/>
                  </a:lnTo>
                  <a:lnTo>
                    <a:pt x="6" y="1092"/>
                  </a:lnTo>
                  <a:lnTo>
                    <a:pt x="0" y="1870"/>
                  </a:lnTo>
                  <a:lnTo>
                    <a:pt x="0" y="2786"/>
                  </a:lnTo>
                  <a:lnTo>
                    <a:pt x="0" y="4711"/>
                  </a:lnTo>
                  <a:lnTo>
                    <a:pt x="40" y="4758"/>
                  </a:lnTo>
                  <a:lnTo>
                    <a:pt x="80" y="4804"/>
                  </a:lnTo>
                  <a:lnTo>
                    <a:pt x="1683" y="4804"/>
                  </a:lnTo>
                  <a:lnTo>
                    <a:pt x="3286" y="4804"/>
                  </a:lnTo>
                  <a:lnTo>
                    <a:pt x="3326" y="4758"/>
                  </a:lnTo>
                  <a:lnTo>
                    <a:pt x="3366" y="4711"/>
                  </a:lnTo>
                  <a:lnTo>
                    <a:pt x="3366" y="2779"/>
                  </a:lnTo>
                  <a:lnTo>
                    <a:pt x="3366" y="848"/>
                  </a:lnTo>
                  <a:lnTo>
                    <a:pt x="3326" y="801"/>
                  </a:lnTo>
                  <a:lnTo>
                    <a:pt x="3286" y="754"/>
                  </a:lnTo>
                  <a:lnTo>
                    <a:pt x="2878" y="749"/>
                  </a:lnTo>
                  <a:lnTo>
                    <a:pt x="2470" y="744"/>
                  </a:lnTo>
                  <a:lnTo>
                    <a:pt x="2463" y="644"/>
                  </a:lnTo>
                  <a:lnTo>
                    <a:pt x="2460" y="616"/>
                  </a:lnTo>
                  <a:lnTo>
                    <a:pt x="2453" y="573"/>
                  </a:lnTo>
                  <a:lnTo>
                    <a:pt x="2442" y="540"/>
                  </a:lnTo>
                  <a:lnTo>
                    <a:pt x="2424" y="513"/>
                  </a:lnTo>
                  <a:lnTo>
                    <a:pt x="2411" y="499"/>
                  </a:lnTo>
                  <a:lnTo>
                    <a:pt x="2396" y="485"/>
                  </a:lnTo>
                  <a:lnTo>
                    <a:pt x="2368" y="466"/>
                  </a:lnTo>
                  <a:lnTo>
                    <a:pt x="2329" y="456"/>
                  </a:lnTo>
                  <a:lnTo>
                    <a:pt x="2265" y="451"/>
                  </a:lnTo>
                  <a:lnTo>
                    <a:pt x="2218" y="449"/>
                  </a:lnTo>
                  <a:lnTo>
                    <a:pt x="2070" y="443"/>
                  </a:lnTo>
                  <a:lnTo>
                    <a:pt x="2063" y="269"/>
                  </a:lnTo>
                  <a:lnTo>
                    <a:pt x="2061" y="213"/>
                  </a:lnTo>
                  <a:lnTo>
                    <a:pt x="2056" y="139"/>
                  </a:lnTo>
                  <a:lnTo>
                    <a:pt x="2046" y="95"/>
                  </a:lnTo>
                  <a:lnTo>
                    <a:pt x="2026" y="66"/>
                  </a:lnTo>
                  <a:lnTo>
                    <a:pt x="2011" y="51"/>
                  </a:lnTo>
                  <a:lnTo>
                    <a:pt x="1966" y="4"/>
                  </a:lnTo>
                  <a:lnTo>
                    <a:pt x="1703" y="1"/>
                  </a:lnTo>
                  <a:lnTo>
                    <a:pt x="1597" y="0"/>
                  </a:lnTo>
                  <a:lnTo>
                    <a:pt x="1441" y="4"/>
                  </a:lnTo>
                  <a:lnTo>
                    <a:pt x="1416" y="8"/>
                  </a:lnTo>
                  <a:close/>
                  <a:moveTo>
                    <a:pt x="1913" y="449"/>
                  </a:moveTo>
                  <a:lnTo>
                    <a:pt x="1916" y="746"/>
                  </a:lnTo>
                  <a:lnTo>
                    <a:pt x="1691" y="746"/>
                  </a:lnTo>
                  <a:lnTo>
                    <a:pt x="1466" y="746"/>
                  </a:lnTo>
                  <a:lnTo>
                    <a:pt x="1466" y="446"/>
                  </a:lnTo>
                  <a:lnTo>
                    <a:pt x="1466" y="144"/>
                  </a:lnTo>
                  <a:lnTo>
                    <a:pt x="1688" y="149"/>
                  </a:lnTo>
                  <a:lnTo>
                    <a:pt x="1908" y="154"/>
                  </a:lnTo>
                  <a:lnTo>
                    <a:pt x="1913" y="449"/>
                  </a:lnTo>
                  <a:close/>
                  <a:moveTo>
                    <a:pt x="1316" y="718"/>
                  </a:moveTo>
                  <a:lnTo>
                    <a:pt x="1319" y="749"/>
                  </a:lnTo>
                  <a:lnTo>
                    <a:pt x="1325" y="800"/>
                  </a:lnTo>
                  <a:lnTo>
                    <a:pt x="1337" y="837"/>
                  </a:lnTo>
                  <a:lnTo>
                    <a:pt x="1359" y="863"/>
                  </a:lnTo>
                  <a:lnTo>
                    <a:pt x="1395" y="880"/>
                  </a:lnTo>
                  <a:lnTo>
                    <a:pt x="1448" y="890"/>
                  </a:lnTo>
                  <a:lnTo>
                    <a:pt x="1568" y="896"/>
                  </a:lnTo>
                  <a:lnTo>
                    <a:pt x="1690" y="896"/>
                  </a:lnTo>
                  <a:lnTo>
                    <a:pt x="1788" y="896"/>
                  </a:lnTo>
                  <a:lnTo>
                    <a:pt x="1911" y="894"/>
                  </a:lnTo>
                  <a:lnTo>
                    <a:pt x="1973" y="886"/>
                  </a:lnTo>
                  <a:lnTo>
                    <a:pt x="2003" y="869"/>
                  </a:lnTo>
                  <a:lnTo>
                    <a:pt x="2016" y="854"/>
                  </a:lnTo>
                  <a:lnTo>
                    <a:pt x="2028" y="842"/>
                  </a:lnTo>
                  <a:lnTo>
                    <a:pt x="2044" y="814"/>
                  </a:lnTo>
                  <a:lnTo>
                    <a:pt x="2055" y="780"/>
                  </a:lnTo>
                  <a:lnTo>
                    <a:pt x="2061" y="733"/>
                  </a:lnTo>
                  <a:lnTo>
                    <a:pt x="2063" y="703"/>
                  </a:lnTo>
                  <a:lnTo>
                    <a:pt x="2070" y="594"/>
                  </a:lnTo>
                  <a:lnTo>
                    <a:pt x="2190" y="599"/>
                  </a:lnTo>
                  <a:lnTo>
                    <a:pt x="2308" y="604"/>
                  </a:lnTo>
                  <a:lnTo>
                    <a:pt x="2313" y="808"/>
                  </a:lnTo>
                  <a:lnTo>
                    <a:pt x="2318" y="1013"/>
                  </a:lnTo>
                  <a:lnTo>
                    <a:pt x="1691" y="1013"/>
                  </a:lnTo>
                  <a:lnTo>
                    <a:pt x="1066" y="1013"/>
                  </a:lnTo>
                  <a:lnTo>
                    <a:pt x="1066" y="804"/>
                  </a:lnTo>
                  <a:lnTo>
                    <a:pt x="1066" y="594"/>
                  </a:lnTo>
                  <a:lnTo>
                    <a:pt x="1188" y="599"/>
                  </a:lnTo>
                  <a:lnTo>
                    <a:pt x="1308" y="604"/>
                  </a:lnTo>
                  <a:lnTo>
                    <a:pt x="1316" y="718"/>
                  </a:lnTo>
                  <a:close/>
                  <a:moveTo>
                    <a:pt x="916" y="1003"/>
                  </a:moveTo>
                  <a:lnTo>
                    <a:pt x="919" y="1033"/>
                  </a:lnTo>
                  <a:lnTo>
                    <a:pt x="924" y="1080"/>
                  </a:lnTo>
                  <a:lnTo>
                    <a:pt x="935" y="1107"/>
                  </a:lnTo>
                  <a:lnTo>
                    <a:pt x="948" y="1121"/>
                  </a:lnTo>
                  <a:lnTo>
                    <a:pt x="966" y="1133"/>
                  </a:lnTo>
                  <a:lnTo>
                    <a:pt x="992" y="1142"/>
                  </a:lnTo>
                  <a:lnTo>
                    <a:pt x="1045" y="1152"/>
                  </a:lnTo>
                  <a:lnTo>
                    <a:pt x="1154" y="1160"/>
                  </a:lnTo>
                  <a:lnTo>
                    <a:pt x="1409" y="1163"/>
                  </a:lnTo>
                  <a:lnTo>
                    <a:pt x="1678" y="1163"/>
                  </a:lnTo>
                  <a:lnTo>
                    <a:pt x="1989" y="1162"/>
                  </a:lnTo>
                  <a:lnTo>
                    <a:pt x="2274" y="1155"/>
                  </a:lnTo>
                  <a:lnTo>
                    <a:pt x="2371" y="1149"/>
                  </a:lnTo>
                  <a:lnTo>
                    <a:pt x="2386" y="1144"/>
                  </a:lnTo>
                  <a:lnTo>
                    <a:pt x="2402" y="1134"/>
                  </a:lnTo>
                  <a:lnTo>
                    <a:pt x="2430" y="1096"/>
                  </a:lnTo>
                  <a:lnTo>
                    <a:pt x="2452" y="1043"/>
                  </a:lnTo>
                  <a:lnTo>
                    <a:pt x="2465" y="984"/>
                  </a:lnTo>
                  <a:lnTo>
                    <a:pt x="2466" y="954"/>
                  </a:lnTo>
                  <a:lnTo>
                    <a:pt x="2466" y="896"/>
                  </a:lnTo>
                  <a:lnTo>
                    <a:pt x="2841" y="896"/>
                  </a:lnTo>
                  <a:lnTo>
                    <a:pt x="3216" y="896"/>
                  </a:lnTo>
                  <a:lnTo>
                    <a:pt x="3216" y="2779"/>
                  </a:lnTo>
                  <a:lnTo>
                    <a:pt x="3216" y="4663"/>
                  </a:lnTo>
                  <a:lnTo>
                    <a:pt x="1683" y="4663"/>
                  </a:lnTo>
                  <a:lnTo>
                    <a:pt x="150" y="4663"/>
                  </a:lnTo>
                  <a:lnTo>
                    <a:pt x="150" y="2779"/>
                  </a:lnTo>
                  <a:lnTo>
                    <a:pt x="150" y="896"/>
                  </a:lnTo>
                  <a:lnTo>
                    <a:pt x="530" y="899"/>
                  </a:lnTo>
                  <a:lnTo>
                    <a:pt x="908" y="904"/>
                  </a:lnTo>
                  <a:lnTo>
                    <a:pt x="916" y="10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133">
              <a:extLst>
                <a:ext uri="{FF2B5EF4-FFF2-40B4-BE49-F238E27FC236}">
                  <a16:creationId xmlns:a16="http://schemas.microsoft.com/office/drawing/2014/main" id="{7A77EC0E-6762-4F1D-B0E0-C0DA2F7FCA7A}"/>
                </a:ext>
              </a:extLst>
            </p:cNvPr>
            <p:cNvSpPr>
              <a:spLocks noEditPoints="1"/>
            </p:cNvSpPr>
            <p:nvPr/>
          </p:nvSpPr>
          <p:spPr bwMode="auto">
            <a:xfrm>
              <a:off x="1009650" y="3421063"/>
              <a:ext cx="401638" cy="322263"/>
            </a:xfrm>
            <a:custGeom>
              <a:avLst/>
              <a:gdLst>
                <a:gd name="T0" fmla="*/ 803 w 1014"/>
                <a:gd name="T1" fmla="*/ 99 h 814"/>
                <a:gd name="T2" fmla="*/ 80 w 1014"/>
                <a:gd name="T3" fmla="*/ 105 h 814"/>
                <a:gd name="T4" fmla="*/ 27 w 1014"/>
                <a:gd name="T5" fmla="*/ 168 h 814"/>
                <a:gd name="T6" fmla="*/ 2 w 1014"/>
                <a:gd name="T7" fmla="*/ 261 h 814"/>
                <a:gd name="T8" fmla="*/ 0 w 1014"/>
                <a:gd name="T9" fmla="*/ 457 h 814"/>
                <a:gd name="T10" fmla="*/ 48 w 1014"/>
                <a:gd name="T11" fmla="*/ 765 h 814"/>
                <a:gd name="T12" fmla="*/ 450 w 1014"/>
                <a:gd name="T13" fmla="*/ 814 h 814"/>
                <a:gd name="T14" fmla="*/ 852 w 1014"/>
                <a:gd name="T15" fmla="*/ 765 h 814"/>
                <a:gd name="T16" fmla="*/ 900 w 1014"/>
                <a:gd name="T17" fmla="*/ 469 h 814"/>
                <a:gd name="T18" fmla="*/ 958 w 1014"/>
                <a:gd name="T19" fmla="*/ 164 h 814"/>
                <a:gd name="T20" fmla="*/ 1009 w 1014"/>
                <a:gd name="T21" fmla="*/ 100 h 814"/>
                <a:gd name="T22" fmla="*/ 1012 w 1014"/>
                <a:gd name="T23" fmla="*/ 59 h 814"/>
                <a:gd name="T24" fmla="*/ 980 w 1014"/>
                <a:gd name="T25" fmla="*/ 24 h 814"/>
                <a:gd name="T26" fmla="*/ 938 w 1014"/>
                <a:gd name="T27" fmla="*/ 0 h 814"/>
                <a:gd name="T28" fmla="*/ 883 w 1014"/>
                <a:gd name="T29" fmla="*/ 27 h 814"/>
                <a:gd name="T30" fmla="*/ 552 w 1014"/>
                <a:gd name="T31" fmla="*/ 330 h 814"/>
                <a:gd name="T32" fmla="*/ 405 w 1014"/>
                <a:gd name="T33" fmla="*/ 364 h 814"/>
                <a:gd name="T34" fmla="*/ 350 w 1014"/>
                <a:gd name="T35" fmla="*/ 321 h 814"/>
                <a:gd name="T36" fmla="*/ 306 w 1014"/>
                <a:gd name="T37" fmla="*/ 328 h 814"/>
                <a:gd name="T38" fmla="*/ 279 w 1014"/>
                <a:gd name="T39" fmla="*/ 355 h 814"/>
                <a:gd name="T40" fmla="*/ 269 w 1014"/>
                <a:gd name="T41" fmla="*/ 397 h 814"/>
                <a:gd name="T42" fmla="*/ 309 w 1014"/>
                <a:gd name="T43" fmla="*/ 479 h 814"/>
                <a:gd name="T44" fmla="*/ 368 w 1014"/>
                <a:gd name="T45" fmla="*/ 552 h 814"/>
                <a:gd name="T46" fmla="*/ 432 w 1014"/>
                <a:gd name="T47" fmla="*/ 599 h 814"/>
                <a:gd name="T48" fmla="*/ 484 w 1014"/>
                <a:gd name="T49" fmla="*/ 589 h 814"/>
                <a:gd name="T50" fmla="*/ 575 w 1014"/>
                <a:gd name="T51" fmla="*/ 515 h 814"/>
                <a:gd name="T52" fmla="*/ 705 w 1014"/>
                <a:gd name="T53" fmla="*/ 399 h 814"/>
                <a:gd name="T54" fmla="*/ 750 w 1014"/>
                <a:gd name="T55" fmla="*/ 510 h 814"/>
                <a:gd name="T56" fmla="*/ 450 w 1014"/>
                <a:gd name="T57" fmla="*/ 664 h 814"/>
                <a:gd name="T58" fmla="*/ 150 w 1014"/>
                <a:gd name="T59" fmla="*/ 455 h 814"/>
                <a:gd name="T60" fmla="*/ 397 w 1014"/>
                <a:gd name="T61" fmla="*/ 247 h 814"/>
                <a:gd name="T62" fmla="*/ 552 w 1014"/>
                <a:gd name="T63" fmla="*/ 33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4" h="814">
                  <a:moveTo>
                    <a:pt x="860" y="47"/>
                  </a:moveTo>
                  <a:lnTo>
                    <a:pt x="803" y="99"/>
                  </a:lnTo>
                  <a:lnTo>
                    <a:pt x="442" y="102"/>
                  </a:lnTo>
                  <a:lnTo>
                    <a:pt x="80" y="105"/>
                  </a:lnTo>
                  <a:lnTo>
                    <a:pt x="40" y="152"/>
                  </a:lnTo>
                  <a:lnTo>
                    <a:pt x="27" y="168"/>
                  </a:lnTo>
                  <a:lnTo>
                    <a:pt x="10" y="202"/>
                  </a:lnTo>
                  <a:lnTo>
                    <a:pt x="2" y="261"/>
                  </a:lnTo>
                  <a:lnTo>
                    <a:pt x="0" y="371"/>
                  </a:lnTo>
                  <a:lnTo>
                    <a:pt x="0" y="457"/>
                  </a:lnTo>
                  <a:lnTo>
                    <a:pt x="0" y="717"/>
                  </a:lnTo>
                  <a:lnTo>
                    <a:pt x="48" y="765"/>
                  </a:lnTo>
                  <a:lnTo>
                    <a:pt x="97" y="814"/>
                  </a:lnTo>
                  <a:lnTo>
                    <a:pt x="450" y="814"/>
                  </a:lnTo>
                  <a:lnTo>
                    <a:pt x="803" y="814"/>
                  </a:lnTo>
                  <a:lnTo>
                    <a:pt x="852" y="765"/>
                  </a:lnTo>
                  <a:lnTo>
                    <a:pt x="900" y="717"/>
                  </a:lnTo>
                  <a:lnTo>
                    <a:pt x="900" y="469"/>
                  </a:lnTo>
                  <a:lnTo>
                    <a:pt x="900" y="220"/>
                  </a:lnTo>
                  <a:lnTo>
                    <a:pt x="958" y="164"/>
                  </a:lnTo>
                  <a:lnTo>
                    <a:pt x="981" y="140"/>
                  </a:lnTo>
                  <a:lnTo>
                    <a:pt x="1009" y="100"/>
                  </a:lnTo>
                  <a:lnTo>
                    <a:pt x="1014" y="74"/>
                  </a:lnTo>
                  <a:lnTo>
                    <a:pt x="1012" y="59"/>
                  </a:lnTo>
                  <a:lnTo>
                    <a:pt x="998" y="37"/>
                  </a:lnTo>
                  <a:lnTo>
                    <a:pt x="980" y="24"/>
                  </a:lnTo>
                  <a:lnTo>
                    <a:pt x="963" y="12"/>
                  </a:lnTo>
                  <a:lnTo>
                    <a:pt x="938" y="0"/>
                  </a:lnTo>
                  <a:lnTo>
                    <a:pt x="914" y="4"/>
                  </a:lnTo>
                  <a:lnTo>
                    <a:pt x="883" y="27"/>
                  </a:lnTo>
                  <a:lnTo>
                    <a:pt x="860" y="47"/>
                  </a:lnTo>
                  <a:close/>
                  <a:moveTo>
                    <a:pt x="552" y="330"/>
                  </a:moveTo>
                  <a:lnTo>
                    <a:pt x="462" y="412"/>
                  </a:lnTo>
                  <a:lnTo>
                    <a:pt x="405" y="364"/>
                  </a:lnTo>
                  <a:lnTo>
                    <a:pt x="382" y="344"/>
                  </a:lnTo>
                  <a:lnTo>
                    <a:pt x="350" y="321"/>
                  </a:lnTo>
                  <a:lnTo>
                    <a:pt x="327" y="316"/>
                  </a:lnTo>
                  <a:lnTo>
                    <a:pt x="306" y="328"/>
                  </a:lnTo>
                  <a:lnTo>
                    <a:pt x="293" y="340"/>
                  </a:lnTo>
                  <a:lnTo>
                    <a:pt x="279" y="355"/>
                  </a:lnTo>
                  <a:lnTo>
                    <a:pt x="270" y="379"/>
                  </a:lnTo>
                  <a:lnTo>
                    <a:pt x="269" y="397"/>
                  </a:lnTo>
                  <a:lnTo>
                    <a:pt x="278" y="427"/>
                  </a:lnTo>
                  <a:lnTo>
                    <a:pt x="309" y="479"/>
                  </a:lnTo>
                  <a:lnTo>
                    <a:pt x="335" y="512"/>
                  </a:lnTo>
                  <a:lnTo>
                    <a:pt x="368" y="552"/>
                  </a:lnTo>
                  <a:lnTo>
                    <a:pt x="408" y="588"/>
                  </a:lnTo>
                  <a:lnTo>
                    <a:pt x="432" y="599"/>
                  </a:lnTo>
                  <a:lnTo>
                    <a:pt x="457" y="600"/>
                  </a:lnTo>
                  <a:lnTo>
                    <a:pt x="484" y="589"/>
                  </a:lnTo>
                  <a:lnTo>
                    <a:pt x="532" y="555"/>
                  </a:lnTo>
                  <a:lnTo>
                    <a:pt x="575" y="515"/>
                  </a:lnTo>
                  <a:lnTo>
                    <a:pt x="650" y="447"/>
                  </a:lnTo>
                  <a:lnTo>
                    <a:pt x="705" y="399"/>
                  </a:lnTo>
                  <a:lnTo>
                    <a:pt x="750" y="359"/>
                  </a:lnTo>
                  <a:lnTo>
                    <a:pt x="750" y="510"/>
                  </a:lnTo>
                  <a:lnTo>
                    <a:pt x="750" y="664"/>
                  </a:lnTo>
                  <a:lnTo>
                    <a:pt x="450" y="664"/>
                  </a:lnTo>
                  <a:lnTo>
                    <a:pt x="150" y="664"/>
                  </a:lnTo>
                  <a:lnTo>
                    <a:pt x="150" y="455"/>
                  </a:lnTo>
                  <a:lnTo>
                    <a:pt x="150" y="247"/>
                  </a:lnTo>
                  <a:lnTo>
                    <a:pt x="397" y="247"/>
                  </a:lnTo>
                  <a:lnTo>
                    <a:pt x="642" y="249"/>
                  </a:lnTo>
                  <a:lnTo>
                    <a:pt x="552"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134">
              <a:extLst>
                <a:ext uri="{FF2B5EF4-FFF2-40B4-BE49-F238E27FC236}">
                  <a16:creationId xmlns:a16="http://schemas.microsoft.com/office/drawing/2014/main" id="{CA75B052-7E7C-4ADC-97A6-7C51DB69542B}"/>
                </a:ext>
              </a:extLst>
            </p:cNvPr>
            <p:cNvSpPr>
              <a:spLocks/>
            </p:cNvSpPr>
            <p:nvPr/>
          </p:nvSpPr>
          <p:spPr bwMode="auto">
            <a:xfrm>
              <a:off x="641350" y="3513138"/>
              <a:ext cx="307975" cy="58738"/>
            </a:xfrm>
            <a:custGeom>
              <a:avLst/>
              <a:gdLst>
                <a:gd name="T0" fmla="*/ 18 w 781"/>
                <a:gd name="T1" fmla="*/ 20 h 150"/>
                <a:gd name="T2" fmla="*/ 9 w 781"/>
                <a:gd name="T3" fmla="*/ 31 h 150"/>
                <a:gd name="T4" fmla="*/ 0 w 781"/>
                <a:gd name="T5" fmla="*/ 59 h 150"/>
                <a:gd name="T6" fmla="*/ 0 w 781"/>
                <a:gd name="T7" fmla="*/ 91 h 150"/>
                <a:gd name="T8" fmla="*/ 9 w 781"/>
                <a:gd name="T9" fmla="*/ 120 h 150"/>
                <a:gd name="T10" fmla="*/ 18 w 781"/>
                <a:gd name="T11" fmla="*/ 130 h 150"/>
                <a:gd name="T12" fmla="*/ 26 w 781"/>
                <a:gd name="T13" fmla="*/ 136 h 150"/>
                <a:gd name="T14" fmla="*/ 74 w 781"/>
                <a:gd name="T15" fmla="*/ 143 h 150"/>
                <a:gd name="T16" fmla="*/ 219 w 781"/>
                <a:gd name="T17" fmla="*/ 150 h 150"/>
                <a:gd name="T18" fmla="*/ 389 w 781"/>
                <a:gd name="T19" fmla="*/ 150 h 150"/>
                <a:gd name="T20" fmla="*/ 517 w 781"/>
                <a:gd name="T21" fmla="*/ 150 h 150"/>
                <a:gd name="T22" fmla="*/ 679 w 781"/>
                <a:gd name="T23" fmla="*/ 145 h 150"/>
                <a:gd name="T24" fmla="*/ 741 w 781"/>
                <a:gd name="T25" fmla="*/ 135 h 150"/>
                <a:gd name="T26" fmla="*/ 765 w 781"/>
                <a:gd name="T27" fmla="*/ 124 h 150"/>
                <a:gd name="T28" fmla="*/ 777 w 781"/>
                <a:gd name="T29" fmla="*/ 108 h 150"/>
                <a:gd name="T30" fmla="*/ 781 w 781"/>
                <a:gd name="T31" fmla="*/ 88 h 150"/>
                <a:gd name="T32" fmla="*/ 781 w 781"/>
                <a:gd name="T33" fmla="*/ 75 h 150"/>
                <a:gd name="T34" fmla="*/ 781 w 781"/>
                <a:gd name="T35" fmla="*/ 63 h 150"/>
                <a:gd name="T36" fmla="*/ 777 w 781"/>
                <a:gd name="T37" fmla="*/ 42 h 150"/>
                <a:gd name="T38" fmla="*/ 765 w 781"/>
                <a:gd name="T39" fmla="*/ 27 h 150"/>
                <a:gd name="T40" fmla="*/ 741 w 781"/>
                <a:gd name="T41" fmla="*/ 16 h 150"/>
                <a:gd name="T42" fmla="*/ 679 w 781"/>
                <a:gd name="T43" fmla="*/ 5 h 150"/>
                <a:gd name="T44" fmla="*/ 517 w 781"/>
                <a:gd name="T45" fmla="*/ 0 h 150"/>
                <a:gd name="T46" fmla="*/ 389 w 781"/>
                <a:gd name="T47" fmla="*/ 0 h 150"/>
                <a:gd name="T48" fmla="*/ 219 w 781"/>
                <a:gd name="T49" fmla="*/ 1 h 150"/>
                <a:gd name="T50" fmla="*/ 74 w 781"/>
                <a:gd name="T51" fmla="*/ 7 h 150"/>
                <a:gd name="T52" fmla="*/ 26 w 781"/>
                <a:gd name="T53" fmla="*/ 15 h 150"/>
                <a:gd name="T54" fmla="*/ 18 w 781"/>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 h="150">
                  <a:moveTo>
                    <a:pt x="18" y="20"/>
                  </a:moveTo>
                  <a:lnTo>
                    <a:pt x="9" y="31"/>
                  </a:lnTo>
                  <a:lnTo>
                    <a:pt x="0" y="59"/>
                  </a:lnTo>
                  <a:lnTo>
                    <a:pt x="0" y="91"/>
                  </a:lnTo>
                  <a:lnTo>
                    <a:pt x="9" y="120"/>
                  </a:lnTo>
                  <a:lnTo>
                    <a:pt x="18" y="130"/>
                  </a:lnTo>
                  <a:lnTo>
                    <a:pt x="26" y="136"/>
                  </a:lnTo>
                  <a:lnTo>
                    <a:pt x="74" y="143"/>
                  </a:lnTo>
                  <a:lnTo>
                    <a:pt x="219" y="150"/>
                  </a:lnTo>
                  <a:lnTo>
                    <a:pt x="389" y="150"/>
                  </a:lnTo>
                  <a:lnTo>
                    <a:pt x="517" y="150"/>
                  </a:lnTo>
                  <a:lnTo>
                    <a:pt x="679" y="145"/>
                  </a:lnTo>
                  <a:lnTo>
                    <a:pt x="741" y="135"/>
                  </a:lnTo>
                  <a:lnTo>
                    <a:pt x="765" y="124"/>
                  </a:lnTo>
                  <a:lnTo>
                    <a:pt x="777" y="108"/>
                  </a:lnTo>
                  <a:lnTo>
                    <a:pt x="781" y="88"/>
                  </a:lnTo>
                  <a:lnTo>
                    <a:pt x="781" y="75"/>
                  </a:lnTo>
                  <a:lnTo>
                    <a:pt x="781" y="63"/>
                  </a:lnTo>
                  <a:lnTo>
                    <a:pt x="777" y="42"/>
                  </a:lnTo>
                  <a:lnTo>
                    <a:pt x="765" y="27"/>
                  </a:lnTo>
                  <a:lnTo>
                    <a:pt x="741" y="16"/>
                  </a:lnTo>
                  <a:lnTo>
                    <a:pt x="679" y="5"/>
                  </a:lnTo>
                  <a:lnTo>
                    <a:pt x="517" y="0"/>
                  </a:lnTo>
                  <a:lnTo>
                    <a:pt x="389" y="0"/>
                  </a:lnTo>
                  <a:lnTo>
                    <a:pt x="219" y="1"/>
                  </a:lnTo>
                  <a:lnTo>
                    <a:pt x="74" y="7"/>
                  </a:lnTo>
                  <a:lnTo>
                    <a:pt x="26" y="15"/>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135">
              <a:extLst>
                <a:ext uri="{FF2B5EF4-FFF2-40B4-BE49-F238E27FC236}">
                  <a16:creationId xmlns:a16="http://schemas.microsoft.com/office/drawing/2014/main" id="{EF643032-7B3C-43EB-98F8-6B30D69685C4}"/>
                </a:ext>
              </a:extLst>
            </p:cNvPr>
            <p:cNvSpPr>
              <a:spLocks/>
            </p:cNvSpPr>
            <p:nvPr/>
          </p:nvSpPr>
          <p:spPr bwMode="auto">
            <a:xfrm>
              <a:off x="1425575" y="3513138"/>
              <a:ext cx="309563" cy="58738"/>
            </a:xfrm>
            <a:custGeom>
              <a:avLst/>
              <a:gdLst>
                <a:gd name="T0" fmla="*/ 27 w 783"/>
                <a:gd name="T1" fmla="*/ 27 h 150"/>
                <a:gd name="T2" fmla="*/ 16 w 783"/>
                <a:gd name="T3" fmla="*/ 38 h 150"/>
                <a:gd name="T4" fmla="*/ 1 w 783"/>
                <a:gd name="T5" fmla="*/ 65 h 150"/>
                <a:gd name="T6" fmla="*/ 0 w 783"/>
                <a:gd name="T7" fmla="*/ 75 h 150"/>
                <a:gd name="T8" fmla="*/ 1 w 783"/>
                <a:gd name="T9" fmla="*/ 86 h 150"/>
                <a:gd name="T10" fmla="*/ 16 w 783"/>
                <a:gd name="T11" fmla="*/ 112 h 150"/>
                <a:gd name="T12" fmla="*/ 27 w 783"/>
                <a:gd name="T13" fmla="*/ 124 h 150"/>
                <a:gd name="T14" fmla="*/ 36 w 783"/>
                <a:gd name="T15" fmla="*/ 132 h 150"/>
                <a:gd name="T16" fmla="*/ 75 w 783"/>
                <a:gd name="T17" fmla="*/ 143 h 150"/>
                <a:gd name="T18" fmla="*/ 209 w 783"/>
                <a:gd name="T19" fmla="*/ 150 h 150"/>
                <a:gd name="T20" fmla="*/ 398 w 783"/>
                <a:gd name="T21" fmla="*/ 150 h 150"/>
                <a:gd name="T22" fmla="*/ 523 w 783"/>
                <a:gd name="T23" fmla="*/ 150 h 150"/>
                <a:gd name="T24" fmla="*/ 683 w 783"/>
                <a:gd name="T25" fmla="*/ 145 h 150"/>
                <a:gd name="T26" fmla="*/ 744 w 783"/>
                <a:gd name="T27" fmla="*/ 135 h 150"/>
                <a:gd name="T28" fmla="*/ 767 w 783"/>
                <a:gd name="T29" fmla="*/ 124 h 150"/>
                <a:gd name="T30" fmla="*/ 779 w 783"/>
                <a:gd name="T31" fmla="*/ 108 h 150"/>
                <a:gd name="T32" fmla="*/ 783 w 783"/>
                <a:gd name="T33" fmla="*/ 88 h 150"/>
                <a:gd name="T34" fmla="*/ 783 w 783"/>
                <a:gd name="T35" fmla="*/ 75 h 150"/>
                <a:gd name="T36" fmla="*/ 783 w 783"/>
                <a:gd name="T37" fmla="*/ 63 h 150"/>
                <a:gd name="T38" fmla="*/ 779 w 783"/>
                <a:gd name="T39" fmla="*/ 42 h 150"/>
                <a:gd name="T40" fmla="*/ 767 w 783"/>
                <a:gd name="T41" fmla="*/ 27 h 150"/>
                <a:gd name="T42" fmla="*/ 744 w 783"/>
                <a:gd name="T43" fmla="*/ 16 h 150"/>
                <a:gd name="T44" fmla="*/ 683 w 783"/>
                <a:gd name="T45" fmla="*/ 5 h 150"/>
                <a:gd name="T46" fmla="*/ 523 w 783"/>
                <a:gd name="T47" fmla="*/ 0 h 150"/>
                <a:gd name="T48" fmla="*/ 398 w 783"/>
                <a:gd name="T49" fmla="*/ 0 h 150"/>
                <a:gd name="T50" fmla="*/ 209 w 783"/>
                <a:gd name="T51" fmla="*/ 1 h 150"/>
                <a:gd name="T52" fmla="*/ 75 w 783"/>
                <a:gd name="T53" fmla="*/ 8 h 150"/>
                <a:gd name="T54" fmla="*/ 36 w 783"/>
                <a:gd name="T55" fmla="*/ 19 h 150"/>
                <a:gd name="T56" fmla="*/ 27 w 783"/>
                <a:gd name="T5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83" h="150">
                  <a:moveTo>
                    <a:pt x="27" y="27"/>
                  </a:moveTo>
                  <a:lnTo>
                    <a:pt x="16" y="38"/>
                  </a:lnTo>
                  <a:lnTo>
                    <a:pt x="1" y="65"/>
                  </a:lnTo>
                  <a:lnTo>
                    <a:pt x="0" y="75"/>
                  </a:lnTo>
                  <a:lnTo>
                    <a:pt x="1" y="86"/>
                  </a:lnTo>
                  <a:lnTo>
                    <a:pt x="16" y="112"/>
                  </a:lnTo>
                  <a:lnTo>
                    <a:pt x="27" y="124"/>
                  </a:lnTo>
                  <a:lnTo>
                    <a:pt x="36" y="132"/>
                  </a:lnTo>
                  <a:lnTo>
                    <a:pt x="75" y="143"/>
                  </a:lnTo>
                  <a:lnTo>
                    <a:pt x="209" y="150"/>
                  </a:lnTo>
                  <a:lnTo>
                    <a:pt x="398" y="150"/>
                  </a:lnTo>
                  <a:lnTo>
                    <a:pt x="523" y="150"/>
                  </a:lnTo>
                  <a:lnTo>
                    <a:pt x="683" y="145"/>
                  </a:lnTo>
                  <a:lnTo>
                    <a:pt x="744" y="135"/>
                  </a:lnTo>
                  <a:lnTo>
                    <a:pt x="767" y="124"/>
                  </a:lnTo>
                  <a:lnTo>
                    <a:pt x="779" y="108"/>
                  </a:lnTo>
                  <a:lnTo>
                    <a:pt x="783" y="88"/>
                  </a:lnTo>
                  <a:lnTo>
                    <a:pt x="783" y="75"/>
                  </a:lnTo>
                  <a:lnTo>
                    <a:pt x="783" y="63"/>
                  </a:lnTo>
                  <a:lnTo>
                    <a:pt x="779" y="42"/>
                  </a:lnTo>
                  <a:lnTo>
                    <a:pt x="767" y="27"/>
                  </a:lnTo>
                  <a:lnTo>
                    <a:pt x="744" y="16"/>
                  </a:lnTo>
                  <a:lnTo>
                    <a:pt x="683" y="5"/>
                  </a:lnTo>
                  <a:lnTo>
                    <a:pt x="523" y="0"/>
                  </a:lnTo>
                  <a:lnTo>
                    <a:pt x="398" y="0"/>
                  </a:lnTo>
                  <a:lnTo>
                    <a:pt x="209" y="1"/>
                  </a:lnTo>
                  <a:lnTo>
                    <a:pt x="75" y="8"/>
                  </a:lnTo>
                  <a:lnTo>
                    <a:pt x="36" y="19"/>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136">
              <a:extLst>
                <a:ext uri="{FF2B5EF4-FFF2-40B4-BE49-F238E27FC236}">
                  <a16:creationId xmlns:a16="http://schemas.microsoft.com/office/drawing/2014/main" id="{967064EC-F4E6-47A7-85B2-BCB343829992}"/>
                </a:ext>
              </a:extLst>
            </p:cNvPr>
            <p:cNvSpPr>
              <a:spLocks/>
            </p:cNvSpPr>
            <p:nvPr/>
          </p:nvSpPr>
          <p:spPr bwMode="auto">
            <a:xfrm>
              <a:off x="639763" y="3630613"/>
              <a:ext cx="220663" cy="58738"/>
            </a:xfrm>
            <a:custGeom>
              <a:avLst/>
              <a:gdLst>
                <a:gd name="T0" fmla="*/ 19 w 556"/>
                <a:gd name="T1" fmla="*/ 20 h 148"/>
                <a:gd name="T2" fmla="*/ 10 w 556"/>
                <a:gd name="T3" fmla="*/ 31 h 148"/>
                <a:gd name="T4" fmla="*/ 0 w 556"/>
                <a:gd name="T5" fmla="*/ 61 h 148"/>
                <a:gd name="T6" fmla="*/ 1 w 556"/>
                <a:gd name="T7" fmla="*/ 94 h 148"/>
                <a:gd name="T8" fmla="*/ 12 w 556"/>
                <a:gd name="T9" fmla="*/ 122 h 148"/>
                <a:gd name="T10" fmla="*/ 22 w 556"/>
                <a:gd name="T11" fmla="*/ 132 h 148"/>
                <a:gd name="T12" fmla="*/ 30 w 556"/>
                <a:gd name="T13" fmla="*/ 137 h 148"/>
                <a:gd name="T14" fmla="*/ 68 w 556"/>
                <a:gd name="T15" fmla="*/ 144 h 148"/>
                <a:gd name="T16" fmla="*/ 171 w 556"/>
                <a:gd name="T17" fmla="*/ 148 h 148"/>
                <a:gd name="T18" fmla="*/ 282 w 556"/>
                <a:gd name="T19" fmla="*/ 147 h 148"/>
                <a:gd name="T20" fmla="*/ 421 w 556"/>
                <a:gd name="T21" fmla="*/ 143 h 148"/>
                <a:gd name="T22" fmla="*/ 510 w 556"/>
                <a:gd name="T23" fmla="*/ 133 h 148"/>
                <a:gd name="T24" fmla="*/ 534 w 556"/>
                <a:gd name="T25" fmla="*/ 119 h 148"/>
                <a:gd name="T26" fmla="*/ 542 w 556"/>
                <a:gd name="T27" fmla="*/ 109 h 148"/>
                <a:gd name="T28" fmla="*/ 549 w 556"/>
                <a:gd name="T29" fmla="*/ 98 h 148"/>
                <a:gd name="T30" fmla="*/ 556 w 556"/>
                <a:gd name="T31" fmla="*/ 81 h 148"/>
                <a:gd name="T32" fmla="*/ 555 w 556"/>
                <a:gd name="T33" fmla="*/ 66 h 148"/>
                <a:gd name="T34" fmla="*/ 546 w 556"/>
                <a:gd name="T35" fmla="*/ 48 h 148"/>
                <a:gd name="T36" fmla="*/ 539 w 556"/>
                <a:gd name="T37" fmla="*/ 37 h 148"/>
                <a:gd name="T38" fmla="*/ 530 w 556"/>
                <a:gd name="T39" fmla="*/ 25 h 148"/>
                <a:gd name="T40" fmla="*/ 506 w 556"/>
                <a:gd name="T41" fmla="*/ 10 h 148"/>
                <a:gd name="T42" fmla="*/ 454 w 556"/>
                <a:gd name="T43" fmla="*/ 2 h 148"/>
                <a:gd name="T44" fmla="*/ 354 w 556"/>
                <a:gd name="T45" fmla="*/ 0 h 148"/>
                <a:gd name="T46" fmla="*/ 275 w 556"/>
                <a:gd name="T47" fmla="*/ 0 h 148"/>
                <a:gd name="T48" fmla="*/ 164 w 556"/>
                <a:gd name="T49" fmla="*/ 1 h 148"/>
                <a:gd name="T50" fmla="*/ 62 w 556"/>
                <a:gd name="T51" fmla="*/ 8 h 148"/>
                <a:gd name="T52" fmla="*/ 26 w 556"/>
                <a:gd name="T53" fmla="*/ 16 h 148"/>
                <a:gd name="T54" fmla="*/ 19 w 556"/>
                <a:gd name="T55" fmla="*/ 2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6" h="148">
                  <a:moveTo>
                    <a:pt x="19" y="20"/>
                  </a:moveTo>
                  <a:lnTo>
                    <a:pt x="10" y="31"/>
                  </a:lnTo>
                  <a:lnTo>
                    <a:pt x="0" y="61"/>
                  </a:lnTo>
                  <a:lnTo>
                    <a:pt x="1" y="94"/>
                  </a:lnTo>
                  <a:lnTo>
                    <a:pt x="12" y="122"/>
                  </a:lnTo>
                  <a:lnTo>
                    <a:pt x="22" y="132"/>
                  </a:lnTo>
                  <a:lnTo>
                    <a:pt x="30" y="137"/>
                  </a:lnTo>
                  <a:lnTo>
                    <a:pt x="68" y="144"/>
                  </a:lnTo>
                  <a:lnTo>
                    <a:pt x="171" y="148"/>
                  </a:lnTo>
                  <a:lnTo>
                    <a:pt x="282" y="147"/>
                  </a:lnTo>
                  <a:lnTo>
                    <a:pt x="421" y="143"/>
                  </a:lnTo>
                  <a:lnTo>
                    <a:pt x="510" y="133"/>
                  </a:lnTo>
                  <a:lnTo>
                    <a:pt x="534" y="119"/>
                  </a:lnTo>
                  <a:lnTo>
                    <a:pt x="542" y="109"/>
                  </a:lnTo>
                  <a:lnTo>
                    <a:pt x="549" y="98"/>
                  </a:lnTo>
                  <a:lnTo>
                    <a:pt x="556" y="81"/>
                  </a:lnTo>
                  <a:lnTo>
                    <a:pt x="555" y="66"/>
                  </a:lnTo>
                  <a:lnTo>
                    <a:pt x="546" y="48"/>
                  </a:lnTo>
                  <a:lnTo>
                    <a:pt x="539" y="37"/>
                  </a:lnTo>
                  <a:lnTo>
                    <a:pt x="530" y="25"/>
                  </a:lnTo>
                  <a:lnTo>
                    <a:pt x="506" y="10"/>
                  </a:lnTo>
                  <a:lnTo>
                    <a:pt x="454" y="2"/>
                  </a:lnTo>
                  <a:lnTo>
                    <a:pt x="354" y="0"/>
                  </a:lnTo>
                  <a:lnTo>
                    <a:pt x="275" y="0"/>
                  </a:lnTo>
                  <a:lnTo>
                    <a:pt x="164" y="1"/>
                  </a:lnTo>
                  <a:lnTo>
                    <a:pt x="62" y="8"/>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137">
              <a:extLst>
                <a:ext uri="{FF2B5EF4-FFF2-40B4-BE49-F238E27FC236}">
                  <a16:creationId xmlns:a16="http://schemas.microsoft.com/office/drawing/2014/main" id="{99EBC380-C930-4574-BBD5-D1E5275D19AB}"/>
                </a:ext>
              </a:extLst>
            </p:cNvPr>
            <p:cNvSpPr>
              <a:spLocks/>
            </p:cNvSpPr>
            <p:nvPr/>
          </p:nvSpPr>
          <p:spPr bwMode="auto">
            <a:xfrm>
              <a:off x="1425575" y="3630613"/>
              <a:ext cx="206375" cy="58738"/>
            </a:xfrm>
            <a:custGeom>
              <a:avLst/>
              <a:gdLst>
                <a:gd name="T0" fmla="*/ 24 w 521"/>
                <a:gd name="T1" fmla="*/ 27 h 149"/>
                <a:gd name="T2" fmla="*/ 12 w 521"/>
                <a:gd name="T3" fmla="*/ 39 h 149"/>
                <a:gd name="T4" fmla="*/ 0 w 521"/>
                <a:gd name="T5" fmla="*/ 64 h 149"/>
                <a:gd name="T6" fmla="*/ 0 w 521"/>
                <a:gd name="T7" fmla="*/ 88 h 149"/>
                <a:gd name="T8" fmla="*/ 12 w 521"/>
                <a:gd name="T9" fmla="*/ 112 h 149"/>
                <a:gd name="T10" fmla="*/ 24 w 521"/>
                <a:gd name="T11" fmla="*/ 125 h 149"/>
                <a:gd name="T12" fmla="*/ 32 w 521"/>
                <a:gd name="T13" fmla="*/ 133 h 149"/>
                <a:gd name="T14" fmla="*/ 62 w 521"/>
                <a:gd name="T15" fmla="*/ 143 h 149"/>
                <a:gd name="T16" fmla="*/ 149 w 521"/>
                <a:gd name="T17" fmla="*/ 149 h 149"/>
                <a:gd name="T18" fmla="*/ 267 w 521"/>
                <a:gd name="T19" fmla="*/ 147 h 149"/>
                <a:gd name="T20" fmla="*/ 394 w 521"/>
                <a:gd name="T21" fmla="*/ 143 h 149"/>
                <a:gd name="T22" fmla="*/ 476 w 521"/>
                <a:gd name="T23" fmla="*/ 133 h 149"/>
                <a:gd name="T24" fmla="*/ 499 w 521"/>
                <a:gd name="T25" fmla="*/ 119 h 149"/>
                <a:gd name="T26" fmla="*/ 507 w 521"/>
                <a:gd name="T27" fmla="*/ 109 h 149"/>
                <a:gd name="T28" fmla="*/ 514 w 521"/>
                <a:gd name="T29" fmla="*/ 98 h 149"/>
                <a:gd name="T30" fmla="*/ 521 w 521"/>
                <a:gd name="T31" fmla="*/ 81 h 149"/>
                <a:gd name="T32" fmla="*/ 520 w 521"/>
                <a:gd name="T33" fmla="*/ 66 h 149"/>
                <a:gd name="T34" fmla="*/ 511 w 521"/>
                <a:gd name="T35" fmla="*/ 48 h 149"/>
                <a:gd name="T36" fmla="*/ 504 w 521"/>
                <a:gd name="T37" fmla="*/ 37 h 149"/>
                <a:gd name="T38" fmla="*/ 495 w 521"/>
                <a:gd name="T39" fmla="*/ 25 h 149"/>
                <a:gd name="T40" fmla="*/ 472 w 521"/>
                <a:gd name="T41" fmla="*/ 10 h 149"/>
                <a:gd name="T42" fmla="*/ 424 w 521"/>
                <a:gd name="T43" fmla="*/ 2 h 149"/>
                <a:gd name="T44" fmla="*/ 333 w 521"/>
                <a:gd name="T45" fmla="*/ 0 h 149"/>
                <a:gd name="T46" fmla="*/ 264 w 521"/>
                <a:gd name="T47" fmla="*/ 0 h 149"/>
                <a:gd name="T48" fmla="*/ 150 w 521"/>
                <a:gd name="T49" fmla="*/ 1 h 149"/>
                <a:gd name="T50" fmla="*/ 62 w 521"/>
                <a:gd name="T51" fmla="*/ 9 h 149"/>
                <a:gd name="T52" fmla="*/ 32 w 521"/>
                <a:gd name="T53" fmla="*/ 19 h 149"/>
                <a:gd name="T54" fmla="*/ 24 w 521"/>
                <a:gd name="T55" fmla="*/ 27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1" h="149">
                  <a:moveTo>
                    <a:pt x="24" y="27"/>
                  </a:moveTo>
                  <a:lnTo>
                    <a:pt x="12" y="39"/>
                  </a:lnTo>
                  <a:lnTo>
                    <a:pt x="0" y="64"/>
                  </a:lnTo>
                  <a:lnTo>
                    <a:pt x="0" y="88"/>
                  </a:lnTo>
                  <a:lnTo>
                    <a:pt x="12" y="112"/>
                  </a:lnTo>
                  <a:lnTo>
                    <a:pt x="24" y="125"/>
                  </a:lnTo>
                  <a:lnTo>
                    <a:pt x="32" y="133"/>
                  </a:lnTo>
                  <a:lnTo>
                    <a:pt x="62" y="143"/>
                  </a:lnTo>
                  <a:lnTo>
                    <a:pt x="149" y="149"/>
                  </a:lnTo>
                  <a:lnTo>
                    <a:pt x="267" y="147"/>
                  </a:lnTo>
                  <a:lnTo>
                    <a:pt x="394" y="143"/>
                  </a:lnTo>
                  <a:lnTo>
                    <a:pt x="476" y="133"/>
                  </a:lnTo>
                  <a:lnTo>
                    <a:pt x="499" y="119"/>
                  </a:lnTo>
                  <a:lnTo>
                    <a:pt x="507" y="109"/>
                  </a:lnTo>
                  <a:lnTo>
                    <a:pt x="514" y="98"/>
                  </a:lnTo>
                  <a:lnTo>
                    <a:pt x="521" y="81"/>
                  </a:lnTo>
                  <a:lnTo>
                    <a:pt x="520" y="66"/>
                  </a:lnTo>
                  <a:lnTo>
                    <a:pt x="511" y="48"/>
                  </a:lnTo>
                  <a:lnTo>
                    <a:pt x="504" y="37"/>
                  </a:lnTo>
                  <a:lnTo>
                    <a:pt x="495" y="25"/>
                  </a:lnTo>
                  <a:lnTo>
                    <a:pt x="472" y="10"/>
                  </a:lnTo>
                  <a:lnTo>
                    <a:pt x="424" y="2"/>
                  </a:lnTo>
                  <a:lnTo>
                    <a:pt x="333" y="0"/>
                  </a:lnTo>
                  <a:lnTo>
                    <a:pt x="264" y="0"/>
                  </a:lnTo>
                  <a:lnTo>
                    <a:pt x="150" y="1"/>
                  </a:lnTo>
                  <a:lnTo>
                    <a:pt x="62" y="9"/>
                  </a:lnTo>
                  <a:lnTo>
                    <a:pt x="32" y="1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138">
              <a:extLst>
                <a:ext uri="{FF2B5EF4-FFF2-40B4-BE49-F238E27FC236}">
                  <a16:creationId xmlns:a16="http://schemas.microsoft.com/office/drawing/2014/main" id="{F4F10398-6068-4F70-88D5-C97BFDFCAC7D}"/>
                </a:ext>
              </a:extLst>
            </p:cNvPr>
            <p:cNvSpPr>
              <a:spLocks noEditPoints="1"/>
            </p:cNvSpPr>
            <p:nvPr/>
          </p:nvSpPr>
          <p:spPr bwMode="auto">
            <a:xfrm>
              <a:off x="1009650" y="3763963"/>
              <a:ext cx="401638" cy="319088"/>
            </a:xfrm>
            <a:custGeom>
              <a:avLst/>
              <a:gdLst>
                <a:gd name="T0" fmla="*/ 803 w 1015"/>
                <a:gd name="T1" fmla="*/ 98 h 806"/>
                <a:gd name="T2" fmla="*/ 97 w 1015"/>
                <a:gd name="T3" fmla="*/ 98 h 806"/>
                <a:gd name="T4" fmla="*/ 0 w 1015"/>
                <a:gd name="T5" fmla="*/ 194 h 806"/>
                <a:gd name="T6" fmla="*/ 0 w 1015"/>
                <a:gd name="T7" fmla="*/ 540 h 806"/>
                <a:gd name="T8" fmla="*/ 10 w 1015"/>
                <a:gd name="T9" fmla="*/ 710 h 806"/>
                <a:gd name="T10" fmla="*/ 40 w 1015"/>
                <a:gd name="T11" fmla="*/ 759 h 806"/>
                <a:gd name="T12" fmla="*/ 450 w 1015"/>
                <a:gd name="T13" fmla="*/ 806 h 806"/>
                <a:gd name="T14" fmla="*/ 860 w 1015"/>
                <a:gd name="T15" fmla="*/ 759 h 806"/>
                <a:gd name="T16" fmla="*/ 890 w 1015"/>
                <a:gd name="T17" fmla="*/ 710 h 806"/>
                <a:gd name="T18" fmla="*/ 900 w 1015"/>
                <a:gd name="T19" fmla="*/ 550 h 806"/>
                <a:gd name="T20" fmla="*/ 900 w 1015"/>
                <a:gd name="T21" fmla="*/ 226 h 806"/>
                <a:gd name="T22" fmla="*/ 981 w 1015"/>
                <a:gd name="T23" fmla="*/ 137 h 806"/>
                <a:gd name="T24" fmla="*/ 1015 w 1015"/>
                <a:gd name="T25" fmla="*/ 74 h 806"/>
                <a:gd name="T26" fmla="*/ 1001 w 1015"/>
                <a:gd name="T27" fmla="*/ 40 h 806"/>
                <a:gd name="T28" fmla="*/ 971 w 1015"/>
                <a:gd name="T29" fmla="*/ 13 h 806"/>
                <a:gd name="T30" fmla="*/ 919 w 1015"/>
                <a:gd name="T31" fmla="*/ 5 h 806"/>
                <a:gd name="T32" fmla="*/ 862 w 1015"/>
                <a:gd name="T33" fmla="*/ 48 h 806"/>
                <a:gd name="T34" fmla="*/ 458 w 1015"/>
                <a:gd name="T35" fmla="*/ 413 h 806"/>
                <a:gd name="T36" fmla="*/ 388 w 1015"/>
                <a:gd name="T37" fmla="*/ 345 h 806"/>
                <a:gd name="T38" fmla="*/ 343 w 1015"/>
                <a:gd name="T39" fmla="*/ 318 h 806"/>
                <a:gd name="T40" fmla="*/ 308 w 1015"/>
                <a:gd name="T41" fmla="*/ 328 h 806"/>
                <a:gd name="T42" fmla="*/ 281 w 1015"/>
                <a:gd name="T43" fmla="*/ 346 h 806"/>
                <a:gd name="T44" fmla="*/ 268 w 1015"/>
                <a:gd name="T45" fmla="*/ 380 h 806"/>
                <a:gd name="T46" fmla="*/ 281 w 1015"/>
                <a:gd name="T47" fmla="*/ 427 h 806"/>
                <a:gd name="T48" fmla="*/ 335 w 1015"/>
                <a:gd name="T49" fmla="*/ 509 h 806"/>
                <a:gd name="T50" fmla="*/ 408 w 1015"/>
                <a:gd name="T51" fmla="*/ 585 h 806"/>
                <a:gd name="T52" fmla="*/ 460 w 1015"/>
                <a:gd name="T53" fmla="*/ 594 h 806"/>
                <a:gd name="T54" fmla="*/ 542 w 1015"/>
                <a:gd name="T55" fmla="*/ 544 h 806"/>
                <a:gd name="T56" fmla="*/ 648 w 1015"/>
                <a:gd name="T57" fmla="*/ 445 h 806"/>
                <a:gd name="T58" fmla="*/ 726 w 1015"/>
                <a:gd name="T59" fmla="*/ 381 h 806"/>
                <a:gd name="T60" fmla="*/ 748 w 1015"/>
                <a:gd name="T61" fmla="*/ 399 h 806"/>
                <a:gd name="T62" fmla="*/ 750 w 1015"/>
                <a:gd name="T63" fmla="*/ 513 h 806"/>
                <a:gd name="T64" fmla="*/ 450 w 1015"/>
                <a:gd name="T65" fmla="*/ 664 h 806"/>
                <a:gd name="T66" fmla="*/ 150 w 1015"/>
                <a:gd name="T67" fmla="*/ 456 h 806"/>
                <a:gd name="T68" fmla="*/ 397 w 1015"/>
                <a:gd name="T69" fmla="*/ 248 h 806"/>
                <a:gd name="T70" fmla="*/ 550 w 1015"/>
                <a:gd name="T71" fmla="*/ 331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5" h="806">
                  <a:moveTo>
                    <a:pt x="862" y="48"/>
                  </a:moveTo>
                  <a:lnTo>
                    <a:pt x="803" y="98"/>
                  </a:lnTo>
                  <a:lnTo>
                    <a:pt x="450" y="98"/>
                  </a:lnTo>
                  <a:lnTo>
                    <a:pt x="97" y="98"/>
                  </a:lnTo>
                  <a:lnTo>
                    <a:pt x="48" y="146"/>
                  </a:lnTo>
                  <a:lnTo>
                    <a:pt x="0" y="194"/>
                  </a:lnTo>
                  <a:lnTo>
                    <a:pt x="0" y="454"/>
                  </a:lnTo>
                  <a:lnTo>
                    <a:pt x="0" y="540"/>
                  </a:lnTo>
                  <a:lnTo>
                    <a:pt x="2" y="650"/>
                  </a:lnTo>
                  <a:lnTo>
                    <a:pt x="10" y="710"/>
                  </a:lnTo>
                  <a:lnTo>
                    <a:pt x="27" y="744"/>
                  </a:lnTo>
                  <a:lnTo>
                    <a:pt x="40" y="759"/>
                  </a:lnTo>
                  <a:lnTo>
                    <a:pt x="80" y="806"/>
                  </a:lnTo>
                  <a:lnTo>
                    <a:pt x="450" y="806"/>
                  </a:lnTo>
                  <a:lnTo>
                    <a:pt x="820" y="806"/>
                  </a:lnTo>
                  <a:lnTo>
                    <a:pt x="860" y="759"/>
                  </a:lnTo>
                  <a:lnTo>
                    <a:pt x="873" y="744"/>
                  </a:lnTo>
                  <a:lnTo>
                    <a:pt x="890" y="710"/>
                  </a:lnTo>
                  <a:lnTo>
                    <a:pt x="898" y="654"/>
                  </a:lnTo>
                  <a:lnTo>
                    <a:pt x="900" y="550"/>
                  </a:lnTo>
                  <a:lnTo>
                    <a:pt x="900" y="469"/>
                  </a:lnTo>
                  <a:lnTo>
                    <a:pt x="900" y="226"/>
                  </a:lnTo>
                  <a:lnTo>
                    <a:pt x="958" y="163"/>
                  </a:lnTo>
                  <a:lnTo>
                    <a:pt x="981" y="137"/>
                  </a:lnTo>
                  <a:lnTo>
                    <a:pt x="1009" y="97"/>
                  </a:lnTo>
                  <a:lnTo>
                    <a:pt x="1015" y="74"/>
                  </a:lnTo>
                  <a:lnTo>
                    <a:pt x="1013" y="60"/>
                  </a:lnTo>
                  <a:lnTo>
                    <a:pt x="1001" y="40"/>
                  </a:lnTo>
                  <a:lnTo>
                    <a:pt x="987" y="26"/>
                  </a:lnTo>
                  <a:lnTo>
                    <a:pt x="971" y="13"/>
                  </a:lnTo>
                  <a:lnTo>
                    <a:pt x="945" y="0"/>
                  </a:lnTo>
                  <a:lnTo>
                    <a:pt x="919" y="5"/>
                  </a:lnTo>
                  <a:lnTo>
                    <a:pt x="885" y="28"/>
                  </a:lnTo>
                  <a:lnTo>
                    <a:pt x="862" y="48"/>
                  </a:lnTo>
                  <a:close/>
                  <a:moveTo>
                    <a:pt x="550" y="331"/>
                  </a:moveTo>
                  <a:lnTo>
                    <a:pt x="458" y="413"/>
                  </a:lnTo>
                  <a:lnTo>
                    <a:pt x="405" y="361"/>
                  </a:lnTo>
                  <a:lnTo>
                    <a:pt x="388" y="345"/>
                  </a:lnTo>
                  <a:lnTo>
                    <a:pt x="363" y="325"/>
                  </a:lnTo>
                  <a:lnTo>
                    <a:pt x="343" y="318"/>
                  </a:lnTo>
                  <a:lnTo>
                    <a:pt x="322" y="322"/>
                  </a:lnTo>
                  <a:lnTo>
                    <a:pt x="308" y="328"/>
                  </a:lnTo>
                  <a:lnTo>
                    <a:pt x="298" y="333"/>
                  </a:lnTo>
                  <a:lnTo>
                    <a:pt x="281" y="346"/>
                  </a:lnTo>
                  <a:lnTo>
                    <a:pt x="272" y="361"/>
                  </a:lnTo>
                  <a:lnTo>
                    <a:pt x="268" y="380"/>
                  </a:lnTo>
                  <a:lnTo>
                    <a:pt x="271" y="402"/>
                  </a:lnTo>
                  <a:lnTo>
                    <a:pt x="281" y="427"/>
                  </a:lnTo>
                  <a:lnTo>
                    <a:pt x="307" y="472"/>
                  </a:lnTo>
                  <a:lnTo>
                    <a:pt x="335" y="509"/>
                  </a:lnTo>
                  <a:lnTo>
                    <a:pt x="367" y="549"/>
                  </a:lnTo>
                  <a:lnTo>
                    <a:pt x="408" y="585"/>
                  </a:lnTo>
                  <a:lnTo>
                    <a:pt x="434" y="595"/>
                  </a:lnTo>
                  <a:lnTo>
                    <a:pt x="460" y="594"/>
                  </a:lnTo>
                  <a:lnTo>
                    <a:pt x="489" y="582"/>
                  </a:lnTo>
                  <a:lnTo>
                    <a:pt x="542" y="544"/>
                  </a:lnTo>
                  <a:lnTo>
                    <a:pt x="588" y="501"/>
                  </a:lnTo>
                  <a:lnTo>
                    <a:pt x="648" y="445"/>
                  </a:lnTo>
                  <a:lnTo>
                    <a:pt x="703" y="395"/>
                  </a:lnTo>
                  <a:lnTo>
                    <a:pt x="726" y="381"/>
                  </a:lnTo>
                  <a:lnTo>
                    <a:pt x="741" y="382"/>
                  </a:lnTo>
                  <a:lnTo>
                    <a:pt x="748" y="399"/>
                  </a:lnTo>
                  <a:lnTo>
                    <a:pt x="750" y="453"/>
                  </a:lnTo>
                  <a:lnTo>
                    <a:pt x="750" y="513"/>
                  </a:lnTo>
                  <a:lnTo>
                    <a:pt x="750" y="664"/>
                  </a:lnTo>
                  <a:lnTo>
                    <a:pt x="450" y="664"/>
                  </a:lnTo>
                  <a:lnTo>
                    <a:pt x="150" y="664"/>
                  </a:lnTo>
                  <a:lnTo>
                    <a:pt x="150" y="456"/>
                  </a:lnTo>
                  <a:lnTo>
                    <a:pt x="150" y="248"/>
                  </a:lnTo>
                  <a:lnTo>
                    <a:pt x="397" y="248"/>
                  </a:lnTo>
                  <a:lnTo>
                    <a:pt x="642" y="249"/>
                  </a:lnTo>
                  <a:lnTo>
                    <a:pt x="550"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39">
              <a:extLst>
                <a:ext uri="{FF2B5EF4-FFF2-40B4-BE49-F238E27FC236}">
                  <a16:creationId xmlns:a16="http://schemas.microsoft.com/office/drawing/2014/main" id="{21DEB7FE-D744-40CE-A907-54F98991D39C}"/>
                </a:ext>
              </a:extLst>
            </p:cNvPr>
            <p:cNvSpPr>
              <a:spLocks/>
            </p:cNvSpPr>
            <p:nvPr/>
          </p:nvSpPr>
          <p:spPr bwMode="auto">
            <a:xfrm>
              <a:off x="639763" y="3856038"/>
              <a:ext cx="309563" cy="58738"/>
            </a:xfrm>
            <a:custGeom>
              <a:avLst/>
              <a:gdLst>
                <a:gd name="T0" fmla="*/ 20 w 782"/>
                <a:gd name="T1" fmla="*/ 20 h 150"/>
                <a:gd name="T2" fmla="*/ 10 w 782"/>
                <a:gd name="T3" fmla="*/ 32 h 150"/>
                <a:gd name="T4" fmla="*/ 0 w 782"/>
                <a:gd name="T5" fmla="*/ 64 h 150"/>
                <a:gd name="T6" fmla="*/ 4 w 782"/>
                <a:gd name="T7" fmla="*/ 97 h 150"/>
                <a:gd name="T8" fmla="*/ 19 w 782"/>
                <a:gd name="T9" fmla="*/ 124 h 150"/>
                <a:gd name="T10" fmla="*/ 31 w 782"/>
                <a:gd name="T11" fmla="*/ 133 h 150"/>
                <a:gd name="T12" fmla="*/ 43 w 782"/>
                <a:gd name="T13" fmla="*/ 137 h 150"/>
                <a:gd name="T14" fmla="*/ 102 w 782"/>
                <a:gd name="T15" fmla="*/ 143 h 150"/>
                <a:gd name="T16" fmla="*/ 256 w 782"/>
                <a:gd name="T17" fmla="*/ 149 h 150"/>
                <a:gd name="T18" fmla="*/ 398 w 782"/>
                <a:gd name="T19" fmla="*/ 150 h 150"/>
                <a:gd name="T20" fmla="*/ 580 w 782"/>
                <a:gd name="T21" fmla="*/ 150 h 150"/>
                <a:gd name="T22" fmla="*/ 709 w 782"/>
                <a:gd name="T23" fmla="*/ 142 h 150"/>
                <a:gd name="T24" fmla="*/ 747 w 782"/>
                <a:gd name="T25" fmla="*/ 131 h 150"/>
                <a:gd name="T26" fmla="*/ 756 w 782"/>
                <a:gd name="T27" fmla="*/ 123 h 150"/>
                <a:gd name="T28" fmla="*/ 767 w 782"/>
                <a:gd name="T29" fmla="*/ 112 h 150"/>
                <a:gd name="T30" fmla="*/ 780 w 782"/>
                <a:gd name="T31" fmla="*/ 85 h 150"/>
                <a:gd name="T32" fmla="*/ 782 w 782"/>
                <a:gd name="T33" fmla="*/ 57 h 150"/>
                <a:gd name="T34" fmla="*/ 773 w 782"/>
                <a:gd name="T35" fmla="*/ 31 h 150"/>
                <a:gd name="T36" fmla="*/ 763 w 782"/>
                <a:gd name="T37" fmla="*/ 20 h 150"/>
                <a:gd name="T38" fmla="*/ 753 w 782"/>
                <a:gd name="T39" fmla="*/ 15 h 150"/>
                <a:gd name="T40" fmla="*/ 688 w 782"/>
                <a:gd name="T41" fmla="*/ 7 h 150"/>
                <a:gd name="T42" fmla="*/ 525 w 782"/>
                <a:gd name="T43" fmla="*/ 0 h 150"/>
                <a:gd name="T44" fmla="*/ 257 w 782"/>
                <a:gd name="T45" fmla="*/ 0 h 150"/>
                <a:gd name="T46" fmla="*/ 95 w 782"/>
                <a:gd name="T47" fmla="*/ 7 h 150"/>
                <a:gd name="T48" fmla="*/ 30 w 782"/>
                <a:gd name="T49" fmla="*/ 15 h 150"/>
                <a:gd name="T50" fmla="*/ 20 w 782"/>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0">
                  <a:moveTo>
                    <a:pt x="20" y="20"/>
                  </a:moveTo>
                  <a:lnTo>
                    <a:pt x="10" y="32"/>
                  </a:lnTo>
                  <a:lnTo>
                    <a:pt x="0" y="64"/>
                  </a:lnTo>
                  <a:lnTo>
                    <a:pt x="4" y="97"/>
                  </a:lnTo>
                  <a:lnTo>
                    <a:pt x="19" y="124"/>
                  </a:lnTo>
                  <a:lnTo>
                    <a:pt x="31" y="133"/>
                  </a:lnTo>
                  <a:lnTo>
                    <a:pt x="43" y="137"/>
                  </a:lnTo>
                  <a:lnTo>
                    <a:pt x="102" y="143"/>
                  </a:lnTo>
                  <a:lnTo>
                    <a:pt x="256" y="149"/>
                  </a:lnTo>
                  <a:lnTo>
                    <a:pt x="398" y="150"/>
                  </a:lnTo>
                  <a:lnTo>
                    <a:pt x="580" y="150"/>
                  </a:lnTo>
                  <a:lnTo>
                    <a:pt x="709" y="142"/>
                  </a:lnTo>
                  <a:lnTo>
                    <a:pt x="747" y="131"/>
                  </a:lnTo>
                  <a:lnTo>
                    <a:pt x="756" y="123"/>
                  </a:lnTo>
                  <a:lnTo>
                    <a:pt x="767" y="112"/>
                  </a:lnTo>
                  <a:lnTo>
                    <a:pt x="780" y="85"/>
                  </a:lnTo>
                  <a:lnTo>
                    <a:pt x="782" y="57"/>
                  </a:lnTo>
                  <a:lnTo>
                    <a:pt x="773" y="31"/>
                  </a:lnTo>
                  <a:lnTo>
                    <a:pt x="763" y="20"/>
                  </a:lnTo>
                  <a:lnTo>
                    <a:pt x="753" y="15"/>
                  </a:lnTo>
                  <a:lnTo>
                    <a:pt x="688" y="7"/>
                  </a:lnTo>
                  <a:lnTo>
                    <a:pt x="525" y="0"/>
                  </a:lnTo>
                  <a:lnTo>
                    <a:pt x="257" y="0"/>
                  </a:lnTo>
                  <a:lnTo>
                    <a:pt x="95" y="7"/>
                  </a:lnTo>
                  <a:lnTo>
                    <a:pt x="30"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140">
              <a:extLst>
                <a:ext uri="{FF2B5EF4-FFF2-40B4-BE49-F238E27FC236}">
                  <a16:creationId xmlns:a16="http://schemas.microsoft.com/office/drawing/2014/main" id="{E14D490B-61E8-425D-B59E-3FA87B96847B}"/>
                </a:ext>
              </a:extLst>
            </p:cNvPr>
            <p:cNvSpPr>
              <a:spLocks/>
            </p:cNvSpPr>
            <p:nvPr/>
          </p:nvSpPr>
          <p:spPr bwMode="auto">
            <a:xfrm>
              <a:off x="1425575" y="3856038"/>
              <a:ext cx="309563" cy="58738"/>
            </a:xfrm>
            <a:custGeom>
              <a:avLst/>
              <a:gdLst>
                <a:gd name="T0" fmla="*/ 19 w 782"/>
                <a:gd name="T1" fmla="*/ 20 h 150"/>
                <a:gd name="T2" fmla="*/ 9 w 782"/>
                <a:gd name="T3" fmla="*/ 31 h 150"/>
                <a:gd name="T4" fmla="*/ 0 w 782"/>
                <a:gd name="T5" fmla="*/ 57 h 150"/>
                <a:gd name="T6" fmla="*/ 2 w 782"/>
                <a:gd name="T7" fmla="*/ 85 h 150"/>
                <a:gd name="T8" fmla="*/ 15 w 782"/>
                <a:gd name="T9" fmla="*/ 112 h 150"/>
                <a:gd name="T10" fmla="*/ 26 w 782"/>
                <a:gd name="T11" fmla="*/ 123 h 150"/>
                <a:gd name="T12" fmla="*/ 35 w 782"/>
                <a:gd name="T13" fmla="*/ 131 h 150"/>
                <a:gd name="T14" fmla="*/ 74 w 782"/>
                <a:gd name="T15" fmla="*/ 142 h 150"/>
                <a:gd name="T16" fmla="*/ 208 w 782"/>
                <a:gd name="T17" fmla="*/ 150 h 150"/>
                <a:gd name="T18" fmla="*/ 397 w 782"/>
                <a:gd name="T19" fmla="*/ 150 h 150"/>
                <a:gd name="T20" fmla="*/ 522 w 782"/>
                <a:gd name="T21" fmla="*/ 150 h 150"/>
                <a:gd name="T22" fmla="*/ 682 w 782"/>
                <a:gd name="T23" fmla="*/ 145 h 150"/>
                <a:gd name="T24" fmla="*/ 743 w 782"/>
                <a:gd name="T25" fmla="*/ 135 h 150"/>
                <a:gd name="T26" fmla="*/ 766 w 782"/>
                <a:gd name="T27" fmla="*/ 124 h 150"/>
                <a:gd name="T28" fmla="*/ 778 w 782"/>
                <a:gd name="T29" fmla="*/ 108 h 150"/>
                <a:gd name="T30" fmla="*/ 782 w 782"/>
                <a:gd name="T31" fmla="*/ 88 h 150"/>
                <a:gd name="T32" fmla="*/ 782 w 782"/>
                <a:gd name="T33" fmla="*/ 75 h 150"/>
                <a:gd name="T34" fmla="*/ 782 w 782"/>
                <a:gd name="T35" fmla="*/ 62 h 150"/>
                <a:gd name="T36" fmla="*/ 778 w 782"/>
                <a:gd name="T37" fmla="*/ 42 h 150"/>
                <a:gd name="T38" fmla="*/ 766 w 782"/>
                <a:gd name="T39" fmla="*/ 26 h 150"/>
                <a:gd name="T40" fmla="*/ 743 w 782"/>
                <a:gd name="T41" fmla="*/ 15 h 150"/>
                <a:gd name="T42" fmla="*/ 680 w 782"/>
                <a:gd name="T43" fmla="*/ 5 h 150"/>
                <a:gd name="T44" fmla="*/ 518 w 782"/>
                <a:gd name="T45" fmla="*/ 0 h 150"/>
                <a:gd name="T46" fmla="*/ 391 w 782"/>
                <a:gd name="T47" fmla="*/ 0 h 150"/>
                <a:gd name="T48" fmla="*/ 220 w 782"/>
                <a:gd name="T49" fmla="*/ 1 h 150"/>
                <a:gd name="T50" fmla="*/ 75 w 782"/>
                <a:gd name="T51" fmla="*/ 7 h 150"/>
                <a:gd name="T52" fmla="*/ 27 w 782"/>
                <a:gd name="T53" fmla="*/ 15 h 150"/>
                <a:gd name="T54" fmla="*/ 19 w 782"/>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2" h="150">
                  <a:moveTo>
                    <a:pt x="19" y="20"/>
                  </a:moveTo>
                  <a:lnTo>
                    <a:pt x="9" y="31"/>
                  </a:lnTo>
                  <a:lnTo>
                    <a:pt x="0" y="57"/>
                  </a:lnTo>
                  <a:lnTo>
                    <a:pt x="2" y="85"/>
                  </a:lnTo>
                  <a:lnTo>
                    <a:pt x="15" y="112"/>
                  </a:lnTo>
                  <a:lnTo>
                    <a:pt x="26" y="123"/>
                  </a:lnTo>
                  <a:lnTo>
                    <a:pt x="35" y="131"/>
                  </a:lnTo>
                  <a:lnTo>
                    <a:pt x="74" y="142"/>
                  </a:lnTo>
                  <a:lnTo>
                    <a:pt x="208" y="150"/>
                  </a:lnTo>
                  <a:lnTo>
                    <a:pt x="397" y="150"/>
                  </a:lnTo>
                  <a:lnTo>
                    <a:pt x="522" y="150"/>
                  </a:lnTo>
                  <a:lnTo>
                    <a:pt x="682" y="145"/>
                  </a:lnTo>
                  <a:lnTo>
                    <a:pt x="743" y="135"/>
                  </a:lnTo>
                  <a:lnTo>
                    <a:pt x="766" y="124"/>
                  </a:lnTo>
                  <a:lnTo>
                    <a:pt x="778" y="108"/>
                  </a:lnTo>
                  <a:lnTo>
                    <a:pt x="782" y="88"/>
                  </a:lnTo>
                  <a:lnTo>
                    <a:pt x="782" y="75"/>
                  </a:lnTo>
                  <a:lnTo>
                    <a:pt x="782" y="62"/>
                  </a:lnTo>
                  <a:lnTo>
                    <a:pt x="778" y="42"/>
                  </a:lnTo>
                  <a:lnTo>
                    <a:pt x="766" y="26"/>
                  </a:lnTo>
                  <a:lnTo>
                    <a:pt x="743" y="15"/>
                  </a:lnTo>
                  <a:lnTo>
                    <a:pt x="680" y="5"/>
                  </a:lnTo>
                  <a:lnTo>
                    <a:pt x="518" y="0"/>
                  </a:lnTo>
                  <a:lnTo>
                    <a:pt x="391" y="0"/>
                  </a:lnTo>
                  <a:lnTo>
                    <a:pt x="220" y="1"/>
                  </a:lnTo>
                  <a:lnTo>
                    <a:pt x="75" y="7"/>
                  </a:lnTo>
                  <a:lnTo>
                    <a:pt x="27"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141">
              <a:extLst>
                <a:ext uri="{FF2B5EF4-FFF2-40B4-BE49-F238E27FC236}">
                  <a16:creationId xmlns:a16="http://schemas.microsoft.com/office/drawing/2014/main" id="{1F8B3B37-33D1-48D5-AC73-03CC22DD2237}"/>
                </a:ext>
              </a:extLst>
            </p:cNvPr>
            <p:cNvSpPr>
              <a:spLocks/>
            </p:cNvSpPr>
            <p:nvPr/>
          </p:nvSpPr>
          <p:spPr bwMode="auto">
            <a:xfrm>
              <a:off x="639763" y="3973513"/>
              <a:ext cx="220663" cy="58738"/>
            </a:xfrm>
            <a:custGeom>
              <a:avLst/>
              <a:gdLst>
                <a:gd name="T0" fmla="*/ 20 w 557"/>
                <a:gd name="T1" fmla="*/ 20 h 147"/>
                <a:gd name="T2" fmla="*/ 9 w 557"/>
                <a:gd name="T3" fmla="*/ 33 h 147"/>
                <a:gd name="T4" fmla="*/ 0 w 557"/>
                <a:gd name="T5" fmla="*/ 64 h 147"/>
                <a:gd name="T6" fmla="*/ 4 w 557"/>
                <a:gd name="T7" fmla="*/ 97 h 147"/>
                <a:gd name="T8" fmla="*/ 20 w 557"/>
                <a:gd name="T9" fmla="*/ 125 h 147"/>
                <a:gd name="T10" fmla="*/ 33 w 557"/>
                <a:gd name="T11" fmla="*/ 133 h 147"/>
                <a:gd name="T12" fmla="*/ 43 w 557"/>
                <a:gd name="T13" fmla="*/ 137 h 147"/>
                <a:gd name="T14" fmla="*/ 87 w 557"/>
                <a:gd name="T15" fmla="*/ 142 h 147"/>
                <a:gd name="T16" fmla="*/ 194 w 557"/>
                <a:gd name="T17" fmla="*/ 147 h 147"/>
                <a:gd name="T18" fmla="*/ 293 w 557"/>
                <a:gd name="T19" fmla="*/ 147 h 147"/>
                <a:gd name="T20" fmla="*/ 426 w 557"/>
                <a:gd name="T21" fmla="*/ 143 h 147"/>
                <a:gd name="T22" fmla="*/ 511 w 557"/>
                <a:gd name="T23" fmla="*/ 133 h 147"/>
                <a:gd name="T24" fmla="*/ 535 w 557"/>
                <a:gd name="T25" fmla="*/ 119 h 147"/>
                <a:gd name="T26" fmla="*/ 543 w 557"/>
                <a:gd name="T27" fmla="*/ 108 h 147"/>
                <a:gd name="T28" fmla="*/ 550 w 557"/>
                <a:gd name="T29" fmla="*/ 98 h 147"/>
                <a:gd name="T30" fmla="*/ 557 w 557"/>
                <a:gd name="T31" fmla="*/ 81 h 147"/>
                <a:gd name="T32" fmla="*/ 556 w 557"/>
                <a:gd name="T33" fmla="*/ 65 h 147"/>
                <a:gd name="T34" fmla="*/ 547 w 557"/>
                <a:gd name="T35" fmla="*/ 48 h 147"/>
                <a:gd name="T36" fmla="*/ 540 w 557"/>
                <a:gd name="T37" fmla="*/ 37 h 147"/>
                <a:gd name="T38" fmla="*/ 531 w 557"/>
                <a:gd name="T39" fmla="*/ 25 h 147"/>
                <a:gd name="T40" fmla="*/ 507 w 557"/>
                <a:gd name="T41" fmla="*/ 9 h 147"/>
                <a:gd name="T42" fmla="*/ 455 w 557"/>
                <a:gd name="T43" fmla="*/ 2 h 147"/>
                <a:gd name="T44" fmla="*/ 355 w 557"/>
                <a:gd name="T45" fmla="*/ 0 h 147"/>
                <a:gd name="T46" fmla="*/ 276 w 557"/>
                <a:gd name="T47" fmla="*/ 0 h 147"/>
                <a:gd name="T48" fmla="*/ 165 w 557"/>
                <a:gd name="T49" fmla="*/ 1 h 147"/>
                <a:gd name="T50" fmla="*/ 63 w 557"/>
                <a:gd name="T51" fmla="*/ 8 h 147"/>
                <a:gd name="T52" fmla="*/ 27 w 557"/>
                <a:gd name="T53" fmla="*/ 15 h 147"/>
                <a:gd name="T54" fmla="*/ 20 w 557"/>
                <a:gd name="T55"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7" h="147">
                  <a:moveTo>
                    <a:pt x="20" y="20"/>
                  </a:moveTo>
                  <a:lnTo>
                    <a:pt x="9" y="33"/>
                  </a:lnTo>
                  <a:lnTo>
                    <a:pt x="0" y="64"/>
                  </a:lnTo>
                  <a:lnTo>
                    <a:pt x="4" y="97"/>
                  </a:lnTo>
                  <a:lnTo>
                    <a:pt x="20" y="125"/>
                  </a:lnTo>
                  <a:lnTo>
                    <a:pt x="33" y="133"/>
                  </a:lnTo>
                  <a:lnTo>
                    <a:pt x="43" y="137"/>
                  </a:lnTo>
                  <a:lnTo>
                    <a:pt x="87" y="142"/>
                  </a:lnTo>
                  <a:lnTo>
                    <a:pt x="194" y="147"/>
                  </a:lnTo>
                  <a:lnTo>
                    <a:pt x="293" y="147"/>
                  </a:lnTo>
                  <a:lnTo>
                    <a:pt x="426" y="143"/>
                  </a:lnTo>
                  <a:lnTo>
                    <a:pt x="511" y="133"/>
                  </a:lnTo>
                  <a:lnTo>
                    <a:pt x="535" y="119"/>
                  </a:lnTo>
                  <a:lnTo>
                    <a:pt x="543" y="108"/>
                  </a:lnTo>
                  <a:lnTo>
                    <a:pt x="550" y="98"/>
                  </a:lnTo>
                  <a:lnTo>
                    <a:pt x="557" y="81"/>
                  </a:lnTo>
                  <a:lnTo>
                    <a:pt x="556" y="65"/>
                  </a:lnTo>
                  <a:lnTo>
                    <a:pt x="547" y="48"/>
                  </a:lnTo>
                  <a:lnTo>
                    <a:pt x="540" y="37"/>
                  </a:lnTo>
                  <a:lnTo>
                    <a:pt x="531" y="25"/>
                  </a:lnTo>
                  <a:lnTo>
                    <a:pt x="507" y="9"/>
                  </a:lnTo>
                  <a:lnTo>
                    <a:pt x="455" y="2"/>
                  </a:lnTo>
                  <a:lnTo>
                    <a:pt x="355" y="0"/>
                  </a:lnTo>
                  <a:lnTo>
                    <a:pt x="276" y="0"/>
                  </a:lnTo>
                  <a:lnTo>
                    <a:pt x="165" y="1"/>
                  </a:lnTo>
                  <a:lnTo>
                    <a:pt x="63" y="8"/>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142">
              <a:extLst>
                <a:ext uri="{FF2B5EF4-FFF2-40B4-BE49-F238E27FC236}">
                  <a16:creationId xmlns:a16="http://schemas.microsoft.com/office/drawing/2014/main" id="{FE5335DB-A77F-4D16-97E6-721D43B19632}"/>
                </a:ext>
              </a:extLst>
            </p:cNvPr>
            <p:cNvSpPr>
              <a:spLocks/>
            </p:cNvSpPr>
            <p:nvPr/>
          </p:nvSpPr>
          <p:spPr bwMode="auto">
            <a:xfrm>
              <a:off x="1425575" y="3973513"/>
              <a:ext cx="206375" cy="60325"/>
            </a:xfrm>
            <a:custGeom>
              <a:avLst/>
              <a:gdLst>
                <a:gd name="T0" fmla="*/ 19 w 521"/>
                <a:gd name="T1" fmla="*/ 20 h 150"/>
                <a:gd name="T2" fmla="*/ 9 w 521"/>
                <a:gd name="T3" fmla="*/ 31 h 150"/>
                <a:gd name="T4" fmla="*/ 0 w 521"/>
                <a:gd name="T5" fmla="*/ 57 h 150"/>
                <a:gd name="T6" fmla="*/ 2 w 521"/>
                <a:gd name="T7" fmla="*/ 85 h 150"/>
                <a:gd name="T8" fmla="*/ 15 w 521"/>
                <a:gd name="T9" fmla="*/ 112 h 150"/>
                <a:gd name="T10" fmla="*/ 26 w 521"/>
                <a:gd name="T11" fmla="*/ 123 h 150"/>
                <a:gd name="T12" fmla="*/ 34 w 521"/>
                <a:gd name="T13" fmla="*/ 131 h 150"/>
                <a:gd name="T14" fmla="*/ 64 w 521"/>
                <a:gd name="T15" fmla="*/ 141 h 150"/>
                <a:gd name="T16" fmla="*/ 152 w 521"/>
                <a:gd name="T17" fmla="*/ 149 h 150"/>
                <a:gd name="T18" fmla="*/ 266 w 521"/>
                <a:gd name="T19" fmla="*/ 150 h 150"/>
                <a:gd name="T20" fmla="*/ 335 w 521"/>
                <a:gd name="T21" fmla="*/ 150 h 150"/>
                <a:gd name="T22" fmla="*/ 425 w 521"/>
                <a:gd name="T23" fmla="*/ 148 h 150"/>
                <a:gd name="T24" fmla="*/ 473 w 521"/>
                <a:gd name="T25" fmla="*/ 141 h 150"/>
                <a:gd name="T26" fmla="*/ 497 w 521"/>
                <a:gd name="T27" fmla="*/ 127 h 150"/>
                <a:gd name="T28" fmla="*/ 506 w 521"/>
                <a:gd name="T29" fmla="*/ 115 h 150"/>
                <a:gd name="T30" fmla="*/ 514 w 521"/>
                <a:gd name="T31" fmla="*/ 101 h 150"/>
                <a:gd name="T32" fmla="*/ 521 w 521"/>
                <a:gd name="T33" fmla="*/ 72 h 150"/>
                <a:gd name="T34" fmla="*/ 517 w 521"/>
                <a:gd name="T35" fmla="*/ 45 h 150"/>
                <a:gd name="T36" fmla="*/ 503 w 521"/>
                <a:gd name="T37" fmla="*/ 22 h 150"/>
                <a:gd name="T38" fmla="*/ 492 w 521"/>
                <a:gd name="T39" fmla="*/ 13 h 150"/>
                <a:gd name="T40" fmla="*/ 483 w 521"/>
                <a:gd name="T41" fmla="*/ 9 h 150"/>
                <a:gd name="T42" fmla="*/ 440 w 521"/>
                <a:gd name="T43" fmla="*/ 4 h 150"/>
                <a:gd name="T44" fmla="*/ 336 w 521"/>
                <a:gd name="T45" fmla="*/ 0 h 150"/>
                <a:gd name="T46" fmla="*/ 168 w 521"/>
                <a:gd name="T47" fmla="*/ 2 h 150"/>
                <a:gd name="T48" fmla="*/ 67 w 521"/>
                <a:gd name="T49" fmla="*/ 9 h 150"/>
                <a:gd name="T50" fmla="*/ 26 w 521"/>
                <a:gd name="T51" fmla="*/ 16 h 150"/>
                <a:gd name="T52" fmla="*/ 19 w 521"/>
                <a:gd name="T53"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1" h="150">
                  <a:moveTo>
                    <a:pt x="19" y="20"/>
                  </a:moveTo>
                  <a:lnTo>
                    <a:pt x="9" y="31"/>
                  </a:lnTo>
                  <a:lnTo>
                    <a:pt x="0" y="57"/>
                  </a:lnTo>
                  <a:lnTo>
                    <a:pt x="2" y="85"/>
                  </a:lnTo>
                  <a:lnTo>
                    <a:pt x="15" y="112"/>
                  </a:lnTo>
                  <a:lnTo>
                    <a:pt x="26" y="123"/>
                  </a:lnTo>
                  <a:lnTo>
                    <a:pt x="34" y="131"/>
                  </a:lnTo>
                  <a:lnTo>
                    <a:pt x="64" y="141"/>
                  </a:lnTo>
                  <a:lnTo>
                    <a:pt x="152" y="149"/>
                  </a:lnTo>
                  <a:lnTo>
                    <a:pt x="266" y="150"/>
                  </a:lnTo>
                  <a:lnTo>
                    <a:pt x="335" y="150"/>
                  </a:lnTo>
                  <a:lnTo>
                    <a:pt x="425" y="148"/>
                  </a:lnTo>
                  <a:lnTo>
                    <a:pt x="473" y="141"/>
                  </a:lnTo>
                  <a:lnTo>
                    <a:pt x="497" y="127"/>
                  </a:lnTo>
                  <a:lnTo>
                    <a:pt x="506" y="115"/>
                  </a:lnTo>
                  <a:lnTo>
                    <a:pt x="514" y="101"/>
                  </a:lnTo>
                  <a:lnTo>
                    <a:pt x="521" y="72"/>
                  </a:lnTo>
                  <a:lnTo>
                    <a:pt x="517" y="45"/>
                  </a:lnTo>
                  <a:lnTo>
                    <a:pt x="503" y="22"/>
                  </a:lnTo>
                  <a:lnTo>
                    <a:pt x="492" y="13"/>
                  </a:lnTo>
                  <a:lnTo>
                    <a:pt x="483" y="9"/>
                  </a:lnTo>
                  <a:lnTo>
                    <a:pt x="440" y="4"/>
                  </a:lnTo>
                  <a:lnTo>
                    <a:pt x="336" y="0"/>
                  </a:lnTo>
                  <a:lnTo>
                    <a:pt x="168" y="2"/>
                  </a:lnTo>
                  <a:lnTo>
                    <a:pt x="67" y="9"/>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143">
              <a:extLst>
                <a:ext uri="{FF2B5EF4-FFF2-40B4-BE49-F238E27FC236}">
                  <a16:creationId xmlns:a16="http://schemas.microsoft.com/office/drawing/2014/main" id="{D736BFBF-965B-45F0-A9D7-B272DBAB88A7}"/>
                </a:ext>
              </a:extLst>
            </p:cNvPr>
            <p:cNvSpPr>
              <a:spLocks noEditPoints="1"/>
            </p:cNvSpPr>
            <p:nvPr/>
          </p:nvSpPr>
          <p:spPr bwMode="auto">
            <a:xfrm>
              <a:off x="1009650" y="4144963"/>
              <a:ext cx="355600" cy="284163"/>
            </a:xfrm>
            <a:custGeom>
              <a:avLst/>
              <a:gdLst>
                <a:gd name="T0" fmla="*/ 48 w 899"/>
                <a:gd name="T1" fmla="*/ 49 h 717"/>
                <a:gd name="T2" fmla="*/ 0 w 899"/>
                <a:gd name="T3" fmla="*/ 97 h 717"/>
                <a:gd name="T4" fmla="*/ 0 w 899"/>
                <a:gd name="T5" fmla="*/ 342 h 717"/>
                <a:gd name="T6" fmla="*/ 0 w 899"/>
                <a:gd name="T7" fmla="*/ 438 h 717"/>
                <a:gd name="T8" fmla="*/ 6 w 899"/>
                <a:gd name="T9" fmla="*/ 541 h 717"/>
                <a:gd name="T10" fmla="*/ 13 w 899"/>
                <a:gd name="T11" fmla="*/ 592 h 717"/>
                <a:gd name="T12" fmla="*/ 24 w 899"/>
                <a:gd name="T13" fmla="*/ 630 h 717"/>
                <a:gd name="T14" fmla="*/ 39 w 899"/>
                <a:gd name="T15" fmla="*/ 658 h 717"/>
                <a:gd name="T16" fmla="*/ 60 w 899"/>
                <a:gd name="T17" fmla="*/ 678 h 717"/>
                <a:gd name="T18" fmla="*/ 86 w 899"/>
                <a:gd name="T19" fmla="*/ 693 h 717"/>
                <a:gd name="T20" fmla="*/ 102 w 899"/>
                <a:gd name="T21" fmla="*/ 699 h 717"/>
                <a:gd name="T22" fmla="*/ 117 w 899"/>
                <a:gd name="T23" fmla="*/ 702 h 717"/>
                <a:gd name="T24" fmla="*/ 179 w 899"/>
                <a:gd name="T25" fmla="*/ 709 h 717"/>
                <a:gd name="T26" fmla="*/ 326 w 899"/>
                <a:gd name="T27" fmla="*/ 716 h 717"/>
                <a:gd name="T28" fmla="*/ 453 w 899"/>
                <a:gd name="T29" fmla="*/ 717 h 717"/>
                <a:gd name="T30" fmla="*/ 565 w 899"/>
                <a:gd name="T31" fmla="*/ 717 h 717"/>
                <a:gd name="T32" fmla="*/ 721 w 899"/>
                <a:gd name="T33" fmla="*/ 709 h 717"/>
                <a:gd name="T34" fmla="*/ 796 w 899"/>
                <a:gd name="T35" fmla="*/ 697 h 717"/>
                <a:gd name="T36" fmla="*/ 831 w 899"/>
                <a:gd name="T37" fmla="*/ 685 h 717"/>
                <a:gd name="T38" fmla="*/ 857 w 899"/>
                <a:gd name="T39" fmla="*/ 669 h 717"/>
                <a:gd name="T40" fmla="*/ 875 w 899"/>
                <a:gd name="T41" fmla="*/ 649 h 717"/>
                <a:gd name="T42" fmla="*/ 882 w 899"/>
                <a:gd name="T43" fmla="*/ 637 h 717"/>
                <a:gd name="T44" fmla="*/ 886 w 899"/>
                <a:gd name="T45" fmla="*/ 625 h 717"/>
                <a:gd name="T46" fmla="*/ 893 w 899"/>
                <a:gd name="T47" fmla="*/ 573 h 717"/>
                <a:gd name="T48" fmla="*/ 899 w 899"/>
                <a:gd name="T49" fmla="*/ 454 h 717"/>
                <a:gd name="T50" fmla="*/ 898 w 899"/>
                <a:gd name="T51" fmla="*/ 262 h 717"/>
                <a:gd name="T52" fmla="*/ 892 w 899"/>
                <a:gd name="T53" fmla="*/ 143 h 717"/>
                <a:gd name="T54" fmla="*/ 885 w 899"/>
                <a:gd name="T55" fmla="*/ 91 h 717"/>
                <a:gd name="T56" fmla="*/ 880 w 899"/>
                <a:gd name="T57" fmla="*/ 79 h 717"/>
                <a:gd name="T58" fmla="*/ 873 w 899"/>
                <a:gd name="T59" fmla="*/ 65 h 717"/>
                <a:gd name="T60" fmla="*/ 858 w 899"/>
                <a:gd name="T61" fmla="*/ 43 h 717"/>
                <a:gd name="T62" fmla="*/ 839 w 899"/>
                <a:gd name="T63" fmla="*/ 27 h 717"/>
                <a:gd name="T64" fmla="*/ 811 w 899"/>
                <a:gd name="T65" fmla="*/ 16 h 717"/>
                <a:gd name="T66" fmla="*/ 745 w 899"/>
                <a:gd name="T67" fmla="*/ 6 h 717"/>
                <a:gd name="T68" fmla="*/ 582 w 899"/>
                <a:gd name="T69" fmla="*/ 1 h 717"/>
                <a:gd name="T70" fmla="*/ 453 w 899"/>
                <a:gd name="T71" fmla="*/ 0 h 717"/>
                <a:gd name="T72" fmla="*/ 97 w 899"/>
                <a:gd name="T73" fmla="*/ 0 h 717"/>
                <a:gd name="T74" fmla="*/ 48 w 899"/>
                <a:gd name="T75" fmla="*/ 49 h 717"/>
                <a:gd name="T76" fmla="*/ 750 w 899"/>
                <a:gd name="T77" fmla="*/ 359 h 717"/>
                <a:gd name="T78" fmla="*/ 750 w 899"/>
                <a:gd name="T79" fmla="*/ 567 h 717"/>
                <a:gd name="T80" fmla="*/ 455 w 899"/>
                <a:gd name="T81" fmla="*/ 564 h 717"/>
                <a:gd name="T82" fmla="*/ 158 w 899"/>
                <a:gd name="T83" fmla="*/ 559 h 717"/>
                <a:gd name="T84" fmla="*/ 153 w 899"/>
                <a:gd name="T85" fmla="*/ 354 h 717"/>
                <a:gd name="T86" fmla="*/ 148 w 899"/>
                <a:gd name="T87" fmla="*/ 150 h 717"/>
                <a:gd name="T88" fmla="*/ 450 w 899"/>
                <a:gd name="T89" fmla="*/ 150 h 717"/>
                <a:gd name="T90" fmla="*/ 750 w 899"/>
                <a:gd name="T91" fmla="*/ 150 h 717"/>
                <a:gd name="T92" fmla="*/ 750 w 899"/>
                <a:gd name="T93" fmla="*/ 359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9" h="717">
                  <a:moveTo>
                    <a:pt x="48" y="49"/>
                  </a:moveTo>
                  <a:lnTo>
                    <a:pt x="0" y="97"/>
                  </a:lnTo>
                  <a:lnTo>
                    <a:pt x="0" y="342"/>
                  </a:lnTo>
                  <a:lnTo>
                    <a:pt x="0" y="438"/>
                  </a:lnTo>
                  <a:lnTo>
                    <a:pt x="6" y="541"/>
                  </a:lnTo>
                  <a:lnTo>
                    <a:pt x="13" y="592"/>
                  </a:lnTo>
                  <a:lnTo>
                    <a:pt x="24" y="630"/>
                  </a:lnTo>
                  <a:lnTo>
                    <a:pt x="39" y="658"/>
                  </a:lnTo>
                  <a:lnTo>
                    <a:pt x="60" y="678"/>
                  </a:lnTo>
                  <a:lnTo>
                    <a:pt x="86" y="693"/>
                  </a:lnTo>
                  <a:lnTo>
                    <a:pt x="102" y="699"/>
                  </a:lnTo>
                  <a:lnTo>
                    <a:pt x="117" y="702"/>
                  </a:lnTo>
                  <a:lnTo>
                    <a:pt x="179" y="709"/>
                  </a:lnTo>
                  <a:lnTo>
                    <a:pt x="326" y="716"/>
                  </a:lnTo>
                  <a:lnTo>
                    <a:pt x="453" y="717"/>
                  </a:lnTo>
                  <a:lnTo>
                    <a:pt x="565" y="717"/>
                  </a:lnTo>
                  <a:lnTo>
                    <a:pt x="721" y="709"/>
                  </a:lnTo>
                  <a:lnTo>
                    <a:pt x="796" y="697"/>
                  </a:lnTo>
                  <a:lnTo>
                    <a:pt x="831" y="685"/>
                  </a:lnTo>
                  <a:lnTo>
                    <a:pt x="857" y="669"/>
                  </a:lnTo>
                  <a:lnTo>
                    <a:pt x="875" y="649"/>
                  </a:lnTo>
                  <a:lnTo>
                    <a:pt x="882" y="637"/>
                  </a:lnTo>
                  <a:lnTo>
                    <a:pt x="886" y="625"/>
                  </a:lnTo>
                  <a:lnTo>
                    <a:pt x="893" y="573"/>
                  </a:lnTo>
                  <a:lnTo>
                    <a:pt x="899" y="454"/>
                  </a:lnTo>
                  <a:lnTo>
                    <a:pt x="898" y="262"/>
                  </a:lnTo>
                  <a:lnTo>
                    <a:pt x="892" y="143"/>
                  </a:lnTo>
                  <a:lnTo>
                    <a:pt x="885" y="91"/>
                  </a:lnTo>
                  <a:lnTo>
                    <a:pt x="880" y="79"/>
                  </a:lnTo>
                  <a:lnTo>
                    <a:pt x="873" y="65"/>
                  </a:lnTo>
                  <a:lnTo>
                    <a:pt x="858" y="43"/>
                  </a:lnTo>
                  <a:lnTo>
                    <a:pt x="839" y="27"/>
                  </a:lnTo>
                  <a:lnTo>
                    <a:pt x="811" y="16"/>
                  </a:lnTo>
                  <a:lnTo>
                    <a:pt x="745" y="6"/>
                  </a:lnTo>
                  <a:lnTo>
                    <a:pt x="582" y="1"/>
                  </a:lnTo>
                  <a:lnTo>
                    <a:pt x="453" y="0"/>
                  </a:lnTo>
                  <a:lnTo>
                    <a:pt x="97" y="0"/>
                  </a:lnTo>
                  <a:lnTo>
                    <a:pt x="48" y="49"/>
                  </a:lnTo>
                  <a:close/>
                  <a:moveTo>
                    <a:pt x="750" y="359"/>
                  </a:moveTo>
                  <a:lnTo>
                    <a:pt x="750" y="567"/>
                  </a:lnTo>
                  <a:lnTo>
                    <a:pt x="455" y="564"/>
                  </a:lnTo>
                  <a:lnTo>
                    <a:pt x="158" y="559"/>
                  </a:lnTo>
                  <a:lnTo>
                    <a:pt x="153" y="354"/>
                  </a:lnTo>
                  <a:lnTo>
                    <a:pt x="148" y="150"/>
                  </a:lnTo>
                  <a:lnTo>
                    <a:pt x="450" y="150"/>
                  </a:lnTo>
                  <a:lnTo>
                    <a:pt x="750" y="150"/>
                  </a:lnTo>
                  <a:lnTo>
                    <a:pt x="750" y="3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144">
              <a:extLst>
                <a:ext uri="{FF2B5EF4-FFF2-40B4-BE49-F238E27FC236}">
                  <a16:creationId xmlns:a16="http://schemas.microsoft.com/office/drawing/2014/main" id="{A858FA58-A12F-487C-A19B-4CCABC21D77E}"/>
                </a:ext>
              </a:extLst>
            </p:cNvPr>
            <p:cNvSpPr>
              <a:spLocks/>
            </p:cNvSpPr>
            <p:nvPr/>
          </p:nvSpPr>
          <p:spPr bwMode="auto">
            <a:xfrm>
              <a:off x="639763" y="4197350"/>
              <a:ext cx="309563" cy="60325"/>
            </a:xfrm>
            <a:custGeom>
              <a:avLst/>
              <a:gdLst>
                <a:gd name="T0" fmla="*/ 20 w 782"/>
                <a:gd name="T1" fmla="*/ 21 h 151"/>
                <a:gd name="T2" fmla="*/ 10 w 782"/>
                <a:gd name="T3" fmla="*/ 33 h 151"/>
                <a:gd name="T4" fmla="*/ 0 w 782"/>
                <a:gd name="T5" fmla="*/ 64 h 151"/>
                <a:gd name="T6" fmla="*/ 4 w 782"/>
                <a:gd name="T7" fmla="*/ 97 h 151"/>
                <a:gd name="T8" fmla="*/ 19 w 782"/>
                <a:gd name="T9" fmla="*/ 125 h 151"/>
                <a:gd name="T10" fmla="*/ 31 w 782"/>
                <a:gd name="T11" fmla="*/ 134 h 151"/>
                <a:gd name="T12" fmla="*/ 43 w 782"/>
                <a:gd name="T13" fmla="*/ 138 h 151"/>
                <a:gd name="T14" fmla="*/ 102 w 782"/>
                <a:gd name="T15" fmla="*/ 144 h 151"/>
                <a:gd name="T16" fmla="*/ 256 w 782"/>
                <a:gd name="T17" fmla="*/ 150 h 151"/>
                <a:gd name="T18" fmla="*/ 398 w 782"/>
                <a:gd name="T19" fmla="*/ 151 h 151"/>
                <a:gd name="T20" fmla="*/ 580 w 782"/>
                <a:gd name="T21" fmla="*/ 150 h 151"/>
                <a:gd name="T22" fmla="*/ 709 w 782"/>
                <a:gd name="T23" fmla="*/ 143 h 151"/>
                <a:gd name="T24" fmla="*/ 747 w 782"/>
                <a:gd name="T25" fmla="*/ 132 h 151"/>
                <a:gd name="T26" fmla="*/ 756 w 782"/>
                <a:gd name="T27" fmla="*/ 124 h 151"/>
                <a:gd name="T28" fmla="*/ 767 w 782"/>
                <a:gd name="T29" fmla="*/ 112 h 151"/>
                <a:gd name="T30" fmla="*/ 780 w 782"/>
                <a:gd name="T31" fmla="*/ 86 h 151"/>
                <a:gd name="T32" fmla="*/ 782 w 782"/>
                <a:gd name="T33" fmla="*/ 58 h 151"/>
                <a:gd name="T34" fmla="*/ 773 w 782"/>
                <a:gd name="T35" fmla="*/ 32 h 151"/>
                <a:gd name="T36" fmla="*/ 763 w 782"/>
                <a:gd name="T37" fmla="*/ 21 h 151"/>
                <a:gd name="T38" fmla="*/ 753 w 782"/>
                <a:gd name="T39" fmla="*/ 16 h 151"/>
                <a:gd name="T40" fmla="*/ 688 w 782"/>
                <a:gd name="T41" fmla="*/ 8 h 151"/>
                <a:gd name="T42" fmla="*/ 525 w 782"/>
                <a:gd name="T43" fmla="*/ 0 h 151"/>
                <a:gd name="T44" fmla="*/ 257 w 782"/>
                <a:gd name="T45" fmla="*/ 0 h 151"/>
                <a:gd name="T46" fmla="*/ 95 w 782"/>
                <a:gd name="T47" fmla="*/ 8 h 151"/>
                <a:gd name="T48" fmla="*/ 30 w 782"/>
                <a:gd name="T49" fmla="*/ 16 h 151"/>
                <a:gd name="T50" fmla="*/ 20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20" y="21"/>
                  </a:moveTo>
                  <a:lnTo>
                    <a:pt x="10" y="33"/>
                  </a:lnTo>
                  <a:lnTo>
                    <a:pt x="0" y="64"/>
                  </a:lnTo>
                  <a:lnTo>
                    <a:pt x="4" y="97"/>
                  </a:lnTo>
                  <a:lnTo>
                    <a:pt x="19" y="125"/>
                  </a:lnTo>
                  <a:lnTo>
                    <a:pt x="31" y="134"/>
                  </a:lnTo>
                  <a:lnTo>
                    <a:pt x="43" y="138"/>
                  </a:lnTo>
                  <a:lnTo>
                    <a:pt x="102" y="144"/>
                  </a:lnTo>
                  <a:lnTo>
                    <a:pt x="256" y="150"/>
                  </a:lnTo>
                  <a:lnTo>
                    <a:pt x="398" y="151"/>
                  </a:lnTo>
                  <a:lnTo>
                    <a:pt x="580" y="150"/>
                  </a:lnTo>
                  <a:lnTo>
                    <a:pt x="709" y="143"/>
                  </a:lnTo>
                  <a:lnTo>
                    <a:pt x="747" y="132"/>
                  </a:lnTo>
                  <a:lnTo>
                    <a:pt x="756" y="124"/>
                  </a:lnTo>
                  <a:lnTo>
                    <a:pt x="767" y="112"/>
                  </a:lnTo>
                  <a:lnTo>
                    <a:pt x="780" y="86"/>
                  </a:lnTo>
                  <a:lnTo>
                    <a:pt x="782" y="58"/>
                  </a:lnTo>
                  <a:lnTo>
                    <a:pt x="773" y="32"/>
                  </a:lnTo>
                  <a:lnTo>
                    <a:pt x="763" y="21"/>
                  </a:lnTo>
                  <a:lnTo>
                    <a:pt x="753" y="16"/>
                  </a:lnTo>
                  <a:lnTo>
                    <a:pt x="688" y="8"/>
                  </a:lnTo>
                  <a:lnTo>
                    <a:pt x="525" y="0"/>
                  </a:lnTo>
                  <a:lnTo>
                    <a:pt x="257" y="0"/>
                  </a:lnTo>
                  <a:lnTo>
                    <a:pt x="95" y="8"/>
                  </a:lnTo>
                  <a:lnTo>
                    <a:pt x="30" y="16"/>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145">
              <a:extLst>
                <a:ext uri="{FF2B5EF4-FFF2-40B4-BE49-F238E27FC236}">
                  <a16:creationId xmlns:a16="http://schemas.microsoft.com/office/drawing/2014/main" id="{7BDA0008-F0C6-4FD0-8C22-3AE297FF305B}"/>
                </a:ext>
              </a:extLst>
            </p:cNvPr>
            <p:cNvSpPr>
              <a:spLocks/>
            </p:cNvSpPr>
            <p:nvPr/>
          </p:nvSpPr>
          <p:spPr bwMode="auto">
            <a:xfrm>
              <a:off x="1425575" y="4197350"/>
              <a:ext cx="309563" cy="60325"/>
            </a:xfrm>
            <a:custGeom>
              <a:avLst/>
              <a:gdLst>
                <a:gd name="T0" fmla="*/ 19 w 782"/>
                <a:gd name="T1" fmla="*/ 21 h 151"/>
                <a:gd name="T2" fmla="*/ 9 w 782"/>
                <a:gd name="T3" fmla="*/ 32 h 151"/>
                <a:gd name="T4" fmla="*/ 0 w 782"/>
                <a:gd name="T5" fmla="*/ 57 h 151"/>
                <a:gd name="T6" fmla="*/ 2 w 782"/>
                <a:gd name="T7" fmla="*/ 84 h 151"/>
                <a:gd name="T8" fmla="*/ 17 w 782"/>
                <a:gd name="T9" fmla="*/ 110 h 151"/>
                <a:gd name="T10" fmla="*/ 29 w 782"/>
                <a:gd name="T11" fmla="*/ 122 h 151"/>
                <a:gd name="T12" fmla="*/ 40 w 782"/>
                <a:gd name="T13" fmla="*/ 131 h 151"/>
                <a:gd name="T14" fmla="*/ 78 w 782"/>
                <a:gd name="T15" fmla="*/ 143 h 151"/>
                <a:gd name="T16" fmla="*/ 206 w 782"/>
                <a:gd name="T17" fmla="*/ 150 h 151"/>
                <a:gd name="T18" fmla="*/ 389 w 782"/>
                <a:gd name="T19" fmla="*/ 151 h 151"/>
                <a:gd name="T20" fmla="*/ 529 w 782"/>
                <a:gd name="T21" fmla="*/ 150 h 151"/>
                <a:gd name="T22" fmla="*/ 680 w 782"/>
                <a:gd name="T23" fmla="*/ 144 h 151"/>
                <a:gd name="T24" fmla="*/ 739 w 782"/>
                <a:gd name="T25" fmla="*/ 138 h 151"/>
                <a:gd name="T26" fmla="*/ 751 w 782"/>
                <a:gd name="T27" fmla="*/ 134 h 151"/>
                <a:gd name="T28" fmla="*/ 763 w 782"/>
                <a:gd name="T29" fmla="*/ 125 h 151"/>
                <a:gd name="T30" fmla="*/ 778 w 782"/>
                <a:gd name="T31" fmla="*/ 97 h 151"/>
                <a:gd name="T32" fmla="*/ 782 w 782"/>
                <a:gd name="T33" fmla="*/ 64 h 151"/>
                <a:gd name="T34" fmla="*/ 772 w 782"/>
                <a:gd name="T35" fmla="*/ 33 h 151"/>
                <a:gd name="T36" fmla="*/ 762 w 782"/>
                <a:gd name="T37" fmla="*/ 21 h 151"/>
                <a:gd name="T38" fmla="*/ 752 w 782"/>
                <a:gd name="T39" fmla="*/ 16 h 151"/>
                <a:gd name="T40" fmla="*/ 687 w 782"/>
                <a:gd name="T41" fmla="*/ 8 h 151"/>
                <a:gd name="T42" fmla="*/ 525 w 782"/>
                <a:gd name="T43" fmla="*/ 0 h 151"/>
                <a:gd name="T44" fmla="*/ 257 w 782"/>
                <a:gd name="T45" fmla="*/ 0 h 151"/>
                <a:gd name="T46" fmla="*/ 94 w 782"/>
                <a:gd name="T47" fmla="*/ 8 h 151"/>
                <a:gd name="T48" fmla="*/ 29 w 782"/>
                <a:gd name="T49" fmla="*/ 16 h 151"/>
                <a:gd name="T50" fmla="*/ 19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19" y="21"/>
                  </a:moveTo>
                  <a:lnTo>
                    <a:pt x="9" y="32"/>
                  </a:lnTo>
                  <a:lnTo>
                    <a:pt x="0" y="57"/>
                  </a:lnTo>
                  <a:lnTo>
                    <a:pt x="2" y="84"/>
                  </a:lnTo>
                  <a:lnTo>
                    <a:pt x="17" y="110"/>
                  </a:lnTo>
                  <a:lnTo>
                    <a:pt x="29" y="122"/>
                  </a:lnTo>
                  <a:lnTo>
                    <a:pt x="40" y="131"/>
                  </a:lnTo>
                  <a:lnTo>
                    <a:pt x="78" y="143"/>
                  </a:lnTo>
                  <a:lnTo>
                    <a:pt x="206" y="150"/>
                  </a:lnTo>
                  <a:lnTo>
                    <a:pt x="389" y="151"/>
                  </a:lnTo>
                  <a:lnTo>
                    <a:pt x="529" y="150"/>
                  </a:lnTo>
                  <a:lnTo>
                    <a:pt x="680" y="144"/>
                  </a:lnTo>
                  <a:lnTo>
                    <a:pt x="739" y="138"/>
                  </a:lnTo>
                  <a:lnTo>
                    <a:pt x="751" y="134"/>
                  </a:lnTo>
                  <a:lnTo>
                    <a:pt x="763" y="125"/>
                  </a:lnTo>
                  <a:lnTo>
                    <a:pt x="778" y="97"/>
                  </a:lnTo>
                  <a:lnTo>
                    <a:pt x="782" y="64"/>
                  </a:lnTo>
                  <a:lnTo>
                    <a:pt x="772" y="33"/>
                  </a:lnTo>
                  <a:lnTo>
                    <a:pt x="762" y="21"/>
                  </a:lnTo>
                  <a:lnTo>
                    <a:pt x="752" y="16"/>
                  </a:lnTo>
                  <a:lnTo>
                    <a:pt x="687" y="8"/>
                  </a:lnTo>
                  <a:lnTo>
                    <a:pt x="525" y="0"/>
                  </a:lnTo>
                  <a:lnTo>
                    <a:pt x="257" y="0"/>
                  </a:lnTo>
                  <a:lnTo>
                    <a:pt x="94" y="8"/>
                  </a:lnTo>
                  <a:lnTo>
                    <a:pt x="29" y="16"/>
                  </a:lnTo>
                  <a:lnTo>
                    <a:pt x="1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146">
              <a:extLst>
                <a:ext uri="{FF2B5EF4-FFF2-40B4-BE49-F238E27FC236}">
                  <a16:creationId xmlns:a16="http://schemas.microsoft.com/office/drawing/2014/main" id="{BA9522CA-CEA4-4DBB-AC5A-80FADE32FE04}"/>
                </a:ext>
              </a:extLst>
            </p:cNvPr>
            <p:cNvSpPr>
              <a:spLocks/>
            </p:cNvSpPr>
            <p:nvPr/>
          </p:nvSpPr>
          <p:spPr bwMode="auto">
            <a:xfrm>
              <a:off x="639763" y="4316413"/>
              <a:ext cx="220663" cy="60325"/>
            </a:xfrm>
            <a:custGeom>
              <a:avLst/>
              <a:gdLst>
                <a:gd name="T0" fmla="*/ 20 w 557"/>
                <a:gd name="T1" fmla="*/ 20 h 150"/>
                <a:gd name="T2" fmla="*/ 10 w 557"/>
                <a:gd name="T3" fmla="*/ 32 h 150"/>
                <a:gd name="T4" fmla="*/ 0 w 557"/>
                <a:gd name="T5" fmla="*/ 63 h 150"/>
                <a:gd name="T6" fmla="*/ 4 w 557"/>
                <a:gd name="T7" fmla="*/ 96 h 150"/>
                <a:gd name="T8" fmla="*/ 19 w 557"/>
                <a:gd name="T9" fmla="*/ 124 h 150"/>
                <a:gd name="T10" fmla="*/ 31 w 557"/>
                <a:gd name="T11" fmla="*/ 133 h 150"/>
                <a:gd name="T12" fmla="*/ 41 w 557"/>
                <a:gd name="T13" fmla="*/ 136 h 150"/>
                <a:gd name="T14" fmla="*/ 83 w 557"/>
                <a:gd name="T15" fmla="*/ 142 h 150"/>
                <a:gd name="T16" fmla="*/ 184 w 557"/>
                <a:gd name="T17" fmla="*/ 148 h 150"/>
                <a:gd name="T18" fmla="*/ 347 w 557"/>
                <a:gd name="T19" fmla="*/ 150 h 150"/>
                <a:gd name="T20" fmla="*/ 479 w 557"/>
                <a:gd name="T21" fmla="*/ 145 h 150"/>
                <a:gd name="T22" fmla="*/ 506 w 557"/>
                <a:gd name="T23" fmla="*/ 140 h 150"/>
                <a:gd name="T24" fmla="*/ 522 w 557"/>
                <a:gd name="T25" fmla="*/ 132 h 150"/>
                <a:gd name="T26" fmla="*/ 545 w 557"/>
                <a:gd name="T27" fmla="*/ 109 h 150"/>
                <a:gd name="T28" fmla="*/ 557 w 557"/>
                <a:gd name="T29" fmla="*/ 79 h 150"/>
                <a:gd name="T30" fmla="*/ 556 w 557"/>
                <a:gd name="T31" fmla="*/ 48 h 150"/>
                <a:gd name="T32" fmla="*/ 550 w 557"/>
                <a:gd name="T33" fmla="*/ 33 h 150"/>
                <a:gd name="T34" fmla="*/ 543 w 557"/>
                <a:gd name="T35" fmla="*/ 22 h 150"/>
                <a:gd name="T36" fmla="*/ 520 w 557"/>
                <a:gd name="T37" fmla="*/ 8 h 150"/>
                <a:gd name="T38" fmla="*/ 431 w 557"/>
                <a:gd name="T39" fmla="*/ 0 h 150"/>
                <a:gd name="T40" fmla="*/ 286 w 557"/>
                <a:gd name="T41" fmla="*/ 0 h 150"/>
                <a:gd name="T42" fmla="*/ 170 w 557"/>
                <a:gd name="T43" fmla="*/ 1 h 150"/>
                <a:gd name="T44" fmla="*/ 64 w 557"/>
                <a:gd name="T45" fmla="*/ 7 h 150"/>
                <a:gd name="T46" fmla="*/ 27 w 557"/>
                <a:gd name="T47" fmla="*/ 15 h 150"/>
                <a:gd name="T48" fmla="*/ 20 w 55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7" h="150">
                  <a:moveTo>
                    <a:pt x="20" y="20"/>
                  </a:moveTo>
                  <a:lnTo>
                    <a:pt x="10" y="32"/>
                  </a:lnTo>
                  <a:lnTo>
                    <a:pt x="0" y="63"/>
                  </a:lnTo>
                  <a:lnTo>
                    <a:pt x="4" y="96"/>
                  </a:lnTo>
                  <a:lnTo>
                    <a:pt x="19" y="124"/>
                  </a:lnTo>
                  <a:lnTo>
                    <a:pt x="31" y="133"/>
                  </a:lnTo>
                  <a:lnTo>
                    <a:pt x="41" y="136"/>
                  </a:lnTo>
                  <a:lnTo>
                    <a:pt x="83" y="142"/>
                  </a:lnTo>
                  <a:lnTo>
                    <a:pt x="184" y="148"/>
                  </a:lnTo>
                  <a:lnTo>
                    <a:pt x="347" y="150"/>
                  </a:lnTo>
                  <a:lnTo>
                    <a:pt x="479" y="145"/>
                  </a:lnTo>
                  <a:lnTo>
                    <a:pt x="506" y="140"/>
                  </a:lnTo>
                  <a:lnTo>
                    <a:pt x="522" y="132"/>
                  </a:lnTo>
                  <a:lnTo>
                    <a:pt x="545" y="109"/>
                  </a:lnTo>
                  <a:lnTo>
                    <a:pt x="557" y="79"/>
                  </a:lnTo>
                  <a:lnTo>
                    <a:pt x="556" y="48"/>
                  </a:lnTo>
                  <a:lnTo>
                    <a:pt x="550" y="33"/>
                  </a:lnTo>
                  <a:lnTo>
                    <a:pt x="543" y="22"/>
                  </a:lnTo>
                  <a:lnTo>
                    <a:pt x="520" y="8"/>
                  </a:lnTo>
                  <a:lnTo>
                    <a:pt x="431" y="0"/>
                  </a:lnTo>
                  <a:lnTo>
                    <a:pt x="286" y="0"/>
                  </a:lnTo>
                  <a:lnTo>
                    <a:pt x="170" y="1"/>
                  </a:lnTo>
                  <a:lnTo>
                    <a:pt x="64" y="7"/>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147">
              <a:extLst>
                <a:ext uri="{FF2B5EF4-FFF2-40B4-BE49-F238E27FC236}">
                  <a16:creationId xmlns:a16="http://schemas.microsoft.com/office/drawing/2014/main" id="{81D47B90-46BF-42A0-A9E8-5CAB37C61DB1}"/>
                </a:ext>
              </a:extLst>
            </p:cNvPr>
            <p:cNvSpPr>
              <a:spLocks/>
            </p:cNvSpPr>
            <p:nvPr/>
          </p:nvSpPr>
          <p:spPr bwMode="auto">
            <a:xfrm>
              <a:off x="1425575" y="4316413"/>
              <a:ext cx="206375" cy="60325"/>
            </a:xfrm>
            <a:custGeom>
              <a:avLst/>
              <a:gdLst>
                <a:gd name="T0" fmla="*/ 19 w 523"/>
                <a:gd name="T1" fmla="*/ 20 h 150"/>
                <a:gd name="T2" fmla="*/ 9 w 523"/>
                <a:gd name="T3" fmla="*/ 31 h 150"/>
                <a:gd name="T4" fmla="*/ 0 w 523"/>
                <a:gd name="T5" fmla="*/ 56 h 150"/>
                <a:gd name="T6" fmla="*/ 2 w 523"/>
                <a:gd name="T7" fmla="*/ 83 h 150"/>
                <a:gd name="T8" fmla="*/ 17 w 523"/>
                <a:gd name="T9" fmla="*/ 109 h 150"/>
                <a:gd name="T10" fmla="*/ 29 w 523"/>
                <a:gd name="T11" fmla="*/ 121 h 150"/>
                <a:gd name="T12" fmla="*/ 39 w 523"/>
                <a:gd name="T13" fmla="*/ 130 h 150"/>
                <a:gd name="T14" fmla="*/ 69 w 523"/>
                <a:gd name="T15" fmla="*/ 141 h 150"/>
                <a:gd name="T16" fmla="*/ 150 w 523"/>
                <a:gd name="T17" fmla="*/ 149 h 150"/>
                <a:gd name="T18" fmla="*/ 252 w 523"/>
                <a:gd name="T19" fmla="*/ 150 h 150"/>
                <a:gd name="T20" fmla="*/ 332 w 523"/>
                <a:gd name="T21" fmla="*/ 149 h 150"/>
                <a:gd name="T22" fmla="*/ 452 w 523"/>
                <a:gd name="T23" fmla="*/ 143 h 150"/>
                <a:gd name="T24" fmla="*/ 472 w 523"/>
                <a:gd name="T25" fmla="*/ 140 h 150"/>
                <a:gd name="T26" fmla="*/ 488 w 523"/>
                <a:gd name="T27" fmla="*/ 132 h 150"/>
                <a:gd name="T28" fmla="*/ 511 w 523"/>
                <a:gd name="T29" fmla="*/ 109 h 150"/>
                <a:gd name="T30" fmla="*/ 523 w 523"/>
                <a:gd name="T31" fmla="*/ 79 h 150"/>
                <a:gd name="T32" fmla="*/ 522 w 523"/>
                <a:gd name="T33" fmla="*/ 48 h 150"/>
                <a:gd name="T34" fmla="*/ 516 w 523"/>
                <a:gd name="T35" fmla="*/ 33 h 150"/>
                <a:gd name="T36" fmla="*/ 509 w 523"/>
                <a:gd name="T37" fmla="*/ 22 h 150"/>
                <a:gd name="T38" fmla="*/ 487 w 523"/>
                <a:gd name="T39" fmla="*/ 8 h 150"/>
                <a:gd name="T40" fmla="*/ 404 w 523"/>
                <a:gd name="T41" fmla="*/ 0 h 150"/>
                <a:gd name="T42" fmla="*/ 269 w 523"/>
                <a:gd name="T43" fmla="*/ 0 h 150"/>
                <a:gd name="T44" fmla="*/ 161 w 523"/>
                <a:gd name="T45" fmla="*/ 1 h 150"/>
                <a:gd name="T46" fmla="*/ 62 w 523"/>
                <a:gd name="T47" fmla="*/ 7 h 150"/>
                <a:gd name="T48" fmla="*/ 26 w 523"/>
                <a:gd name="T49" fmla="*/ 15 h 150"/>
                <a:gd name="T50" fmla="*/ 19 w 523"/>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3" h="150">
                  <a:moveTo>
                    <a:pt x="19" y="20"/>
                  </a:moveTo>
                  <a:lnTo>
                    <a:pt x="9" y="31"/>
                  </a:lnTo>
                  <a:lnTo>
                    <a:pt x="0" y="56"/>
                  </a:lnTo>
                  <a:lnTo>
                    <a:pt x="2" y="83"/>
                  </a:lnTo>
                  <a:lnTo>
                    <a:pt x="17" y="109"/>
                  </a:lnTo>
                  <a:lnTo>
                    <a:pt x="29" y="121"/>
                  </a:lnTo>
                  <a:lnTo>
                    <a:pt x="39" y="130"/>
                  </a:lnTo>
                  <a:lnTo>
                    <a:pt x="69" y="141"/>
                  </a:lnTo>
                  <a:lnTo>
                    <a:pt x="150" y="149"/>
                  </a:lnTo>
                  <a:lnTo>
                    <a:pt x="252" y="150"/>
                  </a:lnTo>
                  <a:lnTo>
                    <a:pt x="332" y="149"/>
                  </a:lnTo>
                  <a:lnTo>
                    <a:pt x="452" y="143"/>
                  </a:lnTo>
                  <a:lnTo>
                    <a:pt x="472" y="140"/>
                  </a:lnTo>
                  <a:lnTo>
                    <a:pt x="488" y="132"/>
                  </a:lnTo>
                  <a:lnTo>
                    <a:pt x="511" y="109"/>
                  </a:lnTo>
                  <a:lnTo>
                    <a:pt x="523" y="79"/>
                  </a:lnTo>
                  <a:lnTo>
                    <a:pt x="522" y="48"/>
                  </a:lnTo>
                  <a:lnTo>
                    <a:pt x="516" y="33"/>
                  </a:lnTo>
                  <a:lnTo>
                    <a:pt x="509" y="22"/>
                  </a:lnTo>
                  <a:lnTo>
                    <a:pt x="487" y="8"/>
                  </a:lnTo>
                  <a:lnTo>
                    <a:pt x="404" y="0"/>
                  </a:lnTo>
                  <a:lnTo>
                    <a:pt x="269" y="0"/>
                  </a:lnTo>
                  <a:lnTo>
                    <a:pt x="161" y="1"/>
                  </a:lnTo>
                  <a:lnTo>
                    <a:pt x="62" y="7"/>
                  </a:lnTo>
                  <a:lnTo>
                    <a:pt x="26"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148">
              <a:extLst>
                <a:ext uri="{FF2B5EF4-FFF2-40B4-BE49-F238E27FC236}">
                  <a16:creationId xmlns:a16="http://schemas.microsoft.com/office/drawing/2014/main" id="{F2A67E4B-1114-437D-8A38-35F4C7B6BC71}"/>
                </a:ext>
              </a:extLst>
            </p:cNvPr>
            <p:cNvSpPr>
              <a:spLocks/>
            </p:cNvSpPr>
            <p:nvPr/>
          </p:nvSpPr>
          <p:spPr bwMode="auto">
            <a:xfrm>
              <a:off x="1041400" y="4554538"/>
              <a:ext cx="55563" cy="55563"/>
            </a:xfrm>
            <a:custGeom>
              <a:avLst/>
              <a:gdLst>
                <a:gd name="T0" fmla="*/ 20 w 140"/>
                <a:gd name="T1" fmla="*/ 21 h 144"/>
                <a:gd name="T2" fmla="*/ 11 w 140"/>
                <a:gd name="T3" fmla="*/ 31 h 144"/>
                <a:gd name="T4" fmla="*/ 1 w 140"/>
                <a:gd name="T5" fmla="*/ 55 h 144"/>
                <a:gd name="T6" fmla="*/ 0 w 140"/>
                <a:gd name="T7" fmla="*/ 79 h 144"/>
                <a:gd name="T8" fmla="*/ 7 w 140"/>
                <a:gd name="T9" fmla="*/ 102 h 144"/>
                <a:gd name="T10" fmla="*/ 20 w 140"/>
                <a:gd name="T11" fmla="*/ 122 h 144"/>
                <a:gd name="T12" fmla="*/ 39 w 140"/>
                <a:gd name="T13" fmla="*/ 137 h 144"/>
                <a:gd name="T14" fmla="*/ 61 w 140"/>
                <a:gd name="T15" fmla="*/ 144 h 144"/>
                <a:gd name="T16" fmla="*/ 86 w 140"/>
                <a:gd name="T17" fmla="*/ 142 h 144"/>
                <a:gd name="T18" fmla="*/ 99 w 140"/>
                <a:gd name="T19" fmla="*/ 136 h 144"/>
                <a:gd name="T20" fmla="*/ 113 w 140"/>
                <a:gd name="T21" fmla="*/ 127 h 144"/>
                <a:gd name="T22" fmla="*/ 132 w 140"/>
                <a:gd name="T23" fmla="*/ 108 h 144"/>
                <a:gd name="T24" fmla="*/ 140 w 140"/>
                <a:gd name="T25" fmla="*/ 83 h 144"/>
                <a:gd name="T26" fmla="*/ 137 w 140"/>
                <a:gd name="T27" fmla="*/ 54 h 144"/>
                <a:gd name="T28" fmla="*/ 132 w 140"/>
                <a:gd name="T29" fmla="*/ 37 h 144"/>
                <a:gd name="T30" fmla="*/ 125 w 140"/>
                <a:gd name="T31" fmla="*/ 23 h 144"/>
                <a:gd name="T32" fmla="*/ 99 w 140"/>
                <a:gd name="T33" fmla="*/ 5 h 144"/>
                <a:gd name="T34" fmla="*/ 66 w 140"/>
                <a:gd name="T35" fmla="*/ 0 h 144"/>
                <a:gd name="T36" fmla="*/ 34 w 140"/>
                <a:gd name="T37" fmla="*/ 10 h 144"/>
                <a:gd name="T38" fmla="*/ 20 w 140"/>
                <a:gd name="T39" fmla="*/ 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0" h="144">
                  <a:moveTo>
                    <a:pt x="20" y="21"/>
                  </a:moveTo>
                  <a:lnTo>
                    <a:pt x="11" y="31"/>
                  </a:lnTo>
                  <a:lnTo>
                    <a:pt x="1" y="55"/>
                  </a:lnTo>
                  <a:lnTo>
                    <a:pt x="0" y="79"/>
                  </a:lnTo>
                  <a:lnTo>
                    <a:pt x="7" y="102"/>
                  </a:lnTo>
                  <a:lnTo>
                    <a:pt x="20" y="122"/>
                  </a:lnTo>
                  <a:lnTo>
                    <a:pt x="39" y="137"/>
                  </a:lnTo>
                  <a:lnTo>
                    <a:pt x="61" y="144"/>
                  </a:lnTo>
                  <a:lnTo>
                    <a:pt x="86" y="142"/>
                  </a:lnTo>
                  <a:lnTo>
                    <a:pt x="99" y="136"/>
                  </a:lnTo>
                  <a:lnTo>
                    <a:pt x="113" y="127"/>
                  </a:lnTo>
                  <a:lnTo>
                    <a:pt x="132" y="108"/>
                  </a:lnTo>
                  <a:lnTo>
                    <a:pt x="140" y="83"/>
                  </a:lnTo>
                  <a:lnTo>
                    <a:pt x="137" y="54"/>
                  </a:lnTo>
                  <a:lnTo>
                    <a:pt x="132" y="37"/>
                  </a:lnTo>
                  <a:lnTo>
                    <a:pt x="125" y="23"/>
                  </a:lnTo>
                  <a:lnTo>
                    <a:pt x="99" y="5"/>
                  </a:lnTo>
                  <a:lnTo>
                    <a:pt x="66" y="0"/>
                  </a:lnTo>
                  <a:lnTo>
                    <a:pt x="34" y="10"/>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149">
              <a:extLst>
                <a:ext uri="{FF2B5EF4-FFF2-40B4-BE49-F238E27FC236}">
                  <a16:creationId xmlns:a16="http://schemas.microsoft.com/office/drawing/2014/main" id="{4969A7CD-691F-48B6-A4CE-2621FF2FBA3D}"/>
                </a:ext>
              </a:extLst>
            </p:cNvPr>
            <p:cNvSpPr>
              <a:spLocks/>
            </p:cNvSpPr>
            <p:nvPr/>
          </p:nvSpPr>
          <p:spPr bwMode="auto">
            <a:xfrm>
              <a:off x="1160463"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150">
              <a:extLst>
                <a:ext uri="{FF2B5EF4-FFF2-40B4-BE49-F238E27FC236}">
                  <a16:creationId xmlns:a16="http://schemas.microsoft.com/office/drawing/2014/main" id="{C18349E7-D74B-4AFF-9D36-DFF107720822}"/>
                </a:ext>
              </a:extLst>
            </p:cNvPr>
            <p:cNvSpPr>
              <a:spLocks/>
            </p:cNvSpPr>
            <p:nvPr/>
          </p:nvSpPr>
          <p:spPr bwMode="auto">
            <a:xfrm>
              <a:off x="1279525"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97" name="Group 96">
            <a:extLst>
              <a:ext uri="{FF2B5EF4-FFF2-40B4-BE49-F238E27FC236}">
                <a16:creationId xmlns:a16="http://schemas.microsoft.com/office/drawing/2014/main" id="{8E30D917-871C-45DF-9953-3139C2C6EEC8}"/>
              </a:ext>
            </a:extLst>
          </p:cNvPr>
          <p:cNvGrpSpPr>
            <a:grpSpLocks noChangeAspect="1"/>
          </p:cNvGrpSpPr>
          <p:nvPr/>
        </p:nvGrpSpPr>
        <p:grpSpPr>
          <a:xfrm>
            <a:off x="10834518" y="4565035"/>
            <a:ext cx="331092" cy="365760"/>
            <a:chOff x="133350" y="2943226"/>
            <a:chExt cx="1652588" cy="1825625"/>
          </a:xfrm>
          <a:solidFill>
            <a:schemeClr val="accent1"/>
          </a:solidFill>
        </p:grpSpPr>
        <p:sp>
          <p:nvSpPr>
            <p:cNvPr id="98" name="Freeform 79">
              <a:extLst>
                <a:ext uri="{FF2B5EF4-FFF2-40B4-BE49-F238E27FC236}">
                  <a16:creationId xmlns:a16="http://schemas.microsoft.com/office/drawing/2014/main" id="{D188B902-DB1C-47C2-A84A-7D37D87A0E94}"/>
                </a:ext>
              </a:extLst>
            </p:cNvPr>
            <p:cNvSpPr>
              <a:spLocks noEditPoints="1"/>
            </p:cNvSpPr>
            <p:nvPr/>
          </p:nvSpPr>
          <p:spPr bwMode="auto">
            <a:xfrm>
              <a:off x="133350" y="2943226"/>
              <a:ext cx="1652588" cy="1825625"/>
            </a:xfrm>
            <a:custGeom>
              <a:avLst/>
              <a:gdLst>
                <a:gd name="T0" fmla="*/ 1501 w 3749"/>
                <a:gd name="T1" fmla="*/ 289 h 4138"/>
                <a:gd name="T2" fmla="*/ 709 w 3749"/>
                <a:gd name="T3" fmla="*/ 474 h 4138"/>
                <a:gd name="T4" fmla="*/ 375 w 3749"/>
                <a:gd name="T5" fmla="*/ 2126 h 4138"/>
                <a:gd name="T6" fmla="*/ 341 w 3749"/>
                <a:gd name="T7" fmla="*/ 3259 h 4138"/>
                <a:gd name="T8" fmla="*/ 600 w 3749"/>
                <a:gd name="T9" fmla="*/ 3346 h 4138"/>
                <a:gd name="T10" fmla="*/ 738 w 3749"/>
                <a:gd name="T11" fmla="*/ 3754 h 4138"/>
                <a:gd name="T12" fmla="*/ 1063 w 3749"/>
                <a:gd name="T13" fmla="*/ 3965 h 4138"/>
                <a:gd name="T14" fmla="*/ 1423 w 3749"/>
                <a:gd name="T15" fmla="*/ 4134 h 4138"/>
                <a:gd name="T16" fmla="*/ 1881 w 3749"/>
                <a:gd name="T17" fmla="*/ 4069 h 4138"/>
                <a:gd name="T18" fmla="*/ 3634 w 3749"/>
                <a:gd name="T19" fmla="*/ 3881 h 4138"/>
                <a:gd name="T20" fmla="*/ 3731 w 3749"/>
                <a:gd name="T21" fmla="*/ 469 h 4138"/>
                <a:gd name="T22" fmla="*/ 2936 w 3749"/>
                <a:gd name="T23" fmla="*/ 284 h 4138"/>
                <a:gd name="T24" fmla="*/ 2218 w 3749"/>
                <a:gd name="T25" fmla="*/ 0 h 4138"/>
                <a:gd name="T26" fmla="*/ 2799 w 3749"/>
                <a:gd name="T27" fmla="*/ 509 h 4138"/>
                <a:gd name="T28" fmla="*/ 2084 w 3749"/>
                <a:gd name="T29" fmla="*/ 187 h 4138"/>
                <a:gd name="T30" fmla="*/ 929 w 3749"/>
                <a:gd name="T31" fmla="*/ 608 h 4138"/>
                <a:gd name="T32" fmla="*/ 881 w 3749"/>
                <a:gd name="T33" fmla="*/ 2186 h 4138"/>
                <a:gd name="T34" fmla="*/ 1499 w 3749"/>
                <a:gd name="T35" fmla="*/ 459 h 4138"/>
                <a:gd name="T36" fmla="*/ 3524 w 3749"/>
                <a:gd name="T37" fmla="*/ 3768 h 4138"/>
                <a:gd name="T38" fmla="*/ 2919 w 3749"/>
                <a:gd name="T39" fmla="*/ 3676 h 4138"/>
                <a:gd name="T40" fmla="*/ 3460 w 3749"/>
                <a:gd name="T41" fmla="*/ 567 h 4138"/>
                <a:gd name="T42" fmla="*/ 1554 w 3749"/>
                <a:gd name="T43" fmla="*/ 784 h 4138"/>
                <a:gd name="T44" fmla="*/ 2901 w 3749"/>
                <a:gd name="T45" fmla="*/ 3543 h 4138"/>
                <a:gd name="T46" fmla="*/ 2530 w 3749"/>
                <a:gd name="T47" fmla="*/ 3336 h 4138"/>
                <a:gd name="T48" fmla="*/ 2821 w 3749"/>
                <a:gd name="T49" fmla="*/ 3323 h 4138"/>
                <a:gd name="T50" fmla="*/ 3086 w 3749"/>
                <a:gd name="T51" fmla="*/ 2898 h 4138"/>
                <a:gd name="T52" fmla="*/ 3019 w 3749"/>
                <a:gd name="T53" fmla="*/ 2741 h 4138"/>
                <a:gd name="T54" fmla="*/ 3046 w 3749"/>
                <a:gd name="T55" fmla="*/ 2210 h 4138"/>
                <a:gd name="T56" fmla="*/ 3199 w 3749"/>
                <a:gd name="T57" fmla="*/ 1975 h 4138"/>
                <a:gd name="T58" fmla="*/ 2131 w 3749"/>
                <a:gd name="T59" fmla="*/ 1931 h 4138"/>
                <a:gd name="T60" fmla="*/ 2314 w 3749"/>
                <a:gd name="T61" fmla="*/ 2178 h 4138"/>
                <a:gd name="T62" fmla="*/ 2180 w 3749"/>
                <a:gd name="T63" fmla="*/ 2332 h 4138"/>
                <a:gd name="T64" fmla="*/ 1916 w 3749"/>
                <a:gd name="T65" fmla="*/ 2309 h 4138"/>
                <a:gd name="T66" fmla="*/ 1278 w 3749"/>
                <a:gd name="T67" fmla="*/ 1825 h 4138"/>
                <a:gd name="T68" fmla="*/ 1057 w 3749"/>
                <a:gd name="T69" fmla="*/ 720 h 4138"/>
                <a:gd name="T70" fmla="*/ 1525 w 3749"/>
                <a:gd name="T71" fmla="*/ 2325 h 4138"/>
                <a:gd name="T72" fmla="*/ 735 w 3749"/>
                <a:gd name="T73" fmla="*/ 2179 h 4138"/>
                <a:gd name="T74" fmla="*/ 519 w 3749"/>
                <a:gd name="T75" fmla="*/ 2121 h 4138"/>
                <a:gd name="T76" fmla="*/ 2987 w 3749"/>
                <a:gd name="T77" fmla="*/ 3120 h 4138"/>
                <a:gd name="T78" fmla="*/ 2636 w 3749"/>
                <a:gd name="T79" fmla="*/ 2143 h 4138"/>
                <a:gd name="T80" fmla="*/ 1416 w 3749"/>
                <a:gd name="T81" fmla="*/ 2474 h 4138"/>
                <a:gd name="T82" fmla="*/ 1148 w 3749"/>
                <a:gd name="T83" fmla="*/ 3008 h 4138"/>
                <a:gd name="T84" fmla="*/ 1879 w 3749"/>
                <a:gd name="T85" fmla="*/ 2942 h 4138"/>
                <a:gd name="T86" fmla="*/ 2211 w 3749"/>
                <a:gd name="T87" fmla="*/ 3282 h 4138"/>
                <a:gd name="T88" fmla="*/ 2066 w 3749"/>
                <a:gd name="T89" fmla="*/ 3354 h 4138"/>
                <a:gd name="T90" fmla="*/ 1858 w 3749"/>
                <a:gd name="T91" fmla="*/ 3404 h 4138"/>
                <a:gd name="T92" fmla="*/ 2020 w 3749"/>
                <a:gd name="T93" fmla="*/ 3655 h 4138"/>
                <a:gd name="T94" fmla="*/ 1572 w 3749"/>
                <a:gd name="T95" fmla="*/ 3564 h 4138"/>
                <a:gd name="T96" fmla="*/ 1209 w 3749"/>
                <a:gd name="T97" fmla="*/ 3366 h 4138"/>
                <a:gd name="T98" fmla="*/ 688 w 3749"/>
                <a:gd name="T99" fmla="*/ 3111 h 4138"/>
                <a:gd name="T100" fmla="*/ 814 w 3749"/>
                <a:gd name="T101" fmla="*/ 2436 h 4138"/>
                <a:gd name="T102" fmla="*/ 2496 w 3749"/>
                <a:gd name="T103" fmla="*/ 2771 h 4138"/>
                <a:gd name="T104" fmla="*/ 1878 w 3749"/>
                <a:gd name="T105" fmla="*/ 2800 h 4138"/>
                <a:gd name="T106" fmla="*/ 1192 w 3749"/>
                <a:gd name="T107" fmla="*/ 2852 h 4138"/>
                <a:gd name="T108" fmla="*/ 2027 w 3749"/>
                <a:gd name="T109" fmla="*/ 2496 h 4138"/>
                <a:gd name="T110" fmla="*/ 685 w 3749"/>
                <a:gd name="T111" fmla="*/ 3509 h 4138"/>
                <a:gd name="T112" fmla="*/ 1062 w 3749"/>
                <a:gd name="T113" fmla="*/ 3678 h 4138"/>
                <a:gd name="T114" fmla="*/ 1017 w 3749"/>
                <a:gd name="T115" fmla="*/ 3474 h 4138"/>
                <a:gd name="T116" fmla="*/ 1297 w 3749"/>
                <a:gd name="T117" fmla="*/ 3818 h 4138"/>
                <a:gd name="T118" fmla="*/ 1276 w 3749"/>
                <a:gd name="T119" fmla="*/ 3583 h 4138"/>
                <a:gd name="T120" fmla="*/ 1565 w 3749"/>
                <a:gd name="T121" fmla="*/ 3909 h 4138"/>
                <a:gd name="T122" fmla="*/ 1539 w 3749"/>
                <a:gd name="T123" fmla="*/ 3694 h 4138"/>
                <a:gd name="T124" fmla="*/ 1725 w 3749"/>
                <a:gd name="T125" fmla="*/ 3968 h 4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49" h="4138">
                  <a:moveTo>
                    <a:pt x="2126" y="9"/>
                  </a:moveTo>
                  <a:lnTo>
                    <a:pt x="2099" y="19"/>
                  </a:lnTo>
                  <a:lnTo>
                    <a:pt x="2045" y="48"/>
                  </a:lnTo>
                  <a:lnTo>
                    <a:pt x="1994" y="86"/>
                  </a:lnTo>
                  <a:lnTo>
                    <a:pt x="1950" y="131"/>
                  </a:lnTo>
                  <a:lnTo>
                    <a:pt x="1932" y="154"/>
                  </a:lnTo>
                  <a:lnTo>
                    <a:pt x="1894" y="209"/>
                  </a:lnTo>
                  <a:lnTo>
                    <a:pt x="1731" y="209"/>
                  </a:lnTo>
                  <a:lnTo>
                    <a:pt x="1681" y="209"/>
                  </a:lnTo>
                  <a:lnTo>
                    <a:pt x="1611" y="212"/>
                  </a:lnTo>
                  <a:lnTo>
                    <a:pt x="1569" y="219"/>
                  </a:lnTo>
                  <a:lnTo>
                    <a:pt x="1543" y="233"/>
                  </a:lnTo>
                  <a:lnTo>
                    <a:pt x="1532" y="243"/>
                  </a:lnTo>
                  <a:lnTo>
                    <a:pt x="1519" y="257"/>
                  </a:lnTo>
                  <a:lnTo>
                    <a:pt x="1501" y="289"/>
                  </a:lnTo>
                  <a:lnTo>
                    <a:pt x="1499" y="301"/>
                  </a:lnTo>
                  <a:lnTo>
                    <a:pt x="1499" y="305"/>
                  </a:lnTo>
                  <a:lnTo>
                    <a:pt x="1493" y="311"/>
                  </a:lnTo>
                  <a:lnTo>
                    <a:pt x="1472" y="319"/>
                  </a:lnTo>
                  <a:lnTo>
                    <a:pt x="1356" y="326"/>
                  </a:lnTo>
                  <a:lnTo>
                    <a:pt x="1179" y="326"/>
                  </a:lnTo>
                  <a:lnTo>
                    <a:pt x="1078" y="326"/>
                  </a:lnTo>
                  <a:lnTo>
                    <a:pt x="943" y="328"/>
                  </a:lnTo>
                  <a:lnTo>
                    <a:pt x="866" y="335"/>
                  </a:lnTo>
                  <a:lnTo>
                    <a:pt x="822" y="349"/>
                  </a:lnTo>
                  <a:lnTo>
                    <a:pt x="804" y="359"/>
                  </a:lnTo>
                  <a:lnTo>
                    <a:pt x="783" y="372"/>
                  </a:lnTo>
                  <a:lnTo>
                    <a:pt x="750" y="394"/>
                  </a:lnTo>
                  <a:lnTo>
                    <a:pt x="726" y="425"/>
                  </a:lnTo>
                  <a:lnTo>
                    <a:pt x="709" y="474"/>
                  </a:lnTo>
                  <a:lnTo>
                    <a:pt x="698" y="554"/>
                  </a:lnTo>
                  <a:lnTo>
                    <a:pt x="692" y="675"/>
                  </a:lnTo>
                  <a:lnTo>
                    <a:pt x="687" y="950"/>
                  </a:lnTo>
                  <a:lnTo>
                    <a:pt x="686" y="1236"/>
                  </a:lnTo>
                  <a:lnTo>
                    <a:pt x="681" y="1988"/>
                  </a:lnTo>
                  <a:lnTo>
                    <a:pt x="612" y="1964"/>
                  </a:lnTo>
                  <a:lnTo>
                    <a:pt x="591" y="1957"/>
                  </a:lnTo>
                  <a:lnTo>
                    <a:pt x="560" y="1950"/>
                  </a:lnTo>
                  <a:lnTo>
                    <a:pt x="533" y="1952"/>
                  </a:lnTo>
                  <a:lnTo>
                    <a:pt x="504" y="1962"/>
                  </a:lnTo>
                  <a:lnTo>
                    <a:pt x="486" y="1971"/>
                  </a:lnTo>
                  <a:lnTo>
                    <a:pt x="476" y="1976"/>
                  </a:lnTo>
                  <a:lnTo>
                    <a:pt x="457" y="1990"/>
                  </a:lnTo>
                  <a:lnTo>
                    <a:pt x="429" y="2024"/>
                  </a:lnTo>
                  <a:lnTo>
                    <a:pt x="375" y="2126"/>
                  </a:lnTo>
                  <a:lnTo>
                    <a:pt x="282" y="2328"/>
                  </a:lnTo>
                  <a:lnTo>
                    <a:pt x="212" y="2484"/>
                  </a:lnTo>
                  <a:lnTo>
                    <a:pt x="137" y="2655"/>
                  </a:lnTo>
                  <a:lnTo>
                    <a:pt x="42" y="2886"/>
                  </a:lnTo>
                  <a:lnTo>
                    <a:pt x="8" y="2990"/>
                  </a:lnTo>
                  <a:lnTo>
                    <a:pt x="0" y="3039"/>
                  </a:lnTo>
                  <a:lnTo>
                    <a:pt x="2" y="3074"/>
                  </a:lnTo>
                  <a:lnTo>
                    <a:pt x="14" y="3102"/>
                  </a:lnTo>
                  <a:lnTo>
                    <a:pt x="22" y="3114"/>
                  </a:lnTo>
                  <a:lnTo>
                    <a:pt x="39" y="3130"/>
                  </a:lnTo>
                  <a:lnTo>
                    <a:pt x="118" y="3176"/>
                  </a:lnTo>
                  <a:lnTo>
                    <a:pt x="221" y="3223"/>
                  </a:lnTo>
                  <a:lnTo>
                    <a:pt x="308" y="3256"/>
                  </a:lnTo>
                  <a:lnTo>
                    <a:pt x="332" y="3259"/>
                  </a:lnTo>
                  <a:lnTo>
                    <a:pt x="341" y="3259"/>
                  </a:lnTo>
                  <a:lnTo>
                    <a:pt x="363" y="3250"/>
                  </a:lnTo>
                  <a:lnTo>
                    <a:pt x="402" y="3224"/>
                  </a:lnTo>
                  <a:lnTo>
                    <a:pt x="427" y="3201"/>
                  </a:lnTo>
                  <a:lnTo>
                    <a:pt x="443" y="3186"/>
                  </a:lnTo>
                  <a:lnTo>
                    <a:pt x="472" y="3165"/>
                  </a:lnTo>
                  <a:lnTo>
                    <a:pt x="498" y="3154"/>
                  </a:lnTo>
                  <a:lnTo>
                    <a:pt x="523" y="3153"/>
                  </a:lnTo>
                  <a:lnTo>
                    <a:pt x="544" y="3162"/>
                  </a:lnTo>
                  <a:lnTo>
                    <a:pt x="564" y="3180"/>
                  </a:lnTo>
                  <a:lnTo>
                    <a:pt x="580" y="3208"/>
                  </a:lnTo>
                  <a:lnTo>
                    <a:pt x="593" y="3246"/>
                  </a:lnTo>
                  <a:lnTo>
                    <a:pt x="599" y="3269"/>
                  </a:lnTo>
                  <a:lnTo>
                    <a:pt x="603" y="3287"/>
                  </a:lnTo>
                  <a:lnTo>
                    <a:pt x="605" y="3317"/>
                  </a:lnTo>
                  <a:lnTo>
                    <a:pt x="600" y="3346"/>
                  </a:lnTo>
                  <a:lnTo>
                    <a:pt x="588" y="3377"/>
                  </a:lnTo>
                  <a:lnTo>
                    <a:pt x="579" y="3396"/>
                  </a:lnTo>
                  <a:lnTo>
                    <a:pt x="570" y="3414"/>
                  </a:lnTo>
                  <a:lnTo>
                    <a:pt x="558" y="3447"/>
                  </a:lnTo>
                  <a:lnTo>
                    <a:pt x="552" y="3480"/>
                  </a:lnTo>
                  <a:lnTo>
                    <a:pt x="552" y="3516"/>
                  </a:lnTo>
                  <a:lnTo>
                    <a:pt x="554" y="3536"/>
                  </a:lnTo>
                  <a:lnTo>
                    <a:pt x="558" y="3567"/>
                  </a:lnTo>
                  <a:lnTo>
                    <a:pt x="575" y="3618"/>
                  </a:lnTo>
                  <a:lnTo>
                    <a:pt x="606" y="3658"/>
                  </a:lnTo>
                  <a:lnTo>
                    <a:pt x="651" y="3692"/>
                  </a:lnTo>
                  <a:lnTo>
                    <a:pt x="681" y="3708"/>
                  </a:lnTo>
                  <a:lnTo>
                    <a:pt x="696" y="3715"/>
                  </a:lnTo>
                  <a:lnTo>
                    <a:pt x="720" y="3733"/>
                  </a:lnTo>
                  <a:lnTo>
                    <a:pt x="738" y="3754"/>
                  </a:lnTo>
                  <a:lnTo>
                    <a:pt x="751" y="3783"/>
                  </a:lnTo>
                  <a:lnTo>
                    <a:pt x="756" y="3801"/>
                  </a:lnTo>
                  <a:lnTo>
                    <a:pt x="761" y="3818"/>
                  </a:lnTo>
                  <a:lnTo>
                    <a:pt x="776" y="3848"/>
                  </a:lnTo>
                  <a:lnTo>
                    <a:pt x="795" y="3875"/>
                  </a:lnTo>
                  <a:lnTo>
                    <a:pt x="818" y="3897"/>
                  </a:lnTo>
                  <a:lnTo>
                    <a:pt x="845" y="3916"/>
                  </a:lnTo>
                  <a:lnTo>
                    <a:pt x="875" y="3929"/>
                  </a:lnTo>
                  <a:lnTo>
                    <a:pt x="907" y="3937"/>
                  </a:lnTo>
                  <a:lnTo>
                    <a:pt x="940" y="3939"/>
                  </a:lnTo>
                  <a:lnTo>
                    <a:pt x="957" y="3938"/>
                  </a:lnTo>
                  <a:lnTo>
                    <a:pt x="977" y="3936"/>
                  </a:lnTo>
                  <a:lnTo>
                    <a:pt x="1008" y="3938"/>
                  </a:lnTo>
                  <a:lnTo>
                    <a:pt x="1035" y="3947"/>
                  </a:lnTo>
                  <a:lnTo>
                    <a:pt x="1063" y="3965"/>
                  </a:lnTo>
                  <a:lnTo>
                    <a:pt x="1079" y="3979"/>
                  </a:lnTo>
                  <a:lnTo>
                    <a:pt x="1094" y="3992"/>
                  </a:lnTo>
                  <a:lnTo>
                    <a:pt x="1123" y="4010"/>
                  </a:lnTo>
                  <a:lnTo>
                    <a:pt x="1151" y="4021"/>
                  </a:lnTo>
                  <a:lnTo>
                    <a:pt x="1184" y="4026"/>
                  </a:lnTo>
                  <a:lnTo>
                    <a:pt x="1202" y="4026"/>
                  </a:lnTo>
                  <a:lnTo>
                    <a:pt x="1222" y="4026"/>
                  </a:lnTo>
                  <a:lnTo>
                    <a:pt x="1255" y="4031"/>
                  </a:lnTo>
                  <a:lnTo>
                    <a:pt x="1282" y="4042"/>
                  </a:lnTo>
                  <a:lnTo>
                    <a:pt x="1309" y="4062"/>
                  </a:lnTo>
                  <a:lnTo>
                    <a:pt x="1324" y="4076"/>
                  </a:lnTo>
                  <a:lnTo>
                    <a:pt x="1338" y="4089"/>
                  </a:lnTo>
                  <a:lnTo>
                    <a:pt x="1365" y="4109"/>
                  </a:lnTo>
                  <a:lnTo>
                    <a:pt x="1394" y="4124"/>
                  </a:lnTo>
                  <a:lnTo>
                    <a:pt x="1423" y="4134"/>
                  </a:lnTo>
                  <a:lnTo>
                    <a:pt x="1454" y="4138"/>
                  </a:lnTo>
                  <a:lnTo>
                    <a:pt x="1486" y="4137"/>
                  </a:lnTo>
                  <a:lnTo>
                    <a:pt x="1536" y="4125"/>
                  </a:lnTo>
                  <a:lnTo>
                    <a:pt x="1571" y="4109"/>
                  </a:lnTo>
                  <a:lnTo>
                    <a:pt x="1591" y="4099"/>
                  </a:lnTo>
                  <a:lnTo>
                    <a:pt x="1623" y="4086"/>
                  </a:lnTo>
                  <a:lnTo>
                    <a:pt x="1648" y="4082"/>
                  </a:lnTo>
                  <a:lnTo>
                    <a:pt x="1669" y="4086"/>
                  </a:lnTo>
                  <a:lnTo>
                    <a:pt x="1679" y="4091"/>
                  </a:lnTo>
                  <a:lnTo>
                    <a:pt x="1696" y="4099"/>
                  </a:lnTo>
                  <a:lnTo>
                    <a:pt x="1733" y="4109"/>
                  </a:lnTo>
                  <a:lnTo>
                    <a:pt x="1772" y="4110"/>
                  </a:lnTo>
                  <a:lnTo>
                    <a:pt x="1810" y="4104"/>
                  </a:lnTo>
                  <a:lnTo>
                    <a:pt x="1847" y="4090"/>
                  </a:lnTo>
                  <a:lnTo>
                    <a:pt x="1881" y="4069"/>
                  </a:lnTo>
                  <a:lnTo>
                    <a:pt x="1911" y="4042"/>
                  </a:lnTo>
                  <a:lnTo>
                    <a:pt x="1936" y="4010"/>
                  </a:lnTo>
                  <a:lnTo>
                    <a:pt x="1946" y="3991"/>
                  </a:lnTo>
                  <a:lnTo>
                    <a:pt x="1953" y="3975"/>
                  </a:lnTo>
                  <a:lnTo>
                    <a:pt x="1969" y="3950"/>
                  </a:lnTo>
                  <a:lnTo>
                    <a:pt x="1988" y="3933"/>
                  </a:lnTo>
                  <a:lnTo>
                    <a:pt x="2010" y="3922"/>
                  </a:lnTo>
                  <a:lnTo>
                    <a:pt x="2022" y="3919"/>
                  </a:lnTo>
                  <a:lnTo>
                    <a:pt x="2084" y="3916"/>
                  </a:lnTo>
                  <a:lnTo>
                    <a:pt x="2522" y="3910"/>
                  </a:lnTo>
                  <a:lnTo>
                    <a:pt x="2829" y="3909"/>
                  </a:lnTo>
                  <a:lnTo>
                    <a:pt x="3294" y="3909"/>
                  </a:lnTo>
                  <a:lnTo>
                    <a:pt x="3560" y="3901"/>
                  </a:lnTo>
                  <a:lnTo>
                    <a:pt x="3612" y="3891"/>
                  </a:lnTo>
                  <a:lnTo>
                    <a:pt x="3634" y="3881"/>
                  </a:lnTo>
                  <a:lnTo>
                    <a:pt x="3644" y="3874"/>
                  </a:lnTo>
                  <a:lnTo>
                    <a:pt x="3664" y="3863"/>
                  </a:lnTo>
                  <a:lnTo>
                    <a:pt x="3688" y="3847"/>
                  </a:lnTo>
                  <a:lnTo>
                    <a:pt x="3702" y="3832"/>
                  </a:lnTo>
                  <a:lnTo>
                    <a:pt x="3713" y="3812"/>
                  </a:lnTo>
                  <a:lnTo>
                    <a:pt x="3722" y="3781"/>
                  </a:lnTo>
                  <a:lnTo>
                    <a:pt x="3733" y="3713"/>
                  </a:lnTo>
                  <a:lnTo>
                    <a:pt x="3743" y="3558"/>
                  </a:lnTo>
                  <a:lnTo>
                    <a:pt x="3747" y="3310"/>
                  </a:lnTo>
                  <a:lnTo>
                    <a:pt x="3749" y="2729"/>
                  </a:lnTo>
                  <a:lnTo>
                    <a:pt x="3749" y="2114"/>
                  </a:lnTo>
                  <a:lnTo>
                    <a:pt x="3749" y="1568"/>
                  </a:lnTo>
                  <a:lnTo>
                    <a:pt x="3747" y="884"/>
                  </a:lnTo>
                  <a:lnTo>
                    <a:pt x="3740" y="559"/>
                  </a:lnTo>
                  <a:lnTo>
                    <a:pt x="3731" y="469"/>
                  </a:lnTo>
                  <a:lnTo>
                    <a:pt x="3721" y="441"/>
                  </a:lnTo>
                  <a:lnTo>
                    <a:pt x="3716" y="431"/>
                  </a:lnTo>
                  <a:lnTo>
                    <a:pt x="3706" y="415"/>
                  </a:lnTo>
                  <a:lnTo>
                    <a:pt x="3686" y="388"/>
                  </a:lnTo>
                  <a:lnTo>
                    <a:pt x="3662" y="368"/>
                  </a:lnTo>
                  <a:lnTo>
                    <a:pt x="3631" y="353"/>
                  </a:lnTo>
                  <a:lnTo>
                    <a:pt x="3587" y="343"/>
                  </a:lnTo>
                  <a:lnTo>
                    <a:pt x="3526" y="336"/>
                  </a:lnTo>
                  <a:lnTo>
                    <a:pt x="3399" y="329"/>
                  </a:lnTo>
                  <a:lnTo>
                    <a:pt x="3274" y="326"/>
                  </a:lnTo>
                  <a:lnTo>
                    <a:pt x="3074" y="321"/>
                  </a:lnTo>
                  <a:lnTo>
                    <a:pt x="2960" y="309"/>
                  </a:lnTo>
                  <a:lnTo>
                    <a:pt x="2941" y="299"/>
                  </a:lnTo>
                  <a:lnTo>
                    <a:pt x="2937" y="290"/>
                  </a:lnTo>
                  <a:lnTo>
                    <a:pt x="2936" y="284"/>
                  </a:lnTo>
                  <a:lnTo>
                    <a:pt x="2933" y="273"/>
                  </a:lnTo>
                  <a:lnTo>
                    <a:pt x="2926" y="255"/>
                  </a:lnTo>
                  <a:lnTo>
                    <a:pt x="2914" y="240"/>
                  </a:lnTo>
                  <a:lnTo>
                    <a:pt x="2896" y="229"/>
                  </a:lnTo>
                  <a:lnTo>
                    <a:pt x="2858" y="217"/>
                  </a:lnTo>
                  <a:lnTo>
                    <a:pt x="2777" y="210"/>
                  </a:lnTo>
                  <a:lnTo>
                    <a:pt x="2719" y="209"/>
                  </a:lnTo>
                  <a:lnTo>
                    <a:pt x="2562" y="209"/>
                  </a:lnTo>
                  <a:lnTo>
                    <a:pt x="2496" y="134"/>
                  </a:lnTo>
                  <a:lnTo>
                    <a:pt x="2466" y="103"/>
                  </a:lnTo>
                  <a:lnTo>
                    <a:pt x="2404" y="48"/>
                  </a:lnTo>
                  <a:lnTo>
                    <a:pt x="2382" y="34"/>
                  </a:lnTo>
                  <a:lnTo>
                    <a:pt x="2358" y="24"/>
                  </a:lnTo>
                  <a:lnTo>
                    <a:pt x="2292" y="8"/>
                  </a:lnTo>
                  <a:lnTo>
                    <a:pt x="2218" y="0"/>
                  </a:lnTo>
                  <a:lnTo>
                    <a:pt x="2151" y="3"/>
                  </a:lnTo>
                  <a:lnTo>
                    <a:pt x="2126" y="9"/>
                  </a:lnTo>
                  <a:close/>
                  <a:moveTo>
                    <a:pt x="2349" y="173"/>
                  </a:moveTo>
                  <a:lnTo>
                    <a:pt x="2368" y="188"/>
                  </a:lnTo>
                  <a:lnTo>
                    <a:pt x="2406" y="236"/>
                  </a:lnTo>
                  <a:lnTo>
                    <a:pt x="2419" y="261"/>
                  </a:lnTo>
                  <a:lnTo>
                    <a:pt x="2435" y="292"/>
                  </a:lnTo>
                  <a:lnTo>
                    <a:pt x="2460" y="323"/>
                  </a:lnTo>
                  <a:lnTo>
                    <a:pt x="2480" y="338"/>
                  </a:lnTo>
                  <a:lnTo>
                    <a:pt x="2504" y="348"/>
                  </a:lnTo>
                  <a:lnTo>
                    <a:pt x="2535" y="354"/>
                  </a:lnTo>
                  <a:lnTo>
                    <a:pt x="2595" y="359"/>
                  </a:lnTo>
                  <a:lnTo>
                    <a:pt x="2652" y="359"/>
                  </a:lnTo>
                  <a:lnTo>
                    <a:pt x="2799" y="359"/>
                  </a:lnTo>
                  <a:lnTo>
                    <a:pt x="2799" y="509"/>
                  </a:lnTo>
                  <a:lnTo>
                    <a:pt x="2799" y="659"/>
                  </a:lnTo>
                  <a:lnTo>
                    <a:pt x="2221" y="656"/>
                  </a:lnTo>
                  <a:lnTo>
                    <a:pt x="1641" y="651"/>
                  </a:lnTo>
                  <a:lnTo>
                    <a:pt x="1636" y="504"/>
                  </a:lnTo>
                  <a:lnTo>
                    <a:pt x="1631" y="359"/>
                  </a:lnTo>
                  <a:lnTo>
                    <a:pt x="1791" y="359"/>
                  </a:lnTo>
                  <a:lnTo>
                    <a:pt x="1850" y="359"/>
                  </a:lnTo>
                  <a:lnTo>
                    <a:pt x="1911" y="356"/>
                  </a:lnTo>
                  <a:lnTo>
                    <a:pt x="1940" y="350"/>
                  </a:lnTo>
                  <a:lnTo>
                    <a:pt x="1963" y="339"/>
                  </a:lnTo>
                  <a:lnTo>
                    <a:pt x="1983" y="322"/>
                  </a:lnTo>
                  <a:lnTo>
                    <a:pt x="2013" y="283"/>
                  </a:lnTo>
                  <a:lnTo>
                    <a:pt x="2037" y="243"/>
                  </a:lnTo>
                  <a:lnTo>
                    <a:pt x="2051" y="222"/>
                  </a:lnTo>
                  <a:lnTo>
                    <a:pt x="2084" y="187"/>
                  </a:lnTo>
                  <a:lnTo>
                    <a:pt x="2121" y="161"/>
                  </a:lnTo>
                  <a:lnTo>
                    <a:pt x="2161" y="143"/>
                  </a:lnTo>
                  <a:lnTo>
                    <a:pt x="2203" y="134"/>
                  </a:lnTo>
                  <a:lnTo>
                    <a:pt x="2246" y="133"/>
                  </a:lnTo>
                  <a:lnTo>
                    <a:pt x="2289" y="142"/>
                  </a:lnTo>
                  <a:lnTo>
                    <a:pt x="2330" y="160"/>
                  </a:lnTo>
                  <a:lnTo>
                    <a:pt x="2349" y="173"/>
                  </a:lnTo>
                  <a:close/>
                  <a:moveTo>
                    <a:pt x="1499" y="509"/>
                  </a:moveTo>
                  <a:lnTo>
                    <a:pt x="1499" y="559"/>
                  </a:lnTo>
                  <a:lnTo>
                    <a:pt x="1224" y="559"/>
                  </a:lnTo>
                  <a:lnTo>
                    <a:pt x="1063" y="560"/>
                  </a:lnTo>
                  <a:lnTo>
                    <a:pt x="964" y="568"/>
                  </a:lnTo>
                  <a:lnTo>
                    <a:pt x="939" y="581"/>
                  </a:lnTo>
                  <a:lnTo>
                    <a:pt x="932" y="591"/>
                  </a:lnTo>
                  <a:lnTo>
                    <a:pt x="929" y="608"/>
                  </a:lnTo>
                  <a:lnTo>
                    <a:pt x="923" y="729"/>
                  </a:lnTo>
                  <a:lnTo>
                    <a:pt x="917" y="1089"/>
                  </a:lnTo>
                  <a:lnTo>
                    <a:pt x="916" y="1474"/>
                  </a:lnTo>
                  <a:lnTo>
                    <a:pt x="915" y="1815"/>
                  </a:lnTo>
                  <a:lnTo>
                    <a:pt x="911" y="2184"/>
                  </a:lnTo>
                  <a:lnTo>
                    <a:pt x="906" y="2314"/>
                  </a:lnTo>
                  <a:lnTo>
                    <a:pt x="904" y="2326"/>
                  </a:lnTo>
                  <a:lnTo>
                    <a:pt x="888" y="2323"/>
                  </a:lnTo>
                  <a:lnTo>
                    <a:pt x="867" y="2311"/>
                  </a:lnTo>
                  <a:lnTo>
                    <a:pt x="861" y="2307"/>
                  </a:lnTo>
                  <a:lnTo>
                    <a:pt x="854" y="2296"/>
                  </a:lnTo>
                  <a:lnTo>
                    <a:pt x="856" y="2269"/>
                  </a:lnTo>
                  <a:lnTo>
                    <a:pt x="867" y="2236"/>
                  </a:lnTo>
                  <a:lnTo>
                    <a:pt x="874" y="2216"/>
                  </a:lnTo>
                  <a:lnTo>
                    <a:pt x="881" y="2186"/>
                  </a:lnTo>
                  <a:lnTo>
                    <a:pt x="877" y="2159"/>
                  </a:lnTo>
                  <a:lnTo>
                    <a:pt x="864" y="2126"/>
                  </a:lnTo>
                  <a:lnTo>
                    <a:pt x="852" y="2104"/>
                  </a:lnTo>
                  <a:lnTo>
                    <a:pt x="814" y="2033"/>
                  </a:lnTo>
                  <a:lnTo>
                    <a:pt x="819" y="1269"/>
                  </a:lnTo>
                  <a:lnTo>
                    <a:pt x="822" y="807"/>
                  </a:lnTo>
                  <a:lnTo>
                    <a:pt x="832" y="544"/>
                  </a:lnTo>
                  <a:lnTo>
                    <a:pt x="841" y="501"/>
                  </a:lnTo>
                  <a:lnTo>
                    <a:pt x="850" y="487"/>
                  </a:lnTo>
                  <a:lnTo>
                    <a:pt x="856" y="483"/>
                  </a:lnTo>
                  <a:lnTo>
                    <a:pt x="867" y="476"/>
                  </a:lnTo>
                  <a:lnTo>
                    <a:pt x="910" y="467"/>
                  </a:lnTo>
                  <a:lnTo>
                    <a:pt x="1037" y="460"/>
                  </a:lnTo>
                  <a:lnTo>
                    <a:pt x="1194" y="459"/>
                  </a:lnTo>
                  <a:lnTo>
                    <a:pt x="1499" y="459"/>
                  </a:lnTo>
                  <a:lnTo>
                    <a:pt x="1499" y="509"/>
                  </a:lnTo>
                  <a:close/>
                  <a:moveTo>
                    <a:pt x="3589" y="486"/>
                  </a:moveTo>
                  <a:lnTo>
                    <a:pt x="3593" y="492"/>
                  </a:lnTo>
                  <a:lnTo>
                    <a:pt x="3600" y="521"/>
                  </a:lnTo>
                  <a:lnTo>
                    <a:pt x="3608" y="624"/>
                  </a:lnTo>
                  <a:lnTo>
                    <a:pt x="3615" y="1196"/>
                  </a:lnTo>
                  <a:lnTo>
                    <a:pt x="3616" y="2113"/>
                  </a:lnTo>
                  <a:lnTo>
                    <a:pt x="3615" y="3047"/>
                  </a:lnTo>
                  <a:lnTo>
                    <a:pt x="3608" y="3613"/>
                  </a:lnTo>
                  <a:lnTo>
                    <a:pt x="3600" y="3712"/>
                  </a:lnTo>
                  <a:lnTo>
                    <a:pt x="3592" y="3740"/>
                  </a:lnTo>
                  <a:lnTo>
                    <a:pt x="3587" y="3746"/>
                  </a:lnTo>
                  <a:lnTo>
                    <a:pt x="3582" y="3751"/>
                  </a:lnTo>
                  <a:lnTo>
                    <a:pt x="3568" y="3759"/>
                  </a:lnTo>
                  <a:lnTo>
                    <a:pt x="3524" y="3768"/>
                  </a:lnTo>
                  <a:lnTo>
                    <a:pt x="3284" y="3776"/>
                  </a:lnTo>
                  <a:lnTo>
                    <a:pt x="2879" y="3776"/>
                  </a:lnTo>
                  <a:lnTo>
                    <a:pt x="2526" y="3775"/>
                  </a:lnTo>
                  <a:lnTo>
                    <a:pt x="2269" y="3769"/>
                  </a:lnTo>
                  <a:lnTo>
                    <a:pt x="2215" y="3763"/>
                  </a:lnTo>
                  <a:lnTo>
                    <a:pt x="2200" y="3757"/>
                  </a:lnTo>
                  <a:lnTo>
                    <a:pt x="2199" y="3754"/>
                  </a:lnTo>
                  <a:lnTo>
                    <a:pt x="2200" y="3750"/>
                  </a:lnTo>
                  <a:lnTo>
                    <a:pt x="2213" y="3738"/>
                  </a:lnTo>
                  <a:lnTo>
                    <a:pt x="2248" y="3717"/>
                  </a:lnTo>
                  <a:lnTo>
                    <a:pt x="2281" y="3704"/>
                  </a:lnTo>
                  <a:lnTo>
                    <a:pt x="2307" y="3696"/>
                  </a:lnTo>
                  <a:lnTo>
                    <a:pt x="2383" y="3684"/>
                  </a:lnTo>
                  <a:lnTo>
                    <a:pt x="2605" y="3676"/>
                  </a:lnTo>
                  <a:lnTo>
                    <a:pt x="2919" y="3676"/>
                  </a:lnTo>
                  <a:lnTo>
                    <a:pt x="3194" y="3675"/>
                  </a:lnTo>
                  <a:lnTo>
                    <a:pt x="3418" y="3669"/>
                  </a:lnTo>
                  <a:lnTo>
                    <a:pt x="3486" y="3661"/>
                  </a:lnTo>
                  <a:lnTo>
                    <a:pt x="3496" y="3656"/>
                  </a:lnTo>
                  <a:lnTo>
                    <a:pt x="3498" y="3650"/>
                  </a:lnTo>
                  <a:lnTo>
                    <a:pt x="3503" y="3610"/>
                  </a:lnTo>
                  <a:lnTo>
                    <a:pt x="3509" y="3477"/>
                  </a:lnTo>
                  <a:lnTo>
                    <a:pt x="3515" y="2889"/>
                  </a:lnTo>
                  <a:lnTo>
                    <a:pt x="3516" y="2119"/>
                  </a:lnTo>
                  <a:lnTo>
                    <a:pt x="3515" y="1511"/>
                  </a:lnTo>
                  <a:lnTo>
                    <a:pt x="3510" y="844"/>
                  </a:lnTo>
                  <a:lnTo>
                    <a:pt x="3505" y="606"/>
                  </a:lnTo>
                  <a:lnTo>
                    <a:pt x="3502" y="581"/>
                  </a:lnTo>
                  <a:lnTo>
                    <a:pt x="3496" y="576"/>
                  </a:lnTo>
                  <a:lnTo>
                    <a:pt x="3460" y="567"/>
                  </a:lnTo>
                  <a:lnTo>
                    <a:pt x="3347" y="559"/>
                  </a:lnTo>
                  <a:lnTo>
                    <a:pt x="3216" y="556"/>
                  </a:lnTo>
                  <a:lnTo>
                    <a:pt x="2941" y="551"/>
                  </a:lnTo>
                  <a:lnTo>
                    <a:pt x="2936" y="504"/>
                  </a:lnTo>
                  <a:lnTo>
                    <a:pt x="2931" y="459"/>
                  </a:lnTo>
                  <a:lnTo>
                    <a:pt x="3247" y="459"/>
                  </a:lnTo>
                  <a:lnTo>
                    <a:pt x="3420" y="460"/>
                  </a:lnTo>
                  <a:lnTo>
                    <a:pt x="3543" y="468"/>
                  </a:lnTo>
                  <a:lnTo>
                    <a:pt x="3580" y="478"/>
                  </a:lnTo>
                  <a:lnTo>
                    <a:pt x="3589" y="486"/>
                  </a:lnTo>
                  <a:close/>
                  <a:moveTo>
                    <a:pt x="1506" y="734"/>
                  </a:moveTo>
                  <a:lnTo>
                    <a:pt x="1512" y="752"/>
                  </a:lnTo>
                  <a:lnTo>
                    <a:pt x="1531" y="773"/>
                  </a:lnTo>
                  <a:lnTo>
                    <a:pt x="1546" y="782"/>
                  </a:lnTo>
                  <a:lnTo>
                    <a:pt x="1554" y="784"/>
                  </a:lnTo>
                  <a:lnTo>
                    <a:pt x="1606" y="788"/>
                  </a:lnTo>
                  <a:lnTo>
                    <a:pt x="1984" y="790"/>
                  </a:lnTo>
                  <a:lnTo>
                    <a:pt x="2249" y="789"/>
                  </a:lnTo>
                  <a:lnTo>
                    <a:pt x="2907" y="784"/>
                  </a:lnTo>
                  <a:lnTo>
                    <a:pt x="2929" y="738"/>
                  </a:lnTo>
                  <a:lnTo>
                    <a:pt x="2951" y="691"/>
                  </a:lnTo>
                  <a:lnTo>
                    <a:pt x="3171" y="696"/>
                  </a:lnTo>
                  <a:lnTo>
                    <a:pt x="3259" y="699"/>
                  </a:lnTo>
                  <a:lnTo>
                    <a:pt x="3353" y="705"/>
                  </a:lnTo>
                  <a:lnTo>
                    <a:pt x="3385" y="710"/>
                  </a:lnTo>
                  <a:lnTo>
                    <a:pt x="3387" y="713"/>
                  </a:lnTo>
                  <a:lnTo>
                    <a:pt x="3383" y="1040"/>
                  </a:lnTo>
                  <a:lnTo>
                    <a:pt x="3382" y="2134"/>
                  </a:lnTo>
                  <a:lnTo>
                    <a:pt x="3382" y="3543"/>
                  </a:lnTo>
                  <a:lnTo>
                    <a:pt x="2901" y="3543"/>
                  </a:lnTo>
                  <a:lnTo>
                    <a:pt x="2741" y="3543"/>
                  </a:lnTo>
                  <a:lnTo>
                    <a:pt x="2540" y="3541"/>
                  </a:lnTo>
                  <a:lnTo>
                    <a:pt x="2444" y="3534"/>
                  </a:lnTo>
                  <a:lnTo>
                    <a:pt x="2419" y="3524"/>
                  </a:lnTo>
                  <a:lnTo>
                    <a:pt x="2412" y="3515"/>
                  </a:lnTo>
                  <a:lnTo>
                    <a:pt x="2411" y="3509"/>
                  </a:lnTo>
                  <a:lnTo>
                    <a:pt x="2409" y="3501"/>
                  </a:lnTo>
                  <a:lnTo>
                    <a:pt x="2413" y="3483"/>
                  </a:lnTo>
                  <a:lnTo>
                    <a:pt x="2424" y="3465"/>
                  </a:lnTo>
                  <a:lnTo>
                    <a:pt x="2445" y="3445"/>
                  </a:lnTo>
                  <a:lnTo>
                    <a:pt x="2459" y="3434"/>
                  </a:lnTo>
                  <a:lnTo>
                    <a:pt x="2473" y="3423"/>
                  </a:lnTo>
                  <a:lnTo>
                    <a:pt x="2498" y="3398"/>
                  </a:lnTo>
                  <a:lnTo>
                    <a:pt x="2516" y="3369"/>
                  </a:lnTo>
                  <a:lnTo>
                    <a:pt x="2530" y="3336"/>
                  </a:lnTo>
                  <a:lnTo>
                    <a:pt x="2536" y="3318"/>
                  </a:lnTo>
                  <a:lnTo>
                    <a:pt x="2541" y="3297"/>
                  </a:lnTo>
                  <a:lnTo>
                    <a:pt x="2554" y="3266"/>
                  </a:lnTo>
                  <a:lnTo>
                    <a:pt x="2569" y="3245"/>
                  </a:lnTo>
                  <a:lnTo>
                    <a:pt x="2590" y="3231"/>
                  </a:lnTo>
                  <a:lnTo>
                    <a:pt x="2604" y="3226"/>
                  </a:lnTo>
                  <a:lnTo>
                    <a:pt x="2619" y="3221"/>
                  </a:lnTo>
                  <a:lnTo>
                    <a:pt x="2643" y="3219"/>
                  </a:lnTo>
                  <a:lnTo>
                    <a:pt x="2664" y="3227"/>
                  </a:lnTo>
                  <a:lnTo>
                    <a:pt x="2690" y="3250"/>
                  </a:lnTo>
                  <a:lnTo>
                    <a:pt x="2707" y="3268"/>
                  </a:lnTo>
                  <a:lnTo>
                    <a:pt x="2732" y="3293"/>
                  </a:lnTo>
                  <a:lnTo>
                    <a:pt x="2767" y="3315"/>
                  </a:lnTo>
                  <a:lnTo>
                    <a:pt x="2792" y="3323"/>
                  </a:lnTo>
                  <a:lnTo>
                    <a:pt x="2821" y="3323"/>
                  </a:lnTo>
                  <a:lnTo>
                    <a:pt x="2855" y="3317"/>
                  </a:lnTo>
                  <a:lnTo>
                    <a:pt x="2919" y="3297"/>
                  </a:lnTo>
                  <a:lnTo>
                    <a:pt x="2976" y="3274"/>
                  </a:lnTo>
                  <a:lnTo>
                    <a:pt x="3012" y="3259"/>
                  </a:lnTo>
                  <a:lnTo>
                    <a:pt x="3064" y="3233"/>
                  </a:lnTo>
                  <a:lnTo>
                    <a:pt x="3098" y="3209"/>
                  </a:lnTo>
                  <a:lnTo>
                    <a:pt x="3120" y="3182"/>
                  </a:lnTo>
                  <a:lnTo>
                    <a:pt x="3129" y="3166"/>
                  </a:lnTo>
                  <a:lnTo>
                    <a:pt x="3138" y="3147"/>
                  </a:lnTo>
                  <a:lnTo>
                    <a:pt x="3146" y="3118"/>
                  </a:lnTo>
                  <a:lnTo>
                    <a:pt x="3145" y="3088"/>
                  </a:lnTo>
                  <a:lnTo>
                    <a:pt x="3133" y="3045"/>
                  </a:lnTo>
                  <a:lnTo>
                    <a:pt x="3122" y="3014"/>
                  </a:lnTo>
                  <a:lnTo>
                    <a:pt x="3097" y="2935"/>
                  </a:lnTo>
                  <a:lnTo>
                    <a:pt x="3086" y="2898"/>
                  </a:lnTo>
                  <a:lnTo>
                    <a:pt x="3085" y="2894"/>
                  </a:lnTo>
                  <a:lnTo>
                    <a:pt x="3090" y="2886"/>
                  </a:lnTo>
                  <a:lnTo>
                    <a:pt x="3108" y="2876"/>
                  </a:lnTo>
                  <a:lnTo>
                    <a:pt x="3126" y="2873"/>
                  </a:lnTo>
                  <a:lnTo>
                    <a:pt x="3146" y="2869"/>
                  </a:lnTo>
                  <a:lnTo>
                    <a:pt x="3178" y="2852"/>
                  </a:lnTo>
                  <a:lnTo>
                    <a:pt x="3196" y="2826"/>
                  </a:lnTo>
                  <a:lnTo>
                    <a:pt x="3197" y="2803"/>
                  </a:lnTo>
                  <a:lnTo>
                    <a:pt x="3193" y="2787"/>
                  </a:lnTo>
                  <a:lnTo>
                    <a:pt x="3189" y="2779"/>
                  </a:lnTo>
                  <a:lnTo>
                    <a:pt x="3184" y="2773"/>
                  </a:lnTo>
                  <a:lnTo>
                    <a:pt x="3168" y="2761"/>
                  </a:lnTo>
                  <a:lnTo>
                    <a:pt x="3131" y="2750"/>
                  </a:lnTo>
                  <a:lnTo>
                    <a:pt x="3096" y="2746"/>
                  </a:lnTo>
                  <a:lnTo>
                    <a:pt x="3019" y="2741"/>
                  </a:lnTo>
                  <a:lnTo>
                    <a:pt x="2944" y="2546"/>
                  </a:lnTo>
                  <a:lnTo>
                    <a:pt x="2869" y="2351"/>
                  </a:lnTo>
                  <a:lnTo>
                    <a:pt x="3019" y="2343"/>
                  </a:lnTo>
                  <a:lnTo>
                    <a:pt x="3070" y="2339"/>
                  </a:lnTo>
                  <a:lnTo>
                    <a:pt x="3141" y="2329"/>
                  </a:lnTo>
                  <a:lnTo>
                    <a:pt x="3172" y="2317"/>
                  </a:lnTo>
                  <a:lnTo>
                    <a:pt x="3186" y="2306"/>
                  </a:lnTo>
                  <a:lnTo>
                    <a:pt x="3197" y="2285"/>
                  </a:lnTo>
                  <a:lnTo>
                    <a:pt x="3199" y="2266"/>
                  </a:lnTo>
                  <a:lnTo>
                    <a:pt x="3199" y="2258"/>
                  </a:lnTo>
                  <a:lnTo>
                    <a:pt x="3194" y="2244"/>
                  </a:lnTo>
                  <a:lnTo>
                    <a:pt x="3184" y="2233"/>
                  </a:lnTo>
                  <a:lnTo>
                    <a:pt x="3167" y="2224"/>
                  </a:lnTo>
                  <a:lnTo>
                    <a:pt x="3129" y="2215"/>
                  </a:lnTo>
                  <a:lnTo>
                    <a:pt x="3046" y="2210"/>
                  </a:lnTo>
                  <a:lnTo>
                    <a:pt x="2987" y="2209"/>
                  </a:lnTo>
                  <a:lnTo>
                    <a:pt x="2817" y="2209"/>
                  </a:lnTo>
                  <a:lnTo>
                    <a:pt x="2779" y="2129"/>
                  </a:lnTo>
                  <a:lnTo>
                    <a:pt x="2749" y="2066"/>
                  </a:lnTo>
                  <a:lnTo>
                    <a:pt x="2736" y="2038"/>
                  </a:lnTo>
                  <a:lnTo>
                    <a:pt x="2737" y="2035"/>
                  </a:lnTo>
                  <a:lnTo>
                    <a:pt x="2768" y="2031"/>
                  </a:lnTo>
                  <a:lnTo>
                    <a:pt x="2858" y="2027"/>
                  </a:lnTo>
                  <a:lnTo>
                    <a:pt x="2944" y="2026"/>
                  </a:lnTo>
                  <a:lnTo>
                    <a:pt x="3019" y="2026"/>
                  </a:lnTo>
                  <a:lnTo>
                    <a:pt x="3120" y="2021"/>
                  </a:lnTo>
                  <a:lnTo>
                    <a:pt x="3165" y="2011"/>
                  </a:lnTo>
                  <a:lnTo>
                    <a:pt x="3183" y="2002"/>
                  </a:lnTo>
                  <a:lnTo>
                    <a:pt x="3194" y="1990"/>
                  </a:lnTo>
                  <a:lnTo>
                    <a:pt x="3199" y="1975"/>
                  </a:lnTo>
                  <a:lnTo>
                    <a:pt x="3199" y="1966"/>
                  </a:lnTo>
                  <a:lnTo>
                    <a:pt x="3198" y="1956"/>
                  </a:lnTo>
                  <a:lnTo>
                    <a:pt x="3183" y="1930"/>
                  </a:lnTo>
                  <a:lnTo>
                    <a:pt x="3172" y="1919"/>
                  </a:lnTo>
                  <a:lnTo>
                    <a:pt x="3168" y="1915"/>
                  </a:lnTo>
                  <a:lnTo>
                    <a:pt x="3153" y="1908"/>
                  </a:lnTo>
                  <a:lnTo>
                    <a:pt x="3114" y="1900"/>
                  </a:lnTo>
                  <a:lnTo>
                    <a:pt x="2931" y="1893"/>
                  </a:lnTo>
                  <a:lnTo>
                    <a:pt x="2657" y="1893"/>
                  </a:lnTo>
                  <a:lnTo>
                    <a:pt x="2384" y="1893"/>
                  </a:lnTo>
                  <a:lnTo>
                    <a:pt x="2201" y="1900"/>
                  </a:lnTo>
                  <a:lnTo>
                    <a:pt x="2161" y="1908"/>
                  </a:lnTo>
                  <a:lnTo>
                    <a:pt x="2147" y="1915"/>
                  </a:lnTo>
                  <a:lnTo>
                    <a:pt x="2142" y="1919"/>
                  </a:lnTo>
                  <a:lnTo>
                    <a:pt x="2131" y="1931"/>
                  </a:lnTo>
                  <a:lnTo>
                    <a:pt x="2119" y="1948"/>
                  </a:lnTo>
                  <a:lnTo>
                    <a:pt x="2118" y="1965"/>
                  </a:lnTo>
                  <a:lnTo>
                    <a:pt x="2128" y="1985"/>
                  </a:lnTo>
                  <a:lnTo>
                    <a:pt x="2137" y="1998"/>
                  </a:lnTo>
                  <a:lnTo>
                    <a:pt x="2144" y="2005"/>
                  </a:lnTo>
                  <a:lnTo>
                    <a:pt x="2169" y="2016"/>
                  </a:lnTo>
                  <a:lnTo>
                    <a:pt x="2243" y="2026"/>
                  </a:lnTo>
                  <a:lnTo>
                    <a:pt x="2341" y="2029"/>
                  </a:lnTo>
                  <a:lnTo>
                    <a:pt x="2524" y="2034"/>
                  </a:lnTo>
                  <a:lnTo>
                    <a:pt x="2432" y="2078"/>
                  </a:lnTo>
                  <a:lnTo>
                    <a:pt x="2390" y="2099"/>
                  </a:lnTo>
                  <a:lnTo>
                    <a:pt x="2345" y="2132"/>
                  </a:lnTo>
                  <a:lnTo>
                    <a:pt x="2326" y="2154"/>
                  </a:lnTo>
                  <a:lnTo>
                    <a:pt x="2321" y="2164"/>
                  </a:lnTo>
                  <a:lnTo>
                    <a:pt x="2314" y="2178"/>
                  </a:lnTo>
                  <a:lnTo>
                    <a:pt x="2299" y="2196"/>
                  </a:lnTo>
                  <a:lnTo>
                    <a:pt x="2279" y="2205"/>
                  </a:lnTo>
                  <a:lnTo>
                    <a:pt x="2248" y="2209"/>
                  </a:lnTo>
                  <a:lnTo>
                    <a:pt x="2226" y="2209"/>
                  </a:lnTo>
                  <a:lnTo>
                    <a:pt x="2204" y="2210"/>
                  </a:lnTo>
                  <a:lnTo>
                    <a:pt x="2173" y="2213"/>
                  </a:lnTo>
                  <a:lnTo>
                    <a:pt x="2151" y="2221"/>
                  </a:lnTo>
                  <a:lnTo>
                    <a:pt x="2136" y="2235"/>
                  </a:lnTo>
                  <a:lnTo>
                    <a:pt x="2131" y="2246"/>
                  </a:lnTo>
                  <a:lnTo>
                    <a:pt x="2126" y="2256"/>
                  </a:lnTo>
                  <a:lnTo>
                    <a:pt x="2124" y="2275"/>
                  </a:lnTo>
                  <a:lnTo>
                    <a:pt x="2129" y="2293"/>
                  </a:lnTo>
                  <a:lnTo>
                    <a:pt x="2140" y="2309"/>
                  </a:lnTo>
                  <a:lnTo>
                    <a:pt x="2157" y="2322"/>
                  </a:lnTo>
                  <a:lnTo>
                    <a:pt x="2180" y="2332"/>
                  </a:lnTo>
                  <a:lnTo>
                    <a:pt x="2206" y="2339"/>
                  </a:lnTo>
                  <a:lnTo>
                    <a:pt x="2236" y="2340"/>
                  </a:lnTo>
                  <a:lnTo>
                    <a:pt x="2252" y="2339"/>
                  </a:lnTo>
                  <a:lnTo>
                    <a:pt x="2280" y="2338"/>
                  </a:lnTo>
                  <a:lnTo>
                    <a:pt x="2305" y="2340"/>
                  </a:lnTo>
                  <a:lnTo>
                    <a:pt x="2313" y="2344"/>
                  </a:lnTo>
                  <a:lnTo>
                    <a:pt x="2311" y="2354"/>
                  </a:lnTo>
                  <a:lnTo>
                    <a:pt x="2283" y="2374"/>
                  </a:lnTo>
                  <a:lnTo>
                    <a:pt x="2256" y="2388"/>
                  </a:lnTo>
                  <a:lnTo>
                    <a:pt x="2233" y="2398"/>
                  </a:lnTo>
                  <a:lnTo>
                    <a:pt x="2190" y="2405"/>
                  </a:lnTo>
                  <a:lnTo>
                    <a:pt x="2133" y="2394"/>
                  </a:lnTo>
                  <a:lnTo>
                    <a:pt x="2043" y="2361"/>
                  </a:lnTo>
                  <a:lnTo>
                    <a:pt x="1977" y="2334"/>
                  </a:lnTo>
                  <a:lnTo>
                    <a:pt x="1916" y="2309"/>
                  </a:lnTo>
                  <a:lnTo>
                    <a:pt x="1916" y="2086"/>
                  </a:lnTo>
                  <a:lnTo>
                    <a:pt x="1916" y="1978"/>
                  </a:lnTo>
                  <a:lnTo>
                    <a:pt x="1909" y="1876"/>
                  </a:lnTo>
                  <a:lnTo>
                    <a:pt x="1898" y="1842"/>
                  </a:lnTo>
                  <a:lnTo>
                    <a:pt x="1887" y="1824"/>
                  </a:lnTo>
                  <a:lnTo>
                    <a:pt x="1872" y="1811"/>
                  </a:lnTo>
                  <a:lnTo>
                    <a:pt x="1853" y="1801"/>
                  </a:lnTo>
                  <a:lnTo>
                    <a:pt x="1815" y="1790"/>
                  </a:lnTo>
                  <a:lnTo>
                    <a:pt x="1702" y="1784"/>
                  </a:lnTo>
                  <a:lnTo>
                    <a:pt x="1582" y="1784"/>
                  </a:lnTo>
                  <a:lnTo>
                    <a:pt x="1463" y="1784"/>
                  </a:lnTo>
                  <a:lnTo>
                    <a:pt x="1350" y="1791"/>
                  </a:lnTo>
                  <a:lnTo>
                    <a:pt x="1312" y="1801"/>
                  </a:lnTo>
                  <a:lnTo>
                    <a:pt x="1293" y="1811"/>
                  </a:lnTo>
                  <a:lnTo>
                    <a:pt x="1278" y="1825"/>
                  </a:lnTo>
                  <a:lnTo>
                    <a:pt x="1267" y="1843"/>
                  </a:lnTo>
                  <a:lnTo>
                    <a:pt x="1256" y="1878"/>
                  </a:lnTo>
                  <a:lnTo>
                    <a:pt x="1249" y="1983"/>
                  </a:lnTo>
                  <a:lnTo>
                    <a:pt x="1249" y="2093"/>
                  </a:lnTo>
                  <a:lnTo>
                    <a:pt x="1249" y="2323"/>
                  </a:lnTo>
                  <a:lnTo>
                    <a:pt x="1166" y="2343"/>
                  </a:lnTo>
                  <a:lnTo>
                    <a:pt x="1132" y="2350"/>
                  </a:lnTo>
                  <a:lnTo>
                    <a:pt x="1078" y="2355"/>
                  </a:lnTo>
                  <a:lnTo>
                    <a:pt x="1066" y="2351"/>
                  </a:lnTo>
                  <a:lnTo>
                    <a:pt x="1062" y="2336"/>
                  </a:lnTo>
                  <a:lnTo>
                    <a:pt x="1057" y="2200"/>
                  </a:lnTo>
                  <a:lnTo>
                    <a:pt x="1050" y="1836"/>
                  </a:lnTo>
                  <a:lnTo>
                    <a:pt x="1048" y="1224"/>
                  </a:lnTo>
                  <a:lnTo>
                    <a:pt x="1052" y="858"/>
                  </a:lnTo>
                  <a:lnTo>
                    <a:pt x="1057" y="720"/>
                  </a:lnTo>
                  <a:lnTo>
                    <a:pt x="1061" y="704"/>
                  </a:lnTo>
                  <a:lnTo>
                    <a:pt x="1077" y="700"/>
                  </a:lnTo>
                  <a:lnTo>
                    <a:pt x="1198" y="693"/>
                  </a:lnTo>
                  <a:lnTo>
                    <a:pt x="1284" y="693"/>
                  </a:lnTo>
                  <a:lnTo>
                    <a:pt x="1357" y="693"/>
                  </a:lnTo>
                  <a:lnTo>
                    <a:pt x="1447" y="695"/>
                  </a:lnTo>
                  <a:lnTo>
                    <a:pt x="1480" y="700"/>
                  </a:lnTo>
                  <a:lnTo>
                    <a:pt x="1493" y="706"/>
                  </a:lnTo>
                  <a:lnTo>
                    <a:pt x="1502" y="720"/>
                  </a:lnTo>
                  <a:lnTo>
                    <a:pt x="1506" y="734"/>
                  </a:lnTo>
                  <a:close/>
                  <a:moveTo>
                    <a:pt x="1782" y="2108"/>
                  </a:moveTo>
                  <a:lnTo>
                    <a:pt x="1782" y="2306"/>
                  </a:lnTo>
                  <a:lnTo>
                    <a:pt x="1679" y="2318"/>
                  </a:lnTo>
                  <a:lnTo>
                    <a:pt x="1632" y="2322"/>
                  </a:lnTo>
                  <a:lnTo>
                    <a:pt x="1525" y="2325"/>
                  </a:lnTo>
                  <a:lnTo>
                    <a:pt x="1482" y="2323"/>
                  </a:lnTo>
                  <a:lnTo>
                    <a:pt x="1391" y="2318"/>
                  </a:lnTo>
                  <a:lnTo>
                    <a:pt x="1386" y="2136"/>
                  </a:lnTo>
                  <a:lnTo>
                    <a:pt x="1385" y="2061"/>
                  </a:lnTo>
                  <a:lnTo>
                    <a:pt x="1387" y="1950"/>
                  </a:lnTo>
                  <a:lnTo>
                    <a:pt x="1389" y="1931"/>
                  </a:lnTo>
                  <a:lnTo>
                    <a:pt x="1393" y="1925"/>
                  </a:lnTo>
                  <a:lnTo>
                    <a:pt x="1417" y="1917"/>
                  </a:lnTo>
                  <a:lnTo>
                    <a:pt x="1495" y="1910"/>
                  </a:lnTo>
                  <a:lnTo>
                    <a:pt x="1591" y="1909"/>
                  </a:lnTo>
                  <a:lnTo>
                    <a:pt x="1782" y="1909"/>
                  </a:lnTo>
                  <a:lnTo>
                    <a:pt x="1782" y="2108"/>
                  </a:lnTo>
                  <a:close/>
                  <a:moveTo>
                    <a:pt x="667" y="2136"/>
                  </a:moveTo>
                  <a:lnTo>
                    <a:pt x="702" y="2154"/>
                  </a:lnTo>
                  <a:lnTo>
                    <a:pt x="735" y="2179"/>
                  </a:lnTo>
                  <a:lnTo>
                    <a:pt x="745" y="2193"/>
                  </a:lnTo>
                  <a:lnTo>
                    <a:pt x="744" y="2198"/>
                  </a:lnTo>
                  <a:lnTo>
                    <a:pt x="660" y="2392"/>
                  </a:lnTo>
                  <a:lnTo>
                    <a:pt x="381" y="3015"/>
                  </a:lnTo>
                  <a:lnTo>
                    <a:pt x="334" y="3114"/>
                  </a:lnTo>
                  <a:lnTo>
                    <a:pt x="330" y="3117"/>
                  </a:lnTo>
                  <a:lnTo>
                    <a:pt x="310" y="3114"/>
                  </a:lnTo>
                  <a:lnTo>
                    <a:pt x="263" y="3099"/>
                  </a:lnTo>
                  <a:lnTo>
                    <a:pt x="191" y="3066"/>
                  </a:lnTo>
                  <a:lnTo>
                    <a:pt x="149" y="3040"/>
                  </a:lnTo>
                  <a:lnTo>
                    <a:pt x="134" y="3026"/>
                  </a:lnTo>
                  <a:lnTo>
                    <a:pt x="132" y="3021"/>
                  </a:lnTo>
                  <a:lnTo>
                    <a:pt x="175" y="2910"/>
                  </a:lnTo>
                  <a:lnTo>
                    <a:pt x="450" y="2271"/>
                  </a:lnTo>
                  <a:lnTo>
                    <a:pt x="519" y="2121"/>
                  </a:lnTo>
                  <a:lnTo>
                    <a:pt x="527" y="2108"/>
                  </a:lnTo>
                  <a:lnTo>
                    <a:pt x="548" y="2095"/>
                  </a:lnTo>
                  <a:lnTo>
                    <a:pt x="582" y="2098"/>
                  </a:lnTo>
                  <a:lnTo>
                    <a:pt x="633" y="2118"/>
                  </a:lnTo>
                  <a:lnTo>
                    <a:pt x="667" y="2136"/>
                  </a:lnTo>
                  <a:close/>
                  <a:moveTo>
                    <a:pt x="2684" y="2238"/>
                  </a:moveTo>
                  <a:lnTo>
                    <a:pt x="2722" y="2339"/>
                  </a:lnTo>
                  <a:lnTo>
                    <a:pt x="2766" y="2451"/>
                  </a:lnTo>
                  <a:lnTo>
                    <a:pt x="2822" y="2595"/>
                  </a:lnTo>
                  <a:lnTo>
                    <a:pt x="2904" y="2809"/>
                  </a:lnTo>
                  <a:lnTo>
                    <a:pt x="2977" y="3004"/>
                  </a:lnTo>
                  <a:lnTo>
                    <a:pt x="3007" y="3081"/>
                  </a:lnTo>
                  <a:lnTo>
                    <a:pt x="3010" y="3089"/>
                  </a:lnTo>
                  <a:lnTo>
                    <a:pt x="3006" y="3105"/>
                  </a:lnTo>
                  <a:lnTo>
                    <a:pt x="2987" y="3120"/>
                  </a:lnTo>
                  <a:lnTo>
                    <a:pt x="2951" y="3139"/>
                  </a:lnTo>
                  <a:lnTo>
                    <a:pt x="2924" y="3151"/>
                  </a:lnTo>
                  <a:lnTo>
                    <a:pt x="2884" y="3168"/>
                  </a:lnTo>
                  <a:lnTo>
                    <a:pt x="2824" y="3188"/>
                  </a:lnTo>
                  <a:lnTo>
                    <a:pt x="2812" y="3189"/>
                  </a:lnTo>
                  <a:lnTo>
                    <a:pt x="2805" y="3180"/>
                  </a:lnTo>
                  <a:lnTo>
                    <a:pt x="2769" y="3101"/>
                  </a:lnTo>
                  <a:lnTo>
                    <a:pt x="2682" y="2888"/>
                  </a:lnTo>
                  <a:lnTo>
                    <a:pt x="2546" y="2530"/>
                  </a:lnTo>
                  <a:lnTo>
                    <a:pt x="2470" y="2315"/>
                  </a:lnTo>
                  <a:lnTo>
                    <a:pt x="2445" y="2233"/>
                  </a:lnTo>
                  <a:lnTo>
                    <a:pt x="2446" y="2223"/>
                  </a:lnTo>
                  <a:lnTo>
                    <a:pt x="2473" y="2206"/>
                  </a:lnTo>
                  <a:lnTo>
                    <a:pt x="2602" y="2152"/>
                  </a:lnTo>
                  <a:lnTo>
                    <a:pt x="2636" y="2143"/>
                  </a:lnTo>
                  <a:lnTo>
                    <a:pt x="2643" y="2148"/>
                  </a:lnTo>
                  <a:lnTo>
                    <a:pt x="2669" y="2200"/>
                  </a:lnTo>
                  <a:lnTo>
                    <a:pt x="2684" y="2238"/>
                  </a:lnTo>
                  <a:close/>
                  <a:moveTo>
                    <a:pt x="929" y="2479"/>
                  </a:moveTo>
                  <a:lnTo>
                    <a:pt x="957" y="2489"/>
                  </a:lnTo>
                  <a:lnTo>
                    <a:pt x="1001" y="2500"/>
                  </a:lnTo>
                  <a:lnTo>
                    <a:pt x="1043" y="2501"/>
                  </a:lnTo>
                  <a:lnTo>
                    <a:pt x="1098" y="2492"/>
                  </a:lnTo>
                  <a:lnTo>
                    <a:pt x="1137" y="2484"/>
                  </a:lnTo>
                  <a:lnTo>
                    <a:pt x="1188" y="2474"/>
                  </a:lnTo>
                  <a:lnTo>
                    <a:pt x="1285" y="2462"/>
                  </a:lnTo>
                  <a:lnTo>
                    <a:pt x="1365" y="2459"/>
                  </a:lnTo>
                  <a:lnTo>
                    <a:pt x="1402" y="2464"/>
                  </a:lnTo>
                  <a:lnTo>
                    <a:pt x="1415" y="2470"/>
                  </a:lnTo>
                  <a:lnTo>
                    <a:pt x="1416" y="2474"/>
                  </a:lnTo>
                  <a:lnTo>
                    <a:pt x="1414" y="2479"/>
                  </a:lnTo>
                  <a:lnTo>
                    <a:pt x="1400" y="2497"/>
                  </a:lnTo>
                  <a:lnTo>
                    <a:pt x="1359" y="2537"/>
                  </a:lnTo>
                  <a:lnTo>
                    <a:pt x="1273" y="2610"/>
                  </a:lnTo>
                  <a:lnTo>
                    <a:pt x="1170" y="2688"/>
                  </a:lnTo>
                  <a:lnTo>
                    <a:pt x="1119" y="2724"/>
                  </a:lnTo>
                  <a:lnTo>
                    <a:pt x="1070" y="2760"/>
                  </a:lnTo>
                  <a:lnTo>
                    <a:pt x="1022" y="2805"/>
                  </a:lnTo>
                  <a:lnTo>
                    <a:pt x="1005" y="2828"/>
                  </a:lnTo>
                  <a:lnTo>
                    <a:pt x="1002" y="2838"/>
                  </a:lnTo>
                  <a:lnTo>
                    <a:pt x="1002" y="2848"/>
                  </a:lnTo>
                  <a:lnTo>
                    <a:pt x="1007" y="2870"/>
                  </a:lnTo>
                  <a:lnTo>
                    <a:pt x="1029" y="2908"/>
                  </a:lnTo>
                  <a:lnTo>
                    <a:pt x="1081" y="2961"/>
                  </a:lnTo>
                  <a:lnTo>
                    <a:pt x="1148" y="3008"/>
                  </a:lnTo>
                  <a:lnTo>
                    <a:pt x="1186" y="3026"/>
                  </a:lnTo>
                  <a:lnTo>
                    <a:pt x="1207" y="3035"/>
                  </a:lnTo>
                  <a:lnTo>
                    <a:pt x="1248" y="3047"/>
                  </a:lnTo>
                  <a:lnTo>
                    <a:pt x="1290" y="3054"/>
                  </a:lnTo>
                  <a:lnTo>
                    <a:pt x="1334" y="3056"/>
                  </a:lnTo>
                  <a:lnTo>
                    <a:pt x="1381" y="3051"/>
                  </a:lnTo>
                  <a:lnTo>
                    <a:pt x="1433" y="3041"/>
                  </a:lnTo>
                  <a:lnTo>
                    <a:pt x="1523" y="3014"/>
                  </a:lnTo>
                  <a:lnTo>
                    <a:pt x="1596" y="2986"/>
                  </a:lnTo>
                  <a:lnTo>
                    <a:pt x="1660" y="2962"/>
                  </a:lnTo>
                  <a:lnTo>
                    <a:pt x="1750" y="2936"/>
                  </a:lnTo>
                  <a:lnTo>
                    <a:pt x="1796" y="2927"/>
                  </a:lnTo>
                  <a:lnTo>
                    <a:pt x="1811" y="2926"/>
                  </a:lnTo>
                  <a:lnTo>
                    <a:pt x="1829" y="2927"/>
                  </a:lnTo>
                  <a:lnTo>
                    <a:pt x="1879" y="2942"/>
                  </a:lnTo>
                  <a:lnTo>
                    <a:pt x="1998" y="2998"/>
                  </a:lnTo>
                  <a:lnTo>
                    <a:pt x="2129" y="3071"/>
                  </a:lnTo>
                  <a:lnTo>
                    <a:pt x="2233" y="3132"/>
                  </a:lnTo>
                  <a:lnTo>
                    <a:pt x="2350" y="3206"/>
                  </a:lnTo>
                  <a:lnTo>
                    <a:pt x="2394" y="3238"/>
                  </a:lnTo>
                  <a:lnTo>
                    <a:pt x="2401" y="3246"/>
                  </a:lnTo>
                  <a:lnTo>
                    <a:pt x="2407" y="3262"/>
                  </a:lnTo>
                  <a:lnTo>
                    <a:pt x="2405" y="3294"/>
                  </a:lnTo>
                  <a:lnTo>
                    <a:pt x="2389" y="3323"/>
                  </a:lnTo>
                  <a:lnTo>
                    <a:pt x="2370" y="3337"/>
                  </a:lnTo>
                  <a:lnTo>
                    <a:pt x="2355" y="3342"/>
                  </a:lnTo>
                  <a:lnTo>
                    <a:pt x="2347" y="3343"/>
                  </a:lnTo>
                  <a:lnTo>
                    <a:pt x="2338" y="3341"/>
                  </a:lnTo>
                  <a:lnTo>
                    <a:pt x="2300" y="3326"/>
                  </a:lnTo>
                  <a:lnTo>
                    <a:pt x="2211" y="3282"/>
                  </a:lnTo>
                  <a:lnTo>
                    <a:pt x="2139" y="3241"/>
                  </a:lnTo>
                  <a:lnTo>
                    <a:pt x="2076" y="3205"/>
                  </a:lnTo>
                  <a:lnTo>
                    <a:pt x="1989" y="3162"/>
                  </a:lnTo>
                  <a:lnTo>
                    <a:pt x="1947" y="3150"/>
                  </a:lnTo>
                  <a:lnTo>
                    <a:pt x="1927" y="3150"/>
                  </a:lnTo>
                  <a:lnTo>
                    <a:pt x="1911" y="3157"/>
                  </a:lnTo>
                  <a:lnTo>
                    <a:pt x="1898" y="3170"/>
                  </a:lnTo>
                  <a:lnTo>
                    <a:pt x="1892" y="3179"/>
                  </a:lnTo>
                  <a:lnTo>
                    <a:pt x="1887" y="3188"/>
                  </a:lnTo>
                  <a:lnTo>
                    <a:pt x="1883" y="3204"/>
                  </a:lnTo>
                  <a:lnTo>
                    <a:pt x="1885" y="3220"/>
                  </a:lnTo>
                  <a:lnTo>
                    <a:pt x="1895" y="3238"/>
                  </a:lnTo>
                  <a:lnTo>
                    <a:pt x="1925" y="3267"/>
                  </a:lnTo>
                  <a:lnTo>
                    <a:pt x="2005" y="3319"/>
                  </a:lnTo>
                  <a:lnTo>
                    <a:pt x="2066" y="3354"/>
                  </a:lnTo>
                  <a:lnTo>
                    <a:pt x="2131" y="3392"/>
                  </a:lnTo>
                  <a:lnTo>
                    <a:pt x="2234" y="3459"/>
                  </a:lnTo>
                  <a:lnTo>
                    <a:pt x="2256" y="3476"/>
                  </a:lnTo>
                  <a:lnTo>
                    <a:pt x="2266" y="3486"/>
                  </a:lnTo>
                  <a:lnTo>
                    <a:pt x="2277" y="3502"/>
                  </a:lnTo>
                  <a:lnTo>
                    <a:pt x="2278" y="3516"/>
                  </a:lnTo>
                  <a:lnTo>
                    <a:pt x="2268" y="3535"/>
                  </a:lnTo>
                  <a:lnTo>
                    <a:pt x="2259" y="3549"/>
                  </a:lnTo>
                  <a:lnTo>
                    <a:pt x="2247" y="3566"/>
                  </a:lnTo>
                  <a:lnTo>
                    <a:pt x="2223" y="3590"/>
                  </a:lnTo>
                  <a:lnTo>
                    <a:pt x="2214" y="3593"/>
                  </a:lnTo>
                  <a:lnTo>
                    <a:pt x="2193" y="3585"/>
                  </a:lnTo>
                  <a:lnTo>
                    <a:pt x="2053" y="3512"/>
                  </a:lnTo>
                  <a:lnTo>
                    <a:pt x="1956" y="3458"/>
                  </a:lnTo>
                  <a:lnTo>
                    <a:pt x="1858" y="3404"/>
                  </a:lnTo>
                  <a:lnTo>
                    <a:pt x="1745" y="3348"/>
                  </a:lnTo>
                  <a:lnTo>
                    <a:pt x="1700" y="3331"/>
                  </a:lnTo>
                  <a:lnTo>
                    <a:pt x="1692" y="3331"/>
                  </a:lnTo>
                  <a:lnTo>
                    <a:pt x="1682" y="3337"/>
                  </a:lnTo>
                  <a:lnTo>
                    <a:pt x="1659" y="3360"/>
                  </a:lnTo>
                  <a:lnTo>
                    <a:pt x="1651" y="3374"/>
                  </a:lnTo>
                  <a:lnTo>
                    <a:pt x="1646" y="3383"/>
                  </a:lnTo>
                  <a:lnTo>
                    <a:pt x="1642" y="3397"/>
                  </a:lnTo>
                  <a:lnTo>
                    <a:pt x="1644" y="3412"/>
                  </a:lnTo>
                  <a:lnTo>
                    <a:pt x="1656" y="3428"/>
                  </a:lnTo>
                  <a:lnTo>
                    <a:pt x="1691" y="3456"/>
                  </a:lnTo>
                  <a:lnTo>
                    <a:pt x="1788" y="3515"/>
                  </a:lnTo>
                  <a:lnTo>
                    <a:pt x="1864" y="3558"/>
                  </a:lnTo>
                  <a:lnTo>
                    <a:pt x="1937" y="3600"/>
                  </a:lnTo>
                  <a:lnTo>
                    <a:pt x="2020" y="3655"/>
                  </a:lnTo>
                  <a:lnTo>
                    <a:pt x="2051" y="3681"/>
                  </a:lnTo>
                  <a:lnTo>
                    <a:pt x="2056" y="3688"/>
                  </a:lnTo>
                  <a:lnTo>
                    <a:pt x="2062" y="3706"/>
                  </a:lnTo>
                  <a:lnTo>
                    <a:pt x="2060" y="3737"/>
                  </a:lnTo>
                  <a:lnTo>
                    <a:pt x="2045" y="3761"/>
                  </a:lnTo>
                  <a:lnTo>
                    <a:pt x="2017" y="3775"/>
                  </a:lnTo>
                  <a:lnTo>
                    <a:pt x="1999" y="3776"/>
                  </a:lnTo>
                  <a:lnTo>
                    <a:pt x="1978" y="3773"/>
                  </a:lnTo>
                  <a:lnTo>
                    <a:pt x="1909" y="3746"/>
                  </a:lnTo>
                  <a:lnTo>
                    <a:pt x="1821" y="3700"/>
                  </a:lnTo>
                  <a:lnTo>
                    <a:pt x="1729" y="3644"/>
                  </a:lnTo>
                  <a:lnTo>
                    <a:pt x="1687" y="3614"/>
                  </a:lnTo>
                  <a:lnTo>
                    <a:pt x="1663" y="3598"/>
                  </a:lnTo>
                  <a:lnTo>
                    <a:pt x="1601" y="3570"/>
                  </a:lnTo>
                  <a:lnTo>
                    <a:pt x="1572" y="3564"/>
                  </a:lnTo>
                  <a:lnTo>
                    <a:pt x="1557" y="3561"/>
                  </a:lnTo>
                  <a:lnTo>
                    <a:pt x="1526" y="3550"/>
                  </a:lnTo>
                  <a:lnTo>
                    <a:pt x="1497" y="3534"/>
                  </a:lnTo>
                  <a:lnTo>
                    <a:pt x="1470" y="3513"/>
                  </a:lnTo>
                  <a:lnTo>
                    <a:pt x="1457" y="3501"/>
                  </a:lnTo>
                  <a:lnTo>
                    <a:pt x="1445" y="3488"/>
                  </a:lnTo>
                  <a:lnTo>
                    <a:pt x="1417" y="3466"/>
                  </a:lnTo>
                  <a:lnTo>
                    <a:pt x="1387" y="3449"/>
                  </a:lnTo>
                  <a:lnTo>
                    <a:pt x="1355" y="3438"/>
                  </a:lnTo>
                  <a:lnTo>
                    <a:pt x="1337" y="3434"/>
                  </a:lnTo>
                  <a:lnTo>
                    <a:pt x="1319" y="3431"/>
                  </a:lnTo>
                  <a:lnTo>
                    <a:pt x="1286" y="3420"/>
                  </a:lnTo>
                  <a:lnTo>
                    <a:pt x="1254" y="3403"/>
                  </a:lnTo>
                  <a:lnTo>
                    <a:pt x="1223" y="3380"/>
                  </a:lnTo>
                  <a:lnTo>
                    <a:pt x="1209" y="3366"/>
                  </a:lnTo>
                  <a:lnTo>
                    <a:pt x="1184" y="3343"/>
                  </a:lnTo>
                  <a:lnTo>
                    <a:pt x="1145" y="3319"/>
                  </a:lnTo>
                  <a:lnTo>
                    <a:pt x="1124" y="3310"/>
                  </a:lnTo>
                  <a:lnTo>
                    <a:pt x="1116" y="3309"/>
                  </a:lnTo>
                  <a:lnTo>
                    <a:pt x="1106" y="3308"/>
                  </a:lnTo>
                  <a:lnTo>
                    <a:pt x="1081" y="3296"/>
                  </a:lnTo>
                  <a:lnTo>
                    <a:pt x="1035" y="3260"/>
                  </a:lnTo>
                  <a:lnTo>
                    <a:pt x="999" y="3223"/>
                  </a:lnTo>
                  <a:lnTo>
                    <a:pt x="917" y="3138"/>
                  </a:lnTo>
                  <a:lnTo>
                    <a:pt x="811" y="3148"/>
                  </a:lnTo>
                  <a:lnTo>
                    <a:pt x="748" y="3153"/>
                  </a:lnTo>
                  <a:lnTo>
                    <a:pt x="708" y="3148"/>
                  </a:lnTo>
                  <a:lnTo>
                    <a:pt x="697" y="3136"/>
                  </a:lnTo>
                  <a:lnTo>
                    <a:pt x="694" y="3126"/>
                  </a:lnTo>
                  <a:lnTo>
                    <a:pt x="688" y="3111"/>
                  </a:lnTo>
                  <a:lnTo>
                    <a:pt x="654" y="3077"/>
                  </a:lnTo>
                  <a:lnTo>
                    <a:pt x="632" y="3064"/>
                  </a:lnTo>
                  <a:lnTo>
                    <a:pt x="596" y="3044"/>
                  </a:lnTo>
                  <a:lnTo>
                    <a:pt x="563" y="3020"/>
                  </a:lnTo>
                  <a:lnTo>
                    <a:pt x="553" y="3002"/>
                  </a:lnTo>
                  <a:lnTo>
                    <a:pt x="552" y="2978"/>
                  </a:lnTo>
                  <a:lnTo>
                    <a:pt x="561" y="2945"/>
                  </a:lnTo>
                  <a:lnTo>
                    <a:pt x="591" y="2870"/>
                  </a:lnTo>
                  <a:lnTo>
                    <a:pt x="626" y="2793"/>
                  </a:lnTo>
                  <a:lnTo>
                    <a:pt x="727" y="2559"/>
                  </a:lnTo>
                  <a:lnTo>
                    <a:pt x="779" y="2454"/>
                  </a:lnTo>
                  <a:lnTo>
                    <a:pt x="791" y="2438"/>
                  </a:lnTo>
                  <a:lnTo>
                    <a:pt x="800" y="2432"/>
                  </a:lnTo>
                  <a:lnTo>
                    <a:pt x="809" y="2434"/>
                  </a:lnTo>
                  <a:lnTo>
                    <a:pt x="814" y="2436"/>
                  </a:lnTo>
                  <a:lnTo>
                    <a:pt x="855" y="2452"/>
                  </a:lnTo>
                  <a:lnTo>
                    <a:pt x="929" y="2479"/>
                  </a:lnTo>
                  <a:close/>
                  <a:moveTo>
                    <a:pt x="2027" y="2496"/>
                  </a:moveTo>
                  <a:lnTo>
                    <a:pt x="2077" y="2513"/>
                  </a:lnTo>
                  <a:lnTo>
                    <a:pt x="2144" y="2534"/>
                  </a:lnTo>
                  <a:lnTo>
                    <a:pt x="2189" y="2541"/>
                  </a:lnTo>
                  <a:lnTo>
                    <a:pt x="2228" y="2536"/>
                  </a:lnTo>
                  <a:lnTo>
                    <a:pt x="2252" y="2529"/>
                  </a:lnTo>
                  <a:lnTo>
                    <a:pt x="2303" y="2513"/>
                  </a:lnTo>
                  <a:lnTo>
                    <a:pt x="2352" y="2503"/>
                  </a:lnTo>
                  <a:lnTo>
                    <a:pt x="2376" y="2508"/>
                  </a:lnTo>
                  <a:lnTo>
                    <a:pt x="2397" y="2529"/>
                  </a:lnTo>
                  <a:lnTo>
                    <a:pt x="2418" y="2568"/>
                  </a:lnTo>
                  <a:lnTo>
                    <a:pt x="2456" y="2665"/>
                  </a:lnTo>
                  <a:lnTo>
                    <a:pt x="2496" y="2771"/>
                  </a:lnTo>
                  <a:lnTo>
                    <a:pt x="2576" y="2992"/>
                  </a:lnTo>
                  <a:lnTo>
                    <a:pt x="2599" y="3068"/>
                  </a:lnTo>
                  <a:lnTo>
                    <a:pt x="2598" y="3073"/>
                  </a:lnTo>
                  <a:lnTo>
                    <a:pt x="2589" y="3085"/>
                  </a:lnTo>
                  <a:lnTo>
                    <a:pt x="2562" y="3100"/>
                  </a:lnTo>
                  <a:lnTo>
                    <a:pt x="2514" y="3114"/>
                  </a:lnTo>
                  <a:lnTo>
                    <a:pt x="2481" y="3117"/>
                  </a:lnTo>
                  <a:lnTo>
                    <a:pt x="2464" y="3114"/>
                  </a:lnTo>
                  <a:lnTo>
                    <a:pt x="2459" y="3111"/>
                  </a:lnTo>
                  <a:lnTo>
                    <a:pt x="2436" y="3095"/>
                  </a:lnTo>
                  <a:lnTo>
                    <a:pt x="2280" y="3003"/>
                  </a:lnTo>
                  <a:lnTo>
                    <a:pt x="2172" y="2943"/>
                  </a:lnTo>
                  <a:lnTo>
                    <a:pt x="2062" y="2881"/>
                  </a:lnTo>
                  <a:lnTo>
                    <a:pt x="1943" y="2822"/>
                  </a:lnTo>
                  <a:lnTo>
                    <a:pt x="1878" y="2800"/>
                  </a:lnTo>
                  <a:lnTo>
                    <a:pt x="1820" y="2791"/>
                  </a:lnTo>
                  <a:lnTo>
                    <a:pt x="1762" y="2794"/>
                  </a:lnTo>
                  <a:lnTo>
                    <a:pt x="1699" y="2809"/>
                  </a:lnTo>
                  <a:lnTo>
                    <a:pt x="1624" y="2834"/>
                  </a:lnTo>
                  <a:lnTo>
                    <a:pt x="1579" y="2851"/>
                  </a:lnTo>
                  <a:lnTo>
                    <a:pt x="1514" y="2875"/>
                  </a:lnTo>
                  <a:lnTo>
                    <a:pt x="1405" y="2908"/>
                  </a:lnTo>
                  <a:lnTo>
                    <a:pt x="1320" y="2921"/>
                  </a:lnTo>
                  <a:lnTo>
                    <a:pt x="1272" y="2919"/>
                  </a:lnTo>
                  <a:lnTo>
                    <a:pt x="1245" y="2912"/>
                  </a:lnTo>
                  <a:lnTo>
                    <a:pt x="1234" y="2906"/>
                  </a:lnTo>
                  <a:lnTo>
                    <a:pt x="1212" y="2894"/>
                  </a:lnTo>
                  <a:lnTo>
                    <a:pt x="1194" y="2876"/>
                  </a:lnTo>
                  <a:lnTo>
                    <a:pt x="1190" y="2865"/>
                  </a:lnTo>
                  <a:lnTo>
                    <a:pt x="1192" y="2852"/>
                  </a:lnTo>
                  <a:lnTo>
                    <a:pt x="1200" y="2839"/>
                  </a:lnTo>
                  <a:lnTo>
                    <a:pt x="1225" y="2815"/>
                  </a:lnTo>
                  <a:lnTo>
                    <a:pt x="1252" y="2796"/>
                  </a:lnTo>
                  <a:lnTo>
                    <a:pt x="1289" y="2769"/>
                  </a:lnTo>
                  <a:lnTo>
                    <a:pt x="1401" y="2676"/>
                  </a:lnTo>
                  <a:lnTo>
                    <a:pt x="1457" y="2624"/>
                  </a:lnTo>
                  <a:lnTo>
                    <a:pt x="1498" y="2588"/>
                  </a:lnTo>
                  <a:lnTo>
                    <a:pt x="1570" y="2530"/>
                  </a:lnTo>
                  <a:lnTo>
                    <a:pt x="1635" y="2487"/>
                  </a:lnTo>
                  <a:lnTo>
                    <a:pt x="1697" y="2459"/>
                  </a:lnTo>
                  <a:lnTo>
                    <a:pt x="1758" y="2445"/>
                  </a:lnTo>
                  <a:lnTo>
                    <a:pt x="1824" y="2444"/>
                  </a:lnTo>
                  <a:lnTo>
                    <a:pt x="1897" y="2456"/>
                  </a:lnTo>
                  <a:lnTo>
                    <a:pt x="1980" y="2480"/>
                  </a:lnTo>
                  <a:lnTo>
                    <a:pt x="2027" y="2496"/>
                  </a:lnTo>
                  <a:close/>
                  <a:moveTo>
                    <a:pt x="906" y="3314"/>
                  </a:moveTo>
                  <a:lnTo>
                    <a:pt x="911" y="3323"/>
                  </a:lnTo>
                  <a:lnTo>
                    <a:pt x="912" y="3345"/>
                  </a:lnTo>
                  <a:lnTo>
                    <a:pt x="896" y="3394"/>
                  </a:lnTo>
                  <a:lnTo>
                    <a:pt x="866" y="3453"/>
                  </a:lnTo>
                  <a:lnTo>
                    <a:pt x="841" y="3497"/>
                  </a:lnTo>
                  <a:lnTo>
                    <a:pt x="793" y="3565"/>
                  </a:lnTo>
                  <a:lnTo>
                    <a:pt x="779" y="3578"/>
                  </a:lnTo>
                  <a:lnTo>
                    <a:pt x="763" y="3584"/>
                  </a:lnTo>
                  <a:lnTo>
                    <a:pt x="731" y="3582"/>
                  </a:lnTo>
                  <a:lnTo>
                    <a:pt x="702" y="3566"/>
                  </a:lnTo>
                  <a:lnTo>
                    <a:pt x="688" y="3547"/>
                  </a:lnTo>
                  <a:lnTo>
                    <a:pt x="683" y="3532"/>
                  </a:lnTo>
                  <a:lnTo>
                    <a:pt x="682" y="3524"/>
                  </a:lnTo>
                  <a:lnTo>
                    <a:pt x="685" y="3509"/>
                  </a:lnTo>
                  <a:lnTo>
                    <a:pt x="706" y="3450"/>
                  </a:lnTo>
                  <a:lnTo>
                    <a:pt x="739" y="3379"/>
                  </a:lnTo>
                  <a:lnTo>
                    <a:pt x="773" y="3316"/>
                  </a:lnTo>
                  <a:lnTo>
                    <a:pt x="787" y="3296"/>
                  </a:lnTo>
                  <a:lnTo>
                    <a:pt x="792" y="3291"/>
                  </a:lnTo>
                  <a:lnTo>
                    <a:pt x="805" y="3283"/>
                  </a:lnTo>
                  <a:lnTo>
                    <a:pt x="829" y="3278"/>
                  </a:lnTo>
                  <a:lnTo>
                    <a:pt x="864" y="3284"/>
                  </a:lnTo>
                  <a:lnTo>
                    <a:pt x="895" y="3301"/>
                  </a:lnTo>
                  <a:lnTo>
                    <a:pt x="906" y="3314"/>
                  </a:lnTo>
                  <a:close/>
                  <a:moveTo>
                    <a:pt x="1129" y="3496"/>
                  </a:moveTo>
                  <a:lnTo>
                    <a:pt x="1129" y="3505"/>
                  </a:lnTo>
                  <a:lnTo>
                    <a:pt x="1123" y="3532"/>
                  </a:lnTo>
                  <a:lnTo>
                    <a:pt x="1103" y="3588"/>
                  </a:lnTo>
                  <a:lnTo>
                    <a:pt x="1062" y="3678"/>
                  </a:lnTo>
                  <a:lnTo>
                    <a:pt x="1016" y="3760"/>
                  </a:lnTo>
                  <a:lnTo>
                    <a:pt x="996" y="3788"/>
                  </a:lnTo>
                  <a:lnTo>
                    <a:pt x="986" y="3798"/>
                  </a:lnTo>
                  <a:lnTo>
                    <a:pt x="960" y="3808"/>
                  </a:lnTo>
                  <a:lnTo>
                    <a:pt x="932" y="3805"/>
                  </a:lnTo>
                  <a:lnTo>
                    <a:pt x="902" y="3788"/>
                  </a:lnTo>
                  <a:lnTo>
                    <a:pt x="889" y="3774"/>
                  </a:lnTo>
                  <a:lnTo>
                    <a:pt x="879" y="3763"/>
                  </a:lnTo>
                  <a:lnTo>
                    <a:pt x="868" y="3745"/>
                  </a:lnTo>
                  <a:lnTo>
                    <a:pt x="870" y="3724"/>
                  </a:lnTo>
                  <a:lnTo>
                    <a:pt x="885" y="3690"/>
                  </a:lnTo>
                  <a:lnTo>
                    <a:pt x="899" y="3664"/>
                  </a:lnTo>
                  <a:lnTo>
                    <a:pt x="933" y="3601"/>
                  </a:lnTo>
                  <a:lnTo>
                    <a:pt x="986" y="3512"/>
                  </a:lnTo>
                  <a:lnTo>
                    <a:pt x="1017" y="3474"/>
                  </a:lnTo>
                  <a:lnTo>
                    <a:pt x="1035" y="3458"/>
                  </a:lnTo>
                  <a:lnTo>
                    <a:pt x="1053" y="3448"/>
                  </a:lnTo>
                  <a:lnTo>
                    <a:pt x="1070" y="3445"/>
                  </a:lnTo>
                  <a:lnTo>
                    <a:pt x="1079" y="3446"/>
                  </a:lnTo>
                  <a:lnTo>
                    <a:pt x="1091" y="3448"/>
                  </a:lnTo>
                  <a:lnTo>
                    <a:pt x="1110" y="3454"/>
                  </a:lnTo>
                  <a:lnTo>
                    <a:pt x="1121" y="3465"/>
                  </a:lnTo>
                  <a:lnTo>
                    <a:pt x="1127" y="3484"/>
                  </a:lnTo>
                  <a:lnTo>
                    <a:pt x="1129" y="3496"/>
                  </a:lnTo>
                  <a:close/>
                  <a:moveTo>
                    <a:pt x="1377" y="3619"/>
                  </a:moveTo>
                  <a:lnTo>
                    <a:pt x="1380" y="3632"/>
                  </a:lnTo>
                  <a:lnTo>
                    <a:pt x="1374" y="3668"/>
                  </a:lnTo>
                  <a:lnTo>
                    <a:pt x="1354" y="3718"/>
                  </a:lnTo>
                  <a:lnTo>
                    <a:pt x="1320" y="3781"/>
                  </a:lnTo>
                  <a:lnTo>
                    <a:pt x="1297" y="3818"/>
                  </a:lnTo>
                  <a:lnTo>
                    <a:pt x="1277" y="3847"/>
                  </a:lnTo>
                  <a:lnTo>
                    <a:pt x="1246" y="3877"/>
                  </a:lnTo>
                  <a:lnTo>
                    <a:pt x="1225" y="3889"/>
                  </a:lnTo>
                  <a:lnTo>
                    <a:pt x="1205" y="3895"/>
                  </a:lnTo>
                  <a:lnTo>
                    <a:pt x="1187" y="3893"/>
                  </a:lnTo>
                  <a:lnTo>
                    <a:pt x="1170" y="3885"/>
                  </a:lnTo>
                  <a:lnTo>
                    <a:pt x="1155" y="3870"/>
                  </a:lnTo>
                  <a:lnTo>
                    <a:pt x="1149" y="3859"/>
                  </a:lnTo>
                  <a:lnTo>
                    <a:pt x="1145" y="3849"/>
                  </a:lnTo>
                  <a:lnTo>
                    <a:pt x="1143" y="3827"/>
                  </a:lnTo>
                  <a:lnTo>
                    <a:pt x="1157" y="3779"/>
                  </a:lnTo>
                  <a:lnTo>
                    <a:pt x="1182" y="3726"/>
                  </a:lnTo>
                  <a:lnTo>
                    <a:pt x="1207" y="3678"/>
                  </a:lnTo>
                  <a:lnTo>
                    <a:pt x="1249" y="3612"/>
                  </a:lnTo>
                  <a:lnTo>
                    <a:pt x="1276" y="3583"/>
                  </a:lnTo>
                  <a:lnTo>
                    <a:pt x="1293" y="3573"/>
                  </a:lnTo>
                  <a:lnTo>
                    <a:pt x="1309" y="3569"/>
                  </a:lnTo>
                  <a:lnTo>
                    <a:pt x="1326" y="3572"/>
                  </a:lnTo>
                  <a:lnTo>
                    <a:pt x="1334" y="3576"/>
                  </a:lnTo>
                  <a:lnTo>
                    <a:pt x="1348" y="3585"/>
                  </a:lnTo>
                  <a:lnTo>
                    <a:pt x="1372" y="3609"/>
                  </a:lnTo>
                  <a:lnTo>
                    <a:pt x="1377" y="3619"/>
                  </a:lnTo>
                  <a:close/>
                  <a:moveTo>
                    <a:pt x="1581" y="3709"/>
                  </a:moveTo>
                  <a:lnTo>
                    <a:pt x="1593" y="3717"/>
                  </a:lnTo>
                  <a:lnTo>
                    <a:pt x="1616" y="3740"/>
                  </a:lnTo>
                  <a:lnTo>
                    <a:pt x="1622" y="3751"/>
                  </a:lnTo>
                  <a:lnTo>
                    <a:pt x="1623" y="3758"/>
                  </a:lnTo>
                  <a:lnTo>
                    <a:pt x="1619" y="3781"/>
                  </a:lnTo>
                  <a:lnTo>
                    <a:pt x="1602" y="3831"/>
                  </a:lnTo>
                  <a:lnTo>
                    <a:pt x="1565" y="3909"/>
                  </a:lnTo>
                  <a:lnTo>
                    <a:pt x="1525" y="3975"/>
                  </a:lnTo>
                  <a:lnTo>
                    <a:pt x="1509" y="3993"/>
                  </a:lnTo>
                  <a:lnTo>
                    <a:pt x="1502" y="3998"/>
                  </a:lnTo>
                  <a:lnTo>
                    <a:pt x="1485" y="4003"/>
                  </a:lnTo>
                  <a:lnTo>
                    <a:pt x="1457" y="4003"/>
                  </a:lnTo>
                  <a:lnTo>
                    <a:pt x="1423" y="3987"/>
                  </a:lnTo>
                  <a:lnTo>
                    <a:pt x="1406" y="3966"/>
                  </a:lnTo>
                  <a:lnTo>
                    <a:pt x="1400" y="3950"/>
                  </a:lnTo>
                  <a:lnTo>
                    <a:pt x="1399" y="3941"/>
                  </a:lnTo>
                  <a:lnTo>
                    <a:pt x="1400" y="3930"/>
                  </a:lnTo>
                  <a:lnTo>
                    <a:pt x="1409" y="3898"/>
                  </a:lnTo>
                  <a:lnTo>
                    <a:pt x="1436" y="3839"/>
                  </a:lnTo>
                  <a:lnTo>
                    <a:pt x="1485" y="3756"/>
                  </a:lnTo>
                  <a:lnTo>
                    <a:pt x="1520" y="3711"/>
                  </a:lnTo>
                  <a:lnTo>
                    <a:pt x="1539" y="3694"/>
                  </a:lnTo>
                  <a:lnTo>
                    <a:pt x="1546" y="3693"/>
                  </a:lnTo>
                  <a:lnTo>
                    <a:pt x="1557" y="3696"/>
                  </a:lnTo>
                  <a:lnTo>
                    <a:pt x="1581" y="3709"/>
                  </a:lnTo>
                  <a:close/>
                  <a:moveTo>
                    <a:pt x="1801" y="3843"/>
                  </a:moveTo>
                  <a:lnTo>
                    <a:pt x="1811" y="3849"/>
                  </a:lnTo>
                  <a:lnTo>
                    <a:pt x="1824" y="3867"/>
                  </a:lnTo>
                  <a:lnTo>
                    <a:pt x="1831" y="3888"/>
                  </a:lnTo>
                  <a:lnTo>
                    <a:pt x="1832" y="3910"/>
                  </a:lnTo>
                  <a:lnTo>
                    <a:pt x="1826" y="3932"/>
                  </a:lnTo>
                  <a:lnTo>
                    <a:pt x="1815" y="3952"/>
                  </a:lnTo>
                  <a:lnTo>
                    <a:pt x="1800" y="3967"/>
                  </a:lnTo>
                  <a:lnTo>
                    <a:pt x="1779" y="3975"/>
                  </a:lnTo>
                  <a:lnTo>
                    <a:pt x="1767" y="3976"/>
                  </a:lnTo>
                  <a:lnTo>
                    <a:pt x="1746" y="3975"/>
                  </a:lnTo>
                  <a:lnTo>
                    <a:pt x="1725" y="3968"/>
                  </a:lnTo>
                  <a:lnTo>
                    <a:pt x="1716" y="3960"/>
                  </a:lnTo>
                  <a:lnTo>
                    <a:pt x="1709" y="3944"/>
                  </a:lnTo>
                  <a:lnTo>
                    <a:pt x="1716" y="3910"/>
                  </a:lnTo>
                  <a:lnTo>
                    <a:pt x="1726" y="3888"/>
                  </a:lnTo>
                  <a:lnTo>
                    <a:pt x="1737" y="3864"/>
                  </a:lnTo>
                  <a:lnTo>
                    <a:pt x="1752" y="3836"/>
                  </a:lnTo>
                  <a:lnTo>
                    <a:pt x="1766" y="3828"/>
                  </a:lnTo>
                  <a:lnTo>
                    <a:pt x="1785" y="3835"/>
                  </a:lnTo>
                  <a:lnTo>
                    <a:pt x="1801" y="38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80">
              <a:extLst>
                <a:ext uri="{FF2B5EF4-FFF2-40B4-BE49-F238E27FC236}">
                  <a16:creationId xmlns:a16="http://schemas.microsoft.com/office/drawing/2014/main" id="{AE4B78CB-633E-442C-8348-F5F334D726A6}"/>
                </a:ext>
              </a:extLst>
            </p:cNvPr>
            <p:cNvSpPr>
              <a:spLocks/>
            </p:cNvSpPr>
            <p:nvPr/>
          </p:nvSpPr>
          <p:spPr bwMode="auto">
            <a:xfrm>
              <a:off x="1081088" y="3043238"/>
              <a:ext cx="63500" cy="65088"/>
            </a:xfrm>
            <a:custGeom>
              <a:avLst/>
              <a:gdLst>
                <a:gd name="T0" fmla="*/ 19 w 144"/>
                <a:gd name="T1" fmla="*/ 20 h 147"/>
                <a:gd name="T2" fmla="*/ 9 w 144"/>
                <a:gd name="T3" fmla="*/ 32 h 147"/>
                <a:gd name="T4" fmla="*/ 0 w 144"/>
                <a:gd name="T5" fmla="*/ 62 h 147"/>
                <a:gd name="T6" fmla="*/ 1 w 144"/>
                <a:gd name="T7" fmla="*/ 94 h 147"/>
                <a:gd name="T8" fmla="*/ 14 w 144"/>
                <a:gd name="T9" fmla="*/ 123 h 147"/>
                <a:gd name="T10" fmla="*/ 24 w 144"/>
                <a:gd name="T11" fmla="*/ 133 h 147"/>
                <a:gd name="T12" fmla="*/ 31 w 144"/>
                <a:gd name="T13" fmla="*/ 138 h 147"/>
                <a:gd name="T14" fmla="*/ 46 w 144"/>
                <a:gd name="T15" fmla="*/ 145 h 147"/>
                <a:gd name="T16" fmla="*/ 72 w 144"/>
                <a:gd name="T17" fmla="*/ 147 h 147"/>
                <a:gd name="T18" fmla="*/ 107 w 144"/>
                <a:gd name="T19" fmla="*/ 137 h 147"/>
                <a:gd name="T20" fmla="*/ 128 w 144"/>
                <a:gd name="T21" fmla="*/ 121 h 147"/>
                <a:gd name="T22" fmla="*/ 138 w 144"/>
                <a:gd name="T23" fmla="*/ 108 h 147"/>
                <a:gd name="T24" fmla="*/ 141 w 144"/>
                <a:gd name="T25" fmla="*/ 100 h 147"/>
                <a:gd name="T26" fmla="*/ 144 w 144"/>
                <a:gd name="T27" fmla="*/ 86 h 147"/>
                <a:gd name="T28" fmla="*/ 143 w 144"/>
                <a:gd name="T29" fmla="*/ 61 h 147"/>
                <a:gd name="T30" fmla="*/ 134 w 144"/>
                <a:gd name="T31" fmla="*/ 38 h 147"/>
                <a:gd name="T32" fmla="*/ 118 w 144"/>
                <a:gd name="T33" fmla="*/ 20 h 147"/>
                <a:gd name="T34" fmla="*/ 98 w 144"/>
                <a:gd name="T35" fmla="*/ 6 h 147"/>
                <a:gd name="T36" fmla="*/ 76 w 144"/>
                <a:gd name="T37" fmla="*/ 0 h 147"/>
                <a:gd name="T38" fmla="*/ 52 w 144"/>
                <a:gd name="T39" fmla="*/ 1 h 147"/>
                <a:gd name="T40" fmla="*/ 29 w 144"/>
                <a:gd name="T41" fmla="*/ 11 h 147"/>
                <a:gd name="T42" fmla="*/ 19 w 144"/>
                <a:gd name="T43"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7">
                  <a:moveTo>
                    <a:pt x="19" y="20"/>
                  </a:moveTo>
                  <a:lnTo>
                    <a:pt x="9" y="32"/>
                  </a:lnTo>
                  <a:lnTo>
                    <a:pt x="0" y="62"/>
                  </a:lnTo>
                  <a:lnTo>
                    <a:pt x="1" y="94"/>
                  </a:lnTo>
                  <a:lnTo>
                    <a:pt x="14" y="123"/>
                  </a:lnTo>
                  <a:lnTo>
                    <a:pt x="24" y="133"/>
                  </a:lnTo>
                  <a:lnTo>
                    <a:pt x="31" y="138"/>
                  </a:lnTo>
                  <a:lnTo>
                    <a:pt x="46" y="145"/>
                  </a:lnTo>
                  <a:lnTo>
                    <a:pt x="72" y="147"/>
                  </a:lnTo>
                  <a:lnTo>
                    <a:pt x="107" y="137"/>
                  </a:lnTo>
                  <a:lnTo>
                    <a:pt x="128" y="121"/>
                  </a:lnTo>
                  <a:lnTo>
                    <a:pt x="138" y="108"/>
                  </a:lnTo>
                  <a:lnTo>
                    <a:pt x="141" y="100"/>
                  </a:lnTo>
                  <a:lnTo>
                    <a:pt x="144" y="86"/>
                  </a:lnTo>
                  <a:lnTo>
                    <a:pt x="143" y="61"/>
                  </a:lnTo>
                  <a:lnTo>
                    <a:pt x="134" y="38"/>
                  </a:lnTo>
                  <a:lnTo>
                    <a:pt x="118" y="20"/>
                  </a:lnTo>
                  <a:lnTo>
                    <a:pt x="98" y="6"/>
                  </a:lnTo>
                  <a:lnTo>
                    <a:pt x="76" y="0"/>
                  </a:lnTo>
                  <a:lnTo>
                    <a:pt x="52" y="1"/>
                  </a:lnTo>
                  <a:lnTo>
                    <a:pt x="29" y="11"/>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81">
              <a:extLst>
                <a:ext uri="{FF2B5EF4-FFF2-40B4-BE49-F238E27FC236}">
                  <a16:creationId xmlns:a16="http://schemas.microsoft.com/office/drawing/2014/main" id="{9233858D-EE07-407B-B31A-A55EB1F1C5AD}"/>
                </a:ext>
              </a:extLst>
            </p:cNvPr>
            <p:cNvSpPr>
              <a:spLocks noEditPoints="1"/>
            </p:cNvSpPr>
            <p:nvPr/>
          </p:nvSpPr>
          <p:spPr bwMode="auto">
            <a:xfrm>
              <a:off x="682625" y="3352801"/>
              <a:ext cx="295275" cy="296863"/>
            </a:xfrm>
            <a:custGeom>
              <a:avLst/>
              <a:gdLst>
                <a:gd name="T0" fmla="*/ 76 w 668"/>
                <a:gd name="T1" fmla="*/ 20 h 676"/>
                <a:gd name="T2" fmla="*/ 52 w 668"/>
                <a:gd name="T3" fmla="*/ 33 h 676"/>
                <a:gd name="T4" fmla="*/ 27 w 668"/>
                <a:gd name="T5" fmla="*/ 58 h 676"/>
                <a:gd name="T6" fmla="*/ 16 w 668"/>
                <a:gd name="T7" fmla="*/ 81 h 676"/>
                <a:gd name="T8" fmla="*/ 6 w 668"/>
                <a:gd name="T9" fmla="*/ 133 h 676"/>
                <a:gd name="T10" fmla="*/ 1 w 668"/>
                <a:gd name="T11" fmla="*/ 252 h 676"/>
                <a:gd name="T12" fmla="*/ 1 w 668"/>
                <a:gd name="T13" fmla="*/ 343 h 676"/>
                <a:gd name="T14" fmla="*/ 0 w 668"/>
                <a:gd name="T15" fmla="*/ 463 h 676"/>
                <a:gd name="T16" fmla="*/ 7 w 668"/>
                <a:gd name="T17" fmla="*/ 576 h 676"/>
                <a:gd name="T18" fmla="*/ 18 w 668"/>
                <a:gd name="T19" fmla="*/ 614 h 676"/>
                <a:gd name="T20" fmla="*/ 29 w 668"/>
                <a:gd name="T21" fmla="*/ 633 h 676"/>
                <a:gd name="T22" fmla="*/ 44 w 668"/>
                <a:gd name="T23" fmla="*/ 647 h 676"/>
                <a:gd name="T24" fmla="*/ 63 w 668"/>
                <a:gd name="T25" fmla="*/ 658 h 676"/>
                <a:gd name="T26" fmla="*/ 100 w 668"/>
                <a:gd name="T27" fmla="*/ 669 h 676"/>
                <a:gd name="T28" fmla="*/ 214 w 668"/>
                <a:gd name="T29" fmla="*/ 676 h 676"/>
                <a:gd name="T30" fmla="*/ 334 w 668"/>
                <a:gd name="T31" fmla="*/ 675 h 676"/>
                <a:gd name="T32" fmla="*/ 454 w 668"/>
                <a:gd name="T33" fmla="*/ 676 h 676"/>
                <a:gd name="T34" fmla="*/ 568 w 668"/>
                <a:gd name="T35" fmla="*/ 669 h 676"/>
                <a:gd name="T36" fmla="*/ 605 w 668"/>
                <a:gd name="T37" fmla="*/ 658 h 676"/>
                <a:gd name="T38" fmla="*/ 624 w 668"/>
                <a:gd name="T39" fmla="*/ 648 h 676"/>
                <a:gd name="T40" fmla="*/ 639 w 668"/>
                <a:gd name="T41" fmla="*/ 633 h 676"/>
                <a:gd name="T42" fmla="*/ 650 w 668"/>
                <a:gd name="T43" fmla="*/ 614 h 676"/>
                <a:gd name="T44" fmla="*/ 661 w 668"/>
                <a:gd name="T45" fmla="*/ 578 h 676"/>
                <a:gd name="T46" fmla="*/ 668 w 668"/>
                <a:gd name="T47" fmla="*/ 467 h 676"/>
                <a:gd name="T48" fmla="*/ 668 w 668"/>
                <a:gd name="T49" fmla="*/ 350 h 676"/>
                <a:gd name="T50" fmla="*/ 667 w 668"/>
                <a:gd name="T51" fmla="*/ 249 h 676"/>
                <a:gd name="T52" fmla="*/ 661 w 668"/>
                <a:gd name="T53" fmla="*/ 100 h 676"/>
                <a:gd name="T54" fmla="*/ 658 w 668"/>
                <a:gd name="T55" fmla="*/ 75 h 676"/>
                <a:gd name="T56" fmla="*/ 653 w 668"/>
                <a:gd name="T57" fmla="*/ 64 h 676"/>
                <a:gd name="T58" fmla="*/ 639 w 668"/>
                <a:gd name="T59" fmla="*/ 46 h 676"/>
                <a:gd name="T60" fmla="*/ 618 w 668"/>
                <a:gd name="T61" fmla="*/ 32 h 676"/>
                <a:gd name="T62" fmla="*/ 590 w 668"/>
                <a:gd name="T63" fmla="*/ 20 h 676"/>
                <a:gd name="T64" fmla="*/ 531 w 668"/>
                <a:gd name="T65" fmla="*/ 8 h 676"/>
                <a:gd name="T66" fmla="*/ 412 w 668"/>
                <a:gd name="T67" fmla="*/ 1 h 676"/>
                <a:gd name="T68" fmla="*/ 331 w 668"/>
                <a:gd name="T69" fmla="*/ 0 h 676"/>
                <a:gd name="T70" fmla="*/ 237 w 668"/>
                <a:gd name="T71" fmla="*/ 1 h 676"/>
                <a:gd name="T72" fmla="*/ 131 w 668"/>
                <a:gd name="T73" fmla="*/ 8 h 676"/>
                <a:gd name="T74" fmla="*/ 86 w 668"/>
                <a:gd name="T75" fmla="*/ 16 h 676"/>
                <a:gd name="T76" fmla="*/ 76 w 668"/>
                <a:gd name="T77" fmla="*/ 20 h 676"/>
                <a:gd name="T78" fmla="*/ 531 w 668"/>
                <a:gd name="T79" fmla="*/ 347 h 676"/>
                <a:gd name="T80" fmla="*/ 536 w 668"/>
                <a:gd name="T81" fmla="*/ 552 h 676"/>
                <a:gd name="T82" fmla="*/ 339 w 668"/>
                <a:gd name="T83" fmla="*/ 547 h 676"/>
                <a:gd name="T84" fmla="*/ 143 w 668"/>
                <a:gd name="T85" fmla="*/ 542 h 676"/>
                <a:gd name="T86" fmla="*/ 138 w 668"/>
                <a:gd name="T87" fmla="*/ 360 h 676"/>
                <a:gd name="T88" fmla="*/ 137 w 668"/>
                <a:gd name="T89" fmla="*/ 285 h 676"/>
                <a:gd name="T90" fmla="*/ 139 w 668"/>
                <a:gd name="T91" fmla="*/ 174 h 676"/>
                <a:gd name="T92" fmla="*/ 141 w 668"/>
                <a:gd name="T93" fmla="*/ 155 h 676"/>
                <a:gd name="T94" fmla="*/ 145 w 668"/>
                <a:gd name="T95" fmla="*/ 149 h 676"/>
                <a:gd name="T96" fmla="*/ 167 w 668"/>
                <a:gd name="T97" fmla="*/ 140 h 676"/>
                <a:gd name="T98" fmla="*/ 241 w 668"/>
                <a:gd name="T99" fmla="*/ 135 h 676"/>
                <a:gd name="T100" fmla="*/ 338 w 668"/>
                <a:gd name="T101" fmla="*/ 137 h 676"/>
                <a:gd name="T102" fmla="*/ 526 w 668"/>
                <a:gd name="T103" fmla="*/ 142 h 676"/>
                <a:gd name="T104" fmla="*/ 531 w 668"/>
                <a:gd name="T105" fmla="*/ 34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68" h="676">
                  <a:moveTo>
                    <a:pt x="76" y="20"/>
                  </a:moveTo>
                  <a:lnTo>
                    <a:pt x="52" y="33"/>
                  </a:lnTo>
                  <a:lnTo>
                    <a:pt x="27" y="58"/>
                  </a:lnTo>
                  <a:lnTo>
                    <a:pt x="16" y="81"/>
                  </a:lnTo>
                  <a:lnTo>
                    <a:pt x="6" y="133"/>
                  </a:lnTo>
                  <a:lnTo>
                    <a:pt x="1" y="252"/>
                  </a:lnTo>
                  <a:lnTo>
                    <a:pt x="1" y="343"/>
                  </a:lnTo>
                  <a:lnTo>
                    <a:pt x="0" y="463"/>
                  </a:lnTo>
                  <a:lnTo>
                    <a:pt x="7" y="576"/>
                  </a:lnTo>
                  <a:lnTo>
                    <a:pt x="18" y="614"/>
                  </a:lnTo>
                  <a:lnTo>
                    <a:pt x="29" y="633"/>
                  </a:lnTo>
                  <a:lnTo>
                    <a:pt x="44" y="647"/>
                  </a:lnTo>
                  <a:lnTo>
                    <a:pt x="63" y="658"/>
                  </a:lnTo>
                  <a:lnTo>
                    <a:pt x="100" y="669"/>
                  </a:lnTo>
                  <a:lnTo>
                    <a:pt x="214" y="676"/>
                  </a:lnTo>
                  <a:lnTo>
                    <a:pt x="334" y="675"/>
                  </a:lnTo>
                  <a:lnTo>
                    <a:pt x="454" y="676"/>
                  </a:lnTo>
                  <a:lnTo>
                    <a:pt x="568" y="669"/>
                  </a:lnTo>
                  <a:lnTo>
                    <a:pt x="605" y="658"/>
                  </a:lnTo>
                  <a:lnTo>
                    <a:pt x="624" y="648"/>
                  </a:lnTo>
                  <a:lnTo>
                    <a:pt x="639" y="633"/>
                  </a:lnTo>
                  <a:lnTo>
                    <a:pt x="650" y="614"/>
                  </a:lnTo>
                  <a:lnTo>
                    <a:pt x="661" y="578"/>
                  </a:lnTo>
                  <a:lnTo>
                    <a:pt x="668" y="467"/>
                  </a:lnTo>
                  <a:lnTo>
                    <a:pt x="668" y="350"/>
                  </a:lnTo>
                  <a:lnTo>
                    <a:pt x="667" y="249"/>
                  </a:lnTo>
                  <a:lnTo>
                    <a:pt x="661" y="100"/>
                  </a:lnTo>
                  <a:lnTo>
                    <a:pt x="658" y="75"/>
                  </a:lnTo>
                  <a:lnTo>
                    <a:pt x="653" y="64"/>
                  </a:lnTo>
                  <a:lnTo>
                    <a:pt x="639" y="46"/>
                  </a:lnTo>
                  <a:lnTo>
                    <a:pt x="618" y="32"/>
                  </a:lnTo>
                  <a:lnTo>
                    <a:pt x="590" y="20"/>
                  </a:lnTo>
                  <a:lnTo>
                    <a:pt x="531" y="8"/>
                  </a:lnTo>
                  <a:lnTo>
                    <a:pt x="412" y="1"/>
                  </a:lnTo>
                  <a:lnTo>
                    <a:pt x="331" y="0"/>
                  </a:lnTo>
                  <a:lnTo>
                    <a:pt x="237" y="1"/>
                  </a:lnTo>
                  <a:lnTo>
                    <a:pt x="131" y="8"/>
                  </a:lnTo>
                  <a:lnTo>
                    <a:pt x="86" y="16"/>
                  </a:lnTo>
                  <a:lnTo>
                    <a:pt x="76" y="20"/>
                  </a:lnTo>
                  <a:close/>
                  <a:moveTo>
                    <a:pt x="531" y="347"/>
                  </a:moveTo>
                  <a:lnTo>
                    <a:pt x="536" y="552"/>
                  </a:lnTo>
                  <a:lnTo>
                    <a:pt x="339" y="547"/>
                  </a:lnTo>
                  <a:lnTo>
                    <a:pt x="143" y="542"/>
                  </a:lnTo>
                  <a:lnTo>
                    <a:pt x="138" y="360"/>
                  </a:lnTo>
                  <a:lnTo>
                    <a:pt x="137" y="285"/>
                  </a:lnTo>
                  <a:lnTo>
                    <a:pt x="139" y="174"/>
                  </a:lnTo>
                  <a:lnTo>
                    <a:pt x="141" y="155"/>
                  </a:lnTo>
                  <a:lnTo>
                    <a:pt x="145" y="149"/>
                  </a:lnTo>
                  <a:lnTo>
                    <a:pt x="167" y="140"/>
                  </a:lnTo>
                  <a:lnTo>
                    <a:pt x="241" y="135"/>
                  </a:lnTo>
                  <a:lnTo>
                    <a:pt x="338" y="137"/>
                  </a:lnTo>
                  <a:lnTo>
                    <a:pt x="526" y="142"/>
                  </a:lnTo>
                  <a:lnTo>
                    <a:pt x="531" y="3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82">
              <a:extLst>
                <a:ext uri="{FF2B5EF4-FFF2-40B4-BE49-F238E27FC236}">
                  <a16:creationId xmlns:a16="http://schemas.microsoft.com/office/drawing/2014/main" id="{F43758B7-B23D-4D7C-A940-74EE496CFDB9}"/>
                </a:ext>
              </a:extLst>
            </p:cNvPr>
            <p:cNvSpPr>
              <a:spLocks/>
            </p:cNvSpPr>
            <p:nvPr/>
          </p:nvSpPr>
          <p:spPr bwMode="auto">
            <a:xfrm>
              <a:off x="750888" y="3440113"/>
              <a:ext cx="160338" cy="125413"/>
            </a:xfrm>
            <a:custGeom>
              <a:avLst/>
              <a:gdLst>
                <a:gd name="T0" fmla="*/ 205 w 362"/>
                <a:gd name="T1" fmla="*/ 62 h 281"/>
                <a:gd name="T2" fmla="*/ 187 w 362"/>
                <a:gd name="T3" fmla="*/ 83 h 281"/>
                <a:gd name="T4" fmla="*/ 164 w 362"/>
                <a:gd name="T5" fmla="*/ 107 h 281"/>
                <a:gd name="T6" fmla="*/ 147 w 362"/>
                <a:gd name="T7" fmla="*/ 113 h 281"/>
                <a:gd name="T8" fmla="*/ 131 w 362"/>
                <a:gd name="T9" fmla="*/ 104 h 281"/>
                <a:gd name="T10" fmla="*/ 120 w 362"/>
                <a:gd name="T11" fmla="*/ 94 h 281"/>
                <a:gd name="T12" fmla="*/ 104 w 362"/>
                <a:gd name="T13" fmla="*/ 81 h 281"/>
                <a:gd name="T14" fmla="*/ 73 w 362"/>
                <a:gd name="T15" fmla="*/ 68 h 281"/>
                <a:gd name="T16" fmla="*/ 46 w 362"/>
                <a:gd name="T17" fmla="*/ 68 h 281"/>
                <a:gd name="T18" fmla="*/ 23 w 362"/>
                <a:gd name="T19" fmla="*/ 84 h 281"/>
                <a:gd name="T20" fmla="*/ 15 w 362"/>
                <a:gd name="T21" fmla="*/ 97 h 281"/>
                <a:gd name="T22" fmla="*/ 7 w 362"/>
                <a:gd name="T23" fmla="*/ 113 h 281"/>
                <a:gd name="T24" fmla="*/ 0 w 362"/>
                <a:gd name="T25" fmla="*/ 135 h 281"/>
                <a:gd name="T26" fmla="*/ 8 w 362"/>
                <a:gd name="T27" fmla="*/ 157 h 281"/>
                <a:gd name="T28" fmla="*/ 35 w 362"/>
                <a:gd name="T29" fmla="*/ 190 h 281"/>
                <a:gd name="T30" fmla="*/ 58 w 362"/>
                <a:gd name="T31" fmla="*/ 216 h 281"/>
                <a:gd name="T32" fmla="*/ 74 w 362"/>
                <a:gd name="T33" fmla="*/ 233 h 281"/>
                <a:gd name="T34" fmla="*/ 101 w 362"/>
                <a:gd name="T35" fmla="*/ 259 h 281"/>
                <a:gd name="T36" fmla="*/ 127 w 362"/>
                <a:gd name="T37" fmla="*/ 275 h 281"/>
                <a:gd name="T38" fmla="*/ 151 w 362"/>
                <a:gd name="T39" fmla="*/ 281 h 281"/>
                <a:gd name="T40" fmla="*/ 175 w 362"/>
                <a:gd name="T41" fmla="*/ 277 h 281"/>
                <a:gd name="T42" fmla="*/ 201 w 362"/>
                <a:gd name="T43" fmla="*/ 263 h 281"/>
                <a:gd name="T44" fmla="*/ 245 w 362"/>
                <a:gd name="T45" fmla="*/ 223 h 281"/>
                <a:gd name="T46" fmla="*/ 281 w 362"/>
                <a:gd name="T47" fmla="*/ 181 h 281"/>
                <a:gd name="T48" fmla="*/ 311 w 362"/>
                <a:gd name="T49" fmla="*/ 144 h 281"/>
                <a:gd name="T50" fmla="*/ 349 w 362"/>
                <a:gd name="T51" fmla="*/ 91 h 281"/>
                <a:gd name="T52" fmla="*/ 361 w 362"/>
                <a:gd name="T53" fmla="*/ 65 h 281"/>
                <a:gd name="T54" fmla="*/ 362 w 362"/>
                <a:gd name="T55" fmla="*/ 50 h 281"/>
                <a:gd name="T56" fmla="*/ 356 w 362"/>
                <a:gd name="T57" fmla="*/ 31 h 281"/>
                <a:gd name="T58" fmla="*/ 345 w 362"/>
                <a:gd name="T59" fmla="*/ 19 h 281"/>
                <a:gd name="T60" fmla="*/ 338 w 362"/>
                <a:gd name="T61" fmla="*/ 13 h 281"/>
                <a:gd name="T62" fmla="*/ 323 w 362"/>
                <a:gd name="T63" fmla="*/ 4 h 281"/>
                <a:gd name="T64" fmla="*/ 307 w 362"/>
                <a:gd name="T65" fmla="*/ 0 h 281"/>
                <a:gd name="T66" fmla="*/ 290 w 362"/>
                <a:gd name="T67" fmla="*/ 1 h 281"/>
                <a:gd name="T68" fmla="*/ 263 w 362"/>
                <a:gd name="T69" fmla="*/ 10 h 281"/>
                <a:gd name="T70" fmla="*/ 225 w 362"/>
                <a:gd name="T71" fmla="*/ 40 h 281"/>
                <a:gd name="T72" fmla="*/ 205 w 362"/>
                <a:gd name="T73" fmla="*/ 6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2" h="281">
                  <a:moveTo>
                    <a:pt x="205" y="62"/>
                  </a:moveTo>
                  <a:lnTo>
                    <a:pt x="187" y="83"/>
                  </a:lnTo>
                  <a:lnTo>
                    <a:pt x="164" y="107"/>
                  </a:lnTo>
                  <a:lnTo>
                    <a:pt x="147" y="113"/>
                  </a:lnTo>
                  <a:lnTo>
                    <a:pt x="131" y="104"/>
                  </a:lnTo>
                  <a:lnTo>
                    <a:pt x="120" y="94"/>
                  </a:lnTo>
                  <a:lnTo>
                    <a:pt x="104" y="81"/>
                  </a:lnTo>
                  <a:lnTo>
                    <a:pt x="73" y="68"/>
                  </a:lnTo>
                  <a:lnTo>
                    <a:pt x="46" y="68"/>
                  </a:lnTo>
                  <a:lnTo>
                    <a:pt x="23" y="84"/>
                  </a:lnTo>
                  <a:lnTo>
                    <a:pt x="15" y="97"/>
                  </a:lnTo>
                  <a:lnTo>
                    <a:pt x="7" y="113"/>
                  </a:lnTo>
                  <a:lnTo>
                    <a:pt x="0" y="135"/>
                  </a:lnTo>
                  <a:lnTo>
                    <a:pt x="8" y="157"/>
                  </a:lnTo>
                  <a:lnTo>
                    <a:pt x="35" y="190"/>
                  </a:lnTo>
                  <a:lnTo>
                    <a:pt x="58" y="216"/>
                  </a:lnTo>
                  <a:lnTo>
                    <a:pt x="74" y="233"/>
                  </a:lnTo>
                  <a:lnTo>
                    <a:pt x="101" y="259"/>
                  </a:lnTo>
                  <a:lnTo>
                    <a:pt x="127" y="275"/>
                  </a:lnTo>
                  <a:lnTo>
                    <a:pt x="151" y="281"/>
                  </a:lnTo>
                  <a:lnTo>
                    <a:pt x="175" y="277"/>
                  </a:lnTo>
                  <a:lnTo>
                    <a:pt x="201" y="263"/>
                  </a:lnTo>
                  <a:lnTo>
                    <a:pt x="245" y="223"/>
                  </a:lnTo>
                  <a:lnTo>
                    <a:pt x="281" y="181"/>
                  </a:lnTo>
                  <a:lnTo>
                    <a:pt x="311" y="144"/>
                  </a:lnTo>
                  <a:lnTo>
                    <a:pt x="349" y="91"/>
                  </a:lnTo>
                  <a:lnTo>
                    <a:pt x="361" y="65"/>
                  </a:lnTo>
                  <a:lnTo>
                    <a:pt x="362" y="50"/>
                  </a:lnTo>
                  <a:lnTo>
                    <a:pt x="356" y="31"/>
                  </a:lnTo>
                  <a:lnTo>
                    <a:pt x="345" y="19"/>
                  </a:lnTo>
                  <a:lnTo>
                    <a:pt x="338" y="13"/>
                  </a:lnTo>
                  <a:lnTo>
                    <a:pt x="323" y="4"/>
                  </a:lnTo>
                  <a:lnTo>
                    <a:pt x="307" y="0"/>
                  </a:lnTo>
                  <a:lnTo>
                    <a:pt x="290" y="1"/>
                  </a:lnTo>
                  <a:lnTo>
                    <a:pt x="263" y="10"/>
                  </a:lnTo>
                  <a:lnTo>
                    <a:pt x="225" y="40"/>
                  </a:lnTo>
                  <a:lnTo>
                    <a:pt x="20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83">
              <a:extLst>
                <a:ext uri="{FF2B5EF4-FFF2-40B4-BE49-F238E27FC236}">
                  <a16:creationId xmlns:a16="http://schemas.microsoft.com/office/drawing/2014/main" id="{A89F39CB-C5E8-4D9C-B899-DD1E50521213}"/>
                </a:ext>
              </a:extLst>
            </p:cNvPr>
            <p:cNvSpPr>
              <a:spLocks/>
            </p:cNvSpPr>
            <p:nvPr/>
          </p:nvSpPr>
          <p:spPr bwMode="auto">
            <a:xfrm>
              <a:off x="1068388" y="3403601"/>
              <a:ext cx="476250" cy="58738"/>
            </a:xfrm>
            <a:custGeom>
              <a:avLst/>
              <a:gdLst>
                <a:gd name="T0" fmla="*/ 20 w 1077"/>
                <a:gd name="T1" fmla="*/ 31 h 133"/>
                <a:gd name="T2" fmla="*/ 12 w 1077"/>
                <a:gd name="T3" fmla="*/ 40 h 133"/>
                <a:gd name="T4" fmla="*/ 3 w 1077"/>
                <a:gd name="T5" fmla="*/ 56 h 133"/>
                <a:gd name="T6" fmla="*/ 0 w 1077"/>
                <a:gd name="T7" fmla="*/ 72 h 133"/>
                <a:gd name="T8" fmla="*/ 5 w 1077"/>
                <a:gd name="T9" fmla="*/ 88 h 133"/>
                <a:gd name="T10" fmla="*/ 10 w 1077"/>
                <a:gd name="T11" fmla="*/ 98 h 133"/>
                <a:gd name="T12" fmla="*/ 13 w 1077"/>
                <a:gd name="T13" fmla="*/ 104 h 133"/>
                <a:gd name="T14" fmla="*/ 22 w 1077"/>
                <a:gd name="T15" fmla="*/ 114 h 133"/>
                <a:gd name="T16" fmla="*/ 39 w 1077"/>
                <a:gd name="T17" fmla="*/ 122 h 133"/>
                <a:gd name="T18" fmla="*/ 69 w 1077"/>
                <a:gd name="T19" fmla="*/ 127 h 133"/>
                <a:gd name="T20" fmla="*/ 222 w 1077"/>
                <a:gd name="T21" fmla="*/ 133 h 133"/>
                <a:gd name="T22" fmla="*/ 532 w 1077"/>
                <a:gd name="T23" fmla="*/ 133 h 133"/>
                <a:gd name="T24" fmla="*/ 708 w 1077"/>
                <a:gd name="T25" fmla="*/ 133 h 133"/>
                <a:gd name="T26" fmla="*/ 933 w 1077"/>
                <a:gd name="T27" fmla="*/ 129 h 133"/>
                <a:gd name="T28" fmla="*/ 1021 w 1077"/>
                <a:gd name="T29" fmla="*/ 121 h 133"/>
                <a:gd name="T30" fmla="*/ 1054 w 1077"/>
                <a:gd name="T31" fmla="*/ 112 h 133"/>
                <a:gd name="T32" fmla="*/ 1071 w 1077"/>
                <a:gd name="T33" fmla="*/ 100 h 133"/>
                <a:gd name="T34" fmla="*/ 1077 w 1077"/>
                <a:gd name="T35" fmla="*/ 83 h 133"/>
                <a:gd name="T36" fmla="*/ 1077 w 1077"/>
                <a:gd name="T37" fmla="*/ 73 h 133"/>
                <a:gd name="T38" fmla="*/ 1076 w 1077"/>
                <a:gd name="T39" fmla="*/ 63 h 133"/>
                <a:gd name="T40" fmla="*/ 1061 w 1077"/>
                <a:gd name="T41" fmla="*/ 37 h 133"/>
                <a:gd name="T42" fmla="*/ 1050 w 1077"/>
                <a:gd name="T43" fmla="*/ 26 h 133"/>
                <a:gd name="T44" fmla="*/ 1046 w 1077"/>
                <a:gd name="T45" fmla="*/ 22 h 133"/>
                <a:gd name="T46" fmla="*/ 1031 w 1077"/>
                <a:gd name="T47" fmla="*/ 15 h 133"/>
                <a:gd name="T48" fmla="*/ 992 w 1077"/>
                <a:gd name="T49" fmla="*/ 7 h 133"/>
                <a:gd name="T50" fmla="*/ 809 w 1077"/>
                <a:gd name="T51" fmla="*/ 0 h 133"/>
                <a:gd name="T52" fmla="*/ 537 w 1077"/>
                <a:gd name="T53" fmla="*/ 0 h 133"/>
                <a:gd name="T54" fmla="*/ 246 w 1077"/>
                <a:gd name="T55" fmla="*/ 0 h 133"/>
                <a:gd name="T56" fmla="*/ 72 w 1077"/>
                <a:gd name="T57" fmla="*/ 8 h 133"/>
                <a:gd name="T58" fmla="*/ 38 w 1077"/>
                <a:gd name="T59" fmla="*/ 17 h 133"/>
                <a:gd name="T60" fmla="*/ 25 w 1077"/>
                <a:gd name="T61" fmla="*/ 26 h 133"/>
                <a:gd name="T62" fmla="*/ 20 w 1077"/>
                <a:gd name="T63" fmla="*/ 3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7" h="133">
                  <a:moveTo>
                    <a:pt x="20" y="31"/>
                  </a:moveTo>
                  <a:lnTo>
                    <a:pt x="12" y="40"/>
                  </a:lnTo>
                  <a:lnTo>
                    <a:pt x="3" y="56"/>
                  </a:lnTo>
                  <a:lnTo>
                    <a:pt x="0" y="72"/>
                  </a:lnTo>
                  <a:lnTo>
                    <a:pt x="5" y="88"/>
                  </a:lnTo>
                  <a:lnTo>
                    <a:pt x="10" y="98"/>
                  </a:lnTo>
                  <a:lnTo>
                    <a:pt x="13" y="104"/>
                  </a:lnTo>
                  <a:lnTo>
                    <a:pt x="22" y="114"/>
                  </a:lnTo>
                  <a:lnTo>
                    <a:pt x="39" y="122"/>
                  </a:lnTo>
                  <a:lnTo>
                    <a:pt x="69" y="127"/>
                  </a:lnTo>
                  <a:lnTo>
                    <a:pt x="222" y="133"/>
                  </a:lnTo>
                  <a:lnTo>
                    <a:pt x="532" y="133"/>
                  </a:lnTo>
                  <a:lnTo>
                    <a:pt x="708" y="133"/>
                  </a:lnTo>
                  <a:lnTo>
                    <a:pt x="933" y="129"/>
                  </a:lnTo>
                  <a:lnTo>
                    <a:pt x="1021" y="121"/>
                  </a:lnTo>
                  <a:lnTo>
                    <a:pt x="1054" y="112"/>
                  </a:lnTo>
                  <a:lnTo>
                    <a:pt x="1071" y="100"/>
                  </a:lnTo>
                  <a:lnTo>
                    <a:pt x="1077" y="83"/>
                  </a:lnTo>
                  <a:lnTo>
                    <a:pt x="1077" y="73"/>
                  </a:lnTo>
                  <a:lnTo>
                    <a:pt x="1076" y="63"/>
                  </a:lnTo>
                  <a:lnTo>
                    <a:pt x="1061" y="37"/>
                  </a:lnTo>
                  <a:lnTo>
                    <a:pt x="1050" y="26"/>
                  </a:lnTo>
                  <a:lnTo>
                    <a:pt x="1046" y="22"/>
                  </a:lnTo>
                  <a:lnTo>
                    <a:pt x="1031" y="15"/>
                  </a:lnTo>
                  <a:lnTo>
                    <a:pt x="992" y="7"/>
                  </a:lnTo>
                  <a:lnTo>
                    <a:pt x="809" y="0"/>
                  </a:lnTo>
                  <a:lnTo>
                    <a:pt x="537" y="0"/>
                  </a:lnTo>
                  <a:lnTo>
                    <a:pt x="246" y="0"/>
                  </a:lnTo>
                  <a:lnTo>
                    <a:pt x="72" y="8"/>
                  </a:lnTo>
                  <a:lnTo>
                    <a:pt x="38" y="17"/>
                  </a:lnTo>
                  <a:lnTo>
                    <a:pt x="25" y="26"/>
                  </a:lnTo>
                  <a:lnTo>
                    <a:pt x="2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84">
              <a:extLst>
                <a:ext uri="{FF2B5EF4-FFF2-40B4-BE49-F238E27FC236}">
                  <a16:creationId xmlns:a16="http://schemas.microsoft.com/office/drawing/2014/main" id="{360C5838-A6A1-48B5-96A4-C785D93ACD5F}"/>
                </a:ext>
              </a:extLst>
            </p:cNvPr>
            <p:cNvSpPr>
              <a:spLocks/>
            </p:cNvSpPr>
            <p:nvPr/>
          </p:nvSpPr>
          <p:spPr bwMode="auto">
            <a:xfrm>
              <a:off x="1066800" y="3543301"/>
              <a:ext cx="477838" cy="58738"/>
            </a:xfrm>
            <a:custGeom>
              <a:avLst/>
              <a:gdLst>
                <a:gd name="T0" fmla="*/ 15 w 1082"/>
                <a:gd name="T1" fmla="*/ 32 h 134"/>
                <a:gd name="T2" fmla="*/ 8 w 1082"/>
                <a:gd name="T3" fmla="*/ 46 h 134"/>
                <a:gd name="T4" fmla="*/ 0 w 1082"/>
                <a:gd name="T5" fmla="*/ 66 h 134"/>
                <a:gd name="T6" fmla="*/ 2 w 1082"/>
                <a:gd name="T7" fmla="*/ 81 h 134"/>
                <a:gd name="T8" fmla="*/ 14 w 1082"/>
                <a:gd name="T9" fmla="*/ 97 h 134"/>
                <a:gd name="T10" fmla="*/ 25 w 1082"/>
                <a:gd name="T11" fmla="*/ 107 h 134"/>
                <a:gd name="T12" fmla="*/ 30 w 1082"/>
                <a:gd name="T13" fmla="*/ 111 h 134"/>
                <a:gd name="T14" fmla="*/ 44 w 1082"/>
                <a:gd name="T15" fmla="*/ 118 h 134"/>
                <a:gd name="T16" fmla="*/ 84 w 1082"/>
                <a:gd name="T17" fmla="*/ 126 h 134"/>
                <a:gd name="T18" fmla="*/ 267 w 1082"/>
                <a:gd name="T19" fmla="*/ 133 h 134"/>
                <a:gd name="T20" fmla="*/ 540 w 1082"/>
                <a:gd name="T21" fmla="*/ 134 h 134"/>
                <a:gd name="T22" fmla="*/ 814 w 1082"/>
                <a:gd name="T23" fmla="*/ 133 h 134"/>
                <a:gd name="T24" fmla="*/ 997 w 1082"/>
                <a:gd name="T25" fmla="*/ 126 h 134"/>
                <a:gd name="T26" fmla="*/ 1036 w 1082"/>
                <a:gd name="T27" fmla="*/ 118 h 134"/>
                <a:gd name="T28" fmla="*/ 1051 w 1082"/>
                <a:gd name="T29" fmla="*/ 111 h 134"/>
                <a:gd name="T30" fmla="*/ 1055 w 1082"/>
                <a:gd name="T31" fmla="*/ 107 h 134"/>
                <a:gd name="T32" fmla="*/ 1066 w 1082"/>
                <a:gd name="T33" fmla="*/ 96 h 134"/>
                <a:gd name="T34" fmla="*/ 1081 w 1082"/>
                <a:gd name="T35" fmla="*/ 70 h 134"/>
                <a:gd name="T36" fmla="*/ 1082 w 1082"/>
                <a:gd name="T37" fmla="*/ 60 h 134"/>
                <a:gd name="T38" fmla="*/ 1082 w 1082"/>
                <a:gd name="T39" fmla="*/ 50 h 134"/>
                <a:gd name="T40" fmla="*/ 1076 w 1082"/>
                <a:gd name="T41" fmla="*/ 34 h 134"/>
                <a:gd name="T42" fmla="*/ 1059 w 1082"/>
                <a:gd name="T43" fmla="*/ 21 h 134"/>
                <a:gd name="T44" fmla="*/ 1026 w 1082"/>
                <a:gd name="T45" fmla="*/ 12 h 134"/>
                <a:gd name="T46" fmla="*/ 938 w 1082"/>
                <a:gd name="T47" fmla="*/ 4 h 134"/>
                <a:gd name="T48" fmla="*/ 713 w 1082"/>
                <a:gd name="T49" fmla="*/ 0 h 134"/>
                <a:gd name="T50" fmla="*/ 537 w 1082"/>
                <a:gd name="T51" fmla="*/ 0 h 134"/>
                <a:gd name="T52" fmla="*/ 233 w 1082"/>
                <a:gd name="T53" fmla="*/ 1 h 134"/>
                <a:gd name="T54" fmla="*/ 58 w 1082"/>
                <a:gd name="T55" fmla="*/ 9 h 134"/>
                <a:gd name="T56" fmla="*/ 28 w 1082"/>
                <a:gd name="T57" fmla="*/ 18 h 134"/>
                <a:gd name="T58" fmla="*/ 19 w 1082"/>
                <a:gd name="T59" fmla="*/ 27 h 134"/>
                <a:gd name="T60" fmla="*/ 15 w 1082"/>
                <a:gd name="T61" fmla="*/ 3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82" h="134">
                  <a:moveTo>
                    <a:pt x="15" y="32"/>
                  </a:moveTo>
                  <a:lnTo>
                    <a:pt x="8" y="46"/>
                  </a:lnTo>
                  <a:lnTo>
                    <a:pt x="0" y="66"/>
                  </a:lnTo>
                  <a:lnTo>
                    <a:pt x="2" y="81"/>
                  </a:lnTo>
                  <a:lnTo>
                    <a:pt x="14" y="97"/>
                  </a:lnTo>
                  <a:lnTo>
                    <a:pt x="25" y="107"/>
                  </a:lnTo>
                  <a:lnTo>
                    <a:pt x="30" y="111"/>
                  </a:lnTo>
                  <a:lnTo>
                    <a:pt x="44" y="118"/>
                  </a:lnTo>
                  <a:lnTo>
                    <a:pt x="84" y="126"/>
                  </a:lnTo>
                  <a:lnTo>
                    <a:pt x="267" y="133"/>
                  </a:lnTo>
                  <a:lnTo>
                    <a:pt x="540" y="134"/>
                  </a:lnTo>
                  <a:lnTo>
                    <a:pt x="814" y="133"/>
                  </a:lnTo>
                  <a:lnTo>
                    <a:pt x="997" y="126"/>
                  </a:lnTo>
                  <a:lnTo>
                    <a:pt x="1036" y="118"/>
                  </a:lnTo>
                  <a:lnTo>
                    <a:pt x="1051" y="111"/>
                  </a:lnTo>
                  <a:lnTo>
                    <a:pt x="1055" y="107"/>
                  </a:lnTo>
                  <a:lnTo>
                    <a:pt x="1066" y="96"/>
                  </a:lnTo>
                  <a:lnTo>
                    <a:pt x="1081" y="70"/>
                  </a:lnTo>
                  <a:lnTo>
                    <a:pt x="1082" y="60"/>
                  </a:lnTo>
                  <a:lnTo>
                    <a:pt x="1082" y="50"/>
                  </a:lnTo>
                  <a:lnTo>
                    <a:pt x="1076" y="34"/>
                  </a:lnTo>
                  <a:lnTo>
                    <a:pt x="1059" y="21"/>
                  </a:lnTo>
                  <a:lnTo>
                    <a:pt x="1026" y="12"/>
                  </a:lnTo>
                  <a:lnTo>
                    <a:pt x="938" y="4"/>
                  </a:lnTo>
                  <a:lnTo>
                    <a:pt x="713" y="0"/>
                  </a:lnTo>
                  <a:lnTo>
                    <a:pt x="537" y="0"/>
                  </a:lnTo>
                  <a:lnTo>
                    <a:pt x="233" y="1"/>
                  </a:lnTo>
                  <a:lnTo>
                    <a:pt x="58" y="9"/>
                  </a:lnTo>
                  <a:lnTo>
                    <a:pt x="28" y="18"/>
                  </a:lnTo>
                  <a:lnTo>
                    <a:pt x="19" y="27"/>
                  </a:lnTo>
                  <a:lnTo>
                    <a:pt x="15"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85">
              <a:extLst>
                <a:ext uri="{FF2B5EF4-FFF2-40B4-BE49-F238E27FC236}">
                  <a16:creationId xmlns:a16="http://schemas.microsoft.com/office/drawing/2014/main" id="{E52FB357-E078-445B-987D-02892A0EC195}"/>
                </a:ext>
              </a:extLst>
            </p:cNvPr>
            <p:cNvSpPr>
              <a:spLocks/>
            </p:cNvSpPr>
            <p:nvPr/>
          </p:nvSpPr>
          <p:spPr bwMode="auto">
            <a:xfrm>
              <a:off x="752475" y="3808413"/>
              <a:ext cx="157163" cy="131763"/>
            </a:xfrm>
            <a:custGeom>
              <a:avLst/>
              <a:gdLst>
                <a:gd name="T0" fmla="*/ 215 w 358"/>
                <a:gd name="T1" fmla="*/ 62 h 296"/>
                <a:gd name="T2" fmla="*/ 196 w 358"/>
                <a:gd name="T3" fmla="*/ 85 h 296"/>
                <a:gd name="T4" fmla="*/ 169 w 358"/>
                <a:gd name="T5" fmla="*/ 111 h 296"/>
                <a:gd name="T6" fmla="*/ 150 w 358"/>
                <a:gd name="T7" fmla="*/ 118 h 296"/>
                <a:gd name="T8" fmla="*/ 127 w 358"/>
                <a:gd name="T9" fmla="*/ 109 h 296"/>
                <a:gd name="T10" fmla="*/ 110 w 358"/>
                <a:gd name="T11" fmla="*/ 99 h 296"/>
                <a:gd name="T12" fmla="*/ 85 w 358"/>
                <a:gd name="T13" fmla="*/ 86 h 296"/>
                <a:gd name="T14" fmla="*/ 57 w 358"/>
                <a:gd name="T15" fmla="*/ 82 h 296"/>
                <a:gd name="T16" fmla="*/ 41 w 358"/>
                <a:gd name="T17" fmla="*/ 86 h 296"/>
                <a:gd name="T18" fmla="*/ 33 w 358"/>
                <a:gd name="T19" fmla="*/ 91 h 296"/>
                <a:gd name="T20" fmla="*/ 16 w 358"/>
                <a:gd name="T21" fmla="*/ 102 h 296"/>
                <a:gd name="T22" fmla="*/ 3 w 358"/>
                <a:gd name="T23" fmla="*/ 122 h 296"/>
                <a:gd name="T24" fmla="*/ 0 w 358"/>
                <a:gd name="T25" fmla="*/ 136 h 296"/>
                <a:gd name="T26" fmla="*/ 5 w 358"/>
                <a:gd name="T27" fmla="*/ 161 h 296"/>
                <a:gd name="T28" fmla="*/ 32 w 358"/>
                <a:gd name="T29" fmla="*/ 203 h 296"/>
                <a:gd name="T30" fmla="*/ 55 w 358"/>
                <a:gd name="T31" fmla="*/ 229 h 296"/>
                <a:gd name="T32" fmla="*/ 85 w 358"/>
                <a:gd name="T33" fmla="*/ 262 h 296"/>
                <a:gd name="T34" fmla="*/ 124 w 358"/>
                <a:gd name="T35" fmla="*/ 289 h 296"/>
                <a:gd name="T36" fmla="*/ 147 w 358"/>
                <a:gd name="T37" fmla="*/ 296 h 296"/>
                <a:gd name="T38" fmla="*/ 171 w 358"/>
                <a:gd name="T39" fmla="*/ 293 h 296"/>
                <a:gd name="T40" fmla="*/ 196 w 358"/>
                <a:gd name="T41" fmla="*/ 280 h 296"/>
                <a:gd name="T42" fmla="*/ 237 w 358"/>
                <a:gd name="T43" fmla="*/ 243 h 296"/>
                <a:gd name="T44" fmla="*/ 272 w 358"/>
                <a:gd name="T45" fmla="*/ 202 h 296"/>
                <a:gd name="T46" fmla="*/ 305 w 358"/>
                <a:gd name="T47" fmla="*/ 161 h 296"/>
                <a:gd name="T48" fmla="*/ 346 w 358"/>
                <a:gd name="T49" fmla="*/ 105 h 296"/>
                <a:gd name="T50" fmla="*/ 357 w 358"/>
                <a:gd name="T51" fmla="*/ 78 h 296"/>
                <a:gd name="T52" fmla="*/ 358 w 358"/>
                <a:gd name="T53" fmla="*/ 64 h 296"/>
                <a:gd name="T54" fmla="*/ 349 w 358"/>
                <a:gd name="T55" fmla="*/ 45 h 296"/>
                <a:gd name="T56" fmla="*/ 337 w 358"/>
                <a:gd name="T57" fmla="*/ 31 h 296"/>
                <a:gd name="T58" fmla="*/ 322 w 358"/>
                <a:gd name="T59" fmla="*/ 15 h 296"/>
                <a:gd name="T60" fmla="*/ 303 w 358"/>
                <a:gd name="T61" fmla="*/ 2 h 296"/>
                <a:gd name="T62" fmla="*/ 291 w 358"/>
                <a:gd name="T63" fmla="*/ 0 h 296"/>
                <a:gd name="T64" fmla="*/ 272 w 358"/>
                <a:gd name="T65" fmla="*/ 7 h 296"/>
                <a:gd name="T66" fmla="*/ 238 w 358"/>
                <a:gd name="T67" fmla="*/ 37 h 296"/>
                <a:gd name="T68" fmla="*/ 215 w 358"/>
                <a:gd name="T69" fmla="*/ 6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8" h="296">
                  <a:moveTo>
                    <a:pt x="215" y="62"/>
                  </a:moveTo>
                  <a:lnTo>
                    <a:pt x="196" y="85"/>
                  </a:lnTo>
                  <a:lnTo>
                    <a:pt x="169" y="111"/>
                  </a:lnTo>
                  <a:lnTo>
                    <a:pt x="150" y="118"/>
                  </a:lnTo>
                  <a:lnTo>
                    <a:pt x="127" y="109"/>
                  </a:lnTo>
                  <a:lnTo>
                    <a:pt x="110" y="99"/>
                  </a:lnTo>
                  <a:lnTo>
                    <a:pt x="85" y="86"/>
                  </a:lnTo>
                  <a:lnTo>
                    <a:pt x="57" y="82"/>
                  </a:lnTo>
                  <a:lnTo>
                    <a:pt x="41" y="86"/>
                  </a:lnTo>
                  <a:lnTo>
                    <a:pt x="33" y="91"/>
                  </a:lnTo>
                  <a:lnTo>
                    <a:pt x="16" y="102"/>
                  </a:lnTo>
                  <a:lnTo>
                    <a:pt x="3" y="122"/>
                  </a:lnTo>
                  <a:lnTo>
                    <a:pt x="0" y="136"/>
                  </a:lnTo>
                  <a:lnTo>
                    <a:pt x="5" y="161"/>
                  </a:lnTo>
                  <a:lnTo>
                    <a:pt x="32" y="203"/>
                  </a:lnTo>
                  <a:lnTo>
                    <a:pt x="55" y="229"/>
                  </a:lnTo>
                  <a:lnTo>
                    <a:pt x="85" y="262"/>
                  </a:lnTo>
                  <a:lnTo>
                    <a:pt x="124" y="289"/>
                  </a:lnTo>
                  <a:lnTo>
                    <a:pt x="147" y="296"/>
                  </a:lnTo>
                  <a:lnTo>
                    <a:pt x="171" y="293"/>
                  </a:lnTo>
                  <a:lnTo>
                    <a:pt x="196" y="280"/>
                  </a:lnTo>
                  <a:lnTo>
                    <a:pt x="237" y="243"/>
                  </a:lnTo>
                  <a:lnTo>
                    <a:pt x="272" y="202"/>
                  </a:lnTo>
                  <a:lnTo>
                    <a:pt x="305" y="161"/>
                  </a:lnTo>
                  <a:lnTo>
                    <a:pt x="346" y="105"/>
                  </a:lnTo>
                  <a:lnTo>
                    <a:pt x="357" y="78"/>
                  </a:lnTo>
                  <a:lnTo>
                    <a:pt x="358" y="64"/>
                  </a:lnTo>
                  <a:lnTo>
                    <a:pt x="349" y="45"/>
                  </a:lnTo>
                  <a:lnTo>
                    <a:pt x="337" y="31"/>
                  </a:lnTo>
                  <a:lnTo>
                    <a:pt x="322" y="15"/>
                  </a:lnTo>
                  <a:lnTo>
                    <a:pt x="303" y="2"/>
                  </a:lnTo>
                  <a:lnTo>
                    <a:pt x="291" y="0"/>
                  </a:lnTo>
                  <a:lnTo>
                    <a:pt x="272" y="7"/>
                  </a:lnTo>
                  <a:lnTo>
                    <a:pt x="238" y="37"/>
                  </a:lnTo>
                  <a:lnTo>
                    <a:pt x="2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86">
              <a:extLst>
                <a:ext uri="{FF2B5EF4-FFF2-40B4-BE49-F238E27FC236}">
                  <a16:creationId xmlns:a16="http://schemas.microsoft.com/office/drawing/2014/main" id="{1EF9824A-2455-46C8-B84F-92FD780E415C}"/>
                </a:ext>
              </a:extLst>
            </p:cNvPr>
            <p:cNvSpPr>
              <a:spLocks/>
            </p:cNvSpPr>
            <p:nvPr/>
          </p:nvSpPr>
          <p:spPr bwMode="auto">
            <a:xfrm>
              <a:off x="374650" y="3902076"/>
              <a:ext cx="47625" cy="52388"/>
            </a:xfrm>
            <a:custGeom>
              <a:avLst/>
              <a:gdLst>
                <a:gd name="T0" fmla="*/ 13 w 108"/>
                <a:gd name="T1" fmla="*/ 13 h 116"/>
                <a:gd name="T2" fmla="*/ 6 w 108"/>
                <a:gd name="T3" fmla="*/ 22 h 116"/>
                <a:gd name="T4" fmla="*/ 0 w 108"/>
                <a:gd name="T5" fmla="*/ 49 h 116"/>
                <a:gd name="T6" fmla="*/ 5 w 108"/>
                <a:gd name="T7" fmla="*/ 79 h 116"/>
                <a:gd name="T8" fmla="*/ 18 w 108"/>
                <a:gd name="T9" fmla="*/ 102 h 116"/>
                <a:gd name="T10" fmla="*/ 28 w 108"/>
                <a:gd name="T11" fmla="*/ 108 h 116"/>
                <a:gd name="T12" fmla="*/ 40 w 108"/>
                <a:gd name="T13" fmla="*/ 112 h 116"/>
                <a:gd name="T14" fmla="*/ 55 w 108"/>
                <a:gd name="T15" fmla="*/ 116 h 116"/>
                <a:gd name="T16" fmla="*/ 72 w 108"/>
                <a:gd name="T17" fmla="*/ 110 h 116"/>
                <a:gd name="T18" fmla="*/ 91 w 108"/>
                <a:gd name="T19" fmla="*/ 91 h 116"/>
                <a:gd name="T20" fmla="*/ 98 w 108"/>
                <a:gd name="T21" fmla="*/ 84 h 116"/>
                <a:gd name="T22" fmla="*/ 106 w 108"/>
                <a:gd name="T23" fmla="*/ 70 h 116"/>
                <a:gd name="T24" fmla="*/ 108 w 108"/>
                <a:gd name="T25" fmla="*/ 57 h 116"/>
                <a:gd name="T26" fmla="*/ 105 w 108"/>
                <a:gd name="T27" fmla="*/ 42 h 116"/>
                <a:gd name="T28" fmla="*/ 101 w 108"/>
                <a:gd name="T29" fmla="*/ 33 h 116"/>
                <a:gd name="T30" fmla="*/ 94 w 108"/>
                <a:gd name="T31" fmla="*/ 21 h 116"/>
                <a:gd name="T32" fmla="*/ 72 w 108"/>
                <a:gd name="T33" fmla="*/ 6 h 116"/>
                <a:gd name="T34" fmla="*/ 46 w 108"/>
                <a:gd name="T35" fmla="*/ 0 h 116"/>
                <a:gd name="T36" fmla="*/ 22 w 108"/>
                <a:gd name="T37" fmla="*/ 5 h 116"/>
                <a:gd name="T38" fmla="*/ 13 w 108"/>
                <a:gd name="T39" fmla="*/ 1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8" h="116">
                  <a:moveTo>
                    <a:pt x="13" y="13"/>
                  </a:moveTo>
                  <a:lnTo>
                    <a:pt x="6" y="22"/>
                  </a:lnTo>
                  <a:lnTo>
                    <a:pt x="0" y="49"/>
                  </a:lnTo>
                  <a:lnTo>
                    <a:pt x="5" y="79"/>
                  </a:lnTo>
                  <a:lnTo>
                    <a:pt x="18" y="102"/>
                  </a:lnTo>
                  <a:lnTo>
                    <a:pt x="28" y="108"/>
                  </a:lnTo>
                  <a:lnTo>
                    <a:pt x="40" y="112"/>
                  </a:lnTo>
                  <a:lnTo>
                    <a:pt x="55" y="116"/>
                  </a:lnTo>
                  <a:lnTo>
                    <a:pt x="72" y="110"/>
                  </a:lnTo>
                  <a:lnTo>
                    <a:pt x="91" y="91"/>
                  </a:lnTo>
                  <a:lnTo>
                    <a:pt x="98" y="84"/>
                  </a:lnTo>
                  <a:lnTo>
                    <a:pt x="106" y="70"/>
                  </a:lnTo>
                  <a:lnTo>
                    <a:pt x="108" y="57"/>
                  </a:lnTo>
                  <a:lnTo>
                    <a:pt x="105" y="42"/>
                  </a:lnTo>
                  <a:lnTo>
                    <a:pt x="101" y="33"/>
                  </a:lnTo>
                  <a:lnTo>
                    <a:pt x="94" y="21"/>
                  </a:lnTo>
                  <a:lnTo>
                    <a:pt x="72" y="6"/>
                  </a:lnTo>
                  <a:lnTo>
                    <a:pt x="46" y="0"/>
                  </a:lnTo>
                  <a:lnTo>
                    <a:pt x="22" y="5"/>
                  </a:lnTo>
                  <a:lnTo>
                    <a:pt x="1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87">
              <a:extLst>
                <a:ext uri="{FF2B5EF4-FFF2-40B4-BE49-F238E27FC236}">
                  <a16:creationId xmlns:a16="http://schemas.microsoft.com/office/drawing/2014/main" id="{5A825D4F-F55C-4671-A0DC-1E3F0243F14F}"/>
                </a:ext>
              </a:extLst>
            </p:cNvPr>
            <p:cNvSpPr>
              <a:spLocks/>
            </p:cNvSpPr>
            <p:nvPr/>
          </p:nvSpPr>
          <p:spPr bwMode="auto">
            <a:xfrm>
              <a:off x="1244600" y="3927476"/>
              <a:ext cx="47625" cy="49213"/>
            </a:xfrm>
            <a:custGeom>
              <a:avLst/>
              <a:gdLst>
                <a:gd name="T0" fmla="*/ 14 w 110"/>
                <a:gd name="T1" fmla="*/ 19 h 113"/>
                <a:gd name="T2" fmla="*/ 9 w 110"/>
                <a:gd name="T3" fmla="*/ 27 h 113"/>
                <a:gd name="T4" fmla="*/ 2 w 110"/>
                <a:gd name="T5" fmla="*/ 42 h 113"/>
                <a:gd name="T6" fmla="*/ 0 w 110"/>
                <a:gd name="T7" fmla="*/ 66 h 113"/>
                <a:gd name="T8" fmla="*/ 12 w 110"/>
                <a:gd name="T9" fmla="*/ 94 h 113"/>
                <a:gd name="T10" fmla="*/ 31 w 110"/>
                <a:gd name="T11" fmla="*/ 108 h 113"/>
                <a:gd name="T12" fmla="*/ 47 w 110"/>
                <a:gd name="T13" fmla="*/ 112 h 113"/>
                <a:gd name="T14" fmla="*/ 56 w 110"/>
                <a:gd name="T15" fmla="*/ 113 h 113"/>
                <a:gd name="T16" fmla="*/ 72 w 110"/>
                <a:gd name="T17" fmla="*/ 111 h 113"/>
                <a:gd name="T18" fmla="*/ 98 w 110"/>
                <a:gd name="T19" fmla="*/ 98 h 113"/>
                <a:gd name="T20" fmla="*/ 110 w 110"/>
                <a:gd name="T21" fmla="*/ 75 h 113"/>
                <a:gd name="T22" fmla="*/ 109 w 110"/>
                <a:gd name="T23" fmla="*/ 46 h 113"/>
                <a:gd name="T24" fmla="*/ 101 w 110"/>
                <a:gd name="T25" fmla="*/ 31 h 113"/>
                <a:gd name="T26" fmla="*/ 91 w 110"/>
                <a:gd name="T27" fmla="*/ 18 h 113"/>
                <a:gd name="T28" fmla="*/ 70 w 110"/>
                <a:gd name="T29" fmla="*/ 3 h 113"/>
                <a:gd name="T30" fmla="*/ 46 w 110"/>
                <a:gd name="T31" fmla="*/ 0 h 113"/>
                <a:gd name="T32" fmla="*/ 24 w 110"/>
                <a:gd name="T33" fmla="*/ 9 h 113"/>
                <a:gd name="T34" fmla="*/ 14 w 110"/>
                <a:gd name="T35" fmla="*/ 1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0" h="113">
                  <a:moveTo>
                    <a:pt x="14" y="19"/>
                  </a:moveTo>
                  <a:lnTo>
                    <a:pt x="9" y="27"/>
                  </a:lnTo>
                  <a:lnTo>
                    <a:pt x="2" y="42"/>
                  </a:lnTo>
                  <a:lnTo>
                    <a:pt x="0" y="66"/>
                  </a:lnTo>
                  <a:lnTo>
                    <a:pt x="12" y="94"/>
                  </a:lnTo>
                  <a:lnTo>
                    <a:pt x="31" y="108"/>
                  </a:lnTo>
                  <a:lnTo>
                    <a:pt x="47" y="112"/>
                  </a:lnTo>
                  <a:lnTo>
                    <a:pt x="56" y="113"/>
                  </a:lnTo>
                  <a:lnTo>
                    <a:pt x="72" y="111"/>
                  </a:lnTo>
                  <a:lnTo>
                    <a:pt x="98" y="98"/>
                  </a:lnTo>
                  <a:lnTo>
                    <a:pt x="110" y="75"/>
                  </a:lnTo>
                  <a:lnTo>
                    <a:pt x="109" y="46"/>
                  </a:lnTo>
                  <a:lnTo>
                    <a:pt x="101" y="31"/>
                  </a:lnTo>
                  <a:lnTo>
                    <a:pt x="91" y="18"/>
                  </a:lnTo>
                  <a:lnTo>
                    <a:pt x="70" y="3"/>
                  </a:lnTo>
                  <a:lnTo>
                    <a:pt x="46" y="0"/>
                  </a:lnTo>
                  <a:lnTo>
                    <a:pt x="24" y="9"/>
                  </a:lnTo>
                  <a:lnTo>
                    <a:pt x="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14497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أدوات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915946" y="1500344"/>
            <a:ext cx="1151456" cy="1162665"/>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820617" y="645056"/>
            <a:ext cx="7572633" cy="2694902"/>
          </a:xfrm>
          <a:prstGeom prst="rect">
            <a:avLst/>
          </a:prstGeom>
        </p:spPr>
        <p:txBody>
          <a:bodyPr anchor="ctr" anchorCtr="0">
            <a:normAutofit/>
          </a:bodyPr>
          <a:lstStyle/>
          <a:p>
            <a:pPr algn="r" rtl="1">
              <a:lnSpc>
                <a:spcPct val="150000"/>
              </a:lnSpc>
              <a:spcAft>
                <a:spcPts val="1200"/>
              </a:spcAft>
            </a:pPr>
            <a:r>
              <a:rPr lang="ar-SA" b="1" dirty="0"/>
              <a:t>تمثل الأدوات والمسرعات آليات تسهم في تسريع تبني البنية المؤسسية لزيادة فعاليتها ، عبر تبسيط الإجراءات وجمع المعلومات وتحديثها باستمرار ، مما يعزز دقة المخرجات وسرعة الاستجابة للاحتياجات المتغيرة</a:t>
            </a:r>
            <a:endParaRPr lang="ar-EG" b="1" dirty="0"/>
          </a:p>
        </p:txBody>
      </p:sp>
      <p:sp>
        <p:nvSpPr>
          <p:cNvPr id="16" name="Title 1">
            <a:extLst>
              <a:ext uri="{FF2B5EF4-FFF2-40B4-BE49-F238E27FC236}">
                <a16:creationId xmlns:a16="http://schemas.microsoft.com/office/drawing/2014/main" id="{6655FB46-0DCB-4EF4-8DDD-402BD96C9DA8}"/>
              </a:ext>
            </a:extLst>
          </p:cNvPr>
          <p:cNvSpPr txBox="1">
            <a:spLocks/>
          </p:cNvSpPr>
          <p:nvPr/>
        </p:nvSpPr>
        <p:spPr>
          <a:xfrm>
            <a:off x="2623345" y="3136333"/>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أهم المسرعات التي تساهم في تفعيل أنشطة ممارسة البنية المؤسسية</a:t>
            </a:r>
          </a:p>
        </p:txBody>
      </p:sp>
      <p:sp>
        <p:nvSpPr>
          <p:cNvPr id="28" name="Rectangle 27">
            <a:extLst>
              <a:ext uri="{FF2B5EF4-FFF2-40B4-BE49-F238E27FC236}">
                <a16:creationId xmlns:a16="http://schemas.microsoft.com/office/drawing/2014/main" id="{531F4101-FEA6-4038-ACE8-ADED4500E401}"/>
              </a:ext>
            </a:extLst>
          </p:cNvPr>
          <p:cNvSpPr/>
          <p:nvPr/>
        </p:nvSpPr>
        <p:spPr>
          <a:xfrm>
            <a:off x="6181998" y="3955203"/>
            <a:ext cx="4256748" cy="338554"/>
          </a:xfrm>
          <a:prstGeom prst="rect">
            <a:avLst/>
          </a:prstGeom>
        </p:spPr>
        <p:txBody>
          <a:bodyPr wrap="square" anchor="ctr" anchorCtr="0">
            <a:spAutoFit/>
          </a:bodyPr>
          <a:lstStyle/>
          <a:p>
            <a:pPr algn="justLow" rtl="1"/>
            <a:r>
              <a:rPr lang="ar-SA" sz="1600" b="1" dirty="0"/>
              <a:t>أطر التعهيد لموارد البنية المؤسسية</a:t>
            </a:r>
          </a:p>
        </p:txBody>
      </p:sp>
      <p:grpSp>
        <p:nvGrpSpPr>
          <p:cNvPr id="29" name="Group 28">
            <a:extLst>
              <a:ext uri="{FF2B5EF4-FFF2-40B4-BE49-F238E27FC236}">
                <a16:creationId xmlns:a16="http://schemas.microsoft.com/office/drawing/2014/main" id="{09E98D05-A89C-4BBF-AA05-4C0C610DC7B0}"/>
              </a:ext>
            </a:extLst>
          </p:cNvPr>
          <p:cNvGrpSpPr/>
          <p:nvPr/>
        </p:nvGrpSpPr>
        <p:grpSpPr>
          <a:xfrm>
            <a:off x="10656592" y="3795369"/>
            <a:ext cx="650505" cy="650505"/>
            <a:chOff x="9889067" y="2857200"/>
            <a:chExt cx="1095022" cy="1095022"/>
          </a:xfrm>
        </p:grpSpPr>
        <p:sp>
          <p:nvSpPr>
            <p:cNvPr id="30" name="Arc 29">
              <a:extLst>
                <a:ext uri="{FF2B5EF4-FFF2-40B4-BE49-F238E27FC236}">
                  <a16:creationId xmlns:a16="http://schemas.microsoft.com/office/drawing/2014/main" id="{CD3A997E-9908-476D-975D-F2B0D7F2F70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13E781EC-8B4B-4E92-8A33-FDD1255F8EF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33" name="Oval 32">
            <a:extLst>
              <a:ext uri="{FF2B5EF4-FFF2-40B4-BE49-F238E27FC236}">
                <a16:creationId xmlns:a16="http://schemas.microsoft.com/office/drawing/2014/main" id="{59831C8B-9A15-4D1E-8BAF-40627D163FE3}"/>
              </a:ext>
            </a:extLst>
          </p:cNvPr>
          <p:cNvSpPr/>
          <p:nvPr/>
        </p:nvSpPr>
        <p:spPr>
          <a:xfrm flipH="1">
            <a:off x="10438746" y="411908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1</a:t>
            </a:r>
            <a:endParaRPr lang="en-US" sz="1600" b="1" dirty="0">
              <a:ln>
                <a:solidFill>
                  <a:schemeClr val="accent2"/>
                </a:solidFill>
              </a:ln>
              <a:noFill/>
            </a:endParaRPr>
          </a:p>
        </p:txBody>
      </p:sp>
      <p:sp>
        <p:nvSpPr>
          <p:cNvPr id="57" name="Rectangle 56">
            <a:extLst>
              <a:ext uri="{FF2B5EF4-FFF2-40B4-BE49-F238E27FC236}">
                <a16:creationId xmlns:a16="http://schemas.microsoft.com/office/drawing/2014/main" id="{3021D78F-4FE4-414B-BB9D-793295D96879}"/>
              </a:ext>
            </a:extLst>
          </p:cNvPr>
          <p:cNvSpPr/>
          <p:nvPr/>
        </p:nvSpPr>
        <p:spPr>
          <a:xfrm>
            <a:off x="1133691" y="3968511"/>
            <a:ext cx="4256748" cy="338554"/>
          </a:xfrm>
          <a:prstGeom prst="rect">
            <a:avLst/>
          </a:prstGeom>
        </p:spPr>
        <p:txBody>
          <a:bodyPr wrap="square" anchor="ctr" anchorCtr="0">
            <a:spAutoFit/>
          </a:bodyPr>
          <a:lstStyle/>
          <a:p>
            <a:pPr algn="justLow" rtl="1"/>
            <a:r>
              <a:rPr lang="ar-SA" sz="1600" b="1" dirty="0"/>
              <a:t>معايير  اختيار البنية المؤسسية </a:t>
            </a:r>
          </a:p>
        </p:txBody>
      </p:sp>
      <p:grpSp>
        <p:nvGrpSpPr>
          <p:cNvPr id="59" name="Group 58">
            <a:extLst>
              <a:ext uri="{FF2B5EF4-FFF2-40B4-BE49-F238E27FC236}">
                <a16:creationId xmlns:a16="http://schemas.microsoft.com/office/drawing/2014/main" id="{91CE91D7-A15F-480E-8610-31CB948E7C57}"/>
              </a:ext>
            </a:extLst>
          </p:cNvPr>
          <p:cNvGrpSpPr/>
          <p:nvPr/>
        </p:nvGrpSpPr>
        <p:grpSpPr>
          <a:xfrm>
            <a:off x="5608285" y="3817636"/>
            <a:ext cx="650505" cy="650505"/>
            <a:chOff x="9889067" y="2857200"/>
            <a:chExt cx="1095022" cy="1095022"/>
          </a:xfrm>
        </p:grpSpPr>
        <p:sp>
          <p:nvSpPr>
            <p:cNvPr id="60" name="Arc 59">
              <a:extLst>
                <a:ext uri="{FF2B5EF4-FFF2-40B4-BE49-F238E27FC236}">
                  <a16:creationId xmlns:a16="http://schemas.microsoft.com/office/drawing/2014/main" id="{9E084187-3FAB-4981-AEBD-F2387D7C340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Arc 60">
              <a:extLst>
                <a:ext uri="{FF2B5EF4-FFF2-40B4-BE49-F238E27FC236}">
                  <a16:creationId xmlns:a16="http://schemas.microsoft.com/office/drawing/2014/main" id="{7683A470-1B4E-4718-87AE-48620E72BD3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2" name="Oval 61">
            <a:extLst>
              <a:ext uri="{FF2B5EF4-FFF2-40B4-BE49-F238E27FC236}">
                <a16:creationId xmlns:a16="http://schemas.microsoft.com/office/drawing/2014/main" id="{B392ACD1-5B78-48B3-BEF4-3B9240043259}"/>
              </a:ext>
            </a:extLst>
          </p:cNvPr>
          <p:cNvSpPr/>
          <p:nvPr/>
        </p:nvSpPr>
        <p:spPr>
          <a:xfrm flipH="1">
            <a:off x="5475557" y="417368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2</a:t>
            </a:r>
            <a:endParaRPr lang="en-US" sz="1600" b="1" dirty="0">
              <a:ln>
                <a:solidFill>
                  <a:schemeClr val="accent2"/>
                </a:solidFill>
              </a:ln>
              <a:noFill/>
            </a:endParaRPr>
          </a:p>
        </p:txBody>
      </p:sp>
      <p:grpSp>
        <p:nvGrpSpPr>
          <p:cNvPr id="58" name="Group 57">
            <a:extLst>
              <a:ext uri="{FF2B5EF4-FFF2-40B4-BE49-F238E27FC236}">
                <a16:creationId xmlns:a16="http://schemas.microsoft.com/office/drawing/2014/main" id="{CD63FAC3-5057-46C8-A87E-DFB79C253686}"/>
              </a:ext>
            </a:extLst>
          </p:cNvPr>
          <p:cNvGrpSpPr>
            <a:grpSpLocks noChangeAspect="1"/>
          </p:cNvGrpSpPr>
          <p:nvPr/>
        </p:nvGrpSpPr>
        <p:grpSpPr>
          <a:xfrm>
            <a:off x="10852238" y="3960008"/>
            <a:ext cx="364000" cy="365760"/>
            <a:chOff x="10656888" y="4908551"/>
            <a:chExt cx="1312863" cy="1319213"/>
          </a:xfrm>
          <a:solidFill>
            <a:schemeClr val="accent1"/>
          </a:solidFill>
        </p:grpSpPr>
        <p:sp>
          <p:nvSpPr>
            <p:cNvPr id="63" name="Freeform 608">
              <a:extLst>
                <a:ext uri="{FF2B5EF4-FFF2-40B4-BE49-F238E27FC236}">
                  <a16:creationId xmlns:a16="http://schemas.microsoft.com/office/drawing/2014/main" id="{01F8446D-A6AD-4EF9-BB7A-9022F8179755}"/>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609">
              <a:extLst>
                <a:ext uri="{FF2B5EF4-FFF2-40B4-BE49-F238E27FC236}">
                  <a16:creationId xmlns:a16="http://schemas.microsoft.com/office/drawing/2014/main" id="{3A323069-219D-4304-B58B-DF742918BB2D}"/>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610">
              <a:extLst>
                <a:ext uri="{FF2B5EF4-FFF2-40B4-BE49-F238E27FC236}">
                  <a16:creationId xmlns:a16="http://schemas.microsoft.com/office/drawing/2014/main" id="{1ABAA34F-E8B2-4F9B-86EA-97F65C494D75}"/>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611">
              <a:extLst>
                <a:ext uri="{FF2B5EF4-FFF2-40B4-BE49-F238E27FC236}">
                  <a16:creationId xmlns:a16="http://schemas.microsoft.com/office/drawing/2014/main" id="{77ECBD98-3197-4A06-A26C-FB29E9754229}"/>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612">
              <a:extLst>
                <a:ext uri="{FF2B5EF4-FFF2-40B4-BE49-F238E27FC236}">
                  <a16:creationId xmlns:a16="http://schemas.microsoft.com/office/drawing/2014/main" id="{6E778BCE-305F-4CD1-810A-9EDCB9323A65}"/>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613">
              <a:extLst>
                <a:ext uri="{FF2B5EF4-FFF2-40B4-BE49-F238E27FC236}">
                  <a16:creationId xmlns:a16="http://schemas.microsoft.com/office/drawing/2014/main" id="{96D20DE3-6800-4748-B1E2-C1517B75EA2A}"/>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614">
              <a:extLst>
                <a:ext uri="{FF2B5EF4-FFF2-40B4-BE49-F238E27FC236}">
                  <a16:creationId xmlns:a16="http://schemas.microsoft.com/office/drawing/2014/main" id="{929C59F1-B0D4-49E4-9504-7B709750AACF}"/>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615">
              <a:extLst>
                <a:ext uri="{FF2B5EF4-FFF2-40B4-BE49-F238E27FC236}">
                  <a16:creationId xmlns:a16="http://schemas.microsoft.com/office/drawing/2014/main" id="{C6A275F9-2B53-4436-A8E0-74A97823CF49}"/>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1" name="Freeform 616">
              <a:extLst>
                <a:ext uri="{FF2B5EF4-FFF2-40B4-BE49-F238E27FC236}">
                  <a16:creationId xmlns:a16="http://schemas.microsoft.com/office/drawing/2014/main" id="{A3D41B2F-A87F-4E97-8652-795EC331427D}"/>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2" name="Freeform 617">
              <a:extLst>
                <a:ext uri="{FF2B5EF4-FFF2-40B4-BE49-F238E27FC236}">
                  <a16:creationId xmlns:a16="http://schemas.microsoft.com/office/drawing/2014/main" id="{3C5E9A2D-B4C6-4486-B1CE-9F5DC0B6061C}"/>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3" name="Freeform 618">
              <a:extLst>
                <a:ext uri="{FF2B5EF4-FFF2-40B4-BE49-F238E27FC236}">
                  <a16:creationId xmlns:a16="http://schemas.microsoft.com/office/drawing/2014/main" id="{5B90197F-F883-4CC4-B940-A132D053F952}"/>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4" name="Freeform 619">
              <a:extLst>
                <a:ext uri="{FF2B5EF4-FFF2-40B4-BE49-F238E27FC236}">
                  <a16:creationId xmlns:a16="http://schemas.microsoft.com/office/drawing/2014/main" id="{134947BB-6795-4105-A169-904E15E39081}"/>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5" name="Freeform 620">
              <a:extLst>
                <a:ext uri="{FF2B5EF4-FFF2-40B4-BE49-F238E27FC236}">
                  <a16:creationId xmlns:a16="http://schemas.microsoft.com/office/drawing/2014/main" id="{A57ECA73-DA8E-4038-955D-DAC8019BE972}"/>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6" name="Freeform 624">
              <a:extLst>
                <a:ext uri="{FF2B5EF4-FFF2-40B4-BE49-F238E27FC236}">
                  <a16:creationId xmlns:a16="http://schemas.microsoft.com/office/drawing/2014/main" id="{C31BEDFE-3720-4F00-8D7C-652742B1A331}"/>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7" name="Group 106">
            <a:extLst>
              <a:ext uri="{FF2B5EF4-FFF2-40B4-BE49-F238E27FC236}">
                <a16:creationId xmlns:a16="http://schemas.microsoft.com/office/drawing/2014/main" id="{5B4FF643-F82F-4639-9292-41E471F1A7C2}"/>
              </a:ext>
            </a:extLst>
          </p:cNvPr>
          <p:cNvGrpSpPr>
            <a:grpSpLocks noChangeAspect="1"/>
          </p:cNvGrpSpPr>
          <p:nvPr/>
        </p:nvGrpSpPr>
        <p:grpSpPr>
          <a:xfrm>
            <a:off x="5775458" y="3958467"/>
            <a:ext cx="366666" cy="365760"/>
            <a:chOff x="257175" y="207963"/>
            <a:chExt cx="1928813" cy="1924050"/>
          </a:xfrm>
          <a:solidFill>
            <a:schemeClr val="accent1"/>
          </a:solidFill>
        </p:grpSpPr>
        <p:sp>
          <p:nvSpPr>
            <p:cNvPr id="108" name="Freeform 12">
              <a:extLst>
                <a:ext uri="{FF2B5EF4-FFF2-40B4-BE49-F238E27FC236}">
                  <a16:creationId xmlns:a16="http://schemas.microsoft.com/office/drawing/2014/main" id="{66AE9252-79DA-4FC9-BADE-7A873C4AF9D4}"/>
                </a:ext>
              </a:extLst>
            </p:cNvPr>
            <p:cNvSpPr>
              <a:spLocks noEditPoints="1"/>
            </p:cNvSpPr>
            <p:nvPr/>
          </p:nvSpPr>
          <p:spPr bwMode="auto">
            <a:xfrm>
              <a:off x="257175" y="207963"/>
              <a:ext cx="1928813" cy="1924050"/>
            </a:xfrm>
            <a:custGeom>
              <a:avLst/>
              <a:gdLst>
                <a:gd name="T0" fmla="*/ 1547 w 4883"/>
                <a:gd name="T1" fmla="*/ 278 h 4873"/>
                <a:gd name="T2" fmla="*/ 322 w 4883"/>
                <a:gd name="T3" fmla="*/ 498 h 4873"/>
                <a:gd name="T4" fmla="*/ 80 w 4883"/>
                <a:gd name="T5" fmla="*/ 3725 h 4873"/>
                <a:gd name="T6" fmla="*/ 71 w 4883"/>
                <a:gd name="T7" fmla="*/ 4199 h 4873"/>
                <a:gd name="T8" fmla="*/ 3912 w 4883"/>
                <a:gd name="T9" fmla="*/ 4665 h 4873"/>
                <a:gd name="T10" fmla="*/ 4404 w 4883"/>
                <a:gd name="T11" fmla="*/ 4843 h 4873"/>
                <a:gd name="T12" fmla="*/ 4638 w 4883"/>
                <a:gd name="T13" fmla="*/ 4518 h 4873"/>
                <a:gd name="T14" fmla="*/ 4711 w 4883"/>
                <a:gd name="T15" fmla="*/ 4306 h 4873"/>
                <a:gd name="T16" fmla="*/ 4883 w 4883"/>
                <a:gd name="T17" fmla="*/ 3884 h 4873"/>
                <a:gd name="T18" fmla="*/ 4633 w 4883"/>
                <a:gd name="T19" fmla="*/ 535 h 4873"/>
                <a:gd name="T20" fmla="*/ 3463 w 4883"/>
                <a:gd name="T21" fmla="*/ 379 h 4873"/>
                <a:gd name="T22" fmla="*/ 2795 w 4883"/>
                <a:gd name="T23" fmla="*/ 34 h 4873"/>
                <a:gd name="T24" fmla="*/ 2793 w 4883"/>
                <a:gd name="T25" fmla="*/ 202 h 4873"/>
                <a:gd name="T26" fmla="*/ 3593 w 4883"/>
                <a:gd name="T27" fmla="*/ 773 h 4873"/>
                <a:gd name="T28" fmla="*/ 3815 w 4883"/>
                <a:gd name="T29" fmla="*/ 1672 h 4873"/>
                <a:gd name="T30" fmla="*/ 3548 w 4883"/>
                <a:gd name="T31" fmla="*/ 2360 h 4873"/>
                <a:gd name="T32" fmla="*/ 2908 w 4883"/>
                <a:gd name="T33" fmla="*/ 2833 h 4873"/>
                <a:gd name="T34" fmla="*/ 2257 w 4883"/>
                <a:gd name="T35" fmla="*/ 2900 h 4873"/>
                <a:gd name="T36" fmla="*/ 1574 w 4883"/>
                <a:gd name="T37" fmla="*/ 2605 h 4873"/>
                <a:gd name="T38" fmla="*/ 1088 w 4883"/>
                <a:gd name="T39" fmla="*/ 1818 h 4873"/>
                <a:gd name="T40" fmla="*/ 1159 w 4883"/>
                <a:gd name="T41" fmla="*/ 1023 h 4873"/>
                <a:gd name="T42" fmla="*/ 1695 w 4883"/>
                <a:gd name="T43" fmla="*/ 375 h 4873"/>
                <a:gd name="T44" fmla="*/ 2520 w 4883"/>
                <a:gd name="T45" fmla="*/ 165 h 4873"/>
                <a:gd name="T46" fmla="*/ 1059 w 4883"/>
                <a:gd name="T47" fmla="*/ 798 h 4873"/>
                <a:gd name="T48" fmla="*/ 2322 w 4883"/>
                <a:gd name="T49" fmla="*/ 3563 h 4873"/>
                <a:gd name="T50" fmla="*/ 3211 w 4883"/>
                <a:gd name="T51" fmla="*/ 3728 h 4873"/>
                <a:gd name="T52" fmla="*/ 1990 w 4883"/>
                <a:gd name="T53" fmla="*/ 3895 h 4873"/>
                <a:gd name="T54" fmla="*/ 331 w 4883"/>
                <a:gd name="T55" fmla="*/ 724 h 4873"/>
                <a:gd name="T56" fmla="*/ 4542 w 4883"/>
                <a:gd name="T57" fmla="*/ 684 h 4873"/>
                <a:gd name="T58" fmla="*/ 4190 w 4883"/>
                <a:gd name="T59" fmla="*/ 3730 h 4873"/>
                <a:gd name="T60" fmla="*/ 4253 w 4883"/>
                <a:gd name="T61" fmla="*/ 3562 h 4873"/>
                <a:gd name="T62" fmla="*/ 3717 w 4883"/>
                <a:gd name="T63" fmla="*/ 655 h 4873"/>
                <a:gd name="T64" fmla="*/ 983 w 4883"/>
                <a:gd name="T65" fmla="*/ 1019 h 4873"/>
                <a:gd name="T66" fmla="*/ 906 w 4883"/>
                <a:gd name="T67" fmla="*/ 1696 h 4873"/>
                <a:gd name="T68" fmla="*/ 1164 w 4883"/>
                <a:gd name="T69" fmla="*/ 2399 h 4873"/>
                <a:gd name="T70" fmla="*/ 1770 w 4883"/>
                <a:gd name="T71" fmla="*/ 2924 h 4873"/>
                <a:gd name="T72" fmla="*/ 2455 w 4883"/>
                <a:gd name="T73" fmla="*/ 3076 h 4873"/>
                <a:gd name="T74" fmla="*/ 2844 w 4883"/>
                <a:gd name="T75" fmla="*/ 3164 h 4873"/>
                <a:gd name="T76" fmla="*/ 2273 w 4883"/>
                <a:gd name="T77" fmla="*/ 3410 h 4873"/>
                <a:gd name="T78" fmla="*/ 650 w 4883"/>
                <a:gd name="T79" fmla="*/ 2880 h 4873"/>
                <a:gd name="T80" fmla="*/ 883 w 4883"/>
                <a:gd name="T81" fmla="*/ 962 h 4873"/>
                <a:gd name="T82" fmla="*/ 4058 w 4883"/>
                <a:gd name="T83" fmla="*/ 3409 h 4873"/>
                <a:gd name="T84" fmla="*/ 3578 w 4883"/>
                <a:gd name="T85" fmla="*/ 2574 h 4873"/>
                <a:gd name="T86" fmla="*/ 3938 w 4883"/>
                <a:gd name="T87" fmla="*/ 1920 h 4873"/>
                <a:gd name="T88" fmla="*/ 3959 w 4883"/>
                <a:gd name="T89" fmla="*/ 1242 h 4873"/>
                <a:gd name="T90" fmla="*/ 4067 w 4883"/>
                <a:gd name="T91" fmla="*/ 965 h 4873"/>
                <a:gd name="T92" fmla="*/ 4467 w 4883"/>
                <a:gd name="T93" fmla="*/ 4413 h 4873"/>
                <a:gd name="T94" fmla="*/ 4258 w 4883"/>
                <a:gd name="T95" fmla="*/ 4712 h 4873"/>
                <a:gd name="T96" fmla="*/ 3952 w 4883"/>
                <a:gd name="T97" fmla="*/ 4440 h 4873"/>
                <a:gd name="T98" fmla="*/ 3217 w 4883"/>
                <a:gd name="T99" fmla="*/ 2867 h 4873"/>
                <a:gd name="T100" fmla="*/ 1807 w 4883"/>
                <a:gd name="T101" fmla="*/ 3970 h 4873"/>
                <a:gd name="T102" fmla="*/ 3252 w 4883"/>
                <a:gd name="T103" fmla="*/ 3896 h 4873"/>
                <a:gd name="T104" fmla="*/ 3419 w 4883"/>
                <a:gd name="T105" fmla="*/ 4206 h 4873"/>
                <a:gd name="T106" fmla="*/ 167 w 4883"/>
                <a:gd name="T107" fmla="*/ 4005 h 4873"/>
                <a:gd name="T108" fmla="*/ 4712 w 4883"/>
                <a:gd name="T109" fmla="*/ 4044 h 4873"/>
                <a:gd name="T110" fmla="*/ 4511 w 4883"/>
                <a:gd name="T111" fmla="*/ 4170 h 4873"/>
                <a:gd name="T112" fmla="*/ 4437 w 4883"/>
                <a:gd name="T113" fmla="*/ 3896 h 4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83" h="4873">
                  <a:moveTo>
                    <a:pt x="2158" y="19"/>
                  </a:moveTo>
                  <a:lnTo>
                    <a:pt x="2108" y="29"/>
                  </a:lnTo>
                  <a:lnTo>
                    <a:pt x="2008" y="55"/>
                  </a:lnTo>
                  <a:lnTo>
                    <a:pt x="1911" y="87"/>
                  </a:lnTo>
                  <a:lnTo>
                    <a:pt x="1816" y="126"/>
                  </a:lnTo>
                  <a:lnTo>
                    <a:pt x="1723" y="171"/>
                  </a:lnTo>
                  <a:lnTo>
                    <a:pt x="1634" y="222"/>
                  </a:lnTo>
                  <a:lnTo>
                    <a:pt x="1547" y="278"/>
                  </a:lnTo>
                  <a:lnTo>
                    <a:pt x="1465" y="340"/>
                  </a:lnTo>
                  <a:lnTo>
                    <a:pt x="1425" y="374"/>
                  </a:lnTo>
                  <a:lnTo>
                    <a:pt x="1303" y="479"/>
                  </a:lnTo>
                  <a:lnTo>
                    <a:pt x="825" y="479"/>
                  </a:lnTo>
                  <a:lnTo>
                    <a:pt x="644" y="479"/>
                  </a:lnTo>
                  <a:lnTo>
                    <a:pt x="463" y="482"/>
                  </a:lnTo>
                  <a:lnTo>
                    <a:pt x="380" y="488"/>
                  </a:lnTo>
                  <a:lnTo>
                    <a:pt x="322" y="498"/>
                  </a:lnTo>
                  <a:lnTo>
                    <a:pt x="281" y="513"/>
                  </a:lnTo>
                  <a:lnTo>
                    <a:pt x="251" y="535"/>
                  </a:lnTo>
                  <a:lnTo>
                    <a:pt x="224" y="565"/>
                  </a:lnTo>
                  <a:lnTo>
                    <a:pt x="210" y="584"/>
                  </a:lnTo>
                  <a:lnTo>
                    <a:pt x="167" y="640"/>
                  </a:lnTo>
                  <a:lnTo>
                    <a:pt x="163" y="2180"/>
                  </a:lnTo>
                  <a:lnTo>
                    <a:pt x="158" y="3720"/>
                  </a:lnTo>
                  <a:lnTo>
                    <a:pt x="80" y="3725"/>
                  </a:lnTo>
                  <a:lnTo>
                    <a:pt x="0" y="3730"/>
                  </a:lnTo>
                  <a:lnTo>
                    <a:pt x="0" y="3884"/>
                  </a:lnTo>
                  <a:lnTo>
                    <a:pt x="1" y="3949"/>
                  </a:lnTo>
                  <a:lnTo>
                    <a:pt x="10" y="4064"/>
                  </a:lnTo>
                  <a:lnTo>
                    <a:pt x="17" y="4097"/>
                  </a:lnTo>
                  <a:lnTo>
                    <a:pt x="22" y="4113"/>
                  </a:lnTo>
                  <a:lnTo>
                    <a:pt x="37" y="4147"/>
                  </a:lnTo>
                  <a:lnTo>
                    <a:pt x="71" y="4199"/>
                  </a:lnTo>
                  <a:lnTo>
                    <a:pt x="133" y="4265"/>
                  </a:lnTo>
                  <a:lnTo>
                    <a:pt x="204" y="4320"/>
                  </a:lnTo>
                  <a:lnTo>
                    <a:pt x="240" y="4339"/>
                  </a:lnTo>
                  <a:lnTo>
                    <a:pt x="325" y="4379"/>
                  </a:lnTo>
                  <a:lnTo>
                    <a:pt x="2017" y="4379"/>
                  </a:lnTo>
                  <a:lnTo>
                    <a:pt x="3708" y="4379"/>
                  </a:lnTo>
                  <a:lnTo>
                    <a:pt x="3817" y="4534"/>
                  </a:lnTo>
                  <a:lnTo>
                    <a:pt x="3912" y="4665"/>
                  </a:lnTo>
                  <a:lnTo>
                    <a:pt x="3973" y="4742"/>
                  </a:lnTo>
                  <a:lnTo>
                    <a:pt x="4000" y="4770"/>
                  </a:lnTo>
                  <a:lnTo>
                    <a:pt x="4059" y="4816"/>
                  </a:lnTo>
                  <a:lnTo>
                    <a:pt x="4124" y="4848"/>
                  </a:lnTo>
                  <a:lnTo>
                    <a:pt x="4193" y="4868"/>
                  </a:lnTo>
                  <a:lnTo>
                    <a:pt x="4265" y="4873"/>
                  </a:lnTo>
                  <a:lnTo>
                    <a:pt x="4336" y="4865"/>
                  </a:lnTo>
                  <a:lnTo>
                    <a:pt x="4404" y="4843"/>
                  </a:lnTo>
                  <a:lnTo>
                    <a:pt x="4469" y="4807"/>
                  </a:lnTo>
                  <a:lnTo>
                    <a:pt x="4498" y="4784"/>
                  </a:lnTo>
                  <a:lnTo>
                    <a:pt x="4536" y="4751"/>
                  </a:lnTo>
                  <a:lnTo>
                    <a:pt x="4578" y="4700"/>
                  </a:lnTo>
                  <a:lnTo>
                    <a:pt x="4600" y="4665"/>
                  </a:lnTo>
                  <a:lnTo>
                    <a:pt x="4616" y="4627"/>
                  </a:lnTo>
                  <a:lnTo>
                    <a:pt x="4628" y="4587"/>
                  </a:lnTo>
                  <a:lnTo>
                    <a:pt x="4638" y="4518"/>
                  </a:lnTo>
                  <a:lnTo>
                    <a:pt x="4638" y="4465"/>
                  </a:lnTo>
                  <a:lnTo>
                    <a:pt x="4638" y="4427"/>
                  </a:lnTo>
                  <a:lnTo>
                    <a:pt x="4640" y="4376"/>
                  </a:lnTo>
                  <a:lnTo>
                    <a:pt x="4647" y="4348"/>
                  </a:lnTo>
                  <a:lnTo>
                    <a:pt x="4662" y="4334"/>
                  </a:lnTo>
                  <a:lnTo>
                    <a:pt x="4673" y="4329"/>
                  </a:lnTo>
                  <a:lnTo>
                    <a:pt x="4685" y="4324"/>
                  </a:lnTo>
                  <a:lnTo>
                    <a:pt x="4711" y="4306"/>
                  </a:lnTo>
                  <a:lnTo>
                    <a:pt x="4755" y="4266"/>
                  </a:lnTo>
                  <a:lnTo>
                    <a:pt x="4812" y="4198"/>
                  </a:lnTo>
                  <a:lnTo>
                    <a:pt x="4846" y="4146"/>
                  </a:lnTo>
                  <a:lnTo>
                    <a:pt x="4861" y="4115"/>
                  </a:lnTo>
                  <a:lnTo>
                    <a:pt x="4865" y="4102"/>
                  </a:lnTo>
                  <a:lnTo>
                    <a:pt x="4872" y="4067"/>
                  </a:lnTo>
                  <a:lnTo>
                    <a:pt x="4882" y="3949"/>
                  </a:lnTo>
                  <a:lnTo>
                    <a:pt x="4883" y="3884"/>
                  </a:lnTo>
                  <a:lnTo>
                    <a:pt x="4883" y="3730"/>
                  </a:lnTo>
                  <a:lnTo>
                    <a:pt x="4805" y="3725"/>
                  </a:lnTo>
                  <a:lnTo>
                    <a:pt x="4725" y="3720"/>
                  </a:lnTo>
                  <a:lnTo>
                    <a:pt x="4720" y="2180"/>
                  </a:lnTo>
                  <a:lnTo>
                    <a:pt x="4717" y="640"/>
                  </a:lnTo>
                  <a:lnTo>
                    <a:pt x="4673" y="584"/>
                  </a:lnTo>
                  <a:lnTo>
                    <a:pt x="4659" y="565"/>
                  </a:lnTo>
                  <a:lnTo>
                    <a:pt x="4633" y="535"/>
                  </a:lnTo>
                  <a:lnTo>
                    <a:pt x="4603" y="513"/>
                  </a:lnTo>
                  <a:lnTo>
                    <a:pt x="4562" y="498"/>
                  </a:lnTo>
                  <a:lnTo>
                    <a:pt x="4503" y="488"/>
                  </a:lnTo>
                  <a:lnTo>
                    <a:pt x="4420" y="482"/>
                  </a:lnTo>
                  <a:lnTo>
                    <a:pt x="4240" y="479"/>
                  </a:lnTo>
                  <a:lnTo>
                    <a:pt x="4058" y="479"/>
                  </a:lnTo>
                  <a:lnTo>
                    <a:pt x="3582" y="479"/>
                  </a:lnTo>
                  <a:lnTo>
                    <a:pt x="3463" y="379"/>
                  </a:lnTo>
                  <a:lnTo>
                    <a:pt x="3387" y="316"/>
                  </a:lnTo>
                  <a:lnTo>
                    <a:pt x="3276" y="238"/>
                  </a:lnTo>
                  <a:lnTo>
                    <a:pt x="3201" y="193"/>
                  </a:lnTo>
                  <a:lnTo>
                    <a:pt x="3125" y="153"/>
                  </a:lnTo>
                  <a:lnTo>
                    <a:pt x="3046" y="117"/>
                  </a:lnTo>
                  <a:lnTo>
                    <a:pt x="2919" y="70"/>
                  </a:lnTo>
                  <a:lnTo>
                    <a:pt x="2825" y="42"/>
                  </a:lnTo>
                  <a:lnTo>
                    <a:pt x="2795" y="34"/>
                  </a:lnTo>
                  <a:lnTo>
                    <a:pt x="2722" y="21"/>
                  </a:lnTo>
                  <a:lnTo>
                    <a:pt x="2592" y="7"/>
                  </a:lnTo>
                  <a:lnTo>
                    <a:pt x="2401" y="0"/>
                  </a:lnTo>
                  <a:lnTo>
                    <a:pt x="2268" y="5"/>
                  </a:lnTo>
                  <a:lnTo>
                    <a:pt x="2191" y="13"/>
                  </a:lnTo>
                  <a:lnTo>
                    <a:pt x="2158" y="19"/>
                  </a:lnTo>
                  <a:close/>
                  <a:moveTo>
                    <a:pt x="2728" y="187"/>
                  </a:moveTo>
                  <a:lnTo>
                    <a:pt x="2793" y="202"/>
                  </a:lnTo>
                  <a:lnTo>
                    <a:pt x="2917" y="241"/>
                  </a:lnTo>
                  <a:lnTo>
                    <a:pt x="3035" y="290"/>
                  </a:lnTo>
                  <a:lnTo>
                    <a:pt x="3147" y="350"/>
                  </a:lnTo>
                  <a:lnTo>
                    <a:pt x="3252" y="418"/>
                  </a:lnTo>
                  <a:lnTo>
                    <a:pt x="3349" y="495"/>
                  </a:lnTo>
                  <a:lnTo>
                    <a:pt x="3439" y="581"/>
                  </a:lnTo>
                  <a:lnTo>
                    <a:pt x="3520" y="673"/>
                  </a:lnTo>
                  <a:lnTo>
                    <a:pt x="3593" y="773"/>
                  </a:lnTo>
                  <a:lnTo>
                    <a:pt x="3656" y="878"/>
                  </a:lnTo>
                  <a:lnTo>
                    <a:pt x="3710" y="990"/>
                  </a:lnTo>
                  <a:lnTo>
                    <a:pt x="3754" y="1106"/>
                  </a:lnTo>
                  <a:lnTo>
                    <a:pt x="3788" y="1226"/>
                  </a:lnTo>
                  <a:lnTo>
                    <a:pt x="3810" y="1350"/>
                  </a:lnTo>
                  <a:lnTo>
                    <a:pt x="3821" y="1477"/>
                  </a:lnTo>
                  <a:lnTo>
                    <a:pt x="3821" y="1606"/>
                  </a:lnTo>
                  <a:lnTo>
                    <a:pt x="3815" y="1672"/>
                  </a:lnTo>
                  <a:lnTo>
                    <a:pt x="3809" y="1723"/>
                  </a:lnTo>
                  <a:lnTo>
                    <a:pt x="3791" y="1824"/>
                  </a:lnTo>
                  <a:lnTo>
                    <a:pt x="3767" y="1922"/>
                  </a:lnTo>
                  <a:lnTo>
                    <a:pt x="3736" y="2016"/>
                  </a:lnTo>
                  <a:lnTo>
                    <a:pt x="3698" y="2108"/>
                  </a:lnTo>
                  <a:lnTo>
                    <a:pt x="3654" y="2196"/>
                  </a:lnTo>
                  <a:lnTo>
                    <a:pt x="3604" y="2280"/>
                  </a:lnTo>
                  <a:lnTo>
                    <a:pt x="3548" y="2360"/>
                  </a:lnTo>
                  <a:lnTo>
                    <a:pt x="3486" y="2436"/>
                  </a:lnTo>
                  <a:lnTo>
                    <a:pt x="3419" y="2508"/>
                  </a:lnTo>
                  <a:lnTo>
                    <a:pt x="3346" y="2575"/>
                  </a:lnTo>
                  <a:lnTo>
                    <a:pt x="3268" y="2637"/>
                  </a:lnTo>
                  <a:lnTo>
                    <a:pt x="3185" y="2694"/>
                  </a:lnTo>
                  <a:lnTo>
                    <a:pt x="3097" y="2746"/>
                  </a:lnTo>
                  <a:lnTo>
                    <a:pt x="3005" y="2792"/>
                  </a:lnTo>
                  <a:lnTo>
                    <a:pt x="2908" y="2833"/>
                  </a:lnTo>
                  <a:lnTo>
                    <a:pt x="2858" y="2850"/>
                  </a:lnTo>
                  <a:lnTo>
                    <a:pt x="2809" y="2866"/>
                  </a:lnTo>
                  <a:lnTo>
                    <a:pt x="2731" y="2887"/>
                  </a:lnTo>
                  <a:lnTo>
                    <a:pt x="2650" y="2897"/>
                  </a:lnTo>
                  <a:lnTo>
                    <a:pt x="2534" y="2901"/>
                  </a:lnTo>
                  <a:lnTo>
                    <a:pt x="2450" y="2902"/>
                  </a:lnTo>
                  <a:lnTo>
                    <a:pt x="2371" y="2902"/>
                  </a:lnTo>
                  <a:lnTo>
                    <a:pt x="2257" y="2900"/>
                  </a:lnTo>
                  <a:lnTo>
                    <a:pt x="2176" y="2892"/>
                  </a:lnTo>
                  <a:lnTo>
                    <a:pt x="2106" y="2876"/>
                  </a:lnTo>
                  <a:lnTo>
                    <a:pt x="2067" y="2864"/>
                  </a:lnTo>
                  <a:lnTo>
                    <a:pt x="2005" y="2844"/>
                  </a:lnTo>
                  <a:lnTo>
                    <a:pt x="1888" y="2797"/>
                  </a:lnTo>
                  <a:lnTo>
                    <a:pt x="1776" y="2741"/>
                  </a:lnTo>
                  <a:lnTo>
                    <a:pt x="1672" y="2677"/>
                  </a:lnTo>
                  <a:lnTo>
                    <a:pt x="1574" y="2605"/>
                  </a:lnTo>
                  <a:lnTo>
                    <a:pt x="1484" y="2527"/>
                  </a:lnTo>
                  <a:lnTo>
                    <a:pt x="1402" y="2441"/>
                  </a:lnTo>
                  <a:lnTo>
                    <a:pt x="1327" y="2350"/>
                  </a:lnTo>
                  <a:lnTo>
                    <a:pt x="1261" y="2253"/>
                  </a:lnTo>
                  <a:lnTo>
                    <a:pt x="1204" y="2151"/>
                  </a:lnTo>
                  <a:lnTo>
                    <a:pt x="1156" y="2044"/>
                  </a:lnTo>
                  <a:lnTo>
                    <a:pt x="1117" y="1932"/>
                  </a:lnTo>
                  <a:lnTo>
                    <a:pt x="1088" y="1818"/>
                  </a:lnTo>
                  <a:lnTo>
                    <a:pt x="1069" y="1700"/>
                  </a:lnTo>
                  <a:lnTo>
                    <a:pt x="1061" y="1579"/>
                  </a:lnTo>
                  <a:lnTo>
                    <a:pt x="1063" y="1456"/>
                  </a:lnTo>
                  <a:lnTo>
                    <a:pt x="1068" y="1394"/>
                  </a:lnTo>
                  <a:lnTo>
                    <a:pt x="1075" y="1338"/>
                  </a:lnTo>
                  <a:lnTo>
                    <a:pt x="1095" y="1230"/>
                  </a:lnTo>
                  <a:lnTo>
                    <a:pt x="1123" y="1124"/>
                  </a:lnTo>
                  <a:lnTo>
                    <a:pt x="1159" y="1023"/>
                  </a:lnTo>
                  <a:lnTo>
                    <a:pt x="1202" y="925"/>
                  </a:lnTo>
                  <a:lnTo>
                    <a:pt x="1253" y="831"/>
                  </a:lnTo>
                  <a:lnTo>
                    <a:pt x="1311" y="741"/>
                  </a:lnTo>
                  <a:lnTo>
                    <a:pt x="1376" y="657"/>
                  </a:lnTo>
                  <a:lnTo>
                    <a:pt x="1447" y="578"/>
                  </a:lnTo>
                  <a:lnTo>
                    <a:pt x="1524" y="504"/>
                  </a:lnTo>
                  <a:lnTo>
                    <a:pt x="1607" y="436"/>
                  </a:lnTo>
                  <a:lnTo>
                    <a:pt x="1695" y="375"/>
                  </a:lnTo>
                  <a:lnTo>
                    <a:pt x="1788" y="320"/>
                  </a:lnTo>
                  <a:lnTo>
                    <a:pt x="1886" y="272"/>
                  </a:lnTo>
                  <a:lnTo>
                    <a:pt x="1989" y="232"/>
                  </a:lnTo>
                  <a:lnTo>
                    <a:pt x="2095" y="199"/>
                  </a:lnTo>
                  <a:lnTo>
                    <a:pt x="2150" y="185"/>
                  </a:lnTo>
                  <a:lnTo>
                    <a:pt x="2204" y="176"/>
                  </a:lnTo>
                  <a:lnTo>
                    <a:pt x="2353" y="165"/>
                  </a:lnTo>
                  <a:lnTo>
                    <a:pt x="2520" y="165"/>
                  </a:lnTo>
                  <a:lnTo>
                    <a:pt x="2672" y="177"/>
                  </a:lnTo>
                  <a:lnTo>
                    <a:pt x="2728" y="187"/>
                  </a:lnTo>
                  <a:close/>
                  <a:moveTo>
                    <a:pt x="1167" y="655"/>
                  </a:moveTo>
                  <a:lnTo>
                    <a:pt x="1164" y="664"/>
                  </a:lnTo>
                  <a:lnTo>
                    <a:pt x="1143" y="699"/>
                  </a:lnTo>
                  <a:lnTo>
                    <a:pt x="1095" y="765"/>
                  </a:lnTo>
                  <a:lnTo>
                    <a:pt x="1068" y="792"/>
                  </a:lnTo>
                  <a:lnTo>
                    <a:pt x="1059" y="798"/>
                  </a:lnTo>
                  <a:lnTo>
                    <a:pt x="1019" y="806"/>
                  </a:lnTo>
                  <a:lnTo>
                    <a:pt x="904" y="812"/>
                  </a:lnTo>
                  <a:lnTo>
                    <a:pt x="767" y="810"/>
                  </a:lnTo>
                  <a:lnTo>
                    <a:pt x="492" y="807"/>
                  </a:lnTo>
                  <a:lnTo>
                    <a:pt x="487" y="2185"/>
                  </a:lnTo>
                  <a:lnTo>
                    <a:pt x="483" y="3562"/>
                  </a:lnTo>
                  <a:lnTo>
                    <a:pt x="1795" y="3562"/>
                  </a:lnTo>
                  <a:lnTo>
                    <a:pt x="2322" y="3563"/>
                  </a:lnTo>
                  <a:lnTo>
                    <a:pt x="2898" y="3568"/>
                  </a:lnTo>
                  <a:lnTo>
                    <a:pt x="3103" y="3573"/>
                  </a:lnTo>
                  <a:lnTo>
                    <a:pt x="3125" y="3575"/>
                  </a:lnTo>
                  <a:lnTo>
                    <a:pt x="3149" y="3599"/>
                  </a:lnTo>
                  <a:lnTo>
                    <a:pt x="3223" y="3697"/>
                  </a:lnTo>
                  <a:lnTo>
                    <a:pt x="3233" y="3719"/>
                  </a:lnTo>
                  <a:lnTo>
                    <a:pt x="3231" y="3722"/>
                  </a:lnTo>
                  <a:lnTo>
                    <a:pt x="3211" y="3728"/>
                  </a:lnTo>
                  <a:lnTo>
                    <a:pt x="3195" y="3729"/>
                  </a:lnTo>
                  <a:lnTo>
                    <a:pt x="3185" y="3730"/>
                  </a:lnTo>
                  <a:lnTo>
                    <a:pt x="3152" y="3742"/>
                  </a:lnTo>
                  <a:lnTo>
                    <a:pt x="3080" y="3778"/>
                  </a:lnTo>
                  <a:lnTo>
                    <a:pt x="3025" y="3812"/>
                  </a:lnTo>
                  <a:lnTo>
                    <a:pt x="2893" y="3895"/>
                  </a:lnTo>
                  <a:lnTo>
                    <a:pt x="2442" y="3895"/>
                  </a:lnTo>
                  <a:lnTo>
                    <a:pt x="1990" y="3895"/>
                  </a:lnTo>
                  <a:lnTo>
                    <a:pt x="1865" y="3815"/>
                  </a:lnTo>
                  <a:lnTo>
                    <a:pt x="1742" y="3737"/>
                  </a:lnTo>
                  <a:lnTo>
                    <a:pt x="1033" y="3729"/>
                  </a:lnTo>
                  <a:lnTo>
                    <a:pt x="325" y="3720"/>
                  </a:lnTo>
                  <a:lnTo>
                    <a:pt x="320" y="2222"/>
                  </a:lnTo>
                  <a:lnTo>
                    <a:pt x="318" y="1373"/>
                  </a:lnTo>
                  <a:lnTo>
                    <a:pt x="324" y="829"/>
                  </a:lnTo>
                  <a:lnTo>
                    <a:pt x="331" y="724"/>
                  </a:lnTo>
                  <a:lnTo>
                    <a:pt x="338" y="691"/>
                  </a:lnTo>
                  <a:lnTo>
                    <a:pt x="342" y="684"/>
                  </a:lnTo>
                  <a:lnTo>
                    <a:pt x="367" y="645"/>
                  </a:lnTo>
                  <a:lnTo>
                    <a:pt x="767" y="645"/>
                  </a:lnTo>
                  <a:lnTo>
                    <a:pt x="927" y="646"/>
                  </a:lnTo>
                  <a:lnTo>
                    <a:pt x="1144" y="652"/>
                  </a:lnTo>
                  <a:lnTo>
                    <a:pt x="1167" y="655"/>
                  </a:lnTo>
                  <a:close/>
                  <a:moveTo>
                    <a:pt x="4542" y="684"/>
                  </a:moveTo>
                  <a:lnTo>
                    <a:pt x="4546" y="691"/>
                  </a:lnTo>
                  <a:lnTo>
                    <a:pt x="4552" y="724"/>
                  </a:lnTo>
                  <a:lnTo>
                    <a:pt x="4559" y="829"/>
                  </a:lnTo>
                  <a:lnTo>
                    <a:pt x="4565" y="1373"/>
                  </a:lnTo>
                  <a:lnTo>
                    <a:pt x="4563" y="2222"/>
                  </a:lnTo>
                  <a:lnTo>
                    <a:pt x="4558" y="3720"/>
                  </a:lnTo>
                  <a:lnTo>
                    <a:pt x="4373" y="3725"/>
                  </a:lnTo>
                  <a:lnTo>
                    <a:pt x="4190" y="3730"/>
                  </a:lnTo>
                  <a:lnTo>
                    <a:pt x="4137" y="3657"/>
                  </a:lnTo>
                  <a:lnTo>
                    <a:pt x="4117" y="3626"/>
                  </a:lnTo>
                  <a:lnTo>
                    <a:pt x="4098" y="3591"/>
                  </a:lnTo>
                  <a:lnTo>
                    <a:pt x="4094" y="3575"/>
                  </a:lnTo>
                  <a:lnTo>
                    <a:pt x="4095" y="3572"/>
                  </a:lnTo>
                  <a:lnTo>
                    <a:pt x="4107" y="3568"/>
                  </a:lnTo>
                  <a:lnTo>
                    <a:pt x="4193" y="3563"/>
                  </a:lnTo>
                  <a:lnTo>
                    <a:pt x="4253" y="3562"/>
                  </a:lnTo>
                  <a:lnTo>
                    <a:pt x="4400" y="3562"/>
                  </a:lnTo>
                  <a:lnTo>
                    <a:pt x="4397" y="2185"/>
                  </a:lnTo>
                  <a:lnTo>
                    <a:pt x="4392" y="807"/>
                  </a:lnTo>
                  <a:lnTo>
                    <a:pt x="4105" y="810"/>
                  </a:lnTo>
                  <a:lnTo>
                    <a:pt x="3820" y="814"/>
                  </a:lnTo>
                  <a:lnTo>
                    <a:pt x="3768" y="739"/>
                  </a:lnTo>
                  <a:lnTo>
                    <a:pt x="3728" y="680"/>
                  </a:lnTo>
                  <a:lnTo>
                    <a:pt x="3717" y="655"/>
                  </a:lnTo>
                  <a:lnTo>
                    <a:pt x="3739" y="652"/>
                  </a:lnTo>
                  <a:lnTo>
                    <a:pt x="3957" y="646"/>
                  </a:lnTo>
                  <a:lnTo>
                    <a:pt x="4117" y="645"/>
                  </a:lnTo>
                  <a:lnTo>
                    <a:pt x="4517" y="645"/>
                  </a:lnTo>
                  <a:lnTo>
                    <a:pt x="4542" y="684"/>
                  </a:lnTo>
                  <a:close/>
                  <a:moveTo>
                    <a:pt x="988" y="972"/>
                  </a:moveTo>
                  <a:lnTo>
                    <a:pt x="991" y="980"/>
                  </a:lnTo>
                  <a:lnTo>
                    <a:pt x="983" y="1019"/>
                  </a:lnTo>
                  <a:lnTo>
                    <a:pt x="975" y="1044"/>
                  </a:lnTo>
                  <a:lnTo>
                    <a:pt x="961" y="1081"/>
                  </a:lnTo>
                  <a:lnTo>
                    <a:pt x="938" y="1167"/>
                  </a:lnTo>
                  <a:lnTo>
                    <a:pt x="920" y="1265"/>
                  </a:lnTo>
                  <a:lnTo>
                    <a:pt x="908" y="1370"/>
                  </a:lnTo>
                  <a:lnTo>
                    <a:pt x="901" y="1480"/>
                  </a:lnTo>
                  <a:lnTo>
                    <a:pt x="900" y="1590"/>
                  </a:lnTo>
                  <a:lnTo>
                    <a:pt x="906" y="1696"/>
                  </a:lnTo>
                  <a:lnTo>
                    <a:pt x="918" y="1796"/>
                  </a:lnTo>
                  <a:lnTo>
                    <a:pt x="927" y="1842"/>
                  </a:lnTo>
                  <a:lnTo>
                    <a:pt x="939" y="1900"/>
                  </a:lnTo>
                  <a:lnTo>
                    <a:pt x="969" y="2010"/>
                  </a:lnTo>
                  <a:lnTo>
                    <a:pt x="1006" y="2114"/>
                  </a:lnTo>
                  <a:lnTo>
                    <a:pt x="1051" y="2212"/>
                  </a:lnTo>
                  <a:lnTo>
                    <a:pt x="1103" y="2307"/>
                  </a:lnTo>
                  <a:lnTo>
                    <a:pt x="1164" y="2399"/>
                  </a:lnTo>
                  <a:lnTo>
                    <a:pt x="1234" y="2488"/>
                  </a:lnTo>
                  <a:lnTo>
                    <a:pt x="1313" y="2576"/>
                  </a:lnTo>
                  <a:lnTo>
                    <a:pt x="1357" y="2620"/>
                  </a:lnTo>
                  <a:lnTo>
                    <a:pt x="1402" y="2665"/>
                  </a:lnTo>
                  <a:lnTo>
                    <a:pt x="1492" y="2744"/>
                  </a:lnTo>
                  <a:lnTo>
                    <a:pt x="1582" y="2813"/>
                  </a:lnTo>
                  <a:lnTo>
                    <a:pt x="1674" y="2873"/>
                  </a:lnTo>
                  <a:lnTo>
                    <a:pt x="1770" y="2924"/>
                  </a:lnTo>
                  <a:lnTo>
                    <a:pt x="1870" y="2967"/>
                  </a:lnTo>
                  <a:lnTo>
                    <a:pt x="1977" y="3004"/>
                  </a:lnTo>
                  <a:lnTo>
                    <a:pt x="2092" y="3034"/>
                  </a:lnTo>
                  <a:lnTo>
                    <a:pt x="2153" y="3047"/>
                  </a:lnTo>
                  <a:lnTo>
                    <a:pt x="2203" y="3057"/>
                  </a:lnTo>
                  <a:lnTo>
                    <a:pt x="2288" y="3070"/>
                  </a:lnTo>
                  <a:lnTo>
                    <a:pt x="2367" y="3076"/>
                  </a:lnTo>
                  <a:lnTo>
                    <a:pt x="2455" y="3076"/>
                  </a:lnTo>
                  <a:lnTo>
                    <a:pt x="2508" y="3074"/>
                  </a:lnTo>
                  <a:lnTo>
                    <a:pt x="2584" y="3069"/>
                  </a:lnTo>
                  <a:lnTo>
                    <a:pt x="2702" y="3058"/>
                  </a:lnTo>
                  <a:lnTo>
                    <a:pt x="2727" y="3054"/>
                  </a:lnTo>
                  <a:lnTo>
                    <a:pt x="2737" y="3052"/>
                  </a:lnTo>
                  <a:lnTo>
                    <a:pt x="2760" y="3062"/>
                  </a:lnTo>
                  <a:lnTo>
                    <a:pt x="2794" y="3097"/>
                  </a:lnTo>
                  <a:lnTo>
                    <a:pt x="2844" y="3164"/>
                  </a:lnTo>
                  <a:lnTo>
                    <a:pt x="2880" y="3214"/>
                  </a:lnTo>
                  <a:lnTo>
                    <a:pt x="2927" y="3282"/>
                  </a:lnTo>
                  <a:lnTo>
                    <a:pt x="2975" y="3362"/>
                  </a:lnTo>
                  <a:lnTo>
                    <a:pt x="2990" y="3393"/>
                  </a:lnTo>
                  <a:lnTo>
                    <a:pt x="2990" y="3399"/>
                  </a:lnTo>
                  <a:lnTo>
                    <a:pt x="2971" y="3401"/>
                  </a:lnTo>
                  <a:lnTo>
                    <a:pt x="2782" y="3406"/>
                  </a:lnTo>
                  <a:lnTo>
                    <a:pt x="2273" y="3410"/>
                  </a:lnTo>
                  <a:lnTo>
                    <a:pt x="1415" y="3412"/>
                  </a:lnTo>
                  <a:lnTo>
                    <a:pt x="899" y="3409"/>
                  </a:lnTo>
                  <a:lnTo>
                    <a:pt x="702" y="3405"/>
                  </a:lnTo>
                  <a:lnTo>
                    <a:pt x="677" y="3402"/>
                  </a:lnTo>
                  <a:lnTo>
                    <a:pt x="672" y="3399"/>
                  </a:lnTo>
                  <a:lnTo>
                    <a:pt x="665" y="3380"/>
                  </a:lnTo>
                  <a:lnTo>
                    <a:pt x="658" y="3306"/>
                  </a:lnTo>
                  <a:lnTo>
                    <a:pt x="650" y="2880"/>
                  </a:lnTo>
                  <a:lnTo>
                    <a:pt x="650" y="2189"/>
                  </a:lnTo>
                  <a:lnTo>
                    <a:pt x="651" y="1706"/>
                  </a:lnTo>
                  <a:lnTo>
                    <a:pt x="655" y="1179"/>
                  </a:lnTo>
                  <a:lnTo>
                    <a:pt x="659" y="992"/>
                  </a:lnTo>
                  <a:lnTo>
                    <a:pt x="662" y="974"/>
                  </a:lnTo>
                  <a:lnTo>
                    <a:pt x="676" y="969"/>
                  </a:lnTo>
                  <a:lnTo>
                    <a:pt x="766" y="963"/>
                  </a:lnTo>
                  <a:lnTo>
                    <a:pt x="883" y="962"/>
                  </a:lnTo>
                  <a:lnTo>
                    <a:pt x="974" y="967"/>
                  </a:lnTo>
                  <a:lnTo>
                    <a:pt x="988" y="972"/>
                  </a:lnTo>
                  <a:close/>
                  <a:moveTo>
                    <a:pt x="4230" y="2182"/>
                  </a:moveTo>
                  <a:lnTo>
                    <a:pt x="4233" y="3395"/>
                  </a:lnTo>
                  <a:lnTo>
                    <a:pt x="4195" y="3404"/>
                  </a:lnTo>
                  <a:lnTo>
                    <a:pt x="4175" y="3408"/>
                  </a:lnTo>
                  <a:lnTo>
                    <a:pt x="4100" y="3411"/>
                  </a:lnTo>
                  <a:lnTo>
                    <a:pt x="4058" y="3409"/>
                  </a:lnTo>
                  <a:lnTo>
                    <a:pt x="3958" y="3404"/>
                  </a:lnTo>
                  <a:lnTo>
                    <a:pt x="3720" y="3070"/>
                  </a:lnTo>
                  <a:lnTo>
                    <a:pt x="3533" y="2807"/>
                  </a:lnTo>
                  <a:lnTo>
                    <a:pt x="3472" y="2715"/>
                  </a:lnTo>
                  <a:lnTo>
                    <a:pt x="3471" y="2709"/>
                  </a:lnTo>
                  <a:lnTo>
                    <a:pt x="3486" y="2683"/>
                  </a:lnTo>
                  <a:lnTo>
                    <a:pt x="3533" y="2623"/>
                  </a:lnTo>
                  <a:lnTo>
                    <a:pt x="3578" y="2574"/>
                  </a:lnTo>
                  <a:lnTo>
                    <a:pt x="3613" y="2537"/>
                  </a:lnTo>
                  <a:lnTo>
                    <a:pt x="3677" y="2460"/>
                  </a:lnTo>
                  <a:lnTo>
                    <a:pt x="3734" y="2380"/>
                  </a:lnTo>
                  <a:lnTo>
                    <a:pt x="3786" y="2296"/>
                  </a:lnTo>
                  <a:lnTo>
                    <a:pt x="3832" y="2209"/>
                  </a:lnTo>
                  <a:lnTo>
                    <a:pt x="3873" y="2117"/>
                  </a:lnTo>
                  <a:lnTo>
                    <a:pt x="3908" y="2021"/>
                  </a:lnTo>
                  <a:lnTo>
                    <a:pt x="3938" y="1920"/>
                  </a:lnTo>
                  <a:lnTo>
                    <a:pt x="3952" y="1867"/>
                  </a:lnTo>
                  <a:lnTo>
                    <a:pt x="3960" y="1827"/>
                  </a:lnTo>
                  <a:lnTo>
                    <a:pt x="3973" y="1739"/>
                  </a:lnTo>
                  <a:lnTo>
                    <a:pt x="3980" y="1642"/>
                  </a:lnTo>
                  <a:lnTo>
                    <a:pt x="3983" y="1541"/>
                  </a:lnTo>
                  <a:lnTo>
                    <a:pt x="3980" y="1438"/>
                  </a:lnTo>
                  <a:lnTo>
                    <a:pt x="3972" y="1338"/>
                  </a:lnTo>
                  <a:lnTo>
                    <a:pt x="3959" y="1242"/>
                  </a:lnTo>
                  <a:lnTo>
                    <a:pt x="3941" y="1156"/>
                  </a:lnTo>
                  <a:lnTo>
                    <a:pt x="3930" y="1117"/>
                  </a:lnTo>
                  <a:lnTo>
                    <a:pt x="3914" y="1061"/>
                  </a:lnTo>
                  <a:lnTo>
                    <a:pt x="3897" y="982"/>
                  </a:lnTo>
                  <a:lnTo>
                    <a:pt x="3898" y="970"/>
                  </a:lnTo>
                  <a:lnTo>
                    <a:pt x="3911" y="967"/>
                  </a:lnTo>
                  <a:lnTo>
                    <a:pt x="4002" y="965"/>
                  </a:lnTo>
                  <a:lnTo>
                    <a:pt x="4067" y="965"/>
                  </a:lnTo>
                  <a:lnTo>
                    <a:pt x="4225" y="970"/>
                  </a:lnTo>
                  <a:lnTo>
                    <a:pt x="4230" y="2182"/>
                  </a:lnTo>
                  <a:close/>
                  <a:moveTo>
                    <a:pt x="3432" y="2942"/>
                  </a:moveTo>
                  <a:lnTo>
                    <a:pt x="3603" y="3184"/>
                  </a:lnTo>
                  <a:lnTo>
                    <a:pt x="3972" y="3704"/>
                  </a:lnTo>
                  <a:lnTo>
                    <a:pt x="4328" y="4205"/>
                  </a:lnTo>
                  <a:lnTo>
                    <a:pt x="4453" y="4387"/>
                  </a:lnTo>
                  <a:lnTo>
                    <a:pt x="4467" y="4413"/>
                  </a:lnTo>
                  <a:lnTo>
                    <a:pt x="4480" y="4467"/>
                  </a:lnTo>
                  <a:lnTo>
                    <a:pt x="4478" y="4522"/>
                  </a:lnTo>
                  <a:lnTo>
                    <a:pt x="4461" y="4575"/>
                  </a:lnTo>
                  <a:lnTo>
                    <a:pt x="4432" y="4624"/>
                  </a:lnTo>
                  <a:lnTo>
                    <a:pt x="4393" y="4664"/>
                  </a:lnTo>
                  <a:lnTo>
                    <a:pt x="4344" y="4694"/>
                  </a:lnTo>
                  <a:lnTo>
                    <a:pt x="4289" y="4711"/>
                  </a:lnTo>
                  <a:lnTo>
                    <a:pt x="4258" y="4712"/>
                  </a:lnTo>
                  <a:lnTo>
                    <a:pt x="4241" y="4712"/>
                  </a:lnTo>
                  <a:lnTo>
                    <a:pt x="4208" y="4707"/>
                  </a:lnTo>
                  <a:lnTo>
                    <a:pt x="4177" y="4695"/>
                  </a:lnTo>
                  <a:lnTo>
                    <a:pt x="4146" y="4675"/>
                  </a:lnTo>
                  <a:lnTo>
                    <a:pt x="4112" y="4645"/>
                  </a:lnTo>
                  <a:lnTo>
                    <a:pt x="4075" y="4604"/>
                  </a:lnTo>
                  <a:lnTo>
                    <a:pt x="4008" y="4520"/>
                  </a:lnTo>
                  <a:lnTo>
                    <a:pt x="3952" y="4440"/>
                  </a:lnTo>
                  <a:lnTo>
                    <a:pt x="3515" y="3828"/>
                  </a:lnTo>
                  <a:lnTo>
                    <a:pt x="2985" y="3077"/>
                  </a:lnTo>
                  <a:lnTo>
                    <a:pt x="2937" y="3004"/>
                  </a:lnTo>
                  <a:lnTo>
                    <a:pt x="2962" y="2991"/>
                  </a:lnTo>
                  <a:lnTo>
                    <a:pt x="3033" y="2960"/>
                  </a:lnTo>
                  <a:lnTo>
                    <a:pt x="3075" y="2942"/>
                  </a:lnTo>
                  <a:lnTo>
                    <a:pt x="3175" y="2891"/>
                  </a:lnTo>
                  <a:lnTo>
                    <a:pt x="3217" y="2867"/>
                  </a:lnTo>
                  <a:lnTo>
                    <a:pt x="3254" y="2845"/>
                  </a:lnTo>
                  <a:lnTo>
                    <a:pt x="3314" y="2817"/>
                  </a:lnTo>
                  <a:lnTo>
                    <a:pt x="3325" y="2814"/>
                  </a:lnTo>
                  <a:lnTo>
                    <a:pt x="3330" y="2815"/>
                  </a:lnTo>
                  <a:lnTo>
                    <a:pt x="3350" y="2835"/>
                  </a:lnTo>
                  <a:lnTo>
                    <a:pt x="3395" y="2891"/>
                  </a:lnTo>
                  <a:lnTo>
                    <a:pt x="3432" y="2942"/>
                  </a:lnTo>
                  <a:close/>
                  <a:moveTo>
                    <a:pt x="1807" y="3970"/>
                  </a:moveTo>
                  <a:lnTo>
                    <a:pt x="1922" y="4045"/>
                  </a:lnTo>
                  <a:lnTo>
                    <a:pt x="2442" y="4045"/>
                  </a:lnTo>
                  <a:lnTo>
                    <a:pt x="2962" y="4045"/>
                  </a:lnTo>
                  <a:lnTo>
                    <a:pt x="3077" y="3970"/>
                  </a:lnTo>
                  <a:lnTo>
                    <a:pt x="3111" y="3948"/>
                  </a:lnTo>
                  <a:lnTo>
                    <a:pt x="3165" y="3918"/>
                  </a:lnTo>
                  <a:lnTo>
                    <a:pt x="3208" y="3902"/>
                  </a:lnTo>
                  <a:lnTo>
                    <a:pt x="3252" y="3896"/>
                  </a:lnTo>
                  <a:lnTo>
                    <a:pt x="3278" y="3895"/>
                  </a:lnTo>
                  <a:lnTo>
                    <a:pt x="3363" y="3895"/>
                  </a:lnTo>
                  <a:lnTo>
                    <a:pt x="3462" y="4032"/>
                  </a:lnTo>
                  <a:lnTo>
                    <a:pt x="3540" y="4145"/>
                  </a:lnTo>
                  <a:lnTo>
                    <a:pt x="3573" y="4192"/>
                  </a:lnTo>
                  <a:lnTo>
                    <a:pt x="3573" y="4195"/>
                  </a:lnTo>
                  <a:lnTo>
                    <a:pt x="3542" y="4200"/>
                  </a:lnTo>
                  <a:lnTo>
                    <a:pt x="3419" y="4206"/>
                  </a:lnTo>
                  <a:lnTo>
                    <a:pt x="2808" y="4210"/>
                  </a:lnTo>
                  <a:lnTo>
                    <a:pt x="1942" y="4209"/>
                  </a:lnTo>
                  <a:lnTo>
                    <a:pt x="298" y="4204"/>
                  </a:lnTo>
                  <a:lnTo>
                    <a:pt x="232" y="4134"/>
                  </a:lnTo>
                  <a:lnTo>
                    <a:pt x="211" y="4111"/>
                  </a:lnTo>
                  <a:lnTo>
                    <a:pt x="185" y="4076"/>
                  </a:lnTo>
                  <a:lnTo>
                    <a:pt x="171" y="4044"/>
                  </a:lnTo>
                  <a:lnTo>
                    <a:pt x="167" y="4005"/>
                  </a:lnTo>
                  <a:lnTo>
                    <a:pt x="167" y="3979"/>
                  </a:lnTo>
                  <a:lnTo>
                    <a:pt x="167" y="3895"/>
                  </a:lnTo>
                  <a:lnTo>
                    <a:pt x="930" y="3895"/>
                  </a:lnTo>
                  <a:lnTo>
                    <a:pt x="1692" y="3895"/>
                  </a:lnTo>
                  <a:lnTo>
                    <a:pt x="1807" y="3970"/>
                  </a:lnTo>
                  <a:close/>
                  <a:moveTo>
                    <a:pt x="4717" y="3979"/>
                  </a:moveTo>
                  <a:lnTo>
                    <a:pt x="4716" y="4005"/>
                  </a:lnTo>
                  <a:lnTo>
                    <a:pt x="4712" y="4044"/>
                  </a:lnTo>
                  <a:lnTo>
                    <a:pt x="4699" y="4075"/>
                  </a:lnTo>
                  <a:lnTo>
                    <a:pt x="4674" y="4108"/>
                  </a:lnTo>
                  <a:lnTo>
                    <a:pt x="4655" y="4129"/>
                  </a:lnTo>
                  <a:lnTo>
                    <a:pt x="4621" y="4163"/>
                  </a:lnTo>
                  <a:lnTo>
                    <a:pt x="4583" y="4191"/>
                  </a:lnTo>
                  <a:lnTo>
                    <a:pt x="4559" y="4196"/>
                  </a:lnTo>
                  <a:lnTo>
                    <a:pt x="4536" y="4189"/>
                  </a:lnTo>
                  <a:lnTo>
                    <a:pt x="4511" y="4170"/>
                  </a:lnTo>
                  <a:lnTo>
                    <a:pt x="4465" y="4118"/>
                  </a:lnTo>
                  <a:lnTo>
                    <a:pt x="4423" y="4062"/>
                  </a:lnTo>
                  <a:lnTo>
                    <a:pt x="4382" y="4005"/>
                  </a:lnTo>
                  <a:lnTo>
                    <a:pt x="4324" y="3921"/>
                  </a:lnTo>
                  <a:lnTo>
                    <a:pt x="4318" y="3907"/>
                  </a:lnTo>
                  <a:lnTo>
                    <a:pt x="4321" y="3905"/>
                  </a:lnTo>
                  <a:lnTo>
                    <a:pt x="4350" y="3900"/>
                  </a:lnTo>
                  <a:lnTo>
                    <a:pt x="4437" y="3896"/>
                  </a:lnTo>
                  <a:lnTo>
                    <a:pt x="4517" y="3895"/>
                  </a:lnTo>
                  <a:lnTo>
                    <a:pt x="4717" y="3895"/>
                  </a:lnTo>
                  <a:lnTo>
                    <a:pt x="4717" y="39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3">
              <a:extLst>
                <a:ext uri="{FF2B5EF4-FFF2-40B4-BE49-F238E27FC236}">
                  <a16:creationId xmlns:a16="http://schemas.microsoft.com/office/drawing/2014/main" id="{AA6D4F2E-F653-495F-9888-81559D6AF717}"/>
                </a:ext>
              </a:extLst>
            </p:cNvPr>
            <p:cNvSpPr>
              <a:spLocks noEditPoints="1"/>
            </p:cNvSpPr>
            <p:nvPr/>
          </p:nvSpPr>
          <p:spPr bwMode="auto">
            <a:xfrm>
              <a:off x="804863" y="333375"/>
              <a:ext cx="835025" cy="768350"/>
            </a:xfrm>
            <a:custGeom>
              <a:avLst/>
              <a:gdLst>
                <a:gd name="T0" fmla="*/ 859 w 2113"/>
                <a:gd name="T1" fmla="*/ 54 h 1947"/>
                <a:gd name="T2" fmla="*/ 726 w 2113"/>
                <a:gd name="T3" fmla="*/ 173 h 1947"/>
                <a:gd name="T4" fmla="*/ 656 w 2113"/>
                <a:gd name="T5" fmla="*/ 350 h 1947"/>
                <a:gd name="T6" fmla="*/ 387 w 2113"/>
                <a:gd name="T7" fmla="*/ 497 h 1947"/>
                <a:gd name="T8" fmla="*/ 7 w 2113"/>
                <a:gd name="T9" fmla="*/ 630 h 1947"/>
                <a:gd name="T10" fmla="*/ 2 w 2113"/>
                <a:gd name="T11" fmla="*/ 1624 h 1947"/>
                <a:gd name="T12" fmla="*/ 35 w 2113"/>
                <a:gd name="T13" fmla="*/ 1836 h 1947"/>
                <a:gd name="T14" fmla="*/ 113 w 2113"/>
                <a:gd name="T15" fmla="*/ 1909 h 1947"/>
                <a:gd name="T16" fmla="*/ 1943 w 2113"/>
                <a:gd name="T17" fmla="*/ 1947 h 1947"/>
                <a:gd name="T18" fmla="*/ 2054 w 2113"/>
                <a:gd name="T19" fmla="*/ 1868 h 1947"/>
                <a:gd name="T20" fmla="*/ 2106 w 2113"/>
                <a:gd name="T21" fmla="*/ 1722 h 1947"/>
                <a:gd name="T22" fmla="*/ 2112 w 2113"/>
                <a:gd name="T23" fmla="*/ 1194 h 1947"/>
                <a:gd name="T24" fmla="*/ 1982 w 2113"/>
                <a:gd name="T25" fmla="*/ 505 h 1947"/>
                <a:gd name="T26" fmla="*/ 1462 w 2113"/>
                <a:gd name="T27" fmla="*/ 384 h 1947"/>
                <a:gd name="T28" fmla="*/ 1414 w 2113"/>
                <a:gd name="T29" fmla="*/ 221 h 1947"/>
                <a:gd name="T30" fmla="*/ 1292 w 2113"/>
                <a:gd name="T31" fmla="*/ 78 h 1947"/>
                <a:gd name="T32" fmla="*/ 1147 w 2113"/>
                <a:gd name="T33" fmla="*/ 15 h 1947"/>
                <a:gd name="T34" fmla="*/ 1027 w 2113"/>
                <a:gd name="T35" fmla="*/ 1 h 1947"/>
                <a:gd name="T36" fmla="*/ 1178 w 2113"/>
                <a:gd name="T37" fmla="*/ 197 h 1947"/>
                <a:gd name="T38" fmla="*/ 1282 w 2113"/>
                <a:gd name="T39" fmla="*/ 318 h 1947"/>
                <a:gd name="T40" fmla="*/ 1290 w 2113"/>
                <a:gd name="T41" fmla="*/ 489 h 1947"/>
                <a:gd name="T42" fmla="*/ 818 w 2113"/>
                <a:gd name="T43" fmla="*/ 414 h 1947"/>
                <a:gd name="T44" fmla="*/ 842 w 2113"/>
                <a:gd name="T45" fmla="*/ 296 h 1947"/>
                <a:gd name="T46" fmla="*/ 939 w 2113"/>
                <a:gd name="T47" fmla="*/ 194 h 1947"/>
                <a:gd name="T48" fmla="*/ 1057 w 2113"/>
                <a:gd name="T49" fmla="*/ 164 h 1947"/>
                <a:gd name="T50" fmla="*/ 1178 w 2113"/>
                <a:gd name="T51" fmla="*/ 197 h 1947"/>
                <a:gd name="T52" fmla="*/ 1947 w 2113"/>
                <a:gd name="T53" fmla="*/ 704 h 1947"/>
                <a:gd name="T54" fmla="*/ 1919 w 2113"/>
                <a:gd name="T55" fmla="*/ 761 h 1947"/>
                <a:gd name="T56" fmla="*/ 1707 w 2113"/>
                <a:gd name="T57" fmla="*/ 862 h 1947"/>
                <a:gd name="T58" fmla="*/ 1384 w 2113"/>
                <a:gd name="T59" fmla="*/ 985 h 1947"/>
                <a:gd name="T60" fmla="*/ 1142 w 2113"/>
                <a:gd name="T61" fmla="*/ 1020 h 1947"/>
                <a:gd name="T62" fmla="*/ 865 w 2113"/>
                <a:gd name="T63" fmla="*/ 1012 h 1947"/>
                <a:gd name="T64" fmla="*/ 655 w 2113"/>
                <a:gd name="T65" fmla="*/ 961 h 1947"/>
                <a:gd name="T66" fmla="*/ 319 w 2113"/>
                <a:gd name="T67" fmla="*/ 825 h 1947"/>
                <a:gd name="T68" fmla="*/ 172 w 2113"/>
                <a:gd name="T69" fmla="*/ 741 h 1947"/>
                <a:gd name="T70" fmla="*/ 181 w 2113"/>
                <a:gd name="T71" fmla="*/ 685 h 1947"/>
                <a:gd name="T72" fmla="*/ 216 w 2113"/>
                <a:gd name="T73" fmla="*/ 662 h 1947"/>
                <a:gd name="T74" fmla="*/ 1057 w 2113"/>
                <a:gd name="T75" fmla="*/ 647 h 1947"/>
                <a:gd name="T76" fmla="*/ 1897 w 2113"/>
                <a:gd name="T77" fmla="*/ 662 h 1947"/>
                <a:gd name="T78" fmla="*/ 423 w 2113"/>
                <a:gd name="T79" fmla="*/ 1044 h 1947"/>
                <a:gd name="T80" fmla="*/ 831 w 2113"/>
                <a:gd name="T81" fmla="*/ 1172 h 1947"/>
                <a:gd name="T82" fmla="*/ 1138 w 2113"/>
                <a:gd name="T83" fmla="*/ 1186 h 1947"/>
                <a:gd name="T84" fmla="*/ 1591 w 2113"/>
                <a:gd name="T85" fmla="*/ 1084 h 1947"/>
                <a:gd name="T86" fmla="*/ 1920 w 2113"/>
                <a:gd name="T87" fmla="*/ 952 h 1947"/>
                <a:gd name="T88" fmla="*/ 1941 w 2113"/>
                <a:gd name="T89" fmla="*/ 971 h 1947"/>
                <a:gd name="T90" fmla="*/ 1940 w 2113"/>
                <a:gd name="T91" fmla="*/ 1754 h 1947"/>
                <a:gd name="T92" fmla="*/ 1783 w 2113"/>
                <a:gd name="T93" fmla="*/ 1790 h 1947"/>
                <a:gd name="T94" fmla="*/ 650 w 2113"/>
                <a:gd name="T95" fmla="*/ 1796 h 1947"/>
                <a:gd name="T96" fmla="*/ 215 w 2113"/>
                <a:gd name="T97" fmla="*/ 1775 h 1947"/>
                <a:gd name="T98" fmla="*/ 166 w 2113"/>
                <a:gd name="T99" fmla="*/ 1107 h 1947"/>
                <a:gd name="T100" fmla="*/ 189 w 2113"/>
                <a:gd name="T101" fmla="*/ 951 h 1947"/>
                <a:gd name="T102" fmla="*/ 423 w 2113"/>
                <a:gd name="T103" fmla="*/ 1044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3" h="1947">
                  <a:moveTo>
                    <a:pt x="945" y="20"/>
                  </a:moveTo>
                  <a:lnTo>
                    <a:pt x="915" y="29"/>
                  </a:lnTo>
                  <a:lnTo>
                    <a:pt x="859" y="54"/>
                  </a:lnTo>
                  <a:lnTo>
                    <a:pt x="808" y="87"/>
                  </a:lnTo>
                  <a:lnTo>
                    <a:pt x="764" y="127"/>
                  </a:lnTo>
                  <a:lnTo>
                    <a:pt x="726" y="173"/>
                  </a:lnTo>
                  <a:lnTo>
                    <a:pt x="695" y="227"/>
                  </a:lnTo>
                  <a:lnTo>
                    <a:pt x="672" y="286"/>
                  </a:lnTo>
                  <a:lnTo>
                    <a:pt x="656" y="350"/>
                  </a:lnTo>
                  <a:lnTo>
                    <a:pt x="652" y="384"/>
                  </a:lnTo>
                  <a:lnTo>
                    <a:pt x="640" y="489"/>
                  </a:lnTo>
                  <a:lnTo>
                    <a:pt x="387" y="497"/>
                  </a:lnTo>
                  <a:lnTo>
                    <a:pt x="132" y="505"/>
                  </a:lnTo>
                  <a:lnTo>
                    <a:pt x="70" y="569"/>
                  </a:lnTo>
                  <a:lnTo>
                    <a:pt x="7" y="630"/>
                  </a:lnTo>
                  <a:lnTo>
                    <a:pt x="2" y="1194"/>
                  </a:lnTo>
                  <a:lnTo>
                    <a:pt x="0" y="1410"/>
                  </a:lnTo>
                  <a:lnTo>
                    <a:pt x="2" y="1624"/>
                  </a:lnTo>
                  <a:lnTo>
                    <a:pt x="8" y="1722"/>
                  </a:lnTo>
                  <a:lnTo>
                    <a:pt x="18" y="1790"/>
                  </a:lnTo>
                  <a:lnTo>
                    <a:pt x="35" y="1836"/>
                  </a:lnTo>
                  <a:lnTo>
                    <a:pt x="60" y="1868"/>
                  </a:lnTo>
                  <a:lnTo>
                    <a:pt x="93" y="1895"/>
                  </a:lnTo>
                  <a:lnTo>
                    <a:pt x="113" y="1909"/>
                  </a:lnTo>
                  <a:lnTo>
                    <a:pt x="170" y="1947"/>
                  </a:lnTo>
                  <a:lnTo>
                    <a:pt x="1057" y="1947"/>
                  </a:lnTo>
                  <a:lnTo>
                    <a:pt x="1943" y="1947"/>
                  </a:lnTo>
                  <a:lnTo>
                    <a:pt x="2000" y="1909"/>
                  </a:lnTo>
                  <a:lnTo>
                    <a:pt x="2021" y="1895"/>
                  </a:lnTo>
                  <a:lnTo>
                    <a:pt x="2054" y="1868"/>
                  </a:lnTo>
                  <a:lnTo>
                    <a:pt x="2078" y="1836"/>
                  </a:lnTo>
                  <a:lnTo>
                    <a:pt x="2095" y="1790"/>
                  </a:lnTo>
                  <a:lnTo>
                    <a:pt x="2106" y="1722"/>
                  </a:lnTo>
                  <a:lnTo>
                    <a:pt x="2111" y="1624"/>
                  </a:lnTo>
                  <a:lnTo>
                    <a:pt x="2113" y="1410"/>
                  </a:lnTo>
                  <a:lnTo>
                    <a:pt x="2112" y="1194"/>
                  </a:lnTo>
                  <a:lnTo>
                    <a:pt x="2107" y="630"/>
                  </a:lnTo>
                  <a:lnTo>
                    <a:pt x="2043" y="569"/>
                  </a:lnTo>
                  <a:lnTo>
                    <a:pt x="1982" y="505"/>
                  </a:lnTo>
                  <a:lnTo>
                    <a:pt x="1727" y="497"/>
                  </a:lnTo>
                  <a:lnTo>
                    <a:pt x="1473" y="489"/>
                  </a:lnTo>
                  <a:lnTo>
                    <a:pt x="1462" y="384"/>
                  </a:lnTo>
                  <a:lnTo>
                    <a:pt x="1457" y="348"/>
                  </a:lnTo>
                  <a:lnTo>
                    <a:pt x="1440" y="282"/>
                  </a:lnTo>
                  <a:lnTo>
                    <a:pt x="1414" y="221"/>
                  </a:lnTo>
                  <a:lnTo>
                    <a:pt x="1381" y="167"/>
                  </a:lnTo>
                  <a:lnTo>
                    <a:pt x="1340" y="119"/>
                  </a:lnTo>
                  <a:lnTo>
                    <a:pt x="1292" y="78"/>
                  </a:lnTo>
                  <a:lnTo>
                    <a:pt x="1238" y="46"/>
                  </a:lnTo>
                  <a:lnTo>
                    <a:pt x="1179" y="23"/>
                  </a:lnTo>
                  <a:lnTo>
                    <a:pt x="1147" y="15"/>
                  </a:lnTo>
                  <a:lnTo>
                    <a:pt x="1112" y="8"/>
                  </a:lnTo>
                  <a:lnTo>
                    <a:pt x="1065" y="0"/>
                  </a:lnTo>
                  <a:lnTo>
                    <a:pt x="1027" y="1"/>
                  </a:lnTo>
                  <a:lnTo>
                    <a:pt x="979" y="11"/>
                  </a:lnTo>
                  <a:lnTo>
                    <a:pt x="945" y="20"/>
                  </a:lnTo>
                  <a:close/>
                  <a:moveTo>
                    <a:pt x="1178" y="197"/>
                  </a:moveTo>
                  <a:lnTo>
                    <a:pt x="1207" y="216"/>
                  </a:lnTo>
                  <a:lnTo>
                    <a:pt x="1252" y="263"/>
                  </a:lnTo>
                  <a:lnTo>
                    <a:pt x="1282" y="318"/>
                  </a:lnTo>
                  <a:lnTo>
                    <a:pt x="1295" y="380"/>
                  </a:lnTo>
                  <a:lnTo>
                    <a:pt x="1295" y="414"/>
                  </a:lnTo>
                  <a:lnTo>
                    <a:pt x="1290" y="489"/>
                  </a:lnTo>
                  <a:lnTo>
                    <a:pt x="1057" y="489"/>
                  </a:lnTo>
                  <a:lnTo>
                    <a:pt x="823" y="489"/>
                  </a:lnTo>
                  <a:lnTo>
                    <a:pt x="818" y="414"/>
                  </a:lnTo>
                  <a:lnTo>
                    <a:pt x="818" y="389"/>
                  </a:lnTo>
                  <a:lnTo>
                    <a:pt x="825" y="340"/>
                  </a:lnTo>
                  <a:lnTo>
                    <a:pt x="842" y="296"/>
                  </a:lnTo>
                  <a:lnTo>
                    <a:pt x="867" y="256"/>
                  </a:lnTo>
                  <a:lnTo>
                    <a:pt x="900" y="221"/>
                  </a:lnTo>
                  <a:lnTo>
                    <a:pt x="939" y="194"/>
                  </a:lnTo>
                  <a:lnTo>
                    <a:pt x="983" y="175"/>
                  </a:lnTo>
                  <a:lnTo>
                    <a:pt x="1031" y="165"/>
                  </a:lnTo>
                  <a:lnTo>
                    <a:pt x="1057" y="164"/>
                  </a:lnTo>
                  <a:lnTo>
                    <a:pt x="1086" y="166"/>
                  </a:lnTo>
                  <a:lnTo>
                    <a:pt x="1152" y="184"/>
                  </a:lnTo>
                  <a:lnTo>
                    <a:pt x="1178" y="197"/>
                  </a:lnTo>
                  <a:close/>
                  <a:moveTo>
                    <a:pt x="1922" y="674"/>
                  </a:moveTo>
                  <a:lnTo>
                    <a:pt x="1933" y="685"/>
                  </a:lnTo>
                  <a:lnTo>
                    <a:pt x="1947" y="704"/>
                  </a:lnTo>
                  <a:lnTo>
                    <a:pt x="1950" y="723"/>
                  </a:lnTo>
                  <a:lnTo>
                    <a:pt x="1942" y="741"/>
                  </a:lnTo>
                  <a:lnTo>
                    <a:pt x="1919" y="761"/>
                  </a:lnTo>
                  <a:lnTo>
                    <a:pt x="1881" y="784"/>
                  </a:lnTo>
                  <a:lnTo>
                    <a:pt x="1794" y="825"/>
                  </a:lnTo>
                  <a:lnTo>
                    <a:pt x="1707" y="862"/>
                  </a:lnTo>
                  <a:lnTo>
                    <a:pt x="1591" y="911"/>
                  </a:lnTo>
                  <a:lnTo>
                    <a:pt x="1459" y="961"/>
                  </a:lnTo>
                  <a:lnTo>
                    <a:pt x="1384" y="985"/>
                  </a:lnTo>
                  <a:lnTo>
                    <a:pt x="1315" y="1001"/>
                  </a:lnTo>
                  <a:lnTo>
                    <a:pt x="1249" y="1012"/>
                  </a:lnTo>
                  <a:lnTo>
                    <a:pt x="1142" y="1020"/>
                  </a:lnTo>
                  <a:lnTo>
                    <a:pt x="1057" y="1020"/>
                  </a:lnTo>
                  <a:lnTo>
                    <a:pt x="971" y="1020"/>
                  </a:lnTo>
                  <a:lnTo>
                    <a:pt x="865" y="1012"/>
                  </a:lnTo>
                  <a:lnTo>
                    <a:pt x="798" y="1001"/>
                  </a:lnTo>
                  <a:lnTo>
                    <a:pt x="730" y="985"/>
                  </a:lnTo>
                  <a:lnTo>
                    <a:pt x="655" y="961"/>
                  </a:lnTo>
                  <a:lnTo>
                    <a:pt x="522" y="911"/>
                  </a:lnTo>
                  <a:lnTo>
                    <a:pt x="407" y="862"/>
                  </a:lnTo>
                  <a:lnTo>
                    <a:pt x="319" y="825"/>
                  </a:lnTo>
                  <a:lnTo>
                    <a:pt x="232" y="784"/>
                  </a:lnTo>
                  <a:lnTo>
                    <a:pt x="194" y="761"/>
                  </a:lnTo>
                  <a:lnTo>
                    <a:pt x="172" y="741"/>
                  </a:lnTo>
                  <a:lnTo>
                    <a:pt x="163" y="723"/>
                  </a:lnTo>
                  <a:lnTo>
                    <a:pt x="167" y="704"/>
                  </a:lnTo>
                  <a:lnTo>
                    <a:pt x="181" y="685"/>
                  </a:lnTo>
                  <a:lnTo>
                    <a:pt x="192" y="674"/>
                  </a:lnTo>
                  <a:lnTo>
                    <a:pt x="197" y="669"/>
                  </a:lnTo>
                  <a:lnTo>
                    <a:pt x="216" y="662"/>
                  </a:lnTo>
                  <a:lnTo>
                    <a:pt x="276" y="655"/>
                  </a:lnTo>
                  <a:lnTo>
                    <a:pt x="581" y="647"/>
                  </a:lnTo>
                  <a:lnTo>
                    <a:pt x="1057" y="647"/>
                  </a:lnTo>
                  <a:lnTo>
                    <a:pt x="1532" y="647"/>
                  </a:lnTo>
                  <a:lnTo>
                    <a:pt x="1837" y="655"/>
                  </a:lnTo>
                  <a:lnTo>
                    <a:pt x="1897" y="662"/>
                  </a:lnTo>
                  <a:lnTo>
                    <a:pt x="1917" y="669"/>
                  </a:lnTo>
                  <a:lnTo>
                    <a:pt x="1922" y="674"/>
                  </a:lnTo>
                  <a:close/>
                  <a:moveTo>
                    <a:pt x="423" y="1044"/>
                  </a:moveTo>
                  <a:lnTo>
                    <a:pt x="522" y="1084"/>
                  </a:lnTo>
                  <a:lnTo>
                    <a:pt x="687" y="1140"/>
                  </a:lnTo>
                  <a:lnTo>
                    <a:pt x="831" y="1172"/>
                  </a:lnTo>
                  <a:lnTo>
                    <a:pt x="976" y="1186"/>
                  </a:lnTo>
                  <a:lnTo>
                    <a:pt x="1057" y="1187"/>
                  </a:lnTo>
                  <a:lnTo>
                    <a:pt x="1138" y="1186"/>
                  </a:lnTo>
                  <a:lnTo>
                    <a:pt x="1283" y="1172"/>
                  </a:lnTo>
                  <a:lnTo>
                    <a:pt x="1427" y="1140"/>
                  </a:lnTo>
                  <a:lnTo>
                    <a:pt x="1591" y="1084"/>
                  </a:lnTo>
                  <a:lnTo>
                    <a:pt x="1690" y="1044"/>
                  </a:lnTo>
                  <a:lnTo>
                    <a:pt x="1852" y="978"/>
                  </a:lnTo>
                  <a:lnTo>
                    <a:pt x="1920" y="952"/>
                  </a:lnTo>
                  <a:lnTo>
                    <a:pt x="1925" y="951"/>
                  </a:lnTo>
                  <a:lnTo>
                    <a:pt x="1933" y="952"/>
                  </a:lnTo>
                  <a:lnTo>
                    <a:pt x="1941" y="971"/>
                  </a:lnTo>
                  <a:lnTo>
                    <a:pt x="1947" y="1107"/>
                  </a:lnTo>
                  <a:lnTo>
                    <a:pt x="1945" y="1349"/>
                  </a:lnTo>
                  <a:lnTo>
                    <a:pt x="1940" y="1754"/>
                  </a:lnTo>
                  <a:lnTo>
                    <a:pt x="1898" y="1775"/>
                  </a:lnTo>
                  <a:lnTo>
                    <a:pt x="1881" y="1781"/>
                  </a:lnTo>
                  <a:lnTo>
                    <a:pt x="1783" y="1790"/>
                  </a:lnTo>
                  <a:lnTo>
                    <a:pt x="1464" y="1796"/>
                  </a:lnTo>
                  <a:lnTo>
                    <a:pt x="1057" y="1797"/>
                  </a:lnTo>
                  <a:lnTo>
                    <a:pt x="650" y="1796"/>
                  </a:lnTo>
                  <a:lnTo>
                    <a:pt x="330" y="1790"/>
                  </a:lnTo>
                  <a:lnTo>
                    <a:pt x="232" y="1781"/>
                  </a:lnTo>
                  <a:lnTo>
                    <a:pt x="215" y="1775"/>
                  </a:lnTo>
                  <a:lnTo>
                    <a:pt x="173" y="1754"/>
                  </a:lnTo>
                  <a:lnTo>
                    <a:pt x="168" y="1349"/>
                  </a:lnTo>
                  <a:lnTo>
                    <a:pt x="166" y="1107"/>
                  </a:lnTo>
                  <a:lnTo>
                    <a:pt x="173" y="971"/>
                  </a:lnTo>
                  <a:lnTo>
                    <a:pt x="181" y="952"/>
                  </a:lnTo>
                  <a:lnTo>
                    <a:pt x="189" y="951"/>
                  </a:lnTo>
                  <a:lnTo>
                    <a:pt x="193" y="952"/>
                  </a:lnTo>
                  <a:lnTo>
                    <a:pt x="262" y="978"/>
                  </a:lnTo>
                  <a:lnTo>
                    <a:pt x="423" y="10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0" name="Rectangle 109">
            <a:extLst>
              <a:ext uri="{FF2B5EF4-FFF2-40B4-BE49-F238E27FC236}">
                <a16:creationId xmlns:a16="http://schemas.microsoft.com/office/drawing/2014/main" id="{6F183BED-42DB-4FEE-950F-AC9AD8CED7C7}"/>
              </a:ext>
            </a:extLst>
          </p:cNvPr>
          <p:cNvSpPr/>
          <p:nvPr/>
        </p:nvSpPr>
        <p:spPr>
          <a:xfrm>
            <a:off x="6228998" y="4754197"/>
            <a:ext cx="4256748" cy="338554"/>
          </a:xfrm>
          <a:prstGeom prst="rect">
            <a:avLst/>
          </a:prstGeom>
        </p:spPr>
        <p:txBody>
          <a:bodyPr wrap="square" anchor="ctr" anchorCtr="0">
            <a:spAutoFit/>
          </a:bodyPr>
          <a:lstStyle/>
          <a:p>
            <a:pPr algn="justLow" rtl="1"/>
            <a:r>
              <a:rPr lang="ar-SA" sz="1600" b="1" dirty="0"/>
              <a:t>تشاركية توثيق مكونات البنية المؤسسية</a:t>
            </a:r>
          </a:p>
        </p:txBody>
      </p:sp>
      <p:grpSp>
        <p:nvGrpSpPr>
          <p:cNvPr id="111" name="Group 110">
            <a:extLst>
              <a:ext uri="{FF2B5EF4-FFF2-40B4-BE49-F238E27FC236}">
                <a16:creationId xmlns:a16="http://schemas.microsoft.com/office/drawing/2014/main" id="{3C6089CD-860A-4773-8AF0-F8D82402659E}"/>
              </a:ext>
            </a:extLst>
          </p:cNvPr>
          <p:cNvGrpSpPr/>
          <p:nvPr/>
        </p:nvGrpSpPr>
        <p:grpSpPr>
          <a:xfrm>
            <a:off x="10703592" y="4594363"/>
            <a:ext cx="650505" cy="650505"/>
            <a:chOff x="9889067" y="2857200"/>
            <a:chExt cx="1095022" cy="1095022"/>
          </a:xfrm>
        </p:grpSpPr>
        <p:sp>
          <p:nvSpPr>
            <p:cNvPr id="112" name="Arc 111">
              <a:extLst>
                <a:ext uri="{FF2B5EF4-FFF2-40B4-BE49-F238E27FC236}">
                  <a16:creationId xmlns:a16="http://schemas.microsoft.com/office/drawing/2014/main" id="{5646F641-B2E2-4C43-BF76-04D11BC011AE}"/>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3" name="Arc 112">
              <a:extLst>
                <a:ext uri="{FF2B5EF4-FFF2-40B4-BE49-F238E27FC236}">
                  <a16:creationId xmlns:a16="http://schemas.microsoft.com/office/drawing/2014/main" id="{5D762E40-A154-418E-B5EC-C7F1FB6251C8}"/>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14" name="Oval 113">
            <a:extLst>
              <a:ext uri="{FF2B5EF4-FFF2-40B4-BE49-F238E27FC236}">
                <a16:creationId xmlns:a16="http://schemas.microsoft.com/office/drawing/2014/main" id="{C8ECFA2D-171F-48E4-BA92-D7BD11F10AE7}"/>
              </a:ext>
            </a:extLst>
          </p:cNvPr>
          <p:cNvSpPr/>
          <p:nvPr/>
        </p:nvSpPr>
        <p:spPr>
          <a:xfrm flipH="1">
            <a:off x="10570864" y="4950408"/>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3</a:t>
            </a:r>
            <a:endParaRPr lang="en-US" sz="1600" b="1" dirty="0">
              <a:ln>
                <a:solidFill>
                  <a:schemeClr val="accent2"/>
                </a:solidFill>
              </a:ln>
              <a:noFill/>
            </a:endParaRPr>
          </a:p>
        </p:txBody>
      </p:sp>
      <p:grpSp>
        <p:nvGrpSpPr>
          <p:cNvPr id="115" name="Group 114">
            <a:extLst>
              <a:ext uri="{FF2B5EF4-FFF2-40B4-BE49-F238E27FC236}">
                <a16:creationId xmlns:a16="http://schemas.microsoft.com/office/drawing/2014/main" id="{C3C1877D-53C3-4A19-AAA5-614F9F0A6461}"/>
              </a:ext>
            </a:extLst>
          </p:cNvPr>
          <p:cNvGrpSpPr>
            <a:grpSpLocks noChangeAspect="1"/>
          </p:cNvGrpSpPr>
          <p:nvPr/>
        </p:nvGrpSpPr>
        <p:grpSpPr>
          <a:xfrm>
            <a:off x="10845518" y="4736735"/>
            <a:ext cx="366652" cy="365760"/>
            <a:chOff x="6902450" y="4722813"/>
            <a:chExt cx="1957388" cy="1952625"/>
          </a:xfrm>
          <a:solidFill>
            <a:schemeClr val="accent1"/>
          </a:solidFill>
        </p:grpSpPr>
        <p:sp>
          <p:nvSpPr>
            <p:cNvPr id="116" name="Freeform 170">
              <a:extLst>
                <a:ext uri="{FF2B5EF4-FFF2-40B4-BE49-F238E27FC236}">
                  <a16:creationId xmlns:a16="http://schemas.microsoft.com/office/drawing/2014/main" id="{621F9EBF-3023-4BE4-9F12-FCCC33E5A499}"/>
                </a:ext>
              </a:extLst>
            </p:cNvPr>
            <p:cNvSpPr>
              <a:spLocks noEditPoints="1"/>
            </p:cNvSpPr>
            <p:nvPr/>
          </p:nvSpPr>
          <p:spPr bwMode="auto">
            <a:xfrm>
              <a:off x="6902450" y="4722813"/>
              <a:ext cx="1957388" cy="1952625"/>
            </a:xfrm>
            <a:custGeom>
              <a:avLst/>
              <a:gdLst>
                <a:gd name="T0" fmla="*/ 0 w 5058"/>
                <a:gd name="T1" fmla="*/ 2366 h 5051"/>
                <a:gd name="T2" fmla="*/ 2600 w 5058"/>
                <a:gd name="T3" fmla="*/ 3645 h 5051"/>
                <a:gd name="T4" fmla="*/ 2128 w 5058"/>
                <a:gd name="T5" fmla="*/ 3701 h 5051"/>
                <a:gd name="T6" fmla="*/ 2068 w 5058"/>
                <a:gd name="T7" fmla="*/ 4784 h 5051"/>
                <a:gd name="T8" fmla="*/ 1750 w 5058"/>
                <a:gd name="T9" fmla="*/ 4659 h 5051"/>
                <a:gd name="T10" fmla="*/ 1581 w 5058"/>
                <a:gd name="T11" fmla="*/ 4157 h 5051"/>
                <a:gd name="T12" fmla="*/ 1153 w 5058"/>
                <a:gd name="T13" fmla="*/ 3755 h 5051"/>
                <a:gd name="T14" fmla="*/ 823 w 5058"/>
                <a:gd name="T15" fmla="*/ 4687 h 5051"/>
                <a:gd name="T16" fmla="*/ 250 w 5058"/>
                <a:gd name="T17" fmla="*/ 4567 h 5051"/>
                <a:gd name="T18" fmla="*/ 24 w 5058"/>
                <a:gd name="T19" fmla="*/ 4902 h 5051"/>
                <a:gd name="T20" fmla="*/ 473 w 5058"/>
                <a:gd name="T21" fmla="*/ 4907 h 5051"/>
                <a:gd name="T22" fmla="*/ 989 w 5058"/>
                <a:gd name="T23" fmla="*/ 4685 h 5051"/>
                <a:gd name="T24" fmla="*/ 1378 w 5058"/>
                <a:gd name="T25" fmla="*/ 4207 h 5051"/>
                <a:gd name="T26" fmla="*/ 1607 w 5058"/>
                <a:gd name="T27" fmla="*/ 4745 h 5051"/>
                <a:gd name="T28" fmla="*/ 2201 w 5058"/>
                <a:gd name="T29" fmla="*/ 4898 h 5051"/>
                <a:gd name="T30" fmla="*/ 2583 w 5058"/>
                <a:gd name="T31" fmla="*/ 3851 h 5051"/>
                <a:gd name="T32" fmla="*/ 5058 w 5058"/>
                <a:gd name="T33" fmla="*/ 3812 h 5051"/>
                <a:gd name="T34" fmla="*/ 3061 w 5058"/>
                <a:gd name="T35" fmla="*/ 116 h 5051"/>
                <a:gd name="T36" fmla="*/ 2908 w 5058"/>
                <a:gd name="T37" fmla="*/ 184 h 5051"/>
                <a:gd name="T38" fmla="*/ 966 w 5058"/>
                <a:gd name="T39" fmla="*/ 642 h 5051"/>
                <a:gd name="T40" fmla="*/ 2491 w 5058"/>
                <a:gd name="T41" fmla="*/ 150 h 5051"/>
                <a:gd name="T42" fmla="*/ 3573 w 5058"/>
                <a:gd name="T43" fmla="*/ 815 h 5051"/>
                <a:gd name="T44" fmla="*/ 3398 w 5058"/>
                <a:gd name="T45" fmla="*/ 1561 h 5051"/>
                <a:gd name="T46" fmla="*/ 2481 w 5058"/>
                <a:gd name="T47" fmla="*/ 1555 h 5051"/>
                <a:gd name="T48" fmla="*/ 2123 w 5058"/>
                <a:gd name="T49" fmla="*/ 1349 h 5051"/>
                <a:gd name="T50" fmla="*/ 1726 w 5058"/>
                <a:gd name="T51" fmla="*/ 1250 h 5051"/>
                <a:gd name="T52" fmla="*/ 1343 w 5058"/>
                <a:gd name="T53" fmla="*/ 1442 h 5051"/>
                <a:gd name="T54" fmla="*/ 724 w 5058"/>
                <a:gd name="T55" fmla="*/ 1628 h 5051"/>
                <a:gd name="T56" fmla="*/ 164 w 5058"/>
                <a:gd name="T57" fmla="*/ 1174 h 5051"/>
                <a:gd name="T58" fmla="*/ 1915 w 5058"/>
                <a:gd name="T59" fmla="*/ 1425 h 5051"/>
                <a:gd name="T60" fmla="*/ 2270 w 5058"/>
                <a:gd name="T61" fmla="*/ 1541 h 5051"/>
                <a:gd name="T62" fmla="*/ 2401 w 5058"/>
                <a:gd name="T63" fmla="*/ 1912 h 5051"/>
                <a:gd name="T64" fmla="*/ 2267 w 5058"/>
                <a:gd name="T65" fmla="*/ 2255 h 5051"/>
                <a:gd name="T66" fmla="*/ 2150 w 5058"/>
                <a:gd name="T67" fmla="*/ 2357 h 5051"/>
                <a:gd name="T68" fmla="*/ 1833 w 5058"/>
                <a:gd name="T69" fmla="*/ 2480 h 5051"/>
                <a:gd name="T70" fmla="*/ 1487 w 5058"/>
                <a:gd name="T71" fmla="*/ 2365 h 5051"/>
                <a:gd name="T72" fmla="*/ 1395 w 5058"/>
                <a:gd name="T73" fmla="*/ 2056 h 5051"/>
                <a:gd name="T74" fmla="*/ 1451 w 5058"/>
                <a:gd name="T75" fmla="*/ 1712 h 5051"/>
                <a:gd name="T76" fmla="*/ 1601 w 5058"/>
                <a:gd name="T77" fmla="*/ 1545 h 5051"/>
                <a:gd name="T78" fmla="*/ 1915 w 5058"/>
                <a:gd name="T79" fmla="*/ 1425 h 5051"/>
                <a:gd name="T80" fmla="*/ 1245 w 5058"/>
                <a:gd name="T81" fmla="*/ 2149 h 5051"/>
                <a:gd name="T82" fmla="*/ 1389 w 5058"/>
                <a:gd name="T83" fmla="*/ 2504 h 5051"/>
                <a:gd name="T84" fmla="*/ 1714 w 5058"/>
                <a:gd name="T85" fmla="*/ 2622 h 5051"/>
                <a:gd name="T86" fmla="*/ 2074 w 5058"/>
                <a:gd name="T87" fmla="*/ 2580 h 5051"/>
                <a:gd name="T88" fmla="*/ 2429 w 5058"/>
                <a:gd name="T89" fmla="*/ 2436 h 5051"/>
                <a:gd name="T90" fmla="*/ 2546 w 5058"/>
                <a:gd name="T91" fmla="*/ 2111 h 5051"/>
                <a:gd name="T92" fmla="*/ 3583 w 5058"/>
                <a:gd name="T93" fmla="*/ 1634 h 5051"/>
                <a:gd name="T94" fmla="*/ 267 w 5058"/>
                <a:gd name="T95" fmla="*/ 3167 h 5051"/>
                <a:gd name="T96" fmla="*/ 4325 w 5058"/>
                <a:gd name="T97" fmla="*/ 2400 h 5051"/>
                <a:gd name="T98" fmla="*/ 3272 w 5058"/>
                <a:gd name="T99" fmla="*/ 3636 h 5051"/>
                <a:gd name="T100" fmla="*/ 3754 w 5058"/>
                <a:gd name="T101" fmla="*/ 3499 h 5051"/>
                <a:gd name="T102" fmla="*/ 3423 w 5058"/>
                <a:gd name="T103" fmla="*/ 3277 h 5051"/>
                <a:gd name="T104" fmla="*/ 2942 w 5058"/>
                <a:gd name="T105" fmla="*/ 3105 h 5051"/>
                <a:gd name="T106" fmla="*/ 4505 w 5058"/>
                <a:gd name="T107" fmla="*/ 2252 h 5051"/>
                <a:gd name="T108" fmla="*/ 3486 w 5058"/>
                <a:gd name="T109" fmla="*/ 3577 h 5051"/>
                <a:gd name="T110" fmla="*/ 3558 w 5058"/>
                <a:gd name="T111" fmla="*/ 3450 h 5051"/>
                <a:gd name="T112" fmla="*/ 2291 w 5058"/>
                <a:gd name="T113" fmla="*/ 3769 h 5051"/>
                <a:gd name="T114" fmla="*/ 1623 w 5058"/>
                <a:gd name="T115" fmla="*/ 4408 h 5051"/>
                <a:gd name="T116" fmla="*/ 1488 w 5058"/>
                <a:gd name="T117" fmla="*/ 4346 h 5051"/>
                <a:gd name="T118" fmla="*/ 251 w 5058"/>
                <a:gd name="T119" fmla="*/ 4884 h 5051"/>
                <a:gd name="T120" fmla="*/ 314 w 5058"/>
                <a:gd name="T121" fmla="*/ 4765 h 5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58" h="5051">
                  <a:moveTo>
                    <a:pt x="780" y="27"/>
                  </a:moveTo>
                  <a:lnTo>
                    <a:pt x="762" y="36"/>
                  </a:lnTo>
                  <a:lnTo>
                    <a:pt x="732" y="55"/>
                  </a:lnTo>
                  <a:lnTo>
                    <a:pt x="709" y="78"/>
                  </a:lnTo>
                  <a:lnTo>
                    <a:pt x="692" y="106"/>
                  </a:lnTo>
                  <a:lnTo>
                    <a:pt x="679" y="144"/>
                  </a:lnTo>
                  <a:lnTo>
                    <a:pt x="670" y="194"/>
                  </a:lnTo>
                  <a:lnTo>
                    <a:pt x="662" y="296"/>
                  </a:lnTo>
                  <a:lnTo>
                    <a:pt x="658" y="392"/>
                  </a:lnTo>
                  <a:lnTo>
                    <a:pt x="650" y="642"/>
                  </a:lnTo>
                  <a:lnTo>
                    <a:pt x="325" y="650"/>
                  </a:lnTo>
                  <a:lnTo>
                    <a:pt x="0" y="659"/>
                  </a:lnTo>
                  <a:lnTo>
                    <a:pt x="0" y="1900"/>
                  </a:lnTo>
                  <a:lnTo>
                    <a:pt x="0" y="2366"/>
                  </a:lnTo>
                  <a:lnTo>
                    <a:pt x="2" y="2813"/>
                  </a:lnTo>
                  <a:lnTo>
                    <a:pt x="7" y="3009"/>
                  </a:lnTo>
                  <a:lnTo>
                    <a:pt x="16" y="3135"/>
                  </a:lnTo>
                  <a:lnTo>
                    <a:pt x="30" y="3210"/>
                  </a:lnTo>
                  <a:lnTo>
                    <a:pt x="51" y="3251"/>
                  </a:lnTo>
                  <a:lnTo>
                    <a:pt x="80" y="3276"/>
                  </a:lnTo>
                  <a:lnTo>
                    <a:pt x="98" y="3289"/>
                  </a:lnTo>
                  <a:lnTo>
                    <a:pt x="150" y="3325"/>
                  </a:lnTo>
                  <a:lnTo>
                    <a:pt x="1458" y="3334"/>
                  </a:lnTo>
                  <a:lnTo>
                    <a:pt x="2766" y="3342"/>
                  </a:lnTo>
                  <a:lnTo>
                    <a:pt x="2766" y="3467"/>
                  </a:lnTo>
                  <a:lnTo>
                    <a:pt x="2766" y="3592"/>
                  </a:lnTo>
                  <a:lnTo>
                    <a:pt x="2683" y="3619"/>
                  </a:lnTo>
                  <a:lnTo>
                    <a:pt x="2600" y="3645"/>
                  </a:lnTo>
                  <a:lnTo>
                    <a:pt x="2538" y="3582"/>
                  </a:lnTo>
                  <a:lnTo>
                    <a:pt x="2519" y="3564"/>
                  </a:lnTo>
                  <a:lnTo>
                    <a:pt x="2480" y="3536"/>
                  </a:lnTo>
                  <a:lnTo>
                    <a:pt x="2440" y="3517"/>
                  </a:lnTo>
                  <a:lnTo>
                    <a:pt x="2398" y="3506"/>
                  </a:lnTo>
                  <a:lnTo>
                    <a:pt x="2357" y="3504"/>
                  </a:lnTo>
                  <a:lnTo>
                    <a:pt x="2317" y="3509"/>
                  </a:lnTo>
                  <a:lnTo>
                    <a:pt x="2278" y="3521"/>
                  </a:lnTo>
                  <a:lnTo>
                    <a:pt x="2242" y="3539"/>
                  </a:lnTo>
                  <a:lnTo>
                    <a:pt x="2209" y="3562"/>
                  </a:lnTo>
                  <a:lnTo>
                    <a:pt x="2181" y="3591"/>
                  </a:lnTo>
                  <a:lnTo>
                    <a:pt x="2157" y="3624"/>
                  </a:lnTo>
                  <a:lnTo>
                    <a:pt x="2139" y="3661"/>
                  </a:lnTo>
                  <a:lnTo>
                    <a:pt x="2128" y="3701"/>
                  </a:lnTo>
                  <a:lnTo>
                    <a:pt x="2124" y="3744"/>
                  </a:lnTo>
                  <a:lnTo>
                    <a:pt x="2128" y="3790"/>
                  </a:lnTo>
                  <a:lnTo>
                    <a:pt x="2141" y="3836"/>
                  </a:lnTo>
                  <a:lnTo>
                    <a:pt x="2151" y="3860"/>
                  </a:lnTo>
                  <a:lnTo>
                    <a:pt x="2164" y="3884"/>
                  </a:lnTo>
                  <a:lnTo>
                    <a:pt x="2196" y="3925"/>
                  </a:lnTo>
                  <a:lnTo>
                    <a:pt x="2210" y="3935"/>
                  </a:lnTo>
                  <a:lnTo>
                    <a:pt x="2223" y="3943"/>
                  </a:lnTo>
                  <a:lnTo>
                    <a:pt x="2240" y="3967"/>
                  </a:lnTo>
                  <a:lnTo>
                    <a:pt x="2241" y="3980"/>
                  </a:lnTo>
                  <a:lnTo>
                    <a:pt x="2236" y="4021"/>
                  </a:lnTo>
                  <a:lnTo>
                    <a:pt x="2188" y="4255"/>
                  </a:lnTo>
                  <a:lnTo>
                    <a:pt x="2122" y="4554"/>
                  </a:lnTo>
                  <a:lnTo>
                    <a:pt x="2068" y="4784"/>
                  </a:lnTo>
                  <a:lnTo>
                    <a:pt x="2056" y="4819"/>
                  </a:lnTo>
                  <a:lnTo>
                    <a:pt x="2049" y="4831"/>
                  </a:lnTo>
                  <a:lnTo>
                    <a:pt x="2030" y="4852"/>
                  </a:lnTo>
                  <a:lnTo>
                    <a:pt x="2007" y="4867"/>
                  </a:lnTo>
                  <a:lnTo>
                    <a:pt x="1981" y="4878"/>
                  </a:lnTo>
                  <a:lnTo>
                    <a:pt x="1953" y="4882"/>
                  </a:lnTo>
                  <a:lnTo>
                    <a:pt x="1924" y="4881"/>
                  </a:lnTo>
                  <a:lnTo>
                    <a:pt x="1895" y="4874"/>
                  </a:lnTo>
                  <a:lnTo>
                    <a:pt x="1867" y="4861"/>
                  </a:lnTo>
                  <a:lnTo>
                    <a:pt x="1855" y="4852"/>
                  </a:lnTo>
                  <a:lnTo>
                    <a:pt x="1846" y="4844"/>
                  </a:lnTo>
                  <a:lnTo>
                    <a:pt x="1825" y="4815"/>
                  </a:lnTo>
                  <a:lnTo>
                    <a:pt x="1791" y="4754"/>
                  </a:lnTo>
                  <a:lnTo>
                    <a:pt x="1750" y="4659"/>
                  </a:lnTo>
                  <a:lnTo>
                    <a:pt x="1732" y="4599"/>
                  </a:lnTo>
                  <a:lnTo>
                    <a:pt x="1729" y="4571"/>
                  </a:lnTo>
                  <a:lnTo>
                    <a:pt x="1731" y="4564"/>
                  </a:lnTo>
                  <a:lnTo>
                    <a:pt x="1746" y="4538"/>
                  </a:lnTo>
                  <a:lnTo>
                    <a:pt x="1766" y="4500"/>
                  </a:lnTo>
                  <a:lnTo>
                    <a:pt x="1779" y="4475"/>
                  </a:lnTo>
                  <a:lnTo>
                    <a:pt x="1792" y="4423"/>
                  </a:lnTo>
                  <a:lnTo>
                    <a:pt x="1791" y="4369"/>
                  </a:lnTo>
                  <a:lnTo>
                    <a:pt x="1776" y="4316"/>
                  </a:lnTo>
                  <a:lnTo>
                    <a:pt x="1750" y="4267"/>
                  </a:lnTo>
                  <a:lnTo>
                    <a:pt x="1712" y="4224"/>
                  </a:lnTo>
                  <a:lnTo>
                    <a:pt x="1666" y="4189"/>
                  </a:lnTo>
                  <a:lnTo>
                    <a:pt x="1611" y="4164"/>
                  </a:lnTo>
                  <a:lnTo>
                    <a:pt x="1581" y="4157"/>
                  </a:lnTo>
                  <a:lnTo>
                    <a:pt x="1564" y="4154"/>
                  </a:lnTo>
                  <a:lnTo>
                    <a:pt x="1539" y="4140"/>
                  </a:lnTo>
                  <a:lnTo>
                    <a:pt x="1515" y="4107"/>
                  </a:lnTo>
                  <a:lnTo>
                    <a:pt x="1486" y="4046"/>
                  </a:lnTo>
                  <a:lnTo>
                    <a:pt x="1466" y="3999"/>
                  </a:lnTo>
                  <a:lnTo>
                    <a:pt x="1450" y="3961"/>
                  </a:lnTo>
                  <a:lnTo>
                    <a:pt x="1419" y="3897"/>
                  </a:lnTo>
                  <a:lnTo>
                    <a:pt x="1387" y="3846"/>
                  </a:lnTo>
                  <a:lnTo>
                    <a:pt x="1353" y="3807"/>
                  </a:lnTo>
                  <a:lnTo>
                    <a:pt x="1317" y="3779"/>
                  </a:lnTo>
                  <a:lnTo>
                    <a:pt x="1277" y="3761"/>
                  </a:lnTo>
                  <a:lnTo>
                    <a:pt x="1232" y="3752"/>
                  </a:lnTo>
                  <a:lnTo>
                    <a:pt x="1181" y="3752"/>
                  </a:lnTo>
                  <a:lnTo>
                    <a:pt x="1153" y="3755"/>
                  </a:lnTo>
                  <a:lnTo>
                    <a:pt x="1134" y="3758"/>
                  </a:lnTo>
                  <a:lnTo>
                    <a:pt x="1100" y="3768"/>
                  </a:lnTo>
                  <a:lnTo>
                    <a:pt x="1070" y="3786"/>
                  </a:lnTo>
                  <a:lnTo>
                    <a:pt x="1041" y="3811"/>
                  </a:lnTo>
                  <a:lnTo>
                    <a:pt x="1025" y="3829"/>
                  </a:lnTo>
                  <a:lnTo>
                    <a:pt x="1004" y="3850"/>
                  </a:lnTo>
                  <a:lnTo>
                    <a:pt x="982" y="3883"/>
                  </a:lnTo>
                  <a:lnTo>
                    <a:pt x="970" y="3913"/>
                  </a:lnTo>
                  <a:lnTo>
                    <a:pt x="953" y="3979"/>
                  </a:lnTo>
                  <a:lnTo>
                    <a:pt x="923" y="4143"/>
                  </a:lnTo>
                  <a:lnTo>
                    <a:pt x="901" y="4274"/>
                  </a:lnTo>
                  <a:lnTo>
                    <a:pt x="876" y="4429"/>
                  </a:lnTo>
                  <a:lnTo>
                    <a:pt x="833" y="4653"/>
                  </a:lnTo>
                  <a:lnTo>
                    <a:pt x="823" y="4687"/>
                  </a:lnTo>
                  <a:lnTo>
                    <a:pt x="818" y="4696"/>
                  </a:lnTo>
                  <a:lnTo>
                    <a:pt x="798" y="4708"/>
                  </a:lnTo>
                  <a:lnTo>
                    <a:pt x="734" y="4716"/>
                  </a:lnTo>
                  <a:lnTo>
                    <a:pt x="641" y="4717"/>
                  </a:lnTo>
                  <a:lnTo>
                    <a:pt x="585" y="4717"/>
                  </a:lnTo>
                  <a:lnTo>
                    <a:pt x="514" y="4715"/>
                  </a:lnTo>
                  <a:lnTo>
                    <a:pt x="476" y="4705"/>
                  </a:lnTo>
                  <a:lnTo>
                    <a:pt x="453" y="4684"/>
                  </a:lnTo>
                  <a:lnTo>
                    <a:pt x="441" y="4667"/>
                  </a:lnTo>
                  <a:lnTo>
                    <a:pt x="424" y="4644"/>
                  </a:lnTo>
                  <a:lnTo>
                    <a:pt x="381" y="4607"/>
                  </a:lnTo>
                  <a:lnTo>
                    <a:pt x="332" y="4581"/>
                  </a:lnTo>
                  <a:lnTo>
                    <a:pt x="278" y="4568"/>
                  </a:lnTo>
                  <a:lnTo>
                    <a:pt x="250" y="4567"/>
                  </a:lnTo>
                  <a:lnTo>
                    <a:pt x="229" y="4568"/>
                  </a:lnTo>
                  <a:lnTo>
                    <a:pt x="189" y="4573"/>
                  </a:lnTo>
                  <a:lnTo>
                    <a:pt x="152" y="4584"/>
                  </a:lnTo>
                  <a:lnTo>
                    <a:pt x="119" y="4600"/>
                  </a:lnTo>
                  <a:lnTo>
                    <a:pt x="90" y="4620"/>
                  </a:lnTo>
                  <a:lnTo>
                    <a:pt x="64" y="4643"/>
                  </a:lnTo>
                  <a:lnTo>
                    <a:pt x="43" y="4670"/>
                  </a:lnTo>
                  <a:lnTo>
                    <a:pt x="25" y="4700"/>
                  </a:lnTo>
                  <a:lnTo>
                    <a:pt x="13" y="4731"/>
                  </a:lnTo>
                  <a:lnTo>
                    <a:pt x="5" y="4764"/>
                  </a:lnTo>
                  <a:lnTo>
                    <a:pt x="1" y="4798"/>
                  </a:lnTo>
                  <a:lnTo>
                    <a:pt x="3" y="4833"/>
                  </a:lnTo>
                  <a:lnTo>
                    <a:pt x="11" y="4868"/>
                  </a:lnTo>
                  <a:lnTo>
                    <a:pt x="24" y="4902"/>
                  </a:lnTo>
                  <a:lnTo>
                    <a:pt x="42" y="4935"/>
                  </a:lnTo>
                  <a:lnTo>
                    <a:pt x="67" y="4967"/>
                  </a:lnTo>
                  <a:lnTo>
                    <a:pt x="81" y="4982"/>
                  </a:lnTo>
                  <a:lnTo>
                    <a:pt x="101" y="5000"/>
                  </a:lnTo>
                  <a:lnTo>
                    <a:pt x="146" y="5026"/>
                  </a:lnTo>
                  <a:lnTo>
                    <a:pt x="195" y="5042"/>
                  </a:lnTo>
                  <a:lnTo>
                    <a:pt x="245" y="5048"/>
                  </a:lnTo>
                  <a:lnTo>
                    <a:pt x="296" y="5043"/>
                  </a:lnTo>
                  <a:lnTo>
                    <a:pt x="344" y="5029"/>
                  </a:lnTo>
                  <a:lnTo>
                    <a:pt x="387" y="5006"/>
                  </a:lnTo>
                  <a:lnTo>
                    <a:pt x="424" y="4972"/>
                  </a:lnTo>
                  <a:lnTo>
                    <a:pt x="438" y="4952"/>
                  </a:lnTo>
                  <a:lnTo>
                    <a:pt x="453" y="4930"/>
                  </a:lnTo>
                  <a:lnTo>
                    <a:pt x="473" y="4907"/>
                  </a:lnTo>
                  <a:lnTo>
                    <a:pt x="490" y="4897"/>
                  </a:lnTo>
                  <a:lnTo>
                    <a:pt x="523" y="4888"/>
                  </a:lnTo>
                  <a:lnTo>
                    <a:pt x="599" y="4884"/>
                  </a:lnTo>
                  <a:lnTo>
                    <a:pt x="658" y="4884"/>
                  </a:lnTo>
                  <a:lnTo>
                    <a:pt x="723" y="4883"/>
                  </a:lnTo>
                  <a:lnTo>
                    <a:pt x="799" y="4875"/>
                  </a:lnTo>
                  <a:lnTo>
                    <a:pt x="841" y="4866"/>
                  </a:lnTo>
                  <a:lnTo>
                    <a:pt x="877" y="4853"/>
                  </a:lnTo>
                  <a:lnTo>
                    <a:pt x="906" y="4836"/>
                  </a:lnTo>
                  <a:lnTo>
                    <a:pt x="931" y="4815"/>
                  </a:lnTo>
                  <a:lnTo>
                    <a:pt x="952" y="4789"/>
                  </a:lnTo>
                  <a:lnTo>
                    <a:pt x="961" y="4774"/>
                  </a:lnTo>
                  <a:lnTo>
                    <a:pt x="969" y="4757"/>
                  </a:lnTo>
                  <a:lnTo>
                    <a:pt x="989" y="4685"/>
                  </a:lnTo>
                  <a:lnTo>
                    <a:pt x="1027" y="4503"/>
                  </a:lnTo>
                  <a:lnTo>
                    <a:pt x="1056" y="4334"/>
                  </a:lnTo>
                  <a:lnTo>
                    <a:pt x="1086" y="4164"/>
                  </a:lnTo>
                  <a:lnTo>
                    <a:pt x="1121" y="3997"/>
                  </a:lnTo>
                  <a:lnTo>
                    <a:pt x="1139" y="3940"/>
                  </a:lnTo>
                  <a:lnTo>
                    <a:pt x="1145" y="3932"/>
                  </a:lnTo>
                  <a:lnTo>
                    <a:pt x="1160" y="3923"/>
                  </a:lnTo>
                  <a:lnTo>
                    <a:pt x="1194" y="3917"/>
                  </a:lnTo>
                  <a:lnTo>
                    <a:pt x="1226" y="3923"/>
                  </a:lnTo>
                  <a:lnTo>
                    <a:pt x="1254" y="3941"/>
                  </a:lnTo>
                  <a:lnTo>
                    <a:pt x="1265" y="3954"/>
                  </a:lnTo>
                  <a:lnTo>
                    <a:pt x="1293" y="4008"/>
                  </a:lnTo>
                  <a:lnTo>
                    <a:pt x="1333" y="4099"/>
                  </a:lnTo>
                  <a:lnTo>
                    <a:pt x="1378" y="4207"/>
                  </a:lnTo>
                  <a:lnTo>
                    <a:pt x="1343" y="4275"/>
                  </a:lnTo>
                  <a:lnTo>
                    <a:pt x="1329" y="4306"/>
                  </a:lnTo>
                  <a:lnTo>
                    <a:pt x="1313" y="4367"/>
                  </a:lnTo>
                  <a:lnTo>
                    <a:pt x="1311" y="4426"/>
                  </a:lnTo>
                  <a:lnTo>
                    <a:pt x="1323" y="4481"/>
                  </a:lnTo>
                  <a:lnTo>
                    <a:pt x="1348" y="4531"/>
                  </a:lnTo>
                  <a:lnTo>
                    <a:pt x="1385" y="4574"/>
                  </a:lnTo>
                  <a:lnTo>
                    <a:pt x="1434" y="4608"/>
                  </a:lnTo>
                  <a:lnTo>
                    <a:pt x="1493" y="4633"/>
                  </a:lnTo>
                  <a:lnTo>
                    <a:pt x="1526" y="4640"/>
                  </a:lnTo>
                  <a:lnTo>
                    <a:pt x="1539" y="4644"/>
                  </a:lnTo>
                  <a:lnTo>
                    <a:pt x="1560" y="4660"/>
                  </a:lnTo>
                  <a:lnTo>
                    <a:pt x="1582" y="4691"/>
                  </a:lnTo>
                  <a:lnTo>
                    <a:pt x="1607" y="4745"/>
                  </a:lnTo>
                  <a:lnTo>
                    <a:pt x="1623" y="4784"/>
                  </a:lnTo>
                  <a:lnTo>
                    <a:pt x="1642" y="4826"/>
                  </a:lnTo>
                  <a:lnTo>
                    <a:pt x="1683" y="4900"/>
                  </a:lnTo>
                  <a:lnTo>
                    <a:pt x="1729" y="4959"/>
                  </a:lnTo>
                  <a:lnTo>
                    <a:pt x="1779" y="5004"/>
                  </a:lnTo>
                  <a:lnTo>
                    <a:pt x="1834" y="5034"/>
                  </a:lnTo>
                  <a:lnTo>
                    <a:pt x="1893" y="5050"/>
                  </a:lnTo>
                  <a:lnTo>
                    <a:pt x="1955" y="5051"/>
                  </a:lnTo>
                  <a:lnTo>
                    <a:pt x="2021" y="5038"/>
                  </a:lnTo>
                  <a:lnTo>
                    <a:pt x="2055" y="5025"/>
                  </a:lnTo>
                  <a:lnTo>
                    <a:pt x="2084" y="5012"/>
                  </a:lnTo>
                  <a:lnTo>
                    <a:pt x="2132" y="4981"/>
                  </a:lnTo>
                  <a:lnTo>
                    <a:pt x="2170" y="4943"/>
                  </a:lnTo>
                  <a:lnTo>
                    <a:pt x="2201" y="4898"/>
                  </a:lnTo>
                  <a:lnTo>
                    <a:pt x="2213" y="4870"/>
                  </a:lnTo>
                  <a:lnTo>
                    <a:pt x="2229" y="4823"/>
                  </a:lnTo>
                  <a:lnTo>
                    <a:pt x="2289" y="4572"/>
                  </a:lnTo>
                  <a:lnTo>
                    <a:pt x="2325" y="4409"/>
                  </a:lnTo>
                  <a:lnTo>
                    <a:pt x="2366" y="4221"/>
                  </a:lnTo>
                  <a:lnTo>
                    <a:pt x="2408" y="4054"/>
                  </a:lnTo>
                  <a:lnTo>
                    <a:pt x="2428" y="4000"/>
                  </a:lnTo>
                  <a:lnTo>
                    <a:pt x="2435" y="3992"/>
                  </a:lnTo>
                  <a:lnTo>
                    <a:pt x="2460" y="3976"/>
                  </a:lnTo>
                  <a:lnTo>
                    <a:pt x="2502" y="3944"/>
                  </a:lnTo>
                  <a:lnTo>
                    <a:pt x="2537" y="3911"/>
                  </a:lnTo>
                  <a:lnTo>
                    <a:pt x="2565" y="3878"/>
                  </a:lnTo>
                  <a:lnTo>
                    <a:pt x="2576" y="3860"/>
                  </a:lnTo>
                  <a:lnTo>
                    <a:pt x="2583" y="3851"/>
                  </a:lnTo>
                  <a:lnTo>
                    <a:pt x="2601" y="3833"/>
                  </a:lnTo>
                  <a:lnTo>
                    <a:pt x="2639" y="3807"/>
                  </a:lnTo>
                  <a:lnTo>
                    <a:pt x="2696" y="3781"/>
                  </a:lnTo>
                  <a:lnTo>
                    <a:pt x="2735" y="3773"/>
                  </a:lnTo>
                  <a:lnTo>
                    <a:pt x="2754" y="3774"/>
                  </a:lnTo>
                  <a:lnTo>
                    <a:pt x="2761" y="3777"/>
                  </a:lnTo>
                  <a:lnTo>
                    <a:pt x="2764" y="3788"/>
                  </a:lnTo>
                  <a:lnTo>
                    <a:pt x="2769" y="3887"/>
                  </a:lnTo>
                  <a:lnTo>
                    <a:pt x="2774" y="4165"/>
                  </a:lnTo>
                  <a:lnTo>
                    <a:pt x="2775" y="4419"/>
                  </a:lnTo>
                  <a:lnTo>
                    <a:pt x="2775" y="5050"/>
                  </a:lnTo>
                  <a:lnTo>
                    <a:pt x="3916" y="5050"/>
                  </a:lnTo>
                  <a:lnTo>
                    <a:pt x="5058" y="5050"/>
                  </a:lnTo>
                  <a:lnTo>
                    <a:pt x="5058" y="3812"/>
                  </a:lnTo>
                  <a:lnTo>
                    <a:pt x="5058" y="2575"/>
                  </a:lnTo>
                  <a:lnTo>
                    <a:pt x="4745" y="2262"/>
                  </a:lnTo>
                  <a:lnTo>
                    <a:pt x="4433" y="1950"/>
                  </a:lnTo>
                  <a:lnTo>
                    <a:pt x="4096" y="1950"/>
                  </a:lnTo>
                  <a:lnTo>
                    <a:pt x="3758" y="1950"/>
                  </a:lnTo>
                  <a:lnTo>
                    <a:pt x="3755" y="1304"/>
                  </a:lnTo>
                  <a:lnTo>
                    <a:pt x="3750" y="659"/>
                  </a:lnTo>
                  <a:lnTo>
                    <a:pt x="3425" y="650"/>
                  </a:lnTo>
                  <a:lnTo>
                    <a:pt x="3100" y="642"/>
                  </a:lnTo>
                  <a:lnTo>
                    <a:pt x="3091" y="392"/>
                  </a:lnTo>
                  <a:lnTo>
                    <a:pt x="3088" y="298"/>
                  </a:lnTo>
                  <a:lnTo>
                    <a:pt x="3081" y="201"/>
                  </a:lnTo>
                  <a:lnTo>
                    <a:pt x="3073" y="153"/>
                  </a:lnTo>
                  <a:lnTo>
                    <a:pt x="3061" y="116"/>
                  </a:lnTo>
                  <a:lnTo>
                    <a:pt x="3045" y="88"/>
                  </a:lnTo>
                  <a:lnTo>
                    <a:pt x="3012" y="54"/>
                  </a:lnTo>
                  <a:lnTo>
                    <a:pt x="2980" y="32"/>
                  </a:lnTo>
                  <a:lnTo>
                    <a:pt x="2971" y="27"/>
                  </a:lnTo>
                  <a:lnTo>
                    <a:pt x="2948" y="18"/>
                  </a:lnTo>
                  <a:lnTo>
                    <a:pt x="2881" y="9"/>
                  </a:lnTo>
                  <a:lnTo>
                    <a:pt x="2511" y="1"/>
                  </a:lnTo>
                  <a:lnTo>
                    <a:pt x="1883" y="0"/>
                  </a:lnTo>
                  <a:lnTo>
                    <a:pt x="1289" y="1"/>
                  </a:lnTo>
                  <a:lnTo>
                    <a:pt x="900" y="8"/>
                  </a:lnTo>
                  <a:lnTo>
                    <a:pt x="819" y="16"/>
                  </a:lnTo>
                  <a:lnTo>
                    <a:pt x="789" y="23"/>
                  </a:lnTo>
                  <a:lnTo>
                    <a:pt x="780" y="27"/>
                  </a:lnTo>
                  <a:close/>
                  <a:moveTo>
                    <a:pt x="2908" y="184"/>
                  </a:moveTo>
                  <a:lnTo>
                    <a:pt x="2919" y="195"/>
                  </a:lnTo>
                  <a:lnTo>
                    <a:pt x="2933" y="223"/>
                  </a:lnTo>
                  <a:lnTo>
                    <a:pt x="2939" y="273"/>
                  </a:lnTo>
                  <a:lnTo>
                    <a:pt x="2939" y="363"/>
                  </a:lnTo>
                  <a:lnTo>
                    <a:pt x="2938" y="430"/>
                  </a:lnTo>
                  <a:lnTo>
                    <a:pt x="2933" y="642"/>
                  </a:lnTo>
                  <a:lnTo>
                    <a:pt x="2858" y="642"/>
                  </a:lnTo>
                  <a:lnTo>
                    <a:pt x="2783" y="642"/>
                  </a:lnTo>
                  <a:lnTo>
                    <a:pt x="2775" y="484"/>
                  </a:lnTo>
                  <a:lnTo>
                    <a:pt x="2766" y="325"/>
                  </a:lnTo>
                  <a:lnTo>
                    <a:pt x="1875" y="325"/>
                  </a:lnTo>
                  <a:lnTo>
                    <a:pt x="983" y="325"/>
                  </a:lnTo>
                  <a:lnTo>
                    <a:pt x="975" y="484"/>
                  </a:lnTo>
                  <a:lnTo>
                    <a:pt x="966" y="642"/>
                  </a:lnTo>
                  <a:lnTo>
                    <a:pt x="891" y="642"/>
                  </a:lnTo>
                  <a:lnTo>
                    <a:pt x="816" y="642"/>
                  </a:lnTo>
                  <a:lnTo>
                    <a:pt x="811" y="430"/>
                  </a:lnTo>
                  <a:lnTo>
                    <a:pt x="810" y="363"/>
                  </a:lnTo>
                  <a:lnTo>
                    <a:pt x="811" y="273"/>
                  </a:lnTo>
                  <a:lnTo>
                    <a:pt x="817" y="223"/>
                  </a:lnTo>
                  <a:lnTo>
                    <a:pt x="830" y="195"/>
                  </a:lnTo>
                  <a:lnTo>
                    <a:pt x="841" y="184"/>
                  </a:lnTo>
                  <a:lnTo>
                    <a:pt x="847" y="178"/>
                  </a:lnTo>
                  <a:lnTo>
                    <a:pt x="864" y="168"/>
                  </a:lnTo>
                  <a:lnTo>
                    <a:pt x="918" y="158"/>
                  </a:lnTo>
                  <a:lnTo>
                    <a:pt x="1258" y="150"/>
                  </a:lnTo>
                  <a:lnTo>
                    <a:pt x="1875" y="150"/>
                  </a:lnTo>
                  <a:lnTo>
                    <a:pt x="2491" y="150"/>
                  </a:lnTo>
                  <a:lnTo>
                    <a:pt x="2831" y="158"/>
                  </a:lnTo>
                  <a:lnTo>
                    <a:pt x="2885" y="168"/>
                  </a:lnTo>
                  <a:lnTo>
                    <a:pt x="2902" y="178"/>
                  </a:lnTo>
                  <a:lnTo>
                    <a:pt x="2908" y="184"/>
                  </a:lnTo>
                  <a:close/>
                  <a:moveTo>
                    <a:pt x="2605" y="562"/>
                  </a:moveTo>
                  <a:lnTo>
                    <a:pt x="2600" y="642"/>
                  </a:lnTo>
                  <a:lnTo>
                    <a:pt x="1875" y="642"/>
                  </a:lnTo>
                  <a:lnTo>
                    <a:pt x="1150" y="642"/>
                  </a:lnTo>
                  <a:lnTo>
                    <a:pt x="1145" y="562"/>
                  </a:lnTo>
                  <a:lnTo>
                    <a:pt x="1140" y="484"/>
                  </a:lnTo>
                  <a:lnTo>
                    <a:pt x="1875" y="484"/>
                  </a:lnTo>
                  <a:lnTo>
                    <a:pt x="2610" y="484"/>
                  </a:lnTo>
                  <a:lnTo>
                    <a:pt x="2605" y="562"/>
                  </a:lnTo>
                  <a:close/>
                  <a:moveTo>
                    <a:pt x="3573" y="815"/>
                  </a:moveTo>
                  <a:lnTo>
                    <a:pt x="3579" y="821"/>
                  </a:lnTo>
                  <a:lnTo>
                    <a:pt x="3587" y="850"/>
                  </a:lnTo>
                  <a:lnTo>
                    <a:pt x="3591" y="947"/>
                  </a:lnTo>
                  <a:lnTo>
                    <a:pt x="3588" y="1077"/>
                  </a:lnTo>
                  <a:lnTo>
                    <a:pt x="3585" y="1174"/>
                  </a:lnTo>
                  <a:lnTo>
                    <a:pt x="3576" y="1280"/>
                  </a:lnTo>
                  <a:lnTo>
                    <a:pt x="3567" y="1336"/>
                  </a:lnTo>
                  <a:lnTo>
                    <a:pt x="3553" y="1382"/>
                  </a:lnTo>
                  <a:lnTo>
                    <a:pt x="3533" y="1421"/>
                  </a:lnTo>
                  <a:lnTo>
                    <a:pt x="3508" y="1457"/>
                  </a:lnTo>
                  <a:lnTo>
                    <a:pt x="3475" y="1493"/>
                  </a:lnTo>
                  <a:lnTo>
                    <a:pt x="3455" y="1512"/>
                  </a:lnTo>
                  <a:lnTo>
                    <a:pt x="3435" y="1531"/>
                  </a:lnTo>
                  <a:lnTo>
                    <a:pt x="3398" y="1561"/>
                  </a:lnTo>
                  <a:lnTo>
                    <a:pt x="3359" y="1584"/>
                  </a:lnTo>
                  <a:lnTo>
                    <a:pt x="3313" y="1601"/>
                  </a:lnTo>
                  <a:lnTo>
                    <a:pt x="3254" y="1613"/>
                  </a:lnTo>
                  <a:lnTo>
                    <a:pt x="3177" y="1621"/>
                  </a:lnTo>
                  <a:lnTo>
                    <a:pt x="3017" y="1628"/>
                  </a:lnTo>
                  <a:lnTo>
                    <a:pt x="2863" y="1630"/>
                  </a:lnTo>
                  <a:lnTo>
                    <a:pt x="2717" y="1633"/>
                  </a:lnTo>
                  <a:lnTo>
                    <a:pt x="2539" y="1632"/>
                  </a:lnTo>
                  <a:lnTo>
                    <a:pt x="2480" y="1624"/>
                  </a:lnTo>
                  <a:lnTo>
                    <a:pt x="2463" y="1614"/>
                  </a:lnTo>
                  <a:lnTo>
                    <a:pt x="2461" y="1599"/>
                  </a:lnTo>
                  <a:lnTo>
                    <a:pt x="2469" y="1578"/>
                  </a:lnTo>
                  <a:lnTo>
                    <a:pt x="2476" y="1565"/>
                  </a:lnTo>
                  <a:lnTo>
                    <a:pt x="2481" y="1555"/>
                  </a:lnTo>
                  <a:lnTo>
                    <a:pt x="2481" y="1533"/>
                  </a:lnTo>
                  <a:lnTo>
                    <a:pt x="2463" y="1505"/>
                  </a:lnTo>
                  <a:lnTo>
                    <a:pt x="2425" y="1461"/>
                  </a:lnTo>
                  <a:lnTo>
                    <a:pt x="2395" y="1430"/>
                  </a:lnTo>
                  <a:lnTo>
                    <a:pt x="2360" y="1397"/>
                  </a:lnTo>
                  <a:lnTo>
                    <a:pt x="2316" y="1356"/>
                  </a:lnTo>
                  <a:lnTo>
                    <a:pt x="2288" y="1342"/>
                  </a:lnTo>
                  <a:lnTo>
                    <a:pt x="2263" y="1347"/>
                  </a:lnTo>
                  <a:lnTo>
                    <a:pt x="2246" y="1355"/>
                  </a:lnTo>
                  <a:lnTo>
                    <a:pt x="2231" y="1363"/>
                  </a:lnTo>
                  <a:lnTo>
                    <a:pt x="2206" y="1371"/>
                  </a:lnTo>
                  <a:lnTo>
                    <a:pt x="2181" y="1370"/>
                  </a:lnTo>
                  <a:lnTo>
                    <a:pt x="2147" y="1358"/>
                  </a:lnTo>
                  <a:lnTo>
                    <a:pt x="2123" y="1349"/>
                  </a:lnTo>
                  <a:lnTo>
                    <a:pt x="2104" y="1340"/>
                  </a:lnTo>
                  <a:lnTo>
                    <a:pt x="2073" y="1321"/>
                  </a:lnTo>
                  <a:lnTo>
                    <a:pt x="2051" y="1301"/>
                  </a:lnTo>
                  <a:lnTo>
                    <a:pt x="2035" y="1279"/>
                  </a:lnTo>
                  <a:lnTo>
                    <a:pt x="2030" y="1267"/>
                  </a:lnTo>
                  <a:lnTo>
                    <a:pt x="2023" y="1250"/>
                  </a:lnTo>
                  <a:lnTo>
                    <a:pt x="2009" y="1229"/>
                  </a:lnTo>
                  <a:lnTo>
                    <a:pt x="1979" y="1219"/>
                  </a:lnTo>
                  <a:lnTo>
                    <a:pt x="1921" y="1217"/>
                  </a:lnTo>
                  <a:lnTo>
                    <a:pt x="1875" y="1217"/>
                  </a:lnTo>
                  <a:lnTo>
                    <a:pt x="1828" y="1217"/>
                  </a:lnTo>
                  <a:lnTo>
                    <a:pt x="1770" y="1219"/>
                  </a:lnTo>
                  <a:lnTo>
                    <a:pt x="1741" y="1229"/>
                  </a:lnTo>
                  <a:lnTo>
                    <a:pt x="1726" y="1250"/>
                  </a:lnTo>
                  <a:lnTo>
                    <a:pt x="1720" y="1267"/>
                  </a:lnTo>
                  <a:lnTo>
                    <a:pt x="1715" y="1278"/>
                  </a:lnTo>
                  <a:lnTo>
                    <a:pt x="1698" y="1300"/>
                  </a:lnTo>
                  <a:lnTo>
                    <a:pt x="1660" y="1331"/>
                  </a:lnTo>
                  <a:lnTo>
                    <a:pt x="1599" y="1361"/>
                  </a:lnTo>
                  <a:lnTo>
                    <a:pt x="1555" y="1371"/>
                  </a:lnTo>
                  <a:lnTo>
                    <a:pt x="1531" y="1369"/>
                  </a:lnTo>
                  <a:lnTo>
                    <a:pt x="1521" y="1365"/>
                  </a:lnTo>
                  <a:lnTo>
                    <a:pt x="1501" y="1356"/>
                  </a:lnTo>
                  <a:lnTo>
                    <a:pt x="1473" y="1351"/>
                  </a:lnTo>
                  <a:lnTo>
                    <a:pt x="1453" y="1355"/>
                  </a:lnTo>
                  <a:lnTo>
                    <a:pt x="1423" y="1369"/>
                  </a:lnTo>
                  <a:lnTo>
                    <a:pt x="1373" y="1411"/>
                  </a:lnTo>
                  <a:lnTo>
                    <a:pt x="1343" y="1442"/>
                  </a:lnTo>
                  <a:lnTo>
                    <a:pt x="1316" y="1470"/>
                  </a:lnTo>
                  <a:lnTo>
                    <a:pt x="1282" y="1509"/>
                  </a:lnTo>
                  <a:lnTo>
                    <a:pt x="1268" y="1536"/>
                  </a:lnTo>
                  <a:lnTo>
                    <a:pt x="1269" y="1557"/>
                  </a:lnTo>
                  <a:lnTo>
                    <a:pt x="1275" y="1569"/>
                  </a:lnTo>
                  <a:lnTo>
                    <a:pt x="1283" y="1586"/>
                  </a:lnTo>
                  <a:lnTo>
                    <a:pt x="1285" y="1606"/>
                  </a:lnTo>
                  <a:lnTo>
                    <a:pt x="1281" y="1616"/>
                  </a:lnTo>
                  <a:lnTo>
                    <a:pt x="1278" y="1620"/>
                  </a:lnTo>
                  <a:lnTo>
                    <a:pt x="1270" y="1624"/>
                  </a:lnTo>
                  <a:lnTo>
                    <a:pt x="1211" y="1629"/>
                  </a:lnTo>
                  <a:lnTo>
                    <a:pt x="1043" y="1632"/>
                  </a:lnTo>
                  <a:lnTo>
                    <a:pt x="873" y="1630"/>
                  </a:lnTo>
                  <a:lnTo>
                    <a:pt x="724" y="1628"/>
                  </a:lnTo>
                  <a:lnTo>
                    <a:pt x="569" y="1621"/>
                  </a:lnTo>
                  <a:lnTo>
                    <a:pt x="493" y="1613"/>
                  </a:lnTo>
                  <a:lnTo>
                    <a:pt x="435" y="1601"/>
                  </a:lnTo>
                  <a:lnTo>
                    <a:pt x="389" y="1584"/>
                  </a:lnTo>
                  <a:lnTo>
                    <a:pt x="351" y="1561"/>
                  </a:lnTo>
                  <a:lnTo>
                    <a:pt x="314" y="1531"/>
                  </a:lnTo>
                  <a:lnTo>
                    <a:pt x="295" y="1512"/>
                  </a:lnTo>
                  <a:lnTo>
                    <a:pt x="275" y="1493"/>
                  </a:lnTo>
                  <a:lnTo>
                    <a:pt x="242" y="1457"/>
                  </a:lnTo>
                  <a:lnTo>
                    <a:pt x="216" y="1421"/>
                  </a:lnTo>
                  <a:lnTo>
                    <a:pt x="197" y="1382"/>
                  </a:lnTo>
                  <a:lnTo>
                    <a:pt x="183" y="1336"/>
                  </a:lnTo>
                  <a:lnTo>
                    <a:pt x="173" y="1280"/>
                  </a:lnTo>
                  <a:lnTo>
                    <a:pt x="164" y="1174"/>
                  </a:lnTo>
                  <a:lnTo>
                    <a:pt x="161" y="1077"/>
                  </a:lnTo>
                  <a:lnTo>
                    <a:pt x="159" y="947"/>
                  </a:lnTo>
                  <a:lnTo>
                    <a:pt x="163" y="850"/>
                  </a:lnTo>
                  <a:lnTo>
                    <a:pt x="171" y="821"/>
                  </a:lnTo>
                  <a:lnTo>
                    <a:pt x="176" y="815"/>
                  </a:lnTo>
                  <a:lnTo>
                    <a:pt x="205" y="812"/>
                  </a:lnTo>
                  <a:lnTo>
                    <a:pt x="468" y="807"/>
                  </a:lnTo>
                  <a:lnTo>
                    <a:pt x="1203" y="801"/>
                  </a:lnTo>
                  <a:lnTo>
                    <a:pt x="1875" y="800"/>
                  </a:lnTo>
                  <a:lnTo>
                    <a:pt x="2546" y="801"/>
                  </a:lnTo>
                  <a:lnTo>
                    <a:pt x="3281" y="807"/>
                  </a:lnTo>
                  <a:lnTo>
                    <a:pt x="3545" y="812"/>
                  </a:lnTo>
                  <a:lnTo>
                    <a:pt x="3573" y="815"/>
                  </a:lnTo>
                  <a:close/>
                  <a:moveTo>
                    <a:pt x="1915" y="1425"/>
                  </a:moveTo>
                  <a:lnTo>
                    <a:pt x="1921" y="1434"/>
                  </a:lnTo>
                  <a:lnTo>
                    <a:pt x="1940" y="1451"/>
                  </a:lnTo>
                  <a:lnTo>
                    <a:pt x="1979" y="1474"/>
                  </a:lnTo>
                  <a:lnTo>
                    <a:pt x="2008" y="1484"/>
                  </a:lnTo>
                  <a:lnTo>
                    <a:pt x="2038" y="1493"/>
                  </a:lnTo>
                  <a:lnTo>
                    <a:pt x="2106" y="1521"/>
                  </a:lnTo>
                  <a:lnTo>
                    <a:pt x="2133" y="1535"/>
                  </a:lnTo>
                  <a:lnTo>
                    <a:pt x="2150" y="1545"/>
                  </a:lnTo>
                  <a:lnTo>
                    <a:pt x="2175" y="1557"/>
                  </a:lnTo>
                  <a:lnTo>
                    <a:pt x="2196" y="1560"/>
                  </a:lnTo>
                  <a:lnTo>
                    <a:pt x="2216" y="1555"/>
                  </a:lnTo>
                  <a:lnTo>
                    <a:pt x="2226" y="1550"/>
                  </a:lnTo>
                  <a:lnTo>
                    <a:pt x="2243" y="1542"/>
                  </a:lnTo>
                  <a:lnTo>
                    <a:pt x="2270" y="1541"/>
                  </a:lnTo>
                  <a:lnTo>
                    <a:pt x="2284" y="1555"/>
                  </a:lnTo>
                  <a:lnTo>
                    <a:pt x="2284" y="1581"/>
                  </a:lnTo>
                  <a:lnTo>
                    <a:pt x="2276" y="1599"/>
                  </a:lnTo>
                  <a:lnTo>
                    <a:pt x="2271" y="1609"/>
                  </a:lnTo>
                  <a:lnTo>
                    <a:pt x="2267" y="1630"/>
                  </a:lnTo>
                  <a:lnTo>
                    <a:pt x="2272" y="1655"/>
                  </a:lnTo>
                  <a:lnTo>
                    <a:pt x="2286" y="1690"/>
                  </a:lnTo>
                  <a:lnTo>
                    <a:pt x="2298" y="1712"/>
                  </a:lnTo>
                  <a:lnTo>
                    <a:pt x="2316" y="1747"/>
                  </a:lnTo>
                  <a:lnTo>
                    <a:pt x="2344" y="1816"/>
                  </a:lnTo>
                  <a:lnTo>
                    <a:pt x="2351" y="1839"/>
                  </a:lnTo>
                  <a:lnTo>
                    <a:pt x="2357" y="1859"/>
                  </a:lnTo>
                  <a:lnTo>
                    <a:pt x="2385" y="1899"/>
                  </a:lnTo>
                  <a:lnTo>
                    <a:pt x="2401" y="1912"/>
                  </a:lnTo>
                  <a:lnTo>
                    <a:pt x="2419" y="1924"/>
                  </a:lnTo>
                  <a:lnTo>
                    <a:pt x="2437" y="1946"/>
                  </a:lnTo>
                  <a:lnTo>
                    <a:pt x="2438" y="1966"/>
                  </a:lnTo>
                  <a:lnTo>
                    <a:pt x="2421" y="1984"/>
                  </a:lnTo>
                  <a:lnTo>
                    <a:pt x="2405" y="1992"/>
                  </a:lnTo>
                  <a:lnTo>
                    <a:pt x="2396" y="1997"/>
                  </a:lnTo>
                  <a:lnTo>
                    <a:pt x="2379" y="2014"/>
                  </a:lnTo>
                  <a:lnTo>
                    <a:pt x="2354" y="2056"/>
                  </a:lnTo>
                  <a:lnTo>
                    <a:pt x="2340" y="2094"/>
                  </a:lnTo>
                  <a:lnTo>
                    <a:pt x="2327" y="2131"/>
                  </a:lnTo>
                  <a:lnTo>
                    <a:pt x="2297" y="2200"/>
                  </a:lnTo>
                  <a:lnTo>
                    <a:pt x="2283" y="2222"/>
                  </a:lnTo>
                  <a:lnTo>
                    <a:pt x="2276" y="2235"/>
                  </a:lnTo>
                  <a:lnTo>
                    <a:pt x="2267" y="2255"/>
                  </a:lnTo>
                  <a:lnTo>
                    <a:pt x="2265" y="2272"/>
                  </a:lnTo>
                  <a:lnTo>
                    <a:pt x="2270" y="2290"/>
                  </a:lnTo>
                  <a:lnTo>
                    <a:pt x="2275" y="2300"/>
                  </a:lnTo>
                  <a:lnTo>
                    <a:pt x="2283" y="2319"/>
                  </a:lnTo>
                  <a:lnTo>
                    <a:pt x="2284" y="2342"/>
                  </a:lnTo>
                  <a:lnTo>
                    <a:pt x="2280" y="2353"/>
                  </a:lnTo>
                  <a:lnTo>
                    <a:pt x="2273" y="2361"/>
                  </a:lnTo>
                  <a:lnTo>
                    <a:pt x="2262" y="2365"/>
                  </a:lnTo>
                  <a:lnTo>
                    <a:pt x="2241" y="2363"/>
                  </a:lnTo>
                  <a:lnTo>
                    <a:pt x="2223" y="2354"/>
                  </a:lnTo>
                  <a:lnTo>
                    <a:pt x="2213" y="2347"/>
                  </a:lnTo>
                  <a:lnTo>
                    <a:pt x="2195" y="2342"/>
                  </a:lnTo>
                  <a:lnTo>
                    <a:pt x="2176" y="2344"/>
                  </a:lnTo>
                  <a:lnTo>
                    <a:pt x="2150" y="2357"/>
                  </a:lnTo>
                  <a:lnTo>
                    <a:pt x="2133" y="2367"/>
                  </a:lnTo>
                  <a:lnTo>
                    <a:pt x="2106" y="2383"/>
                  </a:lnTo>
                  <a:lnTo>
                    <a:pt x="2037" y="2413"/>
                  </a:lnTo>
                  <a:lnTo>
                    <a:pt x="2005" y="2422"/>
                  </a:lnTo>
                  <a:lnTo>
                    <a:pt x="1972" y="2433"/>
                  </a:lnTo>
                  <a:lnTo>
                    <a:pt x="1937" y="2455"/>
                  </a:lnTo>
                  <a:lnTo>
                    <a:pt x="1921" y="2472"/>
                  </a:lnTo>
                  <a:lnTo>
                    <a:pt x="1916" y="2480"/>
                  </a:lnTo>
                  <a:lnTo>
                    <a:pt x="1909" y="2495"/>
                  </a:lnTo>
                  <a:lnTo>
                    <a:pt x="1886" y="2515"/>
                  </a:lnTo>
                  <a:lnTo>
                    <a:pt x="1875" y="2517"/>
                  </a:lnTo>
                  <a:lnTo>
                    <a:pt x="1864" y="2515"/>
                  </a:lnTo>
                  <a:lnTo>
                    <a:pt x="1841" y="2495"/>
                  </a:lnTo>
                  <a:lnTo>
                    <a:pt x="1833" y="2480"/>
                  </a:lnTo>
                  <a:lnTo>
                    <a:pt x="1829" y="2472"/>
                  </a:lnTo>
                  <a:lnTo>
                    <a:pt x="1813" y="2455"/>
                  </a:lnTo>
                  <a:lnTo>
                    <a:pt x="1777" y="2433"/>
                  </a:lnTo>
                  <a:lnTo>
                    <a:pt x="1745" y="2422"/>
                  </a:lnTo>
                  <a:lnTo>
                    <a:pt x="1713" y="2413"/>
                  </a:lnTo>
                  <a:lnTo>
                    <a:pt x="1643" y="2383"/>
                  </a:lnTo>
                  <a:lnTo>
                    <a:pt x="1616" y="2367"/>
                  </a:lnTo>
                  <a:lnTo>
                    <a:pt x="1599" y="2357"/>
                  </a:lnTo>
                  <a:lnTo>
                    <a:pt x="1574" y="2344"/>
                  </a:lnTo>
                  <a:lnTo>
                    <a:pt x="1554" y="2342"/>
                  </a:lnTo>
                  <a:lnTo>
                    <a:pt x="1536" y="2347"/>
                  </a:lnTo>
                  <a:lnTo>
                    <a:pt x="1526" y="2354"/>
                  </a:lnTo>
                  <a:lnTo>
                    <a:pt x="1509" y="2363"/>
                  </a:lnTo>
                  <a:lnTo>
                    <a:pt x="1487" y="2365"/>
                  </a:lnTo>
                  <a:lnTo>
                    <a:pt x="1476" y="2361"/>
                  </a:lnTo>
                  <a:lnTo>
                    <a:pt x="1469" y="2353"/>
                  </a:lnTo>
                  <a:lnTo>
                    <a:pt x="1465" y="2342"/>
                  </a:lnTo>
                  <a:lnTo>
                    <a:pt x="1466" y="2319"/>
                  </a:lnTo>
                  <a:lnTo>
                    <a:pt x="1475" y="2300"/>
                  </a:lnTo>
                  <a:lnTo>
                    <a:pt x="1480" y="2290"/>
                  </a:lnTo>
                  <a:lnTo>
                    <a:pt x="1485" y="2272"/>
                  </a:lnTo>
                  <a:lnTo>
                    <a:pt x="1483" y="2255"/>
                  </a:lnTo>
                  <a:lnTo>
                    <a:pt x="1474" y="2235"/>
                  </a:lnTo>
                  <a:lnTo>
                    <a:pt x="1466" y="2222"/>
                  </a:lnTo>
                  <a:lnTo>
                    <a:pt x="1453" y="2200"/>
                  </a:lnTo>
                  <a:lnTo>
                    <a:pt x="1422" y="2131"/>
                  </a:lnTo>
                  <a:lnTo>
                    <a:pt x="1410" y="2094"/>
                  </a:lnTo>
                  <a:lnTo>
                    <a:pt x="1395" y="2056"/>
                  </a:lnTo>
                  <a:lnTo>
                    <a:pt x="1370" y="2014"/>
                  </a:lnTo>
                  <a:lnTo>
                    <a:pt x="1353" y="1997"/>
                  </a:lnTo>
                  <a:lnTo>
                    <a:pt x="1345" y="1992"/>
                  </a:lnTo>
                  <a:lnTo>
                    <a:pt x="1329" y="1984"/>
                  </a:lnTo>
                  <a:lnTo>
                    <a:pt x="1311" y="1966"/>
                  </a:lnTo>
                  <a:lnTo>
                    <a:pt x="1312" y="1946"/>
                  </a:lnTo>
                  <a:lnTo>
                    <a:pt x="1331" y="1924"/>
                  </a:lnTo>
                  <a:lnTo>
                    <a:pt x="1348" y="1912"/>
                  </a:lnTo>
                  <a:lnTo>
                    <a:pt x="1364" y="1899"/>
                  </a:lnTo>
                  <a:lnTo>
                    <a:pt x="1392" y="1859"/>
                  </a:lnTo>
                  <a:lnTo>
                    <a:pt x="1398" y="1839"/>
                  </a:lnTo>
                  <a:lnTo>
                    <a:pt x="1405" y="1816"/>
                  </a:lnTo>
                  <a:lnTo>
                    <a:pt x="1434" y="1747"/>
                  </a:lnTo>
                  <a:lnTo>
                    <a:pt x="1451" y="1712"/>
                  </a:lnTo>
                  <a:lnTo>
                    <a:pt x="1463" y="1690"/>
                  </a:lnTo>
                  <a:lnTo>
                    <a:pt x="1477" y="1655"/>
                  </a:lnTo>
                  <a:lnTo>
                    <a:pt x="1482" y="1630"/>
                  </a:lnTo>
                  <a:lnTo>
                    <a:pt x="1478" y="1609"/>
                  </a:lnTo>
                  <a:lnTo>
                    <a:pt x="1473" y="1599"/>
                  </a:lnTo>
                  <a:lnTo>
                    <a:pt x="1465" y="1581"/>
                  </a:lnTo>
                  <a:lnTo>
                    <a:pt x="1465" y="1555"/>
                  </a:lnTo>
                  <a:lnTo>
                    <a:pt x="1480" y="1541"/>
                  </a:lnTo>
                  <a:lnTo>
                    <a:pt x="1506" y="1542"/>
                  </a:lnTo>
                  <a:lnTo>
                    <a:pt x="1523" y="1550"/>
                  </a:lnTo>
                  <a:lnTo>
                    <a:pt x="1534" y="1555"/>
                  </a:lnTo>
                  <a:lnTo>
                    <a:pt x="1553" y="1560"/>
                  </a:lnTo>
                  <a:lnTo>
                    <a:pt x="1574" y="1557"/>
                  </a:lnTo>
                  <a:lnTo>
                    <a:pt x="1601" y="1545"/>
                  </a:lnTo>
                  <a:lnTo>
                    <a:pt x="1618" y="1535"/>
                  </a:lnTo>
                  <a:lnTo>
                    <a:pt x="1645" y="1520"/>
                  </a:lnTo>
                  <a:lnTo>
                    <a:pt x="1717" y="1491"/>
                  </a:lnTo>
                  <a:lnTo>
                    <a:pt x="1748" y="1482"/>
                  </a:lnTo>
                  <a:lnTo>
                    <a:pt x="1766" y="1477"/>
                  </a:lnTo>
                  <a:lnTo>
                    <a:pt x="1796" y="1466"/>
                  </a:lnTo>
                  <a:lnTo>
                    <a:pt x="1818" y="1452"/>
                  </a:lnTo>
                  <a:lnTo>
                    <a:pt x="1834" y="1434"/>
                  </a:lnTo>
                  <a:lnTo>
                    <a:pt x="1840" y="1424"/>
                  </a:lnTo>
                  <a:lnTo>
                    <a:pt x="1848" y="1406"/>
                  </a:lnTo>
                  <a:lnTo>
                    <a:pt x="1865" y="1388"/>
                  </a:lnTo>
                  <a:lnTo>
                    <a:pt x="1882" y="1388"/>
                  </a:lnTo>
                  <a:lnTo>
                    <a:pt x="1903" y="1408"/>
                  </a:lnTo>
                  <a:lnTo>
                    <a:pt x="1915" y="1425"/>
                  </a:lnTo>
                  <a:close/>
                  <a:moveTo>
                    <a:pt x="231" y="1675"/>
                  </a:moveTo>
                  <a:lnTo>
                    <a:pt x="274" y="1707"/>
                  </a:lnTo>
                  <a:lnTo>
                    <a:pt x="333" y="1739"/>
                  </a:lnTo>
                  <a:lnTo>
                    <a:pt x="378" y="1754"/>
                  </a:lnTo>
                  <a:lnTo>
                    <a:pt x="464" y="1770"/>
                  </a:lnTo>
                  <a:lnTo>
                    <a:pt x="646" y="1780"/>
                  </a:lnTo>
                  <a:lnTo>
                    <a:pt x="781" y="1784"/>
                  </a:lnTo>
                  <a:lnTo>
                    <a:pt x="1146" y="1792"/>
                  </a:lnTo>
                  <a:lnTo>
                    <a:pt x="1143" y="1939"/>
                  </a:lnTo>
                  <a:lnTo>
                    <a:pt x="1140" y="2085"/>
                  </a:lnTo>
                  <a:lnTo>
                    <a:pt x="1190" y="2105"/>
                  </a:lnTo>
                  <a:lnTo>
                    <a:pt x="1203" y="2111"/>
                  </a:lnTo>
                  <a:lnTo>
                    <a:pt x="1226" y="2126"/>
                  </a:lnTo>
                  <a:lnTo>
                    <a:pt x="1245" y="2149"/>
                  </a:lnTo>
                  <a:lnTo>
                    <a:pt x="1263" y="2181"/>
                  </a:lnTo>
                  <a:lnTo>
                    <a:pt x="1271" y="2200"/>
                  </a:lnTo>
                  <a:lnTo>
                    <a:pt x="1282" y="2225"/>
                  </a:lnTo>
                  <a:lnTo>
                    <a:pt x="1293" y="2260"/>
                  </a:lnTo>
                  <a:lnTo>
                    <a:pt x="1295" y="2285"/>
                  </a:lnTo>
                  <a:lnTo>
                    <a:pt x="1287" y="2310"/>
                  </a:lnTo>
                  <a:lnTo>
                    <a:pt x="1280" y="2325"/>
                  </a:lnTo>
                  <a:lnTo>
                    <a:pt x="1271" y="2341"/>
                  </a:lnTo>
                  <a:lnTo>
                    <a:pt x="1266" y="2359"/>
                  </a:lnTo>
                  <a:lnTo>
                    <a:pt x="1268" y="2371"/>
                  </a:lnTo>
                  <a:lnTo>
                    <a:pt x="1280" y="2392"/>
                  </a:lnTo>
                  <a:lnTo>
                    <a:pt x="1321" y="2436"/>
                  </a:lnTo>
                  <a:lnTo>
                    <a:pt x="1355" y="2470"/>
                  </a:lnTo>
                  <a:lnTo>
                    <a:pt x="1389" y="2504"/>
                  </a:lnTo>
                  <a:lnTo>
                    <a:pt x="1433" y="2545"/>
                  </a:lnTo>
                  <a:lnTo>
                    <a:pt x="1454" y="2557"/>
                  </a:lnTo>
                  <a:lnTo>
                    <a:pt x="1466" y="2559"/>
                  </a:lnTo>
                  <a:lnTo>
                    <a:pt x="1484" y="2554"/>
                  </a:lnTo>
                  <a:lnTo>
                    <a:pt x="1500" y="2545"/>
                  </a:lnTo>
                  <a:lnTo>
                    <a:pt x="1515" y="2538"/>
                  </a:lnTo>
                  <a:lnTo>
                    <a:pt x="1540" y="2530"/>
                  </a:lnTo>
                  <a:lnTo>
                    <a:pt x="1565" y="2532"/>
                  </a:lnTo>
                  <a:lnTo>
                    <a:pt x="1600" y="2543"/>
                  </a:lnTo>
                  <a:lnTo>
                    <a:pt x="1625" y="2554"/>
                  </a:lnTo>
                  <a:lnTo>
                    <a:pt x="1644" y="2562"/>
                  </a:lnTo>
                  <a:lnTo>
                    <a:pt x="1676" y="2580"/>
                  </a:lnTo>
                  <a:lnTo>
                    <a:pt x="1699" y="2599"/>
                  </a:lnTo>
                  <a:lnTo>
                    <a:pt x="1714" y="2622"/>
                  </a:lnTo>
                  <a:lnTo>
                    <a:pt x="1720" y="2635"/>
                  </a:lnTo>
                  <a:lnTo>
                    <a:pt x="1726" y="2652"/>
                  </a:lnTo>
                  <a:lnTo>
                    <a:pt x="1741" y="2672"/>
                  </a:lnTo>
                  <a:lnTo>
                    <a:pt x="1770" y="2681"/>
                  </a:lnTo>
                  <a:lnTo>
                    <a:pt x="1828" y="2684"/>
                  </a:lnTo>
                  <a:lnTo>
                    <a:pt x="1875" y="2684"/>
                  </a:lnTo>
                  <a:lnTo>
                    <a:pt x="1921" y="2684"/>
                  </a:lnTo>
                  <a:lnTo>
                    <a:pt x="1979" y="2681"/>
                  </a:lnTo>
                  <a:lnTo>
                    <a:pt x="2009" y="2672"/>
                  </a:lnTo>
                  <a:lnTo>
                    <a:pt x="2023" y="2652"/>
                  </a:lnTo>
                  <a:lnTo>
                    <a:pt x="2030" y="2635"/>
                  </a:lnTo>
                  <a:lnTo>
                    <a:pt x="2035" y="2622"/>
                  </a:lnTo>
                  <a:lnTo>
                    <a:pt x="2051" y="2599"/>
                  </a:lnTo>
                  <a:lnTo>
                    <a:pt x="2074" y="2580"/>
                  </a:lnTo>
                  <a:lnTo>
                    <a:pt x="2105" y="2562"/>
                  </a:lnTo>
                  <a:lnTo>
                    <a:pt x="2125" y="2554"/>
                  </a:lnTo>
                  <a:lnTo>
                    <a:pt x="2149" y="2543"/>
                  </a:lnTo>
                  <a:lnTo>
                    <a:pt x="2184" y="2532"/>
                  </a:lnTo>
                  <a:lnTo>
                    <a:pt x="2210" y="2530"/>
                  </a:lnTo>
                  <a:lnTo>
                    <a:pt x="2234" y="2538"/>
                  </a:lnTo>
                  <a:lnTo>
                    <a:pt x="2250" y="2545"/>
                  </a:lnTo>
                  <a:lnTo>
                    <a:pt x="2265" y="2554"/>
                  </a:lnTo>
                  <a:lnTo>
                    <a:pt x="2283" y="2559"/>
                  </a:lnTo>
                  <a:lnTo>
                    <a:pt x="2296" y="2557"/>
                  </a:lnTo>
                  <a:lnTo>
                    <a:pt x="2317" y="2545"/>
                  </a:lnTo>
                  <a:lnTo>
                    <a:pt x="2361" y="2504"/>
                  </a:lnTo>
                  <a:lnTo>
                    <a:pt x="2395" y="2470"/>
                  </a:lnTo>
                  <a:lnTo>
                    <a:pt x="2429" y="2436"/>
                  </a:lnTo>
                  <a:lnTo>
                    <a:pt x="2469" y="2392"/>
                  </a:lnTo>
                  <a:lnTo>
                    <a:pt x="2482" y="2371"/>
                  </a:lnTo>
                  <a:lnTo>
                    <a:pt x="2483" y="2359"/>
                  </a:lnTo>
                  <a:lnTo>
                    <a:pt x="2478" y="2341"/>
                  </a:lnTo>
                  <a:lnTo>
                    <a:pt x="2470" y="2325"/>
                  </a:lnTo>
                  <a:lnTo>
                    <a:pt x="2462" y="2310"/>
                  </a:lnTo>
                  <a:lnTo>
                    <a:pt x="2454" y="2285"/>
                  </a:lnTo>
                  <a:lnTo>
                    <a:pt x="2456" y="2260"/>
                  </a:lnTo>
                  <a:lnTo>
                    <a:pt x="2468" y="2225"/>
                  </a:lnTo>
                  <a:lnTo>
                    <a:pt x="2478" y="2200"/>
                  </a:lnTo>
                  <a:lnTo>
                    <a:pt x="2487" y="2181"/>
                  </a:lnTo>
                  <a:lnTo>
                    <a:pt x="2504" y="2149"/>
                  </a:lnTo>
                  <a:lnTo>
                    <a:pt x="2524" y="2126"/>
                  </a:lnTo>
                  <a:lnTo>
                    <a:pt x="2546" y="2111"/>
                  </a:lnTo>
                  <a:lnTo>
                    <a:pt x="2560" y="2105"/>
                  </a:lnTo>
                  <a:lnTo>
                    <a:pt x="2610" y="2085"/>
                  </a:lnTo>
                  <a:lnTo>
                    <a:pt x="2606" y="1939"/>
                  </a:lnTo>
                  <a:lnTo>
                    <a:pt x="2603" y="1792"/>
                  </a:lnTo>
                  <a:lnTo>
                    <a:pt x="2968" y="1784"/>
                  </a:lnTo>
                  <a:lnTo>
                    <a:pt x="3104" y="1780"/>
                  </a:lnTo>
                  <a:lnTo>
                    <a:pt x="3285" y="1770"/>
                  </a:lnTo>
                  <a:lnTo>
                    <a:pt x="3371" y="1754"/>
                  </a:lnTo>
                  <a:lnTo>
                    <a:pt x="3416" y="1739"/>
                  </a:lnTo>
                  <a:lnTo>
                    <a:pt x="3476" y="1707"/>
                  </a:lnTo>
                  <a:lnTo>
                    <a:pt x="3518" y="1675"/>
                  </a:lnTo>
                  <a:lnTo>
                    <a:pt x="3540" y="1658"/>
                  </a:lnTo>
                  <a:lnTo>
                    <a:pt x="3575" y="1636"/>
                  </a:lnTo>
                  <a:lnTo>
                    <a:pt x="3583" y="1634"/>
                  </a:lnTo>
                  <a:lnTo>
                    <a:pt x="3586" y="1642"/>
                  </a:lnTo>
                  <a:lnTo>
                    <a:pt x="3589" y="1726"/>
                  </a:lnTo>
                  <a:lnTo>
                    <a:pt x="3588" y="1787"/>
                  </a:lnTo>
                  <a:lnTo>
                    <a:pt x="3583" y="1942"/>
                  </a:lnTo>
                  <a:lnTo>
                    <a:pt x="3180" y="1947"/>
                  </a:lnTo>
                  <a:lnTo>
                    <a:pt x="2775" y="1950"/>
                  </a:lnTo>
                  <a:lnTo>
                    <a:pt x="2775" y="2559"/>
                  </a:lnTo>
                  <a:lnTo>
                    <a:pt x="2775" y="3167"/>
                  </a:lnTo>
                  <a:lnTo>
                    <a:pt x="2738" y="3175"/>
                  </a:lnTo>
                  <a:lnTo>
                    <a:pt x="2652" y="3179"/>
                  </a:lnTo>
                  <a:lnTo>
                    <a:pt x="1953" y="3181"/>
                  </a:lnTo>
                  <a:lnTo>
                    <a:pt x="1453" y="3180"/>
                  </a:lnTo>
                  <a:lnTo>
                    <a:pt x="690" y="3177"/>
                  </a:lnTo>
                  <a:lnTo>
                    <a:pt x="267" y="3167"/>
                  </a:lnTo>
                  <a:lnTo>
                    <a:pt x="202" y="3158"/>
                  </a:lnTo>
                  <a:lnTo>
                    <a:pt x="186" y="3149"/>
                  </a:lnTo>
                  <a:lnTo>
                    <a:pt x="181" y="3144"/>
                  </a:lnTo>
                  <a:lnTo>
                    <a:pt x="178" y="3138"/>
                  </a:lnTo>
                  <a:lnTo>
                    <a:pt x="172" y="3116"/>
                  </a:lnTo>
                  <a:lnTo>
                    <a:pt x="165" y="3053"/>
                  </a:lnTo>
                  <a:lnTo>
                    <a:pt x="158" y="2771"/>
                  </a:lnTo>
                  <a:lnTo>
                    <a:pt x="158" y="2372"/>
                  </a:lnTo>
                  <a:lnTo>
                    <a:pt x="159" y="2076"/>
                  </a:lnTo>
                  <a:lnTo>
                    <a:pt x="164" y="1675"/>
                  </a:lnTo>
                  <a:lnTo>
                    <a:pt x="168" y="1634"/>
                  </a:lnTo>
                  <a:lnTo>
                    <a:pt x="187" y="1643"/>
                  </a:lnTo>
                  <a:lnTo>
                    <a:pt x="231" y="1675"/>
                  </a:lnTo>
                  <a:close/>
                  <a:moveTo>
                    <a:pt x="4325" y="2400"/>
                  </a:moveTo>
                  <a:lnTo>
                    <a:pt x="4325" y="2684"/>
                  </a:lnTo>
                  <a:lnTo>
                    <a:pt x="4608" y="2684"/>
                  </a:lnTo>
                  <a:lnTo>
                    <a:pt x="4891" y="2684"/>
                  </a:lnTo>
                  <a:lnTo>
                    <a:pt x="4891" y="3784"/>
                  </a:lnTo>
                  <a:lnTo>
                    <a:pt x="4891" y="4884"/>
                  </a:lnTo>
                  <a:lnTo>
                    <a:pt x="3916" y="4884"/>
                  </a:lnTo>
                  <a:lnTo>
                    <a:pt x="2941" y="4884"/>
                  </a:lnTo>
                  <a:lnTo>
                    <a:pt x="2941" y="4302"/>
                  </a:lnTo>
                  <a:lnTo>
                    <a:pt x="2941" y="3719"/>
                  </a:lnTo>
                  <a:lnTo>
                    <a:pt x="3030" y="3694"/>
                  </a:lnTo>
                  <a:lnTo>
                    <a:pt x="3119" y="3669"/>
                  </a:lnTo>
                  <a:lnTo>
                    <a:pt x="3205" y="3649"/>
                  </a:lnTo>
                  <a:lnTo>
                    <a:pt x="3233" y="3642"/>
                  </a:lnTo>
                  <a:lnTo>
                    <a:pt x="3272" y="3636"/>
                  </a:lnTo>
                  <a:lnTo>
                    <a:pt x="3299" y="3642"/>
                  </a:lnTo>
                  <a:lnTo>
                    <a:pt x="3328" y="3663"/>
                  </a:lnTo>
                  <a:lnTo>
                    <a:pt x="3348" y="3680"/>
                  </a:lnTo>
                  <a:lnTo>
                    <a:pt x="3375" y="3702"/>
                  </a:lnTo>
                  <a:lnTo>
                    <a:pt x="3433" y="3732"/>
                  </a:lnTo>
                  <a:lnTo>
                    <a:pt x="3492" y="3745"/>
                  </a:lnTo>
                  <a:lnTo>
                    <a:pt x="3550" y="3743"/>
                  </a:lnTo>
                  <a:lnTo>
                    <a:pt x="3605" y="3725"/>
                  </a:lnTo>
                  <a:lnTo>
                    <a:pt x="3655" y="3694"/>
                  </a:lnTo>
                  <a:lnTo>
                    <a:pt x="3697" y="3648"/>
                  </a:lnTo>
                  <a:lnTo>
                    <a:pt x="3730" y="3590"/>
                  </a:lnTo>
                  <a:lnTo>
                    <a:pt x="3741" y="3555"/>
                  </a:lnTo>
                  <a:lnTo>
                    <a:pt x="3748" y="3533"/>
                  </a:lnTo>
                  <a:lnTo>
                    <a:pt x="3754" y="3499"/>
                  </a:lnTo>
                  <a:lnTo>
                    <a:pt x="3751" y="3469"/>
                  </a:lnTo>
                  <a:lnTo>
                    <a:pt x="3736" y="3431"/>
                  </a:lnTo>
                  <a:lnTo>
                    <a:pt x="3723" y="3405"/>
                  </a:lnTo>
                  <a:lnTo>
                    <a:pt x="3711" y="3383"/>
                  </a:lnTo>
                  <a:lnTo>
                    <a:pt x="3688" y="3348"/>
                  </a:lnTo>
                  <a:lnTo>
                    <a:pt x="3661" y="3320"/>
                  </a:lnTo>
                  <a:lnTo>
                    <a:pt x="3626" y="3297"/>
                  </a:lnTo>
                  <a:lnTo>
                    <a:pt x="3603" y="3285"/>
                  </a:lnTo>
                  <a:lnTo>
                    <a:pt x="3577" y="3273"/>
                  </a:lnTo>
                  <a:lnTo>
                    <a:pt x="3540" y="3258"/>
                  </a:lnTo>
                  <a:lnTo>
                    <a:pt x="3509" y="3254"/>
                  </a:lnTo>
                  <a:lnTo>
                    <a:pt x="3475" y="3260"/>
                  </a:lnTo>
                  <a:lnTo>
                    <a:pt x="3453" y="3267"/>
                  </a:lnTo>
                  <a:lnTo>
                    <a:pt x="3423" y="3277"/>
                  </a:lnTo>
                  <a:lnTo>
                    <a:pt x="3370" y="3303"/>
                  </a:lnTo>
                  <a:lnTo>
                    <a:pt x="3327" y="3339"/>
                  </a:lnTo>
                  <a:lnTo>
                    <a:pt x="3295" y="3383"/>
                  </a:lnTo>
                  <a:lnTo>
                    <a:pt x="3283" y="3409"/>
                  </a:lnTo>
                  <a:lnTo>
                    <a:pt x="3276" y="3424"/>
                  </a:lnTo>
                  <a:lnTo>
                    <a:pt x="3255" y="3448"/>
                  </a:lnTo>
                  <a:lnTo>
                    <a:pt x="3219" y="3467"/>
                  </a:lnTo>
                  <a:lnTo>
                    <a:pt x="3156" y="3489"/>
                  </a:lnTo>
                  <a:lnTo>
                    <a:pt x="3110" y="3502"/>
                  </a:lnTo>
                  <a:lnTo>
                    <a:pt x="3049" y="3519"/>
                  </a:lnTo>
                  <a:lnTo>
                    <a:pt x="2962" y="3538"/>
                  </a:lnTo>
                  <a:lnTo>
                    <a:pt x="2950" y="3537"/>
                  </a:lnTo>
                  <a:lnTo>
                    <a:pt x="2946" y="3494"/>
                  </a:lnTo>
                  <a:lnTo>
                    <a:pt x="2942" y="3105"/>
                  </a:lnTo>
                  <a:lnTo>
                    <a:pt x="2941" y="2822"/>
                  </a:lnTo>
                  <a:lnTo>
                    <a:pt x="2941" y="2117"/>
                  </a:lnTo>
                  <a:lnTo>
                    <a:pt x="3633" y="2117"/>
                  </a:lnTo>
                  <a:lnTo>
                    <a:pt x="4325" y="2117"/>
                  </a:lnTo>
                  <a:lnTo>
                    <a:pt x="4325" y="2400"/>
                  </a:lnTo>
                  <a:close/>
                  <a:moveTo>
                    <a:pt x="4640" y="2385"/>
                  </a:moveTo>
                  <a:lnTo>
                    <a:pt x="4765" y="2517"/>
                  </a:lnTo>
                  <a:lnTo>
                    <a:pt x="4628" y="2517"/>
                  </a:lnTo>
                  <a:lnTo>
                    <a:pt x="4491" y="2517"/>
                  </a:lnTo>
                  <a:lnTo>
                    <a:pt x="4491" y="2384"/>
                  </a:lnTo>
                  <a:lnTo>
                    <a:pt x="4492" y="2331"/>
                  </a:lnTo>
                  <a:lnTo>
                    <a:pt x="4497" y="2274"/>
                  </a:lnTo>
                  <a:lnTo>
                    <a:pt x="4502" y="2254"/>
                  </a:lnTo>
                  <a:lnTo>
                    <a:pt x="4505" y="2252"/>
                  </a:lnTo>
                  <a:lnTo>
                    <a:pt x="4516" y="2261"/>
                  </a:lnTo>
                  <a:lnTo>
                    <a:pt x="4589" y="2333"/>
                  </a:lnTo>
                  <a:lnTo>
                    <a:pt x="4640" y="2385"/>
                  </a:lnTo>
                  <a:close/>
                  <a:moveTo>
                    <a:pt x="3558" y="3450"/>
                  </a:moveTo>
                  <a:lnTo>
                    <a:pt x="3572" y="3465"/>
                  </a:lnTo>
                  <a:lnTo>
                    <a:pt x="3588" y="3488"/>
                  </a:lnTo>
                  <a:lnTo>
                    <a:pt x="3589" y="3509"/>
                  </a:lnTo>
                  <a:lnTo>
                    <a:pt x="3575" y="3534"/>
                  </a:lnTo>
                  <a:lnTo>
                    <a:pt x="3561" y="3550"/>
                  </a:lnTo>
                  <a:lnTo>
                    <a:pt x="3553" y="3561"/>
                  </a:lnTo>
                  <a:lnTo>
                    <a:pt x="3536" y="3574"/>
                  </a:lnTo>
                  <a:lnTo>
                    <a:pt x="3519" y="3580"/>
                  </a:lnTo>
                  <a:lnTo>
                    <a:pt x="3498" y="3580"/>
                  </a:lnTo>
                  <a:lnTo>
                    <a:pt x="3486" y="3577"/>
                  </a:lnTo>
                  <a:lnTo>
                    <a:pt x="3476" y="3574"/>
                  </a:lnTo>
                  <a:lnTo>
                    <a:pt x="3458" y="3564"/>
                  </a:lnTo>
                  <a:lnTo>
                    <a:pt x="3444" y="3551"/>
                  </a:lnTo>
                  <a:lnTo>
                    <a:pt x="3434" y="3535"/>
                  </a:lnTo>
                  <a:lnTo>
                    <a:pt x="3429" y="3516"/>
                  </a:lnTo>
                  <a:lnTo>
                    <a:pt x="3428" y="3497"/>
                  </a:lnTo>
                  <a:lnTo>
                    <a:pt x="3433" y="3478"/>
                  </a:lnTo>
                  <a:lnTo>
                    <a:pt x="3443" y="3459"/>
                  </a:lnTo>
                  <a:lnTo>
                    <a:pt x="3450" y="3450"/>
                  </a:lnTo>
                  <a:lnTo>
                    <a:pt x="3464" y="3436"/>
                  </a:lnTo>
                  <a:lnTo>
                    <a:pt x="3490" y="3420"/>
                  </a:lnTo>
                  <a:lnTo>
                    <a:pt x="3515" y="3420"/>
                  </a:lnTo>
                  <a:lnTo>
                    <a:pt x="3543" y="3436"/>
                  </a:lnTo>
                  <a:lnTo>
                    <a:pt x="3558" y="3450"/>
                  </a:lnTo>
                  <a:close/>
                  <a:moveTo>
                    <a:pt x="2421" y="3687"/>
                  </a:moveTo>
                  <a:lnTo>
                    <a:pt x="2431" y="3699"/>
                  </a:lnTo>
                  <a:lnTo>
                    <a:pt x="2441" y="3730"/>
                  </a:lnTo>
                  <a:lnTo>
                    <a:pt x="2437" y="3764"/>
                  </a:lnTo>
                  <a:lnTo>
                    <a:pt x="2421" y="3795"/>
                  </a:lnTo>
                  <a:lnTo>
                    <a:pt x="2408" y="3809"/>
                  </a:lnTo>
                  <a:lnTo>
                    <a:pt x="2398" y="3817"/>
                  </a:lnTo>
                  <a:lnTo>
                    <a:pt x="2381" y="3828"/>
                  </a:lnTo>
                  <a:lnTo>
                    <a:pt x="2365" y="3830"/>
                  </a:lnTo>
                  <a:lnTo>
                    <a:pt x="2345" y="3825"/>
                  </a:lnTo>
                  <a:lnTo>
                    <a:pt x="2333" y="3820"/>
                  </a:lnTo>
                  <a:lnTo>
                    <a:pt x="2320" y="3813"/>
                  </a:lnTo>
                  <a:lnTo>
                    <a:pt x="2301" y="3793"/>
                  </a:lnTo>
                  <a:lnTo>
                    <a:pt x="2291" y="3769"/>
                  </a:lnTo>
                  <a:lnTo>
                    <a:pt x="2289" y="3743"/>
                  </a:lnTo>
                  <a:lnTo>
                    <a:pt x="2294" y="3718"/>
                  </a:lnTo>
                  <a:lnTo>
                    <a:pt x="2307" y="3695"/>
                  </a:lnTo>
                  <a:lnTo>
                    <a:pt x="2326" y="3678"/>
                  </a:lnTo>
                  <a:lnTo>
                    <a:pt x="2351" y="3668"/>
                  </a:lnTo>
                  <a:lnTo>
                    <a:pt x="2366" y="3667"/>
                  </a:lnTo>
                  <a:lnTo>
                    <a:pt x="2382" y="3668"/>
                  </a:lnTo>
                  <a:lnTo>
                    <a:pt x="2411" y="3679"/>
                  </a:lnTo>
                  <a:lnTo>
                    <a:pt x="2421" y="3687"/>
                  </a:lnTo>
                  <a:close/>
                  <a:moveTo>
                    <a:pt x="1593" y="4334"/>
                  </a:moveTo>
                  <a:lnTo>
                    <a:pt x="1600" y="4338"/>
                  </a:lnTo>
                  <a:lnTo>
                    <a:pt x="1611" y="4350"/>
                  </a:lnTo>
                  <a:lnTo>
                    <a:pt x="1622" y="4373"/>
                  </a:lnTo>
                  <a:lnTo>
                    <a:pt x="1623" y="4408"/>
                  </a:lnTo>
                  <a:lnTo>
                    <a:pt x="1611" y="4443"/>
                  </a:lnTo>
                  <a:lnTo>
                    <a:pt x="1598" y="4457"/>
                  </a:lnTo>
                  <a:lnTo>
                    <a:pt x="1589" y="4466"/>
                  </a:lnTo>
                  <a:lnTo>
                    <a:pt x="1569" y="4477"/>
                  </a:lnTo>
                  <a:lnTo>
                    <a:pt x="1548" y="4481"/>
                  </a:lnTo>
                  <a:lnTo>
                    <a:pt x="1528" y="4479"/>
                  </a:lnTo>
                  <a:lnTo>
                    <a:pt x="1509" y="4471"/>
                  </a:lnTo>
                  <a:lnTo>
                    <a:pt x="1493" y="4457"/>
                  </a:lnTo>
                  <a:lnTo>
                    <a:pt x="1482" y="4439"/>
                  </a:lnTo>
                  <a:lnTo>
                    <a:pt x="1475" y="4417"/>
                  </a:lnTo>
                  <a:lnTo>
                    <a:pt x="1475" y="4404"/>
                  </a:lnTo>
                  <a:lnTo>
                    <a:pt x="1475" y="4390"/>
                  </a:lnTo>
                  <a:lnTo>
                    <a:pt x="1480" y="4365"/>
                  </a:lnTo>
                  <a:lnTo>
                    <a:pt x="1488" y="4346"/>
                  </a:lnTo>
                  <a:lnTo>
                    <a:pt x="1501" y="4331"/>
                  </a:lnTo>
                  <a:lnTo>
                    <a:pt x="1516" y="4322"/>
                  </a:lnTo>
                  <a:lnTo>
                    <a:pt x="1535" y="4318"/>
                  </a:lnTo>
                  <a:lnTo>
                    <a:pt x="1557" y="4320"/>
                  </a:lnTo>
                  <a:lnTo>
                    <a:pt x="1580" y="4327"/>
                  </a:lnTo>
                  <a:lnTo>
                    <a:pt x="1593" y="4334"/>
                  </a:lnTo>
                  <a:close/>
                  <a:moveTo>
                    <a:pt x="320" y="4777"/>
                  </a:moveTo>
                  <a:lnTo>
                    <a:pt x="322" y="4785"/>
                  </a:lnTo>
                  <a:lnTo>
                    <a:pt x="324" y="4803"/>
                  </a:lnTo>
                  <a:lnTo>
                    <a:pt x="318" y="4830"/>
                  </a:lnTo>
                  <a:lnTo>
                    <a:pt x="298" y="4862"/>
                  </a:lnTo>
                  <a:lnTo>
                    <a:pt x="276" y="4878"/>
                  </a:lnTo>
                  <a:lnTo>
                    <a:pt x="260" y="4883"/>
                  </a:lnTo>
                  <a:lnTo>
                    <a:pt x="251" y="4884"/>
                  </a:lnTo>
                  <a:lnTo>
                    <a:pt x="235" y="4882"/>
                  </a:lnTo>
                  <a:lnTo>
                    <a:pt x="203" y="4870"/>
                  </a:lnTo>
                  <a:lnTo>
                    <a:pt x="176" y="4849"/>
                  </a:lnTo>
                  <a:lnTo>
                    <a:pt x="160" y="4824"/>
                  </a:lnTo>
                  <a:lnTo>
                    <a:pt x="158" y="4810"/>
                  </a:lnTo>
                  <a:lnTo>
                    <a:pt x="159" y="4800"/>
                  </a:lnTo>
                  <a:lnTo>
                    <a:pt x="170" y="4775"/>
                  </a:lnTo>
                  <a:lnTo>
                    <a:pt x="189" y="4752"/>
                  </a:lnTo>
                  <a:lnTo>
                    <a:pt x="213" y="4735"/>
                  </a:lnTo>
                  <a:lnTo>
                    <a:pt x="225" y="4730"/>
                  </a:lnTo>
                  <a:lnTo>
                    <a:pt x="237" y="4727"/>
                  </a:lnTo>
                  <a:lnTo>
                    <a:pt x="265" y="4731"/>
                  </a:lnTo>
                  <a:lnTo>
                    <a:pt x="292" y="4745"/>
                  </a:lnTo>
                  <a:lnTo>
                    <a:pt x="314" y="4765"/>
                  </a:lnTo>
                  <a:lnTo>
                    <a:pt x="320" y="4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71">
              <a:extLst>
                <a:ext uri="{FF2B5EF4-FFF2-40B4-BE49-F238E27FC236}">
                  <a16:creationId xmlns:a16="http://schemas.microsoft.com/office/drawing/2014/main" id="{5F9B7E7A-42DC-436F-B5F6-103993760405}"/>
                </a:ext>
              </a:extLst>
            </p:cNvPr>
            <p:cNvSpPr>
              <a:spLocks/>
            </p:cNvSpPr>
            <p:nvPr/>
          </p:nvSpPr>
          <p:spPr bwMode="auto">
            <a:xfrm>
              <a:off x="7029450"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72">
              <a:extLst>
                <a:ext uri="{FF2B5EF4-FFF2-40B4-BE49-F238E27FC236}">
                  <a16:creationId xmlns:a16="http://schemas.microsoft.com/office/drawing/2014/main" id="{47E656E2-B143-4DCF-BE7D-32F99CAF62A2}"/>
                </a:ext>
              </a:extLst>
            </p:cNvPr>
            <p:cNvSpPr>
              <a:spLocks/>
            </p:cNvSpPr>
            <p:nvPr/>
          </p:nvSpPr>
          <p:spPr bwMode="auto">
            <a:xfrm>
              <a:off x="7158038" y="5097463"/>
              <a:ext cx="58738" cy="63500"/>
            </a:xfrm>
            <a:custGeom>
              <a:avLst/>
              <a:gdLst>
                <a:gd name="T0" fmla="*/ 12 w 152"/>
                <a:gd name="T1" fmla="*/ 8 h 165"/>
                <a:gd name="T2" fmla="*/ 7 w 152"/>
                <a:gd name="T3" fmla="*/ 17 h 165"/>
                <a:gd name="T4" fmla="*/ 1 w 152"/>
                <a:gd name="T5" fmla="*/ 63 h 165"/>
                <a:gd name="T6" fmla="*/ 0 w 152"/>
                <a:gd name="T7" fmla="*/ 93 h 165"/>
                <a:gd name="T8" fmla="*/ 0 w 152"/>
                <a:gd name="T9" fmla="*/ 165 h 165"/>
                <a:gd name="T10" fmla="*/ 77 w 152"/>
                <a:gd name="T11" fmla="*/ 165 h 165"/>
                <a:gd name="T12" fmla="*/ 152 w 152"/>
                <a:gd name="T13" fmla="*/ 165 h 165"/>
                <a:gd name="T14" fmla="*/ 147 w 152"/>
                <a:gd name="T15" fmla="*/ 85 h 165"/>
                <a:gd name="T16" fmla="*/ 145 w 152"/>
                <a:gd name="T17" fmla="*/ 58 h 165"/>
                <a:gd name="T18" fmla="*/ 140 w 152"/>
                <a:gd name="T19" fmla="*/ 25 h 165"/>
                <a:gd name="T20" fmla="*/ 127 w 152"/>
                <a:gd name="T21" fmla="*/ 9 h 165"/>
                <a:gd name="T22" fmla="*/ 103 w 152"/>
                <a:gd name="T23" fmla="*/ 3 h 165"/>
                <a:gd name="T24" fmla="*/ 83 w 152"/>
                <a:gd name="T25" fmla="*/ 1 h 165"/>
                <a:gd name="T26" fmla="*/ 59 w 152"/>
                <a:gd name="T27" fmla="*/ 0 h 165"/>
                <a:gd name="T28" fmla="*/ 20 w 152"/>
                <a:gd name="T29" fmla="*/ 3 h 165"/>
                <a:gd name="T30" fmla="*/ 12 w 152"/>
                <a:gd name="T31"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65">
                  <a:moveTo>
                    <a:pt x="12" y="8"/>
                  </a:moveTo>
                  <a:lnTo>
                    <a:pt x="7" y="17"/>
                  </a:lnTo>
                  <a:lnTo>
                    <a:pt x="1" y="63"/>
                  </a:lnTo>
                  <a:lnTo>
                    <a:pt x="0" y="93"/>
                  </a:lnTo>
                  <a:lnTo>
                    <a:pt x="0" y="165"/>
                  </a:lnTo>
                  <a:lnTo>
                    <a:pt x="77" y="165"/>
                  </a:lnTo>
                  <a:lnTo>
                    <a:pt x="152" y="165"/>
                  </a:lnTo>
                  <a:lnTo>
                    <a:pt x="147" y="85"/>
                  </a:lnTo>
                  <a:lnTo>
                    <a:pt x="145" y="58"/>
                  </a:lnTo>
                  <a:lnTo>
                    <a:pt x="140" y="25"/>
                  </a:lnTo>
                  <a:lnTo>
                    <a:pt x="127" y="9"/>
                  </a:lnTo>
                  <a:lnTo>
                    <a:pt x="103" y="3"/>
                  </a:lnTo>
                  <a:lnTo>
                    <a:pt x="83" y="1"/>
                  </a:lnTo>
                  <a:lnTo>
                    <a:pt x="59" y="0"/>
                  </a:lnTo>
                  <a:lnTo>
                    <a:pt x="20" y="3"/>
                  </a:lnTo>
                  <a:lnTo>
                    <a:pt x="1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73">
              <a:extLst>
                <a:ext uri="{FF2B5EF4-FFF2-40B4-BE49-F238E27FC236}">
                  <a16:creationId xmlns:a16="http://schemas.microsoft.com/office/drawing/2014/main" id="{0F80066E-5C4B-4224-B93E-42282D9A9F81}"/>
                </a:ext>
              </a:extLst>
            </p:cNvPr>
            <p:cNvSpPr>
              <a:spLocks/>
            </p:cNvSpPr>
            <p:nvPr/>
          </p:nvSpPr>
          <p:spPr bwMode="auto">
            <a:xfrm>
              <a:off x="7280275"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74">
              <a:extLst>
                <a:ext uri="{FF2B5EF4-FFF2-40B4-BE49-F238E27FC236}">
                  <a16:creationId xmlns:a16="http://schemas.microsoft.com/office/drawing/2014/main" id="{75363721-DCE7-4288-B88A-65D522ED98B2}"/>
                </a:ext>
              </a:extLst>
            </p:cNvPr>
            <p:cNvSpPr>
              <a:spLocks noEditPoints="1"/>
            </p:cNvSpPr>
            <p:nvPr/>
          </p:nvSpPr>
          <p:spPr bwMode="auto">
            <a:xfrm>
              <a:off x="7504113" y="5354638"/>
              <a:ext cx="247650" cy="246063"/>
            </a:xfrm>
            <a:custGeom>
              <a:avLst/>
              <a:gdLst>
                <a:gd name="T0" fmla="*/ 133 w 640"/>
                <a:gd name="T1" fmla="*/ 57 h 638"/>
                <a:gd name="T2" fmla="*/ 48 w 640"/>
                <a:gd name="T3" fmla="*/ 143 h 638"/>
                <a:gd name="T4" fmla="*/ 15 w 640"/>
                <a:gd name="T5" fmla="*/ 200 h 638"/>
                <a:gd name="T6" fmla="*/ 0 w 640"/>
                <a:gd name="T7" fmla="*/ 283 h 638"/>
                <a:gd name="T8" fmla="*/ 0 w 640"/>
                <a:gd name="T9" fmla="*/ 352 h 638"/>
                <a:gd name="T10" fmla="*/ 27 w 640"/>
                <a:gd name="T11" fmla="*/ 463 h 638"/>
                <a:gd name="T12" fmla="*/ 85 w 640"/>
                <a:gd name="T13" fmla="*/ 538 h 638"/>
                <a:gd name="T14" fmla="*/ 161 w 640"/>
                <a:gd name="T15" fmla="*/ 602 h 638"/>
                <a:gd name="T16" fmla="*/ 283 w 640"/>
                <a:gd name="T17" fmla="*/ 637 h 638"/>
                <a:gd name="T18" fmla="*/ 357 w 640"/>
                <a:gd name="T19" fmla="*/ 637 h 638"/>
                <a:gd name="T20" fmla="*/ 479 w 640"/>
                <a:gd name="T21" fmla="*/ 602 h 638"/>
                <a:gd name="T22" fmla="*/ 555 w 640"/>
                <a:gd name="T23" fmla="*/ 538 h 638"/>
                <a:gd name="T24" fmla="*/ 612 w 640"/>
                <a:gd name="T25" fmla="*/ 463 h 638"/>
                <a:gd name="T26" fmla="*/ 639 w 640"/>
                <a:gd name="T27" fmla="*/ 352 h 638"/>
                <a:gd name="T28" fmla="*/ 639 w 640"/>
                <a:gd name="T29" fmla="*/ 283 h 638"/>
                <a:gd name="T30" fmla="*/ 625 w 640"/>
                <a:gd name="T31" fmla="*/ 200 h 638"/>
                <a:gd name="T32" fmla="*/ 591 w 640"/>
                <a:gd name="T33" fmla="*/ 143 h 638"/>
                <a:gd name="T34" fmla="*/ 522 w 640"/>
                <a:gd name="T35" fmla="*/ 67 h 638"/>
                <a:gd name="T36" fmla="*/ 456 w 640"/>
                <a:gd name="T37" fmla="*/ 27 h 638"/>
                <a:gd name="T38" fmla="*/ 382 w 640"/>
                <a:gd name="T39" fmla="*/ 5 h 638"/>
                <a:gd name="T40" fmla="*/ 320 w 640"/>
                <a:gd name="T41" fmla="*/ 0 h 638"/>
                <a:gd name="T42" fmla="*/ 253 w 640"/>
                <a:gd name="T43" fmla="*/ 5 h 638"/>
                <a:gd name="T44" fmla="*/ 179 w 640"/>
                <a:gd name="T45" fmla="*/ 28 h 638"/>
                <a:gd name="T46" fmla="*/ 436 w 640"/>
                <a:gd name="T47" fmla="*/ 208 h 638"/>
                <a:gd name="T48" fmla="*/ 463 w 640"/>
                <a:gd name="T49" fmla="*/ 245 h 638"/>
                <a:gd name="T50" fmla="*/ 479 w 640"/>
                <a:gd name="T51" fmla="*/ 302 h 638"/>
                <a:gd name="T52" fmla="*/ 472 w 640"/>
                <a:gd name="T53" fmla="*/ 362 h 638"/>
                <a:gd name="T54" fmla="*/ 442 w 640"/>
                <a:gd name="T55" fmla="*/ 416 h 638"/>
                <a:gd name="T56" fmla="*/ 412 w 640"/>
                <a:gd name="T57" fmla="*/ 446 h 638"/>
                <a:gd name="T58" fmla="*/ 324 w 640"/>
                <a:gd name="T59" fmla="*/ 477 h 638"/>
                <a:gd name="T60" fmla="*/ 239 w 640"/>
                <a:gd name="T61" fmla="*/ 455 h 638"/>
                <a:gd name="T62" fmla="*/ 177 w 640"/>
                <a:gd name="T63" fmla="*/ 390 h 638"/>
                <a:gd name="T64" fmla="*/ 161 w 640"/>
                <a:gd name="T65" fmla="*/ 318 h 638"/>
                <a:gd name="T66" fmla="*/ 177 w 640"/>
                <a:gd name="T67" fmla="*/ 243 h 638"/>
                <a:gd name="T68" fmla="*/ 238 w 640"/>
                <a:gd name="T69" fmla="*/ 177 h 638"/>
                <a:gd name="T70" fmla="*/ 325 w 640"/>
                <a:gd name="T71" fmla="*/ 156 h 638"/>
                <a:gd name="T72" fmla="*/ 416 w 640"/>
                <a:gd name="T73" fmla="*/ 18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0" h="638">
                  <a:moveTo>
                    <a:pt x="161" y="38"/>
                  </a:moveTo>
                  <a:lnTo>
                    <a:pt x="133" y="57"/>
                  </a:lnTo>
                  <a:lnTo>
                    <a:pt x="71" y="114"/>
                  </a:lnTo>
                  <a:lnTo>
                    <a:pt x="48" y="143"/>
                  </a:lnTo>
                  <a:lnTo>
                    <a:pt x="34" y="164"/>
                  </a:lnTo>
                  <a:lnTo>
                    <a:pt x="15" y="200"/>
                  </a:lnTo>
                  <a:lnTo>
                    <a:pt x="4" y="237"/>
                  </a:lnTo>
                  <a:lnTo>
                    <a:pt x="0" y="283"/>
                  </a:lnTo>
                  <a:lnTo>
                    <a:pt x="0" y="313"/>
                  </a:lnTo>
                  <a:lnTo>
                    <a:pt x="0" y="352"/>
                  </a:lnTo>
                  <a:lnTo>
                    <a:pt x="8" y="413"/>
                  </a:lnTo>
                  <a:lnTo>
                    <a:pt x="27" y="463"/>
                  </a:lnTo>
                  <a:lnTo>
                    <a:pt x="61" y="511"/>
                  </a:lnTo>
                  <a:lnTo>
                    <a:pt x="85" y="538"/>
                  </a:lnTo>
                  <a:lnTo>
                    <a:pt x="109" y="564"/>
                  </a:lnTo>
                  <a:lnTo>
                    <a:pt x="161" y="602"/>
                  </a:lnTo>
                  <a:lnTo>
                    <a:pt x="217" y="626"/>
                  </a:lnTo>
                  <a:lnTo>
                    <a:pt x="283" y="637"/>
                  </a:lnTo>
                  <a:lnTo>
                    <a:pt x="320" y="638"/>
                  </a:lnTo>
                  <a:lnTo>
                    <a:pt x="357" y="637"/>
                  </a:lnTo>
                  <a:lnTo>
                    <a:pt x="422" y="626"/>
                  </a:lnTo>
                  <a:lnTo>
                    <a:pt x="479" y="602"/>
                  </a:lnTo>
                  <a:lnTo>
                    <a:pt x="530" y="564"/>
                  </a:lnTo>
                  <a:lnTo>
                    <a:pt x="555" y="538"/>
                  </a:lnTo>
                  <a:lnTo>
                    <a:pt x="579" y="511"/>
                  </a:lnTo>
                  <a:lnTo>
                    <a:pt x="612" y="463"/>
                  </a:lnTo>
                  <a:lnTo>
                    <a:pt x="631" y="413"/>
                  </a:lnTo>
                  <a:lnTo>
                    <a:pt x="639" y="352"/>
                  </a:lnTo>
                  <a:lnTo>
                    <a:pt x="640" y="313"/>
                  </a:lnTo>
                  <a:lnTo>
                    <a:pt x="639" y="283"/>
                  </a:lnTo>
                  <a:lnTo>
                    <a:pt x="635" y="237"/>
                  </a:lnTo>
                  <a:lnTo>
                    <a:pt x="625" y="200"/>
                  </a:lnTo>
                  <a:lnTo>
                    <a:pt x="605" y="164"/>
                  </a:lnTo>
                  <a:lnTo>
                    <a:pt x="591" y="143"/>
                  </a:lnTo>
                  <a:lnTo>
                    <a:pt x="566" y="109"/>
                  </a:lnTo>
                  <a:lnTo>
                    <a:pt x="522" y="67"/>
                  </a:lnTo>
                  <a:lnTo>
                    <a:pt x="490" y="45"/>
                  </a:lnTo>
                  <a:lnTo>
                    <a:pt x="456" y="27"/>
                  </a:lnTo>
                  <a:lnTo>
                    <a:pt x="420" y="14"/>
                  </a:lnTo>
                  <a:lnTo>
                    <a:pt x="382" y="5"/>
                  </a:lnTo>
                  <a:lnTo>
                    <a:pt x="341" y="0"/>
                  </a:lnTo>
                  <a:lnTo>
                    <a:pt x="320" y="0"/>
                  </a:lnTo>
                  <a:lnTo>
                    <a:pt x="296" y="0"/>
                  </a:lnTo>
                  <a:lnTo>
                    <a:pt x="253" y="5"/>
                  </a:lnTo>
                  <a:lnTo>
                    <a:pt x="215" y="14"/>
                  </a:lnTo>
                  <a:lnTo>
                    <a:pt x="179" y="28"/>
                  </a:lnTo>
                  <a:lnTo>
                    <a:pt x="161" y="38"/>
                  </a:lnTo>
                  <a:close/>
                  <a:moveTo>
                    <a:pt x="436" y="208"/>
                  </a:moveTo>
                  <a:lnTo>
                    <a:pt x="447" y="220"/>
                  </a:lnTo>
                  <a:lnTo>
                    <a:pt x="463" y="245"/>
                  </a:lnTo>
                  <a:lnTo>
                    <a:pt x="474" y="273"/>
                  </a:lnTo>
                  <a:lnTo>
                    <a:pt x="479" y="302"/>
                  </a:lnTo>
                  <a:lnTo>
                    <a:pt x="478" y="332"/>
                  </a:lnTo>
                  <a:lnTo>
                    <a:pt x="472" y="362"/>
                  </a:lnTo>
                  <a:lnTo>
                    <a:pt x="460" y="390"/>
                  </a:lnTo>
                  <a:lnTo>
                    <a:pt x="442" y="416"/>
                  </a:lnTo>
                  <a:lnTo>
                    <a:pt x="431" y="428"/>
                  </a:lnTo>
                  <a:lnTo>
                    <a:pt x="412" y="446"/>
                  </a:lnTo>
                  <a:lnTo>
                    <a:pt x="369" y="468"/>
                  </a:lnTo>
                  <a:lnTo>
                    <a:pt x="324" y="477"/>
                  </a:lnTo>
                  <a:lnTo>
                    <a:pt x="280" y="472"/>
                  </a:lnTo>
                  <a:lnTo>
                    <a:pt x="239" y="455"/>
                  </a:lnTo>
                  <a:lnTo>
                    <a:pt x="203" y="427"/>
                  </a:lnTo>
                  <a:lnTo>
                    <a:pt x="177" y="390"/>
                  </a:lnTo>
                  <a:lnTo>
                    <a:pt x="163" y="344"/>
                  </a:lnTo>
                  <a:lnTo>
                    <a:pt x="161" y="318"/>
                  </a:lnTo>
                  <a:lnTo>
                    <a:pt x="163" y="291"/>
                  </a:lnTo>
                  <a:lnTo>
                    <a:pt x="177" y="243"/>
                  </a:lnTo>
                  <a:lnTo>
                    <a:pt x="203" y="205"/>
                  </a:lnTo>
                  <a:lnTo>
                    <a:pt x="238" y="177"/>
                  </a:lnTo>
                  <a:lnTo>
                    <a:pt x="280" y="160"/>
                  </a:lnTo>
                  <a:lnTo>
                    <a:pt x="325" y="156"/>
                  </a:lnTo>
                  <a:lnTo>
                    <a:pt x="371" y="165"/>
                  </a:lnTo>
                  <a:lnTo>
                    <a:pt x="416" y="189"/>
                  </a:lnTo>
                  <a:lnTo>
                    <a:pt x="436"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175">
              <a:extLst>
                <a:ext uri="{FF2B5EF4-FFF2-40B4-BE49-F238E27FC236}">
                  <a16:creationId xmlns:a16="http://schemas.microsoft.com/office/drawing/2014/main" id="{6BEBFB32-786A-4ACC-82A7-416C9DFF8B9F}"/>
                </a:ext>
              </a:extLst>
            </p:cNvPr>
            <p:cNvSpPr>
              <a:spLocks/>
            </p:cNvSpPr>
            <p:nvPr/>
          </p:nvSpPr>
          <p:spPr bwMode="auto">
            <a:xfrm>
              <a:off x="8099425" y="5605463"/>
              <a:ext cx="412750" cy="65088"/>
            </a:xfrm>
            <a:custGeom>
              <a:avLst/>
              <a:gdLst>
                <a:gd name="T0" fmla="*/ 12 w 1067"/>
                <a:gd name="T1" fmla="*/ 11 h 166"/>
                <a:gd name="T2" fmla="*/ 5 w 1067"/>
                <a:gd name="T3" fmla="*/ 21 h 166"/>
                <a:gd name="T4" fmla="*/ 0 w 1067"/>
                <a:gd name="T5" fmla="*/ 56 h 166"/>
                <a:gd name="T6" fmla="*/ 3 w 1067"/>
                <a:gd name="T7" fmla="*/ 99 h 166"/>
                <a:gd name="T8" fmla="*/ 13 w 1067"/>
                <a:gd name="T9" fmla="*/ 136 h 166"/>
                <a:gd name="T10" fmla="*/ 20 w 1067"/>
                <a:gd name="T11" fmla="*/ 146 h 166"/>
                <a:gd name="T12" fmla="*/ 30 w 1067"/>
                <a:gd name="T13" fmla="*/ 152 h 166"/>
                <a:gd name="T14" fmla="*/ 91 w 1067"/>
                <a:gd name="T15" fmla="*/ 159 h 166"/>
                <a:gd name="T16" fmla="*/ 287 w 1067"/>
                <a:gd name="T17" fmla="*/ 166 h 166"/>
                <a:gd name="T18" fmla="*/ 527 w 1067"/>
                <a:gd name="T19" fmla="*/ 166 h 166"/>
                <a:gd name="T20" fmla="*/ 723 w 1067"/>
                <a:gd name="T21" fmla="*/ 166 h 166"/>
                <a:gd name="T22" fmla="*/ 1002 w 1067"/>
                <a:gd name="T23" fmla="*/ 160 h 166"/>
                <a:gd name="T24" fmla="*/ 1040 w 1067"/>
                <a:gd name="T25" fmla="*/ 156 h 166"/>
                <a:gd name="T26" fmla="*/ 1047 w 1067"/>
                <a:gd name="T27" fmla="*/ 153 h 166"/>
                <a:gd name="T28" fmla="*/ 1057 w 1067"/>
                <a:gd name="T29" fmla="*/ 141 h 166"/>
                <a:gd name="T30" fmla="*/ 1066 w 1067"/>
                <a:gd name="T31" fmla="*/ 108 h 166"/>
                <a:gd name="T32" fmla="*/ 1067 w 1067"/>
                <a:gd name="T33" fmla="*/ 73 h 166"/>
                <a:gd name="T34" fmla="*/ 1067 w 1067"/>
                <a:gd name="T35" fmla="*/ 0 h 166"/>
                <a:gd name="T36" fmla="*/ 545 w 1067"/>
                <a:gd name="T37" fmla="*/ 0 h 166"/>
                <a:gd name="T38" fmla="*/ 335 w 1067"/>
                <a:gd name="T39" fmla="*/ 0 h 166"/>
                <a:gd name="T40" fmla="*/ 45 w 1067"/>
                <a:gd name="T41" fmla="*/ 7 h 166"/>
                <a:gd name="T42" fmla="*/ 12 w 1067"/>
                <a:gd name="T43"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7" h="166">
                  <a:moveTo>
                    <a:pt x="12" y="11"/>
                  </a:moveTo>
                  <a:lnTo>
                    <a:pt x="5" y="21"/>
                  </a:lnTo>
                  <a:lnTo>
                    <a:pt x="0" y="56"/>
                  </a:lnTo>
                  <a:lnTo>
                    <a:pt x="3" y="99"/>
                  </a:lnTo>
                  <a:lnTo>
                    <a:pt x="13" y="136"/>
                  </a:lnTo>
                  <a:lnTo>
                    <a:pt x="20" y="146"/>
                  </a:lnTo>
                  <a:lnTo>
                    <a:pt x="30" y="152"/>
                  </a:lnTo>
                  <a:lnTo>
                    <a:pt x="91" y="159"/>
                  </a:lnTo>
                  <a:lnTo>
                    <a:pt x="287" y="166"/>
                  </a:lnTo>
                  <a:lnTo>
                    <a:pt x="527" y="166"/>
                  </a:lnTo>
                  <a:lnTo>
                    <a:pt x="723" y="166"/>
                  </a:lnTo>
                  <a:lnTo>
                    <a:pt x="1002" y="160"/>
                  </a:lnTo>
                  <a:lnTo>
                    <a:pt x="1040" y="156"/>
                  </a:lnTo>
                  <a:lnTo>
                    <a:pt x="1047" y="153"/>
                  </a:lnTo>
                  <a:lnTo>
                    <a:pt x="1057" y="141"/>
                  </a:lnTo>
                  <a:lnTo>
                    <a:pt x="1066" y="108"/>
                  </a:lnTo>
                  <a:lnTo>
                    <a:pt x="1067" y="73"/>
                  </a:lnTo>
                  <a:lnTo>
                    <a:pt x="1067" y="0"/>
                  </a:lnTo>
                  <a:lnTo>
                    <a:pt x="545" y="0"/>
                  </a:lnTo>
                  <a:lnTo>
                    <a:pt x="335" y="0"/>
                  </a:lnTo>
                  <a:lnTo>
                    <a:pt x="45"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76">
              <a:extLst>
                <a:ext uri="{FF2B5EF4-FFF2-40B4-BE49-F238E27FC236}">
                  <a16:creationId xmlns:a16="http://schemas.microsoft.com/office/drawing/2014/main" id="{C5465007-2525-4733-97AA-464A59A32575}"/>
                </a:ext>
              </a:extLst>
            </p:cNvPr>
            <p:cNvSpPr>
              <a:spLocks/>
            </p:cNvSpPr>
            <p:nvPr/>
          </p:nvSpPr>
          <p:spPr bwMode="auto">
            <a:xfrm>
              <a:off x="8099425" y="5729288"/>
              <a:ext cx="409575" cy="60325"/>
            </a:xfrm>
            <a:custGeom>
              <a:avLst/>
              <a:gdLst>
                <a:gd name="T0" fmla="*/ 5 w 1057"/>
                <a:gd name="T1" fmla="*/ 22 h 157"/>
                <a:gd name="T2" fmla="*/ 2 w 1057"/>
                <a:gd name="T3" fmla="*/ 34 h 157"/>
                <a:gd name="T4" fmla="*/ 0 w 1057"/>
                <a:gd name="T5" fmla="*/ 78 h 157"/>
                <a:gd name="T6" fmla="*/ 2 w 1057"/>
                <a:gd name="T7" fmla="*/ 102 h 157"/>
                <a:gd name="T8" fmla="*/ 7 w 1057"/>
                <a:gd name="T9" fmla="*/ 157 h 157"/>
                <a:gd name="T10" fmla="*/ 532 w 1057"/>
                <a:gd name="T11" fmla="*/ 157 h 157"/>
                <a:gd name="T12" fmla="*/ 1057 w 1057"/>
                <a:gd name="T13" fmla="*/ 157 h 157"/>
                <a:gd name="T14" fmla="*/ 1057 w 1057"/>
                <a:gd name="T15" fmla="*/ 82 h 157"/>
                <a:gd name="T16" fmla="*/ 1057 w 1057"/>
                <a:gd name="T17" fmla="*/ 7 h 157"/>
                <a:gd name="T18" fmla="*/ 535 w 1057"/>
                <a:gd name="T19" fmla="*/ 2 h 157"/>
                <a:gd name="T20" fmla="*/ 251 w 1057"/>
                <a:gd name="T21" fmla="*/ 0 h 157"/>
                <a:gd name="T22" fmla="*/ 58 w 1057"/>
                <a:gd name="T23" fmla="*/ 5 h 157"/>
                <a:gd name="T24" fmla="*/ 19 w 1057"/>
                <a:gd name="T25" fmla="*/ 12 h 157"/>
                <a:gd name="T26" fmla="*/ 7 w 1057"/>
                <a:gd name="T27" fmla="*/ 18 h 157"/>
                <a:gd name="T28" fmla="*/ 5 w 10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7" h="157">
                  <a:moveTo>
                    <a:pt x="5" y="22"/>
                  </a:moveTo>
                  <a:lnTo>
                    <a:pt x="2" y="34"/>
                  </a:lnTo>
                  <a:lnTo>
                    <a:pt x="0" y="78"/>
                  </a:lnTo>
                  <a:lnTo>
                    <a:pt x="2" y="102"/>
                  </a:lnTo>
                  <a:lnTo>
                    <a:pt x="7" y="157"/>
                  </a:lnTo>
                  <a:lnTo>
                    <a:pt x="532" y="157"/>
                  </a:lnTo>
                  <a:lnTo>
                    <a:pt x="1057" y="157"/>
                  </a:lnTo>
                  <a:lnTo>
                    <a:pt x="1057" y="82"/>
                  </a:lnTo>
                  <a:lnTo>
                    <a:pt x="1057" y="7"/>
                  </a:lnTo>
                  <a:lnTo>
                    <a:pt x="535" y="2"/>
                  </a:lnTo>
                  <a:lnTo>
                    <a:pt x="251" y="0"/>
                  </a:lnTo>
                  <a:lnTo>
                    <a:pt x="58" y="5"/>
                  </a:lnTo>
                  <a:lnTo>
                    <a:pt x="19" y="12"/>
                  </a:lnTo>
                  <a:lnTo>
                    <a:pt x="7"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77">
              <a:extLst>
                <a:ext uri="{FF2B5EF4-FFF2-40B4-BE49-F238E27FC236}">
                  <a16:creationId xmlns:a16="http://schemas.microsoft.com/office/drawing/2014/main" id="{2E8A1FCD-8B42-4D48-9327-BD2F21E30051}"/>
                </a:ext>
              </a:extLst>
            </p:cNvPr>
            <p:cNvSpPr>
              <a:spLocks/>
            </p:cNvSpPr>
            <p:nvPr/>
          </p:nvSpPr>
          <p:spPr bwMode="auto">
            <a:xfrm>
              <a:off x="8383588" y="5921376"/>
              <a:ext cx="347663" cy="57150"/>
            </a:xfrm>
            <a:custGeom>
              <a:avLst/>
              <a:gdLst>
                <a:gd name="T0" fmla="*/ 5 w 899"/>
                <a:gd name="T1" fmla="*/ 24 h 150"/>
                <a:gd name="T2" fmla="*/ 2 w 899"/>
                <a:gd name="T3" fmla="*/ 36 h 150"/>
                <a:gd name="T4" fmla="*/ 0 w 899"/>
                <a:gd name="T5" fmla="*/ 75 h 150"/>
                <a:gd name="T6" fmla="*/ 2 w 899"/>
                <a:gd name="T7" fmla="*/ 95 h 150"/>
                <a:gd name="T8" fmla="*/ 7 w 899"/>
                <a:gd name="T9" fmla="*/ 142 h 150"/>
                <a:gd name="T10" fmla="*/ 454 w 899"/>
                <a:gd name="T11" fmla="*/ 147 h 150"/>
                <a:gd name="T12" fmla="*/ 899 w 899"/>
                <a:gd name="T13" fmla="*/ 150 h 150"/>
                <a:gd name="T14" fmla="*/ 899 w 899"/>
                <a:gd name="T15" fmla="*/ 75 h 150"/>
                <a:gd name="T16" fmla="*/ 899 w 899"/>
                <a:gd name="T17" fmla="*/ 0 h 150"/>
                <a:gd name="T18" fmla="*/ 457 w 899"/>
                <a:gd name="T19" fmla="*/ 0 h 150"/>
                <a:gd name="T20" fmla="*/ 218 w 899"/>
                <a:gd name="T21" fmla="*/ 1 h 150"/>
                <a:gd name="T22" fmla="*/ 52 w 899"/>
                <a:gd name="T23" fmla="*/ 7 h 150"/>
                <a:gd name="T24" fmla="*/ 18 w 899"/>
                <a:gd name="T25" fmla="*/ 14 h 150"/>
                <a:gd name="T26" fmla="*/ 7 w 899"/>
                <a:gd name="T27" fmla="*/ 20 h 150"/>
                <a:gd name="T28" fmla="*/ 5 w 899"/>
                <a:gd name="T29" fmla="*/ 2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9" h="150">
                  <a:moveTo>
                    <a:pt x="5" y="24"/>
                  </a:moveTo>
                  <a:lnTo>
                    <a:pt x="2" y="36"/>
                  </a:lnTo>
                  <a:lnTo>
                    <a:pt x="0" y="75"/>
                  </a:lnTo>
                  <a:lnTo>
                    <a:pt x="2" y="95"/>
                  </a:lnTo>
                  <a:lnTo>
                    <a:pt x="7" y="142"/>
                  </a:lnTo>
                  <a:lnTo>
                    <a:pt x="454" y="147"/>
                  </a:lnTo>
                  <a:lnTo>
                    <a:pt x="899" y="150"/>
                  </a:lnTo>
                  <a:lnTo>
                    <a:pt x="899" y="75"/>
                  </a:lnTo>
                  <a:lnTo>
                    <a:pt x="899" y="0"/>
                  </a:lnTo>
                  <a:lnTo>
                    <a:pt x="457" y="0"/>
                  </a:lnTo>
                  <a:lnTo>
                    <a:pt x="218" y="1"/>
                  </a:lnTo>
                  <a:lnTo>
                    <a:pt x="52" y="7"/>
                  </a:lnTo>
                  <a:lnTo>
                    <a:pt x="18" y="14"/>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78">
              <a:extLst>
                <a:ext uri="{FF2B5EF4-FFF2-40B4-BE49-F238E27FC236}">
                  <a16:creationId xmlns:a16="http://schemas.microsoft.com/office/drawing/2014/main" id="{99DBCA83-CDC4-4E14-B52D-E7F8B3598F37}"/>
                </a:ext>
              </a:extLst>
            </p:cNvPr>
            <p:cNvSpPr>
              <a:spLocks/>
            </p:cNvSpPr>
            <p:nvPr/>
          </p:nvSpPr>
          <p:spPr bwMode="auto">
            <a:xfrm>
              <a:off x="8383588" y="6043613"/>
              <a:ext cx="347663" cy="65088"/>
            </a:xfrm>
            <a:custGeom>
              <a:avLst/>
              <a:gdLst>
                <a:gd name="T0" fmla="*/ 5 w 899"/>
                <a:gd name="T1" fmla="*/ 40 h 167"/>
                <a:gd name="T2" fmla="*/ 2 w 899"/>
                <a:gd name="T3" fmla="*/ 58 h 167"/>
                <a:gd name="T4" fmla="*/ 0 w 899"/>
                <a:gd name="T5" fmla="*/ 101 h 167"/>
                <a:gd name="T6" fmla="*/ 2 w 899"/>
                <a:gd name="T7" fmla="*/ 118 h 167"/>
                <a:gd name="T8" fmla="*/ 7 w 899"/>
                <a:gd name="T9" fmla="*/ 158 h 167"/>
                <a:gd name="T10" fmla="*/ 454 w 899"/>
                <a:gd name="T11" fmla="*/ 163 h 167"/>
                <a:gd name="T12" fmla="*/ 899 w 899"/>
                <a:gd name="T13" fmla="*/ 167 h 167"/>
                <a:gd name="T14" fmla="*/ 899 w 899"/>
                <a:gd name="T15" fmla="*/ 83 h 167"/>
                <a:gd name="T16" fmla="*/ 899 w 899"/>
                <a:gd name="T17" fmla="*/ 0 h 167"/>
                <a:gd name="T18" fmla="*/ 457 w 899"/>
                <a:gd name="T19" fmla="*/ 0 h 167"/>
                <a:gd name="T20" fmla="*/ 15 w 899"/>
                <a:gd name="T21" fmla="*/ 0 h 167"/>
                <a:gd name="T22" fmla="*/ 5 w 899"/>
                <a:gd name="T23" fmla="*/ 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9" h="167">
                  <a:moveTo>
                    <a:pt x="5" y="40"/>
                  </a:moveTo>
                  <a:lnTo>
                    <a:pt x="2" y="58"/>
                  </a:lnTo>
                  <a:lnTo>
                    <a:pt x="0" y="101"/>
                  </a:lnTo>
                  <a:lnTo>
                    <a:pt x="2" y="118"/>
                  </a:lnTo>
                  <a:lnTo>
                    <a:pt x="7" y="158"/>
                  </a:lnTo>
                  <a:lnTo>
                    <a:pt x="454" y="163"/>
                  </a:lnTo>
                  <a:lnTo>
                    <a:pt x="899" y="167"/>
                  </a:lnTo>
                  <a:lnTo>
                    <a:pt x="899" y="83"/>
                  </a:lnTo>
                  <a:lnTo>
                    <a:pt x="899" y="0"/>
                  </a:lnTo>
                  <a:lnTo>
                    <a:pt x="457" y="0"/>
                  </a:lnTo>
                  <a:lnTo>
                    <a:pt x="15" y="0"/>
                  </a:lnTo>
                  <a:lnTo>
                    <a:pt x="5"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79">
              <a:extLst>
                <a:ext uri="{FF2B5EF4-FFF2-40B4-BE49-F238E27FC236}">
                  <a16:creationId xmlns:a16="http://schemas.microsoft.com/office/drawing/2014/main" id="{DB915A2A-CE29-4021-817A-F9835EFA5E04}"/>
                </a:ext>
              </a:extLst>
            </p:cNvPr>
            <p:cNvSpPr>
              <a:spLocks/>
            </p:cNvSpPr>
            <p:nvPr/>
          </p:nvSpPr>
          <p:spPr bwMode="auto">
            <a:xfrm>
              <a:off x="8228013" y="6234113"/>
              <a:ext cx="503238" cy="60325"/>
            </a:xfrm>
            <a:custGeom>
              <a:avLst/>
              <a:gdLst>
                <a:gd name="T0" fmla="*/ 16 w 1301"/>
                <a:gd name="T1" fmla="*/ 4 h 157"/>
                <a:gd name="T2" fmla="*/ 10 w 1301"/>
                <a:gd name="T3" fmla="*/ 10 h 157"/>
                <a:gd name="T4" fmla="*/ 1 w 1301"/>
                <a:gd name="T5" fmla="*/ 54 h 157"/>
                <a:gd name="T6" fmla="*/ 0 w 1301"/>
                <a:gd name="T7" fmla="*/ 84 h 157"/>
                <a:gd name="T8" fmla="*/ 0 w 1301"/>
                <a:gd name="T9" fmla="*/ 157 h 157"/>
                <a:gd name="T10" fmla="*/ 651 w 1301"/>
                <a:gd name="T11" fmla="*/ 157 h 157"/>
                <a:gd name="T12" fmla="*/ 1301 w 1301"/>
                <a:gd name="T13" fmla="*/ 157 h 157"/>
                <a:gd name="T14" fmla="*/ 1296 w 1301"/>
                <a:gd name="T15" fmla="*/ 80 h 157"/>
                <a:gd name="T16" fmla="*/ 1291 w 1301"/>
                <a:gd name="T17" fmla="*/ 5 h 157"/>
                <a:gd name="T18" fmla="*/ 663 w 1301"/>
                <a:gd name="T19" fmla="*/ 2 h 157"/>
                <a:gd name="T20" fmla="*/ 171 w 1301"/>
                <a:gd name="T21" fmla="*/ 0 h 157"/>
                <a:gd name="T22" fmla="*/ 16 w 1301"/>
                <a:gd name="T23"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1" h="157">
                  <a:moveTo>
                    <a:pt x="16" y="4"/>
                  </a:moveTo>
                  <a:lnTo>
                    <a:pt x="10" y="10"/>
                  </a:lnTo>
                  <a:lnTo>
                    <a:pt x="1" y="54"/>
                  </a:lnTo>
                  <a:lnTo>
                    <a:pt x="0" y="84"/>
                  </a:lnTo>
                  <a:lnTo>
                    <a:pt x="0" y="157"/>
                  </a:lnTo>
                  <a:lnTo>
                    <a:pt x="651" y="157"/>
                  </a:lnTo>
                  <a:lnTo>
                    <a:pt x="1301" y="157"/>
                  </a:lnTo>
                  <a:lnTo>
                    <a:pt x="1296" y="80"/>
                  </a:lnTo>
                  <a:lnTo>
                    <a:pt x="1291" y="5"/>
                  </a:lnTo>
                  <a:lnTo>
                    <a:pt x="663" y="2"/>
                  </a:lnTo>
                  <a:lnTo>
                    <a:pt x="171" y="0"/>
                  </a:lnTo>
                  <a:lnTo>
                    <a:pt x="16"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80">
              <a:extLst>
                <a:ext uri="{FF2B5EF4-FFF2-40B4-BE49-F238E27FC236}">
                  <a16:creationId xmlns:a16="http://schemas.microsoft.com/office/drawing/2014/main" id="{7E0B6707-6029-4597-86F4-0BF5ED40938C}"/>
                </a:ext>
              </a:extLst>
            </p:cNvPr>
            <p:cNvSpPr>
              <a:spLocks/>
            </p:cNvSpPr>
            <p:nvPr/>
          </p:nvSpPr>
          <p:spPr bwMode="auto">
            <a:xfrm>
              <a:off x="8228013" y="6359526"/>
              <a:ext cx="503238" cy="63500"/>
            </a:xfrm>
            <a:custGeom>
              <a:avLst/>
              <a:gdLst>
                <a:gd name="T0" fmla="*/ 11 w 1301"/>
                <a:gd name="T1" fmla="*/ 9 h 164"/>
                <a:gd name="T2" fmla="*/ 7 w 1301"/>
                <a:gd name="T3" fmla="*/ 17 h 164"/>
                <a:gd name="T4" fmla="*/ 0 w 1301"/>
                <a:gd name="T5" fmla="*/ 63 h 164"/>
                <a:gd name="T6" fmla="*/ 0 w 1301"/>
                <a:gd name="T7" fmla="*/ 93 h 164"/>
                <a:gd name="T8" fmla="*/ 0 w 1301"/>
                <a:gd name="T9" fmla="*/ 164 h 164"/>
                <a:gd name="T10" fmla="*/ 651 w 1301"/>
                <a:gd name="T11" fmla="*/ 164 h 164"/>
                <a:gd name="T12" fmla="*/ 1301 w 1301"/>
                <a:gd name="T13" fmla="*/ 164 h 164"/>
                <a:gd name="T14" fmla="*/ 1296 w 1301"/>
                <a:gd name="T15" fmla="*/ 84 h 164"/>
                <a:gd name="T16" fmla="*/ 1291 w 1301"/>
                <a:gd name="T17" fmla="*/ 6 h 164"/>
                <a:gd name="T18" fmla="*/ 656 w 1301"/>
                <a:gd name="T19" fmla="*/ 1 h 164"/>
                <a:gd name="T20" fmla="*/ 402 w 1301"/>
                <a:gd name="T21" fmla="*/ 0 h 164"/>
                <a:gd name="T22" fmla="*/ 52 w 1301"/>
                <a:gd name="T23" fmla="*/ 5 h 164"/>
                <a:gd name="T24" fmla="*/ 11 w 1301"/>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1" h="164">
                  <a:moveTo>
                    <a:pt x="11" y="9"/>
                  </a:moveTo>
                  <a:lnTo>
                    <a:pt x="7" y="17"/>
                  </a:lnTo>
                  <a:lnTo>
                    <a:pt x="0" y="63"/>
                  </a:lnTo>
                  <a:lnTo>
                    <a:pt x="0" y="93"/>
                  </a:lnTo>
                  <a:lnTo>
                    <a:pt x="0" y="164"/>
                  </a:lnTo>
                  <a:lnTo>
                    <a:pt x="651" y="164"/>
                  </a:lnTo>
                  <a:lnTo>
                    <a:pt x="1301" y="164"/>
                  </a:lnTo>
                  <a:lnTo>
                    <a:pt x="1296" y="84"/>
                  </a:lnTo>
                  <a:lnTo>
                    <a:pt x="1291" y="6"/>
                  </a:lnTo>
                  <a:lnTo>
                    <a:pt x="656" y="1"/>
                  </a:lnTo>
                  <a:lnTo>
                    <a:pt x="402" y="0"/>
                  </a:lnTo>
                  <a:lnTo>
                    <a:pt x="52" y="5"/>
                  </a:lnTo>
                  <a:lnTo>
                    <a:pt x="11"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81">
              <a:extLst>
                <a:ext uri="{FF2B5EF4-FFF2-40B4-BE49-F238E27FC236}">
                  <a16:creationId xmlns:a16="http://schemas.microsoft.com/office/drawing/2014/main" id="{40D6C0EC-66D8-4FE4-A8ED-D9FA709BA6ED}"/>
                </a:ext>
              </a:extLst>
            </p:cNvPr>
            <p:cNvSpPr>
              <a:spLocks/>
            </p:cNvSpPr>
            <p:nvPr/>
          </p:nvSpPr>
          <p:spPr bwMode="auto">
            <a:xfrm>
              <a:off x="8099425" y="6488113"/>
              <a:ext cx="63500" cy="58738"/>
            </a:xfrm>
            <a:custGeom>
              <a:avLst/>
              <a:gdLst>
                <a:gd name="T0" fmla="*/ 5 w 165"/>
                <a:gd name="T1" fmla="*/ 23 h 152"/>
                <a:gd name="T2" fmla="*/ 2 w 165"/>
                <a:gd name="T3" fmla="*/ 36 h 152"/>
                <a:gd name="T4" fmla="*/ 0 w 165"/>
                <a:gd name="T5" fmla="*/ 74 h 152"/>
                <a:gd name="T6" fmla="*/ 2 w 165"/>
                <a:gd name="T7" fmla="*/ 95 h 152"/>
                <a:gd name="T8" fmla="*/ 4 w 165"/>
                <a:gd name="T9" fmla="*/ 110 h 152"/>
                <a:gd name="T10" fmla="*/ 11 w 165"/>
                <a:gd name="T11" fmla="*/ 129 h 152"/>
                <a:gd name="T12" fmla="*/ 28 w 165"/>
                <a:gd name="T13" fmla="*/ 140 h 152"/>
                <a:gd name="T14" fmla="*/ 61 w 165"/>
                <a:gd name="T15" fmla="*/ 145 h 152"/>
                <a:gd name="T16" fmla="*/ 87 w 165"/>
                <a:gd name="T17" fmla="*/ 147 h 152"/>
                <a:gd name="T18" fmla="*/ 165 w 165"/>
                <a:gd name="T19" fmla="*/ 152 h 152"/>
                <a:gd name="T20" fmla="*/ 165 w 165"/>
                <a:gd name="T21" fmla="*/ 77 h 152"/>
                <a:gd name="T22" fmla="*/ 165 w 165"/>
                <a:gd name="T23" fmla="*/ 0 h 152"/>
                <a:gd name="T24" fmla="*/ 90 w 165"/>
                <a:gd name="T25" fmla="*/ 0 h 152"/>
                <a:gd name="T26" fmla="*/ 55 w 165"/>
                <a:gd name="T27" fmla="*/ 1 h 152"/>
                <a:gd name="T28" fmla="*/ 21 w 165"/>
                <a:gd name="T29" fmla="*/ 9 h 152"/>
                <a:gd name="T30" fmla="*/ 8 w 165"/>
                <a:gd name="T31" fmla="*/ 18 h 152"/>
                <a:gd name="T32" fmla="*/ 5 w 165"/>
                <a:gd name="T33"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52">
                  <a:moveTo>
                    <a:pt x="5" y="23"/>
                  </a:moveTo>
                  <a:lnTo>
                    <a:pt x="2" y="36"/>
                  </a:lnTo>
                  <a:lnTo>
                    <a:pt x="0" y="74"/>
                  </a:lnTo>
                  <a:lnTo>
                    <a:pt x="2" y="95"/>
                  </a:lnTo>
                  <a:lnTo>
                    <a:pt x="4" y="110"/>
                  </a:lnTo>
                  <a:lnTo>
                    <a:pt x="11" y="129"/>
                  </a:lnTo>
                  <a:lnTo>
                    <a:pt x="28" y="140"/>
                  </a:lnTo>
                  <a:lnTo>
                    <a:pt x="61" y="145"/>
                  </a:lnTo>
                  <a:lnTo>
                    <a:pt x="87" y="147"/>
                  </a:lnTo>
                  <a:lnTo>
                    <a:pt x="165" y="152"/>
                  </a:lnTo>
                  <a:lnTo>
                    <a:pt x="165" y="77"/>
                  </a:lnTo>
                  <a:lnTo>
                    <a:pt x="165" y="0"/>
                  </a:lnTo>
                  <a:lnTo>
                    <a:pt x="90" y="0"/>
                  </a:lnTo>
                  <a:lnTo>
                    <a:pt x="55" y="1"/>
                  </a:lnTo>
                  <a:lnTo>
                    <a:pt x="21" y="9"/>
                  </a:lnTo>
                  <a:lnTo>
                    <a:pt x="8" y="18"/>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82">
              <a:extLst>
                <a:ext uri="{FF2B5EF4-FFF2-40B4-BE49-F238E27FC236}">
                  <a16:creationId xmlns:a16="http://schemas.microsoft.com/office/drawing/2014/main" id="{28EB0428-A228-4575-8B14-2D16813E5525}"/>
                </a:ext>
              </a:extLst>
            </p:cNvPr>
            <p:cNvSpPr>
              <a:spLocks/>
            </p:cNvSpPr>
            <p:nvPr/>
          </p:nvSpPr>
          <p:spPr bwMode="auto">
            <a:xfrm>
              <a:off x="8228013" y="6488113"/>
              <a:ext cx="65088" cy="58738"/>
            </a:xfrm>
            <a:custGeom>
              <a:avLst/>
              <a:gdLst>
                <a:gd name="T0" fmla="*/ 0 w 166"/>
                <a:gd name="T1" fmla="*/ 75 h 150"/>
                <a:gd name="T2" fmla="*/ 0 w 166"/>
                <a:gd name="T3" fmla="*/ 150 h 150"/>
                <a:gd name="T4" fmla="*/ 83 w 166"/>
                <a:gd name="T5" fmla="*/ 150 h 150"/>
                <a:gd name="T6" fmla="*/ 166 w 166"/>
                <a:gd name="T7" fmla="*/ 150 h 150"/>
                <a:gd name="T8" fmla="*/ 166 w 166"/>
                <a:gd name="T9" fmla="*/ 75 h 150"/>
                <a:gd name="T10" fmla="*/ 166 w 166"/>
                <a:gd name="T11" fmla="*/ 0 h 150"/>
                <a:gd name="T12" fmla="*/ 83 w 166"/>
                <a:gd name="T13" fmla="*/ 0 h 150"/>
                <a:gd name="T14" fmla="*/ 0 w 166"/>
                <a:gd name="T15" fmla="*/ 0 h 150"/>
                <a:gd name="T16" fmla="*/ 0 w 166"/>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150">
                  <a:moveTo>
                    <a:pt x="0" y="75"/>
                  </a:moveTo>
                  <a:lnTo>
                    <a:pt x="0" y="150"/>
                  </a:lnTo>
                  <a:lnTo>
                    <a:pt x="83" y="150"/>
                  </a:lnTo>
                  <a:lnTo>
                    <a:pt x="166" y="150"/>
                  </a:lnTo>
                  <a:lnTo>
                    <a:pt x="166" y="75"/>
                  </a:lnTo>
                  <a:lnTo>
                    <a:pt x="166" y="0"/>
                  </a:lnTo>
                  <a:lnTo>
                    <a:pt x="8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183">
              <a:extLst>
                <a:ext uri="{FF2B5EF4-FFF2-40B4-BE49-F238E27FC236}">
                  <a16:creationId xmlns:a16="http://schemas.microsoft.com/office/drawing/2014/main" id="{C1893769-A363-4136-994F-EF9CCB956E55}"/>
                </a:ext>
              </a:extLst>
            </p:cNvPr>
            <p:cNvSpPr>
              <a:spLocks/>
            </p:cNvSpPr>
            <p:nvPr/>
          </p:nvSpPr>
          <p:spPr bwMode="auto">
            <a:xfrm>
              <a:off x="8356600" y="6488113"/>
              <a:ext cx="58738" cy="60325"/>
            </a:xfrm>
            <a:custGeom>
              <a:avLst/>
              <a:gdLst>
                <a:gd name="T0" fmla="*/ 0 w 150"/>
                <a:gd name="T1" fmla="*/ 72 h 155"/>
                <a:gd name="T2" fmla="*/ 0 w 150"/>
                <a:gd name="T3" fmla="*/ 101 h 155"/>
                <a:gd name="T4" fmla="*/ 4 w 150"/>
                <a:gd name="T5" fmla="*/ 145 h 155"/>
                <a:gd name="T6" fmla="*/ 7 w 150"/>
                <a:gd name="T7" fmla="*/ 152 h 155"/>
                <a:gd name="T8" fmla="*/ 14 w 150"/>
                <a:gd name="T9" fmla="*/ 155 h 155"/>
                <a:gd name="T10" fmla="*/ 55 w 150"/>
                <a:gd name="T11" fmla="*/ 155 h 155"/>
                <a:gd name="T12" fmla="*/ 82 w 150"/>
                <a:gd name="T13" fmla="*/ 153 h 155"/>
                <a:gd name="T14" fmla="*/ 150 w 150"/>
                <a:gd name="T15" fmla="*/ 147 h 155"/>
                <a:gd name="T16" fmla="*/ 150 w 150"/>
                <a:gd name="T17" fmla="*/ 73 h 155"/>
                <a:gd name="T18" fmla="*/ 150 w 150"/>
                <a:gd name="T19" fmla="*/ 0 h 155"/>
                <a:gd name="T20" fmla="*/ 75 w 150"/>
                <a:gd name="T21" fmla="*/ 0 h 155"/>
                <a:gd name="T22" fmla="*/ 0 w 150"/>
                <a:gd name="T23" fmla="*/ 0 h 155"/>
                <a:gd name="T24" fmla="*/ 0 w 150"/>
                <a:gd name="T25" fmla="*/ 7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55">
                  <a:moveTo>
                    <a:pt x="0" y="72"/>
                  </a:moveTo>
                  <a:lnTo>
                    <a:pt x="0" y="101"/>
                  </a:lnTo>
                  <a:lnTo>
                    <a:pt x="4" y="145"/>
                  </a:lnTo>
                  <a:lnTo>
                    <a:pt x="7" y="152"/>
                  </a:lnTo>
                  <a:lnTo>
                    <a:pt x="14" y="155"/>
                  </a:lnTo>
                  <a:lnTo>
                    <a:pt x="55" y="155"/>
                  </a:lnTo>
                  <a:lnTo>
                    <a:pt x="82" y="153"/>
                  </a:lnTo>
                  <a:lnTo>
                    <a:pt x="150" y="147"/>
                  </a:lnTo>
                  <a:lnTo>
                    <a:pt x="150" y="73"/>
                  </a:lnTo>
                  <a:lnTo>
                    <a:pt x="150" y="0"/>
                  </a:lnTo>
                  <a:lnTo>
                    <a:pt x="75" y="0"/>
                  </a:lnTo>
                  <a:lnTo>
                    <a:pt x="0" y="0"/>
                  </a:lnTo>
                  <a:lnTo>
                    <a:pt x="0"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0" name="TextBox 129">
            <a:extLst>
              <a:ext uri="{FF2B5EF4-FFF2-40B4-BE49-F238E27FC236}">
                <a16:creationId xmlns:a16="http://schemas.microsoft.com/office/drawing/2014/main" id="{F5F6C831-64ED-44D8-9E4A-E1FCBEB12E35}"/>
              </a:ext>
            </a:extLst>
          </p:cNvPr>
          <p:cNvSpPr txBox="1"/>
          <p:nvPr/>
        </p:nvSpPr>
        <p:spPr>
          <a:xfrm>
            <a:off x="1470212" y="5609101"/>
            <a:ext cx="10049435" cy="523220"/>
          </a:xfrm>
          <a:prstGeom prst="rect">
            <a:avLst/>
          </a:prstGeom>
          <a:noFill/>
        </p:spPr>
        <p:txBody>
          <a:bodyPr wrap="square">
            <a:spAutoFit/>
          </a:bodyPr>
          <a:lstStyle/>
          <a:p>
            <a:pPr algn="r" rtl="1"/>
            <a:r>
              <a:rPr lang="ar-SA" sz="1400" dirty="0"/>
              <a:t>* ملاحظة : المقصود بالمسرّع الأول </a:t>
            </a:r>
            <a:r>
              <a:rPr lang="ar-SA" sz="1400" b="1" dirty="0"/>
              <a:t>"أطر التعهيد لموارد البنية المؤسسية"</a:t>
            </a:r>
            <a:r>
              <a:rPr lang="ar-SA" sz="1400" dirty="0"/>
              <a:t> هو وضع آليات أو أطر تعاقدية وتنظيمية تُمكّن الجهة من </a:t>
            </a:r>
            <a:r>
              <a:rPr lang="ar-SA" sz="1400" b="1" dirty="0"/>
              <a:t>الاستعانة بجهات خارجية</a:t>
            </a:r>
            <a:r>
              <a:rPr lang="ar-SA" sz="1400" dirty="0"/>
              <a:t> أو </a:t>
            </a:r>
            <a:r>
              <a:rPr lang="ar-SA" sz="1400" b="1" dirty="0"/>
              <a:t>توظيف موارد</a:t>
            </a:r>
            <a:r>
              <a:rPr lang="ar-SA" sz="1400" dirty="0"/>
              <a:t> بشكل أكثر كفاءة لدعم وتطوير البنية المؤسسية.</a:t>
            </a:r>
            <a:endParaRPr lang="en-US" sz="1400" dirty="0"/>
          </a:p>
        </p:txBody>
      </p:sp>
    </p:spTree>
    <p:extLst>
      <p:ext uri="{BB962C8B-B14F-4D97-AF65-F5344CB8AC3E}">
        <p14:creationId xmlns:p14="http://schemas.microsoft.com/office/powerpoint/2010/main" val="3463876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7C5D-31A7-BB05-90FE-9EB11480203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92EEA63-058A-15FB-6FE9-7A39DD13F5C5}"/>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32</a:t>
            </a:fld>
            <a:endParaRPr lang="en-US" sz="1400" b="1" dirty="0">
              <a:solidFill>
                <a:schemeClr val="accent1"/>
              </a:solidFill>
            </a:endParaRPr>
          </a:p>
        </p:txBody>
      </p:sp>
      <p:sp>
        <p:nvSpPr>
          <p:cNvPr id="2" name="Title 1">
            <a:extLst>
              <a:ext uri="{FF2B5EF4-FFF2-40B4-BE49-F238E27FC236}">
                <a16:creationId xmlns:a16="http://schemas.microsoft.com/office/drawing/2014/main" id="{0F6761E1-46AA-EDF7-6D2C-88050644D4D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دوافع استخدام أدوات البنية المؤسسية</a:t>
            </a:r>
            <a:endParaRPr lang="ar-EG" sz="2800" dirty="0"/>
          </a:p>
        </p:txBody>
      </p:sp>
      <p:sp>
        <p:nvSpPr>
          <p:cNvPr id="8" name="مستطيل: زوايا مستديرة 13">
            <a:extLst>
              <a:ext uri="{FF2B5EF4-FFF2-40B4-BE49-F238E27FC236}">
                <a16:creationId xmlns:a16="http://schemas.microsoft.com/office/drawing/2014/main" id="{4EFB2A56-955C-40DE-953E-C0F0BB70DDE1}"/>
              </a:ext>
            </a:extLst>
          </p:cNvPr>
          <p:cNvSpPr/>
          <p:nvPr/>
        </p:nvSpPr>
        <p:spPr>
          <a:xfrm>
            <a:off x="7583383" y="1354007"/>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0" name="Rectangle 9">
            <a:extLst>
              <a:ext uri="{FF2B5EF4-FFF2-40B4-BE49-F238E27FC236}">
                <a16:creationId xmlns:a16="http://schemas.microsoft.com/office/drawing/2014/main" id="{EECE06ED-4D2D-408B-AC25-6F6C9EB0429C}"/>
              </a:ext>
            </a:extLst>
          </p:cNvPr>
          <p:cNvSpPr/>
          <p:nvPr/>
        </p:nvSpPr>
        <p:spPr>
          <a:xfrm>
            <a:off x="7839192" y="1321663"/>
            <a:ext cx="3223984" cy="523220"/>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إنشاء النماذج والمخططات  التي تمثل مكونات البنية المؤسسية والعلاقات بينها</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1" name="Oval 10">
            <a:extLst>
              <a:ext uri="{FF2B5EF4-FFF2-40B4-BE49-F238E27FC236}">
                <a16:creationId xmlns:a16="http://schemas.microsoft.com/office/drawing/2014/main" id="{B8F37A36-01A4-4037-8072-7056ABC75D9E}"/>
              </a:ext>
            </a:extLst>
          </p:cNvPr>
          <p:cNvSpPr/>
          <p:nvPr/>
        </p:nvSpPr>
        <p:spPr>
          <a:xfrm>
            <a:off x="11063176" y="1434689"/>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1</a:t>
            </a:r>
          </a:p>
        </p:txBody>
      </p:sp>
      <p:sp>
        <p:nvSpPr>
          <p:cNvPr id="7" name="مستطيل: زوايا مستديرة 13">
            <a:extLst>
              <a:ext uri="{FF2B5EF4-FFF2-40B4-BE49-F238E27FC236}">
                <a16:creationId xmlns:a16="http://schemas.microsoft.com/office/drawing/2014/main" id="{F3F4005B-536A-4E00-8F7F-8F2470F7B7F6}"/>
              </a:ext>
            </a:extLst>
          </p:cNvPr>
          <p:cNvSpPr/>
          <p:nvPr/>
        </p:nvSpPr>
        <p:spPr>
          <a:xfrm>
            <a:off x="7583383" y="2033232"/>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9" name="Rectangle 8">
            <a:extLst>
              <a:ext uri="{FF2B5EF4-FFF2-40B4-BE49-F238E27FC236}">
                <a16:creationId xmlns:a16="http://schemas.microsoft.com/office/drawing/2014/main" id="{4FB9B2E9-4FC1-4260-883F-FBD8228FE851}"/>
              </a:ext>
            </a:extLst>
          </p:cNvPr>
          <p:cNvSpPr/>
          <p:nvPr/>
        </p:nvSpPr>
        <p:spPr>
          <a:xfrm>
            <a:off x="7839192" y="2000888"/>
            <a:ext cx="3223984" cy="523220"/>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تخزين وتنظيم وإدارة معلومات البنية المؤسسية بشكل مركزي</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2" name="Oval 11">
            <a:extLst>
              <a:ext uri="{FF2B5EF4-FFF2-40B4-BE49-F238E27FC236}">
                <a16:creationId xmlns:a16="http://schemas.microsoft.com/office/drawing/2014/main" id="{9A5BDC28-191E-4709-9FD9-35BDA439FC2D}"/>
              </a:ext>
            </a:extLst>
          </p:cNvPr>
          <p:cNvSpPr/>
          <p:nvPr/>
        </p:nvSpPr>
        <p:spPr>
          <a:xfrm>
            <a:off x="11063176" y="2113914"/>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2</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3" name="مستطيل: زوايا مستديرة 13">
            <a:extLst>
              <a:ext uri="{FF2B5EF4-FFF2-40B4-BE49-F238E27FC236}">
                <a16:creationId xmlns:a16="http://schemas.microsoft.com/office/drawing/2014/main" id="{3F78464F-877F-4581-ABB4-18CA46AD4189}"/>
              </a:ext>
            </a:extLst>
          </p:cNvPr>
          <p:cNvSpPr/>
          <p:nvPr/>
        </p:nvSpPr>
        <p:spPr>
          <a:xfrm>
            <a:off x="7583383" y="2742908"/>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4" name="Rectangle 13">
            <a:extLst>
              <a:ext uri="{FF2B5EF4-FFF2-40B4-BE49-F238E27FC236}">
                <a16:creationId xmlns:a16="http://schemas.microsoft.com/office/drawing/2014/main" id="{16157A16-C60B-41A0-AF58-0C5B4E211126}"/>
              </a:ext>
            </a:extLst>
          </p:cNvPr>
          <p:cNvSpPr/>
          <p:nvPr/>
        </p:nvSpPr>
        <p:spPr>
          <a:xfrm>
            <a:off x="7839192" y="2818285"/>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توفير وصول مشترك للمعلومات بين أصحاب المصلحة </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5" name="Oval 14">
            <a:extLst>
              <a:ext uri="{FF2B5EF4-FFF2-40B4-BE49-F238E27FC236}">
                <a16:creationId xmlns:a16="http://schemas.microsoft.com/office/drawing/2014/main" id="{2DA97CB6-2DDB-4D9E-B47E-61C0CA6B4C72}"/>
              </a:ext>
            </a:extLst>
          </p:cNvPr>
          <p:cNvSpPr/>
          <p:nvPr/>
        </p:nvSpPr>
        <p:spPr>
          <a:xfrm>
            <a:off x="11063176" y="2823590"/>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3</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6" name="مستطيل: زوايا مستديرة 13">
            <a:extLst>
              <a:ext uri="{FF2B5EF4-FFF2-40B4-BE49-F238E27FC236}">
                <a16:creationId xmlns:a16="http://schemas.microsoft.com/office/drawing/2014/main" id="{7E194641-9CDB-46B2-95FF-2FD0A0E08A05}"/>
              </a:ext>
            </a:extLst>
          </p:cNvPr>
          <p:cNvSpPr/>
          <p:nvPr/>
        </p:nvSpPr>
        <p:spPr>
          <a:xfrm>
            <a:off x="7583383" y="3446898"/>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1858DD1C-F95E-4363-A8BE-8F9D37150544}"/>
              </a:ext>
            </a:extLst>
          </p:cNvPr>
          <p:cNvSpPr/>
          <p:nvPr/>
        </p:nvSpPr>
        <p:spPr>
          <a:xfrm>
            <a:off x="7839192" y="3522275"/>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دعم إدارة الإصدارات وتتيع التغييرات </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8" name="Oval 17">
            <a:extLst>
              <a:ext uri="{FF2B5EF4-FFF2-40B4-BE49-F238E27FC236}">
                <a16:creationId xmlns:a16="http://schemas.microsoft.com/office/drawing/2014/main" id="{47F84BE1-8A08-4C37-92B2-7DA17CC8D81E}"/>
              </a:ext>
            </a:extLst>
          </p:cNvPr>
          <p:cNvSpPr/>
          <p:nvPr/>
        </p:nvSpPr>
        <p:spPr>
          <a:xfrm>
            <a:off x="11063176" y="3527580"/>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4</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9" name="مستطيل: زوايا مستديرة 13">
            <a:extLst>
              <a:ext uri="{FF2B5EF4-FFF2-40B4-BE49-F238E27FC236}">
                <a16:creationId xmlns:a16="http://schemas.microsoft.com/office/drawing/2014/main" id="{8F5BEFCD-A1F7-4EBA-90EA-56C0F64BC27E}"/>
              </a:ext>
            </a:extLst>
          </p:cNvPr>
          <p:cNvSpPr/>
          <p:nvPr/>
        </p:nvSpPr>
        <p:spPr>
          <a:xfrm>
            <a:off x="7583383" y="4147610"/>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03DC6AAC-9462-4598-8F15-9349DA9A632E}"/>
              </a:ext>
            </a:extLst>
          </p:cNvPr>
          <p:cNvSpPr/>
          <p:nvPr/>
        </p:nvSpPr>
        <p:spPr>
          <a:xfrm>
            <a:off x="7839192" y="4222987"/>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تحسين عملية اتخاذ القرار</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21" name="Oval 20">
            <a:extLst>
              <a:ext uri="{FF2B5EF4-FFF2-40B4-BE49-F238E27FC236}">
                <a16:creationId xmlns:a16="http://schemas.microsoft.com/office/drawing/2014/main" id="{DA5D3195-6F95-4853-B230-1FE71BE09292}"/>
              </a:ext>
            </a:extLst>
          </p:cNvPr>
          <p:cNvSpPr/>
          <p:nvPr/>
        </p:nvSpPr>
        <p:spPr>
          <a:xfrm>
            <a:off x="11063176" y="422829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5</a:t>
            </a:r>
            <a:endParaRPr lang="en-US" b="1" dirty="0">
              <a:solidFill>
                <a:schemeClr val="accent1"/>
              </a:solidFill>
              <a:latin typeface="Sakkal Majalla" panose="02000000000000000000" pitchFamily="2" charset="-78"/>
              <a:cs typeface="Sakkal Majalla" panose="02000000000000000000" pitchFamily="2" charset="-78"/>
            </a:endParaRPr>
          </a:p>
        </p:txBody>
      </p:sp>
      <p:pic>
        <p:nvPicPr>
          <p:cNvPr id="22" name="Picture 21">
            <a:extLst>
              <a:ext uri="{FF2B5EF4-FFF2-40B4-BE49-F238E27FC236}">
                <a16:creationId xmlns:a16="http://schemas.microsoft.com/office/drawing/2014/main" id="{B39EF56B-58F5-402C-9B1C-7D0436D91380}"/>
              </a:ext>
            </a:extLst>
          </p:cNvPr>
          <p:cNvPicPr>
            <a:picLocks noChangeAspect="1"/>
          </p:cNvPicPr>
          <p:nvPr/>
        </p:nvPicPr>
        <p:blipFill>
          <a:blip r:embed="rId3"/>
          <a:stretch>
            <a:fillRect/>
          </a:stretch>
        </p:blipFill>
        <p:spPr>
          <a:xfrm>
            <a:off x="762000" y="763372"/>
            <a:ext cx="5564840" cy="2701083"/>
          </a:xfrm>
          <a:prstGeom prst="rect">
            <a:avLst/>
          </a:prstGeom>
        </p:spPr>
      </p:pic>
      <p:pic>
        <p:nvPicPr>
          <p:cNvPr id="4" name="Picture 3">
            <a:extLst>
              <a:ext uri="{FF2B5EF4-FFF2-40B4-BE49-F238E27FC236}">
                <a16:creationId xmlns:a16="http://schemas.microsoft.com/office/drawing/2014/main" id="{58E9D2E3-73EB-46CC-BE9E-294223B59B06}"/>
              </a:ext>
            </a:extLst>
          </p:cNvPr>
          <p:cNvPicPr>
            <a:picLocks noChangeAspect="1"/>
          </p:cNvPicPr>
          <p:nvPr/>
        </p:nvPicPr>
        <p:blipFill>
          <a:blip r:embed="rId4"/>
          <a:stretch>
            <a:fillRect/>
          </a:stretch>
        </p:blipFill>
        <p:spPr>
          <a:xfrm>
            <a:off x="762001" y="3464455"/>
            <a:ext cx="5564840" cy="2695951"/>
          </a:xfrm>
          <a:prstGeom prst="rect">
            <a:avLst/>
          </a:prstGeom>
        </p:spPr>
      </p:pic>
    </p:spTree>
    <p:extLst>
      <p:ext uri="{BB962C8B-B14F-4D97-AF65-F5344CB8AC3E}">
        <p14:creationId xmlns:p14="http://schemas.microsoft.com/office/powerpoint/2010/main" val="1289593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مجموعة 4">
            <a:extLst>
              <a:ext uri="{FF2B5EF4-FFF2-40B4-BE49-F238E27FC236}">
                <a16:creationId xmlns:a16="http://schemas.microsoft.com/office/drawing/2014/main" id="{E26B813D-710C-854D-9582-CD28B5B94540}"/>
              </a:ext>
            </a:extLst>
          </p:cNvPr>
          <p:cNvGrpSpPr/>
          <p:nvPr/>
        </p:nvGrpSpPr>
        <p:grpSpPr>
          <a:xfrm>
            <a:off x="4459571" y="1563937"/>
            <a:ext cx="3135828" cy="851167"/>
            <a:chOff x="5442420" y="2079317"/>
            <a:chExt cx="2596126" cy="851167"/>
          </a:xfrm>
        </p:grpSpPr>
        <p:sp>
          <p:nvSpPr>
            <p:cNvPr id="2" name="مربع نص 1">
              <a:extLst>
                <a:ext uri="{FF2B5EF4-FFF2-40B4-BE49-F238E27FC236}">
                  <a16:creationId xmlns:a16="http://schemas.microsoft.com/office/drawing/2014/main" id="{88B12798-3EB5-F641-8C5A-4C7DFFD7C588}"/>
                </a:ext>
              </a:extLst>
            </p:cNvPr>
            <p:cNvSpPr txBox="1"/>
            <p:nvPr/>
          </p:nvSpPr>
          <p:spPr>
            <a:xfrm>
              <a:off x="5442420" y="2079317"/>
              <a:ext cx="2596126" cy="707886"/>
            </a:xfrm>
            <a:prstGeom prst="rect">
              <a:avLst/>
            </a:prstGeom>
            <a:noFill/>
          </p:spPr>
          <p:txBody>
            <a:bodyPr wrap="square" rtlCol="1">
              <a:spAutoFit/>
            </a:bodyPr>
            <a:lstStyle/>
            <a:p>
              <a:pPr algn="r"/>
              <a:r>
                <a:rPr lang="ar-SA" sz="4000" b="1" dirty="0">
                  <a:solidFill>
                    <a:schemeClr val="bg1"/>
                  </a:solidFill>
                  <a:latin typeface="+mj-lt"/>
                  <a:ea typeface="+mj-ea"/>
                  <a:cs typeface="+mj-cs"/>
                </a:rPr>
                <a:t>شُكرًا لاستماعكم </a:t>
              </a:r>
              <a:r>
                <a:rPr lang="ar-SA" sz="4000" dirty="0">
                  <a:solidFill>
                    <a:schemeClr val="bg1"/>
                  </a:solidFill>
                  <a:latin typeface="+mj-lt"/>
                  <a:cs typeface="DIN NEXT™ ARABIC REGULAR" panose="020B0503020203050203" pitchFamily="34" charset="-78"/>
                </a:rPr>
                <a:t>..</a:t>
              </a:r>
            </a:p>
          </p:txBody>
        </p:sp>
        <p:sp>
          <p:nvSpPr>
            <p:cNvPr id="3" name="مستطيل 2">
              <a:extLst>
                <a:ext uri="{FF2B5EF4-FFF2-40B4-BE49-F238E27FC236}">
                  <a16:creationId xmlns:a16="http://schemas.microsoft.com/office/drawing/2014/main" id="{8C068C76-A150-EA4A-990D-D9EA7D010421}"/>
                </a:ext>
              </a:extLst>
            </p:cNvPr>
            <p:cNvSpPr/>
            <p:nvPr/>
          </p:nvSpPr>
          <p:spPr>
            <a:xfrm>
              <a:off x="7458945" y="2861929"/>
              <a:ext cx="443797" cy="68555"/>
            </a:xfrm>
            <a:prstGeom prst="rect">
              <a:avLst/>
            </a:prstGeom>
            <a:solidFill>
              <a:srgbClr val="FF6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solidFill>
                  <a:srgbClr val="41A1DA"/>
                </a:solidFill>
              </a:endParaRPr>
            </a:p>
          </p:txBody>
        </p:sp>
      </p:grpSp>
      <p:pic>
        <p:nvPicPr>
          <p:cNvPr id="12" name="Picture 11">
            <a:extLst>
              <a:ext uri="{FF2B5EF4-FFF2-40B4-BE49-F238E27FC236}">
                <a16:creationId xmlns:a16="http://schemas.microsoft.com/office/drawing/2014/main" id="{ECE479DA-73D4-B8E0-E3E6-86B719E88D5F}"/>
              </a:ext>
            </a:extLst>
          </p:cNvPr>
          <p:cNvPicPr>
            <a:picLocks noChangeAspect="1"/>
          </p:cNvPicPr>
          <p:nvPr/>
        </p:nvPicPr>
        <p:blipFill>
          <a:blip r:embed="rId2"/>
          <a:stretch>
            <a:fillRect/>
          </a:stretch>
        </p:blipFill>
        <p:spPr>
          <a:xfrm>
            <a:off x="7974056" y="5499910"/>
            <a:ext cx="1697318" cy="203200"/>
          </a:xfrm>
          <a:prstGeom prst="rect">
            <a:avLst/>
          </a:prstGeom>
        </p:spPr>
      </p:pic>
      <p:pic>
        <p:nvPicPr>
          <p:cNvPr id="10" name="Picture 9">
            <a:extLst>
              <a:ext uri="{FF2B5EF4-FFF2-40B4-BE49-F238E27FC236}">
                <a16:creationId xmlns:a16="http://schemas.microsoft.com/office/drawing/2014/main" id="{B834CE7F-2D8D-45D4-BACB-D154C2697154}"/>
              </a:ext>
            </a:extLst>
          </p:cNvPr>
          <p:cNvPicPr>
            <a:picLocks noChangeAspect="1"/>
          </p:cNvPicPr>
          <p:nvPr/>
        </p:nvPicPr>
        <p:blipFill>
          <a:blip r:embed="rId3"/>
          <a:stretch>
            <a:fillRect/>
          </a:stretch>
        </p:blipFill>
        <p:spPr>
          <a:xfrm>
            <a:off x="3310289" y="2581827"/>
            <a:ext cx="5957316" cy="2016252"/>
          </a:xfrm>
          <a:prstGeom prst="rect">
            <a:avLst/>
          </a:prstGeom>
        </p:spPr>
      </p:pic>
      <p:sp>
        <p:nvSpPr>
          <p:cNvPr id="4" name="Rectangle 1">
            <a:extLst>
              <a:ext uri="{FF2B5EF4-FFF2-40B4-BE49-F238E27FC236}">
                <a16:creationId xmlns:a16="http://schemas.microsoft.com/office/drawing/2014/main" id="{8EB0E824-E9A9-4962-8DB7-A40A1A076BEA}"/>
              </a:ext>
            </a:extLst>
          </p:cNvPr>
          <p:cNvSpPr>
            <a:spLocks noChangeArrowheads="1"/>
          </p:cNvSpPr>
          <p:nvPr/>
        </p:nvSpPr>
        <p:spPr bwMode="auto">
          <a:xfrm>
            <a:off x="1533699" y="4742561"/>
            <a:ext cx="8640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SA" altLang="en-US" sz="1400" b="0" i="0" u="none" strike="noStrike" cap="none" normalizeH="0" baseline="0" dirty="0">
                <a:ln>
                  <a:noFill/>
                </a:ln>
                <a:solidFill>
                  <a:schemeClr val="bg1"/>
                </a:solidFill>
                <a:effectLst/>
                <a:latin typeface="Sakkal Majalla" panose="02000000000000000000" pitchFamily="2" charset="-78"/>
                <a:ea typeface="Aptos"/>
                <a:cs typeface="Sakkal Majalla" panose="02000000000000000000" pitchFamily="2" charset="-78"/>
              </a:rPr>
              <a:t>نرجو منكم المشاركة في استبانة </a:t>
            </a:r>
            <a:r>
              <a:rPr lang="ar-SA" sz="1400" dirty="0">
                <a:solidFill>
                  <a:schemeClr val="bg1"/>
                </a:solidFill>
                <a:latin typeface="Sakkal Majalla" panose="02000000000000000000" pitchFamily="2" charset="-78"/>
                <a:cs typeface="Sakkal Majalla" panose="02000000000000000000" pitchFamily="2" charset="-78"/>
              </a:rPr>
              <a:t>قياس مدى استفادتكم من الورشة</a:t>
            </a:r>
            <a:r>
              <a:rPr kumimoji="0" lang="ar-SA" altLang="en-US" sz="1400" b="0" i="0" u="none" strike="noStrike" cap="none" normalizeH="0" baseline="0" dirty="0">
                <a:ln>
                  <a:noFill/>
                </a:ln>
                <a:solidFill>
                  <a:schemeClr val="bg1"/>
                </a:solidFill>
                <a:effectLst/>
                <a:latin typeface="Sakkal Majalla" panose="02000000000000000000" pitchFamily="2" charset="-78"/>
                <a:ea typeface="Aptos"/>
                <a:cs typeface="Sakkal Majalla" panose="02000000000000000000" pitchFamily="2" charset="-78"/>
              </a:rPr>
              <a:t>، والذي سيساعدنا </a:t>
            </a:r>
            <a:r>
              <a:rPr lang="ar-SA" sz="1400" dirty="0">
                <a:solidFill>
                  <a:schemeClr val="bg1"/>
                </a:solidFill>
                <a:latin typeface="Sakkal Majalla" panose="02000000000000000000" pitchFamily="2" charset="-78"/>
                <a:cs typeface="Sakkal Majalla" panose="02000000000000000000" pitchFamily="2" charset="-78"/>
              </a:rPr>
              <a:t>في تحسين المحتوى والتجربة التدريبية مستقبلاً لضمان تحقيق أقصى فائدة للمشاركين</a:t>
            </a:r>
            <a:r>
              <a:rPr lang="ar-SA" altLang="en-US" sz="1400" dirty="0">
                <a:solidFill>
                  <a:schemeClr val="bg1"/>
                </a:solidFill>
                <a:latin typeface="Sakkal Majalla" panose="02000000000000000000" pitchFamily="2" charset="-78"/>
                <a:cs typeface="Sakkal Majalla" panose="02000000000000000000" pitchFamily="2" charset="-78"/>
              </a:rPr>
              <a:t>.</a:t>
            </a:r>
          </a:p>
          <a:p>
            <a:pPr marL="0" marR="0" lvl="0" indent="0" algn="ctr" defTabSz="914400" rtl="1" eaLnBrk="0" fontAlgn="base" latinLnBrk="0" hangingPunct="0">
              <a:lnSpc>
                <a:spcPct val="100000"/>
              </a:lnSpc>
              <a:spcBef>
                <a:spcPct val="0"/>
              </a:spcBef>
              <a:spcAft>
                <a:spcPct val="0"/>
              </a:spcAft>
              <a:buClrTx/>
              <a:buSzTx/>
              <a:buFontTx/>
              <a:buNone/>
              <a:tabLst/>
            </a:pPr>
            <a:r>
              <a:rPr lang="ar-SA" altLang="en-US" sz="1400" dirty="0">
                <a:solidFill>
                  <a:schemeClr val="bg1"/>
                </a:solidFill>
                <a:latin typeface="Sakkal Majalla" panose="02000000000000000000" pitchFamily="2" charset="-78"/>
                <a:cs typeface="Sakkal Majalla" panose="02000000000000000000" pitchFamily="2" charset="-78"/>
              </a:rPr>
              <a:t>حيث أن رابط الاستبانة تجدونه من خلال مسح  </a:t>
            </a:r>
            <a:r>
              <a:rPr lang="en-US" altLang="en-US" sz="1400" dirty="0">
                <a:solidFill>
                  <a:schemeClr val="bg1"/>
                </a:solidFill>
                <a:latin typeface="Sakkal Majalla" panose="02000000000000000000" pitchFamily="2" charset="-78"/>
                <a:cs typeface="Sakkal Majalla" panose="02000000000000000000" pitchFamily="2" charset="-78"/>
              </a:rPr>
              <a:t>QR Code</a:t>
            </a:r>
            <a:endParaRPr kumimoji="0" lang="ar-SA" altLang="en-US" sz="1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9488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859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309</TotalTime>
  <Words>3518</Words>
  <Application>Microsoft Office PowerPoint</Application>
  <PresentationFormat>Widescreen</PresentationFormat>
  <Paragraphs>533</Paragraphs>
  <Slides>34</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Sakkal Majalla</vt:lpstr>
      <vt:lpstr>Times New Roman</vt:lpstr>
      <vt:lpstr>Wingdings</vt:lpstr>
      <vt:lpstr>Office Theme</vt:lpstr>
      <vt:lpstr>التعريف بأساسيات ودور البنية المؤسسية</vt:lpstr>
      <vt:lpstr>جدول المحتويات</vt:lpstr>
      <vt:lpstr>مقدمة عن البنية المؤسسية</vt:lpstr>
      <vt:lpstr>ما هي البنية المؤسسية</vt:lpstr>
      <vt:lpstr>ماهي البنية المؤسسية</vt:lpstr>
      <vt:lpstr>أهمية البنية المؤسسية</vt:lpstr>
      <vt:lpstr>دور البنية المؤسسية</vt:lpstr>
      <vt:lpstr>أُطر و منهجيات البنية المؤسسية</vt:lpstr>
      <vt:lpstr>إطار البنية للمجموعة المفتوحة TOGAF</vt:lpstr>
      <vt:lpstr>PowerPoint Presentation</vt:lpstr>
      <vt:lpstr>المنهجية الوطنية للبنية المؤسسية</vt:lpstr>
      <vt:lpstr>مجالات البنية المؤسسية في إطار (NORA)</vt:lpstr>
      <vt:lpstr>PowerPoint Presentation</vt:lpstr>
      <vt:lpstr>PowerPoint Presentation</vt:lpstr>
      <vt:lpstr>PowerPoint Presentation</vt:lpstr>
      <vt:lpstr>رحلة تأسيس ممارسة البنية المؤسسية</vt:lpstr>
      <vt:lpstr>رحلة تأسيس ممارسة البنية المؤسسية </vt:lpstr>
      <vt:lpstr>تأسيس ممارسة البنية المؤسسية</vt:lpstr>
      <vt:lpstr>مكونات الإطار الموحد للبنية المؤسسية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تعزيز مهارات ممارسة البنية المؤسسية</dc:title>
  <dc:creator>Mohamed Imam</dc:creator>
  <cp:lastModifiedBy>Awsan Alhakimi</cp:lastModifiedBy>
  <cp:revision>121</cp:revision>
  <dcterms:created xsi:type="dcterms:W3CDTF">2025-02-26T16:36:47Z</dcterms:created>
  <dcterms:modified xsi:type="dcterms:W3CDTF">2025-03-16T10:49:30Z</dcterms:modified>
</cp:coreProperties>
</file>